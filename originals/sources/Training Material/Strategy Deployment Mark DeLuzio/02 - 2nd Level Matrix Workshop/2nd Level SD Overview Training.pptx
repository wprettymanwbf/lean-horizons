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notesSlides/notesSlide5.xml" ContentType="application/vnd.openxmlformats-officedocument.presentationml.notesSlide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notesSlides/notesSlide1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1.xml" ContentType="application/vnd.openxmlformats-officedocument.presentationml.notesSlide+xml"/>
  <Override PartName="/ppt/tags/tag21.xml" ContentType="application/vnd.openxmlformats-officedocument.presentationml.tags+xml"/>
  <Override PartName="/ppt/notesSlides/notesSlide12.xml" ContentType="application/vnd.openxmlformats-officedocument.presentationml.notesSlide+xml"/>
  <Override PartName="/ppt/tags/tag22.xml" ContentType="application/vnd.openxmlformats-officedocument.presentationml.tags+xml"/>
  <Override PartName="/ppt/notesSlides/notesSlide13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4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258" r:id="rId2"/>
    <p:sldId id="351" r:id="rId3"/>
    <p:sldId id="392" r:id="rId4"/>
    <p:sldId id="393" r:id="rId5"/>
    <p:sldId id="361" r:id="rId6"/>
    <p:sldId id="574" r:id="rId7"/>
    <p:sldId id="575" r:id="rId8"/>
    <p:sldId id="369" r:id="rId9"/>
    <p:sldId id="576" r:id="rId10"/>
    <p:sldId id="577" r:id="rId11"/>
    <p:sldId id="578" r:id="rId12"/>
    <p:sldId id="580" r:id="rId13"/>
    <p:sldId id="581" r:id="rId14"/>
    <p:sldId id="582" r:id="rId15"/>
    <p:sldId id="583" r:id="rId16"/>
    <p:sldId id="584" r:id="rId17"/>
    <p:sldId id="585" r:id="rId18"/>
    <p:sldId id="586" r:id="rId19"/>
    <p:sldId id="587" r:id="rId20"/>
    <p:sldId id="588" r:id="rId21"/>
    <p:sldId id="589" r:id="rId22"/>
    <p:sldId id="590" r:id="rId23"/>
    <p:sldId id="591" r:id="rId24"/>
    <p:sldId id="592" r:id="rId25"/>
    <p:sldId id="593" r:id="rId26"/>
    <p:sldId id="390" r:id="rId27"/>
    <p:sldId id="596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3BB3E73-66A2-459D-B8FB-21C7347B6A86}">
          <p14:sldIdLst>
            <p14:sldId id="258"/>
            <p14:sldId id="351"/>
            <p14:sldId id="392"/>
            <p14:sldId id="393"/>
            <p14:sldId id="361"/>
            <p14:sldId id="574"/>
            <p14:sldId id="575"/>
            <p14:sldId id="369"/>
            <p14:sldId id="576"/>
            <p14:sldId id="577"/>
            <p14:sldId id="578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390"/>
            <p14:sldId id="5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7B6AAEF-3415-5D22-AFDC-F31A005CEED7}" name="Joe Rutz" initials="JR" userId="S::joe.rutz@leancoachingllc.com::74172d3c-f68f-4a41-af3d-37d02d9c96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8300"/>
    <a:srgbClr val="222222"/>
    <a:srgbClr val="FFB627"/>
    <a:srgbClr val="177E89"/>
    <a:srgbClr val="8EDCE6"/>
    <a:srgbClr val="F1BF98"/>
    <a:srgbClr val="2EC4B6"/>
    <a:srgbClr val="BDDBD0"/>
    <a:srgbClr val="2D7DD2"/>
    <a:srgbClr val="6292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6" autoAdjust="0"/>
    <p:restoredTop sz="81849" autoAdjust="0"/>
  </p:normalViewPr>
  <p:slideViewPr>
    <p:cSldViewPr snapToGrid="0">
      <p:cViewPr varScale="1">
        <p:scale>
          <a:sx n="87" d="100"/>
          <a:sy n="87" d="100"/>
        </p:scale>
        <p:origin x="150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35" Type="http://schemas.microsoft.com/office/2018/10/relationships/authors" Target="author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6C400-5EB2-4620-B71B-A7454A7EC846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D8548-F1A2-4EDF-A416-5F2BB6B8F6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3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70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 BREIFLY walk the group through this chart noting that you will be taking them through each step in the  process in great detail.  Key points to stress: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Strategic Deployment is a PROCESS.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 SD process is mirrored after the PDCA cycle.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You must do ALL of the steps to be successful.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Most companies fail by not implementing steps 5 &amp; 6.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Just because you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Planned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does not mean you did SD.</a:t>
            </a:r>
          </a:p>
          <a:p>
            <a:pPr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the considerable amount of steps in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Plan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vs. other steps.  This is typically a Japanese philosophy where they will spend more time in Planning and a small amount of time in the execution (DO) stage.  This is sometimes the opposite thinking of traditional Western management.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This cycle is based on the Deming Cycle, or the Plan-Do-Check-Act cycle. When leading with Strategic Deployment your business and its processes will continuously be at different points of implementing this cycle. Notice that it is a cycle (and there are cycles within the cycle) because continuous improvement never ends. 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43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907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2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Review the process for how to facilitate this portion of the session.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1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95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Ask: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89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Give the class an example of a 2</a:t>
            </a:r>
            <a:r>
              <a:rPr lang="en-US" altLang="en-US" baseline="300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nd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Level AIP and have them write 2 targets to improve on the lines provided:</a:t>
            </a: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2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DO: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Ask the class why these are good/bad examples of Targets. </a:t>
            </a: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ANSWERS: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some of the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Bad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examples are in fact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(Implement Standard Work in Accounts Payable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.</a:t>
            </a: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Some are not aggressive enough: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Achieve 4% productivity improvement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there is a format that a target should follow: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WHAT TO IMPROVE FROM/TO BY WHEN: Example: Improve PPM Rejects from 50,000 to 5,000 by 12/31/XX.</a:t>
            </a:r>
          </a:p>
          <a:p>
            <a:pPr>
              <a:buFontTx/>
              <a:buChar char="•"/>
            </a:pP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74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You may not have a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yes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 answer for each of these – but you should for most to qualify a target.</a:t>
            </a:r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086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just because someone gets assigned as a Secondary resource, this does not mean that they are any less responsible for implementing the AIP.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most breakthrough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are multi-functional in nature and need to have a multi-functional team assigned.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75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just because someone gets assigned as a Secondary resource, this does not mean that they are any less responsible for implementing the AIP.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most breakthrough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are multi-functional in nature and need to have a multi-functional team assigned.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4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just because someone gets assigned as a Secondary resource, this does not mean that they are any less responsible for implementing the AIP.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SAY:</a:t>
            </a:r>
            <a:r>
              <a:rPr lang="en-US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Note that most breakthrough AIP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’</a:t>
            </a:r>
            <a:r>
              <a:rPr lang="en-US" altLang="ja-JP" dirty="0">
                <a:latin typeface="Arial" panose="020B0604020202020204" pitchFamily="34" charset="0"/>
                <a:ea typeface="ＭＳ Ｐゴシック" panose="020B0600070205080204" pitchFamily="34" charset="-128"/>
              </a:rPr>
              <a:t>s are multi-functional in nature and need to have a multi-functional team assigned.</a:t>
            </a:r>
            <a:r>
              <a:rPr lang="ja-JP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”</a:t>
            </a:r>
            <a:endParaRPr lang="en-US" altLang="ja-JP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67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D8548-F1A2-4EDF-A416-5F2BB6B8F6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86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7B85E90D-7DD7-92B5-E387-8C0441E41A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85391" y="1950112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3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6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FA04139-8C44-65B7-CCE0-3C72733967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41954" y="6012921"/>
            <a:ext cx="182562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5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640B0-16F5-BFBE-E22F-812ED893E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DE2FD-1979-A3D6-90A4-45D744A02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0722"/>
            <a:ext cx="9144000" cy="145707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94B0F-E5B4-CFAF-7473-46BB2646C4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6380" y="3556319"/>
            <a:ext cx="3939240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06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36242-F70A-0032-2B4B-BCCF0734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9E81F-378B-8CF2-E1C3-1D9054EF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BCBB7B-054A-FE83-5F7C-FE4A1CDFEEBA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61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A9C9-FDCA-934D-785B-BFD907843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695437-1877-C6A2-EE04-3EF98092E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15123"/>
            <a:ext cx="10515600" cy="137452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8720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8C054-8592-E116-8DB0-D7814A8C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C802A-EC64-E4D9-44D3-54E728E3E9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A5B75-CA16-4AC3-A34C-C3C4FF82F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186D81-5D29-FE58-C442-6A6A0689DB5B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59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2F87-A7AE-9269-55EC-7B1C8A4D2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7"/>
            <a:ext cx="10515600" cy="10223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27D69-EB01-A889-0CC3-A64B4F7DA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1EC85-625B-CEAA-F97D-EF024B15F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5D1D7-7D1D-2F5D-8D5E-152CC826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D830EE-92A6-15ED-D99F-35788F37AD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CBFE9C-CE1B-ED6E-1745-391F9496BE1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51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D9D87-BBC7-C5DC-191E-E5E1CA2B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55C65A-BA96-51C7-B6FE-07AB4FB9C96C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302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009C-FECA-9E9B-9F45-5710762AE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50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B4662-A656-519F-E5DC-FEF8051A0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55F82-CA62-EC30-181A-37223E01F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6852"/>
            <a:ext cx="3932237" cy="372213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B026B9A-5C7E-C150-5C07-A68A167F0F67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2229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225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35D53-C186-1B2C-FD72-2AC470B8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6304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7372F6-C6B1-D2F4-8DED-EF3C3DBEA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6E1FE-9DAE-4781-C70A-CF8F68AAF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148836"/>
            <a:ext cx="3932237" cy="372015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BBD52B6-C25E-E933-F2B7-D40B2BFDF83D}"/>
              </a:ext>
            </a:extLst>
          </p:cNvPr>
          <p:cNvCxnSpPr>
            <a:cxnSpLocks/>
          </p:cNvCxnSpPr>
          <p:nvPr userDrawn="1"/>
        </p:nvCxnSpPr>
        <p:spPr>
          <a:xfrm>
            <a:off x="838200" y="1920245"/>
            <a:ext cx="3933825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0194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F5CEA-F0B2-6EAB-4435-59D188AF3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515F-CCC6-5F3D-26FA-AF419F9D8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55FD7A-35A4-E3BB-30E7-93993A9F2FCF}"/>
              </a:ext>
            </a:extLst>
          </p:cNvPr>
          <p:cNvCxnSpPr>
            <a:cxnSpLocks/>
          </p:cNvCxnSpPr>
          <p:nvPr userDrawn="1"/>
        </p:nvCxnSpPr>
        <p:spPr>
          <a:xfrm>
            <a:off x="838200" y="1690688"/>
            <a:ext cx="6656109" cy="0"/>
          </a:xfrm>
          <a:prstGeom prst="line">
            <a:avLst/>
          </a:prstGeom>
          <a:ln w="38100">
            <a:solidFill>
              <a:srgbClr val="EE32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86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A24E-3139-367F-63CD-6BE14639C4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D504B8-9AC5-F3B2-2873-A2C234460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8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C7573B6-84E2-B075-59F6-13B735C1EA0C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99C9A-A2FC-CD4A-1E66-538BA9DCD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EC040-D756-ECEA-9BEA-816A77F6A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83AB58F5-18C5-C368-94F4-CC4D543C898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650147" y="311856"/>
            <a:ext cx="1376262" cy="275252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FEF531-ADF4-AB70-CB0F-227DD4FA1B4F}"/>
              </a:ext>
            </a:extLst>
          </p:cNvPr>
          <p:cNvCxnSpPr/>
          <p:nvPr userDrawn="1"/>
        </p:nvCxnSpPr>
        <p:spPr>
          <a:xfrm>
            <a:off x="838200" y="6382347"/>
            <a:ext cx="10515599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7AF5F83-88DF-460F-82C5-C2709D4DF5D2}"/>
              </a:ext>
            </a:extLst>
          </p:cNvPr>
          <p:cNvSpPr txBox="1"/>
          <p:nvPr userDrawn="1"/>
        </p:nvSpPr>
        <p:spPr>
          <a:xfrm>
            <a:off x="838200" y="6389310"/>
            <a:ext cx="41719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Strategy Deployment 2nd Level Workshop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B0F1ED-1C44-DFD6-E7DA-038409D9167D}"/>
              </a:ext>
            </a:extLst>
          </p:cNvPr>
          <p:cNvSpPr txBox="1"/>
          <p:nvPr userDrawn="1"/>
        </p:nvSpPr>
        <p:spPr>
          <a:xfrm>
            <a:off x="4205176" y="6384780"/>
            <a:ext cx="4171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Lean Horizons Consulting, LLC 2024. All Rights Reserved</a:t>
            </a:r>
          </a:p>
          <a:p>
            <a:pPr algn="ctr"/>
            <a:endParaRPr lang="en-US" sz="1000" b="0" i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099632B-E122-EDE0-0BAF-755FD08A2404}"/>
              </a:ext>
            </a:extLst>
          </p:cNvPr>
          <p:cNvSpPr txBox="1">
            <a:spLocks/>
          </p:cNvSpPr>
          <p:nvPr userDrawn="1"/>
        </p:nvSpPr>
        <p:spPr>
          <a:xfrm>
            <a:off x="8595078" y="633314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>
                <a:solidFill>
                  <a:schemeClr val="tx1"/>
                </a:solidFill>
              </a:rPr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3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Roboto Medium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1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8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1.x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Worksheet.xls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8.x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B60FA6-6E24-C6E2-C35D-A4139BCE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929" y="4846192"/>
            <a:ext cx="2696138" cy="45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F4BEED-3D12-D343-768A-9E83F9558AE0}"/>
              </a:ext>
            </a:extLst>
          </p:cNvPr>
          <p:cNvSpPr txBox="1"/>
          <p:nvPr/>
        </p:nvSpPr>
        <p:spPr>
          <a:xfrm>
            <a:off x="668594" y="4138306"/>
            <a:ext cx="10746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Strategy Deployment 2nd Level Workshop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"/>
              </a:rPr>
              <a:t>Purpose &amp;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7A201-AD05-6520-E140-CCF11E59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Purpose: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Familiarize members with the mechanics and architecture of the 2nd Level Strategy Deployment Workshop. This virtual training will assure members a more efficient and meaningful workshop experience as they create their respective 2nd Level Strategy Deployment Matrices.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u="sng" dirty="0"/>
              <a:t>Learning Objectives: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Participants will learn the various steps in creating their 2nd Level Strategy Deployment Matrices, including the following: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Annual Improvement Priorities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Strategy Deployment Targets</a:t>
            </a:r>
          </a:p>
          <a:p>
            <a:pPr>
              <a:lnSpc>
                <a:spcPct val="120000"/>
              </a:lnSpc>
            </a:pPr>
            <a:r>
              <a:rPr lang="en-US" sz="2600" dirty="0"/>
              <a:t>Strategy Deployment Teams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8DCB82-E886-7E0C-68DC-9558A2ED4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95078" y="633314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6D4273-7FC1-0947-B9FE-19CB3C0D1FB6}" type="slidenum">
              <a:rPr lang="en-US" smtClean="0"/>
              <a:pPr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920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"/>
              </a:rPr>
              <a:t>Strategy Deployment 2</a:t>
            </a:r>
            <a:r>
              <a:rPr lang="en-US" sz="3200" baseline="30000" dirty="0">
                <a:latin typeface=""/>
              </a:rPr>
              <a:t>nd</a:t>
            </a:r>
            <a:r>
              <a:rPr lang="en-US" sz="3200" dirty="0">
                <a:latin typeface=""/>
              </a:rPr>
              <a:t> Level Workshops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600" b="1" i="1" dirty="0">
                <a:latin typeface="+mn-lt"/>
              </a:rPr>
              <a:t>We Will Develop: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+mn-lt"/>
              </a:rPr>
              <a:t>2</a:t>
            </a:r>
            <a:r>
              <a:rPr lang="en-US" sz="1600" baseline="30000" dirty="0">
                <a:latin typeface="+mn-lt"/>
              </a:rPr>
              <a:t>nd</a:t>
            </a:r>
            <a:r>
              <a:rPr lang="en-US" sz="1600" dirty="0">
                <a:latin typeface="+mn-lt"/>
              </a:rPr>
              <a:t> Level Annual Improvement Priorities (AIPs)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+mn-lt"/>
              </a:rPr>
              <a:t>Strategy Deployment Targets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+mn-lt"/>
              </a:rPr>
              <a:t>Cross-functional Teams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1600" dirty="0">
                <a:latin typeface="+mn-lt"/>
              </a:rPr>
              <a:t>Action Plans</a:t>
            </a:r>
            <a:endParaRPr lang="en-US" dirty="0">
              <a:latin typeface="+mn-lt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E90554-AE91-0154-4D85-C97A25A249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23212" r="23212"/>
          <a:stretch>
            <a:fillRect/>
          </a:stretch>
        </p:blipFill>
        <p:spPr>
          <a:xfrm>
            <a:off x="6212958" y="1341205"/>
            <a:ext cx="3335079" cy="4075326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5233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"/>
              </a:rPr>
              <a:t>Strategy Deployment 2</a:t>
            </a:r>
            <a:r>
              <a:rPr lang="en-US" sz="3200" baseline="30000" dirty="0">
                <a:latin typeface=""/>
              </a:rPr>
              <a:t>nd</a:t>
            </a:r>
            <a:r>
              <a:rPr lang="en-US" sz="3200" dirty="0">
                <a:latin typeface=""/>
              </a:rPr>
              <a:t> Level Workshop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/>
            </a:pPr>
            <a:r>
              <a:rPr lang="en-US" sz="2400" dirty="0">
                <a:latin typeface="+mn-lt"/>
              </a:rPr>
              <a:t>Develop 2nd Level Annual Improvement Priorities (AIPs)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A6BBF4-BAA3-D1BE-E21E-AB15BB458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0012" y="1556616"/>
            <a:ext cx="6172200" cy="4118014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530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8B19F82A-F9BA-4400-6678-7A3917D44A32}"/>
              </a:ext>
            </a:extLst>
          </p:cNvPr>
          <p:cNvGrpSpPr/>
          <p:nvPr/>
        </p:nvGrpSpPr>
        <p:grpSpPr>
          <a:xfrm>
            <a:off x="1939306" y="4116340"/>
            <a:ext cx="2527397" cy="1136650"/>
            <a:chOff x="1939306" y="4116340"/>
            <a:chExt cx="2527397" cy="1136650"/>
          </a:xfrm>
        </p:grpSpPr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0103937A-117A-8B29-C743-0B1AECE57D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3665" y="4925364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DAEF4F1F-75B8-B733-4D70-39F60F09930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 flipV="1">
              <a:off x="2899841" y="4371997"/>
              <a:ext cx="1167714" cy="732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Oval 19">
              <a:extLst>
                <a:ext uri="{FF2B5EF4-FFF2-40B4-BE49-F238E27FC236}">
                  <a16:creationId xmlns:a16="http://schemas.microsoft.com/office/drawing/2014/main" id="{2603A965-41AF-D3FD-6A2E-3CD3DBE84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9306" y="4116340"/>
              <a:ext cx="1139825" cy="113665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8D</a:t>
              </a:r>
              <a:br>
                <a:rPr lang="en-US" altLang="en-US" sz="1600" i="1" dirty="0">
                  <a:solidFill>
                    <a:srgbClr val="FFFFFF"/>
                  </a:solidFill>
                  <a:latin typeface="+mn-lt"/>
                </a:rPr>
              </a:b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Counter</a:t>
              </a:r>
              <a:r>
                <a:rPr lang="en-US" altLang="en-US" sz="1600" b="0" i="1" dirty="0">
                  <a:solidFill>
                    <a:srgbClr val="FFFFFF"/>
                  </a:solidFill>
                  <a:latin typeface="+mn-lt"/>
                </a:rPr>
                <a:t>-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measures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986B0C-9143-3850-FB0A-5A4D0972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b="1" dirty="0">
                <a:latin typeface="+mn-lt"/>
                <a:ea typeface="ＭＳ Ｐゴシック" panose="020B0600070205080204" pitchFamily="34" charset="-128"/>
              </a:rPr>
              <a:t>7 Phases of the Strategy Deployment Process</a:t>
            </a:r>
            <a:br>
              <a:rPr lang="en-US" altLang="en-US" sz="3600" b="1" dirty="0">
                <a:latin typeface="+mn-lt"/>
                <a:ea typeface="ＭＳ Ｐゴシック" panose="020B0600070205080204" pitchFamily="34" charset="-128"/>
              </a:rPr>
            </a:br>
            <a:r>
              <a:rPr lang="en-US" altLang="en-US" sz="3600" b="1" dirty="0">
                <a:latin typeface="+mn-lt"/>
                <a:ea typeface="ＭＳ Ｐゴシック" panose="020B0600070205080204" pitchFamily="34" charset="-128"/>
              </a:rPr>
              <a:t>Based on the Deming Cycle - PDCA</a:t>
            </a:r>
            <a:endParaRPr lang="en-US" sz="3600" dirty="0"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91A3D7F9-A236-7B12-1B68-300D73C52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849937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QUESTION: Where could be the failure point in your organization?</a:t>
            </a:r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CBA2949E-9336-26A1-E71E-20498679B5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086645"/>
            <a:ext cx="0" cy="376329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C41E4CD-7510-7B56-FBD8-5F0433707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004519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LRP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6399D34-9153-0274-3F0D-AA7E7BD2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2557886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FFFFFF"/>
                </a:solidFill>
                <a:latin typeface="+mn-lt"/>
              </a:rPr>
              <a:t>Develop Long-Term Stretch Objectives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065B1F8-627A-3DD1-10D6-5030DD79A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3111253"/>
            <a:ext cx="4050792" cy="308019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 Top Level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07BE3CD-0982-9006-A114-5F3DBD795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0025" y="3664742"/>
            <a:ext cx="4051943" cy="307777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>
                <a:solidFill>
                  <a:srgbClr val="FFFFFF"/>
                </a:solidFill>
              </a:rPr>
              <a:t>Develop AIPs, Targets, Resources - 2nd Level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B2D13E5-691F-7372-2016-440CC93C3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217987"/>
            <a:ext cx="4050792" cy="308019"/>
          </a:xfrm>
          <a:prstGeom prst="rect">
            <a:avLst/>
          </a:prstGeom>
          <a:solidFill>
            <a:schemeClr val="accent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Implement AIPs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C3A8D347-AB51-1BF8-0942-280EBD01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4771354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Monthly PDCA Review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8CF2D058-CF18-901A-8FF2-1C617F36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555" y="5324720"/>
            <a:ext cx="4050792" cy="308019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/>
              <a:t>Annual Review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41FAC16-F51D-8116-748F-5AAA43511344}"/>
              </a:ext>
            </a:extLst>
          </p:cNvPr>
          <p:cNvGrpSpPr/>
          <p:nvPr/>
        </p:nvGrpSpPr>
        <p:grpSpPr>
          <a:xfrm>
            <a:off x="7849179" y="2432171"/>
            <a:ext cx="1752600" cy="1135063"/>
            <a:chOff x="7849179" y="2432171"/>
            <a:chExt cx="1752600" cy="1135063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4246DC88-CD39-B38C-62E6-1B650A43C4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2711896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5C91105-EFAC-F01A-E9D6-AA8156EC0C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49179" y="3265263"/>
              <a:ext cx="1443038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Oval 15">
              <a:extLst>
                <a:ext uri="{FF2B5EF4-FFF2-40B4-BE49-F238E27FC236}">
                  <a16:creationId xmlns:a16="http://schemas.microsoft.com/office/drawing/2014/main" id="{DBC7ABDB-8570-5844-C013-6172D435B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2432171"/>
              <a:ext cx="1139825" cy="1135063"/>
            </a:xfrm>
            <a:prstGeom prst="ellipse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solidFill>
                    <a:srgbClr val="FFFFFF"/>
                  </a:solidFill>
                  <a:latin typeface="+mn-lt"/>
                </a:rPr>
                <a:t>Catchball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CFDFB-5CF5-3284-D3FB-7BB791426E68}"/>
              </a:ext>
            </a:extLst>
          </p:cNvPr>
          <p:cNvGrpSpPr/>
          <p:nvPr/>
        </p:nvGrpSpPr>
        <p:grpSpPr>
          <a:xfrm>
            <a:off x="8118347" y="3765061"/>
            <a:ext cx="1579434" cy="1213871"/>
            <a:chOff x="8118347" y="3765061"/>
            <a:chExt cx="1579434" cy="1213871"/>
          </a:xfrm>
        </p:grpSpPr>
        <p:sp>
          <p:nvSpPr>
            <p:cNvPr id="36" name="Line 13">
              <a:extLst>
                <a:ext uri="{FF2B5EF4-FFF2-40B4-BE49-F238E27FC236}">
                  <a16:creationId xmlns:a16="http://schemas.microsoft.com/office/drawing/2014/main" id="{957FC68F-2735-56E8-F635-BA07B26774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18347" y="4371997"/>
              <a:ext cx="1173870" cy="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Oval 18">
              <a:extLst>
                <a:ext uri="{FF2B5EF4-FFF2-40B4-BE49-F238E27FC236}">
                  <a16:creationId xmlns:a16="http://schemas.microsoft.com/office/drawing/2014/main" id="{35F08D2B-C7F6-4733-D90A-1BFBB8202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61954" y="3765061"/>
              <a:ext cx="1235827" cy="1213871"/>
            </a:xfrm>
            <a:prstGeom prst="ellipse">
              <a:avLst/>
            </a:prstGeom>
            <a:solidFill>
              <a:schemeClr val="accent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6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lnSpc>
                  <a:spcPct val="115000"/>
                </a:lnSpc>
                <a:spcBef>
                  <a:spcPct val="50000"/>
                </a:spcBef>
                <a:spcAft>
                  <a:spcPct val="50000"/>
                </a:spcAft>
                <a:buClr>
                  <a:srgbClr val="006699"/>
                </a:buClr>
                <a:buSzPct val="90000"/>
                <a:buFont typeface="Wingdings" pitchFamily="2" charset="2"/>
                <a:buChar char="§"/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•"/>
                <a:defRPr sz="2000">
                  <a:solidFill>
                    <a:schemeClr val="tx1"/>
                  </a:solidFill>
                  <a:latin typeface="Book Antiqua" panose="0204060205030503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Targeted</a:t>
              </a:r>
            </a:p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600" i="1" dirty="0">
                  <a:latin typeface="+mn-lt"/>
                </a:rPr>
                <a:t>CI Efforts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14D7D07-5576-F466-0568-796C2D36BAA1}"/>
              </a:ext>
            </a:extLst>
          </p:cNvPr>
          <p:cNvGrpSpPr/>
          <p:nvPr/>
        </p:nvGrpSpPr>
        <p:grpSpPr>
          <a:xfrm>
            <a:off x="325585" y="1946345"/>
            <a:ext cx="2945773" cy="1866214"/>
            <a:chOff x="749635" y="2039846"/>
            <a:chExt cx="2945773" cy="186621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BB99EC-08FE-9EEA-7470-88A5152C1AC3}"/>
                </a:ext>
              </a:extLst>
            </p:cNvPr>
            <p:cNvGrpSpPr/>
            <p:nvPr/>
          </p:nvGrpSpPr>
          <p:grpSpPr>
            <a:xfrm>
              <a:off x="749635" y="2039846"/>
              <a:ext cx="2945773" cy="1866214"/>
              <a:chOff x="749635" y="2039846"/>
              <a:chExt cx="2945773" cy="1866214"/>
            </a:xfrm>
            <a:effectLst>
              <a:outerShdw blurRad="50800" dist="50800" dir="5400000" algn="ctr" rotWithShape="0">
                <a:schemeClr val="bg1">
                  <a:lumMod val="85000"/>
                </a:schemeClr>
              </a:outerShdw>
            </a:effectLst>
          </p:grpSpPr>
          <p:sp>
            <p:nvSpPr>
              <p:cNvPr id="25" name="Rounded Rectangle 4">
                <a:extLst>
                  <a:ext uri="{FF2B5EF4-FFF2-40B4-BE49-F238E27FC236}">
                    <a16:creationId xmlns:a16="http://schemas.microsoft.com/office/drawing/2014/main" id="{EE7F95B7-3FD5-0416-E5FE-8724CB0AB566}"/>
                  </a:ext>
                </a:extLst>
              </p:cNvPr>
              <p:cNvSpPr/>
              <p:nvPr/>
            </p:nvSpPr>
            <p:spPr>
              <a:xfrm>
                <a:off x="749635" y="2039846"/>
                <a:ext cx="2945773" cy="186621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C7AE4E46-B8B0-AD51-E326-FADF1228B9F6}"/>
                  </a:ext>
                </a:extLst>
              </p:cNvPr>
              <p:cNvGrpSpPr/>
              <p:nvPr/>
            </p:nvGrpSpPr>
            <p:grpSpPr>
              <a:xfrm>
                <a:off x="2562745" y="2367725"/>
                <a:ext cx="1132662" cy="1310104"/>
                <a:chOff x="2540336" y="2367725"/>
                <a:chExt cx="1155072" cy="1310104"/>
              </a:xfrm>
            </p:grpSpPr>
            <p:sp>
              <p:nvSpPr>
                <p:cNvPr id="27" name="Rectangle 20">
                  <a:extLst>
                    <a:ext uri="{FF2B5EF4-FFF2-40B4-BE49-F238E27FC236}">
                      <a16:creationId xmlns:a16="http://schemas.microsoft.com/office/drawing/2014/main" id="{46FF168F-3DC3-2623-6C56-22155B3069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374075"/>
                  <a:ext cx="355600" cy="266700"/>
                </a:xfrm>
                <a:prstGeom prst="rect">
                  <a:avLst/>
                </a:prstGeom>
                <a:solidFill>
                  <a:schemeClr val="accent5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8" name="Rectangle 21">
                  <a:extLst>
                    <a:ext uri="{FF2B5EF4-FFF2-40B4-BE49-F238E27FC236}">
                      <a16:creationId xmlns:a16="http://schemas.microsoft.com/office/drawing/2014/main" id="{EB03A0B2-7BAA-5EB6-0166-6CA711048C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2707450"/>
                  <a:ext cx="355600" cy="268288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9" name="Rectangle 22">
                  <a:extLst>
                    <a:ext uri="{FF2B5EF4-FFF2-40B4-BE49-F238E27FC236}">
                      <a16:creationId xmlns:a16="http://schemas.microsoft.com/office/drawing/2014/main" id="{B8C920C8-AA33-4694-6965-72E9376056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1129" y="3042413"/>
                  <a:ext cx="355600" cy="266700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0" name="Text Box 23">
                  <a:extLst>
                    <a:ext uri="{FF2B5EF4-FFF2-40B4-BE49-F238E27FC236}">
                      <a16:creationId xmlns:a16="http://schemas.microsoft.com/office/drawing/2014/main" id="{6C33676A-341C-9E38-75F9-699DDEE6AA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2367725"/>
                  <a:ext cx="63350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Plan</a:t>
                  </a:r>
                </a:p>
              </p:txBody>
            </p:sp>
            <p:sp>
              <p:nvSpPr>
                <p:cNvPr id="31" name="Text Box 24">
                  <a:extLst>
                    <a:ext uri="{FF2B5EF4-FFF2-40B4-BE49-F238E27FC236}">
                      <a16:creationId xmlns:a16="http://schemas.microsoft.com/office/drawing/2014/main" id="{13F2B1F2-2121-D122-A1A7-6D0801B54CE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2682050"/>
                  <a:ext cx="463588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Do</a:t>
                  </a:r>
                </a:p>
              </p:txBody>
            </p:sp>
            <p:sp>
              <p:nvSpPr>
                <p:cNvPr id="32" name="Text Box 25">
                  <a:extLst>
                    <a:ext uri="{FF2B5EF4-FFF2-40B4-BE49-F238E27FC236}">
                      <a16:creationId xmlns:a16="http://schemas.microsoft.com/office/drawing/2014/main" id="{511A30F2-C02C-F759-2F18-CF2AF84ABC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90379" y="3013838"/>
                  <a:ext cx="805029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Check</a:t>
                  </a:r>
                </a:p>
              </p:txBody>
            </p:sp>
            <p:sp>
              <p:nvSpPr>
                <p:cNvPr id="33" name="Rectangle 26">
                  <a:extLst>
                    <a:ext uri="{FF2B5EF4-FFF2-40B4-BE49-F238E27FC236}">
                      <a16:creationId xmlns:a16="http://schemas.microsoft.com/office/drawing/2014/main" id="{39DB48D5-3232-F1AC-F992-47326FE49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0336" y="3364675"/>
                  <a:ext cx="357188" cy="268288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>
                    <a:lnSpc>
                      <a:spcPct val="8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en-US" altLang="en-US" dirty="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34" name="Text Box 27">
                  <a:extLst>
                    <a:ext uri="{FF2B5EF4-FFF2-40B4-BE49-F238E27FC236}">
                      <a16:creationId xmlns:a16="http://schemas.microsoft.com/office/drawing/2014/main" id="{62ED337C-9CCE-B0C8-F728-604D404356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03080" y="3339275"/>
                  <a:ext cx="521297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6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lnSpc>
                      <a:spcPct val="115000"/>
                    </a:lnSpc>
                    <a:spcBef>
                      <a:spcPct val="50000"/>
                    </a:spcBef>
                    <a:spcAft>
                      <a:spcPct val="50000"/>
                    </a:spcAft>
                    <a:buClr>
                      <a:srgbClr val="006699"/>
                    </a:buClr>
                    <a:buSzPct val="90000"/>
                    <a:buFont typeface="Wingdings" pitchFamily="2" charset="2"/>
                    <a:buChar char="§"/>
                    <a:defRPr sz="14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•"/>
                    <a:defRPr sz="2000">
                      <a:solidFill>
                        <a:schemeClr val="tx1"/>
                      </a:solidFill>
                      <a:latin typeface="Book Antiqua" panose="0204060205030503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en-US" sz="1600" dirty="0">
                      <a:solidFill>
                        <a:srgbClr val="000000"/>
                      </a:solidFill>
                      <a:latin typeface="+mn-lt"/>
                    </a:rPr>
                    <a:t>Act</a:t>
                  </a:r>
                </a:p>
              </p:txBody>
            </p:sp>
          </p:grpSp>
        </p:grp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2B8988F-5899-2979-17ED-E6A0D8205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3375" y="2226854"/>
              <a:ext cx="1270000" cy="1587500"/>
            </a:xfrm>
            <a:prstGeom prst="rect">
              <a:avLst/>
            </a:prstGeom>
            <a:effectLst>
              <a:softEdge rad="139700"/>
            </a:effectLst>
          </p:spPr>
        </p:pic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C631A0A3-9B52-CD43-C843-732E258D2D3F}"/>
              </a:ext>
            </a:extLst>
          </p:cNvPr>
          <p:cNvSpPr/>
          <p:nvPr/>
        </p:nvSpPr>
        <p:spPr>
          <a:xfrm>
            <a:off x="3809675" y="3495280"/>
            <a:ext cx="4550615" cy="646024"/>
          </a:xfrm>
          <a:prstGeom prst="ellipse">
            <a:avLst/>
          </a:prstGeom>
          <a:noFill/>
          <a:ln w="539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Line 14">
            <a:extLst>
              <a:ext uri="{FF2B5EF4-FFF2-40B4-BE49-F238E27FC236}">
                <a16:creationId xmlns:a16="http://schemas.microsoft.com/office/drawing/2014/main" id="{F9A690A9-FEB4-F80F-3EB9-0ED52C695D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0179" y="3161033"/>
            <a:ext cx="1577645" cy="615415"/>
          </a:xfrm>
          <a:prstGeom prst="line">
            <a:avLst/>
          </a:prstGeom>
          <a:solidFill>
            <a:schemeClr val="accent2">
              <a:lumMod val="75000"/>
            </a:schemeClr>
          </a:solidFill>
          <a:ln w="60325">
            <a:solidFill>
              <a:schemeClr val="accent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4FA8BB-6B70-4A91-CA5C-D029267172E3}"/>
              </a:ext>
            </a:extLst>
          </p:cNvPr>
          <p:cNvSpPr txBox="1"/>
          <p:nvPr/>
        </p:nvSpPr>
        <p:spPr>
          <a:xfrm>
            <a:off x="9793948" y="2804500"/>
            <a:ext cx="121259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en-US" sz="1800" b="1" dirty="0">
                <a:solidFill>
                  <a:schemeClr val="accent1"/>
                </a:solidFill>
                <a:latin typeface="+mn-lt"/>
                <a:ea typeface="ＭＳ Ｐゴシック" panose="020B0600070205080204" pitchFamily="34" charset="-128"/>
              </a:rPr>
              <a:t>We are here!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971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Second Level Annual Improvement Priorities Defined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Derived from a Top-Level Annual Improvement Priority (AIP)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Is a subset of higher-level tasks supporting a top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Should describe a process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Several Second level AIPs can exist for each top-level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Each Second level AIP will be assigned to a cross-functional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Each Second level AIP will have a corresponding action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Although termed “annual,” they could exist for less than one year, or last longer than one year, depending on the nature of the AIP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AIP Structure too detailed/low level, too vague, or too large of a task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Too many Second level AIPs for the assigned team/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Second level AIPs to not achieve intended target of the corresponding Top-Level AIP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E0A9EB78-AC55-05B5-5DE1-729642B0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2nd Level AIPs Must Get to the Point of Impact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929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A34BC-E52F-1E5C-0F2C-958A76F5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Second Level AIP Examples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7366294-0889-795F-9A2E-FFEA6DADCF75}"/>
              </a:ext>
            </a:extLst>
          </p:cNvPr>
          <p:cNvGrpSpPr/>
          <p:nvPr/>
        </p:nvGrpSpPr>
        <p:grpSpPr>
          <a:xfrm>
            <a:off x="1943895" y="1690688"/>
            <a:ext cx="8304211" cy="4502150"/>
            <a:chOff x="2326206" y="1690688"/>
            <a:chExt cx="8304211" cy="450215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9A573646-6E1F-13BA-3306-3FA8BF89B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217" y="2125664"/>
              <a:ext cx="2127250" cy="931863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Implement new and/or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optimize existing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Talent Management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Processes</a:t>
              </a: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D353213-A844-1109-B2EE-8F140D199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1217" y="3548063"/>
              <a:ext cx="2097088" cy="1003300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Implement new and/or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optimize existing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Product Development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Processes</a:t>
              </a:r>
            </a:p>
          </p:txBody>
        </p:sp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50E6B807-62E3-9DD9-D6AF-C8550ED3A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5731" y="3446463"/>
              <a:ext cx="825023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FACBC4BB-DEEB-06F0-D466-5704A7713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1606" y="5008563"/>
              <a:ext cx="8205787" cy="0"/>
            </a:xfrm>
            <a:prstGeom prst="line">
              <a:avLst/>
            </a:prstGeom>
            <a:noFill/>
            <a:ln w="19050">
              <a:solidFill>
                <a:srgbClr val="00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ADC724E-3AAC-DE79-858B-1ADA6DA23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2793" y="2108202"/>
              <a:ext cx="4970463" cy="1246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improve Career Development Processes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optimize existing Performance Management Processes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optimize Compensation Processes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a new Robust Recruiting Process </a:t>
              </a:r>
              <a:endParaRPr lang="en-US" altLang="en-US" sz="1200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0598F47-C65F-B32E-A181-FC6647256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968" y="3552827"/>
              <a:ext cx="4981575" cy="1430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ysDot"/>
                  <a:miter lim="800000"/>
                  <a:headEnd/>
                  <a:tailEnd/>
                </a14:hiddenLine>
              </a:ext>
            </a:extLst>
          </p:spPr>
          <p:txBody>
            <a:bodyPr lIns="71438" tIns="36513" rIns="71438" bIns="36513">
              <a:spAutoFit/>
            </a:bodyPr>
            <a:lstStyle>
              <a:lvl1pPr marL="231775" indent="-231775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a new Voice of the Customer Process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optimize existing Tollgate Management Processes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Design for Manufacturing and Assembly Processes (DFMA)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Pro Engineering Software</a:t>
              </a:r>
              <a:endParaRPr lang="en-US" altLang="en-US" sz="1200" b="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FA50FFF3-60FF-131D-02B5-7E8FD3ED8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6206" y="1978027"/>
              <a:ext cx="8250237" cy="15875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D2DB960E-4FC2-91DD-12E8-41F28CF194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5731" y="1690688"/>
              <a:ext cx="70615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800" dirty="0">
                  <a:solidFill>
                    <a:schemeClr val="tx1"/>
                  </a:solidFill>
                  <a:latin typeface="+mn-lt"/>
                </a:rPr>
                <a:t>Top Level AIP		          Corresponding Second Level AIPs</a:t>
              </a:r>
            </a:p>
          </p:txBody>
        </p:sp>
        <p:sp>
          <p:nvSpPr>
            <p:cNvPr id="11" name="Oval 22">
              <a:extLst>
                <a:ext uri="{FF2B5EF4-FFF2-40B4-BE49-F238E27FC236}">
                  <a16:creationId xmlns:a16="http://schemas.microsoft.com/office/drawing/2014/main" id="{B3AB4936-DB70-6F26-D5BA-50CD8C23A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355" y="2233614"/>
              <a:ext cx="400050" cy="366713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+mn-lt"/>
                </a:rPr>
                <a:t>1</a:t>
              </a:r>
            </a:p>
          </p:txBody>
        </p:sp>
        <p:sp>
          <p:nvSpPr>
            <p:cNvPr id="12" name="Oval 23">
              <a:extLst>
                <a:ext uri="{FF2B5EF4-FFF2-40B4-BE49-F238E27FC236}">
                  <a16:creationId xmlns:a16="http://schemas.microsoft.com/office/drawing/2014/main" id="{2024528D-96E0-9D5B-B67B-4C67A3A79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3355" y="3644901"/>
              <a:ext cx="400050" cy="366712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+mn-lt"/>
                </a:rPr>
                <a:t>2</a:t>
              </a:r>
            </a:p>
          </p:txBody>
        </p:sp>
        <p:sp>
          <p:nvSpPr>
            <p:cNvPr id="13" name="Oval 23">
              <a:extLst>
                <a:ext uri="{FF2B5EF4-FFF2-40B4-BE49-F238E27FC236}">
                  <a16:creationId xmlns:a16="http://schemas.microsoft.com/office/drawing/2014/main" id="{347A075A-A5FA-3FAE-2543-28B01AD48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292" y="5160964"/>
              <a:ext cx="400050" cy="366713"/>
            </a:xfrm>
            <a:prstGeom prst="ellipse">
              <a:avLst/>
            </a:prstGeom>
            <a:solidFill>
              <a:schemeClr val="tx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400" dirty="0">
                  <a:latin typeface="+mn-lt"/>
                </a:rPr>
                <a:t>3</a:t>
              </a:r>
            </a:p>
          </p:txBody>
        </p:sp>
        <p:sp>
          <p:nvSpPr>
            <p:cNvPr id="14" name="Rectangle 20">
              <a:extLst>
                <a:ext uri="{FF2B5EF4-FFF2-40B4-BE49-F238E27FC236}">
                  <a16:creationId xmlns:a16="http://schemas.microsoft.com/office/drawing/2014/main" id="{C5806B06-B3C8-9764-FEAE-A6A7CE3B4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4217" y="5094288"/>
              <a:ext cx="5156200" cy="1098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31775" indent="-231775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optimize existing processes to identify and recruit new suppliers</a:t>
              </a:r>
            </a:p>
            <a:p>
              <a:pPr algn="l">
                <a:lnSpc>
                  <a:spcPct val="100000"/>
                </a:lnSpc>
                <a:spcBef>
                  <a:spcPct val="45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200" dirty="0">
                  <a:solidFill>
                    <a:schemeClr val="tx1"/>
                  </a:solidFill>
                  <a:latin typeface="+mn-lt"/>
                </a:rPr>
                <a:t>Implement new and/or improve existing processes to test supplier</a:t>
              </a:r>
              <a:r>
                <a:rPr lang="ja-JP" altLang="en-US" sz="1200">
                  <a:solidFill>
                    <a:schemeClr val="tx1"/>
                  </a:solidFill>
                  <a:latin typeface="+mn-lt"/>
                </a:rPr>
                <a:t>’</a:t>
              </a:r>
              <a:r>
                <a:rPr lang="en-US" altLang="ja-JP" sz="1200" dirty="0">
                  <a:solidFill>
                    <a:schemeClr val="tx1"/>
                  </a:solidFill>
                  <a:latin typeface="+mn-lt"/>
                </a:rPr>
                <a:t>s capabilities to ensure  they will consistently meet the standards set by the company</a:t>
              </a:r>
              <a:endParaRPr lang="en-US" altLang="en-US" sz="12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9301D834-5BF7-AD2F-7225-F15469DEE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2805" y="5108577"/>
              <a:ext cx="2095500" cy="896934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/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Implement a new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and/or improve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Supplier  Certification </a:t>
              </a:r>
              <a:br>
                <a:rPr lang="en-US" altLang="en-US" sz="1400" dirty="0">
                  <a:solidFill>
                    <a:schemeClr val="tx1"/>
                  </a:solidFill>
                  <a:latin typeface="+mn-lt"/>
                </a:rPr>
              </a:b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Process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70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AIPs (Annual Improvement Priorities) - Checklist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48836"/>
            <a:ext cx="5752399" cy="4124964"/>
          </a:xfrm>
        </p:spPr>
        <p:txBody>
          <a:bodyPr>
            <a:normAutofit fontScale="77500" lnSpcReduction="20000"/>
          </a:bodyPr>
          <a:lstStyle/>
          <a:p>
            <a:r>
              <a:rPr lang="en-US" sz="2000" b="1" dirty="0"/>
              <a:t>Are AIPs (Annual Improvement Priorities)…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Tied to the established Long-Term Stretch Objectives?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Process-focused?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Customer-focused?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Measurable?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Supporting objectives identified in the LRP (Long-Range Plan)?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Enlisting cross-functional involvement?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Representing significant improvements?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Resulting in a new system or new way of doing business?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Not already learned? (Do we already know how to do it?)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A07FA52-845E-7D24-4038-05CF63DC1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t="121" b="-6149"/>
          <a:stretch/>
        </p:blipFill>
        <p:spPr>
          <a:xfrm rot="20839358">
            <a:off x="7615237" y="1279093"/>
            <a:ext cx="3559824" cy="466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41467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58BB-5491-49A1-4A66-79C821CC2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Affinity Ground Rules for AIPs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7BE39-49C3-35D3-119D-9DD8721C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Silent brainstorming…no discussion during Post-it writing exercise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At least 2 quality 2</a:t>
            </a:r>
            <a:r>
              <a:rPr lang="en-US" altLang="en-US" sz="1800" baseline="30000" dirty="0">
                <a:solidFill>
                  <a:srgbClr val="000000"/>
                </a:solidFill>
                <a:latin typeface="+mn-lt"/>
              </a:rPr>
              <a:t>nd</a:t>
            </a: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 Level AIP Post-its per Top Level AIP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Everyone</a:t>
            </a:r>
            <a:r>
              <a:rPr lang="ja-JP" altLang="en-US" sz="1800" dirty="0">
                <a:solidFill>
                  <a:srgbClr val="000000"/>
                </a:solidFill>
                <a:latin typeface="+mn-lt"/>
              </a:rPr>
              <a:t>’</a:t>
            </a:r>
            <a:r>
              <a:rPr lang="en-US" altLang="ja-JP" sz="1800" dirty="0">
                <a:solidFill>
                  <a:srgbClr val="000000"/>
                </a:solidFill>
                <a:latin typeface="+mn-lt"/>
              </a:rPr>
              <a:t>s ideas are treated equally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One idea (AIP) per Post-it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Write name on the top of Post-it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Be clear; state the AIP in the form of a process:</a:t>
            </a:r>
          </a:p>
          <a:p>
            <a:pPr lvl="1"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Wrong: Improve Material Costs </a:t>
            </a:r>
          </a:p>
          <a:p>
            <a:pPr lvl="1"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rgbClr val="000000"/>
                </a:solidFill>
                <a:latin typeface="+mn-lt"/>
              </a:rPr>
              <a:t>Right: Implement new and/or optimize existing Supplier Certification Processes</a:t>
            </a:r>
          </a:p>
          <a:p>
            <a:pPr eaLnBrk="0" fontAlgn="base" hangingPunct="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rgbClr val="000000"/>
                </a:solidFill>
                <a:latin typeface="+mn-lt"/>
              </a:rPr>
              <a:t>Focus on the critical few ideas based on the Top Level AIPs and Breakthrough Objectives</a:t>
            </a:r>
            <a:endParaRPr lang="en-US" altLang="en-US" sz="10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178C8-871E-C475-8235-F7CBC1BFB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57942" y="2161633"/>
            <a:ext cx="3765550" cy="29450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64856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4A9A-8D6A-3423-BCDD-E5C250E2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Affinity Process for Brainstorming Second Level AIPs</a:t>
            </a: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072F5FA-42F3-4883-071D-A4956061C119}"/>
              </a:ext>
            </a:extLst>
          </p:cNvPr>
          <p:cNvGrpSpPr/>
          <p:nvPr/>
        </p:nvGrpSpPr>
        <p:grpSpPr>
          <a:xfrm>
            <a:off x="1206373" y="1792287"/>
            <a:ext cx="9779254" cy="4614419"/>
            <a:chOff x="1278606" y="1690687"/>
            <a:chExt cx="9779254" cy="46144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BAB2F9A-3EDD-4EE9-F908-11B5BFF737B0}"/>
                </a:ext>
              </a:extLst>
            </p:cNvPr>
            <p:cNvSpPr/>
            <p:nvPr/>
          </p:nvSpPr>
          <p:spPr bwMode="auto">
            <a:xfrm>
              <a:off x="1278606" y="1690687"/>
              <a:ext cx="9779254" cy="4614419"/>
            </a:xfrm>
            <a:prstGeom prst="rect">
              <a:avLst/>
            </a:prstGeom>
            <a:solidFill>
              <a:schemeClr val="accent3">
                <a:alpha val="43000"/>
              </a:schemeClr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Wingdings 3" pitchFamily="18" charset="2"/>
              </a:endParaRPr>
            </a:p>
          </p:txBody>
        </p:sp>
        <p:pic>
          <p:nvPicPr>
            <p:cNvPr id="200" name="Image" descr="Image">
              <a:extLst>
                <a:ext uri="{FF2B5EF4-FFF2-40B4-BE49-F238E27FC236}">
                  <a16:creationId xmlns:a16="http://schemas.microsoft.com/office/drawing/2014/main" id="{5646A75F-1B49-1C3E-DF36-6A3E3432A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519114" y="2666511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6" name="Image" descr="Image">
              <a:extLst>
                <a:ext uri="{FF2B5EF4-FFF2-40B4-BE49-F238E27FC236}">
                  <a16:creationId xmlns:a16="http://schemas.microsoft.com/office/drawing/2014/main" id="{8D7710C6-FF45-FF99-C93C-3A05EA8BE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4472" y="2682355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2" name="Image" descr="Image">
              <a:extLst>
                <a:ext uri="{FF2B5EF4-FFF2-40B4-BE49-F238E27FC236}">
                  <a16:creationId xmlns:a16="http://schemas.microsoft.com/office/drawing/2014/main" id="{41BDFF45-D607-2ABE-B045-6CEE0989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44097" y="2666511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9" name="Image" descr="Image">
              <a:extLst>
                <a:ext uri="{FF2B5EF4-FFF2-40B4-BE49-F238E27FC236}">
                  <a16:creationId xmlns:a16="http://schemas.microsoft.com/office/drawing/2014/main" id="{ACFC8D6A-CE1C-6E16-FA1F-6D7679C8C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18808" y="2546579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8" name="Image" descr="Image">
              <a:extLst>
                <a:ext uri="{FF2B5EF4-FFF2-40B4-BE49-F238E27FC236}">
                  <a16:creationId xmlns:a16="http://schemas.microsoft.com/office/drawing/2014/main" id="{BDB41D81-98E1-30F2-E1FB-BE33E63FB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13777" y="2606046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6AADB1C4-CB2C-7C4E-70AE-3534D9AA6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653" y="2750658"/>
              <a:ext cx="1562898" cy="1315050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81338EF-1D16-71E7-3BF8-9417E0EBA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1468" y="2837797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449DA54-0503-9338-312B-F2B94A68E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307" y="2980125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C661CA4-CB32-64E9-CB19-0BEF11900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5340" y="3441208"/>
              <a:ext cx="161290" cy="134914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C9DFC0C-95C3-EB09-4370-C50992343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9856" y="3101697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0B95A0-0140-72E4-1B57-33D7C346B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823" y="3629496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E112768-1287-B236-4861-2A33F7E9F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242" y="3663595"/>
              <a:ext cx="161290" cy="134914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9F7FE2E-4CF3-FE64-897B-835BCD5B2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2438" y="3718451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EA39DF6-551E-4CFB-D6BF-78264336D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6309" y="3896361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B45D8E3-1943-AD95-BF82-CCC88179A1C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479536" y="3582053"/>
              <a:ext cx="162903" cy="121572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46B5DD-9077-E06D-F125-3AADE331C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407" y="2894135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453C595-8E8F-939A-B89F-B93AFDDD8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8245" y="3036463"/>
              <a:ext cx="161290" cy="134915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2BD3AFC-57E5-EF0C-3E5E-DB1320774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2442" y="1994209"/>
              <a:ext cx="2241928" cy="501113"/>
            </a:xfrm>
            <a:prstGeom prst="rect">
              <a:avLst/>
            </a:prstGeom>
            <a:solidFill>
              <a:schemeClr val="bg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D2B915B-12B9-9112-14E1-5F77DF672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5989" y="4691025"/>
              <a:ext cx="2685475" cy="1452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1438" tIns="36512" rIns="71438" bIns="36512">
              <a:spAutoFit/>
            </a:bodyPr>
            <a:lstStyle>
              <a:lvl1pPr marL="285750" indent="-28575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 defTabSz="708025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defTabSz="708025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40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Step 1: Each participant silently brainstorms 2  Second Level AIPs for each Top Level AIP</a:t>
              </a:r>
            </a:p>
            <a:p>
              <a:pPr algn="l">
                <a:lnSpc>
                  <a:spcPct val="100000"/>
                </a:lnSpc>
                <a:spcBef>
                  <a:spcPct val="40000"/>
                </a:spcBef>
                <a:buSzPct val="125000"/>
                <a:buFont typeface="Arial" panose="020B0604020202020204" pitchFamily="34" charset="0"/>
                <a:buChar char="•"/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Write each Second Level AIP on a Post-it note</a:t>
              </a:r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0E1D1B2-9012-1ADA-4C1B-015E82522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3722" y="1986794"/>
              <a:ext cx="2706442" cy="4152713"/>
              <a:chOff x="2186" y="900"/>
              <a:chExt cx="1678" cy="2801"/>
            </a:xfrm>
          </p:grpSpPr>
          <p:sp>
            <p:nvSpPr>
              <p:cNvPr id="70" name="Rectangle 59">
                <a:extLst>
                  <a:ext uri="{FF2B5EF4-FFF2-40B4-BE49-F238E27FC236}">
                    <a16:creationId xmlns:a16="http://schemas.microsoft.com/office/drawing/2014/main" id="{C84263E6-5A8E-CCB6-3C86-FC05A8CC8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6" y="900"/>
                <a:ext cx="1390" cy="338"/>
              </a:xfrm>
              <a:prstGeom prst="rect">
                <a:avLst/>
              </a:prstGeom>
              <a:solidFill>
                <a:schemeClr val="bg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2" name="Oval 66">
                <a:extLst>
                  <a:ext uri="{FF2B5EF4-FFF2-40B4-BE49-F238E27FC236}">
                    <a16:creationId xmlns:a16="http://schemas.microsoft.com/office/drawing/2014/main" id="{95B5555B-55A4-2265-62B4-8DEDD487A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7" y="1404"/>
                <a:ext cx="969" cy="887"/>
              </a:xfrm>
              <a:prstGeom prst="ellipse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3" name="Rectangle 67">
                <a:extLst>
                  <a:ext uri="{FF2B5EF4-FFF2-40B4-BE49-F238E27FC236}">
                    <a16:creationId xmlns:a16="http://schemas.microsoft.com/office/drawing/2014/main" id="{9DB4121B-AFDA-9962-C121-E44C1C4C8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" y="1039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253BF2ED-C959-D923-5E76-CC18F75D73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5" y="980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E220EB6-8A11-0B8D-6311-0274C9728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1" y="1876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35A6557B-CB4E-92FD-EEF8-C8A36612F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1" y="1089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56A6013-1483-D1F2-85D0-643DFC7C3B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2" y="200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FAFE1B5-3F07-C656-A967-D26731F6E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3" y="2026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F53A83B9-E4FA-7692-AF0A-6A3F0CFB6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44" y="206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59E5582-93AE-D42B-798B-992359B08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7" y="218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4" name="Rectangle 93">
                <a:extLst>
                  <a:ext uri="{FF2B5EF4-FFF2-40B4-BE49-F238E27FC236}">
                    <a16:creationId xmlns:a16="http://schemas.microsoft.com/office/drawing/2014/main" id="{2AC1A31D-D875-491E-1A79-941A18FDC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2488" y="1971"/>
                <a:ext cx="101" cy="82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5" name="Rectangle 94">
                <a:extLst>
                  <a:ext uri="{FF2B5EF4-FFF2-40B4-BE49-F238E27FC236}">
                    <a16:creationId xmlns:a16="http://schemas.microsoft.com/office/drawing/2014/main" id="{7C84F22B-D1B0-1E61-B372-D8F7EF5504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" y="1146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6" name="Rectangle 95">
                <a:extLst>
                  <a:ext uri="{FF2B5EF4-FFF2-40B4-BE49-F238E27FC236}">
                    <a16:creationId xmlns:a16="http://schemas.microsoft.com/office/drawing/2014/main" id="{E71BFAD3-DC38-E696-AABD-10D44E68A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3" y="1136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88" name="Rectangle 102">
                <a:extLst>
                  <a:ext uri="{FF2B5EF4-FFF2-40B4-BE49-F238E27FC236}">
                    <a16:creationId xmlns:a16="http://schemas.microsoft.com/office/drawing/2014/main" id="{F18F5D2E-09A9-2668-EFC4-6A8CAC516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9" y="2721"/>
                <a:ext cx="1665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1438" tIns="36512" rIns="71438" bIns="36512">
                <a:spAutoFit/>
              </a:bodyPr>
              <a:lstStyle>
                <a:lvl1pPr marL="285750" indent="-28575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40000"/>
                  </a:spcBef>
                  <a:buSzPct val="125000"/>
                  <a:buFont typeface="Arial" panose="020B0604020202020204" pitchFamily="34" charset="0"/>
                  <a:buChar char="•"/>
                </a:pPr>
                <a:r>
                  <a:rPr lang="en-US" altLang="en-US" sz="1400" dirty="0">
                    <a:solidFill>
                      <a:schemeClr val="tx1"/>
                    </a:solidFill>
                    <a:latin typeface="+mn-lt"/>
                  </a:rPr>
                  <a:t>Step 2: Each participant individually shares Post-it notes aloud and then posts on board/flipchart</a:t>
                </a:r>
              </a:p>
              <a:p>
                <a:pPr algn="l">
                  <a:lnSpc>
                    <a:spcPct val="100000"/>
                  </a:lnSpc>
                  <a:spcBef>
                    <a:spcPct val="40000"/>
                  </a:spcBef>
                  <a:buSzPct val="125000"/>
                  <a:buFont typeface="Arial" panose="020B0604020202020204" pitchFamily="34" charset="0"/>
                  <a:buChar char="•"/>
                </a:pPr>
                <a:r>
                  <a:rPr lang="en-US" altLang="en-US" sz="1400" dirty="0">
                    <a:solidFill>
                      <a:schemeClr val="tx1"/>
                    </a:solidFill>
                    <a:latin typeface="+mn-lt"/>
                  </a:rPr>
                  <a:t>No judgments are cast yet about what is posted</a:t>
                </a: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656FB4D1-9852-A300-5415-51CD8EC96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92421" y="1979382"/>
              <a:ext cx="2390315" cy="4146782"/>
              <a:chOff x="4026" y="895"/>
              <a:chExt cx="1482" cy="2797"/>
            </a:xfrm>
          </p:grpSpPr>
          <p:sp>
            <p:nvSpPr>
              <p:cNvPr id="122" name="Rectangle 115">
                <a:extLst>
                  <a:ext uri="{FF2B5EF4-FFF2-40B4-BE49-F238E27FC236}">
                    <a16:creationId xmlns:a16="http://schemas.microsoft.com/office/drawing/2014/main" id="{1D3EF68A-1E13-B538-1AA0-CAB0CB8D6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8" y="897"/>
                <a:ext cx="1390" cy="338"/>
              </a:xfrm>
              <a:prstGeom prst="rect">
                <a:avLst/>
              </a:prstGeom>
              <a:solidFill>
                <a:schemeClr val="bg2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24" name="Oval 122">
                <a:extLst>
                  <a:ext uri="{FF2B5EF4-FFF2-40B4-BE49-F238E27FC236}">
                    <a16:creationId xmlns:a16="http://schemas.microsoft.com/office/drawing/2014/main" id="{E77BEEE2-6F0A-A593-5052-DF5338BAE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9" y="1404"/>
                <a:ext cx="969" cy="887"/>
              </a:xfrm>
              <a:prstGeom prst="ellipse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25" name="Rectangle 123">
                <a:extLst>
                  <a:ext uri="{FF2B5EF4-FFF2-40B4-BE49-F238E27FC236}">
                    <a16:creationId xmlns:a16="http://schemas.microsoft.com/office/drawing/2014/main" id="{940B72DA-DA65-EEE8-0277-7CA68E5F51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1" y="981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27" name="Rectangle 130">
                <a:extLst>
                  <a:ext uri="{FF2B5EF4-FFF2-40B4-BE49-F238E27FC236}">
                    <a16:creationId xmlns:a16="http://schemas.microsoft.com/office/drawing/2014/main" id="{3331E8EB-6F5D-65FE-EC20-DC725ED16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31" y="931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28" name="Rectangle 131">
                <a:extLst>
                  <a:ext uri="{FF2B5EF4-FFF2-40B4-BE49-F238E27FC236}">
                    <a16:creationId xmlns:a16="http://schemas.microsoft.com/office/drawing/2014/main" id="{439C44D7-D4CE-0F29-0D12-AD55E13874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9" y="1114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29" name="Rectangle 132">
                <a:extLst>
                  <a:ext uri="{FF2B5EF4-FFF2-40B4-BE49-F238E27FC236}">
                    <a16:creationId xmlns:a16="http://schemas.microsoft.com/office/drawing/2014/main" id="{02B88492-D699-1770-2609-5928B04B9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9" y="101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0" name="Rectangle 133">
                <a:extLst>
                  <a:ext uri="{FF2B5EF4-FFF2-40B4-BE49-F238E27FC236}">
                    <a16:creationId xmlns:a16="http://schemas.microsoft.com/office/drawing/2014/main" id="{08598857-2181-DBD9-F265-82EDFB4DA6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" y="111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1" name="Rectangle 134">
                <a:extLst>
                  <a:ext uri="{FF2B5EF4-FFF2-40B4-BE49-F238E27FC236}">
                    <a16:creationId xmlns:a16="http://schemas.microsoft.com/office/drawing/2014/main" id="{C9139CC8-A56B-830B-74B0-17CE6ACDD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9" y="96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2" name="Rectangle 135">
                <a:extLst>
                  <a:ext uri="{FF2B5EF4-FFF2-40B4-BE49-F238E27FC236}">
                    <a16:creationId xmlns:a16="http://schemas.microsoft.com/office/drawing/2014/main" id="{C301988E-A480-BF43-AA49-D0650FDF66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7" y="1017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3" name="Rectangle 136">
                <a:extLst>
                  <a:ext uri="{FF2B5EF4-FFF2-40B4-BE49-F238E27FC236}">
                    <a16:creationId xmlns:a16="http://schemas.microsoft.com/office/drawing/2014/main" id="{C5694F21-E3E2-7E03-61F2-88F29FB30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5" y="1110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6" name="Rectangle 149">
                <a:extLst>
                  <a:ext uri="{FF2B5EF4-FFF2-40B4-BE49-F238E27FC236}">
                    <a16:creationId xmlns:a16="http://schemas.microsoft.com/office/drawing/2014/main" id="{AB3E9E67-8085-5ECF-B8A3-94DD96986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 flipV="1">
                <a:off x="4191" y="1054"/>
                <a:ext cx="101" cy="82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7" name="Rectangle 150">
                <a:extLst>
                  <a:ext uri="{FF2B5EF4-FFF2-40B4-BE49-F238E27FC236}">
                    <a16:creationId xmlns:a16="http://schemas.microsoft.com/office/drawing/2014/main" id="{77B35B8A-D76D-AB30-0BA7-4C2AA2546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5" y="983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8" name="Rectangle 151">
                <a:extLst>
                  <a:ext uri="{FF2B5EF4-FFF2-40B4-BE49-F238E27FC236}">
                    <a16:creationId xmlns:a16="http://schemas.microsoft.com/office/drawing/2014/main" id="{A75BF569-11D2-85F8-6FE2-24A020462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0" y="1097"/>
                <a:ext cx="100" cy="91"/>
              </a:xfrm>
              <a:prstGeom prst="rect">
                <a:avLst/>
              </a:prstGeom>
              <a:solidFill>
                <a:srgbClr val="FFFF66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39" name="Oval 152">
                <a:extLst>
                  <a:ext uri="{FF2B5EF4-FFF2-40B4-BE49-F238E27FC236}">
                    <a16:creationId xmlns:a16="http://schemas.microsoft.com/office/drawing/2014/main" id="{AD29A228-A691-A9EC-014E-55FE6B7DA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1" y="959"/>
                <a:ext cx="229" cy="229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0" name="Oval 153">
                <a:extLst>
                  <a:ext uri="{FF2B5EF4-FFF2-40B4-BE49-F238E27FC236}">
                    <a16:creationId xmlns:a16="http://schemas.microsoft.com/office/drawing/2014/main" id="{2989D9E3-2687-9CBA-CA23-6A69D6B8A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1" y="927"/>
                <a:ext cx="229" cy="165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1" name="Oval 154">
                <a:extLst>
                  <a:ext uri="{FF2B5EF4-FFF2-40B4-BE49-F238E27FC236}">
                    <a16:creationId xmlns:a16="http://schemas.microsoft.com/office/drawing/2014/main" id="{CA1F4E4C-D8FF-60FD-875B-FD45158BC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6" y="1073"/>
                <a:ext cx="157" cy="148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2" name="Oval 155">
                <a:extLst>
                  <a:ext uri="{FF2B5EF4-FFF2-40B4-BE49-F238E27FC236}">
                    <a16:creationId xmlns:a16="http://schemas.microsoft.com/office/drawing/2014/main" id="{B4A93E12-BDBE-66DF-956C-52E8B98D5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4" y="900"/>
                <a:ext cx="229" cy="229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3" name="Oval 156">
                <a:extLst>
                  <a:ext uri="{FF2B5EF4-FFF2-40B4-BE49-F238E27FC236}">
                    <a16:creationId xmlns:a16="http://schemas.microsoft.com/office/drawing/2014/main" id="{0C895E02-BB9F-7A7D-35B5-376A69065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7" y="1083"/>
                <a:ext cx="175" cy="129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4" name="Oval 157">
                <a:extLst>
                  <a:ext uri="{FF2B5EF4-FFF2-40B4-BE49-F238E27FC236}">
                    <a16:creationId xmlns:a16="http://schemas.microsoft.com/office/drawing/2014/main" id="{8392E3A7-F743-3FD0-9441-32F029917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3" y="1060"/>
                <a:ext cx="166" cy="148"/>
              </a:xfrm>
              <a:prstGeom prst="ellipse">
                <a:avLst/>
              </a:prstGeom>
              <a:noFill/>
              <a:ln w="38100" cap="sq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5" name="Rectangle 158">
                <a:extLst>
                  <a:ext uri="{FF2B5EF4-FFF2-40B4-BE49-F238E27FC236}">
                    <a16:creationId xmlns:a16="http://schemas.microsoft.com/office/drawing/2014/main" id="{4C7C853D-F34F-C705-53F9-0ECF21561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7" y="895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6" name="Rectangle 159">
                <a:extLst>
                  <a:ext uri="{FF2B5EF4-FFF2-40B4-BE49-F238E27FC236}">
                    <a16:creationId xmlns:a16="http://schemas.microsoft.com/office/drawing/2014/main" id="{3B0E1987-C7F5-F323-1BB4-6D6EB5CB3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5" y="1037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7" name="Rectangle 160">
                <a:extLst>
                  <a:ext uri="{FF2B5EF4-FFF2-40B4-BE49-F238E27FC236}">
                    <a16:creationId xmlns:a16="http://schemas.microsoft.com/office/drawing/2014/main" id="{CD4AB844-00BE-3D0B-58BA-7915AFA43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2" y="909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8" name="Rectangle 161">
                <a:extLst>
                  <a:ext uri="{FF2B5EF4-FFF2-40B4-BE49-F238E27FC236}">
                    <a16:creationId xmlns:a16="http://schemas.microsoft.com/office/drawing/2014/main" id="{9680E4A8-5EFC-3381-AAD0-21635E592A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2" y="1128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49" name="Rectangle 162">
                <a:extLst>
                  <a:ext uri="{FF2B5EF4-FFF2-40B4-BE49-F238E27FC236}">
                    <a16:creationId xmlns:a16="http://schemas.microsoft.com/office/drawing/2014/main" id="{D6E10342-13EB-8EEF-759D-AEF9ED19EC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6" y="1036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50" name="Rectangle 163">
                <a:extLst>
                  <a:ext uri="{FF2B5EF4-FFF2-40B4-BE49-F238E27FC236}">
                    <a16:creationId xmlns:a16="http://schemas.microsoft.com/office/drawing/2014/main" id="{56169831-B9F2-CE23-9BB1-27A92DFF1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3" y="909"/>
                <a:ext cx="138" cy="73"/>
              </a:xfrm>
              <a:prstGeom prst="rect">
                <a:avLst/>
              </a:prstGeom>
              <a:solidFill>
                <a:schemeClr val="bg1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152" name="Rectangle 174">
                <a:extLst>
                  <a:ext uri="{FF2B5EF4-FFF2-40B4-BE49-F238E27FC236}">
                    <a16:creationId xmlns:a16="http://schemas.microsoft.com/office/drawing/2014/main" id="{0273A844-21BC-0AFD-BE64-30CC04CBE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6" y="2712"/>
                <a:ext cx="1473" cy="9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1438" tIns="36512" rIns="71438" bIns="36512">
                <a:spAutoFit/>
              </a:bodyPr>
              <a:lstStyle>
                <a:lvl1pPr marL="285750" indent="-28575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1pPr>
                <a:lvl2pPr marL="742950" indent="-28575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2pPr>
                <a:lvl3pPr marL="11430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3pPr>
                <a:lvl4pPr marL="16002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4pPr>
                <a:lvl5pPr marL="2057400" indent="-228600" defTabSz="708025"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5pPr>
                <a:lvl6pPr marL="25146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6pPr>
                <a:lvl7pPr marL="29718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7pPr>
                <a:lvl8pPr marL="34290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8pPr>
                <a:lvl9pPr marL="3886200" indent="-228600" algn="ctr" defTabSz="708025" eaLnBrk="0" fontAlgn="base" hangingPunct="0">
                  <a:lnSpc>
                    <a:spcPct val="80000"/>
                  </a:lnSpc>
                  <a:spcBef>
                    <a:spcPct val="20000"/>
                  </a:spcBef>
                  <a:spcAft>
                    <a:spcPct val="0"/>
                  </a:spcAft>
                  <a:defRPr sz="900" b="1">
                    <a:solidFill>
                      <a:schemeClr val="bg1"/>
                    </a:solidFill>
                    <a:latin typeface="Wingdings 3" pitchFamily="2" charset="2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lnSpc>
                    <a:spcPct val="100000"/>
                  </a:lnSpc>
                  <a:spcBef>
                    <a:spcPct val="40000"/>
                  </a:spcBef>
                  <a:buSzPct val="125000"/>
                  <a:buFont typeface="Arial" panose="020B0604020202020204" pitchFamily="34" charset="0"/>
                  <a:buChar char="•"/>
                </a:pPr>
                <a:r>
                  <a:rPr lang="en-US" altLang="en-US" sz="1400" dirty="0">
                    <a:solidFill>
                      <a:schemeClr val="tx1"/>
                    </a:solidFill>
                    <a:latin typeface="+mn-lt"/>
                  </a:rPr>
                  <a:t>Step 3: AIP Owner facilitates the grouping of like ideas</a:t>
                </a:r>
              </a:p>
              <a:p>
                <a:pPr algn="l">
                  <a:lnSpc>
                    <a:spcPct val="100000"/>
                  </a:lnSpc>
                  <a:spcBef>
                    <a:spcPct val="40000"/>
                  </a:spcBef>
                  <a:buSzPct val="125000"/>
                  <a:buFont typeface="Arial" panose="020B0604020202020204" pitchFamily="34" charset="0"/>
                  <a:buChar char="•"/>
                </a:pPr>
                <a:r>
                  <a:rPr lang="en-US" altLang="en-US" sz="1400" dirty="0">
                    <a:solidFill>
                      <a:schemeClr val="tx1"/>
                    </a:solidFill>
                    <a:latin typeface="+mn-lt"/>
                  </a:rPr>
                  <a:t>Each grouping must be given a title or category name</a:t>
                </a:r>
              </a:p>
            </p:txBody>
          </p:sp>
        </p:grpSp>
        <p:pic>
          <p:nvPicPr>
            <p:cNvPr id="185" name="Image" descr="Image">
              <a:extLst>
                <a:ext uri="{FF2B5EF4-FFF2-40B4-BE49-F238E27FC236}">
                  <a16:creationId xmlns:a16="http://schemas.microsoft.com/office/drawing/2014/main" id="{25F8A79A-4864-A7F0-A98F-056C91AD7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75642" y="3299560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Image" descr="Image">
              <a:extLst>
                <a:ext uri="{FF2B5EF4-FFF2-40B4-BE49-F238E27FC236}">
                  <a16:creationId xmlns:a16="http://schemas.microsoft.com/office/drawing/2014/main" id="{E2D3FBB8-57BF-70C7-85D7-099F715E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073087" y="2084501"/>
              <a:ext cx="405972" cy="830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6" name="Image" descr="Image">
              <a:extLst>
                <a:ext uri="{FF2B5EF4-FFF2-40B4-BE49-F238E27FC236}">
                  <a16:creationId xmlns:a16="http://schemas.microsoft.com/office/drawing/2014/main" id="{44C83359-2A22-8B09-B818-C77BB27D4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16689" y="3821056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7" name="Image" descr="Image">
              <a:extLst>
                <a:ext uri="{FF2B5EF4-FFF2-40B4-BE49-F238E27FC236}">
                  <a16:creationId xmlns:a16="http://schemas.microsoft.com/office/drawing/2014/main" id="{E8E538F3-7461-D468-DFC0-5DD66CDD3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39042" y="3391482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0" name="Image" descr="Image">
              <a:extLst>
                <a:ext uri="{FF2B5EF4-FFF2-40B4-BE49-F238E27FC236}">
                  <a16:creationId xmlns:a16="http://schemas.microsoft.com/office/drawing/2014/main" id="{BA0E8CCC-DFDD-708F-7926-06F78FAD3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64682" y="3336685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1" name="Image" descr="Image">
              <a:extLst>
                <a:ext uri="{FF2B5EF4-FFF2-40B4-BE49-F238E27FC236}">
                  <a16:creationId xmlns:a16="http://schemas.microsoft.com/office/drawing/2014/main" id="{D42A2E9B-A4E0-D09D-7845-30DE8D98D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7295" y="3304233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3" name="Image" descr="Image">
              <a:extLst>
                <a:ext uri="{FF2B5EF4-FFF2-40B4-BE49-F238E27FC236}">
                  <a16:creationId xmlns:a16="http://schemas.microsoft.com/office/drawing/2014/main" id="{95322D00-2919-2DA6-EAA8-59135E29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27163" y="3746188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4" name="Image" descr="Image">
              <a:extLst>
                <a:ext uri="{FF2B5EF4-FFF2-40B4-BE49-F238E27FC236}">
                  <a16:creationId xmlns:a16="http://schemas.microsoft.com/office/drawing/2014/main" id="{60B24265-4199-8976-025E-52C6E8AAF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01427" y="2688293"/>
              <a:ext cx="405972" cy="830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5" name="Image" descr="Image">
              <a:extLst>
                <a:ext uri="{FF2B5EF4-FFF2-40B4-BE49-F238E27FC236}">
                  <a16:creationId xmlns:a16="http://schemas.microsoft.com/office/drawing/2014/main" id="{CFDAB76D-1CFF-6DF4-39C5-0DFCB65E6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07908" y="2083845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7" name="Image" descr="Image">
              <a:extLst>
                <a:ext uri="{FF2B5EF4-FFF2-40B4-BE49-F238E27FC236}">
                  <a16:creationId xmlns:a16="http://schemas.microsoft.com/office/drawing/2014/main" id="{4F7A0181-2F7F-F599-13BF-5D1C41D9EF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17824" y="3353793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1" name="Image" descr="Image">
              <a:extLst>
                <a:ext uri="{FF2B5EF4-FFF2-40B4-BE49-F238E27FC236}">
                  <a16:creationId xmlns:a16="http://schemas.microsoft.com/office/drawing/2014/main" id="{FC50C13C-2CDD-7584-622B-BF24241A2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263199" y="2071308"/>
              <a:ext cx="405972" cy="8303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8" name="Image" descr="Image">
              <a:extLst>
                <a:ext uri="{FF2B5EF4-FFF2-40B4-BE49-F238E27FC236}">
                  <a16:creationId xmlns:a16="http://schemas.microsoft.com/office/drawing/2014/main" id="{E45D2581-B5B4-93BB-8C94-2CDC0331A5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50437" y="3321341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9" name="Image" descr="Image">
              <a:extLst>
                <a:ext uri="{FF2B5EF4-FFF2-40B4-BE49-F238E27FC236}">
                  <a16:creationId xmlns:a16="http://schemas.microsoft.com/office/drawing/2014/main" id="{C94579C0-ABB6-ED54-055E-66EA75B51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80305" y="3763296"/>
              <a:ext cx="402336" cy="8229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758061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5D8EE0-88E6-A531-27D7-5E42F4C705D9}"/>
              </a:ext>
            </a:extLst>
          </p:cNvPr>
          <p:cNvSpPr/>
          <p:nvPr/>
        </p:nvSpPr>
        <p:spPr bwMode="auto">
          <a:xfrm>
            <a:off x="1269081" y="1815277"/>
            <a:ext cx="9719593" cy="4521200"/>
          </a:xfrm>
          <a:prstGeom prst="rect">
            <a:avLst/>
          </a:prstGeom>
          <a:solidFill>
            <a:schemeClr val="accent3">
              <a:alpha val="43000"/>
            </a:schemeClr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Wingdings 3" pitchFamily="18" charset="2"/>
            </a:endParaRPr>
          </a:p>
        </p:txBody>
      </p:sp>
      <p:pic>
        <p:nvPicPr>
          <p:cNvPr id="159" name="Image" descr="Image">
            <a:extLst>
              <a:ext uri="{FF2B5EF4-FFF2-40B4-BE49-F238E27FC236}">
                <a16:creationId xmlns:a16="http://schemas.microsoft.com/office/drawing/2014/main" id="{793B16BD-5539-6DB5-C989-C7831BC49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77" y="2889654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14A9A-8D6A-3423-BCDD-E5C250E2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Affinity Process for Brainstorming Second Level AIPs</a:t>
            </a:r>
          </a:p>
        </p:txBody>
      </p:sp>
      <p:pic>
        <p:nvPicPr>
          <p:cNvPr id="158" name="Image" descr="Image">
            <a:extLst>
              <a:ext uri="{FF2B5EF4-FFF2-40B4-BE49-F238E27FC236}">
                <a16:creationId xmlns:a16="http://schemas.microsoft.com/office/drawing/2014/main" id="{AC9B07B6-8DF6-178B-0364-B8090F6C2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589" y="2759420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3F1A1E0-6665-D2C6-50B1-32F47D313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0761" y="2101869"/>
            <a:ext cx="2228250" cy="490989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9EF49960-3AAC-3311-2CCB-A878865C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7402" y="2807847"/>
            <a:ext cx="1553364" cy="1288484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40" name="Rectangle 29">
            <a:extLst>
              <a:ext uri="{FF2B5EF4-FFF2-40B4-BE49-F238E27FC236}">
                <a16:creationId xmlns:a16="http://schemas.microsoft.com/office/drawing/2014/main" id="{3FA8AC1C-69CE-13FF-C1F7-A731EE86F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279" y="4738393"/>
            <a:ext cx="2361305" cy="158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>
            <a:lvl1pPr marL="285750" indent="-28575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00000"/>
              </a:lnSpc>
              <a:spcBef>
                <a:spcPct val="40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Step 4: Using the AIP Analysis Tool, AIP Owner facilitates the </a:t>
            </a:r>
            <a:r>
              <a:rPr lang="ja-JP" altLang="en-US" sz="1400" dirty="0">
                <a:solidFill>
                  <a:schemeClr val="tx1"/>
                </a:solidFill>
                <a:latin typeface="+mn-lt"/>
              </a:rPr>
              <a:t>“</a:t>
            </a:r>
            <a:r>
              <a:rPr lang="en-US" altLang="ja-JP" sz="1400" dirty="0">
                <a:solidFill>
                  <a:schemeClr val="tx1"/>
                </a:solidFill>
                <a:latin typeface="+mn-lt"/>
              </a:rPr>
              <a:t>down-selection</a:t>
            </a:r>
            <a:r>
              <a:rPr lang="ja-JP" altLang="en-US" sz="1400" dirty="0">
                <a:solidFill>
                  <a:schemeClr val="tx1"/>
                </a:solidFill>
                <a:latin typeface="+mn-lt"/>
              </a:rPr>
              <a:t>”</a:t>
            </a:r>
            <a:r>
              <a:rPr lang="en-US" altLang="ja-JP" sz="1400" dirty="0">
                <a:solidFill>
                  <a:schemeClr val="tx1"/>
                </a:solidFill>
                <a:latin typeface="+mn-lt"/>
              </a:rPr>
              <a:t> process from 8+ ideas to the top Second Level AIPs </a:t>
            </a:r>
            <a:endParaRPr lang="en-US" altLang="en-US" sz="1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41" name="Group 30">
            <a:extLst>
              <a:ext uri="{FF2B5EF4-FFF2-40B4-BE49-F238E27FC236}">
                <a16:creationId xmlns:a16="http://schemas.microsoft.com/office/drawing/2014/main" id="{26D032ED-1344-4349-FCE9-A0E8FD09FEC7}"/>
              </a:ext>
            </a:extLst>
          </p:cNvPr>
          <p:cNvGrpSpPr>
            <a:grpSpLocks/>
          </p:cNvGrpSpPr>
          <p:nvPr/>
        </p:nvGrpSpPr>
        <p:grpSpPr bwMode="auto">
          <a:xfrm>
            <a:off x="4463207" y="2152709"/>
            <a:ext cx="367101" cy="425621"/>
            <a:chOff x="4133" y="895"/>
            <a:chExt cx="229" cy="293"/>
          </a:xfrm>
        </p:grpSpPr>
        <p:sp>
          <p:nvSpPr>
            <p:cNvPr id="42" name="Rectangle 31">
              <a:extLst>
                <a:ext uri="{FF2B5EF4-FFF2-40B4-BE49-F238E27FC236}">
                  <a16:creationId xmlns:a16="http://schemas.microsoft.com/office/drawing/2014/main" id="{86EB6248-3657-9360-3D3F-1FB940132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017"/>
              <a:ext cx="100" cy="91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8" name="Rectangle 32">
              <a:extLst>
                <a:ext uri="{FF2B5EF4-FFF2-40B4-BE49-F238E27FC236}">
                  <a16:creationId xmlns:a16="http://schemas.microsoft.com/office/drawing/2014/main" id="{A56EE0D1-85E6-4C5B-CF75-7EF1459FEEA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4173" y="1054"/>
              <a:ext cx="101" cy="82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49" name="Oval 33">
              <a:extLst>
                <a:ext uri="{FF2B5EF4-FFF2-40B4-BE49-F238E27FC236}">
                  <a16:creationId xmlns:a16="http://schemas.microsoft.com/office/drawing/2014/main" id="{F51A2603-7B6B-2D28-8112-988FC926A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3" y="959"/>
              <a:ext cx="229" cy="229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50" name="Rectangle 34">
              <a:extLst>
                <a:ext uri="{FF2B5EF4-FFF2-40B4-BE49-F238E27FC236}">
                  <a16:creationId xmlns:a16="http://schemas.microsoft.com/office/drawing/2014/main" id="{B9CB00F5-6B60-6A39-DE60-CEE96BDE6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" y="895"/>
              <a:ext cx="138" cy="73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</p:grpSp>
      <p:grpSp>
        <p:nvGrpSpPr>
          <p:cNvPr id="51" name="Group 35">
            <a:extLst>
              <a:ext uri="{FF2B5EF4-FFF2-40B4-BE49-F238E27FC236}">
                <a16:creationId xmlns:a16="http://schemas.microsoft.com/office/drawing/2014/main" id="{886BFE59-3E3B-D40B-CFAE-39A211E2B345}"/>
              </a:ext>
            </a:extLst>
          </p:cNvPr>
          <p:cNvGrpSpPr>
            <a:grpSpLocks/>
          </p:cNvGrpSpPr>
          <p:nvPr/>
        </p:nvGrpSpPr>
        <p:grpSpPr bwMode="auto">
          <a:xfrm>
            <a:off x="2794426" y="2132372"/>
            <a:ext cx="253283" cy="267284"/>
            <a:chOff x="4437" y="1037"/>
            <a:chExt cx="158" cy="184"/>
          </a:xfrm>
        </p:grpSpPr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B32D2E10-E696-97B8-F41A-3D8F0A56D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1110"/>
              <a:ext cx="100" cy="91"/>
            </a:xfrm>
            <a:prstGeom prst="rect">
              <a:avLst/>
            </a:prstGeom>
            <a:solidFill>
              <a:srgbClr val="FFFF66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53" name="Oval 37">
              <a:extLst>
                <a:ext uri="{FF2B5EF4-FFF2-40B4-BE49-F238E27FC236}">
                  <a16:creationId xmlns:a16="http://schemas.microsoft.com/office/drawing/2014/main" id="{0C097107-7BA8-14BD-6EA8-80638AE81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1073"/>
              <a:ext cx="157" cy="148"/>
            </a:xfrm>
            <a:prstGeom prst="ellipse">
              <a:avLst/>
            </a:prstGeom>
            <a:noFill/>
            <a:ln w="38100" cap="sq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54" name="Rectangle 38">
              <a:extLst>
                <a:ext uri="{FF2B5EF4-FFF2-40B4-BE49-F238E27FC236}">
                  <a16:creationId xmlns:a16="http://schemas.microsoft.com/office/drawing/2014/main" id="{36AA58DE-756A-0926-57D0-A43B3DFED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037"/>
              <a:ext cx="138" cy="73"/>
            </a:xfrm>
            <a:prstGeom prst="rect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/>
            </a:p>
          </p:txBody>
        </p:sp>
      </p:grpSp>
      <p:sp>
        <p:nvSpPr>
          <p:cNvPr id="55" name="Rectangle 39">
            <a:extLst>
              <a:ext uri="{FF2B5EF4-FFF2-40B4-BE49-F238E27FC236}">
                <a16:creationId xmlns:a16="http://schemas.microsoft.com/office/drawing/2014/main" id="{38A31B77-1FF2-F917-C310-161D37CA3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998" y="2428710"/>
            <a:ext cx="160306" cy="132190"/>
          </a:xfrm>
          <a:prstGeom prst="rect">
            <a:avLst/>
          </a:prstGeom>
          <a:solidFill>
            <a:srgbClr val="FFFF66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547917B2-3AA7-EE58-7A16-DA70123B2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342" y="2427257"/>
            <a:ext cx="160306" cy="132189"/>
          </a:xfrm>
          <a:prstGeom prst="rect">
            <a:avLst/>
          </a:prstGeom>
          <a:solidFill>
            <a:srgbClr val="FFFF66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57" name="Oval 41">
            <a:extLst>
              <a:ext uri="{FF2B5EF4-FFF2-40B4-BE49-F238E27FC236}">
                <a16:creationId xmlns:a16="http://schemas.microsoft.com/office/drawing/2014/main" id="{A94ECA05-B37F-33D5-4DD7-DB77438DD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6793" y="2383679"/>
            <a:ext cx="280536" cy="187389"/>
          </a:xfrm>
          <a:prstGeom prst="ellipse">
            <a:avLst/>
          </a:prstGeom>
          <a:noFill/>
          <a:ln w="38100" cap="sq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58" name="Rectangle 42">
            <a:extLst>
              <a:ext uri="{FF2B5EF4-FFF2-40B4-BE49-F238E27FC236}">
                <a16:creationId xmlns:a16="http://schemas.microsoft.com/office/drawing/2014/main" id="{CC8E8EE7-21DD-88F1-4CF4-DB3E9A8E4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160" y="2315404"/>
            <a:ext cx="221222" cy="106043"/>
          </a:xfrm>
          <a:prstGeom prst="rect">
            <a:avLst/>
          </a:prstGeom>
          <a:solidFill>
            <a:schemeClr val="bg1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74" name="Rectangle 54">
            <a:extLst>
              <a:ext uri="{FF2B5EF4-FFF2-40B4-BE49-F238E27FC236}">
                <a16:creationId xmlns:a16="http://schemas.microsoft.com/office/drawing/2014/main" id="{046B17EC-641A-05E7-730E-820FF48A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200" y="2110583"/>
            <a:ext cx="2228251" cy="490989"/>
          </a:xfrm>
          <a:prstGeom prst="rect">
            <a:avLst/>
          </a:prstGeom>
          <a:solidFill>
            <a:schemeClr val="bg2"/>
          </a:solidFill>
          <a:ln w="12700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pic>
        <p:nvPicPr>
          <p:cNvPr id="82" name="Picture 55">
            <a:extLst>
              <a:ext uri="{FF2B5EF4-FFF2-40B4-BE49-F238E27FC236}">
                <a16:creationId xmlns:a16="http://schemas.microsoft.com/office/drawing/2014/main" id="{11167270-C5AF-7B1C-0CD2-52CA850911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393" y="2116394"/>
            <a:ext cx="862445" cy="50115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" name="Oval 62">
            <a:extLst>
              <a:ext uri="{FF2B5EF4-FFF2-40B4-BE49-F238E27FC236}">
                <a16:creationId xmlns:a16="http://schemas.microsoft.com/office/drawing/2014/main" id="{0C79E5CB-537A-6B49-3937-37FAAE78B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1843" y="2816562"/>
            <a:ext cx="1553363" cy="1288484"/>
          </a:xfrm>
          <a:prstGeom prst="ellipse">
            <a:avLst/>
          </a:prstGeom>
          <a:solidFill>
            <a:schemeClr val="bg1"/>
          </a:solidFill>
          <a:ln w="12700" cap="sq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92" name="Rectangle 81">
            <a:extLst>
              <a:ext uri="{FF2B5EF4-FFF2-40B4-BE49-F238E27FC236}">
                <a16:creationId xmlns:a16="http://schemas.microsoft.com/office/drawing/2014/main" id="{8DBA70E7-5423-9A47-9ED4-5D8B7B92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719" y="4747109"/>
            <a:ext cx="2361304" cy="720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438" tIns="36512" rIns="71438" bIns="36512">
            <a:spAutoFit/>
          </a:bodyPr>
          <a:lstStyle>
            <a:lvl1pPr marL="285750" indent="-28575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 defTabSz="708025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defTabSz="708025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pPr algn="l">
              <a:lnSpc>
                <a:spcPct val="100000"/>
              </a:lnSpc>
              <a:spcBef>
                <a:spcPct val="40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tx1"/>
                </a:solidFill>
                <a:latin typeface="+mn-lt"/>
              </a:rPr>
              <a:t>Step 5: Transfer Second Level AIPs to the Second Level Matrix</a:t>
            </a:r>
          </a:p>
        </p:txBody>
      </p:sp>
      <p:sp>
        <p:nvSpPr>
          <p:cNvPr id="134" name="Rectangle 92">
            <a:extLst>
              <a:ext uri="{FF2B5EF4-FFF2-40B4-BE49-F238E27FC236}">
                <a16:creationId xmlns:a16="http://schemas.microsoft.com/office/drawing/2014/main" id="{6E96A17F-61EA-F3BB-929D-11BB3F11D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022" y="2154163"/>
            <a:ext cx="763056" cy="384947"/>
          </a:xfrm>
          <a:prstGeom prst="rect">
            <a:avLst/>
          </a:prstGeom>
          <a:solidFill>
            <a:schemeClr val="bg1"/>
          </a:solidFill>
          <a:ln w="28575" cap="sq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Wingdings 3" pitchFamily="2" charset="2"/>
                <a:ea typeface="ＭＳ Ｐゴシック" panose="020B0600070205080204" pitchFamily="34" charset="-128"/>
              </a:defRPr>
            </a:lvl9pPr>
          </a:lstStyle>
          <a:p>
            <a:endParaRPr lang="en-US" altLang="en-US" dirty="0"/>
          </a:p>
        </p:txBody>
      </p:sp>
      <p:sp>
        <p:nvSpPr>
          <p:cNvPr id="135" name="Line 93">
            <a:extLst>
              <a:ext uri="{FF2B5EF4-FFF2-40B4-BE49-F238E27FC236}">
                <a16:creationId xmlns:a16="http://schemas.microsoft.com/office/drawing/2014/main" id="{FB3FA0F3-68E4-AB41-C33F-62EC2E5ED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9390" y="2154163"/>
            <a:ext cx="0" cy="38494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1" name="Line 94">
            <a:extLst>
              <a:ext uri="{FF2B5EF4-FFF2-40B4-BE49-F238E27FC236}">
                <a16:creationId xmlns:a16="http://schemas.microsoft.com/office/drawing/2014/main" id="{FE69E895-8664-44B4-5386-74082210B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074" y="2340099"/>
            <a:ext cx="75895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54" name="Image" descr="Image">
            <a:extLst>
              <a:ext uri="{FF2B5EF4-FFF2-40B4-BE49-F238E27FC236}">
                <a16:creationId xmlns:a16="http://schemas.microsoft.com/office/drawing/2014/main" id="{E54E4D31-D9B5-31B1-1AE4-C5302CB68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5528" y="3403029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55" name="Image" descr="Image">
            <a:extLst>
              <a:ext uri="{FF2B5EF4-FFF2-40B4-BE49-F238E27FC236}">
                <a16:creationId xmlns:a16="http://schemas.microsoft.com/office/drawing/2014/main" id="{F8F6FF5C-A7E5-08D4-310D-52CEFD43BB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862296" y="2177529"/>
            <a:ext cx="405972" cy="83039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56" name="Image" descr="Image">
            <a:extLst>
              <a:ext uri="{FF2B5EF4-FFF2-40B4-BE49-F238E27FC236}">
                <a16:creationId xmlns:a16="http://schemas.microsoft.com/office/drawing/2014/main" id="{C3459D73-F173-0A66-0A88-30AFDAED5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443" y="3622314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57" name="Image" descr="Image">
            <a:extLst>
              <a:ext uri="{FF2B5EF4-FFF2-40B4-BE49-F238E27FC236}">
                <a16:creationId xmlns:a16="http://schemas.microsoft.com/office/drawing/2014/main" id="{0000DBDF-A409-FBD1-DED5-C4C3295BA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6289" y="3308516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0" name="Image" descr="Image">
            <a:extLst>
              <a:ext uri="{FF2B5EF4-FFF2-40B4-BE49-F238E27FC236}">
                <a16:creationId xmlns:a16="http://schemas.microsoft.com/office/drawing/2014/main" id="{3288F2C4-CE26-C5FE-1998-14B040E36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3116" y="3533263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1" name="Image" descr="Image">
            <a:extLst>
              <a:ext uri="{FF2B5EF4-FFF2-40B4-BE49-F238E27FC236}">
                <a16:creationId xmlns:a16="http://schemas.microsoft.com/office/drawing/2014/main" id="{0ACEC5A0-ED33-5CE9-45CC-A160C910019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79884" y="2307763"/>
            <a:ext cx="405972" cy="830391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2" name="Image" descr="Image">
            <a:extLst>
              <a:ext uri="{FF2B5EF4-FFF2-40B4-BE49-F238E27FC236}">
                <a16:creationId xmlns:a16="http://schemas.microsoft.com/office/drawing/2014/main" id="{AC0AF7E2-0E5D-25BA-9AD4-D32B3E7EDF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031" y="3752548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  <p:pic>
        <p:nvPicPr>
          <p:cNvPr id="163" name="Image" descr="Image">
            <a:extLst>
              <a:ext uri="{FF2B5EF4-FFF2-40B4-BE49-F238E27FC236}">
                <a16:creationId xmlns:a16="http://schemas.microsoft.com/office/drawing/2014/main" id="{6AB3874E-6632-81D1-3F33-CF08808B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877" y="3438750"/>
            <a:ext cx="402336" cy="822954"/>
          </a:xfrm>
          <a:prstGeom prst="rect">
            <a:avLst/>
          </a:prstGeom>
          <a:ln w="12700" cap="flat">
            <a:noFill/>
            <a:miter lim="400000"/>
          </a:ln>
          <a:effectLst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1829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3B050-CA31-AEA7-266E-D4DDF289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AIP Priority Filter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CE780C8-96E2-50C1-24DE-135A8DA2FFE9}"/>
              </a:ext>
            </a:extLst>
          </p:cNvPr>
          <p:cNvGrpSpPr/>
          <p:nvPr/>
        </p:nvGrpSpPr>
        <p:grpSpPr>
          <a:xfrm>
            <a:off x="2557385" y="1852575"/>
            <a:ext cx="7077229" cy="4324388"/>
            <a:chOff x="1972210" y="1320298"/>
            <a:chExt cx="7685100" cy="5554726"/>
          </a:xfrm>
        </p:grpSpPr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D4ED5D6C-8C4F-A55B-C005-37349B6D3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5156" y="1369991"/>
              <a:ext cx="6504194" cy="4849960"/>
            </a:xfrm>
            <a:prstGeom prst="rect">
              <a:avLst/>
            </a:prstGeom>
            <a:solidFill>
              <a:schemeClr val="accent5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</a:pPr>
              <a:endParaRPr lang="en-US" altLang="en-US" dirty="0">
                <a:solidFill>
                  <a:srgbClr val="FFFFFF"/>
                </a:solidFill>
                <a:latin typeface="+mn-lt"/>
              </a:endParaRPr>
            </a:p>
          </p:txBody>
        </p:sp>
        <p:sp>
          <p:nvSpPr>
            <p:cNvPr id="7" name="Line 3">
              <a:extLst>
                <a:ext uri="{FF2B5EF4-FFF2-40B4-BE49-F238E27FC236}">
                  <a16:creationId xmlns:a16="http://schemas.microsoft.com/office/drawing/2014/main" id="{2956390E-18BF-0BBA-C161-B21155041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7253" y="1385892"/>
              <a:ext cx="0" cy="484996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</a:pPr>
              <a:endParaRPr lang="en-US" sz="900" b="1" dirty="0"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32CF27B5-D8A3-402B-B32A-EB9AD655A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156" y="3834725"/>
              <a:ext cx="6504194" cy="0"/>
            </a:xfrm>
            <a:prstGeom prst="line">
              <a:avLst/>
            </a:prstGeom>
            <a:noFill/>
            <a:ln w="12700" cap="sq">
              <a:solidFill>
                <a:schemeClr val="bg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</a:pPr>
              <a:endParaRPr lang="en-US" sz="900" b="1" dirty="0">
                <a:solidFill>
                  <a:srgbClr val="FFFFFF"/>
                </a:solidFill>
                <a:ea typeface="ＭＳ Ｐゴシック" panose="020B0600070205080204" pitchFamily="34" charset="-128"/>
              </a:endParaRP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FDE9159B-CBE4-BE53-1E4E-2A502EDE8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6456" y="5836327"/>
              <a:ext cx="559109" cy="39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Low</a:t>
              </a:r>
            </a:p>
          </p:txBody>
        </p:sp>
        <p:sp>
          <p:nvSpPr>
            <p:cNvPr id="10" name="Text Box 6">
              <a:extLst>
                <a:ext uri="{FF2B5EF4-FFF2-40B4-BE49-F238E27FC236}">
                  <a16:creationId xmlns:a16="http://schemas.microsoft.com/office/drawing/2014/main" id="{7DCFA9F7-AAA2-B80A-0976-85BC46DA6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210" y="1320298"/>
              <a:ext cx="611330" cy="39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High</a:t>
              </a:r>
            </a:p>
          </p:txBody>
        </p:sp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90644281-5A71-392F-EEDD-45AE2E2FD8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5980" y="6329275"/>
              <a:ext cx="611330" cy="39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High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8738A1DA-BC11-A718-D2D4-20209F529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5127" y="6361078"/>
              <a:ext cx="1610483" cy="513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Complexity</a:t>
              </a:r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B26CF869-4951-4958-3854-0609C5C93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V="1">
              <a:off x="2101445" y="2667951"/>
              <a:ext cx="534739" cy="22977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vert="eaVert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</a:rPr>
                <a:t>Impact/Value</a:t>
              </a:r>
            </a:p>
          </p:txBody>
        </p:sp>
        <p:sp>
          <p:nvSpPr>
            <p:cNvPr id="14" name="Text Box 10">
              <a:extLst>
                <a:ext uri="{FF2B5EF4-FFF2-40B4-BE49-F238E27FC236}">
                  <a16:creationId xmlns:a16="http://schemas.microsoft.com/office/drawing/2014/main" id="{20134FC6-8F34-B86C-C45A-934821279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090" y="6319337"/>
              <a:ext cx="559109" cy="395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spcBef>
                  <a:spcPct val="30000"/>
                </a:spcBef>
                <a:spcAft>
                  <a:spcPct val="0"/>
                </a:spcAft>
              </a:pPr>
              <a:r>
                <a:rPr lang="en-US" altLang="en-US" sz="1400" dirty="0">
                  <a:solidFill>
                    <a:schemeClr val="tx1"/>
                  </a:solidFill>
                  <a:latin typeface="+mn-lt"/>
                </a:rPr>
                <a:t>Low</a:t>
              </a:r>
            </a:p>
          </p:txBody>
        </p:sp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39A2E3B2-DD76-BC17-A647-36349FC3C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1033" y="4846458"/>
              <a:ext cx="3231426" cy="381636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b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800" dirty="0">
                  <a:solidFill>
                    <a:srgbClr val="F8F8F8"/>
                  </a:solidFill>
                  <a:latin typeface="+mn-lt"/>
                </a:rPr>
                <a:t>“Backburner”</a:t>
              </a:r>
              <a:endParaRPr lang="en-US" altLang="en-US" sz="1800" dirty="0">
                <a:solidFill>
                  <a:srgbClr val="F8F8F8"/>
                </a:solidFill>
                <a:latin typeface="+mn-lt"/>
              </a:endParaRPr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C80284C4-3E2E-82D8-A5B5-B78472966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0710" y="2509932"/>
              <a:ext cx="1717579" cy="677568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b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800" dirty="0">
                  <a:solidFill>
                    <a:srgbClr val="F8F8F8"/>
                  </a:solidFill>
                  <a:latin typeface="+mn-lt"/>
                </a:rPr>
                <a:t>“</a:t>
              </a:r>
              <a:r>
                <a:rPr lang="en-US" altLang="ja-JP" sz="1800" dirty="0">
                  <a:solidFill>
                    <a:srgbClr val="F8F8F8"/>
                  </a:solidFill>
                  <a:latin typeface="+mn-lt"/>
                </a:rPr>
                <a:t>Strategy Deployment</a:t>
              </a:r>
              <a:r>
                <a:rPr lang="ja-JP" altLang="en-US" sz="1800" dirty="0">
                  <a:solidFill>
                    <a:srgbClr val="F8F8F8"/>
                  </a:solidFill>
                  <a:latin typeface="+mn-lt"/>
                </a:rPr>
                <a:t>”</a:t>
              </a:r>
              <a:endParaRPr lang="en-US" altLang="en-US" sz="1800" dirty="0">
                <a:solidFill>
                  <a:srgbClr val="F8F8F8"/>
                </a:solidFill>
                <a:latin typeface="+mn-lt"/>
              </a:endParaRPr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AB19ACAC-38FF-AC74-62E5-1499F900F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84" y="2467196"/>
              <a:ext cx="3171712" cy="47108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b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ja-JP" altLang="en-US" sz="1800" dirty="0">
                  <a:solidFill>
                    <a:srgbClr val="F8F8F8"/>
                  </a:solidFill>
                  <a:latin typeface="+mn-lt"/>
                </a:rPr>
                <a:t>“</a:t>
              </a:r>
              <a:r>
                <a:rPr lang="en-US" altLang="ja-JP" sz="1800" dirty="0">
                  <a:solidFill>
                    <a:srgbClr val="F8F8F8"/>
                  </a:solidFill>
                  <a:latin typeface="+mn-lt"/>
                </a:rPr>
                <a:t>Just Do It</a:t>
              </a:r>
              <a:r>
                <a:rPr lang="ja-JP" altLang="en-US" sz="1800" dirty="0">
                  <a:solidFill>
                    <a:srgbClr val="F8F8F8"/>
                  </a:solidFill>
                  <a:latin typeface="+mn-lt"/>
                </a:rPr>
                <a:t>”</a:t>
              </a:r>
              <a:endParaRPr lang="en-US" altLang="en-US" sz="1800" dirty="0">
                <a:solidFill>
                  <a:srgbClr val="F8F8F8"/>
                </a:solidFill>
                <a:latin typeface="+mn-lt"/>
              </a:endParaRPr>
            </a:p>
          </p:txBody>
        </p:sp>
        <p:sp>
          <p:nvSpPr>
            <p:cNvPr id="18" name="Rectangle 14">
              <a:extLst>
                <a:ext uri="{FF2B5EF4-FFF2-40B4-BE49-F238E27FC236}">
                  <a16:creationId xmlns:a16="http://schemas.microsoft.com/office/drawing/2014/main" id="{EABB8BA2-63D1-A263-E33A-D8CFBFE30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3004" y="4607935"/>
              <a:ext cx="3275064" cy="693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 anchor="b"/>
            <a:lstStyle>
              <a:lvl1pPr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1pPr>
              <a:lvl2pPr marL="742950" indent="-28575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2pPr>
              <a:lvl3pPr marL="11430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3pPr>
              <a:lvl4pPr marL="16002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4pPr>
              <a:lvl5pPr marL="2057400" indent="-228600"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defRPr sz="900" b="1">
                  <a:solidFill>
                    <a:schemeClr val="bg1"/>
                  </a:solidFill>
                  <a:latin typeface="Wingdings 3" pitchFamily="2" charset="2"/>
                  <a:ea typeface="ＭＳ Ｐゴシック" panose="020B0600070205080204" pitchFamily="34" charset="-128"/>
                </a:defRPr>
              </a:lvl9pPr>
            </a:lstStyle>
            <a:p>
              <a:pPr algn="ct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800" dirty="0">
                  <a:solidFill>
                    <a:srgbClr val="F8F8F8"/>
                  </a:solidFill>
                  <a:latin typeface="+mn-lt"/>
                </a:rPr>
                <a:t>“Daily Management”</a:t>
              </a:r>
              <a:endParaRPr lang="en-US" altLang="en-US" sz="1800" dirty="0">
                <a:solidFill>
                  <a:srgbClr val="F8F8F8"/>
                </a:solidFill>
                <a:latin typeface="+mn-lt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69252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183904" cy="1465029"/>
          </a:xfrm>
        </p:spPr>
        <p:txBody>
          <a:bodyPr/>
          <a:lstStyle/>
          <a:p>
            <a:r>
              <a:rPr lang="en-US" sz="3200" dirty="0">
                <a:latin typeface=""/>
              </a:rPr>
              <a:t>Strategy Deployment 2</a:t>
            </a:r>
            <a:r>
              <a:rPr lang="en-US" sz="3200" baseline="30000" dirty="0">
                <a:latin typeface=""/>
              </a:rPr>
              <a:t>nd</a:t>
            </a:r>
            <a:r>
              <a:rPr lang="en-US" sz="3200" dirty="0">
                <a:latin typeface=""/>
              </a:rPr>
              <a:t> Level Workshop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 startAt="2"/>
            </a:pPr>
            <a:r>
              <a:rPr lang="en-US" sz="2400" dirty="0">
                <a:latin typeface="+mn-lt"/>
              </a:rPr>
              <a:t>Develop 2nd Level Strategy Deployment Targets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848280-3CCB-50A9-81A3-1E4387372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0012" y="1520041"/>
            <a:ext cx="6172200" cy="4113192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4553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Second Level Strategy Deployment Targets - Defined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Derived from a Top-Level Annual Improvement Priority (AIP)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Is a subset of higher-level tasks supporting a top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Should describe a process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Several Second level AIPs can exist for each top-level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Each Second level AIP will be assigned to a cross-functional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Each Second level AIP will have a corresponding action 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Although termed “annual,” they could exist for less than one year, or last longer than one year, depending on the nature of the AIP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AIP Structure too detailed/low level, too vague, or too large of a task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Too many Second level AIPs for the assigned team/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Second level AIPs to not achieve intended target of the corresponding Top-Level AIP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E0A9EB78-AC55-05B5-5DE1-729642B0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2nd Level AIPs Must Get to the Point of Impact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254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E7E15-7E85-7187-4C8D-30F8B73AD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Anatomy of Targets with Examples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8F32EF-13D4-4C1B-2489-22BEEE0D99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482615"/>
              </p:ext>
            </p:extLst>
          </p:nvPr>
        </p:nvGraphicFramePr>
        <p:xfrm>
          <a:off x="888331" y="2073460"/>
          <a:ext cx="10415337" cy="4002972"/>
        </p:xfrm>
        <a:graphic>
          <a:graphicData uri="http://schemas.openxmlformats.org/drawingml/2006/table">
            <a:tbl>
              <a:tblPr firstRow="1" bandRow="1">
                <a:tableStyleId>{E929F9F4-4A8F-4326-A1B4-22849713DDAB}</a:tableStyleId>
              </a:tblPr>
              <a:tblGrid>
                <a:gridCol w="2002857">
                  <a:extLst>
                    <a:ext uri="{9D8B030D-6E8A-4147-A177-3AD203B41FA5}">
                      <a16:colId xmlns:a16="http://schemas.microsoft.com/office/drawing/2014/main" val="31285418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39587740"/>
                    </a:ext>
                  </a:extLst>
                </a:gridCol>
                <a:gridCol w="2885266">
                  <a:extLst>
                    <a:ext uri="{9D8B030D-6E8A-4147-A177-3AD203B41FA5}">
                      <a16:colId xmlns:a16="http://schemas.microsoft.com/office/drawing/2014/main" val="2709677044"/>
                    </a:ext>
                  </a:extLst>
                </a:gridCol>
                <a:gridCol w="1320974">
                  <a:extLst>
                    <a:ext uri="{9D8B030D-6E8A-4147-A177-3AD203B41FA5}">
                      <a16:colId xmlns:a16="http://schemas.microsoft.com/office/drawing/2014/main" val="3718446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357569091"/>
                    </a:ext>
                  </a:extLst>
                </a:gridCol>
              </a:tblGrid>
              <a:tr h="7247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NOUN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FROM X to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5402143"/>
                  </a:ext>
                </a:extLst>
              </a:tr>
              <a:tr h="72472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Increase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Order Win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From 25% to 40%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12/31/2024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9726058"/>
                  </a:ext>
                </a:extLst>
              </a:tr>
              <a:tr h="8902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Reduce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New Product Development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From 360 Days to 90 Days in Stage Gate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12/31/2024</a:t>
                      </a:r>
                    </a:p>
                    <a:p>
                      <a:pPr algn="ctr"/>
                      <a:endParaRPr lang="en-US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453009"/>
                  </a:ext>
                </a:extLst>
              </a:tr>
              <a:tr h="72472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Reduce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Internal Quality PPMs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From 50,000 PPM to 5,000 PPM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12/31/2024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17948"/>
                  </a:ext>
                </a:extLst>
              </a:tr>
              <a:tr h="8902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Improve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Employee Engagement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From 5.0 to 9.0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06/30/2024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31360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094543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0A29-0C27-02DF-F3E6-0C3D434B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the Targets</a:t>
            </a:r>
          </a:p>
        </p:txBody>
      </p:sp>
      <p:graphicFrame>
        <p:nvGraphicFramePr>
          <p:cNvPr id="3" name="Group 47">
            <a:extLst>
              <a:ext uri="{FF2B5EF4-FFF2-40B4-BE49-F238E27FC236}">
                <a16:creationId xmlns:a16="http://schemas.microsoft.com/office/drawing/2014/main" id="{3F41791B-CD28-551D-75D5-F790E4EFA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457044"/>
              </p:ext>
            </p:extLst>
          </p:nvPr>
        </p:nvGraphicFramePr>
        <p:xfrm>
          <a:off x="910167" y="1786270"/>
          <a:ext cx="7680678" cy="4447779"/>
        </p:xfrm>
        <a:graphic>
          <a:graphicData uri="http://schemas.openxmlformats.org/drawingml/2006/table">
            <a:tbl>
              <a:tblPr/>
              <a:tblGrid>
                <a:gridCol w="5040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56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Target Example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Good Example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Poor Example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Reduce lead time in NPD from 36 months to 12 months by 12/31/XX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4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Improve internal quality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Perform 20 Kaizens by 12/31/XX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0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Increase Organic Revenue from New Systems Sales from $30M to $45M by 10/31/XX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8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Implement Standard Work in Accounts Payable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Improve Productivity from $20,000/Day to $30,000/Day by 12/31/XX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Wingdings" pitchFamily="2" charset="2"/>
                        </a:rPr>
                        <a:t>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Wingdings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79B9599-BFA5-CE84-F582-CEA68F766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667" y="1334414"/>
            <a:ext cx="2929133" cy="2450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F4D089-052A-2732-0A88-E1C923587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085" y="3726103"/>
            <a:ext cx="2929133" cy="24508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356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545B0-B7DB-471E-DDD4-B7BB309B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latin typeface="+mn-lt"/>
                <a:ea typeface="ＭＳ Ｐゴシック" panose="020B0600070205080204" pitchFamily="34" charset="-128"/>
              </a:rPr>
              <a:t>Target Checklist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BAB2-B999-A4AA-4A7C-2D3A7B0E9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2148836"/>
            <a:ext cx="5752399" cy="412496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Measurable, at least monthly?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Quantifiable?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Time-bound?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Stretch for the organization?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Show a “from-to” range?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Support reaching the Long-Term Objectives?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Involved development data that is easily attained?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"/>
            </a:pPr>
            <a:r>
              <a:rPr lang="en-US" sz="2000" dirty="0"/>
              <a:t>Have a true cause-and-effect relationship with the AIP?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A07FA52-845E-7D24-4038-05CF63DC1E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4"/>
          <a:srcRect t="121" b="-6149"/>
          <a:stretch/>
        </p:blipFill>
        <p:spPr>
          <a:xfrm rot="20839358">
            <a:off x="7615237" y="1279093"/>
            <a:ext cx="3559824" cy="4660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730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"/>
              </a:rPr>
              <a:t>Strategy Deployment 2</a:t>
            </a:r>
            <a:r>
              <a:rPr lang="en-US" sz="3200" baseline="30000" dirty="0">
                <a:latin typeface=""/>
              </a:rPr>
              <a:t>nd</a:t>
            </a:r>
            <a:r>
              <a:rPr lang="en-US" sz="3200" dirty="0">
                <a:latin typeface=""/>
              </a:rPr>
              <a:t> Level Workshop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 startAt="3"/>
            </a:pPr>
            <a:r>
              <a:rPr lang="en-US" sz="2400" dirty="0">
                <a:latin typeface="+mn-lt"/>
              </a:rPr>
              <a:t>Develop 2nd Level AIP Teams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3848280-3CCB-50A9-81A3-1E4387372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5180012" y="1520041"/>
            <a:ext cx="6172200" cy="4113192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8152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26117-C097-61A7-9B6B-E6DF9E2F8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Establishing Cross-functional Teams –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AE14B-CD43-1AA5-9FAA-4CAFC726F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altLang="en-US" b="1" dirty="0"/>
              <a:t>As a rule, each AIP needs to have one team leader assigned as the AIP Owner. </a:t>
            </a:r>
          </a:p>
          <a:p>
            <a:pPr>
              <a:lnSpc>
                <a:spcPct val="120000"/>
              </a:lnSpc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altLang="en-US" b="1" dirty="0"/>
              <a:t>Cross-functional team members need to be established for each AIP. </a:t>
            </a:r>
          </a:p>
          <a:p>
            <a:pPr>
              <a:lnSpc>
                <a:spcPct val="120000"/>
              </a:lnSpc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altLang="en-US" b="1" dirty="0"/>
              <a:t>The following symbols are used to designate team resources:</a:t>
            </a:r>
          </a:p>
          <a:p>
            <a:pPr lvl="1">
              <a:lnSpc>
                <a:spcPct val="120000"/>
              </a:lnSpc>
              <a:buSzPct val="90000"/>
              <a:buFont typeface="Wingdings" pitchFamily="2" charset="2"/>
              <a:buNone/>
            </a:pPr>
            <a:r>
              <a:rPr lang="en-US" altLang="en-US" sz="1800" b="1" dirty="0">
                <a:latin typeface="Wingdings" pitchFamily="2" charset="2"/>
              </a:rPr>
              <a:t>l	</a:t>
            </a:r>
            <a:r>
              <a:rPr lang="en-US" altLang="en-US" sz="1800" b="1" dirty="0"/>
              <a:t>Team Leader  (AIP Owner)</a:t>
            </a:r>
          </a:p>
          <a:p>
            <a:pPr lvl="1">
              <a:lnSpc>
                <a:spcPct val="120000"/>
              </a:lnSpc>
              <a:buSzPct val="90000"/>
              <a:buFont typeface="Wingdings" pitchFamily="2" charset="2"/>
              <a:buNone/>
            </a:pPr>
            <a:r>
              <a:rPr lang="en-US" altLang="en-US" sz="1800" b="1" dirty="0">
                <a:latin typeface="Wingdings" pitchFamily="2" charset="2"/>
              </a:rPr>
              <a:t>m	</a:t>
            </a:r>
            <a:r>
              <a:rPr lang="en-US" altLang="en-US" sz="1800" b="1" dirty="0"/>
              <a:t>Cross-functional Team Member  </a:t>
            </a:r>
          </a:p>
          <a:p>
            <a:pPr lvl="1">
              <a:lnSpc>
                <a:spcPct val="120000"/>
              </a:lnSpc>
              <a:buSzPct val="90000"/>
              <a:buFont typeface="Wingdings" pitchFamily="2" charset="2"/>
              <a:buNone/>
            </a:pPr>
            <a:r>
              <a:rPr lang="en-US" altLang="en-US" sz="1800" b="1" dirty="0">
                <a:latin typeface="Wingdings" pitchFamily="2" charset="2"/>
              </a:rPr>
              <a:t>u	</a:t>
            </a:r>
            <a:r>
              <a:rPr lang="en-US" altLang="en-US" sz="1800" b="1" dirty="0">
                <a:cs typeface="Arial" panose="020B0604020202020204" pitchFamily="34" charset="0"/>
              </a:rPr>
              <a:t>A</a:t>
            </a:r>
            <a:r>
              <a:rPr lang="en-US" altLang="en-US" sz="1800" b="1" dirty="0"/>
              <a:t>d-Hoc Team Member</a:t>
            </a:r>
          </a:p>
          <a:p>
            <a:pPr>
              <a:lnSpc>
                <a:spcPct val="120000"/>
              </a:lnSpc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altLang="en-US" b="1" dirty="0"/>
              <a:t>The % of total available time needs to be established for each team member.</a:t>
            </a:r>
          </a:p>
          <a:p>
            <a:pPr>
              <a:lnSpc>
                <a:spcPct val="120000"/>
              </a:lnSpc>
              <a:buClrTx/>
              <a:buSzPct val="125000"/>
              <a:buFont typeface="Arial" panose="020B0604020202020204" pitchFamily="34" charset="0"/>
              <a:buChar char="•"/>
            </a:pPr>
            <a:r>
              <a:rPr lang="en-US" altLang="en-US" b="1" dirty="0"/>
              <a:t>Total manpower load analysis needs to be completed to ensure that the resource load is manageable.            (See next slide)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9478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C94AB2C-7932-C0DC-3569-A9AB5930E209}"/>
              </a:ext>
            </a:extLst>
          </p:cNvPr>
          <p:cNvGrpSpPr/>
          <p:nvPr/>
        </p:nvGrpSpPr>
        <p:grpSpPr>
          <a:xfrm>
            <a:off x="1180214" y="648586"/>
            <a:ext cx="10259565" cy="5624623"/>
            <a:chOff x="461963" y="219075"/>
            <a:chExt cx="10977816" cy="6310313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54E6F2A-66CB-F138-BFEF-027550A0A324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667425" y="3498999"/>
              <a:ext cx="1772354" cy="749595"/>
            </a:xfrm>
            <a:prstGeom prst="rect">
              <a:avLst/>
            </a:prstGeom>
            <a:ln w="44450">
              <a:solidFill>
                <a:srgbClr val="FF0000"/>
              </a:solidFill>
            </a:ln>
          </p:spPr>
          <p:txBody>
            <a:bodyPr vert="horz" lIns="91440" tIns="45720" rIns="91440" bIns="45720" rtlCol="0" anchor="ctr">
              <a:normAutofit fontScale="925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lnSpc>
                  <a:spcPct val="120000"/>
                </a:lnSpc>
              </a:pPr>
              <a:r>
                <a:rPr lang="en-US" altLang="en-US" sz="1400" b="1" dirty="0">
                  <a:latin typeface="+mn-lt"/>
                  <a:ea typeface="ＭＳ Ｐゴシック" panose="020B0600070205080204" pitchFamily="34" charset="-128"/>
                  <a:cs typeface="Arial" panose="020B0604020202020204" pitchFamily="34" charset="0"/>
                </a:rPr>
                <a:t>Potential Workload Capacity Conflicts</a:t>
              </a:r>
            </a:p>
          </p:txBody>
        </p:sp>
        <p:sp>
          <p:nvSpPr>
            <p:cNvPr id="4" name="Line 14">
              <a:extLst>
                <a:ext uri="{FF2B5EF4-FFF2-40B4-BE49-F238E27FC236}">
                  <a16:creationId xmlns:a16="http://schemas.microsoft.com/office/drawing/2014/main" id="{9291AE45-E684-8A60-C704-8F5BDFD6AE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08081" y="4245125"/>
              <a:ext cx="2953568" cy="1641800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603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Line 14">
              <a:extLst>
                <a:ext uri="{FF2B5EF4-FFF2-40B4-BE49-F238E27FC236}">
                  <a16:creationId xmlns:a16="http://schemas.microsoft.com/office/drawing/2014/main" id="{06BC7974-7BCE-5991-CFF8-ADD467D98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91087" y="4245124"/>
              <a:ext cx="1676338" cy="883048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603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Line 14">
              <a:extLst>
                <a:ext uri="{FF2B5EF4-FFF2-40B4-BE49-F238E27FC236}">
                  <a16:creationId xmlns:a16="http://schemas.microsoft.com/office/drawing/2014/main" id="{3B83F8A9-370B-CB39-4DE2-38A689C2E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008081" y="3527698"/>
              <a:ext cx="1659344" cy="134432"/>
            </a:xfrm>
            <a:prstGeom prst="line">
              <a:avLst/>
            </a:prstGeom>
            <a:solidFill>
              <a:schemeClr val="accent2">
                <a:lumMod val="75000"/>
              </a:schemeClr>
            </a:solidFill>
            <a:ln w="6032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AE903ABF-F89A-02E6-2AC8-5963DD13C3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9563441"/>
                </p:ext>
              </p:extLst>
            </p:nvPr>
          </p:nvGraphicFramePr>
          <p:xfrm>
            <a:off x="461963" y="219075"/>
            <a:ext cx="7524750" cy="6310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4" imgW="8143827" imgH="6829527" progId="Excel.Sheet.12">
                    <p:embed/>
                  </p:oleObj>
                </mc:Choice>
                <mc:Fallback>
                  <p:oleObj name="Worksheet" r:id="rId4" imgW="8143827" imgH="6829527" progId="Excel.Sheet.12">
                    <p:embed/>
                    <p:pic>
                      <p:nvPicPr>
                        <p:cNvPr id="2" name="Object 1">
                          <a:extLst>
                            <a:ext uri="{FF2B5EF4-FFF2-40B4-BE49-F238E27FC236}">
                              <a16:creationId xmlns:a16="http://schemas.microsoft.com/office/drawing/2014/main" id="{EDC26A18-1470-CDF3-A3E3-B89D24C5629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1963" y="219075"/>
                          <a:ext cx="7524750" cy="63103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E4594D-1D15-A6A4-FCB1-A179807A5FE5}"/>
                </a:ext>
              </a:extLst>
            </p:cNvPr>
            <p:cNvSpPr/>
            <p:nvPr/>
          </p:nvSpPr>
          <p:spPr>
            <a:xfrm>
              <a:off x="7014465" y="3302367"/>
              <a:ext cx="993616" cy="396839"/>
            </a:xfrm>
            <a:prstGeom prst="ellipse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E39D62D-45FE-E3AB-AADF-E09EE8E7B2EC}"/>
                </a:ext>
              </a:extLst>
            </p:cNvPr>
            <p:cNvSpPr/>
            <p:nvPr/>
          </p:nvSpPr>
          <p:spPr>
            <a:xfrm>
              <a:off x="7017729" y="4994720"/>
              <a:ext cx="993616" cy="396839"/>
            </a:xfrm>
            <a:prstGeom prst="ellipse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3433BE0-AA6A-D93A-D128-03FB1E7ACE8B}"/>
                </a:ext>
              </a:extLst>
            </p:cNvPr>
            <p:cNvSpPr/>
            <p:nvPr/>
          </p:nvSpPr>
          <p:spPr>
            <a:xfrm>
              <a:off x="7017729" y="5711166"/>
              <a:ext cx="993616" cy="396839"/>
            </a:xfrm>
            <a:prstGeom prst="ellipse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888688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57B7-FA5C-A00C-7130-52498319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2nd Level AIP Teams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6F52-4B3F-50B9-788E-F2FD9ABA5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86284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Responsible for the implementation of Second Level AIPs.</a:t>
            </a:r>
          </a:p>
          <a:p>
            <a:pPr>
              <a:lnSpc>
                <a:spcPct val="120000"/>
              </a:lnSpc>
            </a:pPr>
            <a:r>
              <a:rPr lang="en-US" dirty="0"/>
              <a:t>Responsible for achieving Second Level Targets.</a:t>
            </a:r>
          </a:p>
          <a:p>
            <a:pPr>
              <a:lnSpc>
                <a:spcPct val="120000"/>
              </a:lnSpc>
            </a:pPr>
            <a:r>
              <a:rPr lang="en-US" dirty="0"/>
              <a:t>Responsible for the completion of all Action Plan responsibilities.</a:t>
            </a:r>
          </a:p>
          <a:p>
            <a:pPr>
              <a:lnSpc>
                <a:spcPct val="120000"/>
              </a:lnSpc>
            </a:pPr>
            <a:r>
              <a:rPr lang="en-US" dirty="0"/>
              <a:t>Should meet frequently (at least once a week) to review progress.</a:t>
            </a:r>
          </a:p>
          <a:p>
            <a:pPr>
              <a:lnSpc>
                <a:spcPct val="120000"/>
              </a:lnSpc>
            </a:pPr>
            <a:r>
              <a:rPr lang="en-US" dirty="0"/>
              <a:t>Individuals assigned to the team will be given assignments by the AIP Owner where they may work independently or as a group on tasks delineated in the Action Plan.</a:t>
            </a:r>
          </a:p>
          <a:p>
            <a:pPr>
              <a:lnSpc>
                <a:spcPct val="120000"/>
              </a:lnSpc>
            </a:pPr>
            <a:r>
              <a:rPr lang="en-US" dirty="0"/>
              <a:t>Must meet monthly to review progress with the Target Sheet metrics and Countermeasure tools.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76FFC3-87DE-5010-31C1-29BA77605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6984" y="2349796"/>
            <a:ext cx="2634261" cy="263632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101744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"/>
              </a:rPr>
              <a:t>Strategy Deployment 2</a:t>
            </a:r>
            <a:r>
              <a:rPr lang="en-US" sz="3200" baseline="30000" dirty="0">
                <a:latin typeface=""/>
              </a:rPr>
              <a:t>nd</a:t>
            </a:r>
            <a:r>
              <a:rPr lang="en-US" sz="3200" dirty="0">
                <a:latin typeface=""/>
              </a:rPr>
              <a:t> Level Workshop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arenR" startAt="4"/>
            </a:pPr>
            <a:r>
              <a:rPr lang="en-US" sz="2400" dirty="0">
                <a:latin typeface="+mn-lt"/>
              </a:rPr>
              <a:t>Develop Action Plans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67B9F6-FD0F-0A60-EED7-7317888B7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3188" y="2049959"/>
            <a:ext cx="6172200" cy="2748557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66284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736DE-1C79-10BE-2E47-C088B4D08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Action Plans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EFC3E49-C5C1-C8D4-5DE9-69F019621780}"/>
              </a:ext>
            </a:extLst>
          </p:cNvPr>
          <p:cNvGrpSpPr/>
          <p:nvPr/>
        </p:nvGrpSpPr>
        <p:grpSpPr>
          <a:xfrm>
            <a:off x="838200" y="2009482"/>
            <a:ext cx="10799137" cy="599825"/>
            <a:chOff x="1056549" y="1919926"/>
            <a:chExt cx="10799137" cy="599825"/>
          </a:xfrm>
          <a:solidFill>
            <a:schemeClr val="tx1"/>
          </a:solidFill>
        </p:grpSpPr>
        <p:sp>
          <p:nvSpPr>
            <p:cNvPr id="15" name="AutoShape 9">
              <a:extLst>
                <a:ext uri="{FF2B5EF4-FFF2-40B4-BE49-F238E27FC236}">
                  <a16:creationId xmlns:a16="http://schemas.microsoft.com/office/drawing/2014/main" id="{14597299-4A81-C5D2-C446-6772CEA95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82" y="1919926"/>
              <a:ext cx="3944404" cy="599825"/>
            </a:xfrm>
            <a:prstGeom prst="homePlate">
              <a:avLst>
                <a:gd name="adj" fmla="val 5779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Pitfalls</a:t>
              </a:r>
            </a:p>
          </p:txBody>
        </p:sp>
        <p:sp>
          <p:nvSpPr>
            <p:cNvPr id="17" name="AutoShape 10">
              <a:extLst>
                <a:ext uri="{FF2B5EF4-FFF2-40B4-BE49-F238E27FC236}">
                  <a16:creationId xmlns:a16="http://schemas.microsoft.com/office/drawing/2014/main" id="{862BBAC4-F1D4-11E2-76E6-8C033C1E3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036" y="1919926"/>
              <a:ext cx="3807320" cy="599825"/>
            </a:xfrm>
            <a:prstGeom prst="homePlate">
              <a:avLst>
                <a:gd name="adj" fmla="val 48586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marL="171450"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Characteristics</a:t>
              </a:r>
            </a:p>
          </p:txBody>
        </p:sp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9F3BDA9A-E20E-B02A-3C7C-26B35DC9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549" y="1919926"/>
              <a:ext cx="3799561" cy="599825"/>
            </a:xfrm>
            <a:prstGeom prst="homePlate">
              <a:avLst>
                <a:gd name="adj" fmla="val 54200"/>
              </a:avLst>
            </a:prstGeom>
            <a:grpFill/>
            <a:ln w="19050">
              <a:solidFill>
                <a:schemeClr val="bg1"/>
              </a:solidFill>
              <a:miter lim="800000"/>
              <a:headEnd/>
              <a:tailEnd/>
            </a:ln>
          </p:spPr>
          <p:txBody>
            <a:bodyPr lIns="45720" tIns="46038" rIns="45720" bIns="46038" anchor="ctr"/>
            <a:lstStyle/>
            <a:p>
              <a:pPr algn="ctr">
                <a:lnSpc>
                  <a:spcPct val="95000"/>
                </a:lnSpc>
              </a:pPr>
              <a:r>
                <a:rPr lang="en-US" b="1" dirty="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Definition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51631D3-C272-D061-D49A-EE9A32EFC413}"/>
              </a:ext>
            </a:extLst>
          </p:cNvPr>
          <p:cNvSpPr txBox="1"/>
          <p:nvPr/>
        </p:nvSpPr>
        <p:spPr>
          <a:xfrm>
            <a:off x="838200" y="2892056"/>
            <a:ext cx="34234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Action Plans are the “recipe” to create a sustainable business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Includes the necessary steps to create the 2nd Level AIP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process is the end result of a completed action plan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5E6BB1-14E8-EDD3-1F7E-E4CDA4BC27B4}"/>
              </a:ext>
            </a:extLst>
          </p:cNvPr>
          <p:cNvSpPr txBox="1"/>
          <p:nvPr/>
        </p:nvSpPr>
        <p:spPr>
          <a:xfrm>
            <a:off x="4384256" y="2892056"/>
            <a:ext cx="342348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Created at the “Point of Impact” (2nd Level AIP)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It is a dynamic document that is reviewed and updated on a weekly basis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Description of the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Responsibilities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Due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Completion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Status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1E396-9241-F03D-A81F-191A1402F370}"/>
              </a:ext>
            </a:extLst>
          </p:cNvPr>
          <p:cNvSpPr txBox="1"/>
          <p:nvPr/>
        </p:nvSpPr>
        <p:spPr>
          <a:xfrm>
            <a:off x="7930313" y="2892056"/>
            <a:ext cx="380732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Action Plan not focused on the true implementation of the AIP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Scope Creep - Adding “pet projects” to the Action Plan that has little to do with the creation of the AIP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Too many items resulting in the lack of prioritization of tasks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Too much load on any one team member</a:t>
            </a:r>
          </a:p>
        </p:txBody>
      </p:sp>
      <p:sp>
        <p:nvSpPr>
          <p:cNvPr id="3" name="Text Box 13">
            <a:extLst>
              <a:ext uri="{FF2B5EF4-FFF2-40B4-BE49-F238E27FC236}">
                <a16:creationId xmlns:a16="http://schemas.microsoft.com/office/drawing/2014/main" id="{E0A9EB78-AC55-05B5-5DE1-729642B07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9734" y="5903102"/>
            <a:ext cx="9012527" cy="400110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2000" b="0" i="1" dirty="0">
                <a:latin typeface="+mn-lt"/>
              </a:rPr>
              <a:t>Action Plans Must Hit the “Point of Impact”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2795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>
            <a:extLst>
              <a:ext uri="{FF2B5EF4-FFF2-40B4-BE49-F238E27FC236}">
                <a16:creationId xmlns:a16="http://schemas.microsoft.com/office/drawing/2014/main" id="{DF95A2FA-9852-B4B6-A40D-C323AC69BE9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-4763" y="709613"/>
            <a:ext cx="12196763" cy="5581649"/>
            <a:chOff x="-3" y="447"/>
            <a:chExt cx="7683" cy="3516"/>
          </a:xfrm>
        </p:grpSpPr>
        <p:sp>
          <p:nvSpPr>
            <p:cNvPr id="4" name="AutoShape 3">
              <a:extLst>
                <a:ext uri="{FF2B5EF4-FFF2-40B4-BE49-F238E27FC236}">
                  <a16:creationId xmlns:a16="http://schemas.microsoft.com/office/drawing/2014/main" id="{50F98408-3C38-34B9-8D80-DA979A097B3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0" y="447"/>
              <a:ext cx="7680" cy="3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A90E2AD2-4B01-E91C-8E17-4D33DD27E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4"/>
              <a:ext cx="4183" cy="339"/>
            </a:xfrm>
            <a:prstGeom prst="rect">
              <a:avLst/>
            </a:prstGeom>
            <a:solidFill>
              <a:srgbClr val="000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24DF5EC-EDF1-DA13-558E-245B2F486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464"/>
              <a:ext cx="3500" cy="339"/>
            </a:xfrm>
            <a:prstGeom prst="rect">
              <a:avLst/>
            </a:prstGeom>
            <a:solidFill>
              <a:srgbClr val="0000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43EFE37-D99F-987B-F792-E45F78FBF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800"/>
              <a:ext cx="7680" cy="112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926EB499-C2C2-B1BC-91DE-545AFC4B9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909"/>
              <a:ext cx="2496" cy="10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7E884EB-49FE-2562-E58C-78E481330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909"/>
              <a:ext cx="5187" cy="10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030F928-83B6-7203-ACCE-C9DA74FED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11"/>
              <a:ext cx="7680" cy="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DF60F830-48E1-ECE5-73F7-01F5872AF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318"/>
              <a:ext cx="4728" cy="10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024B952D-C9D4-57EC-6A6E-8D4C483A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318"/>
              <a:ext cx="1533" cy="105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D9366BC9-E2C7-C7D0-AD65-41D53395C4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" y="1318"/>
              <a:ext cx="343" cy="105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6BC961F4-A99F-E8D3-374B-7B9EFC411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20"/>
              <a:ext cx="2496" cy="10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D5549584-7963-926A-4D8C-74FF9D61D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1420"/>
              <a:ext cx="3765" cy="10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9402E29A-C405-BD7C-F4E2-45E188F66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" y="1420"/>
              <a:ext cx="343" cy="106"/>
            </a:xfrm>
            <a:prstGeom prst="rect">
              <a:avLst/>
            </a:prstGeom>
            <a:solidFill>
              <a:srgbClr val="CC9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912C52C2-FC95-A077-3D62-46B14E21E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522"/>
              <a:ext cx="2496" cy="10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C25C16AB-E78D-8D2B-4F3E-1BAD8A0BE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1522"/>
              <a:ext cx="3765" cy="106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EDEAC201-6FBC-C61E-485F-946843853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" y="1522"/>
              <a:ext cx="343" cy="10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DEB2E536-4482-8058-EE92-6D6167BBA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24"/>
              <a:ext cx="4183" cy="10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79ACEB2C-E786-0CC9-B0E4-2FD811292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624"/>
              <a:ext cx="2078" cy="106"/>
            </a:xfrm>
            <a:prstGeom prst="rect">
              <a:avLst/>
            </a:pr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16A11D8E-9CE0-BC44-471D-0FC24E462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" y="1624"/>
              <a:ext cx="343" cy="106"/>
            </a:xfrm>
            <a:prstGeom prst="rect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E05BDA8C-86D4-DCF8-66B1-5E8FBD67C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727"/>
              <a:ext cx="7680" cy="260"/>
            </a:xfrm>
            <a:prstGeom prst="rect">
              <a:avLst/>
            </a:prstGeom>
            <a:solidFill>
              <a:srgbClr val="E3E3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E1D3A40E-ADA1-78E7-F34F-637F11E9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84"/>
              <a:ext cx="7680" cy="197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25">
              <a:extLst>
                <a:ext uri="{FF2B5EF4-FFF2-40B4-BE49-F238E27FC236}">
                  <a16:creationId xmlns:a16="http://schemas.microsoft.com/office/drawing/2014/main" id="{78B89FDC-E462-9CC2-D7C3-36624F856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" y="562"/>
              <a:ext cx="869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7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 Narrow" panose="020B0606020202030204" pitchFamily="34" charset="0"/>
                </a:rPr>
                <a:t>Hoshin Action Plan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1A488FBA-EED8-9266-B91D-C6F49946E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3" y="553"/>
              <a:ext cx="4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 Narrow" panose="020B0606020202030204" pitchFamily="34" charset="0"/>
                </a:rPr>
                <a:t>2nd Level Matrix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7">
              <a:extLst>
                <a:ext uri="{FF2B5EF4-FFF2-40B4-BE49-F238E27FC236}">
                  <a16:creationId xmlns:a16="http://schemas.microsoft.com/office/drawing/2014/main" id="{1E639534-2025-6881-5ED6-0C867BDCE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5" y="638"/>
              <a:ext cx="19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 Narrow" panose="020B0606020202030204" pitchFamily="34" charset="0"/>
                </a:rPr>
                <a:t>Owner: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4156EAD5-C339-0F72-8556-801B132B3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810"/>
              <a:ext cx="90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AIP (Annual Improvement Priority):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9">
              <a:extLst>
                <a:ext uri="{FF2B5EF4-FFF2-40B4-BE49-F238E27FC236}">
                  <a16:creationId xmlns:a16="http://schemas.microsoft.com/office/drawing/2014/main" id="{4C7B9159-98AB-EF02-B617-0F1BDE26D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0" y="915"/>
              <a:ext cx="53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Target Number One: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30">
              <a:extLst>
                <a:ext uri="{FF2B5EF4-FFF2-40B4-BE49-F238E27FC236}">
                  <a16:creationId xmlns:a16="http://schemas.microsoft.com/office/drawing/2014/main" id="{B72B64A2-6B62-62CB-4449-B6E18B99F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1018"/>
              <a:ext cx="53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Target Number Two: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31">
              <a:extLst>
                <a:ext uri="{FF2B5EF4-FFF2-40B4-BE49-F238E27FC236}">
                  <a16:creationId xmlns:a16="http://schemas.microsoft.com/office/drawing/2014/main" id="{95E70DF7-76B4-2052-9197-06B0A828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1120"/>
              <a:ext cx="5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Target Number Three: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35BA368F-DB61-F54E-F10E-08B514056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" y="1222"/>
              <a:ext cx="5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Target Number Four: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DA1025C9-4A6C-802B-52EA-2CE651103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2" y="1324"/>
              <a:ext cx="31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AIP Owner: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4">
              <a:extLst>
                <a:ext uri="{FF2B5EF4-FFF2-40B4-BE49-F238E27FC236}">
                  <a16:creationId xmlns:a16="http://schemas.microsoft.com/office/drawing/2014/main" id="{BB0BF2C9-0078-2EE5-5DDC-6730A20F3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6" y="1324"/>
              <a:ext cx="2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On Plan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5">
              <a:extLst>
                <a:ext uri="{FF2B5EF4-FFF2-40B4-BE49-F238E27FC236}">
                  <a16:creationId xmlns:a16="http://schemas.microsoft.com/office/drawing/2014/main" id="{902C790A-D8C7-497C-A8D5-E256DC0A6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6" y="1427"/>
              <a:ext cx="6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Off Plan, but almost done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6">
              <a:extLst>
                <a:ext uri="{FF2B5EF4-FFF2-40B4-BE49-F238E27FC236}">
                  <a16:creationId xmlns:a16="http://schemas.microsoft.com/office/drawing/2014/main" id="{77981C43-DEFC-47CD-D3CD-8B2757CD2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6" y="1529"/>
              <a:ext cx="227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Off Plan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F72FF4C8-01C9-7558-1319-C19A16FEE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06" y="1631"/>
              <a:ext cx="2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Complete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DC587D04-D800-26C1-0104-47E4FA1CA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" y="1819"/>
              <a:ext cx="823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Action Steps / Kaizen Events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7958B881-0CC2-8B72-EEDF-E763CBDF0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1" y="1737"/>
              <a:ext cx="24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Owner /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41B4686D-39A0-3186-278F-DBC6BBF51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7" y="1822"/>
              <a:ext cx="283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Members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F2F2DED8-68DF-B24B-3D5A-431DAE5BA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7" y="1908"/>
              <a:ext cx="205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Initials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4D1BB1F5-3B3C-593F-EF10-9B6A87D1F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1" y="1822"/>
              <a:ext cx="394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Planned Start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078DB84D-3703-9AB2-4CD6-6D8D3253B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1" y="1908"/>
              <a:ext cx="143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Date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4">
              <a:extLst>
                <a:ext uri="{FF2B5EF4-FFF2-40B4-BE49-F238E27FC236}">
                  <a16:creationId xmlns:a16="http://schemas.microsoft.com/office/drawing/2014/main" id="{1E4D6954-5F14-FF9B-820F-AC7CEE877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1822"/>
              <a:ext cx="24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Planned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5">
              <a:extLst>
                <a:ext uri="{FF2B5EF4-FFF2-40B4-BE49-F238E27FC236}">
                  <a16:creationId xmlns:a16="http://schemas.microsoft.com/office/drawing/2014/main" id="{29F6504C-D36A-C981-4DB9-6EBA8D9E5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" y="1908"/>
              <a:ext cx="459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Completion Date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6">
              <a:extLst>
                <a:ext uri="{FF2B5EF4-FFF2-40B4-BE49-F238E27FC236}">
                  <a16:creationId xmlns:a16="http://schemas.microsoft.com/office/drawing/2014/main" id="{2B91BBC2-2118-A766-0A90-C65CC64B4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7" y="1822"/>
              <a:ext cx="211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Actual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DF678739-86DF-97D7-F5B4-A323B430E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908"/>
              <a:ext cx="459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Completion Date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8">
              <a:extLst>
                <a:ext uri="{FF2B5EF4-FFF2-40B4-BE49-F238E27FC236}">
                  <a16:creationId xmlns:a16="http://schemas.microsoft.com/office/drawing/2014/main" id="{8E9EB87D-DCE0-47C8-B196-FD3893587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822"/>
              <a:ext cx="116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Jan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9">
              <a:extLst>
                <a:ext uri="{FF2B5EF4-FFF2-40B4-BE49-F238E27FC236}">
                  <a16:creationId xmlns:a16="http://schemas.microsoft.com/office/drawing/2014/main" id="{E48FA661-A8D5-2E83-ACB9-07F7EDEDE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822"/>
              <a:ext cx="121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Feb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50">
              <a:extLst>
                <a:ext uri="{FF2B5EF4-FFF2-40B4-BE49-F238E27FC236}">
                  <a16:creationId xmlns:a16="http://schemas.microsoft.com/office/drawing/2014/main" id="{C0CFF4E5-C716-9159-44C5-8A65BCF08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7" y="1822"/>
              <a:ext cx="13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Mar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51">
              <a:extLst>
                <a:ext uri="{FF2B5EF4-FFF2-40B4-BE49-F238E27FC236}">
                  <a16:creationId xmlns:a16="http://schemas.microsoft.com/office/drawing/2014/main" id="{42A95EB6-83DC-AAE8-A7AE-776073635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1822"/>
              <a:ext cx="127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Apr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52">
              <a:extLst>
                <a:ext uri="{FF2B5EF4-FFF2-40B4-BE49-F238E27FC236}">
                  <a16:creationId xmlns:a16="http://schemas.microsoft.com/office/drawing/2014/main" id="{84065B2B-84A4-059F-B61D-214C3E11C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0" y="1822"/>
              <a:ext cx="140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May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53">
              <a:extLst>
                <a:ext uri="{FF2B5EF4-FFF2-40B4-BE49-F238E27FC236}">
                  <a16:creationId xmlns:a16="http://schemas.microsoft.com/office/drawing/2014/main" id="{234E3411-D7A7-7DD4-FEBE-97EF1BC27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8" y="1822"/>
              <a:ext cx="14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June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54">
              <a:extLst>
                <a:ext uri="{FF2B5EF4-FFF2-40B4-BE49-F238E27FC236}">
                  <a16:creationId xmlns:a16="http://schemas.microsoft.com/office/drawing/2014/main" id="{9529B55C-850B-9C75-4722-035CE4287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6" y="1822"/>
              <a:ext cx="135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July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55">
              <a:extLst>
                <a:ext uri="{FF2B5EF4-FFF2-40B4-BE49-F238E27FC236}">
                  <a16:creationId xmlns:a16="http://schemas.microsoft.com/office/drawing/2014/main" id="{C14949F6-42B8-7B03-34EA-15837CA00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" y="1822"/>
              <a:ext cx="130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Aug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56">
              <a:extLst>
                <a:ext uri="{FF2B5EF4-FFF2-40B4-BE49-F238E27FC236}">
                  <a16:creationId xmlns:a16="http://schemas.microsoft.com/office/drawing/2014/main" id="{7F40AD80-AED4-3C17-19BB-AC7515D08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" y="1822"/>
              <a:ext cx="13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Sept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57">
              <a:extLst>
                <a:ext uri="{FF2B5EF4-FFF2-40B4-BE49-F238E27FC236}">
                  <a16:creationId xmlns:a16="http://schemas.microsoft.com/office/drawing/2014/main" id="{5ED0EF48-0B8E-B670-D3DC-0CEEE86C7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8" y="1822"/>
              <a:ext cx="116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Oct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58">
              <a:extLst>
                <a:ext uri="{FF2B5EF4-FFF2-40B4-BE49-F238E27FC236}">
                  <a16:creationId xmlns:a16="http://schemas.microsoft.com/office/drawing/2014/main" id="{3011E9E9-9F45-2513-99F6-D664AF07B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6" y="1822"/>
              <a:ext cx="127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Nov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10A59A64-78F9-34D2-320B-D45C00617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" y="1822"/>
              <a:ext cx="121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Dec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60">
              <a:extLst>
                <a:ext uri="{FF2B5EF4-FFF2-40B4-BE49-F238E27FC236}">
                  <a16:creationId xmlns:a16="http://schemas.microsoft.com/office/drawing/2014/main" id="{B10C5D5F-C0EC-5B14-D846-72D80A46BD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" y="1483"/>
              <a:ext cx="1757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Team Members:Enter Name followed by (Initials) Use Initials in Owner Cell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61">
              <a:extLst>
                <a:ext uri="{FF2B5EF4-FFF2-40B4-BE49-F238E27FC236}">
                  <a16:creationId xmlns:a16="http://schemas.microsoft.com/office/drawing/2014/main" id="{A10DF75D-CBD3-292E-F023-F5975A0FC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291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62">
              <a:extLst>
                <a:ext uri="{FF2B5EF4-FFF2-40B4-BE49-F238E27FC236}">
                  <a16:creationId xmlns:a16="http://schemas.microsoft.com/office/drawing/2014/main" id="{3E712877-3CCA-DEDC-CC78-116B11CA2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3185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63">
              <a:extLst>
                <a:ext uri="{FF2B5EF4-FFF2-40B4-BE49-F238E27FC236}">
                  <a16:creationId xmlns:a16="http://schemas.microsoft.com/office/drawing/2014/main" id="{A056BBBF-08B2-773E-9EBA-0C3197D74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644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64">
              <a:extLst>
                <a:ext uri="{FF2B5EF4-FFF2-40B4-BE49-F238E27FC236}">
                  <a16:creationId xmlns:a16="http://schemas.microsoft.com/office/drawing/2014/main" id="{856EB65D-BB69-5B34-541D-62B74651D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4" y="1819"/>
              <a:ext cx="688" cy="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Inter-Relationship / Notes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65">
              <a:extLst>
                <a:ext uri="{FF2B5EF4-FFF2-40B4-BE49-F238E27FC236}">
                  <a16:creationId xmlns:a16="http://schemas.microsoft.com/office/drawing/2014/main" id="{24731AAC-723A-055B-C717-A020DC63A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693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66">
              <a:extLst>
                <a:ext uri="{FF2B5EF4-FFF2-40B4-BE49-F238E27FC236}">
                  <a16:creationId xmlns:a16="http://schemas.microsoft.com/office/drawing/2014/main" id="{AF01B08F-968F-F67B-43E9-C5BA905A3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792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67">
              <a:extLst>
                <a:ext uri="{FF2B5EF4-FFF2-40B4-BE49-F238E27FC236}">
                  <a16:creationId xmlns:a16="http://schemas.microsoft.com/office/drawing/2014/main" id="{B7E33DBB-42C5-FCCE-40D8-29D7ED725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495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68">
              <a:extLst>
                <a:ext uri="{FF2B5EF4-FFF2-40B4-BE49-F238E27FC236}">
                  <a16:creationId xmlns:a16="http://schemas.microsoft.com/office/drawing/2014/main" id="{4043A3FC-2300-E748-A9A0-2DD2FC57E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997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69">
              <a:extLst>
                <a:ext uri="{FF2B5EF4-FFF2-40B4-BE49-F238E27FC236}">
                  <a16:creationId xmlns:a16="http://schemas.microsoft.com/office/drawing/2014/main" id="{10D5EFDC-AF74-EC17-43A2-C0C84825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3089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70">
              <a:extLst>
                <a:ext uri="{FF2B5EF4-FFF2-40B4-BE49-F238E27FC236}">
                  <a16:creationId xmlns:a16="http://schemas.microsoft.com/office/drawing/2014/main" id="{3D1DC342-D912-B9D7-1436-583CE9DEB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1" y="533"/>
              <a:ext cx="2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 Narrow" panose="020B0606020202030204" pitchFamily="34" charset="0"/>
                </a:rPr>
                <a:t>Alternate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71">
              <a:extLst>
                <a:ext uri="{FF2B5EF4-FFF2-40B4-BE49-F238E27FC236}">
                  <a16:creationId xmlns:a16="http://schemas.microsoft.com/office/drawing/2014/main" id="{D7B60424-F903-668B-BB53-A6A2F2407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3" y="635"/>
              <a:ext cx="17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Arial Narrow" panose="020B0606020202030204" pitchFamily="34" charset="0"/>
                </a:rPr>
                <a:t>Owner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72">
              <a:extLst>
                <a:ext uri="{FF2B5EF4-FFF2-40B4-BE49-F238E27FC236}">
                  <a16:creationId xmlns:a16="http://schemas.microsoft.com/office/drawing/2014/main" id="{EBB1132B-5ABC-4EE8-AD73-EAD985B52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1" y="711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73">
              <a:extLst>
                <a:ext uri="{FF2B5EF4-FFF2-40B4-BE49-F238E27FC236}">
                  <a16:creationId xmlns:a16="http://schemas.microsoft.com/office/drawing/2014/main" id="{E35AB567-4690-7068-55CE-506292F77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6" y="711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74">
              <a:extLst>
                <a:ext uri="{FF2B5EF4-FFF2-40B4-BE49-F238E27FC236}">
                  <a16:creationId xmlns:a16="http://schemas.microsoft.com/office/drawing/2014/main" id="{BE25AFEE-2334-A64D-B6C0-A4AB27E3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813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75">
              <a:extLst>
                <a:ext uri="{FF2B5EF4-FFF2-40B4-BE49-F238E27FC236}">
                  <a16:creationId xmlns:a16="http://schemas.microsoft.com/office/drawing/2014/main" id="{00AC3CCD-B4D7-DABF-B84B-A849F23CD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5" y="711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76">
              <a:extLst>
                <a:ext uri="{FF2B5EF4-FFF2-40B4-BE49-F238E27FC236}">
                  <a16:creationId xmlns:a16="http://schemas.microsoft.com/office/drawing/2014/main" id="{4DDE2A07-D047-629D-BEAA-6C4630045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915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77">
              <a:extLst>
                <a:ext uri="{FF2B5EF4-FFF2-40B4-BE49-F238E27FC236}">
                  <a16:creationId xmlns:a16="http://schemas.microsoft.com/office/drawing/2014/main" id="{2134615C-11FA-CA84-5E86-2DDF202DB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120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78">
              <a:extLst>
                <a:ext uri="{FF2B5EF4-FFF2-40B4-BE49-F238E27FC236}">
                  <a16:creationId xmlns:a16="http://schemas.microsoft.com/office/drawing/2014/main" id="{EA477BD6-D87E-9FDA-0638-D96A7FCEB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" y="2179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58507A84-1C4C-8958-0EFC-821C4945D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4" y="1631"/>
              <a:ext cx="238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Timeline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80">
              <a:extLst>
                <a:ext uri="{FF2B5EF4-FFF2-40B4-BE49-F238E27FC236}">
                  <a16:creationId xmlns:a16="http://schemas.microsoft.com/office/drawing/2014/main" id="{1B3DED4C-7C7E-8019-6A8C-293A4501B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427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81">
              <a:extLst>
                <a:ext uri="{FF2B5EF4-FFF2-40B4-BE49-F238E27FC236}">
                  <a16:creationId xmlns:a16="http://schemas.microsoft.com/office/drawing/2014/main" id="{26CC49AD-D9F7-BC61-7691-D676C39D0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324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82">
              <a:extLst>
                <a:ext uri="{FF2B5EF4-FFF2-40B4-BE49-F238E27FC236}">
                  <a16:creationId xmlns:a16="http://schemas.microsoft.com/office/drawing/2014/main" id="{2A1B16D7-C5CD-E08B-9A69-DD097D6CE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018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83">
              <a:extLst>
                <a:ext uri="{FF2B5EF4-FFF2-40B4-BE49-F238E27FC236}">
                  <a16:creationId xmlns:a16="http://schemas.microsoft.com/office/drawing/2014/main" id="{21E2325D-31C7-1C0E-3A5F-A45A8361D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222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84">
              <a:extLst>
                <a:ext uri="{FF2B5EF4-FFF2-40B4-BE49-F238E27FC236}">
                  <a16:creationId xmlns:a16="http://schemas.microsoft.com/office/drawing/2014/main" id="{035597B8-962B-93F5-4B1F-C7FFAAC22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1321"/>
              <a:ext cx="55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 Narrow" panose="020B0606020202030204" pitchFamily="34" charset="0"/>
                </a:rPr>
                <a:t>Alternate AIP Owner: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85">
              <a:extLst>
                <a:ext uri="{FF2B5EF4-FFF2-40B4-BE49-F238E27FC236}">
                  <a16:creationId xmlns:a16="http://schemas.microsoft.com/office/drawing/2014/main" id="{F9EE6A7E-F3F3-E79D-EF09-AC34B0C05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6" y="1324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86">
              <a:extLst>
                <a:ext uri="{FF2B5EF4-FFF2-40B4-BE49-F238E27FC236}">
                  <a16:creationId xmlns:a16="http://schemas.microsoft.com/office/drawing/2014/main" id="{FEDA4629-1006-D645-C976-30FB6D827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529"/>
              <a:ext cx="24" cy="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Line 87">
              <a:extLst>
                <a:ext uri="{FF2B5EF4-FFF2-40B4-BE49-F238E27FC236}">
                  <a16:creationId xmlns:a16="http://schemas.microsoft.com/office/drawing/2014/main" id="{49FB3702-A705-7B77-CDDE-79F1A3D85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77" y="464"/>
              <a:ext cx="0" cy="3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Rectangle 88">
              <a:extLst>
                <a:ext uri="{FF2B5EF4-FFF2-40B4-BE49-F238E27FC236}">
                  <a16:creationId xmlns:a16="http://schemas.microsoft.com/office/drawing/2014/main" id="{DA8F2EA3-9F13-D111-6A66-F43D74239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7" y="464"/>
              <a:ext cx="3" cy="33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89">
              <a:extLst>
                <a:ext uri="{FF2B5EF4-FFF2-40B4-BE49-F238E27FC236}">
                  <a16:creationId xmlns:a16="http://schemas.microsoft.com/office/drawing/2014/main" id="{A782FC15-3C47-2CAB-237E-580DC38E5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3" y="1423"/>
              <a:ext cx="0" cy="20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Rectangle 90">
              <a:extLst>
                <a:ext uri="{FF2B5EF4-FFF2-40B4-BE49-F238E27FC236}">
                  <a16:creationId xmlns:a16="http://schemas.microsoft.com/office/drawing/2014/main" id="{CBF5EE52-D329-DC7B-D3B5-FED825325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1423"/>
              <a:ext cx="3" cy="20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Rectangle 91">
              <a:extLst>
                <a:ext uri="{FF2B5EF4-FFF2-40B4-BE49-F238E27FC236}">
                  <a16:creationId xmlns:a16="http://schemas.microsoft.com/office/drawing/2014/main" id="{028AC130-EEA4-3E58-FEDA-03B05654D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5" y="800"/>
              <a:ext cx="5" cy="30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Rectangle 92">
              <a:extLst>
                <a:ext uri="{FF2B5EF4-FFF2-40B4-BE49-F238E27FC236}">
                  <a16:creationId xmlns:a16="http://schemas.microsoft.com/office/drawing/2014/main" id="{41DDF76F-D7E9-A492-6C6E-A2390E9AD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800"/>
              <a:ext cx="6" cy="306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93">
              <a:extLst>
                <a:ext uri="{FF2B5EF4-FFF2-40B4-BE49-F238E27FC236}">
                  <a16:creationId xmlns:a16="http://schemas.microsoft.com/office/drawing/2014/main" id="{2081B39A-C8F8-CE1C-1FE8-DF2695E15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55" y="1321"/>
              <a:ext cx="1" cy="254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Rectangle 94">
              <a:extLst>
                <a:ext uri="{FF2B5EF4-FFF2-40B4-BE49-F238E27FC236}">
                  <a16:creationId xmlns:a16="http://schemas.microsoft.com/office/drawing/2014/main" id="{78C5CFFE-BC9E-A650-2B77-A939FDA05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" y="1321"/>
              <a:ext cx="3" cy="254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95">
              <a:extLst>
                <a:ext uri="{FF2B5EF4-FFF2-40B4-BE49-F238E27FC236}">
                  <a16:creationId xmlns:a16="http://schemas.microsoft.com/office/drawing/2014/main" id="{FC131EF8-6E62-2AE0-8682-6AD6026C4D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3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Rectangle 96">
              <a:extLst>
                <a:ext uri="{FF2B5EF4-FFF2-40B4-BE49-F238E27FC236}">
                  <a16:creationId xmlns:a16="http://schemas.microsoft.com/office/drawing/2014/main" id="{11B49B3A-0B1F-7D6E-B07E-25601D4AB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3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97">
              <a:extLst>
                <a:ext uri="{FF2B5EF4-FFF2-40B4-BE49-F238E27FC236}">
                  <a16:creationId xmlns:a16="http://schemas.microsoft.com/office/drawing/2014/main" id="{FA47127C-E730-1D87-9BFA-293FA589B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0" y="1628"/>
              <a:ext cx="1" cy="22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98">
              <a:extLst>
                <a:ext uri="{FF2B5EF4-FFF2-40B4-BE49-F238E27FC236}">
                  <a16:creationId xmlns:a16="http://schemas.microsoft.com/office/drawing/2014/main" id="{C6F849CE-9873-9B2D-74A0-896D8D5F5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0" y="1628"/>
              <a:ext cx="3" cy="223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Line 99">
              <a:extLst>
                <a:ext uri="{FF2B5EF4-FFF2-40B4-BE49-F238E27FC236}">
                  <a16:creationId xmlns:a16="http://schemas.microsoft.com/office/drawing/2014/main" id="{051EAFF1-4932-A43C-B56C-9FB5250967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4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Rectangle 100">
              <a:extLst>
                <a:ext uri="{FF2B5EF4-FFF2-40B4-BE49-F238E27FC236}">
                  <a16:creationId xmlns:a16="http://schemas.microsoft.com/office/drawing/2014/main" id="{DF993F12-A2D1-F9AE-D8D6-ED6DA8ECE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Line 101">
              <a:extLst>
                <a:ext uri="{FF2B5EF4-FFF2-40B4-BE49-F238E27FC236}">
                  <a16:creationId xmlns:a16="http://schemas.microsoft.com/office/drawing/2014/main" id="{20B17FDE-66AF-1774-53AC-8E1DEED3A4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9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Rectangle 102">
              <a:extLst>
                <a:ext uri="{FF2B5EF4-FFF2-40B4-BE49-F238E27FC236}">
                  <a16:creationId xmlns:a16="http://schemas.microsoft.com/office/drawing/2014/main" id="{6CA45514-35F5-1162-BCCE-349D5F1B0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Line 103">
              <a:extLst>
                <a:ext uri="{FF2B5EF4-FFF2-40B4-BE49-F238E27FC236}">
                  <a16:creationId xmlns:a16="http://schemas.microsoft.com/office/drawing/2014/main" id="{C69F8D9B-A113-87E9-B4F8-32390A254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56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Rectangle 104">
              <a:extLst>
                <a:ext uri="{FF2B5EF4-FFF2-40B4-BE49-F238E27FC236}">
                  <a16:creationId xmlns:a16="http://schemas.microsoft.com/office/drawing/2014/main" id="{B5D32F12-0C33-8D64-93DF-EC2D0D036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6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Line 105">
              <a:extLst>
                <a:ext uri="{FF2B5EF4-FFF2-40B4-BE49-F238E27FC236}">
                  <a16:creationId xmlns:a16="http://schemas.microsoft.com/office/drawing/2014/main" id="{B550BFFE-3455-6BDF-6238-4A2D6F289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0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106">
              <a:extLst>
                <a:ext uri="{FF2B5EF4-FFF2-40B4-BE49-F238E27FC236}">
                  <a16:creationId xmlns:a16="http://schemas.microsoft.com/office/drawing/2014/main" id="{2DF40E6C-6171-2848-F65A-3AF4E9E95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Line 107">
              <a:extLst>
                <a:ext uri="{FF2B5EF4-FFF2-40B4-BE49-F238E27FC236}">
                  <a16:creationId xmlns:a16="http://schemas.microsoft.com/office/drawing/2014/main" id="{9E4B9572-A84D-307F-DDBF-716657AD26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0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Rectangle 108">
              <a:extLst>
                <a:ext uri="{FF2B5EF4-FFF2-40B4-BE49-F238E27FC236}">
                  <a16:creationId xmlns:a16="http://schemas.microsoft.com/office/drawing/2014/main" id="{F239DD2B-624D-FBAF-BAA6-9A07BE8470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0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Line 109">
              <a:extLst>
                <a:ext uri="{FF2B5EF4-FFF2-40B4-BE49-F238E27FC236}">
                  <a16:creationId xmlns:a16="http://schemas.microsoft.com/office/drawing/2014/main" id="{9F586173-9672-736C-EA70-DD8C6507BB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110">
              <a:extLst>
                <a:ext uri="{FF2B5EF4-FFF2-40B4-BE49-F238E27FC236}">
                  <a16:creationId xmlns:a16="http://schemas.microsoft.com/office/drawing/2014/main" id="{6BD60CC0-661A-CAA0-960D-2DFB9C862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Line 111">
              <a:extLst>
                <a:ext uri="{FF2B5EF4-FFF2-40B4-BE49-F238E27FC236}">
                  <a16:creationId xmlns:a16="http://schemas.microsoft.com/office/drawing/2014/main" id="{84F37043-502C-C66D-13AA-88A230995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112">
              <a:extLst>
                <a:ext uri="{FF2B5EF4-FFF2-40B4-BE49-F238E27FC236}">
                  <a16:creationId xmlns:a16="http://schemas.microsoft.com/office/drawing/2014/main" id="{1BDE3184-405E-70FF-C478-A6ED6F18C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Line 113">
              <a:extLst>
                <a:ext uri="{FF2B5EF4-FFF2-40B4-BE49-F238E27FC236}">
                  <a16:creationId xmlns:a16="http://schemas.microsoft.com/office/drawing/2014/main" id="{9293BC85-7B0C-89EA-3D54-3DA2E2F5D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Rectangle 114">
              <a:extLst>
                <a:ext uri="{FF2B5EF4-FFF2-40B4-BE49-F238E27FC236}">
                  <a16:creationId xmlns:a16="http://schemas.microsoft.com/office/drawing/2014/main" id="{06392D55-3CBC-C2B1-9BD6-8D4D2DF67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Line 115">
              <a:extLst>
                <a:ext uri="{FF2B5EF4-FFF2-40B4-BE49-F238E27FC236}">
                  <a16:creationId xmlns:a16="http://schemas.microsoft.com/office/drawing/2014/main" id="{DB59F59B-C326-88A2-AD7F-CA1D11ED75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Rectangle 116">
              <a:extLst>
                <a:ext uri="{FF2B5EF4-FFF2-40B4-BE49-F238E27FC236}">
                  <a16:creationId xmlns:a16="http://schemas.microsoft.com/office/drawing/2014/main" id="{C586ED57-A606-1279-DDE4-535FE4D91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Line 117">
              <a:extLst>
                <a:ext uri="{FF2B5EF4-FFF2-40B4-BE49-F238E27FC236}">
                  <a16:creationId xmlns:a16="http://schemas.microsoft.com/office/drawing/2014/main" id="{09B52F3A-3E11-836E-1AA7-CEB99AEE7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118">
              <a:extLst>
                <a:ext uri="{FF2B5EF4-FFF2-40B4-BE49-F238E27FC236}">
                  <a16:creationId xmlns:a16="http://schemas.microsoft.com/office/drawing/2014/main" id="{9D0784AD-13A7-536B-3EE5-A7E31F3F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Line 119">
              <a:extLst>
                <a:ext uri="{FF2B5EF4-FFF2-40B4-BE49-F238E27FC236}">
                  <a16:creationId xmlns:a16="http://schemas.microsoft.com/office/drawing/2014/main" id="{58891121-8C35-693F-2157-F5F14765ED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Rectangle 120">
              <a:extLst>
                <a:ext uri="{FF2B5EF4-FFF2-40B4-BE49-F238E27FC236}">
                  <a16:creationId xmlns:a16="http://schemas.microsoft.com/office/drawing/2014/main" id="{781939B6-1A70-F3C7-B58B-97B16117E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Line 121">
              <a:extLst>
                <a:ext uri="{FF2B5EF4-FFF2-40B4-BE49-F238E27FC236}">
                  <a16:creationId xmlns:a16="http://schemas.microsoft.com/office/drawing/2014/main" id="{2FD0D1C8-F8EE-DC5D-B3C0-56AD8F7E46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Rectangle 122">
              <a:extLst>
                <a:ext uri="{FF2B5EF4-FFF2-40B4-BE49-F238E27FC236}">
                  <a16:creationId xmlns:a16="http://schemas.microsoft.com/office/drawing/2014/main" id="{4D8D6180-81F4-5D09-A75C-C4A6DF5DF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Line 123">
              <a:extLst>
                <a:ext uri="{FF2B5EF4-FFF2-40B4-BE49-F238E27FC236}">
                  <a16:creationId xmlns:a16="http://schemas.microsoft.com/office/drawing/2014/main" id="{C0641B69-FD50-A158-CB89-F9A9BD4CF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Rectangle 124">
              <a:extLst>
                <a:ext uri="{FF2B5EF4-FFF2-40B4-BE49-F238E27FC236}">
                  <a16:creationId xmlns:a16="http://schemas.microsoft.com/office/drawing/2014/main" id="{35DF58E7-9822-6CF2-4C73-F3A16EF8C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Line 125">
              <a:extLst>
                <a:ext uri="{FF2B5EF4-FFF2-40B4-BE49-F238E27FC236}">
                  <a16:creationId xmlns:a16="http://schemas.microsoft.com/office/drawing/2014/main" id="{2ED0E7B2-7A0A-F8FD-BE0B-205238562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5" y="1730"/>
              <a:ext cx="1" cy="21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Rectangle 126">
              <a:extLst>
                <a:ext uri="{FF2B5EF4-FFF2-40B4-BE49-F238E27FC236}">
                  <a16:creationId xmlns:a16="http://schemas.microsoft.com/office/drawing/2014/main" id="{9B85E844-D8F8-642F-29EC-39887CEC7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5" y="1730"/>
              <a:ext cx="3" cy="21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Rectangle 127">
              <a:extLst>
                <a:ext uri="{FF2B5EF4-FFF2-40B4-BE49-F238E27FC236}">
                  <a16:creationId xmlns:a16="http://schemas.microsoft.com/office/drawing/2014/main" id="{1C09A692-E9F8-A0B8-3341-0C6B79102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60"/>
              <a:ext cx="287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Line 128">
              <a:extLst>
                <a:ext uri="{FF2B5EF4-FFF2-40B4-BE49-F238E27FC236}">
                  <a16:creationId xmlns:a16="http://schemas.microsoft.com/office/drawing/2014/main" id="{720BB633-5130-625A-CD3C-81FDED923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800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Rectangle 129">
              <a:extLst>
                <a:ext uri="{FF2B5EF4-FFF2-40B4-BE49-F238E27FC236}">
                  <a16:creationId xmlns:a16="http://schemas.microsoft.com/office/drawing/2014/main" id="{8E39BBB0-5B0E-BD83-EA61-5B9CBFEE5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800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Line 130">
              <a:extLst>
                <a:ext uri="{FF2B5EF4-FFF2-40B4-BE49-F238E27FC236}">
                  <a16:creationId xmlns:a16="http://schemas.microsoft.com/office/drawing/2014/main" id="{1D5E72EE-8C04-A31A-1C20-D694E7193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909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Rectangle 131">
              <a:extLst>
                <a:ext uri="{FF2B5EF4-FFF2-40B4-BE49-F238E27FC236}">
                  <a16:creationId xmlns:a16="http://schemas.microsoft.com/office/drawing/2014/main" id="{72B70F1C-C720-7A3F-3EBC-D219F786E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909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Line 132">
              <a:extLst>
                <a:ext uri="{FF2B5EF4-FFF2-40B4-BE49-F238E27FC236}">
                  <a16:creationId xmlns:a16="http://schemas.microsoft.com/office/drawing/2014/main" id="{DF15C5AC-8786-6BFD-447F-FEA6EE3DFD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011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Rectangle 133">
              <a:extLst>
                <a:ext uri="{FF2B5EF4-FFF2-40B4-BE49-F238E27FC236}">
                  <a16:creationId xmlns:a16="http://schemas.microsoft.com/office/drawing/2014/main" id="{3BF54AB8-7F71-379E-630C-167737202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011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Line 134">
              <a:extLst>
                <a:ext uri="{FF2B5EF4-FFF2-40B4-BE49-F238E27FC236}">
                  <a16:creationId xmlns:a16="http://schemas.microsoft.com/office/drawing/2014/main" id="{F538B9B1-448E-E93F-F7F4-C5689FCF6B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113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Rectangle 135">
              <a:extLst>
                <a:ext uri="{FF2B5EF4-FFF2-40B4-BE49-F238E27FC236}">
                  <a16:creationId xmlns:a16="http://schemas.microsoft.com/office/drawing/2014/main" id="{8495EBBB-7304-8059-6BB3-9EE2DDD52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113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Line 136">
              <a:extLst>
                <a:ext uri="{FF2B5EF4-FFF2-40B4-BE49-F238E27FC236}">
                  <a16:creationId xmlns:a16="http://schemas.microsoft.com/office/drawing/2014/main" id="{97739764-96BA-A86C-A998-1166E0926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216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Rectangle 137">
              <a:extLst>
                <a:ext uri="{FF2B5EF4-FFF2-40B4-BE49-F238E27FC236}">
                  <a16:creationId xmlns:a16="http://schemas.microsoft.com/office/drawing/2014/main" id="{51C7B208-8A8F-9EF4-48C7-8DA381D2B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216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Line 138">
              <a:extLst>
                <a:ext uri="{FF2B5EF4-FFF2-40B4-BE49-F238E27FC236}">
                  <a16:creationId xmlns:a16="http://schemas.microsoft.com/office/drawing/2014/main" id="{709686E8-BB63-7A6B-38E7-ED91674FB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318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Rectangle 139">
              <a:extLst>
                <a:ext uri="{FF2B5EF4-FFF2-40B4-BE49-F238E27FC236}">
                  <a16:creationId xmlns:a16="http://schemas.microsoft.com/office/drawing/2014/main" id="{3B2F7EA8-A35E-D9CF-E66A-6A3CF0DC6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318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Line 140">
              <a:extLst>
                <a:ext uri="{FF2B5EF4-FFF2-40B4-BE49-F238E27FC236}">
                  <a16:creationId xmlns:a16="http://schemas.microsoft.com/office/drawing/2014/main" id="{FE124DFC-B6FF-D18C-7C8A-F295AB73C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420"/>
              <a:ext cx="625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Rectangle 141">
              <a:extLst>
                <a:ext uri="{FF2B5EF4-FFF2-40B4-BE49-F238E27FC236}">
                  <a16:creationId xmlns:a16="http://schemas.microsoft.com/office/drawing/2014/main" id="{DA259337-6280-EE56-B5AE-F67444F74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420"/>
              <a:ext cx="6255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Line 142">
              <a:extLst>
                <a:ext uri="{FF2B5EF4-FFF2-40B4-BE49-F238E27FC236}">
                  <a16:creationId xmlns:a16="http://schemas.microsoft.com/office/drawing/2014/main" id="{138824EC-2A03-BF46-C03E-EDE339E6E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522"/>
              <a:ext cx="376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Rectangle 143">
              <a:extLst>
                <a:ext uri="{FF2B5EF4-FFF2-40B4-BE49-F238E27FC236}">
                  <a16:creationId xmlns:a16="http://schemas.microsoft.com/office/drawing/2014/main" id="{B0A9F4B5-DF6D-A291-1405-B20BE5AB4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522"/>
              <a:ext cx="376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Line 144">
              <a:extLst>
                <a:ext uri="{FF2B5EF4-FFF2-40B4-BE49-F238E27FC236}">
                  <a16:creationId xmlns:a16="http://schemas.microsoft.com/office/drawing/2014/main" id="{33C04FB1-ACB7-0650-F23A-D7A96E87A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624"/>
              <a:ext cx="625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Rectangle 145">
              <a:extLst>
                <a:ext uri="{FF2B5EF4-FFF2-40B4-BE49-F238E27FC236}">
                  <a16:creationId xmlns:a16="http://schemas.microsoft.com/office/drawing/2014/main" id="{29B61D5A-2B54-02DF-5888-2FB77B6DF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624"/>
              <a:ext cx="6255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Line 146">
              <a:extLst>
                <a:ext uri="{FF2B5EF4-FFF2-40B4-BE49-F238E27FC236}">
                  <a16:creationId xmlns:a16="http://schemas.microsoft.com/office/drawing/2014/main" id="{F4BE245D-7835-1E31-C48C-CBBEB3C04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727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Rectangle 147">
              <a:extLst>
                <a:ext uri="{FF2B5EF4-FFF2-40B4-BE49-F238E27FC236}">
                  <a16:creationId xmlns:a16="http://schemas.microsoft.com/office/drawing/2014/main" id="{29D5900A-F211-3A6C-C7A7-D3CEA8E64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727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Line 148">
              <a:extLst>
                <a:ext uri="{FF2B5EF4-FFF2-40B4-BE49-F238E27FC236}">
                  <a16:creationId xmlns:a16="http://schemas.microsoft.com/office/drawing/2014/main" id="{7EB93354-4F8E-8229-2965-E2DCB1A65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1984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Rectangle 149">
              <a:extLst>
                <a:ext uri="{FF2B5EF4-FFF2-40B4-BE49-F238E27FC236}">
                  <a16:creationId xmlns:a16="http://schemas.microsoft.com/office/drawing/2014/main" id="{78600BB5-8640-25BE-2121-67A7AE281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1984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Line 150">
              <a:extLst>
                <a:ext uri="{FF2B5EF4-FFF2-40B4-BE49-F238E27FC236}">
                  <a16:creationId xmlns:a16="http://schemas.microsoft.com/office/drawing/2014/main" id="{8232CDCF-E4E8-46D8-4F6E-32FC4376D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083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Rectangle 151">
              <a:extLst>
                <a:ext uri="{FF2B5EF4-FFF2-40B4-BE49-F238E27FC236}">
                  <a16:creationId xmlns:a16="http://schemas.microsoft.com/office/drawing/2014/main" id="{D2FC5381-3150-8C25-2831-5FE20D45A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083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Line 152">
              <a:extLst>
                <a:ext uri="{FF2B5EF4-FFF2-40B4-BE49-F238E27FC236}">
                  <a16:creationId xmlns:a16="http://schemas.microsoft.com/office/drawing/2014/main" id="{40C96506-486F-D42E-6693-A735FF363D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175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Rectangle 153">
              <a:extLst>
                <a:ext uri="{FF2B5EF4-FFF2-40B4-BE49-F238E27FC236}">
                  <a16:creationId xmlns:a16="http://schemas.microsoft.com/office/drawing/2014/main" id="{7D895525-FCB9-AA4B-AB3D-E4F4CC228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175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Line 154">
              <a:extLst>
                <a:ext uri="{FF2B5EF4-FFF2-40B4-BE49-F238E27FC236}">
                  <a16:creationId xmlns:a16="http://schemas.microsoft.com/office/drawing/2014/main" id="{7A1854DE-FEB9-1099-8541-5B0D3BB1C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274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Rectangle 155">
              <a:extLst>
                <a:ext uri="{FF2B5EF4-FFF2-40B4-BE49-F238E27FC236}">
                  <a16:creationId xmlns:a16="http://schemas.microsoft.com/office/drawing/2014/main" id="{B3C2D90C-8558-8988-AC47-3EC26E6EE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274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Line 156">
              <a:extLst>
                <a:ext uri="{FF2B5EF4-FFF2-40B4-BE49-F238E27FC236}">
                  <a16:creationId xmlns:a16="http://schemas.microsoft.com/office/drawing/2014/main" id="{41D9FFCB-1681-87FE-F62B-8C66F7C74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373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Rectangle 157">
              <a:extLst>
                <a:ext uri="{FF2B5EF4-FFF2-40B4-BE49-F238E27FC236}">
                  <a16:creationId xmlns:a16="http://schemas.microsoft.com/office/drawing/2014/main" id="{E4798F1D-5206-ADEA-C496-D31C40E0B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373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Line 158">
              <a:extLst>
                <a:ext uri="{FF2B5EF4-FFF2-40B4-BE49-F238E27FC236}">
                  <a16:creationId xmlns:a16="http://schemas.microsoft.com/office/drawing/2014/main" id="{726B4B68-DB10-0EA4-1E05-0174B032F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475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Rectangle 159">
              <a:extLst>
                <a:ext uri="{FF2B5EF4-FFF2-40B4-BE49-F238E27FC236}">
                  <a16:creationId xmlns:a16="http://schemas.microsoft.com/office/drawing/2014/main" id="{EEBCA9DD-AE8A-FAF2-EAD6-DF36BE6C2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475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Line 160">
              <a:extLst>
                <a:ext uri="{FF2B5EF4-FFF2-40B4-BE49-F238E27FC236}">
                  <a16:creationId xmlns:a16="http://schemas.microsoft.com/office/drawing/2014/main" id="{D60DF680-D2FA-6CE8-1145-ED4BCD917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574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Rectangle 161">
              <a:extLst>
                <a:ext uri="{FF2B5EF4-FFF2-40B4-BE49-F238E27FC236}">
                  <a16:creationId xmlns:a16="http://schemas.microsoft.com/office/drawing/2014/main" id="{74FDB96C-E81B-6417-4359-11A210C19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574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Line 162">
              <a:extLst>
                <a:ext uri="{FF2B5EF4-FFF2-40B4-BE49-F238E27FC236}">
                  <a16:creationId xmlns:a16="http://schemas.microsoft.com/office/drawing/2014/main" id="{A2918733-5E42-012F-CC06-68FF69F59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673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Rectangle 163">
              <a:extLst>
                <a:ext uri="{FF2B5EF4-FFF2-40B4-BE49-F238E27FC236}">
                  <a16:creationId xmlns:a16="http://schemas.microsoft.com/office/drawing/2014/main" id="{3C3A3640-EF66-4C63-3E14-7134D6BE1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673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Line 164">
              <a:extLst>
                <a:ext uri="{FF2B5EF4-FFF2-40B4-BE49-F238E27FC236}">
                  <a16:creationId xmlns:a16="http://schemas.microsoft.com/office/drawing/2014/main" id="{4FF2D037-6E02-D70A-83AB-59FD6DC3C2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772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Rectangle 165">
              <a:extLst>
                <a:ext uri="{FF2B5EF4-FFF2-40B4-BE49-F238E27FC236}">
                  <a16:creationId xmlns:a16="http://schemas.microsoft.com/office/drawing/2014/main" id="{8F1863F0-03B3-3864-824B-3A0512BDC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772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Line 166">
              <a:extLst>
                <a:ext uri="{FF2B5EF4-FFF2-40B4-BE49-F238E27FC236}">
                  <a16:creationId xmlns:a16="http://schemas.microsoft.com/office/drawing/2014/main" id="{B8CFEF4C-A958-5A67-0D6D-B39444024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871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Rectangle 167">
              <a:extLst>
                <a:ext uri="{FF2B5EF4-FFF2-40B4-BE49-F238E27FC236}">
                  <a16:creationId xmlns:a16="http://schemas.microsoft.com/office/drawing/2014/main" id="{9871FA24-47A1-1448-6AEE-C08948AE9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871"/>
              <a:ext cx="7672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Line 168">
              <a:extLst>
                <a:ext uri="{FF2B5EF4-FFF2-40B4-BE49-F238E27FC236}">
                  <a16:creationId xmlns:a16="http://schemas.microsoft.com/office/drawing/2014/main" id="{B118744E-95DA-7461-78DA-C7E99A09D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2970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Rectangle 169">
              <a:extLst>
                <a:ext uri="{FF2B5EF4-FFF2-40B4-BE49-F238E27FC236}">
                  <a16:creationId xmlns:a16="http://schemas.microsoft.com/office/drawing/2014/main" id="{75612A68-8D0D-F5BD-D2ED-F1FA71AAB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2970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Line 170">
              <a:extLst>
                <a:ext uri="{FF2B5EF4-FFF2-40B4-BE49-F238E27FC236}">
                  <a16:creationId xmlns:a16="http://schemas.microsoft.com/office/drawing/2014/main" id="{22824F0B-13B2-BF6C-CAB6-46DABF270C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076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Rectangle 171">
              <a:extLst>
                <a:ext uri="{FF2B5EF4-FFF2-40B4-BE49-F238E27FC236}">
                  <a16:creationId xmlns:a16="http://schemas.microsoft.com/office/drawing/2014/main" id="{BBAF158D-2270-4D14-0A97-2F58BB85A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076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Line 172">
              <a:extLst>
                <a:ext uri="{FF2B5EF4-FFF2-40B4-BE49-F238E27FC236}">
                  <a16:creationId xmlns:a16="http://schemas.microsoft.com/office/drawing/2014/main" id="{AC3E3BE0-8CD6-890A-A5B1-961718D0E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168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Rectangle 173">
              <a:extLst>
                <a:ext uri="{FF2B5EF4-FFF2-40B4-BE49-F238E27FC236}">
                  <a16:creationId xmlns:a16="http://schemas.microsoft.com/office/drawing/2014/main" id="{9C4A2708-E919-827E-28C6-8B9CE6F77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168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Line 174">
              <a:extLst>
                <a:ext uri="{FF2B5EF4-FFF2-40B4-BE49-F238E27FC236}">
                  <a16:creationId xmlns:a16="http://schemas.microsoft.com/office/drawing/2014/main" id="{CB7F6323-C83B-020A-CF96-A4C89BE77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267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Rectangle 175">
              <a:extLst>
                <a:ext uri="{FF2B5EF4-FFF2-40B4-BE49-F238E27FC236}">
                  <a16:creationId xmlns:a16="http://schemas.microsoft.com/office/drawing/2014/main" id="{990FA76A-CBC3-65C4-BE1A-D2B4C124A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267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Line 176">
              <a:extLst>
                <a:ext uri="{FF2B5EF4-FFF2-40B4-BE49-F238E27FC236}">
                  <a16:creationId xmlns:a16="http://schemas.microsoft.com/office/drawing/2014/main" id="{78616F44-9AF4-7927-2B1E-7D736E6AC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366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Rectangle 177">
              <a:extLst>
                <a:ext uri="{FF2B5EF4-FFF2-40B4-BE49-F238E27FC236}">
                  <a16:creationId xmlns:a16="http://schemas.microsoft.com/office/drawing/2014/main" id="{F267D8CA-3D25-8411-5750-62A29ACAB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366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Line 178">
              <a:extLst>
                <a:ext uri="{FF2B5EF4-FFF2-40B4-BE49-F238E27FC236}">
                  <a16:creationId xmlns:a16="http://schemas.microsoft.com/office/drawing/2014/main" id="{BD743B24-BDDD-518A-43EC-64E46F291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465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Rectangle 179">
              <a:extLst>
                <a:ext uri="{FF2B5EF4-FFF2-40B4-BE49-F238E27FC236}">
                  <a16:creationId xmlns:a16="http://schemas.microsoft.com/office/drawing/2014/main" id="{4A20E477-1228-A4B7-690F-E912A4D69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465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Line 180">
              <a:extLst>
                <a:ext uri="{FF2B5EF4-FFF2-40B4-BE49-F238E27FC236}">
                  <a16:creationId xmlns:a16="http://schemas.microsoft.com/office/drawing/2014/main" id="{86C145F5-C1F0-750B-B4DE-2387A9AFF6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564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Rectangle 181">
              <a:extLst>
                <a:ext uri="{FF2B5EF4-FFF2-40B4-BE49-F238E27FC236}">
                  <a16:creationId xmlns:a16="http://schemas.microsoft.com/office/drawing/2014/main" id="{584A3A9C-0512-36BE-5DF4-2751FFAA6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564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Line 182">
              <a:extLst>
                <a:ext uri="{FF2B5EF4-FFF2-40B4-BE49-F238E27FC236}">
                  <a16:creationId xmlns:a16="http://schemas.microsoft.com/office/drawing/2014/main" id="{B1C01B46-7010-DD05-EF02-3369ECA29F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663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Rectangle 183">
              <a:extLst>
                <a:ext uri="{FF2B5EF4-FFF2-40B4-BE49-F238E27FC236}">
                  <a16:creationId xmlns:a16="http://schemas.microsoft.com/office/drawing/2014/main" id="{68AE4822-F498-FCA1-D157-F3765DD1E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663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Line 184">
              <a:extLst>
                <a:ext uri="{FF2B5EF4-FFF2-40B4-BE49-F238E27FC236}">
                  <a16:creationId xmlns:a16="http://schemas.microsoft.com/office/drawing/2014/main" id="{31987AD3-E336-86A4-6847-9B719CE7F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762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Rectangle 185">
              <a:extLst>
                <a:ext uri="{FF2B5EF4-FFF2-40B4-BE49-F238E27FC236}">
                  <a16:creationId xmlns:a16="http://schemas.microsoft.com/office/drawing/2014/main" id="{566EC9F3-C7B4-0403-1CF8-CEFD048C1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762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Line 186">
              <a:extLst>
                <a:ext uri="{FF2B5EF4-FFF2-40B4-BE49-F238E27FC236}">
                  <a16:creationId xmlns:a16="http://schemas.microsoft.com/office/drawing/2014/main" id="{46B39D40-2BAE-2755-C251-1D06EFA03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" y="3861"/>
              <a:ext cx="767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Rectangle 187">
              <a:extLst>
                <a:ext uri="{FF2B5EF4-FFF2-40B4-BE49-F238E27FC236}">
                  <a16:creationId xmlns:a16="http://schemas.microsoft.com/office/drawing/2014/main" id="{5EE5A03A-7B74-3C21-365A-786C8A293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" y="3861"/>
              <a:ext cx="7672" cy="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212" name="Picture 188">
              <a:extLst>
                <a:ext uri="{FF2B5EF4-FFF2-40B4-BE49-F238E27FC236}">
                  <a16:creationId xmlns:a16="http://schemas.microsoft.com/office/drawing/2014/main" id="{0A4ADFE3-736C-9D41-F761-13B0C5BBF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3" name="Picture 189">
              <a:extLst>
                <a:ext uri="{FF2B5EF4-FFF2-40B4-BE49-F238E27FC236}">
                  <a16:creationId xmlns:a16="http://schemas.microsoft.com/office/drawing/2014/main" id="{0FBDF0BB-2DB3-2558-EBD0-9D0A68CE8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4" name="Picture 190">
              <a:extLst>
                <a:ext uri="{FF2B5EF4-FFF2-40B4-BE49-F238E27FC236}">
                  <a16:creationId xmlns:a16="http://schemas.microsoft.com/office/drawing/2014/main" id="{0AD4227F-5A01-0D53-90A0-2F84617DB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5" name="Picture 191">
              <a:extLst>
                <a:ext uri="{FF2B5EF4-FFF2-40B4-BE49-F238E27FC236}">
                  <a16:creationId xmlns:a16="http://schemas.microsoft.com/office/drawing/2014/main" id="{203BC8C9-E36E-7136-4572-945858941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6" name="Picture 192">
              <a:extLst>
                <a:ext uri="{FF2B5EF4-FFF2-40B4-BE49-F238E27FC236}">
                  <a16:creationId xmlns:a16="http://schemas.microsoft.com/office/drawing/2014/main" id="{BD5ED6D1-6F17-99C9-EB64-A1CF80B00E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7" name="Picture 193">
              <a:extLst>
                <a:ext uri="{FF2B5EF4-FFF2-40B4-BE49-F238E27FC236}">
                  <a16:creationId xmlns:a16="http://schemas.microsoft.com/office/drawing/2014/main" id="{C81F62CE-4006-E4F7-B7B3-A8AD792F0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8" name="Picture 194">
              <a:extLst>
                <a:ext uri="{FF2B5EF4-FFF2-40B4-BE49-F238E27FC236}">
                  <a16:creationId xmlns:a16="http://schemas.microsoft.com/office/drawing/2014/main" id="{FD6BD612-0FA9-E48D-EDFC-272EF293DC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19" name="Picture 195">
              <a:extLst>
                <a:ext uri="{FF2B5EF4-FFF2-40B4-BE49-F238E27FC236}">
                  <a16:creationId xmlns:a16="http://schemas.microsoft.com/office/drawing/2014/main" id="{551B0A4E-3A14-423D-53CB-F042D6572A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0" name="Picture 196">
              <a:extLst>
                <a:ext uri="{FF2B5EF4-FFF2-40B4-BE49-F238E27FC236}">
                  <a16:creationId xmlns:a16="http://schemas.microsoft.com/office/drawing/2014/main" id="{22D373FA-CB36-7F6D-E0BC-61B0A816C1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1" name="Picture 197">
              <a:extLst>
                <a:ext uri="{FF2B5EF4-FFF2-40B4-BE49-F238E27FC236}">
                  <a16:creationId xmlns:a16="http://schemas.microsoft.com/office/drawing/2014/main" id="{1536AED3-0598-3282-88F5-71CE4F2CCC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2" name="Picture 198">
              <a:extLst>
                <a:ext uri="{FF2B5EF4-FFF2-40B4-BE49-F238E27FC236}">
                  <a16:creationId xmlns:a16="http://schemas.microsoft.com/office/drawing/2014/main" id="{8BB75B10-CBC3-572B-76CD-8F8088052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3" name="Picture 199">
              <a:extLst>
                <a:ext uri="{FF2B5EF4-FFF2-40B4-BE49-F238E27FC236}">
                  <a16:creationId xmlns:a16="http://schemas.microsoft.com/office/drawing/2014/main" id="{A7ECDF10-300E-2D9D-9CDC-8907A037F4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4" name="Picture 200">
              <a:extLst>
                <a:ext uri="{FF2B5EF4-FFF2-40B4-BE49-F238E27FC236}">
                  <a16:creationId xmlns:a16="http://schemas.microsoft.com/office/drawing/2014/main" id="{FD5D9908-F2CB-FD0C-E50A-3D3EEA7D72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" y="477"/>
              <a:ext cx="394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3479984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9AAD6-3998-0917-060C-FAE96906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"/>
              </a:rPr>
              <a:t>Strategy Deployment Architecture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8823A-3DF9-EFF4-5698-2A603E4D96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"/>
              </a:rPr>
              <a:t>Populate Your Team’s 2</a:t>
            </a:r>
            <a:r>
              <a:rPr lang="en-US" sz="2400" baseline="30000" dirty="0">
                <a:latin typeface=""/>
              </a:rPr>
              <a:t>nd</a:t>
            </a:r>
            <a:r>
              <a:rPr lang="en-US" sz="2400" dirty="0">
                <a:latin typeface=""/>
              </a:rPr>
              <a:t> Level Matrix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CD31AB-262B-7F8D-AA9B-00799EB1E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80012" y="1526325"/>
            <a:ext cx="6172200" cy="41148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887348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5EBD-B0F1-A20C-20C0-24D50FEF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Top Level and 2nd Level Strategy Deployments </a:t>
            </a:r>
            <a:br>
              <a:rPr lang="en-US" sz="3600" dirty="0"/>
            </a:br>
            <a:r>
              <a:rPr lang="en-US" sz="3600" dirty="0"/>
              <a:t>- Illustrative Example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DBCA8C9-9E97-5F35-D013-F86BCBCCACF3}"/>
              </a:ext>
            </a:extLst>
          </p:cNvPr>
          <p:cNvGrpSpPr/>
          <p:nvPr/>
        </p:nvGrpSpPr>
        <p:grpSpPr>
          <a:xfrm>
            <a:off x="892846" y="1745946"/>
            <a:ext cx="11174462" cy="4725344"/>
            <a:chOff x="-1107554" y="891249"/>
            <a:chExt cx="13996094" cy="591852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36062FC-9EC7-1F36-E280-BDC1A7559959}"/>
                </a:ext>
              </a:extLst>
            </p:cNvPr>
            <p:cNvGrpSpPr/>
            <p:nvPr/>
          </p:nvGrpSpPr>
          <p:grpSpPr>
            <a:xfrm>
              <a:off x="609484" y="891249"/>
              <a:ext cx="3392194" cy="3353782"/>
              <a:chOff x="815922" y="797291"/>
              <a:chExt cx="4926995" cy="4881387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01F1777-88EB-E5F1-A9ED-199C8300BAC9}"/>
                  </a:ext>
                </a:extLst>
              </p:cNvPr>
              <p:cNvSpPr/>
              <p:nvPr/>
            </p:nvSpPr>
            <p:spPr>
              <a:xfrm>
                <a:off x="815922" y="797291"/>
                <a:ext cx="4926995" cy="4881387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927782A9-DFD5-4C13-AB97-D1668F9EE393}"/>
                  </a:ext>
                </a:extLst>
              </p:cNvPr>
              <p:cNvSpPr/>
              <p:nvPr/>
            </p:nvSpPr>
            <p:spPr>
              <a:xfrm>
                <a:off x="4313688" y="1452418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3F857577-2B80-A0D1-7B88-2D73B470B1BB}"/>
                  </a:ext>
                </a:extLst>
              </p:cNvPr>
              <p:cNvSpPr/>
              <p:nvPr/>
            </p:nvSpPr>
            <p:spPr>
              <a:xfrm>
                <a:off x="2172654" y="3634788"/>
                <a:ext cx="360252" cy="362372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68AA32F-B773-97BD-ED7C-E87C77249108}"/>
                  </a:ext>
                </a:extLst>
              </p:cNvPr>
              <p:cNvSpPr/>
              <p:nvPr/>
            </p:nvSpPr>
            <p:spPr>
              <a:xfrm>
                <a:off x="3743119" y="2754319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405A675-3369-D0B6-940D-165C550E8A90}"/>
                  </a:ext>
                </a:extLst>
              </p:cNvPr>
              <p:cNvSpPr/>
              <p:nvPr/>
            </p:nvSpPr>
            <p:spPr>
              <a:xfrm>
                <a:off x="4303466" y="2263671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9FF0C8-0A7A-033C-C8E5-262CB93663FA}"/>
                  </a:ext>
                </a:extLst>
              </p:cNvPr>
              <p:cNvSpPr/>
              <p:nvPr/>
            </p:nvSpPr>
            <p:spPr>
              <a:xfrm>
                <a:off x="2352932" y="4571044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1F54FE0-DFF7-404C-07DB-48EF26182BC2}"/>
                  </a:ext>
                </a:extLst>
              </p:cNvPr>
              <p:cNvSpPr/>
              <p:nvPr/>
            </p:nvSpPr>
            <p:spPr>
              <a:xfrm>
                <a:off x="4181766" y="4106411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A366B2F-28CF-8D3A-CC67-2B0469A2CFCA}"/>
                  </a:ext>
                </a:extLst>
              </p:cNvPr>
              <p:cNvSpPr/>
              <p:nvPr/>
            </p:nvSpPr>
            <p:spPr>
              <a:xfrm>
                <a:off x="4977186" y="2313849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293DA0-83DB-509B-6438-A3DC4F2A6D89}"/>
                  </a:ext>
                </a:extLst>
              </p:cNvPr>
              <p:cNvSpPr/>
              <p:nvPr/>
            </p:nvSpPr>
            <p:spPr>
              <a:xfrm>
                <a:off x="2182876" y="2770117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DC76BF5-85BD-CDDA-B2E7-E6FAF54CADE9}"/>
                  </a:ext>
                </a:extLst>
              </p:cNvPr>
              <p:cNvSpPr/>
              <p:nvPr/>
            </p:nvSpPr>
            <p:spPr>
              <a:xfrm>
                <a:off x="1304719" y="3386226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60619C6-D20F-DBDB-F082-DD337CC5309A}"/>
                  </a:ext>
                </a:extLst>
              </p:cNvPr>
              <p:cNvSpPr/>
              <p:nvPr/>
            </p:nvSpPr>
            <p:spPr>
              <a:xfrm>
                <a:off x="3054530" y="3080499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8D5BAF8-FD7E-78AF-E92C-BE440CC8A949}"/>
                  </a:ext>
                </a:extLst>
              </p:cNvPr>
              <p:cNvSpPr/>
              <p:nvPr/>
            </p:nvSpPr>
            <p:spPr>
              <a:xfrm>
                <a:off x="4893552" y="3949362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D713F3C-2AFC-27DA-295E-32C89B2CFA41}"/>
                  </a:ext>
                </a:extLst>
              </p:cNvPr>
              <p:cNvSpPr/>
              <p:nvPr/>
            </p:nvSpPr>
            <p:spPr>
              <a:xfrm>
                <a:off x="3823033" y="3466139"/>
                <a:ext cx="360252" cy="362372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3648672-C909-A4D9-3ACF-666C017E30D9}"/>
                  </a:ext>
                </a:extLst>
              </p:cNvPr>
              <p:cNvSpPr/>
              <p:nvPr/>
            </p:nvSpPr>
            <p:spPr>
              <a:xfrm>
                <a:off x="1355828" y="2564748"/>
                <a:ext cx="360252" cy="362372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6D90E49E-996E-17CF-B920-550EEE1487E7}"/>
                  </a:ext>
                </a:extLst>
              </p:cNvPr>
              <p:cNvSpPr/>
              <p:nvPr/>
            </p:nvSpPr>
            <p:spPr>
              <a:xfrm>
                <a:off x="4823391" y="3060980"/>
                <a:ext cx="360252" cy="362372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A23ACFF-E87B-731B-4050-E1D0862F5D01}"/>
                  </a:ext>
                </a:extLst>
              </p:cNvPr>
              <p:cNvSpPr/>
              <p:nvPr/>
            </p:nvSpPr>
            <p:spPr>
              <a:xfrm>
                <a:off x="2942087" y="2167026"/>
                <a:ext cx="360252" cy="362372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79501E6-84A8-E58F-1BA8-A657967EA38B}"/>
                  </a:ext>
                </a:extLst>
              </p:cNvPr>
              <p:cNvSpPr/>
              <p:nvPr/>
            </p:nvSpPr>
            <p:spPr>
              <a:xfrm>
                <a:off x="1993306" y="1831558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FAFFBCFB-D43B-572C-9688-7DD37758EFF4}"/>
                  </a:ext>
                </a:extLst>
              </p:cNvPr>
              <p:cNvSpPr/>
              <p:nvPr/>
            </p:nvSpPr>
            <p:spPr>
              <a:xfrm>
                <a:off x="2772961" y="1189436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B1EA7F-9885-C975-0219-59499125356E}"/>
                  </a:ext>
                </a:extLst>
              </p:cNvPr>
              <p:cNvSpPr/>
              <p:nvPr/>
            </p:nvSpPr>
            <p:spPr>
              <a:xfrm>
                <a:off x="3596295" y="1686598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B52CB82-FEA6-6DD1-C844-5B1105A7ECEF}"/>
                  </a:ext>
                </a:extLst>
              </p:cNvPr>
              <p:cNvSpPr/>
              <p:nvPr/>
            </p:nvSpPr>
            <p:spPr>
              <a:xfrm>
                <a:off x="4514411" y="4760613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6015F65-B3C7-96B0-0B2B-06026312BF2F}"/>
                  </a:ext>
                </a:extLst>
              </p:cNvPr>
              <p:cNvSpPr/>
              <p:nvPr/>
            </p:nvSpPr>
            <p:spPr>
              <a:xfrm>
                <a:off x="3321229" y="4950184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5CC1A254-50E3-822F-0557-D7F709F216C6}"/>
                  </a:ext>
                </a:extLst>
              </p:cNvPr>
              <p:cNvSpPr/>
              <p:nvPr/>
            </p:nvSpPr>
            <p:spPr>
              <a:xfrm>
                <a:off x="3029440" y="4049719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5DC37E0-F72F-DDE6-A4D7-C2E61323ED4E}"/>
                  </a:ext>
                </a:extLst>
              </p:cNvPr>
              <p:cNvSpPr/>
              <p:nvPr/>
            </p:nvSpPr>
            <p:spPr>
              <a:xfrm>
                <a:off x="1668993" y="4191904"/>
                <a:ext cx="360252" cy="362372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E9CDB365-BB69-C4C4-4BBE-3562EF690598}"/>
                </a:ext>
              </a:extLst>
            </p:cNvPr>
            <p:cNvSpPr/>
            <p:nvPr/>
          </p:nvSpPr>
          <p:spPr>
            <a:xfrm>
              <a:off x="3299909" y="4289901"/>
              <a:ext cx="379141" cy="37914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8769E08-4E4B-1644-94A6-C8DD064961BD}"/>
                </a:ext>
              </a:extLst>
            </p:cNvPr>
            <p:cNvGrpSpPr/>
            <p:nvPr/>
          </p:nvGrpSpPr>
          <p:grpSpPr>
            <a:xfrm>
              <a:off x="9301555" y="5133496"/>
              <a:ext cx="3181429" cy="655337"/>
              <a:chOff x="1190416" y="5588659"/>
              <a:chExt cx="3181429" cy="655337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5D5F7E34-9EF7-F1BE-C41C-9259670304E2}"/>
                  </a:ext>
                </a:extLst>
              </p:cNvPr>
              <p:cNvSpPr/>
              <p:nvPr/>
            </p:nvSpPr>
            <p:spPr>
              <a:xfrm>
                <a:off x="1190416" y="5657750"/>
                <a:ext cx="227953" cy="257966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i="1" dirty="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B30D02-4693-BEF2-A678-96E72591893A}"/>
                  </a:ext>
                </a:extLst>
              </p:cNvPr>
              <p:cNvSpPr txBox="1"/>
              <p:nvPr/>
            </p:nvSpPr>
            <p:spPr>
              <a:xfrm>
                <a:off x="1537848" y="5588659"/>
                <a:ext cx="2833997" cy="655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i="1" dirty="0"/>
                  <a:t>Targeted Strategy Deployment Processes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318D06-E96C-788C-CE7C-F7CD110503B1}"/>
                </a:ext>
              </a:extLst>
            </p:cNvPr>
            <p:cNvSpPr txBox="1"/>
            <p:nvPr/>
          </p:nvSpPr>
          <p:spPr>
            <a:xfrm>
              <a:off x="4191249" y="957586"/>
              <a:ext cx="8697291" cy="2814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A company consists of many, many processes.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Most need to be continually improved through the Kaizen process. This is known as </a:t>
              </a:r>
              <a:r>
                <a:rPr lang="en-US" sz="1400" b="1" i="1" dirty="0"/>
                <a:t>Daily Management. </a:t>
              </a:r>
              <a:endParaRPr lang="en-US" sz="14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Few key processes are selected to be significantly improved which will strategically provide profitable, competitive advantage. </a:t>
              </a:r>
              <a:r>
                <a:rPr lang="en-US" sz="1400" b="1" i="1" dirty="0"/>
                <a:t>These</a:t>
              </a:r>
              <a:r>
                <a:rPr lang="en-US" sz="1400" dirty="0"/>
                <a:t> </a:t>
              </a:r>
              <a:r>
                <a:rPr lang="en-US" sz="1400" b="1" i="1" dirty="0"/>
                <a:t>processes are the focus of Strategy Deployment.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We cannot work on all things, so prioritization is key.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/>
                <a:t>Selected Strategy Deployment processes need to be further broken down into their respective elements in order to focus our improvement efforts. This happens at the </a:t>
              </a:r>
              <a:r>
                <a:rPr lang="en-US" sz="1400" b="1" i="1" dirty="0"/>
                <a:t>2</a:t>
              </a:r>
              <a:r>
                <a:rPr lang="en-US" sz="1400" b="1" i="1" baseline="30000" dirty="0"/>
                <a:t>nd</a:t>
              </a:r>
              <a:r>
                <a:rPr lang="en-US" sz="1400" b="1" i="1" dirty="0"/>
                <a:t> Level </a:t>
              </a:r>
              <a:r>
                <a:rPr lang="en-US" sz="1400" dirty="0"/>
                <a:t>of the Strategy Deployment process.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E0A3EC-9964-0750-FA9E-3EB5D6CC5B01}"/>
                </a:ext>
              </a:extLst>
            </p:cNvPr>
            <p:cNvSpPr/>
            <p:nvPr/>
          </p:nvSpPr>
          <p:spPr>
            <a:xfrm>
              <a:off x="3362405" y="4827547"/>
              <a:ext cx="256478" cy="24234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1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326DCEF-027E-9C17-C56A-4C7374C63101}"/>
                </a:ext>
              </a:extLst>
            </p:cNvPr>
            <p:cNvSpPr txBox="1"/>
            <p:nvPr/>
          </p:nvSpPr>
          <p:spPr>
            <a:xfrm>
              <a:off x="3649225" y="4111330"/>
              <a:ext cx="6745972" cy="2698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US" sz="1100" dirty="0"/>
            </a:p>
            <a:p>
              <a:r>
                <a:rPr lang="en-US" sz="1200" b="1" i="1" u="sng" dirty="0"/>
                <a:t>Design &amp; Implement a Robust New Product Development Process</a:t>
              </a:r>
            </a:p>
            <a:p>
              <a:endParaRPr lang="en-US" sz="1200" b="1" i="1" u="sng" dirty="0"/>
            </a:p>
            <a:p>
              <a:pPr>
                <a:lnSpc>
                  <a:spcPct val="95000"/>
                </a:lnSpc>
              </a:pPr>
              <a:r>
                <a:rPr lang="en-US" sz="1100" dirty="0"/>
                <a:t>Design &amp; Implement a Standardized Parts Management Process</a:t>
              </a:r>
            </a:p>
            <a:p>
              <a:pPr>
                <a:lnSpc>
                  <a:spcPct val="95000"/>
                </a:lnSpc>
              </a:pPr>
              <a:endParaRPr lang="en-US" sz="1100" dirty="0"/>
            </a:p>
            <a:p>
              <a:pPr>
                <a:lnSpc>
                  <a:spcPct val="95000"/>
                </a:lnSpc>
              </a:pPr>
              <a:r>
                <a:rPr lang="en-US" sz="1100" dirty="0"/>
                <a:t>Design &amp; Implement a Stage Gate Management Process</a:t>
              </a:r>
            </a:p>
            <a:p>
              <a:pPr>
                <a:lnSpc>
                  <a:spcPct val="95000"/>
                </a:lnSpc>
              </a:pPr>
              <a:endParaRPr lang="en-US" sz="1100" dirty="0"/>
            </a:p>
            <a:p>
              <a:pPr>
                <a:lnSpc>
                  <a:spcPct val="95000"/>
                </a:lnSpc>
              </a:pPr>
              <a:r>
                <a:rPr lang="en-US" sz="1100" dirty="0"/>
                <a:t>Design &amp; Implement a DFMA Process</a:t>
              </a:r>
            </a:p>
            <a:p>
              <a:pPr>
                <a:lnSpc>
                  <a:spcPct val="95000"/>
                </a:lnSpc>
              </a:pPr>
              <a:endParaRPr lang="en-US" sz="1100" dirty="0"/>
            </a:p>
            <a:p>
              <a:pPr>
                <a:lnSpc>
                  <a:spcPct val="95000"/>
                </a:lnSpc>
              </a:pPr>
              <a:r>
                <a:rPr lang="en-US" sz="1100" dirty="0"/>
                <a:t>Design &amp; Implement a Target Costing Process</a:t>
              </a:r>
            </a:p>
            <a:p>
              <a:pPr>
                <a:lnSpc>
                  <a:spcPct val="95000"/>
                </a:lnSpc>
              </a:pPr>
              <a:br>
                <a:rPr lang="en-US" sz="1100" dirty="0"/>
              </a:br>
              <a:r>
                <a:rPr lang="en-US" sz="1100" dirty="0"/>
                <a:t>Design &amp; Implement a Voice of the Customer Process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18E9779-ABF3-1053-961D-DE86757C0CB9}"/>
                </a:ext>
              </a:extLst>
            </p:cNvPr>
            <p:cNvSpPr/>
            <p:nvPr/>
          </p:nvSpPr>
          <p:spPr>
            <a:xfrm>
              <a:off x="3362405" y="5263827"/>
              <a:ext cx="256478" cy="24234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2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09E7D50-546F-2834-34E7-3FE37B4461D3}"/>
                </a:ext>
              </a:extLst>
            </p:cNvPr>
            <p:cNvSpPr/>
            <p:nvPr/>
          </p:nvSpPr>
          <p:spPr>
            <a:xfrm>
              <a:off x="3362405" y="6020227"/>
              <a:ext cx="256478" cy="24234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4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4510F1-18F8-001D-0FD1-9B1F53770E88}"/>
                </a:ext>
              </a:extLst>
            </p:cNvPr>
            <p:cNvSpPr/>
            <p:nvPr/>
          </p:nvSpPr>
          <p:spPr>
            <a:xfrm>
              <a:off x="3362405" y="5642027"/>
              <a:ext cx="256478" cy="24234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3</a:t>
              </a:r>
            </a:p>
          </p:txBody>
        </p:sp>
        <p:sp>
          <p:nvSpPr>
            <p:cNvPr id="38" name="Left Brace 37">
              <a:extLst>
                <a:ext uri="{FF2B5EF4-FFF2-40B4-BE49-F238E27FC236}">
                  <a16:creationId xmlns:a16="http://schemas.microsoft.com/office/drawing/2014/main" id="{0289F6B9-F31E-0C7E-1925-206CBF71A590}"/>
                </a:ext>
              </a:extLst>
            </p:cNvPr>
            <p:cNvSpPr/>
            <p:nvPr/>
          </p:nvSpPr>
          <p:spPr>
            <a:xfrm>
              <a:off x="2765558" y="4827546"/>
              <a:ext cx="475699" cy="1809639"/>
            </a:xfrm>
            <a:prstGeom prst="leftBrac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4F08F50-7ADF-E372-E50D-D1C6BF20A9A0}"/>
                </a:ext>
              </a:extLst>
            </p:cNvPr>
            <p:cNvSpPr txBox="1"/>
            <p:nvPr/>
          </p:nvSpPr>
          <p:spPr>
            <a:xfrm>
              <a:off x="981951" y="4994343"/>
              <a:ext cx="2186913" cy="1503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2</a:t>
              </a:r>
              <a:r>
                <a:rPr lang="en-US" b="1" baseline="30000" dirty="0"/>
                <a:t>nd</a:t>
              </a:r>
              <a:r>
                <a:rPr lang="en-US" b="1" dirty="0"/>
                <a:t>  Level </a:t>
              </a:r>
            </a:p>
            <a:p>
              <a:pPr algn="ctr"/>
              <a:r>
                <a:rPr lang="en-US" b="1" dirty="0"/>
                <a:t>Strategy Deployment AIPs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E686365-4F3B-050E-4303-EBA182E28C45}"/>
                </a:ext>
              </a:extLst>
            </p:cNvPr>
            <p:cNvSpPr txBox="1"/>
            <p:nvPr/>
          </p:nvSpPr>
          <p:spPr>
            <a:xfrm>
              <a:off x="-1107554" y="4169578"/>
              <a:ext cx="3659870" cy="8095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/>
                <a:t>Top Level </a:t>
              </a:r>
            </a:p>
            <a:p>
              <a:pPr algn="r"/>
              <a:r>
                <a:rPr lang="en-US" b="1" dirty="0"/>
                <a:t>Strategy Deployment AIP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2872DF5-D76D-FB2B-2E38-ABB0FDEAC8C5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2476858" y="4479471"/>
              <a:ext cx="823051" cy="0"/>
            </a:xfrm>
            <a:prstGeom prst="straightConnector1">
              <a:avLst/>
            </a:prstGeom>
            <a:ln w="476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7AB7F5D-2FA0-D07D-7645-62D7D7330379}"/>
                </a:ext>
              </a:extLst>
            </p:cNvPr>
            <p:cNvCxnSpPr>
              <a:cxnSpLocks/>
              <a:stCxn id="19" idx="4"/>
              <a:endCxn id="28" idx="0"/>
            </p:cNvCxnSpPr>
            <p:nvPr/>
          </p:nvCxnSpPr>
          <p:spPr>
            <a:xfrm flipH="1">
              <a:off x="3489480" y="2695498"/>
              <a:ext cx="3128" cy="1594404"/>
            </a:xfrm>
            <a:prstGeom prst="straightConnector1">
              <a:avLst/>
            </a:prstGeom>
            <a:ln w="4762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00701FB-A565-6BFD-9A56-52B9847FCD84}"/>
                </a:ext>
              </a:extLst>
            </p:cNvPr>
            <p:cNvGrpSpPr/>
            <p:nvPr/>
          </p:nvGrpSpPr>
          <p:grpSpPr>
            <a:xfrm>
              <a:off x="9301556" y="5732648"/>
              <a:ext cx="3012485" cy="314152"/>
              <a:chOff x="1190417" y="5800097"/>
              <a:chExt cx="3012485" cy="314152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624F6A6-E6AF-FE1E-7117-A03BBC411259}"/>
                  </a:ext>
                </a:extLst>
              </p:cNvPr>
              <p:cNvSpPr/>
              <p:nvPr/>
            </p:nvSpPr>
            <p:spPr>
              <a:xfrm>
                <a:off x="1190417" y="5856282"/>
                <a:ext cx="227953" cy="257967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b="1" i="1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0A78011-7998-288B-7918-A771F2B377C7}"/>
                  </a:ext>
                </a:extLst>
              </p:cNvPr>
              <p:cNvSpPr txBox="1"/>
              <p:nvPr/>
            </p:nvSpPr>
            <p:spPr>
              <a:xfrm>
                <a:off x="1551599" y="5800097"/>
                <a:ext cx="2651303" cy="307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i="1" dirty="0"/>
                  <a:t>Daily Management Processes</a:t>
                </a:r>
              </a:p>
            </p:txBody>
          </p:sp>
        </p:grp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2773F42-0C39-7F63-F447-E1D64AB4C928}"/>
                </a:ext>
              </a:extLst>
            </p:cNvPr>
            <p:cNvSpPr/>
            <p:nvPr/>
          </p:nvSpPr>
          <p:spPr>
            <a:xfrm>
              <a:off x="3362405" y="6394850"/>
              <a:ext cx="256478" cy="242345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/>
                <a:t>5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93340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8FBCC3D-F22C-6C2A-1A4E-DA750A1C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How do the Top Level and 2nd Level Strategy Deployment Matrices Connect?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CCD3E0-4872-F778-5B02-2E14AB754474}"/>
              </a:ext>
            </a:extLst>
          </p:cNvPr>
          <p:cNvGrpSpPr/>
          <p:nvPr/>
        </p:nvGrpSpPr>
        <p:grpSpPr>
          <a:xfrm>
            <a:off x="1063256" y="1775637"/>
            <a:ext cx="10515600" cy="4401326"/>
            <a:chOff x="228833" y="156116"/>
            <a:chExt cx="11769426" cy="6500416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C5390F41-FC8B-5164-47B1-4574C6A4BE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9267246"/>
                </p:ext>
              </p:extLst>
            </p:nvPr>
          </p:nvGraphicFramePr>
          <p:xfrm>
            <a:off x="228833" y="156116"/>
            <a:ext cx="5201812" cy="34326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3" imgW="12585700" imgH="8305800" progId="Excel.Sheet.12">
                    <p:embed/>
                  </p:oleObj>
                </mc:Choice>
                <mc:Fallback>
                  <p:oleObj name="Worksheet" r:id="rId3" imgW="12585700" imgH="8305800" progId="Excel.Sheet.12">
                    <p:embed/>
                    <p:pic>
                      <p:nvPicPr>
                        <p:cNvPr id="2" name="Object 1">
                          <a:extLst>
                            <a:ext uri="{FF2B5EF4-FFF2-40B4-BE49-F238E27FC236}">
                              <a16:creationId xmlns:a16="http://schemas.microsoft.com/office/drawing/2014/main" id="{D09C83EA-936F-C49C-5E06-3D633F2E24F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8833" y="156116"/>
                          <a:ext cx="5201812" cy="343267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C6B2AAFE-3E0F-595D-EB52-555299F4FC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0293613"/>
                </p:ext>
              </p:extLst>
            </p:nvPr>
          </p:nvGraphicFramePr>
          <p:xfrm>
            <a:off x="5634637" y="3261234"/>
            <a:ext cx="6159635" cy="33931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Worksheet" r:id="rId5" imgW="13855700" imgH="7632700" progId="Excel.Sheet.12">
                    <p:embed/>
                  </p:oleObj>
                </mc:Choice>
                <mc:Fallback>
                  <p:oleObj name="Worksheet" r:id="rId5" imgW="13855700" imgH="7632700" progId="Excel.Sheet.12">
                    <p:embed/>
                    <p:pic>
                      <p:nvPicPr>
                        <p:cNvPr id="3" name="Object 2">
                          <a:extLst>
                            <a:ext uri="{FF2B5EF4-FFF2-40B4-BE49-F238E27FC236}">
                              <a16:creationId xmlns:a16="http://schemas.microsoft.com/office/drawing/2014/main" id="{A37BCC3C-52FD-5BFE-8E4B-05BD61CECF0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634637" y="3261234"/>
                          <a:ext cx="6159635" cy="339314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72DA504-FCAA-2516-528E-662801822F90}"/>
                </a:ext>
              </a:extLst>
            </p:cNvPr>
            <p:cNvCxnSpPr>
              <a:cxnSpLocks/>
            </p:cNvCxnSpPr>
            <p:nvPr/>
          </p:nvCxnSpPr>
          <p:spPr>
            <a:xfrm>
              <a:off x="841469" y="3170120"/>
              <a:ext cx="5146736" cy="316340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6141C5-FBAB-53D6-F3B3-7C471D9EEBA9}"/>
                </a:ext>
              </a:extLst>
            </p:cNvPr>
            <p:cNvSpPr/>
            <p:nvPr/>
          </p:nvSpPr>
          <p:spPr>
            <a:xfrm>
              <a:off x="5988205" y="6010508"/>
              <a:ext cx="1973765" cy="646024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225BAB5-1B4E-0288-033A-77D106A0BF62}"/>
                </a:ext>
              </a:extLst>
            </p:cNvPr>
            <p:cNvSpPr/>
            <p:nvPr/>
          </p:nvSpPr>
          <p:spPr>
            <a:xfrm rot="5400000">
              <a:off x="-182138" y="1951338"/>
              <a:ext cx="1973765" cy="646024"/>
            </a:xfrm>
            <a:prstGeom prst="ellipse">
              <a:avLst/>
            </a:prstGeom>
            <a:noFill/>
            <a:ln w="539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D33AAA-B157-8A60-C431-B02DA7D32B98}"/>
                </a:ext>
              </a:extLst>
            </p:cNvPr>
            <p:cNvSpPr/>
            <p:nvPr/>
          </p:nvSpPr>
          <p:spPr>
            <a:xfrm>
              <a:off x="841469" y="1170878"/>
              <a:ext cx="1973765" cy="412595"/>
            </a:xfrm>
            <a:prstGeom prst="ellipse">
              <a:avLst/>
            </a:prstGeom>
            <a:noFill/>
            <a:ln w="539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DD81D76-3BA7-0E08-843D-A2DA7EE48115}"/>
                </a:ext>
              </a:extLst>
            </p:cNvPr>
            <p:cNvSpPr/>
            <p:nvPr/>
          </p:nvSpPr>
          <p:spPr>
            <a:xfrm rot="5400000">
              <a:off x="4987858" y="4924319"/>
              <a:ext cx="1796703" cy="646024"/>
            </a:xfrm>
            <a:prstGeom prst="ellipse">
              <a:avLst/>
            </a:prstGeom>
            <a:noFill/>
            <a:ln w="5397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1888517-C97F-FB0C-09A7-9F8408A2FA54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>
              <a:off x="2435353" y="1542863"/>
              <a:ext cx="3222453" cy="3069238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70835B9-8591-06E2-3F18-036530C981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8402" y="2317054"/>
              <a:ext cx="1758622" cy="1437489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D1BB03-DC13-CF47-6C09-FD341AFAE3E8}"/>
                </a:ext>
              </a:extLst>
            </p:cNvPr>
            <p:cNvSpPr/>
            <p:nvPr/>
          </p:nvSpPr>
          <p:spPr>
            <a:xfrm>
              <a:off x="5729246" y="3588790"/>
              <a:ext cx="2232724" cy="986898"/>
            </a:xfrm>
            <a:prstGeom prst="ellipse">
              <a:avLst/>
            </a:prstGeom>
            <a:noFill/>
            <a:ln w="539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047542E1-9F7E-E340-A958-387D4EC78D9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8652754" y="1583473"/>
              <a:ext cx="2334466" cy="733581"/>
            </a:xfrm>
            <a:prstGeom prst="rect">
              <a:avLst/>
            </a:prstGeom>
            <a:ln w="38100">
              <a:solidFill>
                <a:schemeClr val="accent2"/>
              </a:solidFill>
            </a:ln>
          </p:spPr>
          <p:txBody>
            <a:bodyPr anchor="ctr">
              <a:normAutofit fontScale="77500" lnSpcReduction="20000"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en-US" altLang="en-US" sz="1600" b="1" dirty="0">
                  <a:latin typeface="+mn-lt"/>
                  <a:ea typeface="ＭＳ Ｐゴシック" panose="020B0600070205080204" pitchFamily="34" charset="-128"/>
                </a:rPr>
                <a:t>Developed by 2</a:t>
              </a:r>
              <a:r>
                <a:rPr lang="en-US" altLang="en-US" sz="1600" b="1" baseline="30000" dirty="0">
                  <a:latin typeface="+mn-lt"/>
                  <a:ea typeface="ＭＳ Ｐゴシック" panose="020B0600070205080204" pitchFamily="34" charset="-128"/>
                </a:rPr>
                <a:t>nd</a:t>
              </a:r>
              <a:r>
                <a:rPr lang="en-US" altLang="en-US" sz="1600" b="1" dirty="0">
                  <a:latin typeface="+mn-lt"/>
                  <a:ea typeface="ＭＳ Ｐゴシック" panose="020B0600070205080204" pitchFamily="34" charset="-128"/>
                </a:rPr>
                <a:t> Level Strategy Deployment Team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DF3EE5-91C7-371B-5C5F-B3E92F53FC88}"/>
                </a:ext>
              </a:extLst>
            </p:cNvPr>
            <p:cNvSpPr/>
            <p:nvPr/>
          </p:nvSpPr>
          <p:spPr>
            <a:xfrm rot="5400000">
              <a:off x="7032098" y="4378781"/>
              <a:ext cx="2945828" cy="1365846"/>
            </a:xfrm>
            <a:prstGeom prst="ellipse">
              <a:avLst/>
            </a:prstGeom>
            <a:noFill/>
            <a:ln w="539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2119FE9-C0D5-31A5-0104-A931B543B5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4356" y="2341757"/>
              <a:ext cx="952291" cy="1370082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21B2D6A-D8AE-0B99-6BDA-23EE639EC8B7}"/>
                </a:ext>
              </a:extLst>
            </p:cNvPr>
            <p:cNvSpPr/>
            <p:nvPr/>
          </p:nvSpPr>
          <p:spPr>
            <a:xfrm rot="5400000">
              <a:off x="9060301" y="3716422"/>
              <a:ext cx="3065591" cy="2810325"/>
            </a:xfrm>
            <a:prstGeom prst="ellipse">
              <a:avLst/>
            </a:prstGeom>
            <a:noFill/>
            <a:ln w="539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5C6F52-A0BC-1FDF-72BF-9D347C5A1987}"/>
                </a:ext>
              </a:extLst>
            </p:cNvPr>
            <p:cNvCxnSpPr>
              <a:cxnSpLocks/>
            </p:cNvCxnSpPr>
            <p:nvPr/>
          </p:nvCxnSpPr>
          <p:spPr>
            <a:xfrm>
              <a:off x="10139170" y="2317054"/>
              <a:ext cx="123598" cy="132737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8696246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E3228"/>
      </a:accent1>
      <a:accent2>
        <a:srgbClr val="FDCA40"/>
      </a:accent2>
      <a:accent3>
        <a:srgbClr val="939598"/>
      </a:accent3>
      <a:accent4>
        <a:srgbClr val="76939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HC FONT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15904</TotalTime>
  <Words>2356</Words>
  <Application>Microsoft Office PowerPoint</Application>
  <PresentationFormat>Widescreen</PresentationFormat>
  <Paragraphs>335</Paragraphs>
  <Slides>27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MS PGothic</vt:lpstr>
      <vt:lpstr>Arial</vt:lpstr>
      <vt:lpstr>Arial Narrow</vt:lpstr>
      <vt:lpstr>Calibri</vt:lpstr>
      <vt:lpstr>Roboto</vt:lpstr>
      <vt:lpstr>Roboto Medium</vt:lpstr>
      <vt:lpstr>Times New Roman</vt:lpstr>
      <vt:lpstr>Wingdings</vt:lpstr>
      <vt:lpstr>Wingdings 3</vt:lpstr>
      <vt:lpstr>Office Theme</vt:lpstr>
      <vt:lpstr>Worksheet</vt:lpstr>
      <vt:lpstr>PowerPoint Presentation</vt:lpstr>
      <vt:lpstr>Purpose &amp; Learning Objectives</vt:lpstr>
      <vt:lpstr>Strategy Deployment 2nd Level Workshops</vt:lpstr>
      <vt:lpstr>Strategy Deployment 2nd Level Workshop</vt:lpstr>
      <vt:lpstr>7 Phases of the Strategy Deployment Process Based on the Deming Cycle - PDCA</vt:lpstr>
      <vt:lpstr>Second Level Annual Improvement Priorities Defined</vt:lpstr>
      <vt:lpstr>Second Level AIP Examples</vt:lpstr>
      <vt:lpstr>AIPs (Annual Improvement Priorities) - Checklist</vt:lpstr>
      <vt:lpstr>Affinity Ground Rules for AIPs</vt:lpstr>
      <vt:lpstr>Affinity Process for Brainstorming Second Level AIPs</vt:lpstr>
      <vt:lpstr>Affinity Process for Brainstorming Second Level AIPs</vt:lpstr>
      <vt:lpstr>AIP Priority Filter</vt:lpstr>
      <vt:lpstr>Strategy Deployment 2nd Level Workshop</vt:lpstr>
      <vt:lpstr>Second Level Strategy Deployment Targets - Defined</vt:lpstr>
      <vt:lpstr>Anatomy of Targets with Examples</vt:lpstr>
      <vt:lpstr>Rate the Targets</vt:lpstr>
      <vt:lpstr>Target Checklist</vt:lpstr>
      <vt:lpstr>Strategy Deployment 2nd Level Workshop</vt:lpstr>
      <vt:lpstr>Establishing Cross-functional Teams – Guidelines</vt:lpstr>
      <vt:lpstr>PowerPoint Presentation</vt:lpstr>
      <vt:lpstr>Role of 2nd Level AIP Teams</vt:lpstr>
      <vt:lpstr>Strategy Deployment 2nd Level Workshop</vt:lpstr>
      <vt:lpstr>Action Plans</vt:lpstr>
      <vt:lpstr>PowerPoint Presentation</vt:lpstr>
      <vt:lpstr>Strategy Deployment Architecture </vt:lpstr>
      <vt:lpstr>Top Level and 2nd Level Strategy Deployments  - Illustrative Example</vt:lpstr>
      <vt:lpstr>How do the Top Level and 2nd Level Strategy Deployment Matrices Connect?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Santiago</dc:creator>
  <cp:lastModifiedBy>Scott DeLuzio</cp:lastModifiedBy>
  <cp:revision>401</cp:revision>
  <dcterms:created xsi:type="dcterms:W3CDTF">2023-02-08T22:10:20Z</dcterms:created>
  <dcterms:modified xsi:type="dcterms:W3CDTF">2025-09-30T17:22:02Z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36322035-9CF7-4C98-BF8C-A12385D66761</vt:lpwstr>
  </property>
  <property fmtid="{D5CDD505-2E9C-101B-9397-08002B2CF9AE}" pid="3" name="ArticulatePath">
    <vt:lpwstr>2nd Level SD Overview Training - Formatted Draft</vt:lpwstr>
  </property>
</Properties>
</file>