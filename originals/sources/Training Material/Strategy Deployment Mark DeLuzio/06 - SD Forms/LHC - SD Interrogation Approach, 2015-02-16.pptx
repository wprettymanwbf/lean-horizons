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2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3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  <p:sldMasterId id="2147483651" r:id="rId2"/>
    <p:sldMasterId id="2147485587" r:id="rId3"/>
    <p:sldMasterId id="2147485600" r:id="rId4"/>
    <p:sldMasterId id="2147485613" r:id="rId5"/>
    <p:sldMasterId id="2147485639" r:id="rId6"/>
    <p:sldMasterId id="2147485652" r:id="rId7"/>
    <p:sldMasterId id="2147485665" r:id="rId8"/>
    <p:sldMasterId id="2147485680" r:id="rId9"/>
    <p:sldMasterId id="2147485693" r:id="rId10"/>
    <p:sldMasterId id="2147485706" r:id="rId11"/>
    <p:sldMasterId id="2147485719" r:id="rId12"/>
    <p:sldMasterId id="2147485747" r:id="rId13"/>
    <p:sldMasterId id="2147485760" r:id="rId14"/>
  </p:sldMasterIdLst>
  <p:notesMasterIdLst>
    <p:notesMasterId r:id="rId45"/>
  </p:notesMasterIdLst>
  <p:handoutMasterIdLst>
    <p:handoutMasterId r:id="rId46"/>
  </p:handoutMasterIdLst>
  <p:sldIdLst>
    <p:sldId id="1404" r:id="rId15"/>
    <p:sldId id="1597" r:id="rId16"/>
    <p:sldId id="1635" r:id="rId17"/>
    <p:sldId id="1623" r:id="rId18"/>
    <p:sldId id="1621" r:id="rId19"/>
    <p:sldId id="1594" r:id="rId20"/>
    <p:sldId id="1609" r:id="rId21"/>
    <p:sldId id="1616" r:id="rId22"/>
    <p:sldId id="1629" r:id="rId23"/>
    <p:sldId id="1624" r:id="rId24"/>
    <p:sldId id="1622" r:id="rId25"/>
    <p:sldId id="1610" r:id="rId26"/>
    <p:sldId id="1619" r:id="rId27"/>
    <p:sldId id="1607" r:id="rId28"/>
    <p:sldId id="1620" r:id="rId29"/>
    <p:sldId id="1627" r:id="rId30"/>
    <p:sldId id="1634" r:id="rId31"/>
    <p:sldId id="1633" r:id="rId32"/>
    <p:sldId id="1608" r:id="rId33"/>
    <p:sldId id="1588" r:id="rId34"/>
    <p:sldId id="1589" r:id="rId35"/>
    <p:sldId id="1605" r:id="rId36"/>
    <p:sldId id="1606" r:id="rId37"/>
    <p:sldId id="1631" r:id="rId38"/>
    <p:sldId id="1626" r:id="rId39"/>
    <p:sldId id="1630" r:id="rId40"/>
    <p:sldId id="1615" r:id="rId41"/>
    <p:sldId id="1617" r:id="rId42"/>
    <p:sldId id="1625" r:id="rId43"/>
    <p:sldId id="1405" r:id="rId44"/>
  </p:sldIdLst>
  <p:sldSz cx="9144000" cy="6858000" type="screen4x3"/>
  <p:notesSz cx="7086600" cy="9372600"/>
  <p:defaultTextStyle>
    <a:defPPr>
      <a:defRPr lang="en-US"/>
    </a:defPPr>
    <a:lvl1pPr algn="ctr" rtl="0" eaLnBrk="0" fontAlgn="base" hangingPunct="0">
      <a:lnSpc>
        <a:spcPct val="80000"/>
      </a:lnSpc>
      <a:spcBef>
        <a:spcPct val="20000"/>
      </a:spcBef>
      <a:spcAft>
        <a:spcPct val="0"/>
      </a:spcAft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80000"/>
      </a:lnSpc>
      <a:spcBef>
        <a:spcPct val="20000"/>
      </a:spcBef>
      <a:spcAft>
        <a:spcPct val="0"/>
      </a:spcAft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80000"/>
      </a:lnSpc>
      <a:spcBef>
        <a:spcPct val="20000"/>
      </a:spcBef>
      <a:spcAft>
        <a:spcPct val="0"/>
      </a:spcAft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80000"/>
      </a:lnSpc>
      <a:spcBef>
        <a:spcPct val="20000"/>
      </a:spcBef>
      <a:spcAft>
        <a:spcPct val="0"/>
      </a:spcAft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80000"/>
      </a:lnSpc>
      <a:spcBef>
        <a:spcPct val="20000"/>
      </a:spcBef>
      <a:spcAft>
        <a:spcPct val="0"/>
      </a:spcAft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900" b="1" kern="1200">
        <a:solidFill>
          <a:schemeClr val="bg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FF00"/>
    <a:srgbClr val="0B0267"/>
    <a:srgbClr val="000066"/>
    <a:srgbClr val="FFFFFF"/>
    <a:srgbClr val="FF0000"/>
    <a:srgbClr val="808080"/>
    <a:srgbClr val="DDDDDD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4" autoAdjust="0"/>
    <p:restoredTop sz="99804" autoAdjust="0"/>
  </p:normalViewPr>
  <p:slideViewPr>
    <p:cSldViewPr snapToGrid="0">
      <p:cViewPr varScale="1">
        <p:scale>
          <a:sx n="81" d="100"/>
          <a:sy n="81" d="100"/>
        </p:scale>
        <p:origin x="-1136" y="-112"/>
      </p:cViewPr>
      <p:guideLst>
        <p:guide orient="horz" pos="2063"/>
        <p:guide pos="2881"/>
      </p:guideLst>
    </p:cSldViewPr>
  </p:slideViewPr>
  <p:outlineViewPr>
    <p:cViewPr>
      <p:scale>
        <a:sx n="33" d="100"/>
        <a:sy n="33" d="100"/>
      </p:scale>
      <p:origin x="0" y="20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6" d="100"/>
        <a:sy n="106" d="100"/>
      </p:scale>
      <p:origin x="0" y="1832"/>
    </p:cViewPr>
  </p:sorterViewPr>
  <p:notesViewPr>
    <p:cSldViewPr snapToGrid="0">
      <p:cViewPr>
        <p:scale>
          <a:sx n="75" d="100"/>
          <a:sy n="75" d="100"/>
        </p:scale>
        <p:origin x="-2034" y="-84"/>
      </p:cViewPr>
      <p:guideLst>
        <p:guide orient="horz" pos="2951"/>
        <p:guide pos="22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handoutMaster" Target="handoutMasters/handoutMaster1.xml"/><Relationship Id="rId47" Type="http://schemas.openxmlformats.org/officeDocument/2006/relationships/printerSettings" Target="printerSettings/printerSettings1.bin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9" Type="http://schemas.openxmlformats.org/officeDocument/2006/relationships/slideMaster" Target="slideMasters/slideMaster9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836" tIns="46918" rIns="93836" bIns="46918" numCol="1" anchor="t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836" tIns="46918" rIns="93836" bIns="46918" numCol="1" anchor="t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836" tIns="46918" rIns="93836" bIns="46918" numCol="1" anchor="b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266EDB29-84E1-444C-B5EF-325D58B495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6448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836" tIns="46918" rIns="93836" bIns="46918" numCol="1" anchor="t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836" tIns="46918" rIns="93836" bIns="46918" numCol="1" anchor="t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1675"/>
            <a:ext cx="4687888" cy="3516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1350"/>
            <a:ext cx="5197475" cy="42195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836" tIns="46918" rIns="93836" bIns="46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  <a:br>
              <a:rPr lang="en-US" noProof="0" smtClean="0"/>
            </a:br>
            <a:endParaRPr lang="en-US" noProof="0" smtClean="0"/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836" tIns="46918" rIns="93836" bIns="46918" numCol="1" anchor="b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3836" tIns="46918" rIns="93836" bIns="46918" numCol="1" anchor="b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defRPr sz="1200" b="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pPr>
              <a:defRPr/>
            </a:pPr>
            <a:fld id="{6331A60A-462A-EE44-A3BB-C53F3B2CE8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7395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0"/>
      </a:defRPr>
    </a:lvl1pPr>
    <a:lvl2pPr marL="234950" indent="-120650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571500" indent="-117475" algn="l" rtl="0" eaLnBrk="0" fontAlgn="base" hangingPunct="0">
      <a:spcBef>
        <a:spcPct val="30000"/>
      </a:spcBef>
      <a:spcAft>
        <a:spcPct val="0"/>
      </a:spcAft>
      <a:buChar char="–"/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</a:endParaRP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795EE97B-F4B2-964B-AA0C-92D25BF8AC06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1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</a:endParaRP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69D5FB4E-83B7-8A4F-BD3F-A3AFFD3C4C57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2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BCAFD81D-7857-4747-8A2F-6AFA6281EC2F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3</a:t>
            </a:fld>
            <a:endParaRPr lang="en-US" sz="1200" b="0" dirty="0">
              <a:solidFill>
                <a:prstClr val="black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14AC01C1-5959-A049-AC38-B02783578DF2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4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BB8CDE1C-D18F-EB49-8F8C-3F64C58F0AA6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5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5222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5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DO:</a:t>
            </a:r>
            <a:r>
              <a:rPr lang="en-US"/>
              <a:t> Read the definition, and ask the class for examples of breakthrough in their own companies.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D7B2553C-982E-2541-99D7-ADA76F175AD6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8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703263"/>
            <a:ext cx="4684712" cy="3513137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660" y="4452107"/>
            <a:ext cx="5669280" cy="421710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DO:</a:t>
            </a:r>
            <a:r>
              <a:rPr lang="en-US"/>
              <a:t> Read the definition, and ask the class for examples of annual improvement priorities in their own companies.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39BB05EF-5A99-E44A-AB41-ABC3F2694EFC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9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931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NOTE:</a:t>
            </a:r>
            <a:r>
              <a:rPr lang="en-US"/>
              <a:t> This is meant to be a quick review before they create their own.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B9C4FE84-49CB-F248-8D4C-CB1917BAC398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10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703263"/>
            <a:ext cx="4684712" cy="3513137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660" y="4452107"/>
            <a:ext cx="5669280" cy="421710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NOTE</a:t>
            </a:r>
            <a:r>
              <a:rPr lang="en-US"/>
              <a:t>: Not all target dates should be the last day of the fiscal year. Determine the date that is appropriate to meeting the Breakthrough. 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3E45E36E-52EE-3B48-9A00-11D362497910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11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4745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5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1E584EEC-37ED-5945-B4A6-ABDF1E220E3E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12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885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DO:</a:t>
            </a:r>
            <a:r>
              <a:rPr lang="en-US"/>
              <a:t> Review the necessary infrastructure:</a:t>
            </a:r>
          </a:p>
          <a:p>
            <a:r>
              <a:rPr lang="en-US" b="1"/>
              <a:t>Process sponsor</a:t>
            </a:r>
            <a:r>
              <a:rPr lang="en-US"/>
              <a:t> – Committed leadership team</a:t>
            </a:r>
          </a:p>
          <a:p>
            <a:r>
              <a:rPr lang="en-US" b="1"/>
              <a:t>Process owner</a:t>
            </a:r>
            <a:r>
              <a:rPr lang="en-US"/>
              <a:t> – Individual assigned to administer the process</a:t>
            </a:r>
          </a:p>
          <a:p>
            <a:r>
              <a:rPr lang="en-US" b="1"/>
              <a:t>Training plan</a:t>
            </a:r>
            <a:r>
              <a:rPr lang="en-US"/>
              <a:t> – For all required associates</a:t>
            </a:r>
          </a:p>
          <a:p>
            <a:pPr lvl="1"/>
            <a:r>
              <a:rPr lang="en-US"/>
              <a:t>Root cause problem solving skills driven to lowest levels in the organization</a:t>
            </a:r>
          </a:p>
          <a:p>
            <a:r>
              <a:rPr lang="en-US" b="1"/>
              <a:t>Monthly review schedule</a:t>
            </a:r>
          </a:p>
          <a:p>
            <a:pPr lvl="1"/>
            <a:r>
              <a:rPr lang="en-US"/>
              <a:t>Top level</a:t>
            </a:r>
          </a:p>
          <a:p>
            <a:pPr lvl="1"/>
            <a:r>
              <a:rPr lang="en-US"/>
              <a:t>2nd levels</a:t>
            </a:r>
          </a:p>
          <a:p>
            <a:pPr lvl="1"/>
            <a:r>
              <a:rPr lang="en-US"/>
              <a:t>Countermeasures and reminders</a:t>
            </a:r>
          </a:p>
          <a:p>
            <a:r>
              <a:rPr lang="en-US" b="1"/>
              <a:t>Database / Intranet – Data collection is effortless</a:t>
            </a:r>
          </a:p>
          <a:p>
            <a:endParaRPr lang="en-US"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5062C86B-ECDB-BB4B-8DAE-F754001B8115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13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3325" y="703263"/>
            <a:ext cx="4683125" cy="3513137"/>
          </a:xfrm>
          <a:ln w="12700" cap="flat">
            <a:solidFill>
              <a:schemeClr val="tx1"/>
            </a:solidFill>
          </a:ln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4880" y="4452107"/>
            <a:ext cx="5196840" cy="421710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859" tIns="45615" rIns="92859" bIns="45615"/>
          <a:lstStyle/>
          <a:p>
            <a:r>
              <a:rPr lang="en-US" b="1"/>
              <a:t>NOTE:</a:t>
            </a:r>
            <a:r>
              <a:rPr lang="en-US"/>
              <a:t> Do not read this slide, however have the class review it and ask for each bullet point – what will it take to accomplish this?  </a:t>
            </a:r>
          </a:p>
          <a:p>
            <a:r>
              <a:rPr lang="en-US" b="1"/>
              <a:t>DO:</a:t>
            </a:r>
            <a:r>
              <a:rPr lang="en-US"/>
              <a:t> Ask if these success factors exist in their organization.  Any gaps?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</a:endParaRP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69D5FB4E-83B7-8A4F-BD3F-A3AFFD3C4C57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14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D7B2553C-982E-2541-99D7-ADA76F175AD6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15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703263"/>
            <a:ext cx="4684712" cy="3513137"/>
          </a:xfrm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8660" y="4452107"/>
            <a:ext cx="5669280" cy="4217103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DO:</a:t>
            </a:r>
            <a:r>
              <a:rPr lang="en-US"/>
              <a:t> Read the definition, and ask the class for examples of annual improvement priorities in their own companies.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5EED25B2-FB60-F54F-9FF0-169EA616841D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16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5EED25B2-FB60-F54F-9FF0-169EA616841D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17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5EED25B2-FB60-F54F-9FF0-169EA616841D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18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</a:endParaRP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69D5FB4E-83B7-8A4F-BD3F-A3AFFD3C4C57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19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8EDD916C-16FD-0444-9B5B-4D931BCA4C9B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20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B71E8BD0-EEB3-B746-B770-83835F94B02A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21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dirty="0">
              <a:ea typeface="ＭＳ Ｐゴシック" charset="0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BCAFD81D-7857-4747-8A2F-6AFA6281EC2F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22</a:t>
            </a:fld>
            <a:endParaRPr lang="en-US" sz="1200" b="0" dirty="0">
              <a:solidFill>
                <a:schemeClr val="tx1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2FD828E0-CCF6-6D4A-90D5-BD30D2C545C1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25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7920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5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ASK:</a:t>
            </a:r>
            <a:r>
              <a:rPr lang="en-US"/>
              <a:t> </a:t>
            </a:r>
            <a:r>
              <a:rPr lang="ja-JP" altLang="en-US"/>
              <a:t>“</a:t>
            </a:r>
            <a:r>
              <a:rPr lang="en-US" altLang="ja-JP"/>
              <a:t>What other commitments are in conflict with SD plan? (generate vigorous discussion)</a:t>
            </a:r>
            <a:r>
              <a:rPr lang="ja-JP" altLang="en-US"/>
              <a:t>”</a:t>
            </a:r>
            <a:endParaRPr lang="en-US" altLang="ja-JP"/>
          </a:p>
          <a:p>
            <a:r>
              <a:rPr lang="en-US"/>
              <a:t>Table the right questions</a:t>
            </a:r>
          </a:p>
          <a:p>
            <a:r>
              <a:rPr lang="en-US"/>
              <a:t>Are there other initiatives and projects that need to be re-assessed?</a:t>
            </a:r>
          </a:p>
          <a:p>
            <a:r>
              <a:rPr lang="en-US"/>
              <a:t>Is this organization comfortable working in a cross-functional environment?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04C87F3C-C988-874A-BD2A-6F21779D65F4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26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35170" name="Rectangle 4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ASK:</a:t>
            </a:r>
            <a:r>
              <a:rPr lang="en-US"/>
              <a:t> </a:t>
            </a:r>
            <a:r>
              <a:rPr lang="ja-JP" altLang="en-US"/>
              <a:t>“</a:t>
            </a:r>
            <a:r>
              <a:rPr lang="en-US" altLang="ja-JP"/>
              <a:t>What other commitments are in conflict with SD plan?</a:t>
            </a:r>
            <a:r>
              <a:rPr lang="ja-JP" altLang="en-US"/>
              <a:t>”</a:t>
            </a:r>
            <a:r>
              <a:rPr lang="en-US" altLang="ja-JP"/>
              <a:t> (generate vigorous discussion)</a:t>
            </a:r>
          </a:p>
          <a:p>
            <a:r>
              <a:rPr lang="en-US"/>
              <a:t>Table the right questions</a:t>
            </a:r>
          </a:p>
          <a:p>
            <a:r>
              <a:rPr lang="en-US"/>
              <a:t>Are there other initiatives and projects that need to be re-assessed?</a:t>
            </a:r>
          </a:p>
          <a:p>
            <a:r>
              <a:rPr lang="en-US"/>
              <a:t>Is this organization comfortable working in a cross-functional environment?</a:t>
            </a:r>
          </a:p>
          <a:p>
            <a:r>
              <a:rPr lang="en-US"/>
              <a:t>Deliverable from this exercise is a personal action plan for every black dot to move forward with next steps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922AE213-1FBD-4446-9C44-CF434D3EC37C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27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NOTE:</a:t>
            </a:r>
            <a:r>
              <a:rPr lang="en-US"/>
              <a:t> You may not have a </a:t>
            </a:r>
            <a:r>
              <a:rPr lang="ja-JP" altLang="en-US"/>
              <a:t>“</a:t>
            </a:r>
            <a:r>
              <a:rPr lang="en-US" altLang="ja-JP"/>
              <a:t>yes</a:t>
            </a:r>
            <a:r>
              <a:rPr lang="ja-JP" altLang="en-US"/>
              <a:t>”</a:t>
            </a:r>
            <a:r>
              <a:rPr lang="en-US" altLang="ja-JP"/>
              <a:t> answer for each of these – but you should for most to qualify an objective as breakthrough.</a:t>
            </a:r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05C9331D-BDCC-C943-B0E1-E2CADB2CC964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28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NOTE:</a:t>
            </a:r>
            <a:r>
              <a:rPr lang="en-US"/>
              <a:t> You may not have a </a:t>
            </a:r>
            <a:r>
              <a:rPr lang="ja-JP" altLang="en-US"/>
              <a:t>“</a:t>
            </a:r>
            <a:r>
              <a:rPr lang="en-US" altLang="ja-JP"/>
              <a:t>yes</a:t>
            </a:r>
            <a:r>
              <a:rPr lang="ja-JP" altLang="en-US"/>
              <a:t>”</a:t>
            </a:r>
            <a:r>
              <a:rPr lang="en-US" altLang="ja-JP"/>
              <a:t> answer for each of these – but you should for most to qualify an AIP.</a:t>
            </a:r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  <a:cs typeface="ＭＳ Ｐゴシック" charset="0"/>
              </a:defRPr>
            </a:lvl1pPr>
            <a:lvl2pPr marL="762415" indent="-293237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2pPr>
            <a:lvl3pPr marL="1172947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3pPr>
            <a:lvl4pPr marL="1642125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4pPr>
            <a:lvl5pPr marL="2111304" indent="-234589" eaLnBrk="0" hangingPunct="0"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5pPr>
            <a:lvl6pPr marL="2580483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6pPr>
            <a:lvl7pPr marL="3049661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7pPr>
            <a:lvl8pPr marL="3518840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8pPr>
            <a:lvl9pPr marL="3988018" indent="-234589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charset="0"/>
                <a:ea typeface="ＭＳ Ｐゴシック" charset="0"/>
              </a:defRPr>
            </a:lvl9pPr>
          </a:lstStyle>
          <a:p>
            <a:fld id="{B565EED1-7C71-2847-B720-516005954CD9}" type="slidenum">
              <a:rPr lang="en-US" sz="1200" b="0">
                <a:solidFill>
                  <a:prstClr val="black"/>
                </a:solidFill>
                <a:latin typeface="Times New Roman" charset="0"/>
              </a:rPr>
              <a:pPr/>
              <a:t>29</a:t>
            </a:fld>
            <a:endParaRPr lang="en-US" sz="1200" b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0957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5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1"/>
              <a:t>NOTE:</a:t>
            </a:r>
            <a:r>
              <a:rPr lang="en-US"/>
              <a:t> You may not have a </a:t>
            </a:r>
            <a:r>
              <a:rPr lang="ja-JP" altLang="en-US"/>
              <a:t>“</a:t>
            </a:r>
            <a:r>
              <a:rPr lang="en-US" altLang="ja-JP"/>
              <a:t>yes</a:t>
            </a:r>
            <a:r>
              <a:rPr lang="ja-JP" altLang="en-US"/>
              <a:t>”</a:t>
            </a:r>
            <a:r>
              <a:rPr lang="en-US" altLang="ja-JP"/>
              <a:t> answer for each of these – but you should for most to qualify a target.</a:t>
            </a:r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</a:endParaRPr>
          </a:p>
        </p:txBody>
      </p:sp>
      <p:sp>
        <p:nvSpPr>
          <p:cNvPr id="6041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8213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38213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fld id="{B32A5F21-EEF7-184A-A8E3-A4B1E426BB13}" type="slidenum">
              <a:rPr lang="en-US" sz="1200" b="0">
                <a:solidFill>
                  <a:schemeClr val="tx1"/>
                </a:solidFill>
                <a:latin typeface="Times New Roman" charset="0"/>
              </a:rPr>
              <a:pPr/>
              <a:t>30</a:t>
            </a:fld>
            <a:endParaRPr lang="en-US" sz="1200" b="0">
              <a:solidFill>
                <a:schemeClr val="tx1"/>
              </a:solidFill>
              <a:latin typeface="Times New Roma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 descr="blue1-v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889724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2207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372888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5113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5113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6242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2455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89437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9330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032864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83420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9221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237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237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6539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3363913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912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3363913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30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A91F8-7D88-F240-9898-C9EC869F27A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053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0A2AF-52D4-5449-AA78-955B963C7E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797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BC5A7D-D719-B749-AB84-C4709C234E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6702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A7709-B24C-C746-B4D2-83BC81A992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927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2F15D-EB89-4C49-A0A1-C09D643E0E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14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EBD87-672A-7E4C-B068-CFDFAADC3D5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0596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EEB39-2B8E-7542-A787-E629E08A19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0664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D82C1B-EF73-084F-955E-55B9C691A8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487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246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847077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3517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810005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6545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6750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0218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16733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62702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463461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9491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158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8F1446D2-19B9-E84A-BC43-487753BA479F}" type="datetimeFigureOut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2/13/15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C6F6570C-92FB-3441-89F8-D35CCA7F28ED}" type="slidenum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3328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1029362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6672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442043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6404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6444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1958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316555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088924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343283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1205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1220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8F1446D2-19B9-E84A-BC43-487753BA479F}" type="datetimeFigureOut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2/13/15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C6F6570C-92FB-3441-89F8-D35CCA7F28ED}" type="slidenum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3001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940275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80794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614311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7242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4399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6510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74526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35693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84929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6660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6012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8F1446D2-19B9-E84A-BC43-487753BA479F}" type="datetimeFigureOut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2/13/15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C6F6570C-92FB-3441-89F8-D35CCA7F28ED}" type="slidenum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28491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010002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5767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282782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69572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25784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2698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246858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795630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217424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0549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0410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8F1446D2-19B9-E84A-BC43-487753BA479F}" type="datetimeFigureOut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2/13/15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C6F6570C-92FB-3441-89F8-D35CCA7F28ED}" type="slidenum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2544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718167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452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166312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4813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58207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4868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63183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514187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81147312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7180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2264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5E063EDE-4D69-5240-AF9E-592F7E0D1DC6}" type="datetimeFigureOut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2/13/15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BFFA568D-4944-9D49-8364-FB8DBD6D9B16}" type="slidenum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7252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999422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9604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323227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477963"/>
            <a:ext cx="4005263" cy="4694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477963"/>
            <a:ext cx="4006850" cy="4694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44224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9943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7065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45655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09459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25771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15265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5678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5625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1048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34840526-0AB2-BE47-9923-164956F5CD6B}" type="datetimeFigureOut">
              <a:rPr lang="en-US">
                <a:solidFill>
                  <a:srgbClr val="FFFFFF"/>
                </a:solidFill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2/13/15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413F299E-2122-0443-B26C-61604EF28DEC}" type="slidenum">
              <a:rPr lang="en-US">
                <a:solidFill>
                  <a:srgbClr val="FFFFFF"/>
                </a:solidFill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1867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440987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9307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921284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3415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7146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4005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20617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502144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498153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7690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7714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5E063EDE-4D69-5240-AF9E-592F7E0D1DC6}" type="datetimeFigureOut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2/12/15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BFFA568D-4944-9D49-8364-FB8DBD6D9B16}" type="slidenum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57176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991134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0435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448949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1771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0071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51805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53287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562345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04591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4237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8692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5E063EDE-4D69-5240-AF9E-592F7E0D1DC6}" type="datetimeFigureOut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2/12/15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BFFA568D-4944-9D49-8364-FB8DBD6D9B16}" type="slidenum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1362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936893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3133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185577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66911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6338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7259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7350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90891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713316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1785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360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5E063EDE-4D69-5240-AF9E-592F7E0D1DC6}" type="datetimeFigureOut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2/12/15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BFFA568D-4944-9D49-8364-FB8DBD6D9B16}" type="slidenum">
              <a:rPr lang="en-US">
                <a:solidFill>
                  <a:srgbClr val="FFFFFF"/>
                </a:solidFill>
                <a:latin typeface="Wingdings 3" charset="0"/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74223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411124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7263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62861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477963"/>
            <a:ext cx="4005263" cy="4694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477963"/>
            <a:ext cx="4006850" cy="4694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2184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0240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2072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00757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5949882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184318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7777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1996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455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8954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34840526-0AB2-BE47-9923-164956F5CD6B}" type="datetimeFigureOut">
              <a:rPr lang="en-US">
                <a:solidFill>
                  <a:srgbClr val="FFFFFF"/>
                </a:solidFill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2/13/15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defRPr/>
            </a:pPr>
            <a:fld id="{413F299E-2122-0443-B26C-61604EF28DEC}" type="slidenum">
              <a:rPr lang="en-US">
                <a:solidFill>
                  <a:srgbClr val="FFFFFF"/>
                </a:solidFill>
              </a:rPr>
              <a:pPr algn="l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84470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720641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3029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095321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5164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4210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772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311503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546303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700203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240428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18132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09474-340F-BC41-8A3A-536BA08EF4DF}" type="datetimeFigureOut">
              <a:rPr lang="en-US">
                <a:solidFill>
                  <a:srgbClr val="FFFFFF"/>
                </a:solidFill>
                <a:latin typeface="Wingdings 3" charset="0"/>
              </a:rPr>
              <a:pPr>
                <a:defRPr/>
              </a:pPr>
              <a:t>2/13/15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3BEF7-D286-454B-BA2E-20664024F1EA}" type="slidenum">
              <a:rPr lang="en-US">
                <a:solidFill>
                  <a:srgbClr val="FFFFFF"/>
                </a:solidFill>
                <a:latin typeface="Wingdings 3" charset="0"/>
              </a:rPr>
              <a:pPr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60750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9" name="Rectangle 33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4017963"/>
            <a:ext cx="7772400" cy="1470025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6779099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9220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701685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8950" y="1739900"/>
            <a:ext cx="4005263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739900"/>
            <a:ext cx="4006850" cy="4432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74642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25404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05296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368717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517164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7857565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15600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06438"/>
            <a:ext cx="2073275" cy="54657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575" y="706438"/>
            <a:ext cx="6067425" cy="54657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88761"/>
      </p:ext>
    </p:extLst>
  </p:cSld>
  <p:clrMapOvr>
    <a:masterClrMapping/>
  </p:clrMapOvr>
  <p:transition xmlns:p14="http://schemas.microsoft.com/office/powerpoint/2010/main">
    <p:wipe dir="r"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A09474-340F-BC41-8A3A-536BA08EF4DF}" type="datetimeFigureOut">
              <a:rPr lang="en-US">
                <a:solidFill>
                  <a:srgbClr val="FFFFFF"/>
                </a:solidFill>
                <a:latin typeface="Wingdings 3" charset="0"/>
              </a:rPr>
              <a:pPr>
                <a:defRPr/>
              </a:pPr>
              <a:t>2/13/15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D3BEF7-D286-454B-BA2E-20664024F1EA}" type="slidenum">
              <a:rPr lang="en-US">
                <a:solidFill>
                  <a:srgbClr val="FFFFFF"/>
                </a:solidFill>
                <a:latin typeface="Wingdings 3" charset="0"/>
              </a:rPr>
              <a:pPr>
                <a:defRPr/>
              </a:pPr>
              <a:t>‹#›</a:t>
            </a:fld>
            <a:endParaRPr lang="en-US">
              <a:solidFill>
                <a:srgbClr val="FFFFFF"/>
              </a:solidFill>
              <a:latin typeface="Wingdings 3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337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59.xml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/Relationships>
</file>

<file path=ppt/slideMasters/_rels/slideMaster8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<Relationship Id="rId15" Type="http://schemas.openxmlformats.org/officeDocument/2006/relationships/theme" Target="../theme/theme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3.xml"/><Relationship Id="rId2" Type="http://schemas.openxmlformats.org/officeDocument/2006/relationships/slideLayout" Target="../slideLayouts/slideLayout84.xml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/Relationships>
</file>

<file path=ppt/slideMasters/_rels/slideMaster9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08.xml"/><Relationship Id="rId13" Type="http://schemas.openxmlformats.org/officeDocument/2006/relationships/theme" Target="../theme/theme9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9.xml"/><Relationship Id="rId4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6.xml"/></Relationships>
</file>

<file path=ppt/slideMasters/_rels/slideMaster10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0.xml"/><Relationship Id="rId13" Type="http://schemas.openxmlformats.org/officeDocument/2006/relationships/theme" Target="../theme/theme10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09.xml"/><Relationship Id="rId2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8.xml"/></Relationships>
</file>

<file path=ppt/slideMasters/_rels/slideMaster1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2.xml"/><Relationship Id="rId13" Type="http://schemas.openxmlformats.org/officeDocument/2006/relationships/theme" Target="../theme/theme11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27.xml"/><Relationship Id="rId8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0.xml"/></Relationships>
</file>

<file path=ppt/slideMasters/_rels/slideMaster1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43.xml"/><Relationship Id="rId12" Type="http://schemas.openxmlformats.org/officeDocument/2006/relationships/slideLayout" Target="../slideLayouts/slideLayout144.xml"/><Relationship Id="rId13" Type="http://schemas.openxmlformats.org/officeDocument/2006/relationships/slideLayout" Target="../slideLayouts/slideLayout145.xml"/><Relationship Id="rId14" Type="http://schemas.openxmlformats.org/officeDocument/2006/relationships/slideLayout" Target="../slideLayouts/slideLayout146.xml"/><Relationship Id="rId15" Type="http://schemas.openxmlformats.org/officeDocument/2006/relationships/theme" Target="../theme/theme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7.xml"/><Relationship Id="rId6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140.xml"/><Relationship Id="rId9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42.xml"/></Relationships>
</file>

<file path=ppt/slideMasters/_rels/slideMaster1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57.xml"/><Relationship Id="rId12" Type="http://schemas.openxmlformats.org/officeDocument/2006/relationships/slideLayout" Target="../slideLayouts/slideLayout158.xml"/><Relationship Id="rId13" Type="http://schemas.openxmlformats.org/officeDocument/2006/relationships/theme" Target="../theme/theme13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48.xml"/><Relationship Id="rId3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53.xml"/><Relationship Id="rId8" Type="http://schemas.openxmlformats.org/officeDocument/2006/relationships/slideLayout" Target="../slideLayouts/slideLayout154.xml"/><Relationship Id="rId9" Type="http://schemas.openxmlformats.org/officeDocument/2006/relationships/slideLayout" Target="../slideLayouts/slideLayout155.xml"/><Relationship Id="rId10" Type="http://schemas.openxmlformats.org/officeDocument/2006/relationships/slideLayout" Target="../slideLayouts/slideLayout156.xml"/></Relationships>
</file>

<file path=ppt/slideMasters/_rels/slideMaster1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69.xml"/><Relationship Id="rId12" Type="http://schemas.openxmlformats.org/officeDocument/2006/relationships/slideLayout" Target="../slideLayouts/slideLayout170.xml"/><Relationship Id="rId13" Type="http://schemas.openxmlformats.org/officeDocument/2006/relationships/theme" Target="../theme/theme14.xml"/><Relationship Id="rId14" Type="http://schemas.openxmlformats.org/officeDocument/2006/relationships/image" Target="../media/image4.png"/><Relationship Id="rId1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4.xml"/><Relationship Id="rId7" Type="http://schemas.openxmlformats.org/officeDocument/2006/relationships/slideLayout" Target="../slideLayouts/slideLayout165.xml"/><Relationship Id="rId8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67.xml"/><Relationship Id="rId10" Type="http://schemas.openxmlformats.org/officeDocument/2006/relationships/slideLayout" Target="../slideLayouts/slideLayout1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4" descr="white2b-v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75" y="1482725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28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dirty="0" smtClean="0">
              <a:latin typeface="Times New Roman" charset="0"/>
            </a:endParaRPr>
          </a:p>
        </p:txBody>
      </p:sp>
      <p:sp>
        <p:nvSpPr>
          <p:cNvPr id="1030" name="Rectangle 45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28230D92-32AA-144D-9A41-6D8762977CD0}" type="slidenum">
              <a:rPr lang="en-US" b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>
              <a:solidFill>
                <a:srgbClr val="808080"/>
              </a:solidFill>
            </a:endParaRPr>
          </a:p>
        </p:txBody>
      </p:sp>
      <p:sp>
        <p:nvSpPr>
          <p:cNvPr id="1031" name="Rectangle 46"/>
          <p:cNvSpPr>
            <a:spLocks noChangeArrowheads="1"/>
          </p:cNvSpPr>
          <p:nvPr userDrawn="1"/>
        </p:nvSpPr>
        <p:spPr bwMode="auto">
          <a:xfrm>
            <a:off x="2933700" y="6253163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600" b="0" dirty="0">
                <a:solidFill>
                  <a:srgbClr val="808080"/>
                </a:solidFill>
              </a:rPr>
              <a:t>© Lean Horizons Consulting, LLC </a:t>
            </a:r>
            <a:r>
              <a:rPr lang="en-US" sz="600" b="0" dirty="0" smtClean="0">
                <a:solidFill>
                  <a:srgbClr val="808080"/>
                </a:solidFill>
              </a:rPr>
              <a:t>2015 </a:t>
            </a:r>
            <a:r>
              <a:rPr lang="en-US" sz="600" b="0" dirty="0">
                <a:solidFill>
                  <a:srgbClr val="808080"/>
                </a:solidFill>
              </a:rPr>
              <a:t>All Rights Reserved.</a:t>
            </a:r>
            <a:br>
              <a:rPr lang="en-US" sz="600" b="0" dirty="0">
                <a:solidFill>
                  <a:srgbClr val="808080"/>
                </a:solidFill>
              </a:rPr>
            </a:br>
            <a:r>
              <a:rPr lang="en-US" sz="600" b="0" dirty="0">
                <a:solidFill>
                  <a:srgbClr val="808080"/>
                </a:solidFill>
              </a:rPr>
              <a:t>For the exclusive use of LHC with no reproduction or distribution permitted.</a:t>
            </a:r>
          </a:p>
        </p:txBody>
      </p:sp>
      <p:sp>
        <p:nvSpPr>
          <p:cNvPr id="1032" name="Line 48"/>
          <p:cNvSpPr>
            <a:spLocks noChangeShapeType="1"/>
          </p:cNvSpPr>
          <p:nvPr userDrawn="1"/>
        </p:nvSpPr>
        <p:spPr bwMode="auto">
          <a:xfrm>
            <a:off x="463550" y="1219200"/>
            <a:ext cx="824547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Line 49"/>
          <p:cNvSpPr>
            <a:spLocks noChangeShapeType="1"/>
          </p:cNvSpPr>
          <p:nvPr userDrawn="1"/>
        </p:nvSpPr>
        <p:spPr bwMode="auto">
          <a:xfrm>
            <a:off x="458788" y="6286500"/>
            <a:ext cx="824547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83" r:id="rId1"/>
    <p:sldLayoutId id="2147485565" r:id="rId2"/>
    <p:sldLayoutId id="2147485566" r:id="rId3"/>
    <p:sldLayoutId id="2147485567" r:id="rId4"/>
    <p:sldLayoutId id="2147485568" r:id="rId5"/>
    <p:sldLayoutId id="2147485569" r:id="rId6"/>
    <p:sldLayoutId id="2147485570" r:id="rId7"/>
    <p:sldLayoutId id="2147485571" r:id="rId8"/>
    <p:sldLayoutId id="2147485572" r:id="rId9"/>
    <p:sldLayoutId id="2147485573" r:id="rId10"/>
    <p:sldLayoutId id="2147485574" r:id="rId11"/>
  </p:sldLayoutIdLst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-128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-128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sz="16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sz="1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186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400" b="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86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defRPr sz="1400" b="0">
                <a:solidFill>
                  <a:schemeClr val="tx1"/>
                </a:solidFill>
                <a:latin typeface="Times New Roman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186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400" b="0">
                <a:solidFill>
                  <a:schemeClr val="tx1"/>
                </a:solidFill>
                <a:latin typeface="Times New Roman" charset="0"/>
                <a:cs typeface="Arial" charset="0"/>
              </a:defRPr>
            </a:lvl1pPr>
          </a:lstStyle>
          <a:p>
            <a:pPr>
              <a:defRPr/>
            </a:pPr>
            <a:fld id="{58FECD71-1D4C-3540-8295-5085086D31D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3079" name="Picture 7" descr="tan2-v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84" r:id="rId1"/>
    <p:sldLayoutId id="2147485585" r:id="rId2"/>
    <p:sldLayoutId id="2147485575" r:id="rId3"/>
    <p:sldLayoutId id="2147485576" r:id="rId4"/>
    <p:sldLayoutId id="2147485577" r:id="rId5"/>
    <p:sldLayoutId id="2147485578" r:id="rId6"/>
    <p:sldLayoutId id="2147485579" r:id="rId7"/>
    <p:sldLayoutId id="2147485580" r:id="rId8"/>
    <p:sldLayoutId id="2147485581" r:id="rId9"/>
    <p:sldLayoutId id="2147485582" r:id="rId10"/>
    <p:sldLayoutId id="2147485586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Arial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8F08F127-44A6-864A-8819-3C829906B64F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32" name="Rectangle 49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7C7C7C"/>
              </a:solidFill>
              <a:latin typeface="Wingdings 3" charset="0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</a:p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1900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88" r:id="rId1"/>
    <p:sldLayoutId id="2147485589" r:id="rId2"/>
    <p:sldLayoutId id="2147485590" r:id="rId3"/>
    <p:sldLayoutId id="2147485591" r:id="rId4"/>
    <p:sldLayoutId id="2147485592" r:id="rId5"/>
    <p:sldLayoutId id="2147485593" r:id="rId6"/>
    <p:sldLayoutId id="2147485594" r:id="rId7"/>
    <p:sldLayoutId id="2147485595" r:id="rId8"/>
    <p:sldLayoutId id="2147485596" r:id="rId9"/>
    <p:sldLayoutId id="2147485597" r:id="rId10"/>
    <p:sldLayoutId id="2147485598" r:id="rId11"/>
    <p:sldLayoutId id="2147485599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8F08F127-44A6-864A-8819-3C829906B64F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32" name="Rectangle 49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7C7C7C"/>
              </a:solidFill>
              <a:latin typeface="Wingdings 3" charset="0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</a:p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627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1" r:id="rId1"/>
    <p:sldLayoutId id="2147485602" r:id="rId2"/>
    <p:sldLayoutId id="2147485603" r:id="rId3"/>
    <p:sldLayoutId id="2147485604" r:id="rId4"/>
    <p:sldLayoutId id="2147485605" r:id="rId5"/>
    <p:sldLayoutId id="2147485606" r:id="rId6"/>
    <p:sldLayoutId id="2147485607" r:id="rId7"/>
    <p:sldLayoutId id="2147485608" r:id="rId8"/>
    <p:sldLayoutId id="2147485609" r:id="rId9"/>
    <p:sldLayoutId id="2147485610" r:id="rId10"/>
    <p:sldLayoutId id="2147485611" r:id="rId11"/>
    <p:sldLayoutId id="2147485612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8F08F127-44A6-864A-8819-3C829906B64F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32" name="Rectangle 49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7C7C7C"/>
              </a:solidFill>
              <a:latin typeface="Wingdings 3" charset="0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</a:p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1438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14" r:id="rId1"/>
    <p:sldLayoutId id="2147485615" r:id="rId2"/>
    <p:sldLayoutId id="2147485616" r:id="rId3"/>
    <p:sldLayoutId id="2147485617" r:id="rId4"/>
    <p:sldLayoutId id="2147485618" r:id="rId5"/>
    <p:sldLayoutId id="2147485619" r:id="rId6"/>
    <p:sldLayoutId id="2147485620" r:id="rId7"/>
    <p:sldLayoutId id="2147485621" r:id="rId8"/>
    <p:sldLayoutId id="2147485622" r:id="rId9"/>
    <p:sldLayoutId id="2147485623" r:id="rId10"/>
    <p:sldLayoutId id="2147485624" r:id="rId11"/>
    <p:sldLayoutId id="2147485625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8F08F127-44A6-864A-8819-3C829906B64F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32" name="Rectangle 49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7C7C7C"/>
              </a:solidFill>
              <a:latin typeface="Wingdings 3" charset="0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</a:p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03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  <p:sldLayoutId id="2147485641" r:id="rId2"/>
    <p:sldLayoutId id="2147485642" r:id="rId3"/>
    <p:sldLayoutId id="2147485643" r:id="rId4"/>
    <p:sldLayoutId id="2147485644" r:id="rId5"/>
    <p:sldLayoutId id="2147485645" r:id="rId6"/>
    <p:sldLayoutId id="2147485646" r:id="rId7"/>
    <p:sldLayoutId id="2147485647" r:id="rId8"/>
    <p:sldLayoutId id="2147485648" r:id="rId9"/>
    <p:sldLayoutId id="2147485649" r:id="rId10"/>
    <p:sldLayoutId id="2147485650" r:id="rId11"/>
    <p:sldLayoutId id="2147485651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F2AA5F8E-0476-C747-9EF7-9EF7E6D22C2F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32" name="Rectangle 49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7C7C7C"/>
              </a:solidFill>
              <a:latin typeface="Wingdings 3" charset="0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</a:p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124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53" r:id="rId1"/>
    <p:sldLayoutId id="2147485654" r:id="rId2"/>
    <p:sldLayoutId id="2147485655" r:id="rId3"/>
    <p:sldLayoutId id="2147485656" r:id="rId4"/>
    <p:sldLayoutId id="2147485657" r:id="rId5"/>
    <p:sldLayoutId id="2147485658" r:id="rId6"/>
    <p:sldLayoutId id="2147485659" r:id="rId7"/>
    <p:sldLayoutId id="2147485660" r:id="rId8"/>
    <p:sldLayoutId id="2147485661" r:id="rId9"/>
    <p:sldLayoutId id="2147485662" r:id="rId10"/>
    <p:sldLayoutId id="2147485663" r:id="rId11"/>
    <p:sldLayoutId id="2147485664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9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D5E3C05D-576E-B844-9E18-FD80EA28B48C}" type="slidenum">
              <a:rPr lang="en-US" smtClean="0">
                <a:solidFill>
                  <a:srgbClr val="7C7C7C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smtClean="0">
              <a:solidFill>
                <a:srgbClr val="7C7C7C"/>
              </a:solidFill>
            </a:endParaRPr>
          </a:p>
        </p:txBody>
      </p:sp>
      <p:sp>
        <p:nvSpPr>
          <p:cNvPr id="1027" name="Rectangle 51"/>
          <p:cNvSpPr>
            <a:spLocks noChangeArrowheads="1"/>
          </p:cNvSpPr>
          <p:nvPr/>
        </p:nvSpPr>
        <p:spPr bwMode="auto">
          <a:xfrm>
            <a:off x="2933700" y="6253163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600" smtClean="0">
                <a:solidFill>
                  <a:srgbClr val="7C7C7C"/>
                </a:solidFill>
              </a:rPr>
              <a:t>© Lean Horizons, LLC 2012. All Rights Reserved.</a:t>
            </a:r>
            <a:br>
              <a:rPr lang="en-US" sz="600" smtClean="0">
                <a:solidFill>
                  <a:srgbClr val="7C7C7C"/>
                </a:solidFill>
              </a:rPr>
            </a:br>
            <a:r>
              <a:rPr lang="en-US" sz="600" smtClean="0">
                <a:solidFill>
                  <a:srgbClr val="7C7C7C"/>
                </a:solidFill>
              </a:rPr>
              <a:t>For the exclusive use of LHC with no reproduction or distribution permitted without permission from Lean Horizons Consulting, LLC.</a:t>
            </a: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</a:endParaRPr>
          </a:p>
        </p:txBody>
      </p:sp>
      <p:sp>
        <p:nvSpPr>
          <p:cNvPr id="1029" name="Line 53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</a:endParaRP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477963"/>
            <a:ext cx="8164513" cy="469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1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1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115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66" r:id="rId1"/>
    <p:sldLayoutId id="2147485667" r:id="rId2"/>
    <p:sldLayoutId id="2147485668" r:id="rId3"/>
    <p:sldLayoutId id="2147485669" r:id="rId4"/>
    <p:sldLayoutId id="2147485670" r:id="rId5"/>
    <p:sldLayoutId id="2147485671" r:id="rId6"/>
    <p:sldLayoutId id="2147485672" r:id="rId7"/>
    <p:sldLayoutId id="2147485673" r:id="rId8"/>
    <p:sldLayoutId id="2147485674" r:id="rId9"/>
    <p:sldLayoutId id="2147485675" r:id="rId10"/>
    <p:sldLayoutId id="2147485676" r:id="rId11"/>
    <p:sldLayoutId id="2147485677" r:id="rId12"/>
    <p:sldLayoutId id="2147485678" r:id="rId13"/>
    <p:sldLayoutId id="2147485679" r:id="rId14"/>
  </p:sldLayoutIdLst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sz="1600" b="1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sz="1400" b="1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F2AA5F8E-0476-C747-9EF7-9EF7E6D22C2F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32" name="Rectangle 49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7C7C7C"/>
              </a:solidFill>
              <a:latin typeface="Wingdings 3" charset="0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</a:p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15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81" r:id="rId1"/>
    <p:sldLayoutId id="2147485682" r:id="rId2"/>
    <p:sldLayoutId id="2147485683" r:id="rId3"/>
    <p:sldLayoutId id="2147485684" r:id="rId4"/>
    <p:sldLayoutId id="2147485685" r:id="rId5"/>
    <p:sldLayoutId id="2147485686" r:id="rId6"/>
    <p:sldLayoutId id="2147485687" r:id="rId7"/>
    <p:sldLayoutId id="2147485688" r:id="rId8"/>
    <p:sldLayoutId id="2147485689" r:id="rId9"/>
    <p:sldLayoutId id="2147485690" r:id="rId10"/>
    <p:sldLayoutId id="2147485691" r:id="rId11"/>
    <p:sldLayoutId id="2147485692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F2AA5F8E-0476-C747-9EF7-9EF7E6D22C2F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32" name="Rectangle 49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7C7C7C"/>
              </a:solidFill>
              <a:latin typeface="Wingdings 3" charset="0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</a:p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8252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94" r:id="rId1"/>
    <p:sldLayoutId id="2147485695" r:id="rId2"/>
    <p:sldLayoutId id="2147485696" r:id="rId3"/>
    <p:sldLayoutId id="2147485697" r:id="rId4"/>
    <p:sldLayoutId id="2147485698" r:id="rId5"/>
    <p:sldLayoutId id="2147485699" r:id="rId6"/>
    <p:sldLayoutId id="2147485700" r:id="rId7"/>
    <p:sldLayoutId id="2147485701" r:id="rId8"/>
    <p:sldLayoutId id="2147485702" r:id="rId9"/>
    <p:sldLayoutId id="2147485703" r:id="rId10"/>
    <p:sldLayoutId id="2147485704" r:id="rId11"/>
    <p:sldLayoutId id="2147485705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F2AA5F8E-0476-C747-9EF7-9EF7E6D22C2F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32" name="Rectangle 49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7C7C7C"/>
              </a:solidFill>
              <a:latin typeface="Wingdings 3" charset="0"/>
            </a:endParaRPr>
          </a:p>
        </p:txBody>
      </p:sp>
      <p:sp>
        <p:nvSpPr>
          <p:cNvPr id="13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</a:p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8933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07" r:id="rId1"/>
    <p:sldLayoutId id="2147485708" r:id="rId2"/>
    <p:sldLayoutId id="2147485709" r:id="rId3"/>
    <p:sldLayoutId id="2147485710" r:id="rId4"/>
    <p:sldLayoutId id="2147485711" r:id="rId5"/>
    <p:sldLayoutId id="2147485712" r:id="rId6"/>
    <p:sldLayoutId id="2147485713" r:id="rId7"/>
    <p:sldLayoutId id="2147485714" r:id="rId8"/>
    <p:sldLayoutId id="2147485715" r:id="rId9"/>
    <p:sldLayoutId id="2147485716" r:id="rId10"/>
    <p:sldLayoutId id="2147485717" r:id="rId11"/>
    <p:sldLayoutId id="2147485718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9"/>
          <p:cNvSpPr>
            <a:spLocks noChangeArrowheads="1"/>
          </p:cNvSpPr>
          <p:nvPr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D5E3C05D-576E-B844-9E18-FD80EA28B48C}" type="slidenum">
              <a:rPr lang="en-US" smtClean="0">
                <a:solidFill>
                  <a:srgbClr val="7C7C7C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smtClean="0">
              <a:solidFill>
                <a:srgbClr val="7C7C7C"/>
              </a:solidFill>
            </a:endParaRPr>
          </a:p>
        </p:txBody>
      </p:sp>
      <p:sp>
        <p:nvSpPr>
          <p:cNvPr id="1027" name="Rectangle 51"/>
          <p:cNvSpPr>
            <a:spLocks noChangeArrowheads="1"/>
          </p:cNvSpPr>
          <p:nvPr/>
        </p:nvSpPr>
        <p:spPr bwMode="auto">
          <a:xfrm>
            <a:off x="2933700" y="6253163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600" smtClean="0">
                <a:solidFill>
                  <a:srgbClr val="7C7C7C"/>
                </a:solidFill>
              </a:rPr>
              <a:t>© Lean Horizons, LLC 2012. All Rights Reserved.</a:t>
            </a:r>
            <a:br>
              <a:rPr lang="en-US" sz="600" smtClean="0">
                <a:solidFill>
                  <a:srgbClr val="7C7C7C"/>
                </a:solidFill>
              </a:rPr>
            </a:br>
            <a:r>
              <a:rPr lang="en-US" sz="600" smtClean="0">
                <a:solidFill>
                  <a:srgbClr val="7C7C7C"/>
                </a:solidFill>
              </a:rPr>
              <a:t>For the exclusive use of LHC with no reproduction or distribution permitted without permission from Lean Horizons Consulting, LLC.</a:t>
            </a:r>
          </a:p>
        </p:txBody>
      </p:sp>
      <p:sp>
        <p:nvSpPr>
          <p:cNvPr id="1028" name="Line 52"/>
          <p:cNvSpPr>
            <a:spLocks noChangeShapeType="1"/>
          </p:cNvSpPr>
          <p:nvPr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</a:endParaRPr>
          </a:p>
        </p:txBody>
      </p:sp>
      <p:sp>
        <p:nvSpPr>
          <p:cNvPr id="1029" name="Line 53"/>
          <p:cNvSpPr>
            <a:spLocks noChangeShapeType="1"/>
          </p:cNvSpPr>
          <p:nvPr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endParaRPr lang="en-US" smtClean="0">
              <a:solidFill>
                <a:srgbClr val="FFFFFF"/>
              </a:solidFill>
            </a:endParaRPr>
          </a:p>
        </p:txBody>
      </p:sp>
      <p:sp>
        <p:nvSpPr>
          <p:cNvPr id="103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477963"/>
            <a:ext cx="8164513" cy="469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1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1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SD PRESENTATION ENG REV9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 charset="0"/>
              </a:rPr>
              <a:t>December  2012</a:t>
            </a:r>
          </a:p>
        </p:txBody>
      </p:sp>
      <p:pic>
        <p:nvPicPr>
          <p:cNvPr id="1034" name="Picture 12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835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20" r:id="rId1"/>
    <p:sldLayoutId id="2147485721" r:id="rId2"/>
    <p:sldLayoutId id="2147485722" r:id="rId3"/>
    <p:sldLayoutId id="2147485723" r:id="rId4"/>
    <p:sldLayoutId id="2147485724" r:id="rId5"/>
    <p:sldLayoutId id="2147485725" r:id="rId6"/>
    <p:sldLayoutId id="2147485726" r:id="rId7"/>
    <p:sldLayoutId id="2147485727" r:id="rId8"/>
    <p:sldLayoutId id="2147485728" r:id="rId9"/>
    <p:sldLayoutId id="2147485729" r:id="rId10"/>
    <p:sldLayoutId id="2147485730" r:id="rId11"/>
    <p:sldLayoutId id="2147485731" r:id="rId12"/>
    <p:sldLayoutId id="2147485732" r:id="rId13"/>
    <p:sldLayoutId id="2147485733" r:id="rId14"/>
  </p:sldLayoutIdLst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sz="1600" b="1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90000"/>
        <a:buFont typeface="Wingdings" charset="0"/>
        <a:buChar char="§"/>
        <a:defRPr sz="1400" b="1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82B885F2-FD9F-DC4E-80E5-D085DA886240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 userDrawn="1"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 userDrawn="1"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spcBef>
                <a:spcPct val="30000"/>
              </a:spcBef>
              <a:defRPr/>
            </a:pPr>
            <a:r>
              <a:rPr lang="en-US" sz="600" b="0" dirty="0" smtClean="0">
                <a:solidFill>
                  <a:srgbClr val="808080"/>
                </a:solidFill>
                <a:latin typeface="Arial" charset="0"/>
              </a:rPr>
              <a:t>SD PRESENTATION ENG REV9</a:t>
            </a:r>
            <a:br>
              <a:rPr lang="en-US" sz="600" b="0" dirty="0" smtClean="0">
                <a:solidFill>
                  <a:srgbClr val="808080"/>
                </a:solidFill>
                <a:latin typeface="Arial" charset="0"/>
              </a:rPr>
            </a:br>
            <a:r>
              <a:rPr lang="en-US" sz="600" b="0" dirty="0" smtClean="0">
                <a:solidFill>
                  <a:srgbClr val="808080"/>
                </a:solidFill>
                <a:latin typeface="Arial" charset="0"/>
              </a:rPr>
              <a:t>December 2012</a:t>
            </a:r>
          </a:p>
        </p:txBody>
      </p:sp>
      <p:pic>
        <p:nvPicPr>
          <p:cNvPr id="2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97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48" r:id="rId1"/>
    <p:sldLayoutId id="2147485749" r:id="rId2"/>
    <p:sldLayoutId id="2147485750" r:id="rId3"/>
    <p:sldLayoutId id="2147485751" r:id="rId4"/>
    <p:sldLayoutId id="2147485752" r:id="rId5"/>
    <p:sldLayoutId id="2147485753" r:id="rId6"/>
    <p:sldLayoutId id="2147485754" r:id="rId7"/>
    <p:sldLayoutId id="2147485755" r:id="rId8"/>
    <p:sldLayoutId id="2147485756" r:id="rId9"/>
    <p:sldLayoutId id="2147485757" r:id="rId10"/>
    <p:sldLayoutId id="2147485758" r:id="rId11"/>
    <p:sldLayoutId id="2147485759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8"/>
          <p:cNvSpPr>
            <a:spLocks noChangeArrowheads="1"/>
          </p:cNvSpPr>
          <p:nvPr userDrawn="1"/>
        </p:nvSpPr>
        <p:spPr bwMode="auto">
          <a:xfrm>
            <a:off x="8380413" y="6291263"/>
            <a:ext cx="474662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>
              <a:lnSpc>
                <a:spcPct val="100000"/>
              </a:lnSpc>
              <a:spcBef>
                <a:spcPct val="0"/>
              </a:spcBef>
            </a:pPr>
            <a:fld id="{82B885F2-FD9F-DC4E-80E5-D085DA886240}" type="slidenum">
              <a:rPr lang="en-US" b="0" smtClean="0">
                <a:solidFill>
                  <a:srgbClr val="808080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</a:pPr>
              <a:t>‹#›</a:t>
            </a:fld>
            <a:endParaRPr lang="en-US" b="0" smtClean="0">
              <a:solidFill>
                <a:srgbClr val="808080"/>
              </a:solidFill>
            </a:endParaRPr>
          </a:p>
        </p:txBody>
      </p:sp>
      <p:sp>
        <p:nvSpPr>
          <p:cNvPr id="1027" name="Line 51"/>
          <p:cNvSpPr>
            <a:spLocks noChangeShapeType="1"/>
          </p:cNvSpPr>
          <p:nvPr userDrawn="1"/>
        </p:nvSpPr>
        <p:spPr bwMode="auto">
          <a:xfrm>
            <a:off x="444500" y="1219200"/>
            <a:ext cx="8293100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8" name="Line 52"/>
          <p:cNvSpPr>
            <a:spLocks noChangeShapeType="1"/>
          </p:cNvSpPr>
          <p:nvPr userDrawn="1"/>
        </p:nvSpPr>
        <p:spPr bwMode="auto">
          <a:xfrm>
            <a:off x="439738" y="6286500"/>
            <a:ext cx="8264525" cy="0"/>
          </a:xfrm>
          <a:prstGeom prst="line">
            <a:avLst/>
          </a:prstGeom>
          <a:noFill/>
          <a:ln w="15875">
            <a:solidFill>
              <a:srgbClr val="80808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mtClean="0">
              <a:solidFill>
                <a:srgbClr val="FFFFFF"/>
              </a:solidFill>
              <a:latin typeface="Wingdings 3" charset="0"/>
            </a:endParaRP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0" y="1739900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30" name="Rectangle 26"/>
          <p:cNvSpPr>
            <a:spLocks noGrp="1" noChangeArrowheads="1"/>
          </p:cNvSpPr>
          <p:nvPr>
            <p:ph type="title"/>
          </p:nvPr>
        </p:nvSpPr>
        <p:spPr bwMode="auto">
          <a:xfrm>
            <a:off x="409575" y="706438"/>
            <a:ext cx="8293100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3" name="Text Box 29"/>
          <p:cNvSpPr txBox="1">
            <a:spLocks noChangeArrowheads="1"/>
          </p:cNvSpPr>
          <p:nvPr/>
        </p:nvSpPr>
        <p:spPr bwMode="auto">
          <a:xfrm>
            <a:off x="7467600" y="87313"/>
            <a:ext cx="15875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endParaRPr lang="en-US" sz="1200" i="1" smtClean="0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0" name="Text Box 49"/>
          <p:cNvSpPr txBox="1">
            <a:spLocks noChangeArrowheads="1"/>
          </p:cNvSpPr>
          <p:nvPr userDrawn="1"/>
        </p:nvSpPr>
        <p:spPr bwMode="auto">
          <a:xfrm>
            <a:off x="6608763" y="6423025"/>
            <a:ext cx="18224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 algn="r">
              <a:spcBef>
                <a:spcPct val="30000"/>
              </a:spcBef>
              <a:defRPr/>
            </a:pPr>
            <a:r>
              <a:rPr lang="en-US" sz="600" b="0" dirty="0" smtClean="0">
                <a:solidFill>
                  <a:srgbClr val="808080"/>
                </a:solidFill>
                <a:latin typeface="Arial" charset="0"/>
              </a:rPr>
              <a:t>SD PRESENTATION ENG REV9</a:t>
            </a:r>
            <a:br>
              <a:rPr lang="en-US" sz="600" b="0" dirty="0" smtClean="0">
                <a:solidFill>
                  <a:srgbClr val="808080"/>
                </a:solidFill>
                <a:latin typeface="Arial" charset="0"/>
              </a:rPr>
            </a:br>
            <a:r>
              <a:rPr lang="en-US" sz="600" b="0" dirty="0" smtClean="0">
                <a:solidFill>
                  <a:srgbClr val="808080"/>
                </a:solidFill>
                <a:latin typeface="Arial" charset="0"/>
              </a:rPr>
              <a:t>December 2012</a:t>
            </a:r>
          </a:p>
        </p:txBody>
      </p:sp>
      <p:pic>
        <p:nvPicPr>
          <p:cNvPr id="2" name="Picture 1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6332538"/>
            <a:ext cx="1704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49"/>
          <p:cNvSpPr txBox="1">
            <a:spLocks noChangeArrowheads="1"/>
          </p:cNvSpPr>
          <p:nvPr userDrawn="1"/>
        </p:nvSpPr>
        <p:spPr bwMode="auto">
          <a:xfrm>
            <a:off x="3289300" y="6423025"/>
            <a:ext cx="3170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Wingdings 3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18" charset="2"/>
              </a:defRPr>
            </a:lvl9pPr>
          </a:lstStyle>
          <a:p>
            <a:pPr>
              <a:defRPr/>
            </a:pP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© Lean Horizons, LLC 2012. All Rights Reserved.</a:t>
            </a:r>
            <a:b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</a:br>
            <a:r>
              <a:rPr lang="en-US" sz="600" dirty="0" smtClean="0">
                <a:solidFill>
                  <a:srgbClr val="F8F8F8">
                    <a:lumMod val="50000"/>
                  </a:srgbClr>
                </a:solidFill>
                <a:latin typeface="Arial"/>
              </a:rPr>
              <a:t>For the exclusive use of LHC with no reproduction or distribution permitted without permission from Lean Horizons Consulting, LLC</a:t>
            </a:r>
            <a:endParaRPr lang="en-US" sz="600" dirty="0">
              <a:solidFill>
                <a:srgbClr val="F8F8F8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26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61" r:id="rId1"/>
    <p:sldLayoutId id="2147485762" r:id="rId2"/>
    <p:sldLayoutId id="2147485763" r:id="rId3"/>
    <p:sldLayoutId id="2147485764" r:id="rId4"/>
    <p:sldLayoutId id="2147485765" r:id="rId5"/>
    <p:sldLayoutId id="2147485766" r:id="rId6"/>
    <p:sldLayoutId id="2147485767" r:id="rId7"/>
    <p:sldLayoutId id="2147485768" r:id="rId8"/>
    <p:sldLayoutId id="2147485769" r:id="rId9"/>
    <p:sldLayoutId id="2147485770" r:id="rId10"/>
    <p:sldLayoutId id="2147485771" r:id="rId11"/>
    <p:sldLayoutId id="2147485772" r:id="rId12"/>
  </p:sldLayoutIdLst>
  <p:transition xmlns:p14="http://schemas.microsoft.com/office/powerpoint/2010/main">
    <p:wipe dir="r"/>
  </p:transition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6858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Font typeface="Wingdings" charset="0"/>
        <a:buChar char=""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lnSpc>
          <a:spcPct val="115000"/>
        </a:lnSpc>
        <a:spcBef>
          <a:spcPct val="50000"/>
        </a:spcBef>
        <a:spcAft>
          <a:spcPct val="50000"/>
        </a:spcAft>
        <a:buClr>
          <a:srgbClr val="006699"/>
        </a:buClr>
        <a:buSzPct val="40000"/>
        <a:buChar char="–"/>
        <a:defRPr sz="1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Book Antiqua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8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8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"1.0" encoding="UTF-8" standalone="yes"?>
<Relationships xmlns="http://schemas.openxmlformats.org/package/2006/relationships"><Relationship Id="rId20" Type="http://schemas.openxmlformats.org/officeDocument/2006/relationships/hyperlink" Target="http://www.allergan.com/index.html" TargetMode="External"/><Relationship Id="rId21" Type="http://schemas.openxmlformats.org/officeDocument/2006/relationships/image" Target="../media/image19.png"/><Relationship Id="rId22" Type="http://schemas.openxmlformats.org/officeDocument/2006/relationships/image" Target="../media/image20.jpeg"/><Relationship Id="rId23" Type="http://schemas.openxmlformats.org/officeDocument/2006/relationships/hyperlink" Target="http://www.edwards.com/" TargetMode="External"/><Relationship Id="rId24" Type="http://schemas.openxmlformats.org/officeDocument/2006/relationships/image" Target="../media/image21.png"/><Relationship Id="rId25" Type="http://schemas.openxmlformats.org/officeDocument/2006/relationships/image" Target="../media/image22.png"/><Relationship Id="rId26" Type="http://schemas.openxmlformats.org/officeDocument/2006/relationships/image" Target="../media/image23.jpeg"/><Relationship Id="rId27" Type="http://schemas.openxmlformats.org/officeDocument/2006/relationships/image" Target="../media/image24.png"/><Relationship Id="rId28" Type="http://schemas.openxmlformats.org/officeDocument/2006/relationships/image" Target="../media/image25.jpeg"/><Relationship Id="rId29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://www.newellco.com/newellco/index.jhtml" TargetMode="External"/><Relationship Id="rId30" Type="http://schemas.openxmlformats.org/officeDocument/2006/relationships/image" Target="../media/image27.jpeg"/><Relationship Id="rId31" Type="http://schemas.openxmlformats.org/officeDocument/2006/relationships/hyperlink" Target="http://www.gates.com/index.cfm" TargetMode="External"/><Relationship Id="rId32" Type="http://schemas.openxmlformats.org/officeDocument/2006/relationships/image" Target="../media/image28.png"/><Relationship Id="rId9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hyperlink" Target="../../Local%20Settings/Local%20Settings/Temporary%20Internet%20Files/C.%20Robert%20Hawkey%20III/C.%20Robert%20Hawkey%20III/Local%20Settings/Local%20Settings/Temporary%20Internet%20Files/C.%20Robert%20Hawkey%20III/Local%20Settings/Local%20Settings/C.%20Robert%20Hawkey%20III/Local%20Settings/Documents%20and%20Settings/" TargetMode="External"/><Relationship Id="rId33" Type="http://schemas.openxmlformats.org/officeDocument/2006/relationships/image" Target="../media/image29.png"/><Relationship Id="rId34" Type="http://schemas.openxmlformats.org/officeDocument/2006/relationships/image" Target="../media/image30.png"/><Relationship Id="rId10" Type="http://schemas.openxmlformats.org/officeDocument/2006/relationships/hyperlink" Target="http://www.utc.com/index.htm" TargetMode="External"/><Relationship Id="rId11" Type="http://schemas.openxmlformats.org/officeDocument/2006/relationships/image" Target="../media/image13.png"/><Relationship Id="rId12" Type="http://schemas.openxmlformats.org/officeDocument/2006/relationships/hyperlink" Target="http://www.thecarlylegroup.com/eng/index.html" TargetMode="External"/><Relationship Id="rId13" Type="http://schemas.openxmlformats.org/officeDocument/2006/relationships/image" Target="../media/image14.png"/><Relationship Id="rId14" Type="http://schemas.openxmlformats.org/officeDocument/2006/relationships/hyperlink" Target="http://www.pentair.com/index.html" TargetMode="External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hyperlink" Target="http://www.acuitybrands.com/default.asp" TargetMode="External"/><Relationship Id="rId19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notesSlide" Target="../notesSlides/notesSlide2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0.xml"/><Relationship Id="rId2" Type="http://schemas.openxmlformats.org/officeDocument/2006/relationships/notesSlide" Target="../notesSlides/notesSlide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2" descr="south_pacific-v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474663" y="3524250"/>
            <a:ext cx="8102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dirty="0"/>
              <a:t>Lean Horizons Consulting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sz="2000" dirty="0"/>
          </a:p>
        </p:txBody>
      </p:sp>
      <p:sp>
        <p:nvSpPr>
          <p:cNvPr id="16387" name="Rectangle 4"/>
          <p:cNvSpPr>
            <a:spLocks noChangeArrowheads="1"/>
          </p:cNvSpPr>
          <p:nvPr/>
        </p:nvSpPr>
        <p:spPr bwMode="auto">
          <a:xfrm>
            <a:off x="533400" y="4876800"/>
            <a:ext cx="74676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>
              <a:lnSpc>
                <a:spcPct val="115000"/>
              </a:lnSpc>
              <a:spcBef>
                <a:spcPct val="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charset="0"/>
              <a:buNone/>
            </a:pPr>
            <a:endParaRPr lang="en-GB" sz="1800" b="0"/>
          </a:p>
          <a:p>
            <a:pPr marL="342900" indent="-342900" algn="l">
              <a:lnSpc>
                <a:spcPct val="115000"/>
              </a:lnSpc>
              <a:spcBef>
                <a:spcPct val="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charset="0"/>
              <a:buNone/>
            </a:pPr>
            <a:endParaRPr lang="en-GB" sz="1800"/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525463" y="4964113"/>
            <a:ext cx="8102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sz="2000" dirty="0"/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dirty="0" smtClean="0"/>
              <a:t>February 16, 2015</a:t>
            </a:r>
            <a:endParaRPr lang="en-US" sz="2000" dirty="0"/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sz="2000" dirty="0"/>
          </a:p>
        </p:txBody>
      </p:sp>
      <p:sp>
        <p:nvSpPr>
          <p:cNvPr id="16389" name="Rectangle 3"/>
          <p:cNvSpPr>
            <a:spLocks noChangeArrowheads="1"/>
          </p:cNvSpPr>
          <p:nvPr/>
        </p:nvSpPr>
        <p:spPr bwMode="auto">
          <a:xfrm>
            <a:off x="525463" y="4370388"/>
            <a:ext cx="8102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dirty="0" smtClean="0"/>
              <a:t>Lean Horizons Strategy Deployment Interrogation Approach</a:t>
            </a:r>
          </a:p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dirty="0" smtClean="0"/>
              <a:t>Presented to Mueller Water Products</a:t>
            </a:r>
            <a:endParaRPr lang="en-US" sz="2000" dirty="0"/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sz="2000" dirty="0"/>
          </a:p>
        </p:txBody>
      </p:sp>
    </p:spTree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6"/>
          <p:cNvSpPr>
            <a:spLocks noChangeArrowheads="1"/>
          </p:cNvSpPr>
          <p:nvPr/>
        </p:nvSpPr>
        <p:spPr bwMode="auto">
          <a:xfrm>
            <a:off x="395194" y="2221193"/>
            <a:ext cx="8215313" cy="3444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Lean Horizons Strategy </a:t>
            </a:r>
            <a:r>
              <a:rPr lang="en-US" sz="1800" dirty="0">
                <a:solidFill>
                  <a:schemeClr val="tx1"/>
                </a:solidFill>
              </a:rPr>
              <a:t>Deployment Assessment Approach</a:t>
            </a:r>
          </a:p>
        </p:txBody>
      </p:sp>
      <p:sp>
        <p:nvSpPr>
          <p:cNvPr id="18435" name="Rectangle 2"/>
          <p:cNvSpPr txBox="1">
            <a:spLocks noChangeArrowheads="1"/>
          </p:cNvSpPr>
          <p:nvPr/>
        </p:nvSpPr>
        <p:spPr bwMode="auto">
          <a:xfrm>
            <a:off x="409575" y="782638"/>
            <a:ext cx="8293100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8437" name="Rectangle 16"/>
          <p:cNvSpPr>
            <a:spLocks noChangeArrowheads="1"/>
          </p:cNvSpPr>
          <p:nvPr/>
        </p:nvSpPr>
        <p:spPr bwMode="auto">
          <a:xfrm>
            <a:off x="407894" y="1687793"/>
            <a:ext cx="8215313" cy="344488"/>
          </a:xfrm>
          <a:prstGeom prst="rect">
            <a:avLst/>
          </a:prstGeom>
          <a:solidFill>
            <a:srgbClr val="00009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</a:rPr>
              <a:t>Characteristics of Successful Strategy Deployment</a:t>
            </a: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385114" y="2803744"/>
            <a:ext cx="8215313" cy="3444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</a:rPr>
              <a:t>Introduction to Lean Horizons</a:t>
            </a:r>
          </a:p>
        </p:txBody>
      </p:sp>
    </p:spTree>
    <p:extLst>
      <p:ext uri="{BB962C8B-B14F-4D97-AF65-F5344CB8AC3E}">
        <p14:creationId xmlns:p14="http://schemas.microsoft.com/office/powerpoint/2010/main" val="1675761590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xplosion 1 29"/>
          <p:cNvSpPr/>
          <p:nvPr/>
        </p:nvSpPr>
        <p:spPr bwMode="auto">
          <a:xfrm>
            <a:off x="1490132" y="5063065"/>
            <a:ext cx="6112933" cy="1151467"/>
          </a:xfrm>
          <a:prstGeom prst="irregularSeal1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2000" i="1" dirty="0">
                <a:solidFill>
                  <a:schemeClr val="tx1"/>
                </a:solidFill>
              </a:rPr>
              <a:t>Breakthrough </a:t>
            </a:r>
            <a:r>
              <a:rPr lang="en-US" sz="2000" i="1" dirty="0" smtClean="0">
                <a:solidFill>
                  <a:schemeClr val="tx1"/>
                </a:solidFill>
              </a:rPr>
              <a:t>Results</a:t>
            </a:r>
            <a:endParaRPr lang="en-US" sz="2000" i="1" dirty="0">
              <a:solidFill>
                <a:schemeClr val="tx1"/>
              </a:solidFill>
            </a:endParaRPr>
          </a:p>
        </p:txBody>
      </p:sp>
      <p:sp>
        <p:nvSpPr>
          <p:cNvPr id="21" name="Left Arrow 20"/>
          <p:cNvSpPr/>
          <p:nvPr/>
        </p:nvSpPr>
        <p:spPr>
          <a:xfrm rot="18911995">
            <a:off x="5017596" y="1858659"/>
            <a:ext cx="1641053" cy="427077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2" name="Left Arrow 21"/>
          <p:cNvSpPr/>
          <p:nvPr/>
        </p:nvSpPr>
        <p:spPr>
          <a:xfrm rot="982625" flipH="1">
            <a:off x="1905543" y="2679096"/>
            <a:ext cx="1641053" cy="427077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3" name="Left Arrow 22"/>
          <p:cNvSpPr/>
          <p:nvPr/>
        </p:nvSpPr>
        <p:spPr>
          <a:xfrm flipH="1">
            <a:off x="1864412" y="3579586"/>
            <a:ext cx="1641053" cy="427077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4" name="Left Arrow 23"/>
          <p:cNvSpPr/>
          <p:nvPr/>
        </p:nvSpPr>
        <p:spPr>
          <a:xfrm rot="2688005" flipH="1">
            <a:off x="2465823" y="1892247"/>
            <a:ext cx="1641053" cy="427077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5" name="Left Arrow 24"/>
          <p:cNvSpPr/>
          <p:nvPr/>
        </p:nvSpPr>
        <p:spPr>
          <a:xfrm rot="16200000">
            <a:off x="3962070" y="1840263"/>
            <a:ext cx="1149047" cy="424374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6" name="Left Arrow 25"/>
          <p:cNvSpPr/>
          <p:nvPr/>
        </p:nvSpPr>
        <p:spPr>
          <a:xfrm rot="20617375">
            <a:off x="5455820" y="2679096"/>
            <a:ext cx="1641054" cy="427077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7" name="Left Arrow 26"/>
          <p:cNvSpPr/>
          <p:nvPr/>
        </p:nvSpPr>
        <p:spPr>
          <a:xfrm>
            <a:off x="5601353" y="3587983"/>
            <a:ext cx="1641053" cy="427077"/>
          </a:xfrm>
          <a:prstGeom prst="leftArrow">
            <a:avLst>
              <a:gd name="adj1" fmla="val 60000"/>
              <a:gd name="adj2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ＭＳ Ｐゴシック" charset="0"/>
              </a:rPr>
              <a:t>Characteristics of Successful Strategy Deployment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 flipH="1">
            <a:off x="5723468" y="1369640"/>
            <a:ext cx="1625600" cy="795868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200" dirty="0"/>
              <a:t>Tangible Targets With a </a:t>
            </a:r>
            <a:r>
              <a:rPr lang="en-US" sz="1200" dirty="0" smtClean="0"/>
              <a:t>Cause</a:t>
            </a:r>
            <a:r>
              <a:rPr lang="en-US" sz="1200" dirty="0"/>
              <a:t>-Effect Link to AIPs</a:t>
            </a:r>
          </a:p>
        </p:txBody>
      </p:sp>
      <p:sp>
        <p:nvSpPr>
          <p:cNvPr id="15" name="Rounded Rectangle 14"/>
          <p:cNvSpPr/>
          <p:nvPr/>
        </p:nvSpPr>
        <p:spPr bwMode="auto">
          <a:xfrm flipH="1">
            <a:off x="994836" y="2394086"/>
            <a:ext cx="1613285" cy="795867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200" dirty="0"/>
              <a:t>Proper </a:t>
            </a:r>
            <a:r>
              <a:rPr lang="en-US" sz="1200" dirty="0" smtClean="0"/>
              <a:t>Architecture</a:t>
            </a:r>
            <a:endParaRPr lang="en-US" sz="1200" dirty="0"/>
          </a:p>
        </p:txBody>
      </p:sp>
      <p:sp>
        <p:nvSpPr>
          <p:cNvPr id="16" name="Rounded Rectangle 15"/>
          <p:cNvSpPr/>
          <p:nvPr/>
        </p:nvSpPr>
        <p:spPr bwMode="auto">
          <a:xfrm>
            <a:off x="988678" y="3386666"/>
            <a:ext cx="1625600" cy="795867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200" dirty="0"/>
              <a:t>Detailed Business Case Justifying the Change</a:t>
            </a:r>
          </a:p>
        </p:txBody>
      </p:sp>
      <p:sp>
        <p:nvSpPr>
          <p:cNvPr id="17" name="Rounded Rectangle 16"/>
          <p:cNvSpPr/>
          <p:nvPr/>
        </p:nvSpPr>
        <p:spPr bwMode="auto">
          <a:xfrm>
            <a:off x="1752607" y="1369640"/>
            <a:ext cx="1613285" cy="795868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200" dirty="0"/>
              <a:t>Objectives Tied to Strategy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3731880" y="1369641"/>
            <a:ext cx="1625600" cy="795867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200" dirty="0"/>
              <a:t>Process-Oriented Annual Improvement Priorities (AIPs)</a:t>
            </a:r>
          </a:p>
        </p:txBody>
      </p:sp>
      <p:sp>
        <p:nvSpPr>
          <p:cNvPr id="19" name="Rounded Rectangle 18"/>
          <p:cNvSpPr/>
          <p:nvPr/>
        </p:nvSpPr>
        <p:spPr bwMode="auto">
          <a:xfrm>
            <a:off x="6553209" y="2394086"/>
            <a:ext cx="1625600" cy="795867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200" dirty="0"/>
              <a:t>Appropriate </a:t>
            </a:r>
            <a:r>
              <a:rPr lang="en-US" sz="1200" dirty="0" smtClean="0"/>
              <a:t>Resourcing for </a:t>
            </a:r>
            <a:r>
              <a:rPr lang="en-US" sz="1200" dirty="0" smtClean="0"/>
              <a:t>Execution &amp; Sustainability </a:t>
            </a:r>
            <a:endParaRPr lang="en-US" sz="1200" dirty="0"/>
          </a:p>
        </p:txBody>
      </p:sp>
      <p:sp>
        <p:nvSpPr>
          <p:cNvPr id="20" name="Rounded Rectangle 19"/>
          <p:cNvSpPr/>
          <p:nvPr/>
        </p:nvSpPr>
        <p:spPr bwMode="auto">
          <a:xfrm>
            <a:off x="6553209" y="3386666"/>
            <a:ext cx="1625600" cy="795867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200" dirty="0"/>
              <a:t>Detailed </a:t>
            </a:r>
            <a:r>
              <a:rPr lang="en-US" sz="1200" dirty="0" smtClean="0"/>
              <a:t>&amp; Specific Action Plans      </a:t>
            </a:r>
            <a:endParaRPr lang="en-US" sz="1200" dirty="0"/>
          </a:p>
        </p:txBody>
      </p:sp>
      <p:pic>
        <p:nvPicPr>
          <p:cNvPr id="28" name="Picture 27" descr="Funnel 2.WM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64411">
            <a:off x="3630192" y="3583434"/>
            <a:ext cx="1571268" cy="1586921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589866" y="2727637"/>
            <a:ext cx="1930400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90000"/>
            </a:pPr>
            <a:r>
              <a:rPr lang="en-US" sz="1200" i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Disciplined, Dynamic Governance Monthly Review Process with Problem Solving and Countermeasures</a:t>
            </a:r>
            <a:endParaRPr lang="en-US" sz="1200" i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61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Developing the SD Business Case for Change</a:t>
            </a:r>
          </a:p>
        </p:txBody>
      </p:sp>
      <p:sp>
        <p:nvSpPr>
          <p:cNvPr id="88066" name="Rectangle 3"/>
          <p:cNvSpPr>
            <a:spLocks noChangeArrowheads="1"/>
          </p:cNvSpPr>
          <p:nvPr/>
        </p:nvSpPr>
        <p:spPr bwMode="auto">
          <a:xfrm>
            <a:off x="685800" y="2771775"/>
            <a:ext cx="2286000" cy="256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Description of</a:t>
            </a:r>
            <a:br>
              <a:rPr lang="en-US" sz="1600" smtClean="0">
                <a:solidFill>
                  <a:srgbClr val="000000"/>
                </a:solidFill>
              </a:rPr>
            </a:br>
            <a:r>
              <a:rPr lang="en-US" sz="1600" smtClean="0">
                <a:solidFill>
                  <a:srgbClr val="000000"/>
                </a:solidFill>
              </a:rPr>
              <a:t>Competitive Environment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Current business challenges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Business need clearly articulated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SD tie to Lean Transformation</a:t>
            </a:r>
          </a:p>
        </p:txBody>
      </p:sp>
      <p:sp>
        <p:nvSpPr>
          <p:cNvPr id="88067" name="AutoShape 4"/>
          <p:cNvSpPr>
            <a:spLocks noChangeArrowheads="1"/>
          </p:cNvSpPr>
          <p:nvPr/>
        </p:nvSpPr>
        <p:spPr bwMode="auto">
          <a:xfrm>
            <a:off x="5507038" y="1585913"/>
            <a:ext cx="3197225" cy="1146175"/>
          </a:xfrm>
          <a:prstGeom prst="homePlate">
            <a:avLst>
              <a:gd name="adj" fmla="val 41648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    Present to</a:t>
            </a:r>
            <a:br>
              <a:rPr lang="en-US" sz="1800" smtClean="0">
                <a:solidFill>
                  <a:srgbClr val="FFFFFF"/>
                </a:solidFill>
              </a:rPr>
            </a:br>
            <a:r>
              <a:rPr lang="en-US" sz="1800" smtClean="0">
                <a:solidFill>
                  <a:srgbClr val="FFFFFF"/>
                </a:solidFill>
              </a:rPr>
              <a:t>    Leadership</a:t>
            </a:r>
            <a:br>
              <a:rPr lang="en-US" sz="1800" smtClean="0">
                <a:solidFill>
                  <a:srgbClr val="FFFFFF"/>
                </a:solidFill>
              </a:rPr>
            </a:br>
            <a:r>
              <a:rPr lang="en-US" sz="1800" smtClean="0">
                <a:solidFill>
                  <a:srgbClr val="FFFFFF"/>
                </a:solidFill>
              </a:rPr>
              <a:t>   Team</a:t>
            </a:r>
          </a:p>
        </p:txBody>
      </p:sp>
      <p:sp>
        <p:nvSpPr>
          <p:cNvPr id="88068" name="AutoShape 5"/>
          <p:cNvSpPr>
            <a:spLocks noChangeArrowheads="1"/>
          </p:cNvSpPr>
          <p:nvPr/>
        </p:nvSpPr>
        <p:spPr bwMode="auto">
          <a:xfrm>
            <a:off x="3124200" y="1585913"/>
            <a:ext cx="2795588" cy="1146175"/>
          </a:xfrm>
          <a:prstGeom prst="homePlate">
            <a:avLst>
              <a:gd name="adj" fmla="val 31719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marL="171450"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Articulate </a:t>
            </a:r>
            <a:br>
              <a:rPr lang="en-US" sz="1800" smtClean="0">
                <a:solidFill>
                  <a:srgbClr val="FFFFFF"/>
                </a:solidFill>
              </a:rPr>
            </a:br>
            <a:r>
              <a:rPr lang="en-US" sz="1800" smtClean="0">
                <a:solidFill>
                  <a:srgbClr val="FFFFFF"/>
                </a:solidFill>
              </a:rPr>
              <a:t>the</a:t>
            </a:r>
            <a:br>
              <a:rPr lang="en-US" sz="1800" smtClean="0">
                <a:solidFill>
                  <a:srgbClr val="FFFFFF"/>
                </a:solidFill>
              </a:rPr>
            </a:br>
            <a:r>
              <a:rPr lang="en-US" sz="1800" smtClean="0">
                <a:solidFill>
                  <a:srgbClr val="FFFFFF"/>
                </a:solidFill>
              </a:rPr>
              <a:t>Principles</a:t>
            </a:r>
          </a:p>
        </p:txBody>
      </p:sp>
      <p:sp>
        <p:nvSpPr>
          <p:cNvPr id="88069" name="AutoShape 6"/>
          <p:cNvSpPr>
            <a:spLocks noChangeArrowheads="1"/>
          </p:cNvSpPr>
          <p:nvPr/>
        </p:nvSpPr>
        <p:spPr bwMode="auto">
          <a:xfrm>
            <a:off x="477838" y="1585913"/>
            <a:ext cx="3062287" cy="1146175"/>
          </a:xfrm>
          <a:prstGeom prst="homePlate">
            <a:avLst>
              <a:gd name="adj" fmla="val 38839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Content to</a:t>
            </a:r>
            <a:br>
              <a:rPr lang="en-US" sz="1800" smtClean="0">
                <a:solidFill>
                  <a:srgbClr val="FFFFFF"/>
                </a:solidFill>
              </a:rPr>
            </a:br>
            <a:r>
              <a:rPr lang="en-US" sz="1800" smtClean="0">
                <a:solidFill>
                  <a:srgbClr val="FFFFFF"/>
                </a:solidFill>
              </a:rPr>
              <a:t>Include</a:t>
            </a:r>
          </a:p>
        </p:txBody>
      </p:sp>
      <p:sp>
        <p:nvSpPr>
          <p:cNvPr id="88070" name="Rectangle 7"/>
          <p:cNvSpPr>
            <a:spLocks noChangeArrowheads="1"/>
          </p:cNvSpPr>
          <p:nvPr/>
        </p:nvSpPr>
        <p:spPr bwMode="auto">
          <a:xfrm>
            <a:off x="3200400" y="2747963"/>
            <a:ext cx="2362200" cy="23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Need to be fact-based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Need to be process-focused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Need to focus on the critical few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Need to break paradigms</a:t>
            </a:r>
          </a:p>
        </p:txBody>
      </p:sp>
      <p:sp>
        <p:nvSpPr>
          <p:cNvPr id="88071" name="Rectangle 8"/>
          <p:cNvSpPr>
            <a:spLocks noChangeArrowheads="1"/>
          </p:cNvSpPr>
          <p:nvPr/>
        </p:nvSpPr>
        <p:spPr bwMode="auto">
          <a:xfrm>
            <a:off x="5867400" y="2754313"/>
            <a:ext cx="2286000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Output will be presented by you during Introduction of Top Level Workshop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Solicit comments and questions</a:t>
            </a:r>
          </a:p>
        </p:txBody>
      </p:sp>
    </p:spTree>
    <p:extLst>
      <p:ext uri="{BB962C8B-B14F-4D97-AF65-F5344CB8AC3E}">
        <p14:creationId xmlns:p14="http://schemas.microsoft.com/office/powerpoint/2010/main" val="735740628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Breakthrough Objectives Defined</a:t>
            </a:r>
          </a:p>
        </p:txBody>
      </p:sp>
      <p:sp>
        <p:nvSpPr>
          <p:cNvPr id="51202" name="Rectangle 7"/>
          <p:cNvSpPr>
            <a:spLocks noChangeArrowheads="1"/>
          </p:cNvSpPr>
          <p:nvPr/>
        </p:nvSpPr>
        <p:spPr bwMode="auto">
          <a:xfrm>
            <a:off x="3287713" y="2392924"/>
            <a:ext cx="2554287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Focus the entire organization and its resources to the strategic few imperatives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Enable the business to profitably grow and compete and win in the marketplace</a:t>
            </a:r>
          </a:p>
        </p:txBody>
      </p:sp>
      <p:sp>
        <p:nvSpPr>
          <p:cNvPr id="51203" name="Rectangle 8"/>
          <p:cNvSpPr>
            <a:spLocks noChangeArrowheads="1"/>
          </p:cNvSpPr>
          <p:nvPr/>
        </p:nvSpPr>
        <p:spPr bwMode="auto">
          <a:xfrm>
            <a:off x="5770563" y="2392924"/>
            <a:ext cx="2474912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Are typically 3 – 5 year objectives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Clr>
                <a:srgbClr val="006699"/>
              </a:buClr>
              <a:buSzPct val="40000"/>
              <a:buFont typeface="Wingdings" charset="0"/>
              <a:buChar char="n"/>
            </a:pPr>
            <a:endParaRPr lang="en-US" sz="1600" smtClean="0">
              <a:solidFill>
                <a:srgbClr val="000000"/>
              </a:solidFill>
            </a:endParaRPr>
          </a:p>
        </p:txBody>
      </p:sp>
      <p:sp>
        <p:nvSpPr>
          <p:cNvPr id="51204" name="Rectangle 9"/>
          <p:cNvSpPr>
            <a:spLocks noChangeArrowheads="1"/>
          </p:cNvSpPr>
          <p:nvPr/>
        </p:nvSpPr>
        <p:spPr bwMode="auto">
          <a:xfrm>
            <a:off x="555625" y="2392924"/>
            <a:ext cx="2643188" cy="297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 Align with a business</a:t>
            </a:r>
            <a:r>
              <a:rPr lang="ja-JP" altLang="en-US" sz="1600" dirty="0" smtClean="0">
                <a:solidFill>
                  <a:srgbClr val="000000"/>
                </a:solidFill>
              </a:rPr>
              <a:t>’</a:t>
            </a:r>
            <a:r>
              <a:rPr lang="en-US" altLang="ja-JP" sz="1600" dirty="0" smtClean="0">
                <a:solidFill>
                  <a:srgbClr val="000000"/>
                </a:solidFill>
              </a:rPr>
              <a:t>                         strategic imperatives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Represent a </a:t>
            </a:r>
            <a:r>
              <a:rPr lang="en-US" sz="1600" i="1" dirty="0" smtClean="0">
                <a:solidFill>
                  <a:srgbClr val="000000"/>
                </a:solidFill>
              </a:rPr>
              <a:t>significant </a:t>
            </a:r>
            <a:r>
              <a:rPr lang="en-US" sz="1600" dirty="0" smtClean="0">
                <a:solidFill>
                  <a:srgbClr val="000000"/>
                </a:solidFill>
              </a:rPr>
              <a:t>performance improvement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Require organization to stretch itself to reach sustainable levels of performance never attained before</a:t>
            </a:r>
          </a:p>
        </p:txBody>
      </p:sp>
      <p:sp>
        <p:nvSpPr>
          <p:cNvPr id="51205" name="AutoShape 12"/>
          <p:cNvSpPr>
            <a:spLocks noChangeArrowheads="1"/>
          </p:cNvSpPr>
          <p:nvPr/>
        </p:nvSpPr>
        <p:spPr bwMode="auto">
          <a:xfrm>
            <a:off x="5553075" y="1606550"/>
            <a:ext cx="3003550" cy="625475"/>
          </a:xfrm>
          <a:prstGeom prst="homePlate">
            <a:avLst>
              <a:gd name="adj" fmla="val 75098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algn="l"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                 Length</a:t>
            </a:r>
          </a:p>
        </p:txBody>
      </p:sp>
      <p:sp>
        <p:nvSpPr>
          <p:cNvPr id="51206" name="AutoShape 13"/>
          <p:cNvSpPr>
            <a:spLocks noChangeArrowheads="1"/>
          </p:cNvSpPr>
          <p:nvPr/>
        </p:nvSpPr>
        <p:spPr bwMode="auto">
          <a:xfrm>
            <a:off x="3228975" y="1606550"/>
            <a:ext cx="2744788" cy="625475"/>
          </a:xfrm>
          <a:prstGeom prst="homePlate">
            <a:avLst>
              <a:gd name="adj" fmla="val 57069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marL="171450"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51207" name="AutoShape 14"/>
          <p:cNvSpPr>
            <a:spLocks noChangeArrowheads="1"/>
          </p:cNvSpPr>
          <p:nvPr/>
        </p:nvSpPr>
        <p:spPr bwMode="auto">
          <a:xfrm>
            <a:off x="493713" y="1606550"/>
            <a:ext cx="3173412" cy="625475"/>
          </a:xfrm>
          <a:prstGeom prst="homePlate">
            <a:avLst>
              <a:gd name="adj" fmla="val 73755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51208" name="AutoShape 16"/>
          <p:cNvSpPr>
            <a:spLocks noChangeArrowheads="1"/>
          </p:cNvSpPr>
          <p:nvPr/>
        </p:nvSpPr>
        <p:spPr bwMode="auto">
          <a:xfrm>
            <a:off x="469900" y="5634038"/>
            <a:ext cx="8204200" cy="520700"/>
          </a:xfrm>
          <a:prstGeom prst="homePlate">
            <a:avLst>
              <a:gd name="adj" fmla="val 32169"/>
            </a:avLst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Breakthrough Objectives align the organization to the critical few.</a:t>
            </a:r>
          </a:p>
        </p:txBody>
      </p:sp>
    </p:spTree>
    <p:extLst>
      <p:ext uri="{BB962C8B-B14F-4D97-AF65-F5344CB8AC3E}">
        <p14:creationId xmlns:p14="http://schemas.microsoft.com/office/powerpoint/2010/main" val="3391962496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  <a:ea typeface="ＭＳ Ｐゴシック" charset="0"/>
              </a:rPr>
              <a:t>Breakthrough Priorities - Strategy </a:t>
            </a:r>
            <a:r>
              <a:rPr lang="en-US" dirty="0">
                <a:latin typeface="Arial" charset="0"/>
                <a:ea typeface="ＭＳ Ｐゴシック" charset="0"/>
              </a:rPr>
              <a:t>Deployment vs</a:t>
            </a:r>
            <a:r>
              <a:rPr lang="en-US" dirty="0" smtClean="0">
                <a:latin typeface="Arial" charset="0"/>
                <a:ea typeface="ＭＳ Ｐゴシック" charset="0"/>
              </a:rPr>
              <a:t>. Daily Mgmt.</a:t>
            </a:r>
            <a:endParaRPr lang="en-US" dirty="0">
              <a:latin typeface="Arial" charset="0"/>
              <a:ea typeface="ＭＳ Ｐゴシック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157737"/>
              </p:ext>
            </p:extLst>
          </p:nvPr>
        </p:nvGraphicFramePr>
        <p:xfrm>
          <a:off x="406400" y="1397000"/>
          <a:ext cx="85344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705099"/>
                <a:gridCol w="2984501"/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Criteria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SD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Daily</a:t>
                      </a:r>
                      <a:r>
                        <a:rPr lang="en-US" sz="1800" baseline="0" dirty="0" smtClean="0"/>
                        <a:t> Mgmt.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Focus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ON the Business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 the Business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People/Teams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Multi-Functional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Functional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Initiatives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Strategic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Tactical/Daily Management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Scope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Narrow &amp; Deep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Wide/Across Enterprise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Metrics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Few</a:t>
                      </a:r>
                      <a:r>
                        <a:rPr lang="en-US" sz="1800" baseline="0" dirty="0" smtClean="0"/>
                        <a:t> – Strategic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Many – KPI’s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Improvement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Breakthrough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Incremental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Financial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Beyond Budget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Budget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Involvement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Select Few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All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Impact on Strategy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80%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20%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Review Cycle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Monthly/Weekly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Daily/Hourly</a:t>
                      </a:r>
                      <a:endParaRPr lang="en-US" sz="1800" dirty="0"/>
                    </a:p>
                  </a:txBody>
                  <a:tcPr marT="45717" marB="45717"/>
                </a:tc>
              </a:tr>
              <a:tr h="37081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Management Focus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Senior</a:t>
                      </a:r>
                      <a:endParaRPr lang="en-US" sz="1800" dirty="0"/>
                    </a:p>
                  </a:txBody>
                  <a:tcPr marT="45717" marB="45717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Middle &amp; Below</a:t>
                      </a:r>
                      <a:endParaRPr lang="en-US" sz="1800" dirty="0"/>
                    </a:p>
                  </a:txBody>
                  <a:tcPr marT="45717" marB="45717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616340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Footer Placeholder 1"/>
          <p:cNvSpPr>
            <a:spLocks noGrp="1"/>
          </p:cNvSpPr>
          <p:nvPr>
            <p:ph type="ftr" sz="quarter" idx="4294967295"/>
          </p:nvPr>
        </p:nvSpPr>
        <p:spPr bwMode="auto">
          <a:xfrm>
            <a:off x="5538788" y="6346825"/>
            <a:ext cx="3605212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© Lean Horizons, LLC 2004. All Rights Reserved.</a:t>
            </a:r>
          </a:p>
        </p:txBody>
      </p:sp>
      <p:grpSp>
        <p:nvGrpSpPr>
          <p:cNvPr id="70658" name="Group 5"/>
          <p:cNvGrpSpPr>
            <a:grpSpLocks/>
          </p:cNvGrpSpPr>
          <p:nvPr/>
        </p:nvGrpSpPr>
        <p:grpSpPr bwMode="auto">
          <a:xfrm>
            <a:off x="174625" y="1785938"/>
            <a:ext cx="1649413" cy="1892300"/>
            <a:chOff x="528" y="1248"/>
            <a:chExt cx="864" cy="480"/>
          </a:xfrm>
        </p:grpSpPr>
        <p:sp>
          <p:nvSpPr>
            <p:cNvPr id="70750" name="Rectangle 6"/>
            <p:cNvSpPr>
              <a:spLocks noChangeArrowheads="1"/>
            </p:cNvSpPr>
            <p:nvPr/>
          </p:nvSpPr>
          <p:spPr bwMode="auto">
            <a:xfrm>
              <a:off x="528" y="1248"/>
              <a:ext cx="864" cy="48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51" name="Line 7"/>
            <p:cNvSpPr>
              <a:spLocks noChangeShapeType="1"/>
            </p:cNvSpPr>
            <p:nvPr/>
          </p:nvSpPr>
          <p:spPr bwMode="auto">
            <a:xfrm flipH="1">
              <a:off x="528" y="1248"/>
              <a:ext cx="86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52" name="Line 8"/>
            <p:cNvSpPr>
              <a:spLocks noChangeShapeType="1"/>
            </p:cNvSpPr>
            <p:nvPr/>
          </p:nvSpPr>
          <p:spPr bwMode="auto">
            <a:xfrm>
              <a:off x="528" y="1248"/>
              <a:ext cx="86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59" name="Text Box 9"/>
          <p:cNvSpPr txBox="1">
            <a:spLocks noChangeArrowheads="1"/>
          </p:cNvSpPr>
          <p:nvPr/>
        </p:nvSpPr>
        <p:spPr bwMode="auto">
          <a:xfrm>
            <a:off x="484188" y="3184525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Stakeholder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60" name="Text Box 13"/>
          <p:cNvSpPr txBox="1">
            <a:spLocks noChangeArrowheads="1"/>
          </p:cNvSpPr>
          <p:nvPr/>
        </p:nvSpPr>
        <p:spPr bwMode="auto">
          <a:xfrm>
            <a:off x="179388" y="1381125"/>
            <a:ext cx="16494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Corporate Top Level</a:t>
            </a:r>
          </a:p>
        </p:txBody>
      </p:sp>
      <p:grpSp>
        <p:nvGrpSpPr>
          <p:cNvPr id="70661" name="Group 15"/>
          <p:cNvGrpSpPr>
            <a:grpSpLocks/>
          </p:cNvGrpSpPr>
          <p:nvPr/>
        </p:nvGrpSpPr>
        <p:grpSpPr bwMode="auto">
          <a:xfrm>
            <a:off x="165100" y="4092575"/>
            <a:ext cx="1612900" cy="2027238"/>
            <a:chOff x="528" y="1248"/>
            <a:chExt cx="864" cy="480"/>
          </a:xfrm>
        </p:grpSpPr>
        <p:sp>
          <p:nvSpPr>
            <p:cNvPr id="70747" name="Rectangle 16"/>
            <p:cNvSpPr>
              <a:spLocks noChangeArrowheads="1"/>
            </p:cNvSpPr>
            <p:nvPr/>
          </p:nvSpPr>
          <p:spPr bwMode="auto">
            <a:xfrm>
              <a:off x="528" y="1248"/>
              <a:ext cx="864" cy="48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48" name="Line 17"/>
            <p:cNvSpPr>
              <a:spLocks noChangeShapeType="1"/>
            </p:cNvSpPr>
            <p:nvPr/>
          </p:nvSpPr>
          <p:spPr bwMode="auto">
            <a:xfrm flipH="1">
              <a:off x="528" y="1248"/>
              <a:ext cx="86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9" name="Line 18"/>
            <p:cNvSpPr>
              <a:spLocks noChangeShapeType="1"/>
            </p:cNvSpPr>
            <p:nvPr/>
          </p:nvSpPr>
          <p:spPr bwMode="auto">
            <a:xfrm>
              <a:off x="528" y="1248"/>
              <a:ext cx="86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62" name="Rectangle 34"/>
          <p:cNvSpPr>
            <a:spLocks noChangeArrowheads="1"/>
          </p:cNvSpPr>
          <p:nvPr/>
        </p:nvSpPr>
        <p:spPr bwMode="auto">
          <a:xfrm>
            <a:off x="2198688" y="4067175"/>
            <a:ext cx="1450975" cy="2078038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3" name="Line 35"/>
          <p:cNvSpPr>
            <a:spLocks noChangeShapeType="1"/>
          </p:cNvSpPr>
          <p:nvPr/>
        </p:nvSpPr>
        <p:spPr bwMode="auto">
          <a:xfrm flipH="1">
            <a:off x="2197100" y="4083050"/>
            <a:ext cx="1441450" cy="2051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4" name="Line 36"/>
          <p:cNvSpPr>
            <a:spLocks noChangeShapeType="1"/>
          </p:cNvSpPr>
          <p:nvPr/>
        </p:nvSpPr>
        <p:spPr bwMode="auto">
          <a:xfrm>
            <a:off x="2197100" y="4070350"/>
            <a:ext cx="1441450" cy="2063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5" name="Text Box 41"/>
          <p:cNvSpPr txBox="1">
            <a:spLocks noChangeArrowheads="1"/>
          </p:cNvSpPr>
          <p:nvPr/>
        </p:nvSpPr>
        <p:spPr bwMode="auto">
          <a:xfrm>
            <a:off x="2171700" y="1406525"/>
            <a:ext cx="14573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Region Top Level  </a:t>
            </a:r>
          </a:p>
        </p:txBody>
      </p:sp>
      <p:sp>
        <p:nvSpPr>
          <p:cNvPr id="70666" name="Text Box 42"/>
          <p:cNvSpPr txBox="1">
            <a:spLocks noChangeArrowheads="1"/>
          </p:cNvSpPr>
          <p:nvPr/>
        </p:nvSpPr>
        <p:spPr bwMode="auto">
          <a:xfrm>
            <a:off x="2200275" y="3711575"/>
            <a:ext cx="142875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Region Second Levels</a:t>
            </a:r>
          </a:p>
        </p:txBody>
      </p:sp>
      <p:sp>
        <p:nvSpPr>
          <p:cNvPr id="70667" name="Rectangle 45"/>
          <p:cNvSpPr>
            <a:spLocks noChangeArrowheads="1"/>
          </p:cNvSpPr>
          <p:nvPr/>
        </p:nvSpPr>
        <p:spPr bwMode="auto">
          <a:xfrm>
            <a:off x="3887788" y="1746250"/>
            <a:ext cx="1474787" cy="1955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68" name="Line 46"/>
          <p:cNvSpPr>
            <a:spLocks noChangeShapeType="1"/>
          </p:cNvSpPr>
          <p:nvPr/>
        </p:nvSpPr>
        <p:spPr bwMode="auto">
          <a:xfrm flipH="1">
            <a:off x="3898900" y="1752600"/>
            <a:ext cx="1454150" cy="1936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69" name="Line 47"/>
          <p:cNvSpPr>
            <a:spLocks noChangeShapeType="1"/>
          </p:cNvSpPr>
          <p:nvPr/>
        </p:nvSpPr>
        <p:spPr bwMode="auto">
          <a:xfrm>
            <a:off x="3892550" y="1758950"/>
            <a:ext cx="1466850" cy="193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0" name="Rectangle 54"/>
          <p:cNvSpPr>
            <a:spLocks noChangeArrowheads="1"/>
          </p:cNvSpPr>
          <p:nvPr/>
        </p:nvSpPr>
        <p:spPr bwMode="auto">
          <a:xfrm>
            <a:off x="3900488" y="4102100"/>
            <a:ext cx="1474787" cy="2090738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671" name="Line 55"/>
          <p:cNvSpPr>
            <a:spLocks noChangeShapeType="1"/>
          </p:cNvSpPr>
          <p:nvPr/>
        </p:nvSpPr>
        <p:spPr bwMode="auto">
          <a:xfrm flipH="1">
            <a:off x="3924300" y="4102100"/>
            <a:ext cx="1441450" cy="2076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2" name="Line 56"/>
          <p:cNvSpPr>
            <a:spLocks noChangeShapeType="1"/>
          </p:cNvSpPr>
          <p:nvPr/>
        </p:nvSpPr>
        <p:spPr bwMode="auto">
          <a:xfrm>
            <a:off x="3911600" y="4108450"/>
            <a:ext cx="1466850" cy="207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3" name="Text Box 61"/>
          <p:cNvSpPr txBox="1">
            <a:spLocks noChangeArrowheads="1"/>
          </p:cNvSpPr>
          <p:nvPr/>
        </p:nvSpPr>
        <p:spPr bwMode="auto">
          <a:xfrm>
            <a:off x="3871913" y="1393825"/>
            <a:ext cx="1500187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Group Top Level</a:t>
            </a:r>
          </a:p>
        </p:txBody>
      </p:sp>
      <p:sp>
        <p:nvSpPr>
          <p:cNvPr id="70674" name="Text Box 62"/>
          <p:cNvSpPr txBox="1">
            <a:spLocks noChangeArrowheads="1"/>
          </p:cNvSpPr>
          <p:nvPr/>
        </p:nvSpPr>
        <p:spPr bwMode="auto">
          <a:xfrm>
            <a:off x="3886200" y="3722688"/>
            <a:ext cx="15001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Group Second Levels</a:t>
            </a:r>
          </a:p>
        </p:txBody>
      </p:sp>
      <p:sp>
        <p:nvSpPr>
          <p:cNvPr id="70675" name="Text Box 63"/>
          <p:cNvSpPr txBox="1">
            <a:spLocks noChangeArrowheads="1"/>
          </p:cNvSpPr>
          <p:nvPr/>
        </p:nvSpPr>
        <p:spPr bwMode="auto">
          <a:xfrm>
            <a:off x="171450" y="3729038"/>
            <a:ext cx="16144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Corporate Second Levels</a:t>
            </a:r>
          </a:p>
        </p:txBody>
      </p:sp>
      <p:grpSp>
        <p:nvGrpSpPr>
          <p:cNvPr id="70676" name="Group 24"/>
          <p:cNvGrpSpPr>
            <a:grpSpLocks/>
          </p:cNvGrpSpPr>
          <p:nvPr/>
        </p:nvGrpSpPr>
        <p:grpSpPr bwMode="auto">
          <a:xfrm>
            <a:off x="2173288" y="1758950"/>
            <a:ext cx="1450975" cy="1930400"/>
            <a:chOff x="528" y="1248"/>
            <a:chExt cx="864" cy="480"/>
          </a:xfrm>
        </p:grpSpPr>
        <p:sp>
          <p:nvSpPr>
            <p:cNvPr id="70744" name="Rectangle 25"/>
            <p:cNvSpPr>
              <a:spLocks noChangeArrowheads="1"/>
            </p:cNvSpPr>
            <p:nvPr/>
          </p:nvSpPr>
          <p:spPr bwMode="auto">
            <a:xfrm>
              <a:off x="528" y="1248"/>
              <a:ext cx="864" cy="48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45" name="Line 26"/>
            <p:cNvSpPr>
              <a:spLocks noChangeShapeType="1"/>
            </p:cNvSpPr>
            <p:nvPr/>
          </p:nvSpPr>
          <p:spPr bwMode="auto">
            <a:xfrm flipH="1">
              <a:off x="528" y="1248"/>
              <a:ext cx="86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6" name="Line 27"/>
            <p:cNvSpPr>
              <a:spLocks noChangeShapeType="1"/>
            </p:cNvSpPr>
            <p:nvPr/>
          </p:nvSpPr>
          <p:spPr bwMode="auto">
            <a:xfrm>
              <a:off x="528" y="1248"/>
              <a:ext cx="86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677" name="Text Box 67"/>
          <p:cNvSpPr txBox="1">
            <a:spLocks noChangeArrowheads="1"/>
          </p:cNvSpPr>
          <p:nvPr/>
        </p:nvSpPr>
        <p:spPr bwMode="auto">
          <a:xfrm>
            <a:off x="0" y="2543175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Corporate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78" name="Text Box 68"/>
          <p:cNvSpPr txBox="1">
            <a:spLocks noChangeArrowheads="1"/>
          </p:cNvSpPr>
          <p:nvPr/>
        </p:nvSpPr>
        <p:spPr bwMode="auto">
          <a:xfrm>
            <a:off x="469900" y="1828800"/>
            <a:ext cx="10445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Corporate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79" name="Text Box 69"/>
          <p:cNvSpPr txBox="1">
            <a:spLocks noChangeArrowheads="1"/>
          </p:cNvSpPr>
          <p:nvPr/>
        </p:nvSpPr>
        <p:spPr bwMode="auto">
          <a:xfrm>
            <a:off x="920750" y="2565400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Corporate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680" name="Text Box 71"/>
          <p:cNvSpPr txBox="1">
            <a:spLocks noChangeArrowheads="1"/>
          </p:cNvSpPr>
          <p:nvPr/>
        </p:nvSpPr>
        <p:spPr bwMode="auto">
          <a:xfrm>
            <a:off x="463550" y="5588000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Corporate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81" name="Text Box 72"/>
          <p:cNvSpPr txBox="1">
            <a:spLocks noChangeArrowheads="1"/>
          </p:cNvSpPr>
          <p:nvPr/>
        </p:nvSpPr>
        <p:spPr bwMode="auto">
          <a:xfrm>
            <a:off x="-12700" y="4759325"/>
            <a:ext cx="10445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Corporate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82" name="Text Box 73"/>
          <p:cNvSpPr txBox="1">
            <a:spLocks noChangeArrowheads="1"/>
          </p:cNvSpPr>
          <p:nvPr/>
        </p:nvSpPr>
        <p:spPr bwMode="auto">
          <a:xfrm>
            <a:off x="374650" y="4137025"/>
            <a:ext cx="120332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Level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 Corporate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83" name="Text Box 74"/>
          <p:cNvSpPr txBox="1">
            <a:spLocks noChangeArrowheads="1"/>
          </p:cNvSpPr>
          <p:nvPr/>
        </p:nvSpPr>
        <p:spPr bwMode="auto">
          <a:xfrm>
            <a:off x="909638" y="4943475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Corporate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684" name="Text Box 75"/>
          <p:cNvSpPr txBox="1">
            <a:spLocks noChangeArrowheads="1"/>
          </p:cNvSpPr>
          <p:nvPr/>
        </p:nvSpPr>
        <p:spPr bwMode="auto">
          <a:xfrm>
            <a:off x="2389188" y="3167063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Corporate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85" name="Text Box 76"/>
          <p:cNvSpPr txBox="1">
            <a:spLocks noChangeArrowheads="1"/>
          </p:cNvSpPr>
          <p:nvPr/>
        </p:nvSpPr>
        <p:spPr bwMode="auto">
          <a:xfrm>
            <a:off x="1966913" y="2508250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Region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86" name="Text Box 77"/>
          <p:cNvSpPr txBox="1">
            <a:spLocks noChangeArrowheads="1"/>
          </p:cNvSpPr>
          <p:nvPr/>
        </p:nvSpPr>
        <p:spPr bwMode="auto">
          <a:xfrm>
            <a:off x="2381250" y="1758950"/>
            <a:ext cx="1028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Region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87" name="Text Box 78"/>
          <p:cNvSpPr txBox="1">
            <a:spLocks noChangeArrowheads="1"/>
          </p:cNvSpPr>
          <p:nvPr/>
        </p:nvSpPr>
        <p:spPr bwMode="auto">
          <a:xfrm>
            <a:off x="2965450" y="2535238"/>
            <a:ext cx="6731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Region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688" name="Text Box 79"/>
          <p:cNvSpPr txBox="1">
            <a:spLocks noChangeArrowheads="1"/>
          </p:cNvSpPr>
          <p:nvPr/>
        </p:nvSpPr>
        <p:spPr bwMode="auto">
          <a:xfrm>
            <a:off x="2403475" y="5686425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Region 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89" name="Text Box 80"/>
          <p:cNvSpPr txBox="1">
            <a:spLocks noChangeArrowheads="1"/>
          </p:cNvSpPr>
          <p:nvPr/>
        </p:nvSpPr>
        <p:spPr bwMode="auto">
          <a:xfrm>
            <a:off x="1978025" y="4740275"/>
            <a:ext cx="93662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Region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90" name="Text Box 81"/>
          <p:cNvSpPr txBox="1">
            <a:spLocks noChangeArrowheads="1"/>
          </p:cNvSpPr>
          <p:nvPr/>
        </p:nvSpPr>
        <p:spPr bwMode="auto">
          <a:xfrm>
            <a:off x="2357438" y="4156075"/>
            <a:ext cx="120332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Region 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91" name="Text Box 82"/>
          <p:cNvSpPr txBox="1">
            <a:spLocks noChangeArrowheads="1"/>
          </p:cNvSpPr>
          <p:nvPr/>
        </p:nvSpPr>
        <p:spPr bwMode="auto">
          <a:xfrm>
            <a:off x="2843213" y="4945063"/>
            <a:ext cx="1044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Region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692" name="Text Box 83"/>
          <p:cNvSpPr txBox="1">
            <a:spLocks noChangeArrowheads="1"/>
          </p:cNvSpPr>
          <p:nvPr/>
        </p:nvSpPr>
        <p:spPr bwMode="auto">
          <a:xfrm>
            <a:off x="4081463" y="3155950"/>
            <a:ext cx="11064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Region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93" name="Text Box 84"/>
          <p:cNvSpPr txBox="1">
            <a:spLocks noChangeArrowheads="1"/>
          </p:cNvSpPr>
          <p:nvPr/>
        </p:nvSpPr>
        <p:spPr bwMode="auto">
          <a:xfrm>
            <a:off x="3706813" y="2481263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Group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94" name="Text Box 85"/>
          <p:cNvSpPr txBox="1">
            <a:spLocks noChangeArrowheads="1"/>
          </p:cNvSpPr>
          <p:nvPr/>
        </p:nvSpPr>
        <p:spPr bwMode="auto">
          <a:xfrm>
            <a:off x="4060825" y="1803400"/>
            <a:ext cx="104457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Group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95" name="Text Box 86"/>
          <p:cNvSpPr txBox="1">
            <a:spLocks noChangeArrowheads="1"/>
          </p:cNvSpPr>
          <p:nvPr/>
        </p:nvSpPr>
        <p:spPr bwMode="auto">
          <a:xfrm>
            <a:off x="4556125" y="2527300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Group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696" name="Text Box 87"/>
          <p:cNvSpPr txBox="1">
            <a:spLocks noChangeArrowheads="1"/>
          </p:cNvSpPr>
          <p:nvPr/>
        </p:nvSpPr>
        <p:spPr bwMode="auto">
          <a:xfrm>
            <a:off x="4116388" y="5562600"/>
            <a:ext cx="1044575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Group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.  Level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697" name="Text Box 88"/>
          <p:cNvSpPr txBox="1">
            <a:spLocks noChangeArrowheads="1"/>
          </p:cNvSpPr>
          <p:nvPr/>
        </p:nvSpPr>
        <p:spPr bwMode="auto">
          <a:xfrm>
            <a:off x="3695700" y="4767263"/>
            <a:ext cx="9144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Group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Improve-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98" name="Text Box 89"/>
          <p:cNvSpPr txBox="1">
            <a:spLocks noChangeArrowheads="1"/>
          </p:cNvSpPr>
          <p:nvPr/>
        </p:nvSpPr>
        <p:spPr bwMode="auto">
          <a:xfrm>
            <a:off x="4016375" y="4179888"/>
            <a:ext cx="120332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Group 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699" name="Text Box 90"/>
          <p:cNvSpPr txBox="1">
            <a:spLocks noChangeArrowheads="1"/>
          </p:cNvSpPr>
          <p:nvPr/>
        </p:nvSpPr>
        <p:spPr bwMode="auto">
          <a:xfrm>
            <a:off x="4557713" y="4970463"/>
            <a:ext cx="1044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Group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700" name="Line 91"/>
          <p:cNvSpPr>
            <a:spLocks noChangeShapeType="1"/>
          </p:cNvSpPr>
          <p:nvPr/>
        </p:nvSpPr>
        <p:spPr bwMode="auto">
          <a:xfrm>
            <a:off x="2036763" y="1552575"/>
            <a:ext cx="1587" cy="472757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0701" name="Line 92"/>
          <p:cNvSpPr>
            <a:spLocks noChangeShapeType="1"/>
          </p:cNvSpPr>
          <p:nvPr/>
        </p:nvSpPr>
        <p:spPr bwMode="auto">
          <a:xfrm>
            <a:off x="3751263" y="1506538"/>
            <a:ext cx="1587" cy="476091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0702" name="Line 94"/>
          <p:cNvSpPr>
            <a:spLocks noChangeShapeType="1"/>
          </p:cNvSpPr>
          <p:nvPr/>
        </p:nvSpPr>
        <p:spPr bwMode="auto">
          <a:xfrm>
            <a:off x="5548313" y="1520825"/>
            <a:ext cx="1587" cy="4733925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0703" name="Text Box 95"/>
          <p:cNvSpPr txBox="1">
            <a:spLocks noChangeArrowheads="1"/>
          </p:cNvSpPr>
          <p:nvPr/>
        </p:nvSpPr>
        <p:spPr bwMode="auto">
          <a:xfrm>
            <a:off x="5657850" y="1397000"/>
            <a:ext cx="164306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Division Top Level</a:t>
            </a:r>
          </a:p>
        </p:txBody>
      </p:sp>
      <p:sp>
        <p:nvSpPr>
          <p:cNvPr id="70704" name="Text Box 96"/>
          <p:cNvSpPr txBox="1">
            <a:spLocks noChangeArrowheads="1"/>
          </p:cNvSpPr>
          <p:nvPr/>
        </p:nvSpPr>
        <p:spPr bwMode="auto">
          <a:xfrm>
            <a:off x="5643563" y="3725863"/>
            <a:ext cx="16716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Division Second Levels</a:t>
            </a:r>
          </a:p>
        </p:txBody>
      </p:sp>
      <p:sp>
        <p:nvSpPr>
          <p:cNvPr id="70705" name="Rectangle 97"/>
          <p:cNvSpPr>
            <a:spLocks noChangeArrowheads="1"/>
          </p:cNvSpPr>
          <p:nvPr/>
        </p:nvSpPr>
        <p:spPr bwMode="auto">
          <a:xfrm>
            <a:off x="5656263" y="1739900"/>
            <a:ext cx="1660525" cy="19304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70706" name="Line 98"/>
          <p:cNvSpPr>
            <a:spLocks noChangeShapeType="1"/>
          </p:cNvSpPr>
          <p:nvPr/>
        </p:nvSpPr>
        <p:spPr bwMode="auto">
          <a:xfrm flipH="1">
            <a:off x="5664200" y="1738313"/>
            <a:ext cx="1652588" cy="193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7" name="Line 99"/>
          <p:cNvSpPr>
            <a:spLocks noChangeShapeType="1"/>
          </p:cNvSpPr>
          <p:nvPr/>
        </p:nvSpPr>
        <p:spPr bwMode="auto">
          <a:xfrm>
            <a:off x="5668963" y="1730375"/>
            <a:ext cx="1643062" cy="1935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08" name="Rectangle 100"/>
          <p:cNvSpPr>
            <a:spLocks noChangeArrowheads="1"/>
          </p:cNvSpPr>
          <p:nvPr/>
        </p:nvSpPr>
        <p:spPr bwMode="auto">
          <a:xfrm>
            <a:off x="5649913" y="4068763"/>
            <a:ext cx="1660525" cy="2116137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70709" name="Line 101"/>
          <p:cNvSpPr>
            <a:spLocks noChangeShapeType="1"/>
          </p:cNvSpPr>
          <p:nvPr/>
        </p:nvSpPr>
        <p:spPr bwMode="auto">
          <a:xfrm flipH="1">
            <a:off x="5657850" y="4070350"/>
            <a:ext cx="1638300" cy="210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10" name="Line 102"/>
          <p:cNvSpPr>
            <a:spLocks noChangeShapeType="1"/>
          </p:cNvSpPr>
          <p:nvPr/>
        </p:nvSpPr>
        <p:spPr bwMode="auto">
          <a:xfrm>
            <a:off x="5651500" y="4064000"/>
            <a:ext cx="1651000" cy="2114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11" name="Text Box 103"/>
          <p:cNvSpPr txBox="1">
            <a:spLocks noChangeArrowheads="1"/>
          </p:cNvSpPr>
          <p:nvPr/>
        </p:nvSpPr>
        <p:spPr bwMode="auto">
          <a:xfrm>
            <a:off x="5942013" y="1781175"/>
            <a:ext cx="10445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Division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712" name="Text Box 104"/>
          <p:cNvSpPr txBox="1">
            <a:spLocks noChangeArrowheads="1"/>
          </p:cNvSpPr>
          <p:nvPr/>
        </p:nvSpPr>
        <p:spPr bwMode="auto">
          <a:xfrm>
            <a:off x="5491163" y="2560638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Division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713" name="Text Box 105"/>
          <p:cNvSpPr txBox="1">
            <a:spLocks noChangeArrowheads="1"/>
          </p:cNvSpPr>
          <p:nvPr/>
        </p:nvSpPr>
        <p:spPr bwMode="auto">
          <a:xfrm>
            <a:off x="6437313" y="2544763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Division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714" name="Text Box 106"/>
          <p:cNvSpPr txBox="1">
            <a:spLocks noChangeArrowheads="1"/>
          </p:cNvSpPr>
          <p:nvPr/>
        </p:nvSpPr>
        <p:spPr bwMode="auto">
          <a:xfrm>
            <a:off x="5973763" y="3094038"/>
            <a:ext cx="104457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Group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.  Level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715" name="Text Box 107"/>
          <p:cNvSpPr txBox="1">
            <a:spLocks noChangeArrowheads="1"/>
          </p:cNvSpPr>
          <p:nvPr/>
        </p:nvSpPr>
        <p:spPr bwMode="auto">
          <a:xfrm>
            <a:off x="5897563" y="4122738"/>
            <a:ext cx="120332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Division 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716" name="Text Box 108"/>
          <p:cNvSpPr txBox="1">
            <a:spLocks noChangeArrowheads="1"/>
          </p:cNvSpPr>
          <p:nvPr/>
        </p:nvSpPr>
        <p:spPr bwMode="auto">
          <a:xfrm>
            <a:off x="5480050" y="4760913"/>
            <a:ext cx="10223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Division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717" name="Text Box 109"/>
          <p:cNvSpPr txBox="1">
            <a:spLocks noChangeArrowheads="1"/>
          </p:cNvSpPr>
          <p:nvPr/>
        </p:nvSpPr>
        <p:spPr bwMode="auto">
          <a:xfrm>
            <a:off x="6477000" y="4900613"/>
            <a:ext cx="95885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Division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718" name="Text Box 110"/>
          <p:cNvSpPr txBox="1">
            <a:spLocks noChangeArrowheads="1"/>
          </p:cNvSpPr>
          <p:nvPr/>
        </p:nvSpPr>
        <p:spPr bwMode="auto">
          <a:xfrm>
            <a:off x="5940425" y="5643563"/>
            <a:ext cx="104457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Division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719" name="Line 111"/>
          <p:cNvSpPr>
            <a:spLocks noChangeShapeType="1"/>
          </p:cNvSpPr>
          <p:nvPr/>
        </p:nvSpPr>
        <p:spPr bwMode="auto">
          <a:xfrm flipH="1">
            <a:off x="7378700" y="1500188"/>
            <a:ext cx="1588" cy="4779962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70720" name="Group 112"/>
          <p:cNvGrpSpPr>
            <a:grpSpLocks/>
          </p:cNvGrpSpPr>
          <p:nvPr/>
        </p:nvGrpSpPr>
        <p:grpSpPr bwMode="auto">
          <a:xfrm>
            <a:off x="7496175" y="1731963"/>
            <a:ext cx="1450975" cy="1930400"/>
            <a:chOff x="528" y="1248"/>
            <a:chExt cx="864" cy="480"/>
          </a:xfrm>
        </p:grpSpPr>
        <p:sp>
          <p:nvSpPr>
            <p:cNvPr id="70741" name="Rectangle 113"/>
            <p:cNvSpPr>
              <a:spLocks noChangeArrowheads="1"/>
            </p:cNvSpPr>
            <p:nvPr/>
          </p:nvSpPr>
          <p:spPr bwMode="auto">
            <a:xfrm>
              <a:off x="528" y="1248"/>
              <a:ext cx="864" cy="480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742" name="Line 114"/>
            <p:cNvSpPr>
              <a:spLocks noChangeShapeType="1"/>
            </p:cNvSpPr>
            <p:nvPr/>
          </p:nvSpPr>
          <p:spPr bwMode="auto">
            <a:xfrm flipH="1">
              <a:off x="528" y="1248"/>
              <a:ext cx="86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743" name="Line 115"/>
            <p:cNvSpPr>
              <a:spLocks noChangeShapeType="1"/>
            </p:cNvSpPr>
            <p:nvPr/>
          </p:nvSpPr>
          <p:spPr bwMode="auto">
            <a:xfrm>
              <a:off x="528" y="1248"/>
              <a:ext cx="86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721" name="Text Box 116"/>
          <p:cNvSpPr txBox="1">
            <a:spLocks noChangeArrowheads="1"/>
          </p:cNvSpPr>
          <p:nvPr/>
        </p:nvSpPr>
        <p:spPr bwMode="auto">
          <a:xfrm>
            <a:off x="7712075" y="3190875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Division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722" name="Text Box 117"/>
          <p:cNvSpPr txBox="1">
            <a:spLocks noChangeArrowheads="1"/>
          </p:cNvSpPr>
          <p:nvPr/>
        </p:nvSpPr>
        <p:spPr bwMode="auto">
          <a:xfrm>
            <a:off x="7289800" y="2513013"/>
            <a:ext cx="1028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Plant/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Oper.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70723" name="Text Box 118"/>
          <p:cNvSpPr txBox="1">
            <a:spLocks noChangeArrowheads="1"/>
          </p:cNvSpPr>
          <p:nvPr/>
        </p:nvSpPr>
        <p:spPr bwMode="auto">
          <a:xfrm>
            <a:off x="7689850" y="1752600"/>
            <a:ext cx="1054100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Plant/Oper.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724" name="Text Box 119"/>
          <p:cNvSpPr txBox="1">
            <a:spLocks noChangeArrowheads="1"/>
          </p:cNvSpPr>
          <p:nvPr/>
        </p:nvSpPr>
        <p:spPr bwMode="auto">
          <a:xfrm>
            <a:off x="8099425" y="2540000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Plant/ Oper.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725" name="Text Box 120"/>
          <p:cNvSpPr txBox="1">
            <a:spLocks noChangeArrowheads="1"/>
          </p:cNvSpPr>
          <p:nvPr/>
        </p:nvSpPr>
        <p:spPr bwMode="auto">
          <a:xfrm>
            <a:off x="7429500" y="1398588"/>
            <a:ext cx="1528763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Plant/Oper.  Top Level</a:t>
            </a:r>
          </a:p>
        </p:txBody>
      </p:sp>
      <p:sp>
        <p:nvSpPr>
          <p:cNvPr id="70726" name="Rectangle 121"/>
          <p:cNvSpPr>
            <a:spLocks noChangeArrowheads="1"/>
          </p:cNvSpPr>
          <p:nvPr/>
        </p:nvSpPr>
        <p:spPr bwMode="auto">
          <a:xfrm>
            <a:off x="7461250" y="4076700"/>
            <a:ext cx="1500188" cy="210185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0727" name="Line 122"/>
          <p:cNvSpPr>
            <a:spLocks noChangeShapeType="1"/>
          </p:cNvSpPr>
          <p:nvPr/>
        </p:nvSpPr>
        <p:spPr bwMode="auto">
          <a:xfrm flipH="1">
            <a:off x="7454900" y="4083050"/>
            <a:ext cx="1492250" cy="2092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8" name="Line 123"/>
          <p:cNvSpPr>
            <a:spLocks noChangeShapeType="1"/>
          </p:cNvSpPr>
          <p:nvPr/>
        </p:nvSpPr>
        <p:spPr bwMode="auto">
          <a:xfrm>
            <a:off x="7454900" y="4070350"/>
            <a:ext cx="1492250" cy="2092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729" name="Text Box 124"/>
          <p:cNvSpPr txBox="1">
            <a:spLocks noChangeArrowheads="1"/>
          </p:cNvSpPr>
          <p:nvPr/>
        </p:nvSpPr>
        <p:spPr bwMode="auto">
          <a:xfrm>
            <a:off x="7704138" y="5538788"/>
            <a:ext cx="1044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Plant/ Oper.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1</a:t>
            </a:r>
            <a:r>
              <a:rPr lang="en-US" sz="800" baseline="30000">
                <a:solidFill>
                  <a:schemeClr val="tx1"/>
                </a:solidFill>
                <a:latin typeface="Tahoma" charset="0"/>
              </a:rPr>
              <a:t>st</a:t>
            </a:r>
            <a:r>
              <a:rPr lang="en-US" sz="800">
                <a:solidFill>
                  <a:schemeClr val="tx1"/>
                </a:solidFill>
                <a:latin typeface="Tahoma" charset="0"/>
              </a:rPr>
              <a:t> Level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Objectives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3-5 Year</a:t>
            </a:r>
          </a:p>
        </p:txBody>
      </p:sp>
      <p:sp>
        <p:nvSpPr>
          <p:cNvPr id="1238141" name="Text Box 125"/>
          <p:cNvSpPr txBox="1">
            <a:spLocks noChangeArrowheads="1"/>
          </p:cNvSpPr>
          <p:nvPr/>
        </p:nvSpPr>
        <p:spPr bwMode="auto">
          <a:xfrm>
            <a:off x="7264400" y="4821238"/>
            <a:ext cx="1027113" cy="73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750" dirty="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rPr>
              <a:t>     1</a:t>
            </a:r>
            <a:r>
              <a:rPr lang="en-US" sz="750" baseline="30000" dirty="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rPr>
              <a:t>st</a:t>
            </a:r>
            <a:r>
              <a:rPr lang="en-US" sz="750" dirty="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rPr>
              <a:t> Level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750" dirty="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rPr>
              <a:t>        Plant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750" dirty="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rPr>
              <a:t>     Oper. Annual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750" dirty="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rPr>
              <a:t>      Improve-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750" dirty="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rPr>
              <a:t>        ment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sz="750" dirty="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rPr>
              <a:t>     Priorities</a:t>
            </a:r>
          </a:p>
        </p:txBody>
      </p:sp>
      <p:sp>
        <p:nvSpPr>
          <p:cNvPr id="70731" name="Text Box 126"/>
          <p:cNvSpPr txBox="1">
            <a:spLocks noChangeArrowheads="1"/>
          </p:cNvSpPr>
          <p:nvPr/>
        </p:nvSpPr>
        <p:spPr bwMode="auto">
          <a:xfrm>
            <a:off x="7572375" y="4117975"/>
            <a:ext cx="12033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Plant/Oper.  Annual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Improvement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 Priorities</a:t>
            </a:r>
          </a:p>
        </p:txBody>
      </p:sp>
      <p:sp>
        <p:nvSpPr>
          <p:cNvPr id="70732" name="Text Box 127"/>
          <p:cNvSpPr txBox="1">
            <a:spLocks noChangeArrowheads="1"/>
          </p:cNvSpPr>
          <p:nvPr/>
        </p:nvSpPr>
        <p:spPr bwMode="auto">
          <a:xfrm>
            <a:off x="8086725" y="5000625"/>
            <a:ext cx="10445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Second Level 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Plant/ Oper.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sz="800">
                <a:solidFill>
                  <a:schemeClr val="tx1"/>
                </a:solidFill>
                <a:latin typeface="Tahoma" charset="0"/>
              </a:rPr>
              <a:t>Targets</a:t>
            </a:r>
          </a:p>
        </p:txBody>
      </p:sp>
      <p:sp>
        <p:nvSpPr>
          <p:cNvPr id="70733" name="Text Box 128"/>
          <p:cNvSpPr txBox="1">
            <a:spLocks noChangeArrowheads="1"/>
          </p:cNvSpPr>
          <p:nvPr/>
        </p:nvSpPr>
        <p:spPr bwMode="auto">
          <a:xfrm>
            <a:off x="7343775" y="3730625"/>
            <a:ext cx="1800225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  <a:latin typeface="Tahoma" charset="0"/>
              </a:rPr>
              <a:t>Plant/Oper.  Second Levels</a:t>
            </a:r>
          </a:p>
        </p:txBody>
      </p:sp>
      <p:sp>
        <p:nvSpPr>
          <p:cNvPr id="99" name="Rectangle 2"/>
          <p:cNvSpPr txBox="1">
            <a:spLocks noChangeArrowheads="1"/>
          </p:cNvSpPr>
          <p:nvPr/>
        </p:nvSpPr>
        <p:spPr>
          <a:xfrm>
            <a:off x="409575" y="804863"/>
            <a:ext cx="8293100" cy="5254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en-US"/>
            </a:defPPr>
            <a:lvl1pPr algn="l">
              <a:spcBef>
                <a:spcPct val="0"/>
              </a:spcBef>
              <a:defRPr sz="2000">
                <a:solidFill>
                  <a:schemeClr val="tx1"/>
                </a:solidFill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lvl9pPr>
          </a:lstStyle>
          <a:p>
            <a:r>
              <a:rPr lang="en-US" dirty="0"/>
              <a:t>Strategic Deployment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70244232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Annual Improvement Priorities Defined</a:t>
            </a:r>
          </a:p>
        </p:txBody>
      </p:sp>
      <p:sp>
        <p:nvSpPr>
          <p:cNvPr id="86018" name="Rectangle 4"/>
          <p:cNvSpPr>
            <a:spLocks noChangeArrowheads="1"/>
          </p:cNvSpPr>
          <p:nvPr/>
        </p:nvSpPr>
        <p:spPr bwMode="auto">
          <a:xfrm>
            <a:off x="3287713" y="2452688"/>
            <a:ext cx="2554287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Ensure that actions performed to achieve the overall breakthrough are designed with </a:t>
            </a:r>
            <a:r>
              <a:rPr lang="en-US" sz="1600" i="1" smtClean="0">
                <a:solidFill>
                  <a:srgbClr val="000000"/>
                </a:solidFill>
              </a:rPr>
              <a:t>process </a:t>
            </a:r>
            <a:r>
              <a:rPr lang="en-US" sz="1600" smtClean="0">
                <a:solidFill>
                  <a:srgbClr val="000000"/>
                </a:solidFill>
              </a:rPr>
              <a:t>in mind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Key is sustainable – not a </a:t>
            </a:r>
            <a:r>
              <a:rPr lang="ja-JP" altLang="en-US" sz="1600" smtClean="0">
                <a:solidFill>
                  <a:srgbClr val="000000"/>
                </a:solidFill>
              </a:rPr>
              <a:t>“</a:t>
            </a:r>
            <a:r>
              <a:rPr lang="en-US" altLang="ja-JP" sz="1600" smtClean="0">
                <a:solidFill>
                  <a:srgbClr val="000000"/>
                </a:solidFill>
              </a:rPr>
              <a:t>one-time</a:t>
            </a:r>
            <a:r>
              <a:rPr lang="ja-JP" altLang="en-US" sz="1600" smtClean="0">
                <a:solidFill>
                  <a:srgbClr val="000000"/>
                </a:solidFill>
              </a:rPr>
              <a:t>”</a:t>
            </a:r>
            <a:r>
              <a:rPr lang="en-US" altLang="ja-JP" sz="1600" smtClean="0">
                <a:solidFill>
                  <a:srgbClr val="000000"/>
                </a:solidFill>
              </a:rPr>
              <a:t> achievement of the breakthrough</a:t>
            </a:r>
            <a:endParaRPr lang="en-US" sz="1600" smtClean="0">
              <a:solidFill>
                <a:srgbClr val="000000"/>
              </a:solidFill>
            </a:endParaRPr>
          </a:p>
        </p:txBody>
      </p:sp>
      <p:sp>
        <p:nvSpPr>
          <p:cNvPr id="86019" name="Rectangle 5"/>
          <p:cNvSpPr>
            <a:spLocks noChangeArrowheads="1"/>
          </p:cNvSpPr>
          <p:nvPr/>
        </p:nvSpPr>
        <p:spPr bwMode="auto">
          <a:xfrm>
            <a:off x="5770563" y="2452688"/>
            <a:ext cx="2851150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Design and Implement a Talent Mgmt. System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Design and Implement a Sales and Operations Planning Process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Define and implement a Rationalized Distribution Network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Implement an improved NPD Process</a:t>
            </a:r>
          </a:p>
        </p:txBody>
      </p:sp>
      <p:sp>
        <p:nvSpPr>
          <p:cNvPr id="86020" name="Rectangle 6"/>
          <p:cNvSpPr>
            <a:spLocks noChangeArrowheads="1"/>
          </p:cNvSpPr>
          <p:nvPr/>
        </p:nvSpPr>
        <p:spPr bwMode="auto">
          <a:xfrm>
            <a:off x="555625" y="2452688"/>
            <a:ext cx="2643188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A business-process-based transformation required to enable a sustained breakthrough in business performance</a:t>
            </a:r>
          </a:p>
        </p:txBody>
      </p:sp>
      <p:sp>
        <p:nvSpPr>
          <p:cNvPr id="86021" name="AutoShape 7"/>
          <p:cNvSpPr>
            <a:spLocks noChangeArrowheads="1"/>
          </p:cNvSpPr>
          <p:nvPr/>
        </p:nvSpPr>
        <p:spPr bwMode="auto">
          <a:xfrm>
            <a:off x="5553075" y="1606550"/>
            <a:ext cx="3146425" cy="625475"/>
          </a:xfrm>
          <a:prstGeom prst="homePlate">
            <a:avLst>
              <a:gd name="adj" fmla="val 75108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algn="l"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               Examples</a:t>
            </a:r>
          </a:p>
        </p:txBody>
      </p:sp>
      <p:sp>
        <p:nvSpPr>
          <p:cNvPr id="86022" name="AutoShape 8"/>
          <p:cNvSpPr>
            <a:spLocks noChangeArrowheads="1"/>
          </p:cNvSpPr>
          <p:nvPr/>
        </p:nvSpPr>
        <p:spPr bwMode="auto">
          <a:xfrm>
            <a:off x="3228975" y="1606550"/>
            <a:ext cx="2744788" cy="625475"/>
          </a:xfrm>
          <a:prstGeom prst="homePlate">
            <a:avLst>
              <a:gd name="adj" fmla="val 57069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marL="171450"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86023" name="AutoShape 9"/>
          <p:cNvSpPr>
            <a:spLocks noChangeArrowheads="1"/>
          </p:cNvSpPr>
          <p:nvPr/>
        </p:nvSpPr>
        <p:spPr bwMode="auto">
          <a:xfrm>
            <a:off x="493713" y="1606550"/>
            <a:ext cx="3173412" cy="625475"/>
          </a:xfrm>
          <a:prstGeom prst="homePlate">
            <a:avLst>
              <a:gd name="adj" fmla="val 73755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86024" name="AutoShape 10"/>
          <p:cNvSpPr>
            <a:spLocks noChangeArrowheads="1"/>
          </p:cNvSpPr>
          <p:nvPr/>
        </p:nvSpPr>
        <p:spPr bwMode="auto">
          <a:xfrm>
            <a:off x="469900" y="5456238"/>
            <a:ext cx="8204200" cy="520700"/>
          </a:xfrm>
          <a:prstGeom prst="homePlate">
            <a:avLst>
              <a:gd name="adj" fmla="val 32169"/>
            </a:avLst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Annual Improvement Priorities focus on the </a:t>
            </a:r>
            <a:r>
              <a:rPr lang="en-US" sz="1800" u="sng" smtClean="0">
                <a:solidFill>
                  <a:srgbClr val="FFFFFF"/>
                </a:solidFill>
              </a:rPr>
              <a:t>PROCESS</a:t>
            </a:r>
            <a:endParaRPr lang="en-US" sz="180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495054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Second Level Annual Improvement Priorities Defined</a:t>
            </a:r>
          </a:p>
        </p:txBody>
      </p:sp>
      <p:sp>
        <p:nvSpPr>
          <p:cNvPr id="92162" name="Rectangle 3"/>
          <p:cNvSpPr>
            <a:spLocks noChangeArrowheads="1"/>
          </p:cNvSpPr>
          <p:nvPr/>
        </p:nvSpPr>
        <p:spPr bwMode="auto">
          <a:xfrm>
            <a:off x="3259138" y="2452688"/>
            <a:ext cx="2493962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400" smtClean="0">
                <a:solidFill>
                  <a:srgbClr val="000000"/>
                </a:solidFill>
              </a:rPr>
              <a:t>Several Second level AIPs can exist for each top level AIP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400" smtClean="0">
                <a:solidFill>
                  <a:srgbClr val="000000"/>
                </a:solidFill>
              </a:rPr>
              <a:t>Each Second level AIP will be assigned to a multifunctional team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400" smtClean="0">
                <a:solidFill>
                  <a:srgbClr val="000000"/>
                </a:solidFill>
              </a:rPr>
              <a:t>Each Second level AIP will have a corresponding action plan</a:t>
            </a: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5876925" y="2452688"/>
            <a:ext cx="2751138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</a:rPr>
              <a:t>AIP Structure too detailed/low level, too vague, or too large of a task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</a:rPr>
              <a:t>Too many Second level AIPs for the assigned team/ resources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</a:rPr>
              <a:t>Team members do not work the plan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srgbClr val="000000"/>
                </a:solidFill>
              </a:rPr>
              <a:t>Second level AIPs to not achieve intended target of the corresponding Top Level AIP</a:t>
            </a:r>
          </a:p>
          <a:p>
            <a:pPr marL="165100" indent="-165100" algn="l" defTabSz="708025">
              <a:lnSpc>
                <a:spcPct val="100000"/>
              </a:lnSpc>
              <a:spcBef>
                <a:spcPct val="40000"/>
              </a:spcBef>
              <a:buClr>
                <a:srgbClr val="006699"/>
              </a:buClr>
              <a:buSzPct val="40000"/>
              <a:buFont typeface="Wingdings" pitchFamily="2" charset="2"/>
              <a:buChar char="n"/>
              <a:defRPr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92164" name="Rectangle 5"/>
          <p:cNvSpPr>
            <a:spLocks noChangeArrowheads="1"/>
          </p:cNvSpPr>
          <p:nvPr/>
        </p:nvSpPr>
        <p:spPr bwMode="auto">
          <a:xfrm>
            <a:off x="555625" y="2452688"/>
            <a:ext cx="2484438" cy="123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400" smtClean="0">
                <a:solidFill>
                  <a:srgbClr val="000000"/>
                </a:solidFill>
              </a:rPr>
              <a:t>Derived from a Top Level AIP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400" smtClean="0">
                <a:solidFill>
                  <a:srgbClr val="000000"/>
                </a:solidFill>
              </a:rPr>
              <a:t>Is a subset of higher level tasks supporting a top level AIP</a:t>
            </a:r>
          </a:p>
        </p:txBody>
      </p:sp>
      <p:grpSp>
        <p:nvGrpSpPr>
          <p:cNvPr id="92165" name="Group 6"/>
          <p:cNvGrpSpPr>
            <a:grpSpLocks/>
          </p:cNvGrpSpPr>
          <p:nvPr/>
        </p:nvGrpSpPr>
        <p:grpSpPr bwMode="auto">
          <a:xfrm>
            <a:off x="493713" y="1606550"/>
            <a:ext cx="8266112" cy="625475"/>
            <a:chOff x="311" y="1012"/>
            <a:chExt cx="3908" cy="394"/>
          </a:xfrm>
        </p:grpSpPr>
        <p:sp>
          <p:nvSpPr>
            <p:cNvPr id="92173" name="AutoShape 7"/>
            <p:cNvSpPr>
              <a:spLocks noChangeArrowheads="1"/>
            </p:cNvSpPr>
            <p:nvPr/>
          </p:nvSpPr>
          <p:spPr bwMode="auto">
            <a:xfrm>
              <a:off x="2694" y="1012"/>
              <a:ext cx="1525" cy="394"/>
            </a:xfrm>
            <a:prstGeom prst="homePlate">
              <a:avLst>
                <a:gd name="adj" fmla="val 57790"/>
              </a:avLst>
            </a:prstGeom>
            <a:solidFill>
              <a:schemeClr val="accent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>
                <a:lnSpc>
                  <a:spcPct val="95000"/>
                </a:lnSpc>
                <a:spcBef>
                  <a:spcPct val="0"/>
                </a:spcBef>
              </a:pPr>
              <a:r>
                <a:rPr lang="en-US" sz="1800" smtClean="0">
                  <a:solidFill>
                    <a:srgbClr val="FFFFFF"/>
                  </a:solidFill>
                </a:rPr>
                <a:t>       Pitfalls</a:t>
              </a:r>
            </a:p>
          </p:txBody>
        </p:sp>
        <p:sp>
          <p:nvSpPr>
            <p:cNvPr id="92174" name="AutoShape 8"/>
            <p:cNvSpPr>
              <a:spLocks noChangeArrowheads="1"/>
            </p:cNvSpPr>
            <p:nvPr/>
          </p:nvSpPr>
          <p:spPr bwMode="auto">
            <a:xfrm>
              <a:off x="1549" y="1012"/>
              <a:ext cx="1472" cy="394"/>
            </a:xfrm>
            <a:prstGeom prst="homePlate">
              <a:avLst>
                <a:gd name="adj" fmla="val 48586"/>
              </a:avLst>
            </a:prstGeom>
            <a:solidFill>
              <a:schemeClr val="accent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marL="171450">
                <a:lnSpc>
                  <a:spcPct val="95000"/>
                </a:lnSpc>
                <a:spcBef>
                  <a:spcPct val="0"/>
                </a:spcBef>
              </a:pPr>
              <a:r>
                <a:rPr lang="en-US" sz="1800" smtClean="0">
                  <a:solidFill>
                    <a:srgbClr val="FFFFFF"/>
                  </a:solidFill>
                </a:rPr>
                <a:t>  Characteristics</a:t>
              </a:r>
            </a:p>
          </p:txBody>
        </p:sp>
        <p:sp>
          <p:nvSpPr>
            <p:cNvPr id="92175" name="AutoShape 9"/>
            <p:cNvSpPr>
              <a:spLocks noChangeArrowheads="1"/>
            </p:cNvSpPr>
            <p:nvPr/>
          </p:nvSpPr>
          <p:spPr bwMode="auto">
            <a:xfrm>
              <a:off x="311" y="1012"/>
              <a:ext cx="1469" cy="394"/>
            </a:xfrm>
            <a:prstGeom prst="homePlate">
              <a:avLst>
                <a:gd name="adj" fmla="val 54200"/>
              </a:avLst>
            </a:prstGeom>
            <a:solidFill>
              <a:schemeClr val="accent1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>
                <a:lnSpc>
                  <a:spcPct val="95000"/>
                </a:lnSpc>
                <a:spcBef>
                  <a:spcPct val="0"/>
                </a:spcBef>
              </a:pPr>
              <a:r>
                <a:rPr lang="en-US" sz="1800" smtClean="0">
                  <a:solidFill>
                    <a:srgbClr val="FFFFFF"/>
                  </a:solidFill>
                </a:rPr>
                <a:t>Definition</a:t>
              </a:r>
            </a:p>
          </p:txBody>
        </p:sp>
      </p:grpSp>
      <p:sp>
        <p:nvSpPr>
          <p:cNvPr id="92166" name="AutoShape 10"/>
          <p:cNvSpPr>
            <a:spLocks noChangeArrowheads="1"/>
          </p:cNvSpPr>
          <p:nvPr/>
        </p:nvSpPr>
        <p:spPr bwMode="auto">
          <a:xfrm>
            <a:off x="469900" y="5673725"/>
            <a:ext cx="8204200" cy="520700"/>
          </a:xfrm>
          <a:prstGeom prst="homePlate">
            <a:avLst>
              <a:gd name="adj" fmla="val 32169"/>
            </a:avLst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Second Level AIPs are where the </a:t>
            </a:r>
            <a:r>
              <a:rPr lang="ja-JP" altLang="en-US" sz="1800" smtClean="0">
                <a:solidFill>
                  <a:srgbClr val="FFFFFF"/>
                </a:solidFill>
              </a:rPr>
              <a:t>“</a:t>
            </a:r>
            <a:r>
              <a:rPr lang="en-US" altLang="ja-JP" sz="1800" smtClean="0">
                <a:solidFill>
                  <a:srgbClr val="FFFFFF"/>
                </a:solidFill>
              </a:rPr>
              <a:t>rubber hits the road.</a:t>
            </a:r>
            <a:r>
              <a:rPr lang="ja-JP" altLang="en-US" sz="1800" smtClean="0">
                <a:solidFill>
                  <a:srgbClr val="FFFFFF"/>
                </a:solidFill>
              </a:rPr>
              <a:t>”</a:t>
            </a:r>
            <a:endParaRPr lang="en-US" sz="1800" smtClean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74920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Targets Defined</a:t>
            </a:r>
          </a:p>
        </p:txBody>
      </p:sp>
      <p:sp>
        <p:nvSpPr>
          <p:cNvPr id="102402" name="Rectangle 4"/>
          <p:cNvSpPr>
            <a:spLocks noChangeArrowheads="1"/>
          </p:cNvSpPr>
          <p:nvPr/>
        </p:nvSpPr>
        <p:spPr bwMode="auto">
          <a:xfrm>
            <a:off x="3287713" y="2452688"/>
            <a:ext cx="2554287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Quantitative not qualitative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Frequent enough (at least monthly)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Reference a time frame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Show a true cause-and-effect relationship with AIP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True stretch</a:t>
            </a:r>
          </a:p>
        </p:txBody>
      </p:sp>
      <p:sp>
        <p:nvSpPr>
          <p:cNvPr id="102403" name="Rectangle 5"/>
          <p:cNvSpPr>
            <a:spLocks noChangeArrowheads="1"/>
          </p:cNvSpPr>
          <p:nvPr/>
        </p:nvSpPr>
        <p:spPr bwMode="auto">
          <a:xfrm>
            <a:off x="5770563" y="2452688"/>
            <a:ext cx="2851150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Improve PPM rejects from 50,000 to 5,000 by 12/31/XX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Achieve productivity improvement from 10 units per associate to 18 units per associate by 9/30/XX</a:t>
            </a:r>
          </a:p>
        </p:txBody>
      </p:sp>
      <p:sp>
        <p:nvSpPr>
          <p:cNvPr id="102404" name="Rectangle 6"/>
          <p:cNvSpPr>
            <a:spLocks noChangeArrowheads="1"/>
          </p:cNvSpPr>
          <p:nvPr/>
        </p:nvSpPr>
        <p:spPr bwMode="auto">
          <a:xfrm>
            <a:off x="555625" y="2452688"/>
            <a:ext cx="2643188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smtClean="0">
                <a:solidFill>
                  <a:srgbClr val="000000"/>
                </a:solidFill>
              </a:rPr>
              <a:t>The quantitative measure of the effectiveness of a given Annual Improvement Process</a:t>
            </a:r>
          </a:p>
        </p:txBody>
      </p:sp>
      <p:sp>
        <p:nvSpPr>
          <p:cNvPr id="102405" name="AutoShape 7"/>
          <p:cNvSpPr>
            <a:spLocks noChangeArrowheads="1"/>
          </p:cNvSpPr>
          <p:nvPr/>
        </p:nvSpPr>
        <p:spPr bwMode="auto">
          <a:xfrm>
            <a:off x="5553075" y="1606550"/>
            <a:ext cx="3146425" cy="625475"/>
          </a:xfrm>
          <a:prstGeom prst="homePlate">
            <a:avLst>
              <a:gd name="adj" fmla="val 75108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algn="l"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               Examples</a:t>
            </a:r>
          </a:p>
        </p:txBody>
      </p:sp>
      <p:sp>
        <p:nvSpPr>
          <p:cNvPr id="102406" name="AutoShape 8"/>
          <p:cNvSpPr>
            <a:spLocks noChangeArrowheads="1"/>
          </p:cNvSpPr>
          <p:nvPr/>
        </p:nvSpPr>
        <p:spPr bwMode="auto">
          <a:xfrm>
            <a:off x="3228975" y="1606550"/>
            <a:ext cx="2744788" cy="625475"/>
          </a:xfrm>
          <a:prstGeom prst="homePlate">
            <a:avLst>
              <a:gd name="adj" fmla="val 57069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marL="171450"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  Characteristics</a:t>
            </a:r>
          </a:p>
        </p:txBody>
      </p:sp>
      <p:sp>
        <p:nvSpPr>
          <p:cNvPr id="102407" name="AutoShape 9"/>
          <p:cNvSpPr>
            <a:spLocks noChangeArrowheads="1"/>
          </p:cNvSpPr>
          <p:nvPr/>
        </p:nvSpPr>
        <p:spPr bwMode="auto">
          <a:xfrm>
            <a:off x="493713" y="1606550"/>
            <a:ext cx="3173412" cy="625475"/>
          </a:xfrm>
          <a:prstGeom prst="homePlate">
            <a:avLst>
              <a:gd name="adj" fmla="val 73755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102408" name="AutoShape 10"/>
          <p:cNvSpPr>
            <a:spLocks noChangeArrowheads="1"/>
          </p:cNvSpPr>
          <p:nvPr/>
        </p:nvSpPr>
        <p:spPr bwMode="auto">
          <a:xfrm>
            <a:off x="469900" y="5456238"/>
            <a:ext cx="8204200" cy="520700"/>
          </a:xfrm>
          <a:prstGeom prst="homePlate">
            <a:avLst>
              <a:gd name="adj" fmla="val 32169"/>
            </a:avLst>
          </a:prstGeom>
          <a:solidFill>
            <a:srgbClr val="0000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1800" smtClean="0">
                <a:solidFill>
                  <a:srgbClr val="FFFFFF"/>
                </a:solidFill>
              </a:rPr>
              <a:t>Must Show a True Cause and Effect  Relationship to  the Top Level AIP</a:t>
            </a:r>
          </a:p>
        </p:txBody>
      </p:sp>
    </p:spTree>
    <p:extLst>
      <p:ext uri="{BB962C8B-B14F-4D97-AF65-F5344CB8AC3E}">
        <p14:creationId xmlns:p14="http://schemas.microsoft.com/office/powerpoint/2010/main" val="756892494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Action Plans Defined</a:t>
            </a:r>
          </a:p>
        </p:txBody>
      </p:sp>
      <p:sp>
        <p:nvSpPr>
          <p:cNvPr id="146434" name="Rectangle 3"/>
          <p:cNvSpPr>
            <a:spLocks noChangeArrowheads="1"/>
          </p:cNvSpPr>
          <p:nvPr/>
        </p:nvSpPr>
        <p:spPr bwMode="auto">
          <a:xfrm>
            <a:off x="3287713" y="2266950"/>
            <a:ext cx="2554287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Responsibility and due dates are listed for each task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Needs to be reviewed frequently by team leader and team members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Is a dynamic document, updated frequently for new activity, etc. 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Needs to be monitored and audited by management team</a:t>
            </a:r>
          </a:p>
        </p:txBody>
      </p:sp>
      <p:sp>
        <p:nvSpPr>
          <p:cNvPr id="146435" name="Rectangle 4"/>
          <p:cNvSpPr>
            <a:spLocks noChangeArrowheads="1"/>
          </p:cNvSpPr>
          <p:nvPr/>
        </p:nvSpPr>
        <p:spPr bwMode="auto">
          <a:xfrm>
            <a:off x="5770563" y="2251075"/>
            <a:ext cx="2851150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Clr>
                <a:schemeClr val="accent1"/>
              </a:buClr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Action Plans are at the point of impact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Without Action Plans, there is no Strategic Deployment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Living document: ongoing progress updated and countermeasures taken as necessary—Not a form-filling out process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Is owned by the AIP Owner with the Black Dot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Clr>
                <a:schemeClr val="accent1"/>
              </a:buClr>
              <a:buSzPct val="40000"/>
              <a:buFont typeface="Wingdings" charset="0"/>
              <a:buChar char="n"/>
            </a:pPr>
            <a:endParaRPr lang="en-US" sz="160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146436" name="Rectangle 5"/>
          <p:cNvSpPr>
            <a:spLocks noChangeArrowheads="1"/>
          </p:cNvSpPr>
          <p:nvPr/>
        </p:nvSpPr>
        <p:spPr bwMode="auto">
          <a:xfrm>
            <a:off x="555625" y="2282825"/>
            <a:ext cx="2643188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>
                <a:solidFill>
                  <a:schemeClr val="tx1"/>
                </a:solidFill>
                <a:latin typeface="Arial" charset="0"/>
              </a:rPr>
              <a:t>A detailed list of actions and tasks necessary for the successful implementation of a Second Level AIP</a:t>
            </a:r>
          </a:p>
        </p:txBody>
      </p:sp>
      <p:sp>
        <p:nvSpPr>
          <p:cNvPr id="146437" name="AutoShape 6"/>
          <p:cNvSpPr>
            <a:spLocks noChangeArrowheads="1"/>
          </p:cNvSpPr>
          <p:nvPr/>
        </p:nvSpPr>
        <p:spPr bwMode="auto">
          <a:xfrm>
            <a:off x="5553075" y="1606550"/>
            <a:ext cx="3146425" cy="625475"/>
          </a:xfrm>
          <a:prstGeom prst="homePlate">
            <a:avLst>
              <a:gd name="adj" fmla="val 75108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1800">
                <a:latin typeface="Arial" charset="0"/>
              </a:rPr>
              <a:t>       Principles</a:t>
            </a:r>
          </a:p>
        </p:txBody>
      </p:sp>
      <p:sp>
        <p:nvSpPr>
          <p:cNvPr id="146438" name="AutoShape 7"/>
          <p:cNvSpPr>
            <a:spLocks noChangeArrowheads="1"/>
          </p:cNvSpPr>
          <p:nvPr/>
        </p:nvSpPr>
        <p:spPr bwMode="auto">
          <a:xfrm>
            <a:off x="3228975" y="1606550"/>
            <a:ext cx="2744788" cy="625475"/>
          </a:xfrm>
          <a:prstGeom prst="homePlate">
            <a:avLst>
              <a:gd name="adj" fmla="val 57069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marL="171450">
              <a:lnSpc>
                <a:spcPct val="95000"/>
              </a:lnSpc>
              <a:spcBef>
                <a:spcPct val="0"/>
              </a:spcBef>
            </a:pPr>
            <a:r>
              <a:rPr lang="en-US" sz="1800">
                <a:latin typeface="Arial" charset="0"/>
              </a:rPr>
              <a:t>Characteristics</a:t>
            </a:r>
          </a:p>
        </p:txBody>
      </p:sp>
      <p:sp>
        <p:nvSpPr>
          <p:cNvPr id="146439" name="AutoShape 8"/>
          <p:cNvSpPr>
            <a:spLocks noChangeArrowheads="1"/>
          </p:cNvSpPr>
          <p:nvPr/>
        </p:nvSpPr>
        <p:spPr bwMode="auto">
          <a:xfrm>
            <a:off x="493713" y="1606550"/>
            <a:ext cx="3173412" cy="625475"/>
          </a:xfrm>
          <a:prstGeom prst="homePlate">
            <a:avLst>
              <a:gd name="adj" fmla="val 73755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1800">
                <a:latin typeface="Arial" charset="0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887091214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Sustaining Strategic Deployment Infrastructure</a:t>
            </a:r>
          </a:p>
        </p:txBody>
      </p:sp>
      <p:sp>
        <p:nvSpPr>
          <p:cNvPr id="77826" name="Freeform 3"/>
          <p:cNvSpPr>
            <a:spLocks/>
          </p:cNvSpPr>
          <p:nvPr/>
        </p:nvSpPr>
        <p:spPr bwMode="auto">
          <a:xfrm flipH="1">
            <a:off x="5126038" y="1651000"/>
            <a:ext cx="2189162" cy="1871663"/>
          </a:xfrm>
          <a:custGeom>
            <a:avLst/>
            <a:gdLst>
              <a:gd name="T0" fmla="*/ 2147483647 w 1141"/>
              <a:gd name="T1" fmla="*/ 0 h 831"/>
              <a:gd name="T2" fmla="*/ 0 w 1141"/>
              <a:gd name="T3" fmla="*/ 2147483647 h 831"/>
              <a:gd name="T4" fmla="*/ 2147483647 w 1141"/>
              <a:gd name="T5" fmla="*/ 2147483647 h 831"/>
              <a:gd name="T6" fmla="*/ 2147483647 w 1141"/>
              <a:gd name="T7" fmla="*/ 2147483647 h 831"/>
              <a:gd name="T8" fmla="*/ 2147483647 w 1141"/>
              <a:gd name="T9" fmla="*/ 0 h 8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1"/>
              <a:gd name="T16" fmla="*/ 0 h 831"/>
              <a:gd name="T17" fmla="*/ 1141 w 1141"/>
              <a:gd name="T18" fmla="*/ 831 h 8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1" h="831">
                <a:moveTo>
                  <a:pt x="694" y="0"/>
                </a:moveTo>
                <a:lnTo>
                  <a:pt x="0" y="830"/>
                </a:lnTo>
                <a:lnTo>
                  <a:pt x="897" y="830"/>
                </a:lnTo>
                <a:lnTo>
                  <a:pt x="1140" y="531"/>
                </a:lnTo>
                <a:lnTo>
                  <a:pt x="694" y="0"/>
                </a:lnTo>
              </a:path>
            </a:pathLst>
          </a:custGeom>
          <a:solidFill>
            <a:srgbClr val="808080"/>
          </a:solidFill>
          <a:ln w="6350" cap="rnd" cmpd="sng">
            <a:solidFill>
              <a:schemeClr val="folHlink"/>
            </a:solidFill>
            <a:prstDash val="solid"/>
            <a:round/>
            <a:headEnd/>
            <a:tailEnd/>
          </a:ln>
        </p:spPr>
        <p:txBody>
          <a:bodyPr lIns="45720" rIns="45720"/>
          <a:lstStyle/>
          <a:p>
            <a:endParaRPr lang="en-US"/>
          </a:p>
        </p:txBody>
      </p:sp>
      <p:sp>
        <p:nvSpPr>
          <p:cNvPr id="77827" name="Freeform 4"/>
          <p:cNvSpPr>
            <a:spLocks/>
          </p:cNvSpPr>
          <p:nvPr/>
        </p:nvSpPr>
        <p:spPr bwMode="auto">
          <a:xfrm flipH="1" flipV="1">
            <a:off x="5126038" y="3663950"/>
            <a:ext cx="2189162" cy="1870075"/>
          </a:xfrm>
          <a:custGeom>
            <a:avLst/>
            <a:gdLst>
              <a:gd name="T0" fmla="*/ 2147483647 w 1141"/>
              <a:gd name="T1" fmla="*/ 0 h 831"/>
              <a:gd name="T2" fmla="*/ 0 w 1141"/>
              <a:gd name="T3" fmla="*/ 2147483647 h 831"/>
              <a:gd name="T4" fmla="*/ 2147483647 w 1141"/>
              <a:gd name="T5" fmla="*/ 2147483647 h 831"/>
              <a:gd name="T6" fmla="*/ 2147483647 w 1141"/>
              <a:gd name="T7" fmla="*/ 2147483647 h 831"/>
              <a:gd name="T8" fmla="*/ 2147483647 w 1141"/>
              <a:gd name="T9" fmla="*/ 0 h 8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1"/>
              <a:gd name="T16" fmla="*/ 0 h 831"/>
              <a:gd name="T17" fmla="*/ 1141 w 1141"/>
              <a:gd name="T18" fmla="*/ 831 h 8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1" h="831">
                <a:moveTo>
                  <a:pt x="694" y="0"/>
                </a:moveTo>
                <a:lnTo>
                  <a:pt x="0" y="830"/>
                </a:lnTo>
                <a:lnTo>
                  <a:pt x="897" y="830"/>
                </a:lnTo>
                <a:lnTo>
                  <a:pt x="1140" y="531"/>
                </a:lnTo>
                <a:lnTo>
                  <a:pt x="694" y="0"/>
                </a:lnTo>
              </a:path>
            </a:pathLst>
          </a:custGeom>
          <a:solidFill>
            <a:srgbClr val="000066"/>
          </a:solidFill>
          <a:ln w="6350" cap="rnd" cmpd="sng">
            <a:solidFill>
              <a:schemeClr val="folHlink"/>
            </a:solidFill>
            <a:prstDash val="solid"/>
            <a:round/>
            <a:headEnd/>
            <a:tailEnd/>
          </a:ln>
        </p:spPr>
        <p:txBody>
          <a:bodyPr lIns="45720" rIns="45720"/>
          <a:lstStyle/>
          <a:p>
            <a:endParaRPr lang="en-US"/>
          </a:p>
        </p:txBody>
      </p:sp>
      <p:sp>
        <p:nvSpPr>
          <p:cNvPr id="77828" name="Freeform 5"/>
          <p:cNvSpPr>
            <a:spLocks/>
          </p:cNvSpPr>
          <p:nvPr/>
        </p:nvSpPr>
        <p:spPr bwMode="auto">
          <a:xfrm flipV="1">
            <a:off x="1758950" y="3663950"/>
            <a:ext cx="2189163" cy="1870075"/>
          </a:xfrm>
          <a:custGeom>
            <a:avLst/>
            <a:gdLst>
              <a:gd name="T0" fmla="*/ 2147483647 w 1141"/>
              <a:gd name="T1" fmla="*/ 0 h 831"/>
              <a:gd name="T2" fmla="*/ 0 w 1141"/>
              <a:gd name="T3" fmla="*/ 2147483647 h 831"/>
              <a:gd name="T4" fmla="*/ 2147483647 w 1141"/>
              <a:gd name="T5" fmla="*/ 2147483647 h 831"/>
              <a:gd name="T6" fmla="*/ 2147483647 w 1141"/>
              <a:gd name="T7" fmla="*/ 2147483647 h 831"/>
              <a:gd name="T8" fmla="*/ 2147483647 w 1141"/>
              <a:gd name="T9" fmla="*/ 0 h 8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1"/>
              <a:gd name="T16" fmla="*/ 0 h 831"/>
              <a:gd name="T17" fmla="*/ 1141 w 1141"/>
              <a:gd name="T18" fmla="*/ 831 h 8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1" h="831">
                <a:moveTo>
                  <a:pt x="694" y="0"/>
                </a:moveTo>
                <a:lnTo>
                  <a:pt x="0" y="830"/>
                </a:lnTo>
                <a:lnTo>
                  <a:pt x="897" y="830"/>
                </a:lnTo>
                <a:lnTo>
                  <a:pt x="1140" y="531"/>
                </a:lnTo>
                <a:lnTo>
                  <a:pt x="694" y="0"/>
                </a:lnTo>
              </a:path>
            </a:pathLst>
          </a:custGeom>
          <a:solidFill>
            <a:srgbClr val="808080"/>
          </a:solidFill>
          <a:ln w="6350" cap="rnd" cmpd="sng">
            <a:solidFill>
              <a:schemeClr val="folHlink"/>
            </a:solidFill>
            <a:prstDash val="solid"/>
            <a:round/>
            <a:headEnd/>
            <a:tailEnd/>
          </a:ln>
        </p:spPr>
        <p:txBody>
          <a:bodyPr lIns="45720" rIns="45720"/>
          <a:lstStyle/>
          <a:p>
            <a:endParaRPr lang="en-US"/>
          </a:p>
        </p:txBody>
      </p:sp>
      <p:sp>
        <p:nvSpPr>
          <p:cNvPr id="77829" name="AutoShape 6"/>
          <p:cNvSpPr>
            <a:spLocks noChangeArrowheads="1"/>
          </p:cNvSpPr>
          <p:nvPr/>
        </p:nvSpPr>
        <p:spPr bwMode="auto">
          <a:xfrm>
            <a:off x="3575050" y="2913063"/>
            <a:ext cx="1916113" cy="1360487"/>
          </a:xfrm>
          <a:prstGeom prst="hexagon">
            <a:avLst>
              <a:gd name="adj" fmla="val 33776"/>
              <a:gd name="vf" fmla="val 115470"/>
            </a:avLst>
          </a:prstGeom>
          <a:solidFill>
            <a:srgbClr val="FFFF00"/>
          </a:solidFill>
          <a:ln w="6350">
            <a:solidFill>
              <a:schemeClr val="folHlink"/>
            </a:solidFill>
            <a:miter lim="800000"/>
            <a:headEnd/>
            <a:tailEnd/>
          </a:ln>
        </p:spPr>
        <p:txBody>
          <a:bodyPr wrap="none" lIns="36000" tIns="36000" rIns="36000" bIns="36000" anchor="ctr"/>
          <a:lstStyle/>
          <a:p>
            <a:pPr algn="ctr" eaLnBrk="0" hangingPunct="0"/>
            <a:r>
              <a:rPr lang="en-US" sz="1600">
                <a:solidFill>
                  <a:srgbClr val="000066"/>
                </a:solidFill>
              </a:rPr>
              <a:t>Infrastructure</a:t>
            </a:r>
            <a:br>
              <a:rPr lang="en-US" sz="1600">
                <a:solidFill>
                  <a:srgbClr val="000066"/>
                </a:solidFill>
              </a:rPr>
            </a:br>
            <a:r>
              <a:rPr lang="en-US" sz="1600">
                <a:solidFill>
                  <a:srgbClr val="000066"/>
                </a:solidFill>
              </a:rPr>
              <a:t>for</a:t>
            </a:r>
            <a:br>
              <a:rPr lang="en-US" sz="1600">
                <a:solidFill>
                  <a:srgbClr val="000066"/>
                </a:solidFill>
              </a:rPr>
            </a:br>
            <a:r>
              <a:rPr lang="en-US" sz="1600">
                <a:solidFill>
                  <a:srgbClr val="000066"/>
                </a:solidFill>
              </a:rPr>
              <a:t>Success</a:t>
            </a:r>
          </a:p>
        </p:txBody>
      </p:sp>
      <p:sp>
        <p:nvSpPr>
          <p:cNvPr id="77830" name="Freeform 7"/>
          <p:cNvSpPr>
            <a:spLocks/>
          </p:cNvSpPr>
          <p:nvPr/>
        </p:nvSpPr>
        <p:spPr bwMode="auto">
          <a:xfrm>
            <a:off x="3171825" y="1600200"/>
            <a:ext cx="2698750" cy="1196975"/>
          </a:xfrm>
          <a:custGeom>
            <a:avLst/>
            <a:gdLst>
              <a:gd name="T0" fmla="*/ 0 w 1406"/>
              <a:gd name="T1" fmla="*/ 0 h 532"/>
              <a:gd name="T2" fmla="*/ 2147483647 w 1406"/>
              <a:gd name="T3" fmla="*/ 2147483647 h 532"/>
              <a:gd name="T4" fmla="*/ 2147483647 w 1406"/>
              <a:gd name="T5" fmla="*/ 2147483647 h 532"/>
              <a:gd name="T6" fmla="*/ 2147483647 w 1406"/>
              <a:gd name="T7" fmla="*/ 0 h 532"/>
              <a:gd name="T8" fmla="*/ 0 w 1406"/>
              <a:gd name="T9" fmla="*/ 0 h 5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06"/>
              <a:gd name="T16" fmla="*/ 0 h 532"/>
              <a:gd name="T17" fmla="*/ 1406 w 1406"/>
              <a:gd name="T18" fmla="*/ 532 h 5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06" h="532">
                <a:moveTo>
                  <a:pt x="0" y="0"/>
                </a:moveTo>
                <a:lnTo>
                  <a:pt x="441" y="531"/>
                </a:lnTo>
                <a:lnTo>
                  <a:pt x="958" y="531"/>
                </a:lnTo>
                <a:lnTo>
                  <a:pt x="1405" y="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6350" cap="rnd" cmpd="sng">
            <a:solidFill>
              <a:schemeClr val="folHlink"/>
            </a:solidFill>
            <a:prstDash val="solid"/>
            <a:round/>
            <a:headEnd/>
            <a:tailEnd/>
          </a:ln>
        </p:spPr>
        <p:txBody>
          <a:bodyPr lIns="45720" rIns="45720"/>
          <a:lstStyle/>
          <a:p>
            <a:endParaRPr lang="en-US"/>
          </a:p>
        </p:txBody>
      </p:sp>
      <p:sp>
        <p:nvSpPr>
          <p:cNvPr id="77831" name="Freeform 8"/>
          <p:cNvSpPr>
            <a:spLocks/>
          </p:cNvSpPr>
          <p:nvPr/>
        </p:nvSpPr>
        <p:spPr bwMode="auto">
          <a:xfrm>
            <a:off x="3171825" y="4391025"/>
            <a:ext cx="2698750" cy="1196975"/>
          </a:xfrm>
          <a:custGeom>
            <a:avLst/>
            <a:gdLst>
              <a:gd name="T0" fmla="*/ 0 w 1406"/>
              <a:gd name="T1" fmla="*/ 2147483647 h 532"/>
              <a:gd name="T2" fmla="*/ 2147483647 w 1406"/>
              <a:gd name="T3" fmla="*/ 0 h 532"/>
              <a:gd name="T4" fmla="*/ 2147483647 w 1406"/>
              <a:gd name="T5" fmla="*/ 0 h 532"/>
              <a:gd name="T6" fmla="*/ 2147483647 w 1406"/>
              <a:gd name="T7" fmla="*/ 2147483647 h 532"/>
              <a:gd name="T8" fmla="*/ 0 w 1406"/>
              <a:gd name="T9" fmla="*/ 2147483647 h 5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406"/>
              <a:gd name="T16" fmla="*/ 0 h 532"/>
              <a:gd name="T17" fmla="*/ 1406 w 1406"/>
              <a:gd name="T18" fmla="*/ 532 h 5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406" h="532">
                <a:moveTo>
                  <a:pt x="0" y="531"/>
                </a:moveTo>
                <a:lnTo>
                  <a:pt x="441" y="0"/>
                </a:lnTo>
                <a:lnTo>
                  <a:pt x="958" y="0"/>
                </a:lnTo>
                <a:lnTo>
                  <a:pt x="1405" y="531"/>
                </a:lnTo>
                <a:lnTo>
                  <a:pt x="0" y="531"/>
                </a:lnTo>
              </a:path>
            </a:pathLst>
          </a:custGeom>
          <a:solidFill>
            <a:schemeClr val="accent1"/>
          </a:solidFill>
          <a:ln w="6350" cap="rnd" cmpd="sng">
            <a:solidFill>
              <a:schemeClr val="folHlink"/>
            </a:solidFill>
            <a:prstDash val="solid"/>
            <a:round/>
            <a:headEnd/>
            <a:tailEnd/>
          </a:ln>
        </p:spPr>
        <p:txBody>
          <a:bodyPr lIns="45720" rIns="45720"/>
          <a:lstStyle/>
          <a:p>
            <a:endParaRPr lang="en-US"/>
          </a:p>
        </p:txBody>
      </p:sp>
      <p:sp>
        <p:nvSpPr>
          <p:cNvPr id="77832" name="Freeform 9"/>
          <p:cNvSpPr>
            <a:spLocks/>
          </p:cNvSpPr>
          <p:nvPr/>
        </p:nvSpPr>
        <p:spPr bwMode="auto">
          <a:xfrm>
            <a:off x="1758950" y="1651000"/>
            <a:ext cx="2189163" cy="1871663"/>
          </a:xfrm>
          <a:custGeom>
            <a:avLst/>
            <a:gdLst>
              <a:gd name="T0" fmla="*/ 2147483647 w 1141"/>
              <a:gd name="T1" fmla="*/ 0 h 831"/>
              <a:gd name="T2" fmla="*/ 0 w 1141"/>
              <a:gd name="T3" fmla="*/ 2147483647 h 831"/>
              <a:gd name="T4" fmla="*/ 2147483647 w 1141"/>
              <a:gd name="T5" fmla="*/ 2147483647 h 831"/>
              <a:gd name="T6" fmla="*/ 2147483647 w 1141"/>
              <a:gd name="T7" fmla="*/ 2147483647 h 831"/>
              <a:gd name="T8" fmla="*/ 2147483647 w 1141"/>
              <a:gd name="T9" fmla="*/ 0 h 8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1"/>
              <a:gd name="T16" fmla="*/ 0 h 831"/>
              <a:gd name="T17" fmla="*/ 1141 w 1141"/>
              <a:gd name="T18" fmla="*/ 831 h 8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1" h="831">
                <a:moveTo>
                  <a:pt x="694" y="0"/>
                </a:moveTo>
                <a:lnTo>
                  <a:pt x="0" y="830"/>
                </a:lnTo>
                <a:lnTo>
                  <a:pt x="897" y="830"/>
                </a:lnTo>
                <a:lnTo>
                  <a:pt x="1140" y="531"/>
                </a:lnTo>
                <a:lnTo>
                  <a:pt x="694" y="0"/>
                </a:lnTo>
              </a:path>
            </a:pathLst>
          </a:custGeom>
          <a:solidFill>
            <a:srgbClr val="000066"/>
          </a:solidFill>
          <a:ln w="6350" cap="rnd" cmpd="sng">
            <a:solidFill>
              <a:schemeClr val="folHlink"/>
            </a:solidFill>
            <a:prstDash val="solid"/>
            <a:round/>
            <a:headEnd/>
            <a:tailEnd/>
          </a:ln>
        </p:spPr>
        <p:txBody>
          <a:bodyPr lIns="45720" rIns="45720"/>
          <a:lstStyle/>
          <a:p>
            <a:endParaRPr lang="en-US"/>
          </a:p>
        </p:txBody>
      </p:sp>
      <p:sp>
        <p:nvSpPr>
          <p:cNvPr id="77833" name="Rectangle 10"/>
          <p:cNvSpPr>
            <a:spLocks noChangeArrowheads="1"/>
          </p:cNvSpPr>
          <p:nvPr/>
        </p:nvSpPr>
        <p:spPr bwMode="auto">
          <a:xfrm>
            <a:off x="4227513" y="1752600"/>
            <a:ext cx="5873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/>
          <a:p>
            <a:pPr algn="ctr" eaLnBrk="0" hangingPunct="0"/>
            <a:r>
              <a:rPr lang="en-GB" sz="1400"/>
              <a:t>PROCESS SPONSOR</a:t>
            </a:r>
            <a:br>
              <a:rPr lang="en-GB" sz="1400"/>
            </a:br>
            <a:r>
              <a:rPr lang="en-GB" sz="1400" b="0"/>
              <a:t>Committed</a:t>
            </a:r>
            <a:br>
              <a:rPr lang="en-GB" sz="1400" b="0"/>
            </a:br>
            <a:r>
              <a:rPr lang="en-GB" sz="1400" b="0"/>
              <a:t>Leadership</a:t>
            </a:r>
            <a:br>
              <a:rPr lang="en-GB" sz="1400" b="0"/>
            </a:br>
            <a:r>
              <a:rPr lang="en-GB" sz="1400" b="0"/>
              <a:t>Team</a:t>
            </a:r>
          </a:p>
        </p:txBody>
      </p:sp>
      <p:sp>
        <p:nvSpPr>
          <p:cNvPr id="77834" name="Rectangle 11"/>
          <p:cNvSpPr>
            <a:spLocks noChangeArrowheads="1"/>
          </p:cNvSpPr>
          <p:nvPr/>
        </p:nvSpPr>
        <p:spPr bwMode="auto">
          <a:xfrm>
            <a:off x="5791200" y="2438400"/>
            <a:ext cx="5873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/>
          <a:p>
            <a:pPr algn="ctr" eaLnBrk="0" hangingPunct="0"/>
            <a:r>
              <a:rPr lang="en-GB" sz="1400"/>
              <a:t>PROCESS </a:t>
            </a:r>
            <a:br>
              <a:rPr lang="en-GB" sz="1400"/>
            </a:br>
            <a:r>
              <a:rPr lang="en-GB" sz="1400"/>
              <a:t>OWNER</a:t>
            </a:r>
            <a:br>
              <a:rPr lang="en-GB" sz="1400"/>
            </a:br>
            <a:r>
              <a:rPr lang="en-GB" sz="1400" b="0"/>
              <a:t>to</a:t>
            </a:r>
            <a:br>
              <a:rPr lang="en-GB" sz="1400" b="0"/>
            </a:br>
            <a:r>
              <a:rPr lang="en-GB" sz="1400" b="0"/>
              <a:t>Administer</a:t>
            </a:r>
          </a:p>
        </p:txBody>
      </p:sp>
      <p:sp>
        <p:nvSpPr>
          <p:cNvPr id="77835" name="Rectangle 12"/>
          <p:cNvSpPr>
            <a:spLocks noChangeArrowheads="1"/>
          </p:cNvSpPr>
          <p:nvPr/>
        </p:nvSpPr>
        <p:spPr bwMode="auto">
          <a:xfrm>
            <a:off x="5889625" y="3810000"/>
            <a:ext cx="5873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/>
          <a:p>
            <a:pPr algn="ctr" eaLnBrk="0" hangingPunct="0"/>
            <a:r>
              <a:rPr lang="en-GB" sz="1400"/>
              <a:t>TRAINING PLAN</a:t>
            </a:r>
            <a:br>
              <a:rPr lang="en-GB" sz="1400"/>
            </a:br>
            <a:r>
              <a:rPr lang="en-GB" sz="1400" b="0"/>
              <a:t>for all</a:t>
            </a:r>
            <a:br>
              <a:rPr lang="en-GB" sz="1400" b="0"/>
            </a:br>
            <a:r>
              <a:rPr lang="en-GB" sz="1400" b="0"/>
              <a:t>Associates</a:t>
            </a:r>
          </a:p>
        </p:txBody>
      </p:sp>
      <p:sp>
        <p:nvSpPr>
          <p:cNvPr id="77836" name="Rectangle 13"/>
          <p:cNvSpPr>
            <a:spLocks noChangeArrowheads="1"/>
          </p:cNvSpPr>
          <p:nvPr/>
        </p:nvSpPr>
        <p:spPr bwMode="auto">
          <a:xfrm>
            <a:off x="4230688" y="4622800"/>
            <a:ext cx="547687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/>
          <a:p>
            <a:pPr algn="ctr" eaLnBrk="0" hangingPunct="0"/>
            <a:r>
              <a:rPr lang="en-GB" sz="1400"/>
              <a:t>ROOT CAUSE</a:t>
            </a:r>
            <a:br>
              <a:rPr lang="en-GB" sz="1400"/>
            </a:br>
            <a:r>
              <a:rPr lang="en-GB" sz="1400"/>
              <a:t>PROBLEM SOLVING</a:t>
            </a:r>
            <a:br>
              <a:rPr lang="en-GB" sz="1400"/>
            </a:br>
            <a:r>
              <a:rPr lang="en-GB" sz="1400" b="0"/>
              <a:t>driven to</a:t>
            </a:r>
            <a:br>
              <a:rPr lang="en-GB" sz="1400" b="0"/>
            </a:br>
            <a:r>
              <a:rPr lang="en-GB" sz="1400" b="0"/>
              <a:t>lowest level</a:t>
            </a:r>
          </a:p>
        </p:txBody>
      </p:sp>
      <p:sp>
        <p:nvSpPr>
          <p:cNvPr id="77837" name="Rectangle 14"/>
          <p:cNvSpPr>
            <a:spLocks noChangeArrowheads="1"/>
          </p:cNvSpPr>
          <p:nvPr/>
        </p:nvSpPr>
        <p:spPr bwMode="auto">
          <a:xfrm>
            <a:off x="2689225" y="3784600"/>
            <a:ext cx="5873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/>
          <a:p>
            <a:pPr algn="ctr" eaLnBrk="0" hangingPunct="0"/>
            <a:r>
              <a:rPr lang="en-GB" sz="1400"/>
              <a:t>MONTHLY </a:t>
            </a:r>
            <a:br>
              <a:rPr lang="en-GB" sz="1400"/>
            </a:br>
            <a:r>
              <a:rPr lang="en-GB" sz="1400"/>
              <a:t>REVIEW</a:t>
            </a:r>
            <a:br>
              <a:rPr lang="en-GB" sz="1400"/>
            </a:br>
            <a:r>
              <a:rPr lang="en-GB" sz="1400"/>
              <a:t>SCHEDULE</a:t>
            </a:r>
          </a:p>
        </p:txBody>
      </p:sp>
      <p:sp>
        <p:nvSpPr>
          <p:cNvPr id="77838" name="Rectangle 15"/>
          <p:cNvSpPr>
            <a:spLocks noChangeArrowheads="1"/>
          </p:cNvSpPr>
          <p:nvPr/>
        </p:nvSpPr>
        <p:spPr bwMode="auto">
          <a:xfrm>
            <a:off x="2765425" y="2362200"/>
            <a:ext cx="587375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45720" rIns="45720"/>
          <a:lstStyle/>
          <a:p>
            <a:pPr algn="ctr" eaLnBrk="0" hangingPunct="0"/>
            <a:r>
              <a:rPr lang="en-GB" sz="1400"/>
              <a:t>DATABASE/</a:t>
            </a:r>
            <a:br>
              <a:rPr lang="en-GB" sz="1400"/>
            </a:br>
            <a:r>
              <a:rPr lang="en-GB" sz="1400"/>
              <a:t>INTRANET</a:t>
            </a:r>
            <a:br>
              <a:rPr lang="en-GB" sz="1400"/>
            </a:br>
            <a:r>
              <a:rPr lang="en-GB" sz="1400" b="0"/>
              <a:t>for effortless</a:t>
            </a:r>
            <a:br>
              <a:rPr lang="en-GB" sz="1400" b="0"/>
            </a:br>
            <a:r>
              <a:rPr lang="en-GB" sz="1400" b="0"/>
              <a:t>data </a:t>
            </a:r>
            <a:br>
              <a:rPr lang="en-GB" sz="1400" b="0"/>
            </a:br>
            <a:r>
              <a:rPr lang="en-GB" sz="1400" b="0"/>
              <a:t>collection</a:t>
            </a:r>
          </a:p>
        </p:txBody>
      </p:sp>
    </p:spTree>
    <p:extLst>
      <p:ext uri="{BB962C8B-B14F-4D97-AF65-F5344CB8AC3E}">
        <p14:creationId xmlns:p14="http://schemas.microsoft.com/office/powerpoint/2010/main" val="3698752829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Success Factors for Developing and Driving an SD Culture</a:t>
            </a:r>
          </a:p>
        </p:txBody>
      </p:sp>
      <p:sp>
        <p:nvSpPr>
          <p:cNvPr id="185346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36563" y="1365250"/>
            <a:ext cx="8364537" cy="549275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Tx/>
              <a:buSzPct val="125000"/>
              <a:buFont typeface="Arial" charset="0"/>
              <a:buChar char="•"/>
            </a:pPr>
            <a:r>
              <a:rPr lang="en-US" sz="1600" b="1">
                <a:latin typeface="Arial" charset="0"/>
              </a:rPr>
              <a:t>Strong, hands-on leadership that evaluates progress monthly and demonstrates an on-going interest</a:t>
            </a:r>
          </a:p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Tx/>
              <a:buSzPct val="125000"/>
              <a:buFont typeface="Arial" charset="0"/>
              <a:buChar char="•"/>
            </a:pPr>
            <a:r>
              <a:rPr lang="en-US" sz="1600" b="1">
                <a:latin typeface="Arial" charset="0"/>
              </a:rPr>
              <a:t>Ensuring that SD has the Highest Level of Priority </a:t>
            </a:r>
          </a:p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Tx/>
              <a:buSzPct val="125000"/>
              <a:buFont typeface="Arial" charset="0"/>
              <a:buChar char="•"/>
            </a:pPr>
            <a:r>
              <a:rPr lang="en-US" sz="1600" b="1">
                <a:latin typeface="Arial" charset="0"/>
              </a:rPr>
              <a:t>Requiring the use of the appropriate tools (e.g., problem-solving tools) and root cause analysis</a:t>
            </a:r>
          </a:p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Tx/>
              <a:buSzPct val="125000"/>
              <a:buFont typeface="Arial" charset="0"/>
              <a:buChar char="•"/>
            </a:pPr>
            <a:r>
              <a:rPr lang="en-US" sz="1600" b="1">
                <a:latin typeface="Arial" charset="0"/>
              </a:rPr>
              <a:t>Management applying rigor and discipline to the SD process</a:t>
            </a:r>
          </a:p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Tx/>
              <a:buSzPct val="125000"/>
              <a:buFont typeface="Arial" charset="0"/>
              <a:buChar char="•"/>
            </a:pPr>
            <a:r>
              <a:rPr lang="en-US" sz="1600" b="1">
                <a:latin typeface="Arial" charset="0"/>
              </a:rPr>
              <a:t>Ensuring that the Strategic Deployment vision is understood at all levels in the organization and that the activities and results are continually communicated through the organization </a:t>
            </a:r>
          </a:p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Tx/>
              <a:buSzPct val="125000"/>
              <a:buFont typeface="Arial" charset="0"/>
              <a:buChar char="•"/>
            </a:pPr>
            <a:r>
              <a:rPr lang="en-US" sz="1600" b="1">
                <a:latin typeface="Arial" charset="0"/>
              </a:rPr>
              <a:t>Willingness to invest in Employee/Management development </a:t>
            </a:r>
          </a:p>
        </p:txBody>
      </p:sp>
    </p:spTree>
    <p:extLst>
      <p:ext uri="{BB962C8B-B14F-4D97-AF65-F5344CB8AC3E}">
        <p14:creationId xmlns:p14="http://schemas.microsoft.com/office/powerpoint/2010/main" val="39674264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6"/>
          <p:cNvSpPr>
            <a:spLocks noChangeArrowheads="1"/>
          </p:cNvSpPr>
          <p:nvPr/>
        </p:nvSpPr>
        <p:spPr bwMode="auto">
          <a:xfrm>
            <a:off x="395194" y="2221193"/>
            <a:ext cx="8215313" cy="344488"/>
          </a:xfrm>
          <a:prstGeom prst="rect">
            <a:avLst/>
          </a:prstGeom>
          <a:solidFill>
            <a:srgbClr val="00009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</a:rPr>
              <a:t>Strategy Deployment Assessment Approach</a:t>
            </a:r>
          </a:p>
        </p:txBody>
      </p:sp>
      <p:sp>
        <p:nvSpPr>
          <p:cNvPr id="18435" name="Rectangle 2"/>
          <p:cNvSpPr txBox="1">
            <a:spLocks noChangeArrowheads="1"/>
          </p:cNvSpPr>
          <p:nvPr/>
        </p:nvSpPr>
        <p:spPr bwMode="auto">
          <a:xfrm>
            <a:off x="409575" y="782638"/>
            <a:ext cx="8293100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8437" name="Rectangle 16"/>
          <p:cNvSpPr>
            <a:spLocks noChangeArrowheads="1"/>
          </p:cNvSpPr>
          <p:nvPr/>
        </p:nvSpPr>
        <p:spPr bwMode="auto">
          <a:xfrm>
            <a:off x="407894" y="1687793"/>
            <a:ext cx="8215313" cy="3444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</a:rPr>
              <a:t>Characteristics of Successful Strategy Deployment</a:t>
            </a: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385114" y="2803744"/>
            <a:ext cx="8215313" cy="3444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</a:rPr>
              <a:t>Introduction to Lean Horizons</a:t>
            </a:r>
          </a:p>
        </p:txBody>
      </p:sp>
    </p:spTree>
    <p:extLst>
      <p:ext uri="{BB962C8B-B14F-4D97-AF65-F5344CB8AC3E}">
        <p14:creationId xmlns:p14="http://schemas.microsoft.com/office/powerpoint/2010/main" val="324837695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4"/>
          <p:cNvSpPr>
            <a:spLocks noChangeArrowheads="1"/>
          </p:cNvSpPr>
          <p:nvPr/>
        </p:nvSpPr>
        <p:spPr bwMode="auto">
          <a:xfrm>
            <a:off x="3205503" y="2452688"/>
            <a:ext cx="2636497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Interview key members of senior management </a:t>
            </a:r>
            <a:r>
              <a:rPr lang="en-US" sz="1600" dirty="0" smtClean="0">
                <a:solidFill>
                  <a:srgbClr val="000000"/>
                </a:solidFill>
              </a:rPr>
              <a:t>team and  </a:t>
            </a:r>
            <a:r>
              <a:rPr lang="en-US" sz="1600" dirty="0" smtClean="0">
                <a:solidFill>
                  <a:srgbClr val="000000"/>
                </a:solidFill>
              </a:rPr>
              <a:t>matrix owners </a:t>
            </a:r>
            <a:r>
              <a:rPr lang="en-US" sz="1600" dirty="0" smtClean="0">
                <a:solidFill>
                  <a:srgbClr val="000000"/>
                </a:solidFill>
              </a:rPr>
              <a:t>  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Review action </a:t>
            </a:r>
            <a:r>
              <a:rPr lang="en-US" sz="1600" dirty="0" smtClean="0">
                <a:solidFill>
                  <a:srgbClr val="000000"/>
                </a:solidFill>
              </a:rPr>
              <a:t>plans, metrics, and countermeasures </a:t>
            </a:r>
            <a:r>
              <a:rPr lang="en-US" sz="1600" dirty="0">
                <a:solidFill>
                  <a:srgbClr val="000000"/>
                </a:solidFill>
              </a:rPr>
              <a:t>with AIP owners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endParaRPr lang="en-US" sz="1600" dirty="0" smtClean="0">
              <a:solidFill>
                <a:srgbClr val="000000"/>
              </a:solidFill>
            </a:endParaRP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endParaRPr lang="en-US" sz="1600" dirty="0" smtClean="0">
              <a:solidFill>
                <a:srgbClr val="000000"/>
              </a:solidFill>
            </a:endParaRPr>
          </a:p>
        </p:txBody>
      </p:sp>
      <p:sp>
        <p:nvSpPr>
          <p:cNvPr id="86019" name="Rectangle 5"/>
          <p:cNvSpPr>
            <a:spLocks noChangeArrowheads="1"/>
          </p:cNvSpPr>
          <p:nvPr/>
        </p:nvSpPr>
        <p:spPr bwMode="auto">
          <a:xfrm>
            <a:off x="5881795" y="2452688"/>
            <a:ext cx="2739917" cy="3231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/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Participate in live monthly SD </a:t>
            </a:r>
            <a:r>
              <a:rPr lang="en-US" sz="1600" dirty="0" smtClean="0">
                <a:solidFill>
                  <a:srgbClr val="000000"/>
                </a:solidFill>
              </a:rPr>
              <a:t>review session to assess the discipline and effectiveness of the review process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Observe areas where SD actions are being implemented to assess the effectiveness of the deployment</a:t>
            </a:r>
            <a:endParaRPr lang="en-US" sz="1600" dirty="0" smtClean="0">
              <a:solidFill>
                <a:srgbClr val="000000"/>
              </a:solidFill>
            </a:endParaRPr>
          </a:p>
        </p:txBody>
      </p:sp>
      <p:sp>
        <p:nvSpPr>
          <p:cNvPr id="86020" name="Rectangle 6"/>
          <p:cNvSpPr>
            <a:spLocks noChangeArrowheads="1"/>
          </p:cNvSpPr>
          <p:nvPr/>
        </p:nvSpPr>
        <p:spPr bwMode="auto">
          <a:xfrm>
            <a:off x="555625" y="2452688"/>
            <a:ext cx="2643188" cy="3471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/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Review business case and research done in preparation for SD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Review </a:t>
            </a:r>
            <a:r>
              <a:rPr lang="en-US" sz="1600" dirty="0" smtClean="0">
                <a:solidFill>
                  <a:srgbClr val="000000"/>
                </a:solidFill>
              </a:rPr>
              <a:t>top and subsequent level </a:t>
            </a:r>
            <a:r>
              <a:rPr lang="en-US" sz="1600" dirty="0" smtClean="0">
                <a:solidFill>
                  <a:srgbClr val="000000"/>
                </a:solidFill>
              </a:rPr>
              <a:t>matrices and  </a:t>
            </a:r>
            <a:r>
              <a:rPr lang="en-US" sz="1600" dirty="0" smtClean="0">
                <a:solidFill>
                  <a:srgbClr val="000000"/>
                </a:solidFill>
              </a:rPr>
              <a:t>action plans </a:t>
            </a:r>
            <a:r>
              <a:rPr lang="en-US" sz="1600" dirty="0" smtClean="0">
                <a:solidFill>
                  <a:srgbClr val="000000"/>
                </a:solidFill>
              </a:rPr>
              <a:t>to understand the structure of SD</a:t>
            </a:r>
          </a:p>
          <a:p>
            <a:pPr marL="285750" indent="-285750" algn="l" defTabSz="708025">
              <a:lnSpc>
                <a:spcPct val="100000"/>
              </a:lnSpc>
              <a:spcBef>
                <a:spcPct val="40000"/>
              </a:spcBef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Review metrics and countermeasures to understand the effectiveness of execution </a:t>
            </a:r>
            <a:endParaRPr lang="en-US" sz="1600" dirty="0" smtClean="0">
              <a:solidFill>
                <a:srgbClr val="000000"/>
              </a:solidFill>
            </a:endParaRPr>
          </a:p>
        </p:txBody>
      </p:sp>
      <p:sp>
        <p:nvSpPr>
          <p:cNvPr id="86021" name="AutoShape 7"/>
          <p:cNvSpPr>
            <a:spLocks noChangeArrowheads="1"/>
          </p:cNvSpPr>
          <p:nvPr/>
        </p:nvSpPr>
        <p:spPr bwMode="auto">
          <a:xfrm>
            <a:off x="5553075" y="1606550"/>
            <a:ext cx="3146425" cy="625475"/>
          </a:xfrm>
          <a:prstGeom prst="homePlate">
            <a:avLst>
              <a:gd name="adj" fmla="val 75108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algn="l">
              <a:lnSpc>
                <a:spcPct val="95000"/>
              </a:lnSpc>
              <a:spcBef>
                <a:spcPct val="0"/>
              </a:spcBef>
            </a:pPr>
            <a:r>
              <a:rPr lang="en-US" sz="1800" dirty="0" smtClean="0">
                <a:solidFill>
                  <a:srgbClr val="FFFFFF"/>
                </a:solidFill>
              </a:rPr>
              <a:t>               Site Visits</a:t>
            </a:r>
          </a:p>
        </p:txBody>
      </p:sp>
      <p:sp>
        <p:nvSpPr>
          <p:cNvPr id="86022" name="AutoShape 8"/>
          <p:cNvSpPr>
            <a:spLocks noChangeArrowheads="1"/>
          </p:cNvSpPr>
          <p:nvPr/>
        </p:nvSpPr>
        <p:spPr bwMode="auto">
          <a:xfrm>
            <a:off x="3228975" y="1606550"/>
            <a:ext cx="2744788" cy="625475"/>
          </a:xfrm>
          <a:prstGeom prst="homePlate">
            <a:avLst>
              <a:gd name="adj" fmla="val 57069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 marL="171450">
              <a:lnSpc>
                <a:spcPct val="95000"/>
              </a:lnSpc>
              <a:spcBef>
                <a:spcPct val="0"/>
              </a:spcBef>
            </a:pPr>
            <a:r>
              <a:rPr lang="en-US" sz="1800" dirty="0" smtClean="0">
                <a:solidFill>
                  <a:srgbClr val="FFFFFF"/>
                </a:solidFill>
              </a:rPr>
              <a:t>Interviews</a:t>
            </a:r>
          </a:p>
        </p:txBody>
      </p:sp>
      <p:sp>
        <p:nvSpPr>
          <p:cNvPr id="86023" name="AutoShape 9"/>
          <p:cNvSpPr>
            <a:spLocks noChangeArrowheads="1"/>
          </p:cNvSpPr>
          <p:nvPr/>
        </p:nvSpPr>
        <p:spPr bwMode="auto">
          <a:xfrm>
            <a:off x="493713" y="1606550"/>
            <a:ext cx="3173412" cy="625475"/>
          </a:xfrm>
          <a:prstGeom prst="homePlate">
            <a:avLst>
              <a:gd name="adj" fmla="val 73755"/>
            </a:avLst>
          </a:prstGeom>
          <a:solidFill>
            <a:schemeClr val="accent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45720" tIns="46038" rIns="45720" bIns="46038" anchor="ctr"/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1800" dirty="0" smtClean="0">
                <a:solidFill>
                  <a:srgbClr val="FFFFFF"/>
                </a:solidFill>
              </a:rPr>
              <a:t>Documents and Data </a:t>
            </a:r>
            <a:r>
              <a:rPr lang="en-US" sz="1800" dirty="0" smtClean="0">
                <a:solidFill>
                  <a:srgbClr val="FFFFFF"/>
                </a:solidFill>
              </a:rPr>
              <a:t>Analysis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09575" y="706438"/>
            <a:ext cx="8293100" cy="525462"/>
          </a:xfrm>
        </p:spPr>
        <p:txBody>
          <a:bodyPr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Lean Horizons Strategy Deployment Assessment Approach</a:t>
            </a:r>
          </a:p>
        </p:txBody>
      </p:sp>
    </p:spTree>
    <p:extLst>
      <p:ext uri="{BB962C8B-B14F-4D97-AF65-F5344CB8AC3E}">
        <p14:creationId xmlns:p14="http://schemas.microsoft.com/office/powerpoint/2010/main" val="3531403795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5" name="Rectangle 3"/>
          <p:cNvSpPr>
            <a:spLocks noChangeArrowheads="1"/>
          </p:cNvSpPr>
          <p:nvPr/>
        </p:nvSpPr>
        <p:spPr bwMode="auto">
          <a:xfrm>
            <a:off x="485775" y="2418542"/>
            <a:ext cx="4400894" cy="2836083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/>
          <a:p>
            <a:pPr algn="dist"/>
            <a:r>
              <a:rPr lang="en-US" sz="1800" dirty="0" smtClean="0">
                <a:solidFill>
                  <a:srgbClr val="000000"/>
                </a:solidFill>
              </a:rPr>
              <a:t>Typical Session Length: 1 to 2 Days</a:t>
            </a:r>
          </a:p>
          <a:p>
            <a:pPr algn="dist"/>
            <a:endParaRPr lang="en-US" sz="1800" dirty="0" smtClean="0">
              <a:solidFill>
                <a:srgbClr val="000000"/>
              </a:solidFill>
            </a:endParaRPr>
          </a:p>
          <a:p>
            <a:r>
              <a:rPr lang="en-US" sz="1800" dirty="0" smtClean="0">
                <a:solidFill>
                  <a:srgbClr val="000000"/>
                </a:solidFill>
              </a:rPr>
              <a:t>Business case, all matrices, action plans, metrics, and countermeasures are provided 2-3 weeks prior to interviews and site visits</a:t>
            </a:r>
            <a:endParaRPr lang="en-US" sz="1800" dirty="0" smtClean="0">
              <a:solidFill>
                <a:srgbClr val="000000"/>
              </a:solidFill>
            </a:endParaRPr>
          </a:p>
        </p:txBody>
      </p:sp>
      <p:sp>
        <p:nvSpPr>
          <p:cNvPr id="46096" name="Rectangle 4"/>
          <p:cNvSpPr>
            <a:spLocks noChangeArrowheads="1"/>
          </p:cNvSpPr>
          <p:nvPr/>
        </p:nvSpPr>
        <p:spPr bwMode="auto">
          <a:xfrm>
            <a:off x="485775" y="1730375"/>
            <a:ext cx="4405313" cy="66314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r>
              <a:rPr lang="en-US" sz="1800" dirty="0" smtClean="0">
                <a:solidFill>
                  <a:srgbClr val="FFFFFF"/>
                </a:solidFill>
              </a:rPr>
              <a:t>Document and Data Review</a:t>
            </a:r>
            <a:endParaRPr lang="en-US" sz="1800" dirty="0" smtClean="0">
              <a:solidFill>
                <a:srgbClr val="FFFFFF"/>
              </a:solidFill>
            </a:endParaRPr>
          </a:p>
        </p:txBody>
      </p:sp>
      <p:sp>
        <p:nvSpPr>
          <p:cNvPr id="4608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Assessment: Structure</a:t>
            </a:r>
            <a:endParaRPr lang="en-US" dirty="0">
              <a:latin typeface="Arial" charset="0"/>
            </a:endParaRPr>
          </a:p>
        </p:txBody>
      </p:sp>
      <p:sp>
        <p:nvSpPr>
          <p:cNvPr id="46083" name="Rectangle 6"/>
          <p:cNvSpPr>
            <a:spLocks noChangeArrowheads="1"/>
          </p:cNvSpPr>
          <p:nvPr/>
        </p:nvSpPr>
        <p:spPr bwMode="auto">
          <a:xfrm>
            <a:off x="5434013" y="1767695"/>
            <a:ext cx="3268662" cy="619145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dirty="0" smtClean="0">
                <a:solidFill>
                  <a:srgbClr val="FFFFFF"/>
                </a:solidFill>
              </a:rPr>
              <a:t>Main Activities</a:t>
            </a:r>
            <a:endParaRPr lang="en-US" sz="1600" dirty="0" smtClean="0">
              <a:solidFill>
                <a:srgbClr val="FFFFFF"/>
              </a:solidFill>
            </a:endParaRPr>
          </a:p>
        </p:txBody>
      </p:sp>
      <p:sp>
        <p:nvSpPr>
          <p:cNvPr id="46085" name="Rectangle 8"/>
          <p:cNvSpPr>
            <a:spLocks noChangeArrowheads="1"/>
          </p:cNvSpPr>
          <p:nvPr/>
        </p:nvSpPr>
        <p:spPr bwMode="auto">
          <a:xfrm>
            <a:off x="5370033" y="4624079"/>
            <a:ext cx="3376613" cy="169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 algn="l" eaLnBrk="1" hangingPunct="1">
              <a:lnSpc>
                <a:spcPct val="100000"/>
              </a:lnSpc>
              <a:spcBef>
                <a:spcPct val="30000"/>
              </a:spcBef>
              <a:buSzPct val="125000"/>
              <a:buFont typeface="Arial"/>
              <a:buChar char="•"/>
              <a:tabLst>
                <a:tab pos="3086100" algn="l"/>
              </a:tabLst>
            </a:pPr>
            <a:endParaRPr lang="en-US" sz="1600" dirty="0" smtClean="0">
              <a:solidFill>
                <a:srgbClr val="000000"/>
              </a:solidFill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5383004" y="2446066"/>
            <a:ext cx="3376613" cy="3198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Review business case documents and assess business needs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Review matrices and assess objectives, annual improvement priorities, targets, and resource allocation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Assess action plans and countermeasures, if any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Assess architecture</a:t>
            </a:r>
            <a:endParaRPr lang="en-US" sz="16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965013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95" name="Rectangle 3"/>
          <p:cNvSpPr>
            <a:spLocks noChangeArrowheads="1"/>
          </p:cNvSpPr>
          <p:nvPr/>
        </p:nvSpPr>
        <p:spPr bwMode="auto">
          <a:xfrm>
            <a:off x="485775" y="2418542"/>
            <a:ext cx="4400894" cy="2836083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noAutofit/>
          </a:bodyPr>
          <a:lstStyle/>
          <a:p>
            <a:r>
              <a:rPr lang="en-US" sz="1800" dirty="0" smtClean="0">
                <a:solidFill>
                  <a:srgbClr val="000000"/>
                </a:solidFill>
              </a:rPr>
              <a:t>Typical Session Length: 1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 smtClean="0">
                <a:solidFill>
                  <a:srgbClr val="000000"/>
                </a:solidFill>
              </a:rPr>
              <a:t>Day</a:t>
            </a:r>
          </a:p>
          <a:p>
            <a:endParaRPr lang="en-US" sz="1800" dirty="0" smtClean="0">
              <a:solidFill>
                <a:srgbClr val="000000"/>
              </a:solidFill>
            </a:endParaRPr>
          </a:p>
          <a:p>
            <a:r>
              <a:rPr lang="en-US" sz="1800" dirty="0">
                <a:solidFill>
                  <a:srgbClr val="000000"/>
                </a:solidFill>
              </a:rPr>
              <a:t>Key Participants: 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 smtClean="0">
                <a:solidFill>
                  <a:srgbClr val="000000"/>
                </a:solidFill>
              </a:rPr>
              <a:t>Senior Leaders, Matrix Owner(s) </a:t>
            </a:r>
            <a:r>
              <a:rPr lang="en-US" sz="1800" dirty="0">
                <a:solidFill>
                  <a:srgbClr val="000000"/>
                </a:solidFill>
              </a:rPr>
              <a:t>and AIP Owner(s)</a:t>
            </a:r>
          </a:p>
          <a:p>
            <a:endParaRPr lang="en-US" sz="1800" dirty="0" smtClean="0">
              <a:solidFill>
                <a:srgbClr val="000000"/>
              </a:solidFill>
            </a:endParaRPr>
          </a:p>
        </p:txBody>
      </p:sp>
      <p:sp>
        <p:nvSpPr>
          <p:cNvPr id="46096" name="Rectangle 4"/>
          <p:cNvSpPr>
            <a:spLocks noChangeArrowheads="1"/>
          </p:cNvSpPr>
          <p:nvPr/>
        </p:nvSpPr>
        <p:spPr bwMode="auto">
          <a:xfrm>
            <a:off x="485775" y="1730375"/>
            <a:ext cx="4405313" cy="663143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r>
              <a:rPr lang="en-US" sz="1800" dirty="0" smtClean="0">
                <a:solidFill>
                  <a:srgbClr val="FFFFFF"/>
                </a:solidFill>
              </a:rPr>
              <a:t>Interviews</a:t>
            </a:r>
            <a:endParaRPr lang="en-US" sz="1800" dirty="0" smtClean="0">
              <a:solidFill>
                <a:srgbClr val="FFFFFF"/>
              </a:solidFill>
            </a:endParaRPr>
          </a:p>
        </p:txBody>
      </p:sp>
      <p:sp>
        <p:nvSpPr>
          <p:cNvPr id="4608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Assessment: Culture</a:t>
            </a:r>
            <a:endParaRPr lang="en-US" dirty="0">
              <a:latin typeface="Arial" charset="0"/>
            </a:endParaRPr>
          </a:p>
        </p:txBody>
      </p:sp>
      <p:sp>
        <p:nvSpPr>
          <p:cNvPr id="46083" name="Rectangle 6"/>
          <p:cNvSpPr>
            <a:spLocks noChangeArrowheads="1"/>
          </p:cNvSpPr>
          <p:nvPr/>
        </p:nvSpPr>
        <p:spPr bwMode="auto">
          <a:xfrm>
            <a:off x="5434013" y="1767695"/>
            <a:ext cx="3268662" cy="619145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dirty="0" smtClean="0">
                <a:solidFill>
                  <a:srgbClr val="FFFFFF"/>
                </a:solidFill>
              </a:rPr>
              <a:t>Main Activities</a:t>
            </a:r>
            <a:endParaRPr lang="en-US" sz="1600" dirty="0" smtClean="0">
              <a:solidFill>
                <a:srgbClr val="FFFFFF"/>
              </a:solidFill>
            </a:endParaRPr>
          </a:p>
        </p:txBody>
      </p:sp>
      <p:sp>
        <p:nvSpPr>
          <p:cNvPr id="46085" name="Rectangle 8"/>
          <p:cNvSpPr>
            <a:spLocks noChangeArrowheads="1"/>
          </p:cNvSpPr>
          <p:nvPr/>
        </p:nvSpPr>
        <p:spPr bwMode="auto">
          <a:xfrm>
            <a:off x="5370033" y="4624079"/>
            <a:ext cx="3376613" cy="169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indent="-285750" algn="l" eaLnBrk="1" hangingPunct="1">
              <a:lnSpc>
                <a:spcPct val="100000"/>
              </a:lnSpc>
              <a:spcBef>
                <a:spcPct val="30000"/>
              </a:spcBef>
              <a:buSzPct val="125000"/>
              <a:buFont typeface="Arial"/>
              <a:buChar char="•"/>
              <a:tabLst>
                <a:tab pos="3086100" algn="l"/>
              </a:tabLst>
            </a:pPr>
            <a:endParaRPr lang="en-US" sz="1600" dirty="0" smtClean="0">
              <a:solidFill>
                <a:srgbClr val="000000"/>
              </a:solidFill>
            </a:endParaRP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5383004" y="2446066"/>
            <a:ext cx="3376613" cy="3198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Understand top level business needs and objectives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Assess Senior </a:t>
            </a:r>
            <a:r>
              <a:rPr lang="en-US" sz="1600" dirty="0">
                <a:solidFill>
                  <a:srgbClr val="000000"/>
                </a:solidFill>
              </a:rPr>
              <a:t>L</a:t>
            </a:r>
            <a:r>
              <a:rPr lang="en-US" sz="1600" dirty="0" smtClean="0">
                <a:solidFill>
                  <a:srgbClr val="000000"/>
                </a:solidFill>
              </a:rPr>
              <a:t>eadership engagement and sponsorship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Assess action plans, targets, and countermeasures (if any) with AIP owners 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endParaRPr lang="en-US" sz="16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535999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1" name="Group 2"/>
          <p:cNvGrpSpPr>
            <a:grpSpLocks/>
          </p:cNvGrpSpPr>
          <p:nvPr/>
        </p:nvGrpSpPr>
        <p:grpSpPr bwMode="auto">
          <a:xfrm>
            <a:off x="485775" y="1730375"/>
            <a:ext cx="4405313" cy="3524250"/>
            <a:chOff x="498" y="1328"/>
            <a:chExt cx="997" cy="845"/>
          </a:xfrm>
        </p:grpSpPr>
        <p:sp>
          <p:nvSpPr>
            <p:cNvPr id="46095" name="Rectangle 3"/>
            <p:cNvSpPr>
              <a:spLocks noChangeArrowheads="1"/>
            </p:cNvSpPr>
            <p:nvPr/>
          </p:nvSpPr>
          <p:spPr bwMode="auto">
            <a:xfrm>
              <a:off x="498" y="1493"/>
              <a:ext cx="996" cy="68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/>
            <a:lstStyle/>
            <a:p>
              <a:r>
                <a:rPr lang="en-US" sz="1800" dirty="0" smtClean="0">
                  <a:solidFill>
                    <a:srgbClr val="000000"/>
                  </a:solidFill>
                </a:rPr>
                <a:t>Typical Session Length: 1 to 2 Days</a:t>
              </a:r>
            </a:p>
            <a:p>
              <a:endParaRPr lang="en-US" sz="1800" dirty="0" smtClean="0">
                <a:solidFill>
                  <a:srgbClr val="000000"/>
                </a:solidFill>
              </a:endParaRPr>
            </a:p>
            <a:p>
              <a:r>
                <a:rPr lang="en-US" sz="1800" dirty="0" smtClean="0">
                  <a:solidFill>
                    <a:srgbClr val="000000"/>
                  </a:solidFill>
                </a:rPr>
                <a:t>Key Participants: </a:t>
              </a:r>
              <a:br>
                <a:rPr lang="en-US" sz="1800" dirty="0" smtClean="0">
                  <a:solidFill>
                    <a:srgbClr val="000000"/>
                  </a:solidFill>
                </a:rPr>
              </a:br>
              <a:r>
                <a:rPr lang="en-US" sz="1800" dirty="0" smtClean="0">
                  <a:solidFill>
                    <a:srgbClr val="000000"/>
                  </a:solidFill>
                </a:rPr>
                <a:t>Functional Leader(s) and AIP Owner(s) where SD actions are being</a:t>
              </a:r>
            </a:p>
            <a:p>
              <a:r>
                <a:rPr lang="en-US" sz="1800" dirty="0">
                  <a:solidFill>
                    <a:srgbClr val="000000"/>
                  </a:solidFill>
                </a:rPr>
                <a:t>i</a:t>
              </a:r>
              <a:r>
                <a:rPr lang="en-US" sz="1800" dirty="0" smtClean="0">
                  <a:solidFill>
                    <a:srgbClr val="000000"/>
                  </a:solidFill>
                </a:rPr>
                <a:t>mplemented and monthly review is</a:t>
              </a:r>
            </a:p>
            <a:p>
              <a:r>
                <a:rPr lang="en-US" sz="1800" dirty="0" smtClean="0">
                  <a:solidFill>
                    <a:srgbClr val="000000"/>
                  </a:solidFill>
                </a:rPr>
                <a:t>being held</a:t>
              </a:r>
              <a:endParaRPr lang="en-US" sz="1800" dirty="0" smtClean="0">
                <a:solidFill>
                  <a:srgbClr val="000000"/>
                </a:solidFill>
              </a:endParaRPr>
            </a:p>
          </p:txBody>
        </p:sp>
        <p:sp>
          <p:nvSpPr>
            <p:cNvPr id="46096" name="Rectangle 4"/>
            <p:cNvSpPr>
              <a:spLocks noChangeArrowheads="1"/>
            </p:cNvSpPr>
            <p:nvPr/>
          </p:nvSpPr>
          <p:spPr bwMode="auto">
            <a:xfrm>
              <a:off x="498" y="1328"/>
              <a:ext cx="997" cy="159"/>
            </a:xfrm>
            <a:prstGeom prst="rect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 anchorCtr="1"/>
            <a:lstStyle/>
            <a:p>
              <a:r>
                <a:rPr lang="en-US" sz="1800" dirty="0" smtClean="0">
                  <a:solidFill>
                    <a:srgbClr val="FFFFFF"/>
                  </a:solidFill>
                </a:rPr>
                <a:t>Site Visits</a:t>
              </a:r>
              <a:endParaRPr lang="en-US" sz="1800" dirty="0" smtClean="0">
                <a:solidFill>
                  <a:srgbClr val="FFFFFF"/>
                </a:solidFill>
              </a:endParaRPr>
            </a:p>
          </p:txBody>
        </p:sp>
      </p:grpSp>
      <p:sp>
        <p:nvSpPr>
          <p:cNvPr id="4608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Assessment: Discipline and Effectiveness</a:t>
            </a:r>
            <a:endParaRPr lang="en-US" dirty="0">
              <a:latin typeface="Arial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5434013" y="1767695"/>
            <a:ext cx="3268662" cy="619145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600" dirty="0" smtClean="0">
                <a:solidFill>
                  <a:srgbClr val="FFFFFF"/>
                </a:solidFill>
              </a:rPr>
              <a:t>Main Activities</a:t>
            </a:r>
            <a:endParaRPr lang="en-US" sz="1600" dirty="0" smtClean="0">
              <a:solidFill>
                <a:srgbClr val="FFFFFF"/>
              </a:solidFill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5383004" y="2446066"/>
            <a:ext cx="3376613" cy="3198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Assess the discipline and rigor of monthly SD review process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Assess the progress of action plans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r>
              <a:rPr lang="en-US" sz="1600" dirty="0" smtClean="0">
                <a:solidFill>
                  <a:srgbClr val="000000"/>
                </a:solidFill>
              </a:rPr>
              <a:t>Assess the effectiveness of action plans in achieving targets</a:t>
            </a:r>
          </a:p>
          <a:p>
            <a:pPr marL="342900" indent="-342900" algn="l" eaLnBrk="1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SzPct val="125000"/>
              <a:buFont typeface="Arial" charset="0"/>
              <a:buChar char="•"/>
              <a:tabLst>
                <a:tab pos="3086100" algn="l"/>
              </a:tabLst>
            </a:pPr>
            <a:endParaRPr lang="en-US" sz="16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924590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6"/>
          <p:cNvSpPr>
            <a:spLocks noChangeArrowheads="1"/>
          </p:cNvSpPr>
          <p:nvPr/>
        </p:nvSpPr>
        <p:spPr bwMode="auto">
          <a:xfrm>
            <a:off x="395194" y="2221193"/>
            <a:ext cx="8215313" cy="3444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</a:rPr>
              <a:t>Strategy Deployment Assessment Approach</a:t>
            </a:r>
          </a:p>
        </p:txBody>
      </p:sp>
      <p:sp>
        <p:nvSpPr>
          <p:cNvPr id="18435" name="Rectangle 2"/>
          <p:cNvSpPr txBox="1">
            <a:spLocks noChangeArrowheads="1"/>
          </p:cNvSpPr>
          <p:nvPr/>
        </p:nvSpPr>
        <p:spPr bwMode="auto">
          <a:xfrm>
            <a:off x="409575" y="782638"/>
            <a:ext cx="8293100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18437" name="Rectangle 16"/>
          <p:cNvSpPr>
            <a:spLocks noChangeArrowheads="1"/>
          </p:cNvSpPr>
          <p:nvPr/>
        </p:nvSpPr>
        <p:spPr bwMode="auto">
          <a:xfrm>
            <a:off x="407894" y="1687793"/>
            <a:ext cx="8215313" cy="3444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</a:rPr>
              <a:t>Characteristics of Successful Strategy Deployment</a:t>
            </a:r>
          </a:p>
        </p:txBody>
      </p:sp>
      <p:sp>
        <p:nvSpPr>
          <p:cNvPr id="5" name="Rectangle 16"/>
          <p:cNvSpPr>
            <a:spLocks noChangeArrowheads="1"/>
          </p:cNvSpPr>
          <p:nvPr/>
        </p:nvSpPr>
        <p:spPr bwMode="auto">
          <a:xfrm>
            <a:off x="385114" y="2803744"/>
            <a:ext cx="8215313" cy="344488"/>
          </a:xfrm>
          <a:prstGeom prst="rect">
            <a:avLst/>
          </a:prstGeom>
          <a:solidFill>
            <a:srgbClr val="000090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lIns="457200" anchor="ctr"/>
          <a:lstStyle/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</a:rPr>
              <a:t>Introduction to Lean Horizons</a:t>
            </a:r>
          </a:p>
        </p:txBody>
      </p:sp>
    </p:spTree>
    <p:extLst>
      <p:ext uri="{BB962C8B-B14F-4D97-AF65-F5344CB8AC3E}">
        <p14:creationId xmlns:p14="http://schemas.microsoft.com/office/powerpoint/2010/main" val="231206672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Group 45"/>
          <p:cNvGrpSpPr>
            <a:grpSpLocks noChangeAspect="1"/>
          </p:cNvGrpSpPr>
          <p:nvPr/>
        </p:nvGrpSpPr>
        <p:grpSpPr bwMode="auto">
          <a:xfrm>
            <a:off x="2516188" y="4121150"/>
            <a:ext cx="4010025" cy="409575"/>
            <a:chOff x="1348" y="3500"/>
            <a:chExt cx="6300" cy="559"/>
          </a:xfrm>
        </p:grpSpPr>
        <p:pic>
          <p:nvPicPr>
            <p:cNvPr id="21547" name="Picture 46" descr="titlebar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8" y="3525"/>
              <a:ext cx="6245" cy="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48" name="Rectangle 47"/>
            <p:cNvSpPr>
              <a:spLocks noChangeAspect="1" noChangeArrowheads="1"/>
            </p:cNvSpPr>
            <p:nvPr/>
          </p:nvSpPr>
          <p:spPr bwMode="auto">
            <a:xfrm>
              <a:off x="2251" y="3500"/>
              <a:ext cx="5397" cy="5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506" name="Picture 48" descr="Loctite.co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4225925"/>
            <a:ext cx="792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07" name="Group 49"/>
          <p:cNvGrpSpPr>
            <a:grpSpLocks noChangeAspect="1"/>
          </p:cNvGrpSpPr>
          <p:nvPr/>
        </p:nvGrpSpPr>
        <p:grpSpPr bwMode="auto">
          <a:xfrm>
            <a:off x="619125" y="3476625"/>
            <a:ext cx="2805113" cy="544513"/>
            <a:chOff x="1825" y="3243"/>
            <a:chExt cx="4520" cy="966"/>
          </a:xfrm>
        </p:grpSpPr>
        <p:sp>
          <p:nvSpPr>
            <p:cNvPr id="21545" name="Rectangle 51"/>
            <p:cNvSpPr>
              <a:spLocks noChangeAspect="1" noChangeArrowheads="1"/>
            </p:cNvSpPr>
            <p:nvPr/>
          </p:nvSpPr>
          <p:spPr bwMode="auto">
            <a:xfrm>
              <a:off x="1825" y="3704"/>
              <a:ext cx="1303" cy="4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46" name="Rectangle 52"/>
            <p:cNvSpPr>
              <a:spLocks noChangeAspect="1" noChangeArrowheads="1"/>
            </p:cNvSpPr>
            <p:nvPr/>
          </p:nvSpPr>
          <p:spPr bwMode="auto">
            <a:xfrm>
              <a:off x="3093" y="3243"/>
              <a:ext cx="3252" cy="9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508" name="Picture 58" descr="Newell Rubbermaid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4064000"/>
            <a:ext cx="1062037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59" descr="Toro. Count on it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75" y="5092700"/>
            <a:ext cx="92392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60" descr="parker">
            <a:hlinkClick r:id="rId8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4848225"/>
            <a:ext cx="73183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61" descr="logo">
            <a:hlinkClick r:id="rId10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3" y="3773488"/>
            <a:ext cx="752475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63" descr="logo-l2">
            <a:hlinkClick r:id="rId12"/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572000"/>
            <a:ext cx="1093787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Picture 65" descr="logo2">
            <a:hlinkClick r:id="rId14"/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4205288"/>
            <a:ext cx="846138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Picture 67" descr="Stanley Logo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63" y="4643438"/>
            <a:ext cx="86836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5" name="Picture 68" descr="hdr_logo_sony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838" y="4451350"/>
            <a:ext cx="465137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6" name="Picture 70" descr="acuitybrands">
            <a:hlinkClick r:id="rId18"/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5214938"/>
            <a:ext cx="113347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7" name="Rectangle 29"/>
          <p:cNvSpPr>
            <a:spLocks noChangeArrowheads="1"/>
          </p:cNvSpPr>
          <p:nvPr/>
        </p:nvSpPr>
        <p:spPr bwMode="auto">
          <a:xfrm>
            <a:off x="3827463" y="2405063"/>
            <a:ext cx="4841875" cy="86677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Text Box 30"/>
          <p:cNvSpPr txBox="1">
            <a:spLocks noChangeArrowheads="1"/>
          </p:cNvSpPr>
          <p:nvPr/>
        </p:nvSpPr>
        <p:spPr bwMode="auto">
          <a:xfrm>
            <a:off x="4124325" y="2281238"/>
            <a:ext cx="1090613" cy="263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</a:rPr>
              <a:t>Our Vision</a:t>
            </a:r>
          </a:p>
        </p:txBody>
      </p:sp>
      <p:sp>
        <p:nvSpPr>
          <p:cNvPr id="21519" name="Rectangle 31"/>
          <p:cNvSpPr>
            <a:spLocks noChangeArrowheads="1"/>
          </p:cNvSpPr>
          <p:nvPr/>
        </p:nvSpPr>
        <p:spPr bwMode="auto">
          <a:xfrm>
            <a:off x="3894138" y="2516188"/>
            <a:ext cx="4794250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71438" tIns="36513" rIns="71438" bIns="36513">
            <a:spAutoFit/>
          </a:bodyPr>
          <a:lstStyle/>
          <a:p>
            <a:pPr algn="l" defTabSz="708025">
              <a:lnSpc>
                <a:spcPct val="100000"/>
              </a:lnSpc>
              <a:spcBef>
                <a:spcPct val="55000"/>
              </a:spcBef>
              <a:buClr>
                <a:srgbClr val="0000FF"/>
              </a:buClr>
              <a:buSzPct val="80000"/>
              <a:buFont typeface="Wingdings 2" charset="0"/>
              <a:buNone/>
            </a:pPr>
            <a:r>
              <a:rPr lang="en-US" sz="1300">
                <a:solidFill>
                  <a:schemeClr val="tx1"/>
                </a:solidFill>
              </a:rPr>
              <a:t>To be the recognized Lean consultancy in providing clients enterprise-wide transformation solutions that strategically create value though the elimination of waste </a:t>
            </a:r>
          </a:p>
        </p:txBody>
      </p:sp>
      <p:sp>
        <p:nvSpPr>
          <p:cNvPr id="21520" name="Rectangle 32"/>
          <p:cNvSpPr>
            <a:spLocks noChangeArrowheads="1"/>
          </p:cNvSpPr>
          <p:nvPr/>
        </p:nvSpPr>
        <p:spPr bwMode="auto">
          <a:xfrm>
            <a:off x="558800" y="2405063"/>
            <a:ext cx="2727325" cy="3030537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Text Box 33"/>
          <p:cNvSpPr txBox="1">
            <a:spLocks noChangeArrowheads="1"/>
          </p:cNvSpPr>
          <p:nvPr/>
        </p:nvSpPr>
        <p:spPr bwMode="auto">
          <a:xfrm>
            <a:off x="436563" y="2287588"/>
            <a:ext cx="2325687" cy="263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</a:rPr>
              <a:t>Sample Lean Client Base</a:t>
            </a:r>
          </a:p>
        </p:txBody>
      </p:sp>
      <p:sp>
        <p:nvSpPr>
          <p:cNvPr id="21522" name="Rectangle 34"/>
          <p:cNvSpPr>
            <a:spLocks noChangeArrowheads="1"/>
          </p:cNvSpPr>
          <p:nvPr/>
        </p:nvSpPr>
        <p:spPr bwMode="auto">
          <a:xfrm>
            <a:off x="3827463" y="3689350"/>
            <a:ext cx="4841875" cy="174783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Text Box 35"/>
          <p:cNvSpPr txBox="1">
            <a:spLocks noChangeArrowheads="1"/>
          </p:cNvSpPr>
          <p:nvPr/>
        </p:nvSpPr>
        <p:spPr bwMode="auto">
          <a:xfrm>
            <a:off x="4075113" y="3573463"/>
            <a:ext cx="1574800" cy="2524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 eaLnBrk="1" hangingPunct="1">
              <a:lnSpc>
                <a:spcPct val="75000"/>
              </a:lnSpc>
              <a:spcBef>
                <a:spcPct val="0"/>
              </a:spcBef>
            </a:pPr>
            <a:r>
              <a:rPr lang="en-US" sz="1400">
                <a:solidFill>
                  <a:schemeClr val="tx1"/>
                </a:solidFill>
              </a:rPr>
              <a:t>Our Core Values</a:t>
            </a:r>
          </a:p>
        </p:txBody>
      </p:sp>
      <p:sp>
        <p:nvSpPr>
          <p:cNvPr id="21524" name="Rectangle 36"/>
          <p:cNvSpPr>
            <a:spLocks noChangeArrowheads="1"/>
          </p:cNvSpPr>
          <p:nvPr/>
        </p:nvSpPr>
        <p:spPr bwMode="gray">
          <a:xfrm>
            <a:off x="3827463" y="3806825"/>
            <a:ext cx="4597400" cy="170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30188" indent="-230188" algn="l">
              <a:lnSpc>
                <a:spcPct val="100000"/>
              </a:lnSpc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300">
                <a:solidFill>
                  <a:schemeClr val="tx1"/>
                </a:solidFill>
              </a:rPr>
              <a:t>Honesty, integrity and ethical behavior</a:t>
            </a:r>
          </a:p>
          <a:p>
            <a:pPr marL="230188" indent="-230188" algn="l">
              <a:lnSpc>
                <a:spcPct val="100000"/>
              </a:lnSpc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300">
                <a:solidFill>
                  <a:schemeClr val="tx1"/>
                </a:solidFill>
              </a:rPr>
              <a:t>Teamwork, client collaboration and team diversity</a:t>
            </a:r>
          </a:p>
          <a:p>
            <a:pPr marL="230188" indent="-230188" algn="l">
              <a:lnSpc>
                <a:spcPct val="100000"/>
              </a:lnSpc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300">
                <a:solidFill>
                  <a:schemeClr val="tx1"/>
                </a:solidFill>
              </a:rPr>
              <a:t>Respect for our clients, their culture and our  people</a:t>
            </a:r>
          </a:p>
          <a:p>
            <a:pPr marL="230188" indent="-230188" algn="l">
              <a:lnSpc>
                <a:spcPct val="100000"/>
              </a:lnSpc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300">
                <a:solidFill>
                  <a:schemeClr val="tx1"/>
                </a:solidFill>
              </a:rPr>
              <a:t>Making and meeting commitments</a:t>
            </a:r>
          </a:p>
          <a:p>
            <a:pPr marL="230188" indent="-230188" algn="l">
              <a:lnSpc>
                <a:spcPct val="100000"/>
              </a:lnSpc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300">
                <a:solidFill>
                  <a:schemeClr val="tx1"/>
                </a:solidFill>
              </a:rPr>
              <a:t>Passion for excellence </a:t>
            </a:r>
          </a:p>
          <a:p>
            <a:pPr marL="230188" indent="-230188" algn="l">
              <a:lnSpc>
                <a:spcPct val="100000"/>
              </a:lnSpc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300">
                <a:solidFill>
                  <a:schemeClr val="tx1"/>
                </a:solidFill>
              </a:rPr>
              <a:t>Building trust through candid communication</a:t>
            </a:r>
          </a:p>
          <a:p>
            <a:pPr marL="230188" indent="-230188" algn="l">
              <a:lnSpc>
                <a:spcPct val="100000"/>
              </a:lnSpc>
              <a:buClr>
                <a:srgbClr val="0000FF"/>
              </a:buClr>
              <a:buSzPct val="90000"/>
              <a:buFont typeface="Wingdings" charset="0"/>
              <a:buChar char="§"/>
            </a:pPr>
            <a:endParaRPr lang="en-US" sz="1300">
              <a:solidFill>
                <a:schemeClr val="tx1"/>
              </a:solidFill>
            </a:endParaRPr>
          </a:p>
        </p:txBody>
      </p:sp>
      <p:cxnSp>
        <p:nvCxnSpPr>
          <p:cNvPr id="21525" name="AutoShape 37"/>
          <p:cNvCxnSpPr>
            <a:cxnSpLocks noChangeShapeType="1"/>
            <a:stCxn id="21520" idx="3"/>
            <a:endCxn id="21517" idx="1"/>
          </p:cNvCxnSpPr>
          <p:nvPr/>
        </p:nvCxnSpPr>
        <p:spPr bwMode="auto">
          <a:xfrm flipV="1">
            <a:off x="3295650" y="2838450"/>
            <a:ext cx="522288" cy="1082675"/>
          </a:xfrm>
          <a:prstGeom prst="bentConnector3">
            <a:avLst>
              <a:gd name="adj1" fmla="val 49847"/>
            </a:avLst>
          </a:prstGeom>
          <a:noFill/>
          <a:ln w="19050" cap="sq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6" name="AutoShape 38"/>
          <p:cNvCxnSpPr>
            <a:cxnSpLocks noChangeShapeType="1"/>
            <a:stCxn id="21520" idx="3"/>
            <a:endCxn id="21524" idx="1"/>
          </p:cNvCxnSpPr>
          <p:nvPr/>
        </p:nvCxnSpPr>
        <p:spPr bwMode="auto">
          <a:xfrm>
            <a:off x="3295650" y="3921125"/>
            <a:ext cx="531813" cy="741363"/>
          </a:xfrm>
          <a:prstGeom prst="bentConnector3">
            <a:avLst>
              <a:gd name="adj1" fmla="val 48954"/>
            </a:avLst>
          </a:prstGeom>
          <a:noFill/>
          <a:ln w="19050" cap="sq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7" name="Text Box 41"/>
          <p:cNvSpPr txBox="1">
            <a:spLocks noChangeArrowheads="1"/>
          </p:cNvSpPr>
          <p:nvPr/>
        </p:nvSpPr>
        <p:spPr bwMode="auto">
          <a:xfrm>
            <a:off x="1036638" y="5580063"/>
            <a:ext cx="7216775" cy="4619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100000"/>
              </a:lnSpc>
              <a:spcBef>
                <a:spcPct val="25000"/>
              </a:spcBef>
            </a:pPr>
            <a:r>
              <a:rPr lang="en-US" sz="1200" i="1"/>
              <a:t>Founded in 2001 by Mark Deluzio, Built On The Principles Of The Danaher Business System, Which was Conceived through the Teachings of Taiichi Ohno of the Toyota Production System</a:t>
            </a:r>
          </a:p>
        </p:txBody>
      </p:sp>
      <p:sp>
        <p:nvSpPr>
          <p:cNvPr id="21528" name="Rectangle 7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ea typeface="ＭＳ Ｐゴシック" charset="0"/>
              </a:rPr>
              <a:t>Creating Wealth Through Lean</a:t>
            </a:r>
          </a:p>
        </p:txBody>
      </p:sp>
      <p:sp>
        <p:nvSpPr>
          <p:cNvPr id="21529" name="Rectangle 72"/>
          <p:cNvSpPr>
            <a:spLocks noChangeArrowheads="1"/>
          </p:cNvSpPr>
          <p:nvPr/>
        </p:nvSpPr>
        <p:spPr bwMode="auto">
          <a:xfrm>
            <a:off x="374650" y="1543050"/>
            <a:ext cx="8274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dirty="0" smtClean="0">
                <a:solidFill>
                  <a:schemeClr val="tx1"/>
                </a:solidFill>
              </a:rPr>
              <a:t>Lean </a:t>
            </a:r>
            <a:r>
              <a:rPr lang="en-US" sz="1800" dirty="0">
                <a:solidFill>
                  <a:schemeClr val="tx1"/>
                </a:solidFill>
              </a:rPr>
              <a:t>Horizons Consulting provides true enterprise-wide 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transformations through Lean in diversified industries on a global basis</a:t>
            </a:r>
          </a:p>
        </p:txBody>
      </p:sp>
      <p:pic>
        <p:nvPicPr>
          <p:cNvPr id="21530" name="Picture 44" descr="Allergan">
            <a:hlinkClick r:id="rId20"/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3022600"/>
            <a:ext cx="1277938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531" name="Group 15"/>
          <p:cNvGrpSpPr>
            <a:grpSpLocks/>
          </p:cNvGrpSpPr>
          <p:nvPr/>
        </p:nvGrpSpPr>
        <p:grpSpPr bwMode="auto">
          <a:xfrm>
            <a:off x="2165350" y="3686175"/>
            <a:ext cx="1098550" cy="371475"/>
            <a:chOff x="2444" y="3477"/>
            <a:chExt cx="852" cy="277"/>
          </a:xfrm>
        </p:grpSpPr>
        <p:pic>
          <p:nvPicPr>
            <p:cNvPr id="21543" name="Picture 13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1" y="3485"/>
              <a:ext cx="84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44" name="Rectangle 14"/>
            <p:cNvSpPr>
              <a:spLocks noChangeArrowheads="1"/>
            </p:cNvSpPr>
            <p:nvPr/>
          </p:nvSpPr>
          <p:spPr bwMode="auto">
            <a:xfrm>
              <a:off x="2444" y="3477"/>
              <a:ext cx="851" cy="277"/>
            </a:xfrm>
            <a:prstGeom prst="rect">
              <a:avLst/>
            </a:prstGeom>
            <a:noFill/>
            <a:ln w="38100" cap="sq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21532" name="Picture 54" descr="http://www.edwards.com/SiteCollectionImages/Edwards/global_logo_wide.gif">
            <a:hlinkClick r:id="rId23"/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3416300"/>
            <a:ext cx="1763713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3" name="Picture 31" descr="GE Logo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2546350"/>
            <a:ext cx="13096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4" name="Picture 43" descr="Vestas Logo 1.jp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50" y="2949575"/>
            <a:ext cx="658813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5" name="Picture 4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00" y="4516438"/>
            <a:ext cx="814388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6" name="Picture 55" descr="GD logo.jpg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4813300"/>
            <a:ext cx="755650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7" name="Picture 44" descr="Philips logo.jpg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863" y="2857500"/>
            <a:ext cx="690562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8" name="Picture 54" descr="AD logo.jpg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4919663"/>
            <a:ext cx="669925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39" name="Picture 22" descr="Gates">
            <a:hlinkClick r:id="rId31"/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3746500"/>
            <a:ext cx="533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0" name="Picture 1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25" y="2532063"/>
            <a:ext cx="2200275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41" name="TextBox 3"/>
          <p:cNvSpPr txBox="1">
            <a:spLocks noChangeArrowheads="1"/>
          </p:cNvSpPr>
          <p:nvPr/>
        </p:nvSpPr>
        <p:spPr bwMode="auto">
          <a:xfrm>
            <a:off x="2455863" y="2598738"/>
            <a:ext cx="803275" cy="2079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/>
              <a:t>Blackstone</a:t>
            </a:r>
          </a:p>
        </p:txBody>
      </p:sp>
      <p:pic>
        <p:nvPicPr>
          <p:cNvPr id="21542" name="Picture 4"/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3" y="3101975"/>
            <a:ext cx="990600" cy="30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7023868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ChangeArrowheads="1"/>
          </p:cNvSpPr>
          <p:nvPr/>
        </p:nvSpPr>
        <p:spPr bwMode="gray">
          <a:xfrm>
            <a:off x="4897438" y="2339975"/>
            <a:ext cx="39370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30188" indent="-230188" algn="l">
              <a:lnSpc>
                <a:spcPct val="115000"/>
              </a:lnSpc>
              <a:spcBef>
                <a:spcPct val="45000"/>
              </a:spcBef>
              <a:spcAft>
                <a:spcPct val="50000"/>
              </a:spcAft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200">
                <a:solidFill>
                  <a:schemeClr val="tx1"/>
                </a:solidFill>
              </a:rPr>
              <a:t>Business model structured on the capabilities and success of the Danaher Business System (DBS)</a:t>
            </a:r>
          </a:p>
          <a:p>
            <a:pPr marL="230188" indent="-230188" algn="l">
              <a:lnSpc>
                <a:spcPct val="115000"/>
              </a:lnSpc>
              <a:spcBef>
                <a:spcPct val="45000"/>
              </a:spcBef>
              <a:spcAft>
                <a:spcPct val="50000"/>
              </a:spcAft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200">
                <a:solidFill>
                  <a:schemeClr val="tx1"/>
                </a:solidFill>
              </a:rPr>
              <a:t>Service offerings provide an integrated suite of proven Lean methodologies spanning the entire value stream</a:t>
            </a:r>
          </a:p>
          <a:p>
            <a:pPr marL="230188" indent="-230188" algn="l">
              <a:lnSpc>
                <a:spcPct val="115000"/>
              </a:lnSpc>
              <a:spcBef>
                <a:spcPct val="45000"/>
              </a:spcBef>
              <a:spcAft>
                <a:spcPct val="50000"/>
              </a:spcAft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200">
                <a:solidFill>
                  <a:schemeClr val="tx1"/>
                </a:solidFill>
              </a:rPr>
              <a:t>Employs only the best people with lineage to the Toyota production system providing enterprise-wide solutions</a:t>
            </a:r>
          </a:p>
          <a:p>
            <a:pPr marL="230188" indent="-230188" algn="l">
              <a:lnSpc>
                <a:spcPct val="115000"/>
              </a:lnSpc>
              <a:spcBef>
                <a:spcPct val="45000"/>
              </a:spcBef>
              <a:spcAft>
                <a:spcPct val="50000"/>
              </a:spcAft>
              <a:buClr>
                <a:srgbClr val="0000FF"/>
              </a:buClr>
              <a:buSzPct val="90000"/>
              <a:buFont typeface="Wingdings" charset="0"/>
              <a:buChar char="§"/>
            </a:pPr>
            <a:r>
              <a:rPr lang="en-US" sz="1200">
                <a:solidFill>
                  <a:schemeClr val="tx1"/>
                </a:solidFill>
              </a:rPr>
              <a:t>Consults to the best clients including innovators such as GE, Parker Hannifin, Mass Mutual, Citi Bank, General Motors, United Rentals</a:t>
            </a:r>
          </a:p>
        </p:txBody>
      </p:sp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890588" y="1430338"/>
            <a:ext cx="743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</a:rPr>
              <a:t>LHC</a:t>
            </a:r>
            <a:r>
              <a:rPr lang="ja-JP" altLang="en-US" sz="1800">
                <a:solidFill>
                  <a:schemeClr val="tx1"/>
                </a:solidFill>
              </a:rPr>
              <a:t>’</a:t>
            </a:r>
            <a:r>
              <a:rPr lang="en-US" altLang="ja-JP" sz="1800">
                <a:solidFill>
                  <a:schemeClr val="tx1"/>
                </a:solidFill>
              </a:rPr>
              <a:t>s founder, Mark DeLuzio, was the architect for the successful </a:t>
            </a:r>
          </a:p>
          <a:p>
            <a:pPr algn="l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</a:rPr>
              <a:t>Lean transformation at the Danaher Corporation.</a:t>
            </a:r>
            <a:endParaRPr lang="en-US" sz="1800" i="1">
              <a:solidFill>
                <a:srgbClr val="000000"/>
              </a:solidFill>
            </a:endParaRPr>
          </a:p>
        </p:txBody>
      </p:sp>
      <p:sp>
        <p:nvSpPr>
          <p:cNvPr id="23555" name="Oval 4"/>
          <p:cNvSpPr>
            <a:spLocks noChangeArrowheads="1"/>
          </p:cNvSpPr>
          <p:nvPr/>
        </p:nvSpPr>
        <p:spPr bwMode="auto">
          <a:xfrm>
            <a:off x="5202238" y="5738813"/>
            <a:ext cx="3432175" cy="392112"/>
          </a:xfrm>
          <a:prstGeom prst="ellipse">
            <a:avLst/>
          </a:prstGeom>
          <a:solidFill>
            <a:srgbClr val="000066"/>
          </a:solidFill>
          <a:ln w="12700" cap="sq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/>
          <a:p>
            <a:r>
              <a:rPr lang="en-US" sz="1400"/>
              <a:t>True Innovation Through Lean</a:t>
            </a:r>
          </a:p>
        </p:txBody>
      </p:sp>
      <p:sp>
        <p:nvSpPr>
          <p:cNvPr id="23556" name="Line 5"/>
          <p:cNvSpPr>
            <a:spLocks noChangeShapeType="1"/>
          </p:cNvSpPr>
          <p:nvPr/>
        </p:nvSpPr>
        <p:spPr bwMode="auto">
          <a:xfrm>
            <a:off x="2506663" y="2811463"/>
            <a:ext cx="7937" cy="2776537"/>
          </a:xfrm>
          <a:prstGeom prst="line">
            <a:avLst/>
          </a:prstGeom>
          <a:noFill/>
          <a:ln w="57150" cap="sq">
            <a:solidFill>
              <a:srgbClr val="000066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7" name="Rectangle 6"/>
          <p:cNvSpPr>
            <a:spLocks noChangeArrowheads="1"/>
          </p:cNvSpPr>
          <p:nvPr/>
        </p:nvSpPr>
        <p:spPr bwMode="auto">
          <a:xfrm>
            <a:off x="679450" y="2965450"/>
            <a:ext cx="3635375" cy="330200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300">
                <a:solidFill>
                  <a:srgbClr val="000066"/>
                </a:solidFill>
              </a:rPr>
              <a:t>Jake Brake (Division of Danaher) CFO</a:t>
            </a:r>
          </a:p>
        </p:txBody>
      </p:sp>
      <p:sp>
        <p:nvSpPr>
          <p:cNvPr id="23558" name="Rectangle 7"/>
          <p:cNvSpPr>
            <a:spLocks noChangeArrowheads="1"/>
          </p:cNvSpPr>
          <p:nvPr/>
        </p:nvSpPr>
        <p:spPr bwMode="auto">
          <a:xfrm>
            <a:off x="679450" y="3490913"/>
            <a:ext cx="3635375" cy="328612"/>
          </a:xfrm>
          <a:prstGeom prst="rect">
            <a:avLst/>
          </a:prstGeom>
          <a:solidFill>
            <a:srgbClr val="DDDDDD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300">
                <a:solidFill>
                  <a:srgbClr val="000066"/>
                </a:solidFill>
              </a:rPr>
              <a:t>Danaher GM – Asian Business of Jake Brake</a:t>
            </a:r>
          </a:p>
        </p:txBody>
      </p:sp>
      <p:sp>
        <p:nvSpPr>
          <p:cNvPr id="23559" name="Rectangle 8"/>
          <p:cNvSpPr>
            <a:spLocks noChangeArrowheads="1"/>
          </p:cNvSpPr>
          <p:nvPr/>
        </p:nvSpPr>
        <p:spPr bwMode="auto">
          <a:xfrm>
            <a:off x="679450" y="4027488"/>
            <a:ext cx="3635375" cy="330200"/>
          </a:xfrm>
          <a:prstGeom prst="rect">
            <a:avLst/>
          </a:prstGeom>
          <a:solidFill>
            <a:srgbClr val="FFFF00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300">
                <a:solidFill>
                  <a:srgbClr val="000066"/>
                </a:solidFill>
              </a:rPr>
              <a:t>Danaher Business System Originator and VP</a:t>
            </a: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679450" y="4540250"/>
            <a:ext cx="3635375" cy="328613"/>
          </a:xfrm>
          <a:prstGeom prst="rect">
            <a:avLst/>
          </a:prstGeom>
          <a:solidFill>
            <a:schemeClr val="accent6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sz="1300" dirty="0"/>
              <a:t>Founder, Lean Horizons Consulting, 2001</a:t>
            </a:r>
          </a:p>
        </p:txBody>
      </p:sp>
      <p:sp>
        <p:nvSpPr>
          <p:cNvPr id="23561" name="Text Box 10"/>
          <p:cNvSpPr txBox="1">
            <a:spLocks noChangeArrowheads="1"/>
          </p:cNvSpPr>
          <p:nvPr/>
        </p:nvSpPr>
        <p:spPr bwMode="auto">
          <a:xfrm>
            <a:off x="1109663" y="2524125"/>
            <a:ext cx="279558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i="1">
                <a:solidFill>
                  <a:srgbClr val="000066"/>
                </a:solidFill>
              </a:rPr>
              <a:t>Direct Lineage To Lean Champions</a:t>
            </a:r>
          </a:p>
        </p:txBody>
      </p:sp>
      <p:sp>
        <p:nvSpPr>
          <p:cNvPr id="23562" name="Text Box 11"/>
          <p:cNvSpPr txBox="1">
            <a:spLocks noChangeArrowheads="1"/>
          </p:cNvSpPr>
          <p:nvPr/>
        </p:nvSpPr>
        <p:spPr bwMode="auto">
          <a:xfrm>
            <a:off x="609600" y="5580063"/>
            <a:ext cx="38084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200" i="1">
                <a:solidFill>
                  <a:srgbClr val="000066"/>
                </a:solidFill>
              </a:rPr>
              <a:t>Comprehensive Understanding of Value Creation</a:t>
            </a:r>
          </a:p>
        </p:txBody>
      </p:sp>
      <p:sp>
        <p:nvSpPr>
          <p:cNvPr id="23563" name="Rectangle 12"/>
          <p:cNvSpPr>
            <a:spLocks noChangeArrowheads="1"/>
          </p:cNvSpPr>
          <p:nvPr/>
        </p:nvSpPr>
        <p:spPr bwMode="auto">
          <a:xfrm>
            <a:off x="523875" y="2441575"/>
            <a:ext cx="3937000" cy="3387725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4" name="Text Box 13"/>
          <p:cNvSpPr txBox="1">
            <a:spLocks noChangeArrowheads="1"/>
          </p:cNvSpPr>
          <p:nvPr/>
        </p:nvSpPr>
        <p:spPr bwMode="auto">
          <a:xfrm>
            <a:off x="733425" y="2319338"/>
            <a:ext cx="2525713" cy="261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400">
                <a:solidFill>
                  <a:schemeClr val="tx1"/>
                </a:solidFill>
              </a:rPr>
              <a:t>Background of our Founder</a:t>
            </a:r>
          </a:p>
        </p:txBody>
      </p:sp>
      <p:sp>
        <p:nvSpPr>
          <p:cNvPr id="23565" name="AutoShape 14"/>
          <p:cNvSpPr>
            <a:spLocks noChangeArrowheads="1"/>
          </p:cNvSpPr>
          <p:nvPr/>
        </p:nvSpPr>
        <p:spPr bwMode="auto">
          <a:xfrm>
            <a:off x="4618038" y="2811463"/>
            <a:ext cx="222250" cy="2208212"/>
          </a:xfrm>
          <a:prstGeom prst="rightArrow">
            <a:avLst>
              <a:gd name="adj1" fmla="val 70843"/>
              <a:gd name="adj2" fmla="val 71431"/>
            </a:avLst>
          </a:prstGeom>
          <a:solidFill>
            <a:schemeClr val="accent1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Lean Horizons </a:t>
            </a:r>
            <a:r>
              <a:rPr lang="en-US" dirty="0" smtClean="0">
                <a:solidFill>
                  <a:srgbClr val="000000"/>
                </a:solidFill>
                <a:latin typeface="Arial" charset="0"/>
                <a:ea typeface="ＭＳ Ｐゴシック" charset="0"/>
              </a:rPr>
              <a:t>– Founded in 2001 </a:t>
            </a:r>
            <a:endParaRPr lang="en-US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3567" name="Rectangle 9"/>
          <p:cNvSpPr>
            <a:spLocks noChangeArrowheads="1"/>
          </p:cNvSpPr>
          <p:nvPr/>
        </p:nvSpPr>
        <p:spPr bwMode="auto">
          <a:xfrm>
            <a:off x="687388" y="5040313"/>
            <a:ext cx="3635375" cy="328612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200"/>
              <a:t>Inducted into the Shingo Academy, 2007</a:t>
            </a:r>
          </a:p>
        </p:txBody>
      </p:sp>
    </p:spTree>
    <p:extLst>
      <p:ext uri="{BB962C8B-B14F-4D97-AF65-F5344CB8AC3E}">
        <p14:creationId xmlns:p14="http://schemas.microsoft.com/office/powerpoint/2010/main" val="132890546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Global Capabilities</a:t>
            </a:r>
          </a:p>
        </p:txBody>
      </p:sp>
      <p:sp>
        <p:nvSpPr>
          <p:cNvPr id="6" name="5-Point Star 5"/>
          <p:cNvSpPr/>
          <p:nvPr/>
        </p:nvSpPr>
        <p:spPr bwMode="auto">
          <a:xfrm>
            <a:off x="1146175" y="3222625"/>
            <a:ext cx="304800" cy="246063"/>
          </a:xfrm>
          <a:prstGeom prst="star5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a typeface="ＭＳ Ｐゴシック" charset="-128"/>
              <a:cs typeface="+mn-cs"/>
            </a:endParaRPr>
          </a:p>
        </p:txBody>
      </p:sp>
      <p:sp>
        <p:nvSpPr>
          <p:cNvPr id="7" name="5-Point Star 6"/>
          <p:cNvSpPr/>
          <p:nvPr/>
        </p:nvSpPr>
        <p:spPr bwMode="auto">
          <a:xfrm>
            <a:off x="2009775" y="3040063"/>
            <a:ext cx="304800" cy="247650"/>
          </a:xfrm>
          <a:prstGeom prst="star5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a typeface="ＭＳ Ｐゴシック" charset="-128"/>
              <a:cs typeface="+mn-cs"/>
            </a:endParaRPr>
          </a:p>
        </p:txBody>
      </p:sp>
      <p:sp>
        <p:nvSpPr>
          <p:cNvPr id="8" name="5-Point Star 7"/>
          <p:cNvSpPr/>
          <p:nvPr/>
        </p:nvSpPr>
        <p:spPr bwMode="auto">
          <a:xfrm>
            <a:off x="2184400" y="3200400"/>
            <a:ext cx="304800" cy="246063"/>
          </a:xfrm>
          <a:prstGeom prst="star5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a typeface="ＭＳ Ｐゴシック" charset="-128"/>
              <a:cs typeface="+mn-cs"/>
            </a:endParaRPr>
          </a:p>
        </p:txBody>
      </p:sp>
      <p:sp>
        <p:nvSpPr>
          <p:cNvPr id="9" name="5-Point Star 8"/>
          <p:cNvSpPr/>
          <p:nvPr/>
        </p:nvSpPr>
        <p:spPr bwMode="auto">
          <a:xfrm>
            <a:off x="1430338" y="3781425"/>
            <a:ext cx="304800" cy="246063"/>
          </a:xfrm>
          <a:prstGeom prst="star5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a typeface="ＭＳ Ｐゴシック" charset="-128"/>
              <a:cs typeface="+mn-cs"/>
            </a:endParaRPr>
          </a:p>
        </p:txBody>
      </p:sp>
      <p:sp>
        <p:nvSpPr>
          <p:cNvPr id="10" name="5-Point Star 9"/>
          <p:cNvSpPr/>
          <p:nvPr/>
        </p:nvSpPr>
        <p:spPr bwMode="auto">
          <a:xfrm>
            <a:off x="1038225" y="3490913"/>
            <a:ext cx="304800" cy="246062"/>
          </a:xfrm>
          <a:prstGeom prst="star5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a typeface="ＭＳ Ｐゴシック" charset="-128"/>
              <a:cs typeface="+mn-cs"/>
            </a:endParaRPr>
          </a:p>
        </p:txBody>
      </p:sp>
      <p:sp>
        <p:nvSpPr>
          <p:cNvPr id="11" name="5-Point Star 10"/>
          <p:cNvSpPr/>
          <p:nvPr/>
        </p:nvSpPr>
        <p:spPr bwMode="auto">
          <a:xfrm>
            <a:off x="2794000" y="3389313"/>
            <a:ext cx="304800" cy="246062"/>
          </a:xfrm>
          <a:prstGeom prst="star5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a typeface="ＭＳ Ｐゴシック" charset="-128"/>
              <a:cs typeface="+mn-cs"/>
            </a:endParaRPr>
          </a:p>
        </p:txBody>
      </p:sp>
      <p:sp>
        <p:nvSpPr>
          <p:cNvPr id="12" name="5-Point Star 11"/>
          <p:cNvSpPr/>
          <p:nvPr/>
        </p:nvSpPr>
        <p:spPr bwMode="auto">
          <a:xfrm>
            <a:off x="3287713" y="3186113"/>
            <a:ext cx="304800" cy="246062"/>
          </a:xfrm>
          <a:prstGeom prst="star5">
            <a:avLst/>
          </a:prstGeom>
          <a:solidFill>
            <a:srgbClr val="FFFF00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>
              <a:ea typeface="ＭＳ Ｐゴシック" charset="-128"/>
              <a:cs typeface="+mn-cs"/>
            </a:endParaRPr>
          </a:p>
        </p:txBody>
      </p:sp>
      <p:sp>
        <p:nvSpPr>
          <p:cNvPr id="25609" name="Rectangle 2"/>
          <p:cNvSpPr>
            <a:spLocks noChangeArrowheads="1"/>
          </p:cNvSpPr>
          <p:nvPr/>
        </p:nvSpPr>
        <p:spPr bwMode="gray">
          <a:xfrm>
            <a:off x="4999038" y="1625600"/>
            <a:ext cx="3937000" cy="420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30188" indent="-230188" algn="l">
              <a:lnSpc>
                <a:spcPct val="115000"/>
              </a:lnSpc>
              <a:spcBef>
                <a:spcPct val="45000"/>
              </a:spcBef>
              <a:spcAft>
                <a:spcPct val="50000"/>
              </a:spcAft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100+ Associates </a:t>
            </a:r>
            <a:r>
              <a:rPr lang="en-US" sz="1600" dirty="0" smtClean="0">
                <a:solidFill>
                  <a:schemeClr val="tx1"/>
                </a:solidFill>
              </a:rPr>
              <a:t>worldwide</a:t>
            </a:r>
            <a:endParaRPr lang="en-US" sz="1600" dirty="0">
              <a:solidFill>
                <a:schemeClr val="tx1"/>
              </a:solidFill>
            </a:endParaRPr>
          </a:p>
          <a:p>
            <a:pPr marL="230188" indent="-230188" algn="l">
              <a:lnSpc>
                <a:spcPct val="115000"/>
              </a:lnSpc>
              <a:spcBef>
                <a:spcPct val="45000"/>
              </a:spcBef>
              <a:spcAft>
                <a:spcPct val="50000"/>
              </a:spcAft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LHC </a:t>
            </a:r>
            <a:r>
              <a:rPr lang="en-US" sz="1600" dirty="0" smtClean="0">
                <a:solidFill>
                  <a:schemeClr val="tx1"/>
                </a:solidFill>
              </a:rPr>
              <a:t>presence </a:t>
            </a:r>
            <a:r>
              <a:rPr lang="en-US" sz="1600" dirty="0">
                <a:solidFill>
                  <a:schemeClr val="tx1"/>
                </a:solidFill>
              </a:rPr>
              <a:t>in:</a:t>
            </a:r>
          </a:p>
          <a:p>
            <a:pPr marL="687388" lvl="1" indent="-230188" algn="l">
              <a:lnSpc>
                <a:spcPct val="115000"/>
              </a:lnSpc>
              <a:spcBef>
                <a:spcPct val="0"/>
              </a:spcBef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North America</a:t>
            </a:r>
          </a:p>
          <a:p>
            <a:pPr marL="687388" lvl="1" indent="-230188" algn="l">
              <a:lnSpc>
                <a:spcPct val="115000"/>
              </a:lnSpc>
              <a:spcBef>
                <a:spcPct val="0"/>
              </a:spcBef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South America</a:t>
            </a:r>
          </a:p>
          <a:p>
            <a:pPr marL="687388" lvl="1" indent="-230188" algn="l">
              <a:lnSpc>
                <a:spcPct val="115000"/>
              </a:lnSpc>
              <a:spcBef>
                <a:spcPct val="0"/>
              </a:spcBef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Mexico</a:t>
            </a:r>
          </a:p>
          <a:p>
            <a:pPr marL="687388" lvl="1" indent="-230188" algn="l">
              <a:lnSpc>
                <a:spcPct val="115000"/>
              </a:lnSpc>
              <a:spcBef>
                <a:spcPct val="0"/>
              </a:spcBef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Europe</a:t>
            </a:r>
          </a:p>
          <a:p>
            <a:pPr marL="687388" lvl="1" indent="-230188" algn="l">
              <a:lnSpc>
                <a:spcPct val="115000"/>
              </a:lnSpc>
              <a:spcBef>
                <a:spcPct val="0"/>
              </a:spcBef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India</a:t>
            </a:r>
          </a:p>
          <a:p>
            <a:pPr marL="687388" lvl="1" indent="-230188" algn="l">
              <a:lnSpc>
                <a:spcPct val="115000"/>
              </a:lnSpc>
              <a:spcBef>
                <a:spcPct val="0"/>
              </a:spcBef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China</a:t>
            </a:r>
          </a:p>
          <a:p>
            <a:pPr marL="230188" indent="-230188" algn="l">
              <a:lnSpc>
                <a:spcPct val="115000"/>
              </a:lnSpc>
              <a:spcBef>
                <a:spcPct val="45000"/>
              </a:spcBef>
              <a:spcAft>
                <a:spcPct val="50000"/>
              </a:spcAft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Local language capability</a:t>
            </a:r>
          </a:p>
          <a:p>
            <a:pPr marL="230188" indent="-230188" algn="l">
              <a:lnSpc>
                <a:spcPct val="115000"/>
              </a:lnSpc>
              <a:spcBef>
                <a:spcPct val="45000"/>
              </a:spcBef>
              <a:spcAft>
                <a:spcPct val="50000"/>
              </a:spcAft>
              <a:buClr>
                <a:schemeClr val="accent1"/>
              </a:buClr>
              <a:buSzPct val="90000"/>
              <a:buFont typeface="Wingdings" charset="0"/>
              <a:buChar char="§"/>
            </a:pPr>
            <a:r>
              <a:rPr lang="en-US" sz="1600" dirty="0">
                <a:solidFill>
                  <a:schemeClr val="tx1"/>
                </a:solidFill>
              </a:rPr>
              <a:t>Training Suite translated into various foreign languages</a:t>
            </a:r>
          </a:p>
        </p:txBody>
      </p:sp>
      <p:sp>
        <p:nvSpPr>
          <p:cNvPr id="25610" name="Line 14"/>
          <p:cNvSpPr>
            <a:spLocks noChangeShapeType="1"/>
          </p:cNvSpPr>
          <p:nvPr/>
        </p:nvSpPr>
        <p:spPr bwMode="auto">
          <a:xfrm>
            <a:off x="4789488" y="1639888"/>
            <a:ext cx="0" cy="415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5611" name="Group 22"/>
          <p:cNvGrpSpPr>
            <a:grpSpLocks/>
          </p:cNvGrpSpPr>
          <p:nvPr/>
        </p:nvGrpSpPr>
        <p:grpSpPr bwMode="auto">
          <a:xfrm>
            <a:off x="682625" y="1566863"/>
            <a:ext cx="3830638" cy="4211637"/>
            <a:chOff x="440417" y="1374095"/>
            <a:chExt cx="3850367" cy="4738913"/>
          </a:xfrm>
        </p:grpSpPr>
        <p:pic>
          <p:nvPicPr>
            <p:cNvPr id="26636" name="Picture 3" descr="C:\Users\DeLuzio\AppData\Local\Microsoft\Windows\Temporary Internet Files\Content.IE5\Z8GLQRCZ\MP900410080[1].jpg"/>
            <p:cNvPicPr>
              <a:picLocks noChangeAspect="1" noChangeArrowheads="1"/>
            </p:cNvPicPr>
            <p:nvPr/>
          </p:nvPicPr>
          <p:blipFill>
            <a:blip r:embed="rId3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417" y="1374095"/>
              <a:ext cx="3850367" cy="473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5-Point Star 15"/>
            <p:cNvSpPr/>
            <p:nvPr/>
          </p:nvSpPr>
          <p:spPr bwMode="auto">
            <a:xfrm>
              <a:off x="1179216" y="3217502"/>
              <a:ext cx="304774" cy="246502"/>
            </a:xfrm>
            <a:prstGeom prst="star5">
              <a:avLst/>
            </a:prstGeom>
            <a:solidFill>
              <a:srgbClr val="FFFF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a typeface="ＭＳ Ｐゴシック" charset="-128"/>
                <a:cs typeface="+mn-cs"/>
              </a:endParaRPr>
            </a:p>
          </p:txBody>
        </p:sp>
        <p:sp>
          <p:nvSpPr>
            <p:cNvPr id="17" name="5-Point Star 16"/>
            <p:cNvSpPr/>
            <p:nvPr/>
          </p:nvSpPr>
          <p:spPr bwMode="auto">
            <a:xfrm>
              <a:off x="2044072" y="3035305"/>
              <a:ext cx="304774" cy="248288"/>
            </a:xfrm>
            <a:prstGeom prst="star5">
              <a:avLst/>
            </a:prstGeom>
            <a:solidFill>
              <a:srgbClr val="FFFF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a typeface="ＭＳ Ｐゴシック" charset="-128"/>
                <a:cs typeface="+mn-cs"/>
              </a:endParaRPr>
            </a:p>
          </p:txBody>
        </p:sp>
        <p:sp>
          <p:nvSpPr>
            <p:cNvPr id="18" name="5-Point Star 17"/>
            <p:cNvSpPr/>
            <p:nvPr/>
          </p:nvSpPr>
          <p:spPr bwMode="auto">
            <a:xfrm>
              <a:off x="2218000" y="3196067"/>
              <a:ext cx="304775" cy="246502"/>
            </a:xfrm>
            <a:prstGeom prst="star5">
              <a:avLst/>
            </a:prstGeom>
            <a:solidFill>
              <a:srgbClr val="FFFF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a typeface="ＭＳ Ｐゴシック" charset="-128"/>
                <a:cs typeface="+mn-cs"/>
              </a:endParaRPr>
            </a:p>
          </p:txBody>
        </p:sp>
        <p:sp>
          <p:nvSpPr>
            <p:cNvPr id="19" name="5-Point Star 18"/>
            <p:cNvSpPr/>
            <p:nvPr/>
          </p:nvSpPr>
          <p:spPr bwMode="auto">
            <a:xfrm>
              <a:off x="1463246" y="3776597"/>
              <a:ext cx="304774" cy="246502"/>
            </a:xfrm>
            <a:prstGeom prst="star5">
              <a:avLst/>
            </a:prstGeom>
            <a:solidFill>
              <a:srgbClr val="FFFF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a typeface="ＭＳ Ｐゴシック" charset="-128"/>
                <a:cs typeface="+mn-cs"/>
              </a:endParaRPr>
            </a:p>
          </p:txBody>
        </p:sp>
        <p:sp>
          <p:nvSpPr>
            <p:cNvPr id="20" name="5-Point Star 19"/>
            <p:cNvSpPr/>
            <p:nvPr/>
          </p:nvSpPr>
          <p:spPr bwMode="auto">
            <a:xfrm>
              <a:off x="1070710" y="3485439"/>
              <a:ext cx="304774" cy="246502"/>
            </a:xfrm>
            <a:prstGeom prst="star5">
              <a:avLst/>
            </a:prstGeom>
            <a:solidFill>
              <a:srgbClr val="FFFF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a typeface="ＭＳ Ｐゴシック" charset="-128"/>
                <a:cs typeface="+mn-cs"/>
              </a:endParaRPr>
            </a:p>
          </p:txBody>
        </p:sp>
        <p:sp>
          <p:nvSpPr>
            <p:cNvPr id="21" name="5-Point Star 20"/>
            <p:cNvSpPr/>
            <p:nvPr/>
          </p:nvSpPr>
          <p:spPr bwMode="auto">
            <a:xfrm>
              <a:off x="2827548" y="3383622"/>
              <a:ext cx="304775" cy="248289"/>
            </a:xfrm>
            <a:prstGeom prst="star5">
              <a:avLst/>
            </a:prstGeom>
            <a:solidFill>
              <a:srgbClr val="FFFF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a typeface="ＭＳ Ｐゴシック" charset="-128"/>
                <a:cs typeface="+mn-cs"/>
              </a:endParaRPr>
            </a:p>
          </p:txBody>
        </p:sp>
        <p:sp>
          <p:nvSpPr>
            <p:cNvPr id="22" name="5-Point Star 21"/>
            <p:cNvSpPr/>
            <p:nvPr/>
          </p:nvSpPr>
          <p:spPr bwMode="auto">
            <a:xfrm>
              <a:off x="3320613" y="3181777"/>
              <a:ext cx="304774" cy="246502"/>
            </a:xfrm>
            <a:prstGeom prst="star5">
              <a:avLst/>
            </a:prstGeom>
            <a:solidFill>
              <a:srgbClr val="FFFF00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ea typeface="ＭＳ Ｐゴシック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954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</a:rPr>
              <a:t>Lean Horizons’ Consultants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0375" y="1392016"/>
            <a:ext cx="8164513" cy="4307551"/>
          </a:xfrm>
        </p:spPr>
        <p:txBody>
          <a:bodyPr/>
          <a:lstStyle/>
          <a:p>
            <a:pPr>
              <a:lnSpc>
                <a:spcPct val="100000"/>
              </a:lnSpc>
              <a:buFont typeface="Wingdings" charset="0"/>
              <a:buChar char="§"/>
              <a:defRPr/>
            </a:pPr>
            <a:r>
              <a:rPr lang="en-US" sz="1600" dirty="0"/>
              <a:t>Our consultants have extensive experience with successful enterprise-wide </a:t>
            </a:r>
            <a:r>
              <a:rPr lang="en-US" sz="1600" dirty="0" smtClean="0"/>
              <a:t>Lean </a:t>
            </a:r>
            <a:r>
              <a:rPr lang="en-US" sz="1600" dirty="0"/>
              <a:t>transformations across diverse industries and service areas</a:t>
            </a:r>
          </a:p>
          <a:p>
            <a:pPr>
              <a:lnSpc>
                <a:spcPct val="100000"/>
              </a:lnSpc>
              <a:buFont typeface="Wingdings" charset="0"/>
              <a:buChar char="§"/>
              <a:defRPr/>
            </a:pPr>
            <a:r>
              <a:rPr lang="en-US" sz="1600" dirty="0"/>
              <a:t>Our people are business executives first and </a:t>
            </a:r>
            <a:r>
              <a:rPr lang="en-US" sz="1600" dirty="0" smtClean="0"/>
              <a:t>Lean </a:t>
            </a:r>
            <a:r>
              <a:rPr lang="en-US" sz="1600" dirty="0"/>
              <a:t>consultants second – we translate process improvements to bottom line financial results</a:t>
            </a:r>
          </a:p>
          <a:p>
            <a:pPr>
              <a:lnSpc>
                <a:spcPct val="100000"/>
              </a:lnSpc>
              <a:buFont typeface="Wingdings" charset="0"/>
              <a:buChar char="§"/>
              <a:defRPr/>
            </a:pPr>
            <a:r>
              <a:rPr lang="en-US" sz="1600" dirty="0"/>
              <a:t>Personally mentored and trained by World-Class leaders in Lean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charset="0"/>
              <a:buChar char="§"/>
              <a:defRPr/>
            </a:pPr>
            <a:r>
              <a:rPr lang="en-US" sz="1400" dirty="0" err="1"/>
              <a:t>Taiichi</a:t>
            </a:r>
            <a:r>
              <a:rPr lang="en-US" sz="1400" dirty="0"/>
              <a:t> </a:t>
            </a:r>
            <a:r>
              <a:rPr lang="en-US" sz="1400" dirty="0" err="1"/>
              <a:t>Ohno’</a:t>
            </a:r>
            <a:r>
              <a:rPr lang="en-US" altLang="ja-JP" sz="1400" dirty="0" err="1"/>
              <a:t>s</a:t>
            </a:r>
            <a:r>
              <a:rPr lang="en-US" altLang="ja-JP" sz="1400" dirty="0"/>
              <a:t> Autonomous Study Group 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Font typeface="Wingdings" charset="0"/>
              <a:buChar char="§"/>
              <a:defRPr/>
            </a:pPr>
            <a:r>
              <a:rPr lang="en-US" sz="1400" dirty="0"/>
              <a:t>Hajime </a:t>
            </a:r>
            <a:r>
              <a:rPr lang="en-US" sz="1400" dirty="0" err="1"/>
              <a:t>Obha</a:t>
            </a:r>
            <a:r>
              <a:rPr lang="en-US" sz="1400" dirty="0"/>
              <a:t> – Toyota Motors Supplier Support Center</a:t>
            </a:r>
          </a:p>
          <a:p>
            <a:pPr lvl="1">
              <a:lnSpc>
                <a:spcPct val="100000"/>
              </a:lnSpc>
              <a:spcAft>
                <a:spcPts val="0"/>
              </a:spcAft>
              <a:buClr>
                <a:srgbClr val="006699"/>
              </a:buClr>
              <a:buFont typeface="Wingdings" charset="0"/>
              <a:buChar char="§"/>
              <a:defRPr/>
            </a:pPr>
            <a:r>
              <a:rPr lang="en-US" sz="1400" dirty="0"/>
              <a:t>Shigeo Shingo – Japan Management Association</a:t>
            </a:r>
          </a:p>
          <a:p>
            <a:pPr marL="679450" lvl="1" indent="-222250">
              <a:lnSpc>
                <a:spcPct val="100000"/>
              </a:lnSpc>
              <a:spcAft>
                <a:spcPts val="0"/>
              </a:spcAft>
              <a:buClr>
                <a:srgbClr val="006699"/>
              </a:buClr>
              <a:defRPr/>
            </a:pPr>
            <a:r>
              <a:rPr lang="en-US" sz="1400" dirty="0"/>
              <a:t>Akashi </a:t>
            </a:r>
            <a:r>
              <a:rPr lang="en-US" sz="1400" dirty="0" err="1"/>
              <a:t>Fukuhara</a:t>
            </a:r>
            <a:r>
              <a:rPr lang="en-US" sz="1400" dirty="0"/>
              <a:t> – Originator of Hoshi </a:t>
            </a:r>
            <a:r>
              <a:rPr lang="en-US" sz="1400" dirty="0" err="1"/>
              <a:t>Kanri</a:t>
            </a:r>
            <a:r>
              <a:rPr lang="en-US" sz="1400" dirty="0"/>
              <a:t> at Toyota</a:t>
            </a:r>
          </a:p>
          <a:p>
            <a:pPr lvl="1">
              <a:lnSpc>
                <a:spcPct val="100000"/>
              </a:lnSpc>
              <a:buClr>
                <a:srgbClr val="006699"/>
              </a:buClr>
              <a:buFont typeface="Wingdings" charset="0"/>
              <a:buChar char="§"/>
              <a:defRPr/>
            </a:pPr>
            <a:r>
              <a:rPr lang="en-US" sz="1400" dirty="0"/>
              <a:t>Masaaki Imai – Chairman of the Cambridge Corporation (Tokyo) and author of </a:t>
            </a:r>
            <a:r>
              <a:rPr lang="ja-JP" altLang="en-US" sz="1400" dirty="0"/>
              <a:t>“</a:t>
            </a:r>
            <a:r>
              <a:rPr lang="en-US" altLang="ja-JP" sz="1400" dirty="0"/>
              <a:t>KAIZEN –The Key to Japan</a:t>
            </a:r>
            <a:r>
              <a:rPr lang="ja-JP" altLang="en-US" sz="1400" dirty="0"/>
              <a:t>’</a:t>
            </a:r>
            <a:r>
              <a:rPr lang="en-US" altLang="ja-JP" sz="1400" dirty="0"/>
              <a:t>s Competitive Success</a:t>
            </a:r>
            <a:r>
              <a:rPr lang="ja-JP" altLang="en-US" sz="1600" dirty="0"/>
              <a:t>”</a:t>
            </a:r>
            <a:endParaRPr lang="en-US" altLang="ja-JP" sz="1600" dirty="0"/>
          </a:p>
          <a:p>
            <a:pPr>
              <a:lnSpc>
                <a:spcPct val="100000"/>
              </a:lnSpc>
              <a:buClr>
                <a:srgbClr val="006699"/>
              </a:buClr>
              <a:buFont typeface="Wingdings" charset="0"/>
              <a:buChar char="§"/>
              <a:defRPr/>
            </a:pPr>
            <a:r>
              <a:rPr lang="en-US" altLang="ja-JP" sz="1600" dirty="0"/>
              <a:t>Experienced in helping organizations transform </a:t>
            </a:r>
            <a:r>
              <a:rPr lang="en-US" altLang="ja-JP" sz="1600" u="sng" dirty="0"/>
              <a:t>people</a:t>
            </a:r>
            <a:r>
              <a:rPr lang="en-US" altLang="ja-JP" sz="1600" dirty="0"/>
              <a:t> as well as </a:t>
            </a:r>
            <a:r>
              <a:rPr lang="en-US" altLang="ja-JP" sz="1600" dirty="0" smtClean="0"/>
              <a:t>processes</a:t>
            </a:r>
            <a:endParaRPr lang="en-US" sz="1600" dirty="0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711200" y="5786005"/>
            <a:ext cx="7759700" cy="297517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>
            <a:spAutoFit/>
          </a:bodyPr>
          <a:lstStyle/>
          <a:p>
            <a:pPr lvl="1"/>
            <a:r>
              <a:rPr lang="en-US" sz="1600" i="1" dirty="0">
                <a:solidFill>
                  <a:srgbClr val="FFFFFF"/>
                </a:solidFill>
              </a:rPr>
              <a:t>Our </a:t>
            </a:r>
            <a:r>
              <a:rPr lang="en-US" sz="1600" i="1" dirty="0" smtClean="0">
                <a:solidFill>
                  <a:srgbClr val="FFFFFF"/>
                </a:solidFill>
              </a:rPr>
              <a:t>Experience Results </a:t>
            </a:r>
            <a:r>
              <a:rPr lang="en-US" sz="1600" i="1" dirty="0">
                <a:solidFill>
                  <a:srgbClr val="FFFFFF"/>
                </a:solidFill>
              </a:rPr>
              <a:t>in Speed to Value for </a:t>
            </a:r>
            <a:r>
              <a:rPr lang="en-US" sz="1600" i="1" dirty="0" smtClean="0">
                <a:solidFill>
                  <a:srgbClr val="FFFFFF"/>
                </a:solidFill>
              </a:rPr>
              <a:t>Our Clients</a:t>
            </a:r>
            <a:endParaRPr lang="en-US" sz="1600" i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65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sz="2800" b="1" dirty="0" smtClean="0"/>
              <a:t>APPENDIX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31766498"/>
      </p:ext>
    </p:extLst>
  </p:cSld>
  <p:clrMapOvr>
    <a:masterClrMapping/>
  </p:clrMapOvr>
  <p:transition xmlns:p14="http://schemas.microsoft.com/office/powerpoint/2010/main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Reflection on the Top </a:t>
            </a:r>
            <a:r>
              <a:rPr lang="en-US" dirty="0" smtClean="0">
                <a:latin typeface="Arial" charset="0"/>
              </a:rPr>
              <a:t>Level Matrix</a:t>
            </a:r>
            <a:endParaRPr lang="en-US" dirty="0">
              <a:latin typeface="Arial" charset="0"/>
            </a:endParaRPr>
          </a:p>
        </p:txBody>
      </p:sp>
      <p:sp>
        <p:nvSpPr>
          <p:cNvPr id="178178" name="Rectangle 5"/>
          <p:cNvSpPr>
            <a:spLocks noChangeArrowheads="1"/>
          </p:cNvSpPr>
          <p:nvPr/>
        </p:nvSpPr>
        <p:spPr bwMode="auto">
          <a:xfrm>
            <a:off x="488950" y="1497013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Answer the following questions: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Are the Breakthrough Objectives the correct Breakthrough Objectives?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Do the AIPs support the respective Breakthrough Objective? 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Do we have too many AIPs?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Are </a:t>
            </a:r>
            <a:r>
              <a:rPr lang="en-US" sz="1600" dirty="0">
                <a:solidFill>
                  <a:srgbClr val="000000"/>
                </a:solidFill>
              </a:rPr>
              <a:t>there other initiatives and projects that need to be re-assessed?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Is this organization comfortable working in a cross-functional environment?</a:t>
            </a:r>
          </a:p>
        </p:txBody>
      </p:sp>
    </p:spTree>
    <p:extLst>
      <p:ext uri="{BB962C8B-B14F-4D97-AF65-F5344CB8AC3E}">
        <p14:creationId xmlns:p14="http://schemas.microsoft.com/office/powerpoint/2010/main" val="1462449043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Reflection on the Second Level Matrix</a:t>
            </a:r>
          </a:p>
        </p:txBody>
      </p:sp>
      <p:sp>
        <p:nvSpPr>
          <p:cNvPr id="134146" name="Rectangle 5"/>
          <p:cNvSpPr>
            <a:spLocks noChangeArrowheads="1"/>
          </p:cNvSpPr>
          <p:nvPr/>
        </p:nvSpPr>
        <p:spPr bwMode="auto">
          <a:xfrm>
            <a:off x="488950" y="1497013"/>
            <a:ext cx="8164513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800" dirty="0" smtClean="0">
                <a:solidFill>
                  <a:srgbClr val="000000"/>
                </a:solidFill>
              </a:rPr>
              <a:t>Answer </a:t>
            </a:r>
            <a:r>
              <a:rPr lang="en-US" sz="1800" dirty="0" smtClean="0">
                <a:solidFill>
                  <a:srgbClr val="000000"/>
                </a:solidFill>
              </a:rPr>
              <a:t>the following questions: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Do our Second Level AIPs support the respective Top Level AIPs and Breakthrough Objectives? 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Do we have too many Second Level AIPs?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What other commitments are in conflict with SD plan? (Generate vigorous discussion.)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Are there other initiatives and projects that need to be re-assessed?</a:t>
            </a:r>
          </a:p>
          <a:p>
            <a:pPr marL="742950" lvl="1" indent="-285750" algn="l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charset="0"/>
              <a:buChar char="•"/>
            </a:pPr>
            <a:r>
              <a:rPr lang="en-US" sz="1600" dirty="0" smtClean="0">
                <a:solidFill>
                  <a:srgbClr val="000000"/>
                </a:solidFill>
              </a:rPr>
              <a:t>Is this organization comfortable working in a cross-functional environment?</a:t>
            </a:r>
          </a:p>
        </p:txBody>
      </p:sp>
    </p:spTree>
    <p:extLst>
      <p:ext uri="{BB962C8B-B14F-4D97-AF65-F5344CB8AC3E}">
        <p14:creationId xmlns:p14="http://schemas.microsoft.com/office/powerpoint/2010/main" val="807820763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Reviewing Breakthrough Objectives</a:t>
            </a:r>
            <a:endParaRPr lang="en-US" dirty="0">
              <a:latin typeface="Arial" charset="0"/>
            </a:endParaRPr>
          </a:p>
        </p:txBody>
      </p:sp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950" y="1497013"/>
            <a:ext cx="8164513" cy="4432300"/>
          </a:xfrm>
        </p:spPr>
        <p:txBody>
          <a:bodyPr/>
          <a:lstStyle/>
          <a:p>
            <a:pPr>
              <a:lnSpc>
                <a:spcPct val="105000"/>
              </a:lnSpc>
              <a:buFont typeface="Wingdings" charset="0"/>
              <a:buNone/>
            </a:pPr>
            <a:r>
              <a:rPr lang="en-US" b="1" dirty="0">
                <a:latin typeface="Arial" charset="0"/>
              </a:rPr>
              <a:t>Are the Breakthrough Objectives….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b="1" dirty="0">
                <a:latin typeface="Arial" charset="0"/>
              </a:rPr>
              <a:t> Significant benefits to the organization? 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b="1" dirty="0">
                <a:latin typeface="Arial" charset="0"/>
              </a:rPr>
              <a:t> Tied to strategy?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b="1" dirty="0">
                <a:latin typeface="Arial" charset="0"/>
              </a:rPr>
              <a:t> Customer-focused?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b="1" dirty="0">
                <a:latin typeface="Arial" charset="0"/>
              </a:rPr>
              <a:t> Stretch goals?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b="1" dirty="0">
                <a:latin typeface="Arial" charset="0"/>
              </a:rPr>
              <a:t> Enlisting cross-functional involvement?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b="1" dirty="0">
                <a:latin typeface="Arial" charset="0"/>
              </a:rPr>
              <a:t> Resulting in a new system or new way of doing business?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b="1" dirty="0">
                <a:latin typeface="Arial" charset="0"/>
              </a:rPr>
              <a:t> Not already learned? (Do we already know how to do it?)</a:t>
            </a:r>
          </a:p>
        </p:txBody>
      </p:sp>
    </p:spTree>
    <p:extLst>
      <p:ext uri="{BB962C8B-B14F-4D97-AF65-F5344CB8AC3E}">
        <p14:creationId xmlns:p14="http://schemas.microsoft.com/office/powerpoint/2010/main" val="2504456327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Reviewing Annual Improvement Priorities</a:t>
            </a:r>
          </a:p>
        </p:txBody>
      </p:sp>
      <p:sp>
        <p:nvSpPr>
          <p:cNvPr id="141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8950" y="1497013"/>
            <a:ext cx="8164513" cy="44323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Wingdings" charset="0"/>
              <a:buNone/>
            </a:pPr>
            <a:r>
              <a:rPr lang="en-US" sz="1600" b="1" dirty="0">
                <a:latin typeface="Arial" charset="0"/>
              </a:rPr>
              <a:t>Are the Annual Improvement Priorities…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Tied to the established Breakthrough Objectives?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Supporting opportunities listed in the SWOT analysis?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Process-focused?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Customer-focused?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Measurable?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Enlisting cross-functional involvement?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Representing significant improvements?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Resulting in a new system or new way of doing business? 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SzPct val="90000"/>
              <a:buFont typeface="Wingdings" charset="0"/>
              <a:buChar char="þ"/>
            </a:pPr>
            <a:r>
              <a:rPr lang="en-US" sz="1600" b="1" dirty="0">
                <a:latin typeface="Arial" charset="0"/>
              </a:rPr>
              <a:t>Not already learned? (Do we already know how to do it?)</a:t>
            </a:r>
          </a:p>
        </p:txBody>
      </p:sp>
    </p:spTree>
    <p:extLst>
      <p:ext uri="{BB962C8B-B14F-4D97-AF65-F5344CB8AC3E}">
        <p14:creationId xmlns:p14="http://schemas.microsoft.com/office/powerpoint/2010/main" val="2940172054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Reviewing Targets</a:t>
            </a:r>
            <a:endParaRPr lang="en-US" dirty="0">
              <a:latin typeface="Arial" charset="0"/>
            </a:endParaRPr>
          </a:p>
        </p:txBody>
      </p:sp>
      <p:sp>
        <p:nvSpPr>
          <p:cNvPr id="10854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88950" y="1497013"/>
            <a:ext cx="8164513" cy="4432300"/>
          </a:xfrm>
        </p:spPr>
        <p:txBody>
          <a:bodyPr/>
          <a:lstStyle/>
          <a:p>
            <a:pPr>
              <a:lnSpc>
                <a:spcPct val="105000"/>
              </a:lnSpc>
              <a:buFont typeface="Wingdings" charset="0"/>
              <a:buNone/>
            </a:pPr>
            <a:r>
              <a:rPr lang="en-US" sz="1600" b="1">
                <a:latin typeface="Arial" charset="0"/>
              </a:rPr>
              <a:t>Do/Are the Targets….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sz="1600" b="1">
                <a:latin typeface="Arial" charset="0"/>
              </a:rPr>
              <a:t>Measurable, at least monthly?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sz="1600" b="1">
                <a:latin typeface="Arial" charset="0"/>
              </a:rPr>
              <a:t>Quantifiable?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sz="1600" b="1">
                <a:latin typeface="Arial" charset="0"/>
              </a:rPr>
              <a:t>Time-bound?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sz="1600" b="1">
                <a:latin typeface="Arial" charset="0"/>
              </a:rPr>
              <a:t>Stretch for the organization?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sz="1600" b="1">
                <a:latin typeface="Arial" charset="0"/>
              </a:rPr>
              <a:t>Show a </a:t>
            </a:r>
            <a:r>
              <a:rPr lang="ja-JP" altLang="en-US" sz="1600" b="1">
                <a:latin typeface="Arial" charset="0"/>
              </a:rPr>
              <a:t>“</a:t>
            </a:r>
            <a:r>
              <a:rPr lang="en-US" altLang="ja-JP" sz="1600" b="1">
                <a:latin typeface="Arial" charset="0"/>
              </a:rPr>
              <a:t>from-to</a:t>
            </a:r>
            <a:r>
              <a:rPr lang="ja-JP" altLang="en-US" sz="1600" b="1">
                <a:latin typeface="Arial" charset="0"/>
              </a:rPr>
              <a:t>”</a:t>
            </a:r>
            <a:r>
              <a:rPr lang="en-US" altLang="ja-JP" sz="1600" b="1">
                <a:latin typeface="Arial" charset="0"/>
              </a:rPr>
              <a:t> range?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sz="1600" b="1">
                <a:latin typeface="Arial" charset="0"/>
              </a:rPr>
              <a:t>Support reaching the Breakthrough Objectives?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sz="1600" b="1">
                <a:latin typeface="Arial" charset="0"/>
              </a:rPr>
              <a:t>Involved development data that is easily attained?</a:t>
            </a:r>
          </a:p>
          <a:p>
            <a:pPr>
              <a:lnSpc>
                <a:spcPct val="105000"/>
              </a:lnSpc>
              <a:buSzPct val="90000"/>
              <a:buFont typeface="Wingdings" charset="0"/>
              <a:buChar char="þ"/>
            </a:pPr>
            <a:r>
              <a:rPr lang="en-US" sz="1600" b="1">
                <a:latin typeface="Arial" charset="0"/>
              </a:rPr>
              <a:t>Have a true cause-and-effect relationship with the AIP?</a:t>
            </a:r>
          </a:p>
        </p:txBody>
      </p:sp>
    </p:spTree>
    <p:extLst>
      <p:ext uri="{BB962C8B-B14F-4D97-AF65-F5344CB8AC3E}">
        <p14:creationId xmlns:p14="http://schemas.microsoft.com/office/powerpoint/2010/main" val="300277195"/>
      </p:ext>
    </p:extLst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2" descr="jalama2-v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4" name="Rectangle 3"/>
          <p:cNvSpPr>
            <a:spLocks noChangeArrowheads="1"/>
          </p:cNvSpPr>
          <p:nvPr/>
        </p:nvSpPr>
        <p:spPr bwMode="auto">
          <a:xfrm>
            <a:off x="533400" y="3490913"/>
            <a:ext cx="17557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GB" sz="2000">
                <a:solidFill>
                  <a:srgbClr val="6B7996"/>
                </a:solidFill>
              </a:rPr>
              <a:t>Thank you.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533400" y="5043488"/>
            <a:ext cx="3563938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>
              <a:lnSpc>
                <a:spcPct val="115000"/>
              </a:lnSpc>
              <a:spcBef>
                <a:spcPct val="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charset="0"/>
              <a:buNone/>
            </a:pPr>
            <a:r>
              <a:rPr lang="en-GB" sz="1200" b="0">
                <a:solidFill>
                  <a:srgbClr val="6B7996"/>
                </a:solidFill>
              </a:rPr>
              <a:t>Presentation by Lean Horizons Consulting, LLC</a:t>
            </a:r>
          </a:p>
          <a:p>
            <a:pPr marL="342900" indent="-342900" algn="l">
              <a:lnSpc>
                <a:spcPct val="115000"/>
              </a:lnSpc>
              <a:spcBef>
                <a:spcPct val="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charset="0"/>
              <a:buNone/>
            </a:pPr>
            <a:r>
              <a:rPr lang="en-GB" sz="1200" b="0">
                <a:solidFill>
                  <a:srgbClr val="6B7996"/>
                </a:solidFill>
              </a:rPr>
              <a:t>www.leanhorizons.com</a:t>
            </a:r>
            <a:endParaRPr lang="en-US" sz="18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>
    <p:wipe dir="r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UJ1ZoelJUGhP6Y8ItVtkw"/>
</p:tagLst>
</file>

<file path=ppt/theme/theme1.xml><?xml version="1.0" encoding="utf-8"?>
<a:theme xmlns:a="http://schemas.openxmlformats.org/drawingml/2006/main" name="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8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9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0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2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Client Deliverable Template">
  <a:themeElements>
    <a:clrScheme name="">
      <a:dk1>
        <a:srgbClr val="000000"/>
      </a:dk1>
      <a:lt1>
        <a:srgbClr val="FFFFFF"/>
      </a:lt1>
      <a:dk2>
        <a:srgbClr val="F8F8F8"/>
      </a:dk2>
      <a:lt2>
        <a:srgbClr val="CCFFFF"/>
      </a:lt2>
      <a:accent1>
        <a:srgbClr val="006699"/>
      </a:accent1>
      <a:accent2>
        <a:srgbClr val="666699"/>
      </a:accent2>
      <a:accent3>
        <a:srgbClr val="FFFFFF"/>
      </a:accent3>
      <a:accent4>
        <a:srgbClr val="000000"/>
      </a:accent4>
      <a:accent5>
        <a:srgbClr val="AAB8CA"/>
      </a:accent5>
      <a:accent6>
        <a:srgbClr val="5C5C8A"/>
      </a:accent6>
      <a:hlink>
        <a:srgbClr val="330033"/>
      </a:hlink>
      <a:folHlink>
        <a:srgbClr val="CCCC66"/>
      </a:folHlink>
    </a:clrScheme>
    <a:fontScheme name="Client Deliverabl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808080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Wingdings 3" pitchFamily="18" charset="2"/>
          </a:defRPr>
        </a:defPPr>
      </a:lstStyle>
    </a:lnDef>
  </a:objectDefaults>
  <a:extraClrSchemeLst>
    <a:extraClrScheme>
      <a:clrScheme name="Client Deliverable Template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2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E2B8"/>
        </a:accent5>
        <a:accent6>
          <a:srgbClr val="2DB9B9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3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CC"/>
        </a:accent1>
        <a:accent2>
          <a:srgbClr val="00CC66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00B95C"/>
        </a:accent6>
        <a:hlink>
          <a:srgbClr val="FF9433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4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000066"/>
        </a:accent1>
        <a:accent2>
          <a:srgbClr val="A50021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95001D"/>
        </a:accent6>
        <a:hlink>
          <a:srgbClr val="006600"/>
        </a:hlink>
        <a:folHlink>
          <a:srgbClr val="AF9C5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5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A50021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CFAAAB"/>
        </a:accent5>
        <a:accent6>
          <a:srgbClr val="00005C"/>
        </a:accent6>
        <a:hlink>
          <a:srgbClr val="AF9C53"/>
        </a:hlink>
        <a:folHlink>
          <a:srgbClr val="00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6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CC33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5C00"/>
        </a:accent6>
        <a:hlink>
          <a:srgbClr val="FFCC00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7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33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DADCA"/>
        </a:accent5>
        <a:accent6>
          <a:srgbClr val="E7B900"/>
        </a:accent6>
        <a:hlink>
          <a:srgbClr val="33CC33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8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807C00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C0BFAA"/>
        </a:accent5>
        <a:accent6>
          <a:srgbClr val="002D5C"/>
        </a:accent6>
        <a:hlink>
          <a:srgbClr val="993366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ient Deliverable Template 9">
        <a:dk1>
          <a:srgbClr val="000000"/>
        </a:dk1>
        <a:lt1>
          <a:srgbClr val="FFFFFF"/>
        </a:lt1>
        <a:dk2>
          <a:srgbClr val="F8F8F8"/>
        </a:dk2>
        <a:lt2>
          <a:srgbClr val="FFFFFF"/>
        </a:lt2>
        <a:accent1>
          <a:srgbClr val="6699FF"/>
        </a:accent1>
        <a:accent2>
          <a:srgbClr val="993366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8A2D5C"/>
        </a:accent6>
        <a:hlink>
          <a:srgbClr val="FF9400"/>
        </a:hlink>
        <a:folHlink>
          <a:srgbClr val="807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Client Deliverable Template</Template>
  <TotalTime>19166</TotalTime>
  <Words>2687</Words>
  <Application>Microsoft Macintosh PowerPoint</Application>
  <PresentationFormat>On-screen Show (4:3)</PresentationFormat>
  <Paragraphs>520</Paragraphs>
  <Slides>30</Slides>
  <Notes>26</Notes>
  <HiddenSlides>0</HiddenSlides>
  <MMClips>0</MMClips>
  <ScaleCrop>false</ScaleCrop>
  <HeadingPairs>
    <vt:vector size="4" baseType="variant">
      <vt:variant>
        <vt:lpstr>Theme</vt:lpstr>
      </vt:variant>
      <vt:variant>
        <vt:i4>14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Client Deliverable Template</vt:lpstr>
      <vt:lpstr>Custom Design</vt:lpstr>
      <vt:lpstr>1_Client Deliverable Template</vt:lpstr>
      <vt:lpstr>2_Client Deliverable Template</vt:lpstr>
      <vt:lpstr>3_Client Deliverable Template</vt:lpstr>
      <vt:lpstr>5_Client Deliverable Template</vt:lpstr>
      <vt:lpstr>6_Client Deliverable Template</vt:lpstr>
      <vt:lpstr>7_Client Deliverable Template</vt:lpstr>
      <vt:lpstr>4_Client Deliverable Template</vt:lpstr>
      <vt:lpstr>8_Client Deliverable Template</vt:lpstr>
      <vt:lpstr>9_Client Deliverable Template</vt:lpstr>
      <vt:lpstr>10_Client Deliverable Template</vt:lpstr>
      <vt:lpstr>12_Client Deliverable Template</vt:lpstr>
      <vt:lpstr>11_Client Deliverable Template</vt:lpstr>
      <vt:lpstr>PowerPoint Presentation</vt:lpstr>
      <vt:lpstr>PowerPoint Presentation</vt:lpstr>
      <vt:lpstr>Characteristics of Successful Strategy Deployment</vt:lpstr>
      <vt:lpstr>Developing the SD Business Case for Change</vt:lpstr>
      <vt:lpstr>Breakthrough Objectives Defined</vt:lpstr>
      <vt:lpstr>Breakthrough Priorities - Strategy Deployment vs. Daily Mgmt.</vt:lpstr>
      <vt:lpstr>PowerPoint Presentation</vt:lpstr>
      <vt:lpstr>Annual Improvement Priorities Defined</vt:lpstr>
      <vt:lpstr>Second Level Annual Improvement Priorities Defined</vt:lpstr>
      <vt:lpstr>Targets Defined</vt:lpstr>
      <vt:lpstr>Action Plans Defined</vt:lpstr>
      <vt:lpstr>Sustaining Strategic Deployment Infrastructure</vt:lpstr>
      <vt:lpstr>Success Factors for Developing and Driving an SD Culture</vt:lpstr>
      <vt:lpstr>PowerPoint Presentation</vt:lpstr>
      <vt:lpstr>Lean Horizons Strategy Deployment Assessment Approach</vt:lpstr>
      <vt:lpstr>Assessment: Structure</vt:lpstr>
      <vt:lpstr>Assessment: Culture</vt:lpstr>
      <vt:lpstr>Assessment: Discipline and Effectiveness</vt:lpstr>
      <vt:lpstr>PowerPoint Presentation</vt:lpstr>
      <vt:lpstr>Creating Wealth Through Lean</vt:lpstr>
      <vt:lpstr>Lean Horizons – Founded in 2001 </vt:lpstr>
      <vt:lpstr>Global Capabilities</vt:lpstr>
      <vt:lpstr>Lean Horizons’ Consultants</vt:lpstr>
      <vt:lpstr>PowerPoint Presentation</vt:lpstr>
      <vt:lpstr>Reflection on the Top Level Matrix</vt:lpstr>
      <vt:lpstr>Reflection on the Second Level Matrix</vt:lpstr>
      <vt:lpstr>Reviewing Breakthrough Objectives</vt:lpstr>
      <vt:lpstr>Reviewing Annual Improvement Priorities</vt:lpstr>
      <vt:lpstr>Reviewing Targets</vt:lpstr>
      <vt:lpstr>PowerPoint Presentation</vt:lpstr>
    </vt:vector>
  </TitlesOfParts>
  <Company>Lean Horizons Consulting, LLC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Discussion Document</dc:title>
  <dc:creator>Mark DeLuzio</dc:creator>
  <cp:lastModifiedBy>Lean Horizons Consulting</cp:lastModifiedBy>
  <cp:revision>1245</cp:revision>
  <cp:lastPrinted>2013-11-13T11:07:43Z</cp:lastPrinted>
  <dcterms:created xsi:type="dcterms:W3CDTF">2011-01-05T10:34:50Z</dcterms:created>
  <dcterms:modified xsi:type="dcterms:W3CDTF">2015-02-14T01:29:05Z</dcterms:modified>
</cp:coreProperties>
</file>