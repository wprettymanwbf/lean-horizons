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351" r:id="rId3"/>
    <p:sldId id="361" r:id="rId4"/>
    <p:sldId id="574" r:id="rId5"/>
    <p:sldId id="369" r:id="rId6"/>
    <p:sldId id="597" r:id="rId7"/>
    <p:sldId id="598" r:id="rId8"/>
    <p:sldId id="599" r:id="rId9"/>
    <p:sldId id="600" r:id="rId10"/>
    <p:sldId id="601" r:id="rId11"/>
    <p:sldId id="602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BB3E73-66A2-459D-B8FB-21C7347B6A86}">
          <p14:sldIdLst>
            <p14:sldId id="258"/>
            <p14:sldId id="351"/>
            <p14:sldId id="361"/>
            <p14:sldId id="574"/>
            <p14:sldId id="369"/>
            <p14:sldId id="597"/>
            <p14:sldId id="598"/>
            <p14:sldId id="599"/>
            <p14:sldId id="600"/>
            <p14:sldId id="601"/>
            <p14:sldId id="6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300"/>
    <a:srgbClr val="222222"/>
    <a:srgbClr val="FFB627"/>
    <a:srgbClr val="177E89"/>
    <a:srgbClr val="8EDCE6"/>
    <a:srgbClr val="F1BF98"/>
    <a:srgbClr val="2EC4B6"/>
    <a:srgbClr val="BDDBD0"/>
    <a:srgbClr val="2D7DD2"/>
    <a:srgbClr val="629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81849" autoAdjust="0"/>
  </p:normalViewPr>
  <p:slideViewPr>
    <p:cSldViewPr snapToGrid="0">
      <p:cViewPr varScale="1">
        <p:scale>
          <a:sx n="92" d="100"/>
          <a:sy n="92" d="100"/>
        </p:scale>
        <p:origin x="130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0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 BREIFLY walk the group through this chart noting that you will be taking them through each step in the  process in great detail.  Key points to stress: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Strategic Deployment is a PROCESS.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SD process is mirrored after the PDCA cycle.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You must do ALL of the steps to be successful.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Most companies fail by not implementing steps 5 &amp; 6.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Just because you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Planned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does not mean you did SD.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the considerable amount of steps in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vs. other steps.  This is typically a Japanese philosophy where they will spend more time in Planning and a small amount of time in the execution (DO) stage.  This is sometimes the opposite thinking of traditional Western management.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This cycle is based on the Deming Cycle, or the Plan-Do-Check-Act cycle. When leading with Strategic Deployment your business and its processes will continuously be at different points of implementing this cycle. Notice that it is a cycle (and there are cycles within the cycle) because continuous improvement never ends. 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3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Hoshin PDCA Reviews Leadership Guidelines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2024.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99632B-E122-EDE0-0BAF-755FD08A2404}"/>
              </a:ext>
            </a:extLst>
          </p:cNvPr>
          <p:cNvSpPr txBox="1">
            <a:spLocks/>
          </p:cNvSpPr>
          <p:nvPr userDrawn="1"/>
        </p:nvSpPr>
        <p:spPr>
          <a:xfrm>
            <a:off x="8595078" y="63331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9.emf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6" Type="http://schemas.openxmlformats.org/officeDocument/2006/relationships/package" Target="../embeddings/Microsoft_Excel_Worksheet1.xlsx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0" Type="http://schemas.openxmlformats.org/officeDocument/2006/relationships/package" Target="../embeddings/Microsoft_Excel_Worksheet3.xlsx"/><Relationship Id="rId4" Type="http://schemas.openxmlformats.org/officeDocument/2006/relationships/image" Target="../media/image7.emf"/><Relationship Id="rId9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jpe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Hoshin PDCA Reviews Leadership Guidelines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"/>
              </a:rPr>
              <a:t>Purpose &amp;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i="1" u="sng" dirty="0"/>
              <a:t>Purpose: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To familiarize Members with a standardized process in which to conduct the monthly PDCA Review Meetings, as well as individual 2nd Level AIP Reviews.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u="sng" dirty="0"/>
              <a:t>Learning Objectives:</a:t>
            </a:r>
          </a:p>
          <a:p>
            <a:pPr>
              <a:lnSpc>
                <a:spcPct val="120000"/>
              </a:lnSpc>
            </a:pPr>
            <a:r>
              <a:rPr lang="en-US" dirty="0"/>
              <a:t>Monthly PDCA Review - Definition, Characteristics, Pitfalls</a:t>
            </a:r>
          </a:p>
          <a:p>
            <a:pPr>
              <a:lnSpc>
                <a:spcPct val="120000"/>
              </a:lnSpc>
            </a:pPr>
            <a:r>
              <a:rPr lang="en-US" dirty="0"/>
              <a:t>Identify the Monthly PDCA Review Checklist and Standards</a:t>
            </a:r>
          </a:p>
          <a:p>
            <a:pPr>
              <a:lnSpc>
                <a:spcPct val="120000"/>
              </a:lnSpc>
            </a:pPr>
            <a:r>
              <a:rPr lang="en-US" dirty="0"/>
              <a:t>Understand the Standard PDCA Meeting Agenda</a:t>
            </a:r>
          </a:p>
          <a:p>
            <a:pPr>
              <a:lnSpc>
                <a:spcPct val="120000"/>
              </a:lnSpc>
            </a:pPr>
            <a:r>
              <a:rPr lang="en-US" dirty="0"/>
              <a:t>Review the Hoshin War Room Layout</a:t>
            </a:r>
          </a:p>
          <a:p>
            <a:pPr>
              <a:lnSpc>
                <a:spcPct val="120000"/>
              </a:lnSpc>
            </a:pPr>
            <a:r>
              <a:rPr lang="en-US" dirty="0"/>
              <a:t>Understand the role of Leadership in the Monthly PDCA Review</a:t>
            </a:r>
          </a:p>
          <a:p>
            <a:pPr>
              <a:lnSpc>
                <a:spcPct val="120000"/>
              </a:lnSpc>
            </a:pPr>
            <a:r>
              <a:rPr lang="en-US" dirty="0"/>
              <a:t>Understand the role of Hoshin Team Members in the Monthly PDCA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920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B19F82A-F9BA-4400-6678-7A3917D44A32}"/>
              </a:ext>
            </a:extLst>
          </p:cNvPr>
          <p:cNvGrpSpPr/>
          <p:nvPr/>
        </p:nvGrpSpPr>
        <p:grpSpPr>
          <a:xfrm>
            <a:off x="1939306" y="4116340"/>
            <a:ext cx="2527397" cy="1136650"/>
            <a:chOff x="1939306" y="4116340"/>
            <a:chExt cx="2527397" cy="1136650"/>
          </a:xfrm>
        </p:grpSpPr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0103937A-117A-8B29-C743-0B1AECE57D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3665" y="4925364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DAEF4F1F-75B8-B733-4D70-39F60F0993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899841" y="4371997"/>
              <a:ext cx="1167714" cy="732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2603A965-41AF-D3FD-6A2E-3CD3DBE84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306" y="4116340"/>
              <a:ext cx="1139825" cy="11366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8D</a:t>
              </a:r>
              <a:br>
                <a:rPr lang="en-US" altLang="en-US" sz="1600" i="1" dirty="0">
                  <a:solidFill>
                    <a:srgbClr val="FFFFFF"/>
                  </a:solidFill>
                  <a:latin typeface="+mn-lt"/>
                </a:rPr>
              </a:b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Counter</a:t>
              </a:r>
              <a:r>
                <a:rPr lang="en-US" altLang="en-US" sz="1600" b="0" i="1" dirty="0">
                  <a:solidFill>
                    <a:srgbClr val="FFFFFF"/>
                  </a:solidFill>
                  <a:latin typeface="+mn-lt"/>
                </a:rPr>
                <a:t>-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measures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986B0C-9143-3850-FB0A-5A4D0972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  <a:t>7 Phases of the Hoshin Process</a:t>
            </a:r>
            <a:b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</a:br>
            <a: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  <a:t>Based on the Deming Cycle - PDCA</a:t>
            </a:r>
            <a:endParaRPr lang="en-US" dirty="0"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91A3D7F9-A236-7B12-1B68-300D73C5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849937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QUESTION: Where could be the failure point in your organization?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CBA2949E-9336-26A1-E71E-20498679B5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086645"/>
            <a:ext cx="0" cy="376329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41E4CD-7510-7B56-FBD8-5F043370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004519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LRP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6399D34-9153-0274-3F0D-AA7E7BD22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557886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Long-Term Stretch Objectives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065B1F8-627A-3DD1-10D6-5030DD79A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3111253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 Top Level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07BE3CD-0982-9006-A114-5F3DBD795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025" y="3664742"/>
            <a:ext cx="4051943" cy="30777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Targets, Resources - 2nd Level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B2D13E5-691F-7372-2016-440CC93C3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217987"/>
            <a:ext cx="4050792" cy="308019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Implement AIPs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3A8D347-AB51-1BF8-0942-280EBD01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771354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Monthly PDCA Review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CF2D058-CF18-901A-8FF2-1C617F361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5324720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Annual Review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1FAC16-F51D-8116-748F-5AAA43511344}"/>
              </a:ext>
            </a:extLst>
          </p:cNvPr>
          <p:cNvGrpSpPr/>
          <p:nvPr/>
        </p:nvGrpSpPr>
        <p:grpSpPr>
          <a:xfrm>
            <a:off x="7849179" y="2432171"/>
            <a:ext cx="1752600" cy="1135063"/>
            <a:chOff x="7849179" y="2432171"/>
            <a:chExt cx="1752600" cy="1135063"/>
          </a:xfrm>
        </p:grpSpPr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4246DC88-CD39-B38C-62E6-1B650A43C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2711896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35C91105-EFAC-F01A-E9D6-AA8156EC0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3265263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DBC7ABDB-8570-5844-C013-6172D435B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2432171"/>
              <a:ext cx="1139825" cy="1135063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Catchball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0CFDFB-5CF5-3284-D3FB-7BB791426E68}"/>
              </a:ext>
            </a:extLst>
          </p:cNvPr>
          <p:cNvGrpSpPr/>
          <p:nvPr/>
        </p:nvGrpSpPr>
        <p:grpSpPr>
          <a:xfrm>
            <a:off x="8118347" y="3765061"/>
            <a:ext cx="1579434" cy="1213871"/>
            <a:chOff x="8118347" y="3765061"/>
            <a:chExt cx="1579434" cy="1213871"/>
          </a:xfrm>
        </p:grpSpPr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957FC68F-2735-56E8-F635-BA07B2677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18347" y="4371997"/>
              <a:ext cx="1173870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35F08D2B-C7F6-4733-D90A-1BFBB8202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3765061"/>
              <a:ext cx="1235827" cy="1213871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Targeted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CI Efforts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4D7D07-5576-F466-0568-796C2D36BAA1}"/>
              </a:ext>
            </a:extLst>
          </p:cNvPr>
          <p:cNvGrpSpPr/>
          <p:nvPr/>
        </p:nvGrpSpPr>
        <p:grpSpPr>
          <a:xfrm>
            <a:off x="325585" y="1946345"/>
            <a:ext cx="2945773" cy="1866214"/>
            <a:chOff x="749635" y="2039846"/>
            <a:chExt cx="2945773" cy="186621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BB99EC-08FE-9EEA-7470-88A5152C1AC3}"/>
                </a:ext>
              </a:extLst>
            </p:cNvPr>
            <p:cNvGrpSpPr/>
            <p:nvPr/>
          </p:nvGrpSpPr>
          <p:grpSpPr>
            <a:xfrm>
              <a:off x="749635" y="2039846"/>
              <a:ext cx="2945773" cy="1866214"/>
              <a:chOff x="749635" y="2039846"/>
              <a:chExt cx="2945773" cy="1866214"/>
            </a:xfrm>
            <a:effectLst>
              <a:outerShdw blurRad="50800" dist="50800" dir="5400000" algn="ctr" rotWithShape="0">
                <a:schemeClr val="bg1">
                  <a:lumMod val="85000"/>
                </a:schemeClr>
              </a:outerShdw>
            </a:effectLst>
          </p:grpSpPr>
          <p:sp>
            <p:nvSpPr>
              <p:cNvPr id="25" name="Rounded Rectangle 4">
                <a:extLst>
                  <a:ext uri="{FF2B5EF4-FFF2-40B4-BE49-F238E27FC236}">
                    <a16:creationId xmlns:a16="http://schemas.microsoft.com/office/drawing/2014/main" id="{EE7F95B7-3FD5-0416-E5FE-8724CB0AB566}"/>
                  </a:ext>
                </a:extLst>
              </p:cNvPr>
              <p:cNvSpPr/>
              <p:nvPr/>
            </p:nvSpPr>
            <p:spPr>
              <a:xfrm>
                <a:off x="749635" y="2039846"/>
                <a:ext cx="2945773" cy="186621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7AE4E46-B8B0-AD51-E326-FADF1228B9F6}"/>
                  </a:ext>
                </a:extLst>
              </p:cNvPr>
              <p:cNvGrpSpPr/>
              <p:nvPr/>
            </p:nvGrpSpPr>
            <p:grpSpPr>
              <a:xfrm>
                <a:off x="2562745" y="2367725"/>
                <a:ext cx="1132662" cy="1310104"/>
                <a:chOff x="2540336" y="2367725"/>
                <a:chExt cx="1155072" cy="1310104"/>
              </a:xfrm>
            </p:grpSpPr>
            <p:sp>
              <p:nvSpPr>
                <p:cNvPr id="27" name="Rectangle 20">
                  <a:extLst>
                    <a:ext uri="{FF2B5EF4-FFF2-40B4-BE49-F238E27FC236}">
                      <a16:creationId xmlns:a16="http://schemas.microsoft.com/office/drawing/2014/main" id="{46FF168F-3DC3-2623-6C56-22155B3069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374075"/>
                  <a:ext cx="355600" cy="266700"/>
                </a:xfrm>
                <a:prstGeom prst="rect">
                  <a:avLst/>
                </a:prstGeom>
                <a:solidFill>
                  <a:schemeClr val="accent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8" name="Rectangle 21">
                  <a:extLst>
                    <a:ext uri="{FF2B5EF4-FFF2-40B4-BE49-F238E27FC236}">
                      <a16:creationId xmlns:a16="http://schemas.microsoft.com/office/drawing/2014/main" id="{EB03A0B2-7BAA-5EB6-0166-6CA711048C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707450"/>
                  <a:ext cx="355600" cy="268288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9" name="Rectangle 22">
                  <a:extLst>
                    <a:ext uri="{FF2B5EF4-FFF2-40B4-BE49-F238E27FC236}">
                      <a16:creationId xmlns:a16="http://schemas.microsoft.com/office/drawing/2014/main" id="{B8C920C8-AA33-4694-6965-72E937605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3042413"/>
                  <a:ext cx="355600" cy="266700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0" name="Text Box 23">
                  <a:extLst>
                    <a:ext uri="{FF2B5EF4-FFF2-40B4-BE49-F238E27FC236}">
                      <a16:creationId xmlns:a16="http://schemas.microsoft.com/office/drawing/2014/main" id="{6C33676A-341C-9E38-75F9-699DDEE6AA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2367725"/>
                  <a:ext cx="63350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Plan</a:t>
                  </a:r>
                </a:p>
              </p:txBody>
            </p:sp>
            <p:sp>
              <p:nvSpPr>
                <p:cNvPr id="31" name="Text Box 24">
                  <a:extLst>
                    <a:ext uri="{FF2B5EF4-FFF2-40B4-BE49-F238E27FC236}">
                      <a16:creationId xmlns:a16="http://schemas.microsoft.com/office/drawing/2014/main" id="{13F2B1F2-2121-D122-A1A7-6D0801B54C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2682050"/>
                  <a:ext cx="463588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Do</a:t>
                  </a:r>
                </a:p>
              </p:txBody>
            </p:sp>
            <p:sp>
              <p:nvSpPr>
                <p:cNvPr id="32" name="Text Box 25">
                  <a:extLst>
                    <a:ext uri="{FF2B5EF4-FFF2-40B4-BE49-F238E27FC236}">
                      <a16:creationId xmlns:a16="http://schemas.microsoft.com/office/drawing/2014/main" id="{511A30F2-C02C-F759-2F18-CF2AF84ABC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3013838"/>
                  <a:ext cx="805029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Check</a:t>
                  </a:r>
                </a:p>
              </p:txBody>
            </p:sp>
            <p:sp>
              <p:nvSpPr>
                <p:cNvPr id="33" name="Rectangle 26">
                  <a:extLst>
                    <a:ext uri="{FF2B5EF4-FFF2-40B4-BE49-F238E27FC236}">
                      <a16:creationId xmlns:a16="http://schemas.microsoft.com/office/drawing/2014/main" id="{39DB48D5-3232-F1AC-F992-47326FE49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336" y="3364675"/>
                  <a:ext cx="357188" cy="268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Text Box 27">
                  <a:extLst>
                    <a:ext uri="{FF2B5EF4-FFF2-40B4-BE49-F238E27FC236}">
                      <a16:creationId xmlns:a16="http://schemas.microsoft.com/office/drawing/2014/main" id="{62ED337C-9CCE-B0C8-F728-604D404356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3339275"/>
                  <a:ext cx="52129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Act</a:t>
                  </a:r>
                </a:p>
              </p:txBody>
            </p:sp>
          </p:grp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2B8988F-5899-2979-17ED-E6A0D8205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375" y="2226854"/>
              <a:ext cx="1270000" cy="1587500"/>
            </a:xfrm>
            <a:prstGeom prst="rect">
              <a:avLst/>
            </a:prstGeom>
            <a:effectLst>
              <a:softEdge rad="139700"/>
            </a:effectLst>
          </p:spPr>
        </p:pic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C631A0A3-9B52-CD43-C843-732E258D2D3F}"/>
              </a:ext>
            </a:extLst>
          </p:cNvPr>
          <p:cNvSpPr/>
          <p:nvPr/>
        </p:nvSpPr>
        <p:spPr>
          <a:xfrm>
            <a:off x="3820692" y="4590588"/>
            <a:ext cx="4550615" cy="646024"/>
          </a:xfrm>
          <a:prstGeom prst="ellipse">
            <a:avLst/>
          </a:prstGeom>
          <a:noFill/>
          <a:ln w="539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Line 14">
            <a:extLst>
              <a:ext uri="{FF2B5EF4-FFF2-40B4-BE49-F238E27FC236}">
                <a16:creationId xmlns:a16="http://schemas.microsoft.com/office/drawing/2014/main" id="{F9A690A9-FEB4-F80F-3EB9-0ED52C695D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65210" y="4925364"/>
            <a:ext cx="1779094" cy="264838"/>
          </a:xfrm>
          <a:prstGeom prst="line">
            <a:avLst/>
          </a:prstGeom>
          <a:solidFill>
            <a:schemeClr val="accent2">
              <a:lumMod val="75000"/>
            </a:schemeClr>
          </a:solidFill>
          <a:ln w="6032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FA8BB-6B70-4A91-CA5C-D029267172E3}"/>
              </a:ext>
            </a:extLst>
          </p:cNvPr>
          <p:cNvSpPr txBox="1"/>
          <p:nvPr/>
        </p:nvSpPr>
        <p:spPr>
          <a:xfrm>
            <a:off x="9995966" y="4942821"/>
            <a:ext cx="121259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800" b="1" dirty="0">
                <a:solidFill>
                  <a:schemeClr val="accent1"/>
                </a:solidFill>
                <a:latin typeface="+mn-lt"/>
                <a:ea typeface="ＭＳ Ｐゴシック" panose="020B0600070205080204" pitchFamily="34" charset="-128"/>
              </a:rPr>
              <a:t>We are here!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971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Monthly PDCA Review Defined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FC3E49-C5C1-C8D4-5DE9-69F019621780}"/>
              </a:ext>
            </a:extLst>
          </p:cNvPr>
          <p:cNvGrpSpPr/>
          <p:nvPr/>
        </p:nvGrpSpPr>
        <p:grpSpPr>
          <a:xfrm>
            <a:off x="838200" y="2009482"/>
            <a:ext cx="10799137" cy="599825"/>
            <a:chOff x="1056549" y="1919926"/>
            <a:chExt cx="10799137" cy="599825"/>
          </a:xfrm>
          <a:solidFill>
            <a:schemeClr val="tx1"/>
          </a:solidFill>
        </p:grpSpPr>
        <p:sp>
          <p:nvSpPr>
            <p:cNvPr id="15" name="AutoShape 9">
              <a:extLst>
                <a:ext uri="{FF2B5EF4-FFF2-40B4-BE49-F238E27FC236}">
                  <a16:creationId xmlns:a16="http://schemas.microsoft.com/office/drawing/2014/main" id="{14597299-4A81-C5D2-C446-6772CEA95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1282" y="1919926"/>
              <a:ext cx="3944404" cy="599825"/>
            </a:xfrm>
            <a:prstGeom prst="homePlate">
              <a:avLst>
                <a:gd name="adj" fmla="val 5779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Pitfalls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862BBAC4-F1D4-11E2-76E6-8C033C1E3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036" y="1919926"/>
              <a:ext cx="3807320" cy="599825"/>
            </a:xfrm>
            <a:prstGeom prst="homePlate">
              <a:avLst>
                <a:gd name="adj" fmla="val 48586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marL="171450"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Characteristics</a:t>
              </a:r>
            </a:p>
          </p:txBody>
        </p:sp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9F3BDA9A-E20E-B02A-3C7C-26B35DC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549" y="1919926"/>
              <a:ext cx="3799561" cy="599825"/>
            </a:xfrm>
            <a:prstGeom prst="homePlate">
              <a:avLst>
                <a:gd name="adj" fmla="val 5420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51631D3-C272-D061-D49A-EE9A32EFC413}"/>
              </a:ext>
            </a:extLst>
          </p:cNvPr>
          <p:cNvSpPr txBox="1"/>
          <p:nvPr/>
        </p:nvSpPr>
        <p:spPr>
          <a:xfrm>
            <a:off x="838200" y="2892056"/>
            <a:ext cx="34234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 quality control checkpoint as to the progress the organization is making toward their Hoshin initiatives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 point where Leadership assesses the evolution of the organization’s problem-solving skillset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 meeting where resource allocation issues, roadblocks, and reprioritization decisions can be made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E6BB1-14E8-EDD3-1F7E-E4CDA4BC27B4}"/>
              </a:ext>
            </a:extLst>
          </p:cNvPr>
          <p:cNvSpPr txBox="1"/>
          <p:nvPr/>
        </p:nvSpPr>
        <p:spPr>
          <a:xfrm>
            <a:off x="4384256" y="2892056"/>
            <a:ext cx="34234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Leadership’s opportunity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Resolve resource allocation issues,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Eliminate roadblocks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Make reprioritization decisions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Hoshin Team Members’ capability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Provide coaching and feedback to Hoshin Teams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1E396-9241-F03D-A81F-191A1402F370}"/>
              </a:ext>
            </a:extLst>
          </p:cNvPr>
          <p:cNvSpPr txBox="1"/>
          <p:nvPr/>
        </p:nvSpPr>
        <p:spPr>
          <a:xfrm>
            <a:off x="7930313" y="2892056"/>
            <a:ext cx="380732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Leadership insists on offering solutions to the Hoshin Team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Leadership does not learn how to ask the right questions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Hoshin Teams are not prepared for the meeting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Only one person presents vs. a team approach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Discussion of non-Hoshin items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Not following the Hoshin agenda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Allowing Hoshin teams to PLAN-DO-CHECK-</a:t>
            </a:r>
            <a:r>
              <a:rPr lang="en-US" sz="1200" b="1" dirty="0">
                <a:solidFill>
                  <a:schemeClr val="accent1"/>
                </a:solidFill>
              </a:rPr>
              <a:t>EXPLAIN</a:t>
            </a:r>
            <a:r>
              <a:rPr lang="en-US" sz="1200" b="1" dirty="0"/>
              <a:t> vs PLAN-DO-CHECK-ACT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E0A9EB78-AC55-05B5-5DE1-729642B0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903102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Do not allow PLAN-DO-CHECK-</a:t>
            </a:r>
            <a:r>
              <a:rPr lang="en-US" altLang="en-US" sz="2000" b="0" i="1" dirty="0">
                <a:solidFill>
                  <a:schemeClr val="accent1"/>
                </a:solidFill>
                <a:latin typeface="+mn-lt"/>
              </a:rPr>
              <a:t>EXPLAIN</a:t>
            </a:r>
            <a:r>
              <a:rPr lang="en-US" altLang="en-US" sz="2000" b="0" i="1" dirty="0">
                <a:latin typeface="+mn-lt"/>
              </a:rPr>
              <a:t>!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929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45B0-B7DB-471E-DDD4-B7BB309B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+mn-lt"/>
                <a:ea typeface="ＭＳ Ｐゴシック" panose="020B0600070205080204" pitchFamily="34" charset="-128"/>
              </a:rPr>
              <a:t>Monthly PDCA Review Checklist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6BAB2-B999-A4AA-4A7C-2D3A7B0E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148836"/>
            <a:ext cx="5752399" cy="4124964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800" dirty="0"/>
              <a:t>Establish Monthly PDCA Review schedule in advance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600" dirty="0"/>
              <a:t>PDCA Review Meeting should follow a standard cadence and occur as close to the month-end close as possible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800" dirty="0"/>
              <a:t>Hoshin Teams to prepare: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600" dirty="0"/>
              <a:t>Bowling Chart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600" dirty="0"/>
              <a:t>Countermeasures (when targets are </a:t>
            </a:r>
            <a:r>
              <a:rPr lang="en-US" sz="1600" dirty="0">
                <a:solidFill>
                  <a:schemeClr val="accent1"/>
                </a:solidFill>
              </a:rPr>
              <a:t>RED</a:t>
            </a:r>
            <a:r>
              <a:rPr lang="en-US" sz="1600" dirty="0"/>
              <a:t>)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600" dirty="0"/>
              <a:t>Action Plan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800" dirty="0"/>
              <a:t>Hoshin Teams should be prepared to discuss:</a:t>
            </a:r>
          </a:p>
          <a:p>
            <a:pPr marL="742950" lvl="1" indent="-28575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"/>
            </a:pPr>
            <a:r>
              <a:rPr lang="en-US" sz="1600" dirty="0">
                <a:solidFill>
                  <a:schemeClr val="accent1"/>
                </a:solidFill>
              </a:rPr>
              <a:t>RED</a:t>
            </a:r>
            <a:r>
              <a:rPr lang="en-US" sz="1600" dirty="0"/>
              <a:t> items on the Bowler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600" dirty="0"/>
              <a:t>Rationale for countermeasures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600" dirty="0"/>
              <a:t>Resource constraints (current and/or emerging)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"/>
            </a:pPr>
            <a:r>
              <a:rPr lang="en-US" sz="1600" dirty="0"/>
              <a:t>Recommended changes to AIPs, Targets, AIP Priorities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A07FA52-845E-7D24-4038-05CF63DC1E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121" b="-6149"/>
          <a:stretch/>
        </p:blipFill>
        <p:spPr>
          <a:xfrm rot="20839358">
            <a:off x="7615237" y="1279093"/>
            <a:ext cx="3559824" cy="4660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146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D3B7-C1C4-6653-BE73-F729F03B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PDCA Meeting Standard Agenda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D24669-DCA3-CD6C-37A8-F651FFF4E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892753"/>
              </p:ext>
            </p:extLst>
          </p:nvPr>
        </p:nvGraphicFramePr>
        <p:xfrm>
          <a:off x="322521" y="1842306"/>
          <a:ext cx="11546958" cy="4334657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758585">
                  <a:extLst>
                    <a:ext uri="{9D8B030D-6E8A-4147-A177-3AD203B41FA5}">
                      <a16:colId xmlns:a16="http://schemas.microsoft.com/office/drawing/2014/main" val="1599895364"/>
                    </a:ext>
                  </a:extLst>
                </a:gridCol>
                <a:gridCol w="3983948">
                  <a:extLst>
                    <a:ext uri="{9D8B030D-6E8A-4147-A177-3AD203B41FA5}">
                      <a16:colId xmlns:a16="http://schemas.microsoft.com/office/drawing/2014/main" val="3251508938"/>
                    </a:ext>
                  </a:extLst>
                </a:gridCol>
                <a:gridCol w="5804425">
                  <a:extLst>
                    <a:ext uri="{9D8B030D-6E8A-4147-A177-3AD203B41FA5}">
                      <a16:colId xmlns:a16="http://schemas.microsoft.com/office/drawing/2014/main" val="2750787950"/>
                    </a:ext>
                  </a:extLst>
                </a:gridCol>
              </a:tblGrid>
              <a:tr h="2664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TIME/CUM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065470"/>
                  </a:ext>
                </a:extLst>
              </a:tr>
              <a:tr h="9548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10 min/10 min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INTRODUCTION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Introduce Hoshin Team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Ground audience on your AIP and how it ties to the Top Level WPF Matrix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Present Big Wins from previous month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BRIEF areas of concern - more detail later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826241"/>
                  </a:ext>
                </a:extLst>
              </a:tr>
              <a:tr h="42191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10 min/20 min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KEY FOLLOW-UP ITEMS </a:t>
                      </a:r>
                    </a:p>
                    <a:p>
                      <a:pPr algn="ctr"/>
                      <a:r>
                        <a:rPr lang="en-US" sz="1600" b="1" dirty="0"/>
                        <a:t>FROM LAST MONTH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Review the status of the key follow-up items that were identified from last month’s PDCA meeting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724161"/>
                  </a:ext>
                </a:extLst>
              </a:tr>
              <a:tr h="101237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45 min/65 min</a:t>
                      </a:r>
                    </a:p>
                    <a:p>
                      <a:pPr algn="ctr"/>
                      <a:r>
                        <a:rPr lang="en-US" sz="1200" b="1" dirty="0"/>
                        <a:t>(Note: 15 minute limit per countermeasure)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COUNTERMEASURE REVIEW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General overview of bowling charts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Outline the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RED</a:t>
                      </a:r>
                      <a:r>
                        <a:rPr lang="en-US" sz="1200" dirty="0"/>
                        <a:t> items on the bowling chart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Review your countermeasure analysis for each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RED</a:t>
                      </a:r>
                      <a:r>
                        <a:rPr lang="en-US" sz="1200" dirty="0"/>
                        <a:t> item - show supporting detail as needed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Tie the associated countermeasures with your action plan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836029"/>
                  </a:ext>
                </a:extLst>
              </a:tr>
              <a:tr h="5995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10 min/75 min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BOTTLENECK - CONSTRAINT DISCUSSION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 impediments to delivering your Action Plan on time, including resource constraints, talent constraints, outside support, etc.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010770"/>
                  </a:ext>
                </a:extLst>
              </a:tr>
              <a:tr h="7772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15 min/90 min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WRAP-UP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Confirm newly created Key Follow-up items from this meeting - assign owner - reflect in Action Plan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Confirm Parking Lot items - assign owner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Respond to any questions as needed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96323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69220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74639-647F-9DB5-C9AE-48D59A189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Hoshin War Room - Standardized Layout - Part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407B9C-DCE6-D202-67E7-5F458F76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176433"/>
              </p:ext>
            </p:extLst>
          </p:nvPr>
        </p:nvGraphicFramePr>
        <p:xfrm>
          <a:off x="7141328" y="1755251"/>
          <a:ext cx="3949706" cy="45711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6100">
                  <a:extLst>
                    <a:ext uri="{9D8B030D-6E8A-4147-A177-3AD203B41FA5}">
                      <a16:colId xmlns:a16="http://schemas.microsoft.com/office/drawing/2014/main" val="2547896801"/>
                    </a:ext>
                  </a:extLst>
                </a:gridCol>
                <a:gridCol w="2623606">
                  <a:extLst>
                    <a:ext uri="{9D8B030D-6E8A-4147-A177-3AD203B41FA5}">
                      <a16:colId xmlns:a16="http://schemas.microsoft.com/office/drawing/2014/main" val="3050854770"/>
                    </a:ext>
                  </a:extLst>
                </a:gridCol>
              </a:tblGrid>
              <a:tr h="114278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</a:rPr>
                        <a:t>CHECK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Bowling Chart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260297"/>
                  </a:ext>
                </a:extLst>
              </a:tr>
              <a:tr h="1142781"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</a:rPr>
                        <a:t>ACT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COUNTERMEASURE #1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800926"/>
                  </a:ext>
                </a:extLst>
              </a:tr>
              <a:tr h="1142781">
                <a:tc vMerge="1"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COUNTERMEASURE #2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13662"/>
                  </a:ext>
                </a:extLst>
              </a:tr>
              <a:tr h="1142781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COUNTERMEASURE #3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04768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2D39B8-A699-F141-5E55-2834D6A0F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30639"/>
              </p:ext>
            </p:extLst>
          </p:nvPr>
        </p:nvGraphicFramePr>
        <p:xfrm>
          <a:off x="2444782" y="1755250"/>
          <a:ext cx="3949706" cy="45711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6100">
                  <a:extLst>
                    <a:ext uri="{9D8B030D-6E8A-4147-A177-3AD203B41FA5}">
                      <a16:colId xmlns:a16="http://schemas.microsoft.com/office/drawing/2014/main" val="2547896801"/>
                    </a:ext>
                  </a:extLst>
                </a:gridCol>
                <a:gridCol w="2623606">
                  <a:extLst>
                    <a:ext uri="{9D8B030D-6E8A-4147-A177-3AD203B41FA5}">
                      <a16:colId xmlns:a16="http://schemas.microsoft.com/office/drawing/2014/main" val="3050854770"/>
                    </a:ext>
                  </a:extLst>
                </a:gridCol>
              </a:tblGrid>
              <a:tr h="1142781"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</a:rPr>
                        <a:t>PLAN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TOP LEVEL MATRIX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260297"/>
                  </a:ext>
                </a:extLst>
              </a:tr>
              <a:tr h="114278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2nd LEVEL MATRIX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135941"/>
                  </a:ext>
                </a:extLst>
              </a:tr>
              <a:tr h="1142781">
                <a:tc vMerge="1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DO</a:t>
                      </a:r>
                    </a:p>
                    <a:p>
                      <a:pPr algn="ctr"/>
                      <a:endParaRPr lang="en-US" sz="2800" b="1" dirty="0"/>
                    </a:p>
                    <a:p>
                      <a:pPr algn="ctr"/>
                      <a:endParaRPr lang="en-US" sz="28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RESOURCE ANALYSIS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800926"/>
                  </a:ext>
                </a:extLst>
              </a:tr>
              <a:tr h="114278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</a:rPr>
                        <a:t>DO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ACTION PLAN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13662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3D70DCE-509A-3033-D794-90A8B4F5F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831457"/>
              </p:ext>
            </p:extLst>
          </p:nvPr>
        </p:nvGraphicFramePr>
        <p:xfrm>
          <a:off x="8718548" y="2028458"/>
          <a:ext cx="2178823" cy="83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5151100" imgH="5803900" progId="Excel.Sheet.12">
                  <p:embed/>
                </p:oleObj>
              </mc:Choice>
              <mc:Fallback>
                <p:oleObj name="Worksheet" r:id="rId3" imgW="15151100" imgH="580390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F371895-7D10-C6AE-D518-405C1644FA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18548" y="2028458"/>
                        <a:ext cx="2178823" cy="834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609B267-1B50-620F-E050-336191178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346" y="2041753"/>
            <a:ext cx="1628374" cy="821164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16ACD53-1ED3-4B37-7CAD-A1637F79B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355108"/>
              </p:ext>
            </p:extLst>
          </p:nvPr>
        </p:nvGraphicFramePr>
        <p:xfrm>
          <a:off x="4207079" y="4261944"/>
          <a:ext cx="1864909" cy="890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8051800" imgH="5219700" progId="Excel.Sheet.12">
                  <p:embed/>
                </p:oleObj>
              </mc:Choice>
              <mc:Fallback>
                <p:oleObj name="Worksheet" r:id="rId6" imgW="8051800" imgH="5219700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79D5B15-B54E-2014-1904-9F7791BEF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07079" y="4261944"/>
                        <a:ext cx="1864909" cy="890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E58F50B-2D66-E3F2-70EB-4E4B2C347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694737"/>
              </p:ext>
            </p:extLst>
          </p:nvPr>
        </p:nvGraphicFramePr>
        <p:xfrm>
          <a:off x="4395828" y="3205489"/>
          <a:ext cx="1487410" cy="763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3855700" imgH="7632700" progId="Excel.Sheet.12">
                  <p:embed/>
                </p:oleObj>
              </mc:Choice>
              <mc:Fallback>
                <p:oleObj name="Worksheet" r:id="rId8" imgW="13855700" imgH="7632700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7A436F7-C668-160C-AE82-576040F3FB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95828" y="3205489"/>
                        <a:ext cx="1487410" cy="763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91E6621-3153-A2AA-57D1-FEC7517C1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481418"/>
              </p:ext>
            </p:extLst>
          </p:nvPr>
        </p:nvGraphicFramePr>
        <p:xfrm>
          <a:off x="3961135" y="5417012"/>
          <a:ext cx="2356797" cy="879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24028400" imgH="10198100" progId="Excel.Sheet.12">
                  <p:embed/>
                </p:oleObj>
              </mc:Choice>
              <mc:Fallback>
                <p:oleObj name="Worksheet" r:id="rId10" imgW="24028400" imgH="10198100" progId="Excel.Shee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F8252BB-1713-AAC7-CFF0-14111C6F76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61135" y="5417012"/>
                        <a:ext cx="2356797" cy="879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C2E4872-DE43-606C-766D-5F61EABA96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270" y="3158208"/>
            <a:ext cx="1903378" cy="836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6782B5-5FCB-FCD0-42CC-101C006382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270" y="4290815"/>
            <a:ext cx="1903378" cy="8368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BF9FBF-BBA8-A951-8D24-27B775742E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270" y="5423422"/>
            <a:ext cx="1903378" cy="83687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FC8BE81-5429-526D-E237-2F78AD975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821029"/>
              </p:ext>
            </p:extLst>
          </p:nvPr>
        </p:nvGraphicFramePr>
        <p:xfrm>
          <a:off x="157651" y="1841500"/>
          <a:ext cx="1929748" cy="30276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929748">
                  <a:extLst>
                    <a:ext uri="{9D8B030D-6E8A-4147-A177-3AD203B41FA5}">
                      <a16:colId xmlns:a16="http://schemas.microsoft.com/office/drawing/2014/main" val="159989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AGENDA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065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10 min – Introduction</a:t>
                      </a:r>
                      <a:endParaRPr lang="en-US"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82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10 min -  Key F/U Items</a:t>
                      </a:r>
                      <a:endParaRPr lang="en-US"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24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45 min - Countermeasure </a:t>
                      </a:r>
                    </a:p>
                    <a:p>
                      <a:r>
                        <a:rPr lang="en-US" sz="1400" b="1" dirty="0"/>
                        <a:t>Review</a:t>
                      </a:r>
                      <a:endParaRPr lang="en-US"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181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10 min - Constraint Discussion</a:t>
                      </a:r>
                      <a:endParaRPr lang="en-US"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046079"/>
                  </a:ext>
                </a:extLst>
              </a:tr>
              <a:tr h="270156">
                <a:tc>
                  <a:txBody>
                    <a:bodyPr/>
                    <a:lstStyle/>
                    <a:p>
                      <a:r>
                        <a:rPr lang="en-US" sz="1400" b="1" dirty="0"/>
                        <a:t>15 min - </a:t>
                      </a:r>
                    </a:p>
                    <a:p>
                      <a:r>
                        <a:rPr lang="en-US" sz="1400" b="1" dirty="0"/>
                        <a:t>Wrap-up</a:t>
                      </a:r>
                      <a:endParaRPr lang="en-US"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3835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8163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B2D2D-F056-7A2F-F6D1-26A6C113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Hoshin War Room - Standardized Layout - Part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C98420-224D-A163-D7A4-1DDFFD71131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F70BE6-34B0-4BE4-95BC-E6ECD1FA323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907EA3-3A60-BA3F-BDBF-B50D83E4F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727135"/>
              </p:ext>
            </p:extLst>
          </p:nvPr>
        </p:nvGraphicFramePr>
        <p:xfrm>
          <a:off x="340243" y="1786880"/>
          <a:ext cx="5419498" cy="44863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0704">
                  <a:extLst>
                    <a:ext uri="{9D8B030D-6E8A-4147-A177-3AD203B41FA5}">
                      <a16:colId xmlns:a16="http://schemas.microsoft.com/office/drawing/2014/main" val="2547896801"/>
                    </a:ext>
                  </a:extLst>
                </a:gridCol>
                <a:gridCol w="2948794">
                  <a:extLst>
                    <a:ext uri="{9D8B030D-6E8A-4147-A177-3AD203B41FA5}">
                      <a16:colId xmlns:a16="http://schemas.microsoft.com/office/drawing/2014/main" val="3050854770"/>
                    </a:ext>
                  </a:extLst>
                </a:gridCol>
              </a:tblGrid>
              <a:tr h="839293"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n-lt"/>
                        </a:rPr>
                        <a:t>COUNTERMEASURES</a:t>
                      </a:r>
                    </a:p>
                    <a:p>
                      <a:pPr algn="ctr"/>
                      <a:r>
                        <a:rPr lang="en-US" sz="1800" b="1" dirty="0">
                          <a:latin typeface="+mn-lt"/>
                        </a:rPr>
                        <a:t>SUPPORTING</a:t>
                      </a:r>
                    </a:p>
                    <a:p>
                      <a:pPr algn="ctr"/>
                      <a:r>
                        <a:rPr lang="en-US" sz="1800" b="1" dirty="0">
                          <a:latin typeface="+mn-lt"/>
                        </a:rPr>
                        <a:t>DETAIL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COUNTERMEASURE #1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260297"/>
                  </a:ext>
                </a:extLst>
              </a:tr>
              <a:tr h="815876">
                <a:tc v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COUNTERMEASURE #2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135941"/>
                  </a:ext>
                </a:extLst>
              </a:tr>
              <a:tr h="86089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COUNTERMEASURE #3</a:t>
                      </a:r>
                      <a:endParaRPr lang="en-US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65871"/>
                  </a:ext>
                </a:extLst>
              </a:tr>
              <a:tr h="197026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+mn-lt"/>
                        </a:rPr>
                        <a:t>HOSHIN TEAM </a:t>
                      </a:r>
                    </a:p>
                    <a:p>
                      <a:pPr algn="ctr"/>
                      <a:r>
                        <a:rPr lang="en-US" sz="1600" b="1" dirty="0">
                          <a:latin typeface="+mn-lt"/>
                        </a:rPr>
                        <a:t>OPEN WORKSPACE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136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30A681-6D8F-A22A-1944-EA41FD836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068"/>
              </p:ext>
            </p:extLst>
          </p:nvPr>
        </p:nvGraphicFramePr>
        <p:xfrm>
          <a:off x="6214339" y="1786880"/>
          <a:ext cx="5139462" cy="4486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5556">
                  <a:extLst>
                    <a:ext uri="{9D8B030D-6E8A-4147-A177-3AD203B41FA5}">
                      <a16:colId xmlns:a16="http://schemas.microsoft.com/office/drawing/2014/main" val="2547896801"/>
                    </a:ext>
                  </a:extLst>
                </a:gridCol>
                <a:gridCol w="3413906">
                  <a:extLst>
                    <a:ext uri="{9D8B030D-6E8A-4147-A177-3AD203B41FA5}">
                      <a16:colId xmlns:a16="http://schemas.microsoft.com/office/drawing/2014/main" val="3050854770"/>
                    </a:ext>
                  </a:extLst>
                </a:gridCol>
              </a:tblGrid>
              <a:tr h="112158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+mn-lt"/>
                        </a:rPr>
                        <a:t>BIG WINS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260297"/>
                  </a:ext>
                </a:extLst>
              </a:tr>
              <a:tr h="112158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+mn-lt"/>
                        </a:rPr>
                        <a:t>KEY FOLLOW-UP ITEMS FROM LAST MONTH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135941"/>
                  </a:ext>
                </a:extLst>
              </a:tr>
              <a:tr h="1121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n-lt"/>
                        </a:rPr>
                        <a:t>KEY FOLLOW-UP ITEMS FOR THIS MONTH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65871"/>
                  </a:ext>
                </a:extLst>
              </a:tr>
              <a:tr h="112158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+mn-lt"/>
                        </a:rPr>
                        <a:t>PARKING LOT ITEMS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1366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A1991F8-52F4-C8B9-6338-9EE7DA44C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818" y="2949631"/>
            <a:ext cx="1014984" cy="1014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8B0E5-5413-661D-B720-CE560610B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818" y="4082525"/>
            <a:ext cx="1014984" cy="10149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D58934-A87B-BF28-5D96-C21E1E21C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818" y="5215418"/>
            <a:ext cx="1014984" cy="1014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B9FB0C-A4CD-6059-18F3-24DE306F0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143" y="2046429"/>
            <a:ext cx="790854" cy="512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B27CDF-AE49-311F-74D8-02A838249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012" y="2032315"/>
            <a:ext cx="776537" cy="512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9935BD-0955-B796-5F02-5FB5E3F491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038" y="2878102"/>
            <a:ext cx="456239" cy="5078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8760CA-A232-7084-AF0C-F20D10BC1A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070" y="1815858"/>
            <a:ext cx="1896480" cy="1015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EAABFE-179D-F15E-7978-813E039C23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7868" y="3719713"/>
            <a:ext cx="811248" cy="5120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24C361-8D0C-EC38-A989-22F6B95705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921" y="3719713"/>
            <a:ext cx="800612" cy="5120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80754B-4DC1-FE5A-571D-B46DEC3C23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8718" y="2878102"/>
            <a:ext cx="970992" cy="5078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EFA0B9-4BD8-3472-1162-3EBD9DBB82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7341" y="5407112"/>
            <a:ext cx="1414015" cy="7772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AA067D-AEA7-E0D2-E7FB-515F9DD0B6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0472" y="4461834"/>
            <a:ext cx="1378676" cy="7772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56C708-025B-3CBF-BED8-56BE9A7A06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1588" y="4461834"/>
            <a:ext cx="736689" cy="7772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32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7420-B188-5E4A-DA6A-41193E4B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Role of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A498-0E75-29E2-46B7-B1BE99A2A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55382" cy="389976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To ask the right questions, not give answers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Test the team’s understanding of their particular Hoshin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Understand the situation with data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Are targets being met with sustainable business processes?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In addition to </a:t>
            </a:r>
            <a:r>
              <a:rPr lang="en-US" sz="1600" dirty="0">
                <a:solidFill>
                  <a:schemeClr val="accent1"/>
                </a:solidFill>
              </a:rPr>
              <a:t>RED</a:t>
            </a:r>
            <a:r>
              <a:rPr lang="en-US" sz="1600" dirty="0"/>
              <a:t> items, occasionally ask, 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“Why did you go </a:t>
            </a:r>
            <a:r>
              <a:rPr lang="en-US" sz="1400" dirty="0">
                <a:solidFill>
                  <a:schemeClr val="accent6"/>
                </a:solidFill>
              </a:rPr>
              <a:t>GREEN</a:t>
            </a:r>
            <a:r>
              <a:rPr lang="en-US" sz="1400" dirty="0"/>
              <a:t>?”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Resolve resource conflicts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Assess if the team is “working the plan” by looking for </a:t>
            </a:r>
            <a:r>
              <a:rPr lang="en-US" sz="1600" dirty="0">
                <a:solidFill>
                  <a:schemeClr val="accent1"/>
                </a:solidFill>
              </a:rPr>
              <a:t>RED</a:t>
            </a:r>
            <a:r>
              <a:rPr lang="en-US" sz="1600" dirty="0"/>
              <a:t> signals on the Action Plan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Control the team’s tendency to “EXPLAIN” vs. “ACT”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Note: If teams are not prepared, dismiss them and schedule a follow-up team meeting within a week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6DB534A8-3BAA-8E3D-5144-112194EE4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903102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“In God we trust, all others bring data.”  - Dr. Edwards Deming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246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C7C9-AC0E-63A6-50F9-344B81B6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Role of Hoshin Team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18F20-44DA-1A32-4F96-47F172E05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All team members should present and be active participants</a:t>
            </a:r>
          </a:p>
          <a:p>
            <a:pPr>
              <a:lnSpc>
                <a:spcPct val="120000"/>
              </a:lnSpc>
            </a:pPr>
            <a:r>
              <a:rPr lang="en-US" dirty="0"/>
              <a:t>Presentation Cadence: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Top Level Matrix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2nd Level Matrix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Bowling Chart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Countermeasures (when targets are </a:t>
            </a:r>
            <a:r>
              <a:rPr lang="en-US" dirty="0">
                <a:solidFill>
                  <a:schemeClr val="accent1"/>
                </a:solidFill>
              </a:rPr>
              <a:t>RED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Action Plan</a:t>
            </a:r>
          </a:p>
          <a:p>
            <a:pPr>
              <a:lnSpc>
                <a:spcPct val="120000"/>
              </a:lnSpc>
            </a:pPr>
            <a:r>
              <a:rPr lang="en-US" dirty="0"/>
              <a:t>2nd Level Team Leaders should report: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Recommended changes to the AIP or Targets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Recommended changes to AIP priorities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Resource or training constraints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Understand the situation with data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Are targets being met with sustainable business processes?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2E042-D90D-738B-EF3D-132EEFA05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610" y="2417043"/>
            <a:ext cx="4076063" cy="31685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4844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28CA-21F0-8DFB-790B-E121EE25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E9AB1F-DE43-CF02-847C-71CE4C6F7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3933"/>
          <a:stretch/>
        </p:blipFill>
        <p:spPr>
          <a:xfrm>
            <a:off x="6315739" y="930605"/>
            <a:ext cx="4263655" cy="533238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D541-C68D-4D5E-50F9-273E2B90C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It takes an organization 18 to 24 months until Hoshin is a natural part of their culture and DNA.</a:t>
            </a:r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Developing your problem-solving muscle is the key to success.</a:t>
            </a:r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Do not be discouraged!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85135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HC FONT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15920</TotalTime>
  <Words>1097</Words>
  <Application>Microsoft Office PowerPoint</Application>
  <PresentationFormat>Widescreen</PresentationFormat>
  <Paragraphs>171</Paragraphs>
  <Slides>11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Roboto</vt:lpstr>
      <vt:lpstr>Roboto Medium</vt:lpstr>
      <vt:lpstr>Wingdings</vt:lpstr>
      <vt:lpstr>Office Theme</vt:lpstr>
      <vt:lpstr>Worksheet</vt:lpstr>
      <vt:lpstr>PowerPoint Presentation</vt:lpstr>
      <vt:lpstr>Purpose &amp; Learning Objectives</vt:lpstr>
      <vt:lpstr>7 Phases of the Hoshin Process Based on the Deming Cycle - PDCA</vt:lpstr>
      <vt:lpstr>Monthly PDCA Review Defined</vt:lpstr>
      <vt:lpstr>Monthly PDCA Review Checklist</vt:lpstr>
      <vt:lpstr>PDCA Meeting Standard Agenda</vt:lpstr>
      <vt:lpstr>Hoshin War Room - Standardized Layout - Part 1</vt:lpstr>
      <vt:lpstr>Hoshin War Room - Standardized Layout - Part 2</vt:lpstr>
      <vt:lpstr>Role of Leaders</vt:lpstr>
      <vt:lpstr>Role of Hoshin Team Member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399</cp:revision>
  <dcterms:created xsi:type="dcterms:W3CDTF">2023-02-08T22:10:20Z</dcterms:created>
  <dcterms:modified xsi:type="dcterms:W3CDTF">2025-09-30T17:40:08Z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3194D411-54EC-49E6-869F-7A78B79CE8D6</vt:lpwstr>
  </property>
  <property fmtid="{D5CDD505-2E9C-101B-9397-08002B2CF9AE}" pid="3" name="ArticulatePath">
    <vt:lpwstr>05-Hoshin PDCA Review Guidelines - Formatted Draft</vt:lpwstr>
  </property>
</Properties>
</file>