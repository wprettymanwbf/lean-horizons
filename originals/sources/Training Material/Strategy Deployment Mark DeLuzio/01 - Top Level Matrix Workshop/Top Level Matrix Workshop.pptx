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tags/tag27.xml" ContentType="application/vnd.openxmlformats-officedocument.presentationml.tags+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notesSlides/notesSlide23.xml" ContentType="application/vnd.openxmlformats-officedocument.presentationml.notesSlide+xml"/>
  <Override PartName="/ppt/tags/tag30.xml" ContentType="application/vnd.openxmlformats-officedocument.presentationml.tags+xml"/>
  <Override PartName="/ppt/notesSlides/notesSlide24.xml" ContentType="application/vnd.openxmlformats-officedocument.presentationml.notesSlide+xml"/>
  <Override PartName="/ppt/tags/tag31.xml" ContentType="application/vnd.openxmlformats-officedocument.presentationml.tags+xml"/>
  <Override PartName="/ppt/notesSlides/notesSlide25.xml" ContentType="application/vnd.openxmlformats-officedocument.presentationml.notesSlide+xml"/>
  <Override PartName="/ppt/tags/tag32.xml" ContentType="application/vnd.openxmlformats-officedocument.presentationml.tags+xml"/>
  <Override PartName="/ppt/notesSlides/notesSlide26.xml" ContentType="application/vnd.openxmlformats-officedocument.presentationml.notesSlide+xml"/>
  <Override PartName="/ppt/tags/tag33.xml" ContentType="application/vnd.openxmlformats-officedocument.presentationml.tags+xml"/>
  <Override PartName="/ppt/notesSlides/notesSlide27.xml" ContentType="application/vnd.openxmlformats-officedocument.presentationml.notesSlide+xml"/>
  <Override PartName="/ppt/tags/tag34.xml" ContentType="application/vnd.openxmlformats-officedocument.presentationml.tags+xml"/>
  <Override PartName="/ppt/notesSlides/notesSlide28.xml" ContentType="application/vnd.openxmlformats-officedocument.presentationml.notesSlide+xml"/>
  <Override PartName="/ppt/tags/tag35.xml" ContentType="application/vnd.openxmlformats-officedocument.presentationml.tags+xml"/>
  <Override PartName="/ppt/notesSlides/notesSlide29.xml" ContentType="application/vnd.openxmlformats-officedocument.presentationml.notesSlide+xml"/>
  <Override PartName="/ppt/tags/tag36.xml" ContentType="application/vnd.openxmlformats-officedocument.presentationml.tags+xml"/>
  <Override PartName="/ppt/notesSlides/notesSlide30.xml" ContentType="application/vnd.openxmlformats-officedocument.presentationml.notesSlide+xml"/>
  <Override PartName="/ppt/tags/tag37.xml" ContentType="application/vnd.openxmlformats-officedocument.presentationml.tags+xml"/>
  <Override PartName="/ppt/notesSlides/notesSlide31.xml" ContentType="application/vnd.openxmlformats-officedocument.presentationml.notesSlide+xml"/>
  <Override PartName="/ppt/tags/tag38.xml" ContentType="application/vnd.openxmlformats-officedocument.presentationml.tags+xml"/>
  <Override PartName="/ppt/notesSlides/notesSlide32.xml" ContentType="application/vnd.openxmlformats-officedocument.presentationml.notesSlide+xml"/>
  <Override PartName="/ppt/tags/tag39.xml" ContentType="application/vnd.openxmlformats-officedocument.presentationml.tags+xml"/>
  <Override PartName="/ppt/notesSlides/notesSlide33.xml" ContentType="application/vnd.openxmlformats-officedocument.presentationml.notesSlide+xml"/>
  <Override PartName="/ppt/tags/tag40.xml" ContentType="application/vnd.openxmlformats-officedocument.presentationml.tags+xml"/>
  <Override PartName="/ppt/notesSlides/notesSlide34.xml" ContentType="application/vnd.openxmlformats-officedocument.presentationml.notesSlide+xml"/>
  <Override PartName="/ppt/tags/tag41.xml" ContentType="application/vnd.openxmlformats-officedocument.presentationml.tags+xml"/>
  <Override PartName="/ppt/notesSlides/notesSlide35.xml" ContentType="application/vnd.openxmlformats-officedocument.presentationml.notesSlide+xml"/>
  <Override PartName="/ppt/tags/tag42.xml" ContentType="application/vnd.openxmlformats-officedocument.presentationml.tags+xml"/>
  <Override PartName="/ppt/notesSlides/notesSlide36.xml" ContentType="application/vnd.openxmlformats-officedocument.presentationml.notesSlide+xml"/>
  <Override PartName="/ppt/tags/tag43.xml" ContentType="application/vnd.openxmlformats-officedocument.presentationml.tags+xml"/>
  <Override PartName="/ppt/notesSlides/notesSlide37.xml" ContentType="application/vnd.openxmlformats-officedocument.presentationml.notesSlide+xml"/>
  <Override PartName="/ppt/tags/tag44.xml" ContentType="application/vnd.openxmlformats-officedocument.presentationml.tags+xml"/>
  <Override PartName="/ppt/notesSlides/notesSlide38.xml" ContentType="application/vnd.openxmlformats-officedocument.presentationml.notesSlide+xml"/>
  <Override PartName="/ppt/tags/tag45.xml" ContentType="application/vnd.openxmlformats-officedocument.presentationml.tags+xml"/>
  <Override PartName="/ppt/notesSlides/notesSlide39.xml" ContentType="application/vnd.openxmlformats-officedocument.presentationml.notesSlide+xml"/>
  <Override PartName="/ppt/tags/tag46.xml" ContentType="application/vnd.openxmlformats-officedocument.presentationml.tags+xml"/>
  <Override PartName="/ppt/notesSlides/notesSlide40.xml" ContentType="application/vnd.openxmlformats-officedocument.presentationml.notesSlide+xml"/>
  <Override PartName="/ppt/tags/tag47.xml" ContentType="application/vnd.openxmlformats-officedocument.presentationml.tags+xml"/>
  <Override PartName="/ppt/notesSlides/notesSlide41.xml" ContentType="application/vnd.openxmlformats-officedocument.presentationml.notesSlide+xml"/>
  <Override PartName="/ppt/tags/tag48.xml" ContentType="application/vnd.openxmlformats-officedocument.presentationml.tags+xml"/>
  <Override PartName="/ppt/notesSlides/notesSlide42.xml" ContentType="application/vnd.openxmlformats-officedocument.presentationml.notesSlide+xml"/>
  <Override PartName="/ppt/tags/tag49.xml" ContentType="application/vnd.openxmlformats-officedocument.presentationml.tags+xml"/>
  <Override PartName="/ppt/notesSlides/notesSlide43.xml" ContentType="application/vnd.openxmlformats-officedocument.presentationml.notesSlide+xml"/>
  <Override PartName="/ppt/tags/tag50.xml" ContentType="application/vnd.openxmlformats-officedocument.presentationml.tags+xml"/>
  <Override PartName="/ppt/notesSlides/notesSlide44.xml" ContentType="application/vnd.openxmlformats-officedocument.presentationml.notesSlide+xml"/>
  <Override PartName="/ppt/tags/tag51.xml" ContentType="application/vnd.openxmlformats-officedocument.presentationml.tags+xml"/>
  <Override PartName="/ppt/notesSlides/notesSlide45.xml" ContentType="application/vnd.openxmlformats-officedocument.presentationml.notesSlide+xml"/>
  <Override PartName="/ppt/tags/tag52.xml" ContentType="application/vnd.openxmlformats-officedocument.presentationml.tags+xml"/>
  <Override PartName="/ppt/notesSlides/notesSlide46.xml" ContentType="application/vnd.openxmlformats-officedocument.presentationml.notesSlide+xml"/>
  <Override PartName="/ppt/tags/tag53.xml" ContentType="application/vnd.openxmlformats-officedocument.presentationml.tags+xml"/>
  <Override PartName="/ppt/notesSlides/notesSlide47.xml" ContentType="application/vnd.openxmlformats-officedocument.presentationml.notesSlide+xml"/>
  <Override PartName="/ppt/tags/tag54.xml" ContentType="application/vnd.openxmlformats-officedocument.presentationml.tags+xml"/>
  <Override PartName="/ppt/notesSlides/notesSlide48.xml" ContentType="application/vnd.openxmlformats-officedocument.presentationml.notesSlide+xml"/>
  <Override PartName="/ppt/tags/tag55.xml" ContentType="application/vnd.openxmlformats-officedocument.presentationml.tags+xml"/>
  <Override PartName="/ppt/notesSlides/notesSlide49.xml" ContentType="application/vnd.openxmlformats-officedocument.presentationml.notesSlide+xml"/>
  <Override PartName="/ppt/tags/tag56.xml" ContentType="application/vnd.openxmlformats-officedocument.presentationml.tags+xml"/>
  <Override PartName="/ppt/notesSlides/notesSlide50.xml" ContentType="application/vnd.openxmlformats-officedocument.presentationml.notesSlide+xml"/>
  <Override PartName="/ppt/tags/tag57.xml" ContentType="application/vnd.openxmlformats-officedocument.presentationml.tags+xml"/>
  <Override PartName="/ppt/notesSlides/notesSlide51.xml" ContentType="application/vnd.openxmlformats-officedocument.presentationml.notesSlide+xml"/>
  <Override PartName="/ppt/tags/tag58.xml" ContentType="application/vnd.openxmlformats-officedocument.presentationml.tags+xml"/>
  <Override PartName="/ppt/notesSlides/notesSlide52.xml" ContentType="application/vnd.openxmlformats-officedocument.presentationml.notesSlide+xml"/>
  <Override PartName="/ppt/tags/tag59.xml" ContentType="application/vnd.openxmlformats-officedocument.presentationml.tags+xml"/>
  <Override PartName="/ppt/notesSlides/notesSlide53.xml" ContentType="application/vnd.openxmlformats-officedocument.presentationml.notesSlide+xml"/>
  <Override PartName="/ppt/tags/tag60.xml" ContentType="application/vnd.openxmlformats-officedocument.presentationml.tags+xml"/>
  <Override PartName="/ppt/notesSlides/notesSlide54.xml" ContentType="application/vnd.openxmlformats-officedocument.presentationml.notesSlide+xml"/>
  <Override PartName="/ppt/tags/tag61.xml" ContentType="application/vnd.openxmlformats-officedocument.presentationml.tags+xml"/>
  <Override PartName="/ppt/notesSlides/notesSlide55.xml" ContentType="application/vnd.openxmlformats-officedocument.presentationml.notesSlide+xml"/>
  <Override PartName="/ppt/tags/tag62.xml" ContentType="application/vnd.openxmlformats-officedocument.presentationml.tags+xml"/>
  <Override PartName="/ppt/notesSlides/notesSlide56.xml" ContentType="application/vnd.openxmlformats-officedocument.presentationml.notesSlide+xml"/>
  <Override PartName="/ppt/tags/tag63.xml" ContentType="application/vnd.openxmlformats-officedocument.presentationml.tags+xml"/>
  <Override PartName="/ppt/notesSlides/notesSlide57.xml" ContentType="application/vnd.openxmlformats-officedocument.presentationml.notesSlide+xml"/>
  <Override PartName="/ppt/tags/tag64.xml" ContentType="application/vnd.openxmlformats-officedocument.presentationml.tags+xml"/>
  <Override PartName="/ppt/notesSlides/notesSlide58.xml" ContentType="application/vnd.openxmlformats-officedocument.presentationml.notesSlide+xml"/>
  <Override PartName="/ppt/tags/tag65.xml" ContentType="application/vnd.openxmlformats-officedocument.presentationml.tags+xml"/>
  <Override PartName="/ppt/notesSlides/notesSlide59.xml" ContentType="application/vnd.openxmlformats-officedocument.presentationml.notesSlide+xml"/>
  <Override PartName="/ppt/tags/tag66.xml" ContentType="application/vnd.openxmlformats-officedocument.presentationml.tags+xml"/>
  <Override PartName="/ppt/notesSlides/notesSlide60.xml" ContentType="application/vnd.openxmlformats-officedocument.presentationml.notesSlide+xml"/>
  <Override PartName="/ppt/tags/tag67.xml" ContentType="application/vnd.openxmlformats-officedocument.presentationml.tags+xml"/>
  <Override PartName="/ppt/notesSlides/notesSlide61.xml" ContentType="application/vnd.openxmlformats-officedocument.presentationml.notesSlide+xml"/>
  <Override PartName="/ppt/tags/tag68.xml" ContentType="application/vnd.openxmlformats-officedocument.presentationml.tags+xml"/>
  <Override PartName="/ppt/notesSlides/notesSlide62.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63.xml" ContentType="application/vnd.openxmlformats-officedocument.presentationml.notesSlide+xml"/>
  <Override PartName="/ppt/tags/tag71.xml" ContentType="application/vnd.openxmlformats-officedocument.presentationml.tags+xml"/>
  <Override PartName="/ppt/notesSlides/notesSlide64.xml" ContentType="application/vnd.openxmlformats-officedocument.presentationml.notesSlide+xml"/>
  <Override PartName="/ppt/tags/tag72.xml" ContentType="application/vnd.openxmlformats-officedocument.presentationml.tags+xml"/>
  <Override PartName="/ppt/notesSlides/notesSlide65.xml" ContentType="application/vnd.openxmlformats-officedocument.presentationml.notesSlide+xml"/>
  <Override PartName="/ppt/tags/tag73.xml" ContentType="application/vnd.openxmlformats-officedocument.presentationml.tags+xml"/>
  <Override PartName="/ppt/notesSlides/notesSlide66.xml" ContentType="application/vnd.openxmlformats-officedocument.presentationml.notesSlide+xml"/>
  <Override PartName="/ppt/tags/tag74.xml" ContentType="application/vnd.openxmlformats-officedocument.presentationml.tags+xml"/>
  <Override PartName="/ppt/notesSlides/notesSlide67.xml" ContentType="application/vnd.openxmlformats-officedocument.presentationml.notesSlide+xml"/>
  <Override PartName="/ppt/tags/tag75.xml" ContentType="application/vnd.openxmlformats-officedocument.presentationml.tags+xml"/>
  <Override PartName="/ppt/notesSlides/notesSlide68.xml" ContentType="application/vnd.openxmlformats-officedocument.presentationml.notesSlide+xml"/>
  <Override PartName="/ppt/tags/tag76.xml" ContentType="application/vnd.openxmlformats-officedocument.presentationml.tags+xml"/>
  <Override PartName="/ppt/notesSlides/notesSlide69.xml" ContentType="application/vnd.openxmlformats-officedocument.presentationml.notesSlide+xml"/>
  <Override PartName="/ppt/tags/tag77.xml" ContentType="application/vnd.openxmlformats-officedocument.presentationml.tags+xml"/>
  <Override PartName="/ppt/notesSlides/notesSlide70.xml" ContentType="application/vnd.openxmlformats-officedocument.presentationml.notesSlide+xml"/>
  <Override PartName="/ppt/tags/tag78.xml" ContentType="application/vnd.openxmlformats-officedocument.presentationml.tags+xml"/>
  <Override PartName="/ppt/notesSlides/notesSlide71.xml" ContentType="application/vnd.openxmlformats-officedocument.presentationml.notesSlide+xml"/>
  <Override PartName="/ppt/tags/tag79.xml" ContentType="application/vnd.openxmlformats-officedocument.presentationml.tags+xml"/>
  <Override PartName="/ppt/notesSlides/notesSlide72.xml" ContentType="application/vnd.openxmlformats-officedocument.presentationml.notesSlide+xml"/>
  <Override PartName="/ppt/tags/tag80.xml" ContentType="application/vnd.openxmlformats-officedocument.presentationml.tags+xml"/>
  <Override PartName="/ppt/notesSlides/notesSlide73.xml" ContentType="application/vnd.openxmlformats-officedocument.presentationml.notesSlide+xml"/>
  <Override PartName="/ppt/tags/tag81.xml" ContentType="application/vnd.openxmlformats-officedocument.presentationml.tags+xml"/>
  <Override PartName="/ppt/notesSlides/notesSlide74.xml" ContentType="application/vnd.openxmlformats-officedocument.presentationml.notesSlide+xml"/>
  <Override PartName="/ppt/tags/tag82.xml" ContentType="application/vnd.openxmlformats-officedocument.presentationml.tags+xml"/>
  <Override PartName="/ppt/notesSlides/notesSlide75.xml" ContentType="application/vnd.openxmlformats-officedocument.presentationml.notesSlide+xml"/>
  <Override PartName="/ppt/tags/tag83.xml" ContentType="application/vnd.openxmlformats-officedocument.presentationml.tags+xml"/>
  <Override PartName="/ppt/notesSlides/notesSlide76.xml" ContentType="application/vnd.openxmlformats-officedocument.presentationml.notesSlide+xml"/>
  <Override PartName="/ppt/tags/tag84.xml" ContentType="application/vnd.openxmlformats-officedocument.presentationml.tags+xml"/>
  <Override PartName="/ppt/notesSlides/notesSlide77.xml" ContentType="application/vnd.openxmlformats-officedocument.presentationml.notesSlide+xml"/>
  <Override PartName="/ppt/tags/tag85.xml" ContentType="application/vnd.openxmlformats-officedocument.presentationml.tags+xml"/>
  <Override PartName="/ppt/notesSlides/notesSlide78.xml" ContentType="application/vnd.openxmlformats-officedocument.presentationml.notesSlide+xml"/>
  <Override PartName="/ppt/tags/tag86.xml" ContentType="application/vnd.openxmlformats-officedocument.presentationml.tags+xml"/>
  <Override PartName="/ppt/notesSlides/notesSlide79.xml" ContentType="application/vnd.openxmlformats-officedocument.presentationml.notesSlide+xml"/>
  <Override PartName="/ppt/tags/tag87.xml" ContentType="application/vnd.openxmlformats-officedocument.presentationml.tags+xml"/>
  <Override PartName="/ppt/notesSlides/notesSlide80.xml" ContentType="application/vnd.openxmlformats-officedocument.presentationml.notesSlide+xml"/>
  <Override PartName="/ppt/tags/tag88.xml" ContentType="application/vnd.openxmlformats-officedocument.presentationml.tags+xml"/>
  <Override PartName="/ppt/notesSlides/notesSlide81.xml" ContentType="application/vnd.openxmlformats-officedocument.presentationml.notesSlide+xml"/>
  <Override PartName="/ppt/tags/tag89.xml" ContentType="application/vnd.openxmlformats-officedocument.presentationml.tags+xml"/>
  <Override PartName="/ppt/notesSlides/notesSlide82.xml" ContentType="application/vnd.openxmlformats-officedocument.presentationml.notesSlide+xml"/>
  <Override PartName="/ppt/tags/tag90.xml" ContentType="application/vnd.openxmlformats-officedocument.presentationml.tags+xml"/>
  <Override PartName="/ppt/notesSlides/notesSlide83.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84.xml" ContentType="application/vnd.openxmlformats-officedocument.presentationml.notesSlide+xml"/>
  <Override PartName="/ppt/tags/tag94.xml" ContentType="application/vnd.openxmlformats-officedocument.presentationml.tags+xml"/>
  <Override PartName="/ppt/notesSlides/notesSlide85.xml" ContentType="application/vnd.openxmlformats-officedocument.presentationml.notesSlide+xml"/>
  <Override PartName="/ppt/tags/tag95.xml" ContentType="application/vnd.openxmlformats-officedocument.presentationml.tags+xml"/>
  <Override PartName="/ppt/notesSlides/notesSlide86.xml" ContentType="application/vnd.openxmlformats-officedocument.presentationml.notesSlide+xml"/>
  <Override PartName="/ppt/tags/tag96.xml" ContentType="application/vnd.openxmlformats-officedocument.presentationml.tags+xml"/>
  <Override PartName="/ppt/notesSlides/notesSlide87.xml" ContentType="application/vnd.openxmlformats-officedocument.presentationml.notesSlide+xml"/>
  <Override PartName="/ppt/tags/tag97.xml" ContentType="application/vnd.openxmlformats-officedocument.presentationml.tags+xml"/>
  <Override PartName="/ppt/notesSlides/notesSlide88.xml" ContentType="application/vnd.openxmlformats-officedocument.presentationml.notesSlide+xml"/>
  <Override PartName="/ppt/tags/tag98.xml" ContentType="application/vnd.openxmlformats-officedocument.presentationml.tags+xml"/>
  <Override PartName="/ppt/notesSlides/notesSlide89.xml" ContentType="application/vnd.openxmlformats-officedocument.presentationml.notesSlide+xml"/>
  <Override PartName="/ppt/tags/tag99.xml" ContentType="application/vnd.openxmlformats-officedocument.presentationml.tags+xml"/>
  <Override PartName="/ppt/notesSlides/notesSlide90.xml" ContentType="application/vnd.openxmlformats-officedocument.presentationml.notesSlide+xml"/>
  <Override PartName="/ppt/tags/tag100.xml" ContentType="application/vnd.openxmlformats-officedocument.presentationml.tags+xml"/>
  <Override PartName="/ppt/notesSlides/notesSlide91.xml" ContentType="application/vnd.openxmlformats-officedocument.presentationml.notesSlide+xml"/>
  <Override PartName="/ppt/tags/tag101.xml" ContentType="application/vnd.openxmlformats-officedocument.presentationml.tags+xml"/>
  <Override PartName="/ppt/notesSlides/notesSlide92.xml" ContentType="application/vnd.openxmlformats-officedocument.presentationml.notesSlide+xml"/>
  <Override PartName="/ppt/tags/tag102.xml" ContentType="application/vnd.openxmlformats-officedocument.presentationml.tags+xml"/>
  <Override PartName="/ppt/notesSlides/notesSlide93.xml" ContentType="application/vnd.openxmlformats-officedocument.presentationml.notesSlide+xml"/>
  <Override PartName="/ppt/tags/tag103.xml" ContentType="application/vnd.openxmlformats-officedocument.presentationml.tags+xml"/>
  <Override PartName="/ppt/notesSlides/notesSlide94.xml" ContentType="application/vnd.openxmlformats-officedocument.presentationml.notesSlide+xml"/>
  <Override PartName="/ppt/tags/tag104.xml" ContentType="application/vnd.openxmlformats-officedocument.presentationml.tags+xml"/>
  <Override PartName="/ppt/notesSlides/notesSlide95.xml" ContentType="application/vnd.openxmlformats-officedocument.presentationml.notesSlide+xml"/>
  <Override PartName="/ppt/tags/tag105.xml" ContentType="application/vnd.openxmlformats-officedocument.presentationml.tags+xml"/>
  <Override PartName="/ppt/notesSlides/notesSlide96.xml" ContentType="application/vnd.openxmlformats-officedocument.presentationml.notesSlide+xml"/>
  <Override PartName="/ppt/tags/tag106.xml" ContentType="application/vnd.openxmlformats-officedocument.presentationml.tags+xml"/>
  <Override PartName="/ppt/notesSlides/notesSlide97.xml" ContentType="application/vnd.openxmlformats-officedocument.presentationml.notesSlide+xml"/>
  <Override PartName="/ppt/tags/tag107.xml" ContentType="application/vnd.openxmlformats-officedocument.presentationml.tags+xml"/>
  <Override PartName="/ppt/notesSlides/notesSlide98.xml" ContentType="application/vnd.openxmlformats-officedocument.presentationml.notesSlide+xml"/>
  <Override PartName="/ppt/tags/tag108.xml" ContentType="application/vnd.openxmlformats-officedocument.presentationml.tags+xml"/>
  <Override PartName="/ppt/notesSlides/notesSlide99.xml" ContentType="application/vnd.openxmlformats-officedocument.presentationml.notesSlide+xml"/>
  <Override PartName="/ppt/tags/tag109.xml" ContentType="application/vnd.openxmlformats-officedocument.presentationml.tags+xml"/>
  <Override PartName="/ppt/notesSlides/notesSlide100.xml" ContentType="application/vnd.openxmlformats-officedocument.presentationml.notesSlide+xml"/>
  <Override PartName="/ppt/tags/tag110.xml" ContentType="application/vnd.openxmlformats-officedocument.presentationml.tags+xml"/>
  <Override PartName="/ppt/notesSlides/notesSlide101.xml" ContentType="application/vnd.openxmlformats-officedocument.presentationml.notesSlide+xml"/>
  <Override PartName="/ppt/tags/tag111.xml" ContentType="application/vnd.openxmlformats-officedocument.presentationml.tags+xml"/>
  <Override PartName="/ppt/notesSlides/notesSlide102.xml" ContentType="application/vnd.openxmlformats-officedocument.presentationml.notesSlide+xml"/>
  <Override PartName="/ppt/tags/tag112.xml" ContentType="application/vnd.openxmlformats-officedocument.presentationml.tags+xml"/>
  <Override PartName="/ppt/notesSlides/notesSlide103.xml" ContentType="application/vnd.openxmlformats-officedocument.presentationml.notesSlide+xml"/>
  <Override PartName="/ppt/tags/tag11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1"/>
  </p:notesMasterIdLst>
  <p:sldIdLst>
    <p:sldId id="258" r:id="rId2"/>
    <p:sldId id="284" r:id="rId3"/>
    <p:sldId id="285" r:id="rId4"/>
    <p:sldId id="361" r:id="rId5"/>
    <p:sldId id="362" r:id="rId6"/>
    <p:sldId id="363" r:id="rId7"/>
    <p:sldId id="364" r:id="rId8"/>
    <p:sldId id="365" r:id="rId9"/>
    <p:sldId id="366" r:id="rId10"/>
    <p:sldId id="367" r:id="rId11"/>
    <p:sldId id="368" r:id="rId12"/>
    <p:sldId id="369" r:id="rId13"/>
    <p:sldId id="370" r:id="rId14"/>
    <p:sldId id="371" r:id="rId15"/>
    <p:sldId id="377" r:id="rId16"/>
    <p:sldId id="378" r:id="rId17"/>
    <p:sldId id="379" r:id="rId18"/>
    <p:sldId id="380" r:id="rId19"/>
    <p:sldId id="381" r:id="rId20"/>
    <p:sldId id="382" r:id="rId21"/>
    <p:sldId id="384" r:id="rId22"/>
    <p:sldId id="383" r:id="rId23"/>
    <p:sldId id="385" r:id="rId24"/>
    <p:sldId id="386" r:id="rId25"/>
    <p:sldId id="387" r:id="rId26"/>
    <p:sldId id="388" r:id="rId27"/>
    <p:sldId id="389" r:id="rId28"/>
    <p:sldId id="390" r:id="rId29"/>
    <p:sldId id="391" r:id="rId30"/>
    <p:sldId id="392" r:id="rId31"/>
    <p:sldId id="393" r:id="rId32"/>
    <p:sldId id="394" r:id="rId33"/>
    <p:sldId id="395" r:id="rId34"/>
    <p:sldId id="396" r:id="rId35"/>
    <p:sldId id="397" r:id="rId36"/>
    <p:sldId id="398" r:id="rId37"/>
    <p:sldId id="399" r:id="rId38"/>
    <p:sldId id="400" r:id="rId39"/>
    <p:sldId id="401" r:id="rId40"/>
    <p:sldId id="402" r:id="rId41"/>
    <p:sldId id="403" r:id="rId42"/>
    <p:sldId id="404" r:id="rId43"/>
    <p:sldId id="405" r:id="rId44"/>
    <p:sldId id="406" r:id="rId45"/>
    <p:sldId id="407" r:id="rId46"/>
    <p:sldId id="408" r:id="rId47"/>
    <p:sldId id="409" r:id="rId48"/>
    <p:sldId id="410" r:id="rId49"/>
    <p:sldId id="411" r:id="rId50"/>
    <p:sldId id="412" r:id="rId51"/>
    <p:sldId id="413" r:id="rId52"/>
    <p:sldId id="414" r:id="rId53"/>
    <p:sldId id="415" r:id="rId54"/>
    <p:sldId id="416" r:id="rId55"/>
    <p:sldId id="417" r:id="rId56"/>
    <p:sldId id="418" r:id="rId57"/>
    <p:sldId id="419" r:id="rId58"/>
    <p:sldId id="420" r:id="rId59"/>
    <p:sldId id="421" r:id="rId60"/>
    <p:sldId id="422" r:id="rId61"/>
    <p:sldId id="423" r:id="rId62"/>
    <p:sldId id="424" r:id="rId63"/>
    <p:sldId id="425" r:id="rId64"/>
    <p:sldId id="426" r:id="rId65"/>
    <p:sldId id="428" r:id="rId66"/>
    <p:sldId id="429" r:id="rId67"/>
    <p:sldId id="430" r:id="rId68"/>
    <p:sldId id="431" r:id="rId69"/>
    <p:sldId id="432" r:id="rId70"/>
    <p:sldId id="433" r:id="rId71"/>
    <p:sldId id="434" r:id="rId72"/>
    <p:sldId id="435" r:id="rId73"/>
    <p:sldId id="436" r:id="rId74"/>
    <p:sldId id="437" r:id="rId75"/>
    <p:sldId id="438" r:id="rId76"/>
    <p:sldId id="439" r:id="rId77"/>
    <p:sldId id="440" r:id="rId78"/>
    <p:sldId id="441" r:id="rId79"/>
    <p:sldId id="442" r:id="rId80"/>
    <p:sldId id="443" r:id="rId81"/>
    <p:sldId id="444" r:id="rId82"/>
    <p:sldId id="445" r:id="rId83"/>
    <p:sldId id="446" r:id="rId84"/>
    <p:sldId id="447" r:id="rId85"/>
    <p:sldId id="448" r:id="rId86"/>
    <p:sldId id="449" r:id="rId87"/>
    <p:sldId id="450" r:id="rId88"/>
    <p:sldId id="451" r:id="rId89"/>
    <p:sldId id="452" r:id="rId90"/>
    <p:sldId id="453" r:id="rId91"/>
    <p:sldId id="454" r:id="rId92"/>
    <p:sldId id="455" r:id="rId93"/>
    <p:sldId id="456" r:id="rId94"/>
    <p:sldId id="457" r:id="rId95"/>
    <p:sldId id="458" r:id="rId96"/>
    <p:sldId id="459" r:id="rId97"/>
    <p:sldId id="460" r:id="rId98"/>
    <p:sldId id="461" r:id="rId99"/>
    <p:sldId id="462" r:id="rId100"/>
    <p:sldId id="463" r:id="rId101"/>
    <p:sldId id="464" r:id="rId102"/>
    <p:sldId id="465" r:id="rId103"/>
    <p:sldId id="466" r:id="rId104"/>
    <p:sldId id="467" r:id="rId105"/>
    <p:sldId id="468" r:id="rId106"/>
    <p:sldId id="469" r:id="rId107"/>
    <p:sldId id="470" r:id="rId108"/>
    <p:sldId id="471" r:id="rId109"/>
    <p:sldId id="472" r:id="rId110"/>
  </p:sldIdLst>
  <p:sldSz cx="12192000" cy="6858000"/>
  <p:notesSz cx="6858000" cy="9144000"/>
  <p:custDataLst>
    <p:tags r:id="rId1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3F9F00-1958-4180-8E61-2D815797E3F1}">
          <p14:sldIdLst>
            <p14:sldId id="258"/>
            <p14:sldId id="284"/>
            <p14:sldId id="285"/>
            <p14:sldId id="361"/>
            <p14:sldId id="362"/>
            <p14:sldId id="363"/>
            <p14:sldId id="364"/>
            <p14:sldId id="365"/>
            <p14:sldId id="366"/>
            <p14:sldId id="367"/>
            <p14:sldId id="368"/>
            <p14:sldId id="369"/>
            <p14:sldId id="370"/>
            <p14:sldId id="371"/>
            <p14:sldId id="377"/>
            <p14:sldId id="378"/>
            <p14:sldId id="379"/>
            <p14:sldId id="380"/>
            <p14:sldId id="381"/>
            <p14:sldId id="382"/>
            <p14:sldId id="384"/>
            <p14:sldId id="383"/>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222222"/>
    <a:srgbClr val="FFB627"/>
    <a:srgbClr val="177E89"/>
    <a:srgbClr val="8EDCE6"/>
    <a:srgbClr val="F1BF98"/>
    <a:srgbClr val="2EC4B6"/>
    <a:srgbClr val="BDDBD0"/>
    <a:srgbClr val="2D7DD2"/>
    <a:srgbClr val="6292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81849" autoAdjust="0"/>
  </p:normalViewPr>
  <p:slideViewPr>
    <p:cSldViewPr snapToGrid="0">
      <p:cViewPr>
        <p:scale>
          <a:sx n="66" d="100"/>
          <a:sy n="66" d="100"/>
        </p:scale>
        <p:origin x="2238" y="648"/>
      </p:cViewPr>
      <p:guideLst/>
    </p:cSldViewPr>
  </p:slideViewPr>
  <p:notesTextViewPr>
    <p:cViewPr>
      <p:scale>
        <a:sx n="3" d="2"/>
        <a:sy n="3" d="2"/>
      </p:scale>
      <p:origin x="0" y="0"/>
    </p:cViewPr>
  </p:notesTextViewPr>
  <p:sorterViewPr>
    <p:cViewPr varScale="1">
      <p:scale>
        <a:sx n="100" d="100"/>
        <a:sy n="100" d="100"/>
      </p:scale>
      <p:origin x="0" y="-257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microsoft.com/office/2018/10/relationships/authors" Targe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gs" Target="tags/tag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rts/_rels/chart1.xml.rels><?xml version="1.0" encoding="UTF-8" standalone="yes"?>
<Relationships xmlns="http://schemas.openxmlformats.org/package/2006/relationships"><Relationship Id="rId3" Type="http://schemas.openxmlformats.org/officeDocument/2006/relationships/oleObject" Target="Work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0"/>
    <c:view3D>
      <c:rotX val="15"/>
      <c:rotY val="20"/>
      <c:rAngAx val="0"/>
    </c:view3D>
    <c:floor>
      <c:thickness val="0"/>
      <c:spPr>
        <a:noFill/>
        <a:ln w="6350" cap="flat" cmpd="sng" algn="ctr">
          <a:solidFill>
            <a:schemeClr val="tx1">
              <a:tint val="75000"/>
            </a:schemeClr>
          </a:solidFill>
          <a:prstDash val="solid"/>
          <a:round/>
        </a:ln>
        <a:effectLst/>
        <a:sp3d contourW="6350">
          <a:contourClr>
            <a:schemeClr val="tx1">
              <a:tint val="75000"/>
            </a:schemeClr>
          </a:contourClr>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sp3d/>
          </c:spPr>
          <c:invertIfNegative val="0"/>
          <c:cat>
            <c:strRef>
              <c:f>Sheet1!$A$1:$C$1</c:f>
              <c:strCache>
                <c:ptCount val="3"/>
                <c:pt idx="0">
                  <c:v>Execs.</c:v>
                </c:pt>
                <c:pt idx="1">
                  <c:v>Middle Mgt.</c:v>
                </c:pt>
                <c:pt idx="2">
                  <c:v>Line Assoc.</c:v>
                </c:pt>
              </c:strCache>
            </c:strRef>
          </c:cat>
          <c:val>
            <c:numRef>
              <c:f>Sheet1!$A$2:$C$2</c:f>
              <c:numCache>
                <c:formatCode>0%</c:formatCode>
                <c:ptCount val="3"/>
                <c:pt idx="0">
                  <c:v>0.72499999999999998</c:v>
                </c:pt>
                <c:pt idx="1">
                  <c:v>0.42499999999999999</c:v>
                </c:pt>
                <c:pt idx="2">
                  <c:v>4.4999999999999998E-2</c:v>
                </c:pt>
              </c:numCache>
            </c:numRef>
          </c:val>
          <c:extLst>
            <c:ext xmlns:c16="http://schemas.microsoft.com/office/drawing/2014/chart" uri="{C3380CC4-5D6E-409C-BE32-E72D297353CC}">
              <c16:uniqueId val="{00000000-8B62-4FA4-9EEE-8A16CA5DF9D4}"/>
            </c:ext>
          </c:extLst>
        </c:ser>
        <c:dLbls>
          <c:showLegendKey val="0"/>
          <c:showVal val="0"/>
          <c:showCatName val="0"/>
          <c:showSerName val="0"/>
          <c:showPercent val="0"/>
          <c:showBubbleSize val="0"/>
        </c:dLbls>
        <c:gapWidth val="150"/>
        <c:shape val="cylinder"/>
        <c:axId val="-2134027928"/>
        <c:axId val="-2082666488"/>
        <c:axId val="0"/>
      </c:bar3DChart>
      <c:catAx>
        <c:axId val="-2134027928"/>
        <c:scaling>
          <c:orientation val="minMax"/>
        </c:scaling>
        <c:delete val="0"/>
        <c:axPos val="b"/>
        <c:numFmt formatCode="General" sourceLinked="0"/>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082666488"/>
        <c:crosses val="autoZero"/>
        <c:auto val="1"/>
        <c:lblAlgn val="ctr"/>
        <c:lblOffset val="100"/>
        <c:noMultiLvlLbl val="0"/>
      </c:catAx>
      <c:valAx>
        <c:axId val="-2082666488"/>
        <c:scaling>
          <c:orientation val="minMax"/>
        </c:scaling>
        <c:delete val="0"/>
        <c:axPos val="l"/>
        <c:majorGridlines>
          <c:spPr>
            <a:ln w="6350" cap="flat" cmpd="sng" algn="ctr">
              <a:solidFill>
                <a:schemeClr val="tx1">
                  <a:tint val="75000"/>
                </a:schemeClr>
              </a:solidFill>
              <a:prstDash val="solid"/>
              <a:round/>
            </a:ln>
            <a:effectLst/>
          </c:spPr>
        </c:majorGridlines>
        <c:numFmt formatCode="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134027928"/>
        <c:crosses val="autoZero"/>
        <c:crossBetween val="between"/>
      </c:valAx>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118">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3">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Calibri" panose="020F0502020204030204" pitchFamily="34" charset="0"/>
              <a:buAutoNum type="arabicPeriod"/>
            </a:pPr>
            <a:r>
              <a:rPr lang="en-US" altLang="en-US" dirty="0">
                <a:latin typeface="Arial" panose="020B0604020202020204" pitchFamily="34" charset="0"/>
              </a:rPr>
              <a:t>Typically, teams communicate via debate – we want them to think differently about how they interact with their teammates.</a:t>
            </a:r>
          </a:p>
          <a:p>
            <a:pPr marL="228600" indent="-228600">
              <a:buFont typeface="Calibri" panose="020F0502020204030204" pitchFamily="34" charset="0"/>
              <a:buAutoNum type="arabicPeriod"/>
            </a:pPr>
            <a:r>
              <a:rPr lang="en-US" altLang="en-US" dirty="0">
                <a:latin typeface="Arial" panose="020B0604020202020204" pitchFamily="34" charset="0"/>
              </a:rPr>
              <a:t>Stress that this is about exchange of ideas, new ways of thinking, and a spirit of inquiry.</a:t>
            </a:r>
          </a:p>
          <a:p>
            <a:pPr marL="228600" indent="-228600">
              <a:buFont typeface="Calibri" panose="020F0502020204030204" pitchFamily="34" charset="0"/>
              <a:buAutoNum type="arabicPeriod"/>
            </a:pPr>
            <a:r>
              <a:rPr lang="en-US" altLang="en-US" dirty="0">
                <a:latin typeface="Arial" panose="020B0604020202020204" pitchFamily="34" charset="0"/>
              </a:rPr>
              <a:t>Facilitator: Check to make sure the leader in the room </a:t>
            </a:r>
            <a:r>
              <a:rPr lang="en-US" altLang="en-US" dirty="0" err="1">
                <a:latin typeface="Arial" panose="020B0604020202020204" pitchFamily="34" charset="0"/>
              </a:rPr>
              <a:t>isn</a:t>
            </a:r>
            <a:r>
              <a:rPr lang="ja-JP" altLang="en-US" dirty="0">
                <a:latin typeface="Arial" panose="020B0604020202020204" pitchFamily="34" charset="0"/>
              </a:rPr>
              <a:t>’</a:t>
            </a:r>
            <a:r>
              <a:rPr lang="en-US" altLang="ja-JP" dirty="0">
                <a:latin typeface="Arial" panose="020B0604020202020204" pitchFamily="34" charset="0"/>
              </a:rPr>
              <a:t>t giving off the </a:t>
            </a:r>
            <a:r>
              <a:rPr lang="ja-JP" altLang="en-US" dirty="0">
                <a:latin typeface="Arial" panose="020B0604020202020204" pitchFamily="34" charset="0"/>
              </a:rPr>
              <a:t>“</a:t>
            </a:r>
            <a:r>
              <a:rPr lang="en-US" altLang="ja-JP" dirty="0">
                <a:latin typeface="Arial" panose="020B0604020202020204" pitchFamily="34" charset="0"/>
              </a:rPr>
              <a:t>vibe</a:t>
            </a:r>
            <a:r>
              <a:rPr lang="ja-JP" altLang="en-US" dirty="0">
                <a:latin typeface="Arial" panose="020B0604020202020204" pitchFamily="34" charset="0"/>
              </a:rPr>
              <a:t>”</a:t>
            </a:r>
            <a:r>
              <a:rPr lang="en-US" altLang="ja-JP" dirty="0">
                <a:latin typeface="Arial" panose="020B0604020202020204" pitchFamily="34" charset="0"/>
              </a:rPr>
              <a:t> of compliance.</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3847688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8D7E-E7F1-18AF-B672-E4C92BE17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6BF9-2CD5-CB42-E78B-70F2B02E0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B915F-02D6-971E-2AEC-6140D7CD0816}"/>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State the overall goal for Strategic Deployment.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Our goal for this Client-Leader Workshop is to provide an overview of the Strategic Deployment Process and </a:t>
            </a:r>
            <a:br>
              <a:rPr lang="en-US" altLang="ja-JP" dirty="0">
                <a:latin typeface="Arial" panose="020B0604020202020204" pitchFamily="34" charset="0"/>
              </a:rPr>
            </a:br>
            <a:r>
              <a:rPr lang="en-US" altLang="ja-JP" dirty="0">
                <a:latin typeface="Arial" panose="020B0604020202020204" pitchFamily="34" charset="0"/>
              </a:rPr>
              <a:t>prepare leadership with the expectations of how to lead with Strategic Deployment. We will do this through an overview of the SD process, an interactive workshop that develops your SD architecture, a discussion of the SD leadership requirements, and finally to complete the workshop deliverable, which we will detail in just a few moments.</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dirty="0">
                <a:latin typeface="Arial" panose="020B0604020202020204" pitchFamily="34" charset="0"/>
              </a:rPr>
              <a:t> </a:t>
            </a:r>
          </a:p>
        </p:txBody>
      </p:sp>
      <p:sp>
        <p:nvSpPr>
          <p:cNvPr id="4" name="Slide Number Placeholder 3">
            <a:extLst>
              <a:ext uri="{FF2B5EF4-FFF2-40B4-BE49-F238E27FC236}">
                <a16:creationId xmlns:a16="http://schemas.microsoft.com/office/drawing/2014/main" id="{1389CC11-C6BE-0B75-9CA3-113292DA8FD1}"/>
              </a:ext>
            </a:extLst>
          </p:cNvPr>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70244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B139C-E22D-BB84-BED5-3EE0D7795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8954D6-801F-18F7-1BDB-AB9126C572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2CD78-3C40-550D-8BFD-B5346EF99C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a:extLst>
              <a:ext uri="{FF2B5EF4-FFF2-40B4-BE49-F238E27FC236}">
                <a16:creationId xmlns:a16="http://schemas.microsoft.com/office/drawing/2014/main" id="{38295431-1E10-7327-2FCA-7095B3F2249B}"/>
              </a:ext>
            </a:extLst>
          </p:cNvPr>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4058546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DO: Use this analogy and stress the common error that many companies make during Strategic Deployment.</a:t>
            </a: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192900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participants whether they understand the difference between a vision, mission and strategy.  Describe the differences to level-set everyone</a:t>
            </a:r>
            <a:r>
              <a:rPr lang="ja-JP" altLang="en-US" dirty="0">
                <a:latin typeface="Arial" panose="020B0604020202020204" pitchFamily="34" charset="0"/>
              </a:rPr>
              <a:t>’</a:t>
            </a:r>
            <a:r>
              <a:rPr lang="en-US" altLang="ja-JP" dirty="0">
                <a:latin typeface="Arial" panose="020B0604020202020204" pitchFamily="34" charset="0"/>
              </a:rPr>
              <a:t>s understanding.</a:t>
            </a:r>
          </a:p>
          <a:p>
            <a:r>
              <a:rPr lang="en-US" altLang="en-US" b="1" dirty="0">
                <a:latin typeface="Arial" panose="020B0604020202020204" pitchFamily="34" charset="0"/>
              </a:rPr>
              <a:t>NOTE:</a:t>
            </a:r>
            <a:r>
              <a:rPr lang="en-US" altLang="en-US" dirty="0">
                <a:latin typeface="Arial" panose="020B0604020202020204" pitchFamily="34" charset="0"/>
              </a:rPr>
              <a:t> Definitions:</a:t>
            </a:r>
          </a:p>
          <a:p>
            <a:r>
              <a:rPr lang="en-US" altLang="en-US" b="1" dirty="0">
                <a:latin typeface="Arial" panose="020B0604020202020204" pitchFamily="34" charset="0"/>
              </a:rPr>
              <a:t>Vision:</a:t>
            </a:r>
            <a:r>
              <a:rPr lang="en-US" altLang="en-US" dirty="0">
                <a:latin typeface="Arial" panose="020B0604020202020204" pitchFamily="34" charset="0"/>
              </a:rPr>
              <a:t> Where are we going? What do we want to become?  Example: To become the premier, #1 supplier of electronic automotive components in the USA and eventually the world.</a:t>
            </a:r>
          </a:p>
          <a:p>
            <a:r>
              <a:rPr lang="en-US" altLang="en-US" b="1" dirty="0">
                <a:latin typeface="Arial" panose="020B0604020202020204" pitchFamily="34" charset="0"/>
              </a:rPr>
              <a:t>Mission:</a:t>
            </a:r>
            <a:r>
              <a:rPr lang="en-US" altLang="en-US" dirty="0">
                <a:latin typeface="Arial" panose="020B0604020202020204" pitchFamily="34" charset="0"/>
              </a:rPr>
              <a:t> What do we do? Where (markets) do we play? How will we win?  Example: We will leverage our unique product development and operational capabilities in the automotive OEM and aftermarket. </a:t>
            </a:r>
          </a:p>
          <a:p>
            <a:r>
              <a:rPr lang="en-US" altLang="en-US" b="1" dirty="0">
                <a:latin typeface="Arial" panose="020B0604020202020204" pitchFamily="34" charset="0"/>
              </a:rPr>
              <a:t>Strategy:</a:t>
            </a:r>
            <a:r>
              <a:rPr lang="en-US" altLang="en-US" dirty="0">
                <a:latin typeface="Arial" panose="020B0604020202020204" pitchFamily="34" charset="0"/>
              </a:rPr>
              <a:t> A detailed plan of how we will accomplish the Vision and Mission…how we will win in the marketplace.</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224055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107A4-B0A9-E351-83C4-4CDFE28E3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83D99-32FD-92C0-46A3-D06A3290A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BD7BB-E802-5CFD-8AB5-6F6982D81A5F}"/>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Express your own experience with implementing strategy.  Any war stories?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are examples of a </a:t>
            </a:r>
            <a:r>
              <a:rPr lang="ja-JP" altLang="en-US" dirty="0">
                <a:latin typeface="Arial" panose="020B0604020202020204" pitchFamily="34" charset="0"/>
              </a:rPr>
              <a:t>“</a:t>
            </a:r>
            <a:r>
              <a:rPr lang="en-US" altLang="ja-JP" dirty="0">
                <a:latin typeface="Arial" panose="020B0604020202020204" pitchFamily="34" charset="0"/>
              </a:rPr>
              <a:t>Macro</a:t>
            </a:r>
            <a:r>
              <a:rPr lang="ja-JP" altLang="en-US" dirty="0">
                <a:latin typeface="Arial" panose="020B0604020202020204" pitchFamily="34" charset="0"/>
              </a:rPr>
              <a:t>”</a:t>
            </a:r>
            <a:r>
              <a:rPr lang="en-US" altLang="ja-JP" dirty="0">
                <a:latin typeface="Arial" panose="020B0604020202020204" pitchFamily="34" charset="0"/>
              </a:rPr>
              <a:t> strategy.</a:t>
            </a:r>
            <a:r>
              <a:rPr lang="ja-JP" altLang="en-US" dirty="0">
                <a:latin typeface="Arial" panose="020B0604020202020204" pitchFamily="34" charset="0"/>
              </a:rPr>
              <a:t>”</a:t>
            </a:r>
            <a:r>
              <a:rPr lang="en-US" altLang="ja-JP" dirty="0">
                <a:latin typeface="Arial" panose="020B0604020202020204" pitchFamily="34" charset="0"/>
              </a:rPr>
              <a:t>  An example: One company had a strategy of </a:t>
            </a:r>
            <a:r>
              <a:rPr lang="ja-JP" altLang="en-US" dirty="0">
                <a:latin typeface="Arial" panose="020B0604020202020204" pitchFamily="34" charset="0"/>
              </a:rPr>
              <a:t>“</a:t>
            </a:r>
            <a:r>
              <a:rPr lang="en-US" altLang="ja-JP" dirty="0">
                <a:latin typeface="Arial" panose="020B0604020202020204" pitchFamily="34" charset="0"/>
              </a:rPr>
              <a:t>Seize the End User</a:t>
            </a:r>
            <a:r>
              <a:rPr lang="ja-JP" altLang="en-US" dirty="0">
                <a:latin typeface="Arial" panose="020B0604020202020204" pitchFamily="34" charset="0"/>
              </a:rPr>
              <a:t>”</a:t>
            </a:r>
            <a:r>
              <a:rPr lang="en-US" altLang="ja-JP" dirty="0">
                <a:latin typeface="Arial" panose="020B0604020202020204" pitchFamily="34" charset="0"/>
              </a:rPr>
              <a:t>.  This is NOT a strategy and it is difficult to implement.  It may mean different things to different people.</a:t>
            </a:r>
          </a:p>
          <a:p>
            <a:r>
              <a:rPr lang="en-US" altLang="en-US" b="1" dirty="0">
                <a:latin typeface="Arial" panose="020B0604020202020204" pitchFamily="34" charset="0"/>
              </a:rPr>
              <a:t>NOTE:</a:t>
            </a:r>
            <a:r>
              <a:rPr lang="en-US" altLang="en-US" dirty="0">
                <a:latin typeface="Arial" panose="020B0604020202020204" pitchFamily="34" charset="0"/>
              </a:rPr>
              <a:t> Many companies think that their budgets are their strategy.  Discuss why this is not so.</a:t>
            </a: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7E5141EE-2B4D-0D8B-68F5-046979C784EA}"/>
              </a:ext>
            </a:extLst>
          </p:cNvPr>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994660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You see the word, </a:t>
            </a:r>
            <a:r>
              <a:rPr lang="ja-JP" altLang="en-US" dirty="0">
                <a:latin typeface="Arial" panose="020B0604020202020204" pitchFamily="34" charset="0"/>
              </a:rPr>
              <a:t>“</a:t>
            </a:r>
            <a:r>
              <a:rPr lang="en-US" altLang="ja-JP" dirty="0">
                <a:latin typeface="Arial" panose="020B0604020202020204" pitchFamily="34" charset="0"/>
              </a:rPr>
              <a:t>breakthrough</a:t>
            </a:r>
            <a:r>
              <a:rPr lang="ja-JP" altLang="en-US" dirty="0">
                <a:latin typeface="Arial" panose="020B0604020202020204" pitchFamily="34" charset="0"/>
              </a:rPr>
              <a:t>”</a:t>
            </a:r>
            <a:r>
              <a:rPr lang="en-US" altLang="ja-JP" dirty="0">
                <a:latin typeface="Arial" panose="020B0604020202020204" pitchFamily="34" charset="0"/>
              </a:rPr>
              <a:t> appear several times here. Let</a:t>
            </a:r>
            <a:r>
              <a:rPr lang="ja-JP" altLang="en-US" dirty="0">
                <a:latin typeface="Arial" panose="020B0604020202020204" pitchFamily="34" charset="0"/>
              </a:rPr>
              <a:t>’</a:t>
            </a:r>
            <a:r>
              <a:rPr lang="en-US" altLang="ja-JP" dirty="0">
                <a:latin typeface="Arial" panose="020B0604020202020204" pitchFamily="34" charset="0"/>
              </a:rPr>
              <a:t>s talk about breakthrough objectives. </a:t>
            </a:r>
          </a:p>
          <a:p>
            <a:r>
              <a:rPr lang="en-US" altLang="en-US" dirty="0">
                <a:latin typeface="Arial" panose="020B0604020202020204" pitchFamily="34" charset="0"/>
              </a:rPr>
              <a:t>A Breakthrough Objective aligns with a business</a:t>
            </a:r>
            <a:r>
              <a:rPr lang="ja-JP" altLang="en-US" dirty="0">
                <a:latin typeface="Arial" panose="020B0604020202020204" pitchFamily="34" charset="0"/>
              </a:rPr>
              <a:t>’</a:t>
            </a:r>
            <a:r>
              <a:rPr lang="en-US" altLang="ja-JP" dirty="0">
                <a:latin typeface="Arial" panose="020B0604020202020204" pitchFamily="34" charset="0"/>
              </a:rPr>
              <a:t> strategic imperatives</a:t>
            </a:r>
          </a:p>
          <a:p>
            <a:r>
              <a:rPr lang="en-US" altLang="en-US" dirty="0">
                <a:latin typeface="Arial" panose="020B0604020202020204" pitchFamily="34" charset="0"/>
              </a:rPr>
              <a:t>Breakthrough Objectives represent a significant performance improvement  </a:t>
            </a:r>
          </a:p>
          <a:p>
            <a:r>
              <a:rPr lang="en-US" altLang="en-US" dirty="0">
                <a:latin typeface="Arial" panose="020B0604020202020204" pitchFamily="34" charset="0"/>
              </a:rPr>
              <a:t>Breakthrough Objectives require the organization to stretch itself to reach sustainable levels of performance never attained before.</a:t>
            </a:r>
          </a:p>
          <a:p>
            <a:r>
              <a:rPr lang="en-US" altLang="en-US" dirty="0">
                <a:latin typeface="Arial" panose="020B0604020202020204" pitchFamily="34" charset="0"/>
              </a:rPr>
              <a:t>Breakthrough Objectives typically target a 1-3 Year timeframe</a:t>
            </a:r>
          </a:p>
          <a:p>
            <a:r>
              <a:rPr lang="en-US" altLang="en-US" dirty="0">
                <a:latin typeface="Arial" panose="020B0604020202020204" pitchFamily="34" charset="0"/>
              </a:rPr>
              <a:t>SD is always a dynamic process: changes when necessary.</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883165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FC7C3-C49B-6456-75C6-F62F801BD8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3AD5B-DD86-277C-193F-B882546FA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EA328-FC4E-68D3-B485-E1549B080928}"/>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Cover points on slide as to what SD will and will not do. </a:t>
            </a:r>
          </a:p>
        </p:txBody>
      </p:sp>
      <p:sp>
        <p:nvSpPr>
          <p:cNvPr id="4" name="Slide Number Placeholder 3">
            <a:extLst>
              <a:ext uri="{FF2B5EF4-FFF2-40B4-BE49-F238E27FC236}">
                <a16:creationId xmlns:a16="http://schemas.microsoft.com/office/drawing/2014/main" id="{B54CB1D4-8787-BC67-A761-3F9B52AA3630}"/>
              </a:ext>
            </a:extLst>
          </p:cNvPr>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2310468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b="1" dirty="0">
                <a:latin typeface="Arial" panose="020B0604020202020204" pitchFamily="34" charset="0"/>
              </a:rPr>
              <a:t>“</a:t>
            </a:r>
            <a:r>
              <a:rPr lang="en-US" altLang="ja-JP" dirty="0">
                <a:latin typeface="Arial" panose="020B0604020202020204" pitchFamily="34" charset="0"/>
              </a:rPr>
              <a:t>Strategic Deployment: </a:t>
            </a:r>
          </a:p>
          <a:p>
            <a:r>
              <a:rPr lang="en-US" altLang="en-US" dirty="0">
                <a:latin typeface="Arial" panose="020B0604020202020204" pitchFamily="34" charset="0"/>
              </a:rPr>
              <a:t>Reduces the speed-to-value cycle by aligning Lean strategy to resources – Everyone focused on waste</a:t>
            </a:r>
          </a:p>
          <a:p>
            <a:r>
              <a:rPr lang="en-US" altLang="en-US" dirty="0">
                <a:latin typeface="Arial" panose="020B0604020202020204" pitchFamily="34" charset="0"/>
              </a:rPr>
              <a:t>Forces an organization to focus on the critical few strategic imperatives</a:t>
            </a:r>
          </a:p>
          <a:p>
            <a:r>
              <a:rPr lang="en-US" altLang="en-US" dirty="0">
                <a:latin typeface="Arial" panose="020B0604020202020204" pitchFamily="34" charset="0"/>
              </a:rPr>
              <a:t>Facilitates consensus and buy-in as to the direction of the organization through cross-functional participation</a:t>
            </a:r>
          </a:p>
          <a:p>
            <a:r>
              <a:rPr lang="en-US" altLang="en-US" dirty="0">
                <a:latin typeface="Arial" panose="020B0604020202020204" pitchFamily="34" charset="0"/>
              </a:rPr>
              <a:t>Ensures standardized, sustainable, high-performing business processes</a:t>
            </a:r>
          </a:p>
          <a:p>
            <a:r>
              <a:rPr lang="en-US" altLang="en-US" dirty="0">
                <a:latin typeface="Arial" panose="020B0604020202020204" pitchFamily="34" charset="0"/>
              </a:rPr>
              <a:t>Ensures sustained breakthrough results</a:t>
            </a:r>
          </a:p>
          <a:p>
            <a:r>
              <a:rPr lang="en-US" altLang="en-US" dirty="0">
                <a:latin typeface="Arial" panose="020B0604020202020204" pitchFamily="34" charset="0"/>
              </a:rPr>
              <a:t>Provides a means towards strategic competitive advantage</a:t>
            </a:r>
          </a:p>
          <a:p>
            <a:r>
              <a:rPr lang="en-US" altLang="en-US" dirty="0">
                <a:latin typeface="Arial" panose="020B0604020202020204" pitchFamily="34" charset="0"/>
              </a:rPr>
              <a:t>Superior:</a:t>
            </a:r>
          </a:p>
          <a:p>
            <a:pPr lvl="1"/>
            <a:r>
              <a:rPr lang="en-US" altLang="en-US" dirty="0">
                <a:latin typeface="Arial" panose="020B0604020202020204" pitchFamily="34" charset="0"/>
              </a:rPr>
              <a:t>Customer Satisfaction</a:t>
            </a:r>
          </a:p>
          <a:p>
            <a:pPr lvl="1"/>
            <a:r>
              <a:rPr lang="en-US" altLang="en-US" dirty="0">
                <a:latin typeface="Arial" panose="020B0604020202020204" pitchFamily="34" charset="0"/>
              </a:rPr>
              <a:t>Financial Performance</a:t>
            </a:r>
          </a:p>
          <a:p>
            <a:pPr lvl="1"/>
            <a:r>
              <a:rPr lang="en-US" altLang="en-US" dirty="0">
                <a:latin typeface="Arial" panose="020B0604020202020204" pitchFamily="34" charset="0"/>
              </a:rPr>
              <a:t>Enterprise Valuation</a:t>
            </a:r>
          </a:p>
          <a:p>
            <a:r>
              <a:rPr lang="en-US" altLang="en-US" dirty="0">
                <a:latin typeface="Arial" panose="020B0604020202020204" pitchFamily="34" charset="0"/>
              </a:rPr>
              <a:t>Provides a means to communicate the strategic vision of the organization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631334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5F20-3277-50FD-CE87-F3CD98447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1C7EB-5A70-C410-1A69-77CE19D1A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D6AFC-C761-BA8E-97AA-7ED1D0DE8C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Hoshin Kanri or Hoshin Planning is the Japanese name for Strategy Deployment.  Tell the class that this has it</a:t>
            </a:r>
            <a:r>
              <a:rPr lang="ja-JP" altLang="en-US" dirty="0">
                <a:latin typeface="Arial" panose="020B0604020202020204" pitchFamily="34" charset="0"/>
              </a:rPr>
              <a:t>’</a:t>
            </a:r>
            <a:r>
              <a:rPr lang="en-US" altLang="ja-JP" dirty="0">
                <a:latin typeface="Arial" panose="020B0604020202020204" pitchFamily="34" charset="0"/>
              </a:rPr>
              <a:t>s roots at Toyota and is an integral component to an successful Lean transformation.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6F21ED4F-4011-ACF8-CB02-5C366990EC54}"/>
              </a:ext>
            </a:extLst>
          </p:cNvPr>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734195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CC598-AF06-E917-1A4E-824A9E69C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935F2-3168-10B1-BD5D-8934AF857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54DFB-61B1-612A-CD32-37271D17BBCE}"/>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Key point is that Strategic Deployment is an iterative process, and that the appropriate lean tools should be selected in order to achieve the stated business objectives.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Emphasize </a:t>
            </a:r>
            <a:r>
              <a:rPr lang="ja-JP" altLang="en-US" dirty="0">
                <a:latin typeface="Arial" panose="020B0604020202020204" pitchFamily="34" charset="0"/>
              </a:rPr>
              <a:t>“</a:t>
            </a:r>
            <a:r>
              <a:rPr lang="en-US" altLang="ja-JP" dirty="0">
                <a:latin typeface="Arial" panose="020B0604020202020204" pitchFamily="34" charset="0"/>
              </a:rPr>
              <a:t>Breakthrough</a:t>
            </a:r>
            <a:r>
              <a:rPr lang="ja-JP" altLang="en-US" dirty="0">
                <a:latin typeface="Arial" panose="020B0604020202020204" pitchFamily="34" charset="0"/>
              </a:rPr>
              <a:t>”</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Breakdown</a:t>
            </a:r>
            <a:r>
              <a:rPr lang="ja-JP" altLang="en-US" dirty="0">
                <a:latin typeface="Arial" panose="020B0604020202020204" pitchFamily="34" charset="0"/>
              </a:rPr>
              <a:t>”</a:t>
            </a:r>
            <a:r>
              <a:rPr lang="en-US" altLang="ja-JP" dirty="0">
                <a:latin typeface="Arial" panose="020B0604020202020204" pitchFamily="34" charset="0"/>
              </a:rPr>
              <a:t>, and </a:t>
            </a:r>
            <a:r>
              <a:rPr lang="ja-JP" altLang="en-US" dirty="0">
                <a:latin typeface="Arial" panose="020B0604020202020204" pitchFamily="34" charset="0"/>
              </a:rPr>
              <a:t>“</a:t>
            </a:r>
            <a:r>
              <a:rPr lang="en-US" altLang="ja-JP" dirty="0">
                <a:latin typeface="Arial" panose="020B0604020202020204" pitchFamily="34" charset="0"/>
              </a:rPr>
              <a:t>Deselection</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dirty="0">
                <a:latin typeface="Arial" panose="020B0604020202020204" pitchFamily="34" charset="0"/>
                <a:sym typeface="Wingdings" panose="05000000000000000000" pitchFamily="2" charset="2"/>
              </a:rPr>
              <a:t> FOCUS</a:t>
            </a:r>
            <a:endParaRPr lang="en-US" altLang="en-US"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Definitions:</a:t>
            </a:r>
          </a:p>
          <a:p>
            <a:r>
              <a:rPr lang="en-US" altLang="en-US" b="1" dirty="0">
                <a:latin typeface="Arial" panose="020B0604020202020204" pitchFamily="34" charset="0"/>
              </a:rPr>
              <a:t>Value Stream</a:t>
            </a:r>
            <a:r>
              <a:rPr lang="en-US" altLang="en-US" dirty="0">
                <a:latin typeface="Arial" panose="020B0604020202020204" pitchFamily="34" charset="0"/>
              </a:rPr>
              <a:t> - Is</a:t>
            </a:r>
            <a:r>
              <a:rPr lang="en-US" altLang="en-US" b="1" dirty="0">
                <a:latin typeface="Arial" panose="020B0604020202020204" pitchFamily="34" charset="0"/>
              </a:rPr>
              <a:t> </a:t>
            </a:r>
            <a:r>
              <a:rPr lang="en-US" altLang="en-US" dirty="0">
                <a:latin typeface="Arial" panose="020B0604020202020204" pitchFamily="34" charset="0"/>
              </a:rPr>
              <a:t>a snapshot of all actions both value added and non-value added required to bring a product or service through the main material and information flows</a:t>
            </a:r>
          </a:p>
          <a:p>
            <a:r>
              <a:rPr lang="en-US" altLang="en-US" b="1" dirty="0">
                <a:latin typeface="Arial" panose="020B0604020202020204" pitchFamily="34" charset="0"/>
              </a:rPr>
              <a:t>Kaizen</a:t>
            </a:r>
            <a:r>
              <a:rPr lang="en-US" altLang="en-US" dirty="0">
                <a:latin typeface="Arial" panose="020B0604020202020204" pitchFamily="34" charset="0"/>
              </a:rPr>
              <a:t> (ki-</a:t>
            </a:r>
            <a:r>
              <a:rPr lang="en-US" altLang="en-US" dirty="0" err="1">
                <a:latin typeface="Arial" panose="020B0604020202020204" pitchFamily="34" charset="0"/>
              </a:rPr>
              <a:t>zen</a:t>
            </a:r>
            <a:r>
              <a:rPr lang="ja-JP" altLang="en-US" dirty="0">
                <a:latin typeface="Arial" panose="020B0604020202020204" pitchFamily="34" charset="0"/>
              </a:rPr>
              <a:t>’</a:t>
            </a:r>
            <a:r>
              <a:rPr lang="en-US" altLang="ja-JP" dirty="0">
                <a:latin typeface="Arial" panose="020B0604020202020204" pitchFamily="34" charset="0"/>
              </a:rPr>
              <a:t>)– Literally </a:t>
            </a:r>
            <a:r>
              <a:rPr lang="ja-JP" altLang="en-US" dirty="0">
                <a:latin typeface="Arial" panose="020B0604020202020204" pitchFamily="34" charset="0"/>
              </a:rPr>
              <a:t>“</a:t>
            </a:r>
            <a:r>
              <a:rPr lang="en-US" altLang="ja-JP" dirty="0">
                <a:latin typeface="Arial" panose="020B0604020202020204" pitchFamily="34" charset="0"/>
              </a:rPr>
              <a:t>good change</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improvement</a:t>
            </a:r>
          </a:p>
          <a:p>
            <a:r>
              <a:rPr lang="en-US" altLang="en-US" dirty="0">
                <a:latin typeface="Arial" panose="020B0604020202020204" pitchFamily="34" charset="0"/>
              </a:rPr>
              <a:t>A closer definition to the Japanese usage of kaizen is </a:t>
            </a:r>
            <a:r>
              <a:rPr lang="ja-JP" altLang="en-US" dirty="0">
                <a:latin typeface="Arial" panose="020B0604020202020204" pitchFamily="34" charset="0"/>
              </a:rPr>
              <a:t>“</a:t>
            </a:r>
            <a:r>
              <a:rPr lang="en-US" altLang="ja-JP" dirty="0">
                <a:latin typeface="Arial" panose="020B0604020202020204" pitchFamily="34" charset="0"/>
              </a:rPr>
              <a:t>to take it apart and put back together a better way</a:t>
            </a:r>
          </a:p>
          <a:p>
            <a:r>
              <a:rPr lang="en-US" altLang="en-US" b="1" dirty="0">
                <a:latin typeface="Arial" panose="020B0604020202020204" pitchFamily="34" charset="0"/>
              </a:rPr>
              <a:t>What is taken apart is usually a process, system, product, or service</a:t>
            </a:r>
          </a:p>
          <a:p>
            <a:pPr>
              <a:spcBef>
                <a:spcPct val="45000"/>
              </a:spcBef>
              <a:buClr>
                <a:schemeClr val="accent1"/>
              </a:buClr>
              <a:buSzPct val="40000"/>
              <a:buFont typeface="Wingdings 2" panose="05020102010507070707" pitchFamily="18" charset="2"/>
              <a:buNone/>
            </a:pPr>
            <a:r>
              <a:rPr lang="en-US" altLang="en-US" b="1" dirty="0">
                <a:latin typeface="Arial" panose="020B0604020202020204" pitchFamily="34" charset="0"/>
              </a:rPr>
              <a:t>Kaikaku</a:t>
            </a:r>
            <a:r>
              <a:rPr lang="en-US" altLang="en-US" dirty="0">
                <a:latin typeface="Arial" panose="020B0604020202020204" pitchFamily="34" charset="0"/>
              </a:rPr>
              <a:t> – (ki-ka</a:t>
            </a:r>
            <a:r>
              <a:rPr lang="ja-JP" altLang="en-US" dirty="0">
                <a:latin typeface="Arial" panose="020B0604020202020204" pitchFamily="34" charset="0"/>
              </a:rPr>
              <a:t>’</a:t>
            </a:r>
            <a:r>
              <a:rPr lang="en-US" altLang="ja-JP" dirty="0">
                <a:latin typeface="Arial" panose="020B0604020202020204" pitchFamily="34" charset="0"/>
              </a:rPr>
              <a:t>-</a:t>
            </a:r>
            <a:r>
              <a:rPr lang="en-US" altLang="ja-JP" dirty="0" err="1">
                <a:latin typeface="Arial" panose="020B0604020202020204" pitchFamily="34" charset="0"/>
              </a:rPr>
              <a:t>ku</a:t>
            </a:r>
            <a:r>
              <a:rPr lang="en-US" altLang="ja-JP" dirty="0">
                <a:latin typeface="Arial" panose="020B0604020202020204" pitchFamily="34" charset="0"/>
              </a:rPr>
              <a:t>) Breakthrough improvement</a:t>
            </a: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CBD6C28E-825C-8061-7F2F-9B6D3CA85B2F}"/>
              </a:ext>
            </a:extLst>
          </p:cNvPr>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730039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b="1" dirty="0">
                <a:latin typeface="Arial" panose="020B0604020202020204" pitchFamily="34" charset="0"/>
              </a:rPr>
              <a:t>DO:</a:t>
            </a:r>
            <a:r>
              <a:rPr lang="en-US" altLang="en-US" dirty="0">
                <a:latin typeface="Arial" panose="020B0604020202020204" pitchFamily="34" charset="0"/>
              </a:rPr>
              <a:t> State how this case study maps back to the model.</a:t>
            </a:r>
          </a:p>
          <a:p>
            <a:pPr>
              <a:lnSpc>
                <a:spcPct val="90000"/>
              </a:lnSpc>
            </a:pPr>
            <a:r>
              <a:rPr lang="en-US" altLang="en-US" dirty="0">
                <a:latin typeface="Arial" panose="020B0604020202020204" pitchFamily="34" charset="0"/>
              </a:rPr>
              <a:t>This example highlights the key elements of Strategic Deployment:</a:t>
            </a:r>
          </a:p>
          <a:p>
            <a:pPr lvl="1">
              <a:lnSpc>
                <a:spcPct val="90000"/>
              </a:lnSpc>
            </a:pPr>
            <a:r>
              <a:rPr lang="en-US" altLang="en-US" dirty="0">
                <a:latin typeface="Arial" panose="020B0604020202020204" pitchFamily="34" charset="0"/>
              </a:rPr>
              <a:t>Strategy</a:t>
            </a:r>
          </a:p>
          <a:p>
            <a:pPr lvl="1">
              <a:lnSpc>
                <a:spcPct val="90000"/>
              </a:lnSpc>
            </a:pPr>
            <a:r>
              <a:rPr lang="en-US" altLang="en-US" dirty="0">
                <a:latin typeface="Arial" panose="020B0604020202020204" pitchFamily="34" charset="0"/>
              </a:rPr>
              <a:t>Strategic Breakthrough Objectives</a:t>
            </a:r>
          </a:p>
          <a:p>
            <a:pPr lvl="1">
              <a:lnSpc>
                <a:spcPct val="90000"/>
              </a:lnSpc>
            </a:pPr>
            <a:r>
              <a:rPr lang="en-US" altLang="en-US" dirty="0">
                <a:latin typeface="Arial" panose="020B0604020202020204" pitchFamily="34" charset="0"/>
              </a:rPr>
              <a:t>Annual Improvement Priorities</a:t>
            </a:r>
          </a:p>
          <a:p>
            <a:pPr lvl="1">
              <a:lnSpc>
                <a:spcPct val="90000"/>
              </a:lnSpc>
            </a:pPr>
            <a:r>
              <a:rPr lang="en-US" altLang="en-US" dirty="0">
                <a:latin typeface="Arial" panose="020B0604020202020204" pitchFamily="34" charset="0"/>
              </a:rPr>
              <a:t>Targets</a:t>
            </a:r>
          </a:p>
          <a:p>
            <a:pPr>
              <a:lnSpc>
                <a:spcPct val="90000"/>
              </a:lnSpc>
            </a:pPr>
            <a:r>
              <a:rPr lang="en-US" altLang="en-US" dirty="0">
                <a:latin typeface="Arial" panose="020B0604020202020204" pitchFamily="34" charset="0"/>
              </a:rPr>
              <a:t>In this example,  one of the most critical value streams in New Product Development was determined to be the Engine Lab Testing.  Within that value stream changeover time was identified as waste and thus attacked.  Notice the Pareto chart thinking to </a:t>
            </a:r>
            <a:r>
              <a:rPr lang="ja-JP" altLang="en-US" dirty="0">
                <a:latin typeface="Arial" panose="020B0604020202020204" pitchFamily="34" charset="0"/>
              </a:rPr>
              <a:t>‘</a:t>
            </a:r>
            <a:r>
              <a:rPr lang="en-US" altLang="ja-JP" dirty="0">
                <a:latin typeface="Arial" panose="020B0604020202020204" pitchFamily="34" charset="0"/>
              </a:rPr>
              <a:t>drill down</a:t>
            </a:r>
            <a:r>
              <a:rPr lang="ja-JP" altLang="en-US" dirty="0">
                <a:latin typeface="Arial" panose="020B0604020202020204" pitchFamily="34" charset="0"/>
              </a:rPr>
              <a:t>’</a:t>
            </a:r>
            <a:r>
              <a:rPr lang="en-US" altLang="ja-JP" dirty="0">
                <a:latin typeface="Arial" panose="020B0604020202020204" pitchFamily="34" charset="0"/>
              </a:rPr>
              <a:t> into the opportunity.  Also notice how Lean approaches can be linked with changing </a:t>
            </a:r>
            <a:r>
              <a:rPr lang="ja-JP" altLang="en-US" dirty="0">
                <a:latin typeface="Arial" panose="020B0604020202020204" pitchFamily="34" charset="0"/>
              </a:rPr>
              <a:t>‘</a:t>
            </a:r>
            <a:r>
              <a:rPr lang="en-US" altLang="ja-JP" dirty="0">
                <a:latin typeface="Arial" panose="020B0604020202020204" pitchFamily="34" charset="0"/>
              </a:rPr>
              <a:t>how</a:t>
            </a:r>
            <a:r>
              <a:rPr lang="ja-JP" altLang="en-US" dirty="0">
                <a:latin typeface="Arial" panose="020B0604020202020204" pitchFamily="34" charset="0"/>
              </a:rPr>
              <a:t>’</a:t>
            </a:r>
            <a:r>
              <a:rPr lang="en-US" altLang="ja-JP" dirty="0">
                <a:latin typeface="Arial" panose="020B0604020202020204" pitchFamily="34" charset="0"/>
              </a:rPr>
              <a:t> we run our business.</a:t>
            </a:r>
          </a:p>
          <a:p>
            <a:pPr>
              <a:lnSpc>
                <a:spcPct val="90000"/>
              </a:lnSpc>
            </a:pPr>
            <a:r>
              <a:rPr lang="en-US" altLang="en-US" dirty="0">
                <a:latin typeface="Arial" panose="020B0604020202020204" pitchFamily="34" charset="0"/>
              </a:rPr>
              <a:t>Important to note here is that the Lean tool (SMED) was chosen AFTER the business objectives were determined.  Lean tools should not be implemented without a business purpose.  Also stress that SD can help us understand which value streams are strategic.  Not all value streams should receive the same time and attention due to their strategic significance to the organization.</a:t>
            </a:r>
          </a:p>
          <a:p>
            <a:pPr>
              <a:lnSpc>
                <a:spcPct val="90000"/>
              </a:lnSpc>
            </a:pPr>
            <a:r>
              <a:rPr lang="en-US" altLang="en-US" b="1" dirty="0">
                <a:latin typeface="Arial" panose="020B0604020202020204" pitchFamily="34" charset="0"/>
              </a:rPr>
              <a:t>DO:</a:t>
            </a:r>
            <a:r>
              <a:rPr lang="en-US" altLang="en-US" dirty="0">
                <a:latin typeface="Arial" panose="020B0604020202020204" pitchFamily="34" charset="0"/>
              </a:rPr>
              <a:t> Ask the participants if they can also provide a case study/example within their own organizations?</a:t>
            </a: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746896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DO: BREIFLY walk the group through this chart noting that you will be taking them through each step in the  process in great detail.  Key points to stress:</a:t>
            </a:r>
          </a:p>
          <a:p>
            <a:pPr>
              <a:buFontTx/>
              <a:buAutoNum type="arabicPeriod"/>
            </a:pPr>
            <a:r>
              <a:rPr lang="en-US" altLang="en-US" dirty="0">
                <a:latin typeface="Arial" panose="020B0604020202020204" pitchFamily="34" charset="0"/>
                <a:ea typeface="ＭＳ Ｐゴシック" panose="020B0600070205080204" pitchFamily="34" charset="-128"/>
              </a:rPr>
              <a:t>Strategic Deployment is a PROCESS.</a:t>
            </a:r>
          </a:p>
          <a:p>
            <a:pPr>
              <a:buFontTx/>
              <a:buAutoNum type="arabicPeriod"/>
            </a:pPr>
            <a:r>
              <a:rPr lang="en-US" altLang="en-US" dirty="0">
                <a:latin typeface="Arial" panose="020B0604020202020204" pitchFamily="34" charset="0"/>
                <a:ea typeface="ＭＳ Ｐゴシック" panose="020B0600070205080204" pitchFamily="34" charset="-128"/>
              </a:rPr>
              <a:t>The SD process is mirrored after the PDCA cycle.</a:t>
            </a:r>
          </a:p>
          <a:p>
            <a:pPr>
              <a:buFontTx/>
              <a:buAutoNum type="arabicPeriod"/>
            </a:pPr>
            <a:r>
              <a:rPr lang="en-US" altLang="en-US" dirty="0">
                <a:latin typeface="Arial" panose="020B0604020202020204" pitchFamily="34" charset="0"/>
                <a:ea typeface="ＭＳ Ｐゴシック" panose="020B0600070205080204" pitchFamily="34" charset="-128"/>
              </a:rPr>
              <a:t>You must do ALL of the steps to be successful.</a:t>
            </a:r>
          </a:p>
          <a:p>
            <a:pPr>
              <a:buFontTx/>
              <a:buAutoNum type="arabicPeriod"/>
            </a:pPr>
            <a:r>
              <a:rPr lang="en-US" altLang="en-US" dirty="0">
                <a:latin typeface="Arial" panose="020B0604020202020204" pitchFamily="34" charset="0"/>
                <a:ea typeface="ＭＳ Ｐゴシック" panose="020B0600070205080204" pitchFamily="34" charset="-128"/>
              </a:rPr>
              <a:t>Most companies fail by not implementing steps 5 &amp; 6.</a:t>
            </a:r>
          </a:p>
          <a:p>
            <a:pPr>
              <a:buFontTx/>
              <a:buAutoNum type="arabicPeriod"/>
            </a:pPr>
            <a:r>
              <a:rPr lang="en-US" altLang="en-US" dirty="0">
                <a:latin typeface="Arial" panose="020B0604020202020204" pitchFamily="34" charset="0"/>
                <a:ea typeface="ＭＳ Ｐゴシック" panose="020B0600070205080204" pitchFamily="34" charset="-128"/>
              </a:rPr>
              <a:t>Just because you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Planned</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does not mean you did SD.</a:t>
            </a:r>
          </a:p>
          <a:p>
            <a:pPr>
              <a:buFontTx/>
              <a:buAutoNum type="arabicPeriod"/>
            </a:pPr>
            <a:r>
              <a:rPr lang="en-US" altLang="en-US" dirty="0">
                <a:latin typeface="Arial" panose="020B0604020202020204" pitchFamily="34" charset="0"/>
                <a:ea typeface="ＭＳ Ｐゴシック" panose="020B0600070205080204" pitchFamily="34" charset="-128"/>
              </a:rPr>
              <a:t>Note the considerable amount of steps in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Plan</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vs. other steps.  This is typically a Japanese philosophy where they will spend more time in Planning and a small amount of time in the execution (DO) stage.  This is sometimes the opposite thinking of traditional Western management.</a:t>
            </a:r>
          </a:p>
          <a:p>
            <a:r>
              <a:rPr lang="en-US" altLang="en-US" dirty="0">
                <a:latin typeface="Arial" panose="020B0604020202020204" pitchFamily="34" charset="0"/>
                <a:ea typeface="ＭＳ Ｐゴシック" panose="020B0600070205080204" pitchFamily="34" charset="-128"/>
              </a:rPr>
              <a:t>SAY: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This cycle is based on the Deming Cycle, or the Plan-Do-Check-Act cycle. When leading with Strategic Deployment your business and its processes will continuously be at different points of implementing this cycle. Notice that it is a cycle (and there are cycles within the cycle) because continuous improvement never ends. </a:t>
            </a:r>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3334743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30DBF-561E-9E98-2B38-5B639FEFE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4D75A-246F-DFB0-444A-E757DB0C4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4FDC7-29D3-9C98-F80F-83B6F141E483}"/>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steps of implementation for SD. State that you will go into more depth on each one of the steps on the upcoming slides.</a:t>
            </a:r>
          </a:p>
        </p:txBody>
      </p:sp>
      <p:sp>
        <p:nvSpPr>
          <p:cNvPr id="4" name="Slide Number Placeholder 3">
            <a:extLst>
              <a:ext uri="{FF2B5EF4-FFF2-40B4-BE49-F238E27FC236}">
                <a16:creationId xmlns:a16="http://schemas.microsoft.com/office/drawing/2014/main" id="{9022D176-05AC-E61D-4337-E5D92E7ED557}"/>
              </a:ext>
            </a:extLst>
          </p:cNvPr>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2243707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C84C7-B7B5-E641-4CE0-D52B37380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98A41-C112-EC1A-CC37-F77ECFFC0D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F4EF25-8D21-B61B-4947-DD6F63FE142C}"/>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Make sure the deliverables from Strategic Deployment are clear.</a:t>
            </a:r>
          </a:p>
        </p:txBody>
      </p:sp>
      <p:sp>
        <p:nvSpPr>
          <p:cNvPr id="4" name="Slide Number Placeholder 3">
            <a:extLst>
              <a:ext uri="{FF2B5EF4-FFF2-40B4-BE49-F238E27FC236}">
                <a16:creationId xmlns:a16="http://schemas.microsoft.com/office/drawing/2014/main" id="{D8258968-8DE6-4525-A5DB-D6234CE13658}"/>
              </a:ext>
            </a:extLst>
          </p:cNvPr>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674723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7254C-87FE-A6D4-440D-18069F812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19C07-4D79-8663-C01B-A83C5162F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13826-A8E4-61C9-37FE-B13AED9299FD}"/>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Strategic Deployment infiltrates Strategic Goals &amp; Objectives</a:t>
            </a:r>
          </a:p>
          <a:p>
            <a:r>
              <a:rPr lang="en-US" altLang="en-US" dirty="0">
                <a:latin typeface="Arial" panose="020B0604020202020204" pitchFamily="34" charset="0"/>
              </a:rPr>
              <a:t>throughout the enterprise by aligning all improvements to appropriate</a:t>
            </a:r>
          </a:p>
          <a:p>
            <a:r>
              <a:rPr lang="en-US" altLang="en-US" dirty="0">
                <a:latin typeface="Arial" panose="020B0604020202020204" pitchFamily="34" charset="0"/>
              </a:rPr>
              <a:t>Resources.</a:t>
            </a:r>
            <a:r>
              <a:rPr lang="ja-JP" altLang="en-US" dirty="0">
                <a:latin typeface="Arial" panose="020B0604020202020204" pitchFamily="34" charset="0"/>
              </a:rPr>
              <a:t>”</a:t>
            </a:r>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7AE445CA-4B97-7A49-781A-BD73CAF1A119}"/>
              </a:ext>
            </a:extLst>
          </p:cNvPr>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1472575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44BEF-7648-E413-8502-08A8D1436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4C415-8D44-83F4-3666-67DB20C203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071C3-EB0D-EA01-19E8-739DF74B17EF}"/>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1C594FE5-4726-4932-4514-42DDE33249E9}"/>
              </a:ext>
            </a:extLst>
          </p:cNvPr>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208220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59EEE-AC6D-5517-63CA-8A9AA93C0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CAA46-5635-5E53-40AB-AF4EC53FA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665D8-3318-A9D5-138A-D73015051D35}"/>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00065E9E-976F-E83D-026E-F251DF5C189A}"/>
              </a:ext>
            </a:extLst>
          </p:cNvPr>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9687578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C6B53-27C8-42E4-1759-75DE882B4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34253-0B94-2B1B-6D2F-5F15AB0AD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0B7395-4C69-588A-8D9D-F1D693BF6698}"/>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B8404A41-72F3-DF19-E34F-EC617212D6B2}"/>
              </a:ext>
            </a:extLst>
          </p:cNvPr>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64743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362BE-CED6-0C59-2264-D65A4D69B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0124A-B4C1-CB19-82AF-FED8CFEB8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ED690-F777-5B1F-7DD4-305F6BB3E3D8}"/>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CF0E9B4C-CBC3-AB5A-6005-1E3FA3884CFC}"/>
              </a:ext>
            </a:extLst>
          </p:cNvPr>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2799450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5EE6C-DD3B-C681-A7CE-1205FCCE5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22637-25A4-EFAC-997C-98D0A880C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ABE46A-7B0F-4A4F-EF3C-B6CF4B1D787D}"/>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DB73CECA-D219-5608-A0D5-053741F1FCBC}"/>
              </a:ext>
            </a:extLst>
          </p:cNvPr>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4592004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614A4-937C-A4BF-D661-3E8198B63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D44BE-4333-0087-8712-87B627C30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1362B-A681-83ED-6E08-8A5BDE5BEB9C}"/>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5A93D6F7-CDF3-8933-5685-D927F687FECC}"/>
              </a:ext>
            </a:extLst>
          </p:cNvPr>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703172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D9739-8DE2-2BF1-D614-1E2B1B6EE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E2C2E-8F56-D4A5-58F5-F3817CD95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467DD-FDCD-CFC8-B99E-7ED3E22E7917}"/>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575858C9-D2E3-D532-D3A8-9E7BC5585DAA}"/>
              </a:ext>
            </a:extLst>
          </p:cNvPr>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1594215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35729-683F-7AAF-64F0-21EEF8D69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67758-515E-7A36-1A62-6AD994C58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C5FDB-9168-E7CB-C93F-AB8C96A04D8D}"/>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CD6528F1-73C3-AD04-F9FF-DD3D5CF4529E}"/>
              </a:ext>
            </a:extLst>
          </p:cNvPr>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193764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CA0BB-0E2F-3F97-8D88-B72B5FF5C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84728-94C1-AD29-3E0B-2A2BDB161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58CD3-31B7-FCC4-384E-B98AD3F680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a:extLst>
              <a:ext uri="{FF2B5EF4-FFF2-40B4-BE49-F238E27FC236}">
                <a16:creationId xmlns:a16="http://schemas.microsoft.com/office/drawing/2014/main" id="{E8E94F25-80E8-B49D-6C46-9CCEE432F7F1}"/>
              </a:ext>
            </a:extLst>
          </p:cNvPr>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426262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70F7E-F7AB-424D-1556-A2E0724BF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E9239-AEFB-E81D-C0FA-A278C9D44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1D9B7-A8C6-4055-CF5D-52AA2D4E71BC}"/>
              </a:ext>
            </a:extLst>
          </p:cNvPr>
          <p:cNvSpPr>
            <a:spLocks noGrp="1"/>
          </p:cNvSpPr>
          <p:nvPr>
            <p:ph type="body" idx="1"/>
          </p:nvPr>
        </p:nvSpPr>
        <p:spPr/>
        <p:txBody>
          <a:bodyPr/>
          <a:lstStyle/>
          <a:p>
            <a:pPr marL="228600" indent="-228600"/>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where we are in the Strategic Deployment process.</a:t>
            </a:r>
            <a:r>
              <a:rPr lang="ja-JP" altLang="en-US" dirty="0">
                <a:latin typeface="Arial" panose="020B0604020202020204" pitchFamily="34" charset="0"/>
              </a:rPr>
              <a:t>”</a:t>
            </a:r>
            <a:endParaRPr lang="en-US" altLang="ja-JP" dirty="0">
              <a:latin typeface="Arial" panose="020B0604020202020204" pitchFamily="34" charset="0"/>
            </a:endParaRPr>
          </a:p>
          <a:p>
            <a:pPr marL="228600" indent="-228600"/>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6769D6AC-B228-94E3-D792-F09C9E2B77EB}"/>
              </a:ext>
            </a:extLst>
          </p:cNvPr>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41653120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7B4B5-3B13-5618-06FC-B1B19200E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72C10-F0F3-431B-F656-FCCEA69C5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90F6B-A2A0-A284-C159-04DB088A2677}"/>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is the first time the matrix has been introduced.  As a facilitator, you should build this matrix on the computer as the teams develop their BO</a:t>
            </a:r>
            <a:r>
              <a:rPr lang="ja-JP" altLang="en-US" dirty="0">
                <a:latin typeface="Arial" panose="020B0604020202020204" pitchFamily="34" charset="0"/>
              </a:rPr>
              <a:t>’</a:t>
            </a:r>
            <a:r>
              <a:rPr lang="en-US" altLang="ja-JP" dirty="0">
                <a:latin typeface="Arial" panose="020B0604020202020204" pitchFamily="34" charset="0"/>
              </a:rPr>
              <a:t>s, AIP</a:t>
            </a:r>
            <a:r>
              <a:rPr lang="ja-JP" altLang="en-US" dirty="0">
                <a:latin typeface="Arial" panose="020B0604020202020204" pitchFamily="34" charset="0"/>
              </a:rPr>
              <a:t>’</a:t>
            </a:r>
            <a:r>
              <a:rPr lang="en-US" altLang="ja-JP" dirty="0">
                <a:latin typeface="Arial" panose="020B0604020202020204" pitchFamily="34" charset="0"/>
              </a:rPr>
              <a:t>s, Targets and Resources.</a:t>
            </a:r>
          </a:p>
          <a:p>
            <a:r>
              <a:rPr lang="en-US" altLang="en-US" b="1" dirty="0">
                <a:latin typeface="Arial" panose="020B0604020202020204" pitchFamily="34" charset="0"/>
              </a:rPr>
              <a:t>DO:</a:t>
            </a:r>
            <a:r>
              <a:rPr lang="en-US" altLang="en-US" dirty="0">
                <a:latin typeface="Arial" panose="020B0604020202020204" pitchFamily="34" charset="0"/>
              </a:rPr>
              <a:t> Take the group through the matrix, starting with BO</a:t>
            </a:r>
            <a:r>
              <a:rPr lang="ja-JP" altLang="en-US" dirty="0">
                <a:latin typeface="Arial" panose="020B0604020202020204" pitchFamily="34" charset="0"/>
              </a:rPr>
              <a:t>’</a:t>
            </a:r>
            <a:r>
              <a:rPr lang="en-US" altLang="ja-JP" dirty="0">
                <a:latin typeface="Arial" panose="020B0604020202020204" pitchFamily="34" charset="0"/>
              </a:rPr>
              <a:t>s, then AIP</a:t>
            </a:r>
            <a:r>
              <a:rPr lang="ja-JP" altLang="en-US" dirty="0">
                <a:latin typeface="Arial" panose="020B0604020202020204" pitchFamily="34" charset="0"/>
              </a:rPr>
              <a:t>’</a:t>
            </a:r>
            <a:r>
              <a:rPr lang="en-US" altLang="ja-JP" dirty="0">
                <a:latin typeface="Arial" panose="020B0604020202020204" pitchFamily="34" charset="0"/>
              </a:rPr>
              <a:t>s, targets and resources.</a:t>
            </a:r>
          </a:p>
          <a:p>
            <a:r>
              <a:rPr lang="en-US" altLang="en-US" dirty="0">
                <a:latin typeface="Arial" panose="020B0604020202020204" pitchFamily="34" charset="0"/>
              </a:rPr>
              <a:t>Stress that this is NOT a form-filling exercise.</a:t>
            </a:r>
          </a:p>
          <a:p>
            <a:r>
              <a:rPr lang="en-US" altLang="en-US" dirty="0">
                <a:latin typeface="Arial" panose="020B0604020202020204" pitchFamily="34" charset="0"/>
              </a:rPr>
              <a:t>Point out that the AIP</a:t>
            </a:r>
            <a:r>
              <a:rPr lang="ja-JP" altLang="en-US" dirty="0">
                <a:latin typeface="Arial" panose="020B0604020202020204" pitchFamily="34" charset="0"/>
              </a:rPr>
              <a:t>’</a:t>
            </a:r>
            <a:r>
              <a:rPr lang="en-US" altLang="ja-JP" dirty="0">
                <a:latin typeface="Arial" panose="020B0604020202020204" pitchFamily="34" charset="0"/>
              </a:rPr>
              <a:t>s (and not the targets) will eventually cascade to lower levels, deployed to cross-functional teams.  You will address the mechanics of this later.</a:t>
            </a: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AFF9AAC9-B900-FAE1-0E19-44F179F3DE9F}"/>
              </a:ext>
            </a:extLst>
          </p:cNvPr>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1428984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2DAE1-4363-F032-5789-CAAFE676E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45522-13F0-BC0F-0E73-BCE7D3330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7DD67-9EBC-3C2D-22EB-C110220F36A8}"/>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is the first time the matrix has been introduced.  As a facilitator, you should build this matrix on the computer as the teams develop their BO</a:t>
            </a:r>
            <a:r>
              <a:rPr lang="ja-JP" altLang="en-US" dirty="0">
                <a:latin typeface="Arial" panose="020B0604020202020204" pitchFamily="34" charset="0"/>
              </a:rPr>
              <a:t>’</a:t>
            </a:r>
            <a:r>
              <a:rPr lang="en-US" altLang="ja-JP" dirty="0">
                <a:latin typeface="Arial" panose="020B0604020202020204" pitchFamily="34" charset="0"/>
              </a:rPr>
              <a:t>s, AIP</a:t>
            </a:r>
            <a:r>
              <a:rPr lang="ja-JP" altLang="en-US" dirty="0">
                <a:latin typeface="Arial" panose="020B0604020202020204" pitchFamily="34" charset="0"/>
              </a:rPr>
              <a:t>’</a:t>
            </a:r>
            <a:r>
              <a:rPr lang="en-US" altLang="ja-JP" dirty="0">
                <a:latin typeface="Arial" panose="020B0604020202020204" pitchFamily="34" charset="0"/>
              </a:rPr>
              <a:t>s, Targets and Resources.</a:t>
            </a:r>
          </a:p>
          <a:p>
            <a:r>
              <a:rPr lang="en-US" altLang="en-US" b="1" dirty="0">
                <a:latin typeface="Arial" panose="020B0604020202020204" pitchFamily="34" charset="0"/>
              </a:rPr>
              <a:t>DO:</a:t>
            </a:r>
            <a:r>
              <a:rPr lang="en-US" altLang="en-US" dirty="0">
                <a:latin typeface="Arial" panose="020B0604020202020204" pitchFamily="34" charset="0"/>
              </a:rPr>
              <a:t> Take the group through the matrix, starting with BO</a:t>
            </a:r>
            <a:r>
              <a:rPr lang="ja-JP" altLang="en-US" dirty="0">
                <a:latin typeface="Arial" panose="020B0604020202020204" pitchFamily="34" charset="0"/>
              </a:rPr>
              <a:t>’</a:t>
            </a:r>
            <a:r>
              <a:rPr lang="en-US" altLang="ja-JP" dirty="0">
                <a:latin typeface="Arial" panose="020B0604020202020204" pitchFamily="34" charset="0"/>
              </a:rPr>
              <a:t>s, then AIP</a:t>
            </a:r>
            <a:r>
              <a:rPr lang="ja-JP" altLang="en-US" dirty="0">
                <a:latin typeface="Arial" panose="020B0604020202020204" pitchFamily="34" charset="0"/>
              </a:rPr>
              <a:t>’</a:t>
            </a:r>
            <a:r>
              <a:rPr lang="en-US" altLang="ja-JP" dirty="0">
                <a:latin typeface="Arial" panose="020B0604020202020204" pitchFamily="34" charset="0"/>
              </a:rPr>
              <a:t>s, targets and resources.</a:t>
            </a:r>
          </a:p>
          <a:p>
            <a:r>
              <a:rPr lang="en-US" altLang="en-US" dirty="0">
                <a:latin typeface="Arial" panose="020B0604020202020204" pitchFamily="34" charset="0"/>
              </a:rPr>
              <a:t>Stress that this is NOT a form-filling exercise.</a:t>
            </a:r>
          </a:p>
          <a:p>
            <a:r>
              <a:rPr lang="en-US" altLang="en-US" dirty="0">
                <a:latin typeface="Arial" panose="020B0604020202020204" pitchFamily="34" charset="0"/>
              </a:rPr>
              <a:t>Point out that the AIP</a:t>
            </a:r>
            <a:r>
              <a:rPr lang="ja-JP" altLang="en-US" dirty="0">
                <a:latin typeface="Arial" panose="020B0604020202020204" pitchFamily="34" charset="0"/>
              </a:rPr>
              <a:t>’</a:t>
            </a:r>
            <a:r>
              <a:rPr lang="en-US" altLang="ja-JP" dirty="0">
                <a:latin typeface="Arial" panose="020B0604020202020204" pitchFamily="34" charset="0"/>
              </a:rPr>
              <a:t>s (and not the targets) will eventually cascade to lower levels, deployed to cross-functional teams.  You will address the mechanics of this later.</a:t>
            </a: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9DA7BEDC-B2B3-289C-7DE1-228935740695}"/>
              </a:ext>
            </a:extLst>
          </p:cNvPr>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032761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8594B-AAD7-F4D7-920C-652684B49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4EF6C-AD85-E679-662A-26EC614883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7AF00-A51E-F926-1BA7-908965AF44B2}"/>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Compare and contrast Breakthroughs from Business Fundamentals.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As we said earlier, for some businesses, Business Fundamentals might actually be breakthrough for them, and where they need to focus first.</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14ABD3BB-30E0-5A96-7EB7-108D55AD37B6}"/>
              </a:ext>
            </a:extLst>
          </p:cNvPr>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1327106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1712A-43E5-3106-F86A-F57FD3C96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2E169-B84D-75FF-4FE4-DCA52F0485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19B80-F916-C9C5-8803-9F3A2BDD0726}"/>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common mistake companies make is to focus on best-in-class results. Breakthrough Objectives need to be working on achieving world-class performance.  </a:t>
            </a:r>
          </a:p>
          <a:p>
            <a:r>
              <a:rPr lang="en-US" altLang="en-US" b="1" dirty="0">
                <a:latin typeface="Arial" panose="020B0604020202020204" pitchFamily="34" charset="0"/>
              </a:rPr>
              <a:t>DO:</a:t>
            </a:r>
            <a:r>
              <a:rPr lang="en-US" altLang="en-US" dirty="0">
                <a:latin typeface="Arial" panose="020B0604020202020204" pitchFamily="34" charset="0"/>
              </a:rPr>
              <a:t> Stress that we should not be benchmarking ourselves solely on our competition or industry, that we need to look beyond.</a:t>
            </a:r>
          </a:p>
          <a:p>
            <a:r>
              <a:rPr lang="en-US" altLang="en-US" dirty="0">
                <a:latin typeface="Arial" panose="020B0604020202020204" pitchFamily="34" charset="0"/>
              </a:rPr>
              <a:t>What we might deem acceptable today may not be acceptable in 3-5 years.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Would we rather follow or lead?</a:t>
            </a:r>
            <a:r>
              <a:rPr lang="ja-JP" altLang="en-US" dirty="0">
                <a:latin typeface="Arial" panose="020B0604020202020204" pitchFamily="34" charset="0"/>
              </a:rPr>
              <a:t>”</a:t>
            </a:r>
            <a:endParaRPr lang="en-US" altLang="ja-JP" dirty="0">
              <a:latin typeface="Arial" panose="020B0604020202020204" pitchFamily="34" charset="0"/>
            </a:endParaRPr>
          </a:p>
          <a:p>
            <a:pPr>
              <a:buFontTx/>
              <a:buChar char="•"/>
            </a:pP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127C2688-C9EF-E171-062B-A1B22B8B7397}"/>
              </a:ext>
            </a:extLst>
          </p:cNvPr>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2593624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18F5-2586-5FF4-BA3B-89D4433A2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0F1C3C-8D57-2D03-5973-530658B2F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7EC59-A642-571B-B9AF-E071D648DD80}"/>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concept of Business Fundamentals, and that we are trying to build a company where the business fundamentals CONSISTENTLY achieve a high level of performance.</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is not a one-time occurrence, rather it is a journey that never ends.</a:t>
            </a:r>
          </a:p>
          <a:p>
            <a:r>
              <a:rPr lang="en-US" altLang="en-US" dirty="0">
                <a:latin typeface="Arial" panose="020B0604020202020204" pitchFamily="34" charset="0"/>
              </a:rPr>
              <a:t>Typically kaizen gives us incremental levels of improvement, where SD gives us breakthrough improvement in performance.</a:t>
            </a:r>
          </a:p>
          <a:p>
            <a:r>
              <a:rPr lang="en-US" altLang="en-US" dirty="0">
                <a:latin typeface="Arial" panose="020B0604020202020204" pitchFamily="34" charset="0"/>
              </a:rPr>
              <a:t>Note that SD works on creating or re-defining our business processes.  Once the new business process becomes institutionalized it becomes part of our Daily Management.</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the spirit of continuous improvement, what do you think happens after year 4?</a:t>
            </a:r>
            <a:r>
              <a:rPr lang="ja-JP" altLang="en-US" dirty="0">
                <a:latin typeface="Arial" panose="020B0604020202020204" pitchFamily="34" charset="0"/>
              </a:rPr>
              <a:t>”</a:t>
            </a:r>
            <a:r>
              <a:rPr lang="en-US" altLang="ja-JP" dirty="0">
                <a:latin typeface="Arial" panose="020B0604020202020204" pitchFamily="34" charset="0"/>
              </a:rPr>
              <a:t> (do we stop? – no continuous improvement is never ending.)</a:t>
            </a:r>
          </a:p>
          <a:p>
            <a:pPr>
              <a:buFontTx/>
              <a:buChar char="•"/>
            </a:pP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0AA6ABE8-9E85-6EB1-E1C2-8FB4B630FCB2}"/>
              </a:ext>
            </a:extLst>
          </p:cNvPr>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41802214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class why they would consider this a breakthrough (even though this was set at longer than 1-3 years …)</a:t>
            </a:r>
          </a:p>
          <a:p>
            <a:endParaRPr lang="en-US" altLang="en-US" dirty="0">
              <a:latin typeface="Arial" panose="020B0604020202020204" pitchFamily="34" charset="0"/>
            </a:endParaRPr>
          </a:p>
          <a:p>
            <a:r>
              <a:rPr lang="en-US" altLang="en-US" b="1" dirty="0">
                <a:latin typeface="Arial" panose="020B0604020202020204" pitchFamily="34" charset="0"/>
              </a:rPr>
              <a:t>Potential answers:</a:t>
            </a:r>
          </a:p>
          <a:p>
            <a:pPr>
              <a:buFontTx/>
              <a:buChar char="-"/>
            </a:pPr>
            <a:r>
              <a:rPr lang="en-US" altLang="en-US" dirty="0">
                <a:latin typeface="Arial" panose="020B0604020202020204" pitchFamily="34" charset="0"/>
              </a:rPr>
              <a:t>At the time we </a:t>
            </a:r>
            <a:r>
              <a:rPr lang="en-US" altLang="en-US" dirty="0" err="1">
                <a:latin typeface="Arial" panose="020B0604020202020204" pitchFamily="34" charset="0"/>
              </a:rPr>
              <a:t>didn</a:t>
            </a:r>
            <a:r>
              <a:rPr lang="ja-JP" altLang="en-US" dirty="0">
                <a:latin typeface="Arial" panose="020B0604020202020204" pitchFamily="34" charset="0"/>
              </a:rPr>
              <a:t>’</a:t>
            </a:r>
            <a:r>
              <a:rPr lang="en-US" altLang="ja-JP" dirty="0">
                <a:latin typeface="Arial" panose="020B0604020202020204" pitchFamily="34" charset="0"/>
              </a:rPr>
              <a:t>t know how to do it</a:t>
            </a:r>
          </a:p>
          <a:p>
            <a:pPr>
              <a:buFontTx/>
              <a:buChar char="-"/>
            </a:pPr>
            <a:r>
              <a:rPr lang="en-US" altLang="en-US" dirty="0">
                <a:latin typeface="Arial" panose="020B0604020202020204" pitchFamily="34" charset="0"/>
              </a:rPr>
              <a:t>It was clearly a stretch goal</a:t>
            </a:r>
          </a:p>
          <a:p>
            <a:pPr>
              <a:buFontTx/>
              <a:buChar char="-"/>
            </a:pPr>
            <a:r>
              <a:rPr lang="en-US" altLang="en-US" dirty="0">
                <a:latin typeface="Arial" panose="020B0604020202020204" pitchFamily="34" charset="0"/>
              </a:rPr>
              <a:t>It involved multifunctional support to achieve</a:t>
            </a:r>
          </a:p>
          <a:p>
            <a:pPr>
              <a:buFontTx/>
              <a:buChar char="-"/>
            </a:pPr>
            <a:r>
              <a:rPr lang="en-US" altLang="en-US" dirty="0">
                <a:latin typeface="Arial" panose="020B0604020202020204" pitchFamily="34" charset="0"/>
              </a:rPr>
              <a:t>Resulted in technologies that pushed the US forward significantly </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978884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D7090-B7FA-37F0-9384-89541CFBD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122A6-A330-847D-98DB-51E0103CB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08ADD1-B08E-BA3E-B436-D684019CECB2}"/>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28144F54-36DB-2DFD-9C49-5532A0EF6EA5}"/>
              </a:ext>
            </a:extLst>
          </p:cNvPr>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4962154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6EBE4-E3C7-40BD-5590-E647DCC7A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98874-79FD-8D7C-292E-E3A3A55DB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BCF70-DBCC-6659-44D3-E701516EC7CF}"/>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6C3C2BDB-6ED0-D884-E199-A26DCE836F2F}"/>
              </a:ext>
            </a:extLst>
          </p:cNvPr>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360996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A876-ED51-0F37-9916-556F75DAD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BA000-D436-4979-7CD0-F35EDDF27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99142-0622-35B9-1162-002A01B7CA2F}"/>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Remind the participants what is meant by </a:t>
            </a:r>
            <a:r>
              <a:rPr lang="ja-JP" altLang="en-US" dirty="0">
                <a:latin typeface="Arial" panose="020B0604020202020204" pitchFamily="34" charset="0"/>
              </a:rPr>
              <a:t>“</a:t>
            </a:r>
            <a:r>
              <a:rPr lang="en-US" altLang="ja-JP" dirty="0">
                <a:latin typeface="Arial" panose="020B0604020202020204" pitchFamily="34" charset="0"/>
              </a:rPr>
              <a:t>kaizen</a:t>
            </a:r>
            <a:r>
              <a:rPr lang="ja-JP" altLang="en-US" dirty="0">
                <a:latin typeface="Arial" panose="020B0604020202020204" pitchFamily="34" charset="0"/>
              </a:rPr>
              <a:t>”</a:t>
            </a:r>
            <a:r>
              <a:rPr lang="en-US" altLang="ja-JP" dirty="0">
                <a:latin typeface="Arial" panose="020B0604020202020204" pitchFamily="34" charset="0"/>
              </a:rPr>
              <a:t> (just in case).</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is this chart telling you?</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Key points to consider:</a:t>
            </a:r>
          </a:p>
          <a:p>
            <a:r>
              <a:rPr lang="en-US" altLang="en-US" dirty="0">
                <a:latin typeface="Arial" panose="020B0604020202020204" pitchFamily="34" charset="0"/>
              </a:rPr>
              <a:t>We want senior management to spend most of their time on strategic breakthroughs, NOT on daily management.</a:t>
            </a:r>
          </a:p>
          <a:p>
            <a:r>
              <a:rPr lang="en-US" altLang="en-US" dirty="0" err="1">
                <a:latin typeface="Arial" panose="020B0604020202020204" pitchFamily="34" charset="0"/>
              </a:rPr>
              <a:t>Kaizening</a:t>
            </a:r>
            <a:r>
              <a:rPr lang="en-US" altLang="en-US" dirty="0">
                <a:latin typeface="Arial" panose="020B0604020202020204" pitchFamily="34" charset="0"/>
              </a:rPr>
              <a:t> daily management is critical if we are to free up our time to work on breakthrough.</a:t>
            </a:r>
          </a:p>
          <a:p>
            <a:r>
              <a:rPr lang="en-US" altLang="en-US" dirty="0">
                <a:latin typeface="Arial" panose="020B0604020202020204" pitchFamily="34" charset="0"/>
              </a:rPr>
              <a:t>Note that Front Line associates spend more of their time executing the work (working IN the business) within existing daily management processes.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FEE30B01-7D11-C29A-B2F8-3453B26F37EA}"/>
              </a:ext>
            </a:extLst>
          </p:cNvPr>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7133267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76911-5BB5-1DAC-1DB9-D34BE7219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E7DAD-CF6A-E4C5-3BD7-4AC0775C10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303BD-B11E-EE5B-A606-83C768803449}"/>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Highlight the example of a breakthrough.</a:t>
            </a:r>
          </a:p>
        </p:txBody>
      </p:sp>
      <p:sp>
        <p:nvSpPr>
          <p:cNvPr id="4" name="Slide Number Placeholder 3">
            <a:extLst>
              <a:ext uri="{FF2B5EF4-FFF2-40B4-BE49-F238E27FC236}">
                <a16:creationId xmlns:a16="http://schemas.microsoft.com/office/drawing/2014/main" id="{EA02082D-ACC5-0E3A-D407-0735A1D76333}"/>
              </a:ext>
            </a:extLst>
          </p:cNvPr>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813607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You may not have a </a:t>
            </a:r>
            <a:r>
              <a:rPr lang="ja-JP" altLang="en-US" dirty="0">
                <a:latin typeface="Arial" panose="020B0604020202020204" pitchFamily="34" charset="0"/>
              </a:rPr>
              <a:t>“</a:t>
            </a:r>
            <a:r>
              <a:rPr lang="en-US" altLang="ja-JP" dirty="0">
                <a:latin typeface="Arial" panose="020B0604020202020204" pitchFamily="34" charset="0"/>
              </a:rPr>
              <a:t>yes</a:t>
            </a:r>
            <a:r>
              <a:rPr lang="ja-JP" altLang="en-US" dirty="0">
                <a:latin typeface="Arial" panose="020B0604020202020204" pitchFamily="34" charset="0"/>
              </a:rPr>
              <a:t>”</a:t>
            </a:r>
            <a:r>
              <a:rPr lang="en-US" altLang="ja-JP" dirty="0">
                <a:latin typeface="Arial" panose="020B0604020202020204" pitchFamily="34" charset="0"/>
              </a:rPr>
              <a:t> answer for each of these – but you should for most to qualify an objective as breakthrough.</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9544357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9CC7B-97F3-583E-1A09-987A53673A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E0FF0-A0E2-D032-201F-B71F0520C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80D9E-6EB2-C42A-030E-B8D1626454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4F3EC9-3EE3-6494-30F7-9A0FFC57BE6A}"/>
              </a:ext>
            </a:extLst>
          </p:cNvPr>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4884494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4439A-93A5-F7AA-6976-7DAD465FA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9C44E-CF2E-7874-7160-DE99DE964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563D5F-D366-24D6-2C2F-2FD567A69F2D}"/>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slide animates to show the facilitation process for creating breakthrough objectives. </a:t>
            </a:r>
          </a:p>
        </p:txBody>
      </p:sp>
      <p:sp>
        <p:nvSpPr>
          <p:cNvPr id="4" name="Slide Number Placeholder 3">
            <a:extLst>
              <a:ext uri="{FF2B5EF4-FFF2-40B4-BE49-F238E27FC236}">
                <a16:creationId xmlns:a16="http://schemas.microsoft.com/office/drawing/2014/main" id="{96E07550-61A3-20F0-5DF4-C022C80CB55C}"/>
              </a:ext>
            </a:extLst>
          </p:cNvPr>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32084035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AF76D-623E-CBC9-2B07-57A646AAC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E278F-94E7-5B01-A17A-7ECB69689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8E7DB-1122-82C2-BAB7-247C052C4D4B}"/>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slide animates to show the facilitation process for creating breakthrough objectives. </a:t>
            </a:r>
          </a:p>
        </p:txBody>
      </p:sp>
      <p:sp>
        <p:nvSpPr>
          <p:cNvPr id="4" name="Slide Number Placeholder 3">
            <a:extLst>
              <a:ext uri="{FF2B5EF4-FFF2-40B4-BE49-F238E27FC236}">
                <a16:creationId xmlns:a16="http://schemas.microsoft.com/office/drawing/2014/main" id="{EEDA281E-FB76-DA17-AA5C-EE97E3EFB55F}"/>
              </a:ext>
            </a:extLst>
          </p:cNvPr>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25963850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1EB0-183C-FF55-7429-7D9FCD807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7F9AC-4A72-6C57-D38E-BDA5C553C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9AD4D0-8847-2E07-4333-ACD47ED68C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Use the same affinity process the team will later use to create their own Breakthrough objectives (see section on </a:t>
            </a:r>
            <a:r>
              <a:rPr lang="ja-JP" altLang="en-US" dirty="0">
                <a:latin typeface="Arial" panose="020B0604020202020204" pitchFamily="34" charset="0"/>
              </a:rPr>
              <a:t>“</a:t>
            </a:r>
            <a:r>
              <a:rPr lang="en-US" altLang="ja-JP" dirty="0">
                <a:latin typeface="Arial" panose="020B0604020202020204" pitchFamily="34" charset="0"/>
              </a:rPr>
              <a:t>Creating The Top Level Matrix</a:t>
            </a:r>
            <a:r>
              <a:rPr lang="ja-JP" altLang="en-US" dirty="0">
                <a:latin typeface="Arial" panose="020B0604020202020204" pitchFamily="34" charset="0"/>
              </a:rPr>
              <a:t>”</a:t>
            </a:r>
            <a:r>
              <a:rPr lang="en-US" altLang="ja-JP" dirty="0">
                <a:latin typeface="Arial" panose="020B0604020202020204" pitchFamily="34" charset="0"/>
              </a:rPr>
              <a:t>. This exercise can be done as a class. </a:t>
            </a:r>
            <a:endParaRPr lang="en-US" altLang="en-US" dirty="0">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F10DDDC7-5822-E2E5-CA3F-54C1F81A670D}"/>
              </a:ext>
            </a:extLst>
          </p:cNvPr>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5272270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6331-E524-9BE1-A00D-DBD5BE39A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7D8BF-66D5-DE1C-487F-1DED55D65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45182C-DB33-BDA5-F4B4-A274573A43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a:extLst>
              <a:ext uri="{FF2B5EF4-FFF2-40B4-BE49-F238E27FC236}">
                <a16:creationId xmlns:a16="http://schemas.microsoft.com/office/drawing/2014/main" id="{C88ECA1E-1E72-FE9A-272A-415E50306004}"/>
              </a:ext>
            </a:extLst>
          </p:cNvPr>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6380703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E9EC4-8969-E7DA-935A-C93856851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09FFD-36D7-9E5E-DDEC-89F9F697A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13AB2-C0DD-03B3-E25D-60AD4CDA239A}"/>
              </a:ext>
            </a:extLst>
          </p:cNvPr>
          <p:cNvSpPr>
            <a:spLocks noGrp="1"/>
          </p:cNvSpPr>
          <p:nvPr>
            <p:ph type="body" idx="1"/>
          </p:nvPr>
        </p:nvSpPr>
        <p:spPr/>
        <p:txBody>
          <a:bodyPr/>
          <a:lstStyle/>
          <a:p>
            <a:pPr marL="228600" indent="-228600"/>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where we are in the Strategic Deployment process.</a:t>
            </a:r>
            <a:r>
              <a:rPr lang="ja-JP" altLang="en-US" dirty="0">
                <a:latin typeface="Arial" panose="020B0604020202020204" pitchFamily="34" charset="0"/>
              </a:rPr>
              <a:t>”</a:t>
            </a:r>
            <a:endParaRPr lang="en-US" altLang="ja-JP" dirty="0">
              <a:latin typeface="Arial" panose="020B0604020202020204" pitchFamily="34" charset="0"/>
            </a:endParaRPr>
          </a:p>
          <a:p>
            <a:pPr marL="228600" indent="-228600"/>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4EE6CAE6-A37A-BCDE-47F5-957FB7650ED3}"/>
              </a:ext>
            </a:extLst>
          </p:cNvPr>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9105620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0B750-9D81-2BD1-D7EB-A63CE7CEB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8A5D8-152B-F016-5252-CC9FCA5D6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143A8F-9748-BD5C-A26E-8625704AEFE2}"/>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b="0" dirty="0">
                <a:latin typeface="Arial" panose="020B0604020202020204" pitchFamily="34" charset="0"/>
              </a:rPr>
              <a:t> “Here is where our Annual Improvement Priorities will be inputted on the matrix.”</a:t>
            </a:r>
          </a:p>
        </p:txBody>
      </p:sp>
      <p:sp>
        <p:nvSpPr>
          <p:cNvPr id="4" name="Slide Number Placeholder 3">
            <a:extLst>
              <a:ext uri="{FF2B5EF4-FFF2-40B4-BE49-F238E27FC236}">
                <a16:creationId xmlns:a16="http://schemas.microsoft.com/office/drawing/2014/main" id="{C191A481-847C-CA2B-0011-702F2809B503}"/>
              </a:ext>
            </a:extLst>
          </p:cNvPr>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4052605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131CB-6870-C502-2B5F-6B9E866EF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29171-2596-01C4-B9ED-5C9F0C066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85F83-958A-1F6F-6F1B-A8873E86A2B9}"/>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Read the definition, and ask the class for examples of annual improvement priorities in their own companies.</a:t>
            </a:r>
          </a:p>
        </p:txBody>
      </p:sp>
      <p:sp>
        <p:nvSpPr>
          <p:cNvPr id="4" name="Slide Number Placeholder 3">
            <a:extLst>
              <a:ext uri="{FF2B5EF4-FFF2-40B4-BE49-F238E27FC236}">
                <a16:creationId xmlns:a16="http://schemas.microsoft.com/office/drawing/2014/main" id="{AF0BF278-B699-B191-98C1-F1D06EB45AA9}"/>
              </a:ext>
            </a:extLst>
          </p:cNvPr>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3907207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DF036-FE8A-7A3C-7749-BBD04FCFF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9018F-B7EC-A43F-F73A-38EC41C4B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C0F68F-07AF-9503-76A4-19FC360B590F}"/>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class why these are good/bad examples of AIP</a:t>
            </a:r>
            <a:r>
              <a:rPr lang="ja-JP" altLang="en-US" dirty="0">
                <a:latin typeface="Arial" panose="020B0604020202020204" pitchFamily="34" charset="0"/>
              </a:rPr>
              <a:t>’</a:t>
            </a:r>
            <a:r>
              <a:rPr lang="en-US" altLang="ja-JP" dirty="0">
                <a:latin typeface="Arial" panose="020B0604020202020204" pitchFamily="34" charset="0"/>
              </a:rPr>
              <a:t>s. </a:t>
            </a:r>
          </a:p>
          <a:p>
            <a:r>
              <a:rPr lang="en-US" altLang="en-US" b="1" dirty="0">
                <a:latin typeface="Arial" panose="020B0604020202020204" pitchFamily="34" charset="0"/>
              </a:rPr>
              <a:t>ANSWERS:</a:t>
            </a:r>
          </a:p>
          <a:p>
            <a:pPr lvl="1"/>
            <a:r>
              <a:rPr lang="en-US" altLang="en-US" b="1" dirty="0">
                <a:latin typeface="Arial" panose="020B0604020202020204" pitchFamily="34" charset="0"/>
              </a:rPr>
              <a:t>Improve Productivity:</a:t>
            </a:r>
            <a:r>
              <a:rPr lang="en-US" altLang="en-US" dirty="0">
                <a:latin typeface="Arial" panose="020B0604020202020204" pitchFamily="34" charset="0"/>
              </a:rPr>
              <a:t> Not a process.  Ask the class what is the process?  It is more like a measure without the specific numerical targets.</a:t>
            </a:r>
          </a:p>
          <a:p>
            <a:pPr lvl="1"/>
            <a:r>
              <a:rPr lang="en-US" altLang="en-US" b="1" dirty="0">
                <a:latin typeface="Arial" panose="020B0604020202020204" pitchFamily="34" charset="0"/>
              </a:rPr>
              <a:t>Fully Develop and Implement a New Product Development Process:</a:t>
            </a:r>
            <a:r>
              <a:rPr lang="en-US" altLang="en-US" dirty="0">
                <a:latin typeface="Arial" panose="020B0604020202020204" pitchFamily="34" charset="0"/>
              </a:rPr>
              <a:t> A good example of a process-based AIP.  Point out that this is working ON the business.</a:t>
            </a:r>
          </a:p>
          <a:p>
            <a:pPr lvl="1"/>
            <a:r>
              <a:rPr lang="en-US" altLang="en-US" b="1" dirty="0">
                <a:latin typeface="Arial" panose="020B0604020202020204" pitchFamily="34" charset="0"/>
              </a:rPr>
              <a:t>Improve Material Costs:</a:t>
            </a:r>
            <a:r>
              <a:rPr lang="en-US" altLang="en-US" dirty="0">
                <a:latin typeface="Arial" panose="020B0604020202020204" pitchFamily="34" charset="0"/>
              </a:rPr>
              <a:t> See explanation of </a:t>
            </a:r>
            <a:r>
              <a:rPr lang="ja-JP" altLang="en-US" dirty="0">
                <a:latin typeface="Arial" panose="020B0604020202020204" pitchFamily="34" charset="0"/>
              </a:rPr>
              <a:t>“</a:t>
            </a:r>
            <a:r>
              <a:rPr lang="en-US" altLang="ja-JP" dirty="0">
                <a:latin typeface="Arial" panose="020B0604020202020204" pitchFamily="34" charset="0"/>
              </a:rPr>
              <a:t>Improve Productivity</a:t>
            </a:r>
            <a:r>
              <a:rPr lang="ja-JP" altLang="en-US" dirty="0">
                <a:latin typeface="Arial" panose="020B0604020202020204" pitchFamily="34" charset="0"/>
              </a:rPr>
              <a:t>”</a:t>
            </a:r>
            <a:r>
              <a:rPr lang="en-US" altLang="ja-JP" dirty="0">
                <a:latin typeface="Arial" panose="020B0604020202020204" pitchFamily="34" charset="0"/>
              </a:rPr>
              <a:t>.</a:t>
            </a:r>
          </a:p>
          <a:p>
            <a:pPr lvl="1"/>
            <a:r>
              <a:rPr lang="en-US" altLang="en-US" b="1" dirty="0">
                <a:latin typeface="Arial" panose="020B0604020202020204" pitchFamily="34" charset="0"/>
              </a:rPr>
              <a:t>Develop Acquisition Process:</a:t>
            </a:r>
            <a:r>
              <a:rPr lang="en-US" altLang="en-US" dirty="0">
                <a:latin typeface="Arial" panose="020B0604020202020204" pitchFamily="34" charset="0"/>
              </a:rPr>
              <a:t>  A good example of a processed-based AIP.  This could be a good example of an AIP that supports a growth BO.</a:t>
            </a:r>
          </a:p>
          <a:p>
            <a:pPr lvl="1"/>
            <a:r>
              <a:rPr lang="en-US" altLang="en-US" b="1" dirty="0">
                <a:latin typeface="Arial" panose="020B0604020202020204" pitchFamily="34" charset="0"/>
              </a:rPr>
              <a:t>Develop Life Science Market:</a:t>
            </a:r>
            <a:r>
              <a:rPr lang="en-US" altLang="en-US" dirty="0">
                <a:latin typeface="Arial" panose="020B0604020202020204" pitchFamily="34" charset="0"/>
              </a:rPr>
              <a:t> This initiative is a good example of an AIP that will support growth BO</a:t>
            </a:r>
            <a:r>
              <a:rPr lang="ja-JP" altLang="en-US" dirty="0">
                <a:latin typeface="Arial" panose="020B0604020202020204" pitchFamily="34" charset="0"/>
              </a:rPr>
              <a:t>’</a:t>
            </a:r>
            <a:r>
              <a:rPr lang="en-US" altLang="ja-JP" dirty="0">
                <a:latin typeface="Arial" panose="020B0604020202020204" pitchFamily="34" charset="0"/>
              </a:rPr>
              <a:t>s.</a:t>
            </a:r>
          </a:p>
          <a:p>
            <a:pPr lvl="1"/>
            <a:r>
              <a:rPr lang="en-US" altLang="en-US" b="1" dirty="0">
                <a:latin typeface="Arial" panose="020B0604020202020204" pitchFamily="34" charset="0"/>
              </a:rPr>
              <a:t>Improve On-Time Delivery</a:t>
            </a:r>
            <a:r>
              <a:rPr lang="en-US" altLang="en-US" dirty="0">
                <a:latin typeface="Arial" panose="020B0604020202020204" pitchFamily="34" charset="0"/>
              </a:rPr>
              <a:t>: See explanation of </a:t>
            </a:r>
            <a:r>
              <a:rPr lang="ja-JP" altLang="en-US" dirty="0">
                <a:latin typeface="Arial" panose="020B0604020202020204" pitchFamily="34" charset="0"/>
              </a:rPr>
              <a:t>“</a:t>
            </a:r>
            <a:r>
              <a:rPr lang="en-US" altLang="ja-JP" dirty="0">
                <a:latin typeface="Arial" panose="020B0604020202020204" pitchFamily="34" charset="0"/>
              </a:rPr>
              <a:t>Improve Productivity</a:t>
            </a:r>
            <a:r>
              <a:rPr lang="ja-JP" altLang="en-US" dirty="0">
                <a:latin typeface="Arial" panose="020B0604020202020204" pitchFamily="34" charset="0"/>
              </a:rPr>
              <a:t>”</a:t>
            </a:r>
            <a:r>
              <a:rPr lang="en-US" altLang="ja-JP" dirty="0">
                <a:latin typeface="Arial" panose="020B0604020202020204" pitchFamily="34" charset="0"/>
              </a:rPr>
              <a:t>.</a:t>
            </a:r>
          </a:p>
          <a:p>
            <a:pPr lvl="1"/>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529A4048-E068-C555-8DE7-66BD88ACB932}"/>
              </a:ext>
            </a:extLst>
          </p:cNvPr>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42597053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7450-E186-EB2F-90B0-899C87052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DBA78-3FA3-06A0-30E6-05C50A5E3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A6235-82BA-086A-95CA-FD59798E4974}"/>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Note that there are several inputs that will help us develop our AIP</a:t>
            </a:r>
            <a:r>
              <a:rPr lang="ja-JP" altLang="en-US" dirty="0">
                <a:latin typeface="Arial" panose="020B0604020202020204" pitchFamily="34" charset="0"/>
              </a:rPr>
              <a:t>’</a:t>
            </a:r>
            <a:r>
              <a:rPr lang="en-US" altLang="ja-JP" dirty="0">
                <a:latin typeface="Arial" panose="020B0604020202020204" pitchFamily="34" charset="0"/>
              </a:rPr>
              <a:t>s.  Some of these are listed above.  Do not limit yourself to these inputs.</a:t>
            </a:r>
          </a:p>
          <a:p>
            <a:r>
              <a:rPr lang="en-US" altLang="en-US" dirty="0">
                <a:latin typeface="Arial" panose="020B0604020202020204" pitchFamily="34" charset="0"/>
              </a:rPr>
              <a:t>The idea behind the Pareto chart is that we will come up with many possible AIP</a:t>
            </a:r>
            <a:r>
              <a:rPr lang="ja-JP" altLang="en-US" dirty="0">
                <a:latin typeface="Arial" panose="020B0604020202020204" pitchFamily="34" charset="0"/>
              </a:rPr>
              <a:t>’</a:t>
            </a:r>
            <a:r>
              <a:rPr lang="en-US" altLang="ja-JP" dirty="0">
                <a:latin typeface="Arial" panose="020B0604020202020204" pitchFamily="34" charset="0"/>
              </a:rPr>
              <a:t>s, but they need to be prioritized as to their impact on the Breakthrough Objective.  Remember, you must stress that the organization needs to be focused and cannot do everything, so there needs to be an objective way to determine which AIP</a:t>
            </a:r>
            <a:r>
              <a:rPr lang="ja-JP" altLang="en-US" dirty="0">
                <a:latin typeface="Arial" panose="020B0604020202020204" pitchFamily="34" charset="0"/>
              </a:rPr>
              <a:t>’</a:t>
            </a:r>
            <a:r>
              <a:rPr lang="en-US" altLang="ja-JP" dirty="0">
                <a:latin typeface="Arial" panose="020B0604020202020204" pitchFamily="34" charset="0"/>
              </a:rPr>
              <a:t>s will be worked on, and which will not.</a:t>
            </a:r>
          </a:p>
          <a:p>
            <a:r>
              <a:rPr lang="en-US" altLang="en-US" dirty="0">
                <a:latin typeface="Arial" panose="020B0604020202020204" pitchFamily="34" charset="0"/>
              </a:rPr>
              <a:t>Keep in mind that just because an AIP was not selected does not mean that it will not be selected some time in the future.  Again, what we are looking for is those AIP</a:t>
            </a:r>
            <a:r>
              <a:rPr lang="ja-JP" altLang="en-US" dirty="0">
                <a:latin typeface="Arial" panose="020B0604020202020204" pitchFamily="34" charset="0"/>
              </a:rPr>
              <a:t>’</a:t>
            </a:r>
            <a:r>
              <a:rPr lang="en-US" altLang="ja-JP" dirty="0">
                <a:latin typeface="Arial" panose="020B0604020202020204" pitchFamily="34" charset="0"/>
              </a:rPr>
              <a:t>s that will have the most impact TODAY.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CF10FD5A-AFC1-6FEB-DF14-C3EE558AAB7B}"/>
              </a:ext>
            </a:extLst>
          </p:cNvPr>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39674935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A2F2-5BF6-CE10-E2AB-C4615DA8A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73037-606B-C5EA-2362-E8B851E32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7EF1A-2A2C-07B3-974E-7D9F23D95588}"/>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You may not have a </a:t>
            </a:r>
            <a:r>
              <a:rPr lang="ja-JP" altLang="en-US" dirty="0">
                <a:latin typeface="Arial" panose="020B0604020202020204" pitchFamily="34" charset="0"/>
              </a:rPr>
              <a:t>“</a:t>
            </a:r>
            <a:r>
              <a:rPr lang="en-US" altLang="ja-JP" dirty="0">
                <a:latin typeface="Arial" panose="020B0604020202020204" pitchFamily="34" charset="0"/>
              </a:rPr>
              <a:t>yes</a:t>
            </a:r>
            <a:r>
              <a:rPr lang="ja-JP" altLang="en-US" dirty="0">
                <a:latin typeface="Arial" panose="020B0604020202020204" pitchFamily="34" charset="0"/>
              </a:rPr>
              <a:t>”</a:t>
            </a:r>
            <a:r>
              <a:rPr lang="en-US" altLang="ja-JP" dirty="0">
                <a:latin typeface="Arial" panose="020B0604020202020204" pitchFamily="34" charset="0"/>
              </a:rPr>
              <a:t> answer for each of these – but you should for most to qualify as an AIP.</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F085AAEF-5C41-7167-9FF4-1A307B1E8221}"/>
              </a:ext>
            </a:extLst>
          </p:cNvPr>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801138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CED2E-662B-1EB9-562A-728159C730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833B7-46F3-1DD7-AAFF-07D0381F2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C776F-6C96-4785-74B1-6D8C11CE2072}"/>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256844C0-6BAB-3D58-C0A5-70E94FFA8028}"/>
              </a:ext>
            </a:extLst>
          </p:cNvPr>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668358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0C0FE-560A-37C3-5C3F-FED6006E8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E8570-D7D8-6A16-2478-A7ED865D73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5601F-E72E-EAEB-F40F-EA0852D79A26}"/>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Use the same affinity process the team will later use to create their own AIPs (see section on </a:t>
            </a:r>
            <a:r>
              <a:rPr lang="ja-JP" altLang="en-US" dirty="0">
                <a:latin typeface="Arial" panose="020B0604020202020204" pitchFamily="34" charset="0"/>
              </a:rPr>
              <a:t>“</a:t>
            </a:r>
            <a:r>
              <a:rPr lang="en-US" altLang="ja-JP" dirty="0">
                <a:latin typeface="Arial" panose="020B0604020202020204" pitchFamily="34" charset="0"/>
              </a:rPr>
              <a:t>Creating The Top Level Matrix</a:t>
            </a:r>
            <a:r>
              <a:rPr lang="ja-JP" altLang="en-US" dirty="0">
                <a:latin typeface="Arial" panose="020B0604020202020204" pitchFamily="34" charset="0"/>
              </a:rPr>
              <a:t>”</a:t>
            </a:r>
            <a:r>
              <a:rPr lang="en-US" altLang="ja-JP" dirty="0">
                <a:latin typeface="Arial" panose="020B0604020202020204" pitchFamily="34" charset="0"/>
              </a:rPr>
              <a:t>. This exercise can be done as a class, or if it is a large group, you can break them into smaller groups to complete.</a:t>
            </a:r>
          </a:p>
          <a:p>
            <a:r>
              <a:rPr lang="en-US" altLang="en-US" b="1" dirty="0">
                <a:latin typeface="Arial" panose="020B0604020202020204" pitchFamily="34" charset="0"/>
              </a:rPr>
              <a:t>DO:</a:t>
            </a:r>
            <a:r>
              <a:rPr lang="en-US" altLang="en-US" dirty="0">
                <a:latin typeface="Arial" panose="020B0604020202020204" pitchFamily="34" charset="0"/>
              </a:rPr>
              <a:t> Have one </a:t>
            </a:r>
            <a:r>
              <a:rPr lang="ja-JP" altLang="en-US" dirty="0">
                <a:latin typeface="Arial" panose="020B0604020202020204" pitchFamily="34" charset="0"/>
              </a:rPr>
              <a:t>“</a:t>
            </a:r>
            <a:r>
              <a:rPr lang="en-US" altLang="ja-JP" dirty="0">
                <a:latin typeface="Arial" panose="020B0604020202020204" pitchFamily="34" charset="0"/>
              </a:rPr>
              <a:t>master</a:t>
            </a:r>
            <a:r>
              <a:rPr lang="ja-JP" altLang="en-US" dirty="0">
                <a:latin typeface="Arial" panose="020B0604020202020204" pitchFamily="34" charset="0"/>
              </a:rPr>
              <a:t>”</a:t>
            </a:r>
            <a:r>
              <a:rPr lang="en-US" altLang="ja-JP" dirty="0">
                <a:latin typeface="Arial" panose="020B0604020202020204" pitchFamily="34" charset="0"/>
              </a:rPr>
              <a:t> matrix that gets completed on chart paper on the wall at the end of each of these exercises so that the class can see how the matrix is built.</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22117BCF-D3DC-3BEE-7CE7-7DD2881D34C2}"/>
              </a:ext>
            </a:extLst>
          </p:cNvPr>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7920589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44D5D-8E7F-39D6-A725-D39E8A70F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68CB9-845F-4B96-44C2-869E4371A1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BB80C-BA49-43F2-052C-534D533D6F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a:extLst>
              <a:ext uri="{FF2B5EF4-FFF2-40B4-BE49-F238E27FC236}">
                <a16:creationId xmlns:a16="http://schemas.microsoft.com/office/drawing/2014/main" id="{276D5CF7-E19E-B89E-917A-7562D1D98A6D}"/>
              </a:ext>
            </a:extLst>
          </p:cNvPr>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24338149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565DA-0200-4564-6159-A42ECE6D4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57BF3-A60B-9792-A0E5-FEA7A313C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5A92B-98D2-819A-28D2-B50EF5FF98BD}"/>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where the Targets will be inputted on the matrix.</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5C8F5140-14E9-810C-87DC-15FE0C40C18E}"/>
              </a:ext>
            </a:extLst>
          </p:cNvPr>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39905758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EC74-47BE-7F1B-9E0E-D54764482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5B66A-FE6C-25F9-8811-822C63698D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A4022-8F10-DAD3-6BFA-FA8138090A60}"/>
              </a:ext>
            </a:extLst>
          </p:cNvPr>
          <p:cNvSpPr>
            <a:spLocks noGrp="1"/>
          </p:cNvSpPr>
          <p:nvPr>
            <p:ph type="body" idx="1"/>
          </p:nvPr>
        </p:nvSpPr>
        <p:spPr/>
        <p:txBody>
          <a:bodyPr/>
          <a:lstStyle/>
          <a:p>
            <a:r>
              <a:rPr lang="en-US" altLang="en-US" b="1" dirty="0">
                <a:latin typeface="Arial" panose="020B0604020202020204" pitchFamily="34" charset="0"/>
              </a:rPr>
              <a:t>NOTE: </a:t>
            </a:r>
            <a:r>
              <a:rPr lang="en-US" altLang="en-US" b="0" dirty="0">
                <a:latin typeface="Arial" panose="020B0604020202020204" pitchFamily="34" charset="0"/>
              </a:rPr>
              <a:t>Not all target dates should be the last day of the fiscal year. Determine the date that is appropriate to meeting the Breakthrough. </a:t>
            </a:r>
          </a:p>
        </p:txBody>
      </p:sp>
      <p:sp>
        <p:nvSpPr>
          <p:cNvPr id="4" name="Slide Number Placeholder 3">
            <a:extLst>
              <a:ext uri="{FF2B5EF4-FFF2-40B4-BE49-F238E27FC236}">
                <a16:creationId xmlns:a16="http://schemas.microsoft.com/office/drawing/2014/main" id="{1221423D-D1AD-80B9-FAF6-E144262DFCDF}"/>
              </a:ext>
            </a:extLst>
          </p:cNvPr>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38807191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42E9A-ADE3-E74D-27C0-0F37B0C7C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02E05-086B-0A43-0196-FC7B2FD7F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93AEA-48F8-C052-CF1A-3F332E46A33D}"/>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Give the class an example AIP and have them write 2 targets to improve on the lines provided:</a:t>
            </a:r>
          </a:p>
          <a:p>
            <a:endParaRPr lang="en-US" altLang="en-US" dirty="0">
              <a:latin typeface="Arial" panose="020B0604020202020204" pitchFamily="34" charset="0"/>
            </a:endParaRPr>
          </a:p>
          <a:p>
            <a:r>
              <a:rPr lang="en-US" altLang="en-US" b="1" dirty="0">
                <a:latin typeface="Arial" panose="020B0604020202020204" pitchFamily="34" charset="0"/>
              </a:rPr>
              <a:t>Example:</a:t>
            </a:r>
            <a:r>
              <a:rPr lang="en-US" altLang="en-US" dirty="0">
                <a:latin typeface="Arial" panose="020B0604020202020204" pitchFamily="34" charset="0"/>
              </a:rPr>
              <a:t> let</a:t>
            </a:r>
            <a:r>
              <a:rPr lang="ja-JP" altLang="en-US" dirty="0">
                <a:latin typeface="Arial" panose="020B0604020202020204" pitchFamily="34" charset="0"/>
              </a:rPr>
              <a:t>’</a:t>
            </a:r>
            <a:r>
              <a:rPr lang="en-US" altLang="ja-JP" dirty="0">
                <a:latin typeface="Arial" panose="020B0604020202020204" pitchFamily="34" charset="0"/>
              </a:rPr>
              <a:t>s say you had a Breakthrough Objective of </a:t>
            </a:r>
            <a:r>
              <a:rPr lang="ja-JP" altLang="en-US" dirty="0">
                <a:latin typeface="Arial" panose="020B0604020202020204" pitchFamily="34" charset="0"/>
              </a:rPr>
              <a:t>‘</a:t>
            </a:r>
            <a:r>
              <a:rPr lang="en-US" altLang="ja-JP" dirty="0">
                <a:latin typeface="Arial" panose="020B0604020202020204" pitchFamily="34" charset="0"/>
              </a:rPr>
              <a:t>Eliminate 100% Credit Card Debt</a:t>
            </a:r>
            <a:r>
              <a:rPr lang="ja-JP" altLang="en-US" dirty="0">
                <a:latin typeface="Arial" panose="020B0604020202020204" pitchFamily="34" charset="0"/>
              </a:rPr>
              <a:t>’</a:t>
            </a:r>
            <a:r>
              <a:rPr lang="en-US" altLang="ja-JP" dirty="0">
                <a:latin typeface="Arial" panose="020B0604020202020204" pitchFamily="34" charset="0"/>
              </a:rPr>
              <a:t> and one of the AIPs was to </a:t>
            </a:r>
            <a:r>
              <a:rPr lang="ja-JP" altLang="en-US" dirty="0">
                <a:latin typeface="Arial" panose="020B0604020202020204" pitchFamily="34" charset="0"/>
              </a:rPr>
              <a:t>‘</a:t>
            </a:r>
            <a:r>
              <a:rPr lang="en-US" altLang="ja-JP" dirty="0">
                <a:latin typeface="Arial" panose="020B0604020202020204" pitchFamily="34" charset="0"/>
              </a:rPr>
              <a:t>Implement a Monthly Household Budget Process</a:t>
            </a:r>
            <a:r>
              <a:rPr lang="ja-JP" altLang="en-US" dirty="0">
                <a:latin typeface="Arial" panose="020B0604020202020204" pitchFamily="34" charset="0"/>
              </a:rPr>
              <a:t>’</a:t>
            </a:r>
            <a:r>
              <a:rPr lang="en-US" altLang="ja-JP" dirty="0">
                <a:latin typeface="Arial" panose="020B0604020202020204" pitchFamily="34" charset="0"/>
              </a:rPr>
              <a:t>. What would be 1-2 targets that could measure the effectiveness of this AIP?</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A26B0CC4-C1D5-05B2-44A4-E7500B486F12}"/>
              </a:ext>
            </a:extLst>
          </p:cNvPr>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37779867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E8B6A-984C-C274-CC7D-B1FD00066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B8EF0-5813-FE50-F7EE-A446EA803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E3E16B-D813-1036-CEF4-8D5F1FE74B77}"/>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class why these are good/bad examples of Targets. </a:t>
            </a:r>
          </a:p>
          <a:p>
            <a:r>
              <a:rPr lang="en-US" altLang="en-US" b="1" dirty="0">
                <a:latin typeface="Arial" panose="020B0604020202020204" pitchFamily="34" charset="0"/>
              </a:rPr>
              <a:t>ANSWERS:</a:t>
            </a:r>
          </a:p>
          <a:p>
            <a:r>
              <a:rPr lang="en-US" altLang="en-US" dirty="0">
                <a:latin typeface="Arial" panose="020B0604020202020204" pitchFamily="34" charset="0"/>
              </a:rPr>
              <a:t>Note that some of the </a:t>
            </a:r>
            <a:r>
              <a:rPr lang="ja-JP" altLang="en-US" dirty="0">
                <a:latin typeface="Arial" panose="020B0604020202020204" pitchFamily="34" charset="0"/>
              </a:rPr>
              <a:t>“</a:t>
            </a:r>
            <a:r>
              <a:rPr lang="en-US" altLang="ja-JP" dirty="0">
                <a:latin typeface="Arial" panose="020B0604020202020204" pitchFamily="34" charset="0"/>
              </a:rPr>
              <a:t>Bad</a:t>
            </a:r>
            <a:r>
              <a:rPr lang="ja-JP" altLang="en-US" dirty="0">
                <a:latin typeface="Arial" panose="020B0604020202020204" pitchFamily="34" charset="0"/>
              </a:rPr>
              <a:t>”</a:t>
            </a:r>
            <a:r>
              <a:rPr lang="en-US" altLang="ja-JP" dirty="0">
                <a:latin typeface="Arial" panose="020B0604020202020204" pitchFamily="34" charset="0"/>
              </a:rPr>
              <a:t> examples are in fact AIP</a:t>
            </a:r>
            <a:r>
              <a:rPr lang="ja-JP" altLang="en-US" dirty="0">
                <a:latin typeface="Arial" panose="020B0604020202020204" pitchFamily="34" charset="0"/>
              </a:rPr>
              <a:t>’</a:t>
            </a:r>
            <a:r>
              <a:rPr lang="en-US" altLang="ja-JP" dirty="0">
                <a:latin typeface="Arial" panose="020B0604020202020204" pitchFamily="34" charset="0"/>
              </a:rPr>
              <a:t>s (Implement Standard Work in Accounts Payable</a:t>
            </a:r>
            <a:r>
              <a:rPr lang="ja-JP" altLang="en-US" dirty="0">
                <a:latin typeface="Arial" panose="020B0604020202020204" pitchFamily="34" charset="0"/>
              </a:rPr>
              <a:t>”</a:t>
            </a:r>
            <a:r>
              <a:rPr lang="en-US" altLang="ja-JP" dirty="0">
                <a:latin typeface="Arial" panose="020B0604020202020204" pitchFamily="34" charset="0"/>
              </a:rPr>
              <a:t>.</a:t>
            </a:r>
          </a:p>
          <a:p>
            <a:r>
              <a:rPr lang="en-US" altLang="en-US" dirty="0">
                <a:latin typeface="Arial" panose="020B0604020202020204" pitchFamily="34" charset="0"/>
              </a:rPr>
              <a:t>Some are not aggressive enough: </a:t>
            </a:r>
            <a:r>
              <a:rPr lang="ja-JP" altLang="en-US" dirty="0">
                <a:latin typeface="Arial" panose="020B0604020202020204" pitchFamily="34" charset="0"/>
              </a:rPr>
              <a:t>“</a:t>
            </a:r>
            <a:r>
              <a:rPr lang="en-US" altLang="ja-JP" dirty="0">
                <a:latin typeface="Arial" panose="020B0604020202020204" pitchFamily="34" charset="0"/>
              </a:rPr>
              <a:t>Achieve 4% productivity improvement</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dirty="0">
                <a:latin typeface="Arial" panose="020B0604020202020204" pitchFamily="34" charset="0"/>
              </a:rPr>
              <a:t>Note that there is a format that a target should follow:</a:t>
            </a:r>
          </a:p>
          <a:p>
            <a:pPr lvl="1"/>
            <a:r>
              <a:rPr lang="en-US" altLang="en-US" dirty="0">
                <a:latin typeface="Arial" panose="020B0604020202020204" pitchFamily="34" charset="0"/>
              </a:rPr>
              <a:t>WHAT TO IMPROVE FROM/TO BY WHEN: Example: Improve PPM Rejects from 50,000 to 5,000 by 12/31/XX.</a:t>
            </a:r>
          </a:p>
          <a:p>
            <a:pPr>
              <a:buFontTx/>
              <a:buChar char="•"/>
            </a:pP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8FB46CD7-A4FB-201D-09DA-9F353AD91366}"/>
              </a:ext>
            </a:extLst>
          </p:cNvPr>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7658071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B374D-03DA-9383-1866-5E0D8E807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D1C0D-E623-90FA-91A2-BB0DCBBF7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A3BD5-7CC7-9F9B-5689-87BA0CE61499}"/>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You may not have a </a:t>
            </a:r>
            <a:r>
              <a:rPr lang="ja-JP" altLang="en-US" dirty="0">
                <a:latin typeface="Arial" panose="020B0604020202020204" pitchFamily="34" charset="0"/>
              </a:rPr>
              <a:t>“</a:t>
            </a:r>
            <a:r>
              <a:rPr lang="en-US" altLang="ja-JP" dirty="0">
                <a:latin typeface="Arial" panose="020B0604020202020204" pitchFamily="34" charset="0"/>
              </a:rPr>
              <a:t>yes</a:t>
            </a:r>
            <a:r>
              <a:rPr lang="ja-JP" altLang="en-US" dirty="0">
                <a:latin typeface="Arial" panose="020B0604020202020204" pitchFamily="34" charset="0"/>
              </a:rPr>
              <a:t>”</a:t>
            </a:r>
            <a:r>
              <a:rPr lang="en-US" altLang="ja-JP" dirty="0">
                <a:latin typeface="Arial" panose="020B0604020202020204" pitchFamily="34" charset="0"/>
              </a:rPr>
              <a:t> answer for each of these – but you should for most to qualify as a target.</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2568CF98-5EB3-6FC8-4F5F-B7ABDA14ABE2}"/>
              </a:ext>
            </a:extLst>
          </p:cNvPr>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2579627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AA019-7AF2-06ED-3232-49A490B17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705C0-EFA5-C6A3-4ACB-0846EB7A7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61F50-C5A2-44C5-B485-42C1F9E5021C}"/>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6D19796B-B1E4-FF09-6F28-C1F0EA6E7FE1}"/>
              </a:ext>
            </a:extLst>
          </p:cNvPr>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30079986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16A59-CA00-0FE1-1D00-6C7099A56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DAF31-A694-85E9-E122-95BE68B48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B9E60-B548-581A-7976-726B79FBF96E}"/>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Use the same process the team will later use to create their own Targets (see section on </a:t>
            </a:r>
            <a:r>
              <a:rPr lang="ja-JP" altLang="en-US" dirty="0">
                <a:latin typeface="Arial" panose="020B0604020202020204" pitchFamily="34" charset="0"/>
              </a:rPr>
              <a:t>“</a:t>
            </a:r>
            <a:r>
              <a:rPr lang="en-US" altLang="ja-JP" dirty="0">
                <a:latin typeface="Arial" panose="020B0604020202020204" pitchFamily="34" charset="0"/>
              </a:rPr>
              <a:t>Creating The Top Level Matrix</a:t>
            </a:r>
            <a:r>
              <a:rPr lang="ja-JP" altLang="en-US" dirty="0">
                <a:latin typeface="Arial" panose="020B0604020202020204" pitchFamily="34" charset="0"/>
              </a:rPr>
              <a:t>”</a:t>
            </a:r>
            <a:r>
              <a:rPr lang="en-US" altLang="ja-JP" dirty="0">
                <a:latin typeface="Arial" panose="020B0604020202020204" pitchFamily="34" charset="0"/>
              </a:rPr>
              <a:t>. This exercise can be done as a class, or if it is a large group, you can break them into smaller groups to complete.</a:t>
            </a:r>
          </a:p>
          <a:p>
            <a:r>
              <a:rPr lang="en-US" altLang="en-US" b="1" dirty="0">
                <a:latin typeface="Arial" panose="020B0604020202020204" pitchFamily="34" charset="0"/>
              </a:rPr>
              <a:t>DO:</a:t>
            </a:r>
            <a:r>
              <a:rPr lang="en-US" altLang="en-US" dirty="0">
                <a:latin typeface="Arial" panose="020B0604020202020204" pitchFamily="34" charset="0"/>
              </a:rPr>
              <a:t> Have one </a:t>
            </a:r>
            <a:r>
              <a:rPr lang="ja-JP" altLang="en-US" dirty="0">
                <a:latin typeface="Arial" panose="020B0604020202020204" pitchFamily="34" charset="0"/>
              </a:rPr>
              <a:t>“</a:t>
            </a:r>
            <a:r>
              <a:rPr lang="en-US" altLang="ja-JP" dirty="0">
                <a:latin typeface="Arial" panose="020B0604020202020204" pitchFamily="34" charset="0"/>
              </a:rPr>
              <a:t>master</a:t>
            </a:r>
            <a:r>
              <a:rPr lang="ja-JP" altLang="en-US" dirty="0">
                <a:latin typeface="Arial" panose="020B0604020202020204" pitchFamily="34" charset="0"/>
              </a:rPr>
              <a:t>”</a:t>
            </a:r>
            <a:r>
              <a:rPr lang="en-US" altLang="ja-JP" dirty="0">
                <a:latin typeface="Arial" panose="020B0604020202020204" pitchFamily="34" charset="0"/>
              </a:rPr>
              <a:t> matrix that gets completed on chart paper on the wall at the end of each of these exercises so that the class can see how the matrix is built.</a:t>
            </a: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D1345DCD-2623-CC9C-0CC3-674C1EE13F75}"/>
              </a:ext>
            </a:extLst>
          </p:cNvPr>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7498709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14E74-B3ED-B861-C230-CDF60EBAF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5C0C1-530B-CCF6-D641-2C4913ECD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9BE4F-199E-3825-6AEC-641D766410D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a:extLst>
              <a:ext uri="{FF2B5EF4-FFF2-40B4-BE49-F238E27FC236}">
                <a16:creationId xmlns:a16="http://schemas.microsoft.com/office/drawing/2014/main" id="{A408DB73-250B-F72E-3EB4-F033A4FC3D7F}"/>
              </a:ext>
            </a:extLst>
          </p:cNvPr>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41682062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26E3B-74FB-9F50-0628-11C143FA6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51E32-CED0-9E1A-964A-3DCCD5E8E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1BFABC-0C9A-A1FD-49EA-89BDF17F2C5A}"/>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Here is where the Resources will be inputted on the matrix.</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386D7CED-23FF-8ED2-9829-32DA9C3D1BE8}"/>
              </a:ext>
            </a:extLst>
          </p:cNvPr>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29610298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436A-D774-C18F-8DBA-085CB6A3D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A9473-EFEC-CA0E-4566-482FB046D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ACA7D-12D3-A5EF-96AB-F41E55C3B6EC}"/>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Note that just because someone gets assigned as a Secondary resource, this does not mean that they are any less responsible for implementing the AIP.</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Note that most breakthrough AIP</a:t>
            </a:r>
            <a:r>
              <a:rPr lang="ja-JP" altLang="en-US" dirty="0">
                <a:latin typeface="Arial" panose="020B0604020202020204" pitchFamily="34" charset="0"/>
              </a:rPr>
              <a:t>’</a:t>
            </a:r>
            <a:r>
              <a:rPr lang="en-US" altLang="ja-JP" dirty="0">
                <a:latin typeface="Arial" panose="020B0604020202020204" pitchFamily="34" charset="0"/>
              </a:rPr>
              <a:t>s are cross-functional in nature and need to have a cross-functional team assigned.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1025F6EC-4472-6068-3B3B-471566515D39}"/>
              </a:ext>
            </a:extLst>
          </p:cNvPr>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364015776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53DEC-0B53-8CFC-D2AB-8199EE3DE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28711-6EB4-CD70-FE8F-8C4735EFD6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92351C-6F18-AC0A-EE56-B7951B2B5E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BD3FAA-7E37-6C51-A9C1-71C2CC4D66AE}"/>
              </a:ext>
            </a:extLst>
          </p:cNvPr>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13455181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4ED2C-1686-0876-FAFD-06CB2A867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D7600-919C-296B-D091-7FC8C005B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69109-B125-B1BF-3D1B-4DC4E5E8DA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7C69F3-1F47-A3D0-889E-0B4468D483F8}"/>
              </a:ext>
            </a:extLst>
          </p:cNvPr>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29758480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B985D-AB8A-8970-C440-9B604C858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EC4B9-B7C3-B96B-75E1-D0C947412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4A9D3E-DE1E-DB95-CF90-378ACDB9A9A3}"/>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You may not have a </a:t>
            </a:r>
            <a:r>
              <a:rPr lang="ja-JP" altLang="en-US" dirty="0">
                <a:latin typeface="Arial" panose="020B0604020202020204" pitchFamily="34" charset="0"/>
              </a:rPr>
              <a:t>“</a:t>
            </a:r>
            <a:r>
              <a:rPr lang="en-US" altLang="ja-JP" dirty="0">
                <a:latin typeface="Arial" panose="020B0604020202020204" pitchFamily="34" charset="0"/>
              </a:rPr>
              <a:t>yes</a:t>
            </a:r>
            <a:r>
              <a:rPr lang="ja-JP" altLang="en-US" dirty="0">
                <a:latin typeface="Arial" panose="020B0604020202020204" pitchFamily="34" charset="0"/>
              </a:rPr>
              <a:t>”</a:t>
            </a:r>
            <a:r>
              <a:rPr lang="en-US" altLang="ja-JP" dirty="0">
                <a:latin typeface="Arial" panose="020B0604020202020204" pitchFamily="34" charset="0"/>
              </a:rPr>
              <a:t> answer for each of these – but you should for most to qualify an objective as breakthrough.</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3577D989-9D5E-E894-8D0A-79237F8BD02E}"/>
              </a:ext>
            </a:extLst>
          </p:cNvPr>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20161285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6A43A-4327-6FA5-FD50-693DBC565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A4428-3F83-62C2-AC72-FCF84E242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4A916-900F-2EFF-839E-576EFF87352B}"/>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D5EA7D65-F8F8-CD7A-7880-FAED99A0515E}"/>
              </a:ext>
            </a:extLst>
          </p:cNvPr>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453060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1EBE4-11BF-D453-E456-2FE6F0860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58704-8C5E-9559-088A-DEA51C9314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A5A48-D5E5-4426-C709-F0BF0896C38B}"/>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CCF4E194-D3D8-EAC6-697A-915B6FD2EE1A}"/>
              </a:ext>
            </a:extLst>
          </p:cNvPr>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359299795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BA3F7-3445-BAD8-BC50-8A7F247E7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AE007-60E8-F923-5A86-33786491B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6CFE5-6447-AE37-32BF-32A61CB61080}"/>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3D79F893-7142-D0B7-1F76-B25D43A6DE33}"/>
              </a:ext>
            </a:extLst>
          </p:cNvPr>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22202755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F8AD-C76E-B65D-25A5-8E3D8D2C4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108B0-9623-9067-5403-B60495AE4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080C9-9B7E-CB5C-65A5-B9B754D383A9}"/>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A7815F4B-8288-58CD-CFC3-DA4DA30C72D9}"/>
              </a:ext>
            </a:extLst>
          </p:cNvPr>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31696341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DD312-776E-3199-7DD0-881053305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B4691-76BD-C807-AE37-650743D1B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BC5C0-39F0-2FBC-3E59-206B27B3D1BD}"/>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Now the team will stop and create their breakthrough objectives. It is important the company leader is leading/facilitating this session. As the consultant, provide facilitation guidance as needed. </a:t>
            </a:r>
          </a:p>
          <a:p>
            <a:r>
              <a:rPr lang="en-US" altLang="en-US" b="1" dirty="0">
                <a:latin typeface="Arial" panose="020B0604020202020204" pitchFamily="34" charset="0"/>
              </a:rPr>
              <a:t>NOTE:</a:t>
            </a:r>
            <a:r>
              <a:rPr lang="en-US" altLang="en-US" dirty="0">
                <a:latin typeface="Arial" panose="020B0604020202020204" pitchFamily="34" charset="0"/>
              </a:rPr>
              <a:t> Times may vary.</a:t>
            </a:r>
          </a:p>
        </p:txBody>
      </p:sp>
      <p:sp>
        <p:nvSpPr>
          <p:cNvPr id="4" name="Slide Number Placeholder 3">
            <a:extLst>
              <a:ext uri="{FF2B5EF4-FFF2-40B4-BE49-F238E27FC236}">
                <a16:creationId xmlns:a16="http://schemas.microsoft.com/office/drawing/2014/main" id="{47DB5974-1760-A1C2-F899-7820EE33C2A4}"/>
              </a:ext>
            </a:extLst>
          </p:cNvPr>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3861930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A753A-7366-FD2C-8D54-15CE095A1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E13FD-A4AE-C487-673D-743642F9A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7CF38-CFE7-8D0C-C7A5-16037580A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3AED94-941C-A388-A25E-1ED5850811D6}"/>
              </a:ext>
            </a:extLst>
          </p:cNvPr>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31564264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E70E0-0082-F01D-C127-10F1046A7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E4461-EFF2-AC3F-99C5-4BFEE0A48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A265D-5613-CAE7-94A2-578257561E52}"/>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You may not have a </a:t>
            </a:r>
            <a:r>
              <a:rPr lang="ja-JP" altLang="en-US" dirty="0">
                <a:latin typeface="Arial" panose="020B0604020202020204" pitchFamily="34" charset="0"/>
              </a:rPr>
              <a:t>“</a:t>
            </a:r>
            <a:r>
              <a:rPr lang="en-US" altLang="ja-JP" dirty="0">
                <a:latin typeface="Arial" panose="020B0604020202020204" pitchFamily="34" charset="0"/>
              </a:rPr>
              <a:t>yes</a:t>
            </a:r>
            <a:r>
              <a:rPr lang="ja-JP" altLang="en-US" dirty="0">
                <a:latin typeface="Arial" panose="020B0604020202020204" pitchFamily="34" charset="0"/>
              </a:rPr>
              <a:t>”</a:t>
            </a:r>
            <a:r>
              <a:rPr lang="en-US" altLang="ja-JP" dirty="0">
                <a:latin typeface="Arial" panose="020B0604020202020204" pitchFamily="34" charset="0"/>
              </a:rPr>
              <a:t> answer for each of these – but you should for most to qualify as an AIP.</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BE2AC329-BD52-D439-62F8-1000EDF445E1}"/>
              </a:ext>
            </a:extLst>
          </p:cNvPr>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19115738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13225790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317E-44BA-5C48-DBF2-8B880A2CE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B58C1-FB97-74D3-3EF3-8F75BD454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B41DF7-8074-908E-B259-ACC1D41F9D2B}"/>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18FAE608-3993-C553-EA7A-95E4CFD4355B}"/>
              </a:ext>
            </a:extLst>
          </p:cNvPr>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342912576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5F530-DD2D-D4DE-A8F6-E96D7370D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BCBDC-394C-F6E1-DBD7-999E81D69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CB9F2-4BD3-2EBF-ECE7-50F2F8612BFF}"/>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Times may vary.</a:t>
            </a:r>
          </a:p>
        </p:txBody>
      </p:sp>
      <p:sp>
        <p:nvSpPr>
          <p:cNvPr id="4" name="Slide Number Placeholder 3">
            <a:extLst>
              <a:ext uri="{FF2B5EF4-FFF2-40B4-BE49-F238E27FC236}">
                <a16:creationId xmlns:a16="http://schemas.microsoft.com/office/drawing/2014/main" id="{AFBA32DF-BC3A-906D-0661-AB625A46D5F9}"/>
              </a:ext>
            </a:extLst>
          </p:cNvPr>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25411833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21A67-0442-43A2-8EA5-5D82A5336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767F4-6F1B-8230-AFBA-D850F88E1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5F47E-E064-B785-9460-3B1B22A0F53E}"/>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7FB09CAC-425F-5A56-948C-D75932522DC3}"/>
              </a:ext>
            </a:extLst>
          </p:cNvPr>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318389013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7172C-0CB0-3DB5-D247-7990DB7AD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406A4-D7EC-8A23-A834-847A4B99F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33740-BC66-BCF0-7625-40AE70D19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1047DD-0D22-11D9-E668-96D4109C802A}"/>
              </a:ext>
            </a:extLst>
          </p:cNvPr>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345279340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1C823-EF7C-A9C9-3CF8-EDF113E8A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8D481-8653-19D4-9354-D35091970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F62A5-D9AC-2D76-2E87-459873CD37B1}"/>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You may not have a </a:t>
            </a:r>
            <a:r>
              <a:rPr lang="ja-JP" altLang="en-US" dirty="0">
                <a:latin typeface="Arial" panose="020B0604020202020204" pitchFamily="34" charset="0"/>
              </a:rPr>
              <a:t>“</a:t>
            </a:r>
            <a:r>
              <a:rPr lang="en-US" altLang="ja-JP" dirty="0">
                <a:latin typeface="Arial" panose="020B0604020202020204" pitchFamily="34" charset="0"/>
              </a:rPr>
              <a:t>yes</a:t>
            </a:r>
            <a:r>
              <a:rPr lang="ja-JP" altLang="en-US" dirty="0">
                <a:latin typeface="Arial" panose="020B0604020202020204" pitchFamily="34" charset="0"/>
              </a:rPr>
              <a:t>”</a:t>
            </a:r>
            <a:r>
              <a:rPr lang="en-US" altLang="ja-JP" dirty="0">
                <a:latin typeface="Arial" panose="020B0604020202020204" pitchFamily="34" charset="0"/>
              </a:rPr>
              <a:t> answer for each of these – but you should for most to qualify as a target.</a:t>
            </a:r>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C677FED4-A3E8-E216-625A-404D9589F5AF}"/>
              </a:ext>
            </a:extLst>
          </p:cNvPr>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183910108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99E87-45DF-B40A-577D-340C4CA6C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2A70D-921E-FA59-06BD-C427C8CE5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9B1DA6-FD89-923B-2CCA-35E164CD5EDF}"/>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anatomy of a target. </a:t>
            </a:r>
          </a:p>
        </p:txBody>
      </p:sp>
      <p:sp>
        <p:nvSpPr>
          <p:cNvPr id="4" name="Slide Number Placeholder 3">
            <a:extLst>
              <a:ext uri="{FF2B5EF4-FFF2-40B4-BE49-F238E27FC236}">
                <a16:creationId xmlns:a16="http://schemas.microsoft.com/office/drawing/2014/main" id="{B86E682D-27D8-CD8E-A36D-D89BEEDDC153}"/>
              </a:ext>
            </a:extLst>
          </p:cNvPr>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5320941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08CCF-D6D1-D932-CEA1-03D8E2A65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81DCE-F6D9-706E-31BC-B70B42ACA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19124-861A-6EB4-3D84-AC038E8B68F1}"/>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67419727-D0CB-2393-E87D-8B7EC10A693D}"/>
              </a:ext>
            </a:extLst>
          </p:cNvPr>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18241187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BAE46-49E0-FD2C-F549-EC5F35BC3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975EE-835E-A6B9-DD58-9A2FA2812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9722A-7BD6-38FB-5C83-8BAD3A57031E}"/>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Times may vary.</a:t>
            </a:r>
          </a:p>
        </p:txBody>
      </p:sp>
      <p:sp>
        <p:nvSpPr>
          <p:cNvPr id="4" name="Slide Number Placeholder 3">
            <a:extLst>
              <a:ext uri="{FF2B5EF4-FFF2-40B4-BE49-F238E27FC236}">
                <a16:creationId xmlns:a16="http://schemas.microsoft.com/office/drawing/2014/main" id="{B1A9C05D-4FD1-66BA-3ECF-CA95B3ACCB9D}"/>
              </a:ext>
            </a:extLst>
          </p:cNvPr>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155720632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06A97-86F5-55BA-F3F7-308C3A358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60954-017D-FD8D-F31A-779B163B1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FCE5F-5835-C703-3BF1-7F217ECB1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28B7B3-B9D2-8458-B782-DB05C38071E7}"/>
              </a:ext>
            </a:extLst>
          </p:cNvPr>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353610224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4D26A-3513-AE7F-490D-7EB589629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DA843-5787-0E32-05EF-20C4783A7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4C61C-E5CE-507A-2B02-452B557479A4}"/>
              </a:ext>
            </a:extLst>
          </p:cNvPr>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Note that just because someone gets assigned as a Secondary resource, this does not mean that they are any less responsible for implementing the AIP.</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Note that most breakthrough AIP</a:t>
            </a:r>
            <a:r>
              <a:rPr lang="ja-JP" altLang="en-US" dirty="0">
                <a:latin typeface="Arial" panose="020B0604020202020204" pitchFamily="34" charset="0"/>
              </a:rPr>
              <a:t>’</a:t>
            </a:r>
            <a:r>
              <a:rPr lang="en-US" altLang="ja-JP" dirty="0">
                <a:latin typeface="Arial" panose="020B0604020202020204" pitchFamily="34" charset="0"/>
              </a:rPr>
              <a:t>s are cross-functional in nature and need to have a cross-functional team assigned.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F962AFBE-7EB4-CA3C-0AD9-2047A6A637BF}"/>
              </a:ext>
            </a:extLst>
          </p:cNvPr>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300104077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161D7-2B85-DF00-235E-676507129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B6F4F-5B57-96AD-BEDF-22AD4AF96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7C7F68-9D8E-B532-E6DA-56EFF2D84854}"/>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Times may vary.</a:t>
            </a:r>
          </a:p>
        </p:txBody>
      </p:sp>
      <p:sp>
        <p:nvSpPr>
          <p:cNvPr id="4" name="Slide Number Placeholder 3">
            <a:extLst>
              <a:ext uri="{FF2B5EF4-FFF2-40B4-BE49-F238E27FC236}">
                <a16:creationId xmlns:a16="http://schemas.microsoft.com/office/drawing/2014/main" id="{42F6BAF6-01AA-D581-DBC6-6CBCFFF61190}"/>
              </a:ext>
            </a:extLst>
          </p:cNvPr>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387043070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84677-4B62-AB1E-E544-ADE4C524E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3B345-FB2D-8F63-9B7E-610B61160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E20C6-2A49-8F52-A0A9-B35EC8F3BB03}"/>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D439E2D8-B913-0672-589A-39D8D082920C}"/>
              </a:ext>
            </a:extLst>
          </p:cNvPr>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335845915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A1691-0631-EB6B-E03D-4DA3C1DBB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8DC97-FE98-91ED-E0E6-C8770F556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EF06E-5BBD-6624-14AC-080A897D8E33}"/>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5F4D72A8-1D93-3332-A373-0F0419E156A8}"/>
              </a:ext>
            </a:extLst>
          </p:cNvPr>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97114610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6AA8A-2E19-1DED-AEBC-1E237F928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A978F-E858-1547-B8AB-67A01306D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02553-F158-5F47-4359-7C3E54459607}"/>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Times may vary.</a:t>
            </a:r>
          </a:p>
        </p:txBody>
      </p:sp>
      <p:sp>
        <p:nvSpPr>
          <p:cNvPr id="4" name="Slide Number Placeholder 3">
            <a:extLst>
              <a:ext uri="{FF2B5EF4-FFF2-40B4-BE49-F238E27FC236}">
                <a16:creationId xmlns:a16="http://schemas.microsoft.com/office/drawing/2014/main" id="{DAF27D17-5364-5B9E-6065-6E15DFC6AB8E}"/>
              </a:ext>
            </a:extLst>
          </p:cNvPr>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274783253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0F263-8AE3-DE4C-B34B-7A423BBD6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D32FC-4AC7-95E7-FA33-C2BCA3D3B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E3FE04-90D4-27AB-65EE-C4BE658D3A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a:extLst>
              <a:ext uri="{FF2B5EF4-FFF2-40B4-BE49-F238E27FC236}">
                <a16:creationId xmlns:a16="http://schemas.microsoft.com/office/drawing/2014/main" id="{ABAD86BD-35FD-BB7D-8D40-1F05449F8F9D}"/>
              </a:ext>
            </a:extLst>
          </p:cNvPr>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179074300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F25BC-625F-D40D-573C-CF5CB38F0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FE904-0821-0060-0E31-AE875E4BF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1F6B7-F140-B843-3A47-74AED20E6319}"/>
              </a:ext>
            </a:extLst>
          </p:cNvPr>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other commitments are in conflict with SD plan? (generate vigorous discussion)</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dirty="0">
                <a:latin typeface="Arial" panose="020B0604020202020204" pitchFamily="34" charset="0"/>
              </a:rPr>
              <a:t>Table the right questions</a:t>
            </a:r>
          </a:p>
          <a:p>
            <a:r>
              <a:rPr lang="en-US" altLang="en-US" dirty="0">
                <a:latin typeface="Arial" panose="020B0604020202020204" pitchFamily="34" charset="0"/>
              </a:rPr>
              <a:t>Are there other initiatives and projects that need to be re-assessed?</a:t>
            </a:r>
          </a:p>
          <a:p>
            <a:r>
              <a:rPr lang="en-US" altLang="en-US" dirty="0">
                <a:latin typeface="Arial" panose="020B0604020202020204" pitchFamily="34" charset="0"/>
              </a:rPr>
              <a:t>Is this organization comfortable working in a cross-functional environment?</a:t>
            </a: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217BC452-6DDF-F6FF-A0FB-A5EEC3B3CA58}"/>
              </a:ext>
            </a:extLst>
          </p:cNvPr>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380144508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3B6D-5F90-8443-60F1-D28C05D83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0C5A2-3273-746D-248A-1AE09BB7A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F0FF4-3B3F-4B7A-B662-4856372DDCAC}"/>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4B128A0F-57AF-A8DB-8710-93A48A90E9C4}"/>
              </a:ext>
            </a:extLst>
          </p:cNvPr>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341165986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8188C-4EDE-2C3B-C923-FC71C26DA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BE801-6F21-E312-E4BB-5BC80171B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D81488-4E39-BFBC-63F0-32ADAF6A8838}"/>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is the plan that corresponds with the exercise on the previous page. </a:t>
            </a:r>
          </a:p>
        </p:txBody>
      </p:sp>
      <p:sp>
        <p:nvSpPr>
          <p:cNvPr id="4" name="Slide Number Placeholder 3">
            <a:extLst>
              <a:ext uri="{FF2B5EF4-FFF2-40B4-BE49-F238E27FC236}">
                <a16:creationId xmlns:a16="http://schemas.microsoft.com/office/drawing/2014/main" id="{E61C0A2C-38A9-457B-7931-31AF53AEB768}"/>
              </a:ext>
            </a:extLst>
          </p:cNvPr>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202984831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60561-58B7-901A-E9AB-137EFDE52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29D70-E3E4-73ED-0EC3-9F6B7A7635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30016-EA6B-13F5-C295-F876515E5C9E}"/>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A06F3A2C-C293-F698-05F9-0CFAEBCC66CE}"/>
              </a:ext>
            </a:extLst>
          </p:cNvPr>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361935681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8631-FFBA-7500-31E9-DDDA35298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2C9DC-FD81-5E8D-732E-63D719DBB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218AA-DACD-40F4-27D5-13294EA28C34}"/>
              </a:ext>
            </a:extLst>
          </p:cNvPr>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Do not read this slide, however have the class review it and ask for each bullet point – what will it take to accomplish this?  </a:t>
            </a:r>
          </a:p>
          <a:p>
            <a:r>
              <a:rPr lang="en-US" altLang="en-US" b="1" dirty="0">
                <a:latin typeface="Arial" panose="020B0604020202020204" pitchFamily="34" charset="0"/>
              </a:rPr>
              <a:t>DO:</a:t>
            </a:r>
            <a:r>
              <a:rPr lang="en-US" altLang="en-US" dirty="0">
                <a:latin typeface="Arial" panose="020B0604020202020204" pitchFamily="34" charset="0"/>
              </a:rPr>
              <a:t> Ask if these success factors exist in their organization.  Any gaps?</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009B44A6-E5C6-D6AF-6180-4870A563FE7F}"/>
              </a:ext>
            </a:extLst>
          </p:cNvPr>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8683639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126E-3783-7D00-42C3-1DDEE8825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D944B-CEE5-7DE0-AD71-902E0CC34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6AE22-9A3B-7CCF-1CAB-8446D81C703B}"/>
              </a:ext>
            </a:extLst>
          </p:cNvPr>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Wrap up an ask the participants if they have any additional questions.</a:t>
            </a:r>
          </a:p>
        </p:txBody>
      </p:sp>
      <p:sp>
        <p:nvSpPr>
          <p:cNvPr id="4" name="Slide Number Placeholder 3">
            <a:extLst>
              <a:ext uri="{FF2B5EF4-FFF2-40B4-BE49-F238E27FC236}">
                <a16:creationId xmlns:a16="http://schemas.microsoft.com/office/drawing/2014/main" id="{C8DA04EC-C47C-3BE7-D17E-03CCA5A7F2BE}"/>
              </a:ext>
            </a:extLst>
          </p:cNvPr>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192703697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FC70-377C-716B-551B-DEEA4D0FF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81A13-F1DD-4B96-F5F7-5FC31E559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BC3EB-EFA2-4D85-FCED-95A01EDB44AB}"/>
              </a:ext>
            </a:extLst>
          </p:cNvPr>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D74BDAC8-1CDA-5120-6754-826B8796BA53}"/>
              </a:ext>
            </a:extLst>
          </p:cNvPr>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298596040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3E50E-CCEA-47E5-443D-FE3B301B0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9B5CC-A862-FD0C-9775-E50907C3E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DBF9FA-F364-346F-A99D-B23D6009926F}"/>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BFCEF094-FB61-02D2-4EEB-09659B857706}"/>
              </a:ext>
            </a:extLst>
          </p:cNvPr>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423748192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DD14D-C66C-A30F-074E-763980BB0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A78FC-12F3-3B12-6AB6-8F1B6F3DF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94929-3DAE-39EE-526C-A517E770F503}"/>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D77AFB5F-C548-A27A-CBF0-44DE37F3F898}"/>
              </a:ext>
            </a:extLst>
          </p:cNvPr>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345076913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70678-FC97-DCD4-DB0E-D2936658A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FD385-E536-D805-C928-6192720D1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19F17-F7E0-4809-2AED-3C427BCFDB41}"/>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E3174066-D222-EB36-E9FB-8BB161A2B559}"/>
              </a:ext>
            </a:extLst>
          </p:cNvPr>
          <p:cNvSpPr>
            <a:spLocks noGrp="1"/>
          </p:cNvSpPr>
          <p:nvPr>
            <p:ph type="sldNum" sz="quarter" idx="5"/>
          </p:nvPr>
        </p:nvSpPr>
        <p:spPr/>
        <p:txBody>
          <a:bodyPr/>
          <a:lstStyle/>
          <a:p>
            <a:fld id="{AECD8548-F1A2-4EDF-A416-5F2BB6B8F64C}" type="slidenum">
              <a:rPr lang="en-US" smtClean="0"/>
              <a:t>103</a:t>
            </a:fld>
            <a:endParaRPr lang="en-US"/>
          </a:p>
        </p:txBody>
      </p:sp>
    </p:spTree>
    <p:extLst>
      <p:ext uri="{BB962C8B-B14F-4D97-AF65-F5344CB8AC3E}">
        <p14:creationId xmlns:p14="http://schemas.microsoft.com/office/powerpoint/2010/main" val="225009289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754C-2239-9101-39E8-F1E1E9C85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A03CD-EC3D-A0E7-87D8-5C91BC21B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9BC34-360C-9D14-7CE2-4B558A386FAA}"/>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6AE8B4C1-B83D-D37C-4E72-DDC5D1333366}"/>
              </a:ext>
            </a:extLst>
          </p:cNvPr>
          <p:cNvSpPr>
            <a:spLocks noGrp="1"/>
          </p:cNvSpPr>
          <p:nvPr>
            <p:ph type="sldNum" sz="quarter" idx="5"/>
          </p:nvPr>
        </p:nvSpPr>
        <p:spPr/>
        <p:txBody>
          <a:bodyPr/>
          <a:lstStyle/>
          <a:p>
            <a:fld id="{AECD8548-F1A2-4EDF-A416-5F2BB6B8F64C}" type="slidenum">
              <a:rPr lang="en-US" smtClean="0"/>
              <a:t>104</a:t>
            </a:fld>
            <a:endParaRPr lang="en-US"/>
          </a:p>
        </p:txBody>
      </p:sp>
    </p:spTree>
    <p:extLst>
      <p:ext uri="{BB962C8B-B14F-4D97-AF65-F5344CB8AC3E}">
        <p14:creationId xmlns:p14="http://schemas.microsoft.com/office/powerpoint/2010/main" val="13457814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1FB96-1442-A9D6-8401-8AC77C18B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EDC3B-2B29-C7E0-55DA-85C742EA8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0B1BE-0680-01BC-6FA6-99267162D233}"/>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4E0D6244-177A-1D63-7968-B95B5551825A}"/>
              </a:ext>
            </a:extLst>
          </p:cNvPr>
          <p:cNvSpPr>
            <a:spLocks noGrp="1"/>
          </p:cNvSpPr>
          <p:nvPr>
            <p:ph type="sldNum" sz="quarter" idx="5"/>
          </p:nvPr>
        </p:nvSpPr>
        <p:spPr/>
        <p:txBody>
          <a:bodyPr/>
          <a:lstStyle/>
          <a:p>
            <a:fld id="{AECD8548-F1A2-4EDF-A416-5F2BB6B8F64C}" type="slidenum">
              <a:rPr lang="en-US" smtClean="0"/>
              <a:t>105</a:t>
            </a:fld>
            <a:endParaRPr lang="en-US"/>
          </a:p>
        </p:txBody>
      </p:sp>
    </p:spTree>
    <p:extLst>
      <p:ext uri="{BB962C8B-B14F-4D97-AF65-F5344CB8AC3E}">
        <p14:creationId xmlns:p14="http://schemas.microsoft.com/office/powerpoint/2010/main" val="400698092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7253A-ED36-AE18-E082-CA233BE30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41467-4AB8-AC73-217A-F98986CD6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7C324-060C-90E7-CFD2-E10A8A8D769F}"/>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5EBB2B2D-9A30-6186-F95C-E684E8D3C192}"/>
              </a:ext>
            </a:extLst>
          </p:cNvPr>
          <p:cNvSpPr>
            <a:spLocks noGrp="1"/>
          </p:cNvSpPr>
          <p:nvPr>
            <p:ph type="sldNum" sz="quarter" idx="5"/>
          </p:nvPr>
        </p:nvSpPr>
        <p:spPr/>
        <p:txBody>
          <a:bodyPr/>
          <a:lstStyle/>
          <a:p>
            <a:fld id="{AECD8548-F1A2-4EDF-A416-5F2BB6B8F64C}" type="slidenum">
              <a:rPr lang="en-US" smtClean="0"/>
              <a:t>106</a:t>
            </a:fld>
            <a:endParaRPr lang="en-US"/>
          </a:p>
        </p:txBody>
      </p:sp>
    </p:spTree>
    <p:extLst>
      <p:ext uri="{BB962C8B-B14F-4D97-AF65-F5344CB8AC3E}">
        <p14:creationId xmlns:p14="http://schemas.microsoft.com/office/powerpoint/2010/main" val="232703170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9FC84-7502-AD87-7E0A-4973014A4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8AE59-9354-FFC1-978B-758BF5F32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BD5DC-3E7D-321F-E9A9-D780B285C327}"/>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43FBA335-9CC4-EEAA-9A15-200D1D2FC71D}"/>
              </a:ext>
            </a:extLst>
          </p:cNvPr>
          <p:cNvSpPr>
            <a:spLocks noGrp="1"/>
          </p:cNvSpPr>
          <p:nvPr>
            <p:ph type="sldNum" sz="quarter" idx="5"/>
          </p:nvPr>
        </p:nvSpPr>
        <p:spPr/>
        <p:txBody>
          <a:bodyPr/>
          <a:lstStyle/>
          <a:p>
            <a:fld id="{AECD8548-F1A2-4EDF-A416-5F2BB6B8F64C}" type="slidenum">
              <a:rPr lang="en-US" smtClean="0"/>
              <a:t>107</a:t>
            </a:fld>
            <a:endParaRPr lang="en-US"/>
          </a:p>
        </p:txBody>
      </p:sp>
    </p:spTree>
    <p:extLst>
      <p:ext uri="{BB962C8B-B14F-4D97-AF65-F5344CB8AC3E}">
        <p14:creationId xmlns:p14="http://schemas.microsoft.com/office/powerpoint/2010/main" val="105813957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94B37-595B-8366-98D4-657EE02DF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99278-16D3-CC7A-1F28-C02DBCFDDB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D45E4-4D73-C880-5AAB-D41EB180E73D}"/>
              </a:ext>
            </a:extLst>
          </p:cNvPr>
          <p:cNvSpPr>
            <a:spLocks noGrp="1"/>
          </p:cNvSpPr>
          <p:nvPr>
            <p:ph type="body" idx="1"/>
          </p:nvPr>
        </p:nvSpPr>
        <p:spPr/>
        <p:txBody>
          <a:bodyPr/>
          <a:lstStyle/>
          <a:p>
            <a:endParaRPr lang="en-US" altLang="ja-JP" dirty="0">
              <a:latin typeface="Arial" panose="020B0604020202020204" pitchFamily="34" charset="0"/>
            </a:endParaRPr>
          </a:p>
        </p:txBody>
      </p:sp>
      <p:sp>
        <p:nvSpPr>
          <p:cNvPr id="4" name="Slide Number Placeholder 3">
            <a:extLst>
              <a:ext uri="{FF2B5EF4-FFF2-40B4-BE49-F238E27FC236}">
                <a16:creationId xmlns:a16="http://schemas.microsoft.com/office/drawing/2014/main" id="{C24D2966-9F3F-4E2B-8545-D31F4A9C848B}"/>
              </a:ext>
            </a:extLst>
          </p:cNvPr>
          <p:cNvSpPr>
            <a:spLocks noGrp="1"/>
          </p:cNvSpPr>
          <p:nvPr>
            <p:ph type="sldNum" sz="quarter" idx="5"/>
          </p:nvPr>
        </p:nvSpPr>
        <p:spPr/>
        <p:txBody>
          <a:bodyPr/>
          <a:lstStyle/>
          <a:p>
            <a:fld id="{AECD8548-F1A2-4EDF-A416-5F2BB6B8F64C}" type="slidenum">
              <a:rPr lang="en-US" smtClean="0"/>
              <a:t>108</a:t>
            </a:fld>
            <a:endParaRPr lang="en-US"/>
          </a:p>
        </p:txBody>
      </p:sp>
    </p:spTree>
    <p:extLst>
      <p:ext uri="{BB962C8B-B14F-4D97-AF65-F5344CB8AC3E}">
        <p14:creationId xmlns:p14="http://schemas.microsoft.com/office/powerpoint/2010/main" val="13030504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3"/>
          <a:stretch>
            <a:fillRect/>
          </a:stretch>
        </p:blipFill>
        <p:spPr>
          <a:xfrm>
            <a:off x="2385391" y="1950112"/>
            <a:ext cx="7772400" cy="2590800"/>
          </a:xfrm>
          <a:prstGeom prst="rect">
            <a:avLst/>
          </a:prstGeom>
        </p:spPr>
      </p:pic>
    </p:spTree>
    <p:custDataLst>
      <p:tags r:id="rId1"/>
    </p:custDataLst>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7"/>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8"/>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SD Top Level Matrix Workshop</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2025.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5" name="Slide Number Placeholder 5">
            <a:extLst>
              <a:ext uri="{FF2B5EF4-FFF2-40B4-BE49-F238E27FC236}">
                <a16:creationId xmlns:a16="http://schemas.microsoft.com/office/drawing/2014/main" id="{1099632B-E122-EDE0-0BAF-755FD08A2404}"/>
              </a:ext>
            </a:extLst>
          </p:cNvPr>
          <p:cNvSpPr txBox="1">
            <a:spLocks/>
          </p:cNvSpPr>
          <p:nvPr userDrawn="1"/>
        </p:nvSpPr>
        <p:spPr>
          <a:xfrm>
            <a:off x="8595078" y="633314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solidFill>
                  <a:schemeClr val="tx1"/>
                </a:solidFill>
              </a:rPr>
              <a:pPr/>
              <a:t>‹#›</a:t>
            </a:fld>
            <a:endParaRPr lang="en-US" dirty="0">
              <a:solidFill>
                <a:schemeClr val="tx1"/>
              </a:solidFill>
            </a:endParaRPr>
          </a:p>
        </p:txBody>
      </p:sp>
    </p:spTree>
    <p:custDataLst>
      <p:tags r:id="rId16"/>
    </p:custDataLst>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1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12.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tags" Target="../tags/tag13.xml"/><Relationship Id="rId5" Type="http://schemas.openxmlformats.org/officeDocument/2006/relationships/image" Target="../media/image8.png"/><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1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1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20.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9.xml"/><Relationship Id="rId1" Type="http://schemas.openxmlformats.org/officeDocument/2006/relationships/tags" Target="../tags/tag23.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18.xml"/><Relationship Id="rId7" Type="http://schemas.openxmlformats.org/officeDocument/2006/relationships/image" Target="../media/image14.png"/><Relationship Id="rId2" Type="http://schemas.openxmlformats.org/officeDocument/2006/relationships/slideLayout" Target="../slideLayouts/slideLayout9.xml"/><Relationship Id="rId1" Type="http://schemas.openxmlformats.org/officeDocument/2006/relationships/tags" Target="../tags/tag2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9.xml"/><Relationship Id="rId1" Type="http://schemas.openxmlformats.org/officeDocument/2006/relationships/tags" Target="../tags/tag25.xml"/><Relationship Id="rId5" Type="http://schemas.openxmlformats.org/officeDocument/2006/relationships/image" Target="../media/image16.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0.xml"/><Relationship Id="rId7" Type="http://schemas.openxmlformats.org/officeDocument/2006/relationships/image" Target="../media/image18.emf"/><Relationship Id="rId2" Type="http://schemas.openxmlformats.org/officeDocument/2006/relationships/slideLayout" Target="../slideLayouts/slideLayout9.xml"/><Relationship Id="rId1" Type="http://schemas.openxmlformats.org/officeDocument/2006/relationships/tags" Target="../tags/tag26.xml"/><Relationship Id="rId6" Type="http://schemas.openxmlformats.org/officeDocument/2006/relationships/oleObject" Target="../embeddings/oleObject4.bin"/><Relationship Id="rId5" Type="http://schemas.openxmlformats.org/officeDocument/2006/relationships/image" Target="../media/image17.emf"/><Relationship Id="rId4" Type="http://schemas.openxmlformats.org/officeDocument/2006/relationships/oleObject" Target="../embeddings/oleObject3.bin"/><Relationship Id="rId9"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9.xml"/><Relationship Id="rId1" Type="http://schemas.openxmlformats.org/officeDocument/2006/relationships/tags" Target="../tags/tag27.xml"/><Relationship Id="rId5" Type="http://schemas.openxmlformats.org/officeDocument/2006/relationships/image" Target="../media/image20.emf"/><Relationship Id="rId4"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23.png"/><Relationship Id="rId2" Type="http://schemas.openxmlformats.org/officeDocument/2006/relationships/slideLayout" Target="../slideLayouts/slideLayout9.xml"/><Relationship Id="rId1" Type="http://schemas.openxmlformats.org/officeDocument/2006/relationships/tags" Target="../tags/tag28.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xml"/><Relationship Id="rId1" Type="http://schemas.openxmlformats.org/officeDocument/2006/relationships/tags" Target="../tags/tag2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24.xml"/><Relationship Id="rId7" Type="http://schemas.openxmlformats.org/officeDocument/2006/relationships/image" Target="../media/image30.png"/><Relationship Id="rId2" Type="http://schemas.openxmlformats.org/officeDocument/2006/relationships/slideLayout" Target="../slideLayouts/slideLayout9.xml"/><Relationship Id="rId1" Type="http://schemas.openxmlformats.org/officeDocument/2006/relationships/tags" Target="../tags/tag3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25.xml"/><Relationship Id="rId7" Type="http://schemas.openxmlformats.org/officeDocument/2006/relationships/image" Target="../media/image14.png"/><Relationship Id="rId2" Type="http://schemas.openxmlformats.org/officeDocument/2006/relationships/slideLayout" Target="../slideLayouts/slideLayout9.xml"/><Relationship Id="rId1" Type="http://schemas.openxmlformats.org/officeDocument/2006/relationships/tags" Target="../tags/tag3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9.xml"/><Relationship Id="rId1" Type="http://schemas.openxmlformats.org/officeDocument/2006/relationships/tags" Target="../tags/tag33.xml"/><Relationship Id="rId4" Type="http://schemas.openxmlformats.org/officeDocument/2006/relationships/image" Target="../media/image10.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9.xml"/><Relationship Id="rId1" Type="http://schemas.openxmlformats.org/officeDocument/2006/relationships/tags" Target="../tags/tag34.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9.xml"/><Relationship Id="rId1" Type="http://schemas.openxmlformats.org/officeDocument/2006/relationships/tags" Target="../tags/tag3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9.xml"/><Relationship Id="rId1" Type="http://schemas.openxmlformats.org/officeDocument/2006/relationships/tags" Target="../tags/tag3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9.xml"/><Relationship Id="rId1" Type="http://schemas.openxmlformats.org/officeDocument/2006/relationships/tags" Target="../tags/tag3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tags" Target="../tags/tag3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39.xml"/><Relationship Id="rId4" Type="http://schemas.openxmlformats.org/officeDocument/2006/relationships/image" Target="../media/image33.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9.xml"/><Relationship Id="rId1" Type="http://schemas.openxmlformats.org/officeDocument/2006/relationships/tags" Target="../tags/tag4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9.xml"/><Relationship Id="rId1" Type="http://schemas.openxmlformats.org/officeDocument/2006/relationships/tags" Target="../tags/tag4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9.xml"/><Relationship Id="rId1" Type="http://schemas.openxmlformats.org/officeDocument/2006/relationships/tags" Target="../tags/tag42.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9.xml"/><Relationship Id="rId1" Type="http://schemas.openxmlformats.org/officeDocument/2006/relationships/tags" Target="../tags/tag4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9.xml"/><Relationship Id="rId1" Type="http://schemas.openxmlformats.org/officeDocument/2006/relationships/tags" Target="../tags/tag4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9.xml"/><Relationship Id="rId1" Type="http://schemas.openxmlformats.org/officeDocument/2006/relationships/tags" Target="../tags/tag47.xml"/><Relationship Id="rId4" Type="http://schemas.openxmlformats.org/officeDocument/2006/relationships/image" Target="../media/image35.w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9.xml"/><Relationship Id="rId1" Type="http://schemas.openxmlformats.org/officeDocument/2006/relationships/tags" Target="../tags/tag4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9.xml"/><Relationship Id="rId1" Type="http://schemas.openxmlformats.org/officeDocument/2006/relationships/tags" Target="../tags/tag50.xml"/><Relationship Id="rId4" Type="http://schemas.openxmlformats.org/officeDocument/2006/relationships/image" Target="../media/image10.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9.xml"/><Relationship Id="rId1" Type="http://schemas.openxmlformats.org/officeDocument/2006/relationships/tags" Target="../tags/tag51.xml"/><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9.xml"/><Relationship Id="rId1" Type="http://schemas.openxmlformats.org/officeDocument/2006/relationships/tags" Target="../tags/tag5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9.xml"/><Relationship Id="rId1" Type="http://schemas.openxmlformats.org/officeDocument/2006/relationships/tags" Target="../tags/tag5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9.xml"/><Relationship Id="rId1" Type="http://schemas.openxmlformats.org/officeDocument/2006/relationships/tags" Target="../tags/tag54.xml"/><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9.xml"/><Relationship Id="rId1" Type="http://schemas.openxmlformats.org/officeDocument/2006/relationships/tags" Target="../tags/tag5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9.xml"/><Relationship Id="rId1" Type="http://schemas.openxmlformats.org/officeDocument/2006/relationships/tags" Target="../tags/tag59.xml"/><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9.xml"/><Relationship Id="rId1" Type="http://schemas.openxmlformats.org/officeDocument/2006/relationships/tags" Target="../tags/tag6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9.xml"/><Relationship Id="rId1" Type="http://schemas.openxmlformats.org/officeDocument/2006/relationships/tags" Target="../tags/tag6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9.xml"/><Relationship Id="rId1" Type="http://schemas.openxmlformats.org/officeDocument/2006/relationships/tags" Target="../tags/tag6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63.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5.xml"/><Relationship Id="rId1" Type="http://schemas.openxmlformats.org/officeDocument/2006/relationships/tags" Target="../tags/tag6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9.xml"/><Relationship Id="rId1" Type="http://schemas.openxmlformats.org/officeDocument/2006/relationships/tags" Target="../tags/tag6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9.xml"/><Relationship Id="rId1" Type="http://schemas.openxmlformats.org/officeDocument/2006/relationships/tags" Target="../tags/tag67.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5.xml"/><Relationship Id="rId1" Type="http://schemas.openxmlformats.org/officeDocument/2006/relationships/tags" Target="../tags/tag68.xml"/></Relationships>
</file>

<file path=ppt/slides/_rels/slide6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9.xml"/><Relationship Id="rId1" Type="http://schemas.openxmlformats.org/officeDocument/2006/relationships/tags" Target="../tags/tag70.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9.xml"/><Relationship Id="rId1" Type="http://schemas.openxmlformats.org/officeDocument/2006/relationships/tags" Target="../tags/tag71.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5.xml"/><Relationship Id="rId1" Type="http://schemas.openxmlformats.org/officeDocument/2006/relationships/tags" Target="../tags/tag7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9.xml"/><Relationship Id="rId1" Type="http://schemas.openxmlformats.org/officeDocument/2006/relationships/tags" Target="../tags/tag73.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9.xml"/><Relationship Id="rId1" Type="http://schemas.openxmlformats.org/officeDocument/2006/relationships/tags" Target="../tags/tag74.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5.xml"/><Relationship Id="rId1" Type="http://schemas.openxmlformats.org/officeDocument/2006/relationships/tags" Target="../tags/tag75.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9.xml"/><Relationship Id="rId1" Type="http://schemas.openxmlformats.org/officeDocument/2006/relationships/tags" Target="../tags/tag76.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9.xml"/><Relationship Id="rId1" Type="http://schemas.openxmlformats.org/officeDocument/2006/relationships/tags" Target="../tags/tag77.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9.xml"/><Relationship Id="rId1" Type="http://schemas.openxmlformats.org/officeDocument/2006/relationships/tags" Target="../tags/tag78.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5.xml"/><Relationship Id="rId1" Type="http://schemas.openxmlformats.org/officeDocument/2006/relationships/tags" Target="../tags/tag79.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8.xml"/><Relationship Id="rId1" Type="http://schemas.openxmlformats.org/officeDocument/2006/relationships/tags" Target="../tags/tag80.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5.xml"/><Relationship Id="rId1" Type="http://schemas.openxmlformats.org/officeDocument/2006/relationships/tags" Target="../tags/tag81.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9.xml"/><Relationship Id="rId1" Type="http://schemas.openxmlformats.org/officeDocument/2006/relationships/tags" Target="../tags/tag8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9.xml"/><Relationship Id="rId1" Type="http://schemas.openxmlformats.org/officeDocument/2006/relationships/tags" Target="../tags/tag83.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9.xml"/><Relationship Id="rId1" Type="http://schemas.openxmlformats.org/officeDocument/2006/relationships/tags" Target="../tags/tag84.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5.xml"/><Relationship Id="rId1" Type="http://schemas.openxmlformats.org/officeDocument/2006/relationships/tags" Target="../tags/tag85.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9.xml"/><Relationship Id="rId1" Type="http://schemas.openxmlformats.org/officeDocument/2006/relationships/tags" Target="../tags/tag86.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5.xml"/><Relationship Id="rId1" Type="http://schemas.openxmlformats.org/officeDocument/2006/relationships/tags" Target="../tags/tag87.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9.xml"/><Relationship Id="rId1" Type="http://schemas.openxmlformats.org/officeDocument/2006/relationships/tags" Target="../tags/tag88.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9.xml"/><Relationship Id="rId1" Type="http://schemas.openxmlformats.org/officeDocument/2006/relationships/tags" Target="../tags/tag89.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5.xml"/><Relationship Id="rId1" Type="http://schemas.openxmlformats.org/officeDocument/2006/relationships/tags" Target="../tags/tag90.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1.xml"/></Relationships>
</file>

<file path=ppt/slides/_rels/slide8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7.xml"/><Relationship Id="rId1" Type="http://schemas.openxmlformats.org/officeDocument/2006/relationships/tags" Target="../tags/tag9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9.xml"/><Relationship Id="rId1" Type="http://schemas.openxmlformats.org/officeDocument/2006/relationships/tags" Target="../tags/tag93.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5.xml"/><Relationship Id="rId1" Type="http://schemas.openxmlformats.org/officeDocument/2006/relationships/tags" Target="../tags/tag94.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9.xml"/><Relationship Id="rId1" Type="http://schemas.openxmlformats.org/officeDocument/2006/relationships/tags" Target="../tags/tag95.xml"/><Relationship Id="rId5" Type="http://schemas.openxmlformats.org/officeDocument/2006/relationships/image" Target="../media/image16.emf"/><Relationship Id="rId4" Type="http://schemas.openxmlformats.org/officeDocument/2006/relationships/oleObject" Target="../embeddings/oleObject2.bin"/></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9.xml"/><Relationship Id="rId1" Type="http://schemas.openxmlformats.org/officeDocument/2006/relationships/tags" Target="../tags/tag96.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5.xml"/><Relationship Id="rId1" Type="http://schemas.openxmlformats.org/officeDocument/2006/relationships/tags" Target="../tags/tag98.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9.xml"/><Relationship Id="rId1" Type="http://schemas.openxmlformats.org/officeDocument/2006/relationships/tags" Target="../tags/tag99.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9.xml"/><Relationship Id="rId1" Type="http://schemas.openxmlformats.org/officeDocument/2006/relationships/tags" Target="../tags/tag100.xml"/></Relationships>
</file>

<file path=ppt/slides/_rels/slide9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92.xml"/><Relationship Id="rId7" Type="http://schemas.openxmlformats.org/officeDocument/2006/relationships/image" Target="../media/image14.png"/><Relationship Id="rId2" Type="http://schemas.openxmlformats.org/officeDocument/2006/relationships/slideLayout" Target="../slideLayouts/slideLayout9.xml"/><Relationship Id="rId1" Type="http://schemas.openxmlformats.org/officeDocument/2006/relationships/tags" Target="../tags/tag10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5.xml"/><Relationship Id="rId1" Type="http://schemas.openxmlformats.org/officeDocument/2006/relationships/tags" Target="../tags/tag10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5.xml"/><Relationship Id="rId1" Type="http://schemas.openxmlformats.org/officeDocument/2006/relationships/tags" Target="../tags/tag103.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5.xml"/><Relationship Id="rId1" Type="http://schemas.openxmlformats.org/officeDocument/2006/relationships/tags" Target="../tags/tag104.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9.xml"/><Relationship Id="rId1" Type="http://schemas.openxmlformats.org/officeDocument/2006/relationships/tags" Target="../tags/tag105.xml"/><Relationship Id="rId5" Type="http://schemas.openxmlformats.org/officeDocument/2006/relationships/image" Target="../media/image16.emf"/><Relationship Id="rId4" Type="http://schemas.openxmlformats.org/officeDocument/2006/relationships/oleObject" Target="../embeddings/oleObject2.bin"/></Relationships>
</file>

<file path=ppt/slides/_rels/slide10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97.xml"/><Relationship Id="rId7" Type="http://schemas.openxmlformats.org/officeDocument/2006/relationships/image" Target="../media/image18.emf"/><Relationship Id="rId2" Type="http://schemas.openxmlformats.org/officeDocument/2006/relationships/slideLayout" Target="../slideLayouts/slideLayout9.xml"/><Relationship Id="rId1" Type="http://schemas.openxmlformats.org/officeDocument/2006/relationships/tags" Target="../tags/tag106.xml"/><Relationship Id="rId6" Type="http://schemas.openxmlformats.org/officeDocument/2006/relationships/oleObject" Target="../embeddings/oleObject4.bin"/><Relationship Id="rId5" Type="http://schemas.openxmlformats.org/officeDocument/2006/relationships/image" Target="../media/image17.emf"/><Relationship Id="rId4" Type="http://schemas.openxmlformats.org/officeDocument/2006/relationships/oleObject" Target="../embeddings/oleObject3.bin"/><Relationship Id="rId9" Type="http://schemas.openxmlformats.org/officeDocument/2006/relationships/image" Target="../media/image19.emf"/></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9.xml"/><Relationship Id="rId1" Type="http://schemas.openxmlformats.org/officeDocument/2006/relationships/tags" Target="../tags/tag107.xml"/><Relationship Id="rId5" Type="http://schemas.openxmlformats.org/officeDocument/2006/relationships/image" Target="../media/image20.emf"/><Relationship Id="rId4" Type="http://schemas.openxmlformats.org/officeDocument/2006/relationships/oleObject" Target="../embeddings/oleObject6.bin"/></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99.xml"/><Relationship Id="rId7" Type="http://schemas.openxmlformats.org/officeDocument/2006/relationships/image" Target="../media/image23.png"/><Relationship Id="rId2" Type="http://schemas.openxmlformats.org/officeDocument/2006/relationships/slideLayout" Target="../slideLayouts/slideLayout9.xml"/><Relationship Id="rId1" Type="http://schemas.openxmlformats.org/officeDocument/2006/relationships/tags" Target="../tags/tag108.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21.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9.xml"/><Relationship Id="rId1" Type="http://schemas.openxmlformats.org/officeDocument/2006/relationships/tags" Target="../tags/tag10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101.xml"/><Relationship Id="rId7" Type="http://schemas.openxmlformats.org/officeDocument/2006/relationships/image" Target="../media/image30.png"/><Relationship Id="rId2" Type="http://schemas.openxmlformats.org/officeDocument/2006/relationships/slideLayout" Target="../slideLayouts/slideLayout9.xml"/><Relationship Id="rId1" Type="http://schemas.openxmlformats.org/officeDocument/2006/relationships/tags" Target="../tags/tag1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102.xml"/><Relationship Id="rId7" Type="http://schemas.openxmlformats.org/officeDocument/2006/relationships/image" Target="../media/image14.png"/><Relationship Id="rId2" Type="http://schemas.openxmlformats.org/officeDocument/2006/relationships/slideLayout" Target="../slideLayouts/slideLayout9.xml"/><Relationship Id="rId1" Type="http://schemas.openxmlformats.org/officeDocument/2006/relationships/tags" Target="../tags/tag1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9.xml"/><Relationship Id="rId1" Type="http://schemas.openxmlformats.org/officeDocument/2006/relationships/tags" Target="../tags/tag112.xml"/><Relationship Id="rId4" Type="http://schemas.openxmlformats.org/officeDocument/2006/relationships/image" Target="../media/image38.png"/></Relationships>
</file>

<file path=ppt/slides/_rels/slide10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10.xml"/><Relationship Id="rId1" Type="http://schemas.openxmlformats.org/officeDocument/2006/relationships/tags" Target="../tags/tag113.xml"/><Relationship Id="rId4" Type="http://schemas.openxmlformats.org/officeDocument/2006/relationships/image" Target="../media/image39.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Top Level Matrix Workshop</a:t>
            </a:r>
          </a:p>
        </p:txBody>
      </p:sp>
    </p:spTree>
    <p:custDataLst>
      <p:tags r:id="rId1"/>
    </p:custDataLst>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Tree>
    <p:custDataLst>
      <p:tags r:id="rId1"/>
    </p:custDataLst>
    <p:extLst>
      <p:ext uri="{BB962C8B-B14F-4D97-AF65-F5344CB8AC3E}">
        <p14:creationId xmlns:p14="http://schemas.microsoft.com/office/powerpoint/2010/main" val="3785296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Tree>
    <p:custDataLst>
      <p:tags r:id="rId1"/>
    </p:custDataLst>
    <p:extLst>
      <p:ext uri="{BB962C8B-B14F-4D97-AF65-F5344CB8AC3E}">
        <p14:creationId xmlns:p14="http://schemas.microsoft.com/office/powerpoint/2010/main" val="2726188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96DF-81E5-C34E-CE7F-0C231C713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FCEB4-8911-FDE9-AC96-FF9E27A7FCE1}"/>
              </a:ext>
            </a:extLst>
          </p:cNvPr>
          <p:cNvSpPr>
            <a:spLocks noGrp="1"/>
          </p:cNvSpPr>
          <p:nvPr>
            <p:ph type="title"/>
          </p:nvPr>
        </p:nvSpPr>
        <p:spPr/>
        <p:txBody>
          <a:bodyPr/>
          <a:lstStyle/>
          <a:p>
            <a:r>
              <a:rPr lang="en-US" dirty="0"/>
              <a:t>Communication Process</a:t>
            </a:r>
          </a:p>
        </p:txBody>
      </p:sp>
      <p:grpSp>
        <p:nvGrpSpPr>
          <p:cNvPr id="6" name="Group 3">
            <a:extLst>
              <a:ext uri="{FF2B5EF4-FFF2-40B4-BE49-F238E27FC236}">
                <a16:creationId xmlns:a16="http://schemas.microsoft.com/office/drawing/2014/main" id="{5D0E2679-145B-CB27-FDEB-28008F0AABF9}"/>
              </a:ext>
            </a:extLst>
          </p:cNvPr>
          <p:cNvGrpSpPr>
            <a:grpSpLocks/>
          </p:cNvGrpSpPr>
          <p:nvPr/>
        </p:nvGrpSpPr>
        <p:grpSpPr bwMode="auto">
          <a:xfrm>
            <a:off x="1760538" y="2239819"/>
            <a:ext cx="1741563" cy="533400"/>
            <a:chOff x="518" y="960"/>
            <a:chExt cx="1152" cy="336"/>
          </a:xfrm>
        </p:grpSpPr>
        <p:sp>
          <p:nvSpPr>
            <p:cNvPr id="7" name="Rectangle 4">
              <a:extLst>
                <a:ext uri="{FF2B5EF4-FFF2-40B4-BE49-F238E27FC236}">
                  <a16:creationId xmlns:a16="http://schemas.microsoft.com/office/drawing/2014/main" id="{6B350FF4-8278-60D5-6728-753E5BADE304}"/>
                </a:ext>
              </a:extLst>
            </p:cNvPr>
            <p:cNvSpPr>
              <a:spLocks noChangeArrowheads="1"/>
            </p:cNvSpPr>
            <p:nvPr/>
          </p:nvSpPr>
          <p:spPr bwMode="auto">
            <a:xfrm>
              <a:off x="518" y="960"/>
              <a:ext cx="1152" cy="336"/>
            </a:xfrm>
            <a:prstGeom prst="rect">
              <a:avLst/>
            </a:prstGeom>
            <a:solidFill>
              <a:schemeClr val="accent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8" name="Rectangle 5">
              <a:extLst>
                <a:ext uri="{FF2B5EF4-FFF2-40B4-BE49-F238E27FC236}">
                  <a16:creationId xmlns:a16="http://schemas.microsoft.com/office/drawing/2014/main" id="{8FE88FBA-E5B7-0A10-27A7-B5F5AE10744B}"/>
                </a:ext>
              </a:extLst>
            </p:cNvPr>
            <p:cNvSpPr>
              <a:spLocks noChangeArrowheads="1"/>
            </p:cNvSpPr>
            <p:nvPr/>
          </p:nvSpPr>
          <p:spPr bwMode="auto">
            <a:xfrm>
              <a:off x="518" y="960"/>
              <a:ext cx="1152" cy="336"/>
            </a:xfrm>
            <a:prstGeom prst="rect">
              <a:avLst/>
            </a:prstGeom>
            <a:solidFill>
              <a:schemeClr val="accent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9" name="Rectangle 6">
              <a:extLst>
                <a:ext uri="{FF2B5EF4-FFF2-40B4-BE49-F238E27FC236}">
                  <a16:creationId xmlns:a16="http://schemas.microsoft.com/office/drawing/2014/main" id="{9047ADAE-772A-4DE4-BAEB-B7C603DB5D0D}"/>
                </a:ext>
              </a:extLst>
            </p:cNvPr>
            <p:cNvSpPr>
              <a:spLocks noChangeArrowheads="1"/>
            </p:cNvSpPr>
            <p:nvPr/>
          </p:nvSpPr>
          <p:spPr bwMode="auto">
            <a:xfrm>
              <a:off x="518" y="960"/>
              <a:ext cx="1152" cy="336"/>
            </a:xfrm>
            <a:prstGeom prst="rect">
              <a:avLst/>
            </a:prstGeom>
            <a:solidFill>
              <a:schemeClr val="accent1"/>
            </a:solidFill>
            <a:ln w="19050">
              <a:solidFill>
                <a:schemeClr val="tx1"/>
              </a:solidFill>
            </a:ln>
            <a:effectLst>
              <a:outerShdw blurRad="63500" dist="38099" dir="2700000" algn="ctr" rotWithShape="0">
                <a:schemeClr val="bg2">
                  <a:alpha val="74998"/>
                </a:schemeClr>
              </a:outerShdw>
            </a:effectLst>
            <a:extLst>
              <a:ext uri="{91240B29-F687-4f45-9708-019B960494DF}">
                <a14:hiddenLine xmlns:a14="http://schemas.microsoft.com/office/drawing/2010/main" xmlns="" w="19050">
                  <a:solidFill>
                    <a:srgbClr val="000000"/>
                  </a:solidFill>
                  <a:miter lim="800000"/>
                  <a:headEnd/>
                  <a:tailEnd type="none" w="lg" len="lg"/>
                </a14:hiddenLine>
              </a:ext>
            </a:extLst>
          </p:spPr>
          <p:txBody>
            <a:bodyPr wrap="none" anchor="ctr"/>
            <a:lstStyle/>
            <a:p>
              <a:pPr algn="ctr" eaLnBrk="0" hangingPunct="0">
                <a:lnSpc>
                  <a:spcPct val="80000"/>
                </a:lnSpc>
                <a:spcBef>
                  <a:spcPct val="20000"/>
                </a:spcBef>
                <a:defRPr/>
              </a:pPr>
              <a:r>
                <a:rPr lang="en-US" b="1" dirty="0">
                  <a:solidFill>
                    <a:schemeClr val="bg1"/>
                  </a:solidFill>
                  <a:latin typeface="Roboto" panose="02000000000000000000" pitchFamily="2" charset="0"/>
                  <a:ea typeface="Roboto" panose="02000000000000000000" pitchFamily="2" charset="0"/>
                  <a:cs typeface="Roboto" panose="02000000000000000000" pitchFamily="2" charset="0"/>
                </a:rPr>
                <a:t>Compliance</a:t>
              </a:r>
            </a:p>
          </p:txBody>
        </p:sp>
      </p:grpSp>
      <p:sp>
        <p:nvSpPr>
          <p:cNvPr id="11" name="Text Box 8">
            <a:extLst>
              <a:ext uri="{FF2B5EF4-FFF2-40B4-BE49-F238E27FC236}">
                <a16:creationId xmlns:a16="http://schemas.microsoft.com/office/drawing/2014/main" id="{EA3A2620-142F-11AA-56C4-32C4AE3DE439}"/>
              </a:ext>
            </a:extLst>
          </p:cNvPr>
          <p:cNvSpPr txBox="1">
            <a:spLocks noChangeArrowheads="1"/>
          </p:cNvSpPr>
          <p:nvPr/>
        </p:nvSpPr>
        <p:spPr bwMode="auto">
          <a:xfrm>
            <a:off x="1703388" y="2849419"/>
            <a:ext cx="1887537" cy="239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75000"/>
              </a:spcBef>
              <a:buSzPct val="125000"/>
              <a:buFont typeface="Arial" panose="020B0604020202020204" pitchFamily="34" charset="0"/>
              <a:buChar char="•"/>
            </a:pPr>
            <a:r>
              <a:rPr lang="en-US" altLang="en-US" sz="1300">
                <a:solidFill>
                  <a:schemeClr val="tx1"/>
                </a:solidFill>
                <a:latin typeface="+mn-lt"/>
              </a:rPr>
              <a:t>Do as asked or told</a:t>
            </a:r>
          </a:p>
          <a:p>
            <a:pPr>
              <a:spcBef>
                <a:spcPct val="75000"/>
              </a:spcBef>
              <a:buSzPct val="125000"/>
              <a:buFont typeface="Arial" panose="020B0604020202020204" pitchFamily="34" charset="0"/>
              <a:buChar char="•"/>
            </a:pPr>
            <a:r>
              <a:rPr lang="en-US" altLang="en-US" sz="1300">
                <a:solidFill>
                  <a:schemeClr val="tx1"/>
                </a:solidFill>
                <a:latin typeface="+mn-lt"/>
              </a:rPr>
              <a:t>Typically one-way communication—</a:t>
            </a:r>
            <a:br>
              <a:rPr lang="en-US" altLang="en-US" sz="1300">
                <a:solidFill>
                  <a:schemeClr val="tx1"/>
                </a:solidFill>
                <a:latin typeface="+mn-lt"/>
              </a:rPr>
            </a:br>
            <a:r>
              <a:rPr lang="en-US" altLang="en-US" sz="1300">
                <a:solidFill>
                  <a:schemeClr val="tx1"/>
                </a:solidFill>
                <a:latin typeface="+mn-lt"/>
              </a:rPr>
              <a:t>no discussion required except for questions about clarity of direction</a:t>
            </a:r>
          </a:p>
          <a:p>
            <a:pPr>
              <a:spcBef>
                <a:spcPct val="75000"/>
              </a:spcBef>
              <a:buSzPct val="125000"/>
              <a:buFont typeface="Arial" panose="020B0604020202020204" pitchFamily="34" charset="0"/>
              <a:buChar char="•"/>
            </a:pPr>
            <a:r>
              <a:rPr lang="en-US" altLang="en-US" sz="1300">
                <a:solidFill>
                  <a:schemeClr val="tx1"/>
                </a:solidFill>
                <a:latin typeface="+mn-lt"/>
              </a:rPr>
              <a:t>Influence through position of power</a:t>
            </a:r>
          </a:p>
        </p:txBody>
      </p:sp>
      <p:sp>
        <p:nvSpPr>
          <p:cNvPr id="12" name="Text Box 9">
            <a:extLst>
              <a:ext uri="{FF2B5EF4-FFF2-40B4-BE49-F238E27FC236}">
                <a16:creationId xmlns:a16="http://schemas.microsoft.com/office/drawing/2014/main" id="{3F4515B0-6130-7478-7A14-22276F1AC3C1}"/>
              </a:ext>
            </a:extLst>
          </p:cNvPr>
          <p:cNvSpPr txBox="1">
            <a:spLocks noChangeArrowheads="1"/>
          </p:cNvSpPr>
          <p:nvPr/>
        </p:nvSpPr>
        <p:spPr bwMode="auto">
          <a:xfrm>
            <a:off x="3848100" y="2849419"/>
            <a:ext cx="1887538"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75000"/>
              </a:spcBef>
              <a:buSzPct val="125000"/>
              <a:buFont typeface="Arial" panose="020B0604020202020204" pitchFamily="34" charset="0"/>
              <a:buChar char="•"/>
            </a:pPr>
            <a:r>
              <a:rPr lang="en-US" altLang="en-US" sz="1300">
                <a:solidFill>
                  <a:schemeClr val="tx1"/>
                </a:solidFill>
                <a:latin typeface="+mn-lt"/>
              </a:rPr>
              <a:t>A structured argument—</a:t>
            </a:r>
            <a:br>
              <a:rPr lang="en-US" altLang="en-US" sz="1300">
                <a:solidFill>
                  <a:schemeClr val="tx1"/>
                </a:solidFill>
                <a:latin typeface="+mn-lt"/>
              </a:rPr>
            </a:br>
            <a:r>
              <a:rPr lang="en-US" altLang="en-US" sz="1300">
                <a:solidFill>
                  <a:schemeClr val="tx1"/>
                </a:solidFill>
                <a:latin typeface="+mn-lt"/>
              </a:rPr>
              <a:t>purpose is to win argument</a:t>
            </a:r>
          </a:p>
          <a:p>
            <a:pPr>
              <a:spcBef>
                <a:spcPct val="75000"/>
              </a:spcBef>
              <a:buSzPct val="125000"/>
              <a:buFont typeface="Arial" panose="020B0604020202020204" pitchFamily="34" charset="0"/>
              <a:buChar char="•"/>
            </a:pPr>
            <a:r>
              <a:rPr lang="en-US" altLang="en-US" sz="1300">
                <a:solidFill>
                  <a:schemeClr val="tx1"/>
                </a:solidFill>
                <a:latin typeface="+mn-lt"/>
              </a:rPr>
              <a:t>Winning is achieved by showing the merit of a position and the denigration of the opponent</a:t>
            </a:r>
            <a:r>
              <a:rPr lang="ja-JP" altLang="en-US" sz="1300">
                <a:solidFill>
                  <a:schemeClr val="tx1"/>
                </a:solidFill>
                <a:latin typeface="+mn-lt"/>
              </a:rPr>
              <a:t>’</a:t>
            </a:r>
            <a:r>
              <a:rPr lang="en-US" altLang="ja-JP" sz="1300">
                <a:solidFill>
                  <a:schemeClr val="tx1"/>
                </a:solidFill>
                <a:latin typeface="+mn-lt"/>
              </a:rPr>
              <a:t>s position</a:t>
            </a:r>
          </a:p>
          <a:p>
            <a:pPr>
              <a:spcBef>
                <a:spcPct val="75000"/>
              </a:spcBef>
              <a:buSzPct val="125000"/>
              <a:buFont typeface="Arial" panose="020B0604020202020204" pitchFamily="34" charset="0"/>
              <a:buChar char="•"/>
            </a:pPr>
            <a:r>
              <a:rPr lang="en-US" altLang="en-US" sz="1300">
                <a:solidFill>
                  <a:schemeClr val="tx1"/>
                </a:solidFill>
                <a:latin typeface="+mn-lt"/>
              </a:rPr>
              <a:t>Influence through a win/lose equation</a:t>
            </a:r>
          </a:p>
        </p:txBody>
      </p:sp>
      <p:sp>
        <p:nvSpPr>
          <p:cNvPr id="13" name="Text Box 10">
            <a:extLst>
              <a:ext uri="{FF2B5EF4-FFF2-40B4-BE49-F238E27FC236}">
                <a16:creationId xmlns:a16="http://schemas.microsoft.com/office/drawing/2014/main" id="{561BCB44-721B-2399-6167-4245551EE0ED}"/>
              </a:ext>
            </a:extLst>
          </p:cNvPr>
          <p:cNvSpPr txBox="1">
            <a:spLocks noChangeArrowheads="1"/>
          </p:cNvSpPr>
          <p:nvPr/>
        </p:nvSpPr>
        <p:spPr bwMode="auto">
          <a:xfrm>
            <a:off x="6021388" y="2849419"/>
            <a:ext cx="1885950" cy="219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75000"/>
              </a:spcBef>
              <a:buSzPct val="125000"/>
              <a:buFont typeface="Arial" panose="020B0604020202020204" pitchFamily="34" charset="0"/>
              <a:buChar char="•"/>
            </a:pPr>
            <a:r>
              <a:rPr lang="en-US" altLang="en-US" sz="1300">
                <a:solidFill>
                  <a:schemeClr val="tx1"/>
                </a:solidFill>
                <a:latin typeface="+mn-lt"/>
              </a:rPr>
              <a:t>A civil discourse</a:t>
            </a:r>
          </a:p>
          <a:p>
            <a:pPr>
              <a:spcBef>
                <a:spcPct val="75000"/>
              </a:spcBef>
              <a:buSzPct val="125000"/>
              <a:buFont typeface="Arial" panose="020B0604020202020204" pitchFamily="34" charset="0"/>
              <a:buChar char="•"/>
            </a:pPr>
            <a:r>
              <a:rPr lang="en-US" altLang="en-US" sz="1300">
                <a:solidFill>
                  <a:schemeClr val="tx1"/>
                </a:solidFill>
                <a:latin typeface="+mn-lt"/>
              </a:rPr>
              <a:t>Exchange of information and positions on topics</a:t>
            </a:r>
          </a:p>
          <a:p>
            <a:pPr>
              <a:spcBef>
                <a:spcPct val="75000"/>
              </a:spcBef>
              <a:buSzPct val="125000"/>
              <a:buFont typeface="Arial" panose="020B0604020202020204" pitchFamily="34" charset="0"/>
              <a:buChar char="•"/>
            </a:pPr>
            <a:r>
              <a:rPr lang="en-US" altLang="en-US" sz="1300">
                <a:solidFill>
                  <a:schemeClr val="tx1"/>
                </a:solidFill>
                <a:latin typeface="+mn-lt"/>
              </a:rPr>
              <a:t>Positions may be influenced but are typically held based on expertise or role</a:t>
            </a:r>
          </a:p>
        </p:txBody>
      </p:sp>
      <p:sp>
        <p:nvSpPr>
          <p:cNvPr id="14" name="Text Box 11">
            <a:extLst>
              <a:ext uri="{FF2B5EF4-FFF2-40B4-BE49-F238E27FC236}">
                <a16:creationId xmlns:a16="http://schemas.microsoft.com/office/drawing/2014/main" id="{4EA9D980-151C-DB8D-C863-01536604CA5E}"/>
              </a:ext>
            </a:extLst>
          </p:cNvPr>
          <p:cNvSpPr txBox="1">
            <a:spLocks noChangeArrowheads="1"/>
          </p:cNvSpPr>
          <p:nvPr/>
        </p:nvSpPr>
        <p:spPr bwMode="auto">
          <a:xfrm>
            <a:off x="8207375" y="2849419"/>
            <a:ext cx="1887538"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75000"/>
              </a:spcBef>
              <a:buSzPct val="125000"/>
              <a:buFont typeface="Arial" panose="020B0604020202020204" pitchFamily="34" charset="0"/>
              <a:buChar char="•"/>
            </a:pPr>
            <a:r>
              <a:rPr lang="en-US" altLang="en-US" sz="1300" dirty="0">
                <a:solidFill>
                  <a:schemeClr val="tx1"/>
                </a:solidFill>
                <a:latin typeface="+mn-lt"/>
              </a:rPr>
              <a:t>A discourse guided by a spirit of inquiry</a:t>
            </a:r>
          </a:p>
          <a:p>
            <a:pPr>
              <a:spcBef>
                <a:spcPct val="75000"/>
              </a:spcBef>
              <a:buSzPct val="125000"/>
              <a:buFont typeface="Arial" panose="020B0604020202020204" pitchFamily="34" charset="0"/>
              <a:buChar char="•"/>
            </a:pPr>
            <a:r>
              <a:rPr lang="en-US" altLang="en-US" sz="1300" dirty="0">
                <a:solidFill>
                  <a:schemeClr val="tx1"/>
                </a:solidFill>
                <a:latin typeface="+mn-lt"/>
              </a:rPr>
              <a:t>Communication purpose is to understand how we think and the assumptions we hold about a topic</a:t>
            </a:r>
          </a:p>
          <a:p>
            <a:pPr>
              <a:spcBef>
                <a:spcPct val="75000"/>
              </a:spcBef>
              <a:buSzPct val="125000"/>
              <a:buFont typeface="Arial" panose="020B0604020202020204" pitchFamily="34" charset="0"/>
              <a:buChar char="•"/>
            </a:pPr>
            <a:r>
              <a:rPr lang="en-US" altLang="en-US" sz="1300" dirty="0">
                <a:solidFill>
                  <a:schemeClr val="tx1"/>
                </a:solidFill>
                <a:latin typeface="+mn-lt"/>
              </a:rPr>
              <a:t>Communication serves to make explicit the </a:t>
            </a:r>
            <a:r>
              <a:rPr lang="ja-JP" altLang="en-US" sz="1300" dirty="0">
                <a:solidFill>
                  <a:schemeClr val="tx1"/>
                </a:solidFill>
                <a:latin typeface="+mn-lt"/>
              </a:rPr>
              <a:t>“</a:t>
            </a:r>
            <a:r>
              <a:rPr lang="en-US" altLang="ja-JP" sz="1300" dirty="0">
                <a:solidFill>
                  <a:schemeClr val="tx1"/>
                </a:solidFill>
                <a:latin typeface="+mn-lt"/>
              </a:rPr>
              <a:t>tacit knowledge</a:t>
            </a:r>
            <a:r>
              <a:rPr lang="ja-JP" altLang="en-US" sz="1300" dirty="0">
                <a:solidFill>
                  <a:schemeClr val="tx1"/>
                </a:solidFill>
                <a:latin typeface="+mn-lt"/>
              </a:rPr>
              <a:t>”</a:t>
            </a:r>
            <a:r>
              <a:rPr lang="en-US" altLang="ja-JP" sz="1300" dirty="0">
                <a:solidFill>
                  <a:schemeClr val="tx1"/>
                </a:solidFill>
                <a:latin typeface="+mn-lt"/>
              </a:rPr>
              <a:t> in a group</a:t>
            </a:r>
            <a:endParaRPr lang="en-US" altLang="en-US" sz="1300" dirty="0">
              <a:solidFill>
                <a:schemeClr val="tx1"/>
              </a:solidFill>
              <a:latin typeface="+mn-lt"/>
            </a:endParaRPr>
          </a:p>
        </p:txBody>
      </p:sp>
      <p:sp>
        <p:nvSpPr>
          <p:cNvPr id="16" name="Rectangle 13">
            <a:extLst>
              <a:ext uri="{FF2B5EF4-FFF2-40B4-BE49-F238E27FC236}">
                <a16:creationId xmlns:a16="http://schemas.microsoft.com/office/drawing/2014/main" id="{814E0992-A5CF-8753-E13B-662F21E683ED}"/>
              </a:ext>
            </a:extLst>
          </p:cNvPr>
          <p:cNvSpPr>
            <a:spLocks noChangeArrowheads="1"/>
          </p:cNvSpPr>
          <p:nvPr/>
        </p:nvSpPr>
        <p:spPr bwMode="auto">
          <a:xfrm>
            <a:off x="3910013" y="2239819"/>
            <a:ext cx="1741563" cy="533400"/>
          </a:xfrm>
          <a:prstGeom prst="rect">
            <a:avLst/>
          </a:prstGeom>
          <a:solidFill>
            <a:srgbClr val="808080"/>
          </a:solidFill>
          <a:ln w="19050">
            <a:solidFill>
              <a:schemeClr val="tx1"/>
            </a:solidFill>
            <a:miter lim="800000"/>
            <a:headEnd/>
            <a:tailEnd type="none" w="lg" len="lg"/>
          </a:ln>
          <a:effectLst>
            <a:outerShdw blurRad="63500" dist="38099" dir="2700000" algn="ctr" rotWithShape="0">
              <a:schemeClr val="bg2">
                <a:alpha val="74998"/>
              </a:schemeClr>
            </a:outerShdw>
          </a:effectLst>
        </p:spPr>
        <p:txBody>
          <a:bodyPr wrap="none" anchor="ctr"/>
          <a:lstStyle/>
          <a:p>
            <a:pPr algn="ctr" eaLnBrk="0" hangingPunct="0">
              <a:lnSpc>
                <a:spcPct val="80000"/>
              </a:lnSpc>
              <a:spcBef>
                <a:spcPct val="20000"/>
              </a:spcBef>
              <a:defRPr/>
            </a:pPr>
            <a:r>
              <a:rPr lang="en-US" b="1" dirty="0">
                <a:solidFill>
                  <a:schemeClr val="bg1"/>
                </a:solidFill>
                <a:latin typeface="Roboto" panose="02000000000000000000" pitchFamily="2" charset="0"/>
                <a:ea typeface="Roboto" panose="02000000000000000000" pitchFamily="2" charset="0"/>
                <a:cs typeface="Roboto" panose="02000000000000000000" pitchFamily="2" charset="0"/>
              </a:rPr>
              <a:t>Debate</a:t>
            </a:r>
            <a:endParaRPr lang="en-US" dirty="0">
              <a:latin typeface="Wingdings 3" charset="0"/>
              <a:ea typeface="ＭＳ Ｐゴシック" charset="0"/>
            </a:endParaRPr>
          </a:p>
        </p:txBody>
      </p:sp>
      <p:grpSp>
        <p:nvGrpSpPr>
          <p:cNvPr id="18" name="Group 15">
            <a:extLst>
              <a:ext uri="{FF2B5EF4-FFF2-40B4-BE49-F238E27FC236}">
                <a16:creationId xmlns:a16="http://schemas.microsoft.com/office/drawing/2014/main" id="{98962F7A-03CB-4AAA-2C0C-FF6A11B30396}"/>
              </a:ext>
            </a:extLst>
          </p:cNvPr>
          <p:cNvGrpSpPr>
            <a:grpSpLocks/>
          </p:cNvGrpSpPr>
          <p:nvPr/>
        </p:nvGrpSpPr>
        <p:grpSpPr bwMode="auto">
          <a:xfrm>
            <a:off x="6086475" y="2239819"/>
            <a:ext cx="1755255" cy="533400"/>
            <a:chOff x="3024" y="960"/>
            <a:chExt cx="1160" cy="336"/>
          </a:xfrm>
          <a:solidFill>
            <a:schemeClr val="accent2"/>
          </a:solidFill>
        </p:grpSpPr>
        <p:sp>
          <p:nvSpPr>
            <p:cNvPr id="19" name="Rectangle 16">
              <a:extLst>
                <a:ext uri="{FF2B5EF4-FFF2-40B4-BE49-F238E27FC236}">
                  <a16:creationId xmlns:a16="http://schemas.microsoft.com/office/drawing/2014/main" id="{8FEECAC8-47F8-1F3B-A213-F08DFD0F43DC}"/>
                </a:ext>
              </a:extLst>
            </p:cNvPr>
            <p:cNvSpPr>
              <a:spLocks noChangeArrowheads="1"/>
            </p:cNvSpPr>
            <p:nvPr/>
          </p:nvSpPr>
          <p:spPr bwMode="auto">
            <a:xfrm>
              <a:off x="3024" y="960"/>
              <a:ext cx="1152" cy="336"/>
            </a:xfrm>
            <a:prstGeom prst="rect">
              <a:avLst/>
            </a:prstGeom>
            <a:grpFill/>
            <a:ln w="19050">
              <a:solidFill>
                <a:schemeClr val="tx1"/>
              </a:solidFill>
              <a:miter lim="800000"/>
              <a:headEnd/>
              <a:tailEnd type="none" w="lg" len="lg"/>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0" name="Rectangle 17">
              <a:extLst>
                <a:ext uri="{FF2B5EF4-FFF2-40B4-BE49-F238E27FC236}">
                  <a16:creationId xmlns:a16="http://schemas.microsoft.com/office/drawing/2014/main" id="{7F6E7381-78C1-A7C0-73CF-4C73BD640447}"/>
                </a:ext>
              </a:extLst>
            </p:cNvPr>
            <p:cNvSpPr>
              <a:spLocks noChangeArrowheads="1"/>
            </p:cNvSpPr>
            <p:nvPr/>
          </p:nvSpPr>
          <p:spPr bwMode="auto">
            <a:xfrm>
              <a:off x="3024" y="960"/>
              <a:ext cx="1152" cy="336"/>
            </a:xfrm>
            <a:prstGeom prst="rect">
              <a:avLst/>
            </a:prstGeom>
            <a:grpFill/>
            <a:ln w="19050">
              <a:solidFill>
                <a:schemeClr val="tx1"/>
              </a:solidFill>
              <a:miter lim="800000"/>
              <a:headEnd/>
              <a:tailEnd type="none" w="lg" len="lg"/>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1" name="Rectangle 18">
              <a:extLst>
                <a:ext uri="{FF2B5EF4-FFF2-40B4-BE49-F238E27FC236}">
                  <a16:creationId xmlns:a16="http://schemas.microsoft.com/office/drawing/2014/main" id="{B72672D4-9BBD-16BA-0D39-A1557BDFBC3E}"/>
                </a:ext>
              </a:extLst>
            </p:cNvPr>
            <p:cNvSpPr>
              <a:spLocks noChangeArrowheads="1"/>
            </p:cNvSpPr>
            <p:nvPr/>
          </p:nvSpPr>
          <p:spPr bwMode="auto">
            <a:xfrm>
              <a:off x="3024" y="960"/>
              <a:ext cx="1160" cy="336"/>
            </a:xfrm>
            <a:prstGeom prst="rect">
              <a:avLst/>
            </a:prstGeom>
            <a:grpFill/>
            <a:ln w="19050">
              <a:solidFill>
                <a:schemeClr val="tx1"/>
              </a:solidFill>
              <a:miter lim="800000"/>
              <a:headEnd/>
              <a:tailEnd type="none" w="lg" len="lg"/>
            </a:ln>
            <a:effectLst>
              <a:outerShdw blurRad="63500" dist="38099" dir="2700000" algn="ctr" rotWithShape="0">
                <a:schemeClr val="bg2">
                  <a:alpha val="74998"/>
                </a:schemeClr>
              </a:outerShdw>
            </a:effectLst>
          </p:spPr>
          <p:txBody>
            <a:bodyPr wrap="none" anchor="ctr"/>
            <a:lstStyle/>
            <a:p>
              <a:pPr algn="ctr" eaLnBrk="0" hangingPunct="0">
                <a:lnSpc>
                  <a:spcPct val="80000"/>
                </a:lnSpc>
                <a:spcBef>
                  <a:spcPct val="20000"/>
                </a:spcBef>
                <a:defRPr/>
              </a:pPr>
              <a:r>
                <a:rPr lang="en-US" b="1" dirty="0">
                  <a:latin typeface="Roboto" panose="02000000000000000000" pitchFamily="2" charset="0"/>
                  <a:ea typeface="Roboto" panose="02000000000000000000" pitchFamily="2" charset="0"/>
                  <a:cs typeface="Roboto" panose="02000000000000000000" pitchFamily="2" charset="0"/>
                </a:rPr>
                <a:t>Discussion</a:t>
              </a:r>
              <a:endParaRPr lang="en-US" dirty="0">
                <a:latin typeface="Wingdings 3" charset="0"/>
                <a:ea typeface="ＭＳ Ｐゴシック" charset="0"/>
              </a:endParaRPr>
            </a:p>
          </p:txBody>
        </p:sp>
      </p:grpSp>
      <p:sp>
        <p:nvSpPr>
          <p:cNvPr id="24" name="Rectangle 21">
            <a:extLst>
              <a:ext uri="{FF2B5EF4-FFF2-40B4-BE49-F238E27FC236}">
                <a16:creationId xmlns:a16="http://schemas.microsoft.com/office/drawing/2014/main" id="{5C30EED4-3173-A611-3D02-11A54D8719A7}"/>
              </a:ext>
            </a:extLst>
          </p:cNvPr>
          <p:cNvSpPr>
            <a:spLocks noChangeArrowheads="1"/>
          </p:cNvSpPr>
          <p:nvPr/>
        </p:nvSpPr>
        <p:spPr bwMode="auto">
          <a:xfrm>
            <a:off x="8250237" y="2239819"/>
            <a:ext cx="1741563" cy="533400"/>
          </a:xfrm>
          <a:prstGeom prst="rect">
            <a:avLst/>
          </a:prstGeom>
          <a:solidFill>
            <a:srgbClr val="000066"/>
          </a:solidFill>
          <a:ln w="19050">
            <a:solidFill>
              <a:schemeClr val="tx1"/>
            </a:solidFill>
            <a:miter lim="800000"/>
            <a:headEnd/>
            <a:tailEnd type="none" w="lg" len="lg"/>
          </a:ln>
          <a:effectLst>
            <a:outerShdw blurRad="63500" dist="38099" dir="2700000" algn="ctr" rotWithShape="0">
              <a:schemeClr val="bg2">
                <a:alpha val="74998"/>
              </a:schemeClr>
            </a:outerShdw>
          </a:effectLst>
        </p:spPr>
        <p:txBody>
          <a:bodyPr wrap="none" anchor="ctr"/>
          <a:lstStyle/>
          <a:p>
            <a:pPr algn="ctr" eaLnBrk="0" hangingPunct="0">
              <a:lnSpc>
                <a:spcPct val="80000"/>
              </a:lnSpc>
              <a:spcBef>
                <a:spcPct val="20000"/>
              </a:spcBef>
              <a:defRPr/>
            </a:pPr>
            <a:r>
              <a:rPr lang="en-US" b="1" dirty="0">
                <a:solidFill>
                  <a:schemeClr val="bg1"/>
                </a:solidFill>
                <a:latin typeface="Roboto" panose="02000000000000000000" pitchFamily="2" charset="0"/>
                <a:ea typeface="Roboto" panose="02000000000000000000" pitchFamily="2" charset="0"/>
                <a:cs typeface="Roboto" panose="02000000000000000000" pitchFamily="2" charset="0"/>
              </a:rPr>
              <a:t>Dialogue</a:t>
            </a:r>
          </a:p>
        </p:txBody>
      </p:sp>
      <p:sp>
        <p:nvSpPr>
          <p:cNvPr id="26" name="Rectangle 26">
            <a:extLst>
              <a:ext uri="{FF2B5EF4-FFF2-40B4-BE49-F238E27FC236}">
                <a16:creationId xmlns:a16="http://schemas.microsoft.com/office/drawing/2014/main" id="{A5D2752F-E309-E496-D0AB-C017F91777A6}"/>
              </a:ext>
            </a:extLst>
          </p:cNvPr>
          <p:cNvSpPr>
            <a:spLocks noChangeArrowheads="1"/>
          </p:cNvSpPr>
          <p:nvPr/>
        </p:nvSpPr>
        <p:spPr bwMode="auto">
          <a:xfrm>
            <a:off x="5973763" y="2049319"/>
            <a:ext cx="4108450" cy="4083050"/>
          </a:xfrm>
          <a:prstGeom prst="rect">
            <a:avLst/>
          </a:prstGeom>
          <a:noFill/>
          <a:ln w="38100" cap="sq">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Tree>
    <p:custDataLst>
      <p:tags r:id="rId1"/>
    </p:custDataLst>
    <p:extLst>
      <p:ext uri="{BB962C8B-B14F-4D97-AF65-F5344CB8AC3E}">
        <p14:creationId xmlns:p14="http://schemas.microsoft.com/office/powerpoint/2010/main" val="2389150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E7893-E2FF-F895-90AB-BC4420A6B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1A738A-5B53-3FAB-32A0-477201521F2C}"/>
              </a:ext>
            </a:extLst>
          </p:cNvPr>
          <p:cNvSpPr>
            <a:spLocks noGrp="1"/>
          </p:cNvSpPr>
          <p:nvPr>
            <p:ph type="title" idx="4294967295"/>
          </p:nvPr>
        </p:nvSpPr>
        <p:spPr>
          <a:xfrm>
            <a:off x="699911" y="1497012"/>
            <a:ext cx="10792178" cy="1009650"/>
          </a:xfrm>
          <a:prstGeom prst="rect">
            <a:avLst/>
          </a:prstGeom>
        </p:spPr>
        <p:txBody>
          <a:bodyPr>
            <a:normAutofit fontScale="90000"/>
          </a:bodyPr>
          <a:lstStyle/>
          <a:p>
            <a:r>
              <a:rPr lang="en-US" sz="4000" dirty="0">
                <a:latin typeface="Roboto Medium"/>
                <a:ea typeface="Roboto Medium"/>
                <a:cs typeface="Roboto Medium"/>
              </a:rPr>
              <a:t>Strategic Deployment is the way to run the business</a:t>
            </a:r>
          </a:p>
        </p:txBody>
      </p:sp>
      <p:sp>
        <p:nvSpPr>
          <p:cNvPr id="3" name="Content Placeholder 2">
            <a:extLst>
              <a:ext uri="{FF2B5EF4-FFF2-40B4-BE49-F238E27FC236}">
                <a16:creationId xmlns:a16="http://schemas.microsoft.com/office/drawing/2014/main" id="{E705C30A-431E-B73A-9788-A63BC3BF1CC3}"/>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Goal of Strategic Deployment:</a:t>
            </a:r>
          </a:p>
          <a:p>
            <a:r>
              <a:rPr lang="en-US" dirty="0"/>
              <a:t>Focus resources on the vital few business imperatives, and manage for predictable operational and financial success</a:t>
            </a:r>
          </a:p>
          <a:p>
            <a:endParaRPr lang="en-US" dirty="0"/>
          </a:p>
          <a:p>
            <a:endParaRPr lang="en-US" dirty="0"/>
          </a:p>
        </p:txBody>
      </p:sp>
      <p:cxnSp>
        <p:nvCxnSpPr>
          <p:cNvPr id="12" name="Straight Connector 11">
            <a:extLst>
              <a:ext uri="{FF2B5EF4-FFF2-40B4-BE49-F238E27FC236}">
                <a16:creationId xmlns:a16="http://schemas.microsoft.com/office/drawing/2014/main" id="{DE48837F-8D7F-FF36-B5FA-1F0D54CE3FEF}"/>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17F8A3AB-08CA-58C5-F938-096E14FA5124}"/>
              </a:ext>
            </a:extLst>
          </p:cNvPr>
          <p:cNvGrpSpPr/>
          <p:nvPr/>
        </p:nvGrpSpPr>
        <p:grpSpPr>
          <a:xfrm>
            <a:off x="699911" y="837133"/>
            <a:ext cx="5850075" cy="659879"/>
            <a:chOff x="699911" y="1069861"/>
            <a:chExt cx="5850075" cy="350130"/>
          </a:xfrm>
        </p:grpSpPr>
        <p:sp>
          <p:nvSpPr>
            <p:cNvPr id="7" name="AutoShape 9">
              <a:extLst>
                <a:ext uri="{FF2B5EF4-FFF2-40B4-BE49-F238E27FC236}">
                  <a16:creationId xmlns:a16="http://schemas.microsoft.com/office/drawing/2014/main" id="{BCDB2833-116F-7F50-7B86-2F2891B076A0}"/>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grpSp>
          <p:nvGrpSpPr>
            <p:cNvPr id="8" name="Group 7">
              <a:extLst>
                <a:ext uri="{FF2B5EF4-FFF2-40B4-BE49-F238E27FC236}">
                  <a16:creationId xmlns:a16="http://schemas.microsoft.com/office/drawing/2014/main" id="{350B0CE8-0CEC-2233-4461-22512EF5E922}"/>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CCBB3661-386F-47A3-AFAA-62AACD489C16}"/>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10" name="AutoShape 10">
                <a:extLst>
                  <a:ext uri="{FF2B5EF4-FFF2-40B4-BE49-F238E27FC236}">
                    <a16:creationId xmlns:a16="http://schemas.microsoft.com/office/drawing/2014/main" id="{BCCF7A96-A825-2143-69B7-C65767D9AF87}"/>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Components of Top Level Matrix</a:t>
                </a:r>
              </a:p>
            </p:txBody>
          </p:sp>
          <p:sp>
            <p:nvSpPr>
              <p:cNvPr id="11" name="AutoShape 11">
                <a:extLst>
                  <a:ext uri="{FF2B5EF4-FFF2-40B4-BE49-F238E27FC236}">
                    <a16:creationId xmlns:a16="http://schemas.microsoft.com/office/drawing/2014/main" id="{EC4AD7AD-C101-4B4C-8024-E53A10EBF6A8}"/>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Overview of Strategic Deployment</a:t>
                </a:r>
              </a:p>
            </p:txBody>
          </p:sp>
        </p:grpSp>
      </p:grpSp>
    </p:spTree>
    <p:custDataLst>
      <p:tags r:id="rId1"/>
    </p:custDataLst>
    <p:extLst>
      <p:ext uri="{BB962C8B-B14F-4D97-AF65-F5344CB8AC3E}">
        <p14:creationId xmlns:p14="http://schemas.microsoft.com/office/powerpoint/2010/main" val="425662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DE5FD-86AF-9782-C1A8-6396044BE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69D3C-707F-B1E7-5DBF-48B2F24DB3F0}"/>
              </a:ext>
            </a:extLst>
          </p:cNvPr>
          <p:cNvSpPr>
            <a:spLocks noGrp="1"/>
          </p:cNvSpPr>
          <p:nvPr>
            <p:ph type="title" idx="4294967295"/>
          </p:nvPr>
        </p:nvSpPr>
        <p:spPr>
          <a:xfrm>
            <a:off x="699911" y="1497012"/>
            <a:ext cx="10792178" cy="1009650"/>
          </a:xfrm>
          <a:prstGeom prst="rect">
            <a:avLst/>
          </a:prstGeom>
        </p:spPr>
        <p:txBody>
          <a:bodyPr>
            <a:normAutofit/>
          </a:bodyPr>
          <a:lstStyle/>
          <a:p>
            <a:r>
              <a:rPr lang="en-US" sz="4000" dirty="0">
                <a:latin typeface="Roboto Medium"/>
                <a:ea typeface="Roboto Medium"/>
                <a:cs typeface="Roboto Medium"/>
              </a:rPr>
              <a:t>Overview of Strategic Deployment</a:t>
            </a:r>
          </a:p>
        </p:txBody>
      </p:sp>
      <p:sp>
        <p:nvSpPr>
          <p:cNvPr id="3" name="Content Placeholder 2">
            <a:extLst>
              <a:ext uri="{FF2B5EF4-FFF2-40B4-BE49-F238E27FC236}">
                <a16:creationId xmlns:a16="http://schemas.microsoft.com/office/drawing/2014/main" id="{73912481-8BAF-833E-4015-DD6734410B54}"/>
              </a:ext>
            </a:extLst>
          </p:cNvPr>
          <p:cNvSpPr>
            <a:spLocks noGrp="1"/>
          </p:cNvSpPr>
          <p:nvPr>
            <p:ph idx="4294967295"/>
          </p:nvPr>
        </p:nvSpPr>
        <p:spPr>
          <a:xfrm>
            <a:off x="722489" y="2506662"/>
            <a:ext cx="10515600" cy="3821400"/>
          </a:xfrm>
        </p:spPr>
        <p:txBody>
          <a:bodyPr>
            <a:normAutofit fontScale="92500" lnSpcReduction="10000"/>
          </a:bodyPr>
          <a:lstStyle/>
          <a:p>
            <a:pPr marL="0" indent="0">
              <a:lnSpc>
                <a:spcPct val="100000"/>
              </a:lnSpc>
              <a:buNone/>
            </a:pPr>
            <a:r>
              <a:rPr lang="en-US" b="1" dirty="0">
                <a:latin typeface="+mn-lt"/>
                <a:ea typeface="Roboto Medium" panose="02000000000000000000" pitchFamily="2" charset="0"/>
                <a:cs typeface="Roboto Medium" panose="02000000000000000000" pitchFamily="2" charset="0"/>
              </a:rPr>
              <a:t>Objectives:</a:t>
            </a:r>
          </a:p>
          <a:p>
            <a:pPr>
              <a:lnSpc>
                <a:spcPct val="100000"/>
              </a:lnSpc>
            </a:pPr>
            <a:r>
              <a:rPr lang="en-US" dirty="0">
                <a:latin typeface="+mn-lt"/>
              </a:rPr>
              <a:t>To define Strategic Deployment</a:t>
            </a:r>
          </a:p>
          <a:p>
            <a:pPr>
              <a:lnSpc>
                <a:spcPct val="100000"/>
              </a:lnSpc>
            </a:pPr>
            <a:r>
              <a:rPr lang="en-US" dirty="0">
                <a:latin typeface="+mn-lt"/>
              </a:rPr>
              <a:t>To identify the Japanese origins of Strategic Deployment</a:t>
            </a:r>
          </a:p>
          <a:p>
            <a:pPr>
              <a:lnSpc>
                <a:spcPct val="100000"/>
              </a:lnSpc>
            </a:pPr>
            <a:r>
              <a:rPr lang="en-US" dirty="0">
                <a:latin typeface="+mn-lt"/>
              </a:rPr>
              <a:t>To identify the significance of Strategic Deployment to a Lean business system</a:t>
            </a:r>
          </a:p>
          <a:p>
            <a:pPr>
              <a:lnSpc>
                <a:spcPct val="100000"/>
              </a:lnSpc>
            </a:pPr>
            <a:r>
              <a:rPr lang="en-US" dirty="0">
                <a:latin typeface="+mn-lt"/>
              </a:rPr>
              <a:t>To define Strategic Deployment Implementation Methodology</a:t>
            </a:r>
          </a:p>
          <a:p>
            <a:pPr>
              <a:lnSpc>
                <a:spcPct val="100000"/>
              </a:lnSpc>
            </a:pPr>
            <a:r>
              <a:rPr lang="en-US" dirty="0">
                <a:latin typeface="+mn-lt"/>
              </a:rPr>
              <a:t>To define Strategic Deployment Deliverable</a:t>
            </a:r>
          </a:p>
          <a:p>
            <a:pPr>
              <a:lnSpc>
                <a:spcPct val="100000"/>
              </a:lnSpc>
            </a:pPr>
            <a:r>
              <a:rPr lang="en-US" dirty="0">
                <a:latin typeface="+mn-lt"/>
              </a:rPr>
              <a:t>To review Strategic Deployment Success Stories</a:t>
            </a:r>
          </a:p>
        </p:txBody>
      </p:sp>
      <p:cxnSp>
        <p:nvCxnSpPr>
          <p:cNvPr id="12" name="Straight Connector 11">
            <a:extLst>
              <a:ext uri="{FF2B5EF4-FFF2-40B4-BE49-F238E27FC236}">
                <a16:creationId xmlns:a16="http://schemas.microsoft.com/office/drawing/2014/main" id="{4C5C387D-B06C-A163-9E3D-7929869D8C2E}"/>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6B462AB3-A40D-37A4-CD50-73609B45318B}"/>
              </a:ext>
            </a:extLst>
          </p:cNvPr>
          <p:cNvGrpSpPr/>
          <p:nvPr/>
        </p:nvGrpSpPr>
        <p:grpSpPr>
          <a:xfrm>
            <a:off x="699911" y="837133"/>
            <a:ext cx="5850075" cy="659879"/>
            <a:chOff x="699911" y="1069861"/>
            <a:chExt cx="5850075" cy="350130"/>
          </a:xfrm>
        </p:grpSpPr>
        <p:sp>
          <p:nvSpPr>
            <p:cNvPr id="7" name="AutoShape 9">
              <a:extLst>
                <a:ext uri="{FF2B5EF4-FFF2-40B4-BE49-F238E27FC236}">
                  <a16:creationId xmlns:a16="http://schemas.microsoft.com/office/drawing/2014/main" id="{C63C99C6-D4E7-DEE7-E023-27A4ED5BF66D}"/>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grpSp>
          <p:nvGrpSpPr>
            <p:cNvPr id="8" name="Group 7">
              <a:extLst>
                <a:ext uri="{FF2B5EF4-FFF2-40B4-BE49-F238E27FC236}">
                  <a16:creationId xmlns:a16="http://schemas.microsoft.com/office/drawing/2014/main" id="{CC66EE34-4FED-6BA5-7EA7-B6E21A3708F8}"/>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B9E92A6E-622C-56EE-36AC-D4559C39BCB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10" name="AutoShape 10">
                <a:extLst>
                  <a:ext uri="{FF2B5EF4-FFF2-40B4-BE49-F238E27FC236}">
                    <a16:creationId xmlns:a16="http://schemas.microsoft.com/office/drawing/2014/main" id="{1ECA8B40-95D3-BB95-1C59-D3C44BF52871}"/>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Components of Top Level Matrix</a:t>
                </a:r>
              </a:p>
            </p:txBody>
          </p:sp>
          <p:sp>
            <p:nvSpPr>
              <p:cNvPr id="11" name="AutoShape 11">
                <a:extLst>
                  <a:ext uri="{FF2B5EF4-FFF2-40B4-BE49-F238E27FC236}">
                    <a16:creationId xmlns:a16="http://schemas.microsoft.com/office/drawing/2014/main" id="{E5F142AC-2FE0-82CA-1E0E-9BD00052AAE5}"/>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Overview of Strategic Deployment</a:t>
                </a:r>
              </a:p>
            </p:txBody>
          </p:sp>
        </p:grpSp>
      </p:grpSp>
    </p:spTree>
    <p:custDataLst>
      <p:tags r:id="rId1"/>
    </p:custDataLst>
    <p:extLst>
      <p:ext uri="{BB962C8B-B14F-4D97-AF65-F5344CB8AC3E}">
        <p14:creationId xmlns:p14="http://schemas.microsoft.com/office/powerpoint/2010/main" val="1146962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6B0C-9143-3850-FB0A-5A4D0972645C}"/>
              </a:ext>
            </a:extLst>
          </p:cNvPr>
          <p:cNvSpPr>
            <a:spLocks noGrp="1"/>
          </p:cNvSpPr>
          <p:nvPr>
            <p:ph type="title"/>
          </p:nvPr>
        </p:nvSpPr>
        <p:spPr/>
        <p:txBody>
          <a:bodyPr>
            <a:normAutofit/>
          </a:bodyPr>
          <a:lstStyle/>
          <a:p>
            <a:r>
              <a:rPr lang="en-US" altLang="en-US" b="1" dirty="0">
                <a:latin typeface="+mn-lt"/>
                <a:ea typeface="ＭＳ Ｐゴシック" panose="020B0600070205080204" pitchFamily="34" charset="-128"/>
              </a:rPr>
              <a:t>Develop Strategy </a:t>
            </a:r>
            <a:endParaRPr lang="en-US" dirty="0"/>
          </a:p>
        </p:txBody>
      </p:sp>
      <p:sp>
        <p:nvSpPr>
          <p:cNvPr id="4" name="Text Box 2">
            <a:extLst>
              <a:ext uri="{FF2B5EF4-FFF2-40B4-BE49-F238E27FC236}">
                <a16:creationId xmlns:a16="http://schemas.microsoft.com/office/drawing/2014/main" id="{A5DBB491-6018-4B00-0D20-171EACDFDED5}"/>
              </a:ext>
            </a:extLst>
          </p:cNvPr>
          <p:cNvSpPr txBox="1">
            <a:spLocks noChangeArrowheads="1"/>
          </p:cNvSpPr>
          <p:nvPr/>
        </p:nvSpPr>
        <p:spPr bwMode="auto">
          <a:xfrm>
            <a:off x="2255450" y="1676716"/>
            <a:ext cx="7681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When building a house, which would you do first?</a:t>
            </a:r>
          </a:p>
        </p:txBody>
      </p:sp>
      <p:sp>
        <p:nvSpPr>
          <p:cNvPr id="5" name="Text Box 13">
            <a:extLst>
              <a:ext uri="{FF2B5EF4-FFF2-40B4-BE49-F238E27FC236}">
                <a16:creationId xmlns:a16="http://schemas.microsoft.com/office/drawing/2014/main" id="{91A3D7F9-A236-7B12-1B68-300D73C52453}"/>
              </a:ext>
            </a:extLst>
          </p:cNvPr>
          <p:cNvSpPr txBox="1">
            <a:spLocks noChangeArrowheads="1"/>
          </p:cNvSpPr>
          <p:nvPr/>
        </p:nvSpPr>
        <p:spPr bwMode="auto">
          <a:xfrm>
            <a:off x="1589734" y="5849937"/>
            <a:ext cx="9012527"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Strategy Deployment turns your Strategy into reality!</a:t>
            </a:r>
          </a:p>
        </p:txBody>
      </p:sp>
      <p:pic>
        <p:nvPicPr>
          <p:cNvPr id="8" name="Picture 2" descr="Tips for Construction Site Engineers - Baker Academy">
            <a:extLst>
              <a:ext uri="{FF2B5EF4-FFF2-40B4-BE49-F238E27FC236}">
                <a16:creationId xmlns:a16="http://schemas.microsoft.com/office/drawing/2014/main" id="{D6FBB78A-44F2-32B4-9EBC-29727CC67C5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9652" y="3314963"/>
            <a:ext cx="1864906" cy="1244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7 Types of Architects">
            <a:extLst>
              <a:ext uri="{FF2B5EF4-FFF2-40B4-BE49-F238E27FC236}">
                <a16:creationId xmlns:a16="http://schemas.microsoft.com/office/drawing/2014/main" id="{CC6A07D5-5F90-E821-66BE-AB8C0857E50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9652" y="2068063"/>
            <a:ext cx="1864906" cy="1244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6" descr="Close-up De Jeunes Heureux Africaine Homme Plombier Réparation ...">
            <a:extLst>
              <a:ext uri="{FF2B5EF4-FFF2-40B4-BE49-F238E27FC236}">
                <a16:creationId xmlns:a16="http://schemas.microsoft.com/office/drawing/2014/main" id="{C472232B-3136-4E0C-7B6E-6208F557AD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9652" y="4530726"/>
            <a:ext cx="1864906" cy="125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
            <a:extLst>
              <a:ext uri="{FF2B5EF4-FFF2-40B4-BE49-F238E27FC236}">
                <a16:creationId xmlns:a16="http://schemas.microsoft.com/office/drawing/2014/main" id="{4ABF7D00-A94C-B570-F337-FF45C6A69254}"/>
              </a:ext>
            </a:extLst>
          </p:cNvPr>
          <p:cNvSpPr txBox="1">
            <a:spLocks noChangeArrowheads="1"/>
          </p:cNvSpPr>
          <p:nvPr/>
        </p:nvSpPr>
        <p:spPr bwMode="auto">
          <a:xfrm>
            <a:off x="4051004" y="2469045"/>
            <a:ext cx="50823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2000" dirty="0">
                <a:solidFill>
                  <a:srgbClr val="000000"/>
                </a:solidFill>
                <a:latin typeface="+mn-lt"/>
              </a:rPr>
              <a:t>Hire an Architect? – Strategic Plan</a:t>
            </a:r>
          </a:p>
        </p:txBody>
      </p:sp>
      <p:sp>
        <p:nvSpPr>
          <p:cNvPr id="15" name="Text Box 2">
            <a:extLst>
              <a:ext uri="{FF2B5EF4-FFF2-40B4-BE49-F238E27FC236}">
                <a16:creationId xmlns:a16="http://schemas.microsoft.com/office/drawing/2014/main" id="{59974B87-31BF-2137-3100-077772A5FB38}"/>
              </a:ext>
            </a:extLst>
          </p:cNvPr>
          <p:cNvSpPr txBox="1">
            <a:spLocks noChangeArrowheads="1"/>
          </p:cNvSpPr>
          <p:nvPr/>
        </p:nvSpPr>
        <p:spPr bwMode="auto">
          <a:xfrm>
            <a:off x="4051004" y="3737256"/>
            <a:ext cx="70984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2000" dirty="0">
                <a:solidFill>
                  <a:srgbClr val="000000"/>
                </a:solidFill>
                <a:latin typeface="+mn-lt"/>
              </a:rPr>
              <a:t>Hire a General Contractor? – Strategic Deployment Process</a:t>
            </a:r>
          </a:p>
        </p:txBody>
      </p:sp>
      <p:sp>
        <p:nvSpPr>
          <p:cNvPr id="16" name="Text Box 2">
            <a:extLst>
              <a:ext uri="{FF2B5EF4-FFF2-40B4-BE49-F238E27FC236}">
                <a16:creationId xmlns:a16="http://schemas.microsoft.com/office/drawing/2014/main" id="{02BFDF00-E28A-BCEE-F795-A3A5A17DF280}"/>
              </a:ext>
            </a:extLst>
          </p:cNvPr>
          <p:cNvSpPr txBox="1">
            <a:spLocks noChangeArrowheads="1"/>
          </p:cNvSpPr>
          <p:nvPr/>
        </p:nvSpPr>
        <p:spPr bwMode="auto">
          <a:xfrm>
            <a:off x="4051004" y="5005467"/>
            <a:ext cx="73027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2000" dirty="0">
                <a:solidFill>
                  <a:srgbClr val="000000"/>
                </a:solidFill>
                <a:latin typeface="+mn-lt"/>
              </a:rPr>
              <a:t>Hire Skilled Tradesmen? – Value Stream Mapping and Kaizen (Continuous Improvement)</a:t>
            </a:r>
          </a:p>
        </p:txBody>
      </p:sp>
      <p:grpSp>
        <p:nvGrpSpPr>
          <p:cNvPr id="10" name="Group 9">
            <a:extLst>
              <a:ext uri="{FF2B5EF4-FFF2-40B4-BE49-F238E27FC236}">
                <a16:creationId xmlns:a16="http://schemas.microsoft.com/office/drawing/2014/main" id="{ADB4EE60-82D6-84D9-EC91-5A7CD0264243}"/>
              </a:ext>
            </a:extLst>
          </p:cNvPr>
          <p:cNvGrpSpPr/>
          <p:nvPr/>
        </p:nvGrpSpPr>
        <p:grpSpPr>
          <a:xfrm>
            <a:off x="961102" y="302894"/>
            <a:ext cx="1229200" cy="290657"/>
            <a:chOff x="940249" y="315206"/>
            <a:chExt cx="1373841" cy="265062"/>
          </a:xfrm>
        </p:grpSpPr>
        <p:sp>
          <p:nvSpPr>
            <p:cNvPr id="20" name="AutoShape 9">
              <a:extLst>
                <a:ext uri="{FF2B5EF4-FFF2-40B4-BE49-F238E27FC236}">
                  <a16:creationId xmlns:a16="http://schemas.microsoft.com/office/drawing/2014/main" id="{91D65903-6D86-D175-7E9E-DF3607E90FCC}"/>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E2CD4EFC-6808-6B1D-C30D-495B5D002D5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BF404A4A-BBA7-183D-06D1-F6DCAE7FF17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1">
              <a:extLst>
                <a:ext uri="{FF2B5EF4-FFF2-40B4-BE49-F238E27FC236}">
                  <a16:creationId xmlns:a16="http://schemas.microsoft.com/office/drawing/2014/main" id="{F586E992-7816-D92D-E680-10CEC5163BCD}"/>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9" name="TextBox 18">
            <a:extLst>
              <a:ext uri="{FF2B5EF4-FFF2-40B4-BE49-F238E27FC236}">
                <a16:creationId xmlns:a16="http://schemas.microsoft.com/office/drawing/2014/main" id="{DBEAEFC1-F7CC-36E1-B070-F26CC5C9942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Tree>
    <p:custDataLst>
      <p:tags r:id="rId1"/>
    </p:custDataLst>
    <p:extLst>
      <p:ext uri="{BB962C8B-B14F-4D97-AF65-F5344CB8AC3E}">
        <p14:creationId xmlns:p14="http://schemas.microsoft.com/office/powerpoint/2010/main" val="1669454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1C738-ED06-E418-7838-EB68767B1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D3983-97EB-5581-C40C-85E487B20431}"/>
              </a:ext>
            </a:extLst>
          </p:cNvPr>
          <p:cNvSpPr>
            <a:spLocks noGrp="1"/>
          </p:cNvSpPr>
          <p:nvPr>
            <p:ph type="title"/>
          </p:nvPr>
        </p:nvSpPr>
        <p:spPr/>
        <p:txBody>
          <a:bodyPr>
            <a:normAutofit fontScale="90000"/>
          </a:bodyPr>
          <a:lstStyle/>
          <a:p>
            <a:r>
              <a:rPr lang="en-US" dirty="0"/>
              <a:t>Why is it so difficult to implement strategy?</a:t>
            </a:r>
          </a:p>
        </p:txBody>
      </p:sp>
      <p:grpSp>
        <p:nvGrpSpPr>
          <p:cNvPr id="3" name="Group 2">
            <a:extLst>
              <a:ext uri="{FF2B5EF4-FFF2-40B4-BE49-F238E27FC236}">
                <a16:creationId xmlns:a16="http://schemas.microsoft.com/office/drawing/2014/main" id="{64703B0D-EB62-0666-26E1-FB0BC531E87E}"/>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E8B14E59-868A-31F3-74E8-8E9AB9927CF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5253A4B1-0802-0286-F333-86B61DCB264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7E043DB1-841C-6912-5E9A-D2E786F4760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D6286CE8-801A-2D8E-31C5-F681A86D1A03}"/>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CBC17ACE-599E-1E9F-8A8C-4BC473E5D5D6}"/>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aphicFrame>
        <p:nvGraphicFramePr>
          <p:cNvPr id="9" name="Chart 8">
            <a:extLst>
              <a:ext uri="{FF2B5EF4-FFF2-40B4-BE49-F238E27FC236}">
                <a16:creationId xmlns:a16="http://schemas.microsoft.com/office/drawing/2014/main" id="{F5536AE1-B557-D8A6-18EC-52A18471D37B}"/>
              </a:ext>
            </a:extLst>
          </p:cNvPr>
          <p:cNvGraphicFramePr>
            <a:graphicFrameLocks/>
          </p:cNvGraphicFramePr>
          <p:nvPr>
            <p:extLst>
              <p:ext uri="{D42A27DB-BD31-4B8C-83A1-F6EECF244321}">
                <p14:modId xmlns:p14="http://schemas.microsoft.com/office/powerpoint/2010/main" val="1834223992"/>
              </p:ext>
            </p:extLst>
          </p:nvPr>
        </p:nvGraphicFramePr>
        <p:xfrm>
          <a:off x="3213100" y="2085059"/>
          <a:ext cx="5765800" cy="44704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Box 2">
            <a:extLst>
              <a:ext uri="{FF2B5EF4-FFF2-40B4-BE49-F238E27FC236}">
                <a16:creationId xmlns:a16="http://schemas.microsoft.com/office/drawing/2014/main" id="{F5670D0C-03B2-819A-9C8D-164EC6A34BF8}"/>
              </a:ext>
            </a:extLst>
          </p:cNvPr>
          <p:cNvSpPr txBox="1">
            <a:spLocks noChangeArrowheads="1"/>
          </p:cNvSpPr>
          <p:nvPr/>
        </p:nvSpPr>
        <p:spPr bwMode="auto">
          <a:xfrm>
            <a:off x="3257550" y="1777822"/>
            <a:ext cx="5676900" cy="369332"/>
          </a:xfrm>
          <a:prstGeom prst="rect">
            <a:avLst/>
          </a:prstGeom>
          <a:noFill/>
          <a:ln w="9525">
            <a:noFill/>
            <a:miter lim="800000"/>
            <a:headEnd/>
            <a:tailEnd/>
          </a:ln>
        </p:spPr>
        <p:txBody>
          <a:bodyPr wrap="square">
            <a:spAutoFit/>
          </a:bodyPr>
          <a:lstStyle/>
          <a:p>
            <a:pPr algn="ctr">
              <a:defRPr/>
            </a:pPr>
            <a:r>
              <a:rPr lang="en-US" sz="1800" b="1" dirty="0">
                <a:solidFill>
                  <a:schemeClr val="tx1"/>
                </a:solidFill>
                <a:latin typeface="+mn-lt"/>
                <a:ea typeface="+mn-ea"/>
              </a:rPr>
              <a:t>Percentage of people who understand the strategy</a:t>
            </a:r>
          </a:p>
        </p:txBody>
      </p:sp>
      <p:sp>
        <p:nvSpPr>
          <p:cNvPr id="11" name="TextBox 10">
            <a:extLst>
              <a:ext uri="{FF2B5EF4-FFF2-40B4-BE49-F238E27FC236}">
                <a16:creationId xmlns:a16="http://schemas.microsoft.com/office/drawing/2014/main" id="{DA8FA964-AB7E-6E9F-A4D2-8718A99D10F6}"/>
              </a:ext>
            </a:extLst>
          </p:cNvPr>
          <p:cNvSpPr txBox="1"/>
          <p:nvPr/>
        </p:nvSpPr>
        <p:spPr>
          <a:xfrm>
            <a:off x="8470900" y="6053931"/>
            <a:ext cx="1406525" cy="246063"/>
          </a:xfrm>
          <a:prstGeom prst="rect">
            <a:avLst/>
          </a:prstGeom>
          <a:noFill/>
        </p:spPr>
        <p:style>
          <a:lnRef idx="0">
            <a:scrgbClr r="0" g="0" b="0"/>
          </a:lnRef>
          <a:fillRef idx="0">
            <a:scrgbClr r="0" g="0" b="0"/>
          </a:fillRef>
          <a:effectRef idx="0">
            <a:scrgbClr r="0" g="0" b="0"/>
          </a:effectRef>
          <a:fontRef idx="minor">
            <a:schemeClr val="tx1"/>
          </a:fontRef>
        </p:style>
        <p:txBody>
          <a:bodyPr wrap="none">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defRPr/>
            </a:pPr>
            <a:r>
              <a:rPr lang="en-US" sz="1000" i="1" dirty="0"/>
              <a:t>Source: CFO Magazine</a:t>
            </a:r>
          </a:p>
        </p:txBody>
      </p:sp>
    </p:spTree>
    <p:custDataLst>
      <p:tags r:id="rId1"/>
    </p:custDataLst>
    <p:extLst>
      <p:ext uri="{BB962C8B-B14F-4D97-AF65-F5344CB8AC3E}">
        <p14:creationId xmlns:p14="http://schemas.microsoft.com/office/powerpoint/2010/main" val="4204106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D40A6-2607-8406-F6E5-6B2B6FC0E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0E8F8-5350-7188-368C-02D547AF684E}"/>
              </a:ext>
            </a:extLst>
          </p:cNvPr>
          <p:cNvSpPr>
            <a:spLocks noGrp="1"/>
          </p:cNvSpPr>
          <p:nvPr>
            <p:ph type="title"/>
          </p:nvPr>
        </p:nvSpPr>
        <p:spPr/>
        <p:txBody>
          <a:bodyPr>
            <a:normAutofit/>
          </a:bodyPr>
          <a:lstStyle/>
          <a:p>
            <a:r>
              <a:rPr lang="en-US" dirty="0"/>
              <a:t>Develop Strategy – The Missing Link</a:t>
            </a:r>
          </a:p>
        </p:txBody>
      </p:sp>
      <p:grpSp>
        <p:nvGrpSpPr>
          <p:cNvPr id="3" name="Group 2">
            <a:extLst>
              <a:ext uri="{FF2B5EF4-FFF2-40B4-BE49-F238E27FC236}">
                <a16:creationId xmlns:a16="http://schemas.microsoft.com/office/drawing/2014/main" id="{F68673D1-C549-4C64-BF0D-F22C83419271}"/>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1DB7D5D3-7C4C-54DC-AA19-E87957E117D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100FA78A-25C6-5BF4-0C7A-A4FDBF29AF7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34124B2E-09B7-825B-C7EF-A34DDCBA7B2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6C2F0577-2C71-6D5C-3E4E-0D0D71F37608}"/>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4C134892-4E6F-6D0D-2BF5-F69CD6A1420F}"/>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10" name="Text Box 2">
            <a:extLst>
              <a:ext uri="{FF2B5EF4-FFF2-40B4-BE49-F238E27FC236}">
                <a16:creationId xmlns:a16="http://schemas.microsoft.com/office/drawing/2014/main" id="{6BF01C2D-27E1-D9C6-8099-2E0909731D6C}"/>
              </a:ext>
            </a:extLst>
          </p:cNvPr>
          <p:cNvSpPr txBox="1">
            <a:spLocks noChangeArrowheads="1"/>
          </p:cNvSpPr>
          <p:nvPr/>
        </p:nvSpPr>
        <p:spPr bwMode="auto">
          <a:xfrm>
            <a:off x="2720975" y="2019122"/>
            <a:ext cx="7054850" cy="369332"/>
          </a:xfrm>
          <a:prstGeom prst="rect">
            <a:avLst/>
          </a:prstGeom>
          <a:noFill/>
          <a:ln w="9525">
            <a:noFill/>
            <a:miter lim="800000"/>
            <a:headEnd/>
            <a:tailEnd/>
          </a:ln>
        </p:spPr>
        <p:txBody>
          <a:bodyPr wrap="square">
            <a:spAutoFit/>
          </a:bodyPr>
          <a:lstStyle/>
          <a:p>
            <a:pPr algn="ctr">
              <a:defRPr/>
            </a:pPr>
            <a:r>
              <a:rPr lang="en-US" b="1" dirty="0"/>
              <a:t>Only 27% of Companies Integrate Strategy with Tactics.</a:t>
            </a:r>
          </a:p>
        </p:txBody>
      </p:sp>
      <p:sp>
        <p:nvSpPr>
          <p:cNvPr id="11" name="TextBox 10">
            <a:extLst>
              <a:ext uri="{FF2B5EF4-FFF2-40B4-BE49-F238E27FC236}">
                <a16:creationId xmlns:a16="http://schemas.microsoft.com/office/drawing/2014/main" id="{1DA13206-6A86-C870-B00C-F3594CD6977A}"/>
              </a:ext>
            </a:extLst>
          </p:cNvPr>
          <p:cNvSpPr txBox="1"/>
          <p:nvPr/>
        </p:nvSpPr>
        <p:spPr>
          <a:xfrm>
            <a:off x="8470900" y="6053931"/>
            <a:ext cx="2489784" cy="246221"/>
          </a:xfrm>
          <a:prstGeom prst="rect">
            <a:avLst/>
          </a:prstGeom>
          <a:noFill/>
        </p:spPr>
        <p:style>
          <a:lnRef idx="0">
            <a:scrgbClr r="0" g="0" b="0"/>
          </a:lnRef>
          <a:fillRef idx="0">
            <a:scrgbClr r="0" g="0" b="0"/>
          </a:fillRef>
          <a:effectRef idx="0">
            <a:scrgbClr r="0" g="0" b="0"/>
          </a:effectRef>
          <a:fontRef idx="minor">
            <a:schemeClr val="tx1"/>
          </a:fontRef>
        </p:style>
        <p:txBody>
          <a:bodyPr wrap="none">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defRPr/>
            </a:pPr>
            <a:r>
              <a:rPr lang="en-US" sz="1000" i="1" dirty="0"/>
              <a:t>Source: Hackett, Benchmarking Solutions</a:t>
            </a:r>
          </a:p>
        </p:txBody>
      </p:sp>
      <p:graphicFrame>
        <p:nvGraphicFramePr>
          <p:cNvPr id="12" name="Chart 12">
            <a:extLst>
              <a:ext uri="{FF2B5EF4-FFF2-40B4-BE49-F238E27FC236}">
                <a16:creationId xmlns:a16="http://schemas.microsoft.com/office/drawing/2014/main" id="{FE5D0B21-F9CA-038B-A31E-A3588584760A}"/>
              </a:ext>
            </a:extLst>
          </p:cNvPr>
          <p:cNvGraphicFramePr>
            <a:graphicFrameLocks/>
          </p:cNvGraphicFramePr>
          <p:nvPr>
            <p:extLst>
              <p:ext uri="{D42A27DB-BD31-4B8C-83A1-F6EECF244321}">
                <p14:modId xmlns:p14="http://schemas.microsoft.com/office/powerpoint/2010/main" val="4213197136"/>
              </p:ext>
            </p:extLst>
          </p:nvPr>
        </p:nvGraphicFramePr>
        <p:xfrm>
          <a:off x="3200400" y="2354262"/>
          <a:ext cx="6096000" cy="4064000"/>
        </p:xfrm>
        <a:graphic>
          <a:graphicData uri="http://schemas.openxmlformats.org/presentationml/2006/ole">
            <mc:AlternateContent xmlns:mc="http://schemas.openxmlformats.org/markup-compatibility/2006">
              <mc:Choice xmlns:v="urn:schemas-microsoft-com:vml" Requires="v">
                <p:oleObj r:id="rId4" imgW="6096528" imgH="4066384" progId="Excel.Chart.8">
                  <p:embed/>
                </p:oleObj>
              </mc:Choice>
              <mc:Fallback>
                <p:oleObj r:id="rId4" imgW="6096528" imgH="4066384" progId="Excel.Chart.8">
                  <p:embed/>
                  <p:pic>
                    <p:nvPicPr>
                      <p:cNvPr id="21509" name="Chart 12">
                        <a:extLst>
                          <a:ext uri="{FF2B5EF4-FFF2-40B4-BE49-F238E27FC236}">
                            <a16:creationId xmlns:a16="http://schemas.microsoft.com/office/drawing/2014/main" id="{4964F4E1-127E-FF14-0675-20B5B8C332E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354262"/>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1"/>
    </p:custDataLst>
    <p:extLst>
      <p:ext uri="{BB962C8B-B14F-4D97-AF65-F5344CB8AC3E}">
        <p14:creationId xmlns:p14="http://schemas.microsoft.com/office/powerpoint/2010/main" val="3465470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3EAC5-9631-1211-D609-85E44FB90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8A317-6A28-0E30-77D0-0888D04409A9}"/>
              </a:ext>
            </a:extLst>
          </p:cNvPr>
          <p:cNvSpPr>
            <a:spLocks noGrp="1"/>
          </p:cNvSpPr>
          <p:nvPr>
            <p:ph type="title"/>
          </p:nvPr>
        </p:nvSpPr>
        <p:spPr/>
        <p:txBody>
          <a:bodyPr>
            <a:normAutofit fontScale="90000"/>
          </a:bodyPr>
          <a:lstStyle/>
          <a:p>
            <a:r>
              <a:rPr lang="en-US" dirty="0"/>
              <a:t>Strategic Deployment is a planning and implementation process</a:t>
            </a:r>
          </a:p>
        </p:txBody>
      </p:sp>
      <p:sp>
        <p:nvSpPr>
          <p:cNvPr id="3" name="Text Placeholder 2">
            <a:extLst>
              <a:ext uri="{FF2B5EF4-FFF2-40B4-BE49-F238E27FC236}">
                <a16:creationId xmlns:a16="http://schemas.microsoft.com/office/drawing/2014/main" id="{D2FE114F-F111-53B2-4BD4-230454933ACF}"/>
              </a:ext>
            </a:extLst>
          </p:cNvPr>
          <p:cNvSpPr>
            <a:spLocks noGrp="1"/>
          </p:cNvSpPr>
          <p:nvPr>
            <p:ph type="body" idx="1"/>
          </p:nvPr>
        </p:nvSpPr>
        <p:spPr/>
        <p:txBody>
          <a:bodyPr/>
          <a:lstStyle/>
          <a:p>
            <a:r>
              <a:rPr lang="en-US" dirty="0"/>
              <a:t>Strategic Deployment</a:t>
            </a:r>
          </a:p>
        </p:txBody>
      </p:sp>
      <p:grpSp>
        <p:nvGrpSpPr>
          <p:cNvPr id="7" name="Group 6">
            <a:extLst>
              <a:ext uri="{FF2B5EF4-FFF2-40B4-BE49-F238E27FC236}">
                <a16:creationId xmlns:a16="http://schemas.microsoft.com/office/drawing/2014/main" id="{F2845EF0-4FAF-705C-C02B-1F97018898F5}"/>
              </a:ext>
            </a:extLst>
          </p:cNvPr>
          <p:cNvGrpSpPr/>
          <p:nvPr/>
        </p:nvGrpSpPr>
        <p:grpSpPr>
          <a:xfrm>
            <a:off x="961102" y="302894"/>
            <a:ext cx="1229200" cy="290657"/>
            <a:chOff x="940249" y="315206"/>
            <a:chExt cx="1373841" cy="265062"/>
          </a:xfrm>
        </p:grpSpPr>
        <p:sp>
          <p:nvSpPr>
            <p:cNvPr id="8" name="AutoShape 9">
              <a:extLst>
                <a:ext uri="{FF2B5EF4-FFF2-40B4-BE49-F238E27FC236}">
                  <a16:creationId xmlns:a16="http://schemas.microsoft.com/office/drawing/2014/main" id="{F0A1ECAE-90D0-F81B-3C97-F2BE60D9900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0AF493A-4524-85AF-0ACB-092834CFEDD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B2DDAE8B-C0E5-E4F2-95F4-3A9F7F5E87F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D6321469-ECE7-BEBA-B0AB-0D04AB6233E5}"/>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2" name="TextBox 11">
            <a:extLst>
              <a:ext uri="{FF2B5EF4-FFF2-40B4-BE49-F238E27FC236}">
                <a16:creationId xmlns:a16="http://schemas.microsoft.com/office/drawing/2014/main" id="{8F261017-A67A-8A1B-05FA-C7089602ECA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pic>
        <p:nvPicPr>
          <p:cNvPr id="13" name="Picture 26">
            <a:extLst>
              <a:ext uri="{FF2B5EF4-FFF2-40B4-BE49-F238E27FC236}">
                <a16:creationId xmlns:a16="http://schemas.microsoft.com/office/drawing/2014/main" id="{06858EB3-7BDE-1AFE-01E8-BF87EFAECF57}"/>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839788" y="2796447"/>
            <a:ext cx="5157787" cy="3101844"/>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4" name="Text Box 12">
            <a:extLst>
              <a:ext uri="{FF2B5EF4-FFF2-40B4-BE49-F238E27FC236}">
                <a16:creationId xmlns:a16="http://schemas.microsoft.com/office/drawing/2014/main" id="{935BE675-771C-D4AE-F334-D9D5F1B1600D}"/>
              </a:ext>
            </a:extLst>
          </p:cNvPr>
          <p:cNvSpPr txBox="1">
            <a:spLocks noChangeArrowheads="1"/>
          </p:cNvSpPr>
          <p:nvPr/>
        </p:nvSpPr>
        <p:spPr bwMode="auto">
          <a:xfrm>
            <a:off x="2190302" y="6057106"/>
            <a:ext cx="8037513" cy="265113"/>
          </a:xfrm>
          <a:prstGeom prst="rect">
            <a:avLst/>
          </a:prstGeom>
          <a:noFill/>
          <a:ln w="12700" cap="sq" algn="ctr">
            <a:noFill/>
            <a:miter lim="800000"/>
            <a:headEnd/>
            <a:tailEnd/>
          </a:ln>
        </p:spPr>
        <p:txBody>
          <a:bodyPr>
            <a:spAutoFit/>
          </a:bodyPr>
          <a:lstStyle/>
          <a:p>
            <a:pPr algn="ctr" eaLnBrk="0" hangingPunct="0">
              <a:lnSpc>
                <a:spcPct val="80000"/>
              </a:lnSpc>
              <a:spcBef>
                <a:spcPct val="20000"/>
              </a:spcBef>
              <a:defRPr/>
            </a:pPr>
            <a:r>
              <a:rPr lang="en-US" sz="1400" i="1" dirty="0">
                <a:solidFill>
                  <a:schemeClr val="tx1"/>
                </a:solidFill>
                <a:latin typeface="+mj-lt"/>
                <a:ea typeface="+mn-ea"/>
              </a:rPr>
              <a:t>Strategic Deployment fosters management to work ON the business not IN the business.</a:t>
            </a:r>
          </a:p>
        </p:txBody>
      </p:sp>
      <p:sp>
        <p:nvSpPr>
          <p:cNvPr id="17" name="Rectangle 5">
            <a:extLst>
              <a:ext uri="{FF2B5EF4-FFF2-40B4-BE49-F238E27FC236}">
                <a16:creationId xmlns:a16="http://schemas.microsoft.com/office/drawing/2014/main" id="{5E533405-D3A4-6E56-B1E9-E7E24F659E61}"/>
              </a:ext>
            </a:extLst>
          </p:cNvPr>
          <p:cNvSpPr>
            <a:spLocks noChangeArrowheads="1"/>
          </p:cNvSpPr>
          <p:nvPr/>
        </p:nvSpPr>
        <p:spPr bwMode="auto">
          <a:xfrm>
            <a:off x="6511925" y="2209403"/>
            <a:ext cx="4379292" cy="307975"/>
          </a:xfrm>
          <a:prstGeom prst="rect">
            <a:avLst/>
          </a:prstGeom>
          <a:solidFill>
            <a:schemeClr val="accent1"/>
          </a:solidFill>
          <a:ln w="12700" cap="sq" algn="ctr">
            <a:solidFill>
              <a:schemeClr val="tx1"/>
            </a:solidFill>
            <a:miter lim="800000"/>
            <a:headEnd/>
            <a:tailEnd/>
          </a:ln>
        </p:spPr>
        <p:txBody>
          <a:bodyPr wrap="none" anchor="ctr"/>
          <a:lstStyle/>
          <a:p>
            <a:pPr algn="ctr" eaLnBrk="0" hangingPunct="0">
              <a:lnSpc>
                <a:spcPct val="80000"/>
              </a:lnSpc>
              <a:spcBef>
                <a:spcPct val="20000"/>
              </a:spcBef>
              <a:defRPr/>
            </a:pPr>
            <a:r>
              <a:rPr lang="en-US" sz="1600" dirty="0">
                <a:solidFill>
                  <a:schemeClr val="bg1"/>
                </a:solidFill>
                <a:latin typeface="+mj-lt"/>
                <a:ea typeface="+mn-ea"/>
              </a:rPr>
              <a:t>SD Planning</a:t>
            </a:r>
          </a:p>
        </p:txBody>
      </p:sp>
      <p:sp>
        <p:nvSpPr>
          <p:cNvPr id="18" name="Rectangle 6">
            <a:extLst>
              <a:ext uri="{FF2B5EF4-FFF2-40B4-BE49-F238E27FC236}">
                <a16:creationId xmlns:a16="http://schemas.microsoft.com/office/drawing/2014/main" id="{3F382507-F5C7-7BBC-CC14-3FE3AFD18995}"/>
              </a:ext>
            </a:extLst>
          </p:cNvPr>
          <p:cNvSpPr>
            <a:spLocks noChangeArrowheads="1"/>
          </p:cNvSpPr>
          <p:nvPr/>
        </p:nvSpPr>
        <p:spPr bwMode="auto">
          <a:xfrm>
            <a:off x="6511925" y="4185841"/>
            <a:ext cx="4398434" cy="307975"/>
          </a:xfrm>
          <a:prstGeom prst="rect">
            <a:avLst/>
          </a:prstGeom>
          <a:solidFill>
            <a:schemeClr val="accent1"/>
          </a:solidFill>
          <a:ln w="12700" cap="sq" algn="ctr">
            <a:solidFill>
              <a:schemeClr val="tx1"/>
            </a:solidFill>
            <a:miter lim="800000"/>
            <a:headEnd/>
            <a:tailEnd/>
          </a:ln>
        </p:spPr>
        <p:txBody>
          <a:bodyPr wrap="none" anchor="ctr"/>
          <a:lstStyle/>
          <a:p>
            <a:pPr algn="ctr" eaLnBrk="0" hangingPunct="0">
              <a:lnSpc>
                <a:spcPct val="80000"/>
              </a:lnSpc>
              <a:spcBef>
                <a:spcPct val="20000"/>
              </a:spcBef>
              <a:defRPr/>
            </a:pPr>
            <a:r>
              <a:rPr lang="en-US" sz="1600" dirty="0">
                <a:solidFill>
                  <a:schemeClr val="bg1"/>
                </a:solidFill>
                <a:latin typeface="+mj-lt"/>
                <a:ea typeface="+mn-ea"/>
              </a:rPr>
              <a:t>SD Implementation</a:t>
            </a:r>
          </a:p>
        </p:txBody>
      </p:sp>
      <p:sp>
        <p:nvSpPr>
          <p:cNvPr id="19" name="Rectangle 7">
            <a:extLst>
              <a:ext uri="{FF2B5EF4-FFF2-40B4-BE49-F238E27FC236}">
                <a16:creationId xmlns:a16="http://schemas.microsoft.com/office/drawing/2014/main" id="{9A9368A6-AB5B-9C3A-B7AA-2E3482B02397}"/>
              </a:ext>
            </a:extLst>
          </p:cNvPr>
          <p:cNvSpPr>
            <a:spLocks noChangeArrowheads="1"/>
          </p:cNvSpPr>
          <p:nvPr/>
        </p:nvSpPr>
        <p:spPr bwMode="auto">
          <a:xfrm>
            <a:off x="6418262" y="2563416"/>
            <a:ext cx="4523922" cy="1216025"/>
          </a:xfrm>
          <a:prstGeom prst="rect">
            <a:avLst/>
          </a:prstGeom>
          <a:noFill/>
          <a:ln w="9525">
            <a:noFill/>
            <a:miter lim="800000"/>
            <a:headEnd/>
            <a:tailEnd/>
          </a:ln>
        </p:spPr>
        <p:txBody>
          <a:bodyPr/>
          <a:lstStyle/>
          <a:p>
            <a:pPr marL="342900" indent="-342900">
              <a:spcBef>
                <a:spcPct val="30000"/>
              </a:spcBef>
              <a:buSzPct val="125000"/>
              <a:buFont typeface="Arial" pitchFamily="34" charset="0"/>
              <a:buChar char="•"/>
              <a:tabLst>
                <a:tab pos="3086100" algn="l"/>
              </a:tabLst>
              <a:defRPr/>
            </a:pPr>
            <a:r>
              <a:rPr lang="en-US" sz="1400" dirty="0">
                <a:solidFill>
                  <a:schemeClr val="tx1"/>
                </a:solidFill>
                <a:latin typeface="+mj-lt"/>
                <a:ea typeface="+mn-ea"/>
              </a:rPr>
              <a:t>Focuses on the implementation of Breakthrough Objectives</a:t>
            </a:r>
          </a:p>
          <a:p>
            <a:pPr marL="342900" indent="-342900">
              <a:spcBef>
                <a:spcPct val="30000"/>
              </a:spcBef>
              <a:buSzPct val="125000"/>
              <a:buFont typeface="Arial" pitchFamily="34" charset="0"/>
              <a:buChar char="•"/>
              <a:tabLst>
                <a:tab pos="3086100" algn="l"/>
              </a:tabLst>
              <a:defRPr/>
            </a:pPr>
            <a:r>
              <a:rPr lang="en-US" sz="1400" dirty="0">
                <a:solidFill>
                  <a:schemeClr val="tx1"/>
                </a:solidFill>
                <a:latin typeface="+mj-lt"/>
                <a:ea typeface="+mn-ea"/>
              </a:rPr>
              <a:t>Links Breakthrough Objectives with specific Resources</a:t>
            </a:r>
          </a:p>
          <a:p>
            <a:pPr marL="342900" indent="-342900">
              <a:spcBef>
                <a:spcPct val="30000"/>
              </a:spcBef>
              <a:buSzPct val="125000"/>
              <a:buFont typeface="Arial" pitchFamily="34" charset="0"/>
              <a:buChar char="•"/>
              <a:tabLst>
                <a:tab pos="3086100" algn="l"/>
              </a:tabLst>
              <a:defRPr/>
            </a:pPr>
            <a:r>
              <a:rPr lang="en-US" sz="1400" dirty="0">
                <a:solidFill>
                  <a:schemeClr val="tx1"/>
                </a:solidFill>
                <a:latin typeface="+mj-lt"/>
                <a:ea typeface="+mn-ea"/>
              </a:rPr>
              <a:t>Aligns Resources within the company</a:t>
            </a:r>
          </a:p>
          <a:p>
            <a:pPr marL="342900" indent="-342900">
              <a:spcBef>
                <a:spcPct val="30000"/>
              </a:spcBef>
              <a:buClr>
                <a:schemeClr val="accent1"/>
              </a:buClr>
              <a:buSzPct val="90000"/>
              <a:buFont typeface="Wingdings" pitchFamily="2" charset="2"/>
              <a:buChar char="§"/>
              <a:tabLst>
                <a:tab pos="3086100" algn="l"/>
              </a:tabLst>
              <a:defRPr/>
            </a:pPr>
            <a:endParaRPr lang="en-US" sz="1400" dirty="0">
              <a:solidFill>
                <a:schemeClr val="tx1"/>
              </a:solidFill>
              <a:latin typeface="+mj-lt"/>
              <a:ea typeface="+mn-ea"/>
            </a:endParaRPr>
          </a:p>
        </p:txBody>
      </p:sp>
      <p:cxnSp>
        <p:nvCxnSpPr>
          <p:cNvPr id="20" name="AutoShape 8">
            <a:extLst>
              <a:ext uri="{FF2B5EF4-FFF2-40B4-BE49-F238E27FC236}">
                <a16:creationId xmlns:a16="http://schemas.microsoft.com/office/drawing/2014/main" id="{5B0B111B-B135-6594-6017-5F5B4879A15C}"/>
              </a:ext>
            </a:extLst>
          </p:cNvPr>
          <p:cNvCxnSpPr>
            <a:cxnSpLocks noChangeShapeType="1"/>
            <a:endCxn id="17" idx="1"/>
          </p:cNvCxnSpPr>
          <p:nvPr/>
        </p:nvCxnSpPr>
        <p:spPr bwMode="auto">
          <a:xfrm rot="5400000" flipH="1" flipV="1">
            <a:off x="5422899" y="2922191"/>
            <a:ext cx="1647826" cy="530226"/>
          </a:xfrm>
          <a:prstGeom prst="bentConnector2">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1" name="AutoShape 9">
            <a:extLst>
              <a:ext uri="{FF2B5EF4-FFF2-40B4-BE49-F238E27FC236}">
                <a16:creationId xmlns:a16="http://schemas.microsoft.com/office/drawing/2014/main" id="{2DCF7C89-4515-F066-338A-2782FDDAD1CA}"/>
              </a:ext>
            </a:extLst>
          </p:cNvPr>
          <p:cNvCxnSpPr>
            <a:cxnSpLocks noChangeShapeType="1"/>
            <a:endCxn id="18" idx="1"/>
          </p:cNvCxnSpPr>
          <p:nvPr/>
        </p:nvCxnSpPr>
        <p:spPr bwMode="auto">
          <a:xfrm>
            <a:off x="5981700" y="4011216"/>
            <a:ext cx="530225" cy="328613"/>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 name="Rectangle 10">
            <a:extLst>
              <a:ext uri="{FF2B5EF4-FFF2-40B4-BE49-F238E27FC236}">
                <a16:creationId xmlns:a16="http://schemas.microsoft.com/office/drawing/2014/main" id="{16CFBE23-88BB-BAC1-6077-0C7F4D6D544D}"/>
              </a:ext>
            </a:extLst>
          </p:cNvPr>
          <p:cNvSpPr>
            <a:spLocks noChangeArrowheads="1"/>
          </p:cNvSpPr>
          <p:nvPr/>
        </p:nvSpPr>
        <p:spPr bwMode="auto">
          <a:xfrm>
            <a:off x="6419849" y="4520803"/>
            <a:ext cx="4523921" cy="1216025"/>
          </a:xfrm>
          <a:prstGeom prst="rect">
            <a:avLst/>
          </a:prstGeom>
          <a:noFill/>
          <a:ln w="9525">
            <a:noFill/>
            <a:miter lim="800000"/>
            <a:headEnd/>
            <a:tailEnd/>
          </a:ln>
        </p:spPr>
        <p:txBody>
          <a:bodyPr/>
          <a:lstStyle/>
          <a:p>
            <a:pPr marL="342900" indent="-342900">
              <a:spcBef>
                <a:spcPct val="30000"/>
              </a:spcBef>
              <a:buSzPct val="125000"/>
              <a:buFont typeface="Arial" pitchFamily="34" charset="0"/>
              <a:buChar char="•"/>
              <a:tabLst>
                <a:tab pos="3086100" algn="l"/>
              </a:tabLst>
              <a:defRPr/>
            </a:pPr>
            <a:r>
              <a:rPr lang="en-US" sz="1400" dirty="0">
                <a:solidFill>
                  <a:schemeClr val="tx1"/>
                </a:solidFill>
                <a:latin typeface="+mj-lt"/>
                <a:ea typeface="+mn-ea"/>
              </a:rPr>
              <a:t>Facilitates ongoing review of progress (PDCA)</a:t>
            </a:r>
          </a:p>
          <a:p>
            <a:pPr marL="342900" indent="-342900">
              <a:spcBef>
                <a:spcPct val="30000"/>
              </a:spcBef>
              <a:buSzPct val="125000"/>
              <a:buFont typeface="Arial" pitchFamily="34" charset="0"/>
              <a:buChar char="•"/>
              <a:tabLst>
                <a:tab pos="3086100" algn="l"/>
              </a:tabLst>
              <a:defRPr/>
            </a:pPr>
            <a:r>
              <a:rPr lang="en-US" sz="1400" dirty="0">
                <a:solidFill>
                  <a:schemeClr val="tx1"/>
                </a:solidFill>
                <a:latin typeface="+mj-lt"/>
                <a:ea typeface="+mn-ea"/>
              </a:rPr>
              <a:t>Results in specific Action Plans and Measurements</a:t>
            </a:r>
          </a:p>
          <a:p>
            <a:pPr marL="342900" indent="-342900">
              <a:spcBef>
                <a:spcPct val="30000"/>
              </a:spcBef>
              <a:buSzPct val="125000"/>
              <a:buFont typeface="Arial" pitchFamily="34" charset="0"/>
              <a:buChar char="•"/>
              <a:tabLst>
                <a:tab pos="3086100" algn="l"/>
              </a:tabLst>
              <a:defRPr/>
            </a:pPr>
            <a:r>
              <a:rPr lang="en-US" sz="1400" dirty="0">
                <a:solidFill>
                  <a:schemeClr val="tx1"/>
                </a:solidFill>
                <a:latin typeface="+mj-lt"/>
                <a:ea typeface="+mn-ea"/>
              </a:rPr>
              <a:t>Is always a dynamic process</a:t>
            </a:r>
          </a:p>
          <a:p>
            <a:pPr marL="342900" indent="-342900">
              <a:spcBef>
                <a:spcPct val="30000"/>
              </a:spcBef>
              <a:buClr>
                <a:schemeClr val="accent1"/>
              </a:buClr>
              <a:buSzPct val="90000"/>
              <a:buFont typeface="Wingdings" pitchFamily="2" charset="2"/>
              <a:buChar char="§"/>
              <a:tabLst>
                <a:tab pos="3086100" algn="l"/>
              </a:tabLst>
              <a:defRPr/>
            </a:pPr>
            <a:endParaRPr lang="en-US" sz="1400" dirty="0">
              <a:solidFill>
                <a:schemeClr val="tx1"/>
              </a:solidFill>
              <a:latin typeface="+mj-lt"/>
              <a:ea typeface="+mn-ea"/>
            </a:endParaRPr>
          </a:p>
        </p:txBody>
      </p:sp>
    </p:spTree>
    <p:custDataLst>
      <p:tags r:id="rId1"/>
    </p:custDataLst>
    <p:extLst>
      <p:ext uri="{BB962C8B-B14F-4D97-AF65-F5344CB8AC3E}">
        <p14:creationId xmlns:p14="http://schemas.microsoft.com/office/powerpoint/2010/main" val="4184847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5EA20-1AEE-DE94-9CC1-5DE0EA89C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2DB0B-C098-0DAA-7DC5-A0D7C835EADD}"/>
              </a:ext>
            </a:extLst>
          </p:cNvPr>
          <p:cNvSpPr>
            <a:spLocks noGrp="1"/>
          </p:cNvSpPr>
          <p:nvPr>
            <p:ph type="title"/>
          </p:nvPr>
        </p:nvSpPr>
        <p:spPr/>
        <p:txBody>
          <a:bodyPr>
            <a:normAutofit fontScale="90000"/>
          </a:bodyPr>
          <a:lstStyle/>
          <a:p>
            <a:r>
              <a:rPr lang="en-US" dirty="0"/>
              <a:t>Strategic Deployment converts strategic imperatives into reality.</a:t>
            </a:r>
          </a:p>
        </p:txBody>
      </p:sp>
      <p:grpSp>
        <p:nvGrpSpPr>
          <p:cNvPr id="3" name="Group 2">
            <a:extLst>
              <a:ext uri="{FF2B5EF4-FFF2-40B4-BE49-F238E27FC236}">
                <a16:creationId xmlns:a16="http://schemas.microsoft.com/office/drawing/2014/main" id="{8D69153A-EA60-8BF9-724C-726C657A81B5}"/>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E85B2790-AC8A-8597-2F3E-28C0ED6E73E0}"/>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75297B66-FF31-1BD3-A3A5-4E24F10F42B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01D64BE7-4849-965A-5573-AC250D13967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3ECB2D9E-1186-BF12-8E6D-569F046027A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F4E4508C-80AC-37BB-A6BF-067C401F23AF}"/>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aphicFrame>
        <p:nvGraphicFramePr>
          <p:cNvPr id="12" name="Group 2">
            <a:extLst>
              <a:ext uri="{FF2B5EF4-FFF2-40B4-BE49-F238E27FC236}">
                <a16:creationId xmlns:a16="http://schemas.microsoft.com/office/drawing/2014/main" id="{60B7EAE1-0C09-AA6E-A416-6584FFB22C79}"/>
              </a:ext>
            </a:extLst>
          </p:cNvPr>
          <p:cNvGraphicFramePr>
            <a:graphicFrameLocks noGrp="1"/>
          </p:cNvGraphicFramePr>
          <p:nvPr>
            <p:extLst>
              <p:ext uri="{D42A27DB-BD31-4B8C-83A1-F6EECF244321}">
                <p14:modId xmlns:p14="http://schemas.microsoft.com/office/powerpoint/2010/main" val="3723075005"/>
              </p:ext>
            </p:extLst>
          </p:nvPr>
        </p:nvGraphicFramePr>
        <p:xfrm>
          <a:off x="2010569" y="1962149"/>
          <a:ext cx="8170862" cy="4895851"/>
        </p:xfrm>
        <a:graphic>
          <a:graphicData uri="http://schemas.openxmlformats.org/drawingml/2006/table">
            <a:tbl>
              <a:tblPr/>
              <a:tblGrid>
                <a:gridCol w="3163887">
                  <a:extLst>
                    <a:ext uri="{9D8B030D-6E8A-4147-A177-3AD203B41FA5}">
                      <a16:colId xmlns:a16="http://schemas.microsoft.com/office/drawing/2014/main" val="2741462258"/>
                    </a:ext>
                  </a:extLst>
                </a:gridCol>
                <a:gridCol w="1828800">
                  <a:extLst>
                    <a:ext uri="{9D8B030D-6E8A-4147-A177-3AD203B41FA5}">
                      <a16:colId xmlns:a16="http://schemas.microsoft.com/office/drawing/2014/main" val="1756871541"/>
                    </a:ext>
                  </a:extLst>
                </a:gridCol>
                <a:gridCol w="3178175">
                  <a:extLst>
                    <a:ext uri="{9D8B030D-6E8A-4147-A177-3AD203B41FA5}">
                      <a16:colId xmlns:a16="http://schemas.microsoft.com/office/drawing/2014/main" val="2767416230"/>
                    </a:ext>
                  </a:extLst>
                </a:gridCol>
              </a:tblGrid>
              <a:tr h="1212850">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mn-lt"/>
                          <a:ea typeface="MS PGothic" panose="020B0600070205080204" pitchFamily="34" charset="-128"/>
                        </a:rPr>
                        <a:t>Will force the clear identification of how we move towards Breakthrough Objectives</a:t>
                      </a: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mn-lt"/>
                          <a:ea typeface="MS PGothic" panose="020B0600070205080204" pitchFamily="34" charset="-128"/>
                        </a:rPr>
                        <a:t>Will not achieve results if the management process isn</a:t>
                      </a:r>
                      <a:r>
                        <a:rPr kumimoji="0" lang="ja-JP" altLang="en-US" sz="1600" b="1" i="0" u="none" strike="noStrike" cap="none" normalizeH="0" baseline="0">
                          <a:ln>
                            <a:noFill/>
                          </a:ln>
                          <a:solidFill>
                            <a:schemeClr val="tx1"/>
                          </a:solidFill>
                          <a:effectLst/>
                          <a:latin typeface="+mn-lt"/>
                          <a:ea typeface="MS PGothic" panose="020B0600070205080204" pitchFamily="34" charset="-128"/>
                        </a:rPr>
                        <a:t>’</a:t>
                      </a:r>
                      <a:r>
                        <a:rPr kumimoji="0" lang="en-US" altLang="ja-JP" sz="1600" b="1" i="0" u="none" strike="noStrike" cap="none" normalizeH="0" baseline="0">
                          <a:ln>
                            <a:noFill/>
                          </a:ln>
                          <a:solidFill>
                            <a:schemeClr val="tx1"/>
                          </a:solidFill>
                          <a:effectLst/>
                          <a:latin typeface="+mn-lt"/>
                          <a:ea typeface="MS PGothic" panose="020B0600070205080204" pitchFamily="34" charset="-128"/>
                        </a:rPr>
                        <a:t>t changed (move to rigorous PDCA)</a:t>
                      </a:r>
                      <a:endParaRPr kumimoji="0" lang="en-US" altLang="en-US" sz="16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0018695"/>
                  </a:ext>
                </a:extLst>
              </a:tr>
              <a:tr h="996950">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mn-lt"/>
                          <a:ea typeface="MS PGothic" panose="020B0600070205080204" pitchFamily="34" charset="-128"/>
                        </a:rPr>
                        <a:t>Will create alignment of all facets of the organization on the key strategic initiatives</a:t>
                      </a: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mn-lt"/>
                          <a:ea typeface="MS PGothic" panose="020B0600070205080204" pitchFamily="34" charset="-128"/>
                        </a:rPr>
                        <a:t>Will not achieve results if the </a:t>
                      </a:r>
                      <a:r>
                        <a:rPr kumimoji="0" lang="ja-JP" altLang="en-US" sz="1600" b="1" i="0" u="none" strike="noStrike" cap="none" normalizeH="0" baseline="0">
                          <a:ln>
                            <a:noFill/>
                          </a:ln>
                          <a:solidFill>
                            <a:schemeClr val="tx1"/>
                          </a:solidFill>
                          <a:effectLst/>
                          <a:latin typeface="+mn-lt"/>
                          <a:ea typeface="MS PGothic" panose="020B0600070205080204" pitchFamily="34" charset="-128"/>
                        </a:rPr>
                        <a:t>“</a:t>
                      </a:r>
                      <a:r>
                        <a:rPr kumimoji="0" lang="en-US" altLang="ja-JP" sz="1600" b="1" i="0" u="none" strike="noStrike" cap="none" normalizeH="0" baseline="0">
                          <a:ln>
                            <a:noFill/>
                          </a:ln>
                          <a:solidFill>
                            <a:schemeClr val="tx1"/>
                          </a:solidFill>
                          <a:effectLst/>
                          <a:latin typeface="+mn-lt"/>
                          <a:ea typeface="MS PGothic" panose="020B0600070205080204" pitchFamily="34" charset="-128"/>
                        </a:rPr>
                        <a:t>hows</a:t>
                      </a:r>
                      <a:r>
                        <a:rPr kumimoji="0" lang="ja-JP" altLang="en-US" sz="1600" b="1" i="0" u="none" strike="noStrike" cap="none" normalizeH="0" baseline="0">
                          <a:ln>
                            <a:noFill/>
                          </a:ln>
                          <a:solidFill>
                            <a:schemeClr val="tx1"/>
                          </a:solidFill>
                          <a:effectLst/>
                          <a:latin typeface="+mn-lt"/>
                          <a:ea typeface="MS PGothic" panose="020B0600070205080204" pitchFamily="34" charset="-128"/>
                        </a:rPr>
                        <a:t>”</a:t>
                      </a:r>
                      <a:r>
                        <a:rPr kumimoji="0" lang="en-US" altLang="ja-JP" sz="1600" b="1" i="0" u="none" strike="noStrike" cap="none" normalizeH="0" baseline="0">
                          <a:ln>
                            <a:noFill/>
                          </a:ln>
                          <a:solidFill>
                            <a:schemeClr val="tx1"/>
                          </a:solidFill>
                          <a:effectLst/>
                          <a:latin typeface="+mn-lt"/>
                          <a:ea typeface="MS PGothic" panose="020B0600070205080204" pitchFamily="34" charset="-128"/>
                        </a:rPr>
                        <a:t> aren</a:t>
                      </a:r>
                      <a:r>
                        <a:rPr kumimoji="0" lang="ja-JP" altLang="en-US" sz="1600" b="1" i="0" u="none" strike="noStrike" cap="none" normalizeH="0" baseline="0">
                          <a:ln>
                            <a:noFill/>
                          </a:ln>
                          <a:solidFill>
                            <a:schemeClr val="tx1"/>
                          </a:solidFill>
                          <a:effectLst/>
                          <a:latin typeface="+mn-lt"/>
                          <a:ea typeface="MS PGothic" panose="020B0600070205080204" pitchFamily="34" charset="-128"/>
                        </a:rPr>
                        <a:t>’</a:t>
                      </a:r>
                      <a:r>
                        <a:rPr kumimoji="0" lang="en-US" altLang="ja-JP" sz="1600" b="1" i="0" u="none" strike="noStrike" cap="none" normalizeH="0" baseline="0">
                          <a:ln>
                            <a:noFill/>
                          </a:ln>
                          <a:solidFill>
                            <a:schemeClr val="tx1"/>
                          </a:solidFill>
                          <a:effectLst/>
                          <a:latin typeface="+mn-lt"/>
                          <a:ea typeface="MS PGothic" panose="020B0600070205080204" pitchFamily="34" charset="-128"/>
                        </a:rPr>
                        <a:t>t the right ones</a:t>
                      </a:r>
                      <a:endParaRPr kumimoji="0" lang="en-US" altLang="en-US" sz="16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0497752"/>
                  </a:ext>
                </a:extLst>
              </a:tr>
              <a:tr h="992188">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mn-lt"/>
                          <a:ea typeface="MS PGothic" panose="020B0600070205080204" pitchFamily="34" charset="-128"/>
                        </a:rPr>
                        <a:t>Will foster a data-oriented, fact-based culture</a:t>
                      </a: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mn-lt"/>
                          <a:ea typeface="MS PGothic" panose="020B0600070205080204" pitchFamily="34" charset="-128"/>
                        </a:rPr>
                        <a:t>Will not achieve results if the </a:t>
                      </a:r>
                      <a:r>
                        <a:rPr kumimoji="0" lang="ja-JP" altLang="en-US" sz="1600" b="1" i="0" u="none" strike="noStrike" cap="none" normalizeH="0" baseline="0">
                          <a:ln>
                            <a:noFill/>
                          </a:ln>
                          <a:solidFill>
                            <a:schemeClr val="tx1"/>
                          </a:solidFill>
                          <a:effectLst/>
                          <a:latin typeface="+mn-lt"/>
                          <a:ea typeface="MS PGothic" panose="020B0600070205080204" pitchFamily="34" charset="-128"/>
                        </a:rPr>
                        <a:t>“</a:t>
                      </a:r>
                      <a:r>
                        <a:rPr kumimoji="0" lang="en-US" altLang="ja-JP" sz="1600" b="1" i="0" u="none" strike="noStrike" cap="none" normalizeH="0" baseline="0">
                          <a:ln>
                            <a:noFill/>
                          </a:ln>
                          <a:solidFill>
                            <a:schemeClr val="tx1"/>
                          </a:solidFill>
                          <a:effectLst/>
                          <a:latin typeface="+mn-lt"/>
                          <a:ea typeface="MS PGothic" panose="020B0600070205080204" pitchFamily="34" charset="-128"/>
                        </a:rPr>
                        <a:t>hows</a:t>
                      </a:r>
                      <a:r>
                        <a:rPr kumimoji="0" lang="ja-JP" altLang="en-US" sz="1600" b="1" i="0" u="none" strike="noStrike" cap="none" normalizeH="0" baseline="0">
                          <a:ln>
                            <a:noFill/>
                          </a:ln>
                          <a:solidFill>
                            <a:schemeClr val="tx1"/>
                          </a:solidFill>
                          <a:effectLst/>
                          <a:latin typeface="+mn-lt"/>
                          <a:ea typeface="MS PGothic" panose="020B0600070205080204" pitchFamily="34" charset="-128"/>
                        </a:rPr>
                        <a:t>”</a:t>
                      </a:r>
                      <a:r>
                        <a:rPr kumimoji="0" lang="en-US" altLang="ja-JP" sz="1600" b="1" i="0" u="none" strike="noStrike" cap="none" normalizeH="0" baseline="0">
                          <a:ln>
                            <a:noFill/>
                          </a:ln>
                          <a:solidFill>
                            <a:schemeClr val="tx1"/>
                          </a:solidFill>
                          <a:effectLst/>
                          <a:latin typeface="+mn-lt"/>
                          <a:ea typeface="MS PGothic" panose="020B0600070205080204" pitchFamily="34" charset="-128"/>
                        </a:rPr>
                        <a:t> aren</a:t>
                      </a:r>
                      <a:r>
                        <a:rPr kumimoji="0" lang="ja-JP" altLang="en-US" sz="1600" b="1" i="0" u="none" strike="noStrike" cap="none" normalizeH="0" baseline="0">
                          <a:ln>
                            <a:noFill/>
                          </a:ln>
                          <a:solidFill>
                            <a:schemeClr val="tx1"/>
                          </a:solidFill>
                          <a:effectLst/>
                          <a:latin typeface="+mn-lt"/>
                          <a:ea typeface="MS PGothic" panose="020B0600070205080204" pitchFamily="34" charset="-128"/>
                        </a:rPr>
                        <a:t>’</a:t>
                      </a:r>
                      <a:r>
                        <a:rPr kumimoji="0" lang="en-US" altLang="ja-JP" sz="1600" b="1" i="0" u="none" strike="noStrike" cap="none" normalizeH="0" baseline="0">
                          <a:ln>
                            <a:noFill/>
                          </a:ln>
                          <a:solidFill>
                            <a:schemeClr val="tx1"/>
                          </a:solidFill>
                          <a:effectLst/>
                          <a:latin typeface="+mn-lt"/>
                          <a:ea typeface="MS PGothic" panose="020B0600070205080204" pitchFamily="34" charset="-128"/>
                        </a:rPr>
                        <a:t>t clearly defined</a:t>
                      </a:r>
                      <a:endParaRPr kumimoji="0" lang="en-US" altLang="en-US" sz="16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5334040"/>
                  </a:ext>
                </a:extLst>
              </a:tr>
              <a:tr h="933450">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mn-lt"/>
                          <a:ea typeface="MS PGothic" panose="020B0600070205080204" pitchFamily="34" charset="-128"/>
                        </a:rPr>
                        <a:t>Will reinforce the vision, and clearly define how we get there</a:t>
                      </a: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mn-lt"/>
                          <a:ea typeface="MS PGothic" panose="020B0600070205080204" pitchFamily="34" charset="-128"/>
                        </a:rPr>
                        <a:t>Will not replace business fundamental responsibilities</a:t>
                      </a: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4702384"/>
                  </a:ext>
                </a:extLst>
              </a:tr>
              <a:tr h="760413">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6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600" b="1" i="0" u="none" strike="noStrike" cap="none" normalizeH="0" baseline="0" dirty="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4168573984"/>
                  </a:ext>
                </a:extLst>
              </a:tr>
            </a:tbl>
          </a:graphicData>
        </a:graphic>
      </p:graphicFrame>
      <p:sp>
        <p:nvSpPr>
          <p:cNvPr id="13" name="AutoShape 37">
            <a:extLst>
              <a:ext uri="{FF2B5EF4-FFF2-40B4-BE49-F238E27FC236}">
                <a16:creationId xmlns:a16="http://schemas.microsoft.com/office/drawing/2014/main" id="{FDDA7BB4-F4A9-5F2B-8E38-21E90287E34F}"/>
              </a:ext>
            </a:extLst>
          </p:cNvPr>
          <p:cNvSpPr>
            <a:spLocks noChangeArrowheads="1"/>
          </p:cNvSpPr>
          <p:nvPr/>
        </p:nvSpPr>
        <p:spPr bwMode="auto">
          <a:xfrm>
            <a:off x="5428456" y="2400299"/>
            <a:ext cx="1292225" cy="160338"/>
          </a:xfrm>
          <a:prstGeom prst="leftRightArrow">
            <a:avLst>
              <a:gd name="adj1" fmla="val 50000"/>
              <a:gd name="adj2" fmla="val 161188"/>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4" name="AutoShape 38">
            <a:extLst>
              <a:ext uri="{FF2B5EF4-FFF2-40B4-BE49-F238E27FC236}">
                <a16:creationId xmlns:a16="http://schemas.microsoft.com/office/drawing/2014/main" id="{39958811-9960-AB4A-2D2B-B411B7801D5B}"/>
              </a:ext>
            </a:extLst>
          </p:cNvPr>
          <p:cNvSpPr>
            <a:spLocks noChangeArrowheads="1"/>
          </p:cNvSpPr>
          <p:nvPr/>
        </p:nvSpPr>
        <p:spPr bwMode="auto">
          <a:xfrm>
            <a:off x="5409406" y="3538537"/>
            <a:ext cx="1292225" cy="160337"/>
          </a:xfrm>
          <a:prstGeom prst="leftRightArrow">
            <a:avLst>
              <a:gd name="adj1" fmla="val 50000"/>
              <a:gd name="adj2" fmla="val 161189"/>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5" name="AutoShape 39">
            <a:extLst>
              <a:ext uri="{FF2B5EF4-FFF2-40B4-BE49-F238E27FC236}">
                <a16:creationId xmlns:a16="http://schemas.microsoft.com/office/drawing/2014/main" id="{4C276FB6-A7AE-BD73-65EF-1D09F0309664}"/>
              </a:ext>
            </a:extLst>
          </p:cNvPr>
          <p:cNvSpPr>
            <a:spLocks noChangeArrowheads="1"/>
          </p:cNvSpPr>
          <p:nvPr/>
        </p:nvSpPr>
        <p:spPr bwMode="auto">
          <a:xfrm>
            <a:off x="5428456" y="4492624"/>
            <a:ext cx="1292225" cy="160338"/>
          </a:xfrm>
          <a:prstGeom prst="leftRightArrow">
            <a:avLst>
              <a:gd name="adj1" fmla="val 50000"/>
              <a:gd name="adj2" fmla="val 161188"/>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6" name="AutoShape 40">
            <a:extLst>
              <a:ext uri="{FF2B5EF4-FFF2-40B4-BE49-F238E27FC236}">
                <a16:creationId xmlns:a16="http://schemas.microsoft.com/office/drawing/2014/main" id="{0F1FAFDA-36BC-AD3E-E9EC-C2F10F20E2D8}"/>
              </a:ext>
            </a:extLst>
          </p:cNvPr>
          <p:cNvSpPr>
            <a:spLocks noChangeArrowheads="1"/>
          </p:cNvSpPr>
          <p:nvPr/>
        </p:nvSpPr>
        <p:spPr bwMode="auto">
          <a:xfrm>
            <a:off x="5428456" y="5437187"/>
            <a:ext cx="1292225" cy="160337"/>
          </a:xfrm>
          <a:prstGeom prst="leftRightArrow">
            <a:avLst>
              <a:gd name="adj1" fmla="val 50000"/>
              <a:gd name="adj2" fmla="val 161189"/>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Tree>
    <p:custDataLst>
      <p:tags r:id="rId1"/>
    </p:custDataLst>
    <p:extLst>
      <p:ext uri="{BB962C8B-B14F-4D97-AF65-F5344CB8AC3E}">
        <p14:creationId xmlns:p14="http://schemas.microsoft.com/office/powerpoint/2010/main" val="2236864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CF282-8B27-DE40-CA32-B0C44F00A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97182-DDA7-3AF5-8226-B758873F8D9A}"/>
              </a:ext>
            </a:extLst>
          </p:cNvPr>
          <p:cNvSpPr>
            <a:spLocks noGrp="1"/>
          </p:cNvSpPr>
          <p:nvPr>
            <p:ph type="title"/>
          </p:nvPr>
        </p:nvSpPr>
        <p:spPr/>
        <p:txBody>
          <a:bodyPr/>
          <a:lstStyle/>
          <a:p>
            <a:r>
              <a:rPr lang="en-US" dirty="0"/>
              <a:t>Benefits of Strategic Deployment</a:t>
            </a:r>
          </a:p>
        </p:txBody>
      </p:sp>
      <p:sp>
        <p:nvSpPr>
          <p:cNvPr id="3" name="Content Placeholder 2">
            <a:extLst>
              <a:ext uri="{FF2B5EF4-FFF2-40B4-BE49-F238E27FC236}">
                <a16:creationId xmlns:a16="http://schemas.microsoft.com/office/drawing/2014/main" id="{B619A081-406B-DE8C-C275-49550A7077C8}"/>
              </a:ext>
            </a:extLst>
          </p:cNvPr>
          <p:cNvSpPr>
            <a:spLocks noGrp="1"/>
          </p:cNvSpPr>
          <p:nvPr>
            <p:ph idx="1"/>
          </p:nvPr>
        </p:nvSpPr>
        <p:spPr/>
        <p:txBody>
          <a:bodyPr/>
          <a:lstStyle/>
          <a:p>
            <a:r>
              <a:rPr lang="en-US" dirty="0"/>
              <a:t>Reduces the speed-to-value cycle by aligning Lean strategy to Resources</a:t>
            </a:r>
          </a:p>
          <a:p>
            <a:r>
              <a:rPr lang="en-US" dirty="0"/>
              <a:t>Forces an organization to focus on the critical few strategic imperatives</a:t>
            </a:r>
          </a:p>
          <a:p>
            <a:r>
              <a:rPr lang="en-US" dirty="0"/>
              <a:t>Ensures standardized, sustainable, high-performing business processes</a:t>
            </a:r>
          </a:p>
          <a:p>
            <a:r>
              <a:rPr lang="en-US" dirty="0"/>
              <a:t>Ensures sustained breakthrough results</a:t>
            </a:r>
          </a:p>
          <a:p>
            <a:r>
              <a:rPr lang="en-US" dirty="0"/>
              <a:t>Provides a means towards strategic competitive advantage</a:t>
            </a:r>
          </a:p>
          <a:p>
            <a:r>
              <a:rPr lang="en-US" dirty="0"/>
              <a:t>Provides a means to communicate the strategic vision</a:t>
            </a:r>
          </a:p>
        </p:txBody>
      </p:sp>
      <p:grpSp>
        <p:nvGrpSpPr>
          <p:cNvPr id="4" name="Group 3">
            <a:extLst>
              <a:ext uri="{FF2B5EF4-FFF2-40B4-BE49-F238E27FC236}">
                <a16:creationId xmlns:a16="http://schemas.microsoft.com/office/drawing/2014/main" id="{99A67CA1-1D42-A58A-80B4-317E302DE43C}"/>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0A9AE28E-B1FC-DC7A-262A-D2D26B01646C}"/>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B90BF34D-73E8-9540-9CBD-1B261E54A8B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FAD0EB94-529B-A3A0-FFB7-6939E251FDE0}"/>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46EE375A-BEF1-BDE9-CEA8-C1FD8D723077}"/>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9" name="TextBox 8">
            <a:extLst>
              <a:ext uri="{FF2B5EF4-FFF2-40B4-BE49-F238E27FC236}">
                <a16:creationId xmlns:a16="http://schemas.microsoft.com/office/drawing/2014/main" id="{53AF8B4F-9A99-204A-8987-503DE3898B5E}"/>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Tree>
    <p:custDataLst>
      <p:tags r:id="rId1"/>
    </p:custDataLst>
    <p:extLst>
      <p:ext uri="{BB962C8B-B14F-4D97-AF65-F5344CB8AC3E}">
        <p14:creationId xmlns:p14="http://schemas.microsoft.com/office/powerpoint/2010/main" val="299453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E7B3-FF3B-5BAC-6156-69344C780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AF251-97FB-1499-987B-4E0D1165516C}"/>
              </a:ext>
            </a:extLst>
          </p:cNvPr>
          <p:cNvSpPr>
            <a:spLocks noGrp="1"/>
          </p:cNvSpPr>
          <p:nvPr>
            <p:ph type="title"/>
          </p:nvPr>
        </p:nvSpPr>
        <p:spPr>
          <a:xfrm>
            <a:off x="838200" y="681037"/>
            <a:ext cx="10149114" cy="1009651"/>
          </a:xfrm>
        </p:spPr>
        <p:txBody>
          <a:bodyPr>
            <a:noAutofit/>
          </a:bodyPr>
          <a:lstStyle/>
          <a:p>
            <a:r>
              <a:rPr lang="en-US" sz="3600" dirty="0"/>
              <a:t>Hoshin Kanri: Strategic Deployment Foundation</a:t>
            </a:r>
          </a:p>
        </p:txBody>
      </p:sp>
      <p:grpSp>
        <p:nvGrpSpPr>
          <p:cNvPr id="3" name="Group 2">
            <a:extLst>
              <a:ext uri="{FF2B5EF4-FFF2-40B4-BE49-F238E27FC236}">
                <a16:creationId xmlns:a16="http://schemas.microsoft.com/office/drawing/2014/main" id="{227205B6-5ABD-8D3C-7858-213B2BCE3003}"/>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8EF9DCF3-04AC-5E09-7032-481DD26125C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E27C65B7-C21C-C3A5-5CA6-86D36EDCF79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74ACF5DA-8664-85C4-4B87-CC8FC34A50C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DC897183-A847-34BF-880B-C4A373A9861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6384C2E5-F66E-DFBD-D854-B1C32478EAB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9" name="Rectangle 2">
            <a:extLst>
              <a:ext uri="{FF2B5EF4-FFF2-40B4-BE49-F238E27FC236}">
                <a16:creationId xmlns:a16="http://schemas.microsoft.com/office/drawing/2014/main" id="{C6B2082A-74EC-150A-DA5E-862741813E5A}"/>
              </a:ext>
            </a:extLst>
          </p:cNvPr>
          <p:cNvSpPr>
            <a:spLocks noChangeArrowheads="1"/>
          </p:cNvSpPr>
          <p:nvPr/>
        </p:nvSpPr>
        <p:spPr bwMode="auto">
          <a:xfrm>
            <a:off x="2512559" y="3126695"/>
            <a:ext cx="3127375" cy="290512"/>
          </a:xfrm>
          <a:prstGeom prst="rect">
            <a:avLst/>
          </a:prstGeom>
          <a:solidFill>
            <a:schemeClr val="accent1"/>
          </a:solidFill>
          <a:ln w="12700" cap="sq">
            <a:solidFill>
              <a:schemeClr val="bg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600">
                <a:latin typeface="Tahoma" panose="020B0604030504040204" pitchFamily="34" charset="0"/>
              </a:rPr>
              <a:t>Hoshin</a:t>
            </a:r>
          </a:p>
        </p:txBody>
      </p:sp>
      <p:sp>
        <p:nvSpPr>
          <p:cNvPr id="13" name="Rectangle 3">
            <a:extLst>
              <a:ext uri="{FF2B5EF4-FFF2-40B4-BE49-F238E27FC236}">
                <a16:creationId xmlns:a16="http://schemas.microsoft.com/office/drawing/2014/main" id="{06B6EC7C-8AF7-27A9-005B-0696C4A3EAE4}"/>
              </a:ext>
            </a:extLst>
          </p:cNvPr>
          <p:cNvSpPr>
            <a:spLocks noChangeArrowheads="1"/>
          </p:cNvSpPr>
          <p:nvPr/>
        </p:nvSpPr>
        <p:spPr bwMode="auto">
          <a:xfrm>
            <a:off x="6073321" y="3417207"/>
            <a:ext cx="3127375" cy="290513"/>
          </a:xfrm>
          <a:prstGeom prst="rect">
            <a:avLst/>
          </a:prstGeom>
          <a:solidFill>
            <a:schemeClr val="accent1"/>
          </a:solidFill>
          <a:ln w="12700" cap="sq">
            <a:solidFill>
              <a:schemeClr val="bg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600">
                <a:latin typeface="Tahoma" panose="020B0604030504040204" pitchFamily="34" charset="0"/>
              </a:rPr>
              <a:t>Management Control</a:t>
            </a:r>
          </a:p>
        </p:txBody>
      </p:sp>
      <p:sp>
        <p:nvSpPr>
          <p:cNvPr id="14" name="Oval 4">
            <a:extLst>
              <a:ext uri="{FF2B5EF4-FFF2-40B4-BE49-F238E27FC236}">
                <a16:creationId xmlns:a16="http://schemas.microsoft.com/office/drawing/2014/main" id="{F7BD49A7-BAC8-9DFB-1E78-3914FFD2851C}"/>
              </a:ext>
            </a:extLst>
          </p:cNvPr>
          <p:cNvSpPr>
            <a:spLocks noChangeArrowheads="1"/>
          </p:cNvSpPr>
          <p:nvPr/>
        </p:nvSpPr>
        <p:spPr bwMode="auto">
          <a:xfrm>
            <a:off x="3209471" y="2166257"/>
            <a:ext cx="5284788" cy="504825"/>
          </a:xfrm>
          <a:prstGeom prst="ellipse">
            <a:avLst/>
          </a:prstGeom>
          <a:solidFill>
            <a:schemeClr val="tx2"/>
          </a:solidFill>
          <a:ln w="19050" cap="sq">
            <a:solidFill>
              <a:srgbClr val="000066"/>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600">
                <a:latin typeface="Tahoma" panose="020B0604030504040204" pitchFamily="34" charset="0"/>
              </a:rPr>
              <a:t>Control of the Organization</a:t>
            </a:r>
            <a:r>
              <a:rPr lang="ja-JP" altLang="en-US" sz="1600">
                <a:latin typeface="Tahoma" panose="020B0604030504040204" pitchFamily="34" charset="0"/>
              </a:rPr>
              <a:t>’</a:t>
            </a:r>
            <a:r>
              <a:rPr lang="en-US" altLang="ja-JP" sz="1600">
                <a:latin typeface="Tahoma" panose="020B0604030504040204" pitchFamily="34" charset="0"/>
              </a:rPr>
              <a:t>s Direction</a:t>
            </a:r>
            <a:endParaRPr lang="en-US" altLang="en-US" sz="1600">
              <a:latin typeface="Tahoma" panose="020B0604030504040204" pitchFamily="34" charset="0"/>
            </a:endParaRPr>
          </a:p>
        </p:txBody>
      </p:sp>
      <p:sp>
        <p:nvSpPr>
          <p:cNvPr id="15" name="Rectangle 5">
            <a:extLst>
              <a:ext uri="{FF2B5EF4-FFF2-40B4-BE49-F238E27FC236}">
                <a16:creationId xmlns:a16="http://schemas.microsoft.com/office/drawing/2014/main" id="{FDA7FC9A-9B57-1CFF-8598-27F70437EE63}"/>
              </a:ext>
            </a:extLst>
          </p:cNvPr>
          <p:cNvSpPr>
            <a:spLocks noChangeArrowheads="1"/>
          </p:cNvSpPr>
          <p:nvPr/>
        </p:nvSpPr>
        <p:spPr bwMode="auto">
          <a:xfrm>
            <a:off x="6076496" y="3126695"/>
            <a:ext cx="3130550" cy="290512"/>
          </a:xfrm>
          <a:prstGeom prst="rect">
            <a:avLst/>
          </a:prstGeom>
          <a:solidFill>
            <a:schemeClr val="accent1"/>
          </a:solidFill>
          <a:ln w="12700" cap="sq">
            <a:solidFill>
              <a:schemeClr val="bg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600">
                <a:latin typeface="Tahoma" panose="020B0604030504040204" pitchFamily="34" charset="0"/>
              </a:rPr>
              <a:t>Kanri</a:t>
            </a:r>
          </a:p>
        </p:txBody>
      </p:sp>
      <p:sp>
        <p:nvSpPr>
          <p:cNvPr id="16" name="Rectangle 6">
            <a:extLst>
              <a:ext uri="{FF2B5EF4-FFF2-40B4-BE49-F238E27FC236}">
                <a16:creationId xmlns:a16="http://schemas.microsoft.com/office/drawing/2014/main" id="{9539C94C-C404-BE16-0474-D585357573FC}"/>
              </a:ext>
            </a:extLst>
          </p:cNvPr>
          <p:cNvSpPr>
            <a:spLocks noChangeArrowheads="1"/>
          </p:cNvSpPr>
          <p:nvPr/>
        </p:nvSpPr>
        <p:spPr bwMode="auto">
          <a:xfrm>
            <a:off x="2515734" y="3417207"/>
            <a:ext cx="3130550" cy="290513"/>
          </a:xfrm>
          <a:prstGeom prst="rect">
            <a:avLst/>
          </a:prstGeom>
          <a:solidFill>
            <a:schemeClr val="accent1"/>
          </a:solidFill>
          <a:ln w="12700" cap="sq">
            <a:solidFill>
              <a:schemeClr val="bg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600">
                <a:latin typeface="Tahoma" panose="020B0604030504040204" pitchFamily="34" charset="0"/>
              </a:rPr>
              <a:t>Compass For Direction</a:t>
            </a:r>
          </a:p>
        </p:txBody>
      </p:sp>
      <p:cxnSp>
        <p:nvCxnSpPr>
          <p:cNvPr id="17" name="AutoShape 7">
            <a:extLst>
              <a:ext uri="{FF2B5EF4-FFF2-40B4-BE49-F238E27FC236}">
                <a16:creationId xmlns:a16="http://schemas.microsoft.com/office/drawing/2014/main" id="{2D93A3D2-CF3D-C7E8-CE25-B7909D504436}"/>
              </a:ext>
            </a:extLst>
          </p:cNvPr>
          <p:cNvCxnSpPr>
            <a:cxnSpLocks noChangeShapeType="1"/>
            <a:stCxn id="14" idx="4"/>
            <a:endCxn id="9" idx="0"/>
          </p:cNvCxnSpPr>
          <p:nvPr/>
        </p:nvCxnSpPr>
        <p:spPr bwMode="auto">
          <a:xfrm rot="5400000">
            <a:off x="4742203" y="2016238"/>
            <a:ext cx="446088" cy="1774825"/>
          </a:xfrm>
          <a:prstGeom prst="bentConnector3">
            <a:avLst>
              <a:gd name="adj1" fmla="val 48755"/>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8" name="AutoShape 8">
            <a:extLst>
              <a:ext uri="{FF2B5EF4-FFF2-40B4-BE49-F238E27FC236}">
                <a16:creationId xmlns:a16="http://schemas.microsoft.com/office/drawing/2014/main" id="{5FCCA5ED-B171-10A9-714E-84900D93FED1}"/>
              </a:ext>
            </a:extLst>
          </p:cNvPr>
          <p:cNvCxnSpPr>
            <a:cxnSpLocks noChangeShapeType="1"/>
            <a:stCxn id="14" idx="4"/>
            <a:endCxn id="15" idx="0"/>
          </p:cNvCxnSpPr>
          <p:nvPr/>
        </p:nvCxnSpPr>
        <p:spPr bwMode="auto">
          <a:xfrm rot="16200000" flipH="1">
            <a:off x="6524171" y="2009095"/>
            <a:ext cx="446088" cy="1789112"/>
          </a:xfrm>
          <a:prstGeom prst="bentConnector3">
            <a:avLst>
              <a:gd name="adj1" fmla="val 48755"/>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9" name="Rectangle 9">
            <a:extLst>
              <a:ext uri="{FF2B5EF4-FFF2-40B4-BE49-F238E27FC236}">
                <a16:creationId xmlns:a16="http://schemas.microsoft.com/office/drawing/2014/main" id="{D0EA5326-CEB9-5E96-08A5-9D53735D9901}"/>
              </a:ext>
            </a:extLst>
          </p:cNvPr>
          <p:cNvSpPr>
            <a:spLocks noChangeArrowheads="1"/>
          </p:cNvSpPr>
          <p:nvPr/>
        </p:nvSpPr>
        <p:spPr bwMode="gray">
          <a:xfrm>
            <a:off x="2398259" y="3918857"/>
            <a:ext cx="6781800" cy="1422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spcBef>
                <a:spcPct val="50000"/>
              </a:spcBef>
              <a:spcAft>
                <a:spcPct val="50000"/>
              </a:spcAft>
              <a:buSzPct val="125000"/>
              <a:buFont typeface="Arial" panose="020B0604020202020204" pitchFamily="34" charset="0"/>
              <a:buChar char="•"/>
            </a:pPr>
            <a:r>
              <a:rPr lang="en-US" altLang="en-US" sz="1600">
                <a:solidFill>
                  <a:schemeClr val="tx1"/>
                </a:solidFill>
                <a:latin typeface="Arial" panose="020B0604020202020204" pitchFamily="34" charset="0"/>
              </a:rPr>
              <a:t>Provides a robust framework for management to control growth</a:t>
            </a:r>
          </a:p>
          <a:p>
            <a:pPr>
              <a:lnSpc>
                <a:spcPct val="115000"/>
              </a:lnSpc>
              <a:spcBef>
                <a:spcPct val="50000"/>
              </a:spcBef>
              <a:spcAft>
                <a:spcPct val="50000"/>
              </a:spcAft>
              <a:buSzPct val="125000"/>
              <a:buFont typeface="Arial" panose="020B0604020202020204" pitchFamily="34" charset="0"/>
              <a:buChar char="•"/>
            </a:pPr>
            <a:r>
              <a:rPr lang="en-US" altLang="en-US" sz="1600">
                <a:solidFill>
                  <a:schemeClr val="tx1"/>
                </a:solidFill>
                <a:latin typeface="Arial" panose="020B0604020202020204" pitchFamily="34" charset="0"/>
              </a:rPr>
              <a:t>Directs executives to deploy resources to the activities most capable of removing waste</a:t>
            </a:r>
          </a:p>
          <a:p>
            <a:pPr>
              <a:lnSpc>
                <a:spcPct val="115000"/>
              </a:lnSpc>
              <a:spcBef>
                <a:spcPct val="50000"/>
              </a:spcBef>
              <a:spcAft>
                <a:spcPct val="50000"/>
              </a:spcAft>
              <a:buSzPct val="125000"/>
              <a:buFont typeface="Arial" panose="020B0604020202020204" pitchFamily="34" charset="0"/>
              <a:buChar char="•"/>
            </a:pPr>
            <a:r>
              <a:rPr lang="en-US" altLang="en-US" sz="1600">
                <a:solidFill>
                  <a:schemeClr val="tx1"/>
                </a:solidFill>
                <a:latin typeface="Arial" panose="020B0604020202020204" pitchFamily="34" charset="0"/>
              </a:rPr>
              <a:t>Creates a </a:t>
            </a:r>
            <a:r>
              <a:rPr lang="ja-JP" altLang="en-US" sz="1600">
                <a:solidFill>
                  <a:schemeClr val="tx1"/>
                </a:solidFill>
                <a:latin typeface="Arial" panose="020B0604020202020204" pitchFamily="34" charset="0"/>
              </a:rPr>
              <a:t>“</a:t>
            </a:r>
            <a:r>
              <a:rPr lang="en-US" altLang="ja-JP" sz="1600">
                <a:solidFill>
                  <a:schemeClr val="tx1"/>
                </a:solidFill>
                <a:latin typeface="Arial" panose="020B0604020202020204" pitchFamily="34" charset="0"/>
              </a:rPr>
              <a:t>drumbeat</a:t>
            </a:r>
            <a:r>
              <a:rPr lang="ja-JP" altLang="en-US" sz="1600">
                <a:solidFill>
                  <a:schemeClr val="tx1"/>
                </a:solidFill>
                <a:latin typeface="Arial" panose="020B0604020202020204" pitchFamily="34" charset="0"/>
              </a:rPr>
              <a:t>”</a:t>
            </a:r>
            <a:r>
              <a:rPr lang="en-US" altLang="ja-JP" sz="1600">
                <a:solidFill>
                  <a:schemeClr val="tx1"/>
                </a:solidFill>
                <a:latin typeface="Arial" panose="020B0604020202020204" pitchFamily="34" charset="0"/>
              </a:rPr>
              <a:t> of waste elimination across the business</a:t>
            </a:r>
            <a:endParaRPr lang="en-US" altLang="en-US" sz="1600">
              <a:solidFill>
                <a:schemeClr val="tx1"/>
              </a:solidFill>
              <a:latin typeface="Arial" panose="020B0604020202020204" pitchFamily="34" charset="0"/>
            </a:endParaRPr>
          </a:p>
        </p:txBody>
      </p:sp>
    </p:spTree>
    <p:custDataLst>
      <p:tags r:id="rId1"/>
    </p:custDataLst>
    <p:extLst>
      <p:ext uri="{BB962C8B-B14F-4D97-AF65-F5344CB8AC3E}">
        <p14:creationId xmlns:p14="http://schemas.microsoft.com/office/powerpoint/2010/main" val="1441404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0BAE-1AE8-A0E7-D26F-CBDD3BC8C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B7BD4-09E5-C7D2-73DB-BBAB3B47F558}"/>
              </a:ext>
            </a:extLst>
          </p:cNvPr>
          <p:cNvSpPr>
            <a:spLocks noGrp="1"/>
          </p:cNvSpPr>
          <p:nvPr>
            <p:ph type="title"/>
          </p:nvPr>
        </p:nvSpPr>
        <p:spPr>
          <a:xfrm>
            <a:off x="838200" y="681037"/>
            <a:ext cx="10149114" cy="1009651"/>
          </a:xfrm>
        </p:spPr>
        <p:txBody>
          <a:bodyPr>
            <a:noAutofit/>
          </a:bodyPr>
          <a:lstStyle/>
          <a:p>
            <a:r>
              <a:rPr lang="en-US" sz="3200" dirty="0"/>
              <a:t>Strategic Deployment tie to a Lean Business System</a:t>
            </a:r>
          </a:p>
        </p:txBody>
      </p:sp>
      <p:grpSp>
        <p:nvGrpSpPr>
          <p:cNvPr id="3" name="Group 2">
            <a:extLst>
              <a:ext uri="{FF2B5EF4-FFF2-40B4-BE49-F238E27FC236}">
                <a16:creationId xmlns:a16="http://schemas.microsoft.com/office/drawing/2014/main" id="{6183EB33-B96E-C020-4045-D0820E6504AF}"/>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1ACB24B9-0319-1CD2-72BC-0B8F1929A720}"/>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8EFF5A21-1FFA-338D-DB92-E7B003D2775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75C00AD0-651D-C65D-70B0-A3C53817F9A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71A8809E-CBDF-485A-3CA3-4925831B059E}"/>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83F5C8A0-C06C-9284-24E4-61D3611DCD1E}"/>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10" name="Line 2">
            <a:extLst>
              <a:ext uri="{FF2B5EF4-FFF2-40B4-BE49-F238E27FC236}">
                <a16:creationId xmlns:a16="http://schemas.microsoft.com/office/drawing/2014/main" id="{8FBB28DD-C5F6-0023-37AE-A045BB6AA4FF}"/>
              </a:ext>
            </a:extLst>
          </p:cNvPr>
          <p:cNvSpPr>
            <a:spLocks noChangeShapeType="1"/>
          </p:cNvSpPr>
          <p:nvPr/>
        </p:nvSpPr>
        <p:spPr bwMode="auto">
          <a:xfrm>
            <a:off x="3101975" y="1888209"/>
            <a:ext cx="6724196" cy="4389438"/>
          </a:xfrm>
          <a:prstGeom prst="line">
            <a:avLst/>
          </a:prstGeom>
          <a:noFill/>
          <a:ln w="23495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1" name="Oval 3">
            <a:extLst>
              <a:ext uri="{FF2B5EF4-FFF2-40B4-BE49-F238E27FC236}">
                <a16:creationId xmlns:a16="http://schemas.microsoft.com/office/drawing/2014/main" id="{7A02B6E7-4CAE-8600-BBC6-2B38BCAFB1A7}"/>
              </a:ext>
            </a:extLst>
          </p:cNvPr>
          <p:cNvSpPr>
            <a:spLocks noChangeArrowheads="1"/>
          </p:cNvSpPr>
          <p:nvPr/>
        </p:nvSpPr>
        <p:spPr bwMode="auto">
          <a:xfrm>
            <a:off x="4078288" y="2705772"/>
            <a:ext cx="2017712" cy="804862"/>
          </a:xfrm>
          <a:prstGeom prst="ellipse">
            <a:avLst/>
          </a:prstGeom>
          <a:solidFill>
            <a:schemeClr val="accent1"/>
          </a:solidFill>
          <a:ln w="12700" cap="sq">
            <a:solidFill>
              <a:schemeClr val="accent1"/>
            </a:solidFill>
            <a:round/>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200">
                <a:latin typeface="Arial" panose="020B0604020202020204" pitchFamily="34" charset="0"/>
              </a:rPr>
              <a:t>Develop Strategic</a:t>
            </a:r>
          </a:p>
          <a:p>
            <a:pPr algn="ctr">
              <a:spcBef>
                <a:spcPct val="30000"/>
              </a:spcBef>
            </a:pPr>
            <a:r>
              <a:rPr lang="en-US" altLang="en-US" sz="1200">
                <a:latin typeface="Arial" panose="020B0604020202020204" pitchFamily="34" charset="0"/>
              </a:rPr>
              <a:t>Breakthrough Objectives</a:t>
            </a:r>
          </a:p>
        </p:txBody>
      </p:sp>
      <p:sp>
        <p:nvSpPr>
          <p:cNvPr id="12" name="Oval 4">
            <a:extLst>
              <a:ext uri="{FF2B5EF4-FFF2-40B4-BE49-F238E27FC236}">
                <a16:creationId xmlns:a16="http://schemas.microsoft.com/office/drawing/2014/main" id="{E12D9BFA-852E-BAF2-C7E8-D8D4E5B3A06A}"/>
              </a:ext>
            </a:extLst>
          </p:cNvPr>
          <p:cNvSpPr>
            <a:spLocks noChangeArrowheads="1"/>
          </p:cNvSpPr>
          <p:nvPr/>
        </p:nvSpPr>
        <p:spPr bwMode="auto">
          <a:xfrm>
            <a:off x="5264150" y="3542384"/>
            <a:ext cx="2017713" cy="804863"/>
          </a:xfrm>
          <a:prstGeom prst="ellipse">
            <a:avLst/>
          </a:prstGeom>
          <a:solidFill>
            <a:schemeClr val="accent1"/>
          </a:solidFill>
          <a:ln w="12700" cap="sq">
            <a:solidFill>
              <a:schemeClr val="accent1"/>
            </a:solidFill>
            <a:round/>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200">
                <a:latin typeface="Arial" panose="020B0604020202020204" pitchFamily="34" charset="0"/>
              </a:rPr>
              <a:t>Deploy Strategic</a:t>
            </a:r>
          </a:p>
          <a:p>
            <a:pPr algn="ctr">
              <a:spcBef>
                <a:spcPct val="30000"/>
              </a:spcBef>
            </a:pPr>
            <a:r>
              <a:rPr lang="en-US" altLang="en-US" sz="1200">
                <a:latin typeface="Arial" panose="020B0604020202020204" pitchFamily="34" charset="0"/>
              </a:rPr>
              <a:t>Breakthrough Objectives</a:t>
            </a:r>
          </a:p>
        </p:txBody>
      </p:sp>
      <p:sp>
        <p:nvSpPr>
          <p:cNvPr id="20" name="Oval 5">
            <a:extLst>
              <a:ext uri="{FF2B5EF4-FFF2-40B4-BE49-F238E27FC236}">
                <a16:creationId xmlns:a16="http://schemas.microsoft.com/office/drawing/2014/main" id="{A998787E-738D-56B0-E595-3B6F990BCEAF}"/>
              </a:ext>
            </a:extLst>
          </p:cNvPr>
          <p:cNvSpPr>
            <a:spLocks noChangeArrowheads="1"/>
          </p:cNvSpPr>
          <p:nvPr/>
        </p:nvSpPr>
        <p:spPr bwMode="auto">
          <a:xfrm>
            <a:off x="6343650" y="4390109"/>
            <a:ext cx="2016125" cy="804863"/>
          </a:xfrm>
          <a:prstGeom prst="ellipse">
            <a:avLst/>
          </a:prstGeom>
          <a:solidFill>
            <a:schemeClr val="accent1"/>
          </a:solidFill>
          <a:ln w="12700" cap="sq">
            <a:solidFill>
              <a:schemeClr val="accent1"/>
            </a:solidFill>
            <a:round/>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200">
                <a:latin typeface="Arial" panose="020B0604020202020204" pitchFamily="34" charset="0"/>
              </a:rPr>
              <a:t>Identify Strategic</a:t>
            </a:r>
          </a:p>
          <a:p>
            <a:pPr algn="ctr">
              <a:spcBef>
                <a:spcPct val="30000"/>
              </a:spcBef>
            </a:pPr>
            <a:r>
              <a:rPr lang="en-US" altLang="en-US" sz="1200">
                <a:latin typeface="Arial" panose="020B0604020202020204" pitchFamily="34" charset="0"/>
              </a:rPr>
              <a:t>Value Streams </a:t>
            </a:r>
          </a:p>
          <a:p>
            <a:pPr algn="ctr">
              <a:spcBef>
                <a:spcPct val="30000"/>
              </a:spcBef>
            </a:pPr>
            <a:r>
              <a:rPr lang="en-US" altLang="en-US" sz="1200">
                <a:latin typeface="Arial" panose="020B0604020202020204" pitchFamily="34" charset="0"/>
              </a:rPr>
              <a:t>and Initiatives</a:t>
            </a:r>
          </a:p>
        </p:txBody>
      </p:sp>
      <p:sp>
        <p:nvSpPr>
          <p:cNvPr id="21" name="AutoShape 7">
            <a:extLst>
              <a:ext uri="{FF2B5EF4-FFF2-40B4-BE49-F238E27FC236}">
                <a16:creationId xmlns:a16="http://schemas.microsoft.com/office/drawing/2014/main" id="{BFAFEA35-4ADF-FFBE-6ABA-E37B7FA8111D}"/>
              </a:ext>
            </a:extLst>
          </p:cNvPr>
          <p:cNvSpPr>
            <a:spLocks noChangeArrowheads="1"/>
          </p:cNvSpPr>
          <p:nvPr/>
        </p:nvSpPr>
        <p:spPr bwMode="auto">
          <a:xfrm rot="12571893">
            <a:off x="2901950" y="2761334"/>
            <a:ext cx="1047750" cy="109696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2"/>
          </a:solidFill>
          <a:ln w="12700" cap="sq">
            <a:solidFill>
              <a:schemeClr val="tx1"/>
            </a:solidFill>
            <a:miter lim="800000"/>
            <a:headEnd type="none" w="sm" len="sm"/>
            <a:tailEnd type="none" w="sm" len="sm"/>
          </a:ln>
        </p:spPr>
        <p:txBody>
          <a:bodyPr wrap="none" anchor="ctr"/>
          <a:lstStyle/>
          <a:p>
            <a:endParaRPr lang="en-US"/>
          </a:p>
        </p:txBody>
      </p:sp>
      <p:sp>
        <p:nvSpPr>
          <p:cNvPr id="22" name="Text Box 8">
            <a:extLst>
              <a:ext uri="{FF2B5EF4-FFF2-40B4-BE49-F238E27FC236}">
                <a16:creationId xmlns:a16="http://schemas.microsoft.com/office/drawing/2014/main" id="{F6488A45-2826-CA1A-360F-D756E94C6AE8}"/>
              </a:ext>
            </a:extLst>
          </p:cNvPr>
          <p:cNvSpPr txBox="1">
            <a:spLocks noChangeArrowheads="1"/>
          </p:cNvSpPr>
          <p:nvPr/>
        </p:nvSpPr>
        <p:spPr bwMode="auto">
          <a:xfrm>
            <a:off x="3046413" y="3550322"/>
            <a:ext cx="68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latin typeface="Arial" panose="020B0604020202020204" pitchFamily="34" charset="0"/>
              </a:rPr>
              <a:t>PDCA</a:t>
            </a:r>
          </a:p>
        </p:txBody>
      </p:sp>
      <p:sp>
        <p:nvSpPr>
          <p:cNvPr id="23" name="Oval 9">
            <a:extLst>
              <a:ext uri="{FF2B5EF4-FFF2-40B4-BE49-F238E27FC236}">
                <a16:creationId xmlns:a16="http://schemas.microsoft.com/office/drawing/2014/main" id="{6C31618E-479A-1AC8-D571-6B3C79CF1283}"/>
              </a:ext>
            </a:extLst>
          </p:cNvPr>
          <p:cNvSpPr>
            <a:spLocks noChangeArrowheads="1"/>
          </p:cNvSpPr>
          <p:nvPr/>
        </p:nvSpPr>
        <p:spPr bwMode="auto">
          <a:xfrm>
            <a:off x="2946400" y="1891384"/>
            <a:ext cx="2016125" cy="803275"/>
          </a:xfrm>
          <a:prstGeom prst="ellipse">
            <a:avLst/>
          </a:prstGeom>
          <a:solidFill>
            <a:schemeClr val="accent1"/>
          </a:solidFill>
          <a:ln w="12700" cap="sq">
            <a:solidFill>
              <a:schemeClr val="accent1"/>
            </a:solidFill>
            <a:round/>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200">
                <a:latin typeface="Arial" panose="020B0604020202020204" pitchFamily="34" charset="0"/>
              </a:rPr>
              <a:t>Develop Strategic</a:t>
            </a:r>
            <a:br>
              <a:rPr lang="en-US" altLang="en-US" sz="1200">
                <a:latin typeface="Arial" panose="020B0604020202020204" pitchFamily="34" charset="0"/>
              </a:rPr>
            </a:br>
            <a:r>
              <a:rPr lang="en-US" altLang="en-US" sz="1200">
                <a:latin typeface="Arial" panose="020B0604020202020204" pitchFamily="34" charset="0"/>
              </a:rPr>
              <a:t>Business Imperatives</a:t>
            </a:r>
          </a:p>
        </p:txBody>
      </p:sp>
      <p:sp>
        <p:nvSpPr>
          <p:cNvPr id="24" name="AutoShape 10">
            <a:extLst>
              <a:ext uri="{FF2B5EF4-FFF2-40B4-BE49-F238E27FC236}">
                <a16:creationId xmlns:a16="http://schemas.microsoft.com/office/drawing/2014/main" id="{CDB7AE9C-4F5B-108B-8EDA-0AD100A934DE}"/>
              </a:ext>
            </a:extLst>
          </p:cNvPr>
          <p:cNvSpPr>
            <a:spLocks noChangeArrowheads="1"/>
          </p:cNvSpPr>
          <p:nvPr/>
        </p:nvSpPr>
        <p:spPr bwMode="auto">
          <a:xfrm rot="12571893">
            <a:off x="3990975" y="3607472"/>
            <a:ext cx="1047750" cy="10985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2"/>
          </a:solidFill>
          <a:ln w="12700" cap="sq">
            <a:solidFill>
              <a:schemeClr val="tx1"/>
            </a:solidFill>
            <a:miter lim="800000"/>
            <a:headEnd type="none" w="sm" len="sm"/>
            <a:tailEnd type="none" w="sm" len="sm"/>
          </a:ln>
        </p:spPr>
        <p:txBody>
          <a:bodyPr wrap="none" anchor="ctr"/>
          <a:lstStyle/>
          <a:p>
            <a:endParaRPr lang="en-US"/>
          </a:p>
        </p:txBody>
      </p:sp>
      <p:sp>
        <p:nvSpPr>
          <p:cNvPr id="25" name="Text Box 11">
            <a:extLst>
              <a:ext uri="{FF2B5EF4-FFF2-40B4-BE49-F238E27FC236}">
                <a16:creationId xmlns:a16="http://schemas.microsoft.com/office/drawing/2014/main" id="{5AA3589D-81A1-FC75-6FC5-A1FBB6F73A87}"/>
              </a:ext>
            </a:extLst>
          </p:cNvPr>
          <p:cNvSpPr txBox="1">
            <a:spLocks noChangeArrowheads="1"/>
          </p:cNvSpPr>
          <p:nvPr/>
        </p:nvSpPr>
        <p:spPr bwMode="auto">
          <a:xfrm>
            <a:off x="4137025" y="4396459"/>
            <a:ext cx="68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latin typeface="Arial" panose="020B0604020202020204" pitchFamily="34" charset="0"/>
              </a:rPr>
              <a:t>PDCA</a:t>
            </a:r>
          </a:p>
        </p:txBody>
      </p:sp>
      <p:sp>
        <p:nvSpPr>
          <p:cNvPr id="26" name="AutoShape 12">
            <a:extLst>
              <a:ext uri="{FF2B5EF4-FFF2-40B4-BE49-F238E27FC236}">
                <a16:creationId xmlns:a16="http://schemas.microsoft.com/office/drawing/2014/main" id="{C1C46A03-D1D5-224B-3A82-E70676E32595}"/>
              </a:ext>
            </a:extLst>
          </p:cNvPr>
          <p:cNvSpPr>
            <a:spLocks noChangeArrowheads="1"/>
          </p:cNvSpPr>
          <p:nvPr/>
        </p:nvSpPr>
        <p:spPr bwMode="auto">
          <a:xfrm rot="12571893">
            <a:off x="5133975" y="4434559"/>
            <a:ext cx="1047750" cy="109696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2"/>
          </a:solidFill>
          <a:ln w="12700" cap="sq">
            <a:solidFill>
              <a:schemeClr val="tx1"/>
            </a:solidFill>
            <a:miter lim="800000"/>
            <a:headEnd type="none" w="sm" len="sm"/>
            <a:tailEnd type="none" w="sm" len="sm"/>
          </a:ln>
        </p:spPr>
        <p:txBody>
          <a:bodyPr wrap="none" anchor="ctr"/>
          <a:lstStyle/>
          <a:p>
            <a:endParaRPr lang="en-US"/>
          </a:p>
        </p:txBody>
      </p:sp>
      <p:sp>
        <p:nvSpPr>
          <p:cNvPr id="27" name="Text Box 13">
            <a:extLst>
              <a:ext uri="{FF2B5EF4-FFF2-40B4-BE49-F238E27FC236}">
                <a16:creationId xmlns:a16="http://schemas.microsoft.com/office/drawing/2014/main" id="{127A9C41-AB2B-F8F1-F04D-D21AF945E39B}"/>
              </a:ext>
            </a:extLst>
          </p:cNvPr>
          <p:cNvSpPr txBox="1">
            <a:spLocks noChangeArrowheads="1"/>
          </p:cNvSpPr>
          <p:nvPr/>
        </p:nvSpPr>
        <p:spPr bwMode="auto">
          <a:xfrm>
            <a:off x="5280025" y="5223547"/>
            <a:ext cx="68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latin typeface="Arial" panose="020B0604020202020204" pitchFamily="34" charset="0"/>
              </a:rPr>
              <a:t>PDCA</a:t>
            </a:r>
          </a:p>
        </p:txBody>
      </p:sp>
      <p:sp>
        <p:nvSpPr>
          <p:cNvPr id="28" name="AutoShape 14">
            <a:extLst>
              <a:ext uri="{FF2B5EF4-FFF2-40B4-BE49-F238E27FC236}">
                <a16:creationId xmlns:a16="http://schemas.microsoft.com/office/drawing/2014/main" id="{3B74B760-0105-BDE3-449F-6662F00F3E96}"/>
              </a:ext>
            </a:extLst>
          </p:cNvPr>
          <p:cNvSpPr>
            <a:spLocks noChangeArrowheads="1"/>
          </p:cNvSpPr>
          <p:nvPr/>
        </p:nvSpPr>
        <p:spPr bwMode="auto">
          <a:xfrm rot="12571893">
            <a:off x="6425291" y="5187829"/>
            <a:ext cx="1047750" cy="109696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2"/>
          </a:solidFill>
          <a:ln w="12700" cap="sq">
            <a:solidFill>
              <a:schemeClr val="tx1"/>
            </a:solidFill>
            <a:miter lim="800000"/>
            <a:headEnd type="none" w="sm" len="sm"/>
            <a:tailEnd type="none" w="sm" len="sm"/>
          </a:ln>
        </p:spPr>
        <p:txBody>
          <a:bodyPr wrap="none" anchor="ctr"/>
          <a:lstStyle/>
          <a:p>
            <a:endParaRPr lang="en-US"/>
          </a:p>
        </p:txBody>
      </p:sp>
      <p:sp>
        <p:nvSpPr>
          <p:cNvPr id="29" name="Text Box 15">
            <a:extLst>
              <a:ext uri="{FF2B5EF4-FFF2-40B4-BE49-F238E27FC236}">
                <a16:creationId xmlns:a16="http://schemas.microsoft.com/office/drawing/2014/main" id="{FD96C172-D647-9A32-F0AC-E387C1BE2CF7}"/>
              </a:ext>
            </a:extLst>
          </p:cNvPr>
          <p:cNvSpPr txBox="1">
            <a:spLocks noChangeArrowheads="1"/>
          </p:cNvSpPr>
          <p:nvPr/>
        </p:nvSpPr>
        <p:spPr bwMode="auto">
          <a:xfrm>
            <a:off x="6571341" y="5976817"/>
            <a:ext cx="68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latin typeface="Arial" panose="020B0604020202020204" pitchFamily="34" charset="0"/>
              </a:rPr>
              <a:t>PDCA</a:t>
            </a:r>
          </a:p>
        </p:txBody>
      </p:sp>
      <p:sp>
        <p:nvSpPr>
          <p:cNvPr id="30" name="Oval 6">
            <a:extLst>
              <a:ext uri="{FF2B5EF4-FFF2-40B4-BE49-F238E27FC236}">
                <a16:creationId xmlns:a16="http://schemas.microsoft.com/office/drawing/2014/main" id="{460E5582-11C7-9912-CE7F-327F7ACAE641}"/>
              </a:ext>
            </a:extLst>
          </p:cNvPr>
          <p:cNvSpPr>
            <a:spLocks noChangeArrowheads="1"/>
          </p:cNvSpPr>
          <p:nvPr/>
        </p:nvSpPr>
        <p:spPr bwMode="auto">
          <a:xfrm>
            <a:off x="7535182" y="5089404"/>
            <a:ext cx="2016125" cy="989012"/>
          </a:xfrm>
          <a:prstGeom prst="ellipse">
            <a:avLst/>
          </a:prstGeom>
          <a:solidFill>
            <a:schemeClr val="accent1"/>
          </a:solidFill>
          <a:ln w="12700" cap="sq">
            <a:solidFill>
              <a:schemeClr val="tx1"/>
            </a:solidFill>
            <a:round/>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200" dirty="0">
                <a:latin typeface="Arial" panose="020B0604020202020204" pitchFamily="34" charset="0"/>
              </a:rPr>
              <a:t>Targeted Kaikaku</a:t>
            </a:r>
          </a:p>
          <a:p>
            <a:pPr algn="ctr">
              <a:spcBef>
                <a:spcPct val="30000"/>
              </a:spcBef>
            </a:pPr>
            <a:r>
              <a:rPr lang="en-US" altLang="en-US" sz="1200" dirty="0">
                <a:latin typeface="Arial" panose="020B0604020202020204" pitchFamily="34" charset="0"/>
              </a:rPr>
              <a:t>And Kaizen (Continuous </a:t>
            </a:r>
            <a:br>
              <a:rPr lang="en-US" altLang="en-US" sz="1200" dirty="0">
                <a:latin typeface="Arial" panose="020B0604020202020204" pitchFamily="34" charset="0"/>
              </a:rPr>
            </a:br>
            <a:r>
              <a:rPr lang="en-US" altLang="en-US" sz="1200" dirty="0">
                <a:latin typeface="Arial" panose="020B0604020202020204" pitchFamily="34" charset="0"/>
              </a:rPr>
              <a:t>Improvement)  Activity</a:t>
            </a:r>
          </a:p>
        </p:txBody>
      </p:sp>
    </p:spTree>
    <p:custDataLst>
      <p:tags r:id="rId1"/>
    </p:custDataLst>
    <p:extLst>
      <p:ext uri="{BB962C8B-B14F-4D97-AF65-F5344CB8AC3E}">
        <p14:creationId xmlns:p14="http://schemas.microsoft.com/office/powerpoint/2010/main" val="4283566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AA5E7-327F-BC36-F5D3-34BCC8EE96A9}"/>
              </a:ext>
            </a:extLst>
          </p:cNvPr>
          <p:cNvSpPr>
            <a:spLocks noGrp="1"/>
          </p:cNvSpPr>
          <p:nvPr>
            <p:ph type="title"/>
          </p:nvPr>
        </p:nvSpPr>
        <p:spPr/>
        <p:txBody>
          <a:bodyPr>
            <a:normAutofit/>
          </a:bodyPr>
          <a:lstStyle/>
          <a:p>
            <a:r>
              <a:rPr lang="en-US" dirty="0"/>
              <a:t>From Strategic Deployment to Kaizen</a:t>
            </a:r>
          </a:p>
        </p:txBody>
      </p:sp>
      <p:sp>
        <p:nvSpPr>
          <p:cNvPr id="18" name="Rectangle 5">
            <a:extLst>
              <a:ext uri="{FF2B5EF4-FFF2-40B4-BE49-F238E27FC236}">
                <a16:creationId xmlns:a16="http://schemas.microsoft.com/office/drawing/2014/main" id="{56CDD64F-D9D2-7679-1D01-57979C682A8A}"/>
              </a:ext>
            </a:extLst>
          </p:cNvPr>
          <p:cNvSpPr>
            <a:spLocks noChangeArrowheads="1"/>
          </p:cNvSpPr>
          <p:nvPr/>
        </p:nvSpPr>
        <p:spPr bwMode="auto">
          <a:xfrm>
            <a:off x="1506538" y="1913120"/>
            <a:ext cx="2620962" cy="534987"/>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Strategy</a:t>
            </a:r>
          </a:p>
        </p:txBody>
      </p:sp>
      <p:sp>
        <p:nvSpPr>
          <p:cNvPr id="19" name="Rectangle 6">
            <a:extLst>
              <a:ext uri="{FF2B5EF4-FFF2-40B4-BE49-F238E27FC236}">
                <a16:creationId xmlns:a16="http://schemas.microsoft.com/office/drawing/2014/main" id="{91854236-3A93-96A4-5C5B-4336587B8AB2}"/>
              </a:ext>
            </a:extLst>
          </p:cNvPr>
          <p:cNvSpPr>
            <a:spLocks noChangeArrowheads="1"/>
          </p:cNvSpPr>
          <p:nvPr/>
        </p:nvSpPr>
        <p:spPr bwMode="auto">
          <a:xfrm>
            <a:off x="1506538" y="2731539"/>
            <a:ext cx="2620962" cy="534987"/>
          </a:xfrm>
          <a:prstGeom prst="rect">
            <a:avLst/>
          </a:prstGeom>
          <a:solidFill>
            <a:schemeClr val="accent5">
              <a:lumMod val="20000"/>
              <a:lumOff val="80000"/>
            </a:schemeClr>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3-Year Breakthrough</a:t>
            </a:r>
            <a:br>
              <a:rPr lang="en-US" altLang="en-US" sz="1600" dirty="0">
                <a:latin typeface="+mn-lt"/>
              </a:rPr>
            </a:br>
            <a:r>
              <a:rPr lang="en-US" altLang="en-US" sz="1600" dirty="0">
                <a:latin typeface="+mn-lt"/>
              </a:rPr>
              <a:t>Objective</a:t>
            </a:r>
          </a:p>
        </p:txBody>
      </p:sp>
      <p:sp>
        <p:nvSpPr>
          <p:cNvPr id="20" name="Rectangle 7">
            <a:extLst>
              <a:ext uri="{FF2B5EF4-FFF2-40B4-BE49-F238E27FC236}">
                <a16:creationId xmlns:a16="http://schemas.microsoft.com/office/drawing/2014/main" id="{24008C54-6C26-65F5-618D-29D4C03EDEC5}"/>
              </a:ext>
            </a:extLst>
          </p:cNvPr>
          <p:cNvSpPr>
            <a:spLocks noChangeArrowheads="1"/>
          </p:cNvSpPr>
          <p:nvPr/>
        </p:nvSpPr>
        <p:spPr bwMode="auto">
          <a:xfrm>
            <a:off x="1506538" y="3549958"/>
            <a:ext cx="2620962" cy="534987"/>
          </a:xfrm>
          <a:prstGeom prst="rect">
            <a:avLst/>
          </a:prstGeom>
          <a:solidFill>
            <a:schemeClr val="accent5">
              <a:lumMod val="60000"/>
              <a:lumOff val="40000"/>
            </a:schemeClr>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Annual Improvement</a:t>
            </a:r>
            <a:br>
              <a:rPr lang="en-US" altLang="en-US" sz="1600" dirty="0">
                <a:latin typeface="+mn-lt"/>
              </a:rPr>
            </a:br>
            <a:r>
              <a:rPr lang="en-US" altLang="en-US" sz="1600" dirty="0">
                <a:latin typeface="+mn-lt"/>
              </a:rPr>
              <a:t>Priority/Target</a:t>
            </a:r>
          </a:p>
        </p:txBody>
      </p:sp>
      <p:sp>
        <p:nvSpPr>
          <p:cNvPr id="21" name="Rectangle 8">
            <a:extLst>
              <a:ext uri="{FF2B5EF4-FFF2-40B4-BE49-F238E27FC236}">
                <a16:creationId xmlns:a16="http://schemas.microsoft.com/office/drawing/2014/main" id="{287257FA-BF98-DA3D-E862-6A4FB92616DE}"/>
              </a:ext>
            </a:extLst>
          </p:cNvPr>
          <p:cNvSpPr>
            <a:spLocks noChangeArrowheads="1"/>
          </p:cNvSpPr>
          <p:nvPr/>
        </p:nvSpPr>
        <p:spPr bwMode="auto">
          <a:xfrm>
            <a:off x="1506538" y="4368377"/>
            <a:ext cx="2620962" cy="534987"/>
          </a:xfrm>
          <a:prstGeom prst="rect">
            <a:avLst/>
          </a:prstGeom>
          <a:solidFill>
            <a:schemeClr val="accent5"/>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mn-lt"/>
              </a:rPr>
              <a:t>Value Stream Focus</a:t>
            </a:r>
          </a:p>
        </p:txBody>
      </p:sp>
      <p:cxnSp>
        <p:nvCxnSpPr>
          <p:cNvPr id="22" name="AutoShape 9">
            <a:extLst>
              <a:ext uri="{FF2B5EF4-FFF2-40B4-BE49-F238E27FC236}">
                <a16:creationId xmlns:a16="http://schemas.microsoft.com/office/drawing/2014/main" id="{5C84AF31-58D8-4664-15C7-89AF0C5DC3F3}"/>
              </a:ext>
            </a:extLst>
          </p:cNvPr>
          <p:cNvCxnSpPr>
            <a:cxnSpLocks noChangeShapeType="1"/>
            <a:stCxn id="18" idx="2"/>
            <a:endCxn id="19" idx="0"/>
          </p:cNvCxnSpPr>
          <p:nvPr/>
        </p:nvCxnSpPr>
        <p:spPr bwMode="auto">
          <a:xfrm>
            <a:off x="2817019" y="2448107"/>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10">
            <a:extLst>
              <a:ext uri="{FF2B5EF4-FFF2-40B4-BE49-F238E27FC236}">
                <a16:creationId xmlns:a16="http://schemas.microsoft.com/office/drawing/2014/main" id="{21ABF7ED-F85A-AF13-FF99-0EE910F0641A}"/>
              </a:ext>
            </a:extLst>
          </p:cNvPr>
          <p:cNvCxnSpPr>
            <a:cxnSpLocks noChangeShapeType="1"/>
            <a:stCxn id="19" idx="2"/>
            <a:endCxn id="20" idx="0"/>
          </p:cNvCxnSpPr>
          <p:nvPr/>
        </p:nvCxnSpPr>
        <p:spPr bwMode="auto">
          <a:xfrm>
            <a:off x="2817019" y="3266526"/>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11">
            <a:extLst>
              <a:ext uri="{FF2B5EF4-FFF2-40B4-BE49-F238E27FC236}">
                <a16:creationId xmlns:a16="http://schemas.microsoft.com/office/drawing/2014/main" id="{01510C74-9C9B-BEC7-DED2-4CC4881FE406}"/>
              </a:ext>
            </a:extLst>
          </p:cNvPr>
          <p:cNvCxnSpPr>
            <a:cxnSpLocks noChangeShapeType="1"/>
            <a:stCxn id="20" idx="2"/>
            <a:endCxn id="21" idx="0"/>
          </p:cNvCxnSpPr>
          <p:nvPr/>
        </p:nvCxnSpPr>
        <p:spPr bwMode="auto">
          <a:xfrm>
            <a:off x="2817019" y="4084945"/>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 name="Oval 12">
            <a:extLst>
              <a:ext uri="{FF2B5EF4-FFF2-40B4-BE49-F238E27FC236}">
                <a16:creationId xmlns:a16="http://schemas.microsoft.com/office/drawing/2014/main" id="{3FD1806E-DDD7-55FB-5461-3EA330DFA4D3}"/>
              </a:ext>
            </a:extLst>
          </p:cNvPr>
          <p:cNvSpPr>
            <a:spLocks noChangeArrowheads="1"/>
          </p:cNvSpPr>
          <p:nvPr/>
        </p:nvSpPr>
        <p:spPr bwMode="auto">
          <a:xfrm>
            <a:off x="1506538" y="5186796"/>
            <a:ext cx="2620962" cy="990167"/>
          </a:xfrm>
          <a:prstGeom prst="ellipse">
            <a:avLst/>
          </a:prstGeom>
          <a:solidFill>
            <a:schemeClr val="accent4"/>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mn-lt"/>
              </a:rPr>
              <a:t>Specific Kaizen </a:t>
            </a:r>
          </a:p>
          <a:p>
            <a:pPr algn="ctr">
              <a:lnSpc>
                <a:spcPct val="80000"/>
              </a:lnSpc>
              <a:spcBef>
                <a:spcPct val="20000"/>
              </a:spcBef>
              <a:spcAft>
                <a:spcPct val="0"/>
              </a:spcAft>
              <a:buClrTx/>
              <a:buSzTx/>
              <a:buFontTx/>
              <a:buNone/>
            </a:pPr>
            <a:r>
              <a:rPr lang="en-US" altLang="en-US" sz="1600" dirty="0">
                <a:solidFill>
                  <a:schemeClr val="bg1"/>
                </a:solidFill>
                <a:latin typeface="+mn-lt"/>
              </a:rPr>
              <a:t>(Continuous Improvement)</a:t>
            </a:r>
          </a:p>
        </p:txBody>
      </p:sp>
      <p:cxnSp>
        <p:nvCxnSpPr>
          <p:cNvPr id="26" name="AutoShape 13">
            <a:extLst>
              <a:ext uri="{FF2B5EF4-FFF2-40B4-BE49-F238E27FC236}">
                <a16:creationId xmlns:a16="http://schemas.microsoft.com/office/drawing/2014/main" id="{4C2A4495-05AC-C8B2-04F7-2B70CDA57438}"/>
              </a:ext>
            </a:extLst>
          </p:cNvPr>
          <p:cNvCxnSpPr>
            <a:cxnSpLocks noChangeShapeType="1"/>
            <a:stCxn id="21" idx="2"/>
            <a:endCxn id="25" idx="0"/>
          </p:cNvCxnSpPr>
          <p:nvPr/>
        </p:nvCxnSpPr>
        <p:spPr bwMode="auto">
          <a:xfrm>
            <a:off x="2817019" y="4903364"/>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 name="Rectangle 3">
            <a:extLst>
              <a:ext uri="{FF2B5EF4-FFF2-40B4-BE49-F238E27FC236}">
                <a16:creationId xmlns:a16="http://schemas.microsoft.com/office/drawing/2014/main" id="{0FD102B7-70F2-C718-D980-677E3270838D}"/>
              </a:ext>
            </a:extLst>
          </p:cNvPr>
          <p:cNvSpPr>
            <a:spLocks noChangeArrowheads="1"/>
          </p:cNvSpPr>
          <p:nvPr/>
        </p:nvSpPr>
        <p:spPr bwMode="auto">
          <a:xfrm>
            <a:off x="4378331" y="2011079"/>
            <a:ext cx="6975469" cy="469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marL="0" indent="0">
              <a:spcBef>
                <a:spcPct val="80000"/>
              </a:spcBef>
              <a:spcAft>
                <a:spcPct val="20000"/>
              </a:spcAft>
              <a:buClr>
                <a:schemeClr val="accent5"/>
              </a:buClr>
              <a:buSzPct val="115000"/>
              <a:buNone/>
            </a:pPr>
            <a:r>
              <a:rPr lang="en-US" altLang="en-US" sz="2400" dirty="0">
                <a:solidFill>
                  <a:srgbClr val="000000"/>
                </a:solidFill>
                <a:latin typeface="+mn-lt"/>
              </a:rPr>
              <a:t>Case Study: OEM Manufacturer</a:t>
            </a:r>
          </a:p>
        </p:txBody>
      </p:sp>
      <p:sp>
        <p:nvSpPr>
          <p:cNvPr id="42" name="Rectangle 3">
            <a:extLst>
              <a:ext uri="{FF2B5EF4-FFF2-40B4-BE49-F238E27FC236}">
                <a16:creationId xmlns:a16="http://schemas.microsoft.com/office/drawing/2014/main" id="{E59530ED-0B20-F2EB-3197-20156510AF7E}"/>
              </a:ext>
            </a:extLst>
          </p:cNvPr>
          <p:cNvSpPr>
            <a:spLocks noChangeArrowheads="1"/>
          </p:cNvSpPr>
          <p:nvPr/>
        </p:nvSpPr>
        <p:spPr bwMode="auto">
          <a:xfrm>
            <a:off x="4378330" y="2574824"/>
            <a:ext cx="6975469" cy="3274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Strategy: Achieve Market Share Objectives by becoming counter-cyclical</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3-Year Breakthrough: Penetrate the Asian Marketplace to achieve $X of revenue </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AIP: Improve New Product Development Process achieving time-to-market improvement from 72 months to 18 months</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Value Stream Focus: Engine Lab Lead Time</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Kaizen: Reduce changeover on test engine from 3 weeks to 1 day; Tool: SMED</a:t>
            </a:r>
          </a:p>
        </p:txBody>
      </p:sp>
      <p:grpSp>
        <p:nvGrpSpPr>
          <p:cNvPr id="3" name="Group 2">
            <a:extLst>
              <a:ext uri="{FF2B5EF4-FFF2-40B4-BE49-F238E27FC236}">
                <a16:creationId xmlns:a16="http://schemas.microsoft.com/office/drawing/2014/main" id="{19469A66-5491-30B8-D35F-E1FE3F01D73C}"/>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03D4E844-0F37-F143-0421-6FF2DCAA2C58}"/>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5D6814F8-3A2A-9E91-264D-BB74CCF651E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2C161274-B4F0-6DE8-1AB0-8365648494B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F274405F-F866-77C3-5072-6F32BAC995EB}"/>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9667B66C-FB3B-90A9-136C-1D0EDD34014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Tree>
    <p:custDataLst>
      <p:tags r:id="rId1"/>
    </p:custDataLst>
    <p:extLst>
      <p:ext uri="{BB962C8B-B14F-4D97-AF65-F5344CB8AC3E}">
        <p14:creationId xmlns:p14="http://schemas.microsoft.com/office/powerpoint/2010/main" val="3823689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8B19F82A-F9BA-4400-6678-7A3917D44A32}"/>
              </a:ext>
            </a:extLst>
          </p:cNvPr>
          <p:cNvGrpSpPr/>
          <p:nvPr/>
        </p:nvGrpSpPr>
        <p:grpSpPr>
          <a:xfrm>
            <a:off x="1939306" y="4116340"/>
            <a:ext cx="2527397" cy="1136650"/>
            <a:chOff x="1939306" y="4116340"/>
            <a:chExt cx="2527397" cy="1136650"/>
          </a:xfrm>
        </p:grpSpPr>
        <p:sp>
          <p:nvSpPr>
            <p:cNvPr id="39" name="Line 13">
              <a:extLst>
                <a:ext uri="{FF2B5EF4-FFF2-40B4-BE49-F238E27FC236}">
                  <a16:creationId xmlns:a16="http://schemas.microsoft.com/office/drawing/2014/main" id="{0103937A-117A-8B29-C743-0B1AECE57D1A}"/>
                </a:ext>
              </a:extLst>
            </p:cNvPr>
            <p:cNvSpPr>
              <a:spLocks noChangeShapeType="1"/>
            </p:cNvSpPr>
            <p:nvPr/>
          </p:nvSpPr>
          <p:spPr bwMode="auto">
            <a:xfrm flipH="1">
              <a:off x="3023665" y="4925364"/>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42" name="Line 13">
              <a:extLst>
                <a:ext uri="{FF2B5EF4-FFF2-40B4-BE49-F238E27FC236}">
                  <a16:creationId xmlns:a16="http://schemas.microsoft.com/office/drawing/2014/main" id="{DAEF4F1F-75B8-B733-4D70-39F60F099301}"/>
                </a:ext>
              </a:extLst>
            </p:cNvPr>
            <p:cNvSpPr>
              <a:spLocks noChangeShapeType="1"/>
            </p:cNvSpPr>
            <p:nvPr/>
          </p:nvSpPr>
          <p:spPr bwMode="auto">
            <a:xfrm rot="10800000" flipH="1">
              <a:off x="2899841"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1" name="Oval 19">
              <a:extLst>
                <a:ext uri="{FF2B5EF4-FFF2-40B4-BE49-F238E27FC236}">
                  <a16:creationId xmlns:a16="http://schemas.microsoft.com/office/drawing/2014/main" id="{2603A965-41AF-D3FD-6A2E-3CD3DBE84AA0}"/>
                </a:ext>
              </a:extLst>
            </p:cNvPr>
            <p:cNvSpPr>
              <a:spLocks noChangeArrowheads="1"/>
            </p:cNvSpPr>
            <p:nvPr/>
          </p:nvSpPr>
          <p:spPr bwMode="auto">
            <a:xfrm>
              <a:off x="1939306" y="4116340"/>
              <a:ext cx="1139825" cy="1136650"/>
            </a:xfrm>
            <a:prstGeom prst="ellipse">
              <a:avLst/>
            </a:prstGeom>
            <a:solidFill>
              <a:schemeClr val="accent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Counter</a:t>
              </a:r>
              <a:r>
                <a:rPr lang="en-US" altLang="en-US" sz="1600" b="0" i="1" dirty="0">
                  <a:solidFill>
                    <a:srgbClr val="FFFFFF"/>
                  </a:solidFill>
                  <a:latin typeface="+mn-lt"/>
                </a:rPr>
                <a:t>-</a:t>
              </a:r>
            </a:p>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measures</a:t>
              </a:r>
            </a:p>
          </p:txBody>
        </p:sp>
      </p:grpSp>
      <p:sp>
        <p:nvSpPr>
          <p:cNvPr id="2" name="Title 1">
            <a:extLst>
              <a:ext uri="{FF2B5EF4-FFF2-40B4-BE49-F238E27FC236}">
                <a16:creationId xmlns:a16="http://schemas.microsoft.com/office/drawing/2014/main" id="{62986B0C-9143-3850-FB0A-5A4D0972645C}"/>
              </a:ext>
            </a:extLst>
          </p:cNvPr>
          <p:cNvSpPr>
            <a:spLocks noGrp="1"/>
          </p:cNvSpPr>
          <p:nvPr>
            <p:ph type="title"/>
          </p:nvPr>
        </p:nvSpPr>
        <p:spPr/>
        <p:txBody>
          <a:bodyPr>
            <a:noAutofit/>
          </a:bodyPr>
          <a:lstStyle/>
          <a:p>
            <a:r>
              <a:rPr lang="en-US" altLang="en-US" sz="3600" b="1" dirty="0">
                <a:latin typeface="+mn-lt"/>
                <a:ea typeface="ＭＳ Ｐゴシック" panose="020B0600070205080204" pitchFamily="34" charset="-128"/>
              </a:rPr>
              <a:t>7 Phases of the Strategy Deployment Process</a:t>
            </a:r>
            <a:br>
              <a:rPr lang="en-US" altLang="en-US" sz="3600" b="1" dirty="0">
                <a:latin typeface="+mn-lt"/>
                <a:ea typeface="ＭＳ Ｐゴシック" panose="020B0600070205080204" pitchFamily="34" charset="-128"/>
              </a:rPr>
            </a:br>
            <a:r>
              <a:rPr lang="en-US" altLang="en-US" sz="3600" b="1" dirty="0">
                <a:latin typeface="+mn-lt"/>
                <a:ea typeface="ＭＳ Ｐゴシック" panose="020B0600070205080204" pitchFamily="34" charset="-128"/>
              </a:rPr>
              <a:t>Based on the Deming Cycle - PDCA</a:t>
            </a:r>
            <a:endParaRPr lang="en-US" sz="3600" dirty="0"/>
          </a:p>
        </p:txBody>
      </p:sp>
      <p:sp>
        <p:nvSpPr>
          <p:cNvPr id="5" name="Text Box 13">
            <a:extLst>
              <a:ext uri="{FF2B5EF4-FFF2-40B4-BE49-F238E27FC236}">
                <a16:creationId xmlns:a16="http://schemas.microsoft.com/office/drawing/2014/main" id="{91A3D7F9-A236-7B12-1B68-300D73C52453}"/>
              </a:ext>
            </a:extLst>
          </p:cNvPr>
          <p:cNvSpPr txBox="1">
            <a:spLocks noChangeArrowheads="1"/>
          </p:cNvSpPr>
          <p:nvPr/>
        </p:nvSpPr>
        <p:spPr bwMode="auto">
          <a:xfrm>
            <a:off x="1589734" y="5849937"/>
            <a:ext cx="9012527"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QUESTION: Where could be the failure point in your organization?</a:t>
            </a:r>
          </a:p>
        </p:txBody>
      </p:sp>
      <p:sp>
        <p:nvSpPr>
          <p:cNvPr id="6" name="Line 4">
            <a:extLst>
              <a:ext uri="{FF2B5EF4-FFF2-40B4-BE49-F238E27FC236}">
                <a16:creationId xmlns:a16="http://schemas.microsoft.com/office/drawing/2014/main" id="{CBA2949E-9336-26A1-E71E-20498679B59C}"/>
              </a:ext>
            </a:extLst>
          </p:cNvPr>
          <p:cNvSpPr>
            <a:spLocks noChangeShapeType="1"/>
          </p:cNvSpPr>
          <p:nvPr/>
        </p:nvSpPr>
        <p:spPr bwMode="auto">
          <a:xfrm flipH="1">
            <a:off x="6096000" y="2086645"/>
            <a:ext cx="0" cy="376329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7" name="Rectangle 5">
            <a:extLst>
              <a:ext uri="{FF2B5EF4-FFF2-40B4-BE49-F238E27FC236}">
                <a16:creationId xmlns:a16="http://schemas.microsoft.com/office/drawing/2014/main" id="{BC41E4CD-7510-7B56-FBD8-5F043370717E}"/>
              </a:ext>
            </a:extLst>
          </p:cNvPr>
          <p:cNvSpPr>
            <a:spLocks noChangeArrowheads="1"/>
          </p:cNvSpPr>
          <p:nvPr/>
        </p:nvSpPr>
        <p:spPr bwMode="auto">
          <a:xfrm>
            <a:off x="4342879" y="2004520"/>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Strategy</a:t>
            </a:r>
          </a:p>
        </p:txBody>
      </p:sp>
      <p:sp>
        <p:nvSpPr>
          <p:cNvPr id="8" name="Rectangle 6">
            <a:extLst>
              <a:ext uri="{FF2B5EF4-FFF2-40B4-BE49-F238E27FC236}">
                <a16:creationId xmlns:a16="http://schemas.microsoft.com/office/drawing/2014/main" id="{E6399D34-9153-0274-3F0D-AA7E7BD224DA}"/>
              </a:ext>
            </a:extLst>
          </p:cNvPr>
          <p:cNvSpPr>
            <a:spLocks noChangeArrowheads="1"/>
          </p:cNvSpPr>
          <p:nvPr/>
        </p:nvSpPr>
        <p:spPr bwMode="auto">
          <a:xfrm>
            <a:off x="4342879" y="2557887"/>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dirty="0">
                <a:solidFill>
                  <a:srgbClr val="FFFFFF"/>
                </a:solidFill>
                <a:latin typeface="+mn-lt"/>
              </a:rPr>
              <a:t>Develop Breakthrough Objectives</a:t>
            </a:r>
          </a:p>
        </p:txBody>
      </p:sp>
      <p:sp>
        <p:nvSpPr>
          <p:cNvPr id="9" name="Rectangle 7">
            <a:extLst>
              <a:ext uri="{FF2B5EF4-FFF2-40B4-BE49-F238E27FC236}">
                <a16:creationId xmlns:a16="http://schemas.microsoft.com/office/drawing/2014/main" id="{A065B1F8-627A-3DD1-10D6-5030DD79A776}"/>
              </a:ext>
            </a:extLst>
          </p:cNvPr>
          <p:cNvSpPr>
            <a:spLocks noChangeArrowheads="1"/>
          </p:cNvSpPr>
          <p:nvPr/>
        </p:nvSpPr>
        <p:spPr bwMode="auto">
          <a:xfrm>
            <a:off x="4342879" y="3111254"/>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AIPs, Targets, Resources</a:t>
            </a:r>
          </a:p>
        </p:txBody>
      </p:sp>
      <p:sp>
        <p:nvSpPr>
          <p:cNvPr id="10" name="Rectangle 8">
            <a:extLst>
              <a:ext uri="{FF2B5EF4-FFF2-40B4-BE49-F238E27FC236}">
                <a16:creationId xmlns:a16="http://schemas.microsoft.com/office/drawing/2014/main" id="{F07BE3CD-0982-9006-A114-5F3DBD795468}"/>
              </a:ext>
            </a:extLst>
          </p:cNvPr>
          <p:cNvSpPr>
            <a:spLocks noChangeArrowheads="1"/>
          </p:cNvSpPr>
          <p:nvPr/>
        </p:nvSpPr>
        <p:spPr bwMode="auto">
          <a:xfrm>
            <a:off x="4342879" y="3664621"/>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Deploy AIPs</a:t>
            </a:r>
          </a:p>
        </p:txBody>
      </p:sp>
      <p:sp>
        <p:nvSpPr>
          <p:cNvPr id="11" name="Rectangle 9">
            <a:extLst>
              <a:ext uri="{FF2B5EF4-FFF2-40B4-BE49-F238E27FC236}">
                <a16:creationId xmlns:a16="http://schemas.microsoft.com/office/drawing/2014/main" id="{3B2D13E5-691F-7372-2016-440CC93C3AD6}"/>
              </a:ext>
            </a:extLst>
          </p:cNvPr>
          <p:cNvSpPr>
            <a:spLocks noChangeArrowheads="1"/>
          </p:cNvSpPr>
          <p:nvPr/>
        </p:nvSpPr>
        <p:spPr bwMode="auto">
          <a:xfrm>
            <a:off x="4342879" y="4217988"/>
            <a:ext cx="3506234" cy="308019"/>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Implement AIPs</a:t>
            </a:r>
          </a:p>
        </p:txBody>
      </p:sp>
      <p:sp>
        <p:nvSpPr>
          <p:cNvPr id="12" name="Rectangle 10">
            <a:extLst>
              <a:ext uri="{FF2B5EF4-FFF2-40B4-BE49-F238E27FC236}">
                <a16:creationId xmlns:a16="http://schemas.microsoft.com/office/drawing/2014/main" id="{C3A8D347-AB51-1BF8-0942-280EBD01F179}"/>
              </a:ext>
            </a:extLst>
          </p:cNvPr>
          <p:cNvSpPr>
            <a:spLocks noChangeArrowheads="1"/>
          </p:cNvSpPr>
          <p:nvPr/>
        </p:nvSpPr>
        <p:spPr bwMode="auto">
          <a:xfrm>
            <a:off x="4342879" y="4771355"/>
            <a:ext cx="3506234"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Monthly PDCA Review</a:t>
            </a:r>
          </a:p>
        </p:txBody>
      </p:sp>
      <p:sp>
        <p:nvSpPr>
          <p:cNvPr id="13" name="Rectangle 11">
            <a:extLst>
              <a:ext uri="{FF2B5EF4-FFF2-40B4-BE49-F238E27FC236}">
                <a16:creationId xmlns:a16="http://schemas.microsoft.com/office/drawing/2014/main" id="{8CF2D058-CF18-901A-8FF2-1C617F361907}"/>
              </a:ext>
            </a:extLst>
          </p:cNvPr>
          <p:cNvSpPr>
            <a:spLocks noChangeArrowheads="1"/>
          </p:cNvSpPr>
          <p:nvPr/>
        </p:nvSpPr>
        <p:spPr bwMode="auto">
          <a:xfrm>
            <a:off x="4342880" y="5324721"/>
            <a:ext cx="3506233"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Annual Review</a:t>
            </a:r>
          </a:p>
        </p:txBody>
      </p:sp>
      <p:grpSp>
        <p:nvGrpSpPr>
          <p:cNvPr id="37" name="Group 36">
            <a:extLst>
              <a:ext uri="{FF2B5EF4-FFF2-40B4-BE49-F238E27FC236}">
                <a16:creationId xmlns:a16="http://schemas.microsoft.com/office/drawing/2014/main" id="{041FAC16-F51D-8116-748F-5AAA43511344}"/>
              </a:ext>
            </a:extLst>
          </p:cNvPr>
          <p:cNvGrpSpPr/>
          <p:nvPr/>
        </p:nvGrpSpPr>
        <p:grpSpPr>
          <a:xfrm>
            <a:off x="7849179" y="2432171"/>
            <a:ext cx="1752600" cy="1135063"/>
            <a:chOff x="7849179" y="2432171"/>
            <a:chExt cx="1752600" cy="1135063"/>
          </a:xfrm>
        </p:grpSpPr>
        <p:sp>
          <p:nvSpPr>
            <p:cNvPr id="15" name="Line 13">
              <a:extLst>
                <a:ext uri="{FF2B5EF4-FFF2-40B4-BE49-F238E27FC236}">
                  <a16:creationId xmlns:a16="http://schemas.microsoft.com/office/drawing/2014/main" id="{4246DC88-CD39-B38C-62E6-1B650A43C49E}"/>
                </a:ext>
              </a:extLst>
            </p:cNvPr>
            <p:cNvSpPr>
              <a:spLocks noChangeShapeType="1"/>
            </p:cNvSpPr>
            <p:nvPr/>
          </p:nvSpPr>
          <p:spPr bwMode="auto">
            <a:xfrm flipH="1">
              <a:off x="7849179" y="2711896"/>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35" name="Line 13">
              <a:extLst>
                <a:ext uri="{FF2B5EF4-FFF2-40B4-BE49-F238E27FC236}">
                  <a16:creationId xmlns:a16="http://schemas.microsoft.com/office/drawing/2014/main" id="{35C91105-EFAC-F01A-E9D6-AA8156EC0CB9}"/>
                </a:ext>
              </a:extLst>
            </p:cNvPr>
            <p:cNvSpPr>
              <a:spLocks noChangeShapeType="1"/>
            </p:cNvSpPr>
            <p:nvPr/>
          </p:nvSpPr>
          <p:spPr bwMode="auto">
            <a:xfrm flipH="1">
              <a:off x="7849179" y="3265263"/>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17" name="Oval 15">
              <a:extLst>
                <a:ext uri="{FF2B5EF4-FFF2-40B4-BE49-F238E27FC236}">
                  <a16:creationId xmlns:a16="http://schemas.microsoft.com/office/drawing/2014/main" id="{DBC7ABDB-8570-5844-C013-6172D435BEDA}"/>
                </a:ext>
              </a:extLst>
            </p:cNvPr>
            <p:cNvSpPr>
              <a:spLocks noChangeArrowheads="1"/>
            </p:cNvSpPr>
            <p:nvPr/>
          </p:nvSpPr>
          <p:spPr bwMode="auto">
            <a:xfrm>
              <a:off x="8461954" y="2432171"/>
              <a:ext cx="1139825" cy="1135063"/>
            </a:xfrm>
            <a:prstGeom prst="ellipse">
              <a:avLst/>
            </a:prstGeom>
            <a:solidFill>
              <a:schemeClr val="accent5"/>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Catchball</a:t>
              </a:r>
            </a:p>
          </p:txBody>
        </p:sp>
      </p:grpSp>
      <p:grpSp>
        <p:nvGrpSpPr>
          <p:cNvPr id="38" name="Group 37">
            <a:extLst>
              <a:ext uri="{FF2B5EF4-FFF2-40B4-BE49-F238E27FC236}">
                <a16:creationId xmlns:a16="http://schemas.microsoft.com/office/drawing/2014/main" id="{350CFDFB-5CF5-3284-D3FB-7BB791426E68}"/>
              </a:ext>
            </a:extLst>
          </p:cNvPr>
          <p:cNvGrpSpPr/>
          <p:nvPr/>
        </p:nvGrpSpPr>
        <p:grpSpPr>
          <a:xfrm>
            <a:off x="7849179" y="3765061"/>
            <a:ext cx="1848602" cy="1213871"/>
            <a:chOff x="7849179" y="3765061"/>
            <a:chExt cx="1848602" cy="1213871"/>
          </a:xfrm>
        </p:grpSpPr>
        <p:sp>
          <p:nvSpPr>
            <p:cNvPr id="36" name="Line 13">
              <a:extLst>
                <a:ext uri="{FF2B5EF4-FFF2-40B4-BE49-F238E27FC236}">
                  <a16:creationId xmlns:a16="http://schemas.microsoft.com/office/drawing/2014/main" id="{957FC68F-2735-56E8-F635-BA07B26774F4}"/>
                </a:ext>
              </a:extLst>
            </p:cNvPr>
            <p:cNvSpPr>
              <a:spLocks noChangeShapeType="1"/>
            </p:cNvSpPr>
            <p:nvPr/>
          </p:nvSpPr>
          <p:spPr bwMode="auto">
            <a:xfrm flipH="1">
              <a:off x="7849179"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0" name="Oval 18">
              <a:extLst>
                <a:ext uri="{FF2B5EF4-FFF2-40B4-BE49-F238E27FC236}">
                  <a16:creationId xmlns:a16="http://schemas.microsoft.com/office/drawing/2014/main" id="{35F08D2B-C7F6-4733-D90A-1BFBB82029D0}"/>
                </a:ext>
              </a:extLst>
            </p:cNvPr>
            <p:cNvSpPr>
              <a:spLocks noChangeArrowheads="1"/>
            </p:cNvSpPr>
            <p:nvPr/>
          </p:nvSpPr>
          <p:spPr bwMode="auto">
            <a:xfrm>
              <a:off x="8461954" y="3765061"/>
              <a:ext cx="1235827" cy="1213871"/>
            </a:xfrm>
            <a:prstGeom prst="ellipse">
              <a:avLst/>
            </a:prstGeom>
            <a:solidFill>
              <a:schemeClr val="accent6"/>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latin typeface="+mn-lt"/>
                </a:rPr>
                <a:t>Targeted</a:t>
              </a:r>
            </a:p>
            <a:p>
              <a:pPr algn="ctr" eaLnBrk="1" hangingPunct="1">
                <a:lnSpc>
                  <a:spcPct val="100000"/>
                </a:lnSpc>
                <a:spcBef>
                  <a:spcPct val="0"/>
                </a:spcBef>
                <a:spcAft>
                  <a:spcPct val="0"/>
                </a:spcAft>
                <a:buClrTx/>
                <a:buSzTx/>
                <a:buFontTx/>
                <a:buNone/>
              </a:pPr>
              <a:r>
                <a:rPr lang="en-US" altLang="en-US" sz="1600" i="1" dirty="0">
                  <a:latin typeface="+mn-lt"/>
                </a:rPr>
                <a:t>CI Efforts</a:t>
              </a:r>
            </a:p>
          </p:txBody>
        </p:sp>
      </p:grpSp>
      <p:grpSp>
        <p:nvGrpSpPr>
          <p:cNvPr id="22" name="Group 21">
            <a:extLst>
              <a:ext uri="{FF2B5EF4-FFF2-40B4-BE49-F238E27FC236}">
                <a16:creationId xmlns:a16="http://schemas.microsoft.com/office/drawing/2014/main" id="{614D7D07-5576-F466-0568-796C2D36BAA1}"/>
              </a:ext>
            </a:extLst>
          </p:cNvPr>
          <p:cNvGrpSpPr/>
          <p:nvPr/>
        </p:nvGrpSpPr>
        <p:grpSpPr>
          <a:xfrm>
            <a:off x="325585" y="1946345"/>
            <a:ext cx="2945773" cy="1866214"/>
            <a:chOff x="749635" y="2039846"/>
            <a:chExt cx="2945773" cy="1866214"/>
          </a:xfrm>
        </p:grpSpPr>
        <p:grpSp>
          <p:nvGrpSpPr>
            <p:cNvPr id="23" name="Group 22">
              <a:extLst>
                <a:ext uri="{FF2B5EF4-FFF2-40B4-BE49-F238E27FC236}">
                  <a16:creationId xmlns:a16="http://schemas.microsoft.com/office/drawing/2014/main" id="{33BB99EC-08FE-9EEA-7470-88A5152C1AC3}"/>
                </a:ext>
              </a:extLst>
            </p:cNvPr>
            <p:cNvGrpSpPr/>
            <p:nvPr/>
          </p:nvGrpSpPr>
          <p:grpSpPr>
            <a:xfrm>
              <a:off x="749635" y="2039846"/>
              <a:ext cx="2945773" cy="1866214"/>
              <a:chOff x="749635" y="2039846"/>
              <a:chExt cx="2945773" cy="1866214"/>
            </a:xfrm>
            <a:effectLst>
              <a:outerShdw blurRad="50800" dist="50800" dir="5400000" algn="ctr" rotWithShape="0">
                <a:schemeClr val="bg1">
                  <a:lumMod val="85000"/>
                </a:schemeClr>
              </a:outerShdw>
            </a:effectLst>
          </p:grpSpPr>
          <p:sp>
            <p:nvSpPr>
              <p:cNvPr id="25" name="Rounded Rectangle 4">
                <a:extLst>
                  <a:ext uri="{FF2B5EF4-FFF2-40B4-BE49-F238E27FC236}">
                    <a16:creationId xmlns:a16="http://schemas.microsoft.com/office/drawing/2014/main" id="{EE7F95B7-3FD5-0416-E5FE-8724CB0AB566}"/>
                  </a:ext>
                </a:extLst>
              </p:cNvPr>
              <p:cNvSpPr/>
              <p:nvPr/>
            </p:nvSpPr>
            <p:spPr>
              <a:xfrm>
                <a:off x="749635" y="2039846"/>
                <a:ext cx="2945773" cy="1866214"/>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C7AE4E46-B8B0-AD51-E326-FADF1228B9F6}"/>
                  </a:ext>
                </a:extLst>
              </p:cNvPr>
              <p:cNvGrpSpPr/>
              <p:nvPr/>
            </p:nvGrpSpPr>
            <p:grpSpPr>
              <a:xfrm>
                <a:off x="2562745" y="2367725"/>
                <a:ext cx="1132662" cy="1310104"/>
                <a:chOff x="2540336" y="2367725"/>
                <a:chExt cx="1155072" cy="1310104"/>
              </a:xfrm>
            </p:grpSpPr>
            <p:sp>
              <p:nvSpPr>
                <p:cNvPr id="27" name="Rectangle 20">
                  <a:extLst>
                    <a:ext uri="{FF2B5EF4-FFF2-40B4-BE49-F238E27FC236}">
                      <a16:creationId xmlns:a16="http://schemas.microsoft.com/office/drawing/2014/main" id="{46FF168F-3DC3-2623-6C56-22155B306953}"/>
                    </a:ext>
                  </a:extLst>
                </p:cNvPr>
                <p:cNvSpPr>
                  <a:spLocks noChangeArrowheads="1"/>
                </p:cNvSpPr>
                <p:nvPr/>
              </p:nvSpPr>
              <p:spPr bwMode="auto">
                <a:xfrm>
                  <a:off x="2541129" y="2374075"/>
                  <a:ext cx="355600" cy="26670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8" name="Rectangle 21">
                  <a:extLst>
                    <a:ext uri="{FF2B5EF4-FFF2-40B4-BE49-F238E27FC236}">
                      <a16:creationId xmlns:a16="http://schemas.microsoft.com/office/drawing/2014/main" id="{EB03A0B2-7BAA-5EB6-0166-6CA711048C3E}"/>
                    </a:ext>
                  </a:extLst>
                </p:cNvPr>
                <p:cNvSpPr>
                  <a:spLocks noChangeArrowheads="1"/>
                </p:cNvSpPr>
                <p:nvPr/>
              </p:nvSpPr>
              <p:spPr bwMode="auto">
                <a:xfrm>
                  <a:off x="2541129" y="2707450"/>
                  <a:ext cx="355600" cy="268288"/>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9" name="Rectangle 22">
                  <a:extLst>
                    <a:ext uri="{FF2B5EF4-FFF2-40B4-BE49-F238E27FC236}">
                      <a16:creationId xmlns:a16="http://schemas.microsoft.com/office/drawing/2014/main" id="{B8C920C8-AA33-4694-6965-72E9376056B4}"/>
                    </a:ext>
                  </a:extLst>
                </p:cNvPr>
                <p:cNvSpPr>
                  <a:spLocks noChangeArrowheads="1"/>
                </p:cNvSpPr>
                <p:nvPr/>
              </p:nvSpPr>
              <p:spPr bwMode="auto">
                <a:xfrm>
                  <a:off x="2541129" y="3042413"/>
                  <a:ext cx="355600" cy="26670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0" name="Text Box 23">
                  <a:extLst>
                    <a:ext uri="{FF2B5EF4-FFF2-40B4-BE49-F238E27FC236}">
                      <a16:creationId xmlns:a16="http://schemas.microsoft.com/office/drawing/2014/main" id="{6C33676A-341C-9E38-75F9-699DDEE6AA61}"/>
                    </a:ext>
                  </a:extLst>
                </p:cNvPr>
                <p:cNvSpPr txBox="1">
                  <a:spLocks noChangeArrowheads="1"/>
                </p:cNvSpPr>
                <p:nvPr/>
              </p:nvSpPr>
              <p:spPr bwMode="auto">
                <a:xfrm>
                  <a:off x="2903080" y="2367725"/>
                  <a:ext cx="6335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Plan</a:t>
                  </a:r>
                </a:p>
              </p:txBody>
            </p:sp>
            <p:sp>
              <p:nvSpPr>
                <p:cNvPr id="31" name="Text Box 24">
                  <a:extLst>
                    <a:ext uri="{FF2B5EF4-FFF2-40B4-BE49-F238E27FC236}">
                      <a16:creationId xmlns:a16="http://schemas.microsoft.com/office/drawing/2014/main" id="{13F2B1F2-2121-D122-A1A7-6D0801B54CEB}"/>
                    </a:ext>
                  </a:extLst>
                </p:cNvPr>
                <p:cNvSpPr txBox="1">
                  <a:spLocks noChangeArrowheads="1"/>
                </p:cNvSpPr>
                <p:nvPr/>
              </p:nvSpPr>
              <p:spPr bwMode="auto">
                <a:xfrm>
                  <a:off x="2890379" y="2682050"/>
                  <a:ext cx="463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Do</a:t>
                  </a:r>
                </a:p>
              </p:txBody>
            </p:sp>
            <p:sp>
              <p:nvSpPr>
                <p:cNvPr id="32" name="Text Box 25">
                  <a:extLst>
                    <a:ext uri="{FF2B5EF4-FFF2-40B4-BE49-F238E27FC236}">
                      <a16:creationId xmlns:a16="http://schemas.microsoft.com/office/drawing/2014/main" id="{511A30F2-C02C-F759-2F18-CF2AF84ABCEE}"/>
                    </a:ext>
                  </a:extLst>
                </p:cNvPr>
                <p:cNvSpPr txBox="1">
                  <a:spLocks noChangeArrowheads="1"/>
                </p:cNvSpPr>
                <p:nvPr/>
              </p:nvSpPr>
              <p:spPr bwMode="auto">
                <a:xfrm>
                  <a:off x="2890379" y="3013838"/>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Check</a:t>
                  </a:r>
                </a:p>
              </p:txBody>
            </p:sp>
            <p:sp>
              <p:nvSpPr>
                <p:cNvPr id="33" name="Rectangle 26">
                  <a:extLst>
                    <a:ext uri="{FF2B5EF4-FFF2-40B4-BE49-F238E27FC236}">
                      <a16:creationId xmlns:a16="http://schemas.microsoft.com/office/drawing/2014/main" id="{39DB48D5-3232-F1AC-F992-47326FE4950D}"/>
                    </a:ext>
                  </a:extLst>
                </p:cNvPr>
                <p:cNvSpPr>
                  <a:spLocks noChangeArrowheads="1"/>
                </p:cNvSpPr>
                <p:nvPr/>
              </p:nvSpPr>
              <p:spPr bwMode="auto">
                <a:xfrm>
                  <a:off x="2540336" y="3364675"/>
                  <a:ext cx="357188" cy="268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4" name="Text Box 27">
                  <a:extLst>
                    <a:ext uri="{FF2B5EF4-FFF2-40B4-BE49-F238E27FC236}">
                      <a16:creationId xmlns:a16="http://schemas.microsoft.com/office/drawing/2014/main" id="{62ED337C-9CCE-B0C8-F728-604D40435625}"/>
                    </a:ext>
                  </a:extLst>
                </p:cNvPr>
                <p:cNvSpPr txBox="1">
                  <a:spLocks noChangeArrowheads="1"/>
                </p:cNvSpPr>
                <p:nvPr/>
              </p:nvSpPr>
              <p:spPr bwMode="auto">
                <a:xfrm>
                  <a:off x="2903080" y="3339275"/>
                  <a:ext cx="5212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Act</a:t>
                  </a:r>
                </a:p>
              </p:txBody>
            </p:sp>
          </p:grpSp>
        </p:grpSp>
        <p:pic>
          <p:nvPicPr>
            <p:cNvPr id="24" name="Picture 23">
              <a:extLst>
                <a:ext uri="{FF2B5EF4-FFF2-40B4-BE49-F238E27FC236}">
                  <a16:creationId xmlns:a16="http://schemas.microsoft.com/office/drawing/2014/main" id="{22B8988F-5899-2979-17ED-E6A0D8205EBA}"/>
                </a:ext>
              </a:extLst>
            </p:cNvPr>
            <p:cNvPicPr>
              <a:picLocks noChangeAspect="1"/>
            </p:cNvPicPr>
            <p:nvPr/>
          </p:nvPicPr>
          <p:blipFill>
            <a:blip r:embed="rId4"/>
            <a:stretch>
              <a:fillRect/>
            </a:stretch>
          </p:blipFill>
          <p:spPr>
            <a:xfrm>
              <a:off x="963375" y="2226854"/>
              <a:ext cx="1270000" cy="1587500"/>
            </a:xfrm>
            <a:prstGeom prst="rect">
              <a:avLst/>
            </a:prstGeom>
            <a:effectLst>
              <a:softEdge rad="139700"/>
            </a:effectLst>
          </p:spPr>
        </p:pic>
      </p:grpSp>
      <p:grpSp>
        <p:nvGrpSpPr>
          <p:cNvPr id="3" name="Group 2">
            <a:extLst>
              <a:ext uri="{FF2B5EF4-FFF2-40B4-BE49-F238E27FC236}">
                <a16:creationId xmlns:a16="http://schemas.microsoft.com/office/drawing/2014/main" id="{FBC8CC32-D726-D6EA-7FC8-49629554BB94}"/>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3EF93F41-615D-FE15-5B76-BDB8549AF8FB}"/>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BAC4A01-4AC1-3F04-6BF9-D0DBD43F8BD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90FD6A2D-0414-CE2D-2181-20BC543D4D15}"/>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1">
              <a:extLst>
                <a:ext uri="{FF2B5EF4-FFF2-40B4-BE49-F238E27FC236}">
                  <a16:creationId xmlns:a16="http://schemas.microsoft.com/office/drawing/2014/main" id="{347931E7-7BC3-D361-21DE-BED7ECA6001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9" name="TextBox 18">
            <a:extLst>
              <a:ext uri="{FF2B5EF4-FFF2-40B4-BE49-F238E27FC236}">
                <a16:creationId xmlns:a16="http://schemas.microsoft.com/office/drawing/2014/main" id="{0C13AF23-09CA-151D-9345-EBF1DA755DA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Tree>
    <p:custDataLst>
      <p:tags r:id="rId1"/>
    </p:custDataLst>
    <p:extLst>
      <p:ext uri="{BB962C8B-B14F-4D97-AF65-F5344CB8AC3E}">
        <p14:creationId xmlns:p14="http://schemas.microsoft.com/office/powerpoint/2010/main" val="499716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BA06-FC4A-FF02-4B7D-781E8F15F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B11A2-A56E-DACE-EEB9-D856D981A277}"/>
              </a:ext>
            </a:extLst>
          </p:cNvPr>
          <p:cNvSpPr>
            <a:spLocks noGrp="1"/>
          </p:cNvSpPr>
          <p:nvPr>
            <p:ph type="title"/>
          </p:nvPr>
        </p:nvSpPr>
        <p:spPr>
          <a:xfrm>
            <a:off x="838200" y="681037"/>
            <a:ext cx="10149114" cy="1009651"/>
          </a:xfrm>
        </p:spPr>
        <p:txBody>
          <a:bodyPr>
            <a:noAutofit/>
          </a:bodyPr>
          <a:lstStyle/>
          <a:p>
            <a:r>
              <a:rPr lang="en-US" sz="3200" dirty="0"/>
              <a:t>Strategic Deployment Roadmap</a:t>
            </a:r>
          </a:p>
        </p:txBody>
      </p:sp>
      <p:grpSp>
        <p:nvGrpSpPr>
          <p:cNvPr id="3" name="Group 2">
            <a:extLst>
              <a:ext uri="{FF2B5EF4-FFF2-40B4-BE49-F238E27FC236}">
                <a16:creationId xmlns:a16="http://schemas.microsoft.com/office/drawing/2014/main" id="{93705CD8-72DE-4B1F-9D3F-3A1013CD7BED}"/>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31597FDD-0CA1-EDF7-FC06-978F2F23C8C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610E1DD1-AC3F-4F47-70FB-0B056B24495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F1360079-E9EC-181F-15DD-B56025E3057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39741D41-3FEC-CF7A-B579-D3F50FA8B619}"/>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09D35837-5094-EBEC-8FED-F8A444040745}"/>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9" name="AutoShape 2">
            <a:extLst>
              <a:ext uri="{FF2B5EF4-FFF2-40B4-BE49-F238E27FC236}">
                <a16:creationId xmlns:a16="http://schemas.microsoft.com/office/drawing/2014/main" id="{FFD427EF-73D0-C944-B5B5-F4733AD2F3CF}"/>
              </a:ext>
            </a:extLst>
          </p:cNvPr>
          <p:cNvSpPr>
            <a:spLocks noChangeArrowheads="1"/>
          </p:cNvSpPr>
          <p:nvPr/>
        </p:nvSpPr>
        <p:spPr bwMode="auto">
          <a:xfrm>
            <a:off x="1996677" y="5645150"/>
            <a:ext cx="8204200" cy="625474"/>
          </a:xfrm>
          <a:prstGeom prst="homePlate">
            <a:avLst>
              <a:gd name="adj" fmla="val 32188"/>
            </a:avLst>
          </a:prstGeom>
          <a:solidFill>
            <a:schemeClr val="accent4"/>
          </a:solidFill>
          <a:ln>
            <a:noFill/>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800" dirty="0">
                <a:latin typeface="Arial" panose="020B0604020202020204" pitchFamily="34" charset="0"/>
              </a:rPr>
              <a:t>Typical Process = 12 Days Over 4 to 6 Weeks</a:t>
            </a:r>
            <a:br>
              <a:rPr lang="en-US" altLang="en-US" sz="1800" dirty="0">
                <a:latin typeface="Arial" panose="020B0604020202020204" pitchFamily="34" charset="0"/>
              </a:rPr>
            </a:br>
            <a:r>
              <a:rPr lang="en-US" altLang="en-US" sz="1800" dirty="0">
                <a:latin typeface="Arial" panose="020B0604020202020204" pitchFamily="34" charset="0"/>
              </a:rPr>
              <a:t>with an additional 4 days of Monthly Review Monitoring</a:t>
            </a:r>
          </a:p>
        </p:txBody>
      </p:sp>
      <p:sp>
        <p:nvSpPr>
          <p:cNvPr id="13" name="Rectangle 4">
            <a:extLst>
              <a:ext uri="{FF2B5EF4-FFF2-40B4-BE49-F238E27FC236}">
                <a16:creationId xmlns:a16="http://schemas.microsoft.com/office/drawing/2014/main" id="{E09EB380-C9A7-A307-4DEA-27A98942F713}"/>
              </a:ext>
            </a:extLst>
          </p:cNvPr>
          <p:cNvSpPr>
            <a:spLocks noChangeArrowheads="1"/>
          </p:cNvSpPr>
          <p:nvPr/>
        </p:nvSpPr>
        <p:spPr bwMode="auto">
          <a:xfrm>
            <a:off x="2691267" y="2218531"/>
            <a:ext cx="1581150" cy="1079500"/>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Leadership </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Workshop</a:t>
            </a:r>
            <a:br>
              <a:rPr lang="en-US" altLang="en-US" sz="1400">
                <a:solidFill>
                  <a:schemeClr val="tx1"/>
                </a:solidFill>
                <a:latin typeface="Arial" panose="020B0604020202020204" pitchFamily="34" charset="0"/>
              </a:rPr>
            </a:br>
            <a:endParaRPr lang="en-US" altLang="en-US" sz="1400">
              <a:solidFill>
                <a:schemeClr val="tx1"/>
              </a:solidFill>
              <a:latin typeface="Arial" panose="020B0604020202020204" pitchFamily="34" charset="0"/>
            </a:endParaRPr>
          </a:p>
        </p:txBody>
      </p:sp>
      <p:sp>
        <p:nvSpPr>
          <p:cNvPr id="14" name="Rectangle 5">
            <a:extLst>
              <a:ext uri="{FF2B5EF4-FFF2-40B4-BE49-F238E27FC236}">
                <a16:creationId xmlns:a16="http://schemas.microsoft.com/office/drawing/2014/main" id="{A71F1663-F71F-6073-B999-F8F8841D5484}"/>
              </a:ext>
            </a:extLst>
          </p:cNvPr>
          <p:cNvSpPr>
            <a:spLocks noChangeArrowheads="1"/>
          </p:cNvSpPr>
          <p:nvPr/>
        </p:nvSpPr>
        <p:spPr bwMode="auto">
          <a:xfrm>
            <a:off x="2691267" y="1858168"/>
            <a:ext cx="1582737" cy="357188"/>
          </a:xfrm>
          <a:prstGeom prst="rect">
            <a:avLst/>
          </a:prstGeom>
          <a:solidFill>
            <a:schemeClr val="accent1"/>
          </a:solidFill>
          <a:ln w="12700" cap="sq">
            <a:solidFill>
              <a:schemeClr val="tx1"/>
            </a:solidFill>
            <a:miter lim="800000"/>
            <a:headEnd/>
            <a:tailEnd/>
          </a:ln>
        </p:spPr>
        <p:txBody>
          <a:bodyPr wrap="none" anchor="ctr" anchorCtr="1"/>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TASK 1</a:t>
            </a:r>
          </a:p>
        </p:txBody>
      </p:sp>
      <p:sp>
        <p:nvSpPr>
          <p:cNvPr id="15" name="Rectangle 6">
            <a:extLst>
              <a:ext uri="{FF2B5EF4-FFF2-40B4-BE49-F238E27FC236}">
                <a16:creationId xmlns:a16="http://schemas.microsoft.com/office/drawing/2014/main" id="{2D9693CD-F603-A91E-A13A-4674949F7460}"/>
              </a:ext>
            </a:extLst>
          </p:cNvPr>
          <p:cNvSpPr>
            <a:spLocks noChangeArrowheads="1"/>
          </p:cNvSpPr>
          <p:nvPr/>
        </p:nvSpPr>
        <p:spPr bwMode="auto">
          <a:xfrm>
            <a:off x="5313817" y="2226468"/>
            <a:ext cx="1581150" cy="1079500"/>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Develop</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Top Level</a:t>
            </a:r>
          </a:p>
          <a:p>
            <a:pPr algn="ctr">
              <a:lnSpc>
                <a:spcPct val="80000"/>
              </a:lnSpc>
              <a:spcBef>
                <a:spcPct val="20000"/>
              </a:spcBef>
            </a:pPr>
            <a:r>
              <a:rPr lang="en-US" altLang="en-US" sz="1400">
                <a:solidFill>
                  <a:schemeClr val="tx1"/>
                </a:solidFill>
                <a:latin typeface="Arial" panose="020B0604020202020204" pitchFamily="34" charset="0"/>
              </a:rPr>
              <a:t>Matrix</a:t>
            </a:r>
            <a:br>
              <a:rPr lang="en-US" altLang="en-US" sz="1400">
                <a:solidFill>
                  <a:schemeClr val="tx1"/>
                </a:solidFill>
                <a:latin typeface="Arial" panose="020B0604020202020204" pitchFamily="34" charset="0"/>
              </a:rPr>
            </a:br>
            <a:endParaRPr lang="en-US" altLang="en-US" sz="1400">
              <a:solidFill>
                <a:schemeClr val="tx1"/>
              </a:solidFill>
              <a:latin typeface="Arial" panose="020B0604020202020204" pitchFamily="34" charset="0"/>
            </a:endParaRPr>
          </a:p>
        </p:txBody>
      </p:sp>
      <p:sp>
        <p:nvSpPr>
          <p:cNvPr id="16" name="Rectangle 7">
            <a:extLst>
              <a:ext uri="{FF2B5EF4-FFF2-40B4-BE49-F238E27FC236}">
                <a16:creationId xmlns:a16="http://schemas.microsoft.com/office/drawing/2014/main" id="{BD29CED3-0B22-788C-C904-04413AEB4A1B}"/>
              </a:ext>
            </a:extLst>
          </p:cNvPr>
          <p:cNvSpPr>
            <a:spLocks noChangeArrowheads="1"/>
          </p:cNvSpPr>
          <p:nvPr/>
        </p:nvSpPr>
        <p:spPr bwMode="auto">
          <a:xfrm>
            <a:off x="5313817" y="1843881"/>
            <a:ext cx="1582737" cy="373062"/>
          </a:xfrm>
          <a:prstGeom prst="rect">
            <a:avLst/>
          </a:prstGeom>
          <a:solidFill>
            <a:schemeClr val="accent1"/>
          </a:solidFill>
          <a:ln w="12700" cap="sq">
            <a:solidFill>
              <a:schemeClr val="tx1"/>
            </a:solidFill>
            <a:miter lim="800000"/>
            <a:headEnd/>
            <a:tailEnd/>
          </a:ln>
        </p:spPr>
        <p:txBody>
          <a:bodyPr wrap="none" anchor="ctr" anchorCtr="1"/>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TASK 2</a:t>
            </a:r>
          </a:p>
        </p:txBody>
      </p:sp>
      <p:sp>
        <p:nvSpPr>
          <p:cNvPr id="17" name="Rectangle 8">
            <a:extLst>
              <a:ext uri="{FF2B5EF4-FFF2-40B4-BE49-F238E27FC236}">
                <a16:creationId xmlns:a16="http://schemas.microsoft.com/office/drawing/2014/main" id="{9B344391-FE40-70DA-32A1-6D1EA65FC3BD}"/>
              </a:ext>
            </a:extLst>
          </p:cNvPr>
          <p:cNvSpPr>
            <a:spLocks noChangeArrowheads="1"/>
          </p:cNvSpPr>
          <p:nvPr/>
        </p:nvSpPr>
        <p:spPr bwMode="auto">
          <a:xfrm>
            <a:off x="7958592" y="2224881"/>
            <a:ext cx="1581150" cy="1079500"/>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400" dirty="0">
                <a:solidFill>
                  <a:schemeClr val="tx1"/>
                </a:solidFill>
                <a:latin typeface="Arial" panose="020B0604020202020204" pitchFamily="34" charset="0"/>
              </a:rPr>
              <a:t>Develop Second</a:t>
            </a:r>
            <a:br>
              <a:rPr lang="en-US" altLang="en-US" sz="1400" dirty="0">
                <a:solidFill>
                  <a:schemeClr val="tx1"/>
                </a:solidFill>
                <a:latin typeface="Arial" panose="020B0604020202020204" pitchFamily="34" charset="0"/>
              </a:rPr>
            </a:br>
            <a:r>
              <a:rPr lang="en-US" altLang="en-US" sz="1400" dirty="0">
                <a:solidFill>
                  <a:schemeClr val="tx1"/>
                </a:solidFill>
                <a:latin typeface="Arial" panose="020B0604020202020204" pitchFamily="34" charset="0"/>
              </a:rPr>
              <a:t>Level</a:t>
            </a:r>
            <a:br>
              <a:rPr lang="en-US" altLang="en-US" sz="1400" dirty="0">
                <a:solidFill>
                  <a:schemeClr val="tx1"/>
                </a:solidFill>
                <a:latin typeface="Arial" panose="020B0604020202020204" pitchFamily="34" charset="0"/>
              </a:rPr>
            </a:br>
            <a:r>
              <a:rPr lang="en-US" altLang="en-US" sz="1400" dirty="0">
                <a:solidFill>
                  <a:schemeClr val="tx1"/>
                </a:solidFill>
                <a:latin typeface="Arial" panose="020B0604020202020204" pitchFamily="34" charset="0"/>
              </a:rPr>
              <a:t>Matrices and</a:t>
            </a:r>
            <a:br>
              <a:rPr lang="en-US" altLang="en-US" sz="1400" dirty="0">
                <a:solidFill>
                  <a:schemeClr val="tx1"/>
                </a:solidFill>
                <a:latin typeface="Arial" panose="020B0604020202020204" pitchFamily="34" charset="0"/>
              </a:rPr>
            </a:br>
            <a:r>
              <a:rPr lang="en-US" altLang="en-US" sz="1400" dirty="0">
                <a:solidFill>
                  <a:schemeClr val="tx1"/>
                </a:solidFill>
                <a:latin typeface="Arial" panose="020B0604020202020204" pitchFamily="34" charset="0"/>
              </a:rPr>
              <a:t>complete</a:t>
            </a:r>
            <a:br>
              <a:rPr lang="en-US" altLang="en-US" sz="1400" dirty="0">
                <a:solidFill>
                  <a:schemeClr val="tx1"/>
                </a:solidFill>
                <a:latin typeface="Arial" panose="020B0604020202020204" pitchFamily="34" charset="0"/>
              </a:rPr>
            </a:br>
            <a:r>
              <a:rPr lang="en-US" altLang="en-US" sz="1400" dirty="0">
                <a:solidFill>
                  <a:schemeClr val="tx1"/>
                </a:solidFill>
                <a:latin typeface="Arial" panose="020B0604020202020204" pitchFamily="34" charset="0"/>
              </a:rPr>
              <a:t>Action Planning</a:t>
            </a:r>
            <a:br>
              <a:rPr lang="en-US" altLang="en-US" sz="1400" dirty="0">
                <a:solidFill>
                  <a:schemeClr val="tx1"/>
                </a:solidFill>
                <a:latin typeface="Arial" panose="020B0604020202020204" pitchFamily="34" charset="0"/>
              </a:rPr>
            </a:br>
            <a:r>
              <a:rPr lang="en-US" altLang="en-US" sz="1400" dirty="0">
                <a:solidFill>
                  <a:schemeClr val="tx1"/>
                </a:solidFill>
                <a:latin typeface="Arial" panose="020B0604020202020204" pitchFamily="34" charset="0"/>
              </a:rPr>
              <a:t>Training</a:t>
            </a:r>
          </a:p>
        </p:txBody>
      </p:sp>
      <p:sp>
        <p:nvSpPr>
          <p:cNvPr id="18" name="Rectangle 9">
            <a:extLst>
              <a:ext uri="{FF2B5EF4-FFF2-40B4-BE49-F238E27FC236}">
                <a16:creationId xmlns:a16="http://schemas.microsoft.com/office/drawing/2014/main" id="{DE2194D8-9D40-C5A5-93C0-AE7B4FFC10CF}"/>
              </a:ext>
            </a:extLst>
          </p:cNvPr>
          <p:cNvSpPr>
            <a:spLocks noChangeArrowheads="1"/>
          </p:cNvSpPr>
          <p:nvPr/>
        </p:nvSpPr>
        <p:spPr bwMode="auto">
          <a:xfrm>
            <a:off x="7958592" y="1870868"/>
            <a:ext cx="1582737" cy="357188"/>
          </a:xfrm>
          <a:prstGeom prst="rect">
            <a:avLst/>
          </a:prstGeom>
          <a:solidFill>
            <a:schemeClr val="accent1"/>
          </a:solidFill>
          <a:ln w="12700" cap="sq">
            <a:solidFill>
              <a:schemeClr val="tx1"/>
            </a:solidFill>
            <a:miter lim="800000"/>
            <a:headEnd/>
            <a:tailEnd/>
          </a:ln>
        </p:spPr>
        <p:txBody>
          <a:bodyPr wrap="none" anchor="ctr" anchorCtr="1"/>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TASK 3</a:t>
            </a:r>
          </a:p>
        </p:txBody>
      </p:sp>
      <p:sp>
        <p:nvSpPr>
          <p:cNvPr id="19" name="Rectangle 10">
            <a:extLst>
              <a:ext uri="{FF2B5EF4-FFF2-40B4-BE49-F238E27FC236}">
                <a16:creationId xmlns:a16="http://schemas.microsoft.com/office/drawing/2014/main" id="{BE154BBC-4D32-FA7F-D7E6-11F9F13EEECC}"/>
              </a:ext>
            </a:extLst>
          </p:cNvPr>
          <p:cNvSpPr>
            <a:spLocks noChangeArrowheads="1"/>
          </p:cNvSpPr>
          <p:nvPr/>
        </p:nvSpPr>
        <p:spPr bwMode="auto">
          <a:xfrm>
            <a:off x="2686504" y="4471193"/>
            <a:ext cx="1581150" cy="1079500"/>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Develop</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Bowling</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Charts</a:t>
            </a:r>
            <a:br>
              <a:rPr lang="en-US" altLang="en-US" sz="1400">
                <a:solidFill>
                  <a:schemeClr val="tx1"/>
                </a:solidFill>
                <a:latin typeface="Arial" panose="020B0604020202020204" pitchFamily="34" charset="0"/>
              </a:rPr>
            </a:br>
            <a:endParaRPr lang="en-US" altLang="en-US" sz="1400">
              <a:solidFill>
                <a:schemeClr val="tx1"/>
              </a:solidFill>
              <a:latin typeface="Arial" panose="020B0604020202020204" pitchFamily="34" charset="0"/>
            </a:endParaRPr>
          </a:p>
        </p:txBody>
      </p:sp>
      <p:sp>
        <p:nvSpPr>
          <p:cNvPr id="31" name="Rectangle 11">
            <a:extLst>
              <a:ext uri="{FF2B5EF4-FFF2-40B4-BE49-F238E27FC236}">
                <a16:creationId xmlns:a16="http://schemas.microsoft.com/office/drawing/2014/main" id="{328EDE66-2484-4DF1-1ED3-84EA1E76762F}"/>
              </a:ext>
            </a:extLst>
          </p:cNvPr>
          <p:cNvSpPr>
            <a:spLocks noChangeArrowheads="1"/>
          </p:cNvSpPr>
          <p:nvPr/>
        </p:nvSpPr>
        <p:spPr bwMode="auto">
          <a:xfrm>
            <a:off x="2686504" y="4109243"/>
            <a:ext cx="1582738" cy="352425"/>
          </a:xfrm>
          <a:prstGeom prst="rect">
            <a:avLst/>
          </a:prstGeom>
          <a:solidFill>
            <a:schemeClr val="accent1"/>
          </a:solidFill>
          <a:ln w="12700" cap="sq">
            <a:solidFill>
              <a:schemeClr val="tx1"/>
            </a:solidFill>
            <a:miter lim="800000"/>
            <a:headEnd/>
            <a:tailEnd/>
          </a:ln>
        </p:spPr>
        <p:txBody>
          <a:bodyPr wrap="none" anchor="ctr" anchorCtr="1"/>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TASK 4</a:t>
            </a:r>
          </a:p>
        </p:txBody>
      </p:sp>
      <p:sp>
        <p:nvSpPr>
          <p:cNvPr id="32" name="Rectangle 12">
            <a:extLst>
              <a:ext uri="{FF2B5EF4-FFF2-40B4-BE49-F238E27FC236}">
                <a16:creationId xmlns:a16="http://schemas.microsoft.com/office/drawing/2014/main" id="{3E1C805A-04F7-6444-0047-CC9662971FC0}"/>
              </a:ext>
            </a:extLst>
          </p:cNvPr>
          <p:cNvSpPr>
            <a:spLocks noChangeArrowheads="1"/>
          </p:cNvSpPr>
          <p:nvPr/>
        </p:nvSpPr>
        <p:spPr bwMode="auto">
          <a:xfrm>
            <a:off x="5323342" y="4479131"/>
            <a:ext cx="1581150" cy="1079500"/>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Develop</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Countermeasures</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Root Cause</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Problem Solving</a:t>
            </a:r>
            <a:br>
              <a:rPr lang="en-US" altLang="en-US" sz="1400">
                <a:solidFill>
                  <a:schemeClr val="tx1"/>
                </a:solidFill>
                <a:latin typeface="Arial" panose="020B0604020202020204" pitchFamily="34" charset="0"/>
              </a:rPr>
            </a:br>
            <a:endParaRPr lang="en-US" altLang="en-US" sz="1400">
              <a:solidFill>
                <a:schemeClr val="tx1"/>
              </a:solidFill>
              <a:latin typeface="Arial" panose="020B0604020202020204" pitchFamily="34" charset="0"/>
            </a:endParaRPr>
          </a:p>
        </p:txBody>
      </p:sp>
      <p:sp>
        <p:nvSpPr>
          <p:cNvPr id="33" name="Rectangle 13">
            <a:extLst>
              <a:ext uri="{FF2B5EF4-FFF2-40B4-BE49-F238E27FC236}">
                <a16:creationId xmlns:a16="http://schemas.microsoft.com/office/drawing/2014/main" id="{307B49F2-9677-A898-ABCE-10676C6F2C7A}"/>
              </a:ext>
            </a:extLst>
          </p:cNvPr>
          <p:cNvSpPr>
            <a:spLocks noChangeArrowheads="1"/>
          </p:cNvSpPr>
          <p:nvPr/>
        </p:nvSpPr>
        <p:spPr bwMode="auto">
          <a:xfrm>
            <a:off x="5323342" y="4109243"/>
            <a:ext cx="1582737" cy="360363"/>
          </a:xfrm>
          <a:prstGeom prst="rect">
            <a:avLst/>
          </a:prstGeom>
          <a:solidFill>
            <a:schemeClr val="accent1"/>
          </a:solidFill>
          <a:ln w="12700" cap="sq">
            <a:solidFill>
              <a:schemeClr val="tx1"/>
            </a:solidFill>
            <a:miter lim="800000"/>
            <a:headEnd/>
            <a:tailEnd/>
          </a:ln>
        </p:spPr>
        <p:txBody>
          <a:bodyPr wrap="none" anchor="ctr" anchorCtr="1"/>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TASK 5</a:t>
            </a:r>
          </a:p>
        </p:txBody>
      </p:sp>
      <p:sp>
        <p:nvSpPr>
          <p:cNvPr id="34" name="Rectangle 14">
            <a:extLst>
              <a:ext uri="{FF2B5EF4-FFF2-40B4-BE49-F238E27FC236}">
                <a16:creationId xmlns:a16="http://schemas.microsoft.com/office/drawing/2014/main" id="{F67F7C81-B134-7205-AB1B-FC756630796A}"/>
              </a:ext>
            </a:extLst>
          </p:cNvPr>
          <p:cNvSpPr>
            <a:spLocks noChangeArrowheads="1"/>
          </p:cNvSpPr>
          <p:nvPr/>
        </p:nvSpPr>
        <p:spPr bwMode="auto">
          <a:xfrm>
            <a:off x="7982404" y="4477543"/>
            <a:ext cx="1581150" cy="1079500"/>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SD Review</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Session</a:t>
            </a:r>
            <a:br>
              <a:rPr lang="en-US" altLang="en-US" sz="1400">
                <a:solidFill>
                  <a:schemeClr val="tx1"/>
                </a:solidFill>
                <a:latin typeface="Arial" panose="020B0604020202020204" pitchFamily="34" charset="0"/>
              </a:rPr>
            </a:br>
            <a:r>
              <a:rPr lang="en-US" altLang="en-US" sz="1400">
                <a:solidFill>
                  <a:schemeClr val="tx1"/>
                </a:solidFill>
                <a:latin typeface="Arial" panose="020B0604020202020204" pitchFamily="34" charset="0"/>
              </a:rPr>
              <a:t>Training</a:t>
            </a:r>
            <a:br>
              <a:rPr lang="en-US" altLang="en-US" sz="1400">
                <a:solidFill>
                  <a:schemeClr val="tx1"/>
                </a:solidFill>
                <a:latin typeface="Arial" panose="020B0604020202020204" pitchFamily="34" charset="0"/>
              </a:rPr>
            </a:br>
            <a:endParaRPr lang="en-US" altLang="en-US" sz="1400">
              <a:solidFill>
                <a:schemeClr val="tx1"/>
              </a:solidFill>
              <a:latin typeface="Arial" panose="020B0604020202020204" pitchFamily="34" charset="0"/>
            </a:endParaRPr>
          </a:p>
        </p:txBody>
      </p:sp>
      <p:sp>
        <p:nvSpPr>
          <p:cNvPr id="35" name="Rectangle 15">
            <a:extLst>
              <a:ext uri="{FF2B5EF4-FFF2-40B4-BE49-F238E27FC236}">
                <a16:creationId xmlns:a16="http://schemas.microsoft.com/office/drawing/2014/main" id="{18BA30A4-EAC8-0702-A7AC-E4A7A1E4944B}"/>
              </a:ext>
            </a:extLst>
          </p:cNvPr>
          <p:cNvSpPr>
            <a:spLocks noChangeArrowheads="1"/>
          </p:cNvSpPr>
          <p:nvPr/>
        </p:nvSpPr>
        <p:spPr bwMode="auto">
          <a:xfrm>
            <a:off x="7982404" y="4109243"/>
            <a:ext cx="1582738" cy="358775"/>
          </a:xfrm>
          <a:prstGeom prst="rect">
            <a:avLst/>
          </a:prstGeom>
          <a:solidFill>
            <a:schemeClr val="accent1"/>
          </a:solidFill>
          <a:ln w="12700" cap="sq">
            <a:solidFill>
              <a:schemeClr val="tx1"/>
            </a:solidFill>
            <a:miter lim="800000"/>
            <a:headEnd/>
            <a:tailEnd/>
          </a:ln>
        </p:spPr>
        <p:txBody>
          <a:bodyPr wrap="none" anchor="ctr" anchorCtr="1"/>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TASK 6</a:t>
            </a:r>
          </a:p>
        </p:txBody>
      </p:sp>
      <p:cxnSp>
        <p:nvCxnSpPr>
          <p:cNvPr id="36" name="AutoShape 16">
            <a:extLst>
              <a:ext uri="{FF2B5EF4-FFF2-40B4-BE49-F238E27FC236}">
                <a16:creationId xmlns:a16="http://schemas.microsoft.com/office/drawing/2014/main" id="{B8B53F66-C84E-E08C-C50D-4BCAD2C636A7}"/>
              </a:ext>
            </a:extLst>
          </p:cNvPr>
          <p:cNvCxnSpPr>
            <a:cxnSpLocks noChangeShapeType="1"/>
            <a:stCxn id="13" idx="3"/>
            <a:endCxn id="15" idx="1"/>
          </p:cNvCxnSpPr>
          <p:nvPr/>
        </p:nvCxnSpPr>
        <p:spPr bwMode="auto">
          <a:xfrm>
            <a:off x="4272417" y="2758281"/>
            <a:ext cx="1041400" cy="7937"/>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7">
            <a:extLst>
              <a:ext uri="{FF2B5EF4-FFF2-40B4-BE49-F238E27FC236}">
                <a16:creationId xmlns:a16="http://schemas.microsoft.com/office/drawing/2014/main" id="{82DF309B-1721-E85B-D9EA-E044FFD4A825}"/>
              </a:ext>
            </a:extLst>
          </p:cNvPr>
          <p:cNvCxnSpPr>
            <a:cxnSpLocks noChangeShapeType="1"/>
            <a:stCxn id="15" idx="3"/>
            <a:endCxn id="17" idx="1"/>
          </p:cNvCxnSpPr>
          <p:nvPr/>
        </p:nvCxnSpPr>
        <p:spPr bwMode="auto">
          <a:xfrm flipV="1">
            <a:off x="6894967" y="2764631"/>
            <a:ext cx="1063625" cy="1587"/>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AutoShape 18">
            <a:extLst>
              <a:ext uri="{FF2B5EF4-FFF2-40B4-BE49-F238E27FC236}">
                <a16:creationId xmlns:a16="http://schemas.microsoft.com/office/drawing/2014/main" id="{54EE875E-9EFD-789F-5FC0-0A61507699CD}"/>
              </a:ext>
            </a:extLst>
          </p:cNvPr>
          <p:cNvCxnSpPr>
            <a:cxnSpLocks noChangeShapeType="1"/>
            <a:stCxn id="17" idx="3"/>
            <a:endCxn id="19" idx="1"/>
          </p:cNvCxnSpPr>
          <p:nvPr/>
        </p:nvCxnSpPr>
        <p:spPr bwMode="auto">
          <a:xfrm flipH="1">
            <a:off x="2686504" y="2764631"/>
            <a:ext cx="6853238" cy="2246312"/>
          </a:xfrm>
          <a:prstGeom prst="bentConnector5">
            <a:avLst>
              <a:gd name="adj1" fmla="val -10356"/>
              <a:gd name="adj2" fmla="val 44097"/>
              <a:gd name="adj3" fmla="val 10926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9" name="AutoShape 19">
            <a:extLst>
              <a:ext uri="{FF2B5EF4-FFF2-40B4-BE49-F238E27FC236}">
                <a16:creationId xmlns:a16="http://schemas.microsoft.com/office/drawing/2014/main" id="{305868A7-C94B-3553-17F8-374476377328}"/>
              </a:ext>
            </a:extLst>
          </p:cNvPr>
          <p:cNvCxnSpPr>
            <a:cxnSpLocks noChangeShapeType="1"/>
            <a:stCxn id="19" idx="3"/>
            <a:endCxn id="32" idx="1"/>
          </p:cNvCxnSpPr>
          <p:nvPr/>
        </p:nvCxnSpPr>
        <p:spPr bwMode="auto">
          <a:xfrm>
            <a:off x="4267654" y="5010943"/>
            <a:ext cx="1055688" cy="7938"/>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20">
            <a:extLst>
              <a:ext uri="{FF2B5EF4-FFF2-40B4-BE49-F238E27FC236}">
                <a16:creationId xmlns:a16="http://schemas.microsoft.com/office/drawing/2014/main" id="{83A8D0CD-915C-DFDD-50DF-CCDDC254B4D3}"/>
              </a:ext>
            </a:extLst>
          </p:cNvPr>
          <p:cNvCxnSpPr>
            <a:cxnSpLocks noChangeShapeType="1"/>
            <a:stCxn id="32" idx="3"/>
            <a:endCxn id="34" idx="1"/>
          </p:cNvCxnSpPr>
          <p:nvPr/>
        </p:nvCxnSpPr>
        <p:spPr bwMode="auto">
          <a:xfrm flipV="1">
            <a:off x="6904492" y="5017293"/>
            <a:ext cx="1077912" cy="1588"/>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 name="Rectangle 21">
            <a:extLst>
              <a:ext uri="{FF2B5EF4-FFF2-40B4-BE49-F238E27FC236}">
                <a16:creationId xmlns:a16="http://schemas.microsoft.com/office/drawing/2014/main" id="{5110B4A6-5CFA-0E28-93CA-463D3EF2FB78}"/>
              </a:ext>
            </a:extLst>
          </p:cNvPr>
          <p:cNvSpPr>
            <a:spLocks noChangeArrowheads="1"/>
          </p:cNvSpPr>
          <p:nvPr/>
        </p:nvSpPr>
        <p:spPr bwMode="auto">
          <a:xfrm>
            <a:off x="5080454" y="1777206"/>
            <a:ext cx="2074863" cy="1727200"/>
          </a:xfrm>
          <a:prstGeom prst="rect">
            <a:avLst/>
          </a:prstGeom>
          <a:noFill/>
          <a:ln w="381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Tree>
    <p:custDataLst>
      <p:tags r:id="rId1"/>
    </p:custDataLst>
    <p:extLst>
      <p:ext uri="{BB962C8B-B14F-4D97-AF65-F5344CB8AC3E}">
        <p14:creationId xmlns:p14="http://schemas.microsoft.com/office/powerpoint/2010/main" val="3040501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FB351-2C56-ED60-7BAB-913F2FE74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7EC41-D321-5C4C-FF74-C44D3379C4A5}"/>
              </a:ext>
            </a:extLst>
          </p:cNvPr>
          <p:cNvSpPr>
            <a:spLocks noGrp="1"/>
          </p:cNvSpPr>
          <p:nvPr>
            <p:ph type="title"/>
          </p:nvPr>
        </p:nvSpPr>
        <p:spPr>
          <a:xfrm>
            <a:off x="838200" y="681037"/>
            <a:ext cx="10149114" cy="1009651"/>
          </a:xfrm>
        </p:spPr>
        <p:txBody>
          <a:bodyPr>
            <a:noAutofit/>
          </a:bodyPr>
          <a:lstStyle/>
          <a:p>
            <a:r>
              <a:rPr lang="en-US" sz="3200" dirty="0"/>
              <a:t>Deliverable from Strategic Deployment </a:t>
            </a:r>
          </a:p>
        </p:txBody>
      </p:sp>
      <p:grpSp>
        <p:nvGrpSpPr>
          <p:cNvPr id="3" name="Group 2">
            <a:extLst>
              <a:ext uri="{FF2B5EF4-FFF2-40B4-BE49-F238E27FC236}">
                <a16:creationId xmlns:a16="http://schemas.microsoft.com/office/drawing/2014/main" id="{FE9F2EC4-BF51-EA0A-935C-E41F61CCBB91}"/>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F5AB3702-6BC4-0544-3129-A898C7A0FBA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1C119E1D-7EAF-BD2E-FDC2-60374BA473E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FFE6CBEF-8396-EDDF-E80E-E18C243D3EE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C76D2D88-87E2-9733-74C7-669815B688F6}"/>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9D877D5A-C51C-D8A7-3097-11E94B9F2713}"/>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10" name="Rectangle 2">
            <a:extLst>
              <a:ext uri="{FF2B5EF4-FFF2-40B4-BE49-F238E27FC236}">
                <a16:creationId xmlns:a16="http://schemas.microsoft.com/office/drawing/2014/main" id="{4EA44363-9B98-B94D-063F-16F5FF88B553}"/>
              </a:ext>
            </a:extLst>
          </p:cNvPr>
          <p:cNvSpPr>
            <a:spLocks noChangeArrowheads="1"/>
          </p:cNvSpPr>
          <p:nvPr/>
        </p:nvSpPr>
        <p:spPr bwMode="auto">
          <a:xfrm>
            <a:off x="2949803" y="4981575"/>
            <a:ext cx="6303962" cy="1195388"/>
          </a:xfrm>
          <a:prstGeom prst="rect">
            <a:avLst/>
          </a:prstGeom>
          <a:solidFill>
            <a:srgbClr val="DDDDDD"/>
          </a:solidFill>
          <a:ln w="19050">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eaLnBrk="1" hangingPunct="1">
              <a:spcBef>
                <a:spcPct val="30000"/>
              </a:spcBef>
            </a:pPr>
            <a:r>
              <a:rPr lang="en-US" altLang="en-US" sz="1800">
                <a:solidFill>
                  <a:schemeClr val="tx1"/>
                </a:solidFill>
                <a:latin typeface="Arial" panose="020B0604020202020204" pitchFamily="34" charset="0"/>
              </a:rPr>
              <a:t>Strategic Deployment is the Way to </a:t>
            </a:r>
            <a:r>
              <a:rPr lang="en-US" altLang="en-US" sz="1800" i="1">
                <a:solidFill>
                  <a:schemeClr val="tx1"/>
                </a:solidFill>
                <a:latin typeface="Arial" panose="020B0604020202020204" pitchFamily="34" charset="0"/>
              </a:rPr>
              <a:t>Run</a:t>
            </a:r>
            <a:r>
              <a:rPr lang="en-US" altLang="en-US" sz="1800">
                <a:solidFill>
                  <a:schemeClr val="tx1"/>
                </a:solidFill>
                <a:latin typeface="Arial" panose="020B0604020202020204" pitchFamily="34" charset="0"/>
              </a:rPr>
              <a:t> the Business.</a:t>
            </a:r>
          </a:p>
        </p:txBody>
      </p:sp>
      <p:sp>
        <p:nvSpPr>
          <p:cNvPr id="11" name="Rectangle 3">
            <a:extLst>
              <a:ext uri="{FF2B5EF4-FFF2-40B4-BE49-F238E27FC236}">
                <a16:creationId xmlns:a16="http://schemas.microsoft.com/office/drawing/2014/main" id="{9E1E1F08-10D7-7A58-B9E7-292CFA1EAE31}"/>
              </a:ext>
            </a:extLst>
          </p:cNvPr>
          <p:cNvSpPr>
            <a:spLocks noChangeArrowheads="1"/>
          </p:cNvSpPr>
          <p:nvPr/>
        </p:nvSpPr>
        <p:spPr bwMode="auto">
          <a:xfrm>
            <a:off x="2319565" y="1781175"/>
            <a:ext cx="2089150" cy="1447800"/>
          </a:xfrm>
          <a:prstGeom prst="rect">
            <a:avLst/>
          </a:prstGeom>
          <a:solidFill>
            <a:schemeClr val="accent1"/>
          </a:solidFill>
          <a:ln w="12700" cap="sq">
            <a:solidFill>
              <a:schemeClr val="accent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105000"/>
              </a:lnSpc>
              <a:spcBef>
                <a:spcPct val="50000"/>
              </a:spcBef>
              <a:spcAft>
                <a:spcPct val="50000"/>
              </a:spcAft>
              <a:buClr>
                <a:srgbClr val="006699"/>
              </a:buClr>
              <a:buSzPct val="40000"/>
              <a:buFont typeface="Wingdings" panose="05000000000000000000" pitchFamily="2" charset="2"/>
              <a:buNone/>
            </a:pPr>
            <a:r>
              <a:rPr lang="en-US" altLang="en-US" sz="1600">
                <a:latin typeface="Arial" panose="020B0604020202020204" pitchFamily="34" charset="0"/>
              </a:rPr>
              <a:t>Utilize the </a:t>
            </a:r>
            <a:br>
              <a:rPr lang="en-US" altLang="en-US" sz="1600">
                <a:latin typeface="Arial" panose="020B0604020202020204" pitchFamily="34" charset="0"/>
              </a:rPr>
            </a:br>
            <a:r>
              <a:rPr lang="en-US" altLang="en-US" sz="1600">
                <a:latin typeface="Arial" panose="020B0604020202020204" pitchFamily="34" charset="0"/>
              </a:rPr>
              <a:t>business model and </a:t>
            </a:r>
            <a:br>
              <a:rPr lang="en-US" altLang="en-US" sz="1600">
                <a:latin typeface="Arial" panose="020B0604020202020204" pitchFamily="34" charset="0"/>
              </a:rPr>
            </a:br>
            <a:r>
              <a:rPr lang="en-US" altLang="en-US" sz="1600">
                <a:latin typeface="Arial" panose="020B0604020202020204" pitchFamily="34" charset="0"/>
              </a:rPr>
              <a:t>tools to build the </a:t>
            </a:r>
            <a:br>
              <a:rPr lang="en-US" altLang="en-US" sz="1600">
                <a:latin typeface="Arial" panose="020B0604020202020204" pitchFamily="34" charset="0"/>
              </a:rPr>
            </a:br>
            <a:r>
              <a:rPr lang="en-US" altLang="en-US" sz="1600">
                <a:latin typeface="Arial" panose="020B0604020202020204" pitchFamily="34" charset="0"/>
              </a:rPr>
              <a:t>foundation of a </a:t>
            </a:r>
            <a:br>
              <a:rPr lang="en-US" altLang="en-US" sz="1600">
                <a:latin typeface="Arial" panose="020B0604020202020204" pitchFamily="34" charset="0"/>
              </a:rPr>
            </a:br>
            <a:r>
              <a:rPr lang="en-US" altLang="en-US" sz="1600">
                <a:latin typeface="Arial" panose="020B0604020202020204" pitchFamily="34" charset="0"/>
              </a:rPr>
              <a:t>Strategic Deployment</a:t>
            </a:r>
          </a:p>
        </p:txBody>
      </p:sp>
      <p:sp>
        <p:nvSpPr>
          <p:cNvPr id="12" name="Rectangle 4">
            <a:extLst>
              <a:ext uri="{FF2B5EF4-FFF2-40B4-BE49-F238E27FC236}">
                <a16:creationId xmlns:a16="http://schemas.microsoft.com/office/drawing/2014/main" id="{DDE89F73-BD21-D5A2-6917-BDCA2A75184E}"/>
              </a:ext>
            </a:extLst>
          </p:cNvPr>
          <p:cNvSpPr>
            <a:spLocks noChangeArrowheads="1"/>
          </p:cNvSpPr>
          <p:nvPr/>
        </p:nvSpPr>
        <p:spPr bwMode="auto">
          <a:xfrm>
            <a:off x="4986565" y="1781175"/>
            <a:ext cx="2089150" cy="1447800"/>
          </a:xfrm>
          <a:prstGeom prst="rect">
            <a:avLst/>
          </a:prstGeom>
          <a:solidFill>
            <a:schemeClr val="accent1"/>
          </a:solidFill>
          <a:ln w="12700" cap="sq">
            <a:solidFill>
              <a:schemeClr val="accent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105000"/>
              </a:lnSpc>
              <a:spcBef>
                <a:spcPct val="20000"/>
              </a:spcBef>
            </a:pPr>
            <a:r>
              <a:rPr lang="en-US" altLang="en-US" sz="1600">
                <a:latin typeface="Arial" panose="020B0604020202020204" pitchFamily="34" charset="0"/>
              </a:rPr>
              <a:t>Translate strategic </a:t>
            </a:r>
            <a:br>
              <a:rPr lang="en-US" altLang="en-US" sz="1600">
                <a:latin typeface="Arial" panose="020B0604020202020204" pitchFamily="34" charset="0"/>
              </a:rPr>
            </a:br>
            <a:r>
              <a:rPr lang="en-US" altLang="en-US" sz="1600">
                <a:latin typeface="Arial" panose="020B0604020202020204" pitchFamily="34" charset="0"/>
              </a:rPr>
              <a:t>objectives </a:t>
            </a:r>
            <a:br>
              <a:rPr lang="en-US" altLang="en-US" sz="1600">
                <a:latin typeface="Arial" panose="020B0604020202020204" pitchFamily="34" charset="0"/>
              </a:rPr>
            </a:br>
            <a:r>
              <a:rPr lang="en-US" altLang="en-US" sz="1600">
                <a:latin typeface="Arial" panose="020B0604020202020204" pitchFamily="34" charset="0"/>
              </a:rPr>
              <a:t>into tangible, </a:t>
            </a:r>
            <a:br>
              <a:rPr lang="en-US" altLang="en-US" sz="1600">
                <a:latin typeface="Arial" panose="020B0604020202020204" pitchFamily="34" charset="0"/>
              </a:rPr>
            </a:br>
            <a:r>
              <a:rPr lang="en-US" altLang="en-US" sz="1600">
                <a:latin typeface="Arial" panose="020B0604020202020204" pitchFamily="34" charset="0"/>
              </a:rPr>
              <a:t>results-oriented </a:t>
            </a:r>
            <a:br>
              <a:rPr lang="en-US" altLang="en-US" sz="1600">
                <a:latin typeface="Arial" panose="020B0604020202020204" pitchFamily="34" charset="0"/>
              </a:rPr>
            </a:br>
            <a:r>
              <a:rPr lang="en-US" altLang="en-US" sz="1600">
                <a:latin typeface="Arial" panose="020B0604020202020204" pitchFamily="34" charset="0"/>
              </a:rPr>
              <a:t>Lean initiatives</a:t>
            </a:r>
          </a:p>
        </p:txBody>
      </p:sp>
      <p:cxnSp>
        <p:nvCxnSpPr>
          <p:cNvPr id="20" name="AutoShape 5">
            <a:extLst>
              <a:ext uri="{FF2B5EF4-FFF2-40B4-BE49-F238E27FC236}">
                <a16:creationId xmlns:a16="http://schemas.microsoft.com/office/drawing/2014/main" id="{2D795CF2-162B-4179-9431-3F531BEA18A5}"/>
              </a:ext>
            </a:extLst>
          </p:cNvPr>
          <p:cNvCxnSpPr>
            <a:cxnSpLocks noChangeShapeType="1"/>
            <a:stCxn id="11" idx="3"/>
            <a:endCxn id="12" idx="1"/>
          </p:cNvCxnSpPr>
          <p:nvPr/>
        </p:nvCxnSpPr>
        <p:spPr bwMode="auto">
          <a:xfrm>
            <a:off x="4408715" y="2505075"/>
            <a:ext cx="577850" cy="0"/>
          </a:xfrm>
          <a:prstGeom prst="straightConnector1">
            <a:avLst/>
          </a:prstGeom>
          <a:noFill/>
          <a:ln w="38100" cap="sq">
            <a:solidFill>
              <a:schemeClr val="accent1"/>
            </a:solidFill>
            <a:round/>
            <a:headEnd/>
            <a:tailEnd/>
          </a:ln>
          <a:extLst>
            <a:ext uri="{909E8E84-426E-40DD-AFC4-6F175D3DCCD1}">
              <a14:hiddenFill xmlns:a14="http://schemas.microsoft.com/office/drawing/2010/main">
                <a:noFill/>
              </a14:hiddenFill>
            </a:ext>
          </a:extLst>
        </p:spPr>
      </p:cxnSp>
      <p:cxnSp>
        <p:nvCxnSpPr>
          <p:cNvPr id="21" name="AutoShape 6">
            <a:extLst>
              <a:ext uri="{FF2B5EF4-FFF2-40B4-BE49-F238E27FC236}">
                <a16:creationId xmlns:a16="http://schemas.microsoft.com/office/drawing/2014/main" id="{F980EBD7-996C-1A5F-E82C-DA880D18191D}"/>
              </a:ext>
            </a:extLst>
          </p:cNvPr>
          <p:cNvCxnSpPr>
            <a:cxnSpLocks noChangeShapeType="1"/>
            <a:stCxn id="11" idx="1"/>
            <a:endCxn id="10" idx="1"/>
          </p:cNvCxnSpPr>
          <p:nvPr/>
        </p:nvCxnSpPr>
        <p:spPr bwMode="auto">
          <a:xfrm rot="10800000" flipH="1" flipV="1">
            <a:off x="2319565" y="2505075"/>
            <a:ext cx="620713" cy="3074988"/>
          </a:xfrm>
          <a:prstGeom prst="bentConnector3">
            <a:avLst>
              <a:gd name="adj1" fmla="val -36829"/>
            </a:avLst>
          </a:prstGeom>
          <a:noFill/>
          <a:ln w="38100" cap="sq">
            <a:solidFill>
              <a:schemeClr val="accent1"/>
            </a:solidFill>
            <a:miter lim="800000"/>
            <a:headEnd/>
            <a:tailEnd type="triangle" w="med" len="med"/>
          </a:ln>
          <a:extLst>
            <a:ext uri="{909E8E84-426E-40DD-AFC4-6F175D3DCCD1}">
              <a14:hiddenFill xmlns:a14="http://schemas.microsoft.com/office/drawing/2010/main">
                <a:noFill/>
              </a14:hiddenFill>
            </a:ext>
          </a:extLst>
        </p:spPr>
      </p:cxnSp>
      <p:cxnSp>
        <p:nvCxnSpPr>
          <p:cNvPr id="22" name="AutoShape 7">
            <a:extLst>
              <a:ext uri="{FF2B5EF4-FFF2-40B4-BE49-F238E27FC236}">
                <a16:creationId xmlns:a16="http://schemas.microsoft.com/office/drawing/2014/main" id="{B2622A43-8131-F072-FE4A-88F6D23C2010}"/>
              </a:ext>
            </a:extLst>
          </p:cNvPr>
          <p:cNvCxnSpPr>
            <a:cxnSpLocks noChangeShapeType="1"/>
            <a:stCxn id="23" idx="3"/>
            <a:endCxn id="10" idx="3"/>
          </p:cNvCxnSpPr>
          <p:nvPr/>
        </p:nvCxnSpPr>
        <p:spPr bwMode="auto">
          <a:xfrm flipH="1">
            <a:off x="9263290" y="2505075"/>
            <a:ext cx="403225" cy="3074988"/>
          </a:xfrm>
          <a:prstGeom prst="bentConnector3">
            <a:avLst>
              <a:gd name="adj1" fmla="val -56694"/>
            </a:avLst>
          </a:prstGeom>
          <a:noFill/>
          <a:ln w="38100" cap="sq">
            <a:solidFill>
              <a:schemeClr val="accent1"/>
            </a:solidFill>
            <a:miter lim="800000"/>
            <a:headEnd/>
            <a:tailEnd type="triangle" w="med" len="med"/>
          </a:ln>
          <a:extLst>
            <a:ext uri="{909E8E84-426E-40DD-AFC4-6F175D3DCCD1}">
              <a14:hiddenFill xmlns:a14="http://schemas.microsoft.com/office/drawing/2010/main">
                <a:noFill/>
              </a14:hiddenFill>
            </a:ext>
          </a:extLst>
        </p:spPr>
      </p:cxnSp>
      <p:sp>
        <p:nvSpPr>
          <p:cNvPr id="23" name="Rectangle 9">
            <a:extLst>
              <a:ext uri="{FF2B5EF4-FFF2-40B4-BE49-F238E27FC236}">
                <a16:creationId xmlns:a16="http://schemas.microsoft.com/office/drawing/2014/main" id="{69058FF5-8614-3EBD-C298-42BB0800AEF8}"/>
              </a:ext>
            </a:extLst>
          </p:cNvPr>
          <p:cNvSpPr>
            <a:spLocks noChangeArrowheads="1"/>
          </p:cNvSpPr>
          <p:nvPr/>
        </p:nvSpPr>
        <p:spPr bwMode="auto">
          <a:xfrm>
            <a:off x="7577365" y="1781175"/>
            <a:ext cx="2089150" cy="1447800"/>
          </a:xfrm>
          <a:prstGeom prst="rect">
            <a:avLst/>
          </a:prstGeom>
          <a:solidFill>
            <a:schemeClr val="accent1"/>
          </a:solidFill>
          <a:ln w="12700" cap="sq">
            <a:solidFill>
              <a:schemeClr val="accent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105000"/>
              </a:lnSpc>
              <a:spcBef>
                <a:spcPct val="50000"/>
              </a:spcBef>
              <a:spcAft>
                <a:spcPct val="50000"/>
              </a:spcAft>
              <a:buClr>
                <a:srgbClr val="006699"/>
              </a:buClr>
              <a:buSzPct val="40000"/>
              <a:buFont typeface="Wingdings" panose="05000000000000000000" pitchFamily="2" charset="2"/>
              <a:buNone/>
            </a:pPr>
            <a:r>
              <a:rPr lang="en-US" altLang="en-US" sz="1600">
                <a:latin typeface="Arial" panose="020B0604020202020204" pitchFamily="34" charset="0"/>
              </a:rPr>
              <a:t>Effectively use the</a:t>
            </a:r>
            <a:br>
              <a:rPr lang="en-US" altLang="en-US" sz="1600">
                <a:latin typeface="Arial" panose="020B0604020202020204" pitchFamily="34" charset="0"/>
              </a:rPr>
            </a:br>
            <a:r>
              <a:rPr lang="en-US" altLang="en-US" sz="1600">
                <a:latin typeface="Arial" panose="020B0604020202020204" pitchFamily="34" charset="0"/>
              </a:rPr>
              <a:t>PDCA cycle</a:t>
            </a:r>
            <a:br>
              <a:rPr lang="en-US" altLang="en-US" sz="1600">
                <a:latin typeface="Arial" panose="020B0604020202020204" pitchFamily="34" charset="0"/>
              </a:rPr>
            </a:br>
            <a:r>
              <a:rPr lang="en-US" altLang="en-US" sz="1600">
                <a:latin typeface="Arial" panose="020B0604020202020204" pitchFamily="34" charset="0"/>
              </a:rPr>
              <a:t>when implementing</a:t>
            </a:r>
            <a:br>
              <a:rPr lang="en-US" altLang="en-US" sz="1600">
                <a:latin typeface="Arial" panose="020B0604020202020204" pitchFamily="34" charset="0"/>
              </a:rPr>
            </a:br>
            <a:r>
              <a:rPr lang="en-US" altLang="en-US" sz="1600">
                <a:latin typeface="Arial" panose="020B0604020202020204" pitchFamily="34" charset="0"/>
              </a:rPr>
              <a:t>plans to realize</a:t>
            </a:r>
            <a:br>
              <a:rPr lang="en-US" altLang="en-US" sz="1600">
                <a:latin typeface="Arial" panose="020B0604020202020204" pitchFamily="34" charset="0"/>
              </a:rPr>
            </a:br>
            <a:r>
              <a:rPr lang="en-US" altLang="en-US" sz="1600">
                <a:latin typeface="Arial" panose="020B0604020202020204" pitchFamily="34" charset="0"/>
              </a:rPr>
              <a:t>objectives</a:t>
            </a:r>
          </a:p>
        </p:txBody>
      </p:sp>
      <p:cxnSp>
        <p:nvCxnSpPr>
          <p:cNvPr id="24" name="AutoShape 10">
            <a:extLst>
              <a:ext uri="{FF2B5EF4-FFF2-40B4-BE49-F238E27FC236}">
                <a16:creationId xmlns:a16="http://schemas.microsoft.com/office/drawing/2014/main" id="{82A46247-97C0-C53C-A6C2-73CCDA16F002}"/>
              </a:ext>
            </a:extLst>
          </p:cNvPr>
          <p:cNvCxnSpPr>
            <a:cxnSpLocks noChangeShapeType="1"/>
            <a:stCxn id="12" idx="3"/>
            <a:endCxn id="23" idx="1"/>
          </p:cNvCxnSpPr>
          <p:nvPr/>
        </p:nvCxnSpPr>
        <p:spPr bwMode="auto">
          <a:xfrm>
            <a:off x="7075715" y="2505075"/>
            <a:ext cx="501650" cy="0"/>
          </a:xfrm>
          <a:prstGeom prst="straightConnector1">
            <a:avLst/>
          </a:prstGeom>
          <a:noFill/>
          <a:ln w="38100" cap="sq">
            <a:solidFill>
              <a:schemeClr val="accent1"/>
            </a:solidFill>
            <a:round/>
            <a:headEnd type="none" w="sm" len="sm"/>
            <a:tailEnd type="none" w="sm" len="sm"/>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16969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B8C4-9DE7-F74C-6834-C89C7AA04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B19F6-CAC7-BBA5-0684-C627102F4F2D}"/>
              </a:ext>
            </a:extLst>
          </p:cNvPr>
          <p:cNvSpPr>
            <a:spLocks noGrp="1"/>
          </p:cNvSpPr>
          <p:nvPr>
            <p:ph type="title"/>
          </p:nvPr>
        </p:nvSpPr>
        <p:spPr>
          <a:xfrm>
            <a:off x="838200" y="681037"/>
            <a:ext cx="10149114" cy="1009651"/>
          </a:xfrm>
        </p:spPr>
        <p:txBody>
          <a:bodyPr>
            <a:noAutofit/>
          </a:bodyPr>
          <a:lstStyle/>
          <a:p>
            <a:r>
              <a:rPr lang="en-US" altLang="en-US" sz="4000" dirty="0"/>
              <a:t>Strategic Deployment Success Story</a:t>
            </a:r>
            <a:endParaRPr lang="en-US" sz="4000" dirty="0"/>
          </a:p>
        </p:txBody>
      </p:sp>
      <p:grpSp>
        <p:nvGrpSpPr>
          <p:cNvPr id="3" name="Group 2">
            <a:extLst>
              <a:ext uri="{FF2B5EF4-FFF2-40B4-BE49-F238E27FC236}">
                <a16:creationId xmlns:a16="http://schemas.microsoft.com/office/drawing/2014/main" id="{5B42061B-C3F4-B22A-8072-F91ECDA61ADB}"/>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EDF9BC39-86CB-3333-E4F3-7D43C92FD26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96C31168-8B46-152C-0D91-9FE545C54E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EBA90332-18AF-7A1B-BE21-97FCFA59BFC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FFE4BDFB-2B42-CD84-E5C7-876991E548B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A10DEE84-77A6-DCC0-E9EC-856CFFA79073}"/>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26" name="Rectangle 3">
            <a:extLst>
              <a:ext uri="{FF2B5EF4-FFF2-40B4-BE49-F238E27FC236}">
                <a16:creationId xmlns:a16="http://schemas.microsoft.com/office/drawing/2014/main" id="{B674ADD0-3411-055A-98E1-5C35A88DA385}"/>
              </a:ext>
            </a:extLst>
          </p:cNvPr>
          <p:cNvSpPr>
            <a:spLocks noChangeArrowheads="1"/>
          </p:cNvSpPr>
          <p:nvPr/>
        </p:nvSpPr>
        <p:spPr bwMode="auto">
          <a:xfrm>
            <a:off x="5567590" y="1890485"/>
            <a:ext cx="4170362" cy="312738"/>
          </a:xfrm>
          <a:prstGeom prst="rect">
            <a:avLst/>
          </a:prstGeom>
          <a:solidFill>
            <a:schemeClr val="accent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mn-lt"/>
              </a:rPr>
              <a:t>Client Imperatives</a:t>
            </a:r>
          </a:p>
        </p:txBody>
      </p:sp>
      <p:sp>
        <p:nvSpPr>
          <p:cNvPr id="27" name="Rectangle 4">
            <a:extLst>
              <a:ext uri="{FF2B5EF4-FFF2-40B4-BE49-F238E27FC236}">
                <a16:creationId xmlns:a16="http://schemas.microsoft.com/office/drawing/2014/main" id="{8768BA7D-2B21-A765-1F0F-7BCF4BC7D49B}"/>
              </a:ext>
            </a:extLst>
          </p:cNvPr>
          <p:cNvSpPr>
            <a:spLocks noChangeArrowheads="1"/>
          </p:cNvSpPr>
          <p:nvPr/>
        </p:nvSpPr>
        <p:spPr bwMode="auto">
          <a:xfrm>
            <a:off x="5472340" y="2215923"/>
            <a:ext cx="4875212"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28600" indent="-22860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200" dirty="0">
                <a:solidFill>
                  <a:schemeClr val="tx1"/>
                </a:solidFill>
                <a:latin typeface="+mn-lt"/>
              </a:rPr>
              <a:t>Transform delivery, quality, and cost performance</a:t>
            </a:r>
          </a:p>
          <a:p>
            <a:pPr>
              <a:lnSpc>
                <a:spcPct val="115000"/>
              </a:lnSpc>
              <a:buSzPct val="125000"/>
              <a:buFont typeface="Arial" panose="020B0604020202020204" pitchFamily="34" charset="0"/>
              <a:buChar char="•"/>
            </a:pPr>
            <a:r>
              <a:rPr lang="en-US" altLang="en-US" sz="1200" dirty="0">
                <a:solidFill>
                  <a:schemeClr val="tx1"/>
                </a:solidFill>
                <a:latin typeface="+mn-lt"/>
              </a:rPr>
              <a:t>Protect N. American manufacturing base</a:t>
            </a:r>
          </a:p>
          <a:p>
            <a:pPr>
              <a:lnSpc>
                <a:spcPct val="115000"/>
              </a:lnSpc>
              <a:buSzPct val="125000"/>
              <a:buFont typeface="Arial" panose="020B0604020202020204" pitchFamily="34" charset="0"/>
              <a:buChar char="•"/>
            </a:pPr>
            <a:r>
              <a:rPr lang="en-US" altLang="en-US" sz="1200" dirty="0">
                <a:solidFill>
                  <a:schemeClr val="tx1"/>
                </a:solidFill>
                <a:latin typeface="+mn-lt"/>
              </a:rPr>
              <a:t>Breakthrough market share growth</a:t>
            </a:r>
          </a:p>
        </p:txBody>
      </p:sp>
      <p:sp>
        <p:nvSpPr>
          <p:cNvPr id="28" name="Rectangle 5">
            <a:extLst>
              <a:ext uri="{FF2B5EF4-FFF2-40B4-BE49-F238E27FC236}">
                <a16:creationId xmlns:a16="http://schemas.microsoft.com/office/drawing/2014/main" id="{B9AED6A5-0EF9-2AFB-FDC8-85E9FDC86F07}"/>
              </a:ext>
            </a:extLst>
          </p:cNvPr>
          <p:cNvSpPr>
            <a:spLocks noChangeArrowheads="1"/>
          </p:cNvSpPr>
          <p:nvPr/>
        </p:nvSpPr>
        <p:spPr bwMode="auto">
          <a:xfrm>
            <a:off x="5529490" y="3393848"/>
            <a:ext cx="4170362" cy="312737"/>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dirty="0">
                <a:solidFill>
                  <a:schemeClr val="tx1"/>
                </a:solidFill>
                <a:latin typeface="+mn-lt"/>
              </a:rPr>
              <a:t>LHC Approach</a:t>
            </a:r>
          </a:p>
        </p:txBody>
      </p:sp>
      <p:sp>
        <p:nvSpPr>
          <p:cNvPr id="29" name="Rectangle 6">
            <a:extLst>
              <a:ext uri="{FF2B5EF4-FFF2-40B4-BE49-F238E27FC236}">
                <a16:creationId xmlns:a16="http://schemas.microsoft.com/office/drawing/2014/main" id="{5ED00762-F1ED-09E6-1985-EA6FFAE42547}"/>
              </a:ext>
            </a:extLst>
          </p:cNvPr>
          <p:cNvSpPr>
            <a:spLocks noChangeArrowheads="1"/>
          </p:cNvSpPr>
          <p:nvPr/>
        </p:nvSpPr>
        <p:spPr bwMode="auto">
          <a:xfrm>
            <a:off x="5472340" y="3735160"/>
            <a:ext cx="442912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28600" indent="-22860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200">
                <a:solidFill>
                  <a:schemeClr val="tx1"/>
                </a:solidFill>
                <a:latin typeface="+mn-lt"/>
              </a:rPr>
              <a:t>Designed strategically driven, enterprise-wide Lean Business System</a:t>
            </a:r>
          </a:p>
          <a:p>
            <a:pPr>
              <a:lnSpc>
                <a:spcPct val="115000"/>
              </a:lnSpc>
              <a:buSzPct val="125000"/>
              <a:buFont typeface="Arial" panose="020B0604020202020204" pitchFamily="34" charset="0"/>
              <a:buChar char="•"/>
            </a:pPr>
            <a:r>
              <a:rPr lang="en-US" altLang="en-US" sz="1200">
                <a:solidFill>
                  <a:schemeClr val="tx1"/>
                </a:solidFill>
                <a:latin typeface="+mn-lt"/>
              </a:rPr>
              <a:t>Implemented LBS into Tier 1 N. American facilities</a:t>
            </a:r>
          </a:p>
        </p:txBody>
      </p:sp>
      <p:sp>
        <p:nvSpPr>
          <p:cNvPr id="30" name="Rectangle 7">
            <a:extLst>
              <a:ext uri="{FF2B5EF4-FFF2-40B4-BE49-F238E27FC236}">
                <a16:creationId xmlns:a16="http://schemas.microsoft.com/office/drawing/2014/main" id="{D9FA128F-B2B4-AF3C-FCD1-19E2BF7C8A1C}"/>
              </a:ext>
            </a:extLst>
          </p:cNvPr>
          <p:cNvSpPr>
            <a:spLocks noChangeArrowheads="1"/>
          </p:cNvSpPr>
          <p:nvPr/>
        </p:nvSpPr>
        <p:spPr bwMode="auto">
          <a:xfrm>
            <a:off x="5467577" y="5165498"/>
            <a:ext cx="4379913"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28600" indent="-22860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200" dirty="0">
                <a:solidFill>
                  <a:schemeClr val="tx1"/>
                </a:solidFill>
                <a:latin typeface="+mn-lt"/>
              </a:rPr>
              <a:t>Reduced core manufacturing lead-times by 70%</a:t>
            </a:r>
          </a:p>
          <a:p>
            <a:pPr>
              <a:lnSpc>
                <a:spcPct val="115000"/>
              </a:lnSpc>
              <a:buSzPct val="125000"/>
              <a:buFont typeface="Arial" panose="020B0604020202020204" pitchFamily="34" charset="0"/>
              <a:buChar char="•"/>
            </a:pPr>
            <a:r>
              <a:rPr lang="en-US" altLang="en-US" sz="1200" dirty="0">
                <a:solidFill>
                  <a:schemeClr val="tx1"/>
                </a:solidFill>
                <a:latin typeface="+mn-lt"/>
              </a:rPr>
              <a:t>Increased manufacturing productivity by 40%</a:t>
            </a:r>
          </a:p>
          <a:p>
            <a:pPr>
              <a:lnSpc>
                <a:spcPct val="115000"/>
              </a:lnSpc>
              <a:buSzPct val="125000"/>
              <a:buFont typeface="Arial" panose="020B0604020202020204" pitchFamily="34" charset="0"/>
              <a:buChar char="•"/>
            </a:pPr>
            <a:r>
              <a:rPr lang="en-US" altLang="en-US" sz="1200" dirty="0">
                <a:solidFill>
                  <a:schemeClr val="tx1"/>
                </a:solidFill>
                <a:latin typeface="+mn-lt"/>
              </a:rPr>
              <a:t>Improved quality and inventory performance by 50%</a:t>
            </a:r>
          </a:p>
        </p:txBody>
      </p:sp>
      <p:sp>
        <p:nvSpPr>
          <p:cNvPr id="31" name="Rectangle 8">
            <a:extLst>
              <a:ext uri="{FF2B5EF4-FFF2-40B4-BE49-F238E27FC236}">
                <a16:creationId xmlns:a16="http://schemas.microsoft.com/office/drawing/2014/main" id="{4F9070BA-5BEA-4CF5-D878-FEECEB19E526}"/>
              </a:ext>
            </a:extLst>
          </p:cNvPr>
          <p:cNvSpPr>
            <a:spLocks noChangeArrowheads="1"/>
          </p:cNvSpPr>
          <p:nvPr/>
        </p:nvSpPr>
        <p:spPr bwMode="auto">
          <a:xfrm>
            <a:off x="5567590" y="4836885"/>
            <a:ext cx="4170362" cy="312738"/>
          </a:xfrm>
          <a:prstGeom prst="rect">
            <a:avLst/>
          </a:prstGeom>
          <a:solidFill>
            <a:srgbClr val="FFFF00"/>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en-US" altLang="en-US" sz="1800">
                <a:solidFill>
                  <a:srgbClr val="000066"/>
                </a:solidFill>
                <a:latin typeface="+mn-lt"/>
              </a:rPr>
              <a:t>Illustrative Outcomes</a:t>
            </a:r>
          </a:p>
        </p:txBody>
      </p:sp>
      <p:sp>
        <p:nvSpPr>
          <p:cNvPr id="32" name="Oval 9">
            <a:extLst>
              <a:ext uri="{FF2B5EF4-FFF2-40B4-BE49-F238E27FC236}">
                <a16:creationId xmlns:a16="http://schemas.microsoft.com/office/drawing/2014/main" id="{904E1D6D-D3C8-2546-89C4-58663271C6C2}"/>
              </a:ext>
            </a:extLst>
          </p:cNvPr>
          <p:cNvSpPr>
            <a:spLocks noChangeArrowheads="1"/>
          </p:cNvSpPr>
          <p:nvPr/>
        </p:nvSpPr>
        <p:spPr bwMode="auto">
          <a:xfrm>
            <a:off x="1629002" y="3101748"/>
            <a:ext cx="3340100" cy="1066800"/>
          </a:xfrm>
          <a:prstGeom prst="ellipse">
            <a:avLst/>
          </a:prstGeom>
          <a:solidFill>
            <a:schemeClr val="accent4"/>
          </a:solidFill>
          <a:ln w="12700" cap="sq" algn="ctr">
            <a:solidFill>
              <a:schemeClr val="tx1"/>
            </a:solidFill>
            <a:round/>
            <a:headEnd/>
            <a:tailEnd/>
          </a:ln>
          <a:effec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spcBef>
                <a:spcPct val="20000"/>
              </a:spcBef>
            </a:pPr>
            <a:r>
              <a:rPr lang="en-US" altLang="en-US" sz="1800" dirty="0">
                <a:effectLst>
                  <a:outerShdw blurRad="38100" dist="38100" dir="2700000" algn="tl">
                    <a:srgbClr val="000000"/>
                  </a:outerShdw>
                </a:effectLst>
                <a:latin typeface="+mn-lt"/>
              </a:rPr>
              <a:t>Leading Construction</a:t>
            </a:r>
          </a:p>
          <a:p>
            <a:pPr algn="ctr">
              <a:lnSpc>
                <a:spcPct val="95000"/>
              </a:lnSpc>
              <a:spcBef>
                <a:spcPct val="20000"/>
              </a:spcBef>
            </a:pPr>
            <a:r>
              <a:rPr lang="en-US" altLang="en-US" sz="1800" dirty="0">
                <a:effectLst>
                  <a:outerShdw blurRad="38100" dist="38100" dir="2700000" algn="tl">
                    <a:srgbClr val="000000"/>
                  </a:outerShdw>
                </a:effectLst>
                <a:latin typeface="+mn-lt"/>
              </a:rPr>
              <a:t>Components Manufacturer</a:t>
            </a:r>
          </a:p>
        </p:txBody>
      </p:sp>
      <p:cxnSp>
        <p:nvCxnSpPr>
          <p:cNvPr id="33" name="AutoShape 10">
            <a:extLst>
              <a:ext uri="{FF2B5EF4-FFF2-40B4-BE49-F238E27FC236}">
                <a16:creationId xmlns:a16="http://schemas.microsoft.com/office/drawing/2014/main" id="{885D8E65-D803-CFB0-3512-9F6FC0918321}"/>
              </a:ext>
            </a:extLst>
          </p:cNvPr>
          <p:cNvCxnSpPr>
            <a:cxnSpLocks noChangeShapeType="1"/>
            <a:stCxn id="32" idx="6"/>
            <a:endCxn id="26" idx="1"/>
          </p:cNvCxnSpPr>
          <p:nvPr/>
        </p:nvCxnSpPr>
        <p:spPr bwMode="auto">
          <a:xfrm flipV="1">
            <a:off x="4969102" y="2047648"/>
            <a:ext cx="598488" cy="1587500"/>
          </a:xfrm>
          <a:prstGeom prst="bentConnector3">
            <a:avLst>
              <a:gd name="adj1" fmla="val 49866"/>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4" name="AutoShape 11">
            <a:extLst>
              <a:ext uri="{FF2B5EF4-FFF2-40B4-BE49-F238E27FC236}">
                <a16:creationId xmlns:a16="http://schemas.microsoft.com/office/drawing/2014/main" id="{F1B2D6BF-CD10-DAD6-42BC-D9743B861740}"/>
              </a:ext>
            </a:extLst>
          </p:cNvPr>
          <p:cNvCxnSpPr>
            <a:cxnSpLocks noChangeShapeType="1"/>
            <a:stCxn id="32" idx="6"/>
            <a:endCxn id="31" idx="1"/>
          </p:cNvCxnSpPr>
          <p:nvPr/>
        </p:nvCxnSpPr>
        <p:spPr bwMode="auto">
          <a:xfrm>
            <a:off x="4969102" y="3635148"/>
            <a:ext cx="598488" cy="1358900"/>
          </a:xfrm>
          <a:prstGeom prst="bentConnector3">
            <a:avLst>
              <a:gd name="adj1" fmla="val 49866"/>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 name="AutoShape 12">
            <a:extLst>
              <a:ext uri="{FF2B5EF4-FFF2-40B4-BE49-F238E27FC236}">
                <a16:creationId xmlns:a16="http://schemas.microsoft.com/office/drawing/2014/main" id="{2C455A8F-544A-D0E9-20A6-F430F45BE41C}"/>
              </a:ext>
            </a:extLst>
          </p:cNvPr>
          <p:cNvCxnSpPr>
            <a:cxnSpLocks noChangeShapeType="1"/>
            <a:stCxn id="32" idx="6"/>
            <a:endCxn id="28" idx="1"/>
          </p:cNvCxnSpPr>
          <p:nvPr/>
        </p:nvCxnSpPr>
        <p:spPr bwMode="auto">
          <a:xfrm flipV="1">
            <a:off x="4969102" y="3551010"/>
            <a:ext cx="560388" cy="84138"/>
          </a:xfrm>
          <a:prstGeom prst="bentConnector3">
            <a:avLst>
              <a:gd name="adj1" fmla="val 54389"/>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319522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E9028-E22E-6E5B-188C-8E9E8CFD3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24545-4275-C778-8AB5-4B882932C970}"/>
              </a:ext>
            </a:extLst>
          </p:cNvPr>
          <p:cNvSpPr>
            <a:spLocks noGrp="1"/>
          </p:cNvSpPr>
          <p:nvPr>
            <p:ph type="title"/>
          </p:nvPr>
        </p:nvSpPr>
        <p:spPr>
          <a:xfrm>
            <a:off x="838200" y="681037"/>
            <a:ext cx="10149114" cy="1009651"/>
          </a:xfrm>
        </p:spPr>
        <p:txBody>
          <a:bodyPr>
            <a:noAutofit/>
          </a:bodyPr>
          <a:lstStyle/>
          <a:p>
            <a:r>
              <a:rPr lang="en-US" altLang="en-US" sz="2400" dirty="0"/>
              <a:t>Strategic Deployment from Top Level Matrix to Countermeasures</a:t>
            </a:r>
            <a:endParaRPr lang="en-US" sz="2400" dirty="0"/>
          </a:p>
        </p:txBody>
      </p:sp>
      <p:grpSp>
        <p:nvGrpSpPr>
          <p:cNvPr id="3" name="Group 2">
            <a:extLst>
              <a:ext uri="{FF2B5EF4-FFF2-40B4-BE49-F238E27FC236}">
                <a16:creationId xmlns:a16="http://schemas.microsoft.com/office/drawing/2014/main" id="{74CEC912-F262-B08B-4004-98E6A105A1AC}"/>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177F71AD-AA8C-D135-0D25-DCBD111E97FF}"/>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1AFBE4A1-0122-5DB0-0A6A-F5EEEF24B77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858292C0-608A-77F3-F497-78FC0E650E2A}"/>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47B4F7B6-CF5B-D2FF-9DB3-CA8591563F8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50719116-6C72-75B7-1F10-5B50E3392DD1}"/>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9" name="Text Box 3">
            <a:extLst>
              <a:ext uri="{FF2B5EF4-FFF2-40B4-BE49-F238E27FC236}">
                <a16:creationId xmlns:a16="http://schemas.microsoft.com/office/drawing/2014/main" id="{0F89D036-68B7-0CFD-4F20-EFCEAC229565}"/>
              </a:ext>
            </a:extLst>
          </p:cNvPr>
          <p:cNvSpPr txBox="1">
            <a:spLocks noChangeArrowheads="1"/>
          </p:cNvSpPr>
          <p:nvPr/>
        </p:nvSpPr>
        <p:spPr bwMode="auto">
          <a:xfrm>
            <a:off x="1393257" y="1746704"/>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pic>
        <p:nvPicPr>
          <p:cNvPr id="10" name="Picture 4">
            <a:extLst>
              <a:ext uri="{FF2B5EF4-FFF2-40B4-BE49-F238E27FC236}">
                <a16:creationId xmlns:a16="http://schemas.microsoft.com/office/drawing/2014/main" id="{96C07B68-3A5F-0854-B05F-F3D60454A0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570" y="2064204"/>
            <a:ext cx="2838450" cy="1936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1" name="Picture 5">
            <a:extLst>
              <a:ext uri="{FF2B5EF4-FFF2-40B4-BE49-F238E27FC236}">
                <a16:creationId xmlns:a16="http://schemas.microsoft.com/office/drawing/2014/main" id="{1DEF4079-EEF2-6939-CD90-71AA8B407D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6145" y="2812824"/>
            <a:ext cx="2825750" cy="1841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2" name="Text Box 6">
            <a:extLst>
              <a:ext uri="{FF2B5EF4-FFF2-40B4-BE49-F238E27FC236}">
                <a16:creationId xmlns:a16="http://schemas.microsoft.com/office/drawing/2014/main" id="{20F37A47-FB6C-8928-341A-ED609108DD54}"/>
              </a:ext>
            </a:extLst>
          </p:cNvPr>
          <p:cNvSpPr txBox="1">
            <a:spLocks noChangeArrowheads="1"/>
          </p:cNvSpPr>
          <p:nvPr/>
        </p:nvSpPr>
        <p:spPr bwMode="auto">
          <a:xfrm>
            <a:off x="2906145" y="2506436"/>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pic>
        <p:nvPicPr>
          <p:cNvPr id="13" name="Picture 7">
            <a:extLst>
              <a:ext uri="{FF2B5EF4-FFF2-40B4-BE49-F238E27FC236}">
                <a16:creationId xmlns:a16="http://schemas.microsoft.com/office/drawing/2014/main" id="{51E76F3A-1B8C-3B4C-03C0-B3EE32E3BB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4693" y="3429000"/>
            <a:ext cx="2894013"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4" name="Text Box 8">
            <a:extLst>
              <a:ext uri="{FF2B5EF4-FFF2-40B4-BE49-F238E27FC236}">
                <a16:creationId xmlns:a16="http://schemas.microsoft.com/office/drawing/2014/main" id="{2CFEE654-FC9E-DCF0-4E9B-C08871712A9D}"/>
              </a:ext>
            </a:extLst>
          </p:cNvPr>
          <p:cNvSpPr txBox="1">
            <a:spLocks noChangeArrowheads="1"/>
          </p:cNvSpPr>
          <p:nvPr/>
        </p:nvSpPr>
        <p:spPr bwMode="auto">
          <a:xfrm>
            <a:off x="4550568" y="3128963"/>
            <a:ext cx="15684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Action Plans</a:t>
            </a:r>
          </a:p>
        </p:txBody>
      </p:sp>
      <p:pic>
        <p:nvPicPr>
          <p:cNvPr id="15" name="Picture 9">
            <a:extLst>
              <a:ext uri="{FF2B5EF4-FFF2-40B4-BE49-F238E27FC236}">
                <a16:creationId xmlns:a16="http://schemas.microsoft.com/office/drawing/2014/main" id="{D1110B12-CA95-D6F1-7799-748F50B388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5178" y="3904798"/>
            <a:ext cx="2897187" cy="18430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6" name="Text Box 10">
            <a:extLst>
              <a:ext uri="{FF2B5EF4-FFF2-40B4-BE49-F238E27FC236}">
                <a16:creationId xmlns:a16="http://schemas.microsoft.com/office/drawing/2014/main" id="{81F4BB7E-376D-9FDD-C95B-103B1F04E74A}"/>
              </a:ext>
            </a:extLst>
          </p:cNvPr>
          <p:cNvSpPr txBox="1">
            <a:spLocks noChangeArrowheads="1"/>
          </p:cNvSpPr>
          <p:nvPr/>
        </p:nvSpPr>
        <p:spPr bwMode="auto">
          <a:xfrm>
            <a:off x="6067878" y="359523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Bowling Chart</a:t>
            </a:r>
          </a:p>
        </p:txBody>
      </p:sp>
      <p:pic>
        <p:nvPicPr>
          <p:cNvPr id="17" name="Picture 11">
            <a:extLst>
              <a:ext uri="{FF2B5EF4-FFF2-40B4-BE49-F238E27FC236}">
                <a16:creationId xmlns:a16="http://schemas.microsoft.com/office/drawing/2014/main" id="{9B3ABA58-771F-5881-3F33-4AF78B3E2B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51989" y="4373336"/>
            <a:ext cx="2852738" cy="1927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8" name="Text Box 12">
            <a:extLst>
              <a:ext uri="{FF2B5EF4-FFF2-40B4-BE49-F238E27FC236}">
                <a16:creationId xmlns:a16="http://schemas.microsoft.com/office/drawing/2014/main" id="{ADBE5604-CE84-A132-D554-F2BFCA4C3FB9}"/>
              </a:ext>
            </a:extLst>
          </p:cNvPr>
          <p:cNvSpPr txBox="1">
            <a:spLocks noChangeArrowheads="1"/>
          </p:cNvSpPr>
          <p:nvPr/>
        </p:nvSpPr>
        <p:spPr bwMode="auto">
          <a:xfrm>
            <a:off x="7774214" y="4060599"/>
            <a:ext cx="26352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Countermeasure Form</a:t>
            </a:r>
          </a:p>
        </p:txBody>
      </p:sp>
    </p:spTree>
    <p:custDataLst>
      <p:tags r:id="rId1"/>
    </p:custDataLst>
    <p:extLst>
      <p:ext uri="{BB962C8B-B14F-4D97-AF65-F5344CB8AC3E}">
        <p14:creationId xmlns:p14="http://schemas.microsoft.com/office/powerpoint/2010/main" val="193807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4" grpId="0" animBg="1"/>
      <p:bldP spid="16"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EFD1-C7D3-9C97-EC5E-D8B62985A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8FADA5-E209-5F98-87FF-5C552E35BBE3}"/>
              </a:ext>
            </a:extLst>
          </p:cNvPr>
          <p:cNvSpPr>
            <a:spLocks noGrp="1"/>
          </p:cNvSpPr>
          <p:nvPr>
            <p:ph type="title"/>
          </p:nvPr>
        </p:nvSpPr>
        <p:spPr>
          <a:xfrm>
            <a:off x="838200" y="681037"/>
            <a:ext cx="10149114" cy="1009651"/>
          </a:xfrm>
        </p:spPr>
        <p:txBody>
          <a:bodyPr>
            <a:noAutofit/>
          </a:bodyPr>
          <a:lstStyle/>
          <a:p>
            <a:r>
              <a:rPr lang="en-US" altLang="en-US" sz="4000" dirty="0"/>
              <a:t>Strategic Deployment Top Level Matrix</a:t>
            </a:r>
            <a:endParaRPr lang="en-US" sz="4000" dirty="0"/>
          </a:p>
        </p:txBody>
      </p:sp>
      <p:grpSp>
        <p:nvGrpSpPr>
          <p:cNvPr id="3" name="Group 2">
            <a:extLst>
              <a:ext uri="{FF2B5EF4-FFF2-40B4-BE49-F238E27FC236}">
                <a16:creationId xmlns:a16="http://schemas.microsoft.com/office/drawing/2014/main" id="{2A136105-0D55-32B2-A04F-F959B8F84205}"/>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FC6D6818-5F61-D151-2EE0-7958767ACD1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EBADE1B2-4E58-E601-98F3-8B3C39523EB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3C99BB85-6D67-7FD3-78B0-CAF8C9D6E6EB}"/>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C0E7508D-9E58-2772-90F3-6A5993F32E96}"/>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4231207B-89E2-19D4-5475-F54D275CA071}"/>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nvGrpSpPr>
          <p:cNvPr id="27" name="Group 26">
            <a:extLst>
              <a:ext uri="{FF2B5EF4-FFF2-40B4-BE49-F238E27FC236}">
                <a16:creationId xmlns:a16="http://schemas.microsoft.com/office/drawing/2014/main" id="{249C6A1D-51BE-455B-1A19-E5543CEB8666}"/>
              </a:ext>
            </a:extLst>
          </p:cNvPr>
          <p:cNvGrpSpPr/>
          <p:nvPr/>
        </p:nvGrpSpPr>
        <p:grpSpPr>
          <a:xfrm>
            <a:off x="2293030" y="1777822"/>
            <a:ext cx="7605939" cy="4546600"/>
            <a:chOff x="403225" y="1257300"/>
            <a:chExt cx="8407400" cy="4979988"/>
          </a:xfrm>
        </p:grpSpPr>
        <p:sp>
          <p:nvSpPr>
            <p:cNvPr id="19" name="Text Box 10">
              <a:extLst>
                <a:ext uri="{FF2B5EF4-FFF2-40B4-BE49-F238E27FC236}">
                  <a16:creationId xmlns:a16="http://schemas.microsoft.com/office/drawing/2014/main" id="{60D7362C-6764-3BDD-7A04-D473C2CB38D9}"/>
                </a:ext>
              </a:extLst>
            </p:cNvPr>
            <p:cNvSpPr txBox="1">
              <a:spLocks noChangeArrowheads="1"/>
            </p:cNvSpPr>
            <p:nvPr/>
          </p:nvSpPr>
          <p:spPr bwMode="auto">
            <a:xfrm rot="16200000">
              <a:off x="4032251" y="3987800"/>
              <a:ext cx="241300" cy="314325"/>
            </a:xfrm>
            <a:prstGeom prst="rect">
              <a:avLst/>
            </a:prstGeom>
            <a:noFill/>
            <a:ln>
              <a:noFill/>
            </a:ln>
            <a:effectLst/>
            <a:extLst>
              <a:ext uri="{909E8E84-426E-40dd-AFC4-6F175D3DCCD1}">
                <a14:hiddenFill xmlns="" xmlns:a14="http://schemas.microsoft.com/office/drawing/2010/main">
                  <a:solidFill>
                    <a:srgbClr val="808080"/>
                  </a:solidFill>
                </a14:hiddenFill>
              </a:ext>
              <a:ext uri="{91240B29-F687-4f45-9708-019B960494DF}">
                <a14:hiddenLine xmlns="" xmlns:a14="http://schemas.microsoft.com/office/drawing/2010/main" w="12700" cap="sq">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gn="ctr">
                <a:lnSpc>
                  <a:spcPct val="80000"/>
                </a:lnSpc>
                <a:spcBef>
                  <a:spcPct val="20000"/>
                </a:spcBef>
                <a:defRPr/>
              </a:pPr>
              <a:r>
                <a:rPr lang="en-US" sz="1800">
                  <a:solidFill>
                    <a:schemeClr val="tx1"/>
                  </a:solidFill>
                  <a:latin typeface="Times New Roman" charset="0"/>
                </a:rPr>
                <a:t> </a:t>
              </a:r>
            </a:p>
          </p:txBody>
        </p:sp>
        <p:sp>
          <p:nvSpPr>
            <p:cNvPr id="20" name="TextBox 7">
              <a:extLst>
                <a:ext uri="{FF2B5EF4-FFF2-40B4-BE49-F238E27FC236}">
                  <a16:creationId xmlns:a16="http://schemas.microsoft.com/office/drawing/2014/main" id="{51642E73-8137-D0D6-4204-658BFD8E6EF8}"/>
                </a:ext>
              </a:extLst>
            </p:cNvPr>
            <p:cNvSpPr txBox="1">
              <a:spLocks noChangeArrowheads="1"/>
            </p:cNvSpPr>
            <p:nvPr/>
          </p:nvSpPr>
          <p:spPr bwMode="auto">
            <a:xfrm rot="5400000">
              <a:off x="4256882" y="4907756"/>
              <a:ext cx="1857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eaLnBrk="1" hangingPunct="1"/>
              <a:endParaRPr lang="en-US" altLang="en-US"/>
            </a:p>
          </p:txBody>
        </p:sp>
        <p:graphicFrame>
          <p:nvGraphicFramePr>
            <p:cNvPr id="21" name="Object 1">
              <a:extLst>
                <a:ext uri="{FF2B5EF4-FFF2-40B4-BE49-F238E27FC236}">
                  <a16:creationId xmlns:a16="http://schemas.microsoft.com/office/drawing/2014/main" id="{C51B0EE7-4150-CDB5-CEB0-AF4F5A16B7A3}"/>
                </a:ext>
              </a:extLst>
            </p:cNvPr>
            <p:cNvGraphicFramePr>
              <a:graphicFrameLocks noChangeAspect="1"/>
            </p:cNvGraphicFramePr>
            <p:nvPr/>
          </p:nvGraphicFramePr>
          <p:xfrm>
            <a:off x="403225" y="1257300"/>
            <a:ext cx="8407400" cy="4979988"/>
          </p:xfrm>
          <a:graphic>
            <a:graphicData uri="http://schemas.openxmlformats.org/presentationml/2006/ole">
              <mc:AlternateContent xmlns:mc="http://schemas.openxmlformats.org/markup-compatibility/2006">
                <mc:Choice xmlns:v="urn:schemas-microsoft-com:vml" Requires="v">
                  <p:oleObj name="Worksheet" r:id="rId4" imgW="13436600" imgH="8305800" progId="Excel.Sheet.8">
                    <p:embed/>
                  </p:oleObj>
                </mc:Choice>
                <mc:Fallback>
                  <p:oleObj name="Worksheet" r:id="rId4" imgW="13436600" imgH="8305800" progId="Excel.Sheet.8">
                    <p:embed/>
                    <p:pic>
                      <p:nvPicPr>
                        <p:cNvPr id="21" name="Object 1">
                          <a:extLst>
                            <a:ext uri="{FF2B5EF4-FFF2-40B4-BE49-F238E27FC236}">
                              <a16:creationId xmlns:a16="http://schemas.microsoft.com/office/drawing/2014/main" id="{2E66F453-0568-869D-06A7-046665C545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5" y="1257300"/>
                          <a:ext cx="8407400" cy="4979988"/>
                        </a:xfrm>
                        <a:prstGeom prst="rect">
                          <a:avLst/>
                        </a:prstGeom>
                        <a:noFill/>
                        <a:ln>
                          <a:noFill/>
                        </a:ln>
                      </p:spPr>
                    </p:pic>
                  </p:oleObj>
                </mc:Fallback>
              </mc:AlternateContent>
            </a:graphicData>
          </a:graphic>
        </p:graphicFrame>
        <p:sp>
          <p:nvSpPr>
            <p:cNvPr id="22" name="Oval 16">
              <a:extLst>
                <a:ext uri="{FF2B5EF4-FFF2-40B4-BE49-F238E27FC236}">
                  <a16:creationId xmlns:a16="http://schemas.microsoft.com/office/drawing/2014/main" id="{817728FB-3EC5-F2DE-8B11-93104752E9A1}"/>
                </a:ext>
              </a:extLst>
            </p:cNvPr>
            <p:cNvSpPr>
              <a:spLocks noChangeArrowheads="1"/>
            </p:cNvSpPr>
            <p:nvPr/>
          </p:nvSpPr>
          <p:spPr bwMode="auto">
            <a:xfrm>
              <a:off x="569913" y="3919538"/>
              <a:ext cx="450850" cy="449262"/>
            </a:xfrm>
            <a:prstGeom prst="ellipse">
              <a:avLst/>
            </a:prstGeom>
            <a:solidFill>
              <a:srgbClr val="DDDDDD"/>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23" name="Oval 16">
              <a:extLst>
                <a:ext uri="{FF2B5EF4-FFF2-40B4-BE49-F238E27FC236}">
                  <a16:creationId xmlns:a16="http://schemas.microsoft.com/office/drawing/2014/main" id="{03AA9680-B6F5-D54B-1FBF-706F47317B3B}"/>
                </a:ext>
              </a:extLst>
            </p:cNvPr>
            <p:cNvSpPr>
              <a:spLocks noChangeArrowheads="1"/>
            </p:cNvSpPr>
            <p:nvPr/>
          </p:nvSpPr>
          <p:spPr bwMode="auto">
            <a:xfrm>
              <a:off x="2273300" y="5588000"/>
              <a:ext cx="450850" cy="449263"/>
            </a:xfrm>
            <a:prstGeom prst="ellipse">
              <a:avLst/>
            </a:prstGeom>
            <a:solidFill>
              <a:schemeClr val="bg1">
                <a:lumMod val="75000"/>
              </a:schemeClr>
            </a:solidFill>
            <a:ln w="12700" cap="sq" algn="ctr">
              <a:solidFill>
                <a:schemeClr val="tx1"/>
              </a:solidFill>
              <a:round/>
              <a:headEnd/>
              <a:tailEnd/>
            </a:ln>
            <a:effectLst/>
          </p:spPr>
          <p:txBody>
            <a:bodyPr wrap="none" anchor="ctr"/>
            <a:lstStyle/>
            <a:p>
              <a:pPr algn="ctr" eaLnBrk="0" hangingPunct="0">
                <a:lnSpc>
                  <a:spcPct val="80000"/>
                </a:lnSpc>
                <a:spcBef>
                  <a:spcPct val="20000"/>
                </a:spcBef>
                <a:defRPr/>
              </a:pPr>
              <a:r>
                <a:rPr lang="en-US" sz="2000" dirty="0">
                  <a:solidFill>
                    <a:schemeClr val="tx1"/>
                  </a:solidFill>
                  <a:latin typeface="Arial" charset="0"/>
                  <a:ea typeface="+mn-ea"/>
                </a:rPr>
                <a:t>0</a:t>
              </a:r>
            </a:p>
          </p:txBody>
        </p:sp>
        <p:sp>
          <p:nvSpPr>
            <p:cNvPr id="24" name="Oval 17">
              <a:extLst>
                <a:ext uri="{FF2B5EF4-FFF2-40B4-BE49-F238E27FC236}">
                  <a16:creationId xmlns:a16="http://schemas.microsoft.com/office/drawing/2014/main" id="{23973286-77BF-ADEE-1324-DD0A0CD8DA0A}"/>
                </a:ext>
              </a:extLst>
            </p:cNvPr>
            <p:cNvSpPr>
              <a:spLocks noChangeArrowheads="1"/>
            </p:cNvSpPr>
            <p:nvPr/>
          </p:nvSpPr>
          <p:spPr bwMode="auto">
            <a:xfrm>
              <a:off x="2325688" y="2157413"/>
              <a:ext cx="450850" cy="449262"/>
            </a:xfrm>
            <a:prstGeom prst="ellipse">
              <a:avLst/>
            </a:prstGeom>
            <a:solidFill>
              <a:srgbClr val="00FFFF"/>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25" name="Oval 18">
              <a:extLst>
                <a:ext uri="{FF2B5EF4-FFF2-40B4-BE49-F238E27FC236}">
                  <a16:creationId xmlns:a16="http://schemas.microsoft.com/office/drawing/2014/main" id="{71497500-FC53-05EB-308F-3DF07FE418A0}"/>
                </a:ext>
              </a:extLst>
            </p:cNvPr>
            <p:cNvSpPr>
              <a:spLocks noChangeArrowheads="1"/>
            </p:cNvSpPr>
            <p:nvPr/>
          </p:nvSpPr>
          <p:spPr bwMode="auto">
            <a:xfrm>
              <a:off x="4573588" y="2862263"/>
              <a:ext cx="450850" cy="449262"/>
            </a:xfrm>
            <a:prstGeom prst="ellipse">
              <a:avLst/>
            </a:prstGeom>
            <a:solidFill>
              <a:srgbClr val="00CCFF"/>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3</a:t>
              </a:r>
            </a:p>
          </p:txBody>
        </p:sp>
        <p:sp>
          <p:nvSpPr>
            <p:cNvPr id="26" name="Oval 16">
              <a:extLst>
                <a:ext uri="{FF2B5EF4-FFF2-40B4-BE49-F238E27FC236}">
                  <a16:creationId xmlns:a16="http://schemas.microsoft.com/office/drawing/2014/main" id="{77E3368C-915C-7FA3-F258-29F158D56741}"/>
                </a:ext>
              </a:extLst>
            </p:cNvPr>
            <p:cNvSpPr>
              <a:spLocks noChangeArrowheads="1"/>
            </p:cNvSpPr>
            <p:nvPr/>
          </p:nvSpPr>
          <p:spPr bwMode="auto">
            <a:xfrm>
              <a:off x="6022975" y="3170238"/>
              <a:ext cx="450850" cy="449262"/>
            </a:xfrm>
            <a:prstGeom prst="ellipse">
              <a:avLst/>
            </a:prstGeom>
            <a:solidFill>
              <a:srgbClr val="CCFFCC"/>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4</a:t>
              </a:r>
            </a:p>
          </p:txBody>
        </p:sp>
      </p:grpSp>
    </p:spTree>
    <p:custDataLst>
      <p:tags r:id="rId1"/>
    </p:custDataLst>
    <p:extLst>
      <p:ext uri="{BB962C8B-B14F-4D97-AF65-F5344CB8AC3E}">
        <p14:creationId xmlns:p14="http://schemas.microsoft.com/office/powerpoint/2010/main" val="2344430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BBB5C-B95F-0685-6B49-FDB019926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94851-5E49-8478-43CF-581D9A291F97}"/>
              </a:ext>
            </a:extLst>
          </p:cNvPr>
          <p:cNvSpPr>
            <a:spLocks noGrp="1"/>
          </p:cNvSpPr>
          <p:nvPr>
            <p:ph type="title"/>
          </p:nvPr>
        </p:nvSpPr>
        <p:spPr>
          <a:xfrm>
            <a:off x="838200" y="681037"/>
            <a:ext cx="10149114" cy="1009651"/>
          </a:xfrm>
        </p:spPr>
        <p:txBody>
          <a:bodyPr>
            <a:noAutofit/>
          </a:bodyPr>
          <a:lstStyle/>
          <a:p>
            <a:r>
              <a:rPr lang="en-US" altLang="en-US" sz="4000" dirty="0"/>
              <a:t>Cascading to Second Level</a:t>
            </a:r>
            <a:endParaRPr lang="en-US" sz="4000" dirty="0"/>
          </a:p>
        </p:txBody>
      </p:sp>
      <p:grpSp>
        <p:nvGrpSpPr>
          <p:cNvPr id="3" name="Group 2">
            <a:extLst>
              <a:ext uri="{FF2B5EF4-FFF2-40B4-BE49-F238E27FC236}">
                <a16:creationId xmlns:a16="http://schemas.microsoft.com/office/drawing/2014/main" id="{363FA853-C80A-4CC0-865A-987C348422BB}"/>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0E768816-0134-9759-318F-F97BA9899566}"/>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C2216CA6-C3F0-B8DA-2DC8-7F38E5E7F57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77D8B45A-6BCA-D187-CFD8-4A9AA7705292}"/>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D8137D8B-CFA8-0936-750C-73F8E82BECD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A7AB2F43-72FD-CCE5-940C-883E1F4D3DDA}"/>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nvGrpSpPr>
          <p:cNvPr id="54" name="Group 53">
            <a:extLst>
              <a:ext uri="{FF2B5EF4-FFF2-40B4-BE49-F238E27FC236}">
                <a16:creationId xmlns:a16="http://schemas.microsoft.com/office/drawing/2014/main" id="{4A650768-70E8-C4C1-DA51-0A186BFCF63C}"/>
              </a:ext>
            </a:extLst>
          </p:cNvPr>
          <p:cNvGrpSpPr/>
          <p:nvPr/>
        </p:nvGrpSpPr>
        <p:grpSpPr>
          <a:xfrm>
            <a:off x="2480355" y="1690688"/>
            <a:ext cx="7231289" cy="4675009"/>
            <a:chOff x="525463" y="1093994"/>
            <a:chExt cx="7910512" cy="5184569"/>
          </a:xfrm>
        </p:grpSpPr>
        <p:graphicFrame>
          <p:nvGraphicFramePr>
            <p:cNvPr id="28" name="Object 5">
              <a:extLst>
                <a:ext uri="{FF2B5EF4-FFF2-40B4-BE49-F238E27FC236}">
                  <a16:creationId xmlns:a16="http://schemas.microsoft.com/office/drawing/2014/main" id="{1AF93726-F8B0-C6FE-BDF1-2353C393E393}"/>
                </a:ext>
              </a:extLst>
            </p:cNvPr>
            <p:cNvGraphicFramePr>
              <a:graphicFrameLocks noChangeAspect="1"/>
            </p:cNvGraphicFramePr>
            <p:nvPr>
              <p:extLst>
                <p:ext uri="{D42A27DB-BD31-4B8C-83A1-F6EECF244321}">
                  <p14:modId xmlns:p14="http://schemas.microsoft.com/office/powerpoint/2010/main" val="1493400597"/>
                </p:ext>
              </p:extLst>
            </p:nvPr>
          </p:nvGraphicFramePr>
          <p:xfrm>
            <a:off x="525463" y="1566863"/>
            <a:ext cx="3683000" cy="2274887"/>
          </p:xfrm>
          <a:graphic>
            <a:graphicData uri="http://schemas.openxmlformats.org/presentationml/2006/ole">
              <mc:AlternateContent xmlns:mc="http://schemas.openxmlformats.org/markup-compatibility/2006">
                <mc:Choice xmlns:v="urn:schemas-microsoft-com:vml" Requires="v">
                  <p:oleObj name="Worksheet" r:id="rId4" imgW="13436600" imgH="8305800" progId="Excel.Sheet.8">
                    <p:embed/>
                  </p:oleObj>
                </mc:Choice>
                <mc:Fallback>
                  <p:oleObj name="Worksheet" r:id="rId4" imgW="13436600" imgH="8305800" progId="Excel.Sheet.8">
                    <p:embed/>
                    <p:pic>
                      <p:nvPicPr>
                        <p:cNvPr id="46081" name="Object 5">
                          <a:extLst>
                            <a:ext uri="{FF2B5EF4-FFF2-40B4-BE49-F238E27FC236}">
                              <a16:creationId xmlns:a16="http://schemas.microsoft.com/office/drawing/2014/main" id="{D6BC5260-FD40-9044-591F-749AD47674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463" y="1566863"/>
                          <a:ext cx="3683000" cy="227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4">
              <a:extLst>
                <a:ext uri="{FF2B5EF4-FFF2-40B4-BE49-F238E27FC236}">
                  <a16:creationId xmlns:a16="http://schemas.microsoft.com/office/drawing/2014/main" id="{13D7EE29-6A19-3BF4-465A-470569AE5EB3}"/>
                </a:ext>
              </a:extLst>
            </p:cNvPr>
            <p:cNvGraphicFramePr>
              <a:graphicFrameLocks noChangeAspect="1"/>
            </p:cNvGraphicFramePr>
            <p:nvPr>
              <p:extLst>
                <p:ext uri="{D42A27DB-BD31-4B8C-83A1-F6EECF244321}">
                  <p14:modId xmlns:p14="http://schemas.microsoft.com/office/powerpoint/2010/main" val="2386455609"/>
                </p:ext>
              </p:extLst>
            </p:nvPr>
          </p:nvGraphicFramePr>
          <p:xfrm>
            <a:off x="4772025" y="4152900"/>
            <a:ext cx="3663950" cy="2057400"/>
          </p:xfrm>
          <a:graphic>
            <a:graphicData uri="http://schemas.openxmlformats.org/presentationml/2006/ole">
              <mc:AlternateContent xmlns:mc="http://schemas.openxmlformats.org/markup-compatibility/2006">
                <mc:Choice xmlns:v="urn:schemas-microsoft-com:vml" Requires="v">
                  <p:oleObj name="Worksheet" r:id="rId6" imgW="16484600" imgH="7721600" progId="Excel.Sheet.8">
                    <p:embed/>
                  </p:oleObj>
                </mc:Choice>
                <mc:Fallback>
                  <p:oleObj name="Worksheet" r:id="rId6" imgW="16484600" imgH="7721600" progId="Excel.Sheet.8">
                    <p:embed/>
                    <p:pic>
                      <p:nvPicPr>
                        <p:cNvPr id="46082" name="Object 4">
                          <a:extLst>
                            <a:ext uri="{FF2B5EF4-FFF2-40B4-BE49-F238E27FC236}">
                              <a16:creationId xmlns:a16="http://schemas.microsoft.com/office/drawing/2014/main" id="{E889CB1F-21A6-631C-A326-FF8ADAE664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72025" y="4152900"/>
                          <a:ext cx="36639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3">
              <a:extLst>
                <a:ext uri="{FF2B5EF4-FFF2-40B4-BE49-F238E27FC236}">
                  <a16:creationId xmlns:a16="http://schemas.microsoft.com/office/drawing/2014/main" id="{2070DDB1-6A8C-C7DC-25A9-B74188B9A010}"/>
                </a:ext>
              </a:extLst>
            </p:cNvPr>
            <p:cNvGraphicFramePr>
              <a:graphicFrameLocks noChangeAspect="1"/>
            </p:cNvGraphicFramePr>
            <p:nvPr>
              <p:extLst>
                <p:ext uri="{D42A27DB-BD31-4B8C-83A1-F6EECF244321}">
                  <p14:modId xmlns:p14="http://schemas.microsoft.com/office/powerpoint/2010/main" val="1696732049"/>
                </p:ext>
              </p:extLst>
            </p:nvPr>
          </p:nvGraphicFramePr>
          <p:xfrm>
            <a:off x="4708525" y="1425575"/>
            <a:ext cx="3695700" cy="2257425"/>
          </p:xfrm>
          <a:graphic>
            <a:graphicData uri="http://schemas.openxmlformats.org/presentationml/2006/ole">
              <mc:AlternateContent xmlns:mc="http://schemas.openxmlformats.org/markup-compatibility/2006">
                <mc:Choice xmlns:v="urn:schemas-microsoft-com:vml" Requires="v">
                  <p:oleObj name="Worksheet" r:id="rId8" imgW="16484600" imgH="8026400" progId="Excel.Sheet.8">
                    <p:embed/>
                  </p:oleObj>
                </mc:Choice>
                <mc:Fallback>
                  <p:oleObj name="Worksheet" r:id="rId8" imgW="16484600" imgH="8026400" progId="Excel.Sheet.8">
                    <p:embed/>
                    <p:pic>
                      <p:nvPicPr>
                        <p:cNvPr id="46083" name="Object 3">
                          <a:extLst>
                            <a:ext uri="{FF2B5EF4-FFF2-40B4-BE49-F238E27FC236}">
                              <a16:creationId xmlns:a16="http://schemas.microsoft.com/office/drawing/2014/main" id="{9D3C4831-408F-7E39-2216-4680E8A19DF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08525" y="1425575"/>
                          <a:ext cx="369570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Text Box 2">
              <a:extLst>
                <a:ext uri="{FF2B5EF4-FFF2-40B4-BE49-F238E27FC236}">
                  <a16:creationId xmlns:a16="http://schemas.microsoft.com/office/drawing/2014/main" id="{72FAB5EF-4630-7AB2-D790-40A314683BE7}"/>
                </a:ext>
              </a:extLst>
            </p:cNvPr>
            <p:cNvSpPr txBox="1">
              <a:spLocks noChangeArrowheads="1"/>
            </p:cNvSpPr>
            <p:nvPr/>
          </p:nvSpPr>
          <p:spPr bwMode="auto">
            <a:xfrm>
              <a:off x="4795837" y="3801625"/>
              <a:ext cx="3486151"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 - Delivery</a:t>
              </a:r>
            </a:p>
          </p:txBody>
        </p:sp>
        <p:sp>
          <p:nvSpPr>
            <p:cNvPr id="32" name="Text Box 4">
              <a:extLst>
                <a:ext uri="{FF2B5EF4-FFF2-40B4-BE49-F238E27FC236}">
                  <a16:creationId xmlns:a16="http://schemas.microsoft.com/office/drawing/2014/main" id="{FD73BC0F-CDF4-71F7-C831-21EC66890E99}"/>
                </a:ext>
              </a:extLst>
            </p:cNvPr>
            <p:cNvSpPr txBox="1">
              <a:spLocks noChangeArrowheads="1"/>
            </p:cNvSpPr>
            <p:nvPr/>
          </p:nvSpPr>
          <p:spPr bwMode="auto">
            <a:xfrm>
              <a:off x="1038225" y="1227138"/>
              <a:ext cx="19875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Top Level Matrix</a:t>
              </a:r>
            </a:p>
          </p:txBody>
        </p:sp>
        <p:sp>
          <p:nvSpPr>
            <p:cNvPr id="33" name="Text Box 5">
              <a:extLst>
                <a:ext uri="{FF2B5EF4-FFF2-40B4-BE49-F238E27FC236}">
                  <a16:creationId xmlns:a16="http://schemas.microsoft.com/office/drawing/2014/main" id="{F4EFAFC1-7AA7-AA35-9A2E-B62B51C94D3E}"/>
                </a:ext>
              </a:extLst>
            </p:cNvPr>
            <p:cNvSpPr txBox="1">
              <a:spLocks noChangeArrowheads="1"/>
            </p:cNvSpPr>
            <p:nvPr/>
          </p:nvSpPr>
          <p:spPr bwMode="auto">
            <a:xfrm>
              <a:off x="4840287" y="1093994"/>
              <a:ext cx="33972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 - Growth</a:t>
              </a:r>
            </a:p>
          </p:txBody>
        </p:sp>
        <p:grpSp>
          <p:nvGrpSpPr>
            <p:cNvPr id="34" name="Group 9">
              <a:extLst>
                <a:ext uri="{FF2B5EF4-FFF2-40B4-BE49-F238E27FC236}">
                  <a16:creationId xmlns:a16="http://schemas.microsoft.com/office/drawing/2014/main" id="{822C1FA7-89C9-216A-14C8-B89FDE8B5FC0}"/>
                </a:ext>
              </a:extLst>
            </p:cNvPr>
            <p:cNvGrpSpPr>
              <a:grpSpLocks/>
            </p:cNvGrpSpPr>
            <p:nvPr/>
          </p:nvGrpSpPr>
          <p:grpSpPr bwMode="auto">
            <a:xfrm>
              <a:off x="730250" y="3368675"/>
              <a:ext cx="4357688" cy="2687638"/>
              <a:chOff x="448" y="2322"/>
              <a:chExt cx="2755" cy="1033"/>
            </a:xfrm>
          </p:grpSpPr>
          <p:sp>
            <p:nvSpPr>
              <p:cNvPr id="35" name="Line 10">
                <a:extLst>
                  <a:ext uri="{FF2B5EF4-FFF2-40B4-BE49-F238E27FC236}">
                    <a16:creationId xmlns:a16="http://schemas.microsoft.com/office/drawing/2014/main" id="{20213453-9458-B787-FA36-9E2A36CE538A}"/>
                  </a:ext>
                </a:extLst>
              </p:cNvPr>
              <p:cNvSpPr>
                <a:spLocks noChangeShapeType="1"/>
              </p:cNvSpPr>
              <p:nvPr/>
            </p:nvSpPr>
            <p:spPr bwMode="auto">
              <a:xfrm>
                <a:off x="457" y="2322"/>
                <a:ext cx="0" cy="1024"/>
              </a:xfrm>
              <a:prstGeom prst="line">
                <a:avLst/>
              </a:prstGeom>
              <a:noFill/>
              <a:ln w="57150"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36" name="Line 11">
                <a:extLst>
                  <a:ext uri="{FF2B5EF4-FFF2-40B4-BE49-F238E27FC236}">
                    <a16:creationId xmlns:a16="http://schemas.microsoft.com/office/drawing/2014/main" id="{FB180189-5CDC-E58C-6973-F7682C6F684A}"/>
                  </a:ext>
                </a:extLst>
              </p:cNvPr>
              <p:cNvSpPr>
                <a:spLocks noChangeShapeType="1"/>
              </p:cNvSpPr>
              <p:nvPr/>
            </p:nvSpPr>
            <p:spPr bwMode="auto">
              <a:xfrm>
                <a:off x="448" y="3355"/>
                <a:ext cx="2755" cy="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grpSp>
        <p:sp>
          <p:nvSpPr>
            <p:cNvPr id="37" name="Oval 12">
              <a:extLst>
                <a:ext uri="{FF2B5EF4-FFF2-40B4-BE49-F238E27FC236}">
                  <a16:creationId xmlns:a16="http://schemas.microsoft.com/office/drawing/2014/main" id="{C106A2C8-5BDE-6DB5-389F-968F38BD1421}"/>
                </a:ext>
              </a:extLst>
            </p:cNvPr>
            <p:cNvSpPr>
              <a:spLocks noChangeArrowheads="1"/>
            </p:cNvSpPr>
            <p:nvPr/>
          </p:nvSpPr>
          <p:spPr bwMode="auto">
            <a:xfrm>
              <a:off x="5087938" y="5829300"/>
              <a:ext cx="450850" cy="449263"/>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38" name="Oval 13">
              <a:extLst>
                <a:ext uri="{FF2B5EF4-FFF2-40B4-BE49-F238E27FC236}">
                  <a16:creationId xmlns:a16="http://schemas.microsoft.com/office/drawing/2014/main" id="{9B8435E3-CFA7-A664-458E-65A025FFBA50}"/>
                </a:ext>
              </a:extLst>
            </p:cNvPr>
            <p:cNvSpPr>
              <a:spLocks noChangeArrowheads="1"/>
            </p:cNvSpPr>
            <p:nvPr/>
          </p:nvSpPr>
          <p:spPr bwMode="auto">
            <a:xfrm>
              <a:off x="4489450" y="5021263"/>
              <a:ext cx="450850" cy="449262"/>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9" name="Oval 14">
              <a:extLst>
                <a:ext uri="{FF2B5EF4-FFF2-40B4-BE49-F238E27FC236}">
                  <a16:creationId xmlns:a16="http://schemas.microsoft.com/office/drawing/2014/main" id="{9D47B95E-E8CD-48D1-FE46-E3C854E6A0A5}"/>
                </a:ext>
              </a:extLst>
            </p:cNvPr>
            <p:cNvSpPr>
              <a:spLocks noChangeArrowheads="1"/>
            </p:cNvSpPr>
            <p:nvPr/>
          </p:nvSpPr>
          <p:spPr bwMode="auto">
            <a:xfrm>
              <a:off x="5005388" y="3281363"/>
              <a:ext cx="450850" cy="449262"/>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40" name="Oval 15">
              <a:extLst>
                <a:ext uri="{FF2B5EF4-FFF2-40B4-BE49-F238E27FC236}">
                  <a16:creationId xmlns:a16="http://schemas.microsoft.com/office/drawing/2014/main" id="{831D270C-5BEC-ECFA-08ED-120D95CD2EA1}"/>
                </a:ext>
              </a:extLst>
            </p:cNvPr>
            <p:cNvSpPr>
              <a:spLocks noChangeArrowheads="1"/>
            </p:cNvSpPr>
            <p:nvPr/>
          </p:nvSpPr>
          <p:spPr bwMode="auto">
            <a:xfrm>
              <a:off x="4406900" y="2528888"/>
              <a:ext cx="450850" cy="449262"/>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41" name="Oval 16">
              <a:extLst>
                <a:ext uri="{FF2B5EF4-FFF2-40B4-BE49-F238E27FC236}">
                  <a16:creationId xmlns:a16="http://schemas.microsoft.com/office/drawing/2014/main" id="{400371FC-C23C-424A-873D-FCC04DFA7753}"/>
                </a:ext>
              </a:extLst>
            </p:cNvPr>
            <p:cNvSpPr>
              <a:spLocks noChangeArrowheads="1"/>
            </p:cNvSpPr>
            <p:nvPr/>
          </p:nvSpPr>
          <p:spPr bwMode="auto">
            <a:xfrm>
              <a:off x="533400" y="2986088"/>
              <a:ext cx="450850" cy="449262"/>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42" name="Oval 17">
              <a:extLst>
                <a:ext uri="{FF2B5EF4-FFF2-40B4-BE49-F238E27FC236}">
                  <a16:creationId xmlns:a16="http://schemas.microsoft.com/office/drawing/2014/main" id="{DF6E9120-91C0-44B7-F84C-9B029384ADC8}"/>
                </a:ext>
              </a:extLst>
            </p:cNvPr>
            <p:cNvSpPr>
              <a:spLocks noChangeArrowheads="1"/>
            </p:cNvSpPr>
            <p:nvPr/>
          </p:nvSpPr>
          <p:spPr bwMode="auto">
            <a:xfrm>
              <a:off x="1230313" y="2105025"/>
              <a:ext cx="450850" cy="449263"/>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43" name="Oval 18">
              <a:extLst>
                <a:ext uri="{FF2B5EF4-FFF2-40B4-BE49-F238E27FC236}">
                  <a16:creationId xmlns:a16="http://schemas.microsoft.com/office/drawing/2014/main" id="{E70D8117-BEFB-AB20-D604-D7FD90FC7B09}"/>
                </a:ext>
              </a:extLst>
            </p:cNvPr>
            <p:cNvSpPr>
              <a:spLocks noChangeArrowheads="1"/>
            </p:cNvSpPr>
            <p:nvPr/>
          </p:nvSpPr>
          <p:spPr bwMode="auto">
            <a:xfrm>
              <a:off x="2287588" y="2163763"/>
              <a:ext cx="450850" cy="449262"/>
            </a:xfrm>
            <a:prstGeom prst="ellipse">
              <a:avLst/>
            </a:prstGeom>
            <a:solidFill>
              <a:srgbClr val="00CC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3</a:t>
              </a:r>
            </a:p>
          </p:txBody>
        </p:sp>
        <p:sp>
          <p:nvSpPr>
            <p:cNvPr id="44" name="Oval 19">
              <a:extLst>
                <a:ext uri="{FF2B5EF4-FFF2-40B4-BE49-F238E27FC236}">
                  <a16:creationId xmlns:a16="http://schemas.microsoft.com/office/drawing/2014/main" id="{7ACA3195-E0B6-B633-A4D7-8D8CB03A52F2}"/>
                </a:ext>
              </a:extLst>
            </p:cNvPr>
            <p:cNvSpPr>
              <a:spLocks noChangeArrowheads="1"/>
            </p:cNvSpPr>
            <p:nvPr/>
          </p:nvSpPr>
          <p:spPr bwMode="auto">
            <a:xfrm>
              <a:off x="5113338" y="176847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dirty="0">
                  <a:solidFill>
                    <a:schemeClr val="bg1"/>
                  </a:solidFill>
                  <a:latin typeface="Arial" charset="0"/>
                  <a:ea typeface="ＭＳ Ｐゴシック" charset="0"/>
                </a:rPr>
                <a:t>4</a:t>
              </a:r>
            </a:p>
          </p:txBody>
        </p:sp>
        <p:sp>
          <p:nvSpPr>
            <p:cNvPr id="45" name="Oval 20">
              <a:extLst>
                <a:ext uri="{FF2B5EF4-FFF2-40B4-BE49-F238E27FC236}">
                  <a16:creationId xmlns:a16="http://schemas.microsoft.com/office/drawing/2014/main" id="{081EBB9B-97D5-CE19-B733-22C5E33F5D41}"/>
                </a:ext>
              </a:extLst>
            </p:cNvPr>
            <p:cNvSpPr>
              <a:spLocks noChangeArrowheads="1"/>
            </p:cNvSpPr>
            <p:nvPr/>
          </p:nvSpPr>
          <p:spPr bwMode="auto">
            <a:xfrm>
              <a:off x="5184775" y="454977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4</a:t>
              </a:r>
            </a:p>
          </p:txBody>
        </p:sp>
        <p:sp>
          <p:nvSpPr>
            <p:cNvPr id="46" name="Oval 21">
              <a:extLst>
                <a:ext uri="{FF2B5EF4-FFF2-40B4-BE49-F238E27FC236}">
                  <a16:creationId xmlns:a16="http://schemas.microsoft.com/office/drawing/2014/main" id="{05476D9C-1D59-E19B-8DF4-0F3B020C08A6}"/>
                </a:ext>
              </a:extLst>
            </p:cNvPr>
            <p:cNvSpPr>
              <a:spLocks noChangeArrowheads="1"/>
            </p:cNvSpPr>
            <p:nvPr/>
          </p:nvSpPr>
          <p:spPr bwMode="auto">
            <a:xfrm>
              <a:off x="5808663" y="228282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5</a:t>
              </a:r>
            </a:p>
          </p:txBody>
        </p:sp>
        <p:sp>
          <p:nvSpPr>
            <p:cNvPr id="47" name="Oval 22">
              <a:extLst>
                <a:ext uri="{FF2B5EF4-FFF2-40B4-BE49-F238E27FC236}">
                  <a16:creationId xmlns:a16="http://schemas.microsoft.com/office/drawing/2014/main" id="{F1A5D9F9-B780-BFB6-13D7-BB80D71BB982}"/>
                </a:ext>
              </a:extLst>
            </p:cNvPr>
            <p:cNvSpPr>
              <a:spLocks noChangeArrowheads="1"/>
            </p:cNvSpPr>
            <p:nvPr/>
          </p:nvSpPr>
          <p:spPr bwMode="auto">
            <a:xfrm>
              <a:off x="5857875" y="4965700"/>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5</a:t>
              </a:r>
            </a:p>
          </p:txBody>
        </p:sp>
        <p:sp>
          <p:nvSpPr>
            <p:cNvPr id="48" name="Oval 23">
              <a:extLst>
                <a:ext uri="{FF2B5EF4-FFF2-40B4-BE49-F238E27FC236}">
                  <a16:creationId xmlns:a16="http://schemas.microsoft.com/office/drawing/2014/main" id="{34BC63A6-0154-EC85-9E6E-9045293B428F}"/>
                </a:ext>
              </a:extLst>
            </p:cNvPr>
            <p:cNvSpPr>
              <a:spLocks noChangeArrowheads="1"/>
            </p:cNvSpPr>
            <p:nvPr/>
          </p:nvSpPr>
          <p:spPr bwMode="auto">
            <a:xfrm>
              <a:off x="6538913" y="2297113"/>
              <a:ext cx="450850" cy="449262"/>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6</a:t>
              </a:r>
            </a:p>
          </p:txBody>
        </p:sp>
        <p:sp>
          <p:nvSpPr>
            <p:cNvPr id="49" name="Oval 24">
              <a:extLst>
                <a:ext uri="{FF2B5EF4-FFF2-40B4-BE49-F238E27FC236}">
                  <a16:creationId xmlns:a16="http://schemas.microsoft.com/office/drawing/2014/main" id="{553BB5F4-EF04-A85D-CD1C-3343EA372E26}"/>
                </a:ext>
              </a:extLst>
            </p:cNvPr>
            <p:cNvSpPr>
              <a:spLocks noChangeArrowheads="1"/>
            </p:cNvSpPr>
            <p:nvPr/>
          </p:nvSpPr>
          <p:spPr bwMode="auto">
            <a:xfrm>
              <a:off x="6611938" y="4978400"/>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6</a:t>
              </a:r>
            </a:p>
          </p:txBody>
        </p:sp>
        <p:sp>
          <p:nvSpPr>
            <p:cNvPr id="50" name="Line 25">
              <a:extLst>
                <a:ext uri="{FF2B5EF4-FFF2-40B4-BE49-F238E27FC236}">
                  <a16:creationId xmlns:a16="http://schemas.microsoft.com/office/drawing/2014/main" id="{C2D7DEBF-2402-94A0-1394-7DF11DAB9920}"/>
                </a:ext>
              </a:extLst>
            </p:cNvPr>
            <p:cNvSpPr>
              <a:spLocks noChangeShapeType="1"/>
            </p:cNvSpPr>
            <p:nvPr/>
          </p:nvSpPr>
          <p:spPr bwMode="auto">
            <a:xfrm>
              <a:off x="1454150" y="2581275"/>
              <a:ext cx="30163" cy="2640013"/>
            </a:xfrm>
            <a:prstGeom prst="line">
              <a:avLst/>
            </a:prstGeom>
            <a:noFill/>
            <a:ln w="57150" cap="sq">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51" name="Line 26">
              <a:extLst>
                <a:ext uri="{FF2B5EF4-FFF2-40B4-BE49-F238E27FC236}">
                  <a16:creationId xmlns:a16="http://schemas.microsoft.com/office/drawing/2014/main" id="{1BC92B22-3710-B26F-E223-10797D117276}"/>
                </a:ext>
              </a:extLst>
            </p:cNvPr>
            <p:cNvSpPr>
              <a:spLocks noChangeShapeType="1"/>
            </p:cNvSpPr>
            <p:nvPr/>
          </p:nvSpPr>
          <p:spPr bwMode="auto">
            <a:xfrm flipV="1">
              <a:off x="1487488" y="5275263"/>
              <a:ext cx="3001962" cy="0"/>
            </a:xfrm>
            <a:prstGeom prst="line">
              <a:avLst/>
            </a:prstGeom>
            <a:noFill/>
            <a:ln w="57150" cap="sq">
              <a:solidFill>
                <a:srgbClr val="3399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52" name="Line 27">
              <a:extLst>
                <a:ext uri="{FF2B5EF4-FFF2-40B4-BE49-F238E27FC236}">
                  <a16:creationId xmlns:a16="http://schemas.microsoft.com/office/drawing/2014/main" id="{9AC403B5-B405-5732-9CFF-1E58FCEAD531}"/>
                </a:ext>
              </a:extLst>
            </p:cNvPr>
            <p:cNvSpPr>
              <a:spLocks noChangeShapeType="1"/>
            </p:cNvSpPr>
            <p:nvPr/>
          </p:nvSpPr>
          <p:spPr bwMode="auto">
            <a:xfrm>
              <a:off x="784225" y="3517900"/>
              <a:ext cx="4200525" cy="127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53" name="Line 28">
              <a:extLst>
                <a:ext uri="{FF2B5EF4-FFF2-40B4-BE49-F238E27FC236}">
                  <a16:creationId xmlns:a16="http://schemas.microsoft.com/office/drawing/2014/main" id="{1EEB5084-DEAE-90B1-433D-9943379777D4}"/>
                </a:ext>
              </a:extLst>
            </p:cNvPr>
            <p:cNvSpPr>
              <a:spLocks noChangeShapeType="1"/>
            </p:cNvSpPr>
            <p:nvPr/>
          </p:nvSpPr>
          <p:spPr bwMode="auto">
            <a:xfrm>
              <a:off x="1484313" y="2754313"/>
              <a:ext cx="2922587" cy="0"/>
            </a:xfrm>
            <a:prstGeom prst="line">
              <a:avLst/>
            </a:prstGeom>
            <a:noFill/>
            <a:ln w="57150" cap="sq">
              <a:solidFill>
                <a:srgbClr val="3399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grpSp>
    </p:spTree>
    <p:custDataLst>
      <p:tags r:id="rId1"/>
    </p:custDataLst>
    <p:extLst>
      <p:ext uri="{BB962C8B-B14F-4D97-AF65-F5344CB8AC3E}">
        <p14:creationId xmlns:p14="http://schemas.microsoft.com/office/powerpoint/2010/main" val="3626092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18821-B01A-B1D0-3AD5-F4C0BEB9B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A1457-F290-59FC-13E6-A8BE67B41C84}"/>
              </a:ext>
            </a:extLst>
          </p:cNvPr>
          <p:cNvSpPr>
            <a:spLocks noGrp="1"/>
          </p:cNvSpPr>
          <p:nvPr>
            <p:ph type="title"/>
          </p:nvPr>
        </p:nvSpPr>
        <p:spPr>
          <a:xfrm>
            <a:off x="838200" y="681037"/>
            <a:ext cx="10149114" cy="1009651"/>
          </a:xfrm>
        </p:spPr>
        <p:txBody>
          <a:bodyPr>
            <a:noAutofit/>
          </a:bodyPr>
          <a:lstStyle/>
          <a:p>
            <a:r>
              <a:rPr lang="en-US" altLang="en-US" sz="4000" dirty="0"/>
              <a:t>Second Level Matrix - Growth</a:t>
            </a:r>
            <a:endParaRPr lang="en-US" sz="4000" dirty="0"/>
          </a:p>
        </p:txBody>
      </p:sp>
      <p:grpSp>
        <p:nvGrpSpPr>
          <p:cNvPr id="3" name="Group 2">
            <a:extLst>
              <a:ext uri="{FF2B5EF4-FFF2-40B4-BE49-F238E27FC236}">
                <a16:creationId xmlns:a16="http://schemas.microsoft.com/office/drawing/2014/main" id="{D12E6241-0C5D-9424-51F3-873F10B5C17A}"/>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90B71D8F-AF2E-C8A0-E848-1A6A8C4A528A}"/>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582C7E36-7BB6-8310-ACB2-C94C44CE7B6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EFD8C678-892B-2CA7-F44C-45D1B717693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9E90C20F-040A-CED0-7E9D-41C5F7051DC9}"/>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E248EED4-EF5F-14F4-23B6-C2BD12716DC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nvGrpSpPr>
          <p:cNvPr id="16" name="Group 15">
            <a:extLst>
              <a:ext uri="{FF2B5EF4-FFF2-40B4-BE49-F238E27FC236}">
                <a16:creationId xmlns:a16="http://schemas.microsoft.com/office/drawing/2014/main" id="{BB0D6B52-2A04-4A4C-BDAF-4FE92F2F74CE}"/>
              </a:ext>
            </a:extLst>
          </p:cNvPr>
          <p:cNvGrpSpPr/>
          <p:nvPr/>
        </p:nvGrpSpPr>
        <p:grpSpPr>
          <a:xfrm>
            <a:off x="2408519" y="1777822"/>
            <a:ext cx="7374962" cy="4480103"/>
            <a:chOff x="241300" y="1255713"/>
            <a:chExt cx="8482013" cy="5002212"/>
          </a:xfrm>
        </p:grpSpPr>
        <p:graphicFrame>
          <p:nvGraphicFramePr>
            <p:cNvPr id="10" name="Object 1">
              <a:extLst>
                <a:ext uri="{FF2B5EF4-FFF2-40B4-BE49-F238E27FC236}">
                  <a16:creationId xmlns:a16="http://schemas.microsoft.com/office/drawing/2014/main" id="{931D0504-3070-347C-3766-951F6F5A70D9}"/>
                </a:ext>
              </a:extLst>
            </p:cNvPr>
            <p:cNvGraphicFramePr>
              <a:graphicFrameLocks noChangeAspect="1"/>
            </p:cNvGraphicFramePr>
            <p:nvPr>
              <p:extLst>
                <p:ext uri="{D42A27DB-BD31-4B8C-83A1-F6EECF244321}">
                  <p14:modId xmlns:p14="http://schemas.microsoft.com/office/powerpoint/2010/main" val="2525085827"/>
                </p:ext>
              </p:extLst>
            </p:nvPr>
          </p:nvGraphicFramePr>
          <p:xfrm>
            <a:off x="466725" y="1255713"/>
            <a:ext cx="8256588" cy="5002212"/>
          </p:xfrm>
          <a:graphic>
            <a:graphicData uri="http://schemas.openxmlformats.org/presentationml/2006/ole">
              <mc:AlternateContent xmlns:mc="http://schemas.openxmlformats.org/markup-compatibility/2006">
                <mc:Choice xmlns:v="urn:schemas-microsoft-com:vml" Requires="v">
                  <p:oleObj name="Worksheet" r:id="rId4" imgW="16484600" imgH="8026400" progId="Excel.Sheet.8">
                    <p:embed/>
                  </p:oleObj>
                </mc:Choice>
                <mc:Fallback>
                  <p:oleObj name="Worksheet" r:id="rId4" imgW="16484600" imgH="8026400" progId="Excel.Sheet.8">
                    <p:embed/>
                    <p:pic>
                      <p:nvPicPr>
                        <p:cNvPr id="47106" name="Object 1">
                          <a:extLst>
                            <a:ext uri="{FF2B5EF4-FFF2-40B4-BE49-F238E27FC236}">
                              <a16:creationId xmlns:a16="http://schemas.microsoft.com/office/drawing/2014/main" id="{ED3C5950-BFC6-54EF-6A1B-03FEE943D4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725" y="1255713"/>
                          <a:ext cx="8256588" cy="500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Oval 15">
              <a:extLst>
                <a:ext uri="{FF2B5EF4-FFF2-40B4-BE49-F238E27FC236}">
                  <a16:creationId xmlns:a16="http://schemas.microsoft.com/office/drawing/2014/main" id="{EDDFEF77-19CD-21AB-1BAA-5879C38B34E5}"/>
                </a:ext>
              </a:extLst>
            </p:cNvPr>
            <p:cNvSpPr>
              <a:spLocks noChangeArrowheads="1"/>
            </p:cNvSpPr>
            <p:nvPr/>
          </p:nvSpPr>
          <p:spPr bwMode="auto">
            <a:xfrm>
              <a:off x="241300" y="3770313"/>
              <a:ext cx="450850" cy="449262"/>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12" name="Oval 19">
              <a:extLst>
                <a:ext uri="{FF2B5EF4-FFF2-40B4-BE49-F238E27FC236}">
                  <a16:creationId xmlns:a16="http://schemas.microsoft.com/office/drawing/2014/main" id="{39CEA692-6A5F-A6DE-68CD-E83B54088F6C}"/>
                </a:ext>
              </a:extLst>
            </p:cNvPr>
            <p:cNvSpPr>
              <a:spLocks noChangeArrowheads="1"/>
            </p:cNvSpPr>
            <p:nvPr/>
          </p:nvSpPr>
          <p:spPr bwMode="auto">
            <a:xfrm>
              <a:off x="1568450" y="1665288"/>
              <a:ext cx="450850" cy="449262"/>
            </a:xfrm>
            <a:prstGeom prst="ellipse">
              <a:avLst/>
            </a:prstGeom>
            <a:solidFill>
              <a:srgbClr val="FFFF99"/>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3</a:t>
              </a:r>
            </a:p>
          </p:txBody>
        </p:sp>
        <p:sp>
          <p:nvSpPr>
            <p:cNvPr id="13" name="Oval 19">
              <a:extLst>
                <a:ext uri="{FF2B5EF4-FFF2-40B4-BE49-F238E27FC236}">
                  <a16:creationId xmlns:a16="http://schemas.microsoft.com/office/drawing/2014/main" id="{4A3BBE4A-495B-059A-2634-DFDC68EE2BD0}"/>
                </a:ext>
              </a:extLst>
            </p:cNvPr>
            <p:cNvSpPr>
              <a:spLocks noChangeArrowheads="1"/>
            </p:cNvSpPr>
            <p:nvPr/>
          </p:nvSpPr>
          <p:spPr bwMode="auto">
            <a:xfrm>
              <a:off x="3446463" y="3792538"/>
              <a:ext cx="450850" cy="449262"/>
            </a:xfrm>
            <a:prstGeom prst="ellipse">
              <a:avLst/>
            </a:prstGeom>
            <a:solidFill>
              <a:srgbClr val="FFFF00"/>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4</a:t>
              </a:r>
            </a:p>
          </p:txBody>
        </p:sp>
        <p:sp>
          <p:nvSpPr>
            <p:cNvPr id="14" name="Oval 19">
              <a:extLst>
                <a:ext uri="{FF2B5EF4-FFF2-40B4-BE49-F238E27FC236}">
                  <a16:creationId xmlns:a16="http://schemas.microsoft.com/office/drawing/2014/main" id="{E6C1FA95-8524-4C5F-DB33-574C9886CB8A}"/>
                </a:ext>
              </a:extLst>
            </p:cNvPr>
            <p:cNvSpPr>
              <a:spLocks noChangeArrowheads="1"/>
            </p:cNvSpPr>
            <p:nvPr/>
          </p:nvSpPr>
          <p:spPr bwMode="auto">
            <a:xfrm>
              <a:off x="5091113" y="3306763"/>
              <a:ext cx="450850" cy="449262"/>
            </a:xfrm>
            <a:prstGeom prst="ellipse">
              <a:avLst/>
            </a:prstGeom>
            <a:solidFill>
              <a:srgbClr val="CCFFCC"/>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5</a:t>
              </a:r>
            </a:p>
          </p:txBody>
        </p:sp>
        <p:sp>
          <p:nvSpPr>
            <p:cNvPr id="15" name="Oval 19">
              <a:extLst>
                <a:ext uri="{FF2B5EF4-FFF2-40B4-BE49-F238E27FC236}">
                  <a16:creationId xmlns:a16="http://schemas.microsoft.com/office/drawing/2014/main" id="{80496B5E-1745-4593-5B5C-6BC249C4E172}"/>
                </a:ext>
              </a:extLst>
            </p:cNvPr>
            <p:cNvSpPr>
              <a:spLocks noChangeArrowheads="1"/>
            </p:cNvSpPr>
            <p:nvPr/>
          </p:nvSpPr>
          <p:spPr bwMode="auto">
            <a:xfrm>
              <a:off x="1700213" y="5451475"/>
              <a:ext cx="450850" cy="449263"/>
            </a:xfrm>
            <a:prstGeom prst="ellipse">
              <a:avLst/>
            </a:prstGeom>
            <a:solidFill>
              <a:schemeClr val="bg1">
                <a:lumMod val="85000"/>
              </a:schemeClr>
            </a:solidFill>
            <a:ln w="12700" cap="sq" algn="ctr">
              <a:solidFill>
                <a:schemeClr val="tx1"/>
              </a:solidFill>
              <a:round/>
              <a:headEnd/>
              <a:tailEnd/>
            </a:ln>
            <a:effectLst/>
          </p:spPr>
          <p:txBody>
            <a:bodyPr wrap="none" anchor="ctr"/>
            <a:lstStyle/>
            <a:p>
              <a:pPr algn="ctr" eaLnBrk="0" hangingPunct="0">
                <a:lnSpc>
                  <a:spcPct val="80000"/>
                </a:lnSpc>
                <a:spcBef>
                  <a:spcPct val="20000"/>
                </a:spcBef>
                <a:defRPr/>
              </a:pPr>
              <a:r>
                <a:rPr lang="en-US" sz="2000" dirty="0">
                  <a:solidFill>
                    <a:schemeClr val="tx1"/>
                  </a:solidFill>
                  <a:latin typeface="Arial" charset="0"/>
                  <a:ea typeface="+mn-ea"/>
                </a:rPr>
                <a:t>1</a:t>
              </a:r>
            </a:p>
          </p:txBody>
        </p:sp>
      </p:grpSp>
    </p:spTree>
    <p:custDataLst>
      <p:tags r:id="rId1"/>
    </p:custDataLst>
    <p:extLst>
      <p:ext uri="{BB962C8B-B14F-4D97-AF65-F5344CB8AC3E}">
        <p14:creationId xmlns:p14="http://schemas.microsoft.com/office/powerpoint/2010/main" val="375699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F118A-334C-DC9F-27E9-6E649C153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510C7-07F9-C01A-AD1E-C46DB9661319}"/>
              </a:ext>
            </a:extLst>
          </p:cNvPr>
          <p:cNvSpPr>
            <a:spLocks noGrp="1"/>
          </p:cNvSpPr>
          <p:nvPr>
            <p:ph type="title"/>
          </p:nvPr>
        </p:nvSpPr>
        <p:spPr>
          <a:xfrm>
            <a:off x="838200" y="681037"/>
            <a:ext cx="10149114" cy="1009651"/>
          </a:xfrm>
        </p:spPr>
        <p:txBody>
          <a:bodyPr>
            <a:noAutofit/>
          </a:bodyPr>
          <a:lstStyle/>
          <a:p>
            <a:r>
              <a:rPr lang="en-US" altLang="en-US" sz="2800" dirty="0"/>
              <a:t>Action Plans for Each Second Level Improvement Priority</a:t>
            </a:r>
            <a:endParaRPr lang="en-US" sz="2800" dirty="0"/>
          </a:p>
        </p:txBody>
      </p:sp>
      <p:grpSp>
        <p:nvGrpSpPr>
          <p:cNvPr id="3" name="Group 2">
            <a:extLst>
              <a:ext uri="{FF2B5EF4-FFF2-40B4-BE49-F238E27FC236}">
                <a16:creationId xmlns:a16="http://schemas.microsoft.com/office/drawing/2014/main" id="{BA43ECBB-43AA-68F7-7FD9-87D2364813C6}"/>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5FD0FD5C-868B-35CC-088C-0032D629CB6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7FDA6ABB-7908-6CEA-28FE-73ABF394BBF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6DB073A3-5BEE-E9FE-A622-1B194E64FBC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A5ED9308-56F2-C58B-5EFC-355FB407524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7E6E7678-21CA-A6FD-C709-B88372C791E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9" name="Text Box 3">
            <a:extLst>
              <a:ext uri="{FF2B5EF4-FFF2-40B4-BE49-F238E27FC236}">
                <a16:creationId xmlns:a16="http://schemas.microsoft.com/office/drawing/2014/main" id="{A223808C-106C-CFB3-D76C-4087B9168A0A}"/>
              </a:ext>
            </a:extLst>
          </p:cNvPr>
          <p:cNvSpPr txBox="1">
            <a:spLocks noChangeArrowheads="1"/>
          </p:cNvSpPr>
          <p:nvPr/>
        </p:nvSpPr>
        <p:spPr bwMode="auto">
          <a:xfrm>
            <a:off x="2550765" y="1690688"/>
            <a:ext cx="19875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sp>
        <p:nvSpPr>
          <p:cNvPr id="17" name="Text Box 4">
            <a:extLst>
              <a:ext uri="{FF2B5EF4-FFF2-40B4-BE49-F238E27FC236}">
                <a16:creationId xmlns:a16="http://schemas.microsoft.com/office/drawing/2014/main" id="{AEBB370A-CDD2-42C0-8DB1-8E3F38DBD96E}"/>
              </a:ext>
            </a:extLst>
          </p:cNvPr>
          <p:cNvSpPr txBox="1">
            <a:spLocks noChangeArrowheads="1"/>
          </p:cNvSpPr>
          <p:nvPr/>
        </p:nvSpPr>
        <p:spPr bwMode="auto">
          <a:xfrm>
            <a:off x="7908578" y="1773238"/>
            <a:ext cx="15684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Action Plans</a:t>
            </a:r>
          </a:p>
        </p:txBody>
      </p:sp>
      <p:pic>
        <p:nvPicPr>
          <p:cNvPr id="18" name="Picture 5">
            <a:extLst>
              <a:ext uri="{FF2B5EF4-FFF2-40B4-BE49-F238E27FC236}">
                <a16:creationId xmlns:a16="http://schemas.microsoft.com/office/drawing/2014/main" id="{91FC9052-0435-9A10-10D0-901196AEAB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053" y="2006600"/>
            <a:ext cx="3279775" cy="22367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9" name="Picture 6">
            <a:extLst>
              <a:ext uri="{FF2B5EF4-FFF2-40B4-BE49-F238E27FC236}">
                <a16:creationId xmlns:a16="http://schemas.microsoft.com/office/drawing/2014/main" id="{DE7C0AF6-8BDD-7E93-ED46-3E36C47B70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0128" y="3675063"/>
            <a:ext cx="3344862" cy="2205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0" name="Text Box 7">
            <a:extLst>
              <a:ext uri="{FF2B5EF4-FFF2-40B4-BE49-F238E27FC236}">
                <a16:creationId xmlns:a16="http://schemas.microsoft.com/office/drawing/2014/main" id="{B5BEA6F4-B2DB-B034-1E70-B723A792576C}"/>
              </a:ext>
            </a:extLst>
          </p:cNvPr>
          <p:cNvSpPr txBox="1">
            <a:spLocks noChangeArrowheads="1"/>
          </p:cNvSpPr>
          <p:nvPr/>
        </p:nvSpPr>
        <p:spPr bwMode="auto">
          <a:xfrm>
            <a:off x="2503140" y="3345657"/>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sp>
        <p:nvSpPr>
          <p:cNvPr id="21" name="Oval 8">
            <a:extLst>
              <a:ext uri="{FF2B5EF4-FFF2-40B4-BE49-F238E27FC236}">
                <a16:creationId xmlns:a16="http://schemas.microsoft.com/office/drawing/2014/main" id="{BBB5636B-2BD4-1D7F-9E04-9074CFF892CF}"/>
              </a:ext>
            </a:extLst>
          </p:cNvPr>
          <p:cNvSpPr>
            <a:spLocks noChangeArrowheads="1"/>
          </p:cNvSpPr>
          <p:nvPr/>
        </p:nvSpPr>
        <p:spPr bwMode="auto">
          <a:xfrm>
            <a:off x="2398365" y="3949700"/>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sp>
        <p:nvSpPr>
          <p:cNvPr id="22" name="Line 9">
            <a:extLst>
              <a:ext uri="{FF2B5EF4-FFF2-40B4-BE49-F238E27FC236}">
                <a16:creationId xmlns:a16="http://schemas.microsoft.com/office/drawing/2014/main" id="{A2CDF9D1-6975-5E03-76C4-A3C823F0A40C}"/>
              </a:ext>
            </a:extLst>
          </p:cNvPr>
          <p:cNvSpPr>
            <a:spLocks noChangeShapeType="1"/>
          </p:cNvSpPr>
          <p:nvPr/>
        </p:nvSpPr>
        <p:spPr bwMode="auto">
          <a:xfrm flipV="1">
            <a:off x="2868265" y="4121150"/>
            <a:ext cx="4057650" cy="50800"/>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3" name="Line 10">
            <a:extLst>
              <a:ext uri="{FF2B5EF4-FFF2-40B4-BE49-F238E27FC236}">
                <a16:creationId xmlns:a16="http://schemas.microsoft.com/office/drawing/2014/main" id="{45FC9DF8-1B2A-F445-08A8-03FAFF54ED1A}"/>
              </a:ext>
            </a:extLst>
          </p:cNvPr>
          <p:cNvSpPr>
            <a:spLocks noChangeShapeType="1"/>
          </p:cNvSpPr>
          <p:nvPr/>
        </p:nvSpPr>
        <p:spPr bwMode="auto">
          <a:xfrm flipV="1">
            <a:off x="2871440" y="2911475"/>
            <a:ext cx="4506913" cy="1219200"/>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4" name="Line 11">
            <a:extLst>
              <a:ext uri="{FF2B5EF4-FFF2-40B4-BE49-F238E27FC236}">
                <a16:creationId xmlns:a16="http://schemas.microsoft.com/office/drawing/2014/main" id="{7E37509F-AA12-216C-4BCA-B51BD7322BBA}"/>
              </a:ext>
            </a:extLst>
          </p:cNvPr>
          <p:cNvSpPr>
            <a:spLocks noChangeShapeType="1"/>
          </p:cNvSpPr>
          <p:nvPr/>
        </p:nvSpPr>
        <p:spPr bwMode="auto">
          <a:xfrm>
            <a:off x="2868265" y="4197350"/>
            <a:ext cx="4546600" cy="1374775"/>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pic>
        <p:nvPicPr>
          <p:cNvPr id="25" name="Picture 12">
            <a:extLst>
              <a:ext uri="{FF2B5EF4-FFF2-40B4-BE49-F238E27FC236}">
                <a16:creationId xmlns:a16="http://schemas.microsoft.com/office/drawing/2014/main" id="{CA36FEC0-E3D3-C514-65D3-7155A5485D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8353" y="2116138"/>
            <a:ext cx="2894012"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6" name="Oval 13">
            <a:extLst>
              <a:ext uri="{FF2B5EF4-FFF2-40B4-BE49-F238E27FC236}">
                <a16:creationId xmlns:a16="http://schemas.microsoft.com/office/drawing/2014/main" id="{1FCA4261-A2F7-DEBD-2405-15DAFAC5C206}"/>
              </a:ext>
            </a:extLst>
          </p:cNvPr>
          <p:cNvSpPr>
            <a:spLocks noChangeArrowheads="1"/>
          </p:cNvSpPr>
          <p:nvPr/>
        </p:nvSpPr>
        <p:spPr bwMode="auto">
          <a:xfrm>
            <a:off x="7376765" y="2641600"/>
            <a:ext cx="450850" cy="4365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pic>
        <p:nvPicPr>
          <p:cNvPr id="27" name="Picture 14">
            <a:extLst>
              <a:ext uri="{FF2B5EF4-FFF2-40B4-BE49-F238E27FC236}">
                <a16:creationId xmlns:a16="http://schemas.microsoft.com/office/drawing/2014/main" id="{B85F4FD2-39BD-9F80-3FB0-BB06A45C48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11628" y="3452813"/>
            <a:ext cx="2960687" cy="179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8" name="Oval 15">
            <a:extLst>
              <a:ext uri="{FF2B5EF4-FFF2-40B4-BE49-F238E27FC236}">
                <a16:creationId xmlns:a16="http://schemas.microsoft.com/office/drawing/2014/main" id="{D000FEF7-2EE3-52AA-E45A-455581610650}"/>
              </a:ext>
            </a:extLst>
          </p:cNvPr>
          <p:cNvSpPr>
            <a:spLocks noChangeArrowheads="1"/>
          </p:cNvSpPr>
          <p:nvPr/>
        </p:nvSpPr>
        <p:spPr bwMode="auto">
          <a:xfrm>
            <a:off x="6916390" y="389572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pic>
        <p:nvPicPr>
          <p:cNvPr id="29" name="Picture 16">
            <a:extLst>
              <a:ext uri="{FF2B5EF4-FFF2-40B4-BE49-F238E27FC236}">
                <a16:creationId xmlns:a16="http://schemas.microsoft.com/office/drawing/2014/main" id="{BAB3A1C6-2450-DDAE-21D4-9385D0754A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1378" y="4397375"/>
            <a:ext cx="2894012"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0" name="Oval 17">
            <a:extLst>
              <a:ext uri="{FF2B5EF4-FFF2-40B4-BE49-F238E27FC236}">
                <a16:creationId xmlns:a16="http://schemas.microsoft.com/office/drawing/2014/main" id="{EE768291-5AF0-B5E0-B6BD-E6BE81BECE21}"/>
              </a:ext>
            </a:extLst>
          </p:cNvPr>
          <p:cNvSpPr>
            <a:spLocks noChangeArrowheads="1"/>
          </p:cNvSpPr>
          <p:nvPr/>
        </p:nvSpPr>
        <p:spPr bwMode="auto">
          <a:xfrm>
            <a:off x="7429153" y="5399088"/>
            <a:ext cx="450850" cy="449262"/>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spTree>
    <p:custDataLst>
      <p:tags r:id="rId1"/>
    </p:custDataLst>
    <p:extLst>
      <p:ext uri="{BB962C8B-B14F-4D97-AF65-F5344CB8AC3E}">
        <p14:creationId xmlns:p14="http://schemas.microsoft.com/office/powerpoint/2010/main" val="281129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2" presetClass="entr" presetSubtype="4"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500"/>
                                        <p:tgtEl>
                                          <p:spTgt spid="23"/>
                                        </p:tgtEl>
                                      </p:cBhvr>
                                    </p:animEffect>
                                  </p:childTnLst>
                                </p:cTn>
                              </p:par>
                            </p:childTnLst>
                          </p:cTn>
                        </p:par>
                        <p:par>
                          <p:cTn id="12" fill="hold">
                            <p:stCondLst>
                              <p:cond delay="500"/>
                            </p:stCondLst>
                            <p:childTnLst>
                              <p:par>
                                <p:cTn id="13" presetID="2" presetClass="entr" presetSubtype="8"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0-#ppt_w/2"/>
                                          </p:val>
                                        </p:tav>
                                        <p:tav tm="100000">
                                          <p:val>
                                            <p:strVal val="#ppt_x"/>
                                          </p:val>
                                        </p:tav>
                                      </p:tavLst>
                                    </p:anim>
                                    <p:anim calcmode="lin" valueType="num">
                                      <p:cBhvr additive="base">
                                        <p:cTn id="16" dur="500" fill="hold"/>
                                        <p:tgtEl>
                                          <p:spTgt spid="28"/>
                                        </p:tgtEl>
                                        <p:attrNameLst>
                                          <p:attrName>ppt_y</p:attrName>
                                        </p:attrNameLst>
                                      </p:cBhvr>
                                      <p:tavLst>
                                        <p:tav tm="0">
                                          <p:val>
                                            <p:strVal val="#ppt_y"/>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childTnLst>
                          </p:cTn>
                        </p:par>
                        <p:par>
                          <p:cTn id="20" fill="hold">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0-#ppt_w/2"/>
                                          </p:val>
                                        </p:tav>
                                        <p:tav tm="100000">
                                          <p:val>
                                            <p:strVal val="#ppt_x"/>
                                          </p:val>
                                        </p:tav>
                                      </p:tavLst>
                                    </p:anim>
                                    <p:anim calcmode="lin" valueType="num">
                                      <p:cBhvr additive="base">
                                        <p:cTn id="24" dur="500" fill="hold"/>
                                        <p:tgtEl>
                                          <p:spTgt spid="30"/>
                                        </p:tgtEl>
                                        <p:attrNameLst>
                                          <p:attrName>ppt_y</p:attrName>
                                        </p:attrNameLst>
                                      </p:cBhvr>
                                      <p:tavLst>
                                        <p:tav tm="0">
                                          <p:val>
                                            <p:strVal val="#ppt_y"/>
                                          </p:val>
                                        </p:tav>
                                        <p:tav tm="100000">
                                          <p:val>
                                            <p:strVal val="#ppt_y"/>
                                          </p:val>
                                        </p:tav>
                                      </p:tavLst>
                                    </p:anim>
                                  </p:childTnLst>
                                </p:cTn>
                              </p:par>
                              <p:par>
                                <p:cTn id="25" presetID="22" presetClass="entr" presetSubtype="8"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41199-78E9-F2B9-EB23-A45A18106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14E75-B538-4DC4-5F0B-EAA0CE3DC78A}"/>
              </a:ext>
            </a:extLst>
          </p:cNvPr>
          <p:cNvSpPr>
            <a:spLocks noGrp="1"/>
          </p:cNvSpPr>
          <p:nvPr>
            <p:ph type="title"/>
          </p:nvPr>
        </p:nvSpPr>
        <p:spPr>
          <a:xfrm>
            <a:off x="838200" y="681037"/>
            <a:ext cx="10149114" cy="1009651"/>
          </a:xfrm>
        </p:spPr>
        <p:txBody>
          <a:bodyPr>
            <a:noAutofit/>
          </a:bodyPr>
          <a:lstStyle/>
          <a:p>
            <a:r>
              <a:rPr lang="en-US" altLang="en-US" sz="4000" dirty="0"/>
              <a:t>Bowling Charts at Top and Second Level</a:t>
            </a:r>
            <a:endParaRPr lang="en-US" sz="4000" dirty="0"/>
          </a:p>
        </p:txBody>
      </p:sp>
      <p:grpSp>
        <p:nvGrpSpPr>
          <p:cNvPr id="3" name="Group 2">
            <a:extLst>
              <a:ext uri="{FF2B5EF4-FFF2-40B4-BE49-F238E27FC236}">
                <a16:creationId xmlns:a16="http://schemas.microsoft.com/office/drawing/2014/main" id="{094FE9DE-B5B7-D08D-D813-9B0C37A8ABC3}"/>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E8FB1816-7C9F-F342-C16B-E16E13240D7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0674364C-ED64-6168-0C5D-B182234D1F3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169F2D2F-FC82-A01D-719E-728B8F294E1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35CBDBEB-C507-66A3-6C6B-1EDDD5307F86}"/>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F98A2904-681A-9101-5720-13B74D00040F}"/>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nvGrpSpPr>
          <p:cNvPr id="45" name="Group 44">
            <a:extLst>
              <a:ext uri="{FF2B5EF4-FFF2-40B4-BE49-F238E27FC236}">
                <a16:creationId xmlns:a16="http://schemas.microsoft.com/office/drawing/2014/main" id="{AE96E431-0532-B5EB-E758-2BDCA79E9BB6}"/>
              </a:ext>
            </a:extLst>
          </p:cNvPr>
          <p:cNvGrpSpPr/>
          <p:nvPr/>
        </p:nvGrpSpPr>
        <p:grpSpPr>
          <a:xfrm>
            <a:off x="101202" y="1741487"/>
            <a:ext cx="10352087" cy="4564969"/>
            <a:chOff x="-1690687" y="1443037"/>
            <a:chExt cx="10352087" cy="4564969"/>
          </a:xfrm>
        </p:grpSpPr>
        <p:sp>
          <p:nvSpPr>
            <p:cNvPr id="10" name="Text Box 3">
              <a:extLst>
                <a:ext uri="{FF2B5EF4-FFF2-40B4-BE49-F238E27FC236}">
                  <a16:creationId xmlns:a16="http://schemas.microsoft.com/office/drawing/2014/main" id="{4659DB81-9049-96C5-8A98-5528E43F3FE1}"/>
                </a:ext>
              </a:extLst>
            </p:cNvPr>
            <p:cNvSpPr txBox="1">
              <a:spLocks noChangeArrowheads="1"/>
            </p:cNvSpPr>
            <p:nvPr/>
          </p:nvSpPr>
          <p:spPr bwMode="auto">
            <a:xfrm>
              <a:off x="-1690687" y="2090738"/>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sp>
          <p:nvSpPr>
            <p:cNvPr id="11" name="Text Box 4">
              <a:extLst>
                <a:ext uri="{FF2B5EF4-FFF2-40B4-BE49-F238E27FC236}">
                  <a16:creationId xmlns:a16="http://schemas.microsoft.com/office/drawing/2014/main" id="{47C5F495-AF8D-6DE3-32DE-C90149918B39}"/>
                </a:ext>
              </a:extLst>
            </p:cNvPr>
            <p:cNvSpPr txBox="1">
              <a:spLocks noChangeArrowheads="1"/>
            </p:cNvSpPr>
            <p:nvPr/>
          </p:nvSpPr>
          <p:spPr bwMode="auto">
            <a:xfrm>
              <a:off x="-1690687" y="4482193"/>
              <a:ext cx="1953370" cy="535531"/>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 - Growth</a:t>
              </a:r>
            </a:p>
          </p:txBody>
        </p:sp>
        <p:sp>
          <p:nvSpPr>
            <p:cNvPr id="12" name="Text Box 5">
              <a:extLst>
                <a:ext uri="{FF2B5EF4-FFF2-40B4-BE49-F238E27FC236}">
                  <a16:creationId xmlns:a16="http://schemas.microsoft.com/office/drawing/2014/main" id="{23A958A6-76FE-81F4-C4A2-2882247CA7B1}"/>
                </a:ext>
              </a:extLst>
            </p:cNvPr>
            <p:cNvSpPr txBox="1">
              <a:spLocks noChangeArrowheads="1"/>
            </p:cNvSpPr>
            <p:nvPr/>
          </p:nvSpPr>
          <p:spPr bwMode="auto">
            <a:xfrm>
              <a:off x="4851400" y="201612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Bowling Chart</a:t>
              </a:r>
            </a:p>
          </p:txBody>
        </p:sp>
        <p:pic>
          <p:nvPicPr>
            <p:cNvPr id="13" name="Picture 6">
              <a:extLst>
                <a:ext uri="{FF2B5EF4-FFF2-40B4-BE49-F238E27FC236}">
                  <a16:creationId xmlns:a16="http://schemas.microsoft.com/office/drawing/2014/main" id="{4CE74A08-EC9D-97DA-1303-E65052E401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443037"/>
              <a:ext cx="3354388" cy="2289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4" name="Picture 7">
              <a:extLst>
                <a:ext uri="{FF2B5EF4-FFF2-40B4-BE49-F238E27FC236}">
                  <a16:creationId xmlns:a16="http://schemas.microsoft.com/office/drawing/2014/main" id="{29B3995D-B73A-89B5-D926-E770DF50E1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413" y="3812493"/>
              <a:ext cx="3367088" cy="2195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5" name="Oval 8">
              <a:extLst>
                <a:ext uri="{FF2B5EF4-FFF2-40B4-BE49-F238E27FC236}">
                  <a16:creationId xmlns:a16="http://schemas.microsoft.com/office/drawing/2014/main" id="{DCA26E28-9BC1-04CF-7172-6EA46845465E}"/>
                </a:ext>
              </a:extLst>
            </p:cNvPr>
            <p:cNvSpPr>
              <a:spLocks noChangeArrowheads="1"/>
            </p:cNvSpPr>
            <p:nvPr/>
          </p:nvSpPr>
          <p:spPr bwMode="auto">
            <a:xfrm>
              <a:off x="209550" y="2527300"/>
              <a:ext cx="450850" cy="449262"/>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16" name="Oval 9">
              <a:extLst>
                <a:ext uri="{FF2B5EF4-FFF2-40B4-BE49-F238E27FC236}">
                  <a16:creationId xmlns:a16="http://schemas.microsoft.com/office/drawing/2014/main" id="{608B6001-87DA-DAB7-85B7-310CC4F0027C}"/>
                </a:ext>
              </a:extLst>
            </p:cNvPr>
            <p:cNvSpPr>
              <a:spLocks noChangeArrowheads="1"/>
            </p:cNvSpPr>
            <p:nvPr/>
          </p:nvSpPr>
          <p:spPr bwMode="auto">
            <a:xfrm>
              <a:off x="960438" y="1785937"/>
              <a:ext cx="469900" cy="500063"/>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1" name="Oval 10">
              <a:extLst>
                <a:ext uri="{FF2B5EF4-FFF2-40B4-BE49-F238E27FC236}">
                  <a16:creationId xmlns:a16="http://schemas.microsoft.com/office/drawing/2014/main" id="{E7CEDBA8-FD3E-2747-FB82-BE168248BF3A}"/>
                </a:ext>
              </a:extLst>
            </p:cNvPr>
            <p:cNvSpPr>
              <a:spLocks noChangeArrowheads="1"/>
            </p:cNvSpPr>
            <p:nvPr/>
          </p:nvSpPr>
          <p:spPr bwMode="auto">
            <a:xfrm>
              <a:off x="1847850" y="1685925"/>
              <a:ext cx="509588" cy="457200"/>
            </a:xfrm>
            <a:prstGeom prst="ellipse">
              <a:avLst/>
            </a:prstGeom>
            <a:solidFill>
              <a:srgbClr val="00CC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3</a:t>
              </a:r>
            </a:p>
          </p:txBody>
        </p:sp>
        <p:sp>
          <p:nvSpPr>
            <p:cNvPr id="32" name="Oval 11">
              <a:extLst>
                <a:ext uri="{FF2B5EF4-FFF2-40B4-BE49-F238E27FC236}">
                  <a16:creationId xmlns:a16="http://schemas.microsoft.com/office/drawing/2014/main" id="{CE641CA8-525B-34FA-C093-26FAAA4B551D}"/>
                </a:ext>
              </a:extLst>
            </p:cNvPr>
            <p:cNvSpPr>
              <a:spLocks noChangeArrowheads="1"/>
            </p:cNvSpPr>
            <p:nvPr/>
          </p:nvSpPr>
          <p:spPr bwMode="auto">
            <a:xfrm>
              <a:off x="749251" y="5552393"/>
              <a:ext cx="450850" cy="449263"/>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33" name="Oval 12">
              <a:extLst>
                <a:ext uri="{FF2B5EF4-FFF2-40B4-BE49-F238E27FC236}">
                  <a16:creationId xmlns:a16="http://schemas.microsoft.com/office/drawing/2014/main" id="{D9F81BA0-D7B0-4463-A8AF-BBB5A6133B6B}"/>
                </a:ext>
              </a:extLst>
            </p:cNvPr>
            <p:cNvSpPr>
              <a:spLocks noChangeArrowheads="1"/>
            </p:cNvSpPr>
            <p:nvPr/>
          </p:nvSpPr>
          <p:spPr bwMode="auto">
            <a:xfrm>
              <a:off x="241251" y="4909456"/>
              <a:ext cx="461962" cy="431800"/>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4" name="Oval 13">
              <a:extLst>
                <a:ext uri="{FF2B5EF4-FFF2-40B4-BE49-F238E27FC236}">
                  <a16:creationId xmlns:a16="http://schemas.microsoft.com/office/drawing/2014/main" id="{FBE43F35-19F6-073E-8C79-509164A8A003}"/>
                </a:ext>
              </a:extLst>
            </p:cNvPr>
            <p:cNvSpPr>
              <a:spLocks noChangeArrowheads="1"/>
            </p:cNvSpPr>
            <p:nvPr/>
          </p:nvSpPr>
          <p:spPr bwMode="auto">
            <a:xfrm>
              <a:off x="1473151" y="4731656"/>
              <a:ext cx="496887" cy="430212"/>
            </a:xfrm>
            <a:prstGeom prst="ellipse">
              <a:avLst/>
            </a:prstGeom>
            <a:solidFill>
              <a:srgbClr val="FFFF00"/>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5</a:t>
              </a:r>
            </a:p>
          </p:txBody>
        </p:sp>
        <p:sp>
          <p:nvSpPr>
            <p:cNvPr id="35" name="Oval 14">
              <a:extLst>
                <a:ext uri="{FF2B5EF4-FFF2-40B4-BE49-F238E27FC236}">
                  <a16:creationId xmlns:a16="http://schemas.microsoft.com/office/drawing/2014/main" id="{793F8F17-ABB2-8AF9-C393-20BDA7BB24A6}"/>
                </a:ext>
              </a:extLst>
            </p:cNvPr>
            <p:cNvSpPr>
              <a:spLocks noChangeArrowheads="1"/>
            </p:cNvSpPr>
            <p:nvPr/>
          </p:nvSpPr>
          <p:spPr bwMode="auto">
            <a:xfrm>
              <a:off x="793701" y="4091893"/>
              <a:ext cx="484187" cy="444500"/>
            </a:xfrm>
            <a:prstGeom prst="ellipse">
              <a:avLst/>
            </a:prstGeom>
            <a:solidFill>
              <a:srgbClr val="FFFF99"/>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4</a:t>
              </a:r>
            </a:p>
          </p:txBody>
        </p:sp>
        <p:pic>
          <p:nvPicPr>
            <p:cNvPr id="36" name="Picture 15">
              <a:extLst>
                <a:ext uri="{FF2B5EF4-FFF2-40B4-BE49-F238E27FC236}">
                  <a16:creationId xmlns:a16="http://schemas.microsoft.com/office/drawing/2014/main" id="{F08A1EE4-9953-6487-C45D-1D9D15DF4F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7738" y="2428875"/>
              <a:ext cx="3903662" cy="329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7" name="Oval 16">
              <a:extLst>
                <a:ext uri="{FF2B5EF4-FFF2-40B4-BE49-F238E27FC236}">
                  <a16:creationId xmlns:a16="http://schemas.microsoft.com/office/drawing/2014/main" id="{B7B30947-743F-C6F7-9A0F-0CA7FC5851D7}"/>
                </a:ext>
              </a:extLst>
            </p:cNvPr>
            <p:cNvSpPr>
              <a:spLocks noChangeArrowheads="1"/>
            </p:cNvSpPr>
            <p:nvPr/>
          </p:nvSpPr>
          <p:spPr bwMode="auto">
            <a:xfrm>
              <a:off x="4684713" y="3033713"/>
              <a:ext cx="496887" cy="446087"/>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8" name="Oval 17">
              <a:extLst>
                <a:ext uri="{FF2B5EF4-FFF2-40B4-BE49-F238E27FC236}">
                  <a16:creationId xmlns:a16="http://schemas.microsoft.com/office/drawing/2014/main" id="{6C425BBD-BDF1-1962-1F6C-6202E62E05DF}"/>
                </a:ext>
              </a:extLst>
            </p:cNvPr>
            <p:cNvSpPr>
              <a:spLocks noChangeArrowheads="1"/>
            </p:cNvSpPr>
            <p:nvPr/>
          </p:nvSpPr>
          <p:spPr bwMode="auto">
            <a:xfrm>
              <a:off x="5702300" y="3022600"/>
              <a:ext cx="509588" cy="457200"/>
            </a:xfrm>
            <a:prstGeom prst="ellipse">
              <a:avLst/>
            </a:prstGeom>
            <a:solidFill>
              <a:srgbClr val="00CC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3</a:t>
              </a:r>
            </a:p>
          </p:txBody>
        </p:sp>
        <p:sp>
          <p:nvSpPr>
            <p:cNvPr id="39" name="Oval 18">
              <a:extLst>
                <a:ext uri="{FF2B5EF4-FFF2-40B4-BE49-F238E27FC236}">
                  <a16:creationId xmlns:a16="http://schemas.microsoft.com/office/drawing/2014/main" id="{24DA5F3E-2D5E-276D-60D4-6AFB3BDBD1E8}"/>
                </a:ext>
              </a:extLst>
            </p:cNvPr>
            <p:cNvSpPr>
              <a:spLocks noChangeArrowheads="1"/>
            </p:cNvSpPr>
            <p:nvPr/>
          </p:nvSpPr>
          <p:spPr bwMode="auto">
            <a:xfrm>
              <a:off x="4670425" y="3922713"/>
              <a:ext cx="484188" cy="444500"/>
            </a:xfrm>
            <a:prstGeom prst="ellipse">
              <a:avLst/>
            </a:prstGeom>
            <a:solidFill>
              <a:srgbClr val="FFFF99"/>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4</a:t>
              </a:r>
            </a:p>
          </p:txBody>
        </p:sp>
        <p:sp>
          <p:nvSpPr>
            <p:cNvPr id="40" name="Oval 19">
              <a:extLst>
                <a:ext uri="{FF2B5EF4-FFF2-40B4-BE49-F238E27FC236}">
                  <a16:creationId xmlns:a16="http://schemas.microsoft.com/office/drawing/2014/main" id="{642F473B-AD1B-A3DF-F329-98C45DA9589A}"/>
                </a:ext>
              </a:extLst>
            </p:cNvPr>
            <p:cNvSpPr>
              <a:spLocks noChangeArrowheads="1"/>
            </p:cNvSpPr>
            <p:nvPr/>
          </p:nvSpPr>
          <p:spPr bwMode="auto">
            <a:xfrm>
              <a:off x="5756275" y="4027488"/>
              <a:ext cx="496888" cy="430212"/>
            </a:xfrm>
            <a:prstGeom prst="ellipse">
              <a:avLst/>
            </a:prstGeom>
            <a:solidFill>
              <a:srgbClr val="FFFF00"/>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5</a:t>
              </a:r>
            </a:p>
          </p:txBody>
        </p:sp>
        <p:sp>
          <p:nvSpPr>
            <p:cNvPr id="41" name="Line 20">
              <a:extLst>
                <a:ext uri="{FF2B5EF4-FFF2-40B4-BE49-F238E27FC236}">
                  <a16:creationId xmlns:a16="http://schemas.microsoft.com/office/drawing/2014/main" id="{B6B8ED5E-6239-2B2B-9B48-A2CB78B83844}"/>
                </a:ext>
              </a:extLst>
            </p:cNvPr>
            <p:cNvSpPr>
              <a:spLocks noChangeShapeType="1"/>
            </p:cNvSpPr>
            <p:nvPr/>
          </p:nvSpPr>
          <p:spPr bwMode="auto">
            <a:xfrm>
              <a:off x="1373188" y="2143125"/>
              <a:ext cx="3338512" cy="10414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42" name="Line 21">
              <a:extLst>
                <a:ext uri="{FF2B5EF4-FFF2-40B4-BE49-F238E27FC236}">
                  <a16:creationId xmlns:a16="http://schemas.microsoft.com/office/drawing/2014/main" id="{90D81875-CF22-DB4D-8B6A-C9B7A50D1241}"/>
                </a:ext>
              </a:extLst>
            </p:cNvPr>
            <p:cNvSpPr>
              <a:spLocks noChangeShapeType="1"/>
            </p:cNvSpPr>
            <p:nvPr/>
          </p:nvSpPr>
          <p:spPr bwMode="auto">
            <a:xfrm>
              <a:off x="2325638" y="1997076"/>
              <a:ext cx="3392537" cy="1187449"/>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43" name="Line 22">
              <a:extLst>
                <a:ext uri="{FF2B5EF4-FFF2-40B4-BE49-F238E27FC236}">
                  <a16:creationId xmlns:a16="http://schemas.microsoft.com/office/drawing/2014/main" id="{A67970B8-B1DD-BCBA-456C-A52AD6E4B593}"/>
                </a:ext>
              </a:extLst>
            </p:cNvPr>
            <p:cNvSpPr>
              <a:spLocks noChangeShapeType="1"/>
            </p:cNvSpPr>
            <p:nvPr/>
          </p:nvSpPr>
          <p:spPr bwMode="auto">
            <a:xfrm flipV="1">
              <a:off x="1277888" y="4144962"/>
              <a:ext cx="3392537" cy="121331"/>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44" name="Line 23">
              <a:extLst>
                <a:ext uri="{FF2B5EF4-FFF2-40B4-BE49-F238E27FC236}">
                  <a16:creationId xmlns:a16="http://schemas.microsoft.com/office/drawing/2014/main" id="{6D07FF92-833B-ADBC-B265-7A7585EAB249}"/>
                </a:ext>
              </a:extLst>
            </p:cNvPr>
            <p:cNvSpPr>
              <a:spLocks noChangeShapeType="1"/>
            </p:cNvSpPr>
            <p:nvPr/>
          </p:nvSpPr>
          <p:spPr bwMode="auto">
            <a:xfrm flipV="1">
              <a:off x="1970037" y="4346575"/>
              <a:ext cx="3843387" cy="576488"/>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grpSp>
    </p:spTree>
    <p:custDataLst>
      <p:tags r:id="rId1"/>
    </p:custDataLst>
    <p:extLst>
      <p:ext uri="{BB962C8B-B14F-4D97-AF65-F5344CB8AC3E}">
        <p14:creationId xmlns:p14="http://schemas.microsoft.com/office/powerpoint/2010/main" val="211641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B3797-B270-C58F-316B-96D1D2025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D1F6F-BE2C-5F04-8344-5D21EDF76786}"/>
              </a:ext>
            </a:extLst>
          </p:cNvPr>
          <p:cNvSpPr>
            <a:spLocks noGrp="1"/>
          </p:cNvSpPr>
          <p:nvPr>
            <p:ph type="title"/>
          </p:nvPr>
        </p:nvSpPr>
        <p:spPr>
          <a:xfrm>
            <a:off x="838200" y="681037"/>
            <a:ext cx="10149114" cy="1009651"/>
          </a:xfrm>
        </p:spPr>
        <p:txBody>
          <a:bodyPr>
            <a:noAutofit/>
          </a:bodyPr>
          <a:lstStyle/>
          <a:p>
            <a:r>
              <a:rPr lang="en-US" altLang="en-US" sz="4000" dirty="0"/>
              <a:t>Countermeasures for Every Miss</a:t>
            </a:r>
            <a:endParaRPr lang="en-US" sz="4000" dirty="0"/>
          </a:p>
        </p:txBody>
      </p:sp>
      <p:grpSp>
        <p:nvGrpSpPr>
          <p:cNvPr id="3" name="Group 2">
            <a:extLst>
              <a:ext uri="{FF2B5EF4-FFF2-40B4-BE49-F238E27FC236}">
                <a16:creationId xmlns:a16="http://schemas.microsoft.com/office/drawing/2014/main" id="{6CCEECAF-B3B6-C921-9081-2728CF75AAFD}"/>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9B242973-558D-5938-360E-6F6207C62AB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E2907EF5-CF3F-2BB8-8118-D7F965D2E3E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381FCE47-FE1F-60BD-B1D2-7CD4EE7EEF32}"/>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63799F60-ED8F-5276-38A8-7A200CB0FD2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4C6B5B03-33AF-6F88-340C-1142A8D4225F}"/>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9" name="Text Box 3">
            <a:extLst>
              <a:ext uri="{FF2B5EF4-FFF2-40B4-BE49-F238E27FC236}">
                <a16:creationId xmlns:a16="http://schemas.microsoft.com/office/drawing/2014/main" id="{99C8BDAD-F074-BE95-4992-7FB563D700CC}"/>
              </a:ext>
            </a:extLst>
          </p:cNvPr>
          <p:cNvSpPr txBox="1">
            <a:spLocks noChangeArrowheads="1"/>
          </p:cNvSpPr>
          <p:nvPr/>
        </p:nvSpPr>
        <p:spPr bwMode="auto">
          <a:xfrm>
            <a:off x="436450" y="1948431"/>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sp>
        <p:nvSpPr>
          <p:cNvPr id="17" name="Text Box 4">
            <a:extLst>
              <a:ext uri="{FF2B5EF4-FFF2-40B4-BE49-F238E27FC236}">
                <a16:creationId xmlns:a16="http://schemas.microsoft.com/office/drawing/2014/main" id="{47E1179F-99C7-2CBA-5998-3FB76D792569}"/>
              </a:ext>
            </a:extLst>
          </p:cNvPr>
          <p:cNvSpPr txBox="1">
            <a:spLocks noChangeArrowheads="1"/>
          </p:cNvSpPr>
          <p:nvPr/>
        </p:nvSpPr>
        <p:spPr bwMode="auto">
          <a:xfrm>
            <a:off x="8679996" y="1453472"/>
            <a:ext cx="26352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Countermeasure Form</a:t>
            </a:r>
          </a:p>
        </p:txBody>
      </p:sp>
      <p:pic>
        <p:nvPicPr>
          <p:cNvPr id="18" name="Picture 5">
            <a:extLst>
              <a:ext uri="{FF2B5EF4-FFF2-40B4-BE49-F238E27FC236}">
                <a16:creationId xmlns:a16="http://schemas.microsoft.com/office/drawing/2014/main" id="{DCBD0B81-FDBD-E1E2-F503-7C5474123B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100" y="2240531"/>
            <a:ext cx="3054350" cy="2084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9" name="Picture 6">
            <a:extLst>
              <a:ext uri="{FF2B5EF4-FFF2-40B4-BE49-F238E27FC236}">
                <a16:creationId xmlns:a16="http://schemas.microsoft.com/office/drawing/2014/main" id="{706B93B7-3BB2-D5D1-B1BC-A9D3178CE0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373" y="3187021"/>
            <a:ext cx="3016250" cy="1966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 name="Picture 7">
            <a:extLst>
              <a:ext uri="{FF2B5EF4-FFF2-40B4-BE49-F238E27FC236}">
                <a16:creationId xmlns:a16="http://schemas.microsoft.com/office/drawing/2014/main" id="{0C0BB0FF-CED9-0B44-3FF0-41952D2905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9177" y="3636737"/>
            <a:ext cx="3001962" cy="2535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1" name="Text Box 8">
            <a:extLst>
              <a:ext uri="{FF2B5EF4-FFF2-40B4-BE49-F238E27FC236}">
                <a16:creationId xmlns:a16="http://schemas.microsoft.com/office/drawing/2014/main" id="{28CD4993-10AF-DC24-6015-07D727FC1C29}"/>
              </a:ext>
            </a:extLst>
          </p:cNvPr>
          <p:cNvSpPr txBox="1">
            <a:spLocks noChangeArrowheads="1"/>
          </p:cNvSpPr>
          <p:nvPr/>
        </p:nvSpPr>
        <p:spPr bwMode="auto">
          <a:xfrm>
            <a:off x="2531835" y="2848884"/>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sp>
        <p:nvSpPr>
          <p:cNvPr id="22" name="Text Box 9">
            <a:extLst>
              <a:ext uri="{FF2B5EF4-FFF2-40B4-BE49-F238E27FC236}">
                <a16:creationId xmlns:a16="http://schemas.microsoft.com/office/drawing/2014/main" id="{42F6E73E-B928-A929-9C68-D916827DBE81}"/>
              </a:ext>
            </a:extLst>
          </p:cNvPr>
          <p:cNvSpPr txBox="1">
            <a:spLocks noChangeArrowheads="1"/>
          </p:cNvSpPr>
          <p:nvPr/>
        </p:nvSpPr>
        <p:spPr bwMode="auto">
          <a:xfrm>
            <a:off x="4765677" y="328272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Bowling Chart</a:t>
            </a:r>
          </a:p>
        </p:txBody>
      </p:sp>
      <p:sp>
        <p:nvSpPr>
          <p:cNvPr id="23" name="Oval 10">
            <a:extLst>
              <a:ext uri="{FF2B5EF4-FFF2-40B4-BE49-F238E27FC236}">
                <a16:creationId xmlns:a16="http://schemas.microsoft.com/office/drawing/2014/main" id="{F4702368-1DC4-7973-965B-69B1BB562D72}"/>
              </a:ext>
            </a:extLst>
          </p:cNvPr>
          <p:cNvSpPr>
            <a:spLocks noChangeArrowheads="1"/>
          </p:cNvSpPr>
          <p:nvPr/>
        </p:nvSpPr>
        <p:spPr bwMode="auto">
          <a:xfrm>
            <a:off x="6092827" y="4790850"/>
            <a:ext cx="666750" cy="352425"/>
          </a:xfrm>
          <a:prstGeom prst="ellipse">
            <a:avLst/>
          </a:prstGeom>
          <a:noFill/>
          <a:ln w="38100" cap="sq">
            <a:solidFill>
              <a:schemeClr val="tx1"/>
            </a:solidFill>
            <a:round/>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4" name="Oval 11">
            <a:extLst>
              <a:ext uri="{FF2B5EF4-FFF2-40B4-BE49-F238E27FC236}">
                <a16:creationId xmlns:a16="http://schemas.microsoft.com/office/drawing/2014/main" id="{740B0EB9-FF2A-1A09-3C97-BA64AF947A9C}"/>
              </a:ext>
            </a:extLst>
          </p:cNvPr>
          <p:cNvSpPr>
            <a:spLocks noChangeArrowheads="1"/>
          </p:cNvSpPr>
          <p:nvPr/>
        </p:nvSpPr>
        <p:spPr bwMode="auto">
          <a:xfrm>
            <a:off x="6092827" y="5168675"/>
            <a:ext cx="666750" cy="352425"/>
          </a:xfrm>
          <a:prstGeom prst="ellipse">
            <a:avLst/>
          </a:prstGeom>
          <a:noFill/>
          <a:ln w="38100" cap="sq">
            <a:solidFill>
              <a:schemeClr val="tx1"/>
            </a:solidFill>
            <a:round/>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pic>
        <p:nvPicPr>
          <p:cNvPr id="25" name="Picture 12">
            <a:extLst>
              <a:ext uri="{FF2B5EF4-FFF2-40B4-BE49-F238E27FC236}">
                <a16:creationId xmlns:a16="http://schemas.microsoft.com/office/drawing/2014/main" id="{B80D26D5-C5C2-C305-ED50-860B803F90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45046" y="1794784"/>
            <a:ext cx="3160713" cy="2135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6" name="Picture 13">
            <a:extLst>
              <a:ext uri="{FF2B5EF4-FFF2-40B4-BE49-F238E27FC236}">
                <a16:creationId xmlns:a16="http://schemas.microsoft.com/office/drawing/2014/main" id="{B7E7931A-C3E4-DFB7-9AC5-BC7CD8F0999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51396" y="4033159"/>
            <a:ext cx="3141663" cy="2241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7" name="Line 14">
            <a:extLst>
              <a:ext uri="{FF2B5EF4-FFF2-40B4-BE49-F238E27FC236}">
                <a16:creationId xmlns:a16="http://schemas.microsoft.com/office/drawing/2014/main" id="{064560B2-4F1B-4DBB-488A-825DFC8B8503}"/>
              </a:ext>
            </a:extLst>
          </p:cNvPr>
          <p:cNvSpPr>
            <a:spLocks noChangeShapeType="1"/>
          </p:cNvSpPr>
          <p:nvPr/>
        </p:nvSpPr>
        <p:spPr bwMode="auto">
          <a:xfrm flipV="1">
            <a:off x="6761165" y="4928961"/>
            <a:ext cx="1690232" cy="409575"/>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8" name="Line 15">
            <a:extLst>
              <a:ext uri="{FF2B5EF4-FFF2-40B4-BE49-F238E27FC236}">
                <a16:creationId xmlns:a16="http://schemas.microsoft.com/office/drawing/2014/main" id="{F98AF6D8-9491-E770-5F97-BDA2B4572C31}"/>
              </a:ext>
            </a:extLst>
          </p:cNvPr>
          <p:cNvSpPr>
            <a:spLocks noChangeShapeType="1"/>
          </p:cNvSpPr>
          <p:nvPr/>
        </p:nvSpPr>
        <p:spPr bwMode="auto">
          <a:xfrm flipV="1">
            <a:off x="6769102" y="2962048"/>
            <a:ext cx="1662112" cy="1966914"/>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Tree>
    <p:custDataLst>
      <p:tags r:id="rId1"/>
    </p:custDataLst>
    <p:extLst>
      <p:ext uri="{BB962C8B-B14F-4D97-AF65-F5344CB8AC3E}">
        <p14:creationId xmlns:p14="http://schemas.microsoft.com/office/powerpoint/2010/main" val="266737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1000"/>
                                        <p:tgtEl>
                                          <p:spTgt spid="28"/>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2000"/>
                            </p:stCondLst>
                            <p:childTnLst>
                              <p:par>
                                <p:cTn id="17" presetID="22" presetClass="entr" presetSubtype="4"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down)">
                                      <p:cBhvr>
                                        <p:cTn id="19"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A6C5B-2D25-4E30-09CB-35A515B76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67BEC-36EB-5F0C-4F9D-2FF036A03564}"/>
              </a:ext>
            </a:extLst>
          </p:cNvPr>
          <p:cNvSpPr>
            <a:spLocks noGrp="1"/>
          </p:cNvSpPr>
          <p:nvPr>
            <p:ph type="title"/>
          </p:nvPr>
        </p:nvSpPr>
        <p:spPr>
          <a:xfrm>
            <a:off x="838200" y="681037"/>
            <a:ext cx="10149114" cy="1009651"/>
          </a:xfrm>
        </p:spPr>
        <p:txBody>
          <a:bodyPr>
            <a:noAutofit/>
          </a:bodyPr>
          <a:lstStyle/>
          <a:p>
            <a:r>
              <a:rPr lang="en-US" altLang="en-US" sz="2800" dirty="0"/>
              <a:t>Strategic Deployment - The Way To Run Your Business!</a:t>
            </a:r>
            <a:endParaRPr lang="en-US" sz="2800" dirty="0"/>
          </a:p>
        </p:txBody>
      </p:sp>
      <p:grpSp>
        <p:nvGrpSpPr>
          <p:cNvPr id="3" name="Group 2">
            <a:extLst>
              <a:ext uri="{FF2B5EF4-FFF2-40B4-BE49-F238E27FC236}">
                <a16:creationId xmlns:a16="http://schemas.microsoft.com/office/drawing/2014/main" id="{592D69FB-DEDB-B422-EB5E-E4F3DD8DF1CA}"/>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5AFBC58A-5270-7943-4073-597C682BEBD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18253023-E011-C11A-3C12-8D784305A75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5E2F56CC-7A84-C7E3-2EAB-F5BCDBE3163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4161145D-6433-3ABB-D2FC-451C5653553A}"/>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C0E8D991-331F-FB89-D926-C1C8BDA062EE}"/>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sp>
        <p:nvSpPr>
          <p:cNvPr id="9" name="Text Box 3">
            <a:extLst>
              <a:ext uri="{FF2B5EF4-FFF2-40B4-BE49-F238E27FC236}">
                <a16:creationId xmlns:a16="http://schemas.microsoft.com/office/drawing/2014/main" id="{A2DD11F8-0235-3502-A78D-038D927685F6}"/>
              </a:ext>
            </a:extLst>
          </p:cNvPr>
          <p:cNvSpPr txBox="1">
            <a:spLocks noChangeArrowheads="1"/>
          </p:cNvSpPr>
          <p:nvPr/>
        </p:nvSpPr>
        <p:spPr bwMode="auto">
          <a:xfrm>
            <a:off x="1393257" y="1746704"/>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pic>
        <p:nvPicPr>
          <p:cNvPr id="10" name="Picture 4">
            <a:extLst>
              <a:ext uri="{FF2B5EF4-FFF2-40B4-BE49-F238E27FC236}">
                <a16:creationId xmlns:a16="http://schemas.microsoft.com/office/drawing/2014/main" id="{01D34599-B124-3B6E-E5E4-FCBDC2D65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570" y="2064204"/>
            <a:ext cx="2838450" cy="1936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1" name="Picture 5">
            <a:extLst>
              <a:ext uri="{FF2B5EF4-FFF2-40B4-BE49-F238E27FC236}">
                <a16:creationId xmlns:a16="http://schemas.microsoft.com/office/drawing/2014/main" id="{D36C8DD5-A387-378B-E85D-EE598F93CD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6145" y="2812824"/>
            <a:ext cx="2825750" cy="1841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2" name="Text Box 6">
            <a:extLst>
              <a:ext uri="{FF2B5EF4-FFF2-40B4-BE49-F238E27FC236}">
                <a16:creationId xmlns:a16="http://schemas.microsoft.com/office/drawing/2014/main" id="{A58D0182-F72E-2E7A-4E96-4F419666CF4E}"/>
              </a:ext>
            </a:extLst>
          </p:cNvPr>
          <p:cNvSpPr txBox="1">
            <a:spLocks noChangeArrowheads="1"/>
          </p:cNvSpPr>
          <p:nvPr/>
        </p:nvSpPr>
        <p:spPr bwMode="auto">
          <a:xfrm>
            <a:off x="2906145" y="2506436"/>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pic>
        <p:nvPicPr>
          <p:cNvPr id="13" name="Picture 7">
            <a:extLst>
              <a:ext uri="{FF2B5EF4-FFF2-40B4-BE49-F238E27FC236}">
                <a16:creationId xmlns:a16="http://schemas.microsoft.com/office/drawing/2014/main" id="{A06D3422-BA0A-1787-21E3-6A73F8311D0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4693" y="3429000"/>
            <a:ext cx="2894013"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4" name="Text Box 8">
            <a:extLst>
              <a:ext uri="{FF2B5EF4-FFF2-40B4-BE49-F238E27FC236}">
                <a16:creationId xmlns:a16="http://schemas.microsoft.com/office/drawing/2014/main" id="{74A9B752-2945-474E-62DE-2AA40712E759}"/>
              </a:ext>
            </a:extLst>
          </p:cNvPr>
          <p:cNvSpPr txBox="1">
            <a:spLocks noChangeArrowheads="1"/>
          </p:cNvSpPr>
          <p:nvPr/>
        </p:nvSpPr>
        <p:spPr bwMode="auto">
          <a:xfrm>
            <a:off x="4550568" y="3128963"/>
            <a:ext cx="15684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Action Plans</a:t>
            </a:r>
          </a:p>
        </p:txBody>
      </p:sp>
      <p:pic>
        <p:nvPicPr>
          <p:cNvPr id="15" name="Picture 9">
            <a:extLst>
              <a:ext uri="{FF2B5EF4-FFF2-40B4-BE49-F238E27FC236}">
                <a16:creationId xmlns:a16="http://schemas.microsoft.com/office/drawing/2014/main" id="{10E4FF39-C255-4C91-D5D9-5AEB30E4B2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5178" y="3904798"/>
            <a:ext cx="2897187" cy="18430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6" name="Text Box 10">
            <a:extLst>
              <a:ext uri="{FF2B5EF4-FFF2-40B4-BE49-F238E27FC236}">
                <a16:creationId xmlns:a16="http://schemas.microsoft.com/office/drawing/2014/main" id="{C0A59DF1-67A4-4B15-2A42-3AE6E9B563B1}"/>
              </a:ext>
            </a:extLst>
          </p:cNvPr>
          <p:cNvSpPr txBox="1">
            <a:spLocks noChangeArrowheads="1"/>
          </p:cNvSpPr>
          <p:nvPr/>
        </p:nvSpPr>
        <p:spPr bwMode="auto">
          <a:xfrm>
            <a:off x="6067878" y="359523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Bowling Chart</a:t>
            </a:r>
          </a:p>
        </p:txBody>
      </p:sp>
      <p:pic>
        <p:nvPicPr>
          <p:cNvPr id="17" name="Picture 11">
            <a:extLst>
              <a:ext uri="{FF2B5EF4-FFF2-40B4-BE49-F238E27FC236}">
                <a16:creationId xmlns:a16="http://schemas.microsoft.com/office/drawing/2014/main" id="{517AFE65-0143-7F4D-F3A5-278FD69FB6B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51989" y="4373336"/>
            <a:ext cx="2852738" cy="1927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8" name="Text Box 12">
            <a:extLst>
              <a:ext uri="{FF2B5EF4-FFF2-40B4-BE49-F238E27FC236}">
                <a16:creationId xmlns:a16="http://schemas.microsoft.com/office/drawing/2014/main" id="{50539690-5A7E-B9E9-CAFB-A7374BA77D70}"/>
              </a:ext>
            </a:extLst>
          </p:cNvPr>
          <p:cNvSpPr txBox="1">
            <a:spLocks noChangeArrowheads="1"/>
          </p:cNvSpPr>
          <p:nvPr/>
        </p:nvSpPr>
        <p:spPr bwMode="auto">
          <a:xfrm>
            <a:off x="7774214" y="4060599"/>
            <a:ext cx="26352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Countermeasure Form</a:t>
            </a:r>
          </a:p>
        </p:txBody>
      </p:sp>
    </p:spTree>
    <p:custDataLst>
      <p:tags r:id="rId1"/>
    </p:custDataLst>
    <p:extLst>
      <p:ext uri="{BB962C8B-B14F-4D97-AF65-F5344CB8AC3E}">
        <p14:creationId xmlns:p14="http://schemas.microsoft.com/office/powerpoint/2010/main" val="4142632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4" grpId="0" animBg="1"/>
      <p:bldP spid="16" grpId="0" animBg="1"/>
      <p:bldP spid="1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93920-D944-49F6-317C-3EEC3344C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DA356-378D-9634-A694-A7A28AF378BD}"/>
              </a:ext>
            </a:extLst>
          </p:cNvPr>
          <p:cNvSpPr>
            <a:spLocks noGrp="1"/>
          </p:cNvSpPr>
          <p:nvPr>
            <p:ph type="title" idx="4294967295"/>
          </p:nvPr>
        </p:nvSpPr>
        <p:spPr>
          <a:xfrm>
            <a:off x="699911" y="1497012"/>
            <a:ext cx="10792178" cy="1009650"/>
          </a:xfrm>
          <a:prstGeom prst="rect">
            <a:avLst/>
          </a:prstGeom>
        </p:spPr>
        <p:txBody>
          <a:bodyPr>
            <a:normAutofit/>
          </a:bodyPr>
          <a:lstStyle/>
          <a:p>
            <a:r>
              <a:rPr lang="en-US" sz="4000" dirty="0">
                <a:latin typeface="Roboto Medium"/>
                <a:ea typeface="Roboto Medium"/>
                <a:cs typeface="Roboto Medium"/>
              </a:rPr>
              <a:t>Breakthrough Objectives</a:t>
            </a:r>
          </a:p>
        </p:txBody>
      </p:sp>
      <p:sp>
        <p:nvSpPr>
          <p:cNvPr id="3" name="Content Placeholder 2">
            <a:extLst>
              <a:ext uri="{FF2B5EF4-FFF2-40B4-BE49-F238E27FC236}">
                <a16:creationId xmlns:a16="http://schemas.microsoft.com/office/drawing/2014/main" id="{2ADAA08F-988C-B420-F1C7-0342CF69062E}"/>
              </a:ext>
            </a:extLst>
          </p:cNvPr>
          <p:cNvSpPr>
            <a:spLocks noGrp="1"/>
          </p:cNvSpPr>
          <p:nvPr>
            <p:ph idx="4294967295"/>
          </p:nvPr>
        </p:nvSpPr>
        <p:spPr>
          <a:xfrm>
            <a:off x="722489" y="2506662"/>
            <a:ext cx="10515600" cy="3821400"/>
          </a:xfrm>
        </p:spPr>
        <p:txBody>
          <a:bodyPr>
            <a:normAutofit fontScale="92500" lnSpcReduction="10000"/>
          </a:bodyPr>
          <a:lstStyle/>
          <a:p>
            <a:pPr marL="0" indent="0">
              <a:lnSpc>
                <a:spcPct val="100000"/>
              </a:lnSpc>
              <a:buNone/>
            </a:pPr>
            <a:r>
              <a:rPr lang="en-US" b="1" dirty="0">
                <a:latin typeface="+mn-lt"/>
                <a:ea typeface="Roboto Medium" panose="02000000000000000000" pitchFamily="2" charset="0"/>
                <a:cs typeface="Roboto Medium" panose="02000000000000000000" pitchFamily="2" charset="0"/>
              </a:rPr>
              <a:t>Objectives:</a:t>
            </a:r>
          </a:p>
          <a:p>
            <a:pPr>
              <a:lnSpc>
                <a:spcPct val="100000"/>
              </a:lnSpc>
            </a:pPr>
            <a:r>
              <a:rPr lang="en-US" dirty="0">
                <a:latin typeface="+mn-lt"/>
              </a:rPr>
              <a:t>To define Breakthrough</a:t>
            </a:r>
          </a:p>
          <a:p>
            <a:pPr>
              <a:lnSpc>
                <a:spcPct val="100000"/>
              </a:lnSpc>
            </a:pPr>
            <a:r>
              <a:rPr lang="en-US" dirty="0">
                <a:latin typeface="+mn-lt"/>
              </a:rPr>
              <a:t>To review concept of “stretch”/benchmarking</a:t>
            </a:r>
          </a:p>
          <a:p>
            <a:pPr>
              <a:lnSpc>
                <a:spcPct val="100000"/>
              </a:lnSpc>
            </a:pPr>
            <a:r>
              <a:rPr lang="en-US" dirty="0">
                <a:latin typeface="+mn-lt"/>
              </a:rPr>
              <a:t>To emphasize concept of “aligning the organization to the vital few”</a:t>
            </a:r>
          </a:p>
          <a:p>
            <a:pPr>
              <a:lnSpc>
                <a:spcPct val="100000"/>
              </a:lnSpc>
            </a:pPr>
            <a:r>
              <a:rPr lang="en-US" dirty="0">
                <a:latin typeface="+mn-lt"/>
              </a:rPr>
              <a:t>To discuss difference between Breakthrough and Continuous Improvement</a:t>
            </a:r>
          </a:p>
          <a:p>
            <a:pPr>
              <a:lnSpc>
                <a:spcPct val="100000"/>
              </a:lnSpc>
            </a:pPr>
            <a:r>
              <a:rPr lang="en-US" dirty="0">
                <a:latin typeface="+mn-lt"/>
              </a:rPr>
              <a:t>To review examples of Breakthrough</a:t>
            </a:r>
          </a:p>
          <a:p>
            <a:pPr>
              <a:lnSpc>
                <a:spcPct val="100000"/>
              </a:lnSpc>
            </a:pPr>
            <a:r>
              <a:rPr lang="en-US" dirty="0">
                <a:latin typeface="+mn-lt"/>
              </a:rPr>
              <a:t>To identify Breakthrough Objectives for Alpha Beta Case Study</a:t>
            </a:r>
          </a:p>
        </p:txBody>
      </p:sp>
      <p:cxnSp>
        <p:nvCxnSpPr>
          <p:cNvPr id="12" name="Straight Connector 11">
            <a:extLst>
              <a:ext uri="{FF2B5EF4-FFF2-40B4-BE49-F238E27FC236}">
                <a16:creationId xmlns:a16="http://schemas.microsoft.com/office/drawing/2014/main" id="{2724E4A5-AEFD-7742-C595-FBBA73FF3D15}"/>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F3BA227-EB3D-201B-6DB4-B1A8C3CFEB22}"/>
              </a:ext>
            </a:extLst>
          </p:cNvPr>
          <p:cNvGrpSpPr/>
          <p:nvPr/>
        </p:nvGrpSpPr>
        <p:grpSpPr>
          <a:xfrm>
            <a:off x="699911" y="837133"/>
            <a:ext cx="5850075" cy="659879"/>
            <a:chOff x="699911" y="1069861"/>
            <a:chExt cx="5850075" cy="350130"/>
          </a:xfrm>
        </p:grpSpPr>
        <p:sp>
          <p:nvSpPr>
            <p:cNvPr id="7" name="AutoShape 9">
              <a:extLst>
                <a:ext uri="{FF2B5EF4-FFF2-40B4-BE49-F238E27FC236}">
                  <a16:creationId xmlns:a16="http://schemas.microsoft.com/office/drawing/2014/main" id="{30C794CF-9B33-97D8-F63A-CB0080CA79B5}"/>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grpSp>
          <p:nvGrpSpPr>
            <p:cNvPr id="8" name="Group 7">
              <a:extLst>
                <a:ext uri="{FF2B5EF4-FFF2-40B4-BE49-F238E27FC236}">
                  <a16:creationId xmlns:a16="http://schemas.microsoft.com/office/drawing/2014/main" id="{A27D878D-BA53-433B-3CD7-44596CC19167}"/>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DC28F4BD-C679-6735-F097-D87C8C1B6129}"/>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10" name="AutoShape 10">
                <a:extLst>
                  <a:ext uri="{FF2B5EF4-FFF2-40B4-BE49-F238E27FC236}">
                    <a16:creationId xmlns:a16="http://schemas.microsoft.com/office/drawing/2014/main" id="{4BB3BCD9-79A5-CBFE-C9D1-03F8837F1D1B}"/>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Components of Top Level Matrix</a:t>
                </a:r>
              </a:p>
            </p:txBody>
          </p:sp>
          <p:sp>
            <p:nvSpPr>
              <p:cNvPr id="11" name="AutoShape 11">
                <a:extLst>
                  <a:ext uri="{FF2B5EF4-FFF2-40B4-BE49-F238E27FC236}">
                    <a16:creationId xmlns:a16="http://schemas.microsoft.com/office/drawing/2014/main" id="{2788CB00-41E1-D604-2138-6C224DB1DD5E}"/>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grpSp>
    </p:spTree>
    <p:custDataLst>
      <p:tags r:id="rId1"/>
    </p:custDataLst>
    <p:extLst>
      <p:ext uri="{BB962C8B-B14F-4D97-AF65-F5344CB8AC3E}">
        <p14:creationId xmlns:p14="http://schemas.microsoft.com/office/powerpoint/2010/main" val="662596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D2135-3659-8E61-3B5F-1EB6FE789036}"/>
            </a:ext>
          </a:extLst>
        </p:cNvPr>
        <p:cNvGrpSpPr/>
        <p:nvPr/>
      </p:nvGrpSpPr>
      <p:grpSpPr>
        <a:xfrm>
          <a:off x="0" y="0"/>
          <a:ext cx="0" cy="0"/>
          <a:chOff x="0" y="0"/>
          <a:chExt cx="0" cy="0"/>
        </a:xfrm>
      </p:grpSpPr>
      <p:grpSp>
        <p:nvGrpSpPr>
          <p:cNvPr id="43" name="Group 42">
            <a:extLst>
              <a:ext uri="{FF2B5EF4-FFF2-40B4-BE49-F238E27FC236}">
                <a16:creationId xmlns:a16="http://schemas.microsoft.com/office/drawing/2014/main" id="{4A32BB87-47A3-97C4-8E40-CA8C0661821E}"/>
              </a:ext>
            </a:extLst>
          </p:cNvPr>
          <p:cNvGrpSpPr/>
          <p:nvPr/>
        </p:nvGrpSpPr>
        <p:grpSpPr>
          <a:xfrm>
            <a:off x="1939306" y="4116340"/>
            <a:ext cx="2527397" cy="1136650"/>
            <a:chOff x="1939306" y="4116340"/>
            <a:chExt cx="2527397" cy="1136650"/>
          </a:xfrm>
        </p:grpSpPr>
        <p:sp>
          <p:nvSpPr>
            <p:cNvPr id="39" name="Line 13">
              <a:extLst>
                <a:ext uri="{FF2B5EF4-FFF2-40B4-BE49-F238E27FC236}">
                  <a16:creationId xmlns:a16="http://schemas.microsoft.com/office/drawing/2014/main" id="{7B32AFE1-D349-EB88-97D8-14A7B63564C0}"/>
                </a:ext>
              </a:extLst>
            </p:cNvPr>
            <p:cNvSpPr>
              <a:spLocks noChangeShapeType="1"/>
            </p:cNvSpPr>
            <p:nvPr/>
          </p:nvSpPr>
          <p:spPr bwMode="auto">
            <a:xfrm flipH="1">
              <a:off x="3023665" y="4925364"/>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42" name="Line 13">
              <a:extLst>
                <a:ext uri="{FF2B5EF4-FFF2-40B4-BE49-F238E27FC236}">
                  <a16:creationId xmlns:a16="http://schemas.microsoft.com/office/drawing/2014/main" id="{8D6C3D0D-4A54-BEBC-9BCD-8883981E2B28}"/>
                </a:ext>
              </a:extLst>
            </p:cNvPr>
            <p:cNvSpPr>
              <a:spLocks noChangeShapeType="1"/>
            </p:cNvSpPr>
            <p:nvPr/>
          </p:nvSpPr>
          <p:spPr bwMode="auto">
            <a:xfrm rot="10800000" flipH="1">
              <a:off x="2899841"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1" name="Oval 19">
              <a:extLst>
                <a:ext uri="{FF2B5EF4-FFF2-40B4-BE49-F238E27FC236}">
                  <a16:creationId xmlns:a16="http://schemas.microsoft.com/office/drawing/2014/main" id="{8706CD16-A96F-E629-6E0F-CC25635B6022}"/>
                </a:ext>
              </a:extLst>
            </p:cNvPr>
            <p:cNvSpPr>
              <a:spLocks noChangeArrowheads="1"/>
            </p:cNvSpPr>
            <p:nvPr/>
          </p:nvSpPr>
          <p:spPr bwMode="auto">
            <a:xfrm>
              <a:off x="1939306" y="4116340"/>
              <a:ext cx="1139825" cy="1136650"/>
            </a:xfrm>
            <a:prstGeom prst="ellipse">
              <a:avLst/>
            </a:prstGeom>
            <a:solidFill>
              <a:schemeClr val="accent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Counter</a:t>
              </a:r>
              <a:r>
                <a:rPr lang="en-US" altLang="en-US" sz="1600" b="0" i="1" dirty="0">
                  <a:solidFill>
                    <a:srgbClr val="FFFFFF"/>
                  </a:solidFill>
                  <a:latin typeface="+mn-lt"/>
                </a:rPr>
                <a:t>-</a:t>
              </a:r>
            </a:p>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measures</a:t>
              </a:r>
            </a:p>
          </p:txBody>
        </p:sp>
      </p:grpSp>
      <p:sp>
        <p:nvSpPr>
          <p:cNvPr id="2" name="Title 1">
            <a:extLst>
              <a:ext uri="{FF2B5EF4-FFF2-40B4-BE49-F238E27FC236}">
                <a16:creationId xmlns:a16="http://schemas.microsoft.com/office/drawing/2014/main" id="{4569D513-35ED-23F6-5D10-B3370FF0EBFE}"/>
              </a:ext>
            </a:extLst>
          </p:cNvPr>
          <p:cNvSpPr>
            <a:spLocks noGrp="1"/>
          </p:cNvSpPr>
          <p:nvPr>
            <p:ph type="title"/>
          </p:nvPr>
        </p:nvSpPr>
        <p:spPr/>
        <p:txBody>
          <a:bodyPr>
            <a:noAutofit/>
          </a:bodyPr>
          <a:lstStyle/>
          <a:p>
            <a:r>
              <a:rPr lang="en-US" altLang="en-US" sz="3600" b="1" dirty="0">
                <a:latin typeface="+mn-lt"/>
                <a:ea typeface="ＭＳ Ｐゴシック" panose="020B0600070205080204" pitchFamily="34" charset="-128"/>
              </a:rPr>
              <a:t>7 Phases of the Strategy Deployment Process</a:t>
            </a:r>
            <a:br>
              <a:rPr lang="en-US" altLang="en-US" sz="3600" b="1" dirty="0">
                <a:latin typeface="+mn-lt"/>
                <a:ea typeface="ＭＳ Ｐゴシック" panose="020B0600070205080204" pitchFamily="34" charset="-128"/>
              </a:rPr>
            </a:br>
            <a:r>
              <a:rPr lang="en-US" altLang="en-US" sz="3600" b="1" dirty="0">
                <a:latin typeface="+mn-lt"/>
                <a:ea typeface="ＭＳ Ｐゴシック" panose="020B0600070205080204" pitchFamily="34" charset="-128"/>
              </a:rPr>
              <a:t>Based on the Deming Cycle - PDCA</a:t>
            </a:r>
            <a:endParaRPr lang="en-US" sz="3600" dirty="0"/>
          </a:p>
        </p:txBody>
      </p:sp>
      <p:sp>
        <p:nvSpPr>
          <p:cNvPr id="6" name="Line 4">
            <a:extLst>
              <a:ext uri="{FF2B5EF4-FFF2-40B4-BE49-F238E27FC236}">
                <a16:creationId xmlns:a16="http://schemas.microsoft.com/office/drawing/2014/main" id="{9979F4D9-A8A1-A204-D226-018121BF9EA3}"/>
              </a:ext>
            </a:extLst>
          </p:cNvPr>
          <p:cNvSpPr>
            <a:spLocks noChangeShapeType="1"/>
          </p:cNvSpPr>
          <p:nvPr/>
        </p:nvSpPr>
        <p:spPr bwMode="auto">
          <a:xfrm flipH="1">
            <a:off x="6096000" y="2086645"/>
            <a:ext cx="0" cy="376329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7" name="Rectangle 5">
            <a:extLst>
              <a:ext uri="{FF2B5EF4-FFF2-40B4-BE49-F238E27FC236}">
                <a16:creationId xmlns:a16="http://schemas.microsoft.com/office/drawing/2014/main" id="{E1C5280F-EDD5-7DFF-C97A-53725FA251E6}"/>
              </a:ext>
            </a:extLst>
          </p:cNvPr>
          <p:cNvSpPr>
            <a:spLocks noChangeArrowheads="1"/>
          </p:cNvSpPr>
          <p:nvPr/>
        </p:nvSpPr>
        <p:spPr bwMode="auto">
          <a:xfrm>
            <a:off x="4342879" y="2004520"/>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Strategy</a:t>
            </a:r>
          </a:p>
        </p:txBody>
      </p:sp>
      <p:sp>
        <p:nvSpPr>
          <p:cNvPr id="8" name="Rectangle 6">
            <a:extLst>
              <a:ext uri="{FF2B5EF4-FFF2-40B4-BE49-F238E27FC236}">
                <a16:creationId xmlns:a16="http://schemas.microsoft.com/office/drawing/2014/main" id="{A78C7A6D-2057-2393-4046-28001DA252B6}"/>
              </a:ext>
            </a:extLst>
          </p:cNvPr>
          <p:cNvSpPr>
            <a:spLocks noChangeArrowheads="1"/>
          </p:cNvSpPr>
          <p:nvPr/>
        </p:nvSpPr>
        <p:spPr bwMode="auto">
          <a:xfrm>
            <a:off x="4342879" y="2557887"/>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dirty="0">
                <a:solidFill>
                  <a:srgbClr val="FFFFFF"/>
                </a:solidFill>
                <a:latin typeface="+mn-lt"/>
              </a:rPr>
              <a:t>Develop Breakthrough Objectives</a:t>
            </a:r>
          </a:p>
        </p:txBody>
      </p:sp>
      <p:sp>
        <p:nvSpPr>
          <p:cNvPr id="9" name="Rectangle 7">
            <a:extLst>
              <a:ext uri="{FF2B5EF4-FFF2-40B4-BE49-F238E27FC236}">
                <a16:creationId xmlns:a16="http://schemas.microsoft.com/office/drawing/2014/main" id="{E0B00C26-2F61-1840-CCAE-ACA71367A1AB}"/>
              </a:ext>
            </a:extLst>
          </p:cNvPr>
          <p:cNvSpPr>
            <a:spLocks noChangeArrowheads="1"/>
          </p:cNvSpPr>
          <p:nvPr/>
        </p:nvSpPr>
        <p:spPr bwMode="auto">
          <a:xfrm>
            <a:off x="4342879" y="3111254"/>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AIPs, Targets, Resources</a:t>
            </a:r>
          </a:p>
        </p:txBody>
      </p:sp>
      <p:sp>
        <p:nvSpPr>
          <p:cNvPr id="10" name="Rectangle 8">
            <a:extLst>
              <a:ext uri="{FF2B5EF4-FFF2-40B4-BE49-F238E27FC236}">
                <a16:creationId xmlns:a16="http://schemas.microsoft.com/office/drawing/2014/main" id="{1E1918AC-E402-BEC5-8680-D2D99EDA16AA}"/>
              </a:ext>
            </a:extLst>
          </p:cNvPr>
          <p:cNvSpPr>
            <a:spLocks noChangeArrowheads="1"/>
          </p:cNvSpPr>
          <p:nvPr/>
        </p:nvSpPr>
        <p:spPr bwMode="auto">
          <a:xfrm>
            <a:off x="4342879" y="3664621"/>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Deploy AIPs</a:t>
            </a:r>
          </a:p>
        </p:txBody>
      </p:sp>
      <p:sp>
        <p:nvSpPr>
          <p:cNvPr id="11" name="Rectangle 9">
            <a:extLst>
              <a:ext uri="{FF2B5EF4-FFF2-40B4-BE49-F238E27FC236}">
                <a16:creationId xmlns:a16="http://schemas.microsoft.com/office/drawing/2014/main" id="{4B27CCDF-4D2A-CDD2-4010-F4D189A4DF3F}"/>
              </a:ext>
            </a:extLst>
          </p:cNvPr>
          <p:cNvSpPr>
            <a:spLocks noChangeArrowheads="1"/>
          </p:cNvSpPr>
          <p:nvPr/>
        </p:nvSpPr>
        <p:spPr bwMode="auto">
          <a:xfrm>
            <a:off x="4342879" y="4217988"/>
            <a:ext cx="3506234" cy="308019"/>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Implement AIPs</a:t>
            </a:r>
          </a:p>
        </p:txBody>
      </p:sp>
      <p:sp>
        <p:nvSpPr>
          <p:cNvPr id="12" name="Rectangle 10">
            <a:extLst>
              <a:ext uri="{FF2B5EF4-FFF2-40B4-BE49-F238E27FC236}">
                <a16:creationId xmlns:a16="http://schemas.microsoft.com/office/drawing/2014/main" id="{85FE6C78-4F4F-BEF0-856F-CF0338B95801}"/>
              </a:ext>
            </a:extLst>
          </p:cNvPr>
          <p:cNvSpPr>
            <a:spLocks noChangeArrowheads="1"/>
          </p:cNvSpPr>
          <p:nvPr/>
        </p:nvSpPr>
        <p:spPr bwMode="auto">
          <a:xfrm>
            <a:off x="4342879" y="4771355"/>
            <a:ext cx="3506234"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Monthly PDCA Review</a:t>
            </a:r>
          </a:p>
        </p:txBody>
      </p:sp>
      <p:sp>
        <p:nvSpPr>
          <p:cNvPr id="13" name="Rectangle 11">
            <a:extLst>
              <a:ext uri="{FF2B5EF4-FFF2-40B4-BE49-F238E27FC236}">
                <a16:creationId xmlns:a16="http://schemas.microsoft.com/office/drawing/2014/main" id="{5E594876-58FD-7FF7-7D45-B86D20F9FDBB}"/>
              </a:ext>
            </a:extLst>
          </p:cNvPr>
          <p:cNvSpPr>
            <a:spLocks noChangeArrowheads="1"/>
          </p:cNvSpPr>
          <p:nvPr/>
        </p:nvSpPr>
        <p:spPr bwMode="auto">
          <a:xfrm>
            <a:off x="4342880" y="5324721"/>
            <a:ext cx="3506233"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Annual Review</a:t>
            </a:r>
          </a:p>
        </p:txBody>
      </p:sp>
      <p:grpSp>
        <p:nvGrpSpPr>
          <p:cNvPr id="37" name="Group 36">
            <a:extLst>
              <a:ext uri="{FF2B5EF4-FFF2-40B4-BE49-F238E27FC236}">
                <a16:creationId xmlns:a16="http://schemas.microsoft.com/office/drawing/2014/main" id="{BB88FA71-17C0-CA2A-342F-2AB3883D6D8C}"/>
              </a:ext>
            </a:extLst>
          </p:cNvPr>
          <p:cNvGrpSpPr/>
          <p:nvPr/>
        </p:nvGrpSpPr>
        <p:grpSpPr>
          <a:xfrm>
            <a:off x="7849179" y="2432171"/>
            <a:ext cx="1752600" cy="1135063"/>
            <a:chOff x="7849179" y="2432171"/>
            <a:chExt cx="1752600" cy="1135063"/>
          </a:xfrm>
        </p:grpSpPr>
        <p:sp>
          <p:nvSpPr>
            <p:cNvPr id="15" name="Line 13">
              <a:extLst>
                <a:ext uri="{FF2B5EF4-FFF2-40B4-BE49-F238E27FC236}">
                  <a16:creationId xmlns:a16="http://schemas.microsoft.com/office/drawing/2014/main" id="{45B75395-A5D4-03DD-C358-DD946D83E931}"/>
                </a:ext>
              </a:extLst>
            </p:cNvPr>
            <p:cNvSpPr>
              <a:spLocks noChangeShapeType="1"/>
            </p:cNvSpPr>
            <p:nvPr/>
          </p:nvSpPr>
          <p:spPr bwMode="auto">
            <a:xfrm flipH="1">
              <a:off x="7849179" y="2711896"/>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35" name="Line 13">
              <a:extLst>
                <a:ext uri="{FF2B5EF4-FFF2-40B4-BE49-F238E27FC236}">
                  <a16:creationId xmlns:a16="http://schemas.microsoft.com/office/drawing/2014/main" id="{55D7C4D2-75C4-A111-7746-012308D36375}"/>
                </a:ext>
              </a:extLst>
            </p:cNvPr>
            <p:cNvSpPr>
              <a:spLocks noChangeShapeType="1"/>
            </p:cNvSpPr>
            <p:nvPr/>
          </p:nvSpPr>
          <p:spPr bwMode="auto">
            <a:xfrm flipH="1">
              <a:off x="7849179" y="3265263"/>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17" name="Oval 15">
              <a:extLst>
                <a:ext uri="{FF2B5EF4-FFF2-40B4-BE49-F238E27FC236}">
                  <a16:creationId xmlns:a16="http://schemas.microsoft.com/office/drawing/2014/main" id="{BF39EADE-E4E7-621F-CD82-29BECC5E259F}"/>
                </a:ext>
              </a:extLst>
            </p:cNvPr>
            <p:cNvSpPr>
              <a:spLocks noChangeArrowheads="1"/>
            </p:cNvSpPr>
            <p:nvPr/>
          </p:nvSpPr>
          <p:spPr bwMode="auto">
            <a:xfrm>
              <a:off x="8461954" y="2432171"/>
              <a:ext cx="1139825" cy="1135063"/>
            </a:xfrm>
            <a:prstGeom prst="ellipse">
              <a:avLst/>
            </a:prstGeom>
            <a:solidFill>
              <a:schemeClr val="accent5"/>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Catchball</a:t>
              </a:r>
            </a:p>
          </p:txBody>
        </p:sp>
      </p:grpSp>
      <p:grpSp>
        <p:nvGrpSpPr>
          <p:cNvPr id="38" name="Group 37">
            <a:extLst>
              <a:ext uri="{FF2B5EF4-FFF2-40B4-BE49-F238E27FC236}">
                <a16:creationId xmlns:a16="http://schemas.microsoft.com/office/drawing/2014/main" id="{58C08383-7BD3-E525-7891-DC33EB2AD074}"/>
              </a:ext>
            </a:extLst>
          </p:cNvPr>
          <p:cNvGrpSpPr/>
          <p:nvPr/>
        </p:nvGrpSpPr>
        <p:grpSpPr>
          <a:xfrm>
            <a:off x="7849179" y="3765061"/>
            <a:ext cx="1848602" cy="1213871"/>
            <a:chOff x="7849179" y="3765061"/>
            <a:chExt cx="1848602" cy="1213871"/>
          </a:xfrm>
        </p:grpSpPr>
        <p:sp>
          <p:nvSpPr>
            <p:cNvPr id="36" name="Line 13">
              <a:extLst>
                <a:ext uri="{FF2B5EF4-FFF2-40B4-BE49-F238E27FC236}">
                  <a16:creationId xmlns:a16="http://schemas.microsoft.com/office/drawing/2014/main" id="{203DC974-317A-30BB-5EDA-7F7F3B8D13B8}"/>
                </a:ext>
              </a:extLst>
            </p:cNvPr>
            <p:cNvSpPr>
              <a:spLocks noChangeShapeType="1"/>
            </p:cNvSpPr>
            <p:nvPr/>
          </p:nvSpPr>
          <p:spPr bwMode="auto">
            <a:xfrm flipH="1">
              <a:off x="7849179"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0" name="Oval 18">
              <a:extLst>
                <a:ext uri="{FF2B5EF4-FFF2-40B4-BE49-F238E27FC236}">
                  <a16:creationId xmlns:a16="http://schemas.microsoft.com/office/drawing/2014/main" id="{B016BAE2-CCB1-228E-0491-959047D9899F}"/>
                </a:ext>
              </a:extLst>
            </p:cNvPr>
            <p:cNvSpPr>
              <a:spLocks noChangeArrowheads="1"/>
            </p:cNvSpPr>
            <p:nvPr/>
          </p:nvSpPr>
          <p:spPr bwMode="auto">
            <a:xfrm>
              <a:off x="8461954" y="3765061"/>
              <a:ext cx="1235827" cy="1213871"/>
            </a:xfrm>
            <a:prstGeom prst="ellipse">
              <a:avLst/>
            </a:prstGeom>
            <a:solidFill>
              <a:schemeClr val="accent6"/>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latin typeface="+mn-lt"/>
                </a:rPr>
                <a:t>Targeted</a:t>
              </a:r>
            </a:p>
            <a:p>
              <a:pPr algn="ctr" eaLnBrk="1" hangingPunct="1">
                <a:lnSpc>
                  <a:spcPct val="100000"/>
                </a:lnSpc>
                <a:spcBef>
                  <a:spcPct val="0"/>
                </a:spcBef>
                <a:spcAft>
                  <a:spcPct val="0"/>
                </a:spcAft>
                <a:buClrTx/>
                <a:buSzTx/>
                <a:buFontTx/>
                <a:buNone/>
              </a:pPr>
              <a:r>
                <a:rPr lang="en-US" altLang="en-US" sz="1600" i="1" dirty="0">
                  <a:latin typeface="+mn-lt"/>
                </a:rPr>
                <a:t>CI Efforts</a:t>
              </a:r>
            </a:p>
          </p:txBody>
        </p:sp>
      </p:grpSp>
      <p:grpSp>
        <p:nvGrpSpPr>
          <p:cNvPr id="22" name="Group 21">
            <a:extLst>
              <a:ext uri="{FF2B5EF4-FFF2-40B4-BE49-F238E27FC236}">
                <a16:creationId xmlns:a16="http://schemas.microsoft.com/office/drawing/2014/main" id="{C7F58C8E-26BF-59A6-C364-C4EBC1D1B6A5}"/>
              </a:ext>
            </a:extLst>
          </p:cNvPr>
          <p:cNvGrpSpPr/>
          <p:nvPr/>
        </p:nvGrpSpPr>
        <p:grpSpPr>
          <a:xfrm>
            <a:off x="325585" y="1946345"/>
            <a:ext cx="2945773" cy="1866214"/>
            <a:chOff x="749635" y="2039846"/>
            <a:chExt cx="2945773" cy="1866214"/>
          </a:xfrm>
        </p:grpSpPr>
        <p:grpSp>
          <p:nvGrpSpPr>
            <p:cNvPr id="23" name="Group 22">
              <a:extLst>
                <a:ext uri="{FF2B5EF4-FFF2-40B4-BE49-F238E27FC236}">
                  <a16:creationId xmlns:a16="http://schemas.microsoft.com/office/drawing/2014/main" id="{B38F31B1-9173-E5CB-6D8F-791C56CDB1EC}"/>
                </a:ext>
              </a:extLst>
            </p:cNvPr>
            <p:cNvGrpSpPr/>
            <p:nvPr/>
          </p:nvGrpSpPr>
          <p:grpSpPr>
            <a:xfrm>
              <a:off x="749635" y="2039846"/>
              <a:ext cx="2945773" cy="1866214"/>
              <a:chOff x="749635" y="2039846"/>
              <a:chExt cx="2945773" cy="1866214"/>
            </a:xfrm>
            <a:effectLst>
              <a:outerShdw blurRad="50800" dist="50800" dir="5400000" algn="ctr" rotWithShape="0">
                <a:schemeClr val="bg1">
                  <a:lumMod val="85000"/>
                </a:schemeClr>
              </a:outerShdw>
            </a:effectLst>
          </p:grpSpPr>
          <p:sp>
            <p:nvSpPr>
              <p:cNvPr id="25" name="Rounded Rectangle 4">
                <a:extLst>
                  <a:ext uri="{FF2B5EF4-FFF2-40B4-BE49-F238E27FC236}">
                    <a16:creationId xmlns:a16="http://schemas.microsoft.com/office/drawing/2014/main" id="{ECDC356D-582A-78FE-C7C3-97130B3B75BD}"/>
                  </a:ext>
                </a:extLst>
              </p:cNvPr>
              <p:cNvSpPr/>
              <p:nvPr/>
            </p:nvSpPr>
            <p:spPr>
              <a:xfrm>
                <a:off x="749635" y="2039846"/>
                <a:ext cx="2945773" cy="1866214"/>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13443698-DDF6-818A-1345-D0E4BAA92F57}"/>
                  </a:ext>
                </a:extLst>
              </p:cNvPr>
              <p:cNvGrpSpPr/>
              <p:nvPr/>
            </p:nvGrpSpPr>
            <p:grpSpPr>
              <a:xfrm>
                <a:off x="2562745" y="2367725"/>
                <a:ext cx="1132662" cy="1310104"/>
                <a:chOff x="2540336" y="2367725"/>
                <a:chExt cx="1155072" cy="1310104"/>
              </a:xfrm>
            </p:grpSpPr>
            <p:sp>
              <p:nvSpPr>
                <p:cNvPr id="27" name="Rectangle 20">
                  <a:extLst>
                    <a:ext uri="{FF2B5EF4-FFF2-40B4-BE49-F238E27FC236}">
                      <a16:creationId xmlns:a16="http://schemas.microsoft.com/office/drawing/2014/main" id="{C1D72F1A-C4C7-991E-1318-DE195A824C5E}"/>
                    </a:ext>
                  </a:extLst>
                </p:cNvPr>
                <p:cNvSpPr>
                  <a:spLocks noChangeArrowheads="1"/>
                </p:cNvSpPr>
                <p:nvPr/>
              </p:nvSpPr>
              <p:spPr bwMode="auto">
                <a:xfrm>
                  <a:off x="2541129" y="2374075"/>
                  <a:ext cx="355600" cy="26670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8" name="Rectangle 21">
                  <a:extLst>
                    <a:ext uri="{FF2B5EF4-FFF2-40B4-BE49-F238E27FC236}">
                      <a16:creationId xmlns:a16="http://schemas.microsoft.com/office/drawing/2014/main" id="{F4B215A0-1348-5E13-99EF-6FB094B6D2A1}"/>
                    </a:ext>
                  </a:extLst>
                </p:cNvPr>
                <p:cNvSpPr>
                  <a:spLocks noChangeArrowheads="1"/>
                </p:cNvSpPr>
                <p:nvPr/>
              </p:nvSpPr>
              <p:spPr bwMode="auto">
                <a:xfrm>
                  <a:off x="2541129" y="2707450"/>
                  <a:ext cx="355600" cy="268288"/>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9" name="Rectangle 22">
                  <a:extLst>
                    <a:ext uri="{FF2B5EF4-FFF2-40B4-BE49-F238E27FC236}">
                      <a16:creationId xmlns:a16="http://schemas.microsoft.com/office/drawing/2014/main" id="{1A5E2137-527B-2E2A-0628-6FF8DFA902B6}"/>
                    </a:ext>
                  </a:extLst>
                </p:cNvPr>
                <p:cNvSpPr>
                  <a:spLocks noChangeArrowheads="1"/>
                </p:cNvSpPr>
                <p:nvPr/>
              </p:nvSpPr>
              <p:spPr bwMode="auto">
                <a:xfrm>
                  <a:off x="2541129" y="3042413"/>
                  <a:ext cx="355600" cy="26670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0" name="Text Box 23">
                  <a:extLst>
                    <a:ext uri="{FF2B5EF4-FFF2-40B4-BE49-F238E27FC236}">
                      <a16:creationId xmlns:a16="http://schemas.microsoft.com/office/drawing/2014/main" id="{8AEDA4A6-60C6-FD8E-0C8E-F7D6BF36FD9A}"/>
                    </a:ext>
                  </a:extLst>
                </p:cNvPr>
                <p:cNvSpPr txBox="1">
                  <a:spLocks noChangeArrowheads="1"/>
                </p:cNvSpPr>
                <p:nvPr/>
              </p:nvSpPr>
              <p:spPr bwMode="auto">
                <a:xfrm>
                  <a:off x="2903080" y="2367725"/>
                  <a:ext cx="6335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Plan</a:t>
                  </a:r>
                </a:p>
              </p:txBody>
            </p:sp>
            <p:sp>
              <p:nvSpPr>
                <p:cNvPr id="31" name="Text Box 24">
                  <a:extLst>
                    <a:ext uri="{FF2B5EF4-FFF2-40B4-BE49-F238E27FC236}">
                      <a16:creationId xmlns:a16="http://schemas.microsoft.com/office/drawing/2014/main" id="{9DCC1C55-40BE-8440-FDAD-97E873EDA821}"/>
                    </a:ext>
                  </a:extLst>
                </p:cNvPr>
                <p:cNvSpPr txBox="1">
                  <a:spLocks noChangeArrowheads="1"/>
                </p:cNvSpPr>
                <p:nvPr/>
              </p:nvSpPr>
              <p:spPr bwMode="auto">
                <a:xfrm>
                  <a:off x="2890379" y="2682050"/>
                  <a:ext cx="463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Do</a:t>
                  </a:r>
                </a:p>
              </p:txBody>
            </p:sp>
            <p:sp>
              <p:nvSpPr>
                <p:cNvPr id="32" name="Text Box 25">
                  <a:extLst>
                    <a:ext uri="{FF2B5EF4-FFF2-40B4-BE49-F238E27FC236}">
                      <a16:creationId xmlns:a16="http://schemas.microsoft.com/office/drawing/2014/main" id="{2F99A284-DFEB-A355-A42E-7E9AA3B11898}"/>
                    </a:ext>
                  </a:extLst>
                </p:cNvPr>
                <p:cNvSpPr txBox="1">
                  <a:spLocks noChangeArrowheads="1"/>
                </p:cNvSpPr>
                <p:nvPr/>
              </p:nvSpPr>
              <p:spPr bwMode="auto">
                <a:xfrm>
                  <a:off x="2890379" y="3013838"/>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Check</a:t>
                  </a:r>
                </a:p>
              </p:txBody>
            </p:sp>
            <p:sp>
              <p:nvSpPr>
                <p:cNvPr id="33" name="Rectangle 26">
                  <a:extLst>
                    <a:ext uri="{FF2B5EF4-FFF2-40B4-BE49-F238E27FC236}">
                      <a16:creationId xmlns:a16="http://schemas.microsoft.com/office/drawing/2014/main" id="{0B25A962-5572-E466-B859-958FC157AA87}"/>
                    </a:ext>
                  </a:extLst>
                </p:cNvPr>
                <p:cNvSpPr>
                  <a:spLocks noChangeArrowheads="1"/>
                </p:cNvSpPr>
                <p:nvPr/>
              </p:nvSpPr>
              <p:spPr bwMode="auto">
                <a:xfrm>
                  <a:off x="2540336" y="3364675"/>
                  <a:ext cx="357188" cy="268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4" name="Text Box 27">
                  <a:extLst>
                    <a:ext uri="{FF2B5EF4-FFF2-40B4-BE49-F238E27FC236}">
                      <a16:creationId xmlns:a16="http://schemas.microsoft.com/office/drawing/2014/main" id="{34E6DEE9-473F-B337-9AE8-A12408D768F1}"/>
                    </a:ext>
                  </a:extLst>
                </p:cNvPr>
                <p:cNvSpPr txBox="1">
                  <a:spLocks noChangeArrowheads="1"/>
                </p:cNvSpPr>
                <p:nvPr/>
              </p:nvSpPr>
              <p:spPr bwMode="auto">
                <a:xfrm>
                  <a:off x="2903080" y="3339275"/>
                  <a:ext cx="5212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Act</a:t>
                  </a:r>
                </a:p>
              </p:txBody>
            </p:sp>
          </p:grpSp>
        </p:grpSp>
        <p:pic>
          <p:nvPicPr>
            <p:cNvPr id="24" name="Picture 23">
              <a:extLst>
                <a:ext uri="{FF2B5EF4-FFF2-40B4-BE49-F238E27FC236}">
                  <a16:creationId xmlns:a16="http://schemas.microsoft.com/office/drawing/2014/main" id="{5EB06DA2-EF7D-B894-038D-684EE905E9CD}"/>
                </a:ext>
              </a:extLst>
            </p:cNvPr>
            <p:cNvPicPr>
              <a:picLocks noChangeAspect="1"/>
            </p:cNvPicPr>
            <p:nvPr/>
          </p:nvPicPr>
          <p:blipFill>
            <a:blip r:embed="rId4"/>
            <a:stretch>
              <a:fillRect/>
            </a:stretch>
          </p:blipFill>
          <p:spPr>
            <a:xfrm>
              <a:off x="963375" y="2226854"/>
              <a:ext cx="1270000" cy="1587500"/>
            </a:xfrm>
            <a:prstGeom prst="rect">
              <a:avLst/>
            </a:prstGeom>
            <a:effectLst>
              <a:softEdge rad="139700"/>
            </a:effectLst>
          </p:spPr>
        </p:pic>
      </p:grpSp>
      <p:grpSp>
        <p:nvGrpSpPr>
          <p:cNvPr id="3" name="Group 2">
            <a:extLst>
              <a:ext uri="{FF2B5EF4-FFF2-40B4-BE49-F238E27FC236}">
                <a16:creationId xmlns:a16="http://schemas.microsoft.com/office/drawing/2014/main" id="{B5773F4B-B0C8-5621-218C-75DEF80AEC7E}"/>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0EF736AF-E383-05FF-66E7-02C689E0A46F}"/>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908C1B7-F14B-EEA5-79C7-B2A2FE443FD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5CBF8370-5947-7599-83D8-5156B57A100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B8B5E424-987A-7380-6AA3-D7DE36A9F5B1}"/>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9" name="TextBox 18">
            <a:extLst>
              <a:ext uri="{FF2B5EF4-FFF2-40B4-BE49-F238E27FC236}">
                <a16:creationId xmlns:a16="http://schemas.microsoft.com/office/drawing/2014/main" id="{DEB038EA-7018-01C1-9721-3A254A00037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
        <p:nvSpPr>
          <p:cNvPr id="40" name="Oval 39">
            <a:extLst>
              <a:ext uri="{FF2B5EF4-FFF2-40B4-BE49-F238E27FC236}">
                <a16:creationId xmlns:a16="http://schemas.microsoft.com/office/drawing/2014/main" id="{7BFCBF98-079C-318B-D4D9-AA284835201F}"/>
              </a:ext>
            </a:extLst>
          </p:cNvPr>
          <p:cNvSpPr/>
          <p:nvPr/>
        </p:nvSpPr>
        <p:spPr>
          <a:xfrm>
            <a:off x="4117118" y="2350047"/>
            <a:ext cx="3957763" cy="761207"/>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76540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1364-D11F-6985-B2F7-AE661B789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50F7E-C5CA-E281-6CC9-BDF99B862EB1}"/>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Breakthrough Objectives</a:t>
            </a:r>
            <a:endParaRPr lang="en-US" sz="4000" dirty="0"/>
          </a:p>
        </p:txBody>
      </p:sp>
      <p:grpSp>
        <p:nvGrpSpPr>
          <p:cNvPr id="3" name="Group 2">
            <a:extLst>
              <a:ext uri="{FF2B5EF4-FFF2-40B4-BE49-F238E27FC236}">
                <a16:creationId xmlns:a16="http://schemas.microsoft.com/office/drawing/2014/main" id="{080BBF1B-6C02-E989-76A4-B3D52C004E91}"/>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48EA8E97-206F-248B-5CC6-B7ED0E4EB7D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ACC1A97C-F462-9175-AF58-81CA7FECA25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775F9431-F4A1-08CD-800B-E56B7744A4A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9D79C3C1-E607-6D2C-4A96-E8F2CFFB16EA}"/>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9" name="TextBox 18">
            <a:extLst>
              <a:ext uri="{FF2B5EF4-FFF2-40B4-BE49-F238E27FC236}">
                <a16:creationId xmlns:a16="http://schemas.microsoft.com/office/drawing/2014/main" id="{7C7EAF34-84A6-2450-22F2-9E53EDF8B99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grpSp>
        <p:nvGrpSpPr>
          <p:cNvPr id="44" name="Group 43">
            <a:extLst>
              <a:ext uri="{FF2B5EF4-FFF2-40B4-BE49-F238E27FC236}">
                <a16:creationId xmlns:a16="http://schemas.microsoft.com/office/drawing/2014/main" id="{0E88EA85-3BED-30E9-CD73-74151BA80528}"/>
              </a:ext>
            </a:extLst>
          </p:cNvPr>
          <p:cNvGrpSpPr/>
          <p:nvPr/>
        </p:nvGrpSpPr>
        <p:grpSpPr>
          <a:xfrm>
            <a:off x="2206957" y="1777822"/>
            <a:ext cx="7778086" cy="4503916"/>
            <a:chOff x="439738" y="1246188"/>
            <a:chExt cx="8299450" cy="5035550"/>
          </a:xfrm>
        </p:grpSpPr>
        <p:pic>
          <p:nvPicPr>
            <p:cNvPr id="5" name="Picture 17">
              <a:extLst>
                <a:ext uri="{FF2B5EF4-FFF2-40B4-BE49-F238E27FC236}">
                  <a16:creationId xmlns:a16="http://schemas.microsoft.com/office/drawing/2014/main" id="{2FB9F745-163C-C769-0B30-FA8AF49222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8" y="1246188"/>
              <a:ext cx="82994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AutoShape 299">
              <a:extLst>
                <a:ext uri="{FF2B5EF4-FFF2-40B4-BE49-F238E27FC236}">
                  <a16:creationId xmlns:a16="http://schemas.microsoft.com/office/drawing/2014/main" id="{C5AEA7D2-1228-9140-22D5-2929EE7F9686}"/>
                </a:ext>
              </a:extLst>
            </p:cNvPr>
            <p:cNvSpPr>
              <a:spLocks noChangeArrowheads="1"/>
            </p:cNvSpPr>
            <p:nvPr/>
          </p:nvSpPr>
          <p:spPr bwMode="auto">
            <a:xfrm>
              <a:off x="1000125" y="3078163"/>
              <a:ext cx="1779588" cy="2163762"/>
            </a:xfrm>
            <a:prstGeom prst="homePlate">
              <a:avLst>
                <a:gd name="adj" fmla="val 53926"/>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WHAT</a:t>
              </a:r>
            </a:p>
          </p:txBody>
        </p:sp>
      </p:grpSp>
    </p:spTree>
    <p:custDataLst>
      <p:tags r:id="rId1"/>
    </p:custDataLst>
    <p:extLst>
      <p:ext uri="{BB962C8B-B14F-4D97-AF65-F5344CB8AC3E}">
        <p14:creationId xmlns:p14="http://schemas.microsoft.com/office/powerpoint/2010/main" val="68402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F37D8-663C-FDEA-D58D-089414F2A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76149-F9B8-0F27-A9E5-0830B286AE12}"/>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Breakthrough Objectives Defined</a:t>
            </a:r>
            <a:endParaRPr lang="en-US" sz="4000" dirty="0"/>
          </a:p>
        </p:txBody>
      </p:sp>
      <p:grpSp>
        <p:nvGrpSpPr>
          <p:cNvPr id="3" name="Group 2">
            <a:extLst>
              <a:ext uri="{FF2B5EF4-FFF2-40B4-BE49-F238E27FC236}">
                <a16:creationId xmlns:a16="http://schemas.microsoft.com/office/drawing/2014/main" id="{94E22D04-0494-0028-3030-F72B706EB9ED}"/>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48821174-47B3-B08D-EA06-312DDD8EF7B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F53DF75A-0095-B9D6-6060-B94F91D560E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CD5CE0C7-DE40-0D3B-9D77-5489B30D6A8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531AAEC1-105F-13BE-5AB9-760C3C164959}"/>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9" name="TextBox 18">
            <a:extLst>
              <a:ext uri="{FF2B5EF4-FFF2-40B4-BE49-F238E27FC236}">
                <a16:creationId xmlns:a16="http://schemas.microsoft.com/office/drawing/2014/main" id="{FAEF6FDF-2E11-712B-43C3-754DD2CDEB7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
        <p:nvSpPr>
          <p:cNvPr id="6" name="Rectangle 7">
            <a:extLst>
              <a:ext uri="{FF2B5EF4-FFF2-40B4-BE49-F238E27FC236}">
                <a16:creationId xmlns:a16="http://schemas.microsoft.com/office/drawing/2014/main" id="{B5E6E283-F99B-17D7-53BD-2C7C37C41AE5}"/>
              </a:ext>
            </a:extLst>
          </p:cNvPr>
          <p:cNvSpPr>
            <a:spLocks noChangeArrowheads="1"/>
          </p:cNvSpPr>
          <p:nvPr/>
        </p:nvSpPr>
        <p:spPr bwMode="auto">
          <a:xfrm>
            <a:off x="5008115" y="2623960"/>
            <a:ext cx="2554287"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Focus the entire organization and its resources to the strategic few imperatives</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Enable the business to profitably grow and compete and win in the marketplace</a:t>
            </a:r>
          </a:p>
        </p:txBody>
      </p:sp>
      <p:sp>
        <p:nvSpPr>
          <p:cNvPr id="7" name="Rectangle 8">
            <a:extLst>
              <a:ext uri="{FF2B5EF4-FFF2-40B4-BE49-F238E27FC236}">
                <a16:creationId xmlns:a16="http://schemas.microsoft.com/office/drawing/2014/main" id="{4361174C-BDA5-F954-ED72-FFA6F612DDFD}"/>
              </a:ext>
            </a:extLst>
          </p:cNvPr>
          <p:cNvSpPr>
            <a:spLocks noChangeArrowheads="1"/>
          </p:cNvSpPr>
          <p:nvPr/>
        </p:nvSpPr>
        <p:spPr bwMode="auto">
          <a:xfrm>
            <a:off x="7490965" y="2623960"/>
            <a:ext cx="247491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Are typically 3 – 5 year objectives</a:t>
            </a:r>
          </a:p>
          <a:p>
            <a:pPr>
              <a:spcBef>
                <a:spcPct val="40000"/>
              </a:spcBef>
              <a:buClr>
                <a:schemeClr val="accent1"/>
              </a:buClr>
              <a:buSzPct val="40000"/>
              <a:buFont typeface="Wingdings" panose="05000000000000000000" pitchFamily="2" charset="2"/>
              <a:buChar char="n"/>
            </a:pPr>
            <a:endParaRPr lang="en-US" altLang="en-US" sz="1600">
              <a:solidFill>
                <a:schemeClr val="tx1"/>
              </a:solidFill>
              <a:latin typeface="Arial" panose="020B0604020202020204" pitchFamily="34" charset="0"/>
            </a:endParaRPr>
          </a:p>
        </p:txBody>
      </p:sp>
      <p:sp>
        <p:nvSpPr>
          <p:cNvPr id="8" name="Rectangle 9">
            <a:extLst>
              <a:ext uri="{FF2B5EF4-FFF2-40B4-BE49-F238E27FC236}">
                <a16:creationId xmlns:a16="http://schemas.microsoft.com/office/drawing/2014/main" id="{F77CAA4C-3049-38C5-EFA5-3627427A994B}"/>
              </a:ext>
            </a:extLst>
          </p:cNvPr>
          <p:cNvSpPr>
            <a:spLocks noChangeArrowheads="1"/>
          </p:cNvSpPr>
          <p:nvPr/>
        </p:nvSpPr>
        <p:spPr bwMode="auto">
          <a:xfrm>
            <a:off x="2276027" y="2623960"/>
            <a:ext cx="2643188" cy="322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dirty="0">
                <a:solidFill>
                  <a:schemeClr val="tx1"/>
                </a:solidFill>
                <a:latin typeface="Arial" panose="020B0604020202020204" pitchFamily="34" charset="0"/>
              </a:rPr>
              <a:t>Align with a business’ </a:t>
            </a:r>
            <a:r>
              <a:rPr lang="en-US" altLang="ja-JP" sz="1600" dirty="0">
                <a:solidFill>
                  <a:schemeClr val="tx1"/>
                </a:solidFill>
                <a:latin typeface="Arial" panose="020B0604020202020204" pitchFamily="34" charset="0"/>
              </a:rPr>
              <a:t>strategic imperatives</a:t>
            </a:r>
          </a:p>
          <a:p>
            <a:pPr>
              <a:spcBef>
                <a:spcPct val="40000"/>
              </a:spcBef>
              <a:buSzPct val="125000"/>
              <a:buFont typeface="Arial" panose="020B0604020202020204" pitchFamily="34" charset="0"/>
              <a:buChar char="•"/>
            </a:pPr>
            <a:r>
              <a:rPr lang="en-US" altLang="en-US" sz="1600" dirty="0">
                <a:solidFill>
                  <a:schemeClr val="tx1"/>
                </a:solidFill>
                <a:latin typeface="Arial" panose="020B0604020202020204" pitchFamily="34" charset="0"/>
              </a:rPr>
              <a:t>Represent a </a:t>
            </a:r>
            <a:r>
              <a:rPr lang="en-US" altLang="en-US" sz="1600" i="1" dirty="0">
                <a:solidFill>
                  <a:schemeClr val="tx1"/>
                </a:solidFill>
                <a:latin typeface="Arial" panose="020B0604020202020204" pitchFamily="34" charset="0"/>
              </a:rPr>
              <a:t>significant </a:t>
            </a:r>
            <a:r>
              <a:rPr lang="en-US" altLang="en-US" sz="1600" dirty="0">
                <a:solidFill>
                  <a:schemeClr val="tx1"/>
                </a:solidFill>
                <a:latin typeface="Arial" panose="020B0604020202020204" pitchFamily="34" charset="0"/>
              </a:rPr>
              <a:t>performance improvement</a:t>
            </a:r>
          </a:p>
          <a:p>
            <a:pPr>
              <a:spcBef>
                <a:spcPct val="40000"/>
              </a:spcBef>
              <a:buSzPct val="125000"/>
              <a:buFont typeface="Arial" panose="020B0604020202020204" pitchFamily="34" charset="0"/>
              <a:buChar char="•"/>
            </a:pPr>
            <a:r>
              <a:rPr lang="en-US" altLang="en-US" sz="1600" dirty="0">
                <a:solidFill>
                  <a:schemeClr val="tx1"/>
                </a:solidFill>
                <a:latin typeface="Arial" panose="020B0604020202020204" pitchFamily="34" charset="0"/>
              </a:rPr>
              <a:t>Require the organization to stretch itself to reach sustainable levels of performance never attained before</a:t>
            </a:r>
          </a:p>
        </p:txBody>
      </p:sp>
      <p:sp>
        <p:nvSpPr>
          <p:cNvPr id="9" name="AutoShape 12">
            <a:extLst>
              <a:ext uri="{FF2B5EF4-FFF2-40B4-BE49-F238E27FC236}">
                <a16:creationId xmlns:a16="http://schemas.microsoft.com/office/drawing/2014/main" id="{1ED5786E-F77F-8F2F-92EE-B38A0CB1FBC8}"/>
              </a:ext>
            </a:extLst>
          </p:cNvPr>
          <p:cNvSpPr>
            <a:spLocks noChangeArrowheads="1"/>
          </p:cNvSpPr>
          <p:nvPr/>
        </p:nvSpPr>
        <p:spPr bwMode="auto">
          <a:xfrm>
            <a:off x="7273477" y="1777822"/>
            <a:ext cx="3003550" cy="625475"/>
          </a:xfrm>
          <a:prstGeom prst="homePlate">
            <a:avLst>
              <a:gd name="adj" fmla="val 75098"/>
            </a:avLst>
          </a:prstGeom>
          <a:solidFill>
            <a:schemeClr val="accent1"/>
          </a:solidFill>
          <a:ln w="19050">
            <a:solidFill>
              <a:schemeClr val="bg1"/>
            </a:solidFill>
            <a:miter lim="800000"/>
            <a:headEnd/>
            <a:tailEnd/>
          </a:ln>
        </p:spPr>
        <p:txBody>
          <a:bodyPr lIns="45720" tIns="46038" rIns="45720" bIns="46038"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95000"/>
              </a:lnSpc>
            </a:pPr>
            <a:r>
              <a:rPr lang="en-US" altLang="en-US" sz="1800">
                <a:latin typeface="Arial" panose="020B0604020202020204" pitchFamily="34" charset="0"/>
              </a:rPr>
              <a:t>                 Length</a:t>
            </a:r>
          </a:p>
        </p:txBody>
      </p:sp>
      <p:sp>
        <p:nvSpPr>
          <p:cNvPr id="10" name="AutoShape 13">
            <a:extLst>
              <a:ext uri="{FF2B5EF4-FFF2-40B4-BE49-F238E27FC236}">
                <a16:creationId xmlns:a16="http://schemas.microsoft.com/office/drawing/2014/main" id="{BECA2447-B7FE-A6C3-C999-AAB3D301C0AF}"/>
              </a:ext>
            </a:extLst>
          </p:cNvPr>
          <p:cNvSpPr>
            <a:spLocks noChangeArrowheads="1"/>
          </p:cNvSpPr>
          <p:nvPr/>
        </p:nvSpPr>
        <p:spPr bwMode="auto">
          <a:xfrm>
            <a:off x="4949377" y="1777822"/>
            <a:ext cx="2744788" cy="625475"/>
          </a:xfrm>
          <a:prstGeom prst="homePlate">
            <a:avLst>
              <a:gd name="adj" fmla="val 57069"/>
            </a:avLst>
          </a:prstGeom>
          <a:solidFill>
            <a:schemeClr val="accent1"/>
          </a:solidFill>
          <a:ln w="19050">
            <a:solidFill>
              <a:schemeClr val="bg1"/>
            </a:solidFill>
            <a:miter lim="800000"/>
            <a:headEnd/>
            <a:tailEnd/>
          </a:ln>
        </p:spPr>
        <p:txBody>
          <a:bodyPr lIns="45720" tIns="46038" rIns="45720" bIns="46038" anchor="ctr"/>
          <a:lstStyle>
            <a:lvl1pPr marL="1714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pPr>
            <a:r>
              <a:rPr lang="en-US" altLang="en-US" sz="1800">
                <a:latin typeface="Arial" panose="020B0604020202020204" pitchFamily="34" charset="0"/>
              </a:rPr>
              <a:t>Purpose</a:t>
            </a:r>
          </a:p>
        </p:txBody>
      </p:sp>
      <p:sp>
        <p:nvSpPr>
          <p:cNvPr id="11" name="AutoShape 14">
            <a:extLst>
              <a:ext uri="{FF2B5EF4-FFF2-40B4-BE49-F238E27FC236}">
                <a16:creationId xmlns:a16="http://schemas.microsoft.com/office/drawing/2014/main" id="{CAB98E2A-1FB3-BBF1-C9B3-8C7D8CD9E865}"/>
              </a:ext>
            </a:extLst>
          </p:cNvPr>
          <p:cNvSpPr>
            <a:spLocks noChangeArrowheads="1"/>
          </p:cNvSpPr>
          <p:nvPr/>
        </p:nvSpPr>
        <p:spPr bwMode="auto">
          <a:xfrm>
            <a:off x="2214115" y="1777822"/>
            <a:ext cx="3173412" cy="625475"/>
          </a:xfrm>
          <a:prstGeom prst="homePlate">
            <a:avLst>
              <a:gd name="adj" fmla="val 73755"/>
            </a:avLst>
          </a:prstGeom>
          <a:solidFill>
            <a:schemeClr val="accent1"/>
          </a:solidFill>
          <a:ln w="19050">
            <a:solidFill>
              <a:schemeClr val="bg1"/>
            </a:solidFill>
            <a:miter lim="800000"/>
            <a:headEnd/>
            <a:tailEnd/>
          </a:ln>
        </p:spPr>
        <p:txBody>
          <a:bodyPr lIns="45720" tIns="46038" rIns="45720" bIns="46038"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pPr>
            <a:r>
              <a:rPr lang="en-US" altLang="en-US" sz="1800">
                <a:latin typeface="Arial" panose="020B0604020202020204" pitchFamily="34" charset="0"/>
              </a:rPr>
              <a:t>Definition</a:t>
            </a:r>
          </a:p>
        </p:txBody>
      </p:sp>
      <p:sp>
        <p:nvSpPr>
          <p:cNvPr id="12" name="AutoShape 16">
            <a:extLst>
              <a:ext uri="{FF2B5EF4-FFF2-40B4-BE49-F238E27FC236}">
                <a16:creationId xmlns:a16="http://schemas.microsoft.com/office/drawing/2014/main" id="{578D8F22-7D4D-94EB-4E8B-D7E1EC2C9F0E}"/>
              </a:ext>
            </a:extLst>
          </p:cNvPr>
          <p:cNvSpPr>
            <a:spLocks noChangeArrowheads="1"/>
          </p:cNvSpPr>
          <p:nvPr/>
        </p:nvSpPr>
        <p:spPr bwMode="auto">
          <a:xfrm>
            <a:off x="2190302" y="5805310"/>
            <a:ext cx="8204200" cy="520700"/>
          </a:xfrm>
          <a:prstGeom prst="homePlate">
            <a:avLst>
              <a:gd name="adj" fmla="val 32169"/>
            </a:avLst>
          </a:prstGeom>
          <a:solidFill>
            <a:schemeClr val="accent4"/>
          </a:solidFill>
          <a:ln>
            <a:noFill/>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dirty="0">
                <a:latin typeface="Arial" panose="020B0604020202020204" pitchFamily="34" charset="0"/>
              </a:rPr>
              <a:t>Breakthrough Objectives align the organization to the critical few.</a:t>
            </a:r>
          </a:p>
        </p:txBody>
      </p:sp>
    </p:spTree>
    <p:custDataLst>
      <p:tags r:id="rId1"/>
    </p:custDataLst>
    <p:extLst>
      <p:ext uri="{BB962C8B-B14F-4D97-AF65-F5344CB8AC3E}">
        <p14:creationId xmlns:p14="http://schemas.microsoft.com/office/powerpoint/2010/main" val="1523107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DF64-3417-C2A3-0359-BE780BEA8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C9C55-7D04-4194-23DF-DA88A48A9034}"/>
              </a:ext>
            </a:extLst>
          </p:cNvPr>
          <p:cNvSpPr>
            <a:spLocks noGrp="1"/>
          </p:cNvSpPr>
          <p:nvPr>
            <p:ph type="title"/>
          </p:nvPr>
        </p:nvSpPr>
        <p:spPr/>
        <p:txBody>
          <a:bodyPr>
            <a:normAutofit fontScale="90000"/>
          </a:bodyPr>
          <a:lstStyle/>
          <a:p>
            <a:r>
              <a:rPr lang="en-US" dirty="0"/>
              <a:t>Breakthroughs vs. Business Fundamentals</a:t>
            </a:r>
          </a:p>
        </p:txBody>
      </p:sp>
      <p:graphicFrame>
        <p:nvGraphicFramePr>
          <p:cNvPr id="12" name="Group 2">
            <a:extLst>
              <a:ext uri="{FF2B5EF4-FFF2-40B4-BE49-F238E27FC236}">
                <a16:creationId xmlns:a16="http://schemas.microsoft.com/office/drawing/2014/main" id="{39844B33-F1F8-CAF8-423A-EFBE9A60903F}"/>
              </a:ext>
            </a:extLst>
          </p:cNvPr>
          <p:cNvGraphicFramePr>
            <a:graphicFrameLocks noGrp="1"/>
          </p:cNvGraphicFramePr>
          <p:nvPr>
            <p:extLst>
              <p:ext uri="{D42A27DB-BD31-4B8C-83A1-F6EECF244321}">
                <p14:modId xmlns:p14="http://schemas.microsoft.com/office/powerpoint/2010/main" val="504357927"/>
              </p:ext>
            </p:extLst>
          </p:nvPr>
        </p:nvGraphicFramePr>
        <p:xfrm>
          <a:off x="2010569" y="2203449"/>
          <a:ext cx="8170862" cy="3340322"/>
        </p:xfrm>
        <a:graphic>
          <a:graphicData uri="http://schemas.openxmlformats.org/drawingml/2006/table">
            <a:tbl>
              <a:tblPr/>
              <a:tblGrid>
                <a:gridCol w="3163887">
                  <a:extLst>
                    <a:ext uri="{9D8B030D-6E8A-4147-A177-3AD203B41FA5}">
                      <a16:colId xmlns:a16="http://schemas.microsoft.com/office/drawing/2014/main" val="2741462258"/>
                    </a:ext>
                  </a:extLst>
                </a:gridCol>
                <a:gridCol w="1828800">
                  <a:extLst>
                    <a:ext uri="{9D8B030D-6E8A-4147-A177-3AD203B41FA5}">
                      <a16:colId xmlns:a16="http://schemas.microsoft.com/office/drawing/2014/main" val="1756871541"/>
                    </a:ext>
                  </a:extLst>
                </a:gridCol>
                <a:gridCol w="3178175">
                  <a:extLst>
                    <a:ext uri="{9D8B030D-6E8A-4147-A177-3AD203B41FA5}">
                      <a16:colId xmlns:a16="http://schemas.microsoft.com/office/drawing/2014/main" val="2767416230"/>
                    </a:ext>
                  </a:extLst>
                </a:gridCol>
              </a:tblGrid>
              <a:tr h="831851">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Consist of specifically defined actions targeted to achieve ultimate breakthrough</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Consist of routine, </a:t>
                      </a:r>
                      <a:b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day-to-day activities</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0018695"/>
                  </a:ext>
                </a:extLst>
              </a:tr>
              <a:tr h="571500">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Usually require a cross-</a:t>
                      </a:r>
                      <a:b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functional team to accomplish</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Have limited cross-</a:t>
                      </a:r>
                      <a:b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functional interface</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0497752"/>
                  </a:ext>
                </a:extLst>
              </a:tr>
              <a:tr h="558800">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Process to achieve is </a:t>
                      </a:r>
                      <a:b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unknown today</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Have a standard usually in place</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5334040"/>
                  </a:ext>
                </a:extLst>
              </a:tr>
              <a:tr h="568993">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Monitored through Targets </a:t>
                      </a:r>
                      <a:b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to Improve</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Monitored through Key Performance Indicators (KPIs)</a:t>
                      </a:r>
                    </a:p>
                  </a:txBody>
                  <a:tcPr marT="45735" marB="45735"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4702384"/>
                  </a:ext>
                </a:extLst>
              </a:tr>
              <a:tr h="760413">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Achieve </a:t>
                      </a:r>
                      <a:r>
                        <a:rPr kumimoji="0" lang="en-US" altLang="en-US" sz="1400" b="1" i="1" u="none" strike="noStrike" cap="none" normalizeH="0" baseline="0" dirty="0">
                          <a:ln>
                            <a:noFill/>
                          </a:ln>
                          <a:solidFill>
                            <a:schemeClr val="tx1"/>
                          </a:solidFill>
                          <a:effectLst/>
                          <a:latin typeface="Arial" panose="020B0604020202020204" pitchFamily="34" charset="0"/>
                          <a:ea typeface="MS PGothic" panose="020B0600070205080204" pitchFamily="34" charset="-128"/>
                        </a:rPr>
                        <a:t>significant </a:t>
                      </a: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sustainable levels of improvement in 3 – 5  years</a:t>
                      </a:r>
                    </a:p>
                  </a:txBody>
                  <a:tcPr marT="45735" marB="45735"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endParaRPr kumimoji="0" lang="en-US" altLang="en-US" sz="1400" b="1" i="0" u="none" strike="noStrike" cap="none" normalizeH="0" baseline="0">
                        <a:ln>
                          <a:noFill/>
                        </a:ln>
                        <a:solidFill>
                          <a:schemeClr val="tx1"/>
                        </a:solidFill>
                        <a:effectLst/>
                        <a:latin typeface="+mn-lt"/>
                        <a:ea typeface="MS PGothic" panose="020B0600070205080204" pitchFamily="34" charset="-128"/>
                      </a:endParaRPr>
                    </a:p>
                  </a:txBody>
                  <a:tcPr marT="45722" marB="45722"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lnSpc>
                          <a:spcPct val="115000"/>
                        </a:lnSpc>
                        <a:spcBef>
                          <a:spcPct val="50000"/>
                        </a:spcBef>
                        <a:spcAft>
                          <a:spcPct val="50000"/>
                        </a:spcAft>
                        <a:buClr>
                          <a:srgbClr val="006699"/>
                        </a:buClr>
                        <a:buSzPct val="40000"/>
                        <a:buFont typeface="Wingdings" panose="05000000000000000000" pitchFamily="2" charset="2"/>
                        <a:defRPr sz="1600">
                          <a:solidFill>
                            <a:schemeClr val="tx1"/>
                          </a:solidFill>
                          <a:latin typeface="Arial" panose="020B0604020202020204" pitchFamily="34" charset="0"/>
                          <a:ea typeface="MS PGothic" panose="020B0600070205080204" pitchFamily="34" charset="-128"/>
                        </a:defRPr>
                      </a:lvl1pPr>
                      <a:lvl2pPr marL="742950" indent="-285750" eaLnBrk="0" hangingPunct="0">
                        <a:lnSpc>
                          <a:spcPct val="115000"/>
                        </a:lnSpc>
                        <a:spcBef>
                          <a:spcPct val="50000"/>
                        </a:spcBef>
                        <a:spcAft>
                          <a:spcPct val="50000"/>
                        </a:spcAft>
                        <a:buClr>
                          <a:srgbClr val="006699"/>
                        </a:buClr>
                        <a:buSzPct val="4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2pPr>
                      <a:lvl3pPr marL="1143000" indent="-228600" eaLnBrk="0" hangingPunct="0">
                        <a:lnSpc>
                          <a:spcPct val="115000"/>
                        </a:lnSpc>
                        <a:spcBef>
                          <a:spcPct val="50000"/>
                        </a:spcBef>
                        <a:spcAft>
                          <a:spcPct val="50000"/>
                        </a:spcAft>
                        <a:buClr>
                          <a:srgbClr val="006699"/>
                        </a:buClr>
                        <a:buSzPct val="40000"/>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eaLnBrk="0" hangingPunct="0">
                        <a:spcBef>
                          <a:spcPct val="20000"/>
                        </a:spcBef>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4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Achieve small scale </a:t>
                      </a:r>
                      <a:b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br>
                      <a:r>
                        <a:rPr kumimoji="0" lang="en-US" altLang="en-US" sz="14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rPr>
                        <a:t>improvements over time</a:t>
                      </a:r>
                    </a:p>
                  </a:txBody>
                  <a:tcPr marT="45735" marB="45735"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4168573984"/>
                  </a:ext>
                </a:extLst>
              </a:tr>
            </a:tbl>
          </a:graphicData>
        </a:graphic>
      </p:graphicFrame>
      <p:sp>
        <p:nvSpPr>
          <p:cNvPr id="13" name="AutoShape 37">
            <a:extLst>
              <a:ext uri="{FF2B5EF4-FFF2-40B4-BE49-F238E27FC236}">
                <a16:creationId xmlns:a16="http://schemas.microsoft.com/office/drawing/2014/main" id="{A7242CE1-2415-00A8-5FAC-E74D2607D39B}"/>
              </a:ext>
            </a:extLst>
          </p:cNvPr>
          <p:cNvSpPr>
            <a:spLocks noChangeArrowheads="1"/>
          </p:cNvSpPr>
          <p:nvPr/>
        </p:nvSpPr>
        <p:spPr bwMode="auto">
          <a:xfrm>
            <a:off x="5409406" y="2505868"/>
            <a:ext cx="1292225" cy="160338"/>
          </a:xfrm>
          <a:prstGeom prst="leftRightArrow">
            <a:avLst>
              <a:gd name="adj1" fmla="val 50000"/>
              <a:gd name="adj2" fmla="val 161188"/>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4" name="AutoShape 38">
            <a:extLst>
              <a:ext uri="{FF2B5EF4-FFF2-40B4-BE49-F238E27FC236}">
                <a16:creationId xmlns:a16="http://schemas.microsoft.com/office/drawing/2014/main" id="{163223F5-6431-DC14-B16C-01CCC1735352}"/>
              </a:ext>
            </a:extLst>
          </p:cNvPr>
          <p:cNvSpPr>
            <a:spLocks noChangeArrowheads="1"/>
          </p:cNvSpPr>
          <p:nvPr/>
        </p:nvSpPr>
        <p:spPr bwMode="auto">
          <a:xfrm>
            <a:off x="5409406" y="3233915"/>
            <a:ext cx="1292225" cy="160337"/>
          </a:xfrm>
          <a:prstGeom prst="leftRightArrow">
            <a:avLst>
              <a:gd name="adj1" fmla="val 50000"/>
              <a:gd name="adj2" fmla="val 161189"/>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5" name="AutoShape 39">
            <a:extLst>
              <a:ext uri="{FF2B5EF4-FFF2-40B4-BE49-F238E27FC236}">
                <a16:creationId xmlns:a16="http://schemas.microsoft.com/office/drawing/2014/main" id="{EEC32472-5232-B971-EAC6-F5BE63F5969F}"/>
              </a:ext>
            </a:extLst>
          </p:cNvPr>
          <p:cNvSpPr>
            <a:spLocks noChangeArrowheads="1"/>
          </p:cNvSpPr>
          <p:nvPr/>
        </p:nvSpPr>
        <p:spPr bwMode="auto">
          <a:xfrm>
            <a:off x="5409405" y="3793441"/>
            <a:ext cx="1292225" cy="160338"/>
          </a:xfrm>
          <a:prstGeom prst="leftRightArrow">
            <a:avLst>
              <a:gd name="adj1" fmla="val 50000"/>
              <a:gd name="adj2" fmla="val 161188"/>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6" name="AutoShape 40">
            <a:extLst>
              <a:ext uri="{FF2B5EF4-FFF2-40B4-BE49-F238E27FC236}">
                <a16:creationId xmlns:a16="http://schemas.microsoft.com/office/drawing/2014/main" id="{BCB30A14-6161-C43C-44A0-B7151EE7FB5B}"/>
              </a:ext>
            </a:extLst>
          </p:cNvPr>
          <p:cNvSpPr>
            <a:spLocks noChangeArrowheads="1"/>
          </p:cNvSpPr>
          <p:nvPr/>
        </p:nvSpPr>
        <p:spPr bwMode="auto">
          <a:xfrm>
            <a:off x="5407023" y="4388843"/>
            <a:ext cx="1292225" cy="160337"/>
          </a:xfrm>
          <a:prstGeom prst="leftRightArrow">
            <a:avLst>
              <a:gd name="adj1" fmla="val 50000"/>
              <a:gd name="adj2" fmla="val 161189"/>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20" name="Group 19">
            <a:extLst>
              <a:ext uri="{FF2B5EF4-FFF2-40B4-BE49-F238E27FC236}">
                <a16:creationId xmlns:a16="http://schemas.microsoft.com/office/drawing/2014/main" id="{87B6B064-2244-9F0E-1AA7-916623304570}"/>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01CA6665-F1C1-C07C-9C8B-30536D18E98E}"/>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90BDDE3C-E893-B304-D6FC-0FA0BE3DF4B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09316C01-8335-D6F0-39A4-2EBD9650A8A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23239014-A8B0-6962-4ACC-99F3EC23E8A5}"/>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2DD0EB18-E2FD-0ED2-3FB9-59133306C0F3}"/>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
        <p:nvSpPr>
          <p:cNvPr id="26" name="AutoShape 40">
            <a:extLst>
              <a:ext uri="{FF2B5EF4-FFF2-40B4-BE49-F238E27FC236}">
                <a16:creationId xmlns:a16="http://schemas.microsoft.com/office/drawing/2014/main" id="{EC4C2CFC-DE00-2E98-3ABC-AB3607040D00}"/>
              </a:ext>
            </a:extLst>
          </p:cNvPr>
          <p:cNvSpPr>
            <a:spLocks noChangeArrowheads="1"/>
          </p:cNvSpPr>
          <p:nvPr/>
        </p:nvSpPr>
        <p:spPr bwMode="auto">
          <a:xfrm>
            <a:off x="5407023" y="5030569"/>
            <a:ext cx="1292225" cy="160337"/>
          </a:xfrm>
          <a:prstGeom prst="leftRightArrow">
            <a:avLst>
              <a:gd name="adj1" fmla="val 50000"/>
              <a:gd name="adj2" fmla="val 161189"/>
            </a:avLst>
          </a:prstGeom>
          <a:solidFill>
            <a:schemeClr val="accent4"/>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Tree>
    <p:custDataLst>
      <p:tags r:id="rId1"/>
    </p:custDataLst>
    <p:extLst>
      <p:ext uri="{BB962C8B-B14F-4D97-AF65-F5344CB8AC3E}">
        <p14:creationId xmlns:p14="http://schemas.microsoft.com/office/powerpoint/2010/main" val="33037424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9FAB0-46B1-3CD2-72F4-3F53AA723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8B695-AA86-7D52-1AF7-F9DABC304924}"/>
              </a:ext>
            </a:extLst>
          </p:cNvPr>
          <p:cNvSpPr>
            <a:spLocks noGrp="1"/>
          </p:cNvSpPr>
          <p:nvPr>
            <p:ph type="title"/>
          </p:nvPr>
        </p:nvSpPr>
        <p:spPr/>
        <p:txBody>
          <a:bodyPr>
            <a:normAutofit/>
          </a:bodyPr>
          <a:lstStyle/>
          <a:p>
            <a:r>
              <a:rPr lang="en-US" dirty="0"/>
              <a:t>Targeting Your Breakthroughs</a:t>
            </a:r>
          </a:p>
        </p:txBody>
      </p:sp>
      <p:grpSp>
        <p:nvGrpSpPr>
          <p:cNvPr id="20" name="Group 19">
            <a:extLst>
              <a:ext uri="{FF2B5EF4-FFF2-40B4-BE49-F238E27FC236}">
                <a16:creationId xmlns:a16="http://schemas.microsoft.com/office/drawing/2014/main" id="{AEE508CF-0459-858F-4AB8-067D6B4E17EB}"/>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74D39B1B-A229-A0CA-2BB3-57208CC89A08}"/>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8889F67E-F25F-B2EB-4766-A2DEA39638A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207447FA-AB3F-8178-39F2-712B0C19E3D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AAFF8A7E-4704-3F46-B236-35BF8AE4AD95}"/>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89AC8639-1107-7D0B-5DF3-665690AF34A8}"/>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
        <p:nvSpPr>
          <p:cNvPr id="3" name="Rectangle 3">
            <a:extLst>
              <a:ext uri="{FF2B5EF4-FFF2-40B4-BE49-F238E27FC236}">
                <a16:creationId xmlns:a16="http://schemas.microsoft.com/office/drawing/2014/main" id="{F14D4C9F-516F-67E7-EBB5-CE82303D9F32}"/>
              </a:ext>
            </a:extLst>
          </p:cNvPr>
          <p:cNvSpPr>
            <a:spLocks noChangeArrowheads="1"/>
          </p:cNvSpPr>
          <p:nvPr/>
        </p:nvSpPr>
        <p:spPr bwMode="auto">
          <a:xfrm>
            <a:off x="3295650" y="5510213"/>
            <a:ext cx="1581150" cy="666750"/>
          </a:xfrm>
          <a:prstGeom prst="rect">
            <a:avLst/>
          </a:prstGeom>
          <a:solidFill>
            <a:srgbClr val="808080"/>
          </a:solidFill>
          <a:ln w="12700">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b="0">
                <a:latin typeface="Arial" panose="020B0604020202020204" pitchFamily="34" charset="0"/>
              </a:rPr>
              <a:t>Not Acceptable</a:t>
            </a:r>
          </a:p>
        </p:txBody>
      </p:sp>
      <p:sp>
        <p:nvSpPr>
          <p:cNvPr id="4" name="Rectangle 4">
            <a:extLst>
              <a:ext uri="{FF2B5EF4-FFF2-40B4-BE49-F238E27FC236}">
                <a16:creationId xmlns:a16="http://schemas.microsoft.com/office/drawing/2014/main" id="{00D092C1-DFA4-B961-607A-FF3B57729745}"/>
              </a:ext>
            </a:extLst>
          </p:cNvPr>
          <p:cNvSpPr>
            <a:spLocks noChangeArrowheads="1"/>
          </p:cNvSpPr>
          <p:nvPr/>
        </p:nvSpPr>
        <p:spPr bwMode="auto">
          <a:xfrm>
            <a:off x="3295650" y="4848226"/>
            <a:ext cx="1581150" cy="666750"/>
          </a:xfrm>
          <a:prstGeom prst="rect">
            <a:avLst/>
          </a:prstGeom>
          <a:solidFill>
            <a:srgbClr val="FFFF00"/>
          </a:solidFill>
          <a:ln w="12700">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b="0">
                <a:solidFill>
                  <a:schemeClr val="tx1"/>
                </a:solidFill>
                <a:latin typeface="Arial" panose="020B0604020202020204" pitchFamily="34" charset="0"/>
              </a:rPr>
              <a:t>Acceptable</a:t>
            </a:r>
          </a:p>
        </p:txBody>
      </p:sp>
      <p:sp>
        <p:nvSpPr>
          <p:cNvPr id="5" name="Rectangle 5">
            <a:extLst>
              <a:ext uri="{FF2B5EF4-FFF2-40B4-BE49-F238E27FC236}">
                <a16:creationId xmlns:a16="http://schemas.microsoft.com/office/drawing/2014/main" id="{5B6E2826-BED0-5FBA-EB78-1C084A6155A3}"/>
              </a:ext>
            </a:extLst>
          </p:cNvPr>
          <p:cNvSpPr>
            <a:spLocks noChangeArrowheads="1"/>
          </p:cNvSpPr>
          <p:nvPr/>
        </p:nvSpPr>
        <p:spPr bwMode="auto">
          <a:xfrm>
            <a:off x="3295650" y="4049713"/>
            <a:ext cx="1581150" cy="8001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b="0">
                <a:latin typeface="Arial" panose="020B0604020202020204" pitchFamily="34" charset="0"/>
              </a:rPr>
              <a:t>Meaningful</a:t>
            </a:r>
          </a:p>
          <a:p>
            <a:pPr algn="ctr"/>
            <a:r>
              <a:rPr lang="en-US" altLang="en-US" sz="1800" b="0">
                <a:latin typeface="Arial" panose="020B0604020202020204" pitchFamily="34" charset="0"/>
              </a:rPr>
              <a:t>Breakthroughs</a:t>
            </a:r>
          </a:p>
        </p:txBody>
      </p:sp>
      <p:sp>
        <p:nvSpPr>
          <p:cNvPr id="6" name="Rectangle 6">
            <a:extLst>
              <a:ext uri="{FF2B5EF4-FFF2-40B4-BE49-F238E27FC236}">
                <a16:creationId xmlns:a16="http://schemas.microsoft.com/office/drawing/2014/main" id="{907178B4-7876-CB74-4CBF-28BF8E2BC586}"/>
              </a:ext>
            </a:extLst>
          </p:cNvPr>
          <p:cNvSpPr>
            <a:spLocks noChangeArrowheads="1"/>
          </p:cNvSpPr>
          <p:nvPr/>
        </p:nvSpPr>
        <p:spPr bwMode="auto">
          <a:xfrm>
            <a:off x="7337425" y="4729163"/>
            <a:ext cx="1581150" cy="1447800"/>
          </a:xfrm>
          <a:prstGeom prst="rect">
            <a:avLst/>
          </a:prstGeom>
          <a:solidFill>
            <a:srgbClr val="808080"/>
          </a:solidFill>
          <a:ln w="12700">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b="0">
                <a:latin typeface="Arial" panose="020B0604020202020204" pitchFamily="34" charset="0"/>
              </a:rPr>
              <a:t>Not Acceptable</a:t>
            </a:r>
          </a:p>
        </p:txBody>
      </p:sp>
      <p:sp>
        <p:nvSpPr>
          <p:cNvPr id="7" name="Line 7">
            <a:extLst>
              <a:ext uri="{FF2B5EF4-FFF2-40B4-BE49-F238E27FC236}">
                <a16:creationId xmlns:a16="http://schemas.microsoft.com/office/drawing/2014/main" id="{01248046-2BAF-F65A-5539-470E629AE7F9}"/>
              </a:ext>
            </a:extLst>
          </p:cNvPr>
          <p:cNvSpPr>
            <a:spLocks noChangeShapeType="1"/>
          </p:cNvSpPr>
          <p:nvPr/>
        </p:nvSpPr>
        <p:spPr bwMode="auto">
          <a:xfrm>
            <a:off x="2389188" y="6180138"/>
            <a:ext cx="727392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 name="Line 8">
            <a:extLst>
              <a:ext uri="{FF2B5EF4-FFF2-40B4-BE49-F238E27FC236}">
                <a16:creationId xmlns:a16="http://schemas.microsoft.com/office/drawing/2014/main" id="{EBF589C7-26AE-1E0E-0F6F-C2202A82DCB7}"/>
              </a:ext>
            </a:extLst>
          </p:cNvPr>
          <p:cNvSpPr>
            <a:spLocks noChangeShapeType="1"/>
          </p:cNvSpPr>
          <p:nvPr/>
        </p:nvSpPr>
        <p:spPr bwMode="auto">
          <a:xfrm>
            <a:off x="2387600" y="1814513"/>
            <a:ext cx="0" cy="43703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 name="Line 9">
            <a:extLst>
              <a:ext uri="{FF2B5EF4-FFF2-40B4-BE49-F238E27FC236}">
                <a16:creationId xmlns:a16="http://schemas.microsoft.com/office/drawing/2014/main" id="{4D47648B-6176-08EB-1E15-079C87AD8068}"/>
              </a:ext>
            </a:extLst>
          </p:cNvPr>
          <p:cNvSpPr>
            <a:spLocks noChangeShapeType="1"/>
          </p:cNvSpPr>
          <p:nvPr/>
        </p:nvSpPr>
        <p:spPr bwMode="auto">
          <a:xfrm>
            <a:off x="2260600" y="5849938"/>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0">
            <a:extLst>
              <a:ext uri="{FF2B5EF4-FFF2-40B4-BE49-F238E27FC236}">
                <a16:creationId xmlns:a16="http://schemas.microsoft.com/office/drawing/2014/main" id="{70E5B017-1007-B412-F622-989F4D08FEE8}"/>
              </a:ext>
            </a:extLst>
          </p:cNvPr>
          <p:cNvSpPr>
            <a:spLocks noChangeShapeType="1"/>
          </p:cNvSpPr>
          <p:nvPr/>
        </p:nvSpPr>
        <p:spPr bwMode="auto">
          <a:xfrm>
            <a:off x="2259013" y="550386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1">
            <a:extLst>
              <a:ext uri="{FF2B5EF4-FFF2-40B4-BE49-F238E27FC236}">
                <a16:creationId xmlns:a16="http://schemas.microsoft.com/office/drawing/2014/main" id="{650AE547-3E58-2310-A3E0-D4653B0B536F}"/>
              </a:ext>
            </a:extLst>
          </p:cNvPr>
          <p:cNvSpPr>
            <a:spLocks noChangeShapeType="1"/>
          </p:cNvSpPr>
          <p:nvPr/>
        </p:nvSpPr>
        <p:spPr bwMode="auto">
          <a:xfrm>
            <a:off x="2257425" y="512921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2">
            <a:extLst>
              <a:ext uri="{FF2B5EF4-FFF2-40B4-BE49-F238E27FC236}">
                <a16:creationId xmlns:a16="http://schemas.microsoft.com/office/drawing/2014/main" id="{8BCA1791-093B-F8E5-58FE-20A9C1F7E3EF}"/>
              </a:ext>
            </a:extLst>
          </p:cNvPr>
          <p:cNvSpPr>
            <a:spLocks noChangeShapeType="1"/>
          </p:cNvSpPr>
          <p:nvPr/>
        </p:nvSpPr>
        <p:spPr bwMode="auto">
          <a:xfrm>
            <a:off x="2257425" y="4724401"/>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3">
            <a:extLst>
              <a:ext uri="{FF2B5EF4-FFF2-40B4-BE49-F238E27FC236}">
                <a16:creationId xmlns:a16="http://schemas.microsoft.com/office/drawing/2014/main" id="{EDE953B9-F4BF-8CE4-9C63-ED72F1AF0D08}"/>
              </a:ext>
            </a:extLst>
          </p:cNvPr>
          <p:cNvSpPr>
            <a:spLocks noChangeShapeType="1"/>
          </p:cNvSpPr>
          <p:nvPr/>
        </p:nvSpPr>
        <p:spPr bwMode="auto">
          <a:xfrm>
            <a:off x="2257425" y="4321176"/>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4">
            <a:extLst>
              <a:ext uri="{FF2B5EF4-FFF2-40B4-BE49-F238E27FC236}">
                <a16:creationId xmlns:a16="http://schemas.microsoft.com/office/drawing/2014/main" id="{998BDBAD-0516-108C-BA57-AD59A3DF442E}"/>
              </a:ext>
            </a:extLst>
          </p:cNvPr>
          <p:cNvSpPr>
            <a:spLocks noChangeShapeType="1"/>
          </p:cNvSpPr>
          <p:nvPr/>
        </p:nvSpPr>
        <p:spPr bwMode="auto">
          <a:xfrm>
            <a:off x="2257425" y="3543301"/>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5">
            <a:extLst>
              <a:ext uri="{FF2B5EF4-FFF2-40B4-BE49-F238E27FC236}">
                <a16:creationId xmlns:a16="http://schemas.microsoft.com/office/drawing/2014/main" id="{2DA7A383-E625-9796-0D98-F4B12CE986D6}"/>
              </a:ext>
            </a:extLst>
          </p:cNvPr>
          <p:cNvSpPr>
            <a:spLocks noChangeShapeType="1"/>
          </p:cNvSpPr>
          <p:nvPr/>
        </p:nvSpPr>
        <p:spPr bwMode="auto">
          <a:xfrm>
            <a:off x="2255838" y="3140076"/>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 name="Line 16">
            <a:extLst>
              <a:ext uri="{FF2B5EF4-FFF2-40B4-BE49-F238E27FC236}">
                <a16:creationId xmlns:a16="http://schemas.microsoft.com/office/drawing/2014/main" id="{24D89385-0386-C483-8471-BB71D3D982BF}"/>
              </a:ext>
            </a:extLst>
          </p:cNvPr>
          <p:cNvSpPr>
            <a:spLocks noChangeShapeType="1"/>
          </p:cNvSpPr>
          <p:nvPr/>
        </p:nvSpPr>
        <p:spPr bwMode="auto">
          <a:xfrm>
            <a:off x="2255838" y="273526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 name="Line 17">
            <a:extLst>
              <a:ext uri="{FF2B5EF4-FFF2-40B4-BE49-F238E27FC236}">
                <a16:creationId xmlns:a16="http://schemas.microsoft.com/office/drawing/2014/main" id="{0D3B9592-A808-F742-4938-09140892DA68}"/>
              </a:ext>
            </a:extLst>
          </p:cNvPr>
          <p:cNvSpPr>
            <a:spLocks noChangeShapeType="1"/>
          </p:cNvSpPr>
          <p:nvPr/>
        </p:nvSpPr>
        <p:spPr bwMode="auto">
          <a:xfrm>
            <a:off x="2255838" y="230346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 name="Line 18">
            <a:extLst>
              <a:ext uri="{FF2B5EF4-FFF2-40B4-BE49-F238E27FC236}">
                <a16:creationId xmlns:a16="http://schemas.microsoft.com/office/drawing/2014/main" id="{004F46E5-006B-DC5B-58B7-3CC9BB7043FB}"/>
              </a:ext>
            </a:extLst>
          </p:cNvPr>
          <p:cNvSpPr>
            <a:spLocks noChangeShapeType="1"/>
          </p:cNvSpPr>
          <p:nvPr/>
        </p:nvSpPr>
        <p:spPr bwMode="auto">
          <a:xfrm>
            <a:off x="9659938" y="1814513"/>
            <a:ext cx="0" cy="43703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9">
            <a:extLst>
              <a:ext uri="{FF2B5EF4-FFF2-40B4-BE49-F238E27FC236}">
                <a16:creationId xmlns:a16="http://schemas.microsoft.com/office/drawing/2014/main" id="{574BCE7D-F514-BA93-3F9D-0F3469F3BB35}"/>
              </a:ext>
            </a:extLst>
          </p:cNvPr>
          <p:cNvSpPr>
            <a:spLocks noChangeShapeType="1"/>
          </p:cNvSpPr>
          <p:nvPr/>
        </p:nvSpPr>
        <p:spPr bwMode="auto">
          <a:xfrm>
            <a:off x="9532938" y="5849938"/>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2" name="Line 20">
            <a:extLst>
              <a:ext uri="{FF2B5EF4-FFF2-40B4-BE49-F238E27FC236}">
                <a16:creationId xmlns:a16="http://schemas.microsoft.com/office/drawing/2014/main" id="{CF9301E2-EB52-5B2D-1A7C-F02839A354B3}"/>
              </a:ext>
            </a:extLst>
          </p:cNvPr>
          <p:cNvSpPr>
            <a:spLocks noChangeShapeType="1"/>
          </p:cNvSpPr>
          <p:nvPr/>
        </p:nvSpPr>
        <p:spPr bwMode="auto">
          <a:xfrm>
            <a:off x="9531350" y="550386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3" name="Line 21">
            <a:extLst>
              <a:ext uri="{FF2B5EF4-FFF2-40B4-BE49-F238E27FC236}">
                <a16:creationId xmlns:a16="http://schemas.microsoft.com/office/drawing/2014/main" id="{6F3D7300-0808-05EE-BE67-725378AC4558}"/>
              </a:ext>
            </a:extLst>
          </p:cNvPr>
          <p:cNvSpPr>
            <a:spLocks noChangeShapeType="1"/>
          </p:cNvSpPr>
          <p:nvPr/>
        </p:nvSpPr>
        <p:spPr bwMode="auto">
          <a:xfrm>
            <a:off x="9529763" y="4724401"/>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4" name="Line 22">
            <a:extLst>
              <a:ext uri="{FF2B5EF4-FFF2-40B4-BE49-F238E27FC236}">
                <a16:creationId xmlns:a16="http://schemas.microsoft.com/office/drawing/2014/main" id="{70F014DD-8B5C-0DAB-67F9-EF703CB4BD18}"/>
              </a:ext>
            </a:extLst>
          </p:cNvPr>
          <p:cNvSpPr>
            <a:spLocks noChangeShapeType="1"/>
          </p:cNvSpPr>
          <p:nvPr/>
        </p:nvSpPr>
        <p:spPr bwMode="auto">
          <a:xfrm>
            <a:off x="9529763" y="4321176"/>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5" name="Line 23">
            <a:extLst>
              <a:ext uri="{FF2B5EF4-FFF2-40B4-BE49-F238E27FC236}">
                <a16:creationId xmlns:a16="http://schemas.microsoft.com/office/drawing/2014/main" id="{4CFA4C72-6C29-CEB2-17A4-AE48FFB4D9D9}"/>
              </a:ext>
            </a:extLst>
          </p:cNvPr>
          <p:cNvSpPr>
            <a:spLocks noChangeShapeType="1"/>
          </p:cNvSpPr>
          <p:nvPr/>
        </p:nvSpPr>
        <p:spPr bwMode="auto">
          <a:xfrm>
            <a:off x="9529763" y="3543301"/>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6" name="Line 24">
            <a:extLst>
              <a:ext uri="{FF2B5EF4-FFF2-40B4-BE49-F238E27FC236}">
                <a16:creationId xmlns:a16="http://schemas.microsoft.com/office/drawing/2014/main" id="{02182371-6B6D-141A-FCE5-D875863A0E5D}"/>
              </a:ext>
            </a:extLst>
          </p:cNvPr>
          <p:cNvSpPr>
            <a:spLocks noChangeShapeType="1"/>
          </p:cNvSpPr>
          <p:nvPr/>
        </p:nvSpPr>
        <p:spPr bwMode="auto">
          <a:xfrm>
            <a:off x="9528175" y="3140076"/>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7" name="Line 25">
            <a:extLst>
              <a:ext uri="{FF2B5EF4-FFF2-40B4-BE49-F238E27FC236}">
                <a16:creationId xmlns:a16="http://schemas.microsoft.com/office/drawing/2014/main" id="{7ACF1E72-FB37-CB17-10E9-98A2B97E1BB7}"/>
              </a:ext>
            </a:extLst>
          </p:cNvPr>
          <p:cNvSpPr>
            <a:spLocks noChangeShapeType="1"/>
          </p:cNvSpPr>
          <p:nvPr/>
        </p:nvSpPr>
        <p:spPr bwMode="auto">
          <a:xfrm>
            <a:off x="9528175" y="273526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 name="Line 26">
            <a:extLst>
              <a:ext uri="{FF2B5EF4-FFF2-40B4-BE49-F238E27FC236}">
                <a16:creationId xmlns:a16="http://schemas.microsoft.com/office/drawing/2014/main" id="{7A138D7E-12B8-9C9B-B2D2-C33F2CA935A5}"/>
              </a:ext>
            </a:extLst>
          </p:cNvPr>
          <p:cNvSpPr>
            <a:spLocks noChangeShapeType="1"/>
          </p:cNvSpPr>
          <p:nvPr/>
        </p:nvSpPr>
        <p:spPr bwMode="auto">
          <a:xfrm>
            <a:off x="9528175" y="230346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9" name="Line 27">
            <a:extLst>
              <a:ext uri="{FF2B5EF4-FFF2-40B4-BE49-F238E27FC236}">
                <a16:creationId xmlns:a16="http://schemas.microsoft.com/office/drawing/2014/main" id="{B6DBBC6A-8D3E-FC59-8D4E-D08AABDA5916}"/>
              </a:ext>
            </a:extLst>
          </p:cNvPr>
          <p:cNvSpPr>
            <a:spLocks noChangeShapeType="1"/>
          </p:cNvSpPr>
          <p:nvPr/>
        </p:nvSpPr>
        <p:spPr bwMode="auto">
          <a:xfrm>
            <a:off x="9529763" y="5118101"/>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 name="Line 28">
            <a:extLst>
              <a:ext uri="{FF2B5EF4-FFF2-40B4-BE49-F238E27FC236}">
                <a16:creationId xmlns:a16="http://schemas.microsoft.com/office/drawing/2014/main" id="{E8BB926D-2531-C475-4CF6-4FA70D43943B}"/>
              </a:ext>
            </a:extLst>
          </p:cNvPr>
          <p:cNvSpPr>
            <a:spLocks noChangeShapeType="1"/>
          </p:cNvSpPr>
          <p:nvPr/>
        </p:nvSpPr>
        <p:spPr bwMode="auto">
          <a:xfrm>
            <a:off x="9529763" y="3905251"/>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 name="Line 29">
            <a:extLst>
              <a:ext uri="{FF2B5EF4-FFF2-40B4-BE49-F238E27FC236}">
                <a16:creationId xmlns:a16="http://schemas.microsoft.com/office/drawing/2014/main" id="{F0BB1153-73AE-073C-A46A-4C54D2A6C63F}"/>
              </a:ext>
            </a:extLst>
          </p:cNvPr>
          <p:cNvSpPr>
            <a:spLocks noChangeShapeType="1"/>
          </p:cNvSpPr>
          <p:nvPr/>
        </p:nvSpPr>
        <p:spPr bwMode="auto">
          <a:xfrm>
            <a:off x="2257425" y="3886201"/>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 name="Line 30">
            <a:extLst>
              <a:ext uri="{FF2B5EF4-FFF2-40B4-BE49-F238E27FC236}">
                <a16:creationId xmlns:a16="http://schemas.microsoft.com/office/drawing/2014/main" id="{01A47FB0-5713-CB1D-2F7C-C99B5BFD18B4}"/>
              </a:ext>
            </a:extLst>
          </p:cNvPr>
          <p:cNvSpPr>
            <a:spLocks noChangeShapeType="1"/>
          </p:cNvSpPr>
          <p:nvPr/>
        </p:nvSpPr>
        <p:spPr bwMode="auto">
          <a:xfrm>
            <a:off x="2495550" y="1909763"/>
            <a:ext cx="7105650" cy="0"/>
          </a:xfrm>
          <a:prstGeom prst="line">
            <a:avLst/>
          </a:prstGeom>
          <a:noFill/>
          <a:ln w="12700">
            <a:solidFill>
              <a:srgbClr val="CC0000"/>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 name="Rectangle 31">
            <a:extLst>
              <a:ext uri="{FF2B5EF4-FFF2-40B4-BE49-F238E27FC236}">
                <a16:creationId xmlns:a16="http://schemas.microsoft.com/office/drawing/2014/main" id="{359154C2-9E80-8A4E-B3D2-EF03413025AF}"/>
              </a:ext>
            </a:extLst>
          </p:cNvPr>
          <p:cNvSpPr>
            <a:spLocks noChangeArrowheads="1"/>
          </p:cNvSpPr>
          <p:nvPr/>
        </p:nvSpPr>
        <p:spPr bwMode="auto">
          <a:xfrm>
            <a:off x="7337425" y="2347913"/>
            <a:ext cx="1581150" cy="123825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b="0">
                <a:latin typeface="Arial" panose="020B0604020202020204" pitchFamily="34" charset="0"/>
              </a:rPr>
              <a:t>Meaningful</a:t>
            </a:r>
          </a:p>
          <a:p>
            <a:pPr algn="ctr"/>
            <a:r>
              <a:rPr lang="en-US" altLang="en-US" sz="1800" b="0">
                <a:latin typeface="Arial" panose="020B0604020202020204" pitchFamily="34" charset="0"/>
              </a:rPr>
              <a:t>Breakthroughs</a:t>
            </a:r>
          </a:p>
        </p:txBody>
      </p:sp>
      <p:sp>
        <p:nvSpPr>
          <p:cNvPr id="44" name="Text Box 32">
            <a:extLst>
              <a:ext uri="{FF2B5EF4-FFF2-40B4-BE49-F238E27FC236}">
                <a16:creationId xmlns:a16="http://schemas.microsoft.com/office/drawing/2014/main" id="{F48B5B29-829E-C4FC-22D1-926593CA868C}"/>
              </a:ext>
            </a:extLst>
          </p:cNvPr>
          <p:cNvSpPr txBox="1">
            <a:spLocks noChangeArrowheads="1"/>
          </p:cNvSpPr>
          <p:nvPr/>
        </p:nvSpPr>
        <p:spPr bwMode="auto">
          <a:xfrm>
            <a:off x="3448050" y="3662363"/>
            <a:ext cx="1181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50000"/>
              </a:spcBef>
            </a:pPr>
            <a:r>
              <a:rPr lang="en-US" altLang="en-US" sz="2000">
                <a:solidFill>
                  <a:schemeClr val="tx1"/>
                </a:solidFill>
                <a:latin typeface="Arial" panose="020B0604020202020204" pitchFamily="34" charset="0"/>
              </a:rPr>
              <a:t>TODAY</a:t>
            </a:r>
          </a:p>
        </p:txBody>
      </p:sp>
      <p:sp>
        <p:nvSpPr>
          <p:cNvPr id="45" name="Text Box 33">
            <a:extLst>
              <a:ext uri="{FF2B5EF4-FFF2-40B4-BE49-F238E27FC236}">
                <a16:creationId xmlns:a16="http://schemas.microsoft.com/office/drawing/2014/main" id="{C4C5F57F-3296-E05E-0532-89DADFFEAE49}"/>
              </a:ext>
            </a:extLst>
          </p:cNvPr>
          <p:cNvSpPr txBox="1">
            <a:spLocks noChangeArrowheads="1"/>
          </p:cNvSpPr>
          <p:nvPr/>
        </p:nvSpPr>
        <p:spPr bwMode="auto">
          <a:xfrm>
            <a:off x="7099300" y="1947863"/>
            <a:ext cx="2038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50000"/>
              </a:spcBef>
            </a:pPr>
            <a:r>
              <a:rPr lang="en-US" altLang="en-US" sz="2000">
                <a:solidFill>
                  <a:schemeClr val="tx1"/>
                </a:solidFill>
                <a:latin typeface="Arial" panose="020B0604020202020204" pitchFamily="34" charset="0"/>
              </a:rPr>
              <a:t>IN 3–5 YEARS</a:t>
            </a:r>
          </a:p>
        </p:txBody>
      </p:sp>
      <p:sp>
        <p:nvSpPr>
          <p:cNvPr id="46" name="Line 34">
            <a:extLst>
              <a:ext uri="{FF2B5EF4-FFF2-40B4-BE49-F238E27FC236}">
                <a16:creationId xmlns:a16="http://schemas.microsoft.com/office/drawing/2014/main" id="{D11DE17F-52A5-21B4-C19A-AF6BE360CE95}"/>
              </a:ext>
            </a:extLst>
          </p:cNvPr>
          <p:cNvSpPr>
            <a:spLocks noChangeShapeType="1"/>
          </p:cNvSpPr>
          <p:nvPr/>
        </p:nvSpPr>
        <p:spPr bwMode="auto">
          <a:xfrm flipV="1">
            <a:off x="4876800" y="4767263"/>
            <a:ext cx="2419350" cy="723900"/>
          </a:xfrm>
          <a:prstGeom prst="line">
            <a:avLst/>
          </a:prstGeom>
          <a:noFill/>
          <a:ln w="1905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 name="Line 35">
            <a:extLst>
              <a:ext uri="{FF2B5EF4-FFF2-40B4-BE49-F238E27FC236}">
                <a16:creationId xmlns:a16="http://schemas.microsoft.com/office/drawing/2014/main" id="{04365AF9-AE9F-EBC8-AE42-DA67B77728BD}"/>
              </a:ext>
            </a:extLst>
          </p:cNvPr>
          <p:cNvSpPr>
            <a:spLocks noChangeShapeType="1"/>
          </p:cNvSpPr>
          <p:nvPr/>
        </p:nvSpPr>
        <p:spPr bwMode="auto">
          <a:xfrm flipV="1">
            <a:off x="4895850" y="3557588"/>
            <a:ext cx="2424113" cy="1314450"/>
          </a:xfrm>
          <a:prstGeom prst="line">
            <a:avLst/>
          </a:prstGeom>
          <a:noFill/>
          <a:ln w="1905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8" name="Line 36">
            <a:extLst>
              <a:ext uri="{FF2B5EF4-FFF2-40B4-BE49-F238E27FC236}">
                <a16:creationId xmlns:a16="http://schemas.microsoft.com/office/drawing/2014/main" id="{11F50ACE-CB2E-6D2E-065F-FE928E74D37A}"/>
              </a:ext>
            </a:extLst>
          </p:cNvPr>
          <p:cNvSpPr>
            <a:spLocks noChangeShapeType="1"/>
          </p:cNvSpPr>
          <p:nvPr/>
        </p:nvSpPr>
        <p:spPr bwMode="auto">
          <a:xfrm flipV="1">
            <a:off x="4895850" y="2366963"/>
            <a:ext cx="2419350" cy="1695450"/>
          </a:xfrm>
          <a:prstGeom prst="line">
            <a:avLst/>
          </a:prstGeom>
          <a:noFill/>
          <a:ln w="1905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 name="Text Box 37">
            <a:extLst>
              <a:ext uri="{FF2B5EF4-FFF2-40B4-BE49-F238E27FC236}">
                <a16:creationId xmlns:a16="http://schemas.microsoft.com/office/drawing/2014/main" id="{79007AD9-99C3-40AE-ABA4-BE9F15EFC335}"/>
              </a:ext>
            </a:extLst>
          </p:cNvPr>
          <p:cNvSpPr txBox="1">
            <a:spLocks noChangeArrowheads="1"/>
          </p:cNvSpPr>
          <p:nvPr/>
        </p:nvSpPr>
        <p:spPr bwMode="auto">
          <a:xfrm rot="19455451">
            <a:off x="4751388" y="3089276"/>
            <a:ext cx="20955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50000"/>
              </a:spcBef>
            </a:pPr>
            <a:r>
              <a:rPr lang="en-US" altLang="en-US" sz="1600">
                <a:solidFill>
                  <a:schemeClr val="tx1"/>
                </a:solidFill>
                <a:latin typeface="Arial" panose="020B0604020202020204" pitchFamily="34" charset="0"/>
              </a:rPr>
              <a:t>WORLD CLASS</a:t>
            </a:r>
          </a:p>
        </p:txBody>
      </p:sp>
      <p:sp>
        <p:nvSpPr>
          <p:cNvPr id="50" name="Text Box 38">
            <a:extLst>
              <a:ext uri="{FF2B5EF4-FFF2-40B4-BE49-F238E27FC236}">
                <a16:creationId xmlns:a16="http://schemas.microsoft.com/office/drawing/2014/main" id="{A24C549C-5FE0-3C34-259D-E784A9949EA4}"/>
              </a:ext>
            </a:extLst>
          </p:cNvPr>
          <p:cNvSpPr txBox="1">
            <a:spLocks noChangeArrowheads="1"/>
          </p:cNvSpPr>
          <p:nvPr/>
        </p:nvSpPr>
        <p:spPr bwMode="auto">
          <a:xfrm rot="19904600">
            <a:off x="4941888" y="3946526"/>
            <a:ext cx="20955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50000"/>
              </a:spcBef>
            </a:pPr>
            <a:r>
              <a:rPr lang="en-US" altLang="en-US" sz="1600">
                <a:solidFill>
                  <a:schemeClr val="tx1"/>
                </a:solidFill>
                <a:latin typeface="Arial" panose="020B0604020202020204" pitchFamily="34" charset="0"/>
              </a:rPr>
              <a:t>BEST-IN-CLASS</a:t>
            </a:r>
          </a:p>
        </p:txBody>
      </p:sp>
      <p:sp>
        <p:nvSpPr>
          <p:cNvPr id="51" name="Text Box 39">
            <a:extLst>
              <a:ext uri="{FF2B5EF4-FFF2-40B4-BE49-F238E27FC236}">
                <a16:creationId xmlns:a16="http://schemas.microsoft.com/office/drawing/2014/main" id="{B415F742-43B7-DD07-F4AB-0D3675C6821E}"/>
              </a:ext>
            </a:extLst>
          </p:cNvPr>
          <p:cNvSpPr txBox="1">
            <a:spLocks noChangeArrowheads="1"/>
          </p:cNvSpPr>
          <p:nvPr/>
        </p:nvSpPr>
        <p:spPr bwMode="auto">
          <a:xfrm rot="20547037">
            <a:off x="5046663" y="4848226"/>
            <a:ext cx="214471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50000"/>
              </a:spcBef>
            </a:pPr>
            <a:r>
              <a:rPr lang="en-US" altLang="en-US" sz="1600">
                <a:solidFill>
                  <a:schemeClr val="tx1"/>
                </a:solidFill>
                <a:latin typeface="Arial" panose="020B0604020202020204" pitchFamily="34" charset="0"/>
              </a:rPr>
              <a:t>INDUSTRY AVERAGE</a:t>
            </a:r>
          </a:p>
        </p:txBody>
      </p:sp>
      <p:sp>
        <p:nvSpPr>
          <p:cNvPr id="52" name="Line 41">
            <a:extLst>
              <a:ext uri="{FF2B5EF4-FFF2-40B4-BE49-F238E27FC236}">
                <a16:creationId xmlns:a16="http://schemas.microsoft.com/office/drawing/2014/main" id="{24C1FE75-5F76-E59C-F390-6DD28DB6651F}"/>
              </a:ext>
            </a:extLst>
          </p:cNvPr>
          <p:cNvSpPr>
            <a:spLocks noChangeShapeType="1"/>
          </p:cNvSpPr>
          <p:nvPr/>
        </p:nvSpPr>
        <p:spPr bwMode="auto">
          <a:xfrm flipV="1">
            <a:off x="4876800" y="5510213"/>
            <a:ext cx="2419350" cy="19050"/>
          </a:xfrm>
          <a:prstGeom prst="line">
            <a:avLst/>
          </a:prstGeom>
          <a:noFill/>
          <a:ln w="12700">
            <a:solidFill>
              <a:srgbClr val="00008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3" name="Line 42">
            <a:extLst>
              <a:ext uri="{FF2B5EF4-FFF2-40B4-BE49-F238E27FC236}">
                <a16:creationId xmlns:a16="http://schemas.microsoft.com/office/drawing/2014/main" id="{BE5816D4-2829-BE90-0188-1AAAA18E08F9}"/>
              </a:ext>
            </a:extLst>
          </p:cNvPr>
          <p:cNvSpPr>
            <a:spLocks noChangeShapeType="1"/>
          </p:cNvSpPr>
          <p:nvPr/>
        </p:nvSpPr>
        <p:spPr bwMode="auto">
          <a:xfrm>
            <a:off x="2255838" y="190341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4" name="Line 43">
            <a:extLst>
              <a:ext uri="{FF2B5EF4-FFF2-40B4-BE49-F238E27FC236}">
                <a16:creationId xmlns:a16="http://schemas.microsoft.com/office/drawing/2014/main" id="{3D193F02-463A-1654-1E6D-91587C63F030}"/>
              </a:ext>
            </a:extLst>
          </p:cNvPr>
          <p:cNvSpPr>
            <a:spLocks noChangeShapeType="1"/>
          </p:cNvSpPr>
          <p:nvPr/>
        </p:nvSpPr>
        <p:spPr bwMode="auto">
          <a:xfrm>
            <a:off x="9532938" y="1922463"/>
            <a:ext cx="2603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 name="Line 44">
            <a:extLst>
              <a:ext uri="{FF2B5EF4-FFF2-40B4-BE49-F238E27FC236}">
                <a16:creationId xmlns:a16="http://schemas.microsoft.com/office/drawing/2014/main" id="{1CEE70CA-07BB-FF28-7BA1-3D21532897AD}"/>
              </a:ext>
            </a:extLst>
          </p:cNvPr>
          <p:cNvSpPr>
            <a:spLocks noChangeShapeType="1"/>
          </p:cNvSpPr>
          <p:nvPr/>
        </p:nvSpPr>
        <p:spPr bwMode="auto">
          <a:xfrm flipV="1">
            <a:off x="4876800" y="4843463"/>
            <a:ext cx="2400300" cy="19050"/>
          </a:xfrm>
          <a:prstGeom prst="line">
            <a:avLst/>
          </a:prstGeom>
          <a:noFill/>
          <a:ln w="12700">
            <a:solidFill>
              <a:srgbClr val="00008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6" name="Line 45">
            <a:extLst>
              <a:ext uri="{FF2B5EF4-FFF2-40B4-BE49-F238E27FC236}">
                <a16:creationId xmlns:a16="http://schemas.microsoft.com/office/drawing/2014/main" id="{86181EDD-E6E8-D310-F0EB-2B2C5435DB16}"/>
              </a:ext>
            </a:extLst>
          </p:cNvPr>
          <p:cNvSpPr>
            <a:spLocks noChangeShapeType="1"/>
          </p:cNvSpPr>
          <p:nvPr/>
        </p:nvSpPr>
        <p:spPr bwMode="auto">
          <a:xfrm flipV="1">
            <a:off x="4895850" y="4024313"/>
            <a:ext cx="2419350" cy="19050"/>
          </a:xfrm>
          <a:prstGeom prst="line">
            <a:avLst/>
          </a:prstGeom>
          <a:noFill/>
          <a:ln w="12700">
            <a:solidFill>
              <a:srgbClr val="00008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7" name="Rectangle 46">
            <a:extLst>
              <a:ext uri="{FF2B5EF4-FFF2-40B4-BE49-F238E27FC236}">
                <a16:creationId xmlns:a16="http://schemas.microsoft.com/office/drawing/2014/main" id="{D2A780B4-5E20-BDAE-34AD-1CAECD22AF1B}"/>
              </a:ext>
            </a:extLst>
          </p:cNvPr>
          <p:cNvSpPr>
            <a:spLocks noChangeArrowheads="1"/>
          </p:cNvSpPr>
          <p:nvPr/>
        </p:nvSpPr>
        <p:spPr bwMode="auto">
          <a:xfrm>
            <a:off x="7337425" y="3567113"/>
            <a:ext cx="1581150" cy="1181100"/>
          </a:xfrm>
          <a:prstGeom prst="rect">
            <a:avLst/>
          </a:prstGeom>
          <a:solidFill>
            <a:srgbClr val="FFFF00"/>
          </a:solidFill>
          <a:ln w="12700">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b="0">
                <a:solidFill>
                  <a:schemeClr val="tx1"/>
                </a:solidFill>
                <a:latin typeface="Arial" panose="020B0604020202020204" pitchFamily="34" charset="0"/>
              </a:rPr>
              <a:t>Acceptable</a:t>
            </a:r>
          </a:p>
        </p:txBody>
      </p:sp>
      <p:sp>
        <p:nvSpPr>
          <p:cNvPr id="58" name="Text Box 49">
            <a:extLst>
              <a:ext uri="{FF2B5EF4-FFF2-40B4-BE49-F238E27FC236}">
                <a16:creationId xmlns:a16="http://schemas.microsoft.com/office/drawing/2014/main" id="{FFD7B738-62DD-1528-8FED-C828E46E2CD3}"/>
              </a:ext>
            </a:extLst>
          </p:cNvPr>
          <p:cNvSpPr txBox="1">
            <a:spLocks noChangeArrowheads="1"/>
          </p:cNvSpPr>
          <p:nvPr/>
        </p:nvSpPr>
        <p:spPr bwMode="auto">
          <a:xfrm>
            <a:off x="5402263" y="1814513"/>
            <a:ext cx="1330325" cy="261938"/>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400">
                <a:solidFill>
                  <a:schemeClr val="tx1"/>
                </a:solidFill>
                <a:latin typeface="Arial" panose="020B0604020202020204" pitchFamily="34" charset="0"/>
              </a:rPr>
              <a:t>PERFECTION</a:t>
            </a:r>
          </a:p>
        </p:txBody>
      </p:sp>
    </p:spTree>
    <p:custDataLst>
      <p:tags r:id="rId1"/>
    </p:custDataLst>
    <p:extLst>
      <p:ext uri="{BB962C8B-B14F-4D97-AF65-F5344CB8AC3E}">
        <p14:creationId xmlns:p14="http://schemas.microsoft.com/office/powerpoint/2010/main" val="2188585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dissolve">
                                      <p:cBhvr>
                                        <p:cTn id="11" dur="500"/>
                                        <p:tgtEl>
                                          <p:spTgt spid="4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500"/>
                                        <p:tgtEl>
                                          <p:spTgt spid="4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wipe(left)">
                                      <p:cBhvr>
                                        <p:cTn id="19" dur="500"/>
                                        <p:tgtEl>
                                          <p:spTgt spid="49"/>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wipe(left)">
                                      <p:cBhvr>
                                        <p:cTn id="23" dur="500"/>
                                        <p:tgtEl>
                                          <p:spTgt spid="47"/>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left)">
                                      <p:cBhvr>
                                        <p:cTn id="27" dur="500"/>
                                        <p:tgtEl>
                                          <p:spTgt spid="50"/>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wipe(left)">
                                      <p:cBhvr>
                                        <p:cTn id="31" dur="500"/>
                                        <p:tgtEl>
                                          <p:spTgt spid="46"/>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left)">
                                      <p:cBhvr>
                                        <p:cTn id="35" dur="500"/>
                                        <p:tgtEl>
                                          <p:spTgt spid="51"/>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wipe(left)">
                                      <p:cBhvr>
                                        <p:cTn id="39" dur="500"/>
                                        <p:tgtEl>
                                          <p:spTgt spid="52"/>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wipe(left)">
                                      <p:cBhvr>
                                        <p:cTn id="43" dur="500"/>
                                        <p:tgtEl>
                                          <p:spTgt spid="55"/>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wipe(left)">
                                      <p:cBhvr>
                                        <p:cTn id="4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utoUpdateAnimBg="0"/>
      <p:bldP spid="45" grpId="0" autoUpdateAnimBg="0"/>
      <p:bldP spid="49" grpId="0" autoUpdateAnimBg="0"/>
      <p:bldP spid="50" grpId="0" autoUpdateAnimBg="0"/>
      <p:bldP spid="51"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5925-8628-014A-DBFD-0DF0AB1F6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390E3-551F-4FE8-E1EF-C57ABC55EBC9}"/>
              </a:ext>
            </a:extLst>
          </p:cNvPr>
          <p:cNvSpPr>
            <a:spLocks noGrp="1"/>
          </p:cNvSpPr>
          <p:nvPr>
            <p:ph type="title"/>
          </p:nvPr>
        </p:nvSpPr>
        <p:spPr/>
        <p:txBody>
          <a:bodyPr>
            <a:noAutofit/>
          </a:bodyPr>
          <a:lstStyle/>
          <a:p>
            <a:r>
              <a:rPr lang="en-US" sz="3600" dirty="0"/>
              <a:t>Breakthrough versus Continuous Improvement</a:t>
            </a:r>
          </a:p>
        </p:txBody>
      </p:sp>
      <p:grpSp>
        <p:nvGrpSpPr>
          <p:cNvPr id="20" name="Group 19">
            <a:extLst>
              <a:ext uri="{FF2B5EF4-FFF2-40B4-BE49-F238E27FC236}">
                <a16:creationId xmlns:a16="http://schemas.microsoft.com/office/drawing/2014/main" id="{F3C39BCE-614F-E5E5-F574-E9B8FDA2E9FD}"/>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9A2F0CD5-DD63-509B-85B5-1C421B594A1A}"/>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B7FCD5D9-0E1D-D065-F209-5709F9F37E6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48252CCF-AC2B-2395-1CEC-1FD04575904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3032256E-C915-CEB5-2B25-2202B5470117}"/>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49FA6084-641E-E31E-38B3-1C7C23F5B4F3}"/>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grpSp>
        <p:nvGrpSpPr>
          <p:cNvPr id="74" name="Group 73">
            <a:extLst>
              <a:ext uri="{FF2B5EF4-FFF2-40B4-BE49-F238E27FC236}">
                <a16:creationId xmlns:a16="http://schemas.microsoft.com/office/drawing/2014/main" id="{F07F5C0E-FAF9-2FC4-B923-9A3C2F7D1B72}"/>
              </a:ext>
            </a:extLst>
          </p:cNvPr>
          <p:cNvGrpSpPr/>
          <p:nvPr/>
        </p:nvGrpSpPr>
        <p:grpSpPr>
          <a:xfrm>
            <a:off x="1909652" y="1394467"/>
            <a:ext cx="8588264" cy="5041259"/>
            <a:chOff x="1909652" y="1202681"/>
            <a:chExt cx="8588264" cy="5231605"/>
          </a:xfrm>
        </p:grpSpPr>
        <p:grpSp>
          <p:nvGrpSpPr>
            <p:cNvPr id="12" name="Group 3">
              <a:extLst>
                <a:ext uri="{FF2B5EF4-FFF2-40B4-BE49-F238E27FC236}">
                  <a16:creationId xmlns:a16="http://schemas.microsoft.com/office/drawing/2014/main" id="{9A7A0182-1D77-1C9C-8B76-F51CBFB88AB6}"/>
                </a:ext>
              </a:extLst>
            </p:cNvPr>
            <p:cNvGrpSpPr>
              <a:grpSpLocks/>
            </p:cNvGrpSpPr>
            <p:nvPr/>
          </p:nvGrpSpPr>
          <p:grpSpPr bwMode="auto">
            <a:xfrm>
              <a:off x="2292239" y="1820863"/>
              <a:ext cx="7874000" cy="4343400"/>
              <a:chOff x="432" y="636"/>
              <a:chExt cx="4896" cy="2928"/>
            </a:xfrm>
          </p:grpSpPr>
          <p:sp>
            <p:nvSpPr>
              <p:cNvPr id="13" name="Line 4">
                <a:extLst>
                  <a:ext uri="{FF2B5EF4-FFF2-40B4-BE49-F238E27FC236}">
                    <a16:creationId xmlns:a16="http://schemas.microsoft.com/office/drawing/2014/main" id="{36EC5B6F-79B2-CAFD-44CE-55970BC79BAA}"/>
                  </a:ext>
                </a:extLst>
              </p:cNvPr>
              <p:cNvSpPr>
                <a:spLocks noChangeShapeType="1"/>
              </p:cNvSpPr>
              <p:nvPr/>
            </p:nvSpPr>
            <p:spPr bwMode="auto">
              <a:xfrm>
                <a:off x="432" y="636"/>
                <a:ext cx="0" cy="2928"/>
              </a:xfrm>
              <a:prstGeom prst="line">
                <a:avLst/>
              </a:prstGeom>
              <a:noFill/>
              <a:ln w="50800">
                <a:solidFill>
                  <a:schemeClr val="tx1"/>
                </a:solidFill>
                <a:round/>
                <a:headEnd type="none" w="sm" len="sm"/>
                <a:tailEnd type="none" w="sm" len="sm"/>
              </a:ln>
              <a:effectLst/>
              <a:scene3d>
                <a:camera prst="legacyPerspectiveTop"/>
                <a:lightRig rig="legacyFlat3" dir="b"/>
              </a:scene3d>
              <a:sp3d extrusionH="887400" prstMaterial="legacyMatte">
                <a:bevelT w="13500" h="13500" prst="angle"/>
                <a:bevelB w="13500" h="13500" prst="angle"/>
                <a:extrusionClr>
                  <a:schemeClr val="tx1"/>
                </a:extrusionClr>
              </a:sp3d>
            </p:spPr>
            <p:txBody>
              <a:bodyPr wrap="none" anchor="ctr">
                <a:flatTx/>
              </a:bodyPr>
              <a:lstStyle/>
              <a:p>
                <a:pPr algn="ctr" eaLnBrk="0" hangingPunct="0">
                  <a:lnSpc>
                    <a:spcPct val="80000"/>
                  </a:lnSpc>
                  <a:spcBef>
                    <a:spcPct val="20000"/>
                  </a:spcBef>
                  <a:defRPr/>
                </a:pPr>
                <a:endParaRPr lang="en-US" dirty="0">
                  <a:solidFill>
                    <a:schemeClr val="tx1"/>
                  </a:solidFill>
                  <a:latin typeface="+mj-lt"/>
                  <a:ea typeface="+mn-ea"/>
                </a:endParaRPr>
              </a:p>
            </p:txBody>
          </p:sp>
          <p:sp>
            <p:nvSpPr>
              <p:cNvPr id="14" name="Line 5">
                <a:extLst>
                  <a:ext uri="{FF2B5EF4-FFF2-40B4-BE49-F238E27FC236}">
                    <a16:creationId xmlns:a16="http://schemas.microsoft.com/office/drawing/2014/main" id="{3C44AABE-5E59-0B55-FDC0-CD436778DE12}"/>
                  </a:ext>
                </a:extLst>
              </p:cNvPr>
              <p:cNvSpPr>
                <a:spLocks noChangeShapeType="1"/>
              </p:cNvSpPr>
              <p:nvPr/>
            </p:nvSpPr>
            <p:spPr bwMode="auto">
              <a:xfrm>
                <a:off x="432" y="3564"/>
                <a:ext cx="4896" cy="0"/>
              </a:xfrm>
              <a:prstGeom prst="line">
                <a:avLst/>
              </a:prstGeom>
              <a:noFill/>
              <a:ln w="50800">
                <a:solidFill>
                  <a:schemeClr val="tx1"/>
                </a:solidFill>
                <a:round/>
                <a:headEnd type="none" w="sm" len="sm"/>
                <a:tailEnd type="none" w="sm" len="sm"/>
              </a:ln>
              <a:effectLst/>
              <a:scene3d>
                <a:camera prst="legacyPerspectiveTop"/>
                <a:lightRig rig="legacyFlat3" dir="b"/>
              </a:scene3d>
              <a:sp3d extrusionH="887400" prstMaterial="legacyMatte">
                <a:bevelT w="13500" h="13500" prst="angle"/>
                <a:bevelB w="13500" h="13500" prst="angle"/>
                <a:extrusionClr>
                  <a:schemeClr val="tx1"/>
                </a:extrusionClr>
              </a:sp3d>
            </p:spPr>
            <p:txBody>
              <a:bodyPr wrap="none" anchor="ctr">
                <a:flatTx/>
              </a:bodyPr>
              <a:lstStyle/>
              <a:p>
                <a:pPr algn="ctr" eaLnBrk="0" hangingPunct="0">
                  <a:lnSpc>
                    <a:spcPct val="80000"/>
                  </a:lnSpc>
                  <a:spcBef>
                    <a:spcPct val="20000"/>
                  </a:spcBef>
                  <a:defRPr/>
                </a:pPr>
                <a:endParaRPr lang="en-US" dirty="0">
                  <a:solidFill>
                    <a:schemeClr val="tx1"/>
                  </a:solidFill>
                  <a:latin typeface="+mj-lt"/>
                  <a:ea typeface="+mn-ea"/>
                </a:endParaRPr>
              </a:p>
            </p:txBody>
          </p:sp>
        </p:grpSp>
        <p:sp>
          <p:nvSpPr>
            <p:cNvPr id="15" name="Rectangle 6">
              <a:extLst>
                <a:ext uri="{FF2B5EF4-FFF2-40B4-BE49-F238E27FC236}">
                  <a16:creationId xmlns:a16="http://schemas.microsoft.com/office/drawing/2014/main" id="{79C16DBA-DC38-77DF-4867-C7A4C3B473D9}"/>
                </a:ext>
              </a:extLst>
            </p:cNvPr>
            <p:cNvSpPr>
              <a:spLocks noChangeArrowheads="1"/>
            </p:cNvSpPr>
            <p:nvPr/>
          </p:nvSpPr>
          <p:spPr bwMode="auto">
            <a:xfrm rot="16200000">
              <a:off x="1323865" y="3854450"/>
              <a:ext cx="1460500" cy="288925"/>
            </a:xfrm>
            <a:prstGeom prst="rect">
              <a:avLst/>
            </a:prstGeom>
            <a:noFill/>
            <a:ln w="9525">
              <a:noFill/>
              <a:miter lim="800000"/>
              <a:headEnd/>
              <a:tailEnd/>
            </a:ln>
            <a:effectLst/>
          </p:spPr>
          <p:txBody>
            <a:bodyPr lIns="92075" tIns="46038" rIns="92075" bIns="46038">
              <a:spAutoFit/>
            </a:bodyPr>
            <a:lstStyle/>
            <a:p>
              <a:pPr algn="ctr" eaLnBrk="0" hangingPunct="0">
                <a:lnSpc>
                  <a:spcPct val="80000"/>
                </a:lnSpc>
                <a:spcBef>
                  <a:spcPct val="20000"/>
                </a:spcBef>
                <a:defRPr/>
              </a:pPr>
              <a:r>
                <a:rPr lang="en-US" sz="1600" dirty="0">
                  <a:solidFill>
                    <a:schemeClr val="tx1"/>
                  </a:solidFill>
                  <a:latin typeface="+mj-lt"/>
                  <a:ea typeface="+mn-ea"/>
                </a:rPr>
                <a:t>Improvement</a:t>
              </a:r>
            </a:p>
          </p:txBody>
        </p:sp>
        <p:sp>
          <p:nvSpPr>
            <p:cNvPr id="16" name="Rectangle 7">
              <a:extLst>
                <a:ext uri="{FF2B5EF4-FFF2-40B4-BE49-F238E27FC236}">
                  <a16:creationId xmlns:a16="http://schemas.microsoft.com/office/drawing/2014/main" id="{6F8F0138-0539-B5EB-44D9-30DB6287D191}"/>
                </a:ext>
              </a:extLst>
            </p:cNvPr>
            <p:cNvSpPr>
              <a:spLocks noChangeArrowheads="1"/>
            </p:cNvSpPr>
            <p:nvPr/>
          </p:nvSpPr>
          <p:spPr bwMode="auto">
            <a:xfrm>
              <a:off x="2755789" y="5254626"/>
              <a:ext cx="1054100" cy="923925"/>
            </a:xfrm>
            <a:prstGeom prst="rect">
              <a:avLst/>
            </a:prstGeom>
            <a:solidFill>
              <a:srgbClr val="80808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808080"/>
              </a:extrusionClr>
            </a:sp3d>
          </p:spPr>
          <p:txBody>
            <a:bodyPr wrap="none" anchor="ctr">
              <a:flatTx/>
            </a:bodyPr>
            <a:lstStyle/>
            <a:p>
              <a:pPr algn="ctr" eaLnBrk="0" hangingPunct="0">
                <a:lnSpc>
                  <a:spcPct val="80000"/>
                </a:lnSpc>
                <a:spcBef>
                  <a:spcPct val="20000"/>
                </a:spcBef>
                <a:defRPr/>
              </a:pPr>
              <a:r>
                <a:rPr lang="en-US" sz="1200" dirty="0">
                  <a:solidFill>
                    <a:schemeClr val="bg1"/>
                  </a:solidFill>
                  <a:latin typeface="+mj-lt"/>
                  <a:ea typeface="+mn-ea"/>
                </a:rPr>
                <a:t>Business</a:t>
              </a:r>
              <a:br>
                <a:rPr lang="en-US" sz="1200" dirty="0">
                  <a:solidFill>
                    <a:schemeClr val="bg1"/>
                  </a:solidFill>
                  <a:latin typeface="+mj-lt"/>
                  <a:ea typeface="+mn-ea"/>
                </a:rPr>
              </a:br>
              <a:r>
                <a:rPr lang="en-US" sz="1200" dirty="0">
                  <a:solidFill>
                    <a:schemeClr val="bg1"/>
                  </a:solidFill>
                  <a:latin typeface="+mj-lt"/>
                  <a:ea typeface="+mn-ea"/>
                </a:rPr>
                <a:t>Fundamentals</a:t>
              </a:r>
            </a:p>
          </p:txBody>
        </p:sp>
        <p:sp>
          <p:nvSpPr>
            <p:cNvPr id="26" name="Rectangle 8">
              <a:extLst>
                <a:ext uri="{FF2B5EF4-FFF2-40B4-BE49-F238E27FC236}">
                  <a16:creationId xmlns:a16="http://schemas.microsoft.com/office/drawing/2014/main" id="{79EBF340-6958-CD98-99D4-D686753E49D0}"/>
                </a:ext>
              </a:extLst>
            </p:cNvPr>
            <p:cNvSpPr>
              <a:spLocks noChangeArrowheads="1"/>
            </p:cNvSpPr>
            <p:nvPr/>
          </p:nvSpPr>
          <p:spPr bwMode="auto">
            <a:xfrm>
              <a:off x="4044839" y="5213351"/>
              <a:ext cx="1068388" cy="968375"/>
            </a:xfrm>
            <a:prstGeom prst="rect">
              <a:avLst/>
            </a:prstGeom>
            <a:solidFill>
              <a:srgbClr val="80808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808080"/>
              </a:extrusionClr>
            </a:sp3d>
          </p:spPr>
          <p:txBody>
            <a:bodyPr wrap="none" anchor="ctr">
              <a:flatTx/>
            </a:bodyPr>
            <a:lstStyle/>
            <a:p>
              <a:pPr algn="ctr" eaLnBrk="0" hangingPunct="0">
                <a:lnSpc>
                  <a:spcPct val="80000"/>
                </a:lnSpc>
                <a:spcBef>
                  <a:spcPct val="20000"/>
                </a:spcBef>
                <a:defRPr/>
              </a:pPr>
              <a:r>
                <a:rPr lang="en-US" sz="1200" dirty="0">
                  <a:solidFill>
                    <a:schemeClr val="bg1"/>
                  </a:solidFill>
                  <a:latin typeface="+mj-lt"/>
                  <a:ea typeface="+mn-ea"/>
                </a:rPr>
                <a:t>Business</a:t>
              </a:r>
              <a:br>
                <a:rPr lang="en-US" sz="1200" dirty="0">
                  <a:solidFill>
                    <a:schemeClr val="bg1"/>
                  </a:solidFill>
                  <a:latin typeface="+mj-lt"/>
                  <a:ea typeface="+mn-ea"/>
                </a:rPr>
              </a:br>
              <a:r>
                <a:rPr lang="en-US" sz="1200" dirty="0">
                  <a:solidFill>
                    <a:schemeClr val="bg1"/>
                  </a:solidFill>
                  <a:latin typeface="+mj-lt"/>
                  <a:ea typeface="+mn-ea"/>
                </a:rPr>
                <a:t>Fundamentals</a:t>
              </a:r>
            </a:p>
          </p:txBody>
        </p:sp>
        <p:sp>
          <p:nvSpPr>
            <p:cNvPr id="59" name="Rectangle 9">
              <a:extLst>
                <a:ext uri="{FF2B5EF4-FFF2-40B4-BE49-F238E27FC236}">
                  <a16:creationId xmlns:a16="http://schemas.microsoft.com/office/drawing/2014/main" id="{493679B9-09B4-D024-8C62-19E852631D18}"/>
                </a:ext>
              </a:extLst>
            </p:cNvPr>
            <p:cNvSpPr>
              <a:spLocks noChangeArrowheads="1"/>
            </p:cNvSpPr>
            <p:nvPr/>
          </p:nvSpPr>
          <p:spPr bwMode="auto">
            <a:xfrm>
              <a:off x="4049602" y="4884738"/>
              <a:ext cx="1069975" cy="266700"/>
            </a:xfrm>
            <a:prstGeom prst="rect">
              <a:avLst/>
            </a:prstGeom>
            <a:solidFill>
              <a:srgbClr val="FFFF0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FFFF00"/>
              </a:extrusionClr>
            </a:sp3d>
          </p:spPr>
          <p:txBody>
            <a:bodyPr wrap="none" anchor="ctr">
              <a:flatTx/>
            </a:bodyPr>
            <a:lstStyle/>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r>
                <a:rPr lang="en-US" sz="800" dirty="0">
                  <a:solidFill>
                    <a:schemeClr val="tx1"/>
                  </a:solidFill>
                  <a:latin typeface="+mj-lt"/>
                  <a:ea typeface="+mn-ea"/>
                </a:rPr>
                <a:t>Kaizen </a:t>
              </a:r>
              <a:r>
                <a:rPr lang="en-US" sz="600" dirty="0">
                  <a:solidFill>
                    <a:schemeClr val="tx1"/>
                  </a:solidFill>
                  <a:latin typeface="+mj-lt"/>
                  <a:ea typeface="+mn-ea"/>
                </a:rPr>
                <a:t>(Continuous</a:t>
              </a:r>
            </a:p>
            <a:p>
              <a:pPr algn="ctr" eaLnBrk="0" hangingPunct="0">
                <a:lnSpc>
                  <a:spcPct val="80000"/>
                </a:lnSpc>
                <a:spcBef>
                  <a:spcPct val="20000"/>
                </a:spcBef>
                <a:defRPr/>
              </a:pPr>
              <a:r>
                <a:rPr lang="en-US" sz="600" dirty="0">
                  <a:solidFill>
                    <a:schemeClr val="tx1"/>
                  </a:solidFill>
                  <a:latin typeface="+mj-lt"/>
                  <a:ea typeface="+mn-ea"/>
                </a:rPr>
                <a:t>Improvement)</a:t>
              </a:r>
            </a:p>
            <a:p>
              <a:pPr algn="ctr" eaLnBrk="0" hangingPunct="0">
                <a:lnSpc>
                  <a:spcPct val="80000"/>
                </a:lnSpc>
                <a:spcBef>
                  <a:spcPct val="20000"/>
                </a:spcBef>
                <a:defRPr/>
              </a:pPr>
              <a:r>
                <a:rPr lang="en-US" sz="600" dirty="0">
                  <a:solidFill>
                    <a:schemeClr val="tx1"/>
                  </a:solidFill>
                  <a:latin typeface="+mj-lt"/>
                  <a:ea typeface="+mn-ea"/>
                </a:rPr>
                <a:t>Activities</a:t>
              </a:r>
            </a:p>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endParaRPr lang="en-US" sz="800" dirty="0">
                <a:solidFill>
                  <a:schemeClr val="tx1"/>
                </a:solidFill>
                <a:latin typeface="+mj-lt"/>
                <a:ea typeface="+mn-ea"/>
              </a:endParaRPr>
            </a:p>
          </p:txBody>
        </p:sp>
        <p:sp>
          <p:nvSpPr>
            <p:cNvPr id="60" name="Rectangle 10">
              <a:extLst>
                <a:ext uri="{FF2B5EF4-FFF2-40B4-BE49-F238E27FC236}">
                  <a16:creationId xmlns:a16="http://schemas.microsoft.com/office/drawing/2014/main" id="{2DCD7523-C92C-9BBB-A049-BDA0253DB792}"/>
                </a:ext>
              </a:extLst>
            </p:cNvPr>
            <p:cNvSpPr>
              <a:spLocks noChangeArrowheads="1"/>
            </p:cNvSpPr>
            <p:nvPr/>
          </p:nvSpPr>
          <p:spPr bwMode="auto">
            <a:xfrm>
              <a:off x="4043252" y="4038601"/>
              <a:ext cx="1069975" cy="795337"/>
            </a:xfrm>
            <a:prstGeom prst="rect">
              <a:avLst/>
            </a:prstGeom>
            <a:solidFill>
              <a:schemeClr val="accent1"/>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chemeClr val="accent1"/>
              </a:extrusionClr>
            </a:sp3d>
          </p:spPr>
          <p:txBody>
            <a:bodyPr anchor="ctr">
              <a:flatTx/>
            </a:bodyPr>
            <a:lstStyle/>
            <a:p>
              <a:pPr algn="ctr" eaLnBrk="0" hangingPunct="0">
                <a:lnSpc>
                  <a:spcPct val="80000"/>
                </a:lnSpc>
                <a:spcBef>
                  <a:spcPct val="20000"/>
                </a:spcBef>
                <a:defRPr/>
              </a:pPr>
              <a:r>
                <a:rPr lang="en-US" sz="1000" dirty="0">
                  <a:solidFill>
                    <a:schemeClr val="bg1"/>
                  </a:solidFill>
                  <a:latin typeface="+mj-lt"/>
                  <a:ea typeface="+mn-ea"/>
                </a:rPr>
                <a:t>Breakthrough</a:t>
              </a:r>
            </a:p>
          </p:txBody>
        </p:sp>
        <p:sp>
          <p:nvSpPr>
            <p:cNvPr id="61" name="Rectangle 11">
              <a:extLst>
                <a:ext uri="{FF2B5EF4-FFF2-40B4-BE49-F238E27FC236}">
                  <a16:creationId xmlns:a16="http://schemas.microsoft.com/office/drawing/2014/main" id="{2F6F3500-C6E4-151A-8503-8464F77A1B26}"/>
                </a:ext>
              </a:extLst>
            </p:cNvPr>
            <p:cNvSpPr>
              <a:spLocks noChangeArrowheads="1"/>
            </p:cNvSpPr>
            <p:nvPr/>
          </p:nvSpPr>
          <p:spPr bwMode="auto">
            <a:xfrm>
              <a:off x="2811352" y="6143773"/>
              <a:ext cx="790575" cy="290513"/>
            </a:xfrm>
            <a:prstGeom prst="rect">
              <a:avLst/>
            </a:prstGeom>
            <a:noFill/>
            <a:ln w="9525">
              <a:noFill/>
              <a:miter lim="800000"/>
              <a:headEnd/>
              <a:tailEnd/>
            </a:ln>
            <a:effectLst/>
          </p:spPr>
          <p:txBody>
            <a:bodyPr wrap="none" lIns="92075" tIns="46038" rIns="92075" bIns="46038">
              <a:spAutoFit/>
            </a:bodyPr>
            <a:lstStyle/>
            <a:p>
              <a:pPr algn="ctr" eaLnBrk="0" hangingPunct="0">
                <a:lnSpc>
                  <a:spcPct val="80000"/>
                </a:lnSpc>
                <a:spcBef>
                  <a:spcPct val="20000"/>
                </a:spcBef>
                <a:defRPr/>
              </a:pPr>
              <a:r>
                <a:rPr lang="en-US" sz="1600" dirty="0">
                  <a:solidFill>
                    <a:schemeClr val="tx1"/>
                  </a:solidFill>
                  <a:latin typeface="+mj-lt"/>
                  <a:ea typeface="+mn-ea"/>
                </a:rPr>
                <a:t>Year 0</a:t>
              </a:r>
            </a:p>
          </p:txBody>
        </p:sp>
        <p:sp>
          <p:nvSpPr>
            <p:cNvPr id="62" name="Rectangle 12">
              <a:extLst>
                <a:ext uri="{FF2B5EF4-FFF2-40B4-BE49-F238E27FC236}">
                  <a16:creationId xmlns:a16="http://schemas.microsoft.com/office/drawing/2014/main" id="{E147C108-9610-4BD5-C50F-5498C78BE410}"/>
                </a:ext>
              </a:extLst>
            </p:cNvPr>
            <p:cNvSpPr>
              <a:spLocks noChangeArrowheads="1"/>
            </p:cNvSpPr>
            <p:nvPr/>
          </p:nvSpPr>
          <p:spPr bwMode="auto">
            <a:xfrm>
              <a:off x="4182952" y="6143773"/>
              <a:ext cx="790575" cy="290513"/>
            </a:xfrm>
            <a:prstGeom prst="rect">
              <a:avLst/>
            </a:prstGeom>
            <a:noFill/>
            <a:ln w="9525">
              <a:noFill/>
              <a:miter lim="800000"/>
              <a:headEnd/>
              <a:tailEnd/>
            </a:ln>
            <a:effectLst/>
          </p:spPr>
          <p:txBody>
            <a:bodyPr wrap="none" lIns="92075" tIns="46038" rIns="92075" bIns="46038">
              <a:spAutoFit/>
            </a:bodyPr>
            <a:lstStyle/>
            <a:p>
              <a:pPr algn="ctr" eaLnBrk="0" hangingPunct="0">
                <a:lnSpc>
                  <a:spcPct val="80000"/>
                </a:lnSpc>
                <a:spcBef>
                  <a:spcPct val="20000"/>
                </a:spcBef>
                <a:defRPr/>
              </a:pPr>
              <a:r>
                <a:rPr lang="en-US" sz="1600" dirty="0">
                  <a:solidFill>
                    <a:schemeClr val="tx1"/>
                  </a:solidFill>
                  <a:latin typeface="+mj-lt"/>
                  <a:ea typeface="+mn-ea"/>
                </a:rPr>
                <a:t>Year 1</a:t>
              </a:r>
            </a:p>
          </p:txBody>
        </p:sp>
        <p:sp>
          <p:nvSpPr>
            <p:cNvPr id="63" name="Rectangle 13">
              <a:extLst>
                <a:ext uri="{FF2B5EF4-FFF2-40B4-BE49-F238E27FC236}">
                  <a16:creationId xmlns:a16="http://schemas.microsoft.com/office/drawing/2014/main" id="{F5046486-06D4-DAAF-565F-4AC2A38CBC77}"/>
                </a:ext>
              </a:extLst>
            </p:cNvPr>
            <p:cNvSpPr>
              <a:spLocks noChangeArrowheads="1"/>
            </p:cNvSpPr>
            <p:nvPr/>
          </p:nvSpPr>
          <p:spPr bwMode="auto">
            <a:xfrm>
              <a:off x="5478352" y="6143773"/>
              <a:ext cx="790575" cy="290513"/>
            </a:xfrm>
            <a:prstGeom prst="rect">
              <a:avLst/>
            </a:prstGeom>
            <a:noFill/>
            <a:ln w="9525">
              <a:noFill/>
              <a:miter lim="800000"/>
              <a:headEnd/>
              <a:tailEnd/>
            </a:ln>
            <a:effectLst/>
          </p:spPr>
          <p:txBody>
            <a:bodyPr wrap="none" lIns="92075" tIns="46038" rIns="92075" bIns="46038">
              <a:spAutoFit/>
            </a:bodyPr>
            <a:lstStyle/>
            <a:p>
              <a:pPr algn="ctr" eaLnBrk="0" hangingPunct="0">
                <a:lnSpc>
                  <a:spcPct val="80000"/>
                </a:lnSpc>
                <a:spcBef>
                  <a:spcPct val="20000"/>
                </a:spcBef>
                <a:defRPr/>
              </a:pPr>
              <a:r>
                <a:rPr lang="en-US" sz="1600" dirty="0">
                  <a:solidFill>
                    <a:schemeClr val="tx1"/>
                  </a:solidFill>
                  <a:latin typeface="+mj-lt"/>
                  <a:ea typeface="+mn-ea"/>
                </a:rPr>
                <a:t>Year 2</a:t>
              </a:r>
            </a:p>
          </p:txBody>
        </p:sp>
        <p:sp>
          <p:nvSpPr>
            <p:cNvPr id="64" name="Rectangle 14">
              <a:extLst>
                <a:ext uri="{FF2B5EF4-FFF2-40B4-BE49-F238E27FC236}">
                  <a16:creationId xmlns:a16="http://schemas.microsoft.com/office/drawing/2014/main" id="{D1D71845-39ED-7D2C-AD86-D7C18900BC38}"/>
                </a:ext>
              </a:extLst>
            </p:cNvPr>
            <p:cNvSpPr>
              <a:spLocks noChangeArrowheads="1"/>
            </p:cNvSpPr>
            <p:nvPr/>
          </p:nvSpPr>
          <p:spPr bwMode="auto">
            <a:xfrm>
              <a:off x="6773752" y="6143773"/>
              <a:ext cx="790575" cy="290513"/>
            </a:xfrm>
            <a:prstGeom prst="rect">
              <a:avLst/>
            </a:prstGeom>
            <a:noFill/>
            <a:ln w="9525">
              <a:noFill/>
              <a:miter lim="800000"/>
              <a:headEnd/>
              <a:tailEnd/>
            </a:ln>
            <a:effectLst/>
          </p:spPr>
          <p:txBody>
            <a:bodyPr wrap="none" lIns="92075" tIns="46038" rIns="92075" bIns="46038">
              <a:spAutoFit/>
            </a:bodyPr>
            <a:lstStyle/>
            <a:p>
              <a:pPr algn="ctr" eaLnBrk="0" hangingPunct="0">
                <a:lnSpc>
                  <a:spcPct val="80000"/>
                </a:lnSpc>
                <a:spcBef>
                  <a:spcPct val="20000"/>
                </a:spcBef>
                <a:defRPr/>
              </a:pPr>
              <a:r>
                <a:rPr lang="en-US" sz="1600" dirty="0">
                  <a:solidFill>
                    <a:schemeClr val="tx1"/>
                  </a:solidFill>
                  <a:latin typeface="+mj-lt"/>
                  <a:ea typeface="+mn-ea"/>
                </a:rPr>
                <a:t>Year 3</a:t>
              </a:r>
            </a:p>
          </p:txBody>
        </p:sp>
        <p:sp>
          <p:nvSpPr>
            <p:cNvPr id="65" name="Rectangle 15">
              <a:extLst>
                <a:ext uri="{FF2B5EF4-FFF2-40B4-BE49-F238E27FC236}">
                  <a16:creationId xmlns:a16="http://schemas.microsoft.com/office/drawing/2014/main" id="{63C30C67-DD2A-DE9D-3C5B-341DCC2D808F}"/>
                </a:ext>
              </a:extLst>
            </p:cNvPr>
            <p:cNvSpPr>
              <a:spLocks noChangeArrowheads="1"/>
            </p:cNvSpPr>
            <p:nvPr/>
          </p:nvSpPr>
          <p:spPr bwMode="auto">
            <a:xfrm>
              <a:off x="8088202" y="6143773"/>
              <a:ext cx="790575" cy="290513"/>
            </a:xfrm>
            <a:prstGeom prst="rect">
              <a:avLst/>
            </a:prstGeom>
            <a:noFill/>
            <a:ln w="9525">
              <a:noFill/>
              <a:miter lim="800000"/>
              <a:headEnd/>
              <a:tailEnd/>
            </a:ln>
            <a:effectLst/>
          </p:spPr>
          <p:txBody>
            <a:bodyPr wrap="none" lIns="92075" tIns="46038" rIns="92075" bIns="46038">
              <a:spAutoFit/>
            </a:bodyPr>
            <a:lstStyle/>
            <a:p>
              <a:pPr algn="ctr" eaLnBrk="0" hangingPunct="0">
                <a:lnSpc>
                  <a:spcPct val="80000"/>
                </a:lnSpc>
                <a:spcBef>
                  <a:spcPct val="20000"/>
                </a:spcBef>
                <a:defRPr/>
              </a:pPr>
              <a:r>
                <a:rPr lang="en-US" sz="1600" dirty="0">
                  <a:solidFill>
                    <a:schemeClr val="tx1"/>
                  </a:solidFill>
                  <a:latin typeface="+mj-lt"/>
                  <a:ea typeface="+mn-ea"/>
                </a:rPr>
                <a:t>Year 4</a:t>
              </a:r>
            </a:p>
          </p:txBody>
        </p:sp>
        <p:sp>
          <p:nvSpPr>
            <p:cNvPr id="66" name="Rectangle 16">
              <a:extLst>
                <a:ext uri="{FF2B5EF4-FFF2-40B4-BE49-F238E27FC236}">
                  <a16:creationId xmlns:a16="http://schemas.microsoft.com/office/drawing/2014/main" id="{EBDF86AB-4A9E-33E5-99A9-7D5FC291D7DB}"/>
                </a:ext>
              </a:extLst>
            </p:cNvPr>
            <p:cNvSpPr>
              <a:spLocks noChangeArrowheads="1"/>
            </p:cNvSpPr>
            <p:nvPr/>
          </p:nvSpPr>
          <p:spPr bwMode="auto">
            <a:xfrm>
              <a:off x="5340239" y="4046538"/>
              <a:ext cx="1068388" cy="2135188"/>
            </a:xfrm>
            <a:prstGeom prst="rect">
              <a:avLst/>
            </a:prstGeom>
            <a:solidFill>
              <a:srgbClr val="80808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808080"/>
              </a:extrusionClr>
            </a:sp3d>
          </p:spPr>
          <p:txBody>
            <a:bodyPr wrap="none" anchor="ctr">
              <a:flatTx/>
            </a:bodyPr>
            <a:lstStyle/>
            <a:p>
              <a:pPr algn="ctr" eaLnBrk="0" hangingPunct="0">
                <a:lnSpc>
                  <a:spcPct val="80000"/>
                </a:lnSpc>
                <a:spcBef>
                  <a:spcPct val="20000"/>
                </a:spcBef>
                <a:defRPr/>
              </a:pPr>
              <a:r>
                <a:rPr lang="en-US" sz="1200" dirty="0">
                  <a:solidFill>
                    <a:schemeClr val="bg1"/>
                  </a:solidFill>
                  <a:latin typeface="+mj-lt"/>
                  <a:ea typeface="+mn-ea"/>
                </a:rPr>
                <a:t>Business</a:t>
              </a:r>
              <a:br>
                <a:rPr lang="en-US" sz="1200" dirty="0">
                  <a:solidFill>
                    <a:schemeClr val="bg1"/>
                  </a:solidFill>
                  <a:latin typeface="+mj-lt"/>
                  <a:ea typeface="+mn-ea"/>
                </a:rPr>
              </a:br>
              <a:r>
                <a:rPr lang="en-US" sz="1200" dirty="0">
                  <a:solidFill>
                    <a:schemeClr val="bg1"/>
                  </a:solidFill>
                  <a:latin typeface="+mj-lt"/>
                  <a:ea typeface="+mn-ea"/>
                </a:rPr>
                <a:t>Fundamentals</a:t>
              </a:r>
            </a:p>
          </p:txBody>
        </p:sp>
        <p:sp>
          <p:nvSpPr>
            <p:cNvPr id="67" name="Rectangle 17">
              <a:extLst>
                <a:ext uri="{FF2B5EF4-FFF2-40B4-BE49-F238E27FC236}">
                  <a16:creationId xmlns:a16="http://schemas.microsoft.com/office/drawing/2014/main" id="{9B3E11B9-C736-9410-EB2B-35795AF49A5A}"/>
                </a:ext>
              </a:extLst>
            </p:cNvPr>
            <p:cNvSpPr>
              <a:spLocks noChangeArrowheads="1"/>
            </p:cNvSpPr>
            <p:nvPr/>
          </p:nvSpPr>
          <p:spPr bwMode="auto">
            <a:xfrm>
              <a:off x="6668977" y="2870201"/>
              <a:ext cx="1068387" cy="3311525"/>
            </a:xfrm>
            <a:prstGeom prst="rect">
              <a:avLst/>
            </a:prstGeom>
            <a:solidFill>
              <a:srgbClr val="80808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808080"/>
              </a:extrusionClr>
            </a:sp3d>
          </p:spPr>
          <p:txBody>
            <a:bodyPr wrap="none" anchor="ctr">
              <a:flatTx/>
            </a:bodyPr>
            <a:lstStyle/>
            <a:p>
              <a:pPr algn="ctr" eaLnBrk="0" hangingPunct="0">
                <a:lnSpc>
                  <a:spcPct val="80000"/>
                </a:lnSpc>
                <a:spcBef>
                  <a:spcPct val="20000"/>
                </a:spcBef>
                <a:defRPr/>
              </a:pPr>
              <a:r>
                <a:rPr lang="en-US" sz="1200" dirty="0">
                  <a:solidFill>
                    <a:schemeClr val="bg1"/>
                  </a:solidFill>
                  <a:latin typeface="+mj-lt"/>
                  <a:ea typeface="+mn-ea"/>
                </a:rPr>
                <a:t>Business</a:t>
              </a:r>
              <a:br>
                <a:rPr lang="en-US" sz="1200" dirty="0">
                  <a:solidFill>
                    <a:schemeClr val="bg1"/>
                  </a:solidFill>
                  <a:latin typeface="+mj-lt"/>
                  <a:ea typeface="+mn-ea"/>
                </a:rPr>
              </a:br>
              <a:r>
                <a:rPr lang="en-US" sz="1200" dirty="0">
                  <a:solidFill>
                    <a:schemeClr val="bg1"/>
                  </a:solidFill>
                  <a:latin typeface="+mj-lt"/>
                  <a:ea typeface="+mn-ea"/>
                </a:rPr>
                <a:t>Fundamentals</a:t>
              </a:r>
            </a:p>
          </p:txBody>
        </p:sp>
        <p:sp>
          <p:nvSpPr>
            <p:cNvPr id="68" name="Rectangle 18">
              <a:extLst>
                <a:ext uri="{FF2B5EF4-FFF2-40B4-BE49-F238E27FC236}">
                  <a16:creationId xmlns:a16="http://schemas.microsoft.com/office/drawing/2014/main" id="{9578D540-A3D8-2485-78E5-2CA6E092D46E}"/>
                </a:ext>
              </a:extLst>
            </p:cNvPr>
            <p:cNvSpPr>
              <a:spLocks noChangeArrowheads="1"/>
            </p:cNvSpPr>
            <p:nvPr/>
          </p:nvSpPr>
          <p:spPr bwMode="auto">
            <a:xfrm>
              <a:off x="8007239" y="1684338"/>
              <a:ext cx="1068388" cy="4492625"/>
            </a:xfrm>
            <a:prstGeom prst="rect">
              <a:avLst/>
            </a:prstGeom>
            <a:solidFill>
              <a:srgbClr val="80808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808080"/>
              </a:extrusionClr>
            </a:sp3d>
          </p:spPr>
          <p:txBody>
            <a:bodyPr wrap="none" anchor="ctr">
              <a:flatTx/>
            </a:bodyPr>
            <a:lstStyle/>
            <a:p>
              <a:pPr algn="ctr" eaLnBrk="0" hangingPunct="0">
                <a:lnSpc>
                  <a:spcPct val="80000"/>
                </a:lnSpc>
                <a:spcBef>
                  <a:spcPct val="20000"/>
                </a:spcBef>
                <a:defRPr/>
              </a:pPr>
              <a:r>
                <a:rPr lang="en-US" sz="1200" dirty="0">
                  <a:solidFill>
                    <a:schemeClr val="bg1"/>
                  </a:solidFill>
                  <a:latin typeface="+mj-lt"/>
                  <a:ea typeface="+mn-ea"/>
                </a:rPr>
                <a:t>Business</a:t>
              </a:r>
              <a:br>
                <a:rPr lang="en-US" sz="1200" dirty="0">
                  <a:solidFill>
                    <a:schemeClr val="bg1"/>
                  </a:solidFill>
                  <a:latin typeface="+mj-lt"/>
                  <a:ea typeface="+mn-ea"/>
                </a:rPr>
              </a:br>
              <a:r>
                <a:rPr lang="en-US" sz="1200" dirty="0">
                  <a:solidFill>
                    <a:schemeClr val="bg1"/>
                  </a:solidFill>
                  <a:latin typeface="+mj-lt"/>
                  <a:ea typeface="+mn-ea"/>
                </a:rPr>
                <a:t>Fundamentals</a:t>
              </a:r>
            </a:p>
          </p:txBody>
        </p:sp>
        <p:sp>
          <p:nvSpPr>
            <p:cNvPr id="69" name="AutoShape 19">
              <a:extLst>
                <a:ext uri="{FF2B5EF4-FFF2-40B4-BE49-F238E27FC236}">
                  <a16:creationId xmlns:a16="http://schemas.microsoft.com/office/drawing/2014/main" id="{0C6124F4-AD12-A6CC-3996-A8D6D2C63472}"/>
                </a:ext>
              </a:extLst>
            </p:cNvPr>
            <p:cNvSpPr>
              <a:spLocks noChangeArrowheads="1"/>
            </p:cNvSpPr>
            <p:nvPr/>
          </p:nvSpPr>
          <p:spPr bwMode="auto">
            <a:xfrm>
              <a:off x="9069166" y="1202681"/>
              <a:ext cx="1428750" cy="1047774"/>
            </a:xfrm>
            <a:prstGeom prst="leftArrow">
              <a:avLst>
                <a:gd name="adj1" fmla="val 73380"/>
                <a:gd name="adj2" fmla="val 25000"/>
              </a:avLst>
            </a:prstGeom>
            <a:solidFill>
              <a:srgbClr val="FFFF00"/>
            </a:solidFill>
            <a:ln w="9525">
              <a:solidFill>
                <a:schemeClr val="tx1"/>
              </a:solidFill>
              <a:miter lim="800000"/>
              <a:headEnd/>
              <a:tailEnd/>
            </a:ln>
            <a:effectLst/>
          </p:spPr>
          <p:txBody>
            <a:bodyPr anchor="ctr"/>
            <a:lstStyle/>
            <a:p>
              <a:pPr algn="ctr" eaLnBrk="0" hangingPunct="0">
                <a:lnSpc>
                  <a:spcPct val="80000"/>
                </a:lnSpc>
                <a:spcBef>
                  <a:spcPct val="20000"/>
                </a:spcBef>
                <a:defRPr/>
              </a:pPr>
              <a:r>
                <a:rPr lang="en-US" sz="1400" dirty="0">
                  <a:solidFill>
                    <a:schemeClr val="tx1"/>
                  </a:solidFill>
                  <a:latin typeface="+mj-lt"/>
                  <a:ea typeface="+mn-ea"/>
                </a:rPr>
                <a:t>Strategic Objective is Achieved!!</a:t>
              </a:r>
            </a:p>
          </p:txBody>
        </p:sp>
        <p:sp>
          <p:nvSpPr>
            <p:cNvPr id="70" name="Rectangle 9">
              <a:extLst>
                <a:ext uri="{FF2B5EF4-FFF2-40B4-BE49-F238E27FC236}">
                  <a16:creationId xmlns:a16="http://schemas.microsoft.com/office/drawing/2014/main" id="{49E3E08E-9793-85FB-34FB-609AA3760DC9}"/>
                </a:ext>
              </a:extLst>
            </p:cNvPr>
            <p:cNvSpPr>
              <a:spLocks noChangeArrowheads="1"/>
            </p:cNvSpPr>
            <p:nvPr/>
          </p:nvSpPr>
          <p:spPr bwMode="auto">
            <a:xfrm>
              <a:off x="5345002" y="3716338"/>
              <a:ext cx="1069975" cy="266700"/>
            </a:xfrm>
            <a:prstGeom prst="rect">
              <a:avLst/>
            </a:prstGeom>
            <a:solidFill>
              <a:srgbClr val="FFFF0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FFFF00"/>
              </a:extrusionClr>
            </a:sp3d>
          </p:spPr>
          <p:txBody>
            <a:bodyPr wrap="none" anchor="ctr">
              <a:flatTx/>
            </a:bodyPr>
            <a:lstStyle/>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r>
                <a:rPr lang="en-US" sz="800" dirty="0">
                  <a:solidFill>
                    <a:schemeClr val="tx1"/>
                  </a:solidFill>
                  <a:latin typeface="+mj-lt"/>
                  <a:ea typeface="+mn-ea"/>
                </a:rPr>
                <a:t>Kaizen </a:t>
              </a:r>
              <a:r>
                <a:rPr lang="en-US" sz="600" dirty="0">
                  <a:solidFill>
                    <a:schemeClr val="tx1"/>
                  </a:solidFill>
                  <a:latin typeface="+mj-lt"/>
                  <a:ea typeface="+mn-ea"/>
                </a:rPr>
                <a:t>(Continuous</a:t>
              </a:r>
            </a:p>
            <a:p>
              <a:pPr algn="ctr" eaLnBrk="0" hangingPunct="0">
                <a:lnSpc>
                  <a:spcPct val="80000"/>
                </a:lnSpc>
                <a:spcBef>
                  <a:spcPct val="20000"/>
                </a:spcBef>
                <a:defRPr/>
              </a:pPr>
              <a:r>
                <a:rPr lang="en-US" sz="600" dirty="0">
                  <a:solidFill>
                    <a:schemeClr val="tx1"/>
                  </a:solidFill>
                  <a:latin typeface="+mj-lt"/>
                  <a:ea typeface="+mn-ea"/>
                </a:rPr>
                <a:t>Improvement)</a:t>
              </a:r>
            </a:p>
            <a:p>
              <a:pPr algn="ctr" eaLnBrk="0" hangingPunct="0">
                <a:lnSpc>
                  <a:spcPct val="80000"/>
                </a:lnSpc>
                <a:spcBef>
                  <a:spcPct val="20000"/>
                </a:spcBef>
                <a:defRPr/>
              </a:pPr>
              <a:r>
                <a:rPr lang="en-US" sz="600" dirty="0">
                  <a:solidFill>
                    <a:schemeClr val="tx1"/>
                  </a:solidFill>
                  <a:latin typeface="+mj-lt"/>
                  <a:ea typeface="+mn-ea"/>
                </a:rPr>
                <a:t>Activities</a:t>
              </a:r>
            </a:p>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endParaRPr lang="en-US" sz="800" dirty="0">
                <a:solidFill>
                  <a:schemeClr val="tx1"/>
                </a:solidFill>
                <a:latin typeface="+mj-lt"/>
                <a:ea typeface="+mn-ea"/>
              </a:endParaRPr>
            </a:p>
          </p:txBody>
        </p:sp>
        <p:sp>
          <p:nvSpPr>
            <p:cNvPr id="71" name="Rectangle 10">
              <a:extLst>
                <a:ext uri="{FF2B5EF4-FFF2-40B4-BE49-F238E27FC236}">
                  <a16:creationId xmlns:a16="http://schemas.microsoft.com/office/drawing/2014/main" id="{58B06E8C-6DD4-0C95-4196-1E4B03D69F80}"/>
                </a:ext>
              </a:extLst>
            </p:cNvPr>
            <p:cNvSpPr>
              <a:spLocks noChangeArrowheads="1"/>
            </p:cNvSpPr>
            <p:nvPr/>
          </p:nvSpPr>
          <p:spPr bwMode="auto">
            <a:xfrm>
              <a:off x="5338652" y="2870201"/>
              <a:ext cx="1069975" cy="795337"/>
            </a:xfrm>
            <a:prstGeom prst="rect">
              <a:avLst/>
            </a:prstGeom>
            <a:solidFill>
              <a:schemeClr val="accent1"/>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chemeClr val="accent1"/>
              </a:extrusionClr>
            </a:sp3d>
          </p:spPr>
          <p:txBody>
            <a:bodyPr anchor="ctr">
              <a:flatTx/>
            </a:bodyPr>
            <a:lstStyle/>
            <a:p>
              <a:pPr algn="ctr" eaLnBrk="0" hangingPunct="0">
                <a:lnSpc>
                  <a:spcPct val="80000"/>
                </a:lnSpc>
                <a:spcBef>
                  <a:spcPct val="20000"/>
                </a:spcBef>
                <a:defRPr/>
              </a:pPr>
              <a:r>
                <a:rPr lang="en-US" sz="1000" dirty="0">
                  <a:solidFill>
                    <a:schemeClr val="bg1"/>
                  </a:solidFill>
                  <a:latin typeface="+mj-lt"/>
                  <a:ea typeface="+mn-ea"/>
                </a:rPr>
                <a:t>Breakthrough</a:t>
              </a:r>
            </a:p>
          </p:txBody>
        </p:sp>
        <p:sp>
          <p:nvSpPr>
            <p:cNvPr id="72" name="Rectangle 9">
              <a:extLst>
                <a:ext uri="{FF2B5EF4-FFF2-40B4-BE49-F238E27FC236}">
                  <a16:creationId xmlns:a16="http://schemas.microsoft.com/office/drawing/2014/main" id="{45A7F4E5-5359-AE11-0EFC-B267887267C8}"/>
                </a:ext>
              </a:extLst>
            </p:cNvPr>
            <p:cNvSpPr>
              <a:spLocks noChangeArrowheads="1"/>
            </p:cNvSpPr>
            <p:nvPr/>
          </p:nvSpPr>
          <p:spPr bwMode="auto">
            <a:xfrm>
              <a:off x="6673739" y="2540001"/>
              <a:ext cx="1069975" cy="265112"/>
            </a:xfrm>
            <a:prstGeom prst="rect">
              <a:avLst/>
            </a:prstGeom>
            <a:solidFill>
              <a:srgbClr val="FFFF00"/>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rgbClr val="FFFF00"/>
              </a:extrusionClr>
            </a:sp3d>
          </p:spPr>
          <p:txBody>
            <a:bodyPr wrap="none" anchor="ctr">
              <a:flatTx/>
            </a:bodyPr>
            <a:lstStyle/>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r>
                <a:rPr lang="en-US" sz="800" dirty="0">
                  <a:solidFill>
                    <a:schemeClr val="tx1"/>
                  </a:solidFill>
                  <a:latin typeface="+mj-lt"/>
                  <a:ea typeface="+mn-ea"/>
                </a:rPr>
                <a:t>Kaizen </a:t>
              </a:r>
              <a:r>
                <a:rPr lang="en-US" sz="600" dirty="0">
                  <a:solidFill>
                    <a:schemeClr val="tx1"/>
                  </a:solidFill>
                  <a:latin typeface="+mj-lt"/>
                  <a:ea typeface="+mn-ea"/>
                </a:rPr>
                <a:t>(Continuous</a:t>
              </a:r>
            </a:p>
            <a:p>
              <a:pPr algn="ctr" eaLnBrk="0" hangingPunct="0">
                <a:lnSpc>
                  <a:spcPct val="80000"/>
                </a:lnSpc>
                <a:spcBef>
                  <a:spcPct val="20000"/>
                </a:spcBef>
                <a:defRPr/>
              </a:pPr>
              <a:r>
                <a:rPr lang="en-US" sz="600" dirty="0">
                  <a:solidFill>
                    <a:schemeClr val="tx1"/>
                  </a:solidFill>
                  <a:latin typeface="+mj-lt"/>
                  <a:ea typeface="+mn-ea"/>
                </a:rPr>
                <a:t>Improvement)</a:t>
              </a:r>
            </a:p>
            <a:p>
              <a:pPr algn="ctr" eaLnBrk="0" hangingPunct="0">
                <a:lnSpc>
                  <a:spcPct val="80000"/>
                </a:lnSpc>
                <a:spcBef>
                  <a:spcPct val="20000"/>
                </a:spcBef>
                <a:defRPr/>
              </a:pPr>
              <a:r>
                <a:rPr lang="en-US" sz="600" dirty="0">
                  <a:solidFill>
                    <a:schemeClr val="tx1"/>
                  </a:solidFill>
                  <a:latin typeface="+mj-lt"/>
                  <a:ea typeface="+mn-ea"/>
                </a:rPr>
                <a:t>Activities</a:t>
              </a:r>
            </a:p>
            <a:p>
              <a:pPr algn="ctr" eaLnBrk="0" hangingPunct="0">
                <a:lnSpc>
                  <a:spcPct val="80000"/>
                </a:lnSpc>
                <a:spcBef>
                  <a:spcPct val="20000"/>
                </a:spcBef>
                <a:defRPr/>
              </a:pPr>
              <a:endParaRPr lang="en-US" sz="800" dirty="0">
                <a:solidFill>
                  <a:schemeClr val="tx1"/>
                </a:solidFill>
                <a:latin typeface="+mj-lt"/>
                <a:ea typeface="+mn-ea"/>
              </a:endParaRPr>
            </a:p>
            <a:p>
              <a:pPr algn="ctr" eaLnBrk="0" hangingPunct="0">
                <a:lnSpc>
                  <a:spcPct val="80000"/>
                </a:lnSpc>
                <a:spcBef>
                  <a:spcPct val="20000"/>
                </a:spcBef>
                <a:defRPr/>
              </a:pPr>
              <a:endParaRPr lang="en-US" sz="800" dirty="0">
                <a:solidFill>
                  <a:schemeClr val="tx1"/>
                </a:solidFill>
                <a:latin typeface="+mj-lt"/>
                <a:ea typeface="+mn-ea"/>
              </a:endParaRPr>
            </a:p>
          </p:txBody>
        </p:sp>
        <p:sp>
          <p:nvSpPr>
            <p:cNvPr id="73" name="Rectangle 10">
              <a:extLst>
                <a:ext uri="{FF2B5EF4-FFF2-40B4-BE49-F238E27FC236}">
                  <a16:creationId xmlns:a16="http://schemas.microsoft.com/office/drawing/2014/main" id="{5BD98D2C-E1B0-1EEB-65E8-833054C25F0B}"/>
                </a:ext>
              </a:extLst>
            </p:cNvPr>
            <p:cNvSpPr>
              <a:spLocks noChangeArrowheads="1"/>
            </p:cNvSpPr>
            <p:nvPr/>
          </p:nvSpPr>
          <p:spPr bwMode="auto">
            <a:xfrm>
              <a:off x="6667389" y="1692276"/>
              <a:ext cx="1069975" cy="796925"/>
            </a:xfrm>
            <a:prstGeom prst="rect">
              <a:avLst/>
            </a:prstGeom>
            <a:solidFill>
              <a:schemeClr val="accent1"/>
            </a:solidFill>
            <a:ln w="12700">
              <a:miter lim="800000"/>
              <a:headEnd/>
              <a:tailEnd/>
            </a:ln>
            <a:effectLst/>
            <a:scene3d>
              <a:camera prst="legacyPerspectiveTop"/>
              <a:lightRig rig="legacyFlat3" dir="b"/>
            </a:scene3d>
            <a:sp3d extrusionH="887400" prstMaterial="legacyMatte">
              <a:bevelT w="13500" h="13500" prst="angle"/>
              <a:bevelB w="13500" h="13500" prst="angle"/>
              <a:extrusionClr>
                <a:schemeClr val="accent1"/>
              </a:extrusionClr>
            </a:sp3d>
          </p:spPr>
          <p:txBody>
            <a:bodyPr anchor="ctr">
              <a:flatTx/>
            </a:bodyPr>
            <a:lstStyle/>
            <a:p>
              <a:pPr algn="ctr" eaLnBrk="0" hangingPunct="0">
                <a:lnSpc>
                  <a:spcPct val="80000"/>
                </a:lnSpc>
                <a:spcBef>
                  <a:spcPct val="20000"/>
                </a:spcBef>
                <a:defRPr/>
              </a:pPr>
              <a:r>
                <a:rPr lang="en-US" sz="1000" dirty="0">
                  <a:solidFill>
                    <a:schemeClr val="bg1"/>
                  </a:solidFill>
                  <a:latin typeface="+mj-lt"/>
                  <a:ea typeface="+mn-ea"/>
                </a:rPr>
                <a:t>Breakthrough</a:t>
              </a:r>
            </a:p>
          </p:txBody>
        </p:sp>
      </p:grpSp>
    </p:spTree>
    <p:custDataLst>
      <p:tags r:id="rId1"/>
    </p:custDataLst>
    <p:extLst>
      <p:ext uri="{BB962C8B-B14F-4D97-AF65-F5344CB8AC3E}">
        <p14:creationId xmlns:p14="http://schemas.microsoft.com/office/powerpoint/2010/main" val="1198228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4EBE6-3708-DD85-3450-EB3F11F62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BD38D-0816-711C-F39E-35FDF34F0127}"/>
              </a:ext>
            </a:extLst>
          </p:cNvPr>
          <p:cNvSpPr>
            <a:spLocks noGrp="1"/>
          </p:cNvSpPr>
          <p:nvPr>
            <p:ph type="title"/>
          </p:nvPr>
        </p:nvSpPr>
        <p:spPr/>
        <p:txBody>
          <a:bodyPr/>
          <a:lstStyle/>
          <a:p>
            <a:r>
              <a:rPr lang="en-US" dirty="0"/>
              <a:t>How High Is Breakthrough?</a:t>
            </a:r>
          </a:p>
        </p:txBody>
      </p:sp>
      <p:sp>
        <p:nvSpPr>
          <p:cNvPr id="4" name="Content Placeholder 3">
            <a:extLst>
              <a:ext uri="{FF2B5EF4-FFF2-40B4-BE49-F238E27FC236}">
                <a16:creationId xmlns:a16="http://schemas.microsoft.com/office/drawing/2014/main" id="{8292D577-A241-B252-6974-6DAA63A5CDB0}"/>
              </a:ext>
            </a:extLst>
          </p:cNvPr>
          <p:cNvSpPr>
            <a:spLocks noGrp="1"/>
          </p:cNvSpPr>
          <p:nvPr>
            <p:ph sz="half" idx="2"/>
          </p:nvPr>
        </p:nvSpPr>
        <p:spPr/>
        <p:txBody>
          <a:bodyPr/>
          <a:lstStyle/>
          <a:p>
            <a:pPr marL="0" indent="0">
              <a:buNone/>
            </a:pPr>
            <a:r>
              <a:rPr lang="en-US" sz="2400" b="1" dirty="0"/>
              <a:t>What are some Breakthroughs </a:t>
            </a:r>
            <a:br>
              <a:rPr lang="en-US" sz="2400" b="1" dirty="0"/>
            </a:br>
            <a:r>
              <a:rPr lang="en-US" sz="2400" b="1" dirty="0"/>
              <a:t>you have seen in your lifetime?</a:t>
            </a:r>
          </a:p>
          <a:p>
            <a:pPr marL="0" indent="0">
              <a:buNone/>
            </a:pPr>
            <a:endParaRPr lang="en-US" sz="2400" b="1" dirty="0"/>
          </a:p>
          <a:p>
            <a:r>
              <a:rPr lang="en-US" altLang="en-US" sz="2400" dirty="0">
                <a:latin typeface="Arial" panose="020B0604020202020204" pitchFamily="34" charset="0"/>
              </a:rPr>
              <a:t>_____________________</a:t>
            </a:r>
          </a:p>
          <a:p>
            <a:r>
              <a:rPr lang="en-US" altLang="en-US" sz="2400" dirty="0">
                <a:latin typeface="Arial" panose="020B0604020202020204" pitchFamily="34" charset="0"/>
              </a:rPr>
              <a:t>_____________________</a:t>
            </a:r>
          </a:p>
          <a:p>
            <a:r>
              <a:rPr lang="en-US" altLang="en-US" sz="2400" dirty="0">
                <a:latin typeface="Arial" panose="020B0604020202020204" pitchFamily="34" charset="0"/>
              </a:rPr>
              <a:t>_____________________</a:t>
            </a:r>
          </a:p>
          <a:p>
            <a:r>
              <a:rPr lang="en-US" altLang="en-US" sz="2400" dirty="0">
                <a:latin typeface="Arial" panose="020B0604020202020204" pitchFamily="34" charset="0"/>
              </a:rPr>
              <a:t>_____________________</a:t>
            </a:r>
          </a:p>
          <a:p>
            <a:r>
              <a:rPr lang="en-US" altLang="en-US" sz="2400" dirty="0">
                <a:latin typeface="Arial" panose="020B0604020202020204" pitchFamily="34" charset="0"/>
              </a:rPr>
              <a:t>_____________________</a:t>
            </a:r>
            <a:endParaRPr lang="en-US" sz="2400" b="1" u="sng" dirty="0"/>
          </a:p>
          <a:p>
            <a:endParaRPr lang="en-US" dirty="0"/>
          </a:p>
        </p:txBody>
      </p:sp>
      <p:grpSp>
        <p:nvGrpSpPr>
          <p:cNvPr id="5" name="Group 4">
            <a:extLst>
              <a:ext uri="{FF2B5EF4-FFF2-40B4-BE49-F238E27FC236}">
                <a16:creationId xmlns:a16="http://schemas.microsoft.com/office/drawing/2014/main" id="{14F6F963-4817-6121-B903-614909DC6FE0}"/>
              </a:ext>
            </a:extLst>
          </p:cNvPr>
          <p:cNvGrpSpPr/>
          <p:nvPr/>
        </p:nvGrpSpPr>
        <p:grpSpPr>
          <a:xfrm>
            <a:off x="961102" y="302894"/>
            <a:ext cx="1229200" cy="290657"/>
            <a:chOff x="940249" y="315206"/>
            <a:chExt cx="1373841" cy="265062"/>
          </a:xfrm>
        </p:grpSpPr>
        <p:sp>
          <p:nvSpPr>
            <p:cNvPr id="6" name="AutoShape 9">
              <a:extLst>
                <a:ext uri="{FF2B5EF4-FFF2-40B4-BE49-F238E27FC236}">
                  <a16:creationId xmlns:a16="http://schemas.microsoft.com/office/drawing/2014/main" id="{7F5312DB-5197-4215-2375-C507F2A7BC6F}"/>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0EE102DE-0A61-6F4A-6CB9-A52DACBC1FF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F956D481-1DD0-C06A-BB3C-A3ACAF1D4390}"/>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0C901B72-9DC6-7852-A279-BCB5360FCF0B}"/>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7DF08E9F-134F-2497-70A8-76CDCAF7B1C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
        <p:nvSpPr>
          <p:cNvPr id="11" name="Rectangle 2">
            <a:extLst>
              <a:ext uri="{FF2B5EF4-FFF2-40B4-BE49-F238E27FC236}">
                <a16:creationId xmlns:a16="http://schemas.microsoft.com/office/drawing/2014/main" id="{F5D1D148-655A-47FB-6006-0B9BD153E081}"/>
              </a:ext>
            </a:extLst>
          </p:cNvPr>
          <p:cNvSpPr>
            <a:spLocks noChangeArrowheads="1"/>
          </p:cNvSpPr>
          <p:nvPr/>
        </p:nvSpPr>
        <p:spPr bwMode="auto">
          <a:xfrm>
            <a:off x="1203653" y="4852809"/>
            <a:ext cx="4083050"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eaLnBrk="1" hangingPunct="1">
              <a:spcBef>
                <a:spcPct val="20000"/>
              </a:spcBef>
            </a:pPr>
            <a:r>
              <a:rPr lang="ja-JP" altLang="en-US" sz="1600">
                <a:solidFill>
                  <a:schemeClr val="tx1"/>
                </a:solidFill>
                <a:latin typeface="Arial" panose="020B0604020202020204" pitchFamily="34" charset="0"/>
              </a:rPr>
              <a:t>“</a:t>
            </a:r>
            <a:r>
              <a:rPr lang="en-US" altLang="ja-JP" sz="1600">
                <a:solidFill>
                  <a:schemeClr val="tx1"/>
                </a:solidFill>
                <a:latin typeface="Arial" panose="020B0604020202020204" pitchFamily="34" charset="0"/>
              </a:rPr>
              <a:t>I believe this nation should challenge itself to put a man on the moon, and return him safely to earth by the end of this decade.</a:t>
            </a:r>
            <a:r>
              <a:rPr lang="ja-JP" altLang="en-US" sz="1600">
                <a:solidFill>
                  <a:schemeClr val="tx1"/>
                </a:solidFill>
                <a:latin typeface="Arial" panose="020B0604020202020204" pitchFamily="34" charset="0"/>
              </a:rPr>
              <a:t>”</a:t>
            </a:r>
            <a:endParaRPr lang="en-US" altLang="ja-JP" sz="1600">
              <a:solidFill>
                <a:schemeClr val="tx1"/>
              </a:solidFill>
              <a:latin typeface="Arial" panose="020B0604020202020204" pitchFamily="34" charset="0"/>
            </a:endParaRPr>
          </a:p>
          <a:p>
            <a:pPr eaLnBrk="1" hangingPunct="1">
              <a:spcBef>
                <a:spcPct val="20000"/>
              </a:spcBef>
            </a:pPr>
            <a:r>
              <a:rPr lang="en-US" altLang="en-US" sz="1600">
                <a:solidFill>
                  <a:schemeClr val="tx1"/>
                </a:solidFill>
                <a:latin typeface="Arial" panose="020B0604020202020204" pitchFamily="34" charset="0"/>
              </a:rPr>
              <a:t>	- John F. Kennedy, 1961</a:t>
            </a:r>
          </a:p>
        </p:txBody>
      </p:sp>
      <p:pic>
        <p:nvPicPr>
          <p:cNvPr id="12" name="Picture 3">
            <a:extLst>
              <a:ext uri="{FF2B5EF4-FFF2-40B4-BE49-F238E27FC236}">
                <a16:creationId xmlns:a16="http://schemas.microsoft.com/office/drawing/2014/main" id="{815D5149-5141-91F0-73D1-6881ED1BCC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99"/>
          <a:stretch>
            <a:fillRect/>
          </a:stretch>
        </p:blipFill>
        <p:spPr bwMode="auto">
          <a:xfrm>
            <a:off x="1241753" y="1777822"/>
            <a:ext cx="3810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649863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EBF7-D94C-08B8-71F1-2E7EF2AB1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56989-52FB-DA40-13EA-AF41A1B9BE54}"/>
              </a:ext>
            </a:extLst>
          </p:cNvPr>
          <p:cNvSpPr>
            <a:spLocks noGrp="1"/>
          </p:cNvSpPr>
          <p:nvPr>
            <p:ph type="title"/>
          </p:nvPr>
        </p:nvSpPr>
        <p:spPr/>
        <p:txBody>
          <a:bodyPr>
            <a:noAutofit/>
          </a:bodyPr>
          <a:lstStyle/>
          <a:p>
            <a:r>
              <a:rPr lang="en-US" sz="3600" dirty="0"/>
              <a:t>Breakthrough Examples</a:t>
            </a:r>
          </a:p>
        </p:txBody>
      </p:sp>
      <p:grpSp>
        <p:nvGrpSpPr>
          <p:cNvPr id="20" name="Group 19">
            <a:extLst>
              <a:ext uri="{FF2B5EF4-FFF2-40B4-BE49-F238E27FC236}">
                <a16:creationId xmlns:a16="http://schemas.microsoft.com/office/drawing/2014/main" id="{30428FFB-8B72-EEC0-64FB-7718E448E4A7}"/>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5E8EAE9C-9282-EB0A-4FC8-C8027D3A14E6}"/>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D295CC1A-4E32-F5CE-BE59-B8860D7309E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D2E559F9-2CE0-EBC7-F4D8-91574027047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7251FA10-3F80-3CEF-B8D7-FA0B60661B8C}"/>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6277BC35-BFFE-E53D-5164-8788DD746FD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
        <p:nvSpPr>
          <p:cNvPr id="3" name="Rectangle 4">
            <a:extLst>
              <a:ext uri="{FF2B5EF4-FFF2-40B4-BE49-F238E27FC236}">
                <a16:creationId xmlns:a16="http://schemas.microsoft.com/office/drawing/2014/main" id="{3EC8DFA2-92C1-17E5-F5D9-BF6A781BC1B0}"/>
              </a:ext>
            </a:extLst>
          </p:cNvPr>
          <p:cNvSpPr>
            <a:spLocks noChangeArrowheads="1"/>
          </p:cNvSpPr>
          <p:nvPr/>
        </p:nvSpPr>
        <p:spPr bwMode="auto">
          <a:xfrm>
            <a:off x="5789789" y="1893888"/>
            <a:ext cx="4170362" cy="312738"/>
          </a:xfrm>
          <a:prstGeom prst="rect">
            <a:avLst/>
          </a:prstGeom>
          <a:solidFill>
            <a:schemeClr val="accent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Financial</a:t>
            </a:r>
          </a:p>
        </p:txBody>
      </p:sp>
      <p:sp>
        <p:nvSpPr>
          <p:cNvPr id="4" name="Rectangle 5">
            <a:extLst>
              <a:ext uri="{FF2B5EF4-FFF2-40B4-BE49-F238E27FC236}">
                <a16:creationId xmlns:a16="http://schemas.microsoft.com/office/drawing/2014/main" id="{E0CB86CF-0040-7BC9-2D53-371107B2F049}"/>
              </a:ext>
            </a:extLst>
          </p:cNvPr>
          <p:cNvSpPr>
            <a:spLocks noChangeArrowheads="1"/>
          </p:cNvSpPr>
          <p:nvPr/>
        </p:nvSpPr>
        <p:spPr bwMode="auto">
          <a:xfrm>
            <a:off x="5791376" y="2219326"/>
            <a:ext cx="581489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Achieve upper quartile financial performance as compared to peer companies from $X EBITA to $Y EBITA by FY20XX </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Achieve RONA from X% to Y% by 11/30/XX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Generate cash flow from 0.7% to 1.2% of earnings by FY20XX</a:t>
            </a:r>
          </a:p>
        </p:txBody>
      </p:sp>
      <p:sp>
        <p:nvSpPr>
          <p:cNvPr id="5" name="Rectangle 6">
            <a:extLst>
              <a:ext uri="{FF2B5EF4-FFF2-40B4-BE49-F238E27FC236}">
                <a16:creationId xmlns:a16="http://schemas.microsoft.com/office/drawing/2014/main" id="{243190A1-75D3-99CB-CADF-3338A77B1218}"/>
              </a:ext>
            </a:extLst>
          </p:cNvPr>
          <p:cNvSpPr>
            <a:spLocks noChangeArrowheads="1"/>
          </p:cNvSpPr>
          <p:nvPr/>
        </p:nvSpPr>
        <p:spPr bwMode="auto">
          <a:xfrm>
            <a:off x="5751689" y="3487559"/>
            <a:ext cx="4170363" cy="312738"/>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dirty="0">
                <a:solidFill>
                  <a:schemeClr val="tx1"/>
                </a:solidFill>
                <a:latin typeface="Arial" panose="020B0604020202020204" pitchFamily="34" charset="0"/>
              </a:rPr>
              <a:t>Strategic/Market Growth</a:t>
            </a:r>
          </a:p>
        </p:txBody>
      </p:sp>
      <p:sp>
        <p:nvSpPr>
          <p:cNvPr id="6" name="Rectangle 7">
            <a:extLst>
              <a:ext uri="{FF2B5EF4-FFF2-40B4-BE49-F238E27FC236}">
                <a16:creationId xmlns:a16="http://schemas.microsoft.com/office/drawing/2014/main" id="{79F8D56C-438D-1F64-73C7-780928DAE8D5}"/>
              </a:ext>
            </a:extLst>
          </p:cNvPr>
          <p:cNvSpPr>
            <a:spLocks noChangeArrowheads="1"/>
          </p:cNvSpPr>
          <p:nvPr/>
        </p:nvSpPr>
        <p:spPr bwMode="auto">
          <a:xfrm>
            <a:off x="5732639" y="3843159"/>
            <a:ext cx="5978636"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revenue from Systems Sales from $X to $Y by 9/30/XX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Achieve market share in Motion Controls Market from 28% to 60% by FY20XX</a:t>
            </a:r>
          </a:p>
        </p:txBody>
      </p:sp>
      <p:sp>
        <p:nvSpPr>
          <p:cNvPr id="7" name="Rectangle 8">
            <a:extLst>
              <a:ext uri="{FF2B5EF4-FFF2-40B4-BE49-F238E27FC236}">
                <a16:creationId xmlns:a16="http://schemas.microsoft.com/office/drawing/2014/main" id="{434C57A9-22E0-3935-181B-18B9426AE6FD}"/>
              </a:ext>
            </a:extLst>
          </p:cNvPr>
          <p:cNvSpPr>
            <a:spLocks noChangeArrowheads="1"/>
          </p:cNvSpPr>
          <p:nvPr/>
        </p:nvSpPr>
        <p:spPr bwMode="auto">
          <a:xfrm>
            <a:off x="5792964" y="5271909"/>
            <a:ext cx="5804124"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Reduce internal quality rejects from 85,000 parts per million to 2,000 parts per million by 10/31/XX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Customer Satisfaction index from 60 to 98 by FY20XX</a:t>
            </a:r>
          </a:p>
        </p:txBody>
      </p:sp>
      <p:sp>
        <p:nvSpPr>
          <p:cNvPr id="8" name="Rectangle 9">
            <a:extLst>
              <a:ext uri="{FF2B5EF4-FFF2-40B4-BE49-F238E27FC236}">
                <a16:creationId xmlns:a16="http://schemas.microsoft.com/office/drawing/2014/main" id="{75930409-1FD7-6DF7-CD33-4259EBC0472D}"/>
              </a:ext>
            </a:extLst>
          </p:cNvPr>
          <p:cNvSpPr>
            <a:spLocks noChangeArrowheads="1"/>
          </p:cNvSpPr>
          <p:nvPr/>
        </p:nvSpPr>
        <p:spPr bwMode="auto">
          <a:xfrm>
            <a:off x="5789789" y="4943297"/>
            <a:ext cx="4170363" cy="312737"/>
          </a:xfrm>
          <a:prstGeom prst="rect">
            <a:avLst/>
          </a:prstGeom>
          <a:solidFill>
            <a:srgbClr val="FFFF00"/>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en-US" altLang="en-US" sz="1800" dirty="0">
                <a:solidFill>
                  <a:schemeClr val="tx1"/>
                </a:solidFill>
                <a:latin typeface="Arial" panose="020B0604020202020204" pitchFamily="34" charset="0"/>
              </a:rPr>
              <a:t>Operational</a:t>
            </a:r>
          </a:p>
        </p:txBody>
      </p:sp>
      <p:sp>
        <p:nvSpPr>
          <p:cNvPr id="9" name="Oval 10">
            <a:extLst>
              <a:ext uri="{FF2B5EF4-FFF2-40B4-BE49-F238E27FC236}">
                <a16:creationId xmlns:a16="http://schemas.microsoft.com/office/drawing/2014/main" id="{4CB4F7AE-0AD7-1538-26FF-0FA1E6CCCD3D}"/>
              </a:ext>
            </a:extLst>
          </p:cNvPr>
          <p:cNvSpPr>
            <a:spLocks noChangeArrowheads="1"/>
          </p:cNvSpPr>
          <p:nvPr/>
        </p:nvSpPr>
        <p:spPr bwMode="auto">
          <a:xfrm>
            <a:off x="1629002" y="3022600"/>
            <a:ext cx="3340100" cy="1066800"/>
          </a:xfrm>
          <a:prstGeom prst="ellipse">
            <a:avLst/>
          </a:prstGeom>
          <a:solidFill>
            <a:schemeClr val="accent4"/>
          </a:solidFill>
          <a:ln w="12700" cap="sq" algn="ctr">
            <a:solidFill>
              <a:schemeClr val="tx1"/>
            </a:solidFill>
            <a:round/>
            <a:headEnd/>
            <a:tailEnd/>
          </a:ln>
          <a:effec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spcBef>
                <a:spcPct val="20000"/>
              </a:spcBef>
            </a:pPr>
            <a:r>
              <a:rPr lang="en-US" altLang="en-US" sz="1800" dirty="0">
                <a:effectLst>
                  <a:outerShdw blurRad="38100" dist="38100" dir="2700000" algn="tl">
                    <a:srgbClr val="000000"/>
                  </a:outerShdw>
                </a:effectLst>
                <a:latin typeface="Arial" panose="020B0604020202020204" pitchFamily="34" charset="0"/>
              </a:rPr>
              <a:t>Strategic and Growth</a:t>
            </a:r>
            <a:br>
              <a:rPr lang="en-US" altLang="en-US" sz="1800" dirty="0">
                <a:effectLst>
                  <a:outerShdw blurRad="38100" dist="38100" dir="2700000" algn="tl">
                    <a:srgbClr val="000000"/>
                  </a:outerShdw>
                </a:effectLst>
                <a:latin typeface="Arial" panose="020B0604020202020204" pitchFamily="34" charset="0"/>
              </a:rPr>
            </a:br>
            <a:r>
              <a:rPr lang="en-US" altLang="en-US" sz="1800" dirty="0">
                <a:effectLst>
                  <a:outerShdw blurRad="38100" dist="38100" dir="2700000" algn="tl">
                    <a:srgbClr val="000000"/>
                  </a:outerShdw>
                </a:effectLst>
                <a:latin typeface="Arial" panose="020B0604020202020204" pitchFamily="34" charset="0"/>
              </a:rPr>
              <a:t>Examples</a:t>
            </a:r>
          </a:p>
        </p:txBody>
      </p:sp>
      <p:cxnSp>
        <p:nvCxnSpPr>
          <p:cNvPr id="10" name="AutoShape 11">
            <a:extLst>
              <a:ext uri="{FF2B5EF4-FFF2-40B4-BE49-F238E27FC236}">
                <a16:creationId xmlns:a16="http://schemas.microsoft.com/office/drawing/2014/main" id="{10A674D7-8CC1-DCEA-C6F5-BA824465943D}"/>
              </a:ext>
            </a:extLst>
          </p:cNvPr>
          <p:cNvCxnSpPr>
            <a:cxnSpLocks noChangeShapeType="1"/>
            <a:stCxn id="9" idx="6"/>
            <a:endCxn id="3" idx="1"/>
          </p:cNvCxnSpPr>
          <p:nvPr/>
        </p:nvCxnSpPr>
        <p:spPr bwMode="auto">
          <a:xfrm flipV="1">
            <a:off x="4969102" y="2050257"/>
            <a:ext cx="820687" cy="1505743"/>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5AE77B69-6553-50BD-E421-DDAC68A33074}"/>
              </a:ext>
            </a:extLst>
          </p:cNvPr>
          <p:cNvCxnSpPr>
            <a:cxnSpLocks noChangeShapeType="1"/>
            <a:stCxn id="9" idx="6"/>
            <a:endCxn id="8" idx="1"/>
          </p:cNvCxnSpPr>
          <p:nvPr/>
        </p:nvCxnSpPr>
        <p:spPr bwMode="auto">
          <a:xfrm>
            <a:off x="4969102" y="3556000"/>
            <a:ext cx="820687" cy="1543666"/>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7" name="AutoShape 13">
            <a:extLst>
              <a:ext uri="{FF2B5EF4-FFF2-40B4-BE49-F238E27FC236}">
                <a16:creationId xmlns:a16="http://schemas.microsoft.com/office/drawing/2014/main" id="{148CCB39-C892-DA05-44D0-C838A891C975}"/>
              </a:ext>
            </a:extLst>
          </p:cNvPr>
          <p:cNvCxnSpPr>
            <a:cxnSpLocks noChangeShapeType="1"/>
            <a:stCxn id="9" idx="6"/>
            <a:endCxn id="5" idx="1"/>
          </p:cNvCxnSpPr>
          <p:nvPr/>
        </p:nvCxnSpPr>
        <p:spPr bwMode="auto">
          <a:xfrm>
            <a:off x="4969102" y="3556000"/>
            <a:ext cx="782587" cy="87928"/>
          </a:xfrm>
          <a:prstGeom prst="bentConnector3">
            <a:avLst>
              <a:gd name="adj1" fmla="val 52434"/>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1512931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61D08-661F-6F99-53D4-375DC9438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DA5A8-3C9A-E75B-FE6E-24E47B580823}"/>
              </a:ext>
            </a:extLst>
          </p:cNvPr>
          <p:cNvSpPr>
            <a:spLocks noGrp="1"/>
          </p:cNvSpPr>
          <p:nvPr>
            <p:ph type="title"/>
          </p:nvPr>
        </p:nvSpPr>
        <p:spPr/>
        <p:txBody>
          <a:bodyPr>
            <a:noAutofit/>
          </a:bodyPr>
          <a:lstStyle/>
          <a:p>
            <a:r>
              <a:rPr lang="en-US" sz="3600" dirty="0"/>
              <a:t>Breakthrough Examples</a:t>
            </a:r>
          </a:p>
        </p:txBody>
      </p:sp>
      <p:grpSp>
        <p:nvGrpSpPr>
          <p:cNvPr id="20" name="Group 19">
            <a:extLst>
              <a:ext uri="{FF2B5EF4-FFF2-40B4-BE49-F238E27FC236}">
                <a16:creationId xmlns:a16="http://schemas.microsoft.com/office/drawing/2014/main" id="{8976D5BD-7C6D-8275-C571-69A7585BC747}"/>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1BBC0A78-336A-DEB2-5C69-C1AC54BDEF40}"/>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0B224991-16B0-C00F-BAC8-302B9395F28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76F55681-C954-898B-7D80-FC50696B5BD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48FBD2F1-9562-E11A-CE76-E43F27D7B1FA}"/>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9F705650-AE87-E891-D890-4F905CE78BFA}"/>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
        <p:nvSpPr>
          <p:cNvPr id="3" name="Rectangle 4">
            <a:extLst>
              <a:ext uri="{FF2B5EF4-FFF2-40B4-BE49-F238E27FC236}">
                <a16:creationId xmlns:a16="http://schemas.microsoft.com/office/drawing/2014/main" id="{41B31E73-3D23-A6F5-F3CE-F62670D7FB5E}"/>
              </a:ext>
            </a:extLst>
          </p:cNvPr>
          <p:cNvSpPr>
            <a:spLocks noChangeArrowheads="1"/>
          </p:cNvSpPr>
          <p:nvPr/>
        </p:nvSpPr>
        <p:spPr bwMode="auto">
          <a:xfrm>
            <a:off x="5788202" y="2368583"/>
            <a:ext cx="4170362" cy="312738"/>
          </a:xfrm>
          <a:prstGeom prst="rect">
            <a:avLst/>
          </a:prstGeom>
          <a:solidFill>
            <a:schemeClr val="accent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Financial</a:t>
            </a:r>
          </a:p>
        </p:txBody>
      </p:sp>
      <p:sp>
        <p:nvSpPr>
          <p:cNvPr id="4" name="Rectangle 5">
            <a:extLst>
              <a:ext uri="{FF2B5EF4-FFF2-40B4-BE49-F238E27FC236}">
                <a16:creationId xmlns:a16="http://schemas.microsoft.com/office/drawing/2014/main" id="{35C86444-059B-F099-C039-D83F683A6525}"/>
              </a:ext>
            </a:extLst>
          </p:cNvPr>
          <p:cNvSpPr>
            <a:spLocks noChangeArrowheads="1"/>
          </p:cNvSpPr>
          <p:nvPr/>
        </p:nvSpPr>
        <p:spPr bwMode="auto">
          <a:xfrm>
            <a:off x="5789789" y="2694021"/>
            <a:ext cx="581489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Increase inventory turns from 5 to 15 by 11/30/XX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Increase Operating Profit from 15% to 30% by FY20XX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Increase revenue from $100M to $175M by FY20XX</a:t>
            </a:r>
          </a:p>
        </p:txBody>
      </p:sp>
      <p:sp>
        <p:nvSpPr>
          <p:cNvPr id="7" name="Rectangle 8">
            <a:extLst>
              <a:ext uri="{FF2B5EF4-FFF2-40B4-BE49-F238E27FC236}">
                <a16:creationId xmlns:a16="http://schemas.microsoft.com/office/drawing/2014/main" id="{D3AA197B-4429-6296-A222-ED9A93307A44}"/>
              </a:ext>
            </a:extLst>
          </p:cNvPr>
          <p:cNvSpPr>
            <a:spLocks noChangeArrowheads="1"/>
          </p:cNvSpPr>
          <p:nvPr/>
        </p:nvSpPr>
        <p:spPr bwMode="auto">
          <a:xfrm>
            <a:off x="5802149" y="4492591"/>
            <a:ext cx="5804124"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OTD from 81% to 98% by 9/30/XX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new product introduction from 11 months to 2 months by FY20XX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Reduce cost of goods manufactured from $X to $Y by FY20XX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Reduce Employee Accident Rate from 30 per year to 2 per year by 10/31/XX</a:t>
            </a:r>
          </a:p>
        </p:txBody>
      </p:sp>
      <p:sp>
        <p:nvSpPr>
          <p:cNvPr id="8" name="Rectangle 9">
            <a:extLst>
              <a:ext uri="{FF2B5EF4-FFF2-40B4-BE49-F238E27FC236}">
                <a16:creationId xmlns:a16="http://schemas.microsoft.com/office/drawing/2014/main" id="{F5667632-E9BD-3B96-7162-532123F960A2}"/>
              </a:ext>
            </a:extLst>
          </p:cNvPr>
          <p:cNvSpPr>
            <a:spLocks noChangeArrowheads="1"/>
          </p:cNvSpPr>
          <p:nvPr/>
        </p:nvSpPr>
        <p:spPr bwMode="auto">
          <a:xfrm>
            <a:off x="5798974" y="4163979"/>
            <a:ext cx="4170363" cy="312737"/>
          </a:xfrm>
          <a:prstGeom prst="rect">
            <a:avLst/>
          </a:prstGeom>
          <a:solidFill>
            <a:srgbClr val="FFFF00"/>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en-US" altLang="en-US" sz="1800" dirty="0">
                <a:solidFill>
                  <a:schemeClr val="tx1"/>
                </a:solidFill>
                <a:latin typeface="Arial" panose="020B0604020202020204" pitchFamily="34" charset="0"/>
              </a:rPr>
              <a:t>Operational</a:t>
            </a:r>
          </a:p>
        </p:txBody>
      </p:sp>
      <p:sp>
        <p:nvSpPr>
          <p:cNvPr id="9" name="Oval 10">
            <a:extLst>
              <a:ext uri="{FF2B5EF4-FFF2-40B4-BE49-F238E27FC236}">
                <a16:creationId xmlns:a16="http://schemas.microsoft.com/office/drawing/2014/main" id="{59C36041-3405-0100-1967-324DCBFC60F4}"/>
              </a:ext>
            </a:extLst>
          </p:cNvPr>
          <p:cNvSpPr>
            <a:spLocks noChangeArrowheads="1"/>
          </p:cNvSpPr>
          <p:nvPr/>
        </p:nvSpPr>
        <p:spPr bwMode="auto">
          <a:xfrm>
            <a:off x="1629002" y="3022600"/>
            <a:ext cx="3340100" cy="1066800"/>
          </a:xfrm>
          <a:prstGeom prst="ellipse">
            <a:avLst/>
          </a:prstGeom>
          <a:solidFill>
            <a:schemeClr val="accent4"/>
          </a:solidFill>
          <a:ln w="12700" cap="sq" algn="ctr">
            <a:solidFill>
              <a:schemeClr val="tx1"/>
            </a:solidFill>
            <a:round/>
            <a:headEnd/>
            <a:tailEnd/>
          </a:ln>
          <a:effec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spcBef>
                <a:spcPct val="20000"/>
              </a:spcBef>
            </a:pPr>
            <a:r>
              <a:rPr lang="en-US" altLang="en-US" sz="1800" dirty="0">
                <a:effectLst>
                  <a:outerShdw blurRad="38100" dist="38100" dir="2700000" algn="tl">
                    <a:srgbClr val="000000"/>
                  </a:outerShdw>
                </a:effectLst>
                <a:latin typeface="Arial" panose="020B0604020202020204" pitchFamily="34" charset="0"/>
              </a:rPr>
              <a:t>Business Fundamental</a:t>
            </a:r>
            <a:br>
              <a:rPr lang="en-US" altLang="en-US" sz="1800" dirty="0">
                <a:effectLst>
                  <a:outerShdw blurRad="38100" dist="38100" dir="2700000" algn="tl">
                    <a:srgbClr val="000000"/>
                  </a:outerShdw>
                </a:effectLst>
                <a:latin typeface="Arial" panose="020B0604020202020204" pitchFamily="34" charset="0"/>
              </a:rPr>
            </a:br>
            <a:r>
              <a:rPr lang="en-US" altLang="en-US" sz="1800" dirty="0">
                <a:effectLst>
                  <a:outerShdw blurRad="38100" dist="38100" dir="2700000" algn="tl">
                    <a:srgbClr val="000000"/>
                  </a:outerShdw>
                </a:effectLst>
                <a:latin typeface="Arial" panose="020B0604020202020204" pitchFamily="34" charset="0"/>
              </a:rPr>
              <a:t>Examples</a:t>
            </a:r>
          </a:p>
        </p:txBody>
      </p:sp>
      <p:cxnSp>
        <p:nvCxnSpPr>
          <p:cNvPr id="10" name="AutoShape 11">
            <a:extLst>
              <a:ext uri="{FF2B5EF4-FFF2-40B4-BE49-F238E27FC236}">
                <a16:creationId xmlns:a16="http://schemas.microsoft.com/office/drawing/2014/main" id="{2221A358-1A9B-33CC-79CA-F8BECB0B7A08}"/>
              </a:ext>
            </a:extLst>
          </p:cNvPr>
          <p:cNvCxnSpPr>
            <a:cxnSpLocks noChangeShapeType="1"/>
            <a:stCxn id="9" idx="6"/>
            <a:endCxn id="3" idx="1"/>
          </p:cNvCxnSpPr>
          <p:nvPr/>
        </p:nvCxnSpPr>
        <p:spPr bwMode="auto">
          <a:xfrm flipV="1">
            <a:off x="4969102" y="2524952"/>
            <a:ext cx="819100" cy="1031048"/>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DF322F6B-732E-833B-468A-120232133EA3}"/>
              </a:ext>
            </a:extLst>
          </p:cNvPr>
          <p:cNvCxnSpPr>
            <a:cxnSpLocks noChangeShapeType="1"/>
            <a:stCxn id="9" idx="6"/>
            <a:endCxn id="8" idx="1"/>
          </p:cNvCxnSpPr>
          <p:nvPr/>
        </p:nvCxnSpPr>
        <p:spPr bwMode="auto">
          <a:xfrm>
            <a:off x="4969102" y="3556000"/>
            <a:ext cx="829872" cy="764348"/>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Tree>
    <p:custDataLst>
      <p:tags r:id="rId1"/>
    </p:custDataLst>
    <p:extLst>
      <p:ext uri="{BB962C8B-B14F-4D97-AF65-F5344CB8AC3E}">
        <p14:creationId xmlns:p14="http://schemas.microsoft.com/office/powerpoint/2010/main" val="3850899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72E1A-769D-2D33-B148-C6B0942EF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1A16B-7AC8-F0A6-2250-5102B7D62110}"/>
              </a:ext>
            </a:extLst>
          </p:cNvPr>
          <p:cNvSpPr>
            <a:spLocks noGrp="1"/>
          </p:cNvSpPr>
          <p:nvPr>
            <p:ph type="title"/>
          </p:nvPr>
        </p:nvSpPr>
        <p:spPr/>
        <p:txBody>
          <a:bodyPr>
            <a:noAutofit/>
          </a:bodyPr>
          <a:lstStyle/>
          <a:p>
            <a:r>
              <a:rPr lang="en-US" sz="3200" dirty="0"/>
              <a:t>Breakthrough Objectives… Your personal challenge!</a:t>
            </a:r>
          </a:p>
        </p:txBody>
      </p:sp>
      <p:grpSp>
        <p:nvGrpSpPr>
          <p:cNvPr id="20" name="Group 19">
            <a:extLst>
              <a:ext uri="{FF2B5EF4-FFF2-40B4-BE49-F238E27FC236}">
                <a16:creationId xmlns:a16="http://schemas.microsoft.com/office/drawing/2014/main" id="{A7754161-AF23-69FD-DA5A-F0A680F02AF0}"/>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01C58B98-28E8-16D7-8950-E27B73C10E2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454B1874-4477-8304-6F1F-6B1C1E3C946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06E81E02-864B-B890-BED7-CF3664B0805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01D8F4BB-7548-8CB7-0832-025410A8540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E8B3361D-B05D-E0C3-3A77-1CC05746C51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pic>
        <p:nvPicPr>
          <p:cNvPr id="5" name="Picture 26">
            <a:extLst>
              <a:ext uri="{FF2B5EF4-FFF2-40B4-BE49-F238E27FC236}">
                <a16:creationId xmlns:a16="http://schemas.microsoft.com/office/drawing/2014/main" id="{7A6F2E85-617F-3FD2-4796-BEB327843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9502" y="1889413"/>
            <a:ext cx="6315075"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AB478354-521F-D06B-C46F-8ED7B5DE01A3}"/>
              </a:ext>
            </a:extLst>
          </p:cNvPr>
          <p:cNvSpPr>
            <a:spLocks noChangeArrowheads="1"/>
          </p:cNvSpPr>
          <p:nvPr/>
        </p:nvSpPr>
        <p:spPr bwMode="auto">
          <a:xfrm>
            <a:off x="2209689" y="2235488"/>
            <a:ext cx="8413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r>
              <a:rPr lang="en-US" altLang="en-US" sz="1600" dirty="0">
                <a:solidFill>
                  <a:srgbClr val="000000"/>
                </a:solidFill>
                <a:latin typeface="Arial" panose="020B0604020202020204" pitchFamily="34" charset="0"/>
              </a:rPr>
              <a:t>Top Mgt.</a:t>
            </a:r>
            <a:endParaRPr lang="en-US" altLang="en-US" sz="1600" b="0" dirty="0">
              <a:solidFill>
                <a:schemeClr val="tx1"/>
              </a:solidFill>
              <a:latin typeface="Times New Roman" panose="02020603050405020304" pitchFamily="18" charset="0"/>
            </a:endParaRPr>
          </a:p>
        </p:txBody>
      </p:sp>
      <p:sp>
        <p:nvSpPr>
          <p:cNvPr id="12" name="Rectangle 4">
            <a:extLst>
              <a:ext uri="{FF2B5EF4-FFF2-40B4-BE49-F238E27FC236}">
                <a16:creationId xmlns:a16="http://schemas.microsoft.com/office/drawing/2014/main" id="{1FD9A3E3-F0B1-2592-B1D9-43BF7BB54B89}"/>
              </a:ext>
            </a:extLst>
          </p:cNvPr>
          <p:cNvSpPr>
            <a:spLocks noChangeArrowheads="1"/>
          </p:cNvSpPr>
          <p:nvPr/>
        </p:nvSpPr>
        <p:spPr bwMode="auto">
          <a:xfrm>
            <a:off x="1954102" y="3035588"/>
            <a:ext cx="113188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r>
              <a:rPr lang="en-US" altLang="en-US" sz="1600">
                <a:solidFill>
                  <a:srgbClr val="000000"/>
                </a:solidFill>
                <a:latin typeface="Arial" panose="020B0604020202020204" pitchFamily="34" charset="0"/>
              </a:rPr>
              <a:t>Middle Mgt.</a:t>
            </a:r>
            <a:endParaRPr lang="en-US" altLang="en-US" sz="1600" b="0">
              <a:solidFill>
                <a:schemeClr val="tx1"/>
              </a:solidFill>
              <a:latin typeface="Times New Roman" panose="02020603050405020304" pitchFamily="18" charset="0"/>
            </a:endParaRPr>
          </a:p>
        </p:txBody>
      </p:sp>
      <p:sp>
        <p:nvSpPr>
          <p:cNvPr id="13" name="Rectangle 6">
            <a:extLst>
              <a:ext uri="{FF2B5EF4-FFF2-40B4-BE49-F238E27FC236}">
                <a16:creationId xmlns:a16="http://schemas.microsoft.com/office/drawing/2014/main" id="{FB6D9E65-01D7-E9E8-BBBE-0ACE659219BE}"/>
              </a:ext>
            </a:extLst>
          </p:cNvPr>
          <p:cNvSpPr>
            <a:spLocks noChangeArrowheads="1"/>
          </p:cNvSpPr>
          <p:nvPr/>
        </p:nvSpPr>
        <p:spPr bwMode="auto">
          <a:xfrm>
            <a:off x="2117614" y="4996151"/>
            <a:ext cx="9937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r>
              <a:rPr lang="en-US" altLang="en-US" sz="1600">
                <a:solidFill>
                  <a:srgbClr val="000000"/>
                </a:solidFill>
                <a:latin typeface="Arial" panose="020B0604020202020204" pitchFamily="34" charset="0"/>
              </a:rPr>
              <a:t>Front Line</a:t>
            </a:r>
            <a:br>
              <a:rPr lang="en-US" altLang="en-US" sz="1600">
                <a:solidFill>
                  <a:srgbClr val="000000"/>
                </a:solidFill>
                <a:latin typeface="Arial" panose="020B0604020202020204" pitchFamily="34" charset="0"/>
              </a:rPr>
            </a:br>
            <a:r>
              <a:rPr lang="en-US" altLang="en-US" sz="1600">
                <a:solidFill>
                  <a:srgbClr val="000000"/>
                </a:solidFill>
                <a:latin typeface="Arial" panose="020B0604020202020204" pitchFamily="34" charset="0"/>
              </a:rPr>
              <a:t>Associate</a:t>
            </a:r>
            <a:endParaRPr lang="en-US" altLang="en-US" sz="1600" b="0">
              <a:solidFill>
                <a:schemeClr val="tx1"/>
              </a:solidFill>
              <a:latin typeface="Times New Roman" panose="02020603050405020304" pitchFamily="18" charset="0"/>
            </a:endParaRPr>
          </a:p>
        </p:txBody>
      </p:sp>
      <p:sp>
        <p:nvSpPr>
          <p:cNvPr id="14" name="Rectangle 7">
            <a:extLst>
              <a:ext uri="{FF2B5EF4-FFF2-40B4-BE49-F238E27FC236}">
                <a16:creationId xmlns:a16="http://schemas.microsoft.com/office/drawing/2014/main" id="{9C9BE99C-BCDF-3A06-A655-520FCE64975E}"/>
              </a:ext>
            </a:extLst>
          </p:cNvPr>
          <p:cNvSpPr>
            <a:spLocks noChangeArrowheads="1"/>
          </p:cNvSpPr>
          <p:nvPr/>
        </p:nvSpPr>
        <p:spPr bwMode="auto">
          <a:xfrm>
            <a:off x="3252677" y="1903701"/>
            <a:ext cx="6308725" cy="36750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5" name="Rectangle 8">
            <a:extLst>
              <a:ext uri="{FF2B5EF4-FFF2-40B4-BE49-F238E27FC236}">
                <a16:creationId xmlns:a16="http://schemas.microsoft.com/office/drawing/2014/main" id="{6763D1CF-06D7-9ECD-C3D1-35281F181AE1}"/>
              </a:ext>
            </a:extLst>
          </p:cNvPr>
          <p:cNvSpPr>
            <a:spLocks noChangeArrowheads="1"/>
          </p:cNvSpPr>
          <p:nvPr/>
        </p:nvSpPr>
        <p:spPr bwMode="auto">
          <a:xfrm>
            <a:off x="3644789" y="2208501"/>
            <a:ext cx="1330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r>
              <a:rPr lang="en-US" altLang="en-US" sz="1600">
                <a:solidFill>
                  <a:srgbClr val="000000"/>
                </a:solidFill>
                <a:latin typeface="Arial" panose="020B0604020202020204" pitchFamily="34" charset="0"/>
              </a:rPr>
              <a:t>Breakthrough</a:t>
            </a:r>
            <a:endParaRPr lang="en-US" altLang="en-US" sz="1600" b="0">
              <a:solidFill>
                <a:schemeClr val="tx1"/>
              </a:solidFill>
              <a:latin typeface="Times New Roman" panose="02020603050405020304" pitchFamily="18" charset="0"/>
            </a:endParaRPr>
          </a:p>
        </p:txBody>
      </p:sp>
      <p:sp>
        <p:nvSpPr>
          <p:cNvPr id="16" name="Rectangle 9">
            <a:extLst>
              <a:ext uri="{FF2B5EF4-FFF2-40B4-BE49-F238E27FC236}">
                <a16:creationId xmlns:a16="http://schemas.microsoft.com/office/drawing/2014/main" id="{26C24F07-1B60-848A-A7A1-3F5E8DE7B39D}"/>
              </a:ext>
            </a:extLst>
          </p:cNvPr>
          <p:cNvSpPr>
            <a:spLocks noChangeArrowheads="1"/>
          </p:cNvSpPr>
          <p:nvPr/>
        </p:nvSpPr>
        <p:spPr bwMode="auto">
          <a:xfrm>
            <a:off x="6835664" y="4575463"/>
            <a:ext cx="13017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r>
              <a:rPr lang="en-US" altLang="en-US" sz="1600">
                <a:solidFill>
                  <a:srgbClr val="000000"/>
                </a:solidFill>
                <a:latin typeface="Arial" panose="020B0604020202020204" pitchFamily="34" charset="0"/>
              </a:rPr>
              <a:t>      Business </a:t>
            </a:r>
            <a:endParaRPr lang="en-US" altLang="en-US" sz="1600" b="0">
              <a:solidFill>
                <a:schemeClr val="tx1"/>
              </a:solidFill>
              <a:latin typeface="Times New Roman" panose="02020603050405020304" pitchFamily="18" charset="0"/>
            </a:endParaRPr>
          </a:p>
        </p:txBody>
      </p:sp>
      <p:sp>
        <p:nvSpPr>
          <p:cNvPr id="17" name="Rectangle 10">
            <a:extLst>
              <a:ext uri="{FF2B5EF4-FFF2-40B4-BE49-F238E27FC236}">
                <a16:creationId xmlns:a16="http://schemas.microsoft.com/office/drawing/2014/main" id="{6B3E57B3-D1BE-7BF9-9001-2384909E48F8}"/>
              </a:ext>
            </a:extLst>
          </p:cNvPr>
          <p:cNvSpPr>
            <a:spLocks noChangeArrowheads="1"/>
          </p:cNvSpPr>
          <p:nvPr/>
        </p:nvSpPr>
        <p:spPr bwMode="auto">
          <a:xfrm>
            <a:off x="6972189" y="4799301"/>
            <a:ext cx="13763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r>
              <a:rPr lang="en-US" altLang="en-US" sz="1600">
                <a:solidFill>
                  <a:srgbClr val="000000"/>
                </a:solidFill>
                <a:latin typeface="Arial" panose="020B0604020202020204" pitchFamily="34" charset="0"/>
              </a:rPr>
              <a:t>Fundamentals</a:t>
            </a:r>
            <a:endParaRPr lang="en-US" altLang="en-US" sz="1600" b="0">
              <a:solidFill>
                <a:schemeClr val="tx1"/>
              </a:solidFill>
              <a:latin typeface="Times New Roman" panose="02020603050405020304" pitchFamily="18" charset="0"/>
            </a:endParaRPr>
          </a:p>
        </p:txBody>
      </p:sp>
      <p:sp>
        <p:nvSpPr>
          <p:cNvPr id="18" name="Rectangle 11">
            <a:extLst>
              <a:ext uri="{FF2B5EF4-FFF2-40B4-BE49-F238E27FC236}">
                <a16:creationId xmlns:a16="http://schemas.microsoft.com/office/drawing/2014/main" id="{6AC10306-9743-A95F-97B7-2370E59F8D8D}"/>
              </a:ext>
            </a:extLst>
          </p:cNvPr>
          <p:cNvSpPr>
            <a:spLocks noChangeArrowheads="1"/>
          </p:cNvSpPr>
          <p:nvPr/>
        </p:nvSpPr>
        <p:spPr bwMode="auto">
          <a:xfrm>
            <a:off x="2011252" y="4213513"/>
            <a:ext cx="10604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r>
              <a:rPr lang="en-US" altLang="en-US" sz="1600">
                <a:solidFill>
                  <a:srgbClr val="000000"/>
                </a:solidFill>
                <a:latin typeface="Arial" panose="020B0604020202020204" pitchFamily="34" charset="0"/>
              </a:rPr>
              <a:t>Supervisor</a:t>
            </a:r>
            <a:endParaRPr lang="en-US" altLang="en-US" sz="1600" b="0">
              <a:solidFill>
                <a:schemeClr val="tx1"/>
              </a:solidFill>
              <a:latin typeface="Times New Roman" panose="02020603050405020304" pitchFamily="18" charset="0"/>
            </a:endParaRPr>
          </a:p>
        </p:txBody>
      </p:sp>
      <p:sp>
        <p:nvSpPr>
          <p:cNvPr id="19" name="Rectangle 12">
            <a:extLst>
              <a:ext uri="{FF2B5EF4-FFF2-40B4-BE49-F238E27FC236}">
                <a16:creationId xmlns:a16="http://schemas.microsoft.com/office/drawing/2014/main" id="{D5E69971-065B-9FFA-7F22-1F65FA3DD32A}"/>
              </a:ext>
            </a:extLst>
          </p:cNvPr>
          <p:cNvSpPr>
            <a:spLocks noChangeArrowheads="1"/>
          </p:cNvSpPr>
          <p:nvPr/>
        </p:nvSpPr>
        <p:spPr bwMode="auto">
          <a:xfrm>
            <a:off x="4695714" y="3291176"/>
            <a:ext cx="135731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600">
                <a:solidFill>
                  <a:schemeClr val="tx1"/>
                </a:solidFill>
                <a:latin typeface="Arial" panose="020B0604020202020204" pitchFamily="34" charset="0"/>
              </a:rPr>
              <a:t>Kaizen</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(Continuous</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Improvement)</a:t>
            </a:r>
            <a:endParaRPr lang="en-US" altLang="en-US" sz="1600" b="0">
              <a:solidFill>
                <a:schemeClr val="tx1"/>
              </a:solidFill>
              <a:latin typeface="Times New Roman" panose="02020603050405020304" pitchFamily="18" charset="0"/>
            </a:endParaRPr>
          </a:p>
        </p:txBody>
      </p:sp>
      <p:sp>
        <p:nvSpPr>
          <p:cNvPr id="26" name="Line 13">
            <a:extLst>
              <a:ext uri="{FF2B5EF4-FFF2-40B4-BE49-F238E27FC236}">
                <a16:creationId xmlns:a16="http://schemas.microsoft.com/office/drawing/2014/main" id="{3842F710-F3E3-5B95-BA91-990EFE3080E5}"/>
              </a:ext>
            </a:extLst>
          </p:cNvPr>
          <p:cNvSpPr>
            <a:spLocks noChangeShapeType="1"/>
          </p:cNvSpPr>
          <p:nvPr/>
        </p:nvSpPr>
        <p:spPr bwMode="auto">
          <a:xfrm>
            <a:off x="3263789" y="4799301"/>
            <a:ext cx="632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14">
            <a:extLst>
              <a:ext uri="{FF2B5EF4-FFF2-40B4-BE49-F238E27FC236}">
                <a16:creationId xmlns:a16="http://schemas.microsoft.com/office/drawing/2014/main" id="{A1F562D1-A937-837A-4F00-A9C5C0428944}"/>
              </a:ext>
            </a:extLst>
          </p:cNvPr>
          <p:cNvSpPr>
            <a:spLocks noChangeShapeType="1"/>
          </p:cNvSpPr>
          <p:nvPr/>
        </p:nvSpPr>
        <p:spPr bwMode="auto">
          <a:xfrm>
            <a:off x="3263789" y="3808701"/>
            <a:ext cx="632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15">
            <a:extLst>
              <a:ext uri="{FF2B5EF4-FFF2-40B4-BE49-F238E27FC236}">
                <a16:creationId xmlns:a16="http://schemas.microsoft.com/office/drawing/2014/main" id="{985AC79D-FEAF-AE89-95FF-9585DA90AA29}"/>
              </a:ext>
            </a:extLst>
          </p:cNvPr>
          <p:cNvSpPr>
            <a:spLocks noChangeShapeType="1"/>
          </p:cNvSpPr>
          <p:nvPr/>
        </p:nvSpPr>
        <p:spPr bwMode="auto">
          <a:xfrm>
            <a:off x="3251089" y="2741901"/>
            <a:ext cx="632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Rectangle 17">
            <a:extLst>
              <a:ext uri="{FF2B5EF4-FFF2-40B4-BE49-F238E27FC236}">
                <a16:creationId xmlns:a16="http://schemas.microsoft.com/office/drawing/2014/main" id="{0FE971F5-D782-3897-8902-073A87E45D81}"/>
              </a:ext>
            </a:extLst>
          </p:cNvPr>
          <p:cNvSpPr txBox="1">
            <a:spLocks noChangeArrowheads="1"/>
          </p:cNvSpPr>
          <p:nvPr/>
        </p:nvSpPr>
        <p:spPr bwMode="auto">
          <a:xfrm>
            <a:off x="1909652" y="5774026"/>
            <a:ext cx="8218487" cy="525462"/>
          </a:xfrm>
          <a:prstGeom prst="rect">
            <a:avLst/>
          </a:prstGeom>
          <a:noFill/>
          <a:ln w="9525">
            <a:noFill/>
            <a:miter lim="800000"/>
            <a:headEnd/>
            <a:tailEnd/>
          </a:ln>
          <a:effectLst/>
        </p:spPr>
        <p:txBody>
          <a:bodyPr anchor="ctr"/>
          <a:lstStyle/>
          <a:p>
            <a:pPr algn="ctr" eaLnBrk="0" hangingPunct="0">
              <a:lnSpc>
                <a:spcPct val="80000"/>
              </a:lnSpc>
              <a:defRPr/>
            </a:pPr>
            <a:r>
              <a:rPr lang="en-US" sz="2000" kern="0" dirty="0">
                <a:solidFill>
                  <a:schemeClr val="tx1"/>
                </a:solidFill>
                <a:latin typeface="+mj-lt"/>
                <a:ea typeface="+mj-ea"/>
                <a:cs typeface="+mj-cs"/>
              </a:rPr>
              <a:t>How would this chart look for your business?</a:t>
            </a:r>
          </a:p>
        </p:txBody>
      </p:sp>
    </p:spTree>
    <p:custDataLst>
      <p:tags r:id="rId1"/>
    </p:custDataLst>
    <p:extLst>
      <p:ext uri="{BB962C8B-B14F-4D97-AF65-F5344CB8AC3E}">
        <p14:creationId xmlns:p14="http://schemas.microsoft.com/office/powerpoint/2010/main" val="5979859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6EA19-A673-5D49-CFB9-5D4DABE74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DCDBA-4405-5D3E-DA94-20FFDD113712}"/>
              </a:ext>
            </a:extLst>
          </p:cNvPr>
          <p:cNvSpPr>
            <a:spLocks noGrp="1"/>
          </p:cNvSpPr>
          <p:nvPr>
            <p:ph type="title"/>
          </p:nvPr>
        </p:nvSpPr>
        <p:spPr/>
        <p:txBody>
          <a:bodyPr>
            <a:noAutofit/>
          </a:bodyPr>
          <a:lstStyle/>
          <a:p>
            <a:r>
              <a:rPr lang="en-US" sz="2400" dirty="0"/>
              <a:t>From Strategic Deployment to Kaizen (Continuous Improvement)</a:t>
            </a:r>
          </a:p>
        </p:txBody>
      </p:sp>
      <p:sp>
        <p:nvSpPr>
          <p:cNvPr id="18" name="Rectangle 5">
            <a:extLst>
              <a:ext uri="{FF2B5EF4-FFF2-40B4-BE49-F238E27FC236}">
                <a16:creationId xmlns:a16="http://schemas.microsoft.com/office/drawing/2014/main" id="{2A8AF6C9-B663-FBD3-7CC3-86430FFD3DDB}"/>
              </a:ext>
            </a:extLst>
          </p:cNvPr>
          <p:cNvSpPr>
            <a:spLocks noChangeArrowheads="1"/>
          </p:cNvSpPr>
          <p:nvPr/>
        </p:nvSpPr>
        <p:spPr bwMode="auto">
          <a:xfrm>
            <a:off x="1506538" y="1913120"/>
            <a:ext cx="2620962" cy="534987"/>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Strategy</a:t>
            </a:r>
          </a:p>
        </p:txBody>
      </p:sp>
      <p:sp>
        <p:nvSpPr>
          <p:cNvPr id="19" name="Rectangle 6">
            <a:extLst>
              <a:ext uri="{FF2B5EF4-FFF2-40B4-BE49-F238E27FC236}">
                <a16:creationId xmlns:a16="http://schemas.microsoft.com/office/drawing/2014/main" id="{AAA49BB1-76F1-84A2-1495-13A254092BD7}"/>
              </a:ext>
            </a:extLst>
          </p:cNvPr>
          <p:cNvSpPr>
            <a:spLocks noChangeArrowheads="1"/>
          </p:cNvSpPr>
          <p:nvPr/>
        </p:nvSpPr>
        <p:spPr bwMode="auto">
          <a:xfrm>
            <a:off x="1506538" y="2731539"/>
            <a:ext cx="2620962" cy="534987"/>
          </a:xfrm>
          <a:prstGeom prst="rect">
            <a:avLst/>
          </a:prstGeom>
          <a:solidFill>
            <a:schemeClr val="accent5">
              <a:lumMod val="20000"/>
              <a:lumOff val="80000"/>
            </a:schemeClr>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3-Year Breakthrough</a:t>
            </a:r>
            <a:br>
              <a:rPr lang="en-US" altLang="en-US" sz="1600" dirty="0">
                <a:latin typeface="+mn-lt"/>
              </a:rPr>
            </a:br>
            <a:r>
              <a:rPr lang="en-US" altLang="en-US" sz="1600" dirty="0">
                <a:latin typeface="+mn-lt"/>
              </a:rPr>
              <a:t>Objective</a:t>
            </a:r>
          </a:p>
        </p:txBody>
      </p:sp>
      <p:sp>
        <p:nvSpPr>
          <p:cNvPr id="20" name="Rectangle 7">
            <a:extLst>
              <a:ext uri="{FF2B5EF4-FFF2-40B4-BE49-F238E27FC236}">
                <a16:creationId xmlns:a16="http://schemas.microsoft.com/office/drawing/2014/main" id="{F7738233-8F90-0A0A-E07B-66D58110D10A}"/>
              </a:ext>
            </a:extLst>
          </p:cNvPr>
          <p:cNvSpPr>
            <a:spLocks noChangeArrowheads="1"/>
          </p:cNvSpPr>
          <p:nvPr/>
        </p:nvSpPr>
        <p:spPr bwMode="auto">
          <a:xfrm>
            <a:off x="1506538" y="3549958"/>
            <a:ext cx="2620962" cy="534987"/>
          </a:xfrm>
          <a:prstGeom prst="rect">
            <a:avLst/>
          </a:prstGeom>
          <a:solidFill>
            <a:schemeClr val="accent5">
              <a:lumMod val="60000"/>
              <a:lumOff val="40000"/>
            </a:schemeClr>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Annual Improvement</a:t>
            </a:r>
            <a:br>
              <a:rPr lang="en-US" altLang="en-US" sz="1600" dirty="0">
                <a:latin typeface="+mn-lt"/>
              </a:rPr>
            </a:br>
            <a:r>
              <a:rPr lang="en-US" altLang="en-US" sz="1600" dirty="0">
                <a:latin typeface="+mn-lt"/>
              </a:rPr>
              <a:t>Priority/Target</a:t>
            </a:r>
          </a:p>
        </p:txBody>
      </p:sp>
      <p:sp>
        <p:nvSpPr>
          <p:cNvPr id="21" name="Rectangle 8">
            <a:extLst>
              <a:ext uri="{FF2B5EF4-FFF2-40B4-BE49-F238E27FC236}">
                <a16:creationId xmlns:a16="http://schemas.microsoft.com/office/drawing/2014/main" id="{4C5426C9-F95D-CEEE-D542-3906096A5AD2}"/>
              </a:ext>
            </a:extLst>
          </p:cNvPr>
          <p:cNvSpPr>
            <a:spLocks noChangeArrowheads="1"/>
          </p:cNvSpPr>
          <p:nvPr/>
        </p:nvSpPr>
        <p:spPr bwMode="auto">
          <a:xfrm>
            <a:off x="1506538" y="4368377"/>
            <a:ext cx="2620962" cy="534987"/>
          </a:xfrm>
          <a:prstGeom prst="rect">
            <a:avLst/>
          </a:prstGeom>
          <a:solidFill>
            <a:schemeClr val="accent5"/>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mn-lt"/>
              </a:rPr>
              <a:t>Value Stream Focus</a:t>
            </a:r>
          </a:p>
        </p:txBody>
      </p:sp>
      <p:cxnSp>
        <p:nvCxnSpPr>
          <p:cNvPr id="22" name="AutoShape 9">
            <a:extLst>
              <a:ext uri="{FF2B5EF4-FFF2-40B4-BE49-F238E27FC236}">
                <a16:creationId xmlns:a16="http://schemas.microsoft.com/office/drawing/2014/main" id="{A974BCC8-8EEF-DD3B-D76D-6562DA7FDD59}"/>
              </a:ext>
            </a:extLst>
          </p:cNvPr>
          <p:cNvCxnSpPr>
            <a:cxnSpLocks noChangeShapeType="1"/>
            <a:stCxn id="18" idx="2"/>
            <a:endCxn id="19" idx="0"/>
          </p:cNvCxnSpPr>
          <p:nvPr/>
        </p:nvCxnSpPr>
        <p:spPr bwMode="auto">
          <a:xfrm>
            <a:off x="2817019" y="2448107"/>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10">
            <a:extLst>
              <a:ext uri="{FF2B5EF4-FFF2-40B4-BE49-F238E27FC236}">
                <a16:creationId xmlns:a16="http://schemas.microsoft.com/office/drawing/2014/main" id="{E3BDD307-9EEB-2E9D-3B96-2212378277D4}"/>
              </a:ext>
            </a:extLst>
          </p:cNvPr>
          <p:cNvCxnSpPr>
            <a:cxnSpLocks noChangeShapeType="1"/>
            <a:stCxn id="19" idx="2"/>
            <a:endCxn id="20" idx="0"/>
          </p:cNvCxnSpPr>
          <p:nvPr/>
        </p:nvCxnSpPr>
        <p:spPr bwMode="auto">
          <a:xfrm>
            <a:off x="2817019" y="3266526"/>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11">
            <a:extLst>
              <a:ext uri="{FF2B5EF4-FFF2-40B4-BE49-F238E27FC236}">
                <a16:creationId xmlns:a16="http://schemas.microsoft.com/office/drawing/2014/main" id="{1279970F-81FB-47EA-7185-A77598775512}"/>
              </a:ext>
            </a:extLst>
          </p:cNvPr>
          <p:cNvCxnSpPr>
            <a:cxnSpLocks noChangeShapeType="1"/>
            <a:stCxn id="20" idx="2"/>
            <a:endCxn id="21" idx="0"/>
          </p:cNvCxnSpPr>
          <p:nvPr/>
        </p:nvCxnSpPr>
        <p:spPr bwMode="auto">
          <a:xfrm>
            <a:off x="2817019" y="4084945"/>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 name="Oval 12">
            <a:extLst>
              <a:ext uri="{FF2B5EF4-FFF2-40B4-BE49-F238E27FC236}">
                <a16:creationId xmlns:a16="http://schemas.microsoft.com/office/drawing/2014/main" id="{A812E5BA-D03B-9611-8774-CF99A46B8840}"/>
              </a:ext>
            </a:extLst>
          </p:cNvPr>
          <p:cNvSpPr>
            <a:spLocks noChangeArrowheads="1"/>
          </p:cNvSpPr>
          <p:nvPr/>
        </p:nvSpPr>
        <p:spPr bwMode="auto">
          <a:xfrm>
            <a:off x="1506538" y="5186796"/>
            <a:ext cx="2620962" cy="990167"/>
          </a:xfrm>
          <a:prstGeom prst="ellipse">
            <a:avLst/>
          </a:prstGeom>
          <a:solidFill>
            <a:schemeClr val="accent4"/>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mn-lt"/>
              </a:rPr>
              <a:t>Kaizen </a:t>
            </a:r>
          </a:p>
          <a:p>
            <a:pPr algn="ctr">
              <a:lnSpc>
                <a:spcPct val="80000"/>
              </a:lnSpc>
              <a:spcBef>
                <a:spcPct val="20000"/>
              </a:spcBef>
              <a:spcAft>
                <a:spcPct val="0"/>
              </a:spcAft>
              <a:buClrTx/>
              <a:buSzTx/>
              <a:buFontTx/>
              <a:buNone/>
            </a:pPr>
            <a:r>
              <a:rPr lang="en-US" altLang="en-US" sz="1600" dirty="0">
                <a:solidFill>
                  <a:schemeClr val="bg1"/>
                </a:solidFill>
                <a:latin typeface="+mn-lt"/>
              </a:rPr>
              <a:t>(Continuous Improvement)</a:t>
            </a:r>
          </a:p>
        </p:txBody>
      </p:sp>
      <p:cxnSp>
        <p:nvCxnSpPr>
          <p:cNvPr id="26" name="AutoShape 13">
            <a:extLst>
              <a:ext uri="{FF2B5EF4-FFF2-40B4-BE49-F238E27FC236}">
                <a16:creationId xmlns:a16="http://schemas.microsoft.com/office/drawing/2014/main" id="{45935B1B-6290-5CCB-CE4F-0AC434AECA07}"/>
              </a:ext>
            </a:extLst>
          </p:cNvPr>
          <p:cNvCxnSpPr>
            <a:cxnSpLocks noChangeShapeType="1"/>
            <a:stCxn id="21" idx="2"/>
            <a:endCxn id="25" idx="0"/>
          </p:cNvCxnSpPr>
          <p:nvPr/>
        </p:nvCxnSpPr>
        <p:spPr bwMode="auto">
          <a:xfrm>
            <a:off x="2817019" y="4903364"/>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 name="Rectangle 3">
            <a:extLst>
              <a:ext uri="{FF2B5EF4-FFF2-40B4-BE49-F238E27FC236}">
                <a16:creationId xmlns:a16="http://schemas.microsoft.com/office/drawing/2014/main" id="{5ECA6862-BEC6-71DB-74FE-120751D8F63F}"/>
              </a:ext>
            </a:extLst>
          </p:cNvPr>
          <p:cNvSpPr>
            <a:spLocks noChangeArrowheads="1"/>
          </p:cNvSpPr>
          <p:nvPr/>
        </p:nvSpPr>
        <p:spPr bwMode="auto">
          <a:xfrm>
            <a:off x="4378331" y="2011079"/>
            <a:ext cx="6975469" cy="469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marL="0" indent="0">
              <a:spcBef>
                <a:spcPct val="80000"/>
              </a:spcBef>
              <a:spcAft>
                <a:spcPct val="20000"/>
              </a:spcAft>
              <a:buClr>
                <a:schemeClr val="accent5"/>
              </a:buClr>
              <a:buSzPct val="115000"/>
              <a:buNone/>
            </a:pPr>
            <a:r>
              <a:rPr lang="en-US" altLang="en-US" sz="2400" dirty="0">
                <a:solidFill>
                  <a:srgbClr val="000000"/>
                </a:solidFill>
                <a:latin typeface="+mn-lt"/>
              </a:rPr>
              <a:t>Case Study: OEM Manufacturer</a:t>
            </a:r>
          </a:p>
        </p:txBody>
      </p:sp>
      <p:sp>
        <p:nvSpPr>
          <p:cNvPr id="42" name="Rectangle 3">
            <a:extLst>
              <a:ext uri="{FF2B5EF4-FFF2-40B4-BE49-F238E27FC236}">
                <a16:creationId xmlns:a16="http://schemas.microsoft.com/office/drawing/2014/main" id="{FAD8B308-85F2-600A-053D-4D9519E3DA9F}"/>
              </a:ext>
            </a:extLst>
          </p:cNvPr>
          <p:cNvSpPr>
            <a:spLocks noChangeArrowheads="1"/>
          </p:cNvSpPr>
          <p:nvPr/>
        </p:nvSpPr>
        <p:spPr bwMode="auto">
          <a:xfrm>
            <a:off x="4378330" y="2574824"/>
            <a:ext cx="6975469" cy="3767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Strategy: Achieve Market Share Objectives by becoming counter-cyclical</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3-Year Breakthrough: Penetrate the Asian Marketplace to achieve $X of revenue </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AIP: Implement New and/or Improve New Product Development Processes</a:t>
            </a:r>
            <a:br>
              <a:rPr lang="en-US" altLang="en-US" sz="1600" dirty="0"/>
            </a:br>
            <a:r>
              <a:rPr lang="en-US" altLang="en-US" sz="1600" dirty="0"/>
              <a:t>Target: Achieve time-to-market improvement from</a:t>
            </a:r>
            <a:br>
              <a:rPr lang="en-US" altLang="en-US" sz="1600" dirty="0"/>
            </a:br>
            <a:r>
              <a:rPr lang="en-US" altLang="en-US" sz="1600" dirty="0"/>
              <a:t>72 months to 18 months by XX/XX/XX</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Value Stream Focus: Engine Lab Lead Time</a:t>
            </a:r>
          </a:p>
          <a:p>
            <a:pPr>
              <a:lnSpc>
                <a:spcPct val="100000"/>
              </a:lnSpc>
              <a:spcBef>
                <a:spcPct val="80000"/>
              </a:spcBef>
              <a:spcAft>
                <a:spcPct val="20000"/>
              </a:spcAft>
              <a:buClr>
                <a:schemeClr val="tx1"/>
              </a:buClr>
              <a:buSzPct val="125000"/>
              <a:buFont typeface="Arial" panose="020B0604020202020204" pitchFamily="34" charset="0"/>
              <a:buChar char="•"/>
            </a:pPr>
            <a:r>
              <a:rPr lang="en-US" altLang="en-US" sz="1600" dirty="0"/>
              <a:t>Kaizen: Reduce changeover on test engine from 3 weeks to 1 day; Tool: SMED</a:t>
            </a:r>
          </a:p>
        </p:txBody>
      </p:sp>
      <p:grpSp>
        <p:nvGrpSpPr>
          <p:cNvPr id="15" name="Group 14">
            <a:extLst>
              <a:ext uri="{FF2B5EF4-FFF2-40B4-BE49-F238E27FC236}">
                <a16:creationId xmlns:a16="http://schemas.microsoft.com/office/drawing/2014/main" id="{99818025-3AD7-9168-9A95-A8D5FDEE70C7}"/>
              </a:ext>
            </a:extLst>
          </p:cNvPr>
          <p:cNvGrpSpPr/>
          <p:nvPr/>
        </p:nvGrpSpPr>
        <p:grpSpPr>
          <a:xfrm>
            <a:off x="961102" y="302894"/>
            <a:ext cx="1229200" cy="290657"/>
            <a:chOff x="940249" y="315206"/>
            <a:chExt cx="1373841" cy="265062"/>
          </a:xfrm>
        </p:grpSpPr>
        <p:sp>
          <p:nvSpPr>
            <p:cNvPr id="16" name="AutoShape 9">
              <a:extLst>
                <a:ext uri="{FF2B5EF4-FFF2-40B4-BE49-F238E27FC236}">
                  <a16:creationId xmlns:a16="http://schemas.microsoft.com/office/drawing/2014/main" id="{006248F6-BC2C-3917-4D5C-1E809DF7A9C3}"/>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94C15F44-D862-2DC9-D93F-410E3A52559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7" name="AutoShape 10">
              <a:extLst>
                <a:ext uri="{FF2B5EF4-FFF2-40B4-BE49-F238E27FC236}">
                  <a16:creationId xmlns:a16="http://schemas.microsoft.com/office/drawing/2014/main" id="{DB65F504-78CF-CF49-CB78-181B69084D26}"/>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FAC9252D-91F7-C961-BBAB-5C52B13EC480}"/>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9" name="TextBox 28">
            <a:extLst>
              <a:ext uri="{FF2B5EF4-FFF2-40B4-BE49-F238E27FC236}">
                <a16:creationId xmlns:a16="http://schemas.microsoft.com/office/drawing/2014/main" id="{0D415F9C-7F13-B817-E1E7-54F57DA34E04}"/>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Tree>
    <p:custDataLst>
      <p:tags r:id="rId1"/>
    </p:custDataLst>
    <p:extLst>
      <p:ext uri="{BB962C8B-B14F-4D97-AF65-F5344CB8AC3E}">
        <p14:creationId xmlns:p14="http://schemas.microsoft.com/office/powerpoint/2010/main" val="2610900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0A595-8054-408E-BB04-3F0097A47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FFFF2-EB8F-4EB7-4097-7D2CEC66C9FE}"/>
              </a:ext>
            </a:extLst>
          </p:cNvPr>
          <p:cNvSpPr>
            <a:spLocks noGrp="1"/>
          </p:cNvSpPr>
          <p:nvPr>
            <p:ph type="title"/>
          </p:nvPr>
        </p:nvSpPr>
        <p:spPr/>
        <p:txBody>
          <a:bodyPr/>
          <a:lstStyle/>
          <a:p>
            <a:r>
              <a:rPr lang="en-US" dirty="0"/>
              <a:t>Breakthrough Objectives Checklist</a:t>
            </a:r>
          </a:p>
        </p:txBody>
      </p:sp>
      <p:sp>
        <p:nvSpPr>
          <p:cNvPr id="3" name="Content Placeholder 2">
            <a:extLst>
              <a:ext uri="{FF2B5EF4-FFF2-40B4-BE49-F238E27FC236}">
                <a16:creationId xmlns:a16="http://schemas.microsoft.com/office/drawing/2014/main" id="{357BBDCB-58D2-A42A-10D4-3B529C50AF81}"/>
              </a:ext>
            </a:extLst>
          </p:cNvPr>
          <p:cNvSpPr>
            <a:spLocks noGrp="1"/>
          </p:cNvSpPr>
          <p:nvPr>
            <p:ph idx="1"/>
          </p:nvPr>
        </p:nvSpPr>
        <p:spPr/>
        <p:txBody>
          <a:bodyPr>
            <a:normAutofit lnSpcReduction="10000"/>
          </a:bodyPr>
          <a:lstStyle/>
          <a:p>
            <a:pPr>
              <a:lnSpc>
                <a:spcPct val="105000"/>
              </a:lnSpc>
              <a:buFont typeface="Wingdings" panose="05000000000000000000" pitchFamily="2" charset="2"/>
              <a:buNone/>
            </a:pPr>
            <a:r>
              <a:rPr lang="en-US" altLang="en-US" b="1" dirty="0"/>
              <a:t>Are the Breakthrough Objectives….</a:t>
            </a:r>
          </a:p>
          <a:p>
            <a:pPr>
              <a:lnSpc>
                <a:spcPct val="105000"/>
              </a:lnSpc>
              <a:buSzPct val="90000"/>
              <a:buFont typeface="Wingdings" panose="05000000000000000000" pitchFamily="2" charset="2"/>
              <a:buChar char="þ"/>
            </a:pPr>
            <a:r>
              <a:rPr lang="en-US" altLang="en-US" b="1" dirty="0"/>
              <a:t> Significant benefits to the organization? </a:t>
            </a:r>
          </a:p>
          <a:p>
            <a:pPr>
              <a:lnSpc>
                <a:spcPct val="105000"/>
              </a:lnSpc>
              <a:buSzPct val="90000"/>
              <a:buFont typeface="Wingdings" panose="05000000000000000000" pitchFamily="2" charset="2"/>
              <a:buChar char="þ"/>
            </a:pPr>
            <a:r>
              <a:rPr lang="en-US" altLang="en-US" b="1" dirty="0"/>
              <a:t> Tied to strategy?</a:t>
            </a:r>
          </a:p>
          <a:p>
            <a:pPr>
              <a:lnSpc>
                <a:spcPct val="105000"/>
              </a:lnSpc>
              <a:buSzPct val="90000"/>
              <a:buFont typeface="Wingdings" panose="05000000000000000000" pitchFamily="2" charset="2"/>
              <a:buChar char="þ"/>
            </a:pPr>
            <a:r>
              <a:rPr lang="en-US" altLang="en-US" b="1" dirty="0"/>
              <a:t> Customer-focused?</a:t>
            </a:r>
          </a:p>
          <a:p>
            <a:pPr>
              <a:lnSpc>
                <a:spcPct val="105000"/>
              </a:lnSpc>
              <a:buSzPct val="90000"/>
              <a:buFont typeface="Wingdings" panose="05000000000000000000" pitchFamily="2" charset="2"/>
              <a:buChar char="þ"/>
            </a:pPr>
            <a:r>
              <a:rPr lang="en-US" altLang="en-US" b="1" dirty="0"/>
              <a:t> Stretch goals?</a:t>
            </a:r>
          </a:p>
          <a:p>
            <a:pPr>
              <a:lnSpc>
                <a:spcPct val="105000"/>
              </a:lnSpc>
              <a:buSzPct val="90000"/>
              <a:buFont typeface="Wingdings" panose="05000000000000000000" pitchFamily="2" charset="2"/>
              <a:buChar char="þ"/>
            </a:pPr>
            <a:r>
              <a:rPr lang="en-US" altLang="en-US" b="1" dirty="0"/>
              <a:t> Enlisting cross-functional involvement?</a:t>
            </a:r>
          </a:p>
          <a:p>
            <a:pPr>
              <a:lnSpc>
                <a:spcPct val="105000"/>
              </a:lnSpc>
              <a:buSzPct val="90000"/>
              <a:buFont typeface="Wingdings" panose="05000000000000000000" pitchFamily="2" charset="2"/>
              <a:buChar char="þ"/>
            </a:pPr>
            <a:r>
              <a:rPr lang="en-US" altLang="en-US" b="1" dirty="0"/>
              <a:t> Resulting in a new system or new way of doing business?</a:t>
            </a:r>
          </a:p>
          <a:p>
            <a:pPr>
              <a:lnSpc>
                <a:spcPct val="105000"/>
              </a:lnSpc>
              <a:buSzPct val="90000"/>
              <a:buFont typeface="Wingdings" panose="05000000000000000000" pitchFamily="2" charset="2"/>
              <a:buChar char="þ"/>
            </a:pPr>
            <a:r>
              <a:rPr lang="en-US" altLang="en-US" b="1" dirty="0"/>
              <a:t> Not already learned? (Do we already know how to do it?)</a:t>
            </a:r>
          </a:p>
        </p:txBody>
      </p:sp>
      <p:grpSp>
        <p:nvGrpSpPr>
          <p:cNvPr id="4" name="Group 3">
            <a:extLst>
              <a:ext uri="{FF2B5EF4-FFF2-40B4-BE49-F238E27FC236}">
                <a16:creationId xmlns:a16="http://schemas.microsoft.com/office/drawing/2014/main" id="{21D4259F-3D5F-0B0A-FA08-A077B01B15DC}"/>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7C15CF80-A33D-BE65-1167-7B0C8C0361E1}"/>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6AD824C1-3F63-0DAE-0E3A-BF571C6E2AE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1F0D7865-B69F-BC65-DD66-5E3C22273FC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1">
              <a:extLst>
                <a:ext uri="{FF2B5EF4-FFF2-40B4-BE49-F238E27FC236}">
                  <a16:creationId xmlns:a16="http://schemas.microsoft.com/office/drawing/2014/main" id="{C0EEC5F1-F16A-0EA4-35BC-D6849EE03B7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AAF1FF58-9A28-101F-9A33-638501E9DD8C}"/>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Tree>
    <p:custDataLst>
      <p:tags r:id="rId1"/>
    </p:custDataLst>
    <p:extLst>
      <p:ext uri="{BB962C8B-B14F-4D97-AF65-F5344CB8AC3E}">
        <p14:creationId xmlns:p14="http://schemas.microsoft.com/office/powerpoint/2010/main" val="25980689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6FEE-BD9C-6FFB-A21C-859914011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C9B65-47A4-9522-5881-AA82FCE1C91C}"/>
              </a:ext>
            </a:extLst>
          </p:cNvPr>
          <p:cNvSpPr>
            <a:spLocks noGrp="1"/>
          </p:cNvSpPr>
          <p:nvPr>
            <p:ph type="title"/>
          </p:nvPr>
        </p:nvSpPr>
        <p:spPr/>
        <p:txBody>
          <a:bodyPr>
            <a:noAutofit/>
          </a:bodyPr>
          <a:lstStyle/>
          <a:p>
            <a:r>
              <a:rPr lang="en-US" sz="3200" dirty="0"/>
              <a:t>Affinity Ground Rules for Breakthrough Objectives</a:t>
            </a:r>
          </a:p>
        </p:txBody>
      </p:sp>
      <p:sp>
        <p:nvSpPr>
          <p:cNvPr id="3" name="Content Placeholder 2">
            <a:extLst>
              <a:ext uri="{FF2B5EF4-FFF2-40B4-BE49-F238E27FC236}">
                <a16:creationId xmlns:a16="http://schemas.microsoft.com/office/drawing/2014/main" id="{83BB4CC5-72E5-CA56-4741-D40C8D2EB436}"/>
              </a:ext>
            </a:extLst>
          </p:cNvPr>
          <p:cNvSpPr>
            <a:spLocks noGrp="1"/>
          </p:cNvSpPr>
          <p:nvPr>
            <p:ph idx="1"/>
          </p:nvPr>
        </p:nvSpPr>
        <p:spPr/>
        <p:txBody>
          <a:bodyPr>
            <a:normAutofit fontScale="85000" lnSpcReduction="10000"/>
          </a:bodyPr>
          <a:lstStyle/>
          <a:p>
            <a:pPr>
              <a:lnSpc>
                <a:spcPct val="105000"/>
              </a:lnSpc>
            </a:pPr>
            <a:r>
              <a:rPr lang="en-US" altLang="en-US" b="1" dirty="0"/>
              <a:t>Silent brainstorming…no discussion during Post-it writing exercise</a:t>
            </a:r>
          </a:p>
          <a:p>
            <a:pPr>
              <a:lnSpc>
                <a:spcPct val="105000"/>
              </a:lnSpc>
            </a:pPr>
            <a:r>
              <a:rPr lang="en-US" altLang="en-US" b="1" dirty="0"/>
              <a:t>At least 2 quality Breakthrough Objective Post-its per person</a:t>
            </a:r>
          </a:p>
          <a:p>
            <a:pPr>
              <a:lnSpc>
                <a:spcPct val="105000"/>
              </a:lnSpc>
            </a:pPr>
            <a:r>
              <a:rPr lang="en-US" altLang="en-US" b="1" dirty="0"/>
              <a:t>Everyone’s ideas are treated equally</a:t>
            </a:r>
          </a:p>
          <a:p>
            <a:pPr>
              <a:lnSpc>
                <a:spcPct val="105000"/>
              </a:lnSpc>
            </a:pPr>
            <a:r>
              <a:rPr lang="en-US" altLang="en-US" b="1" dirty="0"/>
              <a:t>One idea (Breakthrough Objective) per Post-it</a:t>
            </a:r>
          </a:p>
          <a:p>
            <a:pPr>
              <a:lnSpc>
                <a:spcPct val="105000"/>
              </a:lnSpc>
            </a:pPr>
            <a:r>
              <a:rPr lang="en-US" altLang="en-US" b="1" dirty="0"/>
              <a:t>Write name on the top of Post-it</a:t>
            </a:r>
          </a:p>
          <a:p>
            <a:pPr>
              <a:lnSpc>
                <a:spcPct val="105000"/>
              </a:lnSpc>
            </a:pPr>
            <a:r>
              <a:rPr lang="en-US" altLang="en-US" b="1" dirty="0"/>
              <a:t>Be clear; state Breakthrough Objective in the form of a breakthrough:</a:t>
            </a:r>
          </a:p>
          <a:p>
            <a:pPr lvl="1">
              <a:lnSpc>
                <a:spcPct val="105000"/>
              </a:lnSpc>
            </a:pPr>
            <a:r>
              <a:rPr lang="en-US" altLang="en-US" b="1" dirty="0"/>
              <a:t>Wrong: Grow the business</a:t>
            </a:r>
          </a:p>
          <a:p>
            <a:pPr lvl="1">
              <a:lnSpc>
                <a:spcPct val="105000"/>
              </a:lnSpc>
            </a:pPr>
            <a:r>
              <a:rPr lang="en-US" altLang="en-US" b="1" dirty="0"/>
              <a:t>Right: Increase revenue from $275M to $500M by 12/31/XX</a:t>
            </a:r>
          </a:p>
          <a:p>
            <a:pPr>
              <a:lnSpc>
                <a:spcPct val="105000"/>
              </a:lnSpc>
            </a:pPr>
            <a:r>
              <a:rPr lang="en-US" altLang="en-US" b="1" dirty="0"/>
              <a:t>Focus on the critical few ideas that are based on the Business Case analysis</a:t>
            </a:r>
          </a:p>
        </p:txBody>
      </p:sp>
      <p:grpSp>
        <p:nvGrpSpPr>
          <p:cNvPr id="4" name="Group 3">
            <a:extLst>
              <a:ext uri="{FF2B5EF4-FFF2-40B4-BE49-F238E27FC236}">
                <a16:creationId xmlns:a16="http://schemas.microsoft.com/office/drawing/2014/main" id="{1D2CD203-1C2A-9333-6252-0C0F3C205580}"/>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7EFBCC3A-6F7E-76FF-0EBF-1100048129B6}"/>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BF78C9F0-6F0A-C399-EA19-1736719EAEF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B05A0B37-716C-69B5-24AD-1C8ECD9AC39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1">
              <a:extLst>
                <a:ext uri="{FF2B5EF4-FFF2-40B4-BE49-F238E27FC236}">
                  <a16:creationId xmlns:a16="http://schemas.microsoft.com/office/drawing/2014/main" id="{CEB43C8E-66E8-113B-E62D-4DF9C56E0A4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F76C0C67-AFFB-F137-6712-D2E2F810D6A9}"/>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Tree>
    <p:custDataLst>
      <p:tags r:id="rId1"/>
    </p:custDataLst>
    <p:extLst>
      <p:ext uri="{BB962C8B-B14F-4D97-AF65-F5344CB8AC3E}">
        <p14:creationId xmlns:p14="http://schemas.microsoft.com/office/powerpoint/2010/main" val="1459752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43E05-F058-D1D5-01DE-90694E44D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D21A0-656F-7CC3-3273-A0061E24B510}"/>
              </a:ext>
            </a:extLst>
          </p:cNvPr>
          <p:cNvSpPr>
            <a:spLocks noGrp="1"/>
          </p:cNvSpPr>
          <p:nvPr>
            <p:ph type="title"/>
          </p:nvPr>
        </p:nvSpPr>
        <p:spPr/>
        <p:txBody>
          <a:bodyPr>
            <a:noAutofit/>
          </a:bodyPr>
          <a:lstStyle/>
          <a:p>
            <a:r>
              <a:rPr lang="en-US" sz="3200" dirty="0"/>
              <a:t>Affinity Process for Breakthrough Objectives</a:t>
            </a:r>
          </a:p>
        </p:txBody>
      </p:sp>
      <p:grpSp>
        <p:nvGrpSpPr>
          <p:cNvPr id="20" name="Group 19">
            <a:extLst>
              <a:ext uri="{FF2B5EF4-FFF2-40B4-BE49-F238E27FC236}">
                <a16:creationId xmlns:a16="http://schemas.microsoft.com/office/drawing/2014/main" id="{4369ED61-FE4B-8427-B68A-0F35F2CC2310}"/>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FBB09CB6-0E71-7A54-F780-D72121022C9C}"/>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E5160B66-9F25-6C94-E4B5-32123C7997B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1479AA58-7937-5673-A5DA-A1507EE85C8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C00B53CC-7293-7FC8-47CA-C50F7EB39934}"/>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B5990333-AC04-4172-5673-B0E77FEB746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grpSp>
        <p:nvGrpSpPr>
          <p:cNvPr id="379" name="Group 378">
            <a:extLst>
              <a:ext uri="{FF2B5EF4-FFF2-40B4-BE49-F238E27FC236}">
                <a16:creationId xmlns:a16="http://schemas.microsoft.com/office/drawing/2014/main" id="{19242037-05CC-ADF4-4CB2-398E0E6757C5}"/>
              </a:ext>
            </a:extLst>
          </p:cNvPr>
          <p:cNvGrpSpPr/>
          <p:nvPr/>
        </p:nvGrpSpPr>
        <p:grpSpPr>
          <a:xfrm>
            <a:off x="1716027" y="1825626"/>
            <a:ext cx="8362950" cy="4351337"/>
            <a:chOff x="352425" y="1420813"/>
            <a:chExt cx="8362950" cy="4351337"/>
          </a:xfrm>
        </p:grpSpPr>
        <p:grpSp>
          <p:nvGrpSpPr>
            <p:cNvPr id="201" name="Group 2">
              <a:extLst>
                <a:ext uri="{FF2B5EF4-FFF2-40B4-BE49-F238E27FC236}">
                  <a16:creationId xmlns:a16="http://schemas.microsoft.com/office/drawing/2014/main" id="{A7C552A4-CB82-3CC8-F182-2636448431AB}"/>
                </a:ext>
              </a:extLst>
            </p:cNvPr>
            <p:cNvGrpSpPr>
              <a:grpSpLocks/>
            </p:cNvGrpSpPr>
            <p:nvPr/>
          </p:nvGrpSpPr>
          <p:grpSpPr bwMode="auto">
            <a:xfrm flipH="1">
              <a:off x="2170113" y="2124075"/>
              <a:ext cx="201612" cy="695325"/>
              <a:chOff x="2450" y="2240"/>
              <a:chExt cx="220" cy="667"/>
            </a:xfrm>
          </p:grpSpPr>
          <p:sp>
            <p:nvSpPr>
              <p:cNvPr id="202" name="Oval 3">
                <a:extLst>
                  <a:ext uri="{FF2B5EF4-FFF2-40B4-BE49-F238E27FC236}">
                    <a16:creationId xmlns:a16="http://schemas.microsoft.com/office/drawing/2014/main" id="{4EB5ACE6-F196-9BA9-0B32-755DB917BCAC}"/>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03" name="Line 4">
                <a:extLst>
                  <a:ext uri="{FF2B5EF4-FFF2-40B4-BE49-F238E27FC236}">
                    <a16:creationId xmlns:a16="http://schemas.microsoft.com/office/drawing/2014/main" id="{7475505B-1E9C-A8E5-1091-1576F4EB2823}"/>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 name="Line 5">
                <a:extLst>
                  <a:ext uri="{FF2B5EF4-FFF2-40B4-BE49-F238E27FC236}">
                    <a16:creationId xmlns:a16="http://schemas.microsoft.com/office/drawing/2014/main" id="{2A8798A2-0C8C-C0FF-D117-61B99B0BB308}"/>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 name="Line 6">
                <a:extLst>
                  <a:ext uri="{FF2B5EF4-FFF2-40B4-BE49-F238E27FC236}">
                    <a16:creationId xmlns:a16="http://schemas.microsoft.com/office/drawing/2014/main" id="{989C0B89-8FA6-39A7-A319-897FCA6E4701}"/>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 name="Line 7">
                <a:extLst>
                  <a:ext uri="{FF2B5EF4-FFF2-40B4-BE49-F238E27FC236}">
                    <a16:creationId xmlns:a16="http://schemas.microsoft.com/office/drawing/2014/main" id="{903B176B-16F0-1451-FAFC-71586148A284}"/>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07" name="Group 8">
              <a:extLst>
                <a:ext uri="{FF2B5EF4-FFF2-40B4-BE49-F238E27FC236}">
                  <a16:creationId xmlns:a16="http://schemas.microsoft.com/office/drawing/2014/main" id="{FA3693EF-4CB6-462C-E39F-138B517DDCB2}"/>
                </a:ext>
              </a:extLst>
            </p:cNvPr>
            <p:cNvGrpSpPr>
              <a:grpSpLocks/>
            </p:cNvGrpSpPr>
            <p:nvPr/>
          </p:nvGrpSpPr>
          <p:grpSpPr bwMode="auto">
            <a:xfrm flipH="1">
              <a:off x="828675" y="2074863"/>
              <a:ext cx="201613" cy="695325"/>
              <a:chOff x="2450" y="2240"/>
              <a:chExt cx="220" cy="667"/>
            </a:xfrm>
          </p:grpSpPr>
          <p:sp>
            <p:nvSpPr>
              <p:cNvPr id="208" name="Oval 9">
                <a:extLst>
                  <a:ext uri="{FF2B5EF4-FFF2-40B4-BE49-F238E27FC236}">
                    <a16:creationId xmlns:a16="http://schemas.microsoft.com/office/drawing/2014/main" id="{CB9CFA15-7416-95FF-45E8-9241FA120F89}"/>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09" name="Line 10">
                <a:extLst>
                  <a:ext uri="{FF2B5EF4-FFF2-40B4-BE49-F238E27FC236}">
                    <a16:creationId xmlns:a16="http://schemas.microsoft.com/office/drawing/2014/main" id="{B64A693B-3CBC-3BB1-F05E-20C9E25B995D}"/>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0" name="Line 11">
                <a:extLst>
                  <a:ext uri="{FF2B5EF4-FFF2-40B4-BE49-F238E27FC236}">
                    <a16:creationId xmlns:a16="http://schemas.microsoft.com/office/drawing/2014/main" id="{C8F4AA61-3AAD-C7A9-11F5-ADD28E75AF05}"/>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1" name="Line 12">
                <a:extLst>
                  <a:ext uri="{FF2B5EF4-FFF2-40B4-BE49-F238E27FC236}">
                    <a16:creationId xmlns:a16="http://schemas.microsoft.com/office/drawing/2014/main" id="{71E5693A-1083-2D38-D43B-CC7D41C86561}"/>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2" name="Line 13">
                <a:extLst>
                  <a:ext uri="{FF2B5EF4-FFF2-40B4-BE49-F238E27FC236}">
                    <a16:creationId xmlns:a16="http://schemas.microsoft.com/office/drawing/2014/main" id="{02F45C01-DAD8-95B2-6D53-BA545852E5F4}"/>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3" name="Oval 14">
              <a:extLst>
                <a:ext uri="{FF2B5EF4-FFF2-40B4-BE49-F238E27FC236}">
                  <a16:creationId xmlns:a16="http://schemas.microsoft.com/office/drawing/2014/main" id="{580B05F0-C4A3-0BAC-D1DD-5A4AAB5D471A}"/>
                </a:ext>
              </a:extLst>
            </p:cNvPr>
            <p:cNvSpPr>
              <a:spLocks noChangeArrowheads="1"/>
            </p:cNvSpPr>
            <p:nvPr/>
          </p:nvSpPr>
          <p:spPr bwMode="auto">
            <a:xfrm>
              <a:off x="790575" y="2208213"/>
              <a:ext cx="1538288" cy="140811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14" name="Rectangle 16">
              <a:extLst>
                <a:ext uri="{FF2B5EF4-FFF2-40B4-BE49-F238E27FC236}">
                  <a16:creationId xmlns:a16="http://schemas.microsoft.com/office/drawing/2014/main" id="{E0B3C3B8-C9F6-2BB5-2F8D-C2ED8A88330D}"/>
                </a:ext>
              </a:extLst>
            </p:cNvPr>
            <p:cNvSpPr>
              <a:spLocks noChangeArrowheads="1"/>
            </p:cNvSpPr>
            <p:nvPr/>
          </p:nvSpPr>
          <p:spPr bwMode="auto">
            <a:xfrm>
              <a:off x="1765300" y="2339975"/>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215" name="Group 17">
              <a:extLst>
                <a:ext uri="{FF2B5EF4-FFF2-40B4-BE49-F238E27FC236}">
                  <a16:creationId xmlns:a16="http://schemas.microsoft.com/office/drawing/2014/main" id="{9FDD377F-58E6-83C8-ED16-670E1E308F3C}"/>
                </a:ext>
              </a:extLst>
            </p:cNvPr>
            <p:cNvGrpSpPr>
              <a:grpSpLocks/>
            </p:cNvGrpSpPr>
            <p:nvPr/>
          </p:nvGrpSpPr>
          <p:grpSpPr bwMode="auto">
            <a:xfrm flipH="1">
              <a:off x="2119313" y="3089275"/>
              <a:ext cx="201612" cy="695325"/>
              <a:chOff x="2450" y="2240"/>
              <a:chExt cx="220" cy="667"/>
            </a:xfrm>
          </p:grpSpPr>
          <p:sp>
            <p:nvSpPr>
              <p:cNvPr id="216" name="Oval 18">
                <a:extLst>
                  <a:ext uri="{FF2B5EF4-FFF2-40B4-BE49-F238E27FC236}">
                    <a16:creationId xmlns:a16="http://schemas.microsoft.com/office/drawing/2014/main" id="{FA4B7047-F430-0C8F-B7C8-061D537C2656}"/>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17" name="Line 19">
                <a:extLst>
                  <a:ext uri="{FF2B5EF4-FFF2-40B4-BE49-F238E27FC236}">
                    <a16:creationId xmlns:a16="http://schemas.microsoft.com/office/drawing/2014/main" id="{957C11B4-53EE-861B-55DD-7BB12302C4AE}"/>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8" name="Line 20">
                <a:extLst>
                  <a:ext uri="{FF2B5EF4-FFF2-40B4-BE49-F238E27FC236}">
                    <a16:creationId xmlns:a16="http://schemas.microsoft.com/office/drawing/2014/main" id="{0FF10EAB-57D4-0824-862E-9B7CC2E59294}"/>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9" name="Line 21">
                <a:extLst>
                  <a:ext uri="{FF2B5EF4-FFF2-40B4-BE49-F238E27FC236}">
                    <a16:creationId xmlns:a16="http://schemas.microsoft.com/office/drawing/2014/main" id="{3F8CBDCE-CA8F-FC66-C2EC-58526D812CDA}"/>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0" name="Line 22">
                <a:extLst>
                  <a:ext uri="{FF2B5EF4-FFF2-40B4-BE49-F238E27FC236}">
                    <a16:creationId xmlns:a16="http://schemas.microsoft.com/office/drawing/2014/main" id="{455ADAA7-2B8F-C511-8B85-6F997D53C723}"/>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1" name="Rectangle 23">
              <a:extLst>
                <a:ext uri="{FF2B5EF4-FFF2-40B4-BE49-F238E27FC236}">
                  <a16:creationId xmlns:a16="http://schemas.microsoft.com/office/drawing/2014/main" id="{CF1F92DE-A691-D2FB-99D2-5CE899D297E9}"/>
                </a:ext>
              </a:extLst>
            </p:cNvPr>
            <p:cNvSpPr>
              <a:spLocks noChangeArrowheads="1"/>
            </p:cNvSpPr>
            <p:nvPr/>
          </p:nvSpPr>
          <p:spPr bwMode="auto">
            <a:xfrm>
              <a:off x="1917700" y="2492375"/>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22" name="Rectangle 24">
              <a:extLst>
                <a:ext uri="{FF2B5EF4-FFF2-40B4-BE49-F238E27FC236}">
                  <a16:creationId xmlns:a16="http://schemas.microsoft.com/office/drawing/2014/main" id="{7BF7E4D7-8CA7-26C6-5D14-0DACE7A4C8BB}"/>
                </a:ext>
              </a:extLst>
            </p:cNvPr>
            <p:cNvSpPr>
              <a:spLocks noChangeArrowheads="1"/>
            </p:cNvSpPr>
            <p:nvPr/>
          </p:nvSpPr>
          <p:spPr bwMode="auto">
            <a:xfrm>
              <a:off x="1798638" y="2986088"/>
              <a:ext cx="158750" cy="144462"/>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23" name="Rectangle 25">
              <a:extLst>
                <a:ext uri="{FF2B5EF4-FFF2-40B4-BE49-F238E27FC236}">
                  <a16:creationId xmlns:a16="http://schemas.microsoft.com/office/drawing/2014/main" id="{9A4976E4-E480-38FA-E391-57266D869D5A}"/>
                </a:ext>
              </a:extLst>
            </p:cNvPr>
            <p:cNvSpPr>
              <a:spLocks noChangeArrowheads="1"/>
            </p:cNvSpPr>
            <p:nvPr/>
          </p:nvSpPr>
          <p:spPr bwMode="auto">
            <a:xfrm>
              <a:off x="1714500" y="2622550"/>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24" name="Rectangle 26">
              <a:extLst>
                <a:ext uri="{FF2B5EF4-FFF2-40B4-BE49-F238E27FC236}">
                  <a16:creationId xmlns:a16="http://schemas.microsoft.com/office/drawing/2014/main" id="{5F6AA8BE-6CE8-E7EF-E0CD-32D72B2FEB4C}"/>
                </a:ext>
              </a:extLst>
            </p:cNvPr>
            <p:cNvSpPr>
              <a:spLocks noChangeArrowheads="1"/>
            </p:cNvSpPr>
            <p:nvPr/>
          </p:nvSpPr>
          <p:spPr bwMode="auto">
            <a:xfrm>
              <a:off x="1784350" y="3187700"/>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25" name="Rectangle 27">
              <a:extLst>
                <a:ext uri="{FF2B5EF4-FFF2-40B4-BE49-F238E27FC236}">
                  <a16:creationId xmlns:a16="http://schemas.microsoft.com/office/drawing/2014/main" id="{FDDAE99B-5676-FCEC-86AC-AE73FF240EE6}"/>
                </a:ext>
              </a:extLst>
            </p:cNvPr>
            <p:cNvSpPr>
              <a:spLocks noChangeArrowheads="1"/>
            </p:cNvSpPr>
            <p:nvPr/>
          </p:nvSpPr>
          <p:spPr bwMode="auto">
            <a:xfrm>
              <a:off x="2008188" y="3224213"/>
              <a:ext cx="158750" cy="144462"/>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26" name="Rectangle 28">
              <a:extLst>
                <a:ext uri="{FF2B5EF4-FFF2-40B4-BE49-F238E27FC236}">
                  <a16:creationId xmlns:a16="http://schemas.microsoft.com/office/drawing/2014/main" id="{3795F5DE-C947-94DC-01D8-B4C08B005D4C}"/>
                </a:ext>
              </a:extLst>
            </p:cNvPr>
            <p:cNvSpPr>
              <a:spLocks noChangeArrowheads="1"/>
            </p:cNvSpPr>
            <p:nvPr/>
          </p:nvSpPr>
          <p:spPr bwMode="auto">
            <a:xfrm>
              <a:off x="1343025" y="3282950"/>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27" name="Rectangle 29">
              <a:extLst>
                <a:ext uri="{FF2B5EF4-FFF2-40B4-BE49-F238E27FC236}">
                  <a16:creationId xmlns:a16="http://schemas.microsoft.com/office/drawing/2014/main" id="{46C737DB-494F-D79E-7DF8-B0F242E074E4}"/>
                </a:ext>
              </a:extLst>
            </p:cNvPr>
            <p:cNvSpPr>
              <a:spLocks noChangeArrowheads="1"/>
            </p:cNvSpPr>
            <p:nvPr/>
          </p:nvSpPr>
          <p:spPr bwMode="auto">
            <a:xfrm>
              <a:off x="1474788" y="3473450"/>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228" name="Group 30">
              <a:extLst>
                <a:ext uri="{FF2B5EF4-FFF2-40B4-BE49-F238E27FC236}">
                  <a16:creationId xmlns:a16="http://schemas.microsoft.com/office/drawing/2014/main" id="{0D4B5ACE-1895-E28A-2DF4-0E6513ED6827}"/>
                </a:ext>
              </a:extLst>
            </p:cNvPr>
            <p:cNvGrpSpPr>
              <a:grpSpLocks/>
            </p:cNvGrpSpPr>
            <p:nvPr/>
          </p:nvGrpSpPr>
          <p:grpSpPr bwMode="auto">
            <a:xfrm flipH="1">
              <a:off x="1633538" y="3343275"/>
              <a:ext cx="201612" cy="695325"/>
              <a:chOff x="2450" y="2240"/>
              <a:chExt cx="220" cy="667"/>
            </a:xfrm>
          </p:grpSpPr>
          <p:sp>
            <p:nvSpPr>
              <p:cNvPr id="229" name="Oval 31">
                <a:extLst>
                  <a:ext uri="{FF2B5EF4-FFF2-40B4-BE49-F238E27FC236}">
                    <a16:creationId xmlns:a16="http://schemas.microsoft.com/office/drawing/2014/main" id="{8BFF8FAF-BA5D-B86C-8AAE-C9C5F13396F5}"/>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30" name="Line 32">
                <a:extLst>
                  <a:ext uri="{FF2B5EF4-FFF2-40B4-BE49-F238E27FC236}">
                    <a16:creationId xmlns:a16="http://schemas.microsoft.com/office/drawing/2014/main" id="{2390D353-40A0-5287-3317-3A6C4D6BCCFD}"/>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1" name="Line 33">
                <a:extLst>
                  <a:ext uri="{FF2B5EF4-FFF2-40B4-BE49-F238E27FC236}">
                    <a16:creationId xmlns:a16="http://schemas.microsoft.com/office/drawing/2014/main" id="{237D0F6B-A7E5-8124-9524-045B96F74817}"/>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2" name="Line 34">
                <a:extLst>
                  <a:ext uri="{FF2B5EF4-FFF2-40B4-BE49-F238E27FC236}">
                    <a16:creationId xmlns:a16="http://schemas.microsoft.com/office/drawing/2014/main" id="{CA2B151A-68B2-BCEE-9540-940B164B58F2}"/>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3" name="Line 35">
                <a:extLst>
                  <a:ext uri="{FF2B5EF4-FFF2-40B4-BE49-F238E27FC236}">
                    <a16:creationId xmlns:a16="http://schemas.microsoft.com/office/drawing/2014/main" id="{1E5DDC5B-6F6E-3132-03F8-67CDC355DB30}"/>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34" name="Group 36">
              <a:extLst>
                <a:ext uri="{FF2B5EF4-FFF2-40B4-BE49-F238E27FC236}">
                  <a16:creationId xmlns:a16="http://schemas.microsoft.com/office/drawing/2014/main" id="{6593D482-FBF4-7887-007E-953AA3EA4567}"/>
                </a:ext>
              </a:extLst>
            </p:cNvPr>
            <p:cNvGrpSpPr>
              <a:grpSpLocks/>
            </p:cNvGrpSpPr>
            <p:nvPr/>
          </p:nvGrpSpPr>
          <p:grpSpPr bwMode="auto">
            <a:xfrm flipH="1">
              <a:off x="719138" y="2908300"/>
              <a:ext cx="201612" cy="695325"/>
              <a:chOff x="2450" y="2240"/>
              <a:chExt cx="220" cy="667"/>
            </a:xfrm>
          </p:grpSpPr>
          <p:sp>
            <p:nvSpPr>
              <p:cNvPr id="235" name="Oval 37">
                <a:extLst>
                  <a:ext uri="{FF2B5EF4-FFF2-40B4-BE49-F238E27FC236}">
                    <a16:creationId xmlns:a16="http://schemas.microsoft.com/office/drawing/2014/main" id="{82408950-3E34-B787-B46E-753044E3DF4B}"/>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36" name="Line 38">
                <a:extLst>
                  <a:ext uri="{FF2B5EF4-FFF2-40B4-BE49-F238E27FC236}">
                    <a16:creationId xmlns:a16="http://schemas.microsoft.com/office/drawing/2014/main" id="{C029C87A-C964-DE95-1ECC-1E4768CC1BE8}"/>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 name="Line 39">
                <a:extLst>
                  <a:ext uri="{FF2B5EF4-FFF2-40B4-BE49-F238E27FC236}">
                    <a16:creationId xmlns:a16="http://schemas.microsoft.com/office/drawing/2014/main" id="{9BBCEC2B-DDA2-598E-6D63-E1DEDE4939DC}"/>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 name="Line 40">
                <a:extLst>
                  <a:ext uri="{FF2B5EF4-FFF2-40B4-BE49-F238E27FC236}">
                    <a16:creationId xmlns:a16="http://schemas.microsoft.com/office/drawing/2014/main" id="{89C45E19-5A8F-8700-D86E-8DD340F26936}"/>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9" name="Line 41">
                <a:extLst>
                  <a:ext uri="{FF2B5EF4-FFF2-40B4-BE49-F238E27FC236}">
                    <a16:creationId xmlns:a16="http://schemas.microsoft.com/office/drawing/2014/main" id="{50312558-5767-A504-6C76-0BF6650E7784}"/>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40" name="Rectangle 42">
              <a:extLst>
                <a:ext uri="{FF2B5EF4-FFF2-40B4-BE49-F238E27FC236}">
                  <a16:creationId xmlns:a16="http://schemas.microsoft.com/office/drawing/2014/main" id="{5F4E8030-14CF-C144-B303-CDF33B9015CE}"/>
                </a:ext>
              </a:extLst>
            </p:cNvPr>
            <p:cNvSpPr>
              <a:spLocks noChangeArrowheads="1"/>
            </p:cNvSpPr>
            <p:nvPr/>
          </p:nvSpPr>
          <p:spPr bwMode="auto">
            <a:xfrm flipH="1" flipV="1">
              <a:off x="936625" y="3136900"/>
              <a:ext cx="160338" cy="130175"/>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41" name="Rectangle 43">
              <a:extLst>
                <a:ext uri="{FF2B5EF4-FFF2-40B4-BE49-F238E27FC236}">
                  <a16:creationId xmlns:a16="http://schemas.microsoft.com/office/drawing/2014/main" id="{9E1DAA5E-4007-429A-DD81-D54605A957F2}"/>
                </a:ext>
              </a:extLst>
            </p:cNvPr>
            <p:cNvSpPr>
              <a:spLocks noChangeArrowheads="1"/>
            </p:cNvSpPr>
            <p:nvPr/>
          </p:nvSpPr>
          <p:spPr bwMode="auto">
            <a:xfrm>
              <a:off x="1068388" y="2400300"/>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42" name="Rectangle 44">
              <a:extLst>
                <a:ext uri="{FF2B5EF4-FFF2-40B4-BE49-F238E27FC236}">
                  <a16:creationId xmlns:a16="http://schemas.microsoft.com/office/drawing/2014/main" id="{02E124CB-A3FE-D18D-A059-F6A605A0B0F0}"/>
                </a:ext>
              </a:extLst>
            </p:cNvPr>
            <p:cNvSpPr>
              <a:spLocks noChangeArrowheads="1"/>
            </p:cNvSpPr>
            <p:nvPr/>
          </p:nvSpPr>
          <p:spPr bwMode="auto">
            <a:xfrm>
              <a:off x="1220788" y="2552700"/>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43" name="Rectangle 45">
              <a:extLst>
                <a:ext uri="{FF2B5EF4-FFF2-40B4-BE49-F238E27FC236}">
                  <a16:creationId xmlns:a16="http://schemas.microsoft.com/office/drawing/2014/main" id="{24A69C1C-7BF8-538D-9BA5-7788ED9A9312}"/>
                </a:ext>
              </a:extLst>
            </p:cNvPr>
            <p:cNvSpPr>
              <a:spLocks noChangeArrowheads="1"/>
            </p:cNvSpPr>
            <p:nvPr/>
          </p:nvSpPr>
          <p:spPr bwMode="auto">
            <a:xfrm>
              <a:off x="457200" y="1436688"/>
              <a:ext cx="2206625" cy="536575"/>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44" name="Rectangle 46">
              <a:extLst>
                <a:ext uri="{FF2B5EF4-FFF2-40B4-BE49-F238E27FC236}">
                  <a16:creationId xmlns:a16="http://schemas.microsoft.com/office/drawing/2014/main" id="{E0FFCAB2-A470-FE5B-22E7-67F7A825868B}"/>
                </a:ext>
              </a:extLst>
            </p:cNvPr>
            <p:cNvSpPr>
              <a:spLocks noChangeArrowheads="1"/>
            </p:cNvSpPr>
            <p:nvPr/>
          </p:nvSpPr>
          <p:spPr bwMode="auto">
            <a:xfrm>
              <a:off x="352425" y="4324350"/>
              <a:ext cx="2643188"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400">
                  <a:solidFill>
                    <a:schemeClr val="tx1"/>
                  </a:solidFill>
                  <a:latin typeface="Arial" panose="020B0604020202020204" pitchFamily="34" charset="0"/>
                </a:rPr>
                <a:t>Step 1: Each participant silently brainstorms 2 Breakthrough Objectives</a:t>
              </a:r>
            </a:p>
            <a:p>
              <a:pPr>
                <a:spcBef>
                  <a:spcPct val="40000"/>
                </a:spcBef>
                <a:buSzPct val="125000"/>
                <a:buFont typeface="Arial" panose="020B0604020202020204" pitchFamily="34" charset="0"/>
                <a:buChar char="•"/>
              </a:pPr>
              <a:r>
                <a:rPr lang="en-US" altLang="en-US" sz="1400">
                  <a:solidFill>
                    <a:schemeClr val="tx1"/>
                  </a:solidFill>
                  <a:latin typeface="Arial" panose="020B0604020202020204" pitchFamily="34" charset="0"/>
                </a:rPr>
                <a:t>Write each Breakthrough on a Post-it note</a:t>
              </a:r>
            </a:p>
          </p:txBody>
        </p:sp>
        <p:grpSp>
          <p:nvGrpSpPr>
            <p:cNvPr id="245" name="Group 47">
              <a:extLst>
                <a:ext uri="{FF2B5EF4-FFF2-40B4-BE49-F238E27FC236}">
                  <a16:creationId xmlns:a16="http://schemas.microsoft.com/office/drawing/2014/main" id="{1CA61EAB-4946-4208-4E35-B82AAA6EBCF9}"/>
                </a:ext>
              </a:extLst>
            </p:cNvPr>
            <p:cNvGrpSpPr>
              <a:grpSpLocks/>
            </p:cNvGrpSpPr>
            <p:nvPr/>
          </p:nvGrpSpPr>
          <p:grpSpPr bwMode="auto">
            <a:xfrm>
              <a:off x="917575" y="1676400"/>
              <a:ext cx="211138" cy="695325"/>
              <a:chOff x="3851" y="1182"/>
              <a:chExt cx="133" cy="438"/>
            </a:xfrm>
          </p:grpSpPr>
          <p:grpSp>
            <p:nvGrpSpPr>
              <p:cNvPr id="246" name="Group 48">
                <a:extLst>
                  <a:ext uri="{FF2B5EF4-FFF2-40B4-BE49-F238E27FC236}">
                    <a16:creationId xmlns:a16="http://schemas.microsoft.com/office/drawing/2014/main" id="{E2E01D4F-67EC-9067-E945-E95CB03D0C3B}"/>
                  </a:ext>
                </a:extLst>
              </p:cNvPr>
              <p:cNvGrpSpPr>
                <a:grpSpLocks/>
              </p:cNvGrpSpPr>
              <p:nvPr/>
            </p:nvGrpSpPr>
            <p:grpSpPr bwMode="auto">
              <a:xfrm flipH="1">
                <a:off x="3857" y="1182"/>
                <a:ext cx="127" cy="438"/>
                <a:chOff x="2450" y="2240"/>
                <a:chExt cx="220" cy="667"/>
              </a:xfrm>
            </p:grpSpPr>
            <p:sp>
              <p:nvSpPr>
                <p:cNvPr id="250" name="Oval 49">
                  <a:extLst>
                    <a:ext uri="{FF2B5EF4-FFF2-40B4-BE49-F238E27FC236}">
                      <a16:creationId xmlns:a16="http://schemas.microsoft.com/office/drawing/2014/main" id="{17F07EF8-76F0-C52C-3238-C70E0004767A}"/>
                    </a:ext>
                  </a:extLst>
                </p:cNvPr>
                <p:cNvSpPr>
                  <a:spLocks noChangeArrowheads="1"/>
                </p:cNvSpPr>
                <p:nvPr/>
              </p:nvSpPr>
              <p:spPr bwMode="auto">
                <a:xfrm>
                  <a:off x="2469" y="2240"/>
                  <a:ext cx="182" cy="19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51" name="Line 50">
                  <a:extLst>
                    <a:ext uri="{FF2B5EF4-FFF2-40B4-BE49-F238E27FC236}">
                      <a16:creationId xmlns:a16="http://schemas.microsoft.com/office/drawing/2014/main" id="{24DE3B00-2964-5E9C-A626-5522F8543039}"/>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2" name="Line 51">
                  <a:extLst>
                    <a:ext uri="{FF2B5EF4-FFF2-40B4-BE49-F238E27FC236}">
                      <a16:creationId xmlns:a16="http://schemas.microsoft.com/office/drawing/2014/main" id="{33BE5F88-8830-62F8-8112-992AEADC75DE}"/>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3" name="Line 52">
                  <a:extLst>
                    <a:ext uri="{FF2B5EF4-FFF2-40B4-BE49-F238E27FC236}">
                      <a16:creationId xmlns:a16="http://schemas.microsoft.com/office/drawing/2014/main" id="{0F374E5F-F539-B991-B053-418AE560F4A6}"/>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4" name="Line 53">
                  <a:extLst>
                    <a:ext uri="{FF2B5EF4-FFF2-40B4-BE49-F238E27FC236}">
                      <a16:creationId xmlns:a16="http://schemas.microsoft.com/office/drawing/2014/main" id="{7BF7E19F-9D51-8CEF-91C6-9A5F8CD24D9A}"/>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47" name="Group 54">
                <a:extLst>
                  <a:ext uri="{FF2B5EF4-FFF2-40B4-BE49-F238E27FC236}">
                    <a16:creationId xmlns:a16="http://schemas.microsoft.com/office/drawing/2014/main" id="{5FB74695-080C-56A2-0715-E637F3CBC625}"/>
                  </a:ext>
                </a:extLst>
              </p:cNvPr>
              <p:cNvGrpSpPr>
                <a:grpSpLocks/>
              </p:cNvGrpSpPr>
              <p:nvPr/>
            </p:nvGrpSpPr>
            <p:grpSpPr bwMode="auto">
              <a:xfrm>
                <a:off x="3851" y="1311"/>
                <a:ext cx="133" cy="181"/>
                <a:chOff x="1025" y="2981"/>
                <a:chExt cx="127" cy="270"/>
              </a:xfrm>
            </p:grpSpPr>
            <p:sp>
              <p:nvSpPr>
                <p:cNvPr id="248" name="AutoShape 55">
                  <a:extLst>
                    <a:ext uri="{FF2B5EF4-FFF2-40B4-BE49-F238E27FC236}">
                      <a16:creationId xmlns:a16="http://schemas.microsoft.com/office/drawing/2014/main" id="{B38DF839-87C6-3A33-6547-A0174A867DC3}"/>
                    </a:ext>
                  </a:extLst>
                </p:cNvPr>
                <p:cNvSpPr>
                  <a:spLocks noChangeArrowheads="1"/>
                </p:cNvSpPr>
                <p:nvPr/>
              </p:nvSpPr>
              <p:spPr bwMode="auto">
                <a:xfrm rot="5400000">
                  <a:off x="983" y="3131"/>
                  <a:ext cx="205" cy="36"/>
                </a:xfrm>
                <a:prstGeom prst="homePlate">
                  <a:avLst>
                    <a:gd name="adj" fmla="val 142361"/>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49" name="AutoShape 56">
                  <a:extLst>
                    <a:ext uri="{FF2B5EF4-FFF2-40B4-BE49-F238E27FC236}">
                      <a16:creationId xmlns:a16="http://schemas.microsoft.com/office/drawing/2014/main" id="{DDB44A19-E187-004E-7AA3-5A681CDAE6C7}"/>
                    </a:ext>
                  </a:extLst>
                </p:cNvPr>
                <p:cNvSpPr>
                  <a:spLocks noChangeArrowheads="1"/>
                </p:cNvSpPr>
                <p:nvPr/>
              </p:nvSpPr>
              <p:spPr bwMode="auto">
                <a:xfrm flipV="1">
                  <a:off x="1025" y="2981"/>
                  <a:ext cx="127" cy="91"/>
                </a:xfrm>
                <a:prstGeom prst="triangle">
                  <a:avLst>
                    <a:gd name="adj" fmla="val 50000"/>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grpSp>
        <p:grpSp>
          <p:nvGrpSpPr>
            <p:cNvPr id="255" name="Group 57">
              <a:extLst>
                <a:ext uri="{FF2B5EF4-FFF2-40B4-BE49-F238E27FC236}">
                  <a16:creationId xmlns:a16="http://schemas.microsoft.com/office/drawing/2014/main" id="{18F28C4D-A40C-D6A4-70A8-ACCD31B87551}"/>
                </a:ext>
              </a:extLst>
            </p:cNvPr>
            <p:cNvGrpSpPr>
              <a:grpSpLocks/>
            </p:cNvGrpSpPr>
            <p:nvPr/>
          </p:nvGrpSpPr>
          <p:grpSpPr bwMode="auto">
            <a:xfrm>
              <a:off x="3392488" y="1428750"/>
              <a:ext cx="2741612" cy="4343400"/>
              <a:chOff x="2137" y="900"/>
              <a:chExt cx="1727" cy="2736"/>
            </a:xfrm>
          </p:grpSpPr>
          <p:grpSp>
            <p:nvGrpSpPr>
              <p:cNvPr id="256" name="Group 58">
                <a:extLst>
                  <a:ext uri="{FF2B5EF4-FFF2-40B4-BE49-F238E27FC236}">
                    <a16:creationId xmlns:a16="http://schemas.microsoft.com/office/drawing/2014/main" id="{22FB9616-FC3C-C8D5-E7BD-9AD6846F544D}"/>
                  </a:ext>
                </a:extLst>
              </p:cNvPr>
              <p:cNvGrpSpPr>
                <a:grpSpLocks/>
              </p:cNvGrpSpPr>
              <p:nvPr/>
            </p:nvGrpSpPr>
            <p:grpSpPr bwMode="auto">
              <a:xfrm>
                <a:off x="2186" y="900"/>
                <a:ext cx="1678" cy="2736"/>
                <a:chOff x="2186" y="900"/>
                <a:chExt cx="1678" cy="2736"/>
              </a:xfrm>
            </p:grpSpPr>
            <p:sp>
              <p:nvSpPr>
                <p:cNvPr id="267" name="Rectangle 59">
                  <a:extLst>
                    <a:ext uri="{FF2B5EF4-FFF2-40B4-BE49-F238E27FC236}">
                      <a16:creationId xmlns:a16="http://schemas.microsoft.com/office/drawing/2014/main" id="{B7B00863-5290-322C-2F61-1C82E8DED0DC}"/>
                    </a:ext>
                  </a:extLst>
                </p:cNvPr>
                <p:cNvSpPr>
                  <a:spLocks noChangeArrowheads="1"/>
                </p:cNvSpPr>
                <p:nvPr/>
              </p:nvSpPr>
              <p:spPr bwMode="auto">
                <a:xfrm>
                  <a:off x="2186" y="900"/>
                  <a:ext cx="1390" cy="338"/>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268" name="Group 60">
                  <a:extLst>
                    <a:ext uri="{FF2B5EF4-FFF2-40B4-BE49-F238E27FC236}">
                      <a16:creationId xmlns:a16="http://schemas.microsoft.com/office/drawing/2014/main" id="{48BB9189-ED6A-BD08-78D7-0855B451A2FB}"/>
                    </a:ext>
                  </a:extLst>
                </p:cNvPr>
                <p:cNvGrpSpPr>
                  <a:grpSpLocks/>
                </p:cNvGrpSpPr>
                <p:nvPr/>
              </p:nvGrpSpPr>
              <p:grpSpPr bwMode="auto">
                <a:xfrm flipH="1">
                  <a:off x="3265" y="1333"/>
                  <a:ext cx="127" cy="438"/>
                  <a:chOff x="2450" y="2240"/>
                  <a:chExt cx="220" cy="667"/>
                </a:xfrm>
              </p:grpSpPr>
              <p:sp>
                <p:nvSpPr>
                  <p:cNvPr id="306" name="Oval 61">
                    <a:extLst>
                      <a:ext uri="{FF2B5EF4-FFF2-40B4-BE49-F238E27FC236}">
                        <a16:creationId xmlns:a16="http://schemas.microsoft.com/office/drawing/2014/main" id="{B6C61EEB-8708-B696-AEB0-67446C73432A}"/>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07" name="Line 62">
                    <a:extLst>
                      <a:ext uri="{FF2B5EF4-FFF2-40B4-BE49-F238E27FC236}">
                        <a16:creationId xmlns:a16="http://schemas.microsoft.com/office/drawing/2014/main" id="{C1C3654F-6668-6864-0AE1-311B50D2F597}"/>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8" name="Line 63">
                    <a:extLst>
                      <a:ext uri="{FF2B5EF4-FFF2-40B4-BE49-F238E27FC236}">
                        <a16:creationId xmlns:a16="http://schemas.microsoft.com/office/drawing/2014/main" id="{98FA26AF-B023-C22A-6D80-AE7643D42A1A}"/>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9" name="Line 64">
                    <a:extLst>
                      <a:ext uri="{FF2B5EF4-FFF2-40B4-BE49-F238E27FC236}">
                        <a16:creationId xmlns:a16="http://schemas.microsoft.com/office/drawing/2014/main" id="{0997B0B2-CC3E-D6FE-6785-6F56F22C2C54}"/>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0" name="Line 65">
                    <a:extLst>
                      <a:ext uri="{FF2B5EF4-FFF2-40B4-BE49-F238E27FC236}">
                        <a16:creationId xmlns:a16="http://schemas.microsoft.com/office/drawing/2014/main" id="{F9BC76DF-43C3-B50A-976F-E940189D3B97}"/>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69" name="Oval 66">
                  <a:extLst>
                    <a:ext uri="{FF2B5EF4-FFF2-40B4-BE49-F238E27FC236}">
                      <a16:creationId xmlns:a16="http://schemas.microsoft.com/office/drawing/2014/main" id="{7C33154A-40E6-F1BC-ACAF-DB88469C742F}"/>
                    </a:ext>
                  </a:extLst>
                </p:cNvPr>
                <p:cNvSpPr>
                  <a:spLocks noChangeArrowheads="1"/>
                </p:cNvSpPr>
                <p:nvPr/>
              </p:nvSpPr>
              <p:spPr bwMode="auto">
                <a:xfrm>
                  <a:off x="2396" y="1386"/>
                  <a:ext cx="969" cy="887"/>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70" name="Rectangle 67">
                  <a:extLst>
                    <a:ext uri="{FF2B5EF4-FFF2-40B4-BE49-F238E27FC236}">
                      <a16:creationId xmlns:a16="http://schemas.microsoft.com/office/drawing/2014/main" id="{DCC47876-B9FB-0CDD-4532-CE1CD937ACFA}"/>
                    </a:ext>
                  </a:extLst>
                </p:cNvPr>
                <p:cNvSpPr>
                  <a:spLocks noChangeArrowheads="1"/>
                </p:cNvSpPr>
                <p:nvPr/>
              </p:nvSpPr>
              <p:spPr bwMode="auto">
                <a:xfrm>
                  <a:off x="3083" y="1039"/>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271" name="Group 68">
                  <a:extLst>
                    <a:ext uri="{FF2B5EF4-FFF2-40B4-BE49-F238E27FC236}">
                      <a16:creationId xmlns:a16="http://schemas.microsoft.com/office/drawing/2014/main" id="{9DF6D855-F747-5B62-D80E-9D1ED3091F0E}"/>
                    </a:ext>
                  </a:extLst>
                </p:cNvPr>
                <p:cNvGrpSpPr>
                  <a:grpSpLocks/>
                </p:cNvGrpSpPr>
                <p:nvPr/>
              </p:nvGrpSpPr>
              <p:grpSpPr bwMode="auto">
                <a:xfrm flipH="1">
                  <a:off x="3233" y="1941"/>
                  <a:ext cx="127" cy="438"/>
                  <a:chOff x="2450" y="2240"/>
                  <a:chExt cx="220" cy="667"/>
                </a:xfrm>
              </p:grpSpPr>
              <p:sp>
                <p:nvSpPr>
                  <p:cNvPr id="301" name="Oval 69">
                    <a:extLst>
                      <a:ext uri="{FF2B5EF4-FFF2-40B4-BE49-F238E27FC236}">
                        <a16:creationId xmlns:a16="http://schemas.microsoft.com/office/drawing/2014/main" id="{E47F751D-FF98-0EE6-544B-C2664CD85F84}"/>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02" name="Line 70">
                    <a:extLst>
                      <a:ext uri="{FF2B5EF4-FFF2-40B4-BE49-F238E27FC236}">
                        <a16:creationId xmlns:a16="http://schemas.microsoft.com/office/drawing/2014/main" id="{E658CF0A-6DFA-4146-2254-D1A60C871D8C}"/>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3" name="Line 71">
                    <a:extLst>
                      <a:ext uri="{FF2B5EF4-FFF2-40B4-BE49-F238E27FC236}">
                        <a16:creationId xmlns:a16="http://schemas.microsoft.com/office/drawing/2014/main" id="{25B50081-FF38-336E-E4DC-E39504795C15}"/>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4" name="Line 72">
                    <a:extLst>
                      <a:ext uri="{FF2B5EF4-FFF2-40B4-BE49-F238E27FC236}">
                        <a16:creationId xmlns:a16="http://schemas.microsoft.com/office/drawing/2014/main" id="{DD4BD1D3-2A70-B35C-C3B7-46C057ACEEBF}"/>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5" name="Line 73">
                    <a:extLst>
                      <a:ext uri="{FF2B5EF4-FFF2-40B4-BE49-F238E27FC236}">
                        <a16:creationId xmlns:a16="http://schemas.microsoft.com/office/drawing/2014/main" id="{56671F36-D9E3-45A1-0DDE-91B8DC18A10B}"/>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72" name="Rectangle 74">
                  <a:extLst>
                    <a:ext uri="{FF2B5EF4-FFF2-40B4-BE49-F238E27FC236}">
                      <a16:creationId xmlns:a16="http://schemas.microsoft.com/office/drawing/2014/main" id="{9A35BE75-C7F3-77F2-DBA4-9F9B8555C297}"/>
                    </a:ext>
                  </a:extLst>
                </p:cNvPr>
                <p:cNvSpPr>
                  <a:spLocks noChangeArrowheads="1"/>
                </p:cNvSpPr>
                <p:nvPr/>
              </p:nvSpPr>
              <p:spPr bwMode="auto">
                <a:xfrm>
                  <a:off x="3225" y="980"/>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73" name="Rectangle 75">
                  <a:extLst>
                    <a:ext uri="{FF2B5EF4-FFF2-40B4-BE49-F238E27FC236}">
                      <a16:creationId xmlns:a16="http://schemas.microsoft.com/office/drawing/2014/main" id="{7A47BA65-C471-C2F6-BE18-451AFEFF6931}"/>
                    </a:ext>
                  </a:extLst>
                </p:cNvPr>
                <p:cNvSpPr>
                  <a:spLocks noChangeArrowheads="1"/>
                </p:cNvSpPr>
                <p:nvPr/>
              </p:nvSpPr>
              <p:spPr bwMode="auto">
                <a:xfrm>
                  <a:off x="3031" y="1876"/>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74" name="Rectangle 76">
                  <a:extLst>
                    <a:ext uri="{FF2B5EF4-FFF2-40B4-BE49-F238E27FC236}">
                      <a16:creationId xmlns:a16="http://schemas.microsoft.com/office/drawing/2014/main" id="{90937CCD-5C50-7A83-279A-9E96FEFCA566}"/>
                    </a:ext>
                  </a:extLst>
                </p:cNvPr>
                <p:cNvSpPr>
                  <a:spLocks noChangeArrowheads="1"/>
                </p:cNvSpPr>
                <p:nvPr/>
              </p:nvSpPr>
              <p:spPr bwMode="auto">
                <a:xfrm>
                  <a:off x="3371" y="1089"/>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75" name="Rectangle 77">
                  <a:extLst>
                    <a:ext uri="{FF2B5EF4-FFF2-40B4-BE49-F238E27FC236}">
                      <a16:creationId xmlns:a16="http://schemas.microsoft.com/office/drawing/2014/main" id="{F69820BC-432E-607B-D08E-EC837A1DCEFA}"/>
                    </a:ext>
                  </a:extLst>
                </p:cNvPr>
                <p:cNvSpPr>
                  <a:spLocks noChangeArrowheads="1"/>
                </p:cNvSpPr>
                <p:nvPr/>
              </p:nvSpPr>
              <p:spPr bwMode="auto">
                <a:xfrm>
                  <a:off x="3022" y="2003"/>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76" name="Rectangle 78">
                  <a:extLst>
                    <a:ext uri="{FF2B5EF4-FFF2-40B4-BE49-F238E27FC236}">
                      <a16:creationId xmlns:a16="http://schemas.microsoft.com/office/drawing/2014/main" id="{D2D7FA35-1EA8-0712-C9D4-946E887CFFCC}"/>
                    </a:ext>
                  </a:extLst>
                </p:cNvPr>
                <p:cNvSpPr>
                  <a:spLocks noChangeArrowheads="1"/>
                </p:cNvSpPr>
                <p:nvPr/>
              </p:nvSpPr>
              <p:spPr bwMode="auto">
                <a:xfrm>
                  <a:off x="3163" y="2026"/>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77" name="Rectangle 79">
                  <a:extLst>
                    <a:ext uri="{FF2B5EF4-FFF2-40B4-BE49-F238E27FC236}">
                      <a16:creationId xmlns:a16="http://schemas.microsoft.com/office/drawing/2014/main" id="{47A60770-989E-2AD1-EEBD-9CFC4A27973E}"/>
                    </a:ext>
                  </a:extLst>
                </p:cNvPr>
                <p:cNvSpPr>
                  <a:spLocks noChangeArrowheads="1"/>
                </p:cNvSpPr>
                <p:nvPr/>
              </p:nvSpPr>
              <p:spPr bwMode="auto">
                <a:xfrm>
                  <a:off x="2744" y="2063"/>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78" name="Rectangle 80">
                  <a:extLst>
                    <a:ext uri="{FF2B5EF4-FFF2-40B4-BE49-F238E27FC236}">
                      <a16:creationId xmlns:a16="http://schemas.microsoft.com/office/drawing/2014/main" id="{05DFCA9E-D222-B113-E809-A2A3949A189A}"/>
                    </a:ext>
                  </a:extLst>
                </p:cNvPr>
                <p:cNvSpPr>
                  <a:spLocks noChangeArrowheads="1"/>
                </p:cNvSpPr>
                <p:nvPr/>
              </p:nvSpPr>
              <p:spPr bwMode="auto">
                <a:xfrm>
                  <a:off x="2827" y="2183"/>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279" name="Group 81">
                  <a:extLst>
                    <a:ext uri="{FF2B5EF4-FFF2-40B4-BE49-F238E27FC236}">
                      <a16:creationId xmlns:a16="http://schemas.microsoft.com/office/drawing/2014/main" id="{A2294FC7-4009-3F0F-8ADD-863C4DDCF72E}"/>
                    </a:ext>
                  </a:extLst>
                </p:cNvPr>
                <p:cNvGrpSpPr>
                  <a:grpSpLocks/>
                </p:cNvGrpSpPr>
                <p:nvPr/>
              </p:nvGrpSpPr>
              <p:grpSpPr bwMode="auto">
                <a:xfrm flipH="1">
                  <a:off x="2927" y="2101"/>
                  <a:ext cx="127" cy="438"/>
                  <a:chOff x="2450" y="2240"/>
                  <a:chExt cx="220" cy="667"/>
                </a:xfrm>
              </p:grpSpPr>
              <p:sp>
                <p:nvSpPr>
                  <p:cNvPr id="296" name="Oval 82">
                    <a:extLst>
                      <a:ext uri="{FF2B5EF4-FFF2-40B4-BE49-F238E27FC236}">
                        <a16:creationId xmlns:a16="http://schemas.microsoft.com/office/drawing/2014/main" id="{9B3A5C75-99D4-46A2-7341-6A6D439C228E}"/>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97" name="Line 83">
                    <a:extLst>
                      <a:ext uri="{FF2B5EF4-FFF2-40B4-BE49-F238E27FC236}">
                        <a16:creationId xmlns:a16="http://schemas.microsoft.com/office/drawing/2014/main" id="{6784B270-0F22-3124-A141-661CF7031116}"/>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 name="Line 84">
                    <a:extLst>
                      <a:ext uri="{FF2B5EF4-FFF2-40B4-BE49-F238E27FC236}">
                        <a16:creationId xmlns:a16="http://schemas.microsoft.com/office/drawing/2014/main" id="{A4FCEB23-A451-6609-7ED6-A9529EE744FF}"/>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9" name="Line 85">
                    <a:extLst>
                      <a:ext uri="{FF2B5EF4-FFF2-40B4-BE49-F238E27FC236}">
                        <a16:creationId xmlns:a16="http://schemas.microsoft.com/office/drawing/2014/main" id="{665F36EE-62B6-D963-0936-D66F015BE0FC}"/>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0" name="Line 86">
                    <a:extLst>
                      <a:ext uri="{FF2B5EF4-FFF2-40B4-BE49-F238E27FC236}">
                        <a16:creationId xmlns:a16="http://schemas.microsoft.com/office/drawing/2014/main" id="{8FC680D4-7DFC-E4F6-15DB-17C10BAA8D4B}"/>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80" name="Group 87">
                  <a:extLst>
                    <a:ext uri="{FF2B5EF4-FFF2-40B4-BE49-F238E27FC236}">
                      <a16:creationId xmlns:a16="http://schemas.microsoft.com/office/drawing/2014/main" id="{E84E97E2-B147-FA52-A30A-07B6051A1FF7}"/>
                    </a:ext>
                  </a:extLst>
                </p:cNvPr>
                <p:cNvGrpSpPr>
                  <a:grpSpLocks/>
                </p:cNvGrpSpPr>
                <p:nvPr/>
              </p:nvGrpSpPr>
              <p:grpSpPr bwMode="auto">
                <a:xfrm flipH="1">
                  <a:off x="2351" y="1827"/>
                  <a:ext cx="127" cy="438"/>
                  <a:chOff x="2450" y="2240"/>
                  <a:chExt cx="220" cy="667"/>
                </a:xfrm>
              </p:grpSpPr>
              <p:sp>
                <p:nvSpPr>
                  <p:cNvPr id="291" name="Oval 88">
                    <a:extLst>
                      <a:ext uri="{FF2B5EF4-FFF2-40B4-BE49-F238E27FC236}">
                        <a16:creationId xmlns:a16="http://schemas.microsoft.com/office/drawing/2014/main" id="{8C589C3C-F2E5-577E-4D3A-4AA10A48139B}"/>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92" name="Line 89">
                    <a:extLst>
                      <a:ext uri="{FF2B5EF4-FFF2-40B4-BE49-F238E27FC236}">
                        <a16:creationId xmlns:a16="http://schemas.microsoft.com/office/drawing/2014/main" id="{54490EC5-B7A2-3E58-D1A1-DA5F4E7C9D66}"/>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3" name="Line 90">
                    <a:extLst>
                      <a:ext uri="{FF2B5EF4-FFF2-40B4-BE49-F238E27FC236}">
                        <a16:creationId xmlns:a16="http://schemas.microsoft.com/office/drawing/2014/main" id="{1DE7DD1C-BDCA-50CE-5D40-B811D94985D9}"/>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4" name="Line 91">
                    <a:extLst>
                      <a:ext uri="{FF2B5EF4-FFF2-40B4-BE49-F238E27FC236}">
                        <a16:creationId xmlns:a16="http://schemas.microsoft.com/office/drawing/2014/main" id="{55ABAE45-F62D-B9E2-27BB-BD44F5E2B6DC}"/>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5" name="Line 92">
                    <a:extLst>
                      <a:ext uri="{FF2B5EF4-FFF2-40B4-BE49-F238E27FC236}">
                        <a16:creationId xmlns:a16="http://schemas.microsoft.com/office/drawing/2014/main" id="{C2EF980A-4911-1E34-BBC9-B4B4D84E99FB}"/>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81" name="Rectangle 93">
                  <a:extLst>
                    <a:ext uri="{FF2B5EF4-FFF2-40B4-BE49-F238E27FC236}">
                      <a16:creationId xmlns:a16="http://schemas.microsoft.com/office/drawing/2014/main" id="{EE33A8CB-C87E-E625-0F46-B5A6021D59AE}"/>
                    </a:ext>
                  </a:extLst>
                </p:cNvPr>
                <p:cNvSpPr>
                  <a:spLocks noChangeArrowheads="1"/>
                </p:cNvSpPr>
                <p:nvPr/>
              </p:nvSpPr>
              <p:spPr bwMode="auto">
                <a:xfrm flipH="1" flipV="1">
                  <a:off x="2488" y="1971"/>
                  <a:ext cx="101" cy="82"/>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82" name="Rectangle 94">
                  <a:extLst>
                    <a:ext uri="{FF2B5EF4-FFF2-40B4-BE49-F238E27FC236}">
                      <a16:creationId xmlns:a16="http://schemas.microsoft.com/office/drawing/2014/main" id="{77D2BF9F-CA75-BB0E-E185-ED32FF806AAE}"/>
                    </a:ext>
                  </a:extLst>
                </p:cNvPr>
                <p:cNvSpPr>
                  <a:spLocks noChangeArrowheads="1"/>
                </p:cNvSpPr>
                <p:nvPr/>
              </p:nvSpPr>
              <p:spPr bwMode="auto">
                <a:xfrm>
                  <a:off x="2544" y="1141"/>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83" name="Rectangle 95">
                  <a:extLst>
                    <a:ext uri="{FF2B5EF4-FFF2-40B4-BE49-F238E27FC236}">
                      <a16:creationId xmlns:a16="http://schemas.microsoft.com/office/drawing/2014/main" id="{F67C8632-BEA4-AAB0-685F-FAD8E66971A8}"/>
                    </a:ext>
                  </a:extLst>
                </p:cNvPr>
                <p:cNvSpPr>
                  <a:spLocks noChangeArrowheads="1"/>
                </p:cNvSpPr>
                <p:nvPr/>
              </p:nvSpPr>
              <p:spPr bwMode="auto">
                <a:xfrm>
                  <a:off x="2328" y="1146"/>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284" name="Group 96">
                  <a:extLst>
                    <a:ext uri="{FF2B5EF4-FFF2-40B4-BE49-F238E27FC236}">
                      <a16:creationId xmlns:a16="http://schemas.microsoft.com/office/drawing/2014/main" id="{51F3F9AF-3DBF-DEC3-03D2-57E83808BB9C}"/>
                    </a:ext>
                  </a:extLst>
                </p:cNvPr>
                <p:cNvGrpSpPr>
                  <a:grpSpLocks/>
                </p:cNvGrpSpPr>
                <p:nvPr/>
              </p:nvGrpSpPr>
              <p:grpSpPr bwMode="auto">
                <a:xfrm flipH="1">
                  <a:off x="2420" y="960"/>
                  <a:ext cx="127" cy="438"/>
                  <a:chOff x="2450" y="2240"/>
                  <a:chExt cx="220" cy="667"/>
                </a:xfrm>
              </p:grpSpPr>
              <p:sp>
                <p:nvSpPr>
                  <p:cNvPr id="286" name="Oval 97">
                    <a:extLst>
                      <a:ext uri="{FF2B5EF4-FFF2-40B4-BE49-F238E27FC236}">
                        <a16:creationId xmlns:a16="http://schemas.microsoft.com/office/drawing/2014/main" id="{3A1BFEB8-59DA-E225-32F9-3F492650EEEC}"/>
                      </a:ext>
                    </a:extLst>
                  </p:cNvPr>
                  <p:cNvSpPr>
                    <a:spLocks noChangeArrowheads="1"/>
                  </p:cNvSpPr>
                  <p:nvPr/>
                </p:nvSpPr>
                <p:spPr bwMode="auto">
                  <a:xfrm>
                    <a:off x="2469" y="2240"/>
                    <a:ext cx="182" cy="19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87" name="Line 98">
                    <a:extLst>
                      <a:ext uri="{FF2B5EF4-FFF2-40B4-BE49-F238E27FC236}">
                        <a16:creationId xmlns:a16="http://schemas.microsoft.com/office/drawing/2014/main" id="{18A2CA95-A98E-7074-7E33-C4EEAF9BC668}"/>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 name="Line 99">
                    <a:extLst>
                      <a:ext uri="{FF2B5EF4-FFF2-40B4-BE49-F238E27FC236}">
                        <a16:creationId xmlns:a16="http://schemas.microsoft.com/office/drawing/2014/main" id="{04CF2B9C-4EC6-3319-3A51-1DC9F3D24831}"/>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9" name="Line 100">
                    <a:extLst>
                      <a:ext uri="{FF2B5EF4-FFF2-40B4-BE49-F238E27FC236}">
                        <a16:creationId xmlns:a16="http://schemas.microsoft.com/office/drawing/2014/main" id="{31FEBF3C-0555-7FE4-5FEF-11702DA0E102}"/>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0" name="Line 101">
                    <a:extLst>
                      <a:ext uri="{FF2B5EF4-FFF2-40B4-BE49-F238E27FC236}">
                        <a16:creationId xmlns:a16="http://schemas.microsoft.com/office/drawing/2014/main" id="{4B448D24-93AF-E475-1DEB-67F50C5CE683}"/>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85" name="Rectangle 102">
                  <a:extLst>
                    <a:ext uri="{FF2B5EF4-FFF2-40B4-BE49-F238E27FC236}">
                      <a16:creationId xmlns:a16="http://schemas.microsoft.com/office/drawing/2014/main" id="{93334E53-7B9B-43E9-3A1B-A960BE865994}"/>
                    </a:ext>
                  </a:extLst>
                </p:cNvPr>
                <p:cNvSpPr>
                  <a:spLocks noChangeArrowheads="1"/>
                </p:cNvSpPr>
                <p:nvPr/>
              </p:nvSpPr>
              <p:spPr bwMode="auto">
                <a:xfrm>
                  <a:off x="2199" y="2721"/>
                  <a:ext cx="1665" cy="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400">
                      <a:solidFill>
                        <a:schemeClr val="tx1"/>
                      </a:solidFill>
                      <a:latin typeface="Arial" panose="020B0604020202020204" pitchFamily="34" charset="0"/>
                    </a:rPr>
                    <a:t>Step 2: Each participant individually shares Post-it notes aloud and then posts on board/flipchart</a:t>
                  </a:r>
                </a:p>
                <a:p>
                  <a:pPr>
                    <a:spcBef>
                      <a:spcPct val="40000"/>
                    </a:spcBef>
                    <a:buSzPct val="125000"/>
                    <a:buFont typeface="Arial" panose="020B0604020202020204" pitchFamily="34" charset="0"/>
                    <a:buChar char="•"/>
                  </a:pPr>
                  <a:r>
                    <a:rPr lang="en-US" altLang="en-US" sz="1400">
                      <a:solidFill>
                        <a:schemeClr val="tx1"/>
                      </a:solidFill>
                      <a:latin typeface="Arial" panose="020B0604020202020204" pitchFamily="34" charset="0"/>
                    </a:rPr>
                    <a:t>No judgments are cast yet about what is posted</a:t>
                  </a:r>
                </a:p>
              </p:txBody>
            </p:sp>
          </p:grpSp>
          <p:grpSp>
            <p:nvGrpSpPr>
              <p:cNvPr id="257" name="Group 103">
                <a:extLst>
                  <a:ext uri="{FF2B5EF4-FFF2-40B4-BE49-F238E27FC236}">
                    <a16:creationId xmlns:a16="http://schemas.microsoft.com/office/drawing/2014/main" id="{C64A1A84-5E21-F547-B074-04461918683C}"/>
                  </a:ext>
                </a:extLst>
              </p:cNvPr>
              <p:cNvGrpSpPr>
                <a:grpSpLocks/>
              </p:cNvGrpSpPr>
              <p:nvPr/>
            </p:nvGrpSpPr>
            <p:grpSpPr bwMode="auto">
              <a:xfrm>
                <a:off x="2137" y="1381"/>
                <a:ext cx="133" cy="438"/>
                <a:chOff x="3851" y="1182"/>
                <a:chExt cx="133" cy="438"/>
              </a:xfrm>
            </p:grpSpPr>
            <p:grpSp>
              <p:nvGrpSpPr>
                <p:cNvPr id="258" name="Group 104">
                  <a:extLst>
                    <a:ext uri="{FF2B5EF4-FFF2-40B4-BE49-F238E27FC236}">
                      <a16:creationId xmlns:a16="http://schemas.microsoft.com/office/drawing/2014/main" id="{D503A2D5-2269-D21F-D77A-633C520D2108}"/>
                    </a:ext>
                  </a:extLst>
                </p:cNvPr>
                <p:cNvGrpSpPr>
                  <a:grpSpLocks/>
                </p:cNvGrpSpPr>
                <p:nvPr/>
              </p:nvGrpSpPr>
              <p:grpSpPr bwMode="auto">
                <a:xfrm flipH="1">
                  <a:off x="3857" y="1182"/>
                  <a:ext cx="127" cy="438"/>
                  <a:chOff x="2450" y="2240"/>
                  <a:chExt cx="220" cy="667"/>
                </a:xfrm>
              </p:grpSpPr>
              <p:sp>
                <p:nvSpPr>
                  <p:cNvPr id="262" name="Oval 105">
                    <a:extLst>
                      <a:ext uri="{FF2B5EF4-FFF2-40B4-BE49-F238E27FC236}">
                        <a16:creationId xmlns:a16="http://schemas.microsoft.com/office/drawing/2014/main" id="{DE8A7D20-B3D0-1B3E-5E23-4E73616A0263}"/>
                      </a:ext>
                    </a:extLst>
                  </p:cNvPr>
                  <p:cNvSpPr>
                    <a:spLocks noChangeArrowheads="1"/>
                  </p:cNvSpPr>
                  <p:nvPr/>
                </p:nvSpPr>
                <p:spPr bwMode="auto">
                  <a:xfrm>
                    <a:off x="2469" y="2240"/>
                    <a:ext cx="182" cy="19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63" name="Line 106">
                    <a:extLst>
                      <a:ext uri="{FF2B5EF4-FFF2-40B4-BE49-F238E27FC236}">
                        <a16:creationId xmlns:a16="http://schemas.microsoft.com/office/drawing/2014/main" id="{90960B42-CD55-0E12-4679-3CE9BB1BDB7A}"/>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4" name="Line 107">
                    <a:extLst>
                      <a:ext uri="{FF2B5EF4-FFF2-40B4-BE49-F238E27FC236}">
                        <a16:creationId xmlns:a16="http://schemas.microsoft.com/office/drawing/2014/main" id="{BC2CD3BA-1494-0308-B1C5-555986B3A01C}"/>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5" name="Line 108">
                    <a:extLst>
                      <a:ext uri="{FF2B5EF4-FFF2-40B4-BE49-F238E27FC236}">
                        <a16:creationId xmlns:a16="http://schemas.microsoft.com/office/drawing/2014/main" id="{EC085D98-4436-D80D-2E0B-F7FCE7E8A5BA}"/>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 name="Line 109">
                    <a:extLst>
                      <a:ext uri="{FF2B5EF4-FFF2-40B4-BE49-F238E27FC236}">
                        <a16:creationId xmlns:a16="http://schemas.microsoft.com/office/drawing/2014/main" id="{F29B8A12-84D4-37DF-4D89-AC4AC30A49A1}"/>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59" name="Group 110">
                  <a:extLst>
                    <a:ext uri="{FF2B5EF4-FFF2-40B4-BE49-F238E27FC236}">
                      <a16:creationId xmlns:a16="http://schemas.microsoft.com/office/drawing/2014/main" id="{504191FC-0FD5-D65B-65BF-2275C5EEE22B}"/>
                    </a:ext>
                  </a:extLst>
                </p:cNvPr>
                <p:cNvGrpSpPr>
                  <a:grpSpLocks/>
                </p:cNvGrpSpPr>
                <p:nvPr/>
              </p:nvGrpSpPr>
              <p:grpSpPr bwMode="auto">
                <a:xfrm>
                  <a:off x="3851" y="1311"/>
                  <a:ext cx="133" cy="181"/>
                  <a:chOff x="1025" y="2981"/>
                  <a:chExt cx="127" cy="270"/>
                </a:xfrm>
              </p:grpSpPr>
              <p:sp>
                <p:nvSpPr>
                  <p:cNvPr id="260" name="AutoShape 111">
                    <a:extLst>
                      <a:ext uri="{FF2B5EF4-FFF2-40B4-BE49-F238E27FC236}">
                        <a16:creationId xmlns:a16="http://schemas.microsoft.com/office/drawing/2014/main" id="{55A4782D-A5A6-E63B-83A7-2B090914538C}"/>
                      </a:ext>
                    </a:extLst>
                  </p:cNvPr>
                  <p:cNvSpPr>
                    <a:spLocks noChangeArrowheads="1"/>
                  </p:cNvSpPr>
                  <p:nvPr/>
                </p:nvSpPr>
                <p:spPr bwMode="auto">
                  <a:xfrm rot="5400000">
                    <a:off x="983" y="3131"/>
                    <a:ext cx="205" cy="36"/>
                  </a:xfrm>
                  <a:prstGeom prst="homePlate">
                    <a:avLst>
                      <a:gd name="adj" fmla="val 142361"/>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261" name="AutoShape 112">
                    <a:extLst>
                      <a:ext uri="{FF2B5EF4-FFF2-40B4-BE49-F238E27FC236}">
                        <a16:creationId xmlns:a16="http://schemas.microsoft.com/office/drawing/2014/main" id="{8468F50C-2F74-75C7-9EC1-B33CF991A988}"/>
                      </a:ext>
                    </a:extLst>
                  </p:cNvPr>
                  <p:cNvSpPr>
                    <a:spLocks noChangeArrowheads="1"/>
                  </p:cNvSpPr>
                  <p:nvPr/>
                </p:nvSpPr>
                <p:spPr bwMode="auto">
                  <a:xfrm flipV="1">
                    <a:off x="1025" y="2981"/>
                    <a:ext cx="127" cy="91"/>
                  </a:xfrm>
                  <a:prstGeom prst="triangle">
                    <a:avLst>
                      <a:gd name="adj" fmla="val 50000"/>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grpSp>
        </p:grpSp>
        <p:grpSp>
          <p:nvGrpSpPr>
            <p:cNvPr id="311" name="Group 113">
              <a:extLst>
                <a:ext uri="{FF2B5EF4-FFF2-40B4-BE49-F238E27FC236}">
                  <a16:creationId xmlns:a16="http://schemas.microsoft.com/office/drawing/2014/main" id="{5094A10A-03EB-A3AE-1665-10926C7C5668}"/>
                </a:ext>
              </a:extLst>
            </p:cNvPr>
            <p:cNvGrpSpPr>
              <a:grpSpLocks/>
            </p:cNvGrpSpPr>
            <p:nvPr/>
          </p:nvGrpSpPr>
          <p:grpSpPr bwMode="auto">
            <a:xfrm>
              <a:off x="6362700" y="1420813"/>
              <a:ext cx="2352675" cy="4337050"/>
              <a:chOff x="4008" y="895"/>
              <a:chExt cx="1482" cy="2732"/>
            </a:xfrm>
          </p:grpSpPr>
          <p:grpSp>
            <p:nvGrpSpPr>
              <p:cNvPr id="312" name="Group 114">
                <a:extLst>
                  <a:ext uri="{FF2B5EF4-FFF2-40B4-BE49-F238E27FC236}">
                    <a16:creationId xmlns:a16="http://schemas.microsoft.com/office/drawing/2014/main" id="{FF69610B-907D-AECE-C2B4-4B132B95DE39}"/>
                  </a:ext>
                </a:extLst>
              </p:cNvPr>
              <p:cNvGrpSpPr>
                <a:grpSpLocks/>
              </p:cNvGrpSpPr>
              <p:nvPr/>
            </p:nvGrpSpPr>
            <p:grpSpPr bwMode="auto">
              <a:xfrm>
                <a:off x="4008" y="895"/>
                <a:ext cx="1482" cy="2732"/>
                <a:chOff x="4026" y="895"/>
                <a:chExt cx="1482" cy="2732"/>
              </a:xfrm>
            </p:grpSpPr>
            <p:sp>
              <p:nvSpPr>
                <p:cNvPr id="319" name="Rectangle 115">
                  <a:extLst>
                    <a:ext uri="{FF2B5EF4-FFF2-40B4-BE49-F238E27FC236}">
                      <a16:creationId xmlns:a16="http://schemas.microsoft.com/office/drawing/2014/main" id="{F4529DA0-ACF9-2E63-792B-0A61DEC1CDF9}"/>
                    </a:ext>
                  </a:extLst>
                </p:cNvPr>
                <p:cNvSpPr>
                  <a:spLocks noChangeArrowheads="1"/>
                </p:cNvSpPr>
                <p:nvPr/>
              </p:nvSpPr>
              <p:spPr bwMode="auto">
                <a:xfrm>
                  <a:off x="4118" y="897"/>
                  <a:ext cx="1390" cy="338"/>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320" name="Group 116">
                  <a:extLst>
                    <a:ext uri="{FF2B5EF4-FFF2-40B4-BE49-F238E27FC236}">
                      <a16:creationId xmlns:a16="http://schemas.microsoft.com/office/drawing/2014/main" id="{8E43CE33-771C-1030-B7BB-F313F3F2D6DE}"/>
                    </a:ext>
                  </a:extLst>
                </p:cNvPr>
                <p:cNvGrpSpPr>
                  <a:grpSpLocks/>
                </p:cNvGrpSpPr>
                <p:nvPr/>
              </p:nvGrpSpPr>
              <p:grpSpPr bwMode="auto">
                <a:xfrm flipH="1">
                  <a:off x="5197" y="1330"/>
                  <a:ext cx="127" cy="438"/>
                  <a:chOff x="2450" y="2240"/>
                  <a:chExt cx="220" cy="667"/>
                </a:xfrm>
              </p:grpSpPr>
              <p:sp>
                <p:nvSpPr>
                  <p:cNvPr id="374" name="Oval 117">
                    <a:extLst>
                      <a:ext uri="{FF2B5EF4-FFF2-40B4-BE49-F238E27FC236}">
                        <a16:creationId xmlns:a16="http://schemas.microsoft.com/office/drawing/2014/main" id="{598D0E75-D1E6-B897-1C1C-0DD124E1B890}"/>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75" name="Line 118">
                    <a:extLst>
                      <a:ext uri="{FF2B5EF4-FFF2-40B4-BE49-F238E27FC236}">
                        <a16:creationId xmlns:a16="http://schemas.microsoft.com/office/drawing/2014/main" id="{448788B6-2081-BCF5-F6EE-136A8B019FC7}"/>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6" name="Line 119">
                    <a:extLst>
                      <a:ext uri="{FF2B5EF4-FFF2-40B4-BE49-F238E27FC236}">
                        <a16:creationId xmlns:a16="http://schemas.microsoft.com/office/drawing/2014/main" id="{F305D331-4875-D314-435E-890B210D0788}"/>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7" name="Line 120">
                    <a:extLst>
                      <a:ext uri="{FF2B5EF4-FFF2-40B4-BE49-F238E27FC236}">
                        <a16:creationId xmlns:a16="http://schemas.microsoft.com/office/drawing/2014/main" id="{95EC4CE7-119A-A8E7-9CEF-47CFB13A3A89}"/>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 name="Line 121">
                    <a:extLst>
                      <a:ext uri="{FF2B5EF4-FFF2-40B4-BE49-F238E27FC236}">
                        <a16:creationId xmlns:a16="http://schemas.microsoft.com/office/drawing/2014/main" id="{ABC4ECCF-C2C7-77A3-2977-218977CA7CF8}"/>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21" name="Oval 122">
                  <a:extLst>
                    <a:ext uri="{FF2B5EF4-FFF2-40B4-BE49-F238E27FC236}">
                      <a16:creationId xmlns:a16="http://schemas.microsoft.com/office/drawing/2014/main" id="{C2ABC8CE-D60C-CD77-02A1-EE7EB051457E}"/>
                    </a:ext>
                  </a:extLst>
                </p:cNvPr>
                <p:cNvSpPr>
                  <a:spLocks noChangeArrowheads="1"/>
                </p:cNvSpPr>
                <p:nvPr/>
              </p:nvSpPr>
              <p:spPr bwMode="auto">
                <a:xfrm>
                  <a:off x="4328" y="1383"/>
                  <a:ext cx="969" cy="887"/>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22" name="Rectangle 123">
                  <a:extLst>
                    <a:ext uri="{FF2B5EF4-FFF2-40B4-BE49-F238E27FC236}">
                      <a16:creationId xmlns:a16="http://schemas.microsoft.com/office/drawing/2014/main" id="{82613F0E-623F-D928-49D2-125CB379A9CC}"/>
                    </a:ext>
                  </a:extLst>
                </p:cNvPr>
                <p:cNvSpPr>
                  <a:spLocks noChangeArrowheads="1"/>
                </p:cNvSpPr>
                <p:nvPr/>
              </p:nvSpPr>
              <p:spPr bwMode="auto">
                <a:xfrm>
                  <a:off x="5261" y="981"/>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323" name="Group 124">
                  <a:extLst>
                    <a:ext uri="{FF2B5EF4-FFF2-40B4-BE49-F238E27FC236}">
                      <a16:creationId xmlns:a16="http://schemas.microsoft.com/office/drawing/2014/main" id="{E0CADD91-095C-1D9B-B937-81F6748E1061}"/>
                    </a:ext>
                  </a:extLst>
                </p:cNvPr>
                <p:cNvGrpSpPr>
                  <a:grpSpLocks/>
                </p:cNvGrpSpPr>
                <p:nvPr/>
              </p:nvGrpSpPr>
              <p:grpSpPr bwMode="auto">
                <a:xfrm flipH="1">
                  <a:off x="5165" y="1938"/>
                  <a:ext cx="127" cy="438"/>
                  <a:chOff x="2450" y="2240"/>
                  <a:chExt cx="220" cy="667"/>
                </a:xfrm>
              </p:grpSpPr>
              <p:sp>
                <p:nvSpPr>
                  <p:cNvPr id="369" name="Oval 125">
                    <a:extLst>
                      <a:ext uri="{FF2B5EF4-FFF2-40B4-BE49-F238E27FC236}">
                        <a16:creationId xmlns:a16="http://schemas.microsoft.com/office/drawing/2014/main" id="{29A9A4C1-D122-3BF4-4906-9ECA9E162F02}"/>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70" name="Line 126">
                    <a:extLst>
                      <a:ext uri="{FF2B5EF4-FFF2-40B4-BE49-F238E27FC236}">
                        <a16:creationId xmlns:a16="http://schemas.microsoft.com/office/drawing/2014/main" id="{85A6F2E7-73AE-7E22-2EF2-FF3D57C469E6}"/>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1" name="Line 127">
                    <a:extLst>
                      <a:ext uri="{FF2B5EF4-FFF2-40B4-BE49-F238E27FC236}">
                        <a16:creationId xmlns:a16="http://schemas.microsoft.com/office/drawing/2014/main" id="{2F8E4716-7F9B-BF6F-04B2-F6B82E2FF00D}"/>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2" name="Line 128">
                    <a:extLst>
                      <a:ext uri="{FF2B5EF4-FFF2-40B4-BE49-F238E27FC236}">
                        <a16:creationId xmlns:a16="http://schemas.microsoft.com/office/drawing/2014/main" id="{E0808BCB-68DA-DCBC-1BAD-718AF04DF7A8}"/>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3" name="Line 129">
                    <a:extLst>
                      <a:ext uri="{FF2B5EF4-FFF2-40B4-BE49-F238E27FC236}">
                        <a16:creationId xmlns:a16="http://schemas.microsoft.com/office/drawing/2014/main" id="{E6F11AFD-90EB-4AF1-612B-782C8B12CB8D}"/>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24" name="Rectangle 130">
                  <a:extLst>
                    <a:ext uri="{FF2B5EF4-FFF2-40B4-BE49-F238E27FC236}">
                      <a16:creationId xmlns:a16="http://schemas.microsoft.com/office/drawing/2014/main" id="{7E91A09D-E42E-EA65-EED0-76FB26562ADA}"/>
                    </a:ext>
                  </a:extLst>
                </p:cNvPr>
                <p:cNvSpPr>
                  <a:spLocks noChangeArrowheads="1"/>
                </p:cNvSpPr>
                <p:nvPr/>
              </p:nvSpPr>
              <p:spPr bwMode="auto">
                <a:xfrm>
                  <a:off x="5331" y="931"/>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25" name="Rectangle 131">
                  <a:extLst>
                    <a:ext uri="{FF2B5EF4-FFF2-40B4-BE49-F238E27FC236}">
                      <a16:creationId xmlns:a16="http://schemas.microsoft.com/office/drawing/2014/main" id="{95CD4183-A3EE-C0D1-6071-6C746CF837E3}"/>
                    </a:ext>
                  </a:extLst>
                </p:cNvPr>
                <p:cNvSpPr>
                  <a:spLocks noChangeArrowheads="1"/>
                </p:cNvSpPr>
                <p:nvPr/>
              </p:nvSpPr>
              <p:spPr bwMode="auto">
                <a:xfrm>
                  <a:off x="4999" y="1114"/>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26" name="Rectangle 132">
                  <a:extLst>
                    <a:ext uri="{FF2B5EF4-FFF2-40B4-BE49-F238E27FC236}">
                      <a16:creationId xmlns:a16="http://schemas.microsoft.com/office/drawing/2014/main" id="{217D562A-A379-BA45-CAE4-E9F393ED6C55}"/>
                    </a:ext>
                  </a:extLst>
                </p:cNvPr>
                <p:cNvSpPr>
                  <a:spLocks noChangeArrowheads="1"/>
                </p:cNvSpPr>
                <p:nvPr/>
              </p:nvSpPr>
              <p:spPr bwMode="auto">
                <a:xfrm>
                  <a:off x="5349" y="1013"/>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27" name="Rectangle 133">
                  <a:extLst>
                    <a:ext uri="{FF2B5EF4-FFF2-40B4-BE49-F238E27FC236}">
                      <a16:creationId xmlns:a16="http://schemas.microsoft.com/office/drawing/2014/main" id="{F94CE99C-ABB4-A053-E6E9-D74AE2C95784}"/>
                    </a:ext>
                  </a:extLst>
                </p:cNvPr>
                <p:cNvSpPr>
                  <a:spLocks noChangeArrowheads="1"/>
                </p:cNvSpPr>
                <p:nvPr/>
              </p:nvSpPr>
              <p:spPr bwMode="auto">
                <a:xfrm>
                  <a:off x="5046" y="1113"/>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28" name="Rectangle 134">
                  <a:extLst>
                    <a:ext uri="{FF2B5EF4-FFF2-40B4-BE49-F238E27FC236}">
                      <a16:creationId xmlns:a16="http://schemas.microsoft.com/office/drawing/2014/main" id="{68438D0B-EF4C-EF60-6C46-6B8FD3930AE9}"/>
                    </a:ext>
                  </a:extLst>
                </p:cNvPr>
                <p:cNvSpPr>
                  <a:spLocks noChangeArrowheads="1"/>
                </p:cNvSpPr>
                <p:nvPr/>
              </p:nvSpPr>
              <p:spPr bwMode="auto">
                <a:xfrm>
                  <a:off x="4739" y="963"/>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29" name="Rectangle 135">
                  <a:extLst>
                    <a:ext uri="{FF2B5EF4-FFF2-40B4-BE49-F238E27FC236}">
                      <a16:creationId xmlns:a16="http://schemas.microsoft.com/office/drawing/2014/main" id="{7E7AF576-1B7F-C9D6-1D94-4BA3694E109E}"/>
                    </a:ext>
                  </a:extLst>
                </p:cNvPr>
                <p:cNvSpPr>
                  <a:spLocks noChangeArrowheads="1"/>
                </p:cNvSpPr>
                <p:nvPr/>
              </p:nvSpPr>
              <p:spPr bwMode="auto">
                <a:xfrm>
                  <a:off x="4247" y="1017"/>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30" name="Rectangle 136">
                  <a:extLst>
                    <a:ext uri="{FF2B5EF4-FFF2-40B4-BE49-F238E27FC236}">
                      <a16:creationId xmlns:a16="http://schemas.microsoft.com/office/drawing/2014/main" id="{175A1047-0446-792B-9B42-0B1704ED3752}"/>
                    </a:ext>
                  </a:extLst>
                </p:cNvPr>
                <p:cNvSpPr>
                  <a:spLocks noChangeArrowheads="1"/>
                </p:cNvSpPr>
                <p:nvPr/>
              </p:nvSpPr>
              <p:spPr bwMode="auto">
                <a:xfrm>
                  <a:off x="4475" y="1110"/>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331" name="Group 137">
                  <a:extLst>
                    <a:ext uri="{FF2B5EF4-FFF2-40B4-BE49-F238E27FC236}">
                      <a16:creationId xmlns:a16="http://schemas.microsoft.com/office/drawing/2014/main" id="{7B488302-92F8-218F-F441-BEC0D1A34BEC}"/>
                    </a:ext>
                  </a:extLst>
                </p:cNvPr>
                <p:cNvGrpSpPr>
                  <a:grpSpLocks/>
                </p:cNvGrpSpPr>
                <p:nvPr/>
              </p:nvGrpSpPr>
              <p:grpSpPr bwMode="auto">
                <a:xfrm flipH="1">
                  <a:off x="4859" y="2098"/>
                  <a:ext cx="127" cy="438"/>
                  <a:chOff x="2450" y="2240"/>
                  <a:chExt cx="220" cy="667"/>
                </a:xfrm>
              </p:grpSpPr>
              <p:sp>
                <p:nvSpPr>
                  <p:cNvPr id="364" name="Oval 138">
                    <a:extLst>
                      <a:ext uri="{FF2B5EF4-FFF2-40B4-BE49-F238E27FC236}">
                        <a16:creationId xmlns:a16="http://schemas.microsoft.com/office/drawing/2014/main" id="{F2309720-CBB8-E551-CCDB-7678A4067ADC}"/>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65" name="Line 139">
                    <a:extLst>
                      <a:ext uri="{FF2B5EF4-FFF2-40B4-BE49-F238E27FC236}">
                        <a16:creationId xmlns:a16="http://schemas.microsoft.com/office/drawing/2014/main" id="{C4191A77-5D18-84E4-737F-0C9480C2E2D2}"/>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6" name="Line 140">
                    <a:extLst>
                      <a:ext uri="{FF2B5EF4-FFF2-40B4-BE49-F238E27FC236}">
                        <a16:creationId xmlns:a16="http://schemas.microsoft.com/office/drawing/2014/main" id="{0E8953A0-E46A-4DDB-4CD5-50F5FDAA253D}"/>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7" name="Line 141">
                    <a:extLst>
                      <a:ext uri="{FF2B5EF4-FFF2-40B4-BE49-F238E27FC236}">
                        <a16:creationId xmlns:a16="http://schemas.microsoft.com/office/drawing/2014/main" id="{21F75E5B-35CB-DBB4-6870-F98EC8D8AC76}"/>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 name="Line 142">
                    <a:extLst>
                      <a:ext uri="{FF2B5EF4-FFF2-40B4-BE49-F238E27FC236}">
                        <a16:creationId xmlns:a16="http://schemas.microsoft.com/office/drawing/2014/main" id="{8A96B989-D2B4-8B89-A265-3DFA5938CA2D}"/>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2" name="Group 143">
                  <a:extLst>
                    <a:ext uri="{FF2B5EF4-FFF2-40B4-BE49-F238E27FC236}">
                      <a16:creationId xmlns:a16="http://schemas.microsoft.com/office/drawing/2014/main" id="{492500BC-28C2-3E80-54AC-7281B34BD586}"/>
                    </a:ext>
                  </a:extLst>
                </p:cNvPr>
                <p:cNvGrpSpPr>
                  <a:grpSpLocks/>
                </p:cNvGrpSpPr>
                <p:nvPr/>
              </p:nvGrpSpPr>
              <p:grpSpPr bwMode="auto">
                <a:xfrm flipH="1">
                  <a:off x="4283" y="1824"/>
                  <a:ext cx="127" cy="438"/>
                  <a:chOff x="2450" y="2240"/>
                  <a:chExt cx="220" cy="667"/>
                </a:xfrm>
              </p:grpSpPr>
              <p:sp>
                <p:nvSpPr>
                  <p:cNvPr id="359" name="Oval 144">
                    <a:extLst>
                      <a:ext uri="{FF2B5EF4-FFF2-40B4-BE49-F238E27FC236}">
                        <a16:creationId xmlns:a16="http://schemas.microsoft.com/office/drawing/2014/main" id="{10683C32-9647-3237-05E1-458373029398}"/>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60" name="Line 145">
                    <a:extLst>
                      <a:ext uri="{FF2B5EF4-FFF2-40B4-BE49-F238E27FC236}">
                        <a16:creationId xmlns:a16="http://schemas.microsoft.com/office/drawing/2014/main" id="{00C3A631-6F63-E759-D48C-75476B27B0C8}"/>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1" name="Line 146">
                    <a:extLst>
                      <a:ext uri="{FF2B5EF4-FFF2-40B4-BE49-F238E27FC236}">
                        <a16:creationId xmlns:a16="http://schemas.microsoft.com/office/drawing/2014/main" id="{BEC172FB-3BBD-AB8C-C106-DFFDA05CA455}"/>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2" name="Line 147">
                    <a:extLst>
                      <a:ext uri="{FF2B5EF4-FFF2-40B4-BE49-F238E27FC236}">
                        <a16:creationId xmlns:a16="http://schemas.microsoft.com/office/drawing/2014/main" id="{9F82DB16-EE0F-EB7E-4F22-47F19FCDA6F8}"/>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3" name="Line 148">
                    <a:extLst>
                      <a:ext uri="{FF2B5EF4-FFF2-40B4-BE49-F238E27FC236}">
                        <a16:creationId xmlns:a16="http://schemas.microsoft.com/office/drawing/2014/main" id="{D2D5494E-D5F2-5DC3-6345-4A70EE2CF563}"/>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33" name="Rectangle 149">
                  <a:extLst>
                    <a:ext uri="{FF2B5EF4-FFF2-40B4-BE49-F238E27FC236}">
                      <a16:creationId xmlns:a16="http://schemas.microsoft.com/office/drawing/2014/main" id="{A8FD0E09-0485-990D-3585-011366ECCC48}"/>
                    </a:ext>
                  </a:extLst>
                </p:cNvPr>
                <p:cNvSpPr>
                  <a:spLocks noChangeArrowheads="1"/>
                </p:cNvSpPr>
                <p:nvPr/>
              </p:nvSpPr>
              <p:spPr bwMode="auto">
                <a:xfrm flipH="1" flipV="1">
                  <a:off x="4191" y="1054"/>
                  <a:ext cx="101" cy="82"/>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34" name="Rectangle 150">
                  <a:extLst>
                    <a:ext uri="{FF2B5EF4-FFF2-40B4-BE49-F238E27FC236}">
                      <a16:creationId xmlns:a16="http://schemas.microsoft.com/office/drawing/2014/main" id="{ACE423F8-3031-771C-DFB3-3B4029FC2BCA}"/>
                    </a:ext>
                  </a:extLst>
                </p:cNvPr>
                <p:cNvSpPr>
                  <a:spLocks noChangeArrowheads="1"/>
                </p:cNvSpPr>
                <p:nvPr/>
              </p:nvSpPr>
              <p:spPr bwMode="auto">
                <a:xfrm>
                  <a:off x="4695" y="983"/>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35" name="Rectangle 151">
                  <a:extLst>
                    <a:ext uri="{FF2B5EF4-FFF2-40B4-BE49-F238E27FC236}">
                      <a16:creationId xmlns:a16="http://schemas.microsoft.com/office/drawing/2014/main" id="{5CF3D35A-AE6C-5803-A3C5-936AB34FE371}"/>
                    </a:ext>
                  </a:extLst>
                </p:cNvPr>
                <p:cNvSpPr>
                  <a:spLocks noChangeArrowheads="1"/>
                </p:cNvSpPr>
                <p:nvPr/>
              </p:nvSpPr>
              <p:spPr bwMode="auto">
                <a:xfrm>
                  <a:off x="4800" y="1097"/>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36" name="Oval 152">
                  <a:extLst>
                    <a:ext uri="{FF2B5EF4-FFF2-40B4-BE49-F238E27FC236}">
                      <a16:creationId xmlns:a16="http://schemas.microsoft.com/office/drawing/2014/main" id="{6DF1A505-BB17-42EF-92D7-00B710CF1754}"/>
                    </a:ext>
                  </a:extLst>
                </p:cNvPr>
                <p:cNvSpPr>
                  <a:spLocks noChangeArrowheads="1"/>
                </p:cNvSpPr>
                <p:nvPr/>
              </p:nvSpPr>
              <p:spPr bwMode="auto">
                <a:xfrm>
                  <a:off x="4151" y="959"/>
                  <a:ext cx="229" cy="229"/>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37" name="Oval 153">
                  <a:extLst>
                    <a:ext uri="{FF2B5EF4-FFF2-40B4-BE49-F238E27FC236}">
                      <a16:creationId xmlns:a16="http://schemas.microsoft.com/office/drawing/2014/main" id="{D6AA7604-4E11-3D05-5F30-798FFAA0A167}"/>
                    </a:ext>
                  </a:extLst>
                </p:cNvPr>
                <p:cNvSpPr>
                  <a:spLocks noChangeArrowheads="1"/>
                </p:cNvSpPr>
                <p:nvPr/>
              </p:nvSpPr>
              <p:spPr bwMode="auto">
                <a:xfrm>
                  <a:off x="4631" y="927"/>
                  <a:ext cx="229" cy="165"/>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38" name="Oval 154">
                  <a:extLst>
                    <a:ext uri="{FF2B5EF4-FFF2-40B4-BE49-F238E27FC236}">
                      <a16:creationId xmlns:a16="http://schemas.microsoft.com/office/drawing/2014/main" id="{7081BAFD-6FFF-2F13-03D5-718DB747FA9C}"/>
                    </a:ext>
                  </a:extLst>
                </p:cNvPr>
                <p:cNvSpPr>
                  <a:spLocks noChangeArrowheads="1"/>
                </p:cNvSpPr>
                <p:nvPr/>
              </p:nvSpPr>
              <p:spPr bwMode="auto">
                <a:xfrm>
                  <a:off x="4456" y="1073"/>
                  <a:ext cx="157" cy="148"/>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39" name="Oval 155">
                  <a:extLst>
                    <a:ext uri="{FF2B5EF4-FFF2-40B4-BE49-F238E27FC236}">
                      <a16:creationId xmlns:a16="http://schemas.microsoft.com/office/drawing/2014/main" id="{C2CED886-9E6C-2B5C-2539-13D9D4FCA090}"/>
                    </a:ext>
                  </a:extLst>
                </p:cNvPr>
                <p:cNvSpPr>
                  <a:spLocks noChangeArrowheads="1"/>
                </p:cNvSpPr>
                <p:nvPr/>
              </p:nvSpPr>
              <p:spPr bwMode="auto">
                <a:xfrm>
                  <a:off x="5244" y="900"/>
                  <a:ext cx="229" cy="229"/>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0" name="Oval 156">
                  <a:extLst>
                    <a:ext uri="{FF2B5EF4-FFF2-40B4-BE49-F238E27FC236}">
                      <a16:creationId xmlns:a16="http://schemas.microsoft.com/office/drawing/2014/main" id="{FABDB25D-268E-DDFE-5C06-EB18C7E90839}"/>
                    </a:ext>
                  </a:extLst>
                </p:cNvPr>
                <p:cNvSpPr>
                  <a:spLocks noChangeArrowheads="1"/>
                </p:cNvSpPr>
                <p:nvPr/>
              </p:nvSpPr>
              <p:spPr bwMode="auto">
                <a:xfrm>
                  <a:off x="4997" y="1083"/>
                  <a:ext cx="175" cy="129"/>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1" name="Oval 157">
                  <a:extLst>
                    <a:ext uri="{FF2B5EF4-FFF2-40B4-BE49-F238E27FC236}">
                      <a16:creationId xmlns:a16="http://schemas.microsoft.com/office/drawing/2014/main" id="{EB191611-4447-C429-43C9-B88C6DA1FD5B}"/>
                    </a:ext>
                  </a:extLst>
                </p:cNvPr>
                <p:cNvSpPr>
                  <a:spLocks noChangeArrowheads="1"/>
                </p:cNvSpPr>
                <p:nvPr/>
              </p:nvSpPr>
              <p:spPr bwMode="auto">
                <a:xfrm>
                  <a:off x="4753" y="1060"/>
                  <a:ext cx="166" cy="148"/>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2" name="Rectangle 158">
                  <a:extLst>
                    <a:ext uri="{FF2B5EF4-FFF2-40B4-BE49-F238E27FC236}">
                      <a16:creationId xmlns:a16="http://schemas.microsoft.com/office/drawing/2014/main" id="{BAFD40C3-E341-9983-041B-1939FD20D110}"/>
                    </a:ext>
                  </a:extLst>
                </p:cNvPr>
                <p:cNvSpPr>
                  <a:spLocks noChangeArrowheads="1"/>
                </p:cNvSpPr>
                <p:nvPr/>
              </p:nvSpPr>
              <p:spPr bwMode="auto">
                <a:xfrm>
                  <a:off x="4177" y="895"/>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3" name="Rectangle 159">
                  <a:extLst>
                    <a:ext uri="{FF2B5EF4-FFF2-40B4-BE49-F238E27FC236}">
                      <a16:creationId xmlns:a16="http://schemas.microsoft.com/office/drawing/2014/main" id="{739E853C-C4CE-FC24-A30F-44A6842BCF23}"/>
                    </a:ext>
                  </a:extLst>
                </p:cNvPr>
                <p:cNvSpPr>
                  <a:spLocks noChangeArrowheads="1"/>
                </p:cNvSpPr>
                <p:nvPr/>
              </p:nvSpPr>
              <p:spPr bwMode="auto">
                <a:xfrm>
                  <a:off x="4455" y="1037"/>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4" name="Rectangle 160">
                  <a:extLst>
                    <a:ext uri="{FF2B5EF4-FFF2-40B4-BE49-F238E27FC236}">
                      <a16:creationId xmlns:a16="http://schemas.microsoft.com/office/drawing/2014/main" id="{DB83009C-21C9-1CFF-2F0B-C2517B8FC87F}"/>
                    </a:ext>
                  </a:extLst>
                </p:cNvPr>
                <p:cNvSpPr>
                  <a:spLocks noChangeArrowheads="1"/>
                </p:cNvSpPr>
                <p:nvPr/>
              </p:nvSpPr>
              <p:spPr bwMode="auto">
                <a:xfrm>
                  <a:off x="4602" y="909"/>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5" name="Rectangle 161">
                  <a:extLst>
                    <a:ext uri="{FF2B5EF4-FFF2-40B4-BE49-F238E27FC236}">
                      <a16:creationId xmlns:a16="http://schemas.microsoft.com/office/drawing/2014/main" id="{B008D825-DA47-CF18-9392-99D9826C9AAE}"/>
                    </a:ext>
                  </a:extLst>
                </p:cNvPr>
                <p:cNvSpPr>
                  <a:spLocks noChangeArrowheads="1"/>
                </p:cNvSpPr>
                <p:nvPr/>
              </p:nvSpPr>
              <p:spPr bwMode="auto">
                <a:xfrm>
                  <a:off x="4712" y="1128"/>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6" name="Rectangle 162">
                  <a:extLst>
                    <a:ext uri="{FF2B5EF4-FFF2-40B4-BE49-F238E27FC236}">
                      <a16:creationId xmlns:a16="http://schemas.microsoft.com/office/drawing/2014/main" id="{0C0C1ED8-0FC3-16BE-699C-8CA6E76034A3}"/>
                    </a:ext>
                  </a:extLst>
                </p:cNvPr>
                <p:cNvSpPr>
                  <a:spLocks noChangeArrowheads="1"/>
                </p:cNvSpPr>
                <p:nvPr/>
              </p:nvSpPr>
              <p:spPr bwMode="auto">
                <a:xfrm>
                  <a:off x="4986" y="1036"/>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47" name="Rectangle 163">
                  <a:extLst>
                    <a:ext uri="{FF2B5EF4-FFF2-40B4-BE49-F238E27FC236}">
                      <a16:creationId xmlns:a16="http://schemas.microsoft.com/office/drawing/2014/main" id="{FF5C8647-DFF7-113F-5597-6B90C60994D7}"/>
                    </a:ext>
                  </a:extLst>
                </p:cNvPr>
                <p:cNvSpPr>
                  <a:spLocks noChangeArrowheads="1"/>
                </p:cNvSpPr>
                <p:nvPr/>
              </p:nvSpPr>
              <p:spPr bwMode="auto">
                <a:xfrm>
                  <a:off x="5233" y="909"/>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348" name="Group 164">
                  <a:extLst>
                    <a:ext uri="{FF2B5EF4-FFF2-40B4-BE49-F238E27FC236}">
                      <a16:creationId xmlns:a16="http://schemas.microsoft.com/office/drawing/2014/main" id="{3ECF064C-28AD-95F6-D11C-8292BD079771}"/>
                    </a:ext>
                  </a:extLst>
                </p:cNvPr>
                <p:cNvGrpSpPr>
                  <a:grpSpLocks/>
                </p:cNvGrpSpPr>
                <p:nvPr/>
              </p:nvGrpSpPr>
              <p:grpSpPr bwMode="auto">
                <a:xfrm>
                  <a:off x="4313" y="1056"/>
                  <a:ext cx="133" cy="438"/>
                  <a:chOff x="3851" y="1182"/>
                  <a:chExt cx="133" cy="438"/>
                </a:xfrm>
              </p:grpSpPr>
              <p:grpSp>
                <p:nvGrpSpPr>
                  <p:cNvPr id="350" name="Group 165">
                    <a:extLst>
                      <a:ext uri="{FF2B5EF4-FFF2-40B4-BE49-F238E27FC236}">
                        <a16:creationId xmlns:a16="http://schemas.microsoft.com/office/drawing/2014/main" id="{6B5E6DC9-8AF7-E199-08E2-33F54206ED28}"/>
                      </a:ext>
                    </a:extLst>
                  </p:cNvPr>
                  <p:cNvGrpSpPr>
                    <a:grpSpLocks/>
                  </p:cNvGrpSpPr>
                  <p:nvPr/>
                </p:nvGrpSpPr>
                <p:grpSpPr bwMode="auto">
                  <a:xfrm flipH="1">
                    <a:off x="3857" y="1182"/>
                    <a:ext cx="127" cy="438"/>
                    <a:chOff x="2450" y="2240"/>
                    <a:chExt cx="220" cy="667"/>
                  </a:xfrm>
                </p:grpSpPr>
                <p:sp>
                  <p:nvSpPr>
                    <p:cNvPr id="354" name="Oval 166">
                      <a:extLst>
                        <a:ext uri="{FF2B5EF4-FFF2-40B4-BE49-F238E27FC236}">
                          <a16:creationId xmlns:a16="http://schemas.microsoft.com/office/drawing/2014/main" id="{D874A770-6A38-B95C-F316-9D5ACC4ED368}"/>
                        </a:ext>
                      </a:extLst>
                    </p:cNvPr>
                    <p:cNvSpPr>
                      <a:spLocks noChangeArrowheads="1"/>
                    </p:cNvSpPr>
                    <p:nvPr/>
                  </p:nvSpPr>
                  <p:spPr bwMode="auto">
                    <a:xfrm>
                      <a:off x="2469" y="2240"/>
                      <a:ext cx="182" cy="19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55" name="Line 167">
                      <a:extLst>
                        <a:ext uri="{FF2B5EF4-FFF2-40B4-BE49-F238E27FC236}">
                          <a16:creationId xmlns:a16="http://schemas.microsoft.com/office/drawing/2014/main" id="{B150D4C1-1929-93D6-5E26-22CDD8D40D92}"/>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6" name="Line 168">
                      <a:extLst>
                        <a:ext uri="{FF2B5EF4-FFF2-40B4-BE49-F238E27FC236}">
                          <a16:creationId xmlns:a16="http://schemas.microsoft.com/office/drawing/2014/main" id="{26654088-84F7-8EC0-B0F4-0D6B8A848979}"/>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7" name="Line 169">
                      <a:extLst>
                        <a:ext uri="{FF2B5EF4-FFF2-40B4-BE49-F238E27FC236}">
                          <a16:creationId xmlns:a16="http://schemas.microsoft.com/office/drawing/2014/main" id="{D3AFBB9D-02E7-DB3B-90AB-7C1B9C69F50A}"/>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 name="Line 170">
                      <a:extLst>
                        <a:ext uri="{FF2B5EF4-FFF2-40B4-BE49-F238E27FC236}">
                          <a16:creationId xmlns:a16="http://schemas.microsoft.com/office/drawing/2014/main" id="{EC1240D7-41DA-A1B8-E3C2-381BC7E25351}"/>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1" name="Group 171">
                    <a:extLst>
                      <a:ext uri="{FF2B5EF4-FFF2-40B4-BE49-F238E27FC236}">
                        <a16:creationId xmlns:a16="http://schemas.microsoft.com/office/drawing/2014/main" id="{55C033C4-1CF9-40E1-D719-680F1B448464}"/>
                      </a:ext>
                    </a:extLst>
                  </p:cNvPr>
                  <p:cNvGrpSpPr>
                    <a:grpSpLocks/>
                  </p:cNvGrpSpPr>
                  <p:nvPr/>
                </p:nvGrpSpPr>
                <p:grpSpPr bwMode="auto">
                  <a:xfrm>
                    <a:off x="3851" y="1311"/>
                    <a:ext cx="133" cy="181"/>
                    <a:chOff x="1025" y="2981"/>
                    <a:chExt cx="127" cy="270"/>
                  </a:xfrm>
                </p:grpSpPr>
                <p:sp>
                  <p:nvSpPr>
                    <p:cNvPr id="352" name="AutoShape 172">
                      <a:extLst>
                        <a:ext uri="{FF2B5EF4-FFF2-40B4-BE49-F238E27FC236}">
                          <a16:creationId xmlns:a16="http://schemas.microsoft.com/office/drawing/2014/main" id="{633F302E-7E3F-5FDD-DA75-6AE6200DB5CE}"/>
                        </a:ext>
                      </a:extLst>
                    </p:cNvPr>
                    <p:cNvSpPr>
                      <a:spLocks noChangeArrowheads="1"/>
                    </p:cNvSpPr>
                    <p:nvPr/>
                  </p:nvSpPr>
                  <p:spPr bwMode="auto">
                    <a:xfrm rot="5400000">
                      <a:off x="983" y="3131"/>
                      <a:ext cx="205" cy="36"/>
                    </a:xfrm>
                    <a:prstGeom prst="homePlate">
                      <a:avLst>
                        <a:gd name="adj" fmla="val 142361"/>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53" name="AutoShape 173">
                      <a:extLst>
                        <a:ext uri="{FF2B5EF4-FFF2-40B4-BE49-F238E27FC236}">
                          <a16:creationId xmlns:a16="http://schemas.microsoft.com/office/drawing/2014/main" id="{B3336E8E-9FBF-3B46-D9A5-5ADE876A6EE5}"/>
                        </a:ext>
                      </a:extLst>
                    </p:cNvPr>
                    <p:cNvSpPr>
                      <a:spLocks noChangeArrowheads="1"/>
                    </p:cNvSpPr>
                    <p:nvPr/>
                  </p:nvSpPr>
                  <p:spPr bwMode="auto">
                    <a:xfrm flipV="1">
                      <a:off x="1025" y="2981"/>
                      <a:ext cx="127" cy="91"/>
                    </a:xfrm>
                    <a:prstGeom prst="triangle">
                      <a:avLst>
                        <a:gd name="adj" fmla="val 50000"/>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grpSp>
            <p:sp>
              <p:nvSpPr>
                <p:cNvPr id="349" name="Rectangle 174">
                  <a:extLst>
                    <a:ext uri="{FF2B5EF4-FFF2-40B4-BE49-F238E27FC236}">
                      <a16:creationId xmlns:a16="http://schemas.microsoft.com/office/drawing/2014/main" id="{59150F95-BAD4-FE9A-B3BB-013D530DF254}"/>
                    </a:ext>
                  </a:extLst>
                </p:cNvPr>
                <p:cNvSpPr>
                  <a:spLocks noChangeArrowheads="1"/>
                </p:cNvSpPr>
                <p:nvPr/>
              </p:nvSpPr>
              <p:spPr bwMode="auto">
                <a:xfrm>
                  <a:off x="4026" y="2712"/>
                  <a:ext cx="1473" cy="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400">
                      <a:solidFill>
                        <a:schemeClr val="tx1"/>
                      </a:solidFill>
                      <a:latin typeface="Arial" panose="020B0604020202020204" pitchFamily="34" charset="0"/>
                    </a:rPr>
                    <a:t>Step 3: Company leader facilitates the grouping of like ideas</a:t>
                  </a:r>
                </a:p>
                <a:p>
                  <a:pPr>
                    <a:spcBef>
                      <a:spcPct val="40000"/>
                    </a:spcBef>
                    <a:buSzPct val="125000"/>
                    <a:buFont typeface="Arial" panose="020B0604020202020204" pitchFamily="34" charset="0"/>
                    <a:buChar char="•"/>
                  </a:pPr>
                  <a:r>
                    <a:rPr lang="en-US" altLang="en-US" sz="1400">
                      <a:solidFill>
                        <a:schemeClr val="tx1"/>
                      </a:solidFill>
                      <a:latin typeface="Arial" panose="020B0604020202020204" pitchFamily="34" charset="0"/>
                    </a:rPr>
                    <a:t>Each grouping must be given a title or category name</a:t>
                  </a:r>
                </a:p>
              </p:txBody>
            </p:sp>
          </p:grpSp>
          <p:grpSp>
            <p:nvGrpSpPr>
              <p:cNvPr id="313" name="Group 175">
                <a:extLst>
                  <a:ext uri="{FF2B5EF4-FFF2-40B4-BE49-F238E27FC236}">
                    <a16:creationId xmlns:a16="http://schemas.microsoft.com/office/drawing/2014/main" id="{09837B20-2587-D9A6-A9B0-F1C5968A2B67}"/>
                  </a:ext>
                </a:extLst>
              </p:cNvPr>
              <p:cNvGrpSpPr>
                <a:grpSpLocks/>
              </p:cNvGrpSpPr>
              <p:nvPr/>
            </p:nvGrpSpPr>
            <p:grpSpPr bwMode="auto">
              <a:xfrm flipH="1">
                <a:off x="4521" y="2025"/>
                <a:ext cx="127" cy="438"/>
                <a:chOff x="2450" y="2240"/>
                <a:chExt cx="220" cy="667"/>
              </a:xfrm>
            </p:grpSpPr>
            <p:sp>
              <p:nvSpPr>
                <p:cNvPr id="314" name="Oval 176">
                  <a:extLst>
                    <a:ext uri="{FF2B5EF4-FFF2-40B4-BE49-F238E27FC236}">
                      <a16:creationId xmlns:a16="http://schemas.microsoft.com/office/drawing/2014/main" id="{F2924900-6140-5113-E575-396D0FCC761E}"/>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15" name="Line 177">
                  <a:extLst>
                    <a:ext uri="{FF2B5EF4-FFF2-40B4-BE49-F238E27FC236}">
                      <a16:creationId xmlns:a16="http://schemas.microsoft.com/office/drawing/2014/main" id="{4BA80F4C-8E8A-AA36-4CE8-EA0FB2FE57EB}"/>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6" name="Line 178">
                  <a:extLst>
                    <a:ext uri="{FF2B5EF4-FFF2-40B4-BE49-F238E27FC236}">
                      <a16:creationId xmlns:a16="http://schemas.microsoft.com/office/drawing/2014/main" id="{874635D0-1176-67DA-C87F-976A076B54E1}"/>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 name="Line 179">
                  <a:extLst>
                    <a:ext uri="{FF2B5EF4-FFF2-40B4-BE49-F238E27FC236}">
                      <a16:creationId xmlns:a16="http://schemas.microsoft.com/office/drawing/2014/main" id="{FBF0B348-749C-11CD-F3A4-1E7B1599D04C}"/>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8" name="Line 180">
                  <a:extLst>
                    <a:ext uri="{FF2B5EF4-FFF2-40B4-BE49-F238E27FC236}">
                      <a16:creationId xmlns:a16="http://schemas.microsoft.com/office/drawing/2014/main" id="{CE834003-AF32-7875-D968-3CAC98C87A5A}"/>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spTree>
    <p:custDataLst>
      <p:tags r:id="rId1"/>
    </p:custDataLst>
    <p:extLst>
      <p:ext uri="{BB962C8B-B14F-4D97-AF65-F5344CB8AC3E}">
        <p14:creationId xmlns:p14="http://schemas.microsoft.com/office/powerpoint/2010/main" val="452082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22FD-7DF4-D926-F35B-C8E977BDC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B1DD4-2AF9-0761-D7A9-CD8C965A1FD5}"/>
              </a:ext>
            </a:extLst>
          </p:cNvPr>
          <p:cNvSpPr>
            <a:spLocks noGrp="1"/>
          </p:cNvSpPr>
          <p:nvPr>
            <p:ph type="title"/>
          </p:nvPr>
        </p:nvSpPr>
        <p:spPr/>
        <p:txBody>
          <a:bodyPr>
            <a:noAutofit/>
          </a:bodyPr>
          <a:lstStyle/>
          <a:p>
            <a:r>
              <a:rPr lang="en-US" sz="3200" dirty="0"/>
              <a:t>Affinity Process for Breakthrough Objectives</a:t>
            </a:r>
          </a:p>
        </p:txBody>
      </p:sp>
      <p:grpSp>
        <p:nvGrpSpPr>
          <p:cNvPr id="20" name="Group 19">
            <a:extLst>
              <a:ext uri="{FF2B5EF4-FFF2-40B4-BE49-F238E27FC236}">
                <a16:creationId xmlns:a16="http://schemas.microsoft.com/office/drawing/2014/main" id="{48B642E4-DE7A-FA8E-05E2-8C53E1D9BE3E}"/>
              </a:ext>
            </a:extLst>
          </p:cNvPr>
          <p:cNvGrpSpPr/>
          <p:nvPr/>
        </p:nvGrpSpPr>
        <p:grpSpPr>
          <a:xfrm>
            <a:off x="961102" y="302894"/>
            <a:ext cx="1229200" cy="290657"/>
            <a:chOff x="940249" y="315206"/>
            <a:chExt cx="1373841" cy="265062"/>
          </a:xfrm>
        </p:grpSpPr>
        <p:sp>
          <p:nvSpPr>
            <p:cNvPr id="21" name="AutoShape 9">
              <a:extLst>
                <a:ext uri="{FF2B5EF4-FFF2-40B4-BE49-F238E27FC236}">
                  <a16:creationId xmlns:a16="http://schemas.microsoft.com/office/drawing/2014/main" id="{CF48114C-7CCE-281C-0F06-2B3F1B5E06E3}"/>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68FE85A8-4130-DD40-7DA5-A914E8DB366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22DA5582-9627-EAD7-3E1A-F448AF32129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D33CA974-B273-475F-C051-51CD32520DF7}"/>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5" name="TextBox 24">
            <a:extLst>
              <a:ext uri="{FF2B5EF4-FFF2-40B4-BE49-F238E27FC236}">
                <a16:creationId xmlns:a16="http://schemas.microsoft.com/office/drawing/2014/main" id="{BEDC25BE-BBE5-9205-128D-ED2C969EC0A8}"/>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grpSp>
        <p:nvGrpSpPr>
          <p:cNvPr id="408" name="Group 407">
            <a:extLst>
              <a:ext uri="{FF2B5EF4-FFF2-40B4-BE49-F238E27FC236}">
                <a16:creationId xmlns:a16="http://schemas.microsoft.com/office/drawing/2014/main" id="{BD7472C0-CB12-EF96-4C68-12F58F0291EA}"/>
              </a:ext>
            </a:extLst>
          </p:cNvPr>
          <p:cNvGrpSpPr/>
          <p:nvPr/>
        </p:nvGrpSpPr>
        <p:grpSpPr>
          <a:xfrm>
            <a:off x="2468706" y="1777822"/>
            <a:ext cx="6734175" cy="4532888"/>
            <a:chOff x="1076325" y="1423988"/>
            <a:chExt cx="6734175" cy="4532888"/>
          </a:xfrm>
        </p:grpSpPr>
        <p:sp>
          <p:nvSpPr>
            <p:cNvPr id="3" name="Rectangle 3">
              <a:extLst>
                <a:ext uri="{FF2B5EF4-FFF2-40B4-BE49-F238E27FC236}">
                  <a16:creationId xmlns:a16="http://schemas.microsoft.com/office/drawing/2014/main" id="{842F963B-E9E2-32F9-8A4D-33EB2EF993D7}"/>
                </a:ext>
              </a:extLst>
            </p:cNvPr>
            <p:cNvSpPr>
              <a:spLocks noChangeArrowheads="1"/>
            </p:cNvSpPr>
            <p:nvPr/>
          </p:nvSpPr>
          <p:spPr bwMode="auto">
            <a:xfrm>
              <a:off x="1222375" y="1423988"/>
              <a:ext cx="2206625" cy="536575"/>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4" name="Group 4">
              <a:extLst>
                <a:ext uri="{FF2B5EF4-FFF2-40B4-BE49-F238E27FC236}">
                  <a16:creationId xmlns:a16="http://schemas.microsoft.com/office/drawing/2014/main" id="{8FDB4CD1-9083-D1A1-859E-E48C7491CE2C}"/>
                </a:ext>
              </a:extLst>
            </p:cNvPr>
            <p:cNvGrpSpPr>
              <a:grpSpLocks/>
            </p:cNvGrpSpPr>
            <p:nvPr/>
          </p:nvGrpSpPr>
          <p:grpSpPr bwMode="auto">
            <a:xfrm flipH="1">
              <a:off x="2935288" y="2111375"/>
              <a:ext cx="201612" cy="695325"/>
              <a:chOff x="2450" y="2240"/>
              <a:chExt cx="220" cy="667"/>
            </a:xfrm>
          </p:grpSpPr>
          <p:sp>
            <p:nvSpPr>
              <p:cNvPr id="5" name="Oval 5">
                <a:extLst>
                  <a:ext uri="{FF2B5EF4-FFF2-40B4-BE49-F238E27FC236}">
                    <a16:creationId xmlns:a16="http://schemas.microsoft.com/office/drawing/2014/main" id="{7A6A67AD-040A-742C-8964-1DB883C998D9}"/>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6" name="Line 6">
                <a:extLst>
                  <a:ext uri="{FF2B5EF4-FFF2-40B4-BE49-F238E27FC236}">
                    <a16:creationId xmlns:a16="http://schemas.microsoft.com/office/drawing/2014/main" id="{B46F429C-D28A-D2D2-C1B8-AD3A245FC2AA}"/>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7">
                <a:extLst>
                  <a:ext uri="{FF2B5EF4-FFF2-40B4-BE49-F238E27FC236}">
                    <a16:creationId xmlns:a16="http://schemas.microsoft.com/office/drawing/2014/main" id="{A03D0B8C-71FF-5148-8D32-8BF61430D248}"/>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8">
                <a:extLst>
                  <a:ext uri="{FF2B5EF4-FFF2-40B4-BE49-F238E27FC236}">
                    <a16:creationId xmlns:a16="http://schemas.microsoft.com/office/drawing/2014/main" id="{38D9615A-C966-64B8-E8AF-B642A62E5CEF}"/>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9">
                <a:extLst>
                  <a:ext uri="{FF2B5EF4-FFF2-40B4-BE49-F238E27FC236}">
                    <a16:creationId xmlns:a16="http://schemas.microsoft.com/office/drawing/2014/main" id="{423AE2EE-2216-A464-5D88-A142F0B9945D}"/>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0" name="Oval 10">
              <a:extLst>
                <a:ext uri="{FF2B5EF4-FFF2-40B4-BE49-F238E27FC236}">
                  <a16:creationId xmlns:a16="http://schemas.microsoft.com/office/drawing/2014/main" id="{C0520C5E-F3C1-9E80-D9DD-83E27F594A3C}"/>
                </a:ext>
              </a:extLst>
            </p:cNvPr>
            <p:cNvSpPr>
              <a:spLocks noChangeArrowheads="1"/>
            </p:cNvSpPr>
            <p:nvPr/>
          </p:nvSpPr>
          <p:spPr bwMode="auto">
            <a:xfrm>
              <a:off x="1555750" y="2195513"/>
              <a:ext cx="1538288" cy="140811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11" name="Group 11">
              <a:extLst>
                <a:ext uri="{FF2B5EF4-FFF2-40B4-BE49-F238E27FC236}">
                  <a16:creationId xmlns:a16="http://schemas.microsoft.com/office/drawing/2014/main" id="{FE21AD6A-DAA3-A5B0-4C7B-7788B1FB25E2}"/>
                </a:ext>
              </a:extLst>
            </p:cNvPr>
            <p:cNvGrpSpPr>
              <a:grpSpLocks/>
            </p:cNvGrpSpPr>
            <p:nvPr/>
          </p:nvGrpSpPr>
          <p:grpSpPr bwMode="auto">
            <a:xfrm flipH="1">
              <a:off x="2884488" y="3076575"/>
              <a:ext cx="201612" cy="695325"/>
              <a:chOff x="2450" y="2240"/>
              <a:chExt cx="220" cy="667"/>
            </a:xfrm>
          </p:grpSpPr>
          <p:sp>
            <p:nvSpPr>
              <p:cNvPr id="12" name="Oval 12">
                <a:extLst>
                  <a:ext uri="{FF2B5EF4-FFF2-40B4-BE49-F238E27FC236}">
                    <a16:creationId xmlns:a16="http://schemas.microsoft.com/office/drawing/2014/main" id="{727B7CF2-EADF-EEA5-DBDD-2C119C2968D6}"/>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3" name="Line 13">
                <a:extLst>
                  <a:ext uri="{FF2B5EF4-FFF2-40B4-BE49-F238E27FC236}">
                    <a16:creationId xmlns:a16="http://schemas.microsoft.com/office/drawing/2014/main" id="{18AE95E2-9A6C-2570-A629-440BAFE83BA3}"/>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4">
                <a:extLst>
                  <a:ext uri="{FF2B5EF4-FFF2-40B4-BE49-F238E27FC236}">
                    <a16:creationId xmlns:a16="http://schemas.microsoft.com/office/drawing/2014/main" id="{E6FC69ED-24E2-EB79-77E8-79A744394B65}"/>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5">
                <a:extLst>
                  <a:ext uri="{FF2B5EF4-FFF2-40B4-BE49-F238E27FC236}">
                    <a16:creationId xmlns:a16="http://schemas.microsoft.com/office/drawing/2014/main" id="{F2D3AF44-0A84-4F17-4285-EF97C4AA73C6}"/>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6">
                <a:extLst>
                  <a:ext uri="{FF2B5EF4-FFF2-40B4-BE49-F238E27FC236}">
                    <a16:creationId xmlns:a16="http://schemas.microsoft.com/office/drawing/2014/main" id="{F7B0FDD6-9F92-22B3-0928-2EF8F8B9266E}"/>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 name="Group 17">
              <a:extLst>
                <a:ext uri="{FF2B5EF4-FFF2-40B4-BE49-F238E27FC236}">
                  <a16:creationId xmlns:a16="http://schemas.microsoft.com/office/drawing/2014/main" id="{EC735D2A-DC75-FA5D-3109-74A3DD3EC8B4}"/>
                </a:ext>
              </a:extLst>
            </p:cNvPr>
            <p:cNvGrpSpPr>
              <a:grpSpLocks/>
            </p:cNvGrpSpPr>
            <p:nvPr/>
          </p:nvGrpSpPr>
          <p:grpSpPr bwMode="auto">
            <a:xfrm flipH="1">
              <a:off x="2398713" y="3330575"/>
              <a:ext cx="201612" cy="695325"/>
              <a:chOff x="2450" y="2240"/>
              <a:chExt cx="220" cy="667"/>
            </a:xfrm>
          </p:grpSpPr>
          <p:sp>
            <p:nvSpPr>
              <p:cNvPr id="18" name="Oval 18">
                <a:extLst>
                  <a:ext uri="{FF2B5EF4-FFF2-40B4-BE49-F238E27FC236}">
                    <a16:creationId xmlns:a16="http://schemas.microsoft.com/office/drawing/2014/main" id="{EA9816DF-6D3F-D76B-34B3-DA27C56879C1}"/>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19" name="Line 19">
                <a:extLst>
                  <a:ext uri="{FF2B5EF4-FFF2-40B4-BE49-F238E27FC236}">
                    <a16:creationId xmlns:a16="http://schemas.microsoft.com/office/drawing/2014/main" id="{FC88D4D6-C2C5-1632-92FB-E87FAB4AAA2E}"/>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0">
                <a:extLst>
                  <a:ext uri="{FF2B5EF4-FFF2-40B4-BE49-F238E27FC236}">
                    <a16:creationId xmlns:a16="http://schemas.microsoft.com/office/drawing/2014/main" id="{5AB874EB-062F-8A02-10B2-8D7A6681C2F8}"/>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1">
                <a:extLst>
                  <a:ext uri="{FF2B5EF4-FFF2-40B4-BE49-F238E27FC236}">
                    <a16:creationId xmlns:a16="http://schemas.microsoft.com/office/drawing/2014/main" id="{FDA47980-A72A-853B-A499-2DFE50B36F02}"/>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2">
                <a:extLst>
                  <a:ext uri="{FF2B5EF4-FFF2-40B4-BE49-F238E27FC236}">
                    <a16:creationId xmlns:a16="http://schemas.microsoft.com/office/drawing/2014/main" id="{67FBE602-FBC1-830A-A27B-5A0BC1A4AD60}"/>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9" name="Group 23">
              <a:extLst>
                <a:ext uri="{FF2B5EF4-FFF2-40B4-BE49-F238E27FC236}">
                  <a16:creationId xmlns:a16="http://schemas.microsoft.com/office/drawing/2014/main" id="{168C3B15-4606-9C77-32D0-FE72A3AD29C5}"/>
                </a:ext>
              </a:extLst>
            </p:cNvPr>
            <p:cNvGrpSpPr>
              <a:grpSpLocks/>
            </p:cNvGrpSpPr>
            <p:nvPr/>
          </p:nvGrpSpPr>
          <p:grpSpPr bwMode="auto">
            <a:xfrm flipH="1">
              <a:off x="1484313" y="2895600"/>
              <a:ext cx="201612" cy="695325"/>
              <a:chOff x="2450" y="2240"/>
              <a:chExt cx="220" cy="667"/>
            </a:xfrm>
          </p:grpSpPr>
          <p:sp>
            <p:nvSpPr>
              <p:cNvPr id="30" name="Oval 24">
                <a:extLst>
                  <a:ext uri="{FF2B5EF4-FFF2-40B4-BE49-F238E27FC236}">
                    <a16:creationId xmlns:a16="http://schemas.microsoft.com/office/drawing/2014/main" id="{504ADD5D-D8D3-83A7-0658-E5A3111087C0}"/>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1" name="Line 25">
                <a:extLst>
                  <a:ext uri="{FF2B5EF4-FFF2-40B4-BE49-F238E27FC236}">
                    <a16:creationId xmlns:a16="http://schemas.microsoft.com/office/drawing/2014/main" id="{DACF220A-F258-65AF-96DA-4FDC5544B02D}"/>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26">
                <a:extLst>
                  <a:ext uri="{FF2B5EF4-FFF2-40B4-BE49-F238E27FC236}">
                    <a16:creationId xmlns:a16="http://schemas.microsoft.com/office/drawing/2014/main" id="{8603E626-A2A2-0897-C4B2-ADD637A44095}"/>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27">
                <a:extLst>
                  <a:ext uri="{FF2B5EF4-FFF2-40B4-BE49-F238E27FC236}">
                    <a16:creationId xmlns:a16="http://schemas.microsoft.com/office/drawing/2014/main" id="{56D746D4-B470-34FB-DB17-66C64147FEEF}"/>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28">
                <a:extLst>
                  <a:ext uri="{FF2B5EF4-FFF2-40B4-BE49-F238E27FC236}">
                    <a16:creationId xmlns:a16="http://schemas.microsoft.com/office/drawing/2014/main" id="{3AF31638-9BF3-CECE-1BA3-D5124CAF3C3B}"/>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5" name="Rectangle 29">
              <a:extLst>
                <a:ext uri="{FF2B5EF4-FFF2-40B4-BE49-F238E27FC236}">
                  <a16:creationId xmlns:a16="http://schemas.microsoft.com/office/drawing/2014/main" id="{4DECBD9C-1F45-2CAA-E410-C52D99803DAE}"/>
                </a:ext>
              </a:extLst>
            </p:cNvPr>
            <p:cNvSpPr>
              <a:spLocks noChangeArrowheads="1"/>
            </p:cNvSpPr>
            <p:nvPr/>
          </p:nvSpPr>
          <p:spPr bwMode="auto">
            <a:xfrm>
              <a:off x="1076325" y="4159826"/>
              <a:ext cx="3060700"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400" dirty="0">
                  <a:solidFill>
                    <a:schemeClr val="tx1"/>
                  </a:solidFill>
                  <a:latin typeface="Arial" panose="020B0604020202020204" pitchFamily="34" charset="0"/>
                </a:rPr>
                <a:t>Step 4: Using the Breakthrough Analysis Tool, Company Leader or SD Facilitator facilitates the </a:t>
              </a:r>
              <a:r>
                <a:rPr lang="ja-JP" altLang="en-US" sz="1400" dirty="0">
                  <a:solidFill>
                    <a:schemeClr val="tx1"/>
                  </a:solidFill>
                  <a:latin typeface="Arial" panose="020B0604020202020204" pitchFamily="34" charset="0"/>
                </a:rPr>
                <a:t>“</a:t>
              </a:r>
              <a:r>
                <a:rPr lang="en-US" altLang="ja-JP" sz="1400" dirty="0">
                  <a:solidFill>
                    <a:schemeClr val="tx1"/>
                  </a:solidFill>
                  <a:latin typeface="Arial" panose="020B0604020202020204" pitchFamily="34" charset="0"/>
                </a:rPr>
                <a:t>down-selection</a:t>
              </a:r>
              <a:r>
                <a:rPr lang="ja-JP" altLang="en-US" sz="1400" dirty="0">
                  <a:solidFill>
                    <a:schemeClr val="tx1"/>
                  </a:solidFill>
                  <a:latin typeface="Arial" panose="020B0604020202020204" pitchFamily="34" charset="0"/>
                </a:rPr>
                <a:t>”</a:t>
              </a:r>
              <a:r>
                <a:rPr lang="en-US" altLang="ja-JP" sz="1400" dirty="0">
                  <a:solidFill>
                    <a:schemeClr val="tx1"/>
                  </a:solidFill>
                  <a:latin typeface="Arial" panose="020B0604020202020204" pitchFamily="34" charset="0"/>
                </a:rPr>
                <a:t> process from X+ ideas to the top Breakthrough Objectives for the business</a:t>
              </a:r>
              <a:endParaRPr lang="en-US" altLang="en-US" sz="1400" dirty="0">
                <a:solidFill>
                  <a:schemeClr val="tx1"/>
                </a:solidFill>
                <a:latin typeface="Arial" panose="020B0604020202020204" pitchFamily="34" charset="0"/>
              </a:endParaRPr>
            </a:p>
          </p:txBody>
        </p:sp>
        <p:grpSp>
          <p:nvGrpSpPr>
            <p:cNvPr id="36" name="Group 30">
              <a:extLst>
                <a:ext uri="{FF2B5EF4-FFF2-40B4-BE49-F238E27FC236}">
                  <a16:creationId xmlns:a16="http://schemas.microsoft.com/office/drawing/2014/main" id="{41B36E64-6418-94D8-A854-D0468E9D3C23}"/>
                </a:ext>
              </a:extLst>
            </p:cNvPr>
            <p:cNvGrpSpPr>
              <a:grpSpLocks/>
            </p:cNvGrpSpPr>
            <p:nvPr/>
          </p:nvGrpSpPr>
          <p:grpSpPr bwMode="auto">
            <a:xfrm>
              <a:off x="2908300" y="1479550"/>
              <a:ext cx="363538" cy="465138"/>
              <a:chOff x="4133" y="895"/>
              <a:chExt cx="229" cy="293"/>
            </a:xfrm>
          </p:grpSpPr>
          <p:sp>
            <p:nvSpPr>
              <p:cNvPr id="37" name="Rectangle 31">
                <a:extLst>
                  <a:ext uri="{FF2B5EF4-FFF2-40B4-BE49-F238E27FC236}">
                    <a16:creationId xmlns:a16="http://schemas.microsoft.com/office/drawing/2014/main" id="{91EC5391-61C0-CE98-CDDA-0A320F02A464}"/>
                  </a:ext>
                </a:extLst>
              </p:cNvPr>
              <p:cNvSpPr>
                <a:spLocks noChangeArrowheads="1"/>
              </p:cNvSpPr>
              <p:nvPr/>
            </p:nvSpPr>
            <p:spPr bwMode="auto">
              <a:xfrm>
                <a:off x="4229" y="1017"/>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8" name="Rectangle 32">
                <a:extLst>
                  <a:ext uri="{FF2B5EF4-FFF2-40B4-BE49-F238E27FC236}">
                    <a16:creationId xmlns:a16="http://schemas.microsoft.com/office/drawing/2014/main" id="{9A91E99E-DC93-4CB8-5DEB-CC7B698DFD22}"/>
                  </a:ext>
                </a:extLst>
              </p:cNvPr>
              <p:cNvSpPr>
                <a:spLocks noChangeArrowheads="1"/>
              </p:cNvSpPr>
              <p:nvPr/>
            </p:nvSpPr>
            <p:spPr bwMode="auto">
              <a:xfrm flipH="1" flipV="1">
                <a:off x="4173" y="1054"/>
                <a:ext cx="101" cy="82"/>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9" name="Oval 33">
                <a:extLst>
                  <a:ext uri="{FF2B5EF4-FFF2-40B4-BE49-F238E27FC236}">
                    <a16:creationId xmlns:a16="http://schemas.microsoft.com/office/drawing/2014/main" id="{E6A7A96B-450D-8324-8E15-3153D36DDDFD}"/>
                  </a:ext>
                </a:extLst>
              </p:cNvPr>
              <p:cNvSpPr>
                <a:spLocks noChangeArrowheads="1"/>
              </p:cNvSpPr>
              <p:nvPr/>
            </p:nvSpPr>
            <p:spPr bwMode="auto">
              <a:xfrm>
                <a:off x="4133" y="959"/>
                <a:ext cx="229" cy="229"/>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0" name="Rectangle 34">
                <a:extLst>
                  <a:ext uri="{FF2B5EF4-FFF2-40B4-BE49-F238E27FC236}">
                    <a16:creationId xmlns:a16="http://schemas.microsoft.com/office/drawing/2014/main" id="{3407D4AE-12A9-1736-BF82-47930815D8B8}"/>
                  </a:ext>
                </a:extLst>
              </p:cNvPr>
              <p:cNvSpPr>
                <a:spLocks noChangeArrowheads="1"/>
              </p:cNvSpPr>
              <p:nvPr/>
            </p:nvSpPr>
            <p:spPr bwMode="auto">
              <a:xfrm>
                <a:off x="4159" y="895"/>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grpSp>
          <p:nvGrpSpPr>
            <p:cNvPr id="41" name="Group 35">
              <a:extLst>
                <a:ext uri="{FF2B5EF4-FFF2-40B4-BE49-F238E27FC236}">
                  <a16:creationId xmlns:a16="http://schemas.microsoft.com/office/drawing/2014/main" id="{542135FA-1681-FC0C-FE20-ADEAD7D3C49D}"/>
                </a:ext>
              </a:extLst>
            </p:cNvPr>
            <p:cNvGrpSpPr>
              <a:grpSpLocks/>
            </p:cNvGrpSpPr>
            <p:nvPr/>
          </p:nvGrpSpPr>
          <p:grpSpPr bwMode="auto">
            <a:xfrm>
              <a:off x="1255713" y="1457325"/>
              <a:ext cx="250825" cy="292100"/>
              <a:chOff x="4437" y="1037"/>
              <a:chExt cx="158" cy="184"/>
            </a:xfrm>
          </p:grpSpPr>
          <p:sp>
            <p:nvSpPr>
              <p:cNvPr id="42" name="Rectangle 36">
                <a:extLst>
                  <a:ext uri="{FF2B5EF4-FFF2-40B4-BE49-F238E27FC236}">
                    <a16:creationId xmlns:a16="http://schemas.microsoft.com/office/drawing/2014/main" id="{7F8E60A1-FAC0-1A97-CD5F-D7AD91E5DA6E}"/>
                  </a:ext>
                </a:extLst>
              </p:cNvPr>
              <p:cNvSpPr>
                <a:spLocks noChangeArrowheads="1"/>
              </p:cNvSpPr>
              <p:nvPr/>
            </p:nvSpPr>
            <p:spPr bwMode="auto">
              <a:xfrm>
                <a:off x="4457" y="1110"/>
                <a:ext cx="100" cy="91"/>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3" name="Oval 37">
                <a:extLst>
                  <a:ext uri="{FF2B5EF4-FFF2-40B4-BE49-F238E27FC236}">
                    <a16:creationId xmlns:a16="http://schemas.microsoft.com/office/drawing/2014/main" id="{F4FD6A0B-78EF-36E1-399F-18F5FB40F5A2}"/>
                  </a:ext>
                </a:extLst>
              </p:cNvPr>
              <p:cNvSpPr>
                <a:spLocks noChangeArrowheads="1"/>
              </p:cNvSpPr>
              <p:nvPr/>
            </p:nvSpPr>
            <p:spPr bwMode="auto">
              <a:xfrm>
                <a:off x="4438" y="1073"/>
                <a:ext cx="157" cy="148"/>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4" name="Rectangle 38">
                <a:extLst>
                  <a:ext uri="{FF2B5EF4-FFF2-40B4-BE49-F238E27FC236}">
                    <a16:creationId xmlns:a16="http://schemas.microsoft.com/office/drawing/2014/main" id="{3B51CE9B-2752-B4F0-9042-1C8F4085BD3C}"/>
                  </a:ext>
                </a:extLst>
              </p:cNvPr>
              <p:cNvSpPr>
                <a:spLocks noChangeArrowheads="1"/>
              </p:cNvSpPr>
              <p:nvPr/>
            </p:nvSpPr>
            <p:spPr bwMode="auto">
              <a:xfrm>
                <a:off x="4437" y="1037"/>
                <a:ext cx="138" cy="73"/>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sp>
          <p:nvSpPr>
            <p:cNvPr id="45" name="Rectangle 39">
              <a:extLst>
                <a:ext uri="{FF2B5EF4-FFF2-40B4-BE49-F238E27FC236}">
                  <a16:creationId xmlns:a16="http://schemas.microsoft.com/office/drawing/2014/main" id="{404DC446-F8CF-E468-81B2-9E3923AFAB78}"/>
                </a:ext>
              </a:extLst>
            </p:cNvPr>
            <p:cNvSpPr>
              <a:spLocks noChangeArrowheads="1"/>
            </p:cNvSpPr>
            <p:nvPr/>
          </p:nvSpPr>
          <p:spPr bwMode="auto">
            <a:xfrm>
              <a:off x="1657350" y="1781175"/>
              <a:ext cx="158750" cy="144463"/>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6" name="Rectangle 40">
              <a:extLst>
                <a:ext uri="{FF2B5EF4-FFF2-40B4-BE49-F238E27FC236}">
                  <a16:creationId xmlns:a16="http://schemas.microsoft.com/office/drawing/2014/main" id="{741A284E-87FA-D801-9845-162A42967405}"/>
                </a:ext>
              </a:extLst>
            </p:cNvPr>
            <p:cNvSpPr>
              <a:spLocks noChangeArrowheads="1"/>
            </p:cNvSpPr>
            <p:nvPr/>
          </p:nvSpPr>
          <p:spPr bwMode="auto">
            <a:xfrm>
              <a:off x="1731963" y="1779588"/>
              <a:ext cx="158750" cy="144462"/>
            </a:xfrm>
            <a:prstGeom prst="rect">
              <a:avLst/>
            </a:prstGeom>
            <a:solidFill>
              <a:srgbClr val="FFFF66"/>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7" name="Oval 41">
              <a:extLst>
                <a:ext uri="{FF2B5EF4-FFF2-40B4-BE49-F238E27FC236}">
                  <a16:creationId xmlns:a16="http://schemas.microsoft.com/office/drawing/2014/main" id="{CF8D0936-F556-2A1B-C055-508B08F2592C}"/>
                </a:ext>
              </a:extLst>
            </p:cNvPr>
            <p:cNvSpPr>
              <a:spLocks noChangeArrowheads="1"/>
            </p:cNvSpPr>
            <p:nvPr/>
          </p:nvSpPr>
          <p:spPr bwMode="auto">
            <a:xfrm>
              <a:off x="1654175" y="1731963"/>
              <a:ext cx="277813" cy="204787"/>
            </a:xfrm>
            <a:prstGeom prst="ellipse">
              <a:avLst/>
            </a:prstGeom>
            <a:noFill/>
            <a:ln w="38100"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8" name="Rectangle 42">
              <a:extLst>
                <a:ext uri="{FF2B5EF4-FFF2-40B4-BE49-F238E27FC236}">
                  <a16:creationId xmlns:a16="http://schemas.microsoft.com/office/drawing/2014/main" id="{B9C90483-2E15-1392-9C49-9EE39895FE0C}"/>
                </a:ext>
              </a:extLst>
            </p:cNvPr>
            <p:cNvSpPr>
              <a:spLocks noChangeArrowheads="1"/>
            </p:cNvSpPr>
            <p:nvPr/>
          </p:nvSpPr>
          <p:spPr bwMode="auto">
            <a:xfrm>
              <a:off x="1636713" y="1657350"/>
              <a:ext cx="219075" cy="115888"/>
            </a:xfrm>
            <a:prstGeom prst="rect">
              <a:avLst/>
            </a:prstGeom>
            <a:solidFill>
              <a:schemeClr val="bg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49" name="Group 43">
              <a:extLst>
                <a:ext uri="{FF2B5EF4-FFF2-40B4-BE49-F238E27FC236}">
                  <a16:creationId xmlns:a16="http://schemas.microsoft.com/office/drawing/2014/main" id="{78442D64-31F7-0288-941B-0CDBD2413A85}"/>
                </a:ext>
              </a:extLst>
            </p:cNvPr>
            <p:cNvGrpSpPr>
              <a:grpSpLocks/>
            </p:cNvGrpSpPr>
            <p:nvPr/>
          </p:nvGrpSpPr>
          <p:grpSpPr bwMode="auto">
            <a:xfrm>
              <a:off x="1531938" y="1676400"/>
              <a:ext cx="211137" cy="695325"/>
              <a:chOff x="3851" y="1182"/>
              <a:chExt cx="133" cy="438"/>
            </a:xfrm>
          </p:grpSpPr>
          <p:grpSp>
            <p:nvGrpSpPr>
              <p:cNvPr id="50" name="Group 44">
                <a:extLst>
                  <a:ext uri="{FF2B5EF4-FFF2-40B4-BE49-F238E27FC236}">
                    <a16:creationId xmlns:a16="http://schemas.microsoft.com/office/drawing/2014/main" id="{C119F092-EA57-7612-C4E7-EC2F4E8699F6}"/>
                  </a:ext>
                </a:extLst>
              </p:cNvPr>
              <p:cNvGrpSpPr>
                <a:grpSpLocks/>
              </p:cNvGrpSpPr>
              <p:nvPr/>
            </p:nvGrpSpPr>
            <p:grpSpPr bwMode="auto">
              <a:xfrm flipH="1">
                <a:off x="3857" y="1182"/>
                <a:ext cx="127" cy="438"/>
                <a:chOff x="2450" y="2240"/>
                <a:chExt cx="220" cy="667"/>
              </a:xfrm>
            </p:grpSpPr>
            <p:sp>
              <p:nvSpPr>
                <p:cNvPr id="54" name="Oval 45">
                  <a:extLst>
                    <a:ext uri="{FF2B5EF4-FFF2-40B4-BE49-F238E27FC236}">
                      <a16:creationId xmlns:a16="http://schemas.microsoft.com/office/drawing/2014/main" id="{CEFD27F7-98D7-42C7-D488-90765ADAC357}"/>
                    </a:ext>
                  </a:extLst>
                </p:cNvPr>
                <p:cNvSpPr>
                  <a:spLocks noChangeArrowheads="1"/>
                </p:cNvSpPr>
                <p:nvPr/>
              </p:nvSpPr>
              <p:spPr bwMode="auto">
                <a:xfrm>
                  <a:off x="2469" y="2240"/>
                  <a:ext cx="182" cy="19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55" name="Line 46">
                  <a:extLst>
                    <a:ext uri="{FF2B5EF4-FFF2-40B4-BE49-F238E27FC236}">
                      <a16:creationId xmlns:a16="http://schemas.microsoft.com/office/drawing/2014/main" id="{C89FFD5A-0370-8827-E8E0-A139E14AE363}"/>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47">
                  <a:extLst>
                    <a:ext uri="{FF2B5EF4-FFF2-40B4-BE49-F238E27FC236}">
                      <a16:creationId xmlns:a16="http://schemas.microsoft.com/office/drawing/2014/main" id="{31C8E295-61F5-2742-1DD4-E3F9E5D70A8F}"/>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48">
                  <a:extLst>
                    <a:ext uri="{FF2B5EF4-FFF2-40B4-BE49-F238E27FC236}">
                      <a16:creationId xmlns:a16="http://schemas.microsoft.com/office/drawing/2014/main" id="{6F122073-C7C2-125B-5474-011E87F1FEA9}"/>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Line 49">
                  <a:extLst>
                    <a:ext uri="{FF2B5EF4-FFF2-40B4-BE49-F238E27FC236}">
                      <a16:creationId xmlns:a16="http://schemas.microsoft.com/office/drawing/2014/main" id="{35E6B9C8-26A8-73AF-E673-023DA04DC037}"/>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 name="Group 50">
                <a:extLst>
                  <a:ext uri="{FF2B5EF4-FFF2-40B4-BE49-F238E27FC236}">
                    <a16:creationId xmlns:a16="http://schemas.microsoft.com/office/drawing/2014/main" id="{82853271-C9C6-B9F8-854A-57ACEFD3DB84}"/>
                  </a:ext>
                </a:extLst>
              </p:cNvPr>
              <p:cNvGrpSpPr>
                <a:grpSpLocks/>
              </p:cNvGrpSpPr>
              <p:nvPr/>
            </p:nvGrpSpPr>
            <p:grpSpPr bwMode="auto">
              <a:xfrm>
                <a:off x="3851" y="1311"/>
                <a:ext cx="133" cy="181"/>
                <a:chOff x="1025" y="2981"/>
                <a:chExt cx="127" cy="270"/>
              </a:xfrm>
            </p:grpSpPr>
            <p:sp>
              <p:nvSpPr>
                <p:cNvPr id="52" name="AutoShape 51">
                  <a:extLst>
                    <a:ext uri="{FF2B5EF4-FFF2-40B4-BE49-F238E27FC236}">
                      <a16:creationId xmlns:a16="http://schemas.microsoft.com/office/drawing/2014/main" id="{28F101C2-9C11-06FB-BC2A-597856A4A159}"/>
                    </a:ext>
                  </a:extLst>
                </p:cNvPr>
                <p:cNvSpPr>
                  <a:spLocks noChangeArrowheads="1"/>
                </p:cNvSpPr>
                <p:nvPr/>
              </p:nvSpPr>
              <p:spPr bwMode="auto">
                <a:xfrm rot="5400000">
                  <a:off x="983" y="3131"/>
                  <a:ext cx="205" cy="36"/>
                </a:xfrm>
                <a:prstGeom prst="homePlate">
                  <a:avLst>
                    <a:gd name="adj" fmla="val 142361"/>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53" name="AutoShape 52">
                  <a:extLst>
                    <a:ext uri="{FF2B5EF4-FFF2-40B4-BE49-F238E27FC236}">
                      <a16:creationId xmlns:a16="http://schemas.microsoft.com/office/drawing/2014/main" id="{2B5C8717-AC5E-F37C-EC33-1368D5DFD386}"/>
                    </a:ext>
                  </a:extLst>
                </p:cNvPr>
                <p:cNvSpPr>
                  <a:spLocks noChangeArrowheads="1"/>
                </p:cNvSpPr>
                <p:nvPr/>
              </p:nvSpPr>
              <p:spPr bwMode="auto">
                <a:xfrm flipV="1">
                  <a:off x="1025" y="2981"/>
                  <a:ext cx="127" cy="91"/>
                </a:xfrm>
                <a:prstGeom prst="triangle">
                  <a:avLst>
                    <a:gd name="adj" fmla="val 50000"/>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grpSp>
        <p:sp>
          <p:nvSpPr>
            <p:cNvPr id="59" name="Rectangle 92">
              <a:extLst>
                <a:ext uri="{FF2B5EF4-FFF2-40B4-BE49-F238E27FC236}">
                  <a16:creationId xmlns:a16="http://schemas.microsoft.com/office/drawing/2014/main" id="{895D4EC5-0EE9-378E-380D-ECFFCCCF404A}"/>
                </a:ext>
              </a:extLst>
            </p:cNvPr>
            <p:cNvSpPr>
              <a:spLocks noChangeArrowheads="1"/>
            </p:cNvSpPr>
            <p:nvPr/>
          </p:nvSpPr>
          <p:spPr bwMode="auto">
            <a:xfrm>
              <a:off x="1989138" y="1481138"/>
              <a:ext cx="755650" cy="420687"/>
            </a:xfrm>
            <a:prstGeom prst="rect">
              <a:avLst/>
            </a:prstGeom>
            <a:solidFill>
              <a:schemeClr val="bg1"/>
            </a:solidFill>
            <a:ln w="28575"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60" name="Line 93">
              <a:extLst>
                <a:ext uri="{FF2B5EF4-FFF2-40B4-BE49-F238E27FC236}">
                  <a16:creationId xmlns:a16="http://schemas.microsoft.com/office/drawing/2014/main" id="{D9FD13FA-19B9-0F0A-24D6-E915B4E23700}"/>
                </a:ext>
              </a:extLst>
            </p:cNvPr>
            <p:cNvSpPr>
              <a:spLocks noChangeShapeType="1"/>
            </p:cNvSpPr>
            <p:nvPr/>
          </p:nvSpPr>
          <p:spPr bwMode="auto">
            <a:xfrm>
              <a:off x="2379663" y="1481138"/>
              <a:ext cx="0" cy="42068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94">
              <a:extLst>
                <a:ext uri="{FF2B5EF4-FFF2-40B4-BE49-F238E27FC236}">
                  <a16:creationId xmlns:a16="http://schemas.microsoft.com/office/drawing/2014/main" id="{99501DBE-B1ED-9F5F-3CA7-410BB53E5BC2}"/>
                </a:ext>
              </a:extLst>
            </p:cNvPr>
            <p:cNvSpPr>
              <a:spLocks noChangeShapeType="1"/>
            </p:cNvSpPr>
            <p:nvPr/>
          </p:nvSpPr>
          <p:spPr bwMode="auto">
            <a:xfrm>
              <a:off x="1973263" y="1684338"/>
              <a:ext cx="785812"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2" name="Group 102">
              <a:extLst>
                <a:ext uri="{FF2B5EF4-FFF2-40B4-BE49-F238E27FC236}">
                  <a16:creationId xmlns:a16="http://schemas.microsoft.com/office/drawing/2014/main" id="{EC838BDF-89A0-5FBD-AAE5-AAE00B010A23}"/>
                </a:ext>
              </a:extLst>
            </p:cNvPr>
            <p:cNvGrpSpPr>
              <a:grpSpLocks/>
            </p:cNvGrpSpPr>
            <p:nvPr/>
          </p:nvGrpSpPr>
          <p:grpSpPr bwMode="auto">
            <a:xfrm>
              <a:off x="5457825" y="1433513"/>
              <a:ext cx="2352675" cy="3660775"/>
              <a:chOff x="3438" y="903"/>
              <a:chExt cx="1482" cy="2306"/>
            </a:xfrm>
          </p:grpSpPr>
          <p:sp>
            <p:nvSpPr>
              <p:cNvPr id="63" name="Rectangle 54">
                <a:extLst>
                  <a:ext uri="{FF2B5EF4-FFF2-40B4-BE49-F238E27FC236}">
                    <a16:creationId xmlns:a16="http://schemas.microsoft.com/office/drawing/2014/main" id="{0FE9094E-C403-D5DD-2457-55921A4BFD8E}"/>
                  </a:ext>
                </a:extLst>
              </p:cNvPr>
              <p:cNvSpPr>
                <a:spLocks noChangeArrowheads="1"/>
              </p:cNvSpPr>
              <p:nvPr/>
            </p:nvSpPr>
            <p:spPr bwMode="auto">
              <a:xfrm>
                <a:off x="3530" y="903"/>
                <a:ext cx="1390" cy="338"/>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192" name="Group 56">
                <a:extLst>
                  <a:ext uri="{FF2B5EF4-FFF2-40B4-BE49-F238E27FC236}">
                    <a16:creationId xmlns:a16="http://schemas.microsoft.com/office/drawing/2014/main" id="{D2E1A2C3-CB82-0B18-860B-D80F3C403139}"/>
                  </a:ext>
                </a:extLst>
              </p:cNvPr>
              <p:cNvGrpSpPr>
                <a:grpSpLocks/>
              </p:cNvGrpSpPr>
              <p:nvPr/>
            </p:nvGrpSpPr>
            <p:grpSpPr bwMode="auto">
              <a:xfrm flipH="1">
                <a:off x="4609" y="1336"/>
                <a:ext cx="127" cy="438"/>
                <a:chOff x="2450" y="2240"/>
                <a:chExt cx="220" cy="667"/>
              </a:xfrm>
            </p:grpSpPr>
            <p:sp>
              <p:nvSpPr>
                <p:cNvPr id="403" name="Oval 57">
                  <a:extLst>
                    <a:ext uri="{FF2B5EF4-FFF2-40B4-BE49-F238E27FC236}">
                      <a16:creationId xmlns:a16="http://schemas.microsoft.com/office/drawing/2014/main" id="{D2B958BB-CE9E-8DDD-E94A-0F250E87201E}"/>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04" name="Line 58">
                  <a:extLst>
                    <a:ext uri="{FF2B5EF4-FFF2-40B4-BE49-F238E27FC236}">
                      <a16:creationId xmlns:a16="http://schemas.microsoft.com/office/drawing/2014/main" id="{8DF3D491-E745-88D7-C5B8-6E1AC47CCBF9}"/>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5" name="Line 59">
                  <a:extLst>
                    <a:ext uri="{FF2B5EF4-FFF2-40B4-BE49-F238E27FC236}">
                      <a16:creationId xmlns:a16="http://schemas.microsoft.com/office/drawing/2014/main" id="{DDC2409B-042F-5A6F-471A-C8814CDD9518}"/>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6" name="Line 60">
                  <a:extLst>
                    <a:ext uri="{FF2B5EF4-FFF2-40B4-BE49-F238E27FC236}">
                      <a16:creationId xmlns:a16="http://schemas.microsoft.com/office/drawing/2014/main" id="{4072CB74-09BC-4D84-30A3-E2B53BC965B1}"/>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 name="Line 61">
                  <a:extLst>
                    <a:ext uri="{FF2B5EF4-FFF2-40B4-BE49-F238E27FC236}">
                      <a16:creationId xmlns:a16="http://schemas.microsoft.com/office/drawing/2014/main" id="{6A9649E7-F7A3-FC1F-AE10-6FB82AB2BA82}"/>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3" name="Oval 62">
                <a:extLst>
                  <a:ext uri="{FF2B5EF4-FFF2-40B4-BE49-F238E27FC236}">
                    <a16:creationId xmlns:a16="http://schemas.microsoft.com/office/drawing/2014/main" id="{4B47F999-E2B1-6777-9BDD-11D485D032AF}"/>
                  </a:ext>
                </a:extLst>
              </p:cNvPr>
              <p:cNvSpPr>
                <a:spLocks noChangeArrowheads="1"/>
              </p:cNvSpPr>
              <p:nvPr/>
            </p:nvSpPr>
            <p:spPr bwMode="auto">
              <a:xfrm>
                <a:off x="3740" y="1389"/>
                <a:ext cx="969" cy="887"/>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nvGrpSpPr>
              <p:cNvPr id="194" name="Group 63">
                <a:extLst>
                  <a:ext uri="{FF2B5EF4-FFF2-40B4-BE49-F238E27FC236}">
                    <a16:creationId xmlns:a16="http://schemas.microsoft.com/office/drawing/2014/main" id="{301EE511-2273-54CF-2CF6-1EDF3BEC054D}"/>
                  </a:ext>
                </a:extLst>
              </p:cNvPr>
              <p:cNvGrpSpPr>
                <a:grpSpLocks/>
              </p:cNvGrpSpPr>
              <p:nvPr/>
            </p:nvGrpSpPr>
            <p:grpSpPr bwMode="auto">
              <a:xfrm flipH="1">
                <a:off x="4577" y="1944"/>
                <a:ext cx="127" cy="438"/>
                <a:chOff x="2450" y="2240"/>
                <a:chExt cx="220" cy="667"/>
              </a:xfrm>
            </p:grpSpPr>
            <p:sp>
              <p:nvSpPr>
                <p:cNvPr id="398" name="Oval 64">
                  <a:extLst>
                    <a:ext uri="{FF2B5EF4-FFF2-40B4-BE49-F238E27FC236}">
                      <a16:creationId xmlns:a16="http://schemas.microsoft.com/office/drawing/2014/main" id="{29F292DE-E7F5-2496-F567-8520806C9C5A}"/>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99" name="Line 65">
                  <a:extLst>
                    <a:ext uri="{FF2B5EF4-FFF2-40B4-BE49-F238E27FC236}">
                      <a16:creationId xmlns:a16="http://schemas.microsoft.com/office/drawing/2014/main" id="{FCF96DA2-4DC5-5A3A-3C64-79B6BD848592}"/>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0" name="Line 66">
                  <a:extLst>
                    <a:ext uri="{FF2B5EF4-FFF2-40B4-BE49-F238E27FC236}">
                      <a16:creationId xmlns:a16="http://schemas.microsoft.com/office/drawing/2014/main" id="{E5BFF5D2-099D-8D31-1327-8962772F02E7}"/>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1" name="Line 67">
                  <a:extLst>
                    <a:ext uri="{FF2B5EF4-FFF2-40B4-BE49-F238E27FC236}">
                      <a16:creationId xmlns:a16="http://schemas.microsoft.com/office/drawing/2014/main" id="{68BD7506-9CC8-0923-31DF-06F878A949EB}"/>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2" name="Line 68">
                  <a:extLst>
                    <a:ext uri="{FF2B5EF4-FFF2-40B4-BE49-F238E27FC236}">
                      <a16:creationId xmlns:a16="http://schemas.microsoft.com/office/drawing/2014/main" id="{4DD7AE0E-7D03-39F3-BA9D-68E04B599701}"/>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95" name="Group 69">
                <a:extLst>
                  <a:ext uri="{FF2B5EF4-FFF2-40B4-BE49-F238E27FC236}">
                    <a16:creationId xmlns:a16="http://schemas.microsoft.com/office/drawing/2014/main" id="{4B2989D9-6541-C5E2-C335-927BADBC4C8C}"/>
                  </a:ext>
                </a:extLst>
              </p:cNvPr>
              <p:cNvGrpSpPr>
                <a:grpSpLocks/>
              </p:cNvGrpSpPr>
              <p:nvPr/>
            </p:nvGrpSpPr>
            <p:grpSpPr bwMode="auto">
              <a:xfrm flipH="1">
                <a:off x="4271" y="2104"/>
                <a:ext cx="127" cy="438"/>
                <a:chOff x="2450" y="2240"/>
                <a:chExt cx="220" cy="667"/>
              </a:xfrm>
            </p:grpSpPr>
            <p:sp>
              <p:nvSpPr>
                <p:cNvPr id="393" name="Oval 70">
                  <a:extLst>
                    <a:ext uri="{FF2B5EF4-FFF2-40B4-BE49-F238E27FC236}">
                      <a16:creationId xmlns:a16="http://schemas.microsoft.com/office/drawing/2014/main" id="{C555EE1F-0224-ACF1-CA6E-28FBB92CE1E2}"/>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94" name="Line 71">
                  <a:extLst>
                    <a:ext uri="{FF2B5EF4-FFF2-40B4-BE49-F238E27FC236}">
                      <a16:creationId xmlns:a16="http://schemas.microsoft.com/office/drawing/2014/main" id="{64007867-14B8-B208-2D11-422F32101485}"/>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5" name="Line 72">
                  <a:extLst>
                    <a:ext uri="{FF2B5EF4-FFF2-40B4-BE49-F238E27FC236}">
                      <a16:creationId xmlns:a16="http://schemas.microsoft.com/office/drawing/2014/main" id="{8F284F90-16EA-8D21-D482-0EAFF5856E7F}"/>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6" name="Line 73">
                  <a:extLst>
                    <a:ext uri="{FF2B5EF4-FFF2-40B4-BE49-F238E27FC236}">
                      <a16:creationId xmlns:a16="http://schemas.microsoft.com/office/drawing/2014/main" id="{C27C5F84-AC43-B903-FBCF-A8612F91C74E}"/>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7" name="Line 74">
                  <a:extLst>
                    <a:ext uri="{FF2B5EF4-FFF2-40B4-BE49-F238E27FC236}">
                      <a16:creationId xmlns:a16="http://schemas.microsoft.com/office/drawing/2014/main" id="{1DCDFF73-40E7-83F0-42E6-816F80D1DD05}"/>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96" name="Group 75">
                <a:extLst>
                  <a:ext uri="{FF2B5EF4-FFF2-40B4-BE49-F238E27FC236}">
                    <a16:creationId xmlns:a16="http://schemas.microsoft.com/office/drawing/2014/main" id="{8AF17DC9-B8FD-6DA6-2F98-C3D72BBF7AAF}"/>
                  </a:ext>
                </a:extLst>
              </p:cNvPr>
              <p:cNvGrpSpPr>
                <a:grpSpLocks/>
              </p:cNvGrpSpPr>
              <p:nvPr/>
            </p:nvGrpSpPr>
            <p:grpSpPr bwMode="auto">
              <a:xfrm flipH="1">
                <a:off x="3695" y="1830"/>
                <a:ext cx="127" cy="438"/>
                <a:chOff x="2450" y="2240"/>
                <a:chExt cx="220" cy="667"/>
              </a:xfrm>
            </p:grpSpPr>
            <p:sp>
              <p:nvSpPr>
                <p:cNvPr id="388" name="Oval 76">
                  <a:extLst>
                    <a:ext uri="{FF2B5EF4-FFF2-40B4-BE49-F238E27FC236}">
                      <a16:creationId xmlns:a16="http://schemas.microsoft.com/office/drawing/2014/main" id="{A6F2E30F-CAE0-F1D6-D0A5-4E1783C16635}"/>
                    </a:ext>
                  </a:extLst>
                </p:cNvPr>
                <p:cNvSpPr>
                  <a:spLocks noChangeArrowheads="1"/>
                </p:cNvSpPr>
                <p:nvPr/>
              </p:nvSpPr>
              <p:spPr bwMode="auto">
                <a:xfrm>
                  <a:off x="2469" y="2240"/>
                  <a:ext cx="182" cy="192"/>
                </a:xfrm>
                <a:prstGeom prst="ellipse">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89" name="Line 77">
                  <a:extLst>
                    <a:ext uri="{FF2B5EF4-FFF2-40B4-BE49-F238E27FC236}">
                      <a16:creationId xmlns:a16="http://schemas.microsoft.com/office/drawing/2014/main" id="{C9C25441-9D19-790B-CB72-95859C3ADB66}"/>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0" name="Line 78">
                  <a:extLst>
                    <a:ext uri="{FF2B5EF4-FFF2-40B4-BE49-F238E27FC236}">
                      <a16:creationId xmlns:a16="http://schemas.microsoft.com/office/drawing/2014/main" id="{D7AC005C-7F4A-37E0-CE71-A2B305FBA916}"/>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1" name="Line 79">
                  <a:extLst>
                    <a:ext uri="{FF2B5EF4-FFF2-40B4-BE49-F238E27FC236}">
                      <a16:creationId xmlns:a16="http://schemas.microsoft.com/office/drawing/2014/main" id="{6D6EF72D-46FF-A09A-A712-728D1F8DD2C2}"/>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2" name="Line 80">
                  <a:extLst>
                    <a:ext uri="{FF2B5EF4-FFF2-40B4-BE49-F238E27FC236}">
                      <a16:creationId xmlns:a16="http://schemas.microsoft.com/office/drawing/2014/main" id="{C6B928D0-8D92-B3CB-5285-146698526CF2}"/>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7" name="Rectangle 81">
                <a:extLst>
                  <a:ext uri="{FF2B5EF4-FFF2-40B4-BE49-F238E27FC236}">
                    <a16:creationId xmlns:a16="http://schemas.microsoft.com/office/drawing/2014/main" id="{7F0C9B28-CCB8-719D-1B8B-DDCD3358F3D3}"/>
                  </a:ext>
                </a:extLst>
              </p:cNvPr>
              <p:cNvSpPr>
                <a:spLocks noChangeArrowheads="1"/>
              </p:cNvSpPr>
              <p:nvPr/>
            </p:nvSpPr>
            <p:spPr bwMode="auto">
              <a:xfrm>
                <a:off x="3438" y="2620"/>
                <a:ext cx="1473"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400">
                    <a:solidFill>
                      <a:schemeClr val="tx1"/>
                    </a:solidFill>
                    <a:latin typeface="Arial" panose="020B0604020202020204" pitchFamily="34" charset="0"/>
                  </a:rPr>
                  <a:t>Step 5: Transfer Breakthrough Objectives to the Top Level Matrix</a:t>
                </a:r>
              </a:p>
            </p:txBody>
          </p:sp>
          <p:grpSp>
            <p:nvGrpSpPr>
              <p:cNvPr id="198" name="Group 82">
                <a:extLst>
                  <a:ext uri="{FF2B5EF4-FFF2-40B4-BE49-F238E27FC236}">
                    <a16:creationId xmlns:a16="http://schemas.microsoft.com/office/drawing/2014/main" id="{AD68A1D9-5B16-0882-5AD8-12A2EE8A0664}"/>
                  </a:ext>
                </a:extLst>
              </p:cNvPr>
              <p:cNvGrpSpPr>
                <a:grpSpLocks/>
              </p:cNvGrpSpPr>
              <p:nvPr/>
            </p:nvGrpSpPr>
            <p:grpSpPr bwMode="auto">
              <a:xfrm>
                <a:off x="3725" y="1062"/>
                <a:ext cx="133" cy="438"/>
                <a:chOff x="3851" y="1182"/>
                <a:chExt cx="133" cy="438"/>
              </a:xfrm>
            </p:grpSpPr>
            <p:grpSp>
              <p:nvGrpSpPr>
                <p:cNvPr id="200" name="Group 83">
                  <a:extLst>
                    <a:ext uri="{FF2B5EF4-FFF2-40B4-BE49-F238E27FC236}">
                      <a16:creationId xmlns:a16="http://schemas.microsoft.com/office/drawing/2014/main" id="{5760A00C-403B-ACA8-2E81-27D5167C00EB}"/>
                    </a:ext>
                  </a:extLst>
                </p:cNvPr>
                <p:cNvGrpSpPr>
                  <a:grpSpLocks/>
                </p:cNvGrpSpPr>
                <p:nvPr/>
              </p:nvGrpSpPr>
              <p:grpSpPr bwMode="auto">
                <a:xfrm flipH="1">
                  <a:off x="3857" y="1182"/>
                  <a:ext cx="127" cy="438"/>
                  <a:chOff x="2450" y="2240"/>
                  <a:chExt cx="220" cy="667"/>
                </a:xfrm>
              </p:grpSpPr>
              <p:sp>
                <p:nvSpPr>
                  <p:cNvPr id="383" name="Oval 84">
                    <a:extLst>
                      <a:ext uri="{FF2B5EF4-FFF2-40B4-BE49-F238E27FC236}">
                        <a16:creationId xmlns:a16="http://schemas.microsoft.com/office/drawing/2014/main" id="{FB24EE3E-D7F8-D92F-3E4A-90D7B133AA1F}"/>
                      </a:ext>
                    </a:extLst>
                  </p:cNvPr>
                  <p:cNvSpPr>
                    <a:spLocks noChangeArrowheads="1"/>
                  </p:cNvSpPr>
                  <p:nvPr/>
                </p:nvSpPr>
                <p:spPr bwMode="auto">
                  <a:xfrm>
                    <a:off x="2469" y="2240"/>
                    <a:ext cx="182" cy="192"/>
                  </a:xfrm>
                  <a:prstGeom prst="ellipse">
                    <a:avLst/>
                  </a:prstGeom>
                  <a:solidFill>
                    <a:schemeClr val="bg1"/>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84" name="Line 85">
                    <a:extLst>
                      <a:ext uri="{FF2B5EF4-FFF2-40B4-BE49-F238E27FC236}">
                        <a16:creationId xmlns:a16="http://schemas.microsoft.com/office/drawing/2014/main" id="{3418A955-0122-E5FA-7C29-C7227208A8B7}"/>
                      </a:ext>
                    </a:extLst>
                  </p:cNvPr>
                  <p:cNvSpPr>
                    <a:spLocks noChangeShapeType="1"/>
                  </p:cNvSpPr>
                  <p:nvPr/>
                </p:nvSpPr>
                <p:spPr bwMode="auto">
                  <a:xfrm>
                    <a:off x="2560" y="2441"/>
                    <a:ext cx="0" cy="284"/>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5" name="Line 86">
                    <a:extLst>
                      <a:ext uri="{FF2B5EF4-FFF2-40B4-BE49-F238E27FC236}">
                        <a16:creationId xmlns:a16="http://schemas.microsoft.com/office/drawing/2014/main" id="{3B3F6784-6041-46C4-F5AD-51075C51321E}"/>
                      </a:ext>
                    </a:extLst>
                  </p:cNvPr>
                  <p:cNvSpPr>
                    <a:spLocks noChangeShapeType="1"/>
                  </p:cNvSpPr>
                  <p:nvPr/>
                </p:nvSpPr>
                <p:spPr bwMode="auto">
                  <a:xfrm>
                    <a:off x="2469" y="2551"/>
                    <a:ext cx="173"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6" name="Line 87">
                    <a:extLst>
                      <a:ext uri="{FF2B5EF4-FFF2-40B4-BE49-F238E27FC236}">
                        <a16:creationId xmlns:a16="http://schemas.microsoft.com/office/drawing/2014/main" id="{210A3F94-C444-6930-A3BE-D07B9816EE26}"/>
                      </a:ext>
                    </a:extLst>
                  </p:cNvPr>
                  <p:cNvSpPr>
                    <a:spLocks noChangeShapeType="1"/>
                  </p:cNvSpPr>
                  <p:nvPr/>
                </p:nvSpPr>
                <p:spPr bwMode="auto">
                  <a:xfrm flipH="1">
                    <a:off x="2450" y="2715"/>
                    <a:ext cx="110" cy="192"/>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7" name="Line 88">
                    <a:extLst>
                      <a:ext uri="{FF2B5EF4-FFF2-40B4-BE49-F238E27FC236}">
                        <a16:creationId xmlns:a16="http://schemas.microsoft.com/office/drawing/2014/main" id="{B21051FE-31DB-DC53-C11D-95849ED7E2E5}"/>
                      </a:ext>
                    </a:extLst>
                  </p:cNvPr>
                  <p:cNvSpPr>
                    <a:spLocks noChangeShapeType="1"/>
                  </p:cNvSpPr>
                  <p:nvPr/>
                </p:nvSpPr>
                <p:spPr bwMode="auto">
                  <a:xfrm>
                    <a:off x="2560" y="2706"/>
                    <a:ext cx="110" cy="20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0" name="Group 89">
                  <a:extLst>
                    <a:ext uri="{FF2B5EF4-FFF2-40B4-BE49-F238E27FC236}">
                      <a16:creationId xmlns:a16="http://schemas.microsoft.com/office/drawing/2014/main" id="{36F04B74-12EC-5D6E-E97B-8A241EF32239}"/>
                    </a:ext>
                  </a:extLst>
                </p:cNvPr>
                <p:cNvGrpSpPr>
                  <a:grpSpLocks/>
                </p:cNvGrpSpPr>
                <p:nvPr/>
              </p:nvGrpSpPr>
              <p:grpSpPr bwMode="auto">
                <a:xfrm>
                  <a:off x="3851" y="1311"/>
                  <a:ext cx="133" cy="181"/>
                  <a:chOff x="1025" y="2981"/>
                  <a:chExt cx="127" cy="270"/>
                </a:xfrm>
              </p:grpSpPr>
              <p:sp>
                <p:nvSpPr>
                  <p:cNvPr id="381" name="AutoShape 90">
                    <a:extLst>
                      <a:ext uri="{FF2B5EF4-FFF2-40B4-BE49-F238E27FC236}">
                        <a16:creationId xmlns:a16="http://schemas.microsoft.com/office/drawing/2014/main" id="{A7C15F95-4D72-D89E-911C-8DC4FCF01BA3}"/>
                      </a:ext>
                    </a:extLst>
                  </p:cNvPr>
                  <p:cNvSpPr>
                    <a:spLocks noChangeArrowheads="1"/>
                  </p:cNvSpPr>
                  <p:nvPr/>
                </p:nvSpPr>
                <p:spPr bwMode="auto">
                  <a:xfrm rot="5400000">
                    <a:off x="983" y="3131"/>
                    <a:ext cx="205" cy="36"/>
                  </a:xfrm>
                  <a:prstGeom prst="homePlate">
                    <a:avLst>
                      <a:gd name="adj" fmla="val 142361"/>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382" name="AutoShape 91">
                    <a:extLst>
                      <a:ext uri="{FF2B5EF4-FFF2-40B4-BE49-F238E27FC236}">
                        <a16:creationId xmlns:a16="http://schemas.microsoft.com/office/drawing/2014/main" id="{F9BF04BC-590F-80DC-F31A-8D32C2F7DE89}"/>
                      </a:ext>
                    </a:extLst>
                  </p:cNvPr>
                  <p:cNvSpPr>
                    <a:spLocks noChangeArrowheads="1"/>
                  </p:cNvSpPr>
                  <p:nvPr/>
                </p:nvSpPr>
                <p:spPr bwMode="auto">
                  <a:xfrm flipV="1">
                    <a:off x="1025" y="2981"/>
                    <a:ext cx="127" cy="91"/>
                  </a:xfrm>
                  <a:prstGeom prst="triangle">
                    <a:avLst>
                      <a:gd name="adj" fmla="val 50000"/>
                    </a:avLst>
                  </a:prstGeom>
                  <a:solidFill>
                    <a:schemeClr val="accent1"/>
                  </a:solidFill>
                  <a:ln w="12700" cap="sq">
                    <a:solidFill>
                      <a:schemeClr val="tx2"/>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grpSp>
          </p:grpSp>
          <p:pic>
            <p:nvPicPr>
              <p:cNvPr id="199" name="Picture 101">
                <a:extLst>
                  <a:ext uri="{FF2B5EF4-FFF2-40B4-BE49-F238E27FC236}">
                    <a16:creationId xmlns:a16="http://schemas.microsoft.com/office/drawing/2014/main" id="{E04C5A54-EC93-9585-5835-E266EFDBD3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3" y="928"/>
                <a:ext cx="505" cy="261"/>
              </a:xfrm>
              <a:prstGeom prst="rect">
                <a:avLst/>
              </a:prstGeom>
              <a:solidFill>
                <a:schemeClr val="bg1"/>
              </a:solidFill>
              <a:ln w="28575" cap="sq">
                <a:solidFill>
                  <a:schemeClr val="tx1"/>
                </a:solidFill>
                <a:miter lim="800000"/>
                <a:headEnd/>
                <a:tailEnd/>
              </a:ln>
            </p:spPr>
          </p:pic>
        </p:grpSp>
      </p:grpSp>
    </p:spTree>
    <p:custDataLst>
      <p:tags r:id="rId1"/>
    </p:custDataLst>
    <p:extLst>
      <p:ext uri="{BB962C8B-B14F-4D97-AF65-F5344CB8AC3E}">
        <p14:creationId xmlns:p14="http://schemas.microsoft.com/office/powerpoint/2010/main" val="9799571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C9C9-DF4E-A64A-6CBA-0DB47902B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057A2-56D4-ECBD-E86A-E298E1A2A8B5}"/>
              </a:ext>
            </a:extLst>
          </p:cNvPr>
          <p:cNvSpPr>
            <a:spLocks noGrp="1"/>
          </p:cNvSpPr>
          <p:nvPr>
            <p:ph type="title"/>
          </p:nvPr>
        </p:nvSpPr>
        <p:spPr/>
        <p:txBody>
          <a:bodyPr>
            <a:normAutofit/>
          </a:bodyPr>
          <a:lstStyle/>
          <a:p>
            <a:r>
              <a:rPr lang="en-US" sz="4000" dirty="0">
                <a:latin typeface="Roboto Medium"/>
                <a:ea typeface="Roboto Medium"/>
                <a:cs typeface="Roboto Medium"/>
              </a:rPr>
              <a:t>Exercise: Alpha Beta Case Study</a:t>
            </a:r>
          </a:p>
        </p:txBody>
      </p:sp>
      <p:sp>
        <p:nvSpPr>
          <p:cNvPr id="11" name="Rectangle 10">
            <a:extLst>
              <a:ext uri="{FF2B5EF4-FFF2-40B4-BE49-F238E27FC236}">
                <a16:creationId xmlns:a16="http://schemas.microsoft.com/office/drawing/2014/main" id="{E08DC03C-5BB6-A95E-F390-0617385CFA8F}"/>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 Breakthrough Objectives for Alpha Beta Case Study </a:t>
            </a:r>
          </a:p>
        </p:txBody>
      </p:sp>
      <p:sp>
        <p:nvSpPr>
          <p:cNvPr id="12" name="TextBox 11">
            <a:extLst>
              <a:ext uri="{FF2B5EF4-FFF2-40B4-BE49-F238E27FC236}">
                <a16:creationId xmlns:a16="http://schemas.microsoft.com/office/drawing/2014/main" id="{02408825-8135-D966-99A3-B9753E5A8B22}"/>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72A9EC27-CF52-9453-EF7E-38A29B4AF08A}"/>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42D81DF8-EBEB-A4D5-4C9C-0DE43CB42DCB}"/>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Using the information from the Alpha Beta Company Case Study determine the 3–4 Breakthrough Objectives </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endPar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Use the checklist as a reference.</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endPar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599D37D5-8ABE-D42F-32B4-C71C72CBB119}"/>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1F6B0A1E-E9A6-F53C-F1A5-24540C462C34}"/>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7F89F527-7829-4C97-E898-C0610F3416F3}"/>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45 minutes</a:t>
            </a:r>
          </a:p>
        </p:txBody>
      </p:sp>
      <p:sp>
        <p:nvSpPr>
          <p:cNvPr id="18" name="Rectangle 17">
            <a:extLst>
              <a:ext uri="{FF2B5EF4-FFF2-40B4-BE49-F238E27FC236}">
                <a16:creationId xmlns:a16="http://schemas.microsoft.com/office/drawing/2014/main" id="{5C7213FF-4F91-C4BF-5DFF-9CC3F18EA4AB}"/>
              </a:ext>
            </a:extLst>
          </p:cNvPr>
          <p:cNvSpPr/>
          <p:nvPr/>
        </p:nvSpPr>
        <p:spPr>
          <a:xfrm>
            <a:off x="5879250" y="4827065"/>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3–4 Breakthrough Objectives for Alpha Beta Company </a:t>
            </a:r>
          </a:p>
        </p:txBody>
      </p:sp>
      <p:grpSp>
        <p:nvGrpSpPr>
          <p:cNvPr id="3" name="Group 2">
            <a:extLst>
              <a:ext uri="{FF2B5EF4-FFF2-40B4-BE49-F238E27FC236}">
                <a16:creationId xmlns:a16="http://schemas.microsoft.com/office/drawing/2014/main" id="{D0FD01E6-8F27-620A-0461-25D6783AD573}"/>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617ADC66-FFA0-5BC5-BE67-90719B3731A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8FCCE18B-15E9-6BF5-D1BC-ABB74130992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AD2C87DC-20AF-05C0-F20C-78B2379496E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8F3CD6A8-75FB-EC1A-6414-89C4718E3443}"/>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D5B280D6-0873-9CED-3FE1-3A693D4F3FAA}"/>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Tree>
    <p:custDataLst>
      <p:tags r:id="rId1"/>
    </p:custDataLst>
    <p:extLst>
      <p:ext uri="{BB962C8B-B14F-4D97-AF65-F5344CB8AC3E}">
        <p14:creationId xmlns:p14="http://schemas.microsoft.com/office/powerpoint/2010/main" val="2555963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B75-E5F3-0533-6547-C6FD66EBD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89192-4FC4-E062-B620-4D94C27C7C98}"/>
              </a:ext>
            </a:extLst>
          </p:cNvPr>
          <p:cNvSpPr>
            <a:spLocks noGrp="1"/>
          </p:cNvSpPr>
          <p:nvPr>
            <p:ph type="title" idx="4294967295"/>
          </p:nvPr>
        </p:nvSpPr>
        <p:spPr>
          <a:xfrm>
            <a:off x="699911" y="1497012"/>
            <a:ext cx="10792178" cy="1009650"/>
          </a:xfrm>
          <a:prstGeom prst="rect">
            <a:avLst/>
          </a:prstGeom>
        </p:spPr>
        <p:txBody>
          <a:bodyPr>
            <a:normAutofit/>
          </a:bodyPr>
          <a:lstStyle/>
          <a:p>
            <a:r>
              <a:rPr lang="en-US" sz="4000" dirty="0">
                <a:latin typeface="Roboto Medium"/>
                <a:ea typeface="Roboto Medium"/>
                <a:cs typeface="Roboto Medium"/>
              </a:rPr>
              <a:t>Creating Annual Improvement Priorities (AIPs)</a:t>
            </a:r>
          </a:p>
        </p:txBody>
      </p:sp>
      <p:sp>
        <p:nvSpPr>
          <p:cNvPr id="3" name="Content Placeholder 2">
            <a:extLst>
              <a:ext uri="{FF2B5EF4-FFF2-40B4-BE49-F238E27FC236}">
                <a16:creationId xmlns:a16="http://schemas.microsoft.com/office/drawing/2014/main" id="{95D9BA10-40FC-1CD9-4C40-203202682E5C}"/>
              </a:ext>
            </a:extLst>
          </p:cNvPr>
          <p:cNvSpPr>
            <a:spLocks noGrp="1"/>
          </p:cNvSpPr>
          <p:nvPr>
            <p:ph idx="4294967295"/>
          </p:nvPr>
        </p:nvSpPr>
        <p:spPr>
          <a:xfrm>
            <a:off x="722489" y="2506662"/>
            <a:ext cx="10515600" cy="3821400"/>
          </a:xfrm>
        </p:spPr>
        <p:txBody>
          <a:bodyPr>
            <a:normAutofit/>
          </a:bodyPr>
          <a:lstStyle/>
          <a:p>
            <a:pPr marL="0" indent="0">
              <a:lnSpc>
                <a:spcPct val="100000"/>
              </a:lnSpc>
              <a:buNone/>
            </a:pPr>
            <a:r>
              <a:rPr lang="en-US" b="1" dirty="0">
                <a:latin typeface="+mn-lt"/>
                <a:ea typeface="Roboto Medium" panose="02000000000000000000" pitchFamily="2" charset="0"/>
                <a:cs typeface="Roboto Medium" panose="02000000000000000000" pitchFamily="2" charset="0"/>
              </a:rPr>
              <a:t>Objectives:</a:t>
            </a:r>
          </a:p>
          <a:p>
            <a:pPr>
              <a:lnSpc>
                <a:spcPct val="100000"/>
              </a:lnSpc>
            </a:pPr>
            <a:r>
              <a:rPr lang="en-US" dirty="0">
                <a:latin typeface="+mn-lt"/>
              </a:rPr>
              <a:t>To define Annual Improvement Priority</a:t>
            </a:r>
          </a:p>
          <a:p>
            <a:pPr>
              <a:lnSpc>
                <a:spcPct val="100000"/>
              </a:lnSpc>
            </a:pPr>
            <a:r>
              <a:rPr lang="en-US" dirty="0">
                <a:latin typeface="+mn-lt"/>
              </a:rPr>
              <a:t>To review positive and negative examples of process improvements</a:t>
            </a:r>
          </a:p>
          <a:p>
            <a:pPr>
              <a:lnSpc>
                <a:spcPct val="100000"/>
              </a:lnSpc>
            </a:pPr>
            <a:r>
              <a:rPr lang="en-US" dirty="0">
                <a:latin typeface="+mn-lt"/>
              </a:rPr>
              <a:t>To review examples from Lean Horizons</a:t>
            </a:r>
          </a:p>
          <a:p>
            <a:pPr>
              <a:lnSpc>
                <a:spcPct val="100000"/>
              </a:lnSpc>
            </a:pPr>
            <a:r>
              <a:rPr lang="en-US" dirty="0">
                <a:latin typeface="+mn-lt"/>
              </a:rPr>
              <a:t>To develop Annual Improvement Priorities for each Breakthrough Objective for Alpha Beta Case Study</a:t>
            </a:r>
          </a:p>
        </p:txBody>
      </p:sp>
      <p:cxnSp>
        <p:nvCxnSpPr>
          <p:cNvPr id="12" name="Straight Connector 11">
            <a:extLst>
              <a:ext uri="{FF2B5EF4-FFF2-40B4-BE49-F238E27FC236}">
                <a16:creationId xmlns:a16="http://schemas.microsoft.com/office/drawing/2014/main" id="{B490ED5F-61F7-7118-E302-B4683D5FF4E1}"/>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9F0BD9F-D479-32C8-3F06-0CDEEAC484C9}"/>
              </a:ext>
            </a:extLst>
          </p:cNvPr>
          <p:cNvGrpSpPr/>
          <p:nvPr/>
        </p:nvGrpSpPr>
        <p:grpSpPr>
          <a:xfrm>
            <a:off x="699911" y="837133"/>
            <a:ext cx="5850075" cy="659879"/>
            <a:chOff x="699911" y="1069861"/>
            <a:chExt cx="5850075" cy="350130"/>
          </a:xfrm>
        </p:grpSpPr>
        <p:sp>
          <p:nvSpPr>
            <p:cNvPr id="7" name="AutoShape 9">
              <a:extLst>
                <a:ext uri="{FF2B5EF4-FFF2-40B4-BE49-F238E27FC236}">
                  <a16:creationId xmlns:a16="http://schemas.microsoft.com/office/drawing/2014/main" id="{E85D0FF5-931B-C548-FD4C-33B05F6F4F43}"/>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grpSp>
          <p:nvGrpSpPr>
            <p:cNvPr id="8" name="Group 7">
              <a:extLst>
                <a:ext uri="{FF2B5EF4-FFF2-40B4-BE49-F238E27FC236}">
                  <a16:creationId xmlns:a16="http://schemas.microsoft.com/office/drawing/2014/main" id="{94DD6946-9409-54B4-3457-E190D8E05416}"/>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633DC31E-1CDA-F395-4917-1A936DAE873E}"/>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10" name="AutoShape 10">
                <a:extLst>
                  <a:ext uri="{FF2B5EF4-FFF2-40B4-BE49-F238E27FC236}">
                    <a16:creationId xmlns:a16="http://schemas.microsoft.com/office/drawing/2014/main" id="{48F3D846-3C47-FB96-B969-8CE244EB23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Components of Top Level Matrix</a:t>
                </a:r>
              </a:p>
            </p:txBody>
          </p:sp>
          <p:sp>
            <p:nvSpPr>
              <p:cNvPr id="11" name="AutoShape 11">
                <a:extLst>
                  <a:ext uri="{FF2B5EF4-FFF2-40B4-BE49-F238E27FC236}">
                    <a16:creationId xmlns:a16="http://schemas.microsoft.com/office/drawing/2014/main" id="{A19974FC-8ACD-CFC2-232E-4CCE32A14B42}"/>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grpSp>
    </p:spTree>
    <p:custDataLst>
      <p:tags r:id="rId1"/>
    </p:custDataLst>
    <p:extLst>
      <p:ext uri="{BB962C8B-B14F-4D97-AF65-F5344CB8AC3E}">
        <p14:creationId xmlns:p14="http://schemas.microsoft.com/office/powerpoint/2010/main" val="4297361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F9A2-EE5E-A388-75A2-571ED7F9D06C}"/>
            </a:ext>
          </a:extLst>
        </p:cNvPr>
        <p:cNvGrpSpPr/>
        <p:nvPr/>
      </p:nvGrpSpPr>
      <p:grpSpPr>
        <a:xfrm>
          <a:off x="0" y="0"/>
          <a:ext cx="0" cy="0"/>
          <a:chOff x="0" y="0"/>
          <a:chExt cx="0" cy="0"/>
        </a:xfrm>
      </p:grpSpPr>
      <p:grpSp>
        <p:nvGrpSpPr>
          <p:cNvPr id="43" name="Group 42">
            <a:extLst>
              <a:ext uri="{FF2B5EF4-FFF2-40B4-BE49-F238E27FC236}">
                <a16:creationId xmlns:a16="http://schemas.microsoft.com/office/drawing/2014/main" id="{953E55C1-DB27-55D8-D370-6F6681C92114}"/>
              </a:ext>
            </a:extLst>
          </p:cNvPr>
          <p:cNvGrpSpPr/>
          <p:nvPr/>
        </p:nvGrpSpPr>
        <p:grpSpPr>
          <a:xfrm>
            <a:off x="1939306" y="4116340"/>
            <a:ext cx="2527397" cy="1136650"/>
            <a:chOff x="1939306" y="4116340"/>
            <a:chExt cx="2527397" cy="1136650"/>
          </a:xfrm>
        </p:grpSpPr>
        <p:sp>
          <p:nvSpPr>
            <p:cNvPr id="39" name="Line 13">
              <a:extLst>
                <a:ext uri="{FF2B5EF4-FFF2-40B4-BE49-F238E27FC236}">
                  <a16:creationId xmlns:a16="http://schemas.microsoft.com/office/drawing/2014/main" id="{9FB1A8DC-77C2-DEA2-5233-78046C896129}"/>
                </a:ext>
              </a:extLst>
            </p:cNvPr>
            <p:cNvSpPr>
              <a:spLocks noChangeShapeType="1"/>
            </p:cNvSpPr>
            <p:nvPr/>
          </p:nvSpPr>
          <p:spPr bwMode="auto">
            <a:xfrm flipH="1">
              <a:off x="3023665" y="4925364"/>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42" name="Line 13">
              <a:extLst>
                <a:ext uri="{FF2B5EF4-FFF2-40B4-BE49-F238E27FC236}">
                  <a16:creationId xmlns:a16="http://schemas.microsoft.com/office/drawing/2014/main" id="{FD07419D-8EFF-7F2C-C179-0DF247D8F269}"/>
                </a:ext>
              </a:extLst>
            </p:cNvPr>
            <p:cNvSpPr>
              <a:spLocks noChangeShapeType="1"/>
            </p:cNvSpPr>
            <p:nvPr/>
          </p:nvSpPr>
          <p:spPr bwMode="auto">
            <a:xfrm rot="10800000" flipH="1">
              <a:off x="2899841"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1" name="Oval 19">
              <a:extLst>
                <a:ext uri="{FF2B5EF4-FFF2-40B4-BE49-F238E27FC236}">
                  <a16:creationId xmlns:a16="http://schemas.microsoft.com/office/drawing/2014/main" id="{7876578F-1042-424E-9C4D-15712298B32D}"/>
                </a:ext>
              </a:extLst>
            </p:cNvPr>
            <p:cNvSpPr>
              <a:spLocks noChangeArrowheads="1"/>
            </p:cNvSpPr>
            <p:nvPr/>
          </p:nvSpPr>
          <p:spPr bwMode="auto">
            <a:xfrm>
              <a:off x="1939306" y="4116340"/>
              <a:ext cx="1139825" cy="1136650"/>
            </a:xfrm>
            <a:prstGeom prst="ellipse">
              <a:avLst/>
            </a:prstGeom>
            <a:solidFill>
              <a:schemeClr val="accent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Counter</a:t>
              </a:r>
              <a:r>
                <a:rPr lang="en-US" altLang="en-US" sz="1600" b="0" i="1" dirty="0">
                  <a:solidFill>
                    <a:srgbClr val="FFFFFF"/>
                  </a:solidFill>
                  <a:latin typeface="+mn-lt"/>
                </a:rPr>
                <a:t>-</a:t>
              </a:r>
            </a:p>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measures</a:t>
              </a:r>
            </a:p>
          </p:txBody>
        </p:sp>
      </p:grpSp>
      <p:sp>
        <p:nvSpPr>
          <p:cNvPr id="2" name="Title 1">
            <a:extLst>
              <a:ext uri="{FF2B5EF4-FFF2-40B4-BE49-F238E27FC236}">
                <a16:creationId xmlns:a16="http://schemas.microsoft.com/office/drawing/2014/main" id="{0F6C71B5-D9AE-C47A-553F-AC7550768053}"/>
              </a:ext>
            </a:extLst>
          </p:cNvPr>
          <p:cNvSpPr>
            <a:spLocks noGrp="1"/>
          </p:cNvSpPr>
          <p:nvPr>
            <p:ph type="title"/>
          </p:nvPr>
        </p:nvSpPr>
        <p:spPr/>
        <p:txBody>
          <a:bodyPr>
            <a:noAutofit/>
          </a:bodyPr>
          <a:lstStyle/>
          <a:p>
            <a:r>
              <a:rPr lang="en-US" altLang="en-US" sz="3600" b="1" dirty="0">
                <a:latin typeface="+mn-lt"/>
                <a:ea typeface="ＭＳ Ｐゴシック" panose="020B0600070205080204" pitchFamily="34" charset="-128"/>
              </a:rPr>
              <a:t>7 Phases of the Strategy Deployment Process</a:t>
            </a:r>
            <a:br>
              <a:rPr lang="en-US" altLang="en-US" sz="3600" b="1" dirty="0">
                <a:latin typeface="+mn-lt"/>
                <a:ea typeface="ＭＳ Ｐゴシック" panose="020B0600070205080204" pitchFamily="34" charset="-128"/>
              </a:rPr>
            </a:br>
            <a:r>
              <a:rPr lang="en-US" altLang="en-US" sz="3600" b="1" dirty="0">
                <a:latin typeface="+mn-lt"/>
                <a:ea typeface="ＭＳ Ｐゴシック" panose="020B0600070205080204" pitchFamily="34" charset="-128"/>
              </a:rPr>
              <a:t>Based on the Deming Cycle - PDCA</a:t>
            </a:r>
            <a:endParaRPr lang="en-US" sz="3600" dirty="0"/>
          </a:p>
        </p:txBody>
      </p:sp>
      <p:sp>
        <p:nvSpPr>
          <p:cNvPr id="6" name="Line 4">
            <a:extLst>
              <a:ext uri="{FF2B5EF4-FFF2-40B4-BE49-F238E27FC236}">
                <a16:creationId xmlns:a16="http://schemas.microsoft.com/office/drawing/2014/main" id="{32EFDF41-ACD2-0AAC-410F-434A3CD671D2}"/>
              </a:ext>
            </a:extLst>
          </p:cNvPr>
          <p:cNvSpPr>
            <a:spLocks noChangeShapeType="1"/>
          </p:cNvSpPr>
          <p:nvPr/>
        </p:nvSpPr>
        <p:spPr bwMode="auto">
          <a:xfrm flipH="1">
            <a:off x="6096000" y="2086645"/>
            <a:ext cx="0" cy="376329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7" name="Rectangle 5">
            <a:extLst>
              <a:ext uri="{FF2B5EF4-FFF2-40B4-BE49-F238E27FC236}">
                <a16:creationId xmlns:a16="http://schemas.microsoft.com/office/drawing/2014/main" id="{724F72BF-81E6-685A-DC06-9803A08B2A95}"/>
              </a:ext>
            </a:extLst>
          </p:cNvPr>
          <p:cNvSpPr>
            <a:spLocks noChangeArrowheads="1"/>
          </p:cNvSpPr>
          <p:nvPr/>
        </p:nvSpPr>
        <p:spPr bwMode="auto">
          <a:xfrm>
            <a:off x="4342879" y="2004520"/>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Strategy</a:t>
            </a:r>
          </a:p>
        </p:txBody>
      </p:sp>
      <p:sp>
        <p:nvSpPr>
          <p:cNvPr id="8" name="Rectangle 6">
            <a:extLst>
              <a:ext uri="{FF2B5EF4-FFF2-40B4-BE49-F238E27FC236}">
                <a16:creationId xmlns:a16="http://schemas.microsoft.com/office/drawing/2014/main" id="{2D000C34-5823-AA3B-0FAC-B95A643A7B59}"/>
              </a:ext>
            </a:extLst>
          </p:cNvPr>
          <p:cNvSpPr>
            <a:spLocks noChangeArrowheads="1"/>
          </p:cNvSpPr>
          <p:nvPr/>
        </p:nvSpPr>
        <p:spPr bwMode="auto">
          <a:xfrm>
            <a:off x="4342879" y="2557887"/>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dirty="0">
                <a:solidFill>
                  <a:srgbClr val="FFFFFF"/>
                </a:solidFill>
                <a:latin typeface="+mn-lt"/>
              </a:rPr>
              <a:t>Develop Breakthrough Objectives</a:t>
            </a:r>
          </a:p>
        </p:txBody>
      </p:sp>
      <p:sp>
        <p:nvSpPr>
          <p:cNvPr id="9" name="Rectangle 7">
            <a:extLst>
              <a:ext uri="{FF2B5EF4-FFF2-40B4-BE49-F238E27FC236}">
                <a16:creationId xmlns:a16="http://schemas.microsoft.com/office/drawing/2014/main" id="{C0B388BD-9EA4-C4B8-352F-F2DF7C75DFED}"/>
              </a:ext>
            </a:extLst>
          </p:cNvPr>
          <p:cNvSpPr>
            <a:spLocks noChangeArrowheads="1"/>
          </p:cNvSpPr>
          <p:nvPr/>
        </p:nvSpPr>
        <p:spPr bwMode="auto">
          <a:xfrm>
            <a:off x="4342879" y="3111254"/>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AIPs, Targets, Resources</a:t>
            </a:r>
          </a:p>
        </p:txBody>
      </p:sp>
      <p:sp>
        <p:nvSpPr>
          <p:cNvPr id="10" name="Rectangle 8">
            <a:extLst>
              <a:ext uri="{FF2B5EF4-FFF2-40B4-BE49-F238E27FC236}">
                <a16:creationId xmlns:a16="http://schemas.microsoft.com/office/drawing/2014/main" id="{D5F25E62-083C-E108-7199-19D3C8F338D9}"/>
              </a:ext>
            </a:extLst>
          </p:cNvPr>
          <p:cNvSpPr>
            <a:spLocks noChangeArrowheads="1"/>
          </p:cNvSpPr>
          <p:nvPr/>
        </p:nvSpPr>
        <p:spPr bwMode="auto">
          <a:xfrm>
            <a:off x="4342879" y="3664621"/>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Deploy AIPs</a:t>
            </a:r>
          </a:p>
        </p:txBody>
      </p:sp>
      <p:sp>
        <p:nvSpPr>
          <p:cNvPr id="11" name="Rectangle 9">
            <a:extLst>
              <a:ext uri="{FF2B5EF4-FFF2-40B4-BE49-F238E27FC236}">
                <a16:creationId xmlns:a16="http://schemas.microsoft.com/office/drawing/2014/main" id="{8C981497-0BB0-397F-B77B-FFC5861BE768}"/>
              </a:ext>
            </a:extLst>
          </p:cNvPr>
          <p:cNvSpPr>
            <a:spLocks noChangeArrowheads="1"/>
          </p:cNvSpPr>
          <p:nvPr/>
        </p:nvSpPr>
        <p:spPr bwMode="auto">
          <a:xfrm>
            <a:off x="4342879" y="4217988"/>
            <a:ext cx="3506234" cy="308019"/>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Implement AIPs</a:t>
            </a:r>
          </a:p>
        </p:txBody>
      </p:sp>
      <p:sp>
        <p:nvSpPr>
          <p:cNvPr id="12" name="Rectangle 10">
            <a:extLst>
              <a:ext uri="{FF2B5EF4-FFF2-40B4-BE49-F238E27FC236}">
                <a16:creationId xmlns:a16="http://schemas.microsoft.com/office/drawing/2014/main" id="{3553E5C8-283C-F173-337D-0353D3128B47}"/>
              </a:ext>
            </a:extLst>
          </p:cNvPr>
          <p:cNvSpPr>
            <a:spLocks noChangeArrowheads="1"/>
          </p:cNvSpPr>
          <p:nvPr/>
        </p:nvSpPr>
        <p:spPr bwMode="auto">
          <a:xfrm>
            <a:off x="4342879" y="4771355"/>
            <a:ext cx="3506234"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Monthly PDCA Review</a:t>
            </a:r>
          </a:p>
        </p:txBody>
      </p:sp>
      <p:sp>
        <p:nvSpPr>
          <p:cNvPr id="13" name="Rectangle 11">
            <a:extLst>
              <a:ext uri="{FF2B5EF4-FFF2-40B4-BE49-F238E27FC236}">
                <a16:creationId xmlns:a16="http://schemas.microsoft.com/office/drawing/2014/main" id="{858F3C5B-D130-1D0E-5B43-D661BEA3C460}"/>
              </a:ext>
            </a:extLst>
          </p:cNvPr>
          <p:cNvSpPr>
            <a:spLocks noChangeArrowheads="1"/>
          </p:cNvSpPr>
          <p:nvPr/>
        </p:nvSpPr>
        <p:spPr bwMode="auto">
          <a:xfrm>
            <a:off x="4342880" y="5324721"/>
            <a:ext cx="3506233"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Annual Review</a:t>
            </a:r>
          </a:p>
        </p:txBody>
      </p:sp>
      <p:grpSp>
        <p:nvGrpSpPr>
          <p:cNvPr id="37" name="Group 36">
            <a:extLst>
              <a:ext uri="{FF2B5EF4-FFF2-40B4-BE49-F238E27FC236}">
                <a16:creationId xmlns:a16="http://schemas.microsoft.com/office/drawing/2014/main" id="{3921EC9C-9BB4-3D01-35CC-E25CD4D27FAF}"/>
              </a:ext>
            </a:extLst>
          </p:cNvPr>
          <p:cNvGrpSpPr/>
          <p:nvPr/>
        </p:nvGrpSpPr>
        <p:grpSpPr>
          <a:xfrm>
            <a:off x="7849179" y="2432171"/>
            <a:ext cx="1752600" cy="1135063"/>
            <a:chOff x="7849179" y="2432171"/>
            <a:chExt cx="1752600" cy="1135063"/>
          </a:xfrm>
        </p:grpSpPr>
        <p:sp>
          <p:nvSpPr>
            <p:cNvPr id="15" name="Line 13">
              <a:extLst>
                <a:ext uri="{FF2B5EF4-FFF2-40B4-BE49-F238E27FC236}">
                  <a16:creationId xmlns:a16="http://schemas.microsoft.com/office/drawing/2014/main" id="{5B4D75CD-06BA-7EE0-62C4-CD925173DBFC}"/>
                </a:ext>
              </a:extLst>
            </p:cNvPr>
            <p:cNvSpPr>
              <a:spLocks noChangeShapeType="1"/>
            </p:cNvSpPr>
            <p:nvPr/>
          </p:nvSpPr>
          <p:spPr bwMode="auto">
            <a:xfrm flipH="1">
              <a:off x="7849179" y="2711896"/>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35" name="Line 13">
              <a:extLst>
                <a:ext uri="{FF2B5EF4-FFF2-40B4-BE49-F238E27FC236}">
                  <a16:creationId xmlns:a16="http://schemas.microsoft.com/office/drawing/2014/main" id="{C5C68A7C-51DF-CC9F-4C9B-739B6019F6C4}"/>
                </a:ext>
              </a:extLst>
            </p:cNvPr>
            <p:cNvSpPr>
              <a:spLocks noChangeShapeType="1"/>
            </p:cNvSpPr>
            <p:nvPr/>
          </p:nvSpPr>
          <p:spPr bwMode="auto">
            <a:xfrm flipH="1">
              <a:off x="7849179" y="3265263"/>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17" name="Oval 15">
              <a:extLst>
                <a:ext uri="{FF2B5EF4-FFF2-40B4-BE49-F238E27FC236}">
                  <a16:creationId xmlns:a16="http://schemas.microsoft.com/office/drawing/2014/main" id="{E485BFE7-8D9C-09B6-8CD8-865261A9BC67}"/>
                </a:ext>
              </a:extLst>
            </p:cNvPr>
            <p:cNvSpPr>
              <a:spLocks noChangeArrowheads="1"/>
            </p:cNvSpPr>
            <p:nvPr/>
          </p:nvSpPr>
          <p:spPr bwMode="auto">
            <a:xfrm>
              <a:off x="8461954" y="2432171"/>
              <a:ext cx="1139825" cy="1135063"/>
            </a:xfrm>
            <a:prstGeom prst="ellipse">
              <a:avLst/>
            </a:prstGeom>
            <a:solidFill>
              <a:schemeClr val="accent5"/>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Catchball</a:t>
              </a:r>
            </a:p>
          </p:txBody>
        </p:sp>
      </p:grpSp>
      <p:grpSp>
        <p:nvGrpSpPr>
          <p:cNvPr id="38" name="Group 37">
            <a:extLst>
              <a:ext uri="{FF2B5EF4-FFF2-40B4-BE49-F238E27FC236}">
                <a16:creationId xmlns:a16="http://schemas.microsoft.com/office/drawing/2014/main" id="{8DA4AC53-453C-12EE-2ACF-BCE6E3BF58A0}"/>
              </a:ext>
            </a:extLst>
          </p:cNvPr>
          <p:cNvGrpSpPr/>
          <p:nvPr/>
        </p:nvGrpSpPr>
        <p:grpSpPr>
          <a:xfrm>
            <a:off x="7849179" y="3765061"/>
            <a:ext cx="1848602" cy="1213871"/>
            <a:chOff x="7849179" y="3765061"/>
            <a:chExt cx="1848602" cy="1213871"/>
          </a:xfrm>
        </p:grpSpPr>
        <p:sp>
          <p:nvSpPr>
            <p:cNvPr id="36" name="Line 13">
              <a:extLst>
                <a:ext uri="{FF2B5EF4-FFF2-40B4-BE49-F238E27FC236}">
                  <a16:creationId xmlns:a16="http://schemas.microsoft.com/office/drawing/2014/main" id="{BEEBBAA1-9228-E7B7-F799-68E106DD800A}"/>
                </a:ext>
              </a:extLst>
            </p:cNvPr>
            <p:cNvSpPr>
              <a:spLocks noChangeShapeType="1"/>
            </p:cNvSpPr>
            <p:nvPr/>
          </p:nvSpPr>
          <p:spPr bwMode="auto">
            <a:xfrm flipH="1">
              <a:off x="7849179"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0" name="Oval 18">
              <a:extLst>
                <a:ext uri="{FF2B5EF4-FFF2-40B4-BE49-F238E27FC236}">
                  <a16:creationId xmlns:a16="http://schemas.microsoft.com/office/drawing/2014/main" id="{B5A15EFE-AABE-6314-405C-F7395EB16975}"/>
                </a:ext>
              </a:extLst>
            </p:cNvPr>
            <p:cNvSpPr>
              <a:spLocks noChangeArrowheads="1"/>
            </p:cNvSpPr>
            <p:nvPr/>
          </p:nvSpPr>
          <p:spPr bwMode="auto">
            <a:xfrm>
              <a:off x="8461954" y="3765061"/>
              <a:ext cx="1235827" cy="1213871"/>
            </a:xfrm>
            <a:prstGeom prst="ellipse">
              <a:avLst/>
            </a:prstGeom>
            <a:solidFill>
              <a:schemeClr val="accent6"/>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latin typeface="+mn-lt"/>
                </a:rPr>
                <a:t>Targeted</a:t>
              </a:r>
            </a:p>
            <a:p>
              <a:pPr algn="ctr" eaLnBrk="1" hangingPunct="1">
                <a:lnSpc>
                  <a:spcPct val="100000"/>
                </a:lnSpc>
                <a:spcBef>
                  <a:spcPct val="0"/>
                </a:spcBef>
                <a:spcAft>
                  <a:spcPct val="0"/>
                </a:spcAft>
                <a:buClrTx/>
                <a:buSzTx/>
                <a:buFontTx/>
                <a:buNone/>
              </a:pPr>
              <a:r>
                <a:rPr lang="en-US" altLang="en-US" sz="1600" i="1" dirty="0">
                  <a:latin typeface="+mn-lt"/>
                </a:rPr>
                <a:t>CI Efforts</a:t>
              </a:r>
            </a:p>
          </p:txBody>
        </p:sp>
      </p:grpSp>
      <p:grpSp>
        <p:nvGrpSpPr>
          <p:cNvPr id="22" name="Group 21">
            <a:extLst>
              <a:ext uri="{FF2B5EF4-FFF2-40B4-BE49-F238E27FC236}">
                <a16:creationId xmlns:a16="http://schemas.microsoft.com/office/drawing/2014/main" id="{208CFC49-C5E9-5723-E31F-F1C4A1172640}"/>
              </a:ext>
            </a:extLst>
          </p:cNvPr>
          <p:cNvGrpSpPr/>
          <p:nvPr/>
        </p:nvGrpSpPr>
        <p:grpSpPr>
          <a:xfrm>
            <a:off x="325585" y="1946345"/>
            <a:ext cx="2945773" cy="1866214"/>
            <a:chOff x="749635" y="2039846"/>
            <a:chExt cx="2945773" cy="1866214"/>
          </a:xfrm>
        </p:grpSpPr>
        <p:grpSp>
          <p:nvGrpSpPr>
            <p:cNvPr id="23" name="Group 22">
              <a:extLst>
                <a:ext uri="{FF2B5EF4-FFF2-40B4-BE49-F238E27FC236}">
                  <a16:creationId xmlns:a16="http://schemas.microsoft.com/office/drawing/2014/main" id="{9ADB1267-544B-4FEB-E6E7-8AE36AE75F44}"/>
                </a:ext>
              </a:extLst>
            </p:cNvPr>
            <p:cNvGrpSpPr/>
            <p:nvPr/>
          </p:nvGrpSpPr>
          <p:grpSpPr>
            <a:xfrm>
              <a:off x="749635" y="2039846"/>
              <a:ext cx="2945773" cy="1866214"/>
              <a:chOff x="749635" y="2039846"/>
              <a:chExt cx="2945773" cy="1866214"/>
            </a:xfrm>
            <a:effectLst>
              <a:outerShdw blurRad="50800" dist="50800" dir="5400000" algn="ctr" rotWithShape="0">
                <a:schemeClr val="bg1">
                  <a:lumMod val="85000"/>
                </a:schemeClr>
              </a:outerShdw>
            </a:effectLst>
          </p:grpSpPr>
          <p:sp>
            <p:nvSpPr>
              <p:cNvPr id="25" name="Rounded Rectangle 4">
                <a:extLst>
                  <a:ext uri="{FF2B5EF4-FFF2-40B4-BE49-F238E27FC236}">
                    <a16:creationId xmlns:a16="http://schemas.microsoft.com/office/drawing/2014/main" id="{DB0A73A7-116B-2EC9-9B85-A3B71ABFF86D}"/>
                  </a:ext>
                </a:extLst>
              </p:cNvPr>
              <p:cNvSpPr/>
              <p:nvPr/>
            </p:nvSpPr>
            <p:spPr>
              <a:xfrm>
                <a:off x="749635" y="2039846"/>
                <a:ext cx="2945773" cy="1866214"/>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A0ECE32A-0297-C7CB-5D29-CA7E23BD95E4}"/>
                  </a:ext>
                </a:extLst>
              </p:cNvPr>
              <p:cNvGrpSpPr/>
              <p:nvPr/>
            </p:nvGrpSpPr>
            <p:grpSpPr>
              <a:xfrm>
                <a:off x="2562745" y="2367725"/>
                <a:ext cx="1132662" cy="1310104"/>
                <a:chOff x="2540336" y="2367725"/>
                <a:chExt cx="1155072" cy="1310104"/>
              </a:xfrm>
            </p:grpSpPr>
            <p:sp>
              <p:nvSpPr>
                <p:cNvPr id="27" name="Rectangle 20">
                  <a:extLst>
                    <a:ext uri="{FF2B5EF4-FFF2-40B4-BE49-F238E27FC236}">
                      <a16:creationId xmlns:a16="http://schemas.microsoft.com/office/drawing/2014/main" id="{8ACE663A-2CD6-1542-1E5F-9CE343C527F3}"/>
                    </a:ext>
                  </a:extLst>
                </p:cNvPr>
                <p:cNvSpPr>
                  <a:spLocks noChangeArrowheads="1"/>
                </p:cNvSpPr>
                <p:nvPr/>
              </p:nvSpPr>
              <p:spPr bwMode="auto">
                <a:xfrm>
                  <a:off x="2541129" y="2374075"/>
                  <a:ext cx="355600" cy="26670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8" name="Rectangle 21">
                  <a:extLst>
                    <a:ext uri="{FF2B5EF4-FFF2-40B4-BE49-F238E27FC236}">
                      <a16:creationId xmlns:a16="http://schemas.microsoft.com/office/drawing/2014/main" id="{B2E1C4FE-FE1E-6E1B-9200-1185621C4A21}"/>
                    </a:ext>
                  </a:extLst>
                </p:cNvPr>
                <p:cNvSpPr>
                  <a:spLocks noChangeArrowheads="1"/>
                </p:cNvSpPr>
                <p:nvPr/>
              </p:nvSpPr>
              <p:spPr bwMode="auto">
                <a:xfrm>
                  <a:off x="2541129" y="2707450"/>
                  <a:ext cx="355600" cy="268288"/>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9" name="Rectangle 22">
                  <a:extLst>
                    <a:ext uri="{FF2B5EF4-FFF2-40B4-BE49-F238E27FC236}">
                      <a16:creationId xmlns:a16="http://schemas.microsoft.com/office/drawing/2014/main" id="{74149BF7-67FE-8D57-E728-7C2C4E10B025}"/>
                    </a:ext>
                  </a:extLst>
                </p:cNvPr>
                <p:cNvSpPr>
                  <a:spLocks noChangeArrowheads="1"/>
                </p:cNvSpPr>
                <p:nvPr/>
              </p:nvSpPr>
              <p:spPr bwMode="auto">
                <a:xfrm>
                  <a:off x="2541129" y="3042413"/>
                  <a:ext cx="355600" cy="26670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0" name="Text Box 23">
                  <a:extLst>
                    <a:ext uri="{FF2B5EF4-FFF2-40B4-BE49-F238E27FC236}">
                      <a16:creationId xmlns:a16="http://schemas.microsoft.com/office/drawing/2014/main" id="{B3D0355F-1B38-E6A4-EE1F-6DE7D8F23BC8}"/>
                    </a:ext>
                  </a:extLst>
                </p:cNvPr>
                <p:cNvSpPr txBox="1">
                  <a:spLocks noChangeArrowheads="1"/>
                </p:cNvSpPr>
                <p:nvPr/>
              </p:nvSpPr>
              <p:spPr bwMode="auto">
                <a:xfrm>
                  <a:off x="2903080" y="2367725"/>
                  <a:ext cx="6335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Plan</a:t>
                  </a:r>
                </a:p>
              </p:txBody>
            </p:sp>
            <p:sp>
              <p:nvSpPr>
                <p:cNvPr id="31" name="Text Box 24">
                  <a:extLst>
                    <a:ext uri="{FF2B5EF4-FFF2-40B4-BE49-F238E27FC236}">
                      <a16:creationId xmlns:a16="http://schemas.microsoft.com/office/drawing/2014/main" id="{E798C4C6-A09F-8974-87B7-E7535C34910A}"/>
                    </a:ext>
                  </a:extLst>
                </p:cNvPr>
                <p:cNvSpPr txBox="1">
                  <a:spLocks noChangeArrowheads="1"/>
                </p:cNvSpPr>
                <p:nvPr/>
              </p:nvSpPr>
              <p:spPr bwMode="auto">
                <a:xfrm>
                  <a:off x="2890379" y="2682050"/>
                  <a:ext cx="463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Do</a:t>
                  </a:r>
                </a:p>
              </p:txBody>
            </p:sp>
            <p:sp>
              <p:nvSpPr>
                <p:cNvPr id="32" name="Text Box 25">
                  <a:extLst>
                    <a:ext uri="{FF2B5EF4-FFF2-40B4-BE49-F238E27FC236}">
                      <a16:creationId xmlns:a16="http://schemas.microsoft.com/office/drawing/2014/main" id="{9D033559-ABC0-A1A9-8930-991A537FBA0E}"/>
                    </a:ext>
                  </a:extLst>
                </p:cNvPr>
                <p:cNvSpPr txBox="1">
                  <a:spLocks noChangeArrowheads="1"/>
                </p:cNvSpPr>
                <p:nvPr/>
              </p:nvSpPr>
              <p:spPr bwMode="auto">
                <a:xfrm>
                  <a:off x="2890379" y="3013838"/>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Check</a:t>
                  </a:r>
                </a:p>
              </p:txBody>
            </p:sp>
            <p:sp>
              <p:nvSpPr>
                <p:cNvPr id="33" name="Rectangle 26">
                  <a:extLst>
                    <a:ext uri="{FF2B5EF4-FFF2-40B4-BE49-F238E27FC236}">
                      <a16:creationId xmlns:a16="http://schemas.microsoft.com/office/drawing/2014/main" id="{BA994461-8818-F482-CF0B-6FE1B41B0689}"/>
                    </a:ext>
                  </a:extLst>
                </p:cNvPr>
                <p:cNvSpPr>
                  <a:spLocks noChangeArrowheads="1"/>
                </p:cNvSpPr>
                <p:nvPr/>
              </p:nvSpPr>
              <p:spPr bwMode="auto">
                <a:xfrm>
                  <a:off x="2540336" y="3364675"/>
                  <a:ext cx="357188" cy="268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4" name="Text Box 27">
                  <a:extLst>
                    <a:ext uri="{FF2B5EF4-FFF2-40B4-BE49-F238E27FC236}">
                      <a16:creationId xmlns:a16="http://schemas.microsoft.com/office/drawing/2014/main" id="{3253EB04-012A-6673-91A7-0572C44425C4}"/>
                    </a:ext>
                  </a:extLst>
                </p:cNvPr>
                <p:cNvSpPr txBox="1">
                  <a:spLocks noChangeArrowheads="1"/>
                </p:cNvSpPr>
                <p:nvPr/>
              </p:nvSpPr>
              <p:spPr bwMode="auto">
                <a:xfrm>
                  <a:off x="2903080" y="3339275"/>
                  <a:ext cx="5212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Act</a:t>
                  </a:r>
                </a:p>
              </p:txBody>
            </p:sp>
          </p:grpSp>
        </p:grpSp>
        <p:pic>
          <p:nvPicPr>
            <p:cNvPr id="24" name="Picture 23">
              <a:extLst>
                <a:ext uri="{FF2B5EF4-FFF2-40B4-BE49-F238E27FC236}">
                  <a16:creationId xmlns:a16="http://schemas.microsoft.com/office/drawing/2014/main" id="{FD8D5015-1701-ED3B-9A54-60332A5F645B}"/>
                </a:ext>
              </a:extLst>
            </p:cNvPr>
            <p:cNvPicPr>
              <a:picLocks noChangeAspect="1"/>
            </p:cNvPicPr>
            <p:nvPr/>
          </p:nvPicPr>
          <p:blipFill>
            <a:blip r:embed="rId4"/>
            <a:stretch>
              <a:fillRect/>
            </a:stretch>
          </p:blipFill>
          <p:spPr>
            <a:xfrm>
              <a:off x="963375" y="2226854"/>
              <a:ext cx="1270000" cy="1587500"/>
            </a:xfrm>
            <a:prstGeom prst="rect">
              <a:avLst/>
            </a:prstGeom>
            <a:effectLst>
              <a:softEdge rad="139700"/>
            </a:effectLst>
          </p:spPr>
        </p:pic>
      </p:grpSp>
      <p:grpSp>
        <p:nvGrpSpPr>
          <p:cNvPr id="3" name="Group 2">
            <a:extLst>
              <a:ext uri="{FF2B5EF4-FFF2-40B4-BE49-F238E27FC236}">
                <a16:creationId xmlns:a16="http://schemas.microsoft.com/office/drawing/2014/main" id="{A19551DD-EAE4-75DC-FB3E-5F4D1B85AE6C}"/>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7A6B41CF-8D7B-77CE-2AC4-2480C096E68C}"/>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6E310534-C1BD-1A1D-355F-AEC7EAC19BB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48598A79-D978-C9F0-C614-9364280C3C8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36DF7D03-3828-2E6D-40D1-7BA9DF13955C}"/>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9" name="TextBox 18">
            <a:extLst>
              <a:ext uri="{FF2B5EF4-FFF2-40B4-BE49-F238E27FC236}">
                <a16:creationId xmlns:a16="http://schemas.microsoft.com/office/drawing/2014/main" id="{BFBFE68D-B385-FA36-874F-08858B9077EF}"/>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
        <p:nvSpPr>
          <p:cNvPr id="40" name="Oval 39">
            <a:extLst>
              <a:ext uri="{FF2B5EF4-FFF2-40B4-BE49-F238E27FC236}">
                <a16:creationId xmlns:a16="http://schemas.microsoft.com/office/drawing/2014/main" id="{3F38CC53-5BC7-E2FC-49AD-CC3553662B35}"/>
              </a:ext>
            </a:extLst>
          </p:cNvPr>
          <p:cNvSpPr/>
          <p:nvPr/>
        </p:nvSpPr>
        <p:spPr>
          <a:xfrm>
            <a:off x="4117118" y="2879984"/>
            <a:ext cx="3957763" cy="761207"/>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0423785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B1017-8CB3-9BD5-DFC3-185E2B21F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C6D7F-B62A-ADFF-4217-DB1E1C0732B4}"/>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Annual Improvement Priorities</a:t>
            </a:r>
            <a:endParaRPr lang="en-US" sz="4000" dirty="0"/>
          </a:p>
        </p:txBody>
      </p:sp>
      <p:grpSp>
        <p:nvGrpSpPr>
          <p:cNvPr id="3" name="Group 2">
            <a:extLst>
              <a:ext uri="{FF2B5EF4-FFF2-40B4-BE49-F238E27FC236}">
                <a16:creationId xmlns:a16="http://schemas.microsoft.com/office/drawing/2014/main" id="{F0A1F28D-E65E-1A29-88F7-991E743CCB4E}"/>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150989E7-5010-7869-9B1D-8AC8D28AD452}"/>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C4334913-7102-2F92-FB1C-7CFB46BEF16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6CC502D5-EB26-9405-145F-DB3C6B18ADA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4540F395-E4ED-ED44-05A3-C68D3D9C3E9F}"/>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pic>
        <p:nvPicPr>
          <p:cNvPr id="5" name="Picture 17">
            <a:extLst>
              <a:ext uri="{FF2B5EF4-FFF2-40B4-BE49-F238E27FC236}">
                <a16:creationId xmlns:a16="http://schemas.microsoft.com/office/drawing/2014/main" id="{B1A3BF9F-3837-F4B2-F070-25A490F308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6957" y="1777822"/>
            <a:ext cx="7778086" cy="450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28">
            <a:extLst>
              <a:ext uri="{FF2B5EF4-FFF2-40B4-BE49-F238E27FC236}">
                <a16:creationId xmlns:a16="http://schemas.microsoft.com/office/drawing/2014/main" id="{64F3AC5F-8D59-EADA-3991-1ADE2BFBA64E}"/>
              </a:ext>
            </a:extLst>
          </p:cNvPr>
          <p:cNvSpPr>
            <a:spLocks noChangeArrowheads="1"/>
          </p:cNvSpPr>
          <p:nvPr/>
        </p:nvSpPr>
        <p:spPr bwMode="auto">
          <a:xfrm rot="5400000">
            <a:off x="3658797" y="2431752"/>
            <a:ext cx="1422635" cy="2481949"/>
          </a:xfrm>
          <a:prstGeom prst="homePlate">
            <a:avLst>
              <a:gd name="adj" fmla="val 42509"/>
            </a:avLst>
          </a:prstGeom>
          <a:solidFill>
            <a:srgbClr val="00FFFF"/>
          </a:solidFill>
          <a:ln w="12700" cap="sq">
            <a:solidFill>
              <a:schemeClr val="tx1"/>
            </a:solidFill>
            <a:miter lim="800000"/>
            <a:headEnd/>
            <a:tailEnd/>
          </a:ln>
        </p:spPr>
        <p:txBody>
          <a:bodyPr rot="10800000" vert="eaVert"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HOW</a:t>
            </a:r>
          </a:p>
        </p:txBody>
      </p:sp>
      <p:sp>
        <p:nvSpPr>
          <p:cNvPr id="41" name="AutoShape 299">
            <a:extLst>
              <a:ext uri="{FF2B5EF4-FFF2-40B4-BE49-F238E27FC236}">
                <a16:creationId xmlns:a16="http://schemas.microsoft.com/office/drawing/2014/main" id="{B09D3E25-F633-F78F-77AA-2F29F789FDB7}"/>
              </a:ext>
            </a:extLst>
          </p:cNvPr>
          <p:cNvSpPr>
            <a:spLocks noChangeArrowheads="1"/>
          </p:cNvSpPr>
          <p:nvPr/>
        </p:nvSpPr>
        <p:spPr bwMode="auto">
          <a:xfrm>
            <a:off x="2732141" y="3416384"/>
            <a:ext cx="1667796" cy="1935320"/>
          </a:xfrm>
          <a:prstGeom prst="homePlate">
            <a:avLst>
              <a:gd name="adj" fmla="val 53926"/>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WHAT</a:t>
            </a:r>
          </a:p>
        </p:txBody>
      </p:sp>
      <p:sp>
        <p:nvSpPr>
          <p:cNvPr id="7" name="TextBox 6">
            <a:extLst>
              <a:ext uri="{FF2B5EF4-FFF2-40B4-BE49-F238E27FC236}">
                <a16:creationId xmlns:a16="http://schemas.microsoft.com/office/drawing/2014/main" id="{03B34019-09ED-6997-88F3-B971B27403A3}"/>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Tree>
    <p:custDataLst>
      <p:tags r:id="rId1"/>
    </p:custDataLst>
    <p:extLst>
      <p:ext uri="{BB962C8B-B14F-4D97-AF65-F5344CB8AC3E}">
        <p14:creationId xmlns:p14="http://schemas.microsoft.com/office/powerpoint/2010/main" val="191989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CC71A-85E1-F45A-1D09-4C7A769C4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7A32E-D643-F48F-B938-EA0B5EA6F10E}"/>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Annual Improvement Priorities Defined</a:t>
            </a:r>
            <a:endParaRPr lang="en-US" sz="4000" dirty="0"/>
          </a:p>
        </p:txBody>
      </p:sp>
      <p:grpSp>
        <p:nvGrpSpPr>
          <p:cNvPr id="3" name="Group 2">
            <a:extLst>
              <a:ext uri="{FF2B5EF4-FFF2-40B4-BE49-F238E27FC236}">
                <a16:creationId xmlns:a16="http://schemas.microsoft.com/office/drawing/2014/main" id="{5BFB2693-C441-0C3A-C5D6-2091B54EF326}"/>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3307F7AC-7209-B521-EBD2-4AF79266B26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3AF6558F-9CDE-F093-4856-28F05C9C0A3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B8DE1491-3938-4540-A81D-2E7E009EDAE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A7EAEA2D-3AA1-09DF-540A-471CB19E6899}"/>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Rectangle 4">
            <a:extLst>
              <a:ext uri="{FF2B5EF4-FFF2-40B4-BE49-F238E27FC236}">
                <a16:creationId xmlns:a16="http://schemas.microsoft.com/office/drawing/2014/main" id="{B8BFC11F-175C-05CD-3384-A5056B18CB38}"/>
              </a:ext>
            </a:extLst>
          </p:cNvPr>
          <p:cNvSpPr>
            <a:spLocks noChangeArrowheads="1"/>
          </p:cNvSpPr>
          <p:nvPr/>
        </p:nvSpPr>
        <p:spPr bwMode="auto">
          <a:xfrm>
            <a:off x="4727465" y="2623960"/>
            <a:ext cx="2554287"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Ensure that actions performed to achieve the overall breakthrough are designed with </a:t>
            </a:r>
            <a:r>
              <a:rPr lang="en-US" altLang="en-US" sz="1600" i="1">
                <a:solidFill>
                  <a:schemeClr val="tx1"/>
                </a:solidFill>
                <a:latin typeface="Arial" panose="020B0604020202020204" pitchFamily="34" charset="0"/>
              </a:rPr>
              <a:t>process </a:t>
            </a:r>
            <a:r>
              <a:rPr lang="en-US" altLang="en-US" sz="1600">
                <a:solidFill>
                  <a:schemeClr val="tx1"/>
                </a:solidFill>
                <a:latin typeface="Arial" panose="020B0604020202020204" pitchFamily="34" charset="0"/>
              </a:rPr>
              <a:t>in mind</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Key is sustainable – not a </a:t>
            </a:r>
            <a:r>
              <a:rPr lang="ja-JP" altLang="en-US" sz="1600">
                <a:solidFill>
                  <a:schemeClr val="tx1"/>
                </a:solidFill>
                <a:latin typeface="Arial" panose="020B0604020202020204" pitchFamily="34" charset="0"/>
              </a:rPr>
              <a:t>“</a:t>
            </a:r>
            <a:r>
              <a:rPr lang="en-US" altLang="ja-JP" sz="1600">
                <a:solidFill>
                  <a:schemeClr val="tx1"/>
                </a:solidFill>
                <a:latin typeface="Arial" panose="020B0604020202020204" pitchFamily="34" charset="0"/>
              </a:rPr>
              <a:t>one-time</a:t>
            </a:r>
            <a:r>
              <a:rPr lang="ja-JP" altLang="en-US" sz="1600">
                <a:solidFill>
                  <a:schemeClr val="tx1"/>
                </a:solidFill>
                <a:latin typeface="Arial" panose="020B0604020202020204" pitchFamily="34" charset="0"/>
              </a:rPr>
              <a:t>”</a:t>
            </a:r>
            <a:r>
              <a:rPr lang="en-US" altLang="ja-JP" sz="1600">
                <a:solidFill>
                  <a:schemeClr val="tx1"/>
                </a:solidFill>
                <a:latin typeface="Arial" panose="020B0604020202020204" pitchFamily="34" charset="0"/>
              </a:rPr>
              <a:t> achievement of the breakthrough</a:t>
            </a:r>
            <a:endParaRPr lang="en-US" altLang="en-US" sz="1600">
              <a:solidFill>
                <a:schemeClr val="tx1"/>
              </a:solidFill>
              <a:latin typeface="Arial" panose="020B0604020202020204" pitchFamily="34" charset="0"/>
            </a:endParaRPr>
          </a:p>
        </p:txBody>
      </p:sp>
      <p:sp>
        <p:nvSpPr>
          <p:cNvPr id="8" name="Rectangle 5">
            <a:extLst>
              <a:ext uri="{FF2B5EF4-FFF2-40B4-BE49-F238E27FC236}">
                <a16:creationId xmlns:a16="http://schemas.microsoft.com/office/drawing/2014/main" id="{EB100E28-D489-8FE8-BB54-855123756149}"/>
              </a:ext>
            </a:extLst>
          </p:cNvPr>
          <p:cNvSpPr>
            <a:spLocks noChangeArrowheads="1"/>
          </p:cNvSpPr>
          <p:nvPr/>
        </p:nvSpPr>
        <p:spPr bwMode="auto">
          <a:xfrm>
            <a:off x="7210315" y="2623960"/>
            <a:ext cx="2851150"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Design and Implement a Talent Mgmt. System</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Design and Implement a Sales and Operations Planning Process</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Define and implement a Rationalized Distribution Network</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Implement an improved NPD Process</a:t>
            </a:r>
          </a:p>
        </p:txBody>
      </p:sp>
      <p:sp>
        <p:nvSpPr>
          <p:cNvPr id="9" name="Rectangle 6">
            <a:extLst>
              <a:ext uri="{FF2B5EF4-FFF2-40B4-BE49-F238E27FC236}">
                <a16:creationId xmlns:a16="http://schemas.microsoft.com/office/drawing/2014/main" id="{1B9B11E0-E11B-AC95-5F55-AEF34C6FC62F}"/>
              </a:ext>
            </a:extLst>
          </p:cNvPr>
          <p:cNvSpPr>
            <a:spLocks noChangeArrowheads="1"/>
          </p:cNvSpPr>
          <p:nvPr/>
        </p:nvSpPr>
        <p:spPr bwMode="auto">
          <a:xfrm>
            <a:off x="1995377" y="2623960"/>
            <a:ext cx="2643188"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A business-process-based transformation required to enable a sustained breakthrough in business performance</a:t>
            </a:r>
          </a:p>
        </p:txBody>
      </p:sp>
      <p:sp>
        <p:nvSpPr>
          <p:cNvPr id="10" name="AutoShape 7">
            <a:extLst>
              <a:ext uri="{FF2B5EF4-FFF2-40B4-BE49-F238E27FC236}">
                <a16:creationId xmlns:a16="http://schemas.microsoft.com/office/drawing/2014/main" id="{55F8E8AC-B90F-4178-2150-92D4A627A12B}"/>
              </a:ext>
            </a:extLst>
          </p:cNvPr>
          <p:cNvSpPr>
            <a:spLocks noChangeArrowheads="1"/>
          </p:cNvSpPr>
          <p:nvPr/>
        </p:nvSpPr>
        <p:spPr bwMode="auto">
          <a:xfrm>
            <a:off x="6992827" y="1777822"/>
            <a:ext cx="3146425" cy="625475"/>
          </a:xfrm>
          <a:prstGeom prst="homePlate">
            <a:avLst>
              <a:gd name="adj" fmla="val 75108"/>
            </a:avLst>
          </a:prstGeom>
          <a:solidFill>
            <a:schemeClr val="accent1"/>
          </a:solidFill>
          <a:ln w="19050">
            <a:solidFill>
              <a:schemeClr val="bg1"/>
            </a:solidFill>
            <a:miter lim="800000"/>
            <a:headEnd/>
            <a:tailEnd/>
          </a:ln>
        </p:spPr>
        <p:txBody>
          <a:bodyPr lIns="45720" tIns="46038" rIns="45720" bIns="46038"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95000"/>
              </a:lnSpc>
            </a:pPr>
            <a:r>
              <a:rPr lang="en-US" altLang="en-US" sz="1800">
                <a:latin typeface="Arial" panose="020B0604020202020204" pitchFamily="34" charset="0"/>
              </a:rPr>
              <a:t>               Examples</a:t>
            </a:r>
          </a:p>
        </p:txBody>
      </p:sp>
      <p:sp>
        <p:nvSpPr>
          <p:cNvPr id="11" name="AutoShape 8">
            <a:extLst>
              <a:ext uri="{FF2B5EF4-FFF2-40B4-BE49-F238E27FC236}">
                <a16:creationId xmlns:a16="http://schemas.microsoft.com/office/drawing/2014/main" id="{5B8032AF-4AEA-4129-7174-233D3055102C}"/>
              </a:ext>
            </a:extLst>
          </p:cNvPr>
          <p:cNvSpPr>
            <a:spLocks noChangeArrowheads="1"/>
          </p:cNvSpPr>
          <p:nvPr/>
        </p:nvSpPr>
        <p:spPr bwMode="auto">
          <a:xfrm>
            <a:off x="4668727" y="1777822"/>
            <a:ext cx="2744788" cy="625475"/>
          </a:xfrm>
          <a:prstGeom prst="homePlate">
            <a:avLst>
              <a:gd name="adj" fmla="val 57069"/>
            </a:avLst>
          </a:prstGeom>
          <a:solidFill>
            <a:schemeClr val="accent1"/>
          </a:solidFill>
          <a:ln w="19050">
            <a:solidFill>
              <a:schemeClr val="bg1"/>
            </a:solidFill>
            <a:miter lim="800000"/>
            <a:headEnd/>
            <a:tailEnd/>
          </a:ln>
        </p:spPr>
        <p:txBody>
          <a:bodyPr lIns="45720" tIns="46038" rIns="45720" bIns="46038" anchor="ctr"/>
          <a:lstStyle>
            <a:lvl1pPr marL="1714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pPr>
            <a:r>
              <a:rPr lang="en-US" altLang="en-US" sz="1800">
                <a:latin typeface="Arial" panose="020B0604020202020204" pitchFamily="34" charset="0"/>
              </a:rPr>
              <a:t>Purpose</a:t>
            </a:r>
          </a:p>
        </p:txBody>
      </p:sp>
      <p:sp>
        <p:nvSpPr>
          <p:cNvPr id="12" name="AutoShape 9">
            <a:extLst>
              <a:ext uri="{FF2B5EF4-FFF2-40B4-BE49-F238E27FC236}">
                <a16:creationId xmlns:a16="http://schemas.microsoft.com/office/drawing/2014/main" id="{E05CE21E-0AD3-BDD8-D419-DB95A8BC8522}"/>
              </a:ext>
            </a:extLst>
          </p:cNvPr>
          <p:cNvSpPr>
            <a:spLocks noChangeArrowheads="1"/>
          </p:cNvSpPr>
          <p:nvPr/>
        </p:nvSpPr>
        <p:spPr bwMode="auto">
          <a:xfrm>
            <a:off x="1933465" y="1777822"/>
            <a:ext cx="3173412" cy="625475"/>
          </a:xfrm>
          <a:prstGeom prst="homePlate">
            <a:avLst>
              <a:gd name="adj" fmla="val 73755"/>
            </a:avLst>
          </a:prstGeom>
          <a:solidFill>
            <a:schemeClr val="accent1"/>
          </a:solidFill>
          <a:ln w="19050">
            <a:solidFill>
              <a:schemeClr val="bg1"/>
            </a:solidFill>
            <a:miter lim="800000"/>
            <a:headEnd/>
            <a:tailEnd/>
          </a:ln>
        </p:spPr>
        <p:txBody>
          <a:bodyPr lIns="45720" tIns="46038" rIns="45720" bIns="46038"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pPr>
            <a:r>
              <a:rPr lang="en-US" altLang="en-US" sz="1800">
                <a:latin typeface="Arial" panose="020B0604020202020204" pitchFamily="34" charset="0"/>
              </a:rPr>
              <a:t>Definition</a:t>
            </a:r>
          </a:p>
        </p:txBody>
      </p:sp>
      <p:sp>
        <p:nvSpPr>
          <p:cNvPr id="13" name="AutoShape 10">
            <a:extLst>
              <a:ext uri="{FF2B5EF4-FFF2-40B4-BE49-F238E27FC236}">
                <a16:creationId xmlns:a16="http://schemas.microsoft.com/office/drawing/2014/main" id="{3203C80E-7D2B-E9EF-4A10-B672D0796FD5}"/>
              </a:ext>
            </a:extLst>
          </p:cNvPr>
          <p:cNvSpPr>
            <a:spLocks noChangeArrowheads="1"/>
          </p:cNvSpPr>
          <p:nvPr/>
        </p:nvSpPr>
        <p:spPr bwMode="auto">
          <a:xfrm>
            <a:off x="1909652" y="5627510"/>
            <a:ext cx="8204200" cy="520700"/>
          </a:xfrm>
          <a:prstGeom prst="homePlate">
            <a:avLst>
              <a:gd name="adj" fmla="val 32169"/>
            </a:avLst>
          </a:prstGeom>
          <a:solidFill>
            <a:schemeClr val="accent4"/>
          </a:solidFill>
          <a:ln>
            <a:noFill/>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a:latin typeface="Arial" panose="020B0604020202020204" pitchFamily="34" charset="0"/>
              </a:rPr>
              <a:t>Annual Improvement Priorities focus on the </a:t>
            </a:r>
            <a:r>
              <a:rPr lang="en-US" altLang="en-US" sz="1800" u="sng">
                <a:latin typeface="Arial" panose="020B0604020202020204" pitchFamily="34" charset="0"/>
              </a:rPr>
              <a:t>PROCESS</a:t>
            </a:r>
            <a:endParaRPr lang="en-US" altLang="en-US" sz="1800">
              <a:latin typeface="Arial" panose="020B0604020202020204" pitchFamily="34" charset="0"/>
            </a:endParaRPr>
          </a:p>
        </p:txBody>
      </p:sp>
      <p:sp>
        <p:nvSpPr>
          <p:cNvPr id="15" name="TextBox 14">
            <a:extLst>
              <a:ext uri="{FF2B5EF4-FFF2-40B4-BE49-F238E27FC236}">
                <a16:creationId xmlns:a16="http://schemas.microsoft.com/office/drawing/2014/main" id="{CD7637FB-CB25-03CA-648A-A372FEE1C54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Tree>
    <p:custDataLst>
      <p:tags r:id="rId1"/>
    </p:custDataLst>
    <p:extLst>
      <p:ext uri="{BB962C8B-B14F-4D97-AF65-F5344CB8AC3E}">
        <p14:creationId xmlns:p14="http://schemas.microsoft.com/office/powerpoint/2010/main" val="2994126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F6904-D85C-0B89-6DCB-B259B4505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4CEB4-104C-1335-A92E-DBAF1F82B5CC}"/>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Rate the Annual Improvement Priorities</a:t>
            </a:r>
            <a:endParaRPr lang="en-US" sz="4000" dirty="0"/>
          </a:p>
        </p:txBody>
      </p:sp>
      <p:grpSp>
        <p:nvGrpSpPr>
          <p:cNvPr id="3" name="Group 2">
            <a:extLst>
              <a:ext uri="{FF2B5EF4-FFF2-40B4-BE49-F238E27FC236}">
                <a16:creationId xmlns:a16="http://schemas.microsoft.com/office/drawing/2014/main" id="{B7D12AE5-05D6-C454-17E2-1BE25C6708D3}"/>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73FA4901-501A-73D3-EFFA-D3CD078425E2}"/>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2E9F7905-2176-D227-FB29-344B3369712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FFDFC03C-EA5C-06BB-7730-511411D8D72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5CB819CC-EE98-420B-3397-3249E29E7099}"/>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aphicFrame>
        <p:nvGraphicFramePr>
          <p:cNvPr id="5" name="Group 49">
            <a:extLst>
              <a:ext uri="{FF2B5EF4-FFF2-40B4-BE49-F238E27FC236}">
                <a16:creationId xmlns:a16="http://schemas.microsoft.com/office/drawing/2014/main" id="{FFD9AA25-0C0F-8AA7-21A3-BE7C31428CB1}"/>
              </a:ext>
            </a:extLst>
          </p:cNvPr>
          <p:cNvGraphicFramePr>
            <a:graphicFrameLocks noGrp="1"/>
          </p:cNvGraphicFramePr>
          <p:nvPr>
            <p:extLst>
              <p:ext uri="{D42A27DB-BD31-4B8C-83A1-F6EECF244321}">
                <p14:modId xmlns:p14="http://schemas.microsoft.com/office/powerpoint/2010/main" val="3949929761"/>
              </p:ext>
            </p:extLst>
          </p:nvPr>
        </p:nvGraphicFramePr>
        <p:xfrm>
          <a:off x="1965325" y="1897062"/>
          <a:ext cx="8261350" cy="4279901"/>
        </p:xfrm>
        <a:graphic>
          <a:graphicData uri="http://schemas.openxmlformats.org/drawingml/2006/table">
            <a:tbl>
              <a:tblPr/>
              <a:tblGrid>
                <a:gridCol w="4105275">
                  <a:extLst>
                    <a:ext uri="{9D8B030D-6E8A-4147-A177-3AD203B41FA5}">
                      <a16:colId xmlns:a16="http://schemas.microsoft.com/office/drawing/2014/main" val="20000"/>
                    </a:ext>
                  </a:extLst>
                </a:gridCol>
                <a:gridCol w="2141538">
                  <a:extLst>
                    <a:ext uri="{9D8B030D-6E8A-4147-A177-3AD203B41FA5}">
                      <a16:colId xmlns:a16="http://schemas.microsoft.com/office/drawing/2014/main" val="20001"/>
                    </a:ext>
                  </a:extLst>
                </a:gridCol>
                <a:gridCol w="2014537">
                  <a:extLst>
                    <a:ext uri="{9D8B030D-6E8A-4147-A177-3AD203B41FA5}">
                      <a16:colId xmlns:a16="http://schemas.microsoft.com/office/drawing/2014/main" val="20002"/>
                    </a:ext>
                  </a:extLst>
                </a:gridCol>
              </a:tblGrid>
              <a:tr h="547688">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AIP Example</a:t>
                      </a:r>
                    </a:p>
                  </a:txBody>
                  <a:tcPr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Good Example</a:t>
                      </a:r>
                    </a:p>
                  </a:txBody>
                  <a:tcPr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Poor Example</a:t>
                      </a:r>
                    </a:p>
                  </a:txBody>
                  <a:tcPr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0"/>
                  </a:ext>
                </a:extLst>
              </a:tr>
              <a:tr h="5461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Improve Productivity</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8422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Fully Develop and Implement a New Product Development Process</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0165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Improve Material Costs</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34988">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Develop Acquisition Integration Process</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8262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Develop XXX Market</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68262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Improve On-time Delivery</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094A6E5A-3C22-2132-785B-90BB3A4D45A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Tree>
    <p:custDataLst>
      <p:tags r:id="rId1"/>
    </p:custDataLst>
    <p:extLst>
      <p:ext uri="{BB962C8B-B14F-4D97-AF65-F5344CB8AC3E}">
        <p14:creationId xmlns:p14="http://schemas.microsoft.com/office/powerpoint/2010/main" val="21667477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5A013-8964-BFCB-AF21-C86E8DE7E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6D3FC-1A4E-C7CE-485B-A8ED668725FE}"/>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Where do AIPs Come From?</a:t>
            </a:r>
            <a:endParaRPr lang="en-US" sz="4000" dirty="0"/>
          </a:p>
        </p:txBody>
      </p:sp>
      <p:grpSp>
        <p:nvGrpSpPr>
          <p:cNvPr id="3" name="Group 2">
            <a:extLst>
              <a:ext uri="{FF2B5EF4-FFF2-40B4-BE49-F238E27FC236}">
                <a16:creationId xmlns:a16="http://schemas.microsoft.com/office/drawing/2014/main" id="{9753AFD3-2785-1C72-9D65-50083A57E33F}"/>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7CCCC0AE-8257-0899-8A63-650594561453}"/>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37D4A9C5-936C-3C09-0895-8B1A816AE73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DD55368A-9E6D-7448-3B44-31D707CFD15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F8C5F313-3DC2-E60D-1E66-918BCBA9ECE4}"/>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6" name="Line 19">
            <a:extLst>
              <a:ext uri="{FF2B5EF4-FFF2-40B4-BE49-F238E27FC236}">
                <a16:creationId xmlns:a16="http://schemas.microsoft.com/office/drawing/2014/main" id="{D3EF243F-DE53-BB25-F034-E46C87245A0E}"/>
              </a:ext>
            </a:extLst>
          </p:cNvPr>
          <p:cNvSpPr>
            <a:spLocks noChangeShapeType="1"/>
          </p:cNvSpPr>
          <p:nvPr/>
        </p:nvSpPr>
        <p:spPr bwMode="auto">
          <a:xfrm>
            <a:off x="6187281" y="2520950"/>
            <a:ext cx="1588" cy="3001963"/>
          </a:xfrm>
          <a:prstGeom prst="line">
            <a:avLst/>
          </a:prstGeom>
          <a:noFill/>
          <a:ln w="12700" cap="sq">
            <a:solidFill>
              <a:schemeClr val="bg1"/>
            </a:solidFill>
            <a:round/>
            <a:headEnd type="none" w="sm" len="sm"/>
            <a:tailEnd type="none" w="sm" len="sm"/>
          </a:ln>
          <a:effectLst/>
        </p:spPr>
        <p:txBody>
          <a:bodyPr wrap="none"/>
          <a:lstStyle/>
          <a:p>
            <a:pPr algn="ctr" eaLnBrk="0" hangingPunct="0">
              <a:lnSpc>
                <a:spcPct val="80000"/>
              </a:lnSpc>
              <a:spcBef>
                <a:spcPct val="20000"/>
              </a:spcBef>
              <a:defRPr/>
            </a:pPr>
            <a:endParaRPr lang="en-US">
              <a:latin typeface="+mj-lt"/>
              <a:ea typeface="+mn-ea"/>
            </a:endParaRPr>
          </a:p>
        </p:txBody>
      </p:sp>
      <p:sp>
        <p:nvSpPr>
          <p:cNvPr id="7" name="Line 20">
            <a:extLst>
              <a:ext uri="{FF2B5EF4-FFF2-40B4-BE49-F238E27FC236}">
                <a16:creationId xmlns:a16="http://schemas.microsoft.com/office/drawing/2014/main" id="{82031602-98BF-D94A-B20F-27088A463367}"/>
              </a:ext>
            </a:extLst>
          </p:cNvPr>
          <p:cNvSpPr>
            <a:spLocks noChangeShapeType="1"/>
          </p:cNvSpPr>
          <p:nvPr/>
        </p:nvSpPr>
        <p:spPr bwMode="auto">
          <a:xfrm>
            <a:off x="4664869" y="3830638"/>
            <a:ext cx="3521075" cy="15875"/>
          </a:xfrm>
          <a:prstGeom prst="line">
            <a:avLst/>
          </a:prstGeom>
          <a:noFill/>
          <a:ln w="12700" cap="sq">
            <a:solidFill>
              <a:schemeClr val="bg1"/>
            </a:solidFill>
            <a:round/>
            <a:headEnd type="none" w="sm" len="sm"/>
            <a:tailEnd type="none" w="sm" len="sm"/>
          </a:ln>
          <a:effectLst/>
        </p:spPr>
        <p:txBody>
          <a:bodyPr wrap="none"/>
          <a:lstStyle/>
          <a:p>
            <a:pPr algn="ctr" eaLnBrk="0" hangingPunct="0">
              <a:lnSpc>
                <a:spcPct val="80000"/>
              </a:lnSpc>
              <a:spcBef>
                <a:spcPct val="20000"/>
              </a:spcBef>
              <a:defRPr/>
            </a:pPr>
            <a:endParaRPr lang="en-US">
              <a:latin typeface="+mj-lt"/>
              <a:ea typeface="+mn-ea"/>
            </a:endParaRPr>
          </a:p>
        </p:txBody>
      </p:sp>
      <p:pic>
        <p:nvPicPr>
          <p:cNvPr id="8" name="Picture 32">
            <a:extLst>
              <a:ext uri="{FF2B5EF4-FFF2-40B4-BE49-F238E27FC236}">
                <a16:creationId xmlns:a16="http://schemas.microsoft.com/office/drawing/2014/main" id="{17B2B22E-D46E-29C6-A854-D15F68E58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8869" y="2797175"/>
            <a:ext cx="2913062"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Oval 2">
            <a:extLst>
              <a:ext uri="{FF2B5EF4-FFF2-40B4-BE49-F238E27FC236}">
                <a16:creationId xmlns:a16="http://schemas.microsoft.com/office/drawing/2014/main" id="{CA3E6774-766B-1222-7E27-9636C2494B58}"/>
              </a:ext>
            </a:extLst>
          </p:cNvPr>
          <p:cNvSpPr>
            <a:spLocks noChangeArrowheads="1"/>
          </p:cNvSpPr>
          <p:nvPr/>
        </p:nvSpPr>
        <p:spPr bwMode="auto">
          <a:xfrm>
            <a:off x="1650206" y="4949825"/>
            <a:ext cx="1785938" cy="1044575"/>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algn="ctr" eaLnBrk="0" hangingPunct="0">
              <a:lnSpc>
                <a:spcPct val="80000"/>
              </a:lnSpc>
              <a:spcBef>
                <a:spcPct val="20000"/>
              </a:spcBef>
              <a:defRPr/>
            </a:pPr>
            <a:r>
              <a:rPr lang="en-US" sz="1400" dirty="0">
                <a:solidFill>
                  <a:schemeClr val="bg1"/>
                </a:solidFill>
                <a:latin typeface="+mj-lt"/>
                <a:ea typeface="+mn-ea"/>
              </a:rPr>
              <a:t>Benchmarking &amp;</a:t>
            </a:r>
          </a:p>
          <a:p>
            <a:pPr algn="ctr" eaLnBrk="0" hangingPunct="0">
              <a:lnSpc>
                <a:spcPct val="80000"/>
              </a:lnSpc>
              <a:spcBef>
                <a:spcPct val="20000"/>
              </a:spcBef>
              <a:defRPr/>
            </a:pPr>
            <a:r>
              <a:rPr lang="en-US" sz="1400" dirty="0">
                <a:solidFill>
                  <a:schemeClr val="bg1"/>
                </a:solidFill>
                <a:latin typeface="+mj-lt"/>
                <a:ea typeface="+mn-ea"/>
              </a:rPr>
              <a:t>Technological</a:t>
            </a:r>
          </a:p>
          <a:p>
            <a:pPr algn="ctr" eaLnBrk="0" hangingPunct="0">
              <a:lnSpc>
                <a:spcPct val="80000"/>
              </a:lnSpc>
              <a:spcBef>
                <a:spcPct val="20000"/>
              </a:spcBef>
              <a:defRPr/>
            </a:pPr>
            <a:r>
              <a:rPr lang="en-US" sz="1400" dirty="0">
                <a:solidFill>
                  <a:schemeClr val="bg1"/>
                </a:solidFill>
                <a:latin typeface="+mj-lt"/>
                <a:ea typeface="+mn-ea"/>
              </a:rPr>
              <a:t>Trends</a:t>
            </a:r>
          </a:p>
        </p:txBody>
      </p:sp>
      <p:sp>
        <p:nvSpPr>
          <p:cNvPr id="10" name="Oval 3">
            <a:extLst>
              <a:ext uri="{FF2B5EF4-FFF2-40B4-BE49-F238E27FC236}">
                <a16:creationId xmlns:a16="http://schemas.microsoft.com/office/drawing/2014/main" id="{07B3ED54-53CA-F77B-B250-B8C031D8E210}"/>
              </a:ext>
            </a:extLst>
          </p:cNvPr>
          <p:cNvSpPr>
            <a:spLocks noChangeArrowheads="1"/>
          </p:cNvSpPr>
          <p:nvPr/>
        </p:nvSpPr>
        <p:spPr bwMode="auto">
          <a:xfrm>
            <a:off x="1689894" y="2916238"/>
            <a:ext cx="1785937" cy="909637"/>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algn="ctr" eaLnBrk="0" hangingPunct="0">
              <a:lnSpc>
                <a:spcPct val="80000"/>
              </a:lnSpc>
              <a:spcBef>
                <a:spcPct val="20000"/>
              </a:spcBef>
              <a:defRPr/>
            </a:pPr>
            <a:r>
              <a:rPr lang="en-US" sz="1400">
                <a:solidFill>
                  <a:schemeClr val="bg1"/>
                </a:solidFill>
                <a:latin typeface="+mj-lt"/>
                <a:ea typeface="+mn-ea"/>
              </a:rPr>
              <a:t>Lean and</a:t>
            </a:r>
          </a:p>
          <a:p>
            <a:pPr algn="ctr" eaLnBrk="0" hangingPunct="0">
              <a:lnSpc>
                <a:spcPct val="80000"/>
              </a:lnSpc>
              <a:spcBef>
                <a:spcPct val="20000"/>
              </a:spcBef>
              <a:defRPr/>
            </a:pPr>
            <a:r>
              <a:rPr lang="en-US" sz="1400">
                <a:solidFill>
                  <a:schemeClr val="bg1"/>
                </a:solidFill>
                <a:latin typeface="+mj-lt"/>
                <a:ea typeface="+mn-ea"/>
              </a:rPr>
              <a:t>Operational</a:t>
            </a:r>
          </a:p>
          <a:p>
            <a:pPr algn="ctr" eaLnBrk="0" hangingPunct="0">
              <a:lnSpc>
                <a:spcPct val="80000"/>
              </a:lnSpc>
              <a:spcBef>
                <a:spcPct val="20000"/>
              </a:spcBef>
              <a:defRPr/>
            </a:pPr>
            <a:r>
              <a:rPr lang="en-US" sz="1400">
                <a:solidFill>
                  <a:schemeClr val="bg1"/>
                </a:solidFill>
                <a:latin typeface="+mj-lt"/>
                <a:ea typeface="+mn-ea"/>
              </a:rPr>
              <a:t>Assessments</a:t>
            </a:r>
          </a:p>
        </p:txBody>
      </p:sp>
      <p:sp>
        <p:nvSpPr>
          <p:cNvPr id="11" name="Oval 4">
            <a:extLst>
              <a:ext uri="{FF2B5EF4-FFF2-40B4-BE49-F238E27FC236}">
                <a16:creationId xmlns:a16="http://schemas.microsoft.com/office/drawing/2014/main" id="{B953A0A7-A8DE-8C05-C5AB-6BB9E04EE959}"/>
              </a:ext>
            </a:extLst>
          </p:cNvPr>
          <p:cNvSpPr>
            <a:spLocks noChangeArrowheads="1"/>
          </p:cNvSpPr>
          <p:nvPr/>
        </p:nvSpPr>
        <p:spPr bwMode="auto">
          <a:xfrm>
            <a:off x="1650206" y="1878013"/>
            <a:ext cx="1785938" cy="909637"/>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algn="ctr" eaLnBrk="0" hangingPunct="0">
              <a:lnSpc>
                <a:spcPct val="80000"/>
              </a:lnSpc>
              <a:spcBef>
                <a:spcPct val="20000"/>
              </a:spcBef>
              <a:defRPr/>
            </a:pPr>
            <a:r>
              <a:rPr lang="en-US" sz="1400">
                <a:solidFill>
                  <a:schemeClr val="bg1"/>
                </a:solidFill>
                <a:latin typeface="+mj-lt"/>
                <a:ea typeface="+mn-ea"/>
              </a:rPr>
              <a:t>Strategic</a:t>
            </a:r>
          </a:p>
          <a:p>
            <a:pPr algn="ctr" eaLnBrk="0" hangingPunct="0">
              <a:lnSpc>
                <a:spcPct val="80000"/>
              </a:lnSpc>
              <a:spcBef>
                <a:spcPct val="20000"/>
              </a:spcBef>
              <a:defRPr/>
            </a:pPr>
            <a:r>
              <a:rPr lang="en-US" sz="1400">
                <a:solidFill>
                  <a:schemeClr val="bg1"/>
                </a:solidFill>
                <a:latin typeface="+mj-lt"/>
                <a:ea typeface="+mn-ea"/>
              </a:rPr>
              <a:t>Plans and </a:t>
            </a:r>
          </a:p>
          <a:p>
            <a:pPr algn="ctr" eaLnBrk="0" hangingPunct="0">
              <a:lnSpc>
                <a:spcPct val="80000"/>
              </a:lnSpc>
              <a:spcBef>
                <a:spcPct val="20000"/>
              </a:spcBef>
              <a:defRPr/>
            </a:pPr>
            <a:r>
              <a:rPr lang="en-US" sz="1400">
                <a:solidFill>
                  <a:schemeClr val="bg1"/>
                </a:solidFill>
                <a:latin typeface="+mj-lt"/>
                <a:ea typeface="+mn-ea"/>
              </a:rPr>
              <a:t>Imperatives</a:t>
            </a:r>
          </a:p>
        </p:txBody>
      </p:sp>
      <p:sp>
        <p:nvSpPr>
          <p:cNvPr id="12" name="Oval 5">
            <a:extLst>
              <a:ext uri="{FF2B5EF4-FFF2-40B4-BE49-F238E27FC236}">
                <a16:creationId xmlns:a16="http://schemas.microsoft.com/office/drawing/2014/main" id="{3491F574-2321-B3E6-E0F0-F3B0FE2D7751}"/>
              </a:ext>
            </a:extLst>
          </p:cNvPr>
          <p:cNvSpPr>
            <a:spLocks noChangeArrowheads="1"/>
          </p:cNvSpPr>
          <p:nvPr/>
        </p:nvSpPr>
        <p:spPr bwMode="auto">
          <a:xfrm>
            <a:off x="1650206" y="3925888"/>
            <a:ext cx="1785938" cy="909637"/>
          </a:xfrm>
          <a:prstGeom prst="ellipse">
            <a:avLst/>
          </a:prstGeom>
          <a:solidFill>
            <a:schemeClr val="accent1"/>
          </a:solidFill>
          <a:ln w="12700" cap="sq">
            <a:solidFill>
              <a:schemeClr val="tx1"/>
            </a:solidFill>
            <a:round/>
            <a:headEnd type="none" w="sm" len="sm"/>
            <a:tailEnd type="none" w="sm" len="sm"/>
          </a:ln>
          <a:effectLst/>
        </p:spPr>
        <p:txBody>
          <a:bodyPr wrap="none" anchor="ctr"/>
          <a:lstStyle/>
          <a:p>
            <a:pPr algn="ctr" eaLnBrk="0" hangingPunct="0">
              <a:lnSpc>
                <a:spcPct val="80000"/>
              </a:lnSpc>
              <a:spcBef>
                <a:spcPct val="20000"/>
              </a:spcBef>
              <a:defRPr/>
            </a:pPr>
            <a:r>
              <a:rPr lang="en-US" sz="1400">
                <a:solidFill>
                  <a:schemeClr val="bg1"/>
                </a:solidFill>
                <a:latin typeface="+mj-lt"/>
                <a:ea typeface="+mn-ea"/>
              </a:rPr>
              <a:t>Customer </a:t>
            </a:r>
          </a:p>
          <a:p>
            <a:pPr algn="ctr" eaLnBrk="0" hangingPunct="0">
              <a:lnSpc>
                <a:spcPct val="80000"/>
              </a:lnSpc>
              <a:spcBef>
                <a:spcPct val="20000"/>
              </a:spcBef>
              <a:defRPr/>
            </a:pPr>
            <a:r>
              <a:rPr lang="en-US" sz="1400">
                <a:solidFill>
                  <a:schemeClr val="bg1"/>
                </a:solidFill>
                <a:latin typeface="+mj-lt"/>
                <a:ea typeface="+mn-ea"/>
              </a:rPr>
              <a:t>Assessments</a:t>
            </a:r>
          </a:p>
          <a:p>
            <a:pPr algn="ctr" eaLnBrk="0" hangingPunct="0">
              <a:lnSpc>
                <a:spcPct val="80000"/>
              </a:lnSpc>
              <a:spcBef>
                <a:spcPct val="20000"/>
              </a:spcBef>
              <a:defRPr/>
            </a:pPr>
            <a:r>
              <a:rPr lang="en-US" sz="1400">
                <a:solidFill>
                  <a:schemeClr val="bg1"/>
                </a:solidFill>
                <a:latin typeface="+mj-lt"/>
                <a:ea typeface="+mn-ea"/>
              </a:rPr>
              <a:t>And Feedback</a:t>
            </a:r>
          </a:p>
        </p:txBody>
      </p:sp>
      <p:sp>
        <p:nvSpPr>
          <p:cNvPr id="13" name="AutoShape 6">
            <a:extLst>
              <a:ext uri="{FF2B5EF4-FFF2-40B4-BE49-F238E27FC236}">
                <a16:creationId xmlns:a16="http://schemas.microsoft.com/office/drawing/2014/main" id="{1DCCD053-51B8-322F-9E8D-CB8235420A04}"/>
              </a:ext>
            </a:extLst>
          </p:cNvPr>
          <p:cNvSpPr>
            <a:spLocks/>
          </p:cNvSpPr>
          <p:nvPr/>
        </p:nvSpPr>
        <p:spPr bwMode="auto">
          <a:xfrm>
            <a:off x="3431381" y="2133600"/>
            <a:ext cx="492125" cy="3489325"/>
          </a:xfrm>
          <a:prstGeom prst="rightBrace">
            <a:avLst>
              <a:gd name="adj1" fmla="val 59086"/>
              <a:gd name="adj2" fmla="val 50000"/>
            </a:avLst>
          </a:prstGeom>
          <a:noFill/>
          <a:ln w="38100" cap="sq">
            <a:solidFill>
              <a:schemeClr val="tx1"/>
            </a:solidFill>
            <a:round/>
            <a:headEnd type="none" w="sm" len="sm"/>
            <a:tailEnd type="none" w="sm" len="sm"/>
          </a:ln>
          <a:effectLst/>
        </p:spPr>
        <p:txBody>
          <a:bodyPr wrap="none" anchor="ctr"/>
          <a:lstStyle/>
          <a:p>
            <a:pPr algn="ctr" eaLnBrk="0" hangingPunct="0">
              <a:lnSpc>
                <a:spcPct val="80000"/>
              </a:lnSpc>
              <a:spcBef>
                <a:spcPct val="20000"/>
              </a:spcBef>
              <a:defRPr/>
            </a:pPr>
            <a:endParaRPr lang="en-US">
              <a:latin typeface="+mj-lt"/>
              <a:ea typeface="+mn-ea"/>
            </a:endParaRPr>
          </a:p>
        </p:txBody>
      </p:sp>
      <p:sp>
        <p:nvSpPr>
          <p:cNvPr id="15" name="AutoShape 7">
            <a:extLst>
              <a:ext uri="{FF2B5EF4-FFF2-40B4-BE49-F238E27FC236}">
                <a16:creationId xmlns:a16="http://schemas.microsoft.com/office/drawing/2014/main" id="{0F3160D1-FD15-E074-B60B-EF7DA0F36DB4}"/>
              </a:ext>
            </a:extLst>
          </p:cNvPr>
          <p:cNvSpPr>
            <a:spLocks noChangeArrowheads="1"/>
          </p:cNvSpPr>
          <p:nvPr/>
        </p:nvSpPr>
        <p:spPr bwMode="auto">
          <a:xfrm>
            <a:off x="3909219" y="3649663"/>
            <a:ext cx="436562" cy="465137"/>
          </a:xfrm>
          <a:prstGeom prst="rightArrow">
            <a:avLst>
              <a:gd name="adj1" fmla="val 50000"/>
              <a:gd name="adj2" fmla="val 25000"/>
            </a:avLst>
          </a:prstGeom>
          <a:solidFill>
            <a:schemeClr val="accent1"/>
          </a:solidFill>
          <a:ln w="12700" cap="sq">
            <a:solidFill>
              <a:schemeClr val="tx1"/>
            </a:solidFill>
            <a:miter lim="800000"/>
            <a:headEnd type="none" w="sm" len="sm"/>
            <a:tailEnd type="none" w="sm" len="sm"/>
          </a:ln>
          <a:effectLst/>
        </p:spPr>
        <p:txBody>
          <a:bodyPr wrap="none" anchor="ctr"/>
          <a:lstStyle/>
          <a:p>
            <a:pPr algn="ctr" eaLnBrk="0" hangingPunct="0">
              <a:lnSpc>
                <a:spcPct val="80000"/>
              </a:lnSpc>
              <a:spcBef>
                <a:spcPct val="20000"/>
              </a:spcBef>
              <a:defRPr/>
            </a:pPr>
            <a:endParaRPr lang="en-US">
              <a:latin typeface="+mj-lt"/>
              <a:ea typeface="+mn-ea"/>
            </a:endParaRPr>
          </a:p>
        </p:txBody>
      </p:sp>
      <p:sp>
        <p:nvSpPr>
          <p:cNvPr id="17" name="Text Box 8">
            <a:extLst>
              <a:ext uri="{FF2B5EF4-FFF2-40B4-BE49-F238E27FC236}">
                <a16:creationId xmlns:a16="http://schemas.microsoft.com/office/drawing/2014/main" id="{BE8299E6-F423-CE02-98E8-8538C1A57F2D}"/>
              </a:ext>
            </a:extLst>
          </p:cNvPr>
          <p:cNvSpPr txBox="1">
            <a:spLocks noChangeArrowheads="1"/>
          </p:cNvSpPr>
          <p:nvPr/>
        </p:nvSpPr>
        <p:spPr bwMode="auto">
          <a:xfrm>
            <a:off x="3725069" y="5646738"/>
            <a:ext cx="41719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30000"/>
              </a:spcBef>
            </a:pPr>
            <a:r>
              <a:rPr lang="en-US" altLang="en-US" sz="1800">
                <a:solidFill>
                  <a:schemeClr val="tx1"/>
                </a:solidFill>
                <a:latin typeface="Arial" panose="020B0604020202020204" pitchFamily="34" charset="0"/>
              </a:rPr>
              <a:t>Deciding what NOT to do </a:t>
            </a:r>
            <a:br>
              <a:rPr lang="en-US" altLang="en-US" sz="1800">
                <a:solidFill>
                  <a:schemeClr val="tx1"/>
                </a:solidFill>
                <a:latin typeface="Arial" panose="020B0604020202020204" pitchFamily="34" charset="0"/>
              </a:rPr>
            </a:br>
            <a:r>
              <a:rPr lang="en-US" altLang="en-US" sz="1800">
                <a:solidFill>
                  <a:schemeClr val="tx1"/>
                </a:solidFill>
                <a:latin typeface="Arial" panose="020B0604020202020204" pitchFamily="34" charset="0"/>
              </a:rPr>
              <a:t>is Harder than deciding WHAT to do!</a:t>
            </a:r>
          </a:p>
        </p:txBody>
      </p:sp>
      <p:sp>
        <p:nvSpPr>
          <p:cNvPr id="20" name="AutoShape 17">
            <a:extLst>
              <a:ext uri="{FF2B5EF4-FFF2-40B4-BE49-F238E27FC236}">
                <a16:creationId xmlns:a16="http://schemas.microsoft.com/office/drawing/2014/main" id="{F17BCB86-9E91-BDA5-B5D0-9FE10E9D1B3B}"/>
              </a:ext>
            </a:extLst>
          </p:cNvPr>
          <p:cNvSpPr>
            <a:spLocks noChangeArrowheads="1"/>
          </p:cNvSpPr>
          <p:nvPr/>
        </p:nvSpPr>
        <p:spPr bwMode="auto">
          <a:xfrm>
            <a:off x="5499894" y="1927225"/>
            <a:ext cx="3408362" cy="1238250"/>
          </a:xfrm>
          <a:prstGeom prst="curvedDownArrow">
            <a:avLst>
              <a:gd name="adj1" fmla="val 55051"/>
              <a:gd name="adj2" fmla="val 110103"/>
              <a:gd name="adj3" fmla="val 33333"/>
            </a:avLst>
          </a:prstGeom>
          <a:solidFill>
            <a:schemeClr val="accent1"/>
          </a:solidFill>
          <a:ln w="12700" cap="sq">
            <a:solidFill>
              <a:schemeClr val="tx1"/>
            </a:solidFill>
            <a:miter lim="800000"/>
            <a:headEnd type="none" w="sm" len="sm"/>
            <a:tailEnd type="none" w="sm" len="sm"/>
          </a:ln>
          <a:effectLst/>
        </p:spPr>
        <p:txBody>
          <a:bodyPr wrap="none" anchor="ctr"/>
          <a:lstStyle/>
          <a:p>
            <a:pPr algn="ctr" eaLnBrk="0" hangingPunct="0">
              <a:lnSpc>
                <a:spcPct val="80000"/>
              </a:lnSpc>
              <a:spcBef>
                <a:spcPct val="20000"/>
              </a:spcBef>
              <a:defRPr/>
            </a:pPr>
            <a:endParaRPr lang="en-US">
              <a:latin typeface="+mj-lt"/>
              <a:ea typeface="+mn-ea"/>
            </a:endParaRPr>
          </a:p>
        </p:txBody>
      </p:sp>
      <p:sp>
        <p:nvSpPr>
          <p:cNvPr id="21" name="Rectangle 18">
            <a:extLst>
              <a:ext uri="{FF2B5EF4-FFF2-40B4-BE49-F238E27FC236}">
                <a16:creationId xmlns:a16="http://schemas.microsoft.com/office/drawing/2014/main" id="{026FEBA8-5566-58F9-A6F2-E7FE7B7A09C9}"/>
              </a:ext>
            </a:extLst>
          </p:cNvPr>
          <p:cNvSpPr>
            <a:spLocks noChangeArrowheads="1"/>
          </p:cNvSpPr>
          <p:nvPr/>
        </p:nvSpPr>
        <p:spPr bwMode="auto">
          <a:xfrm>
            <a:off x="4583906" y="2486025"/>
            <a:ext cx="2795588" cy="2654300"/>
          </a:xfrm>
          <a:prstGeom prst="rect">
            <a:avLst/>
          </a:prstGeom>
          <a:solidFill>
            <a:schemeClr val="accent4"/>
          </a:solidFill>
          <a:ln w="12700" cap="sq">
            <a:solidFill>
              <a:schemeClr val="tx1"/>
            </a:solidFill>
            <a:miter lim="800000"/>
            <a:headEnd type="none" w="sm" len="sm"/>
            <a:tailEnd type="none" w="sm" len="sm"/>
          </a:ln>
          <a:effectLst/>
        </p:spPr>
        <p:txBody>
          <a:bodyPr wrap="none" anchor="ctr"/>
          <a:lstStyle/>
          <a:p>
            <a:pPr algn="ctr" eaLnBrk="0" hangingPunct="0">
              <a:lnSpc>
                <a:spcPct val="80000"/>
              </a:lnSpc>
              <a:spcBef>
                <a:spcPct val="20000"/>
              </a:spcBef>
              <a:defRPr/>
            </a:pPr>
            <a:endParaRPr lang="en-US">
              <a:latin typeface="+mj-lt"/>
              <a:ea typeface="+mn-ea"/>
            </a:endParaRPr>
          </a:p>
        </p:txBody>
      </p:sp>
      <p:sp>
        <p:nvSpPr>
          <p:cNvPr id="22" name="Text Box 21">
            <a:extLst>
              <a:ext uri="{FF2B5EF4-FFF2-40B4-BE49-F238E27FC236}">
                <a16:creationId xmlns:a16="http://schemas.microsoft.com/office/drawing/2014/main" id="{C8D31E6B-CC84-BDC2-460A-9A72F6AAEA01}"/>
              </a:ext>
            </a:extLst>
          </p:cNvPr>
          <p:cNvSpPr txBox="1">
            <a:spLocks noChangeArrowheads="1"/>
          </p:cNvSpPr>
          <p:nvPr/>
        </p:nvSpPr>
        <p:spPr bwMode="auto">
          <a:xfrm>
            <a:off x="4085431" y="4926013"/>
            <a:ext cx="538163" cy="261937"/>
          </a:xfrm>
          <a:prstGeom prst="rect">
            <a:avLst/>
          </a:prstGeom>
          <a:noFill/>
          <a:ln w="12700" cap="sq">
            <a:noFill/>
            <a:miter lim="800000"/>
            <a:headEnd type="none" w="sm" len="sm"/>
            <a:tailEnd type="none" w="sm" len="sm"/>
          </a:ln>
          <a:effectLst/>
        </p:spPr>
        <p:txBody>
          <a:bodyPr wrap="none">
            <a:spAutoFit/>
          </a:bodyPr>
          <a:lstStyle/>
          <a:p>
            <a:pPr algn="ctr" eaLnBrk="0" hangingPunct="0">
              <a:lnSpc>
                <a:spcPct val="80000"/>
              </a:lnSpc>
              <a:spcBef>
                <a:spcPct val="30000"/>
              </a:spcBef>
              <a:defRPr/>
            </a:pPr>
            <a:r>
              <a:rPr lang="en-US" sz="1400" dirty="0">
                <a:solidFill>
                  <a:schemeClr val="tx1"/>
                </a:solidFill>
                <a:latin typeface="+mj-lt"/>
                <a:ea typeface="+mn-ea"/>
              </a:rPr>
              <a:t>Low</a:t>
            </a:r>
          </a:p>
        </p:txBody>
      </p:sp>
      <p:sp>
        <p:nvSpPr>
          <p:cNvPr id="23" name="Text Box 22">
            <a:extLst>
              <a:ext uri="{FF2B5EF4-FFF2-40B4-BE49-F238E27FC236}">
                <a16:creationId xmlns:a16="http://schemas.microsoft.com/office/drawing/2014/main" id="{55395671-8AB6-6B44-2B14-BD61DA2D417F}"/>
              </a:ext>
            </a:extLst>
          </p:cNvPr>
          <p:cNvSpPr txBox="1">
            <a:spLocks noChangeArrowheads="1"/>
          </p:cNvSpPr>
          <p:nvPr/>
        </p:nvSpPr>
        <p:spPr bwMode="auto">
          <a:xfrm>
            <a:off x="4060031" y="2409825"/>
            <a:ext cx="577850" cy="261938"/>
          </a:xfrm>
          <a:prstGeom prst="rect">
            <a:avLst/>
          </a:prstGeom>
          <a:noFill/>
          <a:ln w="12700" cap="sq">
            <a:noFill/>
            <a:miter lim="800000"/>
            <a:headEnd type="none" w="sm" len="sm"/>
            <a:tailEnd type="none" w="sm" len="sm"/>
          </a:ln>
          <a:effectLst/>
        </p:spPr>
        <p:txBody>
          <a:bodyPr wrap="none">
            <a:spAutoFit/>
          </a:bodyPr>
          <a:lstStyle/>
          <a:p>
            <a:pPr algn="ctr" eaLnBrk="0" hangingPunct="0">
              <a:lnSpc>
                <a:spcPct val="80000"/>
              </a:lnSpc>
              <a:spcBef>
                <a:spcPct val="30000"/>
              </a:spcBef>
              <a:defRPr/>
            </a:pPr>
            <a:r>
              <a:rPr lang="en-US" sz="1400" dirty="0">
                <a:solidFill>
                  <a:schemeClr val="tx1"/>
                </a:solidFill>
                <a:latin typeface="+mj-lt"/>
                <a:ea typeface="+mn-ea"/>
              </a:rPr>
              <a:t>High</a:t>
            </a:r>
          </a:p>
        </p:txBody>
      </p:sp>
      <p:sp>
        <p:nvSpPr>
          <p:cNvPr id="24" name="Text Box 23">
            <a:extLst>
              <a:ext uri="{FF2B5EF4-FFF2-40B4-BE49-F238E27FC236}">
                <a16:creationId xmlns:a16="http://schemas.microsoft.com/office/drawing/2014/main" id="{A5DCF528-BE03-E64F-9695-11A5CC08FC36}"/>
              </a:ext>
            </a:extLst>
          </p:cNvPr>
          <p:cNvSpPr txBox="1">
            <a:spLocks noChangeArrowheads="1"/>
          </p:cNvSpPr>
          <p:nvPr/>
        </p:nvSpPr>
        <p:spPr bwMode="auto">
          <a:xfrm>
            <a:off x="7163594" y="5138738"/>
            <a:ext cx="577850" cy="261937"/>
          </a:xfrm>
          <a:prstGeom prst="rect">
            <a:avLst/>
          </a:prstGeom>
          <a:noFill/>
          <a:ln w="12700" cap="sq">
            <a:noFill/>
            <a:miter lim="800000"/>
            <a:headEnd type="none" w="sm" len="sm"/>
            <a:tailEnd type="none" w="sm" len="sm"/>
          </a:ln>
          <a:effectLst/>
        </p:spPr>
        <p:txBody>
          <a:bodyPr wrap="none">
            <a:spAutoFit/>
          </a:bodyPr>
          <a:lstStyle/>
          <a:p>
            <a:pPr algn="ctr" eaLnBrk="0" hangingPunct="0">
              <a:lnSpc>
                <a:spcPct val="80000"/>
              </a:lnSpc>
              <a:spcBef>
                <a:spcPct val="30000"/>
              </a:spcBef>
              <a:defRPr/>
            </a:pPr>
            <a:r>
              <a:rPr lang="en-US" sz="1400" dirty="0">
                <a:solidFill>
                  <a:schemeClr val="tx1"/>
                </a:solidFill>
                <a:latin typeface="+mj-lt"/>
                <a:ea typeface="+mn-ea"/>
              </a:rPr>
              <a:t>High</a:t>
            </a:r>
          </a:p>
        </p:txBody>
      </p:sp>
      <p:sp>
        <p:nvSpPr>
          <p:cNvPr id="25" name="Text Box 24">
            <a:extLst>
              <a:ext uri="{FF2B5EF4-FFF2-40B4-BE49-F238E27FC236}">
                <a16:creationId xmlns:a16="http://schemas.microsoft.com/office/drawing/2014/main" id="{E6F34FDA-9C94-C796-591A-A822473A6A66}"/>
              </a:ext>
            </a:extLst>
          </p:cNvPr>
          <p:cNvSpPr txBox="1">
            <a:spLocks noChangeArrowheads="1"/>
          </p:cNvSpPr>
          <p:nvPr/>
        </p:nvSpPr>
        <p:spPr bwMode="auto">
          <a:xfrm>
            <a:off x="5234781" y="5130800"/>
            <a:ext cx="1555750" cy="288925"/>
          </a:xfrm>
          <a:prstGeom prst="rect">
            <a:avLst/>
          </a:prstGeom>
          <a:noFill/>
          <a:ln w="12700" cap="sq">
            <a:noFill/>
            <a:miter lim="800000"/>
            <a:headEnd type="none" w="sm" len="sm"/>
            <a:tailEnd type="none" w="sm" len="sm"/>
          </a:ln>
          <a:effectLst/>
        </p:spPr>
        <p:txBody>
          <a:bodyPr wrap="none">
            <a:spAutoFit/>
          </a:bodyPr>
          <a:lstStyle/>
          <a:p>
            <a:pPr algn="ctr" eaLnBrk="0" hangingPunct="0">
              <a:lnSpc>
                <a:spcPct val="80000"/>
              </a:lnSpc>
              <a:spcBef>
                <a:spcPct val="30000"/>
              </a:spcBef>
              <a:defRPr/>
            </a:pPr>
            <a:r>
              <a:rPr lang="en-US" sz="1600" dirty="0">
                <a:solidFill>
                  <a:schemeClr val="tx1"/>
                </a:solidFill>
                <a:latin typeface="+mj-lt"/>
                <a:ea typeface="+mn-ea"/>
              </a:rPr>
              <a:t>Impact / Value</a:t>
            </a:r>
          </a:p>
        </p:txBody>
      </p:sp>
      <p:sp>
        <p:nvSpPr>
          <p:cNvPr id="26" name="Text Box 25">
            <a:extLst>
              <a:ext uri="{FF2B5EF4-FFF2-40B4-BE49-F238E27FC236}">
                <a16:creationId xmlns:a16="http://schemas.microsoft.com/office/drawing/2014/main" id="{F6DA278A-77A2-EF95-4D74-70A767ECE999}"/>
              </a:ext>
            </a:extLst>
          </p:cNvPr>
          <p:cNvSpPr txBox="1">
            <a:spLocks noChangeArrowheads="1"/>
          </p:cNvSpPr>
          <p:nvPr/>
        </p:nvSpPr>
        <p:spPr bwMode="auto">
          <a:xfrm flipV="1">
            <a:off x="4272756" y="3171825"/>
            <a:ext cx="381000" cy="1436688"/>
          </a:xfrm>
          <a:prstGeom prst="rect">
            <a:avLst/>
          </a:prstGeom>
          <a:noFill/>
          <a:ln w="12700" cap="sq">
            <a:noFill/>
            <a:miter lim="800000"/>
            <a:headEnd type="none" w="sm" len="sm"/>
            <a:tailEnd type="none" w="sm" len="sm"/>
          </a:ln>
          <a:effectLst/>
        </p:spPr>
        <p:txBody>
          <a:bodyPr vert="eaVert">
            <a:spAutoFit/>
          </a:bodyPr>
          <a:lstStyle/>
          <a:p>
            <a:pPr algn="ctr" eaLnBrk="0" hangingPunct="0">
              <a:lnSpc>
                <a:spcPct val="80000"/>
              </a:lnSpc>
              <a:spcBef>
                <a:spcPct val="30000"/>
              </a:spcBef>
              <a:defRPr/>
            </a:pPr>
            <a:r>
              <a:rPr lang="en-US" sz="1600" dirty="0">
                <a:solidFill>
                  <a:schemeClr val="tx1"/>
                </a:solidFill>
                <a:latin typeface="+mj-lt"/>
                <a:ea typeface="+mn-ea"/>
              </a:rPr>
              <a:t>Complexity</a:t>
            </a:r>
          </a:p>
        </p:txBody>
      </p:sp>
      <p:sp>
        <p:nvSpPr>
          <p:cNvPr id="27" name="Rectangle 27">
            <a:extLst>
              <a:ext uri="{FF2B5EF4-FFF2-40B4-BE49-F238E27FC236}">
                <a16:creationId xmlns:a16="http://schemas.microsoft.com/office/drawing/2014/main" id="{8981D79B-4FDA-2F4F-874D-8B1409629DCB}"/>
              </a:ext>
            </a:extLst>
          </p:cNvPr>
          <p:cNvSpPr>
            <a:spLocks noChangeArrowheads="1"/>
          </p:cNvSpPr>
          <p:nvPr/>
        </p:nvSpPr>
        <p:spPr bwMode="auto">
          <a:xfrm>
            <a:off x="6034881" y="4246563"/>
            <a:ext cx="1325563" cy="246062"/>
          </a:xfrm>
          <a:prstGeom prst="rect">
            <a:avLst/>
          </a:prstGeom>
          <a:noFill/>
          <a:ln>
            <a:noFill/>
          </a:ln>
        </p:spPr>
        <p:txBody>
          <a:bodyPr lIns="90488" tIns="44450" rIns="90488" bIns="44450" anchor="b"/>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ja-JP" altLang="en-US" sz="1200" dirty="0">
                <a:latin typeface="+mn-lt"/>
              </a:rPr>
              <a:t>“</a:t>
            </a:r>
            <a:r>
              <a:rPr lang="en-US" altLang="ja-JP" sz="1200" dirty="0">
                <a:latin typeface="+mn-lt"/>
              </a:rPr>
              <a:t>Just Do it</a:t>
            </a:r>
            <a:r>
              <a:rPr lang="ja-JP" altLang="en-US" sz="1200" dirty="0">
                <a:latin typeface="+mn-lt"/>
              </a:rPr>
              <a:t>”</a:t>
            </a:r>
            <a:endParaRPr lang="en-US" altLang="en-US" sz="1200" dirty="0">
              <a:latin typeface="+mn-lt"/>
            </a:endParaRPr>
          </a:p>
        </p:txBody>
      </p:sp>
      <p:sp>
        <p:nvSpPr>
          <p:cNvPr id="28" name="Rectangle 28">
            <a:extLst>
              <a:ext uri="{FF2B5EF4-FFF2-40B4-BE49-F238E27FC236}">
                <a16:creationId xmlns:a16="http://schemas.microsoft.com/office/drawing/2014/main" id="{75901AEA-2AFD-39C7-0E97-7E7FD02F3412}"/>
              </a:ext>
            </a:extLst>
          </p:cNvPr>
          <p:cNvSpPr>
            <a:spLocks noChangeArrowheads="1"/>
          </p:cNvSpPr>
          <p:nvPr/>
        </p:nvSpPr>
        <p:spPr bwMode="auto">
          <a:xfrm>
            <a:off x="4488656" y="4424363"/>
            <a:ext cx="1658938"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ja-JP" altLang="en-US" sz="1200">
                <a:latin typeface="+mn-lt"/>
              </a:rPr>
              <a:t>“</a:t>
            </a:r>
            <a:r>
              <a:rPr lang="en-US" altLang="ja-JP" sz="1200">
                <a:latin typeface="+mn-lt"/>
              </a:rPr>
              <a:t>Business Fundamentals</a:t>
            </a:r>
            <a:r>
              <a:rPr lang="ja-JP" altLang="en-US" sz="1200">
                <a:latin typeface="+mn-lt"/>
              </a:rPr>
              <a:t>”</a:t>
            </a:r>
            <a:endParaRPr lang="en-US" altLang="en-US" sz="1200">
              <a:latin typeface="+mn-lt"/>
            </a:endParaRPr>
          </a:p>
        </p:txBody>
      </p:sp>
      <p:sp>
        <p:nvSpPr>
          <p:cNvPr id="29" name="Text Box 29">
            <a:extLst>
              <a:ext uri="{FF2B5EF4-FFF2-40B4-BE49-F238E27FC236}">
                <a16:creationId xmlns:a16="http://schemas.microsoft.com/office/drawing/2014/main" id="{408F50DF-7C21-A29E-EFA8-1A9791C1CD33}"/>
              </a:ext>
            </a:extLst>
          </p:cNvPr>
          <p:cNvSpPr txBox="1">
            <a:spLocks noChangeArrowheads="1"/>
          </p:cNvSpPr>
          <p:nvPr/>
        </p:nvSpPr>
        <p:spPr bwMode="auto">
          <a:xfrm>
            <a:off x="6033294" y="3124200"/>
            <a:ext cx="13668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ja-JP" altLang="en-US" sz="1200">
                <a:latin typeface="+mn-lt"/>
              </a:rPr>
              <a:t>“</a:t>
            </a:r>
            <a:r>
              <a:rPr lang="en-US" altLang="ja-JP" sz="1200">
                <a:latin typeface="+mn-lt"/>
              </a:rPr>
              <a:t>Breakthrough</a:t>
            </a:r>
            <a:r>
              <a:rPr lang="ja-JP" altLang="en-US" sz="1200">
                <a:latin typeface="+mn-lt"/>
              </a:rPr>
              <a:t>”</a:t>
            </a:r>
            <a:endParaRPr lang="en-US" altLang="en-US" sz="1200">
              <a:latin typeface="+mn-lt"/>
            </a:endParaRPr>
          </a:p>
        </p:txBody>
      </p:sp>
      <p:sp>
        <p:nvSpPr>
          <p:cNvPr id="30" name="Text Box 30">
            <a:extLst>
              <a:ext uri="{FF2B5EF4-FFF2-40B4-BE49-F238E27FC236}">
                <a16:creationId xmlns:a16="http://schemas.microsoft.com/office/drawing/2014/main" id="{69544A96-8A01-4B86-E807-9C7AC0A15C31}"/>
              </a:ext>
            </a:extLst>
          </p:cNvPr>
          <p:cNvSpPr txBox="1">
            <a:spLocks noChangeArrowheads="1"/>
          </p:cNvSpPr>
          <p:nvPr/>
        </p:nvSpPr>
        <p:spPr bwMode="auto">
          <a:xfrm>
            <a:off x="4739389" y="3111500"/>
            <a:ext cx="1135246" cy="24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ja-JP" altLang="en-US" sz="1200" dirty="0">
                <a:latin typeface="+mn-lt"/>
              </a:rPr>
              <a:t>“</a:t>
            </a:r>
            <a:r>
              <a:rPr lang="en-US" altLang="ja-JP" sz="1200" dirty="0">
                <a:latin typeface="+mn-lt"/>
              </a:rPr>
              <a:t>Backburner</a:t>
            </a:r>
            <a:r>
              <a:rPr lang="ja-JP" altLang="en-US" sz="1200" dirty="0">
                <a:latin typeface="+mn-lt"/>
              </a:rPr>
              <a:t>”</a:t>
            </a:r>
            <a:endParaRPr lang="en-US" altLang="en-US" sz="1200" dirty="0">
              <a:latin typeface="+mn-lt"/>
            </a:endParaRPr>
          </a:p>
        </p:txBody>
      </p:sp>
      <p:sp>
        <p:nvSpPr>
          <p:cNvPr id="31" name="Line 51">
            <a:extLst>
              <a:ext uri="{FF2B5EF4-FFF2-40B4-BE49-F238E27FC236}">
                <a16:creationId xmlns:a16="http://schemas.microsoft.com/office/drawing/2014/main" id="{7AB06DC8-C461-E8A0-C14C-8F6C196E7342}"/>
              </a:ext>
            </a:extLst>
          </p:cNvPr>
          <p:cNvSpPr>
            <a:spLocks noChangeShapeType="1"/>
          </p:cNvSpPr>
          <p:nvPr/>
        </p:nvSpPr>
        <p:spPr bwMode="auto">
          <a:xfrm>
            <a:off x="4593431" y="3829050"/>
            <a:ext cx="2822575"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52">
            <a:extLst>
              <a:ext uri="{FF2B5EF4-FFF2-40B4-BE49-F238E27FC236}">
                <a16:creationId xmlns:a16="http://schemas.microsoft.com/office/drawing/2014/main" id="{B661A78D-4014-E541-E5CE-2572F9DBB2B0}"/>
              </a:ext>
            </a:extLst>
          </p:cNvPr>
          <p:cNvSpPr>
            <a:spLocks noChangeShapeType="1"/>
          </p:cNvSpPr>
          <p:nvPr/>
        </p:nvSpPr>
        <p:spPr bwMode="auto">
          <a:xfrm>
            <a:off x="6004719" y="2482850"/>
            <a:ext cx="0" cy="267811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Text Box 21">
            <a:extLst>
              <a:ext uri="{FF2B5EF4-FFF2-40B4-BE49-F238E27FC236}">
                <a16:creationId xmlns:a16="http://schemas.microsoft.com/office/drawing/2014/main" id="{4209D858-F665-80EA-40AA-350132D7B0CA}"/>
              </a:ext>
            </a:extLst>
          </p:cNvPr>
          <p:cNvSpPr txBox="1">
            <a:spLocks noChangeArrowheads="1"/>
          </p:cNvSpPr>
          <p:nvPr/>
        </p:nvSpPr>
        <p:spPr bwMode="auto">
          <a:xfrm>
            <a:off x="4495006" y="5159375"/>
            <a:ext cx="538163" cy="261938"/>
          </a:xfrm>
          <a:prstGeom prst="rect">
            <a:avLst/>
          </a:prstGeom>
          <a:noFill/>
          <a:ln w="12700" cap="sq">
            <a:noFill/>
            <a:miter lim="800000"/>
            <a:headEnd type="none" w="sm" len="sm"/>
            <a:tailEnd type="none" w="sm" len="sm"/>
          </a:ln>
          <a:effectLst/>
        </p:spPr>
        <p:txBody>
          <a:bodyPr wrap="none">
            <a:spAutoFit/>
          </a:bodyPr>
          <a:lstStyle/>
          <a:p>
            <a:pPr algn="ctr" eaLnBrk="0" hangingPunct="0">
              <a:lnSpc>
                <a:spcPct val="80000"/>
              </a:lnSpc>
              <a:spcBef>
                <a:spcPct val="30000"/>
              </a:spcBef>
              <a:defRPr/>
            </a:pPr>
            <a:r>
              <a:rPr lang="en-US" sz="1400" dirty="0">
                <a:solidFill>
                  <a:schemeClr val="tx1"/>
                </a:solidFill>
                <a:latin typeface="+mj-lt"/>
                <a:ea typeface="+mn-ea"/>
              </a:rPr>
              <a:t>Low</a:t>
            </a:r>
          </a:p>
        </p:txBody>
      </p:sp>
      <p:sp>
        <p:nvSpPr>
          <p:cNvPr id="34" name="TextBox 33">
            <a:extLst>
              <a:ext uri="{FF2B5EF4-FFF2-40B4-BE49-F238E27FC236}">
                <a16:creationId xmlns:a16="http://schemas.microsoft.com/office/drawing/2014/main" id="{25F2431B-E2A7-7289-20F3-AAE4BCAE28A1}"/>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Tree>
    <p:custDataLst>
      <p:tags r:id="rId1"/>
    </p:custDataLst>
    <p:extLst>
      <p:ext uri="{BB962C8B-B14F-4D97-AF65-F5344CB8AC3E}">
        <p14:creationId xmlns:p14="http://schemas.microsoft.com/office/powerpoint/2010/main" val="2200998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A5B0-9F39-D7F1-BE37-8A1201461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75B3F-6CFD-E3B3-8143-6CF0D1DF893F}"/>
              </a:ext>
            </a:extLst>
          </p:cNvPr>
          <p:cNvSpPr>
            <a:spLocks noGrp="1"/>
          </p:cNvSpPr>
          <p:nvPr>
            <p:ph type="title"/>
          </p:nvPr>
        </p:nvSpPr>
        <p:spPr/>
        <p:txBody>
          <a:bodyPr/>
          <a:lstStyle/>
          <a:p>
            <a:r>
              <a:rPr lang="en-US" dirty="0"/>
              <a:t>AIP Checklist</a:t>
            </a:r>
          </a:p>
        </p:txBody>
      </p:sp>
      <p:sp>
        <p:nvSpPr>
          <p:cNvPr id="3" name="Content Placeholder 2">
            <a:extLst>
              <a:ext uri="{FF2B5EF4-FFF2-40B4-BE49-F238E27FC236}">
                <a16:creationId xmlns:a16="http://schemas.microsoft.com/office/drawing/2014/main" id="{EBAE483B-8152-052E-14F0-5087D6112DD8}"/>
              </a:ext>
            </a:extLst>
          </p:cNvPr>
          <p:cNvSpPr>
            <a:spLocks noGrp="1"/>
          </p:cNvSpPr>
          <p:nvPr>
            <p:ph idx="1"/>
          </p:nvPr>
        </p:nvSpPr>
        <p:spPr/>
        <p:txBody>
          <a:bodyPr>
            <a:normAutofit fontScale="70000" lnSpcReduction="20000"/>
          </a:bodyPr>
          <a:lstStyle/>
          <a:p>
            <a:pPr>
              <a:lnSpc>
                <a:spcPct val="145000"/>
              </a:lnSpc>
              <a:buFont typeface="Wingdings" panose="05000000000000000000" pitchFamily="2" charset="2"/>
              <a:buNone/>
            </a:pPr>
            <a:r>
              <a:rPr lang="en-US" altLang="en-US" b="1" dirty="0"/>
              <a:t>Are the Annual Improvement Priorities…</a:t>
            </a:r>
          </a:p>
          <a:p>
            <a:pPr indent="-457200">
              <a:lnSpc>
                <a:spcPct val="145000"/>
              </a:lnSpc>
              <a:spcBef>
                <a:spcPts val="60"/>
              </a:spcBef>
              <a:spcAft>
                <a:spcPts val="60"/>
              </a:spcAft>
              <a:buSzPct val="125000"/>
              <a:buFont typeface="Wingdings" panose="05000000000000000000" pitchFamily="2" charset="2"/>
              <a:buChar char="þ"/>
            </a:pPr>
            <a:r>
              <a:rPr lang="en-US" altLang="en-US" b="1" dirty="0"/>
              <a:t>Tied to the established Breakthrough Objectives?</a:t>
            </a:r>
          </a:p>
          <a:p>
            <a:pPr indent="-457200">
              <a:lnSpc>
                <a:spcPct val="145000"/>
              </a:lnSpc>
              <a:spcBef>
                <a:spcPts val="60"/>
              </a:spcBef>
              <a:spcAft>
                <a:spcPts val="60"/>
              </a:spcAft>
              <a:buSzPct val="125000"/>
              <a:buFont typeface="Wingdings" panose="05000000000000000000" pitchFamily="2" charset="2"/>
              <a:buChar char="þ"/>
            </a:pPr>
            <a:r>
              <a:rPr lang="en-US" altLang="en-US" b="1" dirty="0"/>
              <a:t>Supporting opportunities listed in the SWOT analysis?</a:t>
            </a:r>
          </a:p>
          <a:p>
            <a:pPr indent="-457200">
              <a:lnSpc>
                <a:spcPct val="145000"/>
              </a:lnSpc>
              <a:spcBef>
                <a:spcPts val="60"/>
              </a:spcBef>
              <a:spcAft>
                <a:spcPts val="60"/>
              </a:spcAft>
              <a:buSzPct val="125000"/>
              <a:buFont typeface="Wingdings" panose="05000000000000000000" pitchFamily="2" charset="2"/>
              <a:buChar char="þ"/>
            </a:pPr>
            <a:r>
              <a:rPr lang="en-US" altLang="en-US" b="1" dirty="0"/>
              <a:t>Process-focused?</a:t>
            </a:r>
          </a:p>
          <a:p>
            <a:pPr indent="-457200">
              <a:lnSpc>
                <a:spcPct val="145000"/>
              </a:lnSpc>
              <a:spcBef>
                <a:spcPts val="60"/>
              </a:spcBef>
              <a:spcAft>
                <a:spcPts val="60"/>
              </a:spcAft>
              <a:buSzPct val="125000"/>
              <a:buFont typeface="Wingdings" panose="05000000000000000000" pitchFamily="2" charset="2"/>
              <a:buChar char="þ"/>
            </a:pPr>
            <a:r>
              <a:rPr lang="en-US" altLang="en-US" b="1" dirty="0"/>
              <a:t>Customer-focused?</a:t>
            </a:r>
          </a:p>
          <a:p>
            <a:pPr indent="-457200">
              <a:lnSpc>
                <a:spcPct val="145000"/>
              </a:lnSpc>
              <a:spcBef>
                <a:spcPts val="60"/>
              </a:spcBef>
              <a:spcAft>
                <a:spcPts val="60"/>
              </a:spcAft>
              <a:buSzPct val="125000"/>
              <a:buFont typeface="Wingdings" panose="05000000000000000000" pitchFamily="2" charset="2"/>
              <a:buChar char="þ"/>
            </a:pPr>
            <a:r>
              <a:rPr lang="en-US" altLang="en-US" b="1" dirty="0"/>
              <a:t>Measurable?</a:t>
            </a:r>
          </a:p>
          <a:p>
            <a:pPr indent="-457200">
              <a:lnSpc>
                <a:spcPct val="145000"/>
              </a:lnSpc>
              <a:spcBef>
                <a:spcPts val="60"/>
              </a:spcBef>
              <a:spcAft>
                <a:spcPts val="60"/>
              </a:spcAft>
              <a:buSzPct val="125000"/>
              <a:buFont typeface="Wingdings" panose="05000000000000000000" pitchFamily="2" charset="2"/>
              <a:buChar char="þ"/>
            </a:pPr>
            <a:r>
              <a:rPr lang="en-US" altLang="en-US" b="1" dirty="0"/>
              <a:t>Enlisting cross-functional involvement?</a:t>
            </a:r>
          </a:p>
          <a:p>
            <a:pPr indent="-457200">
              <a:lnSpc>
                <a:spcPct val="145000"/>
              </a:lnSpc>
              <a:spcBef>
                <a:spcPts val="60"/>
              </a:spcBef>
              <a:spcAft>
                <a:spcPts val="60"/>
              </a:spcAft>
              <a:buSzPct val="125000"/>
              <a:buFont typeface="Wingdings" panose="05000000000000000000" pitchFamily="2" charset="2"/>
              <a:buChar char="þ"/>
            </a:pPr>
            <a:r>
              <a:rPr lang="en-US" altLang="en-US" b="1" dirty="0"/>
              <a:t>Representing significant improvements?</a:t>
            </a:r>
          </a:p>
          <a:p>
            <a:pPr indent="-457200">
              <a:lnSpc>
                <a:spcPct val="145000"/>
              </a:lnSpc>
              <a:spcBef>
                <a:spcPts val="60"/>
              </a:spcBef>
              <a:spcAft>
                <a:spcPts val="60"/>
              </a:spcAft>
              <a:buSzPct val="125000"/>
              <a:buFont typeface="Wingdings" panose="05000000000000000000" pitchFamily="2" charset="2"/>
              <a:buChar char="þ"/>
            </a:pPr>
            <a:r>
              <a:rPr lang="en-US" altLang="en-US" b="1" dirty="0"/>
              <a:t>Resulting in a new system or new way of doing business? </a:t>
            </a:r>
          </a:p>
          <a:p>
            <a:pPr indent="-457200">
              <a:lnSpc>
                <a:spcPct val="145000"/>
              </a:lnSpc>
              <a:spcBef>
                <a:spcPts val="60"/>
              </a:spcBef>
              <a:spcAft>
                <a:spcPts val="60"/>
              </a:spcAft>
              <a:buSzPct val="125000"/>
              <a:buFont typeface="Wingdings" panose="05000000000000000000" pitchFamily="2" charset="2"/>
              <a:buChar char="þ"/>
            </a:pPr>
            <a:r>
              <a:rPr lang="en-US" altLang="en-US" b="1" dirty="0"/>
              <a:t>Not already learned? (Do we already know how to do it?)</a:t>
            </a:r>
          </a:p>
        </p:txBody>
      </p:sp>
      <p:grpSp>
        <p:nvGrpSpPr>
          <p:cNvPr id="4" name="Group 3">
            <a:extLst>
              <a:ext uri="{FF2B5EF4-FFF2-40B4-BE49-F238E27FC236}">
                <a16:creationId xmlns:a16="http://schemas.microsoft.com/office/drawing/2014/main" id="{72BB9ACC-9443-407A-8B06-0C887246B60F}"/>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F5B9D2E7-5A9E-07B4-65B3-A1670F47515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33550BD6-A426-6535-A0C4-50960454994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85774BD4-F46F-696C-57BC-007811451AC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1">
              <a:extLst>
                <a:ext uri="{FF2B5EF4-FFF2-40B4-BE49-F238E27FC236}">
                  <a16:creationId xmlns:a16="http://schemas.microsoft.com/office/drawing/2014/main" id="{0BB4D550-6993-52F2-A25F-23A11605954D}"/>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1F39619B-1552-71EE-7E6E-EE4E9032913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Tree>
    <p:custDataLst>
      <p:tags r:id="rId1"/>
    </p:custDataLst>
    <p:extLst>
      <p:ext uri="{BB962C8B-B14F-4D97-AF65-F5344CB8AC3E}">
        <p14:creationId xmlns:p14="http://schemas.microsoft.com/office/powerpoint/2010/main" val="13451389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95F8A-1B14-ABF6-1F38-71CE36D94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818A7-0B1F-315A-0564-AB19ABA10F42}"/>
              </a:ext>
            </a:extLst>
          </p:cNvPr>
          <p:cNvSpPr>
            <a:spLocks noGrp="1"/>
          </p:cNvSpPr>
          <p:nvPr>
            <p:ph type="title"/>
          </p:nvPr>
        </p:nvSpPr>
        <p:spPr/>
        <p:txBody>
          <a:bodyPr>
            <a:noAutofit/>
          </a:bodyPr>
          <a:lstStyle/>
          <a:p>
            <a:r>
              <a:rPr lang="en-US" sz="3600" dirty="0"/>
              <a:t>Use Affinity Process as shown in earlier slides - Ground Rules for AIPs</a:t>
            </a:r>
          </a:p>
        </p:txBody>
      </p:sp>
      <p:sp>
        <p:nvSpPr>
          <p:cNvPr id="3" name="Content Placeholder 2">
            <a:extLst>
              <a:ext uri="{FF2B5EF4-FFF2-40B4-BE49-F238E27FC236}">
                <a16:creationId xmlns:a16="http://schemas.microsoft.com/office/drawing/2014/main" id="{2595306C-D0ED-7147-454D-D6D13D74A8FB}"/>
              </a:ext>
            </a:extLst>
          </p:cNvPr>
          <p:cNvSpPr>
            <a:spLocks noGrp="1"/>
          </p:cNvSpPr>
          <p:nvPr>
            <p:ph idx="1"/>
          </p:nvPr>
        </p:nvSpPr>
        <p:spPr/>
        <p:txBody>
          <a:bodyPr>
            <a:normAutofit lnSpcReduction="10000"/>
          </a:bodyPr>
          <a:lstStyle/>
          <a:p>
            <a:pPr>
              <a:lnSpc>
                <a:spcPct val="115000"/>
              </a:lnSpc>
              <a:spcBef>
                <a:spcPct val="50000"/>
              </a:spcBef>
              <a:spcAft>
                <a:spcPct val="50000"/>
              </a:spcAft>
              <a:buSzPct val="125000"/>
            </a:pPr>
            <a:r>
              <a:rPr lang="en-US" altLang="en-US" sz="1600" dirty="0">
                <a:latin typeface="Arial" panose="020B0604020202020204" pitchFamily="34" charset="0"/>
              </a:rPr>
              <a:t>Silent brainstorming…no discussion during Post-it writing exercise</a:t>
            </a:r>
          </a:p>
          <a:p>
            <a:pPr>
              <a:lnSpc>
                <a:spcPct val="115000"/>
              </a:lnSpc>
              <a:spcBef>
                <a:spcPct val="50000"/>
              </a:spcBef>
              <a:spcAft>
                <a:spcPct val="50000"/>
              </a:spcAft>
              <a:buSzPct val="125000"/>
            </a:pPr>
            <a:r>
              <a:rPr lang="en-US" altLang="en-US" sz="1600" dirty="0">
                <a:latin typeface="Arial" panose="020B0604020202020204" pitchFamily="34" charset="0"/>
              </a:rPr>
              <a:t>At least 2 quality AIP Post-its per AIP</a:t>
            </a:r>
          </a:p>
          <a:p>
            <a:pPr>
              <a:lnSpc>
                <a:spcPct val="115000"/>
              </a:lnSpc>
              <a:spcBef>
                <a:spcPct val="50000"/>
              </a:spcBef>
              <a:spcAft>
                <a:spcPct val="50000"/>
              </a:spcAft>
              <a:buSzPct val="125000"/>
            </a:pPr>
            <a:r>
              <a:rPr lang="en-US" altLang="en-US" sz="1600" dirty="0">
                <a:latin typeface="Arial" panose="020B0604020202020204" pitchFamily="34" charset="0"/>
              </a:rPr>
              <a:t>Everyone</a:t>
            </a:r>
            <a:r>
              <a:rPr lang="ja-JP" altLang="en-US" sz="1600" dirty="0">
                <a:latin typeface="Arial" panose="020B0604020202020204" pitchFamily="34" charset="0"/>
              </a:rPr>
              <a:t>’</a:t>
            </a:r>
            <a:r>
              <a:rPr lang="en-US" altLang="ja-JP" sz="1600" dirty="0">
                <a:latin typeface="Arial" panose="020B0604020202020204" pitchFamily="34" charset="0"/>
              </a:rPr>
              <a:t>s ideas are treated equally</a:t>
            </a:r>
          </a:p>
          <a:p>
            <a:pPr>
              <a:lnSpc>
                <a:spcPct val="115000"/>
              </a:lnSpc>
              <a:spcBef>
                <a:spcPct val="50000"/>
              </a:spcBef>
              <a:spcAft>
                <a:spcPct val="50000"/>
              </a:spcAft>
              <a:buSzPct val="125000"/>
            </a:pPr>
            <a:r>
              <a:rPr lang="en-US" altLang="en-US" sz="1600" dirty="0">
                <a:latin typeface="Arial" panose="020B0604020202020204" pitchFamily="34" charset="0"/>
              </a:rPr>
              <a:t>One idea (AIP) per Post-it</a:t>
            </a:r>
          </a:p>
          <a:p>
            <a:pPr>
              <a:lnSpc>
                <a:spcPct val="115000"/>
              </a:lnSpc>
              <a:spcBef>
                <a:spcPct val="50000"/>
              </a:spcBef>
              <a:spcAft>
                <a:spcPct val="50000"/>
              </a:spcAft>
              <a:buSzPct val="125000"/>
            </a:pPr>
            <a:r>
              <a:rPr lang="en-US" altLang="en-US" sz="1600" dirty="0">
                <a:latin typeface="Arial" panose="020B0604020202020204" pitchFamily="34" charset="0"/>
              </a:rPr>
              <a:t>Write name on the top of Post-it</a:t>
            </a:r>
          </a:p>
          <a:p>
            <a:pPr>
              <a:lnSpc>
                <a:spcPct val="115000"/>
              </a:lnSpc>
              <a:spcBef>
                <a:spcPct val="50000"/>
              </a:spcBef>
              <a:spcAft>
                <a:spcPct val="50000"/>
              </a:spcAft>
              <a:buSzPct val="125000"/>
            </a:pPr>
            <a:r>
              <a:rPr lang="en-US" altLang="en-US" sz="1600" dirty="0">
                <a:latin typeface="Arial" panose="020B0604020202020204" pitchFamily="34" charset="0"/>
              </a:rPr>
              <a:t>Be clear; state the AIP in the form of a process:</a:t>
            </a:r>
          </a:p>
          <a:p>
            <a:pPr lvl="1">
              <a:lnSpc>
                <a:spcPct val="115000"/>
              </a:lnSpc>
              <a:spcBef>
                <a:spcPct val="50000"/>
              </a:spcBef>
              <a:spcAft>
                <a:spcPct val="50000"/>
              </a:spcAft>
              <a:buSzPct val="125000"/>
            </a:pPr>
            <a:r>
              <a:rPr lang="en-US" altLang="en-US" sz="1400" dirty="0">
                <a:latin typeface="Arial" panose="020B0604020202020204" pitchFamily="34" charset="0"/>
              </a:rPr>
              <a:t>Wrong: Improve Material Costs </a:t>
            </a:r>
          </a:p>
          <a:p>
            <a:pPr lvl="1">
              <a:lnSpc>
                <a:spcPct val="115000"/>
              </a:lnSpc>
              <a:spcBef>
                <a:spcPct val="50000"/>
              </a:spcBef>
              <a:spcAft>
                <a:spcPct val="50000"/>
              </a:spcAft>
              <a:buSzPct val="125000"/>
            </a:pPr>
            <a:r>
              <a:rPr lang="en-US" altLang="en-US" sz="1400" dirty="0">
                <a:latin typeface="Arial" panose="020B0604020202020204" pitchFamily="34" charset="0"/>
              </a:rPr>
              <a:t>Right: Implement new and/or optimize existing Supplier Certification Processes</a:t>
            </a:r>
          </a:p>
          <a:p>
            <a:pPr>
              <a:lnSpc>
                <a:spcPct val="115000"/>
              </a:lnSpc>
              <a:spcBef>
                <a:spcPct val="50000"/>
              </a:spcBef>
              <a:spcAft>
                <a:spcPct val="50000"/>
              </a:spcAft>
              <a:buSzPct val="125000"/>
            </a:pPr>
            <a:r>
              <a:rPr lang="en-US" altLang="en-US" sz="1600" dirty="0">
                <a:latin typeface="Arial" panose="020B0604020202020204" pitchFamily="34" charset="0"/>
              </a:rPr>
              <a:t>Focus on the critical few ideas based on the Breakthrough Objectives</a:t>
            </a:r>
          </a:p>
        </p:txBody>
      </p:sp>
      <p:grpSp>
        <p:nvGrpSpPr>
          <p:cNvPr id="4" name="Group 3">
            <a:extLst>
              <a:ext uri="{FF2B5EF4-FFF2-40B4-BE49-F238E27FC236}">
                <a16:creationId xmlns:a16="http://schemas.microsoft.com/office/drawing/2014/main" id="{872E8D78-7D83-8574-A2A8-24931115411D}"/>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4BC8B42F-1881-0392-B1F6-8C9FE99DE38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BF8B8368-4A5D-8B0B-739C-82138850AC0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C90B4E0C-0C25-91DE-A5CC-1CAADD54EAB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1">
              <a:extLst>
                <a:ext uri="{FF2B5EF4-FFF2-40B4-BE49-F238E27FC236}">
                  <a16:creationId xmlns:a16="http://schemas.microsoft.com/office/drawing/2014/main" id="{72D7FF23-EE71-C3E7-0882-0DA5896F7DFA}"/>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1683AF22-E011-93E2-0795-7F5DCE6EC018}"/>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Tree>
    <p:custDataLst>
      <p:tags r:id="rId1"/>
    </p:custDataLst>
    <p:extLst>
      <p:ext uri="{BB962C8B-B14F-4D97-AF65-F5344CB8AC3E}">
        <p14:creationId xmlns:p14="http://schemas.microsoft.com/office/powerpoint/2010/main" val="1999077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219D-FB05-6A6C-BBD0-4F9E95592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A0213-4AFC-5662-131A-77A023094E1B}"/>
              </a:ext>
            </a:extLst>
          </p:cNvPr>
          <p:cNvSpPr>
            <a:spLocks noGrp="1"/>
          </p:cNvSpPr>
          <p:nvPr>
            <p:ph type="title"/>
          </p:nvPr>
        </p:nvSpPr>
        <p:spPr/>
        <p:txBody>
          <a:bodyPr>
            <a:normAutofit/>
          </a:bodyPr>
          <a:lstStyle/>
          <a:p>
            <a:r>
              <a:rPr lang="en-US" sz="4000" dirty="0">
                <a:latin typeface="Roboto Medium"/>
                <a:ea typeface="Roboto Medium"/>
                <a:cs typeface="Roboto Medium"/>
              </a:rPr>
              <a:t>Exercise: Alpha Beta Case Study</a:t>
            </a:r>
          </a:p>
        </p:txBody>
      </p:sp>
      <p:sp>
        <p:nvSpPr>
          <p:cNvPr id="11" name="Rectangle 10">
            <a:extLst>
              <a:ext uri="{FF2B5EF4-FFF2-40B4-BE49-F238E27FC236}">
                <a16:creationId xmlns:a16="http://schemas.microsoft.com/office/drawing/2014/main" id="{DC57ACEF-612D-ECDA-8C1B-FE999B52101F}"/>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 Top Level AIPs for Alpha Beta Case Study</a:t>
            </a:r>
          </a:p>
        </p:txBody>
      </p:sp>
      <p:sp>
        <p:nvSpPr>
          <p:cNvPr id="12" name="TextBox 11">
            <a:extLst>
              <a:ext uri="{FF2B5EF4-FFF2-40B4-BE49-F238E27FC236}">
                <a16:creationId xmlns:a16="http://schemas.microsoft.com/office/drawing/2014/main" id="{41241297-03F7-5ADD-9373-2DAC1032AC5A}"/>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4FB20AD4-EE07-14DE-843F-C4AD3734EF6A}"/>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BA44D0A5-8087-D0A6-B8E0-8AFF0B72C5D0}"/>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Using information from the case study, </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 the Top Level AIPs that tie to the</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Breakthrough Objectives for the Alpha Beta Company </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endPar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DD1538CD-BD05-68F9-B5B1-6435CA0D60F3}"/>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29BFB1D1-19F4-3F28-E23D-CDF4E9A4A376}"/>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124D8C36-E939-C363-B321-60B2C9F45AAE}"/>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45 minutes</a:t>
            </a:r>
          </a:p>
        </p:txBody>
      </p:sp>
      <p:sp>
        <p:nvSpPr>
          <p:cNvPr id="18" name="Rectangle 17">
            <a:extLst>
              <a:ext uri="{FF2B5EF4-FFF2-40B4-BE49-F238E27FC236}">
                <a16:creationId xmlns:a16="http://schemas.microsoft.com/office/drawing/2014/main" id="{BA565FBC-6D0C-29F5-0785-0EB0FD0625C6}"/>
              </a:ext>
            </a:extLst>
          </p:cNvPr>
          <p:cNvSpPr/>
          <p:nvPr/>
        </p:nvSpPr>
        <p:spPr>
          <a:xfrm>
            <a:off x="5879250" y="4623633"/>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1–2 AIPs for each Breakthrough</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Objective for Alpha Beta Company </a:t>
            </a:r>
          </a:p>
        </p:txBody>
      </p:sp>
      <p:grpSp>
        <p:nvGrpSpPr>
          <p:cNvPr id="3" name="Group 2">
            <a:extLst>
              <a:ext uri="{FF2B5EF4-FFF2-40B4-BE49-F238E27FC236}">
                <a16:creationId xmlns:a16="http://schemas.microsoft.com/office/drawing/2014/main" id="{1F2B28A9-DD45-EE43-C3F8-D3FB9FA5DA03}"/>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32E5502A-06AC-A836-DAE8-D30F4B54F646}"/>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89608E45-6F11-0AB1-DE12-3D307005AC1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CDF8E3FC-E434-E70C-64E2-EAEFB970A5D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2CAC74C3-C33B-C4F8-6C1D-52FF5FDDBEEC}"/>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2E6ACAB4-CCE5-9527-1CC7-841F11B2E668}"/>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Annual Improvement Priorities</a:t>
            </a:r>
          </a:p>
        </p:txBody>
      </p:sp>
    </p:spTree>
    <p:custDataLst>
      <p:tags r:id="rId1"/>
    </p:custDataLst>
    <p:extLst>
      <p:ext uri="{BB962C8B-B14F-4D97-AF65-F5344CB8AC3E}">
        <p14:creationId xmlns:p14="http://schemas.microsoft.com/office/powerpoint/2010/main" val="26719330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B799B-C4E1-854B-7DF9-BBC013BD0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F6A33-AB89-0BF7-A1BD-58D640245B19}"/>
              </a:ext>
            </a:extLst>
          </p:cNvPr>
          <p:cNvSpPr>
            <a:spLocks noGrp="1"/>
          </p:cNvSpPr>
          <p:nvPr>
            <p:ph type="title" idx="4294967295"/>
          </p:nvPr>
        </p:nvSpPr>
        <p:spPr>
          <a:xfrm>
            <a:off x="699911" y="1497012"/>
            <a:ext cx="10792178" cy="1009650"/>
          </a:xfrm>
          <a:prstGeom prst="rect">
            <a:avLst/>
          </a:prstGeom>
        </p:spPr>
        <p:txBody>
          <a:bodyPr>
            <a:normAutofit/>
          </a:bodyPr>
          <a:lstStyle/>
          <a:p>
            <a:r>
              <a:rPr lang="en-US" sz="4000" dirty="0">
                <a:latin typeface="Roboto Medium"/>
                <a:ea typeface="Roboto Medium"/>
                <a:cs typeface="Roboto Medium"/>
              </a:rPr>
              <a:t>Developing Targets</a:t>
            </a:r>
          </a:p>
        </p:txBody>
      </p:sp>
      <p:sp>
        <p:nvSpPr>
          <p:cNvPr id="3" name="Content Placeholder 2">
            <a:extLst>
              <a:ext uri="{FF2B5EF4-FFF2-40B4-BE49-F238E27FC236}">
                <a16:creationId xmlns:a16="http://schemas.microsoft.com/office/drawing/2014/main" id="{00FD620E-171C-FA7F-D2A6-620714E26DE3}"/>
              </a:ext>
            </a:extLst>
          </p:cNvPr>
          <p:cNvSpPr>
            <a:spLocks noGrp="1"/>
          </p:cNvSpPr>
          <p:nvPr>
            <p:ph idx="4294967295"/>
          </p:nvPr>
        </p:nvSpPr>
        <p:spPr>
          <a:xfrm>
            <a:off x="722489" y="2506662"/>
            <a:ext cx="10515600" cy="3821400"/>
          </a:xfrm>
        </p:spPr>
        <p:txBody>
          <a:bodyPr>
            <a:normAutofit/>
          </a:bodyPr>
          <a:lstStyle/>
          <a:p>
            <a:pPr marL="0" indent="0">
              <a:lnSpc>
                <a:spcPct val="100000"/>
              </a:lnSpc>
              <a:buNone/>
            </a:pPr>
            <a:r>
              <a:rPr lang="en-US" b="1" dirty="0">
                <a:latin typeface="+mn-lt"/>
                <a:ea typeface="Roboto Medium" panose="02000000000000000000" pitchFamily="2" charset="0"/>
                <a:cs typeface="Roboto Medium" panose="02000000000000000000" pitchFamily="2" charset="0"/>
              </a:rPr>
              <a:t>Objectives:</a:t>
            </a:r>
          </a:p>
          <a:p>
            <a:pPr>
              <a:lnSpc>
                <a:spcPct val="100000"/>
              </a:lnSpc>
            </a:pPr>
            <a:r>
              <a:rPr lang="en-US" dirty="0">
                <a:latin typeface="+mn-lt"/>
              </a:rPr>
              <a:t>To define “Target”</a:t>
            </a:r>
          </a:p>
          <a:p>
            <a:pPr>
              <a:lnSpc>
                <a:spcPct val="100000"/>
              </a:lnSpc>
            </a:pPr>
            <a:r>
              <a:rPr lang="en-US" dirty="0">
                <a:latin typeface="+mn-lt"/>
              </a:rPr>
              <a:t>To review the anatomy of a Target</a:t>
            </a:r>
          </a:p>
          <a:p>
            <a:pPr>
              <a:lnSpc>
                <a:spcPct val="100000"/>
              </a:lnSpc>
            </a:pPr>
            <a:r>
              <a:rPr lang="en-US" dirty="0">
                <a:latin typeface="+mn-lt"/>
              </a:rPr>
              <a:t>To identify positive and negative examples of Targets</a:t>
            </a:r>
          </a:p>
          <a:p>
            <a:pPr>
              <a:lnSpc>
                <a:spcPct val="100000"/>
              </a:lnSpc>
            </a:pPr>
            <a:r>
              <a:rPr lang="en-US" dirty="0">
                <a:latin typeface="+mn-lt"/>
              </a:rPr>
              <a:t>To develop Targets for each AIP for Alpha Beta Case Study</a:t>
            </a:r>
          </a:p>
        </p:txBody>
      </p:sp>
      <p:cxnSp>
        <p:nvCxnSpPr>
          <p:cNvPr id="12" name="Straight Connector 11">
            <a:extLst>
              <a:ext uri="{FF2B5EF4-FFF2-40B4-BE49-F238E27FC236}">
                <a16:creationId xmlns:a16="http://schemas.microsoft.com/office/drawing/2014/main" id="{1AE390D9-0205-080F-B134-E2B97F726D70}"/>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DE2823C6-7AC4-8DE8-E0E1-A1C21497C3EA}"/>
              </a:ext>
            </a:extLst>
          </p:cNvPr>
          <p:cNvGrpSpPr/>
          <p:nvPr/>
        </p:nvGrpSpPr>
        <p:grpSpPr>
          <a:xfrm>
            <a:off x="699911" y="837133"/>
            <a:ext cx="5850075" cy="659879"/>
            <a:chOff x="699911" y="1069861"/>
            <a:chExt cx="5850075" cy="350130"/>
          </a:xfrm>
        </p:grpSpPr>
        <p:sp>
          <p:nvSpPr>
            <p:cNvPr id="7" name="AutoShape 9">
              <a:extLst>
                <a:ext uri="{FF2B5EF4-FFF2-40B4-BE49-F238E27FC236}">
                  <a16:creationId xmlns:a16="http://schemas.microsoft.com/office/drawing/2014/main" id="{C912A990-8219-D207-5890-1DFE09AF0455}"/>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grpSp>
          <p:nvGrpSpPr>
            <p:cNvPr id="8" name="Group 7">
              <a:extLst>
                <a:ext uri="{FF2B5EF4-FFF2-40B4-BE49-F238E27FC236}">
                  <a16:creationId xmlns:a16="http://schemas.microsoft.com/office/drawing/2014/main" id="{DF0F9450-228B-813F-EE35-843E9832B8A7}"/>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B6E9A752-46F3-6DBB-2B50-93B3CEDC1B7A}"/>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10" name="AutoShape 10">
                <a:extLst>
                  <a:ext uri="{FF2B5EF4-FFF2-40B4-BE49-F238E27FC236}">
                    <a16:creationId xmlns:a16="http://schemas.microsoft.com/office/drawing/2014/main" id="{3C8A7D33-2E84-CC45-B368-4FA036F19629}"/>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Components of Top Level Matrix</a:t>
                </a:r>
              </a:p>
            </p:txBody>
          </p:sp>
          <p:sp>
            <p:nvSpPr>
              <p:cNvPr id="11" name="AutoShape 11">
                <a:extLst>
                  <a:ext uri="{FF2B5EF4-FFF2-40B4-BE49-F238E27FC236}">
                    <a16:creationId xmlns:a16="http://schemas.microsoft.com/office/drawing/2014/main" id="{3330E37F-DD30-913D-8F8C-843A97535984}"/>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grpSp>
    </p:spTree>
    <p:custDataLst>
      <p:tags r:id="rId1"/>
    </p:custDataLst>
    <p:extLst>
      <p:ext uri="{BB962C8B-B14F-4D97-AF65-F5344CB8AC3E}">
        <p14:creationId xmlns:p14="http://schemas.microsoft.com/office/powerpoint/2010/main" val="5821613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92528-0CA2-F19F-285B-E6DFA3C1E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6B466-F0F4-77B5-CA3C-1770CF2CBDB1}"/>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Targets</a:t>
            </a:r>
            <a:endParaRPr lang="en-US" sz="4000" dirty="0"/>
          </a:p>
        </p:txBody>
      </p:sp>
      <p:grpSp>
        <p:nvGrpSpPr>
          <p:cNvPr id="3" name="Group 2">
            <a:extLst>
              <a:ext uri="{FF2B5EF4-FFF2-40B4-BE49-F238E27FC236}">
                <a16:creationId xmlns:a16="http://schemas.microsoft.com/office/drawing/2014/main" id="{D0500A3A-CC1E-345D-2C70-03CF0318323C}"/>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FE913A80-C608-8372-EC14-52B2FEF2179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95E2702B-6488-A6B3-D83A-D0307A2EE38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AF1A0810-8C91-1095-4334-B2CD537AAC60}"/>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134CB981-E4AC-6049-0223-7F2B2D819F28}"/>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9" name="TextBox 18">
            <a:extLst>
              <a:ext uri="{FF2B5EF4-FFF2-40B4-BE49-F238E27FC236}">
                <a16:creationId xmlns:a16="http://schemas.microsoft.com/office/drawing/2014/main" id="{0CDB814D-68B6-6B8A-742E-77A55972EE6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Targets</a:t>
            </a:r>
          </a:p>
        </p:txBody>
      </p:sp>
      <p:pic>
        <p:nvPicPr>
          <p:cNvPr id="5" name="Picture 17">
            <a:extLst>
              <a:ext uri="{FF2B5EF4-FFF2-40B4-BE49-F238E27FC236}">
                <a16:creationId xmlns:a16="http://schemas.microsoft.com/office/drawing/2014/main" id="{92E2772D-7297-1FA6-4ED3-AF578F247D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6957" y="1777822"/>
            <a:ext cx="7778086" cy="450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28">
            <a:extLst>
              <a:ext uri="{FF2B5EF4-FFF2-40B4-BE49-F238E27FC236}">
                <a16:creationId xmlns:a16="http://schemas.microsoft.com/office/drawing/2014/main" id="{790949E7-53FC-1874-770B-B7D158F337D3}"/>
              </a:ext>
            </a:extLst>
          </p:cNvPr>
          <p:cNvSpPr>
            <a:spLocks noChangeArrowheads="1"/>
          </p:cNvSpPr>
          <p:nvPr/>
        </p:nvSpPr>
        <p:spPr bwMode="auto">
          <a:xfrm rot="5400000">
            <a:off x="3658797" y="2431752"/>
            <a:ext cx="1422635" cy="2481949"/>
          </a:xfrm>
          <a:prstGeom prst="homePlate">
            <a:avLst>
              <a:gd name="adj" fmla="val 42509"/>
            </a:avLst>
          </a:prstGeom>
          <a:solidFill>
            <a:srgbClr val="DDDDDD"/>
          </a:solidFill>
          <a:ln w="12700" cap="sq">
            <a:solidFill>
              <a:schemeClr val="tx1"/>
            </a:solidFill>
            <a:miter lim="800000"/>
            <a:headEnd/>
            <a:tailEnd/>
          </a:ln>
        </p:spPr>
        <p:txBody>
          <a:bodyPr rot="10800000" vert="eaVert"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HOW</a:t>
            </a:r>
          </a:p>
        </p:txBody>
      </p:sp>
      <p:sp>
        <p:nvSpPr>
          <p:cNvPr id="41" name="AutoShape 299">
            <a:extLst>
              <a:ext uri="{FF2B5EF4-FFF2-40B4-BE49-F238E27FC236}">
                <a16:creationId xmlns:a16="http://schemas.microsoft.com/office/drawing/2014/main" id="{657A8FFA-3E21-D6BA-7EEA-9160DB006ADC}"/>
              </a:ext>
            </a:extLst>
          </p:cNvPr>
          <p:cNvSpPr>
            <a:spLocks noChangeArrowheads="1"/>
          </p:cNvSpPr>
          <p:nvPr/>
        </p:nvSpPr>
        <p:spPr bwMode="auto">
          <a:xfrm>
            <a:off x="2732141" y="3416384"/>
            <a:ext cx="1667796" cy="1935320"/>
          </a:xfrm>
          <a:prstGeom prst="homePlate">
            <a:avLst>
              <a:gd name="adj" fmla="val 53926"/>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WHAT</a:t>
            </a:r>
          </a:p>
        </p:txBody>
      </p:sp>
      <p:sp>
        <p:nvSpPr>
          <p:cNvPr id="7" name="AutoShape 16">
            <a:extLst>
              <a:ext uri="{FF2B5EF4-FFF2-40B4-BE49-F238E27FC236}">
                <a16:creationId xmlns:a16="http://schemas.microsoft.com/office/drawing/2014/main" id="{8D705057-84AC-0EB8-98AB-97D1340620C5}"/>
              </a:ext>
            </a:extLst>
          </p:cNvPr>
          <p:cNvSpPr>
            <a:spLocks noChangeArrowheads="1"/>
          </p:cNvSpPr>
          <p:nvPr/>
        </p:nvSpPr>
        <p:spPr bwMode="auto">
          <a:xfrm flipH="1">
            <a:off x="4370114" y="3295019"/>
            <a:ext cx="2024063" cy="2178050"/>
          </a:xfrm>
          <a:prstGeom prst="homePlate">
            <a:avLst>
              <a:gd name="adj" fmla="val 53926"/>
            </a:avLst>
          </a:prstGeom>
          <a:solidFill>
            <a:srgbClr val="00CCFF"/>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HOW MUCH/</a:t>
            </a:r>
            <a:br>
              <a:rPr lang="en-US" altLang="en-US" sz="1800">
                <a:latin typeface="Arial" panose="020B0604020202020204" pitchFamily="34" charset="0"/>
              </a:rPr>
            </a:br>
            <a:r>
              <a:rPr lang="en-US" altLang="en-US" sz="1800">
                <a:latin typeface="Arial" panose="020B0604020202020204" pitchFamily="34" charset="0"/>
              </a:rPr>
              <a:t>BY WHEN</a:t>
            </a:r>
          </a:p>
        </p:txBody>
      </p:sp>
    </p:spTree>
    <p:custDataLst>
      <p:tags r:id="rId1"/>
    </p:custDataLst>
    <p:extLst>
      <p:ext uri="{BB962C8B-B14F-4D97-AF65-F5344CB8AC3E}">
        <p14:creationId xmlns:p14="http://schemas.microsoft.com/office/powerpoint/2010/main" val="356940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right)">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9065-F184-9D36-E6D1-E435408D6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18E49F-8E48-191F-22E6-5D89E391DDE2}"/>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Targets Defined</a:t>
            </a:r>
            <a:endParaRPr lang="en-US" sz="4000" dirty="0"/>
          </a:p>
        </p:txBody>
      </p:sp>
      <p:grpSp>
        <p:nvGrpSpPr>
          <p:cNvPr id="3" name="Group 2">
            <a:extLst>
              <a:ext uri="{FF2B5EF4-FFF2-40B4-BE49-F238E27FC236}">
                <a16:creationId xmlns:a16="http://schemas.microsoft.com/office/drawing/2014/main" id="{0DF5EEE2-7AEF-810F-A5E9-7DFC67A0F6EA}"/>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DCA302D6-5702-328A-F3DC-4D52010326E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C905B51B-30DD-A442-0DB4-02F3FE24AFC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028FA00A-EC95-A133-C757-95589562D83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6322AA71-5F67-56E3-3BB2-00EA9F604F81}"/>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Rectangle 4">
            <a:extLst>
              <a:ext uri="{FF2B5EF4-FFF2-40B4-BE49-F238E27FC236}">
                <a16:creationId xmlns:a16="http://schemas.microsoft.com/office/drawing/2014/main" id="{4EF07B3F-FDDF-79B7-283A-DA16EF150EEC}"/>
              </a:ext>
            </a:extLst>
          </p:cNvPr>
          <p:cNvSpPr>
            <a:spLocks noChangeArrowheads="1"/>
          </p:cNvSpPr>
          <p:nvPr/>
        </p:nvSpPr>
        <p:spPr bwMode="auto">
          <a:xfrm>
            <a:off x="4727465" y="2641712"/>
            <a:ext cx="2554287"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Quantitative not qualitative</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Frequent enough (at least monthly)</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Reference a time frame</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Show a true cause-and-effect relationship with AIP</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True stretch</a:t>
            </a:r>
          </a:p>
        </p:txBody>
      </p:sp>
      <p:sp>
        <p:nvSpPr>
          <p:cNvPr id="9" name="Rectangle 5">
            <a:extLst>
              <a:ext uri="{FF2B5EF4-FFF2-40B4-BE49-F238E27FC236}">
                <a16:creationId xmlns:a16="http://schemas.microsoft.com/office/drawing/2014/main" id="{DB6114AE-0EFD-F2A7-1583-DBDB49FCAC1E}"/>
              </a:ext>
            </a:extLst>
          </p:cNvPr>
          <p:cNvSpPr>
            <a:spLocks noChangeArrowheads="1"/>
          </p:cNvSpPr>
          <p:nvPr/>
        </p:nvSpPr>
        <p:spPr bwMode="auto">
          <a:xfrm>
            <a:off x="7210315" y="2641712"/>
            <a:ext cx="2851150"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Improve PPM rejects from 50,000 to 5,000 by 12/31/XX</a:t>
            </a:r>
          </a:p>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Achieve productivity improvement from 10 units per associate to 18 units per associate by 9/30/XX</a:t>
            </a:r>
          </a:p>
        </p:txBody>
      </p:sp>
      <p:sp>
        <p:nvSpPr>
          <p:cNvPr id="10" name="Rectangle 6">
            <a:extLst>
              <a:ext uri="{FF2B5EF4-FFF2-40B4-BE49-F238E27FC236}">
                <a16:creationId xmlns:a16="http://schemas.microsoft.com/office/drawing/2014/main" id="{7B69749D-0FB5-16F5-D07C-AF00B3F12264}"/>
              </a:ext>
            </a:extLst>
          </p:cNvPr>
          <p:cNvSpPr>
            <a:spLocks noChangeArrowheads="1"/>
          </p:cNvSpPr>
          <p:nvPr/>
        </p:nvSpPr>
        <p:spPr bwMode="auto">
          <a:xfrm>
            <a:off x="1995377" y="2641712"/>
            <a:ext cx="264318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285750" indent="-285750" defTabSz="708025"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defTabSz="708025"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defTabSz="708025"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defTabSz="708025"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defTabSz="708025"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defTabSz="708025"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spcBef>
                <a:spcPct val="40000"/>
              </a:spcBef>
              <a:buSzPct val="125000"/>
              <a:buFont typeface="Arial" panose="020B0604020202020204" pitchFamily="34" charset="0"/>
              <a:buChar char="•"/>
            </a:pPr>
            <a:r>
              <a:rPr lang="en-US" altLang="en-US" sz="1600">
                <a:solidFill>
                  <a:schemeClr val="tx1"/>
                </a:solidFill>
                <a:latin typeface="Arial" panose="020B0604020202020204" pitchFamily="34" charset="0"/>
              </a:rPr>
              <a:t>The quantitative measure of the effectiveness of a given Annual Improvement Process</a:t>
            </a:r>
          </a:p>
        </p:txBody>
      </p:sp>
      <p:sp>
        <p:nvSpPr>
          <p:cNvPr id="11" name="AutoShape 7">
            <a:extLst>
              <a:ext uri="{FF2B5EF4-FFF2-40B4-BE49-F238E27FC236}">
                <a16:creationId xmlns:a16="http://schemas.microsoft.com/office/drawing/2014/main" id="{A96FD42C-CC36-A064-0743-0FE1D173E6F8}"/>
              </a:ext>
            </a:extLst>
          </p:cNvPr>
          <p:cNvSpPr>
            <a:spLocks noChangeArrowheads="1"/>
          </p:cNvSpPr>
          <p:nvPr/>
        </p:nvSpPr>
        <p:spPr bwMode="auto">
          <a:xfrm>
            <a:off x="6992827" y="1795574"/>
            <a:ext cx="3146425" cy="625475"/>
          </a:xfrm>
          <a:prstGeom prst="homePlate">
            <a:avLst>
              <a:gd name="adj" fmla="val 75108"/>
            </a:avLst>
          </a:prstGeom>
          <a:solidFill>
            <a:schemeClr val="accent1"/>
          </a:solidFill>
          <a:ln w="19050">
            <a:solidFill>
              <a:schemeClr val="bg1"/>
            </a:solidFill>
            <a:miter lim="800000"/>
            <a:headEnd/>
            <a:tailEnd/>
          </a:ln>
        </p:spPr>
        <p:txBody>
          <a:bodyPr lIns="45720" tIns="46038" rIns="45720" bIns="46038"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95000"/>
              </a:lnSpc>
            </a:pPr>
            <a:r>
              <a:rPr lang="en-US" altLang="en-US" sz="1800">
                <a:latin typeface="Arial" panose="020B0604020202020204" pitchFamily="34" charset="0"/>
              </a:rPr>
              <a:t>               Examples</a:t>
            </a:r>
          </a:p>
        </p:txBody>
      </p:sp>
      <p:sp>
        <p:nvSpPr>
          <p:cNvPr id="12" name="AutoShape 8">
            <a:extLst>
              <a:ext uri="{FF2B5EF4-FFF2-40B4-BE49-F238E27FC236}">
                <a16:creationId xmlns:a16="http://schemas.microsoft.com/office/drawing/2014/main" id="{D0618B8A-1F0D-C2A7-5291-E97A774DBD23}"/>
              </a:ext>
            </a:extLst>
          </p:cNvPr>
          <p:cNvSpPr>
            <a:spLocks noChangeArrowheads="1"/>
          </p:cNvSpPr>
          <p:nvPr/>
        </p:nvSpPr>
        <p:spPr bwMode="auto">
          <a:xfrm>
            <a:off x="4668727" y="1795574"/>
            <a:ext cx="2744788" cy="625475"/>
          </a:xfrm>
          <a:prstGeom prst="homePlate">
            <a:avLst>
              <a:gd name="adj" fmla="val 57069"/>
            </a:avLst>
          </a:prstGeom>
          <a:solidFill>
            <a:schemeClr val="accent1"/>
          </a:solidFill>
          <a:ln w="19050">
            <a:solidFill>
              <a:schemeClr val="bg1"/>
            </a:solidFill>
            <a:miter lim="800000"/>
            <a:headEnd/>
            <a:tailEnd/>
          </a:ln>
        </p:spPr>
        <p:txBody>
          <a:bodyPr lIns="45720" tIns="46038" rIns="45720" bIns="46038" anchor="ctr"/>
          <a:lstStyle>
            <a:lvl1pPr marL="1714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pPr>
            <a:r>
              <a:rPr lang="en-US" altLang="en-US" sz="1800">
                <a:latin typeface="Arial" panose="020B0604020202020204" pitchFamily="34" charset="0"/>
              </a:rPr>
              <a:t>  Characteristics</a:t>
            </a:r>
          </a:p>
        </p:txBody>
      </p:sp>
      <p:sp>
        <p:nvSpPr>
          <p:cNvPr id="13" name="AutoShape 9">
            <a:extLst>
              <a:ext uri="{FF2B5EF4-FFF2-40B4-BE49-F238E27FC236}">
                <a16:creationId xmlns:a16="http://schemas.microsoft.com/office/drawing/2014/main" id="{B1DD47C5-70B8-5D46-E46F-E39CFE1BF7B7}"/>
              </a:ext>
            </a:extLst>
          </p:cNvPr>
          <p:cNvSpPr>
            <a:spLocks noChangeArrowheads="1"/>
          </p:cNvSpPr>
          <p:nvPr/>
        </p:nvSpPr>
        <p:spPr bwMode="auto">
          <a:xfrm>
            <a:off x="1933465" y="1795574"/>
            <a:ext cx="3173412" cy="625475"/>
          </a:xfrm>
          <a:prstGeom prst="homePlate">
            <a:avLst>
              <a:gd name="adj" fmla="val 73755"/>
            </a:avLst>
          </a:prstGeom>
          <a:solidFill>
            <a:schemeClr val="accent1"/>
          </a:solidFill>
          <a:ln w="19050">
            <a:solidFill>
              <a:schemeClr val="bg1"/>
            </a:solidFill>
            <a:miter lim="800000"/>
            <a:headEnd/>
            <a:tailEnd/>
          </a:ln>
        </p:spPr>
        <p:txBody>
          <a:bodyPr lIns="45720" tIns="46038" rIns="45720" bIns="46038"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pPr>
            <a:r>
              <a:rPr lang="en-US" altLang="en-US" sz="1800">
                <a:latin typeface="Arial" panose="020B0604020202020204" pitchFamily="34" charset="0"/>
              </a:rPr>
              <a:t>Definition</a:t>
            </a:r>
          </a:p>
        </p:txBody>
      </p:sp>
      <p:sp>
        <p:nvSpPr>
          <p:cNvPr id="15" name="AutoShape 10">
            <a:extLst>
              <a:ext uri="{FF2B5EF4-FFF2-40B4-BE49-F238E27FC236}">
                <a16:creationId xmlns:a16="http://schemas.microsoft.com/office/drawing/2014/main" id="{C071E01B-0B36-6CE4-CBDF-1D2F40FBFE77}"/>
              </a:ext>
            </a:extLst>
          </p:cNvPr>
          <p:cNvSpPr>
            <a:spLocks noChangeArrowheads="1"/>
          </p:cNvSpPr>
          <p:nvPr/>
        </p:nvSpPr>
        <p:spPr bwMode="auto">
          <a:xfrm>
            <a:off x="1909652" y="5645262"/>
            <a:ext cx="8204200" cy="520700"/>
          </a:xfrm>
          <a:prstGeom prst="homePlate">
            <a:avLst>
              <a:gd name="adj" fmla="val 32169"/>
            </a:avLst>
          </a:prstGeom>
          <a:solidFill>
            <a:schemeClr val="accent4"/>
          </a:solidFill>
          <a:ln>
            <a:noFill/>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r>
              <a:rPr lang="en-US" altLang="en-US" sz="1800" dirty="0">
                <a:latin typeface="Arial" panose="020B0604020202020204" pitchFamily="34" charset="0"/>
              </a:rPr>
              <a:t>Must Show a True Cause and Effect Relationship to the Top Level AIP</a:t>
            </a:r>
          </a:p>
        </p:txBody>
      </p:sp>
      <p:sp>
        <p:nvSpPr>
          <p:cNvPr id="17" name="TextBox 16">
            <a:extLst>
              <a:ext uri="{FF2B5EF4-FFF2-40B4-BE49-F238E27FC236}">
                <a16:creationId xmlns:a16="http://schemas.microsoft.com/office/drawing/2014/main" id="{2FE235F2-EF5C-4531-D228-0D71CBA26AA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Targets</a:t>
            </a:r>
          </a:p>
        </p:txBody>
      </p:sp>
    </p:spTree>
    <p:custDataLst>
      <p:tags r:id="rId1"/>
    </p:custDataLst>
    <p:extLst>
      <p:ext uri="{BB962C8B-B14F-4D97-AF65-F5344CB8AC3E}">
        <p14:creationId xmlns:p14="http://schemas.microsoft.com/office/powerpoint/2010/main" val="15502032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A8B05-C925-6747-F3B9-21B9C372F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C1635-F17B-FAD2-4F7F-E6E1F642E714}"/>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Anatomy of Targets</a:t>
            </a:r>
            <a:endParaRPr lang="en-US" sz="4000" dirty="0"/>
          </a:p>
        </p:txBody>
      </p:sp>
      <p:grpSp>
        <p:nvGrpSpPr>
          <p:cNvPr id="3" name="Group 2">
            <a:extLst>
              <a:ext uri="{FF2B5EF4-FFF2-40B4-BE49-F238E27FC236}">
                <a16:creationId xmlns:a16="http://schemas.microsoft.com/office/drawing/2014/main" id="{F54DFA77-C9A3-365F-F6BF-33F255272700}"/>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15CFB2E0-1823-DAE5-118F-8081FAB669B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BADADE25-B14C-397A-5339-12C90E3EFE1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0F760512-81BF-38F8-604C-9C2C2311252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D94B5A3B-C722-A5EA-F8F5-D418F770D748}"/>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aphicFrame>
        <p:nvGraphicFramePr>
          <p:cNvPr id="5" name="Group 50">
            <a:extLst>
              <a:ext uri="{FF2B5EF4-FFF2-40B4-BE49-F238E27FC236}">
                <a16:creationId xmlns:a16="http://schemas.microsoft.com/office/drawing/2014/main" id="{7F4AD45D-A9E7-22A1-EE72-F2FB80FA7493}"/>
              </a:ext>
            </a:extLst>
          </p:cNvPr>
          <p:cNvGraphicFramePr>
            <a:graphicFrameLocks noGrp="1"/>
          </p:cNvGraphicFramePr>
          <p:nvPr>
            <p:extLst>
              <p:ext uri="{D42A27DB-BD31-4B8C-83A1-F6EECF244321}">
                <p14:modId xmlns:p14="http://schemas.microsoft.com/office/powerpoint/2010/main" val="998151329"/>
              </p:ext>
            </p:extLst>
          </p:nvPr>
        </p:nvGraphicFramePr>
        <p:xfrm>
          <a:off x="1981993" y="2176318"/>
          <a:ext cx="8228013" cy="3711575"/>
        </p:xfrm>
        <a:graphic>
          <a:graphicData uri="http://schemas.openxmlformats.org/drawingml/2006/table">
            <a:tbl>
              <a:tblPr/>
              <a:tblGrid>
                <a:gridCol w="1465263">
                  <a:extLst>
                    <a:ext uri="{9D8B030D-6E8A-4147-A177-3AD203B41FA5}">
                      <a16:colId xmlns:a16="http://schemas.microsoft.com/office/drawing/2014/main" val="20000"/>
                    </a:ext>
                  </a:extLst>
                </a:gridCol>
                <a:gridCol w="1825625">
                  <a:extLst>
                    <a:ext uri="{9D8B030D-6E8A-4147-A177-3AD203B41FA5}">
                      <a16:colId xmlns:a16="http://schemas.microsoft.com/office/drawing/2014/main" val="20001"/>
                    </a:ext>
                  </a:extLst>
                </a:gridCol>
                <a:gridCol w="2486025">
                  <a:extLst>
                    <a:ext uri="{9D8B030D-6E8A-4147-A177-3AD203B41FA5}">
                      <a16:colId xmlns:a16="http://schemas.microsoft.com/office/drawing/2014/main" val="20002"/>
                    </a:ext>
                  </a:extLst>
                </a:gridCol>
                <a:gridCol w="804862">
                  <a:extLst>
                    <a:ext uri="{9D8B030D-6E8A-4147-A177-3AD203B41FA5}">
                      <a16:colId xmlns:a16="http://schemas.microsoft.com/office/drawing/2014/main" val="20003"/>
                    </a:ext>
                  </a:extLst>
                </a:gridCol>
                <a:gridCol w="1646238">
                  <a:extLst>
                    <a:ext uri="{9D8B030D-6E8A-4147-A177-3AD203B41FA5}">
                      <a16:colId xmlns:a16="http://schemas.microsoft.com/office/drawing/2014/main" val="20004"/>
                    </a:ext>
                  </a:extLst>
                </a:gridCol>
              </a:tblGrid>
              <a:tr h="663575">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VERB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NOUN</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FROM X TO Y</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BY</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DATE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016000">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Improve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Inventory Turns</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From 5.0 to 10.0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BY</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12/31/XX</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F90216BB-3751-3E08-D0A1-6610519A06FA}"/>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Targets</a:t>
            </a:r>
          </a:p>
        </p:txBody>
      </p:sp>
    </p:spTree>
    <p:custDataLst>
      <p:tags r:id="rId1"/>
    </p:custDataLst>
    <p:extLst>
      <p:ext uri="{BB962C8B-B14F-4D97-AF65-F5344CB8AC3E}">
        <p14:creationId xmlns:p14="http://schemas.microsoft.com/office/powerpoint/2010/main" val="12122790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8170A-54C5-EDFE-E487-C96AB2F41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874ED-7D96-C7D4-6627-A8FBEFED59A6}"/>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Rate the Targets</a:t>
            </a:r>
            <a:endParaRPr lang="en-US" sz="4000" dirty="0"/>
          </a:p>
        </p:txBody>
      </p:sp>
      <p:grpSp>
        <p:nvGrpSpPr>
          <p:cNvPr id="3" name="Group 2">
            <a:extLst>
              <a:ext uri="{FF2B5EF4-FFF2-40B4-BE49-F238E27FC236}">
                <a16:creationId xmlns:a16="http://schemas.microsoft.com/office/drawing/2014/main" id="{B12D4F40-A29F-8052-815D-F5035550FA51}"/>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C53AE67E-3CB8-5392-B8DF-78AE8B4A5D5B}"/>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7BE73D2A-54E5-D7CA-E98E-67CE67CC18D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57B532C2-580C-E920-BE4E-15C1B510BE50}"/>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933366C9-5FE5-0C2C-DE27-C8E16EA17729}"/>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aphicFrame>
        <p:nvGraphicFramePr>
          <p:cNvPr id="6" name="Group 47">
            <a:extLst>
              <a:ext uri="{FF2B5EF4-FFF2-40B4-BE49-F238E27FC236}">
                <a16:creationId xmlns:a16="http://schemas.microsoft.com/office/drawing/2014/main" id="{192D0E4B-B665-E863-B022-370A550B89B9}"/>
              </a:ext>
            </a:extLst>
          </p:cNvPr>
          <p:cNvGraphicFramePr>
            <a:graphicFrameLocks noGrp="1"/>
          </p:cNvGraphicFramePr>
          <p:nvPr>
            <p:extLst>
              <p:ext uri="{D42A27DB-BD31-4B8C-83A1-F6EECF244321}">
                <p14:modId xmlns:p14="http://schemas.microsoft.com/office/powerpoint/2010/main" val="697938206"/>
              </p:ext>
            </p:extLst>
          </p:nvPr>
        </p:nvGraphicFramePr>
        <p:xfrm>
          <a:off x="1965325" y="1777822"/>
          <a:ext cx="8261350" cy="4497388"/>
        </p:xfrm>
        <a:graphic>
          <a:graphicData uri="http://schemas.openxmlformats.org/drawingml/2006/table">
            <a:tbl>
              <a:tblPr/>
              <a:tblGrid>
                <a:gridCol w="4105275">
                  <a:extLst>
                    <a:ext uri="{9D8B030D-6E8A-4147-A177-3AD203B41FA5}">
                      <a16:colId xmlns:a16="http://schemas.microsoft.com/office/drawing/2014/main" val="20000"/>
                    </a:ext>
                  </a:extLst>
                </a:gridCol>
                <a:gridCol w="2141538">
                  <a:extLst>
                    <a:ext uri="{9D8B030D-6E8A-4147-A177-3AD203B41FA5}">
                      <a16:colId xmlns:a16="http://schemas.microsoft.com/office/drawing/2014/main" val="20001"/>
                    </a:ext>
                  </a:extLst>
                </a:gridCol>
                <a:gridCol w="2014537">
                  <a:extLst>
                    <a:ext uri="{9D8B030D-6E8A-4147-A177-3AD203B41FA5}">
                      <a16:colId xmlns:a16="http://schemas.microsoft.com/office/drawing/2014/main" val="20002"/>
                    </a:ext>
                  </a:extLst>
                </a:gridCol>
              </a:tblGrid>
              <a:tr h="5476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bg1"/>
                          </a:solidFill>
                          <a:effectLst/>
                          <a:latin typeface="Arial" charset="0"/>
                        </a:rPr>
                        <a:t>Target Example</a:t>
                      </a:r>
                    </a:p>
                  </a:txBody>
                  <a:tcPr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bg1"/>
                          </a:solidFill>
                          <a:effectLst/>
                          <a:latin typeface="Arial" charset="0"/>
                        </a:rPr>
                        <a:t>Good Example</a:t>
                      </a:r>
                    </a:p>
                  </a:txBody>
                  <a:tcPr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bg1"/>
                          </a:solidFill>
                          <a:effectLst/>
                          <a:latin typeface="Arial" charset="0"/>
                        </a:rPr>
                        <a:t>Poor Example</a:t>
                      </a:r>
                    </a:p>
                  </a:txBody>
                  <a:tcPr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0"/>
                  </a:ext>
                </a:extLst>
              </a:tr>
              <a:tr h="5791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Reduce lead time in NPD from 36 months to 12 months by 12/31/XX  </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842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Improve internal quality</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01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Perform 20 Kaizens by 12/31/XX</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8229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Increase Organic Revenue from New Systems Sales from $30M to $45M by 10/31/XX</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826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Implement Standard Work in Accounts Payable</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791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Arial" charset="0"/>
                        </a:rPr>
                        <a:t>Improve Productivity from $20,000/Day to $30,000/Day by 12/31/XX</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TextBox 6">
            <a:extLst>
              <a:ext uri="{FF2B5EF4-FFF2-40B4-BE49-F238E27FC236}">
                <a16:creationId xmlns:a16="http://schemas.microsoft.com/office/drawing/2014/main" id="{26C0EA3A-3BBE-A4EE-D53F-D492857BE73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Targets</a:t>
            </a:r>
          </a:p>
        </p:txBody>
      </p:sp>
    </p:spTree>
    <p:custDataLst>
      <p:tags r:id="rId1"/>
    </p:custDataLst>
    <p:extLst>
      <p:ext uri="{BB962C8B-B14F-4D97-AF65-F5344CB8AC3E}">
        <p14:creationId xmlns:p14="http://schemas.microsoft.com/office/powerpoint/2010/main" val="26687213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52CC-D922-3990-51B3-FEBA1CE5D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A57F3-495E-3DB1-761C-BE7E1B7C8E5E}"/>
              </a:ext>
            </a:extLst>
          </p:cNvPr>
          <p:cNvSpPr>
            <a:spLocks noGrp="1"/>
          </p:cNvSpPr>
          <p:nvPr>
            <p:ph type="title"/>
          </p:nvPr>
        </p:nvSpPr>
        <p:spPr/>
        <p:txBody>
          <a:bodyPr/>
          <a:lstStyle/>
          <a:p>
            <a:r>
              <a:rPr lang="en-US" dirty="0"/>
              <a:t>Target Checklist</a:t>
            </a:r>
          </a:p>
        </p:txBody>
      </p:sp>
      <p:sp>
        <p:nvSpPr>
          <p:cNvPr id="3" name="Content Placeholder 2">
            <a:extLst>
              <a:ext uri="{FF2B5EF4-FFF2-40B4-BE49-F238E27FC236}">
                <a16:creationId xmlns:a16="http://schemas.microsoft.com/office/drawing/2014/main" id="{525441BC-B2B5-77B5-922D-01B81CC6DFCD}"/>
              </a:ext>
            </a:extLst>
          </p:cNvPr>
          <p:cNvSpPr>
            <a:spLocks noGrp="1"/>
          </p:cNvSpPr>
          <p:nvPr>
            <p:ph idx="1"/>
          </p:nvPr>
        </p:nvSpPr>
        <p:spPr/>
        <p:txBody>
          <a:bodyPr>
            <a:normAutofit fontScale="77500" lnSpcReduction="20000"/>
          </a:bodyPr>
          <a:lstStyle/>
          <a:p>
            <a:pPr>
              <a:lnSpc>
                <a:spcPct val="145000"/>
              </a:lnSpc>
              <a:buFont typeface="Wingdings" panose="05000000000000000000" pitchFamily="2" charset="2"/>
              <a:buNone/>
            </a:pPr>
            <a:r>
              <a:rPr lang="en-US" altLang="en-US" b="1" dirty="0"/>
              <a:t>Do/Are the Targets….</a:t>
            </a:r>
          </a:p>
          <a:p>
            <a:pPr indent="-457200">
              <a:lnSpc>
                <a:spcPct val="145000"/>
              </a:lnSpc>
              <a:spcBef>
                <a:spcPts val="60"/>
              </a:spcBef>
              <a:spcAft>
                <a:spcPts val="60"/>
              </a:spcAft>
              <a:buSzPct val="125000"/>
              <a:buFont typeface="Wingdings" panose="05000000000000000000" pitchFamily="2" charset="2"/>
              <a:buChar char="þ"/>
            </a:pPr>
            <a:r>
              <a:rPr lang="en-US" altLang="en-US" b="1" dirty="0"/>
              <a:t>Measurable, at least monthly?</a:t>
            </a:r>
          </a:p>
          <a:p>
            <a:pPr indent="-457200">
              <a:lnSpc>
                <a:spcPct val="145000"/>
              </a:lnSpc>
              <a:spcBef>
                <a:spcPts val="60"/>
              </a:spcBef>
              <a:spcAft>
                <a:spcPts val="60"/>
              </a:spcAft>
              <a:buSzPct val="125000"/>
              <a:buFont typeface="Wingdings" panose="05000000000000000000" pitchFamily="2" charset="2"/>
              <a:buChar char="þ"/>
            </a:pPr>
            <a:r>
              <a:rPr lang="en-US" altLang="en-US" b="1" dirty="0"/>
              <a:t>Quantifiable?</a:t>
            </a:r>
          </a:p>
          <a:p>
            <a:pPr indent="-457200">
              <a:lnSpc>
                <a:spcPct val="145000"/>
              </a:lnSpc>
              <a:spcBef>
                <a:spcPts val="60"/>
              </a:spcBef>
              <a:spcAft>
                <a:spcPts val="60"/>
              </a:spcAft>
              <a:buSzPct val="125000"/>
              <a:buFont typeface="Wingdings" panose="05000000000000000000" pitchFamily="2" charset="2"/>
              <a:buChar char="þ"/>
            </a:pPr>
            <a:r>
              <a:rPr lang="en-US" altLang="en-US" b="1" dirty="0"/>
              <a:t>Time-bound?</a:t>
            </a:r>
          </a:p>
          <a:p>
            <a:pPr indent="-457200">
              <a:lnSpc>
                <a:spcPct val="145000"/>
              </a:lnSpc>
              <a:spcBef>
                <a:spcPts val="60"/>
              </a:spcBef>
              <a:spcAft>
                <a:spcPts val="60"/>
              </a:spcAft>
              <a:buSzPct val="125000"/>
              <a:buFont typeface="Wingdings" panose="05000000000000000000" pitchFamily="2" charset="2"/>
              <a:buChar char="þ"/>
            </a:pPr>
            <a:r>
              <a:rPr lang="en-US" altLang="en-US" b="1" dirty="0"/>
              <a:t>Stretch for the organization?</a:t>
            </a:r>
          </a:p>
          <a:p>
            <a:pPr indent="-457200">
              <a:lnSpc>
                <a:spcPct val="145000"/>
              </a:lnSpc>
              <a:spcBef>
                <a:spcPts val="60"/>
              </a:spcBef>
              <a:spcAft>
                <a:spcPts val="60"/>
              </a:spcAft>
              <a:buSzPct val="125000"/>
              <a:buFont typeface="Wingdings" panose="05000000000000000000" pitchFamily="2" charset="2"/>
              <a:buChar char="þ"/>
            </a:pPr>
            <a:r>
              <a:rPr lang="en-US" altLang="en-US" b="1" dirty="0"/>
              <a:t>Show a “from-to” range?</a:t>
            </a:r>
          </a:p>
          <a:p>
            <a:pPr indent="-457200">
              <a:lnSpc>
                <a:spcPct val="145000"/>
              </a:lnSpc>
              <a:spcBef>
                <a:spcPts val="60"/>
              </a:spcBef>
              <a:spcAft>
                <a:spcPts val="60"/>
              </a:spcAft>
              <a:buSzPct val="125000"/>
              <a:buFont typeface="Wingdings" panose="05000000000000000000" pitchFamily="2" charset="2"/>
              <a:buChar char="þ"/>
            </a:pPr>
            <a:r>
              <a:rPr lang="en-US" altLang="en-US" b="1" dirty="0"/>
              <a:t>Support reaching the Breakthrough Objectives?</a:t>
            </a:r>
          </a:p>
          <a:p>
            <a:pPr indent="-457200">
              <a:lnSpc>
                <a:spcPct val="145000"/>
              </a:lnSpc>
              <a:spcBef>
                <a:spcPts val="60"/>
              </a:spcBef>
              <a:spcAft>
                <a:spcPts val="60"/>
              </a:spcAft>
              <a:buSzPct val="125000"/>
              <a:buFont typeface="Wingdings" panose="05000000000000000000" pitchFamily="2" charset="2"/>
              <a:buChar char="þ"/>
            </a:pPr>
            <a:r>
              <a:rPr lang="en-US" altLang="en-US" b="1" dirty="0"/>
              <a:t>Involved development data that is easily attained?</a:t>
            </a:r>
          </a:p>
          <a:p>
            <a:pPr indent="-457200">
              <a:lnSpc>
                <a:spcPct val="145000"/>
              </a:lnSpc>
              <a:spcBef>
                <a:spcPts val="60"/>
              </a:spcBef>
              <a:spcAft>
                <a:spcPts val="60"/>
              </a:spcAft>
              <a:buSzPct val="125000"/>
              <a:buFont typeface="Wingdings" panose="05000000000000000000" pitchFamily="2" charset="2"/>
              <a:buChar char="þ"/>
            </a:pPr>
            <a:r>
              <a:rPr lang="en-US" altLang="en-US" b="1" dirty="0"/>
              <a:t>Have a true cause-and-effect relationship with the AIP?</a:t>
            </a:r>
          </a:p>
        </p:txBody>
      </p:sp>
      <p:grpSp>
        <p:nvGrpSpPr>
          <p:cNvPr id="4" name="Group 3">
            <a:extLst>
              <a:ext uri="{FF2B5EF4-FFF2-40B4-BE49-F238E27FC236}">
                <a16:creationId xmlns:a16="http://schemas.microsoft.com/office/drawing/2014/main" id="{D96F799C-D65B-029C-145E-A60E03B2ACF2}"/>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797475B3-6BD5-BC2C-1074-64609793E600}"/>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7352D3E1-C34D-77F2-E2A1-6647CF47CA6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3572AEE1-034D-CB4F-5D3E-9AC9466C17B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1">
              <a:extLst>
                <a:ext uri="{FF2B5EF4-FFF2-40B4-BE49-F238E27FC236}">
                  <a16:creationId xmlns:a16="http://schemas.microsoft.com/office/drawing/2014/main" id="{BC8FF504-B923-3A04-2D4B-AC405074A75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1" name="TextBox 10">
            <a:extLst>
              <a:ext uri="{FF2B5EF4-FFF2-40B4-BE49-F238E27FC236}">
                <a16:creationId xmlns:a16="http://schemas.microsoft.com/office/drawing/2014/main" id="{F8F133D2-2A83-B295-5B4B-2A7214CC71B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Targets</a:t>
            </a:r>
          </a:p>
        </p:txBody>
      </p:sp>
    </p:spTree>
    <p:custDataLst>
      <p:tags r:id="rId1"/>
    </p:custDataLst>
    <p:extLst>
      <p:ext uri="{BB962C8B-B14F-4D97-AF65-F5344CB8AC3E}">
        <p14:creationId xmlns:p14="http://schemas.microsoft.com/office/powerpoint/2010/main" val="14097829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F113B-8F1F-757D-0D07-9F557710F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7BE41-DA4B-4DA7-DB55-FD8FB41DB97B}"/>
              </a:ext>
            </a:extLst>
          </p:cNvPr>
          <p:cNvSpPr>
            <a:spLocks noGrp="1"/>
          </p:cNvSpPr>
          <p:nvPr>
            <p:ph type="title"/>
          </p:nvPr>
        </p:nvSpPr>
        <p:spPr/>
        <p:txBody>
          <a:bodyPr>
            <a:noAutofit/>
          </a:bodyPr>
          <a:lstStyle/>
          <a:p>
            <a:r>
              <a:rPr lang="en-US" sz="3600" dirty="0"/>
              <a:t>Use Affinity Process as shown in earlier slides - Ground Rules for Targets</a:t>
            </a:r>
          </a:p>
        </p:txBody>
      </p:sp>
      <p:sp>
        <p:nvSpPr>
          <p:cNvPr id="3" name="Content Placeholder 2">
            <a:extLst>
              <a:ext uri="{FF2B5EF4-FFF2-40B4-BE49-F238E27FC236}">
                <a16:creationId xmlns:a16="http://schemas.microsoft.com/office/drawing/2014/main" id="{281DFC03-487E-0A26-1487-A107D58078CC}"/>
              </a:ext>
            </a:extLst>
          </p:cNvPr>
          <p:cNvSpPr>
            <a:spLocks noGrp="1"/>
          </p:cNvSpPr>
          <p:nvPr>
            <p:ph idx="1"/>
          </p:nvPr>
        </p:nvSpPr>
        <p:spPr/>
        <p:txBody>
          <a:bodyPr>
            <a:normAutofit/>
          </a:bodyPr>
          <a:lstStyle/>
          <a:p>
            <a:pPr>
              <a:lnSpc>
                <a:spcPct val="115000"/>
              </a:lnSpc>
              <a:spcBef>
                <a:spcPct val="50000"/>
              </a:spcBef>
              <a:spcAft>
                <a:spcPct val="50000"/>
              </a:spcAft>
              <a:buSzPct val="125000"/>
            </a:pPr>
            <a:r>
              <a:rPr lang="en-US" altLang="en-US" sz="1600" dirty="0">
                <a:latin typeface="Arial" panose="020B0604020202020204" pitchFamily="34" charset="0"/>
              </a:rPr>
              <a:t>Silent brainstorming…no discussion during Post-it writing exercise</a:t>
            </a:r>
          </a:p>
          <a:p>
            <a:pPr>
              <a:lnSpc>
                <a:spcPct val="115000"/>
              </a:lnSpc>
              <a:spcBef>
                <a:spcPct val="50000"/>
              </a:spcBef>
              <a:spcAft>
                <a:spcPct val="50000"/>
              </a:spcAft>
              <a:buSzPct val="125000"/>
            </a:pPr>
            <a:r>
              <a:rPr lang="en-US" altLang="en-US" sz="1600" dirty="0">
                <a:latin typeface="Arial" panose="020B0604020202020204" pitchFamily="34" charset="0"/>
              </a:rPr>
              <a:t>At least 2 quality Target Post-its per AIP</a:t>
            </a:r>
          </a:p>
          <a:p>
            <a:pPr>
              <a:lnSpc>
                <a:spcPct val="115000"/>
              </a:lnSpc>
              <a:spcBef>
                <a:spcPct val="50000"/>
              </a:spcBef>
              <a:spcAft>
                <a:spcPct val="50000"/>
              </a:spcAft>
              <a:buSzPct val="125000"/>
            </a:pPr>
            <a:r>
              <a:rPr lang="en-US" altLang="en-US" sz="1600" dirty="0">
                <a:latin typeface="Arial" panose="020B0604020202020204" pitchFamily="34" charset="0"/>
              </a:rPr>
              <a:t>Everyone’s ideas are treated equally</a:t>
            </a:r>
          </a:p>
          <a:p>
            <a:pPr>
              <a:lnSpc>
                <a:spcPct val="115000"/>
              </a:lnSpc>
              <a:spcBef>
                <a:spcPct val="50000"/>
              </a:spcBef>
              <a:spcAft>
                <a:spcPct val="50000"/>
              </a:spcAft>
              <a:buSzPct val="125000"/>
            </a:pPr>
            <a:r>
              <a:rPr lang="en-US" altLang="en-US" sz="1600" dirty="0">
                <a:latin typeface="Arial" panose="020B0604020202020204" pitchFamily="34" charset="0"/>
              </a:rPr>
              <a:t>One idea (Target) per Post-it</a:t>
            </a:r>
          </a:p>
          <a:p>
            <a:pPr>
              <a:lnSpc>
                <a:spcPct val="115000"/>
              </a:lnSpc>
              <a:spcBef>
                <a:spcPct val="50000"/>
              </a:spcBef>
              <a:spcAft>
                <a:spcPct val="50000"/>
              </a:spcAft>
              <a:buSzPct val="125000"/>
            </a:pPr>
            <a:r>
              <a:rPr lang="en-US" altLang="en-US" sz="1600" dirty="0">
                <a:latin typeface="Arial" panose="020B0604020202020204" pitchFamily="34" charset="0"/>
              </a:rPr>
              <a:t>Write name on the top of Post-it</a:t>
            </a:r>
          </a:p>
          <a:p>
            <a:pPr>
              <a:lnSpc>
                <a:spcPct val="115000"/>
              </a:lnSpc>
              <a:spcBef>
                <a:spcPct val="50000"/>
              </a:spcBef>
              <a:spcAft>
                <a:spcPct val="50000"/>
              </a:spcAft>
              <a:buSzPct val="125000"/>
            </a:pPr>
            <a:r>
              <a:rPr lang="en-US" altLang="en-US" sz="1600" dirty="0">
                <a:latin typeface="Arial" panose="020B0604020202020204" pitchFamily="34" charset="0"/>
              </a:rPr>
              <a:t>Be clear; state the Target as follows:</a:t>
            </a:r>
          </a:p>
          <a:p>
            <a:pPr lvl="1">
              <a:lnSpc>
                <a:spcPct val="115000"/>
              </a:lnSpc>
              <a:spcBef>
                <a:spcPct val="50000"/>
              </a:spcBef>
              <a:spcAft>
                <a:spcPct val="50000"/>
              </a:spcAft>
              <a:buSzPct val="125000"/>
            </a:pPr>
            <a:r>
              <a:rPr lang="en-US" altLang="en-US" sz="1200" dirty="0">
                <a:latin typeface="Arial" panose="020B0604020202020204" pitchFamily="34" charset="0"/>
              </a:rPr>
              <a:t>Wrong: Decrease Quality Rejects by 25k</a:t>
            </a:r>
          </a:p>
          <a:p>
            <a:pPr lvl="1">
              <a:lnSpc>
                <a:spcPct val="115000"/>
              </a:lnSpc>
              <a:spcBef>
                <a:spcPct val="50000"/>
              </a:spcBef>
              <a:spcAft>
                <a:spcPct val="50000"/>
              </a:spcAft>
              <a:buSzPct val="125000"/>
            </a:pPr>
            <a:r>
              <a:rPr lang="en-US" altLang="en-US" sz="1200" dirty="0">
                <a:latin typeface="Arial" panose="020B0604020202020204" pitchFamily="34" charset="0"/>
              </a:rPr>
              <a:t>Right: Decrease Quality Rejects from 45k PPM to 20k PPM by 12/31/XX</a:t>
            </a:r>
          </a:p>
          <a:p>
            <a:pPr>
              <a:lnSpc>
                <a:spcPct val="115000"/>
              </a:lnSpc>
              <a:spcBef>
                <a:spcPct val="50000"/>
              </a:spcBef>
              <a:spcAft>
                <a:spcPct val="50000"/>
              </a:spcAft>
              <a:buSzPct val="125000"/>
            </a:pPr>
            <a:endParaRPr lang="en-US" altLang="en-US" sz="1600" dirty="0">
              <a:latin typeface="Arial" panose="020B0604020202020204" pitchFamily="34" charset="0"/>
            </a:endParaRPr>
          </a:p>
          <a:p>
            <a:pPr>
              <a:lnSpc>
                <a:spcPct val="115000"/>
              </a:lnSpc>
              <a:spcBef>
                <a:spcPct val="50000"/>
              </a:spcBef>
              <a:spcAft>
                <a:spcPct val="50000"/>
              </a:spcAft>
              <a:buSzPct val="125000"/>
            </a:pPr>
            <a:endParaRPr lang="en-US" altLang="en-US" sz="1600" dirty="0">
              <a:latin typeface="Arial" panose="020B0604020202020204" pitchFamily="34" charset="0"/>
            </a:endParaRPr>
          </a:p>
        </p:txBody>
      </p:sp>
      <p:grpSp>
        <p:nvGrpSpPr>
          <p:cNvPr id="4" name="Group 3">
            <a:extLst>
              <a:ext uri="{FF2B5EF4-FFF2-40B4-BE49-F238E27FC236}">
                <a16:creationId xmlns:a16="http://schemas.microsoft.com/office/drawing/2014/main" id="{3B143F58-20B4-9165-E0F4-F8149C516553}"/>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B2B508CF-7CC0-A14D-25B1-97D698059F0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7E41D958-EEEE-FCEB-4DDE-24E9161D6AA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84F1D944-722D-0AA5-EEB6-D1F8B322A1D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1">
              <a:extLst>
                <a:ext uri="{FF2B5EF4-FFF2-40B4-BE49-F238E27FC236}">
                  <a16:creationId xmlns:a16="http://schemas.microsoft.com/office/drawing/2014/main" id="{2D430D39-D2A0-C5AD-E65C-03667BCB3FE3}"/>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510E7D76-774B-7697-9E36-211BF2063C8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Breakthrough Objectives</a:t>
            </a:r>
          </a:p>
        </p:txBody>
      </p:sp>
    </p:spTree>
    <p:custDataLst>
      <p:tags r:id="rId1"/>
    </p:custDataLst>
    <p:extLst>
      <p:ext uri="{BB962C8B-B14F-4D97-AF65-F5344CB8AC3E}">
        <p14:creationId xmlns:p14="http://schemas.microsoft.com/office/powerpoint/2010/main" val="2531291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4E80-9FA5-498B-6665-67B48FA12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F03AD-4B38-BB15-6F7B-E9416F711E01}"/>
              </a:ext>
            </a:extLst>
          </p:cNvPr>
          <p:cNvSpPr>
            <a:spLocks noGrp="1"/>
          </p:cNvSpPr>
          <p:nvPr>
            <p:ph type="title"/>
          </p:nvPr>
        </p:nvSpPr>
        <p:spPr/>
        <p:txBody>
          <a:bodyPr>
            <a:normAutofit/>
          </a:bodyPr>
          <a:lstStyle/>
          <a:p>
            <a:r>
              <a:rPr lang="en-US" sz="4000" dirty="0">
                <a:latin typeface="Roboto Medium"/>
                <a:ea typeface="Roboto Medium"/>
                <a:cs typeface="Roboto Medium"/>
              </a:rPr>
              <a:t>Exercise: Alpha Beta Case Study</a:t>
            </a:r>
          </a:p>
        </p:txBody>
      </p:sp>
      <p:sp>
        <p:nvSpPr>
          <p:cNvPr id="11" name="Rectangle 10">
            <a:extLst>
              <a:ext uri="{FF2B5EF4-FFF2-40B4-BE49-F238E27FC236}">
                <a16:creationId xmlns:a16="http://schemas.microsoft.com/office/drawing/2014/main" id="{EDB0D73E-A40B-B8D5-0C5F-BD18CD957300}"/>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Develop Targets for Alpha Beta Case Study </a:t>
            </a:r>
          </a:p>
        </p:txBody>
      </p:sp>
      <p:sp>
        <p:nvSpPr>
          <p:cNvPr id="12" name="TextBox 11">
            <a:extLst>
              <a:ext uri="{FF2B5EF4-FFF2-40B4-BE49-F238E27FC236}">
                <a16:creationId xmlns:a16="http://schemas.microsoft.com/office/drawing/2014/main" id="{AC479FAC-FE36-FD82-E9BB-75910DD01C69}"/>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21F42B3A-22C8-B89C-BD15-F9EE54067B90}"/>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3125E1AA-11BE-590C-852D-BD7BA8A9A48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Develop Top Level Targets that measure the</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effectiveness of the AIPs for the Alpha Beta Company</a:t>
            </a:r>
          </a:p>
        </p:txBody>
      </p:sp>
      <p:sp>
        <p:nvSpPr>
          <p:cNvPr id="15" name="TextBox 14">
            <a:extLst>
              <a:ext uri="{FF2B5EF4-FFF2-40B4-BE49-F238E27FC236}">
                <a16:creationId xmlns:a16="http://schemas.microsoft.com/office/drawing/2014/main" id="{B63F5A91-6D46-9820-C59C-40638293755C}"/>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43C398AB-177D-5541-8E26-4994CF763C66}"/>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452714BE-9113-8191-0006-A774910840B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45 minutes</a:t>
            </a:r>
          </a:p>
        </p:txBody>
      </p:sp>
      <p:sp>
        <p:nvSpPr>
          <p:cNvPr id="18" name="Rectangle 17">
            <a:extLst>
              <a:ext uri="{FF2B5EF4-FFF2-40B4-BE49-F238E27FC236}">
                <a16:creationId xmlns:a16="http://schemas.microsoft.com/office/drawing/2014/main" id="{AC1223D7-4A71-3587-80AF-D321AC8E4A86}"/>
              </a:ext>
            </a:extLst>
          </p:cNvPr>
          <p:cNvSpPr/>
          <p:nvPr/>
        </p:nvSpPr>
        <p:spPr>
          <a:xfrm>
            <a:off x="5879250" y="4659513"/>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1–2 Targets for each AIP for Alpha Beta Company </a:t>
            </a:r>
          </a:p>
        </p:txBody>
      </p:sp>
      <p:grpSp>
        <p:nvGrpSpPr>
          <p:cNvPr id="3" name="Group 2">
            <a:extLst>
              <a:ext uri="{FF2B5EF4-FFF2-40B4-BE49-F238E27FC236}">
                <a16:creationId xmlns:a16="http://schemas.microsoft.com/office/drawing/2014/main" id="{2CCA3574-B0D3-75E2-3EBE-3A73EFB8B576}"/>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F218F65A-CEA1-F530-F9D3-046BCB85AD68}"/>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79B0FF12-9F69-554F-308C-72F2C409A7A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9B7EB2A1-D9E1-D365-749C-441DB09D05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4AD9EB1A-B0B7-1129-E344-DF2D0F68A6BD}"/>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9" name="TextBox 8">
            <a:extLst>
              <a:ext uri="{FF2B5EF4-FFF2-40B4-BE49-F238E27FC236}">
                <a16:creationId xmlns:a16="http://schemas.microsoft.com/office/drawing/2014/main" id="{7E80C533-2924-C5A4-8EC9-E85813A3C166}"/>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Targets</a:t>
            </a:r>
          </a:p>
        </p:txBody>
      </p:sp>
    </p:spTree>
    <p:custDataLst>
      <p:tags r:id="rId1"/>
    </p:custDataLst>
    <p:extLst>
      <p:ext uri="{BB962C8B-B14F-4D97-AF65-F5344CB8AC3E}">
        <p14:creationId xmlns:p14="http://schemas.microsoft.com/office/powerpoint/2010/main" val="38725779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76617-3BCA-FC66-4DC7-9AD3B7AEF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EE454-3A75-C5F8-CF81-D5BF718D08F8}"/>
              </a:ext>
            </a:extLst>
          </p:cNvPr>
          <p:cNvSpPr>
            <a:spLocks noGrp="1"/>
          </p:cNvSpPr>
          <p:nvPr>
            <p:ph type="title" idx="4294967295"/>
          </p:nvPr>
        </p:nvSpPr>
        <p:spPr>
          <a:xfrm>
            <a:off x="699911" y="1497012"/>
            <a:ext cx="10792178" cy="1009650"/>
          </a:xfrm>
          <a:prstGeom prst="rect">
            <a:avLst/>
          </a:prstGeom>
        </p:spPr>
        <p:txBody>
          <a:bodyPr>
            <a:normAutofit/>
          </a:bodyPr>
          <a:lstStyle/>
          <a:p>
            <a:r>
              <a:rPr lang="en-US" sz="4000" dirty="0">
                <a:latin typeface="Roboto Medium"/>
                <a:ea typeface="Roboto Medium"/>
                <a:cs typeface="Roboto Medium"/>
              </a:rPr>
              <a:t>Establishing Resources</a:t>
            </a:r>
          </a:p>
        </p:txBody>
      </p:sp>
      <p:sp>
        <p:nvSpPr>
          <p:cNvPr id="3" name="Content Placeholder 2">
            <a:extLst>
              <a:ext uri="{FF2B5EF4-FFF2-40B4-BE49-F238E27FC236}">
                <a16:creationId xmlns:a16="http://schemas.microsoft.com/office/drawing/2014/main" id="{5834113B-2A0A-BD37-8EC7-B558B8280D5E}"/>
              </a:ext>
            </a:extLst>
          </p:cNvPr>
          <p:cNvSpPr>
            <a:spLocks noGrp="1"/>
          </p:cNvSpPr>
          <p:nvPr>
            <p:ph idx="4294967295"/>
          </p:nvPr>
        </p:nvSpPr>
        <p:spPr>
          <a:xfrm>
            <a:off x="722489" y="2506662"/>
            <a:ext cx="10515600" cy="3821400"/>
          </a:xfrm>
        </p:spPr>
        <p:txBody>
          <a:bodyPr>
            <a:normAutofit/>
          </a:bodyPr>
          <a:lstStyle/>
          <a:p>
            <a:pPr marL="0" indent="0">
              <a:lnSpc>
                <a:spcPct val="100000"/>
              </a:lnSpc>
              <a:buNone/>
            </a:pPr>
            <a:r>
              <a:rPr lang="en-US" b="1" dirty="0">
                <a:latin typeface="+mn-lt"/>
                <a:ea typeface="Roboto Medium" panose="02000000000000000000" pitchFamily="2" charset="0"/>
                <a:cs typeface="Roboto Medium" panose="02000000000000000000" pitchFamily="2" charset="0"/>
              </a:rPr>
              <a:t>Objectives:</a:t>
            </a:r>
          </a:p>
          <a:p>
            <a:pPr>
              <a:lnSpc>
                <a:spcPct val="100000"/>
              </a:lnSpc>
            </a:pPr>
            <a:r>
              <a:rPr lang="en-US" dirty="0">
                <a:latin typeface="+mn-lt"/>
              </a:rPr>
              <a:t>To review general guidelines for establishing resources</a:t>
            </a:r>
          </a:p>
          <a:p>
            <a:pPr>
              <a:lnSpc>
                <a:spcPct val="100000"/>
              </a:lnSpc>
            </a:pPr>
            <a:r>
              <a:rPr lang="en-US" dirty="0">
                <a:latin typeface="+mn-lt"/>
              </a:rPr>
              <a:t>To define team composition</a:t>
            </a:r>
          </a:p>
          <a:p>
            <a:pPr>
              <a:lnSpc>
                <a:spcPct val="100000"/>
              </a:lnSpc>
            </a:pPr>
            <a:r>
              <a:rPr lang="en-US" dirty="0">
                <a:latin typeface="+mn-lt"/>
              </a:rPr>
              <a:t>To identify lead and supporting resources for each AIP for Alpha Beta Case Study</a:t>
            </a:r>
          </a:p>
        </p:txBody>
      </p:sp>
      <p:cxnSp>
        <p:nvCxnSpPr>
          <p:cNvPr id="12" name="Straight Connector 11">
            <a:extLst>
              <a:ext uri="{FF2B5EF4-FFF2-40B4-BE49-F238E27FC236}">
                <a16:creationId xmlns:a16="http://schemas.microsoft.com/office/drawing/2014/main" id="{36197E82-EEA9-DA7B-6900-3F82E431AF58}"/>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A083416-A435-F71B-D2FE-2A98C899D63B}"/>
              </a:ext>
            </a:extLst>
          </p:cNvPr>
          <p:cNvGrpSpPr/>
          <p:nvPr/>
        </p:nvGrpSpPr>
        <p:grpSpPr>
          <a:xfrm>
            <a:off x="699911" y="837133"/>
            <a:ext cx="5850075" cy="659879"/>
            <a:chOff x="699911" y="1069861"/>
            <a:chExt cx="5850075" cy="350130"/>
          </a:xfrm>
        </p:grpSpPr>
        <p:sp>
          <p:nvSpPr>
            <p:cNvPr id="7" name="AutoShape 9">
              <a:extLst>
                <a:ext uri="{FF2B5EF4-FFF2-40B4-BE49-F238E27FC236}">
                  <a16:creationId xmlns:a16="http://schemas.microsoft.com/office/drawing/2014/main" id="{2CEBC57D-ADA2-6924-1A10-FE27FA226DE3}"/>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grpSp>
          <p:nvGrpSpPr>
            <p:cNvPr id="8" name="Group 7">
              <a:extLst>
                <a:ext uri="{FF2B5EF4-FFF2-40B4-BE49-F238E27FC236}">
                  <a16:creationId xmlns:a16="http://schemas.microsoft.com/office/drawing/2014/main" id="{E05632A5-1321-E028-AF11-A7BBB4391632}"/>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6F73C380-23AA-DD6A-7F1A-9EAE91DFAC74}"/>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10" name="AutoShape 10">
                <a:extLst>
                  <a:ext uri="{FF2B5EF4-FFF2-40B4-BE49-F238E27FC236}">
                    <a16:creationId xmlns:a16="http://schemas.microsoft.com/office/drawing/2014/main" id="{98B53264-57D4-ACB8-5D9D-82AE766E8BD5}"/>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Components of Top Level Matrix</a:t>
                </a:r>
              </a:p>
            </p:txBody>
          </p:sp>
          <p:sp>
            <p:nvSpPr>
              <p:cNvPr id="11" name="AutoShape 11">
                <a:extLst>
                  <a:ext uri="{FF2B5EF4-FFF2-40B4-BE49-F238E27FC236}">
                    <a16:creationId xmlns:a16="http://schemas.microsoft.com/office/drawing/2014/main" id="{6BF7DDCD-8D83-7A05-FB6F-E163A68CBFF0}"/>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grpSp>
    </p:spTree>
    <p:custDataLst>
      <p:tags r:id="rId1"/>
    </p:custDataLst>
    <p:extLst>
      <p:ext uri="{BB962C8B-B14F-4D97-AF65-F5344CB8AC3E}">
        <p14:creationId xmlns:p14="http://schemas.microsoft.com/office/powerpoint/2010/main" val="35909283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255DF-C44C-472B-B2DA-65A13F7CAD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A0BA6-2EA8-AD66-E968-4438C258C6BF}"/>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Establishing Resources</a:t>
            </a:r>
            <a:endParaRPr lang="en-US" sz="4000" dirty="0"/>
          </a:p>
        </p:txBody>
      </p:sp>
      <p:grpSp>
        <p:nvGrpSpPr>
          <p:cNvPr id="3" name="Group 2">
            <a:extLst>
              <a:ext uri="{FF2B5EF4-FFF2-40B4-BE49-F238E27FC236}">
                <a16:creationId xmlns:a16="http://schemas.microsoft.com/office/drawing/2014/main" id="{4ECC00C5-BF4B-D933-AF89-19FB619B40D6}"/>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2F582361-DFC5-A8EC-BDFF-4E81A654D3AA}"/>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1188930D-2DF0-7872-BC14-EE8EFE508AC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4890850B-63B8-B3C4-8CD4-63B1FA5AD03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8" name="AutoShape 11">
              <a:extLst>
                <a:ext uri="{FF2B5EF4-FFF2-40B4-BE49-F238E27FC236}">
                  <a16:creationId xmlns:a16="http://schemas.microsoft.com/office/drawing/2014/main" id="{58D372A8-EF35-2B22-C1FB-4C6FC365C0D8}"/>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9" name="TextBox 18">
            <a:extLst>
              <a:ext uri="{FF2B5EF4-FFF2-40B4-BE49-F238E27FC236}">
                <a16:creationId xmlns:a16="http://schemas.microsoft.com/office/drawing/2014/main" id="{6BAB065E-F573-EE2C-7668-E21ECF2644B1}"/>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Resources</a:t>
            </a:r>
          </a:p>
        </p:txBody>
      </p:sp>
      <p:pic>
        <p:nvPicPr>
          <p:cNvPr id="5" name="Picture 17">
            <a:extLst>
              <a:ext uri="{FF2B5EF4-FFF2-40B4-BE49-F238E27FC236}">
                <a16:creationId xmlns:a16="http://schemas.microsoft.com/office/drawing/2014/main" id="{6B1C54C3-0A22-1958-33BB-2FD15553C0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6957" y="1777822"/>
            <a:ext cx="7778086" cy="450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28">
            <a:extLst>
              <a:ext uri="{FF2B5EF4-FFF2-40B4-BE49-F238E27FC236}">
                <a16:creationId xmlns:a16="http://schemas.microsoft.com/office/drawing/2014/main" id="{470A001F-EEFD-81BE-4DE7-5CBEAB981FBC}"/>
              </a:ext>
            </a:extLst>
          </p:cNvPr>
          <p:cNvSpPr>
            <a:spLocks noChangeArrowheads="1"/>
          </p:cNvSpPr>
          <p:nvPr/>
        </p:nvSpPr>
        <p:spPr bwMode="auto">
          <a:xfrm rot="5400000">
            <a:off x="3658797" y="2431752"/>
            <a:ext cx="1422635" cy="2481949"/>
          </a:xfrm>
          <a:prstGeom prst="homePlate">
            <a:avLst>
              <a:gd name="adj" fmla="val 42509"/>
            </a:avLst>
          </a:prstGeom>
          <a:solidFill>
            <a:srgbClr val="DDDDDD"/>
          </a:solidFill>
          <a:ln w="12700" cap="sq">
            <a:solidFill>
              <a:schemeClr val="tx1"/>
            </a:solidFill>
            <a:miter lim="800000"/>
            <a:headEnd/>
            <a:tailEnd/>
          </a:ln>
        </p:spPr>
        <p:txBody>
          <a:bodyPr rot="10800000" vert="eaVert"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HOW</a:t>
            </a:r>
          </a:p>
        </p:txBody>
      </p:sp>
      <p:sp>
        <p:nvSpPr>
          <p:cNvPr id="41" name="AutoShape 299">
            <a:extLst>
              <a:ext uri="{FF2B5EF4-FFF2-40B4-BE49-F238E27FC236}">
                <a16:creationId xmlns:a16="http://schemas.microsoft.com/office/drawing/2014/main" id="{CC2551DA-1795-5022-8FD6-35D6A04E02F1}"/>
              </a:ext>
            </a:extLst>
          </p:cNvPr>
          <p:cNvSpPr>
            <a:spLocks noChangeArrowheads="1"/>
          </p:cNvSpPr>
          <p:nvPr/>
        </p:nvSpPr>
        <p:spPr bwMode="auto">
          <a:xfrm>
            <a:off x="2732141" y="3416384"/>
            <a:ext cx="1667796" cy="1935320"/>
          </a:xfrm>
          <a:prstGeom prst="homePlate">
            <a:avLst>
              <a:gd name="adj" fmla="val 53926"/>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WHAT</a:t>
            </a:r>
          </a:p>
        </p:txBody>
      </p:sp>
      <p:sp>
        <p:nvSpPr>
          <p:cNvPr id="7" name="AutoShape 16">
            <a:extLst>
              <a:ext uri="{FF2B5EF4-FFF2-40B4-BE49-F238E27FC236}">
                <a16:creationId xmlns:a16="http://schemas.microsoft.com/office/drawing/2014/main" id="{4E658977-8279-0940-022D-DC230732D513}"/>
              </a:ext>
            </a:extLst>
          </p:cNvPr>
          <p:cNvSpPr>
            <a:spLocks noChangeArrowheads="1"/>
          </p:cNvSpPr>
          <p:nvPr/>
        </p:nvSpPr>
        <p:spPr bwMode="auto">
          <a:xfrm flipH="1">
            <a:off x="4370114" y="3295019"/>
            <a:ext cx="2024063" cy="2178050"/>
          </a:xfrm>
          <a:prstGeom prst="homePlate">
            <a:avLst>
              <a:gd name="adj" fmla="val 53926"/>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HOW MUCH/</a:t>
            </a:r>
            <a:br>
              <a:rPr lang="en-US" altLang="en-US" sz="1800">
                <a:solidFill>
                  <a:schemeClr val="tx1"/>
                </a:solidFill>
                <a:latin typeface="Arial" panose="020B0604020202020204" pitchFamily="34" charset="0"/>
              </a:rPr>
            </a:br>
            <a:r>
              <a:rPr lang="en-US" altLang="en-US" sz="1800">
                <a:solidFill>
                  <a:schemeClr val="tx1"/>
                </a:solidFill>
                <a:latin typeface="Arial" panose="020B0604020202020204" pitchFamily="34" charset="0"/>
              </a:rPr>
              <a:t>BY WHEN</a:t>
            </a:r>
          </a:p>
        </p:txBody>
      </p:sp>
      <p:sp>
        <p:nvSpPr>
          <p:cNvPr id="8" name="Rectangle 24">
            <a:extLst>
              <a:ext uri="{FF2B5EF4-FFF2-40B4-BE49-F238E27FC236}">
                <a16:creationId xmlns:a16="http://schemas.microsoft.com/office/drawing/2014/main" id="{DF50C1F7-B5E7-2E5C-236D-3D3FF598E2A9}"/>
              </a:ext>
            </a:extLst>
          </p:cNvPr>
          <p:cNvSpPr>
            <a:spLocks noChangeArrowheads="1"/>
          </p:cNvSpPr>
          <p:nvPr/>
        </p:nvSpPr>
        <p:spPr bwMode="auto">
          <a:xfrm>
            <a:off x="7048499" y="3416385"/>
            <a:ext cx="2890839" cy="1935320"/>
          </a:xfrm>
          <a:prstGeom prst="rect">
            <a:avLst/>
          </a:prstGeom>
          <a:solidFill>
            <a:srgbClr val="CCFFCC"/>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solidFill>
                  <a:schemeClr val="tx1"/>
                </a:solidFill>
                <a:latin typeface="Arial" panose="020B0604020202020204" pitchFamily="34" charset="0"/>
              </a:rPr>
              <a:t>WHO</a:t>
            </a:r>
          </a:p>
        </p:txBody>
      </p:sp>
    </p:spTree>
    <p:custDataLst>
      <p:tags r:id="rId1"/>
    </p:custDataLst>
    <p:extLst>
      <p:ext uri="{BB962C8B-B14F-4D97-AF65-F5344CB8AC3E}">
        <p14:creationId xmlns:p14="http://schemas.microsoft.com/office/powerpoint/2010/main" val="21924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right)">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E22A7-B91B-7199-29CD-EC2833123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117EB-EE21-E476-8D58-9339177E4E2A}"/>
              </a:ext>
            </a:extLst>
          </p:cNvPr>
          <p:cNvSpPr>
            <a:spLocks noGrp="1"/>
          </p:cNvSpPr>
          <p:nvPr>
            <p:ph type="title"/>
          </p:nvPr>
        </p:nvSpPr>
        <p:spPr/>
        <p:txBody>
          <a:bodyPr>
            <a:noAutofit/>
          </a:bodyPr>
          <a:lstStyle/>
          <a:p>
            <a:r>
              <a:rPr lang="en-US" sz="3600" dirty="0"/>
              <a:t>Establish Resources – Guidelines</a:t>
            </a:r>
          </a:p>
        </p:txBody>
      </p:sp>
      <p:sp>
        <p:nvSpPr>
          <p:cNvPr id="3" name="Content Placeholder 2">
            <a:extLst>
              <a:ext uri="{FF2B5EF4-FFF2-40B4-BE49-F238E27FC236}">
                <a16:creationId xmlns:a16="http://schemas.microsoft.com/office/drawing/2014/main" id="{3E534E94-0863-292E-5938-AA4376BB2B83}"/>
              </a:ext>
            </a:extLst>
          </p:cNvPr>
          <p:cNvSpPr>
            <a:spLocks noGrp="1"/>
          </p:cNvSpPr>
          <p:nvPr>
            <p:ph idx="1"/>
          </p:nvPr>
        </p:nvSpPr>
        <p:spPr/>
        <p:txBody>
          <a:bodyPr>
            <a:normAutofit/>
          </a:bodyPr>
          <a:lstStyle/>
          <a:p>
            <a:pPr>
              <a:buSzPct val="125000"/>
            </a:pPr>
            <a:r>
              <a:rPr lang="en-US" altLang="en-US" sz="1800" dirty="0">
                <a:latin typeface="Arial" panose="020B0604020202020204" pitchFamily="34" charset="0"/>
              </a:rPr>
              <a:t>As a rule, each AIP needs to have one primary resource assigned as an AIP Owner and an Alternate AIP Owner should the primary resource not be available due to vacations, illness, etc.</a:t>
            </a:r>
          </a:p>
          <a:p>
            <a:pPr>
              <a:buSzPct val="125000"/>
            </a:pPr>
            <a:r>
              <a:rPr lang="en-US" altLang="en-US" sz="1800" dirty="0">
                <a:latin typeface="Arial" panose="020B0604020202020204" pitchFamily="34" charset="0"/>
              </a:rPr>
              <a:t>The following symbols are used to designate:</a:t>
            </a:r>
            <a:endParaRPr lang="en-US" altLang="en-US" sz="3200" dirty="0">
              <a:latin typeface="Arial" panose="020B0604020202020204" pitchFamily="34" charset="0"/>
            </a:endParaRPr>
          </a:p>
          <a:p>
            <a:pPr>
              <a:buSzPct val="90000"/>
              <a:buNone/>
            </a:pPr>
            <a:r>
              <a:rPr lang="en-US" altLang="en-US" sz="1800" dirty="0">
                <a:latin typeface="Wingdings" panose="05000000000000000000" pitchFamily="2" charset="2"/>
              </a:rPr>
              <a:t>	l</a:t>
            </a:r>
            <a:r>
              <a:rPr lang="en-US" altLang="en-US" sz="1800" dirty="0">
                <a:latin typeface="Arial" panose="020B0604020202020204" pitchFamily="34" charset="0"/>
              </a:rPr>
              <a:t> Primary Resource – AIP Owner </a:t>
            </a:r>
            <a:endParaRPr lang="en-US" altLang="en-US" sz="3200" dirty="0">
              <a:latin typeface="Arial" panose="020B0604020202020204" pitchFamily="34" charset="0"/>
            </a:endParaRPr>
          </a:p>
          <a:p>
            <a:pPr lvl="1">
              <a:buSzPct val="125000"/>
            </a:pPr>
            <a:r>
              <a:rPr lang="en-US" altLang="en-US" sz="1600" dirty="0">
                <a:latin typeface="Arial" panose="020B0604020202020204" pitchFamily="34" charset="0"/>
              </a:rPr>
              <a:t>	Has Full Responsibility Implementing the AIP</a:t>
            </a:r>
          </a:p>
          <a:p>
            <a:pPr lvl="3">
              <a:buSzPct val="125000"/>
            </a:pPr>
            <a:r>
              <a:rPr lang="en-US" altLang="en-US" sz="1600" dirty="0">
                <a:latin typeface="Arial" panose="020B0604020202020204" pitchFamily="34" charset="0"/>
              </a:rPr>
              <a:t>Assuring Sustainable Processes are Created</a:t>
            </a:r>
          </a:p>
          <a:p>
            <a:pPr lvl="3">
              <a:buSzPct val="125000"/>
            </a:pPr>
            <a:r>
              <a:rPr lang="en-US" altLang="en-US" sz="1600" dirty="0">
                <a:latin typeface="Arial" panose="020B0604020202020204" pitchFamily="34" charset="0"/>
              </a:rPr>
              <a:t>Assuring the Business Results are Achieved</a:t>
            </a:r>
          </a:p>
          <a:p>
            <a:pPr>
              <a:buSzPct val="90000"/>
              <a:buNone/>
            </a:pPr>
            <a:r>
              <a:rPr lang="en-US" altLang="en-US" sz="1800" dirty="0">
                <a:latin typeface="Wingdings" panose="05000000000000000000" pitchFamily="2" charset="2"/>
              </a:rPr>
              <a:t> u</a:t>
            </a:r>
            <a:r>
              <a:rPr lang="en-US" altLang="en-US" sz="3200" dirty="0">
                <a:latin typeface="Arial" panose="020B0604020202020204" pitchFamily="34" charset="0"/>
              </a:rPr>
              <a:t> </a:t>
            </a:r>
            <a:r>
              <a:rPr lang="en-US" altLang="en-US" sz="1800" dirty="0">
                <a:latin typeface="Arial" panose="020B0604020202020204" pitchFamily="34" charset="0"/>
              </a:rPr>
              <a:t>Alternate AIP Owner (Optional)</a:t>
            </a:r>
          </a:p>
          <a:p>
            <a:pPr lvl="2">
              <a:buSzPct val="125000"/>
            </a:pPr>
            <a:r>
              <a:rPr lang="en-US" altLang="en-US" sz="1600" dirty="0">
                <a:latin typeface="Arial" panose="020B0604020202020204" pitchFamily="34" charset="0"/>
              </a:rPr>
              <a:t>Is Assigned the Responsibility as AIP Owner when the Primary Resource / AIP Owner is Not Available to Conduct Meetings, etc.		 </a:t>
            </a:r>
            <a:endParaRPr lang="en-US" altLang="en-US" sz="1800" dirty="0">
              <a:latin typeface="Arial" panose="020B0604020202020204" pitchFamily="34" charset="0"/>
            </a:endParaRPr>
          </a:p>
          <a:p>
            <a:pPr lvl="1">
              <a:buSzPct val="90000"/>
              <a:buNone/>
            </a:pPr>
            <a:r>
              <a:rPr lang="en-US" altLang="en-US" sz="1800" dirty="0">
                <a:latin typeface="Arial" panose="020B0604020202020204" pitchFamily="34" charset="0"/>
              </a:rPr>
              <a:t>AIP Owners and the Alternate AIP Owners cascade to the next level.</a:t>
            </a:r>
          </a:p>
        </p:txBody>
      </p:sp>
      <p:grpSp>
        <p:nvGrpSpPr>
          <p:cNvPr id="4" name="Group 3">
            <a:extLst>
              <a:ext uri="{FF2B5EF4-FFF2-40B4-BE49-F238E27FC236}">
                <a16:creationId xmlns:a16="http://schemas.microsoft.com/office/drawing/2014/main" id="{74804015-9133-B672-12B5-CDBB9CB229BD}"/>
              </a:ext>
            </a:extLst>
          </p:cNvPr>
          <p:cNvGrpSpPr/>
          <p:nvPr/>
        </p:nvGrpSpPr>
        <p:grpSpPr>
          <a:xfrm>
            <a:off x="961102" y="302894"/>
            <a:ext cx="1229200" cy="290657"/>
            <a:chOff x="940249" y="315206"/>
            <a:chExt cx="1373841" cy="265062"/>
          </a:xfrm>
        </p:grpSpPr>
        <p:sp>
          <p:nvSpPr>
            <p:cNvPr id="5" name="AutoShape 9">
              <a:extLst>
                <a:ext uri="{FF2B5EF4-FFF2-40B4-BE49-F238E27FC236}">
                  <a16:creationId xmlns:a16="http://schemas.microsoft.com/office/drawing/2014/main" id="{6B3B7044-123D-5542-5AF7-C491C0F0996B}"/>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0A79869F-1B3A-9F64-5AA8-75943AF7187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55B46009-7776-28C3-EF3A-FA852F44424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1">
              <a:extLst>
                <a:ext uri="{FF2B5EF4-FFF2-40B4-BE49-F238E27FC236}">
                  <a16:creationId xmlns:a16="http://schemas.microsoft.com/office/drawing/2014/main" id="{9F76E3AB-570A-C235-335B-4A5A00ED63C1}"/>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033F03E0-C051-2891-415A-BD3BBC01D60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Resources</a:t>
            </a:r>
          </a:p>
        </p:txBody>
      </p:sp>
    </p:spTree>
    <p:custDataLst>
      <p:tags r:id="rId1"/>
    </p:custDataLst>
    <p:extLst>
      <p:ext uri="{BB962C8B-B14F-4D97-AF65-F5344CB8AC3E}">
        <p14:creationId xmlns:p14="http://schemas.microsoft.com/office/powerpoint/2010/main" val="34052264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436A-8324-E7AF-FE80-E48A38B0A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19D81-B9F3-8223-A32A-F78087C5801E}"/>
              </a:ext>
            </a:extLst>
          </p:cNvPr>
          <p:cNvSpPr>
            <a:spLocks noGrp="1"/>
          </p:cNvSpPr>
          <p:nvPr>
            <p:ph type="title"/>
          </p:nvPr>
        </p:nvSpPr>
        <p:spPr/>
        <p:txBody>
          <a:bodyPr>
            <a:noAutofit/>
          </a:bodyPr>
          <a:lstStyle/>
          <a:p>
            <a:r>
              <a:rPr lang="en-US" sz="2800" dirty="0"/>
              <a:t>Process for Developing Cross-functional Teams for each AIP</a:t>
            </a:r>
          </a:p>
        </p:txBody>
      </p:sp>
      <p:sp>
        <p:nvSpPr>
          <p:cNvPr id="4" name="Content Placeholder 3">
            <a:extLst>
              <a:ext uri="{FF2B5EF4-FFF2-40B4-BE49-F238E27FC236}">
                <a16:creationId xmlns:a16="http://schemas.microsoft.com/office/drawing/2014/main" id="{E759F474-F54C-F41E-469B-FD741DE35C36}"/>
              </a:ext>
            </a:extLst>
          </p:cNvPr>
          <p:cNvSpPr>
            <a:spLocks noGrp="1"/>
          </p:cNvSpPr>
          <p:nvPr>
            <p:ph sz="half" idx="2"/>
          </p:nvPr>
        </p:nvSpPr>
        <p:spPr/>
        <p:txBody>
          <a:bodyPr>
            <a:normAutofit fontScale="92500" lnSpcReduction="10000"/>
          </a:bodyPr>
          <a:lstStyle/>
          <a:p>
            <a:pPr>
              <a:buSzPct val="125000"/>
            </a:pPr>
            <a:r>
              <a:rPr lang="en-US" altLang="en-US" dirty="0"/>
              <a:t>Group exercise…all will participate.</a:t>
            </a:r>
          </a:p>
          <a:p>
            <a:pPr>
              <a:buSzPct val="125000"/>
            </a:pPr>
            <a:r>
              <a:rPr lang="en-US" altLang="en-US" dirty="0"/>
              <a:t>Determine AIP Owners (Black Dot).</a:t>
            </a:r>
          </a:p>
          <a:p>
            <a:pPr>
              <a:buSzPct val="125000"/>
            </a:pPr>
            <a:r>
              <a:rPr lang="en-US" altLang="en-US" dirty="0"/>
              <a:t>Determine Alternate AIP Owners (Black Diamond), (Optional).</a:t>
            </a:r>
          </a:p>
          <a:p>
            <a:pPr>
              <a:buSzPct val="125000"/>
            </a:pPr>
            <a:r>
              <a:rPr lang="en-US" altLang="en-US" dirty="0"/>
              <a:t>Perform sanity check as to resource loads, etc.</a:t>
            </a:r>
          </a:p>
          <a:p>
            <a:pPr>
              <a:buSzPct val="125000"/>
            </a:pPr>
            <a:r>
              <a:rPr lang="en-US" altLang="en-US" dirty="0"/>
              <a:t>Insert the names and titles of AIP Owners and Alternate AIP Owners for each AIP into Matrix.</a:t>
            </a:r>
          </a:p>
        </p:txBody>
      </p:sp>
      <p:grpSp>
        <p:nvGrpSpPr>
          <p:cNvPr id="5" name="Group 4">
            <a:extLst>
              <a:ext uri="{FF2B5EF4-FFF2-40B4-BE49-F238E27FC236}">
                <a16:creationId xmlns:a16="http://schemas.microsoft.com/office/drawing/2014/main" id="{3896E233-1C16-DF5B-0039-2AB574D90763}"/>
              </a:ext>
            </a:extLst>
          </p:cNvPr>
          <p:cNvGrpSpPr/>
          <p:nvPr/>
        </p:nvGrpSpPr>
        <p:grpSpPr>
          <a:xfrm>
            <a:off x="961102" y="302894"/>
            <a:ext cx="1229200" cy="290657"/>
            <a:chOff x="940249" y="315206"/>
            <a:chExt cx="1373841" cy="265062"/>
          </a:xfrm>
        </p:grpSpPr>
        <p:sp>
          <p:nvSpPr>
            <p:cNvPr id="6" name="AutoShape 9">
              <a:extLst>
                <a:ext uri="{FF2B5EF4-FFF2-40B4-BE49-F238E27FC236}">
                  <a16:creationId xmlns:a16="http://schemas.microsoft.com/office/drawing/2014/main" id="{D728689C-88E9-257C-3B25-77230167F59F}"/>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C614A2A-3B0A-559E-965D-74327A30264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0">
              <a:extLst>
                <a:ext uri="{FF2B5EF4-FFF2-40B4-BE49-F238E27FC236}">
                  <a16:creationId xmlns:a16="http://schemas.microsoft.com/office/drawing/2014/main" id="{E2D1C61A-0E9B-D52D-90A7-0E24003E501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CA1C1B78-E3A6-3EA8-EDD7-B0D88B429C37}"/>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90E1A85A-5696-573F-A114-C825A21F1E8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Resources</a:t>
            </a:r>
          </a:p>
        </p:txBody>
      </p:sp>
      <p:pic>
        <p:nvPicPr>
          <p:cNvPr id="11" name="Picture 78" descr="Process for Developing Multifunctional Teams for Each AIP">
            <a:extLst>
              <a:ext uri="{FF2B5EF4-FFF2-40B4-BE49-F238E27FC236}">
                <a16:creationId xmlns:a16="http://schemas.microsoft.com/office/drawing/2014/main" id="{A988BB5E-C5F0-F83D-7058-7F7AC64FEB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6363" y="1916112"/>
            <a:ext cx="3348037" cy="408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1543743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46EB2-08C9-BF9D-3DA7-D3510C4E2EF4}"/>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93315D4F-872F-A33A-EDBC-00A6C9AB0B6C}"/>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Creating Your Breakthrough Objectives, AIPs, Targets and Determining Resources</a:t>
            </a:r>
          </a:p>
        </p:txBody>
      </p:sp>
      <p:sp>
        <p:nvSpPr>
          <p:cNvPr id="12" name="Rectangle 11">
            <a:extLst>
              <a:ext uri="{FF2B5EF4-FFF2-40B4-BE49-F238E27FC236}">
                <a16:creationId xmlns:a16="http://schemas.microsoft.com/office/drawing/2014/main" id="{B91C2A39-1EA4-100D-98D6-6B475EB23FFA}"/>
              </a:ext>
            </a:extLst>
          </p:cNvPr>
          <p:cNvSpPr>
            <a:spLocks/>
          </p:cNvSpPr>
          <p:nvPr/>
        </p:nvSpPr>
        <p:spPr>
          <a:xfrm>
            <a:off x="940247" y="1934137"/>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Breakthrough Objectives</a:t>
            </a:r>
            <a:endPar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Rectangle 12">
            <a:extLst>
              <a:ext uri="{FF2B5EF4-FFF2-40B4-BE49-F238E27FC236}">
                <a16:creationId xmlns:a16="http://schemas.microsoft.com/office/drawing/2014/main" id="{A80DF21E-56CF-A81F-E6C5-2DBFAFFD39BE}"/>
              </a:ext>
            </a:extLst>
          </p:cNvPr>
          <p:cNvSpPr>
            <a:spLocks/>
          </p:cNvSpPr>
          <p:nvPr/>
        </p:nvSpPr>
        <p:spPr>
          <a:xfrm>
            <a:off x="940248" y="3028466"/>
            <a:ext cx="1041355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Annual Improvement Priorities (AIPs)</a:t>
            </a:r>
          </a:p>
        </p:txBody>
      </p:sp>
      <p:sp>
        <p:nvSpPr>
          <p:cNvPr id="14" name="Rectangle 13">
            <a:extLst>
              <a:ext uri="{FF2B5EF4-FFF2-40B4-BE49-F238E27FC236}">
                <a16:creationId xmlns:a16="http://schemas.microsoft.com/office/drawing/2014/main" id="{778186C9-08E9-DA9A-7313-F46841E6BD1F}"/>
              </a:ext>
            </a:extLst>
          </p:cNvPr>
          <p:cNvSpPr>
            <a:spLocks/>
          </p:cNvSpPr>
          <p:nvPr/>
        </p:nvSpPr>
        <p:spPr>
          <a:xfrm>
            <a:off x="940247" y="4122795"/>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Targets to Improve</a:t>
            </a:r>
          </a:p>
        </p:txBody>
      </p:sp>
      <p:sp>
        <p:nvSpPr>
          <p:cNvPr id="16" name="Rectangle 15">
            <a:extLst>
              <a:ext uri="{FF2B5EF4-FFF2-40B4-BE49-F238E27FC236}">
                <a16:creationId xmlns:a16="http://schemas.microsoft.com/office/drawing/2014/main" id="{CB40E48A-4F5F-4706-5C0E-808FF432DFF1}"/>
              </a:ext>
            </a:extLst>
          </p:cNvPr>
          <p:cNvSpPr>
            <a:spLocks/>
          </p:cNvSpPr>
          <p:nvPr/>
        </p:nvSpPr>
        <p:spPr>
          <a:xfrm>
            <a:off x="940247" y="5217125"/>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Resources for each AIP</a:t>
            </a:r>
          </a:p>
        </p:txBody>
      </p:sp>
      <p:sp>
        <p:nvSpPr>
          <p:cNvPr id="20" name="Title 1">
            <a:extLst>
              <a:ext uri="{FF2B5EF4-FFF2-40B4-BE49-F238E27FC236}">
                <a16:creationId xmlns:a16="http://schemas.microsoft.com/office/drawing/2014/main" id="{704D9F08-82BD-E4E3-802C-8C0AD833602C}"/>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AC4D0226-4091-986C-7304-B048EE29E57D}"/>
              </a:ext>
            </a:extLst>
          </p:cNvPr>
          <p:cNvGrpSpPr/>
          <p:nvPr/>
        </p:nvGrpSpPr>
        <p:grpSpPr>
          <a:xfrm>
            <a:off x="961102" y="302894"/>
            <a:ext cx="1229200" cy="290657"/>
            <a:chOff x="940249" y="315206"/>
            <a:chExt cx="1373841" cy="265062"/>
          </a:xfrm>
        </p:grpSpPr>
        <p:sp>
          <p:nvSpPr>
            <p:cNvPr id="3" name="AutoShape 9">
              <a:extLst>
                <a:ext uri="{FF2B5EF4-FFF2-40B4-BE49-F238E27FC236}">
                  <a16:creationId xmlns:a16="http://schemas.microsoft.com/office/drawing/2014/main" id="{66EC5F06-72C7-27B3-2994-F7B081BC09B6}"/>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 name="AutoShape 9">
              <a:extLst>
                <a:ext uri="{FF2B5EF4-FFF2-40B4-BE49-F238E27FC236}">
                  <a16:creationId xmlns:a16="http://schemas.microsoft.com/office/drawing/2014/main" id="{F22CE9E2-A602-B81D-8CEC-6355B632872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 name="AutoShape 10">
              <a:extLst>
                <a:ext uri="{FF2B5EF4-FFF2-40B4-BE49-F238E27FC236}">
                  <a16:creationId xmlns:a16="http://schemas.microsoft.com/office/drawing/2014/main" id="{E91D5DDA-18E0-6A70-8B1F-DD93CDE2F41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6" name="AutoShape 11">
              <a:extLst>
                <a:ext uri="{FF2B5EF4-FFF2-40B4-BE49-F238E27FC236}">
                  <a16:creationId xmlns:a16="http://schemas.microsoft.com/office/drawing/2014/main" id="{EDC6A0C2-8EF4-A3BB-6CF4-6162A857FA41}"/>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0D36A0C8-4637-2EF9-15FD-A968A0B1E2E4}"/>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25936469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EAA8B-9E34-01C8-C8E3-69A656308632}"/>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13D65524-19E6-96B4-8046-059726CB30BC}"/>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Creating the Top Level Matrix</a:t>
            </a:r>
          </a:p>
        </p:txBody>
      </p:sp>
      <p:sp>
        <p:nvSpPr>
          <p:cNvPr id="12" name="Rectangle 11">
            <a:extLst>
              <a:ext uri="{FF2B5EF4-FFF2-40B4-BE49-F238E27FC236}">
                <a16:creationId xmlns:a16="http://schemas.microsoft.com/office/drawing/2014/main" id="{E8CB395A-6AFD-0755-9AE0-8BF5773F66C3}"/>
              </a:ext>
            </a:extLst>
          </p:cNvPr>
          <p:cNvSpPr>
            <a:spLocks/>
          </p:cNvSpPr>
          <p:nvPr/>
        </p:nvSpPr>
        <p:spPr>
          <a:xfrm>
            <a:off x="940247" y="1934137"/>
            <a:ext cx="10415016"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Breakthrough Objectives</a:t>
            </a:r>
            <a:endPar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Rectangle 12">
            <a:extLst>
              <a:ext uri="{FF2B5EF4-FFF2-40B4-BE49-F238E27FC236}">
                <a16:creationId xmlns:a16="http://schemas.microsoft.com/office/drawing/2014/main" id="{C9759903-5C8C-BE80-6D79-9F5D951DB91B}"/>
              </a:ext>
            </a:extLst>
          </p:cNvPr>
          <p:cNvSpPr>
            <a:spLocks/>
          </p:cNvSpPr>
          <p:nvPr/>
        </p:nvSpPr>
        <p:spPr>
          <a:xfrm>
            <a:off x="940248" y="3028466"/>
            <a:ext cx="1041355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Annual Improvement Priorities (AIPs)</a:t>
            </a:r>
          </a:p>
        </p:txBody>
      </p:sp>
      <p:sp>
        <p:nvSpPr>
          <p:cNvPr id="14" name="Rectangle 13">
            <a:extLst>
              <a:ext uri="{FF2B5EF4-FFF2-40B4-BE49-F238E27FC236}">
                <a16:creationId xmlns:a16="http://schemas.microsoft.com/office/drawing/2014/main" id="{2EA63740-2834-D766-CDEC-A92B04DE79F9}"/>
              </a:ext>
            </a:extLst>
          </p:cNvPr>
          <p:cNvSpPr>
            <a:spLocks/>
          </p:cNvSpPr>
          <p:nvPr/>
        </p:nvSpPr>
        <p:spPr>
          <a:xfrm>
            <a:off x="940247" y="4122795"/>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Targets to Improve</a:t>
            </a:r>
          </a:p>
        </p:txBody>
      </p:sp>
      <p:sp>
        <p:nvSpPr>
          <p:cNvPr id="16" name="Rectangle 15">
            <a:extLst>
              <a:ext uri="{FF2B5EF4-FFF2-40B4-BE49-F238E27FC236}">
                <a16:creationId xmlns:a16="http://schemas.microsoft.com/office/drawing/2014/main" id="{7450845A-73E8-C54D-5E83-EAD22B13465E}"/>
              </a:ext>
            </a:extLst>
          </p:cNvPr>
          <p:cNvSpPr>
            <a:spLocks/>
          </p:cNvSpPr>
          <p:nvPr/>
        </p:nvSpPr>
        <p:spPr>
          <a:xfrm>
            <a:off x="940247" y="5217125"/>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Resources for each AIP</a:t>
            </a:r>
          </a:p>
        </p:txBody>
      </p:sp>
      <p:sp>
        <p:nvSpPr>
          <p:cNvPr id="20" name="Title 1">
            <a:extLst>
              <a:ext uri="{FF2B5EF4-FFF2-40B4-BE49-F238E27FC236}">
                <a16:creationId xmlns:a16="http://schemas.microsoft.com/office/drawing/2014/main" id="{FD54E560-BADD-EDDB-D036-5CFB63EF50B3}"/>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924A08A2-3C99-744C-6C96-94FF7F44093E}"/>
              </a:ext>
            </a:extLst>
          </p:cNvPr>
          <p:cNvGrpSpPr/>
          <p:nvPr/>
        </p:nvGrpSpPr>
        <p:grpSpPr>
          <a:xfrm>
            <a:off x="961102" y="302894"/>
            <a:ext cx="1229200" cy="290657"/>
            <a:chOff x="940249" y="315206"/>
            <a:chExt cx="1373841" cy="265062"/>
          </a:xfrm>
        </p:grpSpPr>
        <p:sp>
          <p:nvSpPr>
            <p:cNvPr id="3" name="AutoShape 9">
              <a:extLst>
                <a:ext uri="{FF2B5EF4-FFF2-40B4-BE49-F238E27FC236}">
                  <a16:creationId xmlns:a16="http://schemas.microsoft.com/office/drawing/2014/main" id="{52CE6B1F-2A2F-F15A-AE14-F3D9706F7138}"/>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 name="AutoShape 9">
              <a:extLst>
                <a:ext uri="{FF2B5EF4-FFF2-40B4-BE49-F238E27FC236}">
                  <a16:creationId xmlns:a16="http://schemas.microsoft.com/office/drawing/2014/main" id="{EEB88209-EB7B-9177-6637-CDE13E331054}"/>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 name="AutoShape 10">
              <a:extLst>
                <a:ext uri="{FF2B5EF4-FFF2-40B4-BE49-F238E27FC236}">
                  <a16:creationId xmlns:a16="http://schemas.microsoft.com/office/drawing/2014/main" id="{57BAA3C6-13E3-6D37-8F30-FC18EE8120EE}"/>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6" name="AutoShape 11">
              <a:extLst>
                <a:ext uri="{FF2B5EF4-FFF2-40B4-BE49-F238E27FC236}">
                  <a16:creationId xmlns:a16="http://schemas.microsoft.com/office/drawing/2014/main" id="{C46083E2-272B-701D-4F57-25A7C0E2DBFA}"/>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B883A8FE-F77F-9F8B-AE9E-5F0922B4D466}"/>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40859302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16564-ABFE-8CB2-60AD-6AA861749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7CC5E-B9CF-ADBA-D092-0B69178608DE}"/>
              </a:ext>
            </a:extLst>
          </p:cNvPr>
          <p:cNvSpPr>
            <a:spLocks noGrp="1"/>
          </p:cNvSpPr>
          <p:nvPr>
            <p:ph type="title"/>
          </p:nvPr>
        </p:nvSpPr>
        <p:spPr/>
        <p:txBody>
          <a:bodyPr/>
          <a:lstStyle/>
          <a:p>
            <a:r>
              <a:rPr lang="en-US" dirty="0"/>
              <a:t>Breakthrough Objectives Checklist</a:t>
            </a:r>
          </a:p>
        </p:txBody>
      </p:sp>
      <p:sp>
        <p:nvSpPr>
          <p:cNvPr id="3" name="Content Placeholder 2">
            <a:extLst>
              <a:ext uri="{FF2B5EF4-FFF2-40B4-BE49-F238E27FC236}">
                <a16:creationId xmlns:a16="http://schemas.microsoft.com/office/drawing/2014/main" id="{F4D1B8F2-ABAD-86A4-C9E0-C2B845710C18}"/>
              </a:ext>
            </a:extLst>
          </p:cNvPr>
          <p:cNvSpPr>
            <a:spLocks noGrp="1"/>
          </p:cNvSpPr>
          <p:nvPr>
            <p:ph idx="1"/>
          </p:nvPr>
        </p:nvSpPr>
        <p:spPr/>
        <p:txBody>
          <a:bodyPr>
            <a:normAutofit fontScale="92500" lnSpcReduction="20000"/>
          </a:bodyPr>
          <a:lstStyle/>
          <a:p>
            <a:pPr>
              <a:lnSpc>
                <a:spcPct val="145000"/>
              </a:lnSpc>
              <a:buFont typeface="Wingdings" panose="05000000000000000000" pitchFamily="2" charset="2"/>
              <a:buNone/>
            </a:pPr>
            <a:r>
              <a:rPr lang="en-US" altLang="en-US" b="1" dirty="0"/>
              <a:t>Are the Breakthrough Objectives…</a:t>
            </a:r>
          </a:p>
          <a:p>
            <a:pPr indent="-457200">
              <a:lnSpc>
                <a:spcPct val="145000"/>
              </a:lnSpc>
              <a:spcBef>
                <a:spcPts val="60"/>
              </a:spcBef>
              <a:spcAft>
                <a:spcPts val="60"/>
              </a:spcAft>
              <a:buSzPct val="125000"/>
              <a:buFont typeface="Wingdings" panose="05000000000000000000" pitchFamily="2" charset="2"/>
              <a:buChar char="þ"/>
            </a:pPr>
            <a:r>
              <a:rPr lang="en-US" altLang="en-US" b="1" dirty="0"/>
              <a:t>Significant benefits to the organization? </a:t>
            </a:r>
          </a:p>
          <a:p>
            <a:pPr indent="-457200">
              <a:lnSpc>
                <a:spcPct val="145000"/>
              </a:lnSpc>
              <a:spcBef>
                <a:spcPts val="60"/>
              </a:spcBef>
              <a:spcAft>
                <a:spcPts val="60"/>
              </a:spcAft>
              <a:buSzPct val="125000"/>
              <a:buFont typeface="Wingdings" panose="05000000000000000000" pitchFamily="2" charset="2"/>
              <a:buChar char="þ"/>
            </a:pPr>
            <a:r>
              <a:rPr lang="en-US" altLang="en-US" b="1" dirty="0"/>
              <a:t> Tied to strategy?</a:t>
            </a:r>
          </a:p>
          <a:p>
            <a:pPr indent="-457200">
              <a:lnSpc>
                <a:spcPct val="145000"/>
              </a:lnSpc>
              <a:spcBef>
                <a:spcPts val="60"/>
              </a:spcBef>
              <a:spcAft>
                <a:spcPts val="60"/>
              </a:spcAft>
              <a:buSzPct val="125000"/>
              <a:buFont typeface="Wingdings" panose="05000000000000000000" pitchFamily="2" charset="2"/>
              <a:buChar char="þ"/>
            </a:pPr>
            <a:r>
              <a:rPr lang="en-US" altLang="en-US" b="1" dirty="0"/>
              <a:t> Customer-focused?</a:t>
            </a:r>
          </a:p>
          <a:p>
            <a:pPr indent="-457200">
              <a:lnSpc>
                <a:spcPct val="145000"/>
              </a:lnSpc>
              <a:spcBef>
                <a:spcPts val="60"/>
              </a:spcBef>
              <a:spcAft>
                <a:spcPts val="60"/>
              </a:spcAft>
              <a:buSzPct val="125000"/>
              <a:buFont typeface="Wingdings" panose="05000000000000000000" pitchFamily="2" charset="2"/>
              <a:buChar char="þ"/>
            </a:pPr>
            <a:r>
              <a:rPr lang="en-US" altLang="en-US" b="1" dirty="0"/>
              <a:t> Stretch goals?</a:t>
            </a:r>
          </a:p>
          <a:p>
            <a:pPr indent="-457200">
              <a:lnSpc>
                <a:spcPct val="145000"/>
              </a:lnSpc>
              <a:spcBef>
                <a:spcPts val="60"/>
              </a:spcBef>
              <a:spcAft>
                <a:spcPts val="60"/>
              </a:spcAft>
              <a:buSzPct val="125000"/>
              <a:buFont typeface="Wingdings" panose="05000000000000000000" pitchFamily="2" charset="2"/>
              <a:buChar char="þ"/>
            </a:pPr>
            <a:r>
              <a:rPr lang="en-US" altLang="en-US" b="1" dirty="0"/>
              <a:t> Enlisting cross-functional involvement?</a:t>
            </a:r>
          </a:p>
          <a:p>
            <a:pPr indent="-457200">
              <a:lnSpc>
                <a:spcPct val="145000"/>
              </a:lnSpc>
              <a:spcBef>
                <a:spcPts val="60"/>
              </a:spcBef>
              <a:spcAft>
                <a:spcPts val="60"/>
              </a:spcAft>
              <a:buSzPct val="125000"/>
              <a:buFont typeface="Wingdings" panose="05000000000000000000" pitchFamily="2" charset="2"/>
              <a:buChar char="þ"/>
            </a:pPr>
            <a:r>
              <a:rPr lang="en-US" altLang="en-US" b="1" dirty="0"/>
              <a:t> Resulting in a new system or new way of doing business?</a:t>
            </a:r>
          </a:p>
          <a:p>
            <a:pPr indent="-457200">
              <a:lnSpc>
                <a:spcPct val="145000"/>
              </a:lnSpc>
              <a:spcBef>
                <a:spcPts val="60"/>
              </a:spcBef>
              <a:spcAft>
                <a:spcPts val="60"/>
              </a:spcAft>
              <a:buSzPct val="125000"/>
              <a:buFont typeface="Wingdings" panose="05000000000000000000" pitchFamily="2" charset="2"/>
              <a:buChar char="þ"/>
            </a:pPr>
            <a:r>
              <a:rPr lang="en-US" altLang="en-US" b="1" dirty="0"/>
              <a:t> Not already learned? (Do we already know how to do it?)</a:t>
            </a:r>
          </a:p>
        </p:txBody>
      </p:sp>
      <p:grpSp>
        <p:nvGrpSpPr>
          <p:cNvPr id="9" name="Group 8">
            <a:extLst>
              <a:ext uri="{FF2B5EF4-FFF2-40B4-BE49-F238E27FC236}">
                <a16:creationId xmlns:a16="http://schemas.microsoft.com/office/drawing/2014/main" id="{A287DD18-147B-86E7-B1ED-B7B2AB7EE072}"/>
              </a:ext>
            </a:extLst>
          </p:cNvPr>
          <p:cNvGrpSpPr/>
          <p:nvPr/>
        </p:nvGrpSpPr>
        <p:grpSpPr>
          <a:xfrm>
            <a:off x="961102" y="302894"/>
            <a:ext cx="1229200" cy="290657"/>
            <a:chOff x="940249" y="315206"/>
            <a:chExt cx="1373841" cy="265062"/>
          </a:xfrm>
        </p:grpSpPr>
        <p:sp>
          <p:nvSpPr>
            <p:cNvPr id="10" name="AutoShape 9">
              <a:extLst>
                <a:ext uri="{FF2B5EF4-FFF2-40B4-BE49-F238E27FC236}">
                  <a16:creationId xmlns:a16="http://schemas.microsoft.com/office/drawing/2014/main" id="{16058601-CFAD-0DD0-B459-D4714C1480A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BF94E429-918E-6D29-82E7-E58F9FB142A2}"/>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263899BF-CBB1-E541-1714-C72794C03E2E}"/>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B530D66D-EB47-EBDD-96B4-33A151173AE3}"/>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6ADA15F5-8B70-6FF4-A2B7-BBB48206A67A}"/>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3274274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5C10E-3D1F-1956-A54A-1DFED85D1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8215E-EB67-DC59-D604-AB5896FAD7AA}"/>
              </a:ext>
            </a:extLst>
          </p:cNvPr>
          <p:cNvSpPr>
            <a:spLocks noGrp="1"/>
          </p:cNvSpPr>
          <p:nvPr>
            <p:ph type="title"/>
          </p:nvPr>
        </p:nvSpPr>
        <p:spPr/>
        <p:txBody>
          <a:bodyPr>
            <a:noAutofit/>
          </a:bodyPr>
          <a:lstStyle/>
          <a:p>
            <a:r>
              <a:rPr lang="en-US" sz="3600" dirty="0"/>
              <a:t>Breakthrough Examples</a:t>
            </a:r>
          </a:p>
        </p:txBody>
      </p:sp>
      <p:sp>
        <p:nvSpPr>
          <p:cNvPr id="3" name="Rectangle 4">
            <a:extLst>
              <a:ext uri="{FF2B5EF4-FFF2-40B4-BE49-F238E27FC236}">
                <a16:creationId xmlns:a16="http://schemas.microsoft.com/office/drawing/2014/main" id="{96C0DA35-4937-4B81-70F0-EC2C76552410}"/>
              </a:ext>
            </a:extLst>
          </p:cNvPr>
          <p:cNvSpPr>
            <a:spLocks noChangeArrowheads="1"/>
          </p:cNvSpPr>
          <p:nvPr/>
        </p:nvSpPr>
        <p:spPr bwMode="auto">
          <a:xfrm>
            <a:off x="5789789" y="1893888"/>
            <a:ext cx="4170362" cy="312738"/>
          </a:xfrm>
          <a:prstGeom prst="rect">
            <a:avLst/>
          </a:prstGeom>
          <a:solidFill>
            <a:schemeClr val="accent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Financial</a:t>
            </a:r>
          </a:p>
        </p:txBody>
      </p:sp>
      <p:sp>
        <p:nvSpPr>
          <p:cNvPr id="4" name="Rectangle 5">
            <a:extLst>
              <a:ext uri="{FF2B5EF4-FFF2-40B4-BE49-F238E27FC236}">
                <a16:creationId xmlns:a16="http://schemas.microsoft.com/office/drawing/2014/main" id="{1A49D7FD-4EE6-5FDA-7F91-F04D1305ABF9}"/>
              </a:ext>
            </a:extLst>
          </p:cNvPr>
          <p:cNvSpPr>
            <a:spLocks noChangeArrowheads="1"/>
          </p:cNvSpPr>
          <p:nvPr/>
        </p:nvSpPr>
        <p:spPr bwMode="auto">
          <a:xfrm>
            <a:off x="5791376" y="2219326"/>
            <a:ext cx="581489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Achieve upper quartile financial performance as compared to peer companies from $X EBITA to $Y EBITA by FY20XX </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Achieve RONA from X% to Y% by 11/30/XX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Generate cash flow from 0.7% to 1.2% of earnings by FY20XX</a:t>
            </a:r>
          </a:p>
        </p:txBody>
      </p:sp>
      <p:sp>
        <p:nvSpPr>
          <p:cNvPr id="5" name="Rectangle 6">
            <a:extLst>
              <a:ext uri="{FF2B5EF4-FFF2-40B4-BE49-F238E27FC236}">
                <a16:creationId xmlns:a16="http://schemas.microsoft.com/office/drawing/2014/main" id="{95E7A341-AF66-DBAA-43A1-F96CF77EEAC6}"/>
              </a:ext>
            </a:extLst>
          </p:cNvPr>
          <p:cNvSpPr>
            <a:spLocks noChangeArrowheads="1"/>
          </p:cNvSpPr>
          <p:nvPr/>
        </p:nvSpPr>
        <p:spPr bwMode="auto">
          <a:xfrm>
            <a:off x="5751689" y="3487559"/>
            <a:ext cx="4170363" cy="312738"/>
          </a:xfrm>
          <a:prstGeom prst="rect">
            <a:avLst/>
          </a:prstGeom>
          <a:solidFill>
            <a:srgbClr val="DDDDDD"/>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dirty="0">
                <a:solidFill>
                  <a:schemeClr val="tx1"/>
                </a:solidFill>
                <a:latin typeface="Arial" panose="020B0604020202020204" pitchFamily="34" charset="0"/>
              </a:rPr>
              <a:t>Strategic/Market Growth</a:t>
            </a:r>
          </a:p>
        </p:txBody>
      </p:sp>
      <p:sp>
        <p:nvSpPr>
          <p:cNvPr id="6" name="Rectangle 7">
            <a:extLst>
              <a:ext uri="{FF2B5EF4-FFF2-40B4-BE49-F238E27FC236}">
                <a16:creationId xmlns:a16="http://schemas.microsoft.com/office/drawing/2014/main" id="{ABAEF57C-27DC-48E0-8C4E-189D4259C95A}"/>
              </a:ext>
            </a:extLst>
          </p:cNvPr>
          <p:cNvSpPr>
            <a:spLocks noChangeArrowheads="1"/>
          </p:cNvSpPr>
          <p:nvPr/>
        </p:nvSpPr>
        <p:spPr bwMode="auto">
          <a:xfrm>
            <a:off x="5732639" y="3843159"/>
            <a:ext cx="5978636"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revenue from Systems Sales from $X to $Y by 9/30/XX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Achieve market share in Motion Controls Market from 28% to 60% by FY20XX</a:t>
            </a:r>
          </a:p>
        </p:txBody>
      </p:sp>
      <p:sp>
        <p:nvSpPr>
          <p:cNvPr id="7" name="Rectangle 8">
            <a:extLst>
              <a:ext uri="{FF2B5EF4-FFF2-40B4-BE49-F238E27FC236}">
                <a16:creationId xmlns:a16="http://schemas.microsoft.com/office/drawing/2014/main" id="{2F58EA94-132E-3744-2C8D-4F650386A3C8}"/>
              </a:ext>
            </a:extLst>
          </p:cNvPr>
          <p:cNvSpPr>
            <a:spLocks noChangeArrowheads="1"/>
          </p:cNvSpPr>
          <p:nvPr/>
        </p:nvSpPr>
        <p:spPr bwMode="auto">
          <a:xfrm>
            <a:off x="5792964" y="5271909"/>
            <a:ext cx="5804124"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Reduce internal quality rejects from 85,000 parts per million to 2,000 parts per million by 10/31/XX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Customer Satisfaction index from 60 to 98 by FY20XX</a:t>
            </a:r>
          </a:p>
        </p:txBody>
      </p:sp>
      <p:sp>
        <p:nvSpPr>
          <p:cNvPr id="8" name="Rectangle 9">
            <a:extLst>
              <a:ext uri="{FF2B5EF4-FFF2-40B4-BE49-F238E27FC236}">
                <a16:creationId xmlns:a16="http://schemas.microsoft.com/office/drawing/2014/main" id="{8034A7A4-9880-E0D0-4FDC-BEAB74671CCE}"/>
              </a:ext>
            </a:extLst>
          </p:cNvPr>
          <p:cNvSpPr>
            <a:spLocks noChangeArrowheads="1"/>
          </p:cNvSpPr>
          <p:nvPr/>
        </p:nvSpPr>
        <p:spPr bwMode="auto">
          <a:xfrm>
            <a:off x="5789789" y="4943297"/>
            <a:ext cx="4170363" cy="312737"/>
          </a:xfrm>
          <a:prstGeom prst="rect">
            <a:avLst/>
          </a:prstGeom>
          <a:solidFill>
            <a:srgbClr val="FFFF00"/>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en-US" altLang="en-US" sz="1800" dirty="0">
                <a:solidFill>
                  <a:schemeClr val="tx1"/>
                </a:solidFill>
                <a:latin typeface="Arial" panose="020B0604020202020204" pitchFamily="34" charset="0"/>
              </a:rPr>
              <a:t>Operational</a:t>
            </a:r>
          </a:p>
        </p:txBody>
      </p:sp>
      <p:sp>
        <p:nvSpPr>
          <p:cNvPr id="9" name="Oval 10">
            <a:extLst>
              <a:ext uri="{FF2B5EF4-FFF2-40B4-BE49-F238E27FC236}">
                <a16:creationId xmlns:a16="http://schemas.microsoft.com/office/drawing/2014/main" id="{0EFAFD1A-BC68-E5EE-174C-8940C23A8DB4}"/>
              </a:ext>
            </a:extLst>
          </p:cNvPr>
          <p:cNvSpPr>
            <a:spLocks noChangeArrowheads="1"/>
          </p:cNvSpPr>
          <p:nvPr/>
        </p:nvSpPr>
        <p:spPr bwMode="auto">
          <a:xfrm>
            <a:off x="1629002" y="3022600"/>
            <a:ext cx="3340100" cy="1066800"/>
          </a:xfrm>
          <a:prstGeom prst="ellipse">
            <a:avLst/>
          </a:prstGeom>
          <a:solidFill>
            <a:schemeClr val="accent4"/>
          </a:solidFill>
          <a:ln w="12700" cap="sq" algn="ctr">
            <a:solidFill>
              <a:schemeClr val="tx1"/>
            </a:solidFill>
            <a:round/>
            <a:headEnd/>
            <a:tailEnd/>
          </a:ln>
          <a:effec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spcBef>
                <a:spcPct val="20000"/>
              </a:spcBef>
            </a:pPr>
            <a:r>
              <a:rPr lang="en-US" altLang="en-US" sz="1800" dirty="0">
                <a:effectLst>
                  <a:outerShdw blurRad="38100" dist="38100" dir="2700000" algn="tl">
                    <a:srgbClr val="000000"/>
                  </a:outerShdw>
                </a:effectLst>
                <a:latin typeface="Arial" panose="020B0604020202020204" pitchFamily="34" charset="0"/>
              </a:rPr>
              <a:t>Strategic and Growth</a:t>
            </a:r>
            <a:br>
              <a:rPr lang="en-US" altLang="en-US" sz="1800" dirty="0">
                <a:effectLst>
                  <a:outerShdw blurRad="38100" dist="38100" dir="2700000" algn="tl">
                    <a:srgbClr val="000000"/>
                  </a:outerShdw>
                </a:effectLst>
                <a:latin typeface="Arial" panose="020B0604020202020204" pitchFamily="34" charset="0"/>
              </a:rPr>
            </a:br>
            <a:r>
              <a:rPr lang="en-US" altLang="en-US" sz="1800" dirty="0">
                <a:effectLst>
                  <a:outerShdw blurRad="38100" dist="38100" dir="2700000" algn="tl">
                    <a:srgbClr val="000000"/>
                  </a:outerShdw>
                </a:effectLst>
                <a:latin typeface="Arial" panose="020B0604020202020204" pitchFamily="34" charset="0"/>
              </a:rPr>
              <a:t>Examples</a:t>
            </a:r>
          </a:p>
        </p:txBody>
      </p:sp>
      <p:cxnSp>
        <p:nvCxnSpPr>
          <p:cNvPr id="10" name="AutoShape 11">
            <a:extLst>
              <a:ext uri="{FF2B5EF4-FFF2-40B4-BE49-F238E27FC236}">
                <a16:creationId xmlns:a16="http://schemas.microsoft.com/office/drawing/2014/main" id="{68324CEA-519A-2C1E-01B9-82DC36605118}"/>
              </a:ext>
            </a:extLst>
          </p:cNvPr>
          <p:cNvCxnSpPr>
            <a:cxnSpLocks noChangeShapeType="1"/>
            <a:stCxn id="9" idx="6"/>
            <a:endCxn id="3" idx="1"/>
          </p:cNvCxnSpPr>
          <p:nvPr/>
        </p:nvCxnSpPr>
        <p:spPr bwMode="auto">
          <a:xfrm flipV="1">
            <a:off x="4969102" y="2050257"/>
            <a:ext cx="820687" cy="1505743"/>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03189837-0EE9-9C87-5973-C05BCB93F405}"/>
              </a:ext>
            </a:extLst>
          </p:cNvPr>
          <p:cNvCxnSpPr>
            <a:cxnSpLocks noChangeShapeType="1"/>
            <a:stCxn id="9" idx="6"/>
            <a:endCxn id="8" idx="1"/>
          </p:cNvCxnSpPr>
          <p:nvPr/>
        </p:nvCxnSpPr>
        <p:spPr bwMode="auto">
          <a:xfrm>
            <a:off x="4969102" y="3556000"/>
            <a:ext cx="820687" cy="1543666"/>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7" name="AutoShape 13">
            <a:extLst>
              <a:ext uri="{FF2B5EF4-FFF2-40B4-BE49-F238E27FC236}">
                <a16:creationId xmlns:a16="http://schemas.microsoft.com/office/drawing/2014/main" id="{0AC8725B-3959-8BF3-2D2B-1CD8636EAD91}"/>
              </a:ext>
            </a:extLst>
          </p:cNvPr>
          <p:cNvCxnSpPr>
            <a:cxnSpLocks noChangeShapeType="1"/>
            <a:stCxn id="9" idx="6"/>
            <a:endCxn id="5" idx="1"/>
          </p:cNvCxnSpPr>
          <p:nvPr/>
        </p:nvCxnSpPr>
        <p:spPr bwMode="auto">
          <a:xfrm>
            <a:off x="4969102" y="3556000"/>
            <a:ext cx="782587" cy="87928"/>
          </a:xfrm>
          <a:prstGeom prst="bentConnector3">
            <a:avLst>
              <a:gd name="adj1" fmla="val 52434"/>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12" name="Group 11">
            <a:extLst>
              <a:ext uri="{FF2B5EF4-FFF2-40B4-BE49-F238E27FC236}">
                <a16:creationId xmlns:a16="http://schemas.microsoft.com/office/drawing/2014/main" id="{AF52CF8A-F033-EBDB-DE98-B71DD3AACA35}"/>
              </a:ext>
            </a:extLst>
          </p:cNvPr>
          <p:cNvGrpSpPr/>
          <p:nvPr/>
        </p:nvGrpSpPr>
        <p:grpSpPr>
          <a:xfrm>
            <a:off x="961102" y="302894"/>
            <a:ext cx="1229200" cy="290657"/>
            <a:chOff x="940249" y="315206"/>
            <a:chExt cx="1373841" cy="265062"/>
          </a:xfrm>
        </p:grpSpPr>
        <p:sp>
          <p:nvSpPr>
            <p:cNvPr id="13" name="AutoShape 9">
              <a:extLst>
                <a:ext uri="{FF2B5EF4-FFF2-40B4-BE49-F238E27FC236}">
                  <a16:creationId xmlns:a16="http://schemas.microsoft.com/office/drawing/2014/main" id="{E2E94B8A-8FB6-BCD9-5965-14BA41EC65D3}"/>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A0A0EC88-9398-75B4-7AB7-D2A62EAD0315}"/>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0">
              <a:extLst>
                <a:ext uri="{FF2B5EF4-FFF2-40B4-BE49-F238E27FC236}">
                  <a16:creationId xmlns:a16="http://schemas.microsoft.com/office/drawing/2014/main" id="{522848A1-F4C0-490C-3790-0FCC64160C4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1">
              <a:extLst>
                <a:ext uri="{FF2B5EF4-FFF2-40B4-BE49-F238E27FC236}">
                  <a16:creationId xmlns:a16="http://schemas.microsoft.com/office/drawing/2014/main" id="{121C1498-F598-5CD4-1A0F-8463500D324C}"/>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8" name="TextBox 17">
            <a:extLst>
              <a:ext uri="{FF2B5EF4-FFF2-40B4-BE49-F238E27FC236}">
                <a16:creationId xmlns:a16="http://schemas.microsoft.com/office/drawing/2014/main" id="{5CDE918D-E698-8A0C-50DD-ED88A1F1FAB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15983496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1E65-D5B6-4B63-A9E1-50A3784EA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5EC75-83BF-2AAF-299F-5D4239375928}"/>
              </a:ext>
            </a:extLst>
          </p:cNvPr>
          <p:cNvSpPr>
            <a:spLocks noGrp="1"/>
          </p:cNvSpPr>
          <p:nvPr>
            <p:ph type="title"/>
          </p:nvPr>
        </p:nvSpPr>
        <p:spPr/>
        <p:txBody>
          <a:bodyPr>
            <a:noAutofit/>
          </a:bodyPr>
          <a:lstStyle/>
          <a:p>
            <a:r>
              <a:rPr lang="en-US" sz="3600" dirty="0"/>
              <a:t>Breakthrough Examples</a:t>
            </a:r>
          </a:p>
        </p:txBody>
      </p:sp>
      <p:sp>
        <p:nvSpPr>
          <p:cNvPr id="3" name="Rectangle 4">
            <a:extLst>
              <a:ext uri="{FF2B5EF4-FFF2-40B4-BE49-F238E27FC236}">
                <a16:creationId xmlns:a16="http://schemas.microsoft.com/office/drawing/2014/main" id="{36B98EC1-9D16-F84D-580D-78B04335BD04}"/>
              </a:ext>
            </a:extLst>
          </p:cNvPr>
          <p:cNvSpPr>
            <a:spLocks noChangeArrowheads="1"/>
          </p:cNvSpPr>
          <p:nvPr/>
        </p:nvSpPr>
        <p:spPr bwMode="auto">
          <a:xfrm>
            <a:off x="5788202" y="2368583"/>
            <a:ext cx="4170362" cy="312738"/>
          </a:xfrm>
          <a:prstGeom prst="rect">
            <a:avLst/>
          </a:prstGeom>
          <a:solidFill>
            <a:schemeClr val="accent1"/>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1800">
                <a:latin typeface="Arial" panose="020B0604020202020204" pitchFamily="34" charset="0"/>
              </a:rPr>
              <a:t>Financial</a:t>
            </a:r>
          </a:p>
        </p:txBody>
      </p:sp>
      <p:sp>
        <p:nvSpPr>
          <p:cNvPr id="4" name="Rectangle 5">
            <a:extLst>
              <a:ext uri="{FF2B5EF4-FFF2-40B4-BE49-F238E27FC236}">
                <a16:creationId xmlns:a16="http://schemas.microsoft.com/office/drawing/2014/main" id="{BD200E42-E01A-52CD-FCD6-1EA00E5F2A5C}"/>
              </a:ext>
            </a:extLst>
          </p:cNvPr>
          <p:cNvSpPr>
            <a:spLocks noChangeArrowheads="1"/>
          </p:cNvSpPr>
          <p:nvPr/>
        </p:nvSpPr>
        <p:spPr bwMode="auto">
          <a:xfrm>
            <a:off x="5789789" y="2694021"/>
            <a:ext cx="581489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Increase inventory turns from 5 to 15 by 11/30/XX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Increase Operating Profit from 15% to 30% by FY20XX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Increase revenue from $100M to $175M by FY20XX</a:t>
            </a:r>
          </a:p>
        </p:txBody>
      </p:sp>
      <p:sp>
        <p:nvSpPr>
          <p:cNvPr id="7" name="Rectangle 8">
            <a:extLst>
              <a:ext uri="{FF2B5EF4-FFF2-40B4-BE49-F238E27FC236}">
                <a16:creationId xmlns:a16="http://schemas.microsoft.com/office/drawing/2014/main" id="{129C8624-1E69-F862-0AF4-A049BCF71FF0}"/>
              </a:ext>
            </a:extLst>
          </p:cNvPr>
          <p:cNvSpPr>
            <a:spLocks noChangeArrowheads="1"/>
          </p:cNvSpPr>
          <p:nvPr/>
        </p:nvSpPr>
        <p:spPr bwMode="auto">
          <a:xfrm>
            <a:off x="5802149" y="4492591"/>
            <a:ext cx="5804124"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OTD from 81% to 98% by 9/30/XX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Improve new product introduction from 11 months to 2 months by FY20XX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Reduce cost of goods manufactured from $X to $Y by FY20XX</a:t>
            </a:r>
          </a:p>
          <a:p>
            <a:pPr>
              <a:lnSpc>
                <a:spcPct val="115000"/>
              </a:lnSpc>
              <a:buSzPct val="125000"/>
              <a:buFont typeface="Arial" panose="020B0604020202020204" pitchFamily="34" charset="0"/>
              <a:buChar char="•"/>
            </a:pPr>
            <a:r>
              <a:rPr lang="en-US" altLang="en-US" sz="1400" dirty="0">
                <a:solidFill>
                  <a:schemeClr val="tx1"/>
                </a:solidFill>
                <a:latin typeface="Arial" panose="020B0604020202020204" pitchFamily="34" charset="0"/>
              </a:rPr>
              <a:t>Reduce Employee Accident Rate from 30 per year to 2 per year by 10/31/XX</a:t>
            </a:r>
          </a:p>
        </p:txBody>
      </p:sp>
      <p:sp>
        <p:nvSpPr>
          <p:cNvPr id="8" name="Rectangle 9">
            <a:extLst>
              <a:ext uri="{FF2B5EF4-FFF2-40B4-BE49-F238E27FC236}">
                <a16:creationId xmlns:a16="http://schemas.microsoft.com/office/drawing/2014/main" id="{2E4C489A-33E7-3070-047B-3A9685E81D84}"/>
              </a:ext>
            </a:extLst>
          </p:cNvPr>
          <p:cNvSpPr>
            <a:spLocks noChangeArrowheads="1"/>
          </p:cNvSpPr>
          <p:nvPr/>
        </p:nvSpPr>
        <p:spPr bwMode="auto">
          <a:xfrm>
            <a:off x="5798974" y="4163979"/>
            <a:ext cx="4170363" cy="312737"/>
          </a:xfrm>
          <a:prstGeom prst="rect">
            <a:avLst/>
          </a:prstGeom>
          <a:solidFill>
            <a:srgbClr val="FFFF00"/>
          </a:solidFill>
          <a:ln w="12700" cap="sq">
            <a:solidFill>
              <a:schemeClr val="tx1"/>
            </a:solidFill>
            <a:miter lim="800000"/>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en-US" altLang="en-US" sz="1800" dirty="0">
                <a:solidFill>
                  <a:schemeClr val="tx1"/>
                </a:solidFill>
                <a:latin typeface="Arial" panose="020B0604020202020204" pitchFamily="34" charset="0"/>
              </a:rPr>
              <a:t>Operational</a:t>
            </a:r>
          </a:p>
        </p:txBody>
      </p:sp>
      <p:sp>
        <p:nvSpPr>
          <p:cNvPr id="9" name="Oval 10">
            <a:extLst>
              <a:ext uri="{FF2B5EF4-FFF2-40B4-BE49-F238E27FC236}">
                <a16:creationId xmlns:a16="http://schemas.microsoft.com/office/drawing/2014/main" id="{265F45C6-626F-AD84-1C27-E68BD00AE906}"/>
              </a:ext>
            </a:extLst>
          </p:cNvPr>
          <p:cNvSpPr>
            <a:spLocks noChangeArrowheads="1"/>
          </p:cNvSpPr>
          <p:nvPr/>
        </p:nvSpPr>
        <p:spPr bwMode="auto">
          <a:xfrm>
            <a:off x="1629002" y="3022600"/>
            <a:ext cx="3340100" cy="1066800"/>
          </a:xfrm>
          <a:prstGeom prst="ellipse">
            <a:avLst/>
          </a:prstGeom>
          <a:solidFill>
            <a:schemeClr val="accent4"/>
          </a:solidFill>
          <a:ln w="12700" cap="sq" algn="ctr">
            <a:solidFill>
              <a:schemeClr val="tx1"/>
            </a:solidFill>
            <a:round/>
            <a:headEnd/>
            <a:tailEnd/>
          </a:ln>
          <a:effectLst/>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95000"/>
              </a:lnSpc>
              <a:spcBef>
                <a:spcPct val="20000"/>
              </a:spcBef>
            </a:pPr>
            <a:r>
              <a:rPr lang="en-US" altLang="en-US" sz="1800" dirty="0">
                <a:effectLst>
                  <a:outerShdw blurRad="38100" dist="38100" dir="2700000" algn="tl">
                    <a:srgbClr val="000000"/>
                  </a:outerShdw>
                </a:effectLst>
                <a:latin typeface="Arial" panose="020B0604020202020204" pitchFamily="34" charset="0"/>
              </a:rPr>
              <a:t>Business Fundamental</a:t>
            </a:r>
            <a:br>
              <a:rPr lang="en-US" altLang="en-US" sz="1800" dirty="0">
                <a:effectLst>
                  <a:outerShdw blurRad="38100" dist="38100" dir="2700000" algn="tl">
                    <a:srgbClr val="000000"/>
                  </a:outerShdw>
                </a:effectLst>
                <a:latin typeface="Arial" panose="020B0604020202020204" pitchFamily="34" charset="0"/>
              </a:rPr>
            </a:br>
            <a:r>
              <a:rPr lang="en-US" altLang="en-US" sz="1800" dirty="0">
                <a:effectLst>
                  <a:outerShdw blurRad="38100" dist="38100" dir="2700000" algn="tl">
                    <a:srgbClr val="000000"/>
                  </a:outerShdw>
                </a:effectLst>
                <a:latin typeface="Arial" panose="020B0604020202020204" pitchFamily="34" charset="0"/>
              </a:rPr>
              <a:t>Examples</a:t>
            </a:r>
          </a:p>
        </p:txBody>
      </p:sp>
      <p:cxnSp>
        <p:nvCxnSpPr>
          <p:cNvPr id="10" name="AutoShape 11">
            <a:extLst>
              <a:ext uri="{FF2B5EF4-FFF2-40B4-BE49-F238E27FC236}">
                <a16:creationId xmlns:a16="http://schemas.microsoft.com/office/drawing/2014/main" id="{33381755-4901-E80F-8D59-A7F8DB75EAAB}"/>
              </a:ext>
            </a:extLst>
          </p:cNvPr>
          <p:cNvCxnSpPr>
            <a:cxnSpLocks noChangeShapeType="1"/>
            <a:stCxn id="9" idx="6"/>
            <a:endCxn id="3" idx="1"/>
          </p:cNvCxnSpPr>
          <p:nvPr/>
        </p:nvCxnSpPr>
        <p:spPr bwMode="auto">
          <a:xfrm flipV="1">
            <a:off x="4969102" y="2524952"/>
            <a:ext cx="819100" cy="1031048"/>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AD46AAA3-3881-5F4A-FA41-40362C016878}"/>
              </a:ext>
            </a:extLst>
          </p:cNvPr>
          <p:cNvCxnSpPr>
            <a:cxnSpLocks noChangeShapeType="1"/>
            <a:stCxn id="9" idx="6"/>
            <a:endCxn id="8" idx="1"/>
          </p:cNvCxnSpPr>
          <p:nvPr/>
        </p:nvCxnSpPr>
        <p:spPr bwMode="auto">
          <a:xfrm>
            <a:off x="4969102" y="3556000"/>
            <a:ext cx="829872" cy="764348"/>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5" name="Group 4">
            <a:extLst>
              <a:ext uri="{FF2B5EF4-FFF2-40B4-BE49-F238E27FC236}">
                <a16:creationId xmlns:a16="http://schemas.microsoft.com/office/drawing/2014/main" id="{5D0BFC6C-D924-535C-4547-A548CF3C800F}"/>
              </a:ext>
            </a:extLst>
          </p:cNvPr>
          <p:cNvGrpSpPr/>
          <p:nvPr/>
        </p:nvGrpSpPr>
        <p:grpSpPr>
          <a:xfrm>
            <a:off x="961102" y="302894"/>
            <a:ext cx="1229200" cy="290657"/>
            <a:chOff x="940249" y="315206"/>
            <a:chExt cx="1373841" cy="265062"/>
          </a:xfrm>
        </p:grpSpPr>
        <p:sp>
          <p:nvSpPr>
            <p:cNvPr id="6" name="AutoShape 9">
              <a:extLst>
                <a:ext uri="{FF2B5EF4-FFF2-40B4-BE49-F238E27FC236}">
                  <a16:creationId xmlns:a16="http://schemas.microsoft.com/office/drawing/2014/main" id="{7C40BCFB-4684-FB00-C240-BB71CA5D2241}"/>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FDAFF1D4-0B3E-1B8F-7297-2725862DCCD6}"/>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3D0742F-1B5B-F1C2-2C9C-E448E1530E9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AECA3717-FBFC-FB08-F76E-1D73067906AA}"/>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56A2CC25-FFB1-46F3-689D-1C06F0C178BA}"/>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37354280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A3C5C-C954-A160-508B-32915F181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E7CBA-33D7-CFA3-FEBB-7E658F459031}"/>
              </a:ext>
            </a:extLst>
          </p:cNvPr>
          <p:cNvSpPr>
            <a:spLocks noGrp="1"/>
          </p:cNvSpPr>
          <p:nvPr>
            <p:ph type="title"/>
          </p:nvPr>
        </p:nvSpPr>
        <p:spPr/>
        <p:txBody>
          <a:bodyPr>
            <a:noAutofit/>
          </a:bodyPr>
          <a:lstStyle/>
          <a:p>
            <a:r>
              <a:rPr lang="en-US" sz="3600" dirty="0"/>
              <a:t>Use Affinity Process as shown in earlier slides -Ground Rules for Breakthrough Objectives</a:t>
            </a:r>
          </a:p>
        </p:txBody>
      </p:sp>
      <p:sp>
        <p:nvSpPr>
          <p:cNvPr id="3" name="Content Placeholder 2">
            <a:extLst>
              <a:ext uri="{FF2B5EF4-FFF2-40B4-BE49-F238E27FC236}">
                <a16:creationId xmlns:a16="http://schemas.microsoft.com/office/drawing/2014/main" id="{81E38993-49F1-F21C-1A7F-8A51A0C4B378}"/>
              </a:ext>
            </a:extLst>
          </p:cNvPr>
          <p:cNvSpPr>
            <a:spLocks noGrp="1"/>
          </p:cNvSpPr>
          <p:nvPr>
            <p:ph idx="1"/>
          </p:nvPr>
        </p:nvSpPr>
        <p:spPr/>
        <p:txBody>
          <a:bodyPr>
            <a:normAutofit/>
          </a:bodyPr>
          <a:lstStyle/>
          <a:p>
            <a:pPr>
              <a:lnSpc>
                <a:spcPct val="115000"/>
              </a:lnSpc>
              <a:spcBef>
                <a:spcPct val="50000"/>
              </a:spcBef>
              <a:spcAft>
                <a:spcPct val="50000"/>
              </a:spcAft>
              <a:buSzPct val="125000"/>
            </a:pPr>
            <a:r>
              <a:rPr lang="en-US" altLang="en-US" sz="1600" dirty="0">
                <a:latin typeface="Arial" panose="020B0604020202020204" pitchFamily="34" charset="0"/>
              </a:rPr>
              <a:t>Silent brainstorming…no discussion during Post-it writing exercise</a:t>
            </a:r>
          </a:p>
          <a:p>
            <a:pPr>
              <a:lnSpc>
                <a:spcPct val="115000"/>
              </a:lnSpc>
              <a:spcBef>
                <a:spcPct val="50000"/>
              </a:spcBef>
              <a:spcAft>
                <a:spcPct val="50000"/>
              </a:spcAft>
              <a:buSzPct val="125000"/>
            </a:pPr>
            <a:r>
              <a:rPr lang="en-US" altLang="en-US" sz="1600" dirty="0">
                <a:latin typeface="Arial" panose="020B0604020202020204" pitchFamily="34" charset="0"/>
              </a:rPr>
              <a:t>At least 2 quality Breakthrough Objectives per person</a:t>
            </a:r>
          </a:p>
          <a:p>
            <a:pPr>
              <a:lnSpc>
                <a:spcPct val="115000"/>
              </a:lnSpc>
              <a:spcBef>
                <a:spcPct val="50000"/>
              </a:spcBef>
              <a:spcAft>
                <a:spcPct val="50000"/>
              </a:spcAft>
              <a:buSzPct val="125000"/>
            </a:pPr>
            <a:r>
              <a:rPr lang="en-US" altLang="en-US" sz="1600" dirty="0">
                <a:latin typeface="Arial" panose="020B0604020202020204" pitchFamily="34" charset="0"/>
              </a:rPr>
              <a:t>Everyone’s ideas are treated equally</a:t>
            </a:r>
          </a:p>
          <a:p>
            <a:pPr>
              <a:lnSpc>
                <a:spcPct val="115000"/>
              </a:lnSpc>
              <a:spcBef>
                <a:spcPct val="50000"/>
              </a:spcBef>
              <a:spcAft>
                <a:spcPct val="50000"/>
              </a:spcAft>
              <a:buSzPct val="125000"/>
            </a:pPr>
            <a:r>
              <a:rPr lang="en-US" altLang="en-US" sz="1600" dirty="0">
                <a:latin typeface="Arial" panose="020B0604020202020204" pitchFamily="34" charset="0"/>
              </a:rPr>
              <a:t>One idea (Breakthrough Objective) per Post-it</a:t>
            </a:r>
          </a:p>
          <a:p>
            <a:pPr>
              <a:lnSpc>
                <a:spcPct val="115000"/>
              </a:lnSpc>
              <a:spcBef>
                <a:spcPct val="50000"/>
              </a:spcBef>
              <a:spcAft>
                <a:spcPct val="50000"/>
              </a:spcAft>
              <a:buSzPct val="125000"/>
            </a:pPr>
            <a:r>
              <a:rPr lang="en-US" altLang="en-US" sz="1600" dirty="0">
                <a:latin typeface="Arial" panose="020B0604020202020204" pitchFamily="34" charset="0"/>
              </a:rPr>
              <a:t>Write name on the top of Post-it</a:t>
            </a:r>
          </a:p>
          <a:p>
            <a:pPr>
              <a:lnSpc>
                <a:spcPct val="115000"/>
              </a:lnSpc>
              <a:spcBef>
                <a:spcPct val="50000"/>
              </a:spcBef>
              <a:spcAft>
                <a:spcPct val="50000"/>
              </a:spcAft>
              <a:buSzPct val="125000"/>
            </a:pPr>
            <a:r>
              <a:rPr lang="en-US" altLang="en-US" sz="1600" dirty="0">
                <a:latin typeface="Arial" panose="020B0604020202020204" pitchFamily="34" charset="0"/>
              </a:rPr>
              <a:t>Be clear; state Breakthrough Objective in the form of a breakthrough:</a:t>
            </a:r>
          </a:p>
          <a:p>
            <a:pPr lvl="1">
              <a:lnSpc>
                <a:spcPct val="115000"/>
              </a:lnSpc>
              <a:spcBef>
                <a:spcPct val="50000"/>
              </a:spcBef>
              <a:spcAft>
                <a:spcPct val="50000"/>
              </a:spcAft>
              <a:buSzPct val="125000"/>
            </a:pPr>
            <a:r>
              <a:rPr lang="en-US" altLang="en-US" sz="1200" dirty="0">
                <a:latin typeface="Arial" panose="020B0604020202020204" pitchFamily="34" charset="0"/>
              </a:rPr>
              <a:t>Wrong: Grow the business</a:t>
            </a:r>
          </a:p>
          <a:p>
            <a:pPr lvl="1">
              <a:lnSpc>
                <a:spcPct val="115000"/>
              </a:lnSpc>
              <a:spcBef>
                <a:spcPct val="50000"/>
              </a:spcBef>
              <a:spcAft>
                <a:spcPct val="50000"/>
              </a:spcAft>
              <a:buSzPct val="125000"/>
            </a:pPr>
            <a:r>
              <a:rPr lang="en-US" altLang="en-US" sz="1200" dirty="0">
                <a:latin typeface="Arial" panose="020B0604020202020204" pitchFamily="34" charset="0"/>
              </a:rPr>
              <a:t>Right: Increase revenue from $275M to $500M by 12/31/XX</a:t>
            </a:r>
          </a:p>
          <a:p>
            <a:pPr>
              <a:lnSpc>
                <a:spcPct val="115000"/>
              </a:lnSpc>
              <a:spcBef>
                <a:spcPct val="50000"/>
              </a:spcBef>
              <a:spcAft>
                <a:spcPct val="50000"/>
              </a:spcAft>
              <a:buSzPct val="125000"/>
            </a:pPr>
            <a:r>
              <a:rPr lang="en-US" altLang="en-US" sz="1600" dirty="0">
                <a:latin typeface="Arial" panose="020B0604020202020204" pitchFamily="34" charset="0"/>
              </a:rPr>
              <a:t>Focus on the critical few ideas that are based on the Business Case analysis</a:t>
            </a:r>
          </a:p>
        </p:txBody>
      </p:sp>
      <p:grpSp>
        <p:nvGrpSpPr>
          <p:cNvPr id="10" name="Group 9">
            <a:extLst>
              <a:ext uri="{FF2B5EF4-FFF2-40B4-BE49-F238E27FC236}">
                <a16:creationId xmlns:a16="http://schemas.microsoft.com/office/drawing/2014/main" id="{9A0E98A3-2AD0-D59E-B1D7-50C9B9EEAB02}"/>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2701D0CD-64C1-1889-FA6E-A2CB74881783}"/>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B72CD5E1-6E72-F033-883E-639D0738A89F}"/>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1B17ACA5-E182-7CCF-DAB4-7590523711A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93826E5E-3F5B-321E-1DF8-05FAC679FB3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ABF37A41-881B-A4F1-49D7-785AFFA49D08}"/>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594744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E82EB-2E19-E598-0867-3494B891F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9A6A2-1D31-52E6-A30F-0399949F6730}"/>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Breakthrough Analysis Tool</a:t>
            </a:r>
            <a:endParaRPr lang="en-US" sz="4000" dirty="0"/>
          </a:p>
        </p:txBody>
      </p:sp>
      <p:graphicFrame>
        <p:nvGraphicFramePr>
          <p:cNvPr id="17" name="Group 62">
            <a:extLst>
              <a:ext uri="{FF2B5EF4-FFF2-40B4-BE49-F238E27FC236}">
                <a16:creationId xmlns:a16="http://schemas.microsoft.com/office/drawing/2014/main" id="{407E7D3A-97E5-2803-2394-BDBC3A0787D7}"/>
              </a:ext>
            </a:extLst>
          </p:cNvPr>
          <p:cNvGraphicFramePr>
            <a:graphicFrameLocks noGrp="1"/>
          </p:cNvGraphicFramePr>
          <p:nvPr>
            <p:extLst>
              <p:ext uri="{D42A27DB-BD31-4B8C-83A1-F6EECF244321}">
                <p14:modId xmlns:p14="http://schemas.microsoft.com/office/powerpoint/2010/main" val="372512985"/>
              </p:ext>
            </p:extLst>
          </p:nvPr>
        </p:nvGraphicFramePr>
        <p:xfrm>
          <a:off x="1866900" y="1943100"/>
          <a:ext cx="8229600" cy="4233863"/>
        </p:xfrm>
        <a:graphic>
          <a:graphicData uri="http://schemas.openxmlformats.org/drawingml/2006/table">
            <a:tbl>
              <a:tblPr/>
              <a:tblGrid>
                <a:gridCol w="2286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01763">
                  <a:extLst>
                    <a:ext uri="{9D8B030D-6E8A-4147-A177-3AD203B41FA5}">
                      <a16:colId xmlns:a16="http://schemas.microsoft.com/office/drawing/2014/main" val="20003"/>
                    </a:ext>
                  </a:extLst>
                </a:gridCol>
                <a:gridCol w="1646237">
                  <a:extLst>
                    <a:ext uri="{9D8B030D-6E8A-4147-A177-3AD203B41FA5}">
                      <a16:colId xmlns:a16="http://schemas.microsoft.com/office/drawing/2014/main" val="20004"/>
                    </a:ext>
                  </a:extLst>
                </a:gridCol>
              </a:tblGrid>
              <a:tr h="652301">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PROPOSED BREAKTHROUGH</a:t>
                      </a:r>
                    </a:p>
                  </a:txBody>
                  <a:tcPr marT="45722" marB="4572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RELEVANCE TO SWOT</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IMPACT ON $$</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IMPACT ON CUSTOMER</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OVERALL SCORE</a:t>
                      </a:r>
                    </a:p>
                  </a:txBody>
                  <a:tcPr marT="45722" marB="4572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0"/>
                  </a:ext>
                </a:extLst>
              </a:tr>
              <a:tr h="596927">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96927">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96927">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96927">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96927">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96927">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0" i="0" u="none" strike="noStrike" cap="none" normalizeH="0" baseline="0" dirty="0">
                          <a:ln>
                            <a:noFill/>
                          </a:ln>
                          <a:solidFill>
                            <a:schemeClr val="tx1"/>
                          </a:solidFill>
                          <a:effectLst/>
                          <a:latin typeface="Arial" charset="0"/>
                        </a:rPr>
                        <a:t>H, M, L</a:t>
                      </a:r>
                    </a:p>
                  </a:txBody>
                  <a:tcPr marT="45722" marB="4572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marT="45722" marB="4572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0" name="Rectangle 59">
            <a:extLst>
              <a:ext uri="{FF2B5EF4-FFF2-40B4-BE49-F238E27FC236}">
                <a16:creationId xmlns:a16="http://schemas.microsoft.com/office/drawing/2014/main" id="{646626B4-8A6E-43F4-D283-06BF53D25B8D}"/>
              </a:ext>
            </a:extLst>
          </p:cNvPr>
          <p:cNvSpPr>
            <a:spLocks noChangeArrowheads="1"/>
          </p:cNvSpPr>
          <p:nvPr/>
        </p:nvSpPr>
        <p:spPr bwMode="auto">
          <a:xfrm>
            <a:off x="8575675" y="2679700"/>
            <a:ext cx="1433513" cy="3352800"/>
          </a:xfrm>
          <a:prstGeom prst="rect">
            <a:avLst/>
          </a:prstGeom>
          <a:solidFill>
            <a:schemeClr val="bg2"/>
          </a:solidFill>
          <a:ln w="12700" cap="sq">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600">
                <a:solidFill>
                  <a:schemeClr val="tx1"/>
                </a:solidFill>
                <a:latin typeface="Arial" panose="020B0604020202020204" pitchFamily="34" charset="0"/>
              </a:rPr>
              <a:t>Use this</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tool and </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discussion</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to </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down-select </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to top 3 – 4</a:t>
            </a:r>
          </a:p>
        </p:txBody>
      </p:sp>
      <p:sp>
        <p:nvSpPr>
          <p:cNvPr id="21" name="Rectangle 60">
            <a:extLst>
              <a:ext uri="{FF2B5EF4-FFF2-40B4-BE49-F238E27FC236}">
                <a16:creationId xmlns:a16="http://schemas.microsoft.com/office/drawing/2014/main" id="{6A1D7783-293C-39E0-3A8A-1121EF9A583A}"/>
              </a:ext>
            </a:extLst>
          </p:cNvPr>
          <p:cNvSpPr>
            <a:spLocks noChangeArrowheads="1"/>
          </p:cNvSpPr>
          <p:nvPr/>
        </p:nvSpPr>
        <p:spPr bwMode="auto">
          <a:xfrm>
            <a:off x="1966913" y="2695575"/>
            <a:ext cx="2079625" cy="3382963"/>
          </a:xfrm>
          <a:prstGeom prst="rect">
            <a:avLst/>
          </a:prstGeom>
          <a:solidFill>
            <a:schemeClr val="bg2"/>
          </a:solidFill>
          <a:ln w="12700" cap="sq">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600">
                <a:solidFill>
                  <a:schemeClr val="tx1"/>
                </a:solidFill>
                <a:latin typeface="Arial" panose="020B0604020202020204" pitchFamily="34" charset="0"/>
              </a:rPr>
              <a:t>List</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proposed</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Breakthrough </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Objectives</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here and rank</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High, Medium,</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or Low against</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criteria.</a:t>
            </a:r>
          </a:p>
        </p:txBody>
      </p:sp>
      <p:grpSp>
        <p:nvGrpSpPr>
          <p:cNvPr id="28" name="Group 27">
            <a:extLst>
              <a:ext uri="{FF2B5EF4-FFF2-40B4-BE49-F238E27FC236}">
                <a16:creationId xmlns:a16="http://schemas.microsoft.com/office/drawing/2014/main" id="{011BE4D0-B928-E05F-E820-3FEF69352115}"/>
              </a:ext>
            </a:extLst>
          </p:cNvPr>
          <p:cNvGrpSpPr/>
          <p:nvPr/>
        </p:nvGrpSpPr>
        <p:grpSpPr>
          <a:xfrm>
            <a:off x="961102" y="302894"/>
            <a:ext cx="1229200" cy="290657"/>
            <a:chOff x="940249" y="315206"/>
            <a:chExt cx="1373841" cy="265062"/>
          </a:xfrm>
        </p:grpSpPr>
        <p:sp>
          <p:nvSpPr>
            <p:cNvPr id="29" name="AutoShape 9">
              <a:extLst>
                <a:ext uri="{FF2B5EF4-FFF2-40B4-BE49-F238E27FC236}">
                  <a16:creationId xmlns:a16="http://schemas.microsoft.com/office/drawing/2014/main" id="{B3846FBD-7C64-E89C-E512-48640F0E52B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9">
              <a:extLst>
                <a:ext uri="{FF2B5EF4-FFF2-40B4-BE49-F238E27FC236}">
                  <a16:creationId xmlns:a16="http://schemas.microsoft.com/office/drawing/2014/main" id="{C8F4EE79-45DD-CA4B-35EB-2E9FAA861E59}"/>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1" name="AutoShape 10">
              <a:extLst>
                <a:ext uri="{FF2B5EF4-FFF2-40B4-BE49-F238E27FC236}">
                  <a16:creationId xmlns:a16="http://schemas.microsoft.com/office/drawing/2014/main" id="{4605B2B0-DEC7-5B45-93E9-D33E65911272}"/>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2" name="AutoShape 11">
              <a:extLst>
                <a:ext uri="{FF2B5EF4-FFF2-40B4-BE49-F238E27FC236}">
                  <a16:creationId xmlns:a16="http://schemas.microsoft.com/office/drawing/2014/main" id="{2E8BD22B-C192-ACBF-478F-C9C3A86831BD}"/>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33" name="TextBox 32">
            <a:extLst>
              <a:ext uri="{FF2B5EF4-FFF2-40B4-BE49-F238E27FC236}">
                <a16:creationId xmlns:a16="http://schemas.microsoft.com/office/drawing/2014/main" id="{F57D4B99-BC9A-ECBF-B7F2-AC7A21D71434}"/>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28152287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1092-A1A8-B92F-F78C-8CB6A7DAD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7C9C2-8389-BF9A-83BA-91C991CFC53A}"/>
              </a:ext>
            </a:extLst>
          </p:cNvPr>
          <p:cNvSpPr>
            <a:spLocks noGrp="1"/>
          </p:cNvSpPr>
          <p:nvPr>
            <p:ph type="title"/>
          </p:nvPr>
        </p:nvSpPr>
        <p:spPr/>
        <p:txBody>
          <a:bodyPr>
            <a:normAutofit/>
          </a:bodyPr>
          <a:lstStyle/>
          <a:p>
            <a:r>
              <a:rPr lang="en-US" sz="4000" dirty="0">
                <a:latin typeface="Roboto Medium"/>
                <a:ea typeface="Roboto Medium"/>
                <a:cs typeface="Roboto Medium"/>
              </a:rPr>
              <a:t>Your Turn: Create Breakthrough Objectives</a:t>
            </a:r>
          </a:p>
        </p:txBody>
      </p:sp>
      <p:sp>
        <p:nvSpPr>
          <p:cNvPr id="11" name="Rectangle 10">
            <a:extLst>
              <a:ext uri="{FF2B5EF4-FFF2-40B4-BE49-F238E27FC236}">
                <a16:creationId xmlns:a16="http://schemas.microsoft.com/office/drawing/2014/main" id="{EC89DFF0-E91D-7DD1-FBE1-76742E11B0F1}"/>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Create Breakthrough Objectives for your company </a:t>
            </a:r>
          </a:p>
        </p:txBody>
      </p:sp>
      <p:sp>
        <p:nvSpPr>
          <p:cNvPr id="12" name="TextBox 11">
            <a:extLst>
              <a:ext uri="{FF2B5EF4-FFF2-40B4-BE49-F238E27FC236}">
                <a16:creationId xmlns:a16="http://schemas.microsoft.com/office/drawing/2014/main" id="{691FACFF-DCFB-5055-3B10-354E3B03DBAF}"/>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382DE8FA-F329-CF1A-FB36-9D5C58790FCB}"/>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60FBBA4D-3A42-2D64-3B21-EEF1CB290DAE}"/>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Following the Affinity Process outlined on the</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previous slides, as a team, brainstorm the top</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three to four 3–5 Year Breakthrough Objectives for your company.</a:t>
            </a:r>
          </a:p>
          <a:p>
            <a:pPr defTabSz="584200" hangingPunct="0"/>
            <a:endPar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Company leader and SD Facilitator facilitate this process. </a:t>
            </a:r>
          </a:p>
        </p:txBody>
      </p:sp>
      <p:sp>
        <p:nvSpPr>
          <p:cNvPr id="15" name="TextBox 14">
            <a:extLst>
              <a:ext uri="{FF2B5EF4-FFF2-40B4-BE49-F238E27FC236}">
                <a16:creationId xmlns:a16="http://schemas.microsoft.com/office/drawing/2014/main" id="{98247600-66BB-4EB8-170A-4D447FA60C4E}"/>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3E86E184-A708-7F46-5462-21F2B71D2A84}"/>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46308795-CB2E-37BB-5B50-9F882A501B53}"/>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 ½  hours</a:t>
            </a:r>
          </a:p>
        </p:txBody>
      </p:sp>
      <p:sp>
        <p:nvSpPr>
          <p:cNvPr id="18" name="Rectangle 17">
            <a:extLst>
              <a:ext uri="{FF2B5EF4-FFF2-40B4-BE49-F238E27FC236}">
                <a16:creationId xmlns:a16="http://schemas.microsoft.com/office/drawing/2014/main" id="{1AA78C89-28E3-D8F4-2E15-0BF544FE47BE}"/>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Reach consensus on top three to four Breakthrough Objectives for your company </a:t>
            </a:r>
          </a:p>
        </p:txBody>
      </p:sp>
      <p:grpSp>
        <p:nvGrpSpPr>
          <p:cNvPr id="23" name="Group 22">
            <a:extLst>
              <a:ext uri="{FF2B5EF4-FFF2-40B4-BE49-F238E27FC236}">
                <a16:creationId xmlns:a16="http://schemas.microsoft.com/office/drawing/2014/main" id="{1C38BD31-4EAB-5FBB-C633-4EE54FF2B711}"/>
              </a:ext>
            </a:extLst>
          </p:cNvPr>
          <p:cNvGrpSpPr/>
          <p:nvPr/>
        </p:nvGrpSpPr>
        <p:grpSpPr>
          <a:xfrm>
            <a:off x="961102" y="302894"/>
            <a:ext cx="1229200" cy="290657"/>
            <a:chOff x="940249" y="315206"/>
            <a:chExt cx="1373841" cy="265062"/>
          </a:xfrm>
        </p:grpSpPr>
        <p:sp>
          <p:nvSpPr>
            <p:cNvPr id="24" name="AutoShape 9">
              <a:extLst>
                <a:ext uri="{FF2B5EF4-FFF2-40B4-BE49-F238E27FC236}">
                  <a16:creationId xmlns:a16="http://schemas.microsoft.com/office/drawing/2014/main" id="{C7323200-A142-BD34-2EB4-64C32BE32233}"/>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A8E61876-6FC0-CF8B-CBB7-292B103F730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D9F1411A-315E-D83D-3549-90682BE754B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971C592F-E050-B3EA-F28F-9C7F74FF9D84}"/>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8" name="TextBox 27">
            <a:extLst>
              <a:ext uri="{FF2B5EF4-FFF2-40B4-BE49-F238E27FC236}">
                <a16:creationId xmlns:a16="http://schemas.microsoft.com/office/drawing/2014/main" id="{61BBD342-20B7-7377-AB8D-BA1BACB47454}"/>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11469815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5E3C1-E7A8-A5C3-8905-B503079A0565}"/>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4F39B310-64E4-2360-E302-7AEE1CF8B76A}"/>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Creating the Top Level Matrix</a:t>
            </a:r>
          </a:p>
        </p:txBody>
      </p:sp>
      <p:sp>
        <p:nvSpPr>
          <p:cNvPr id="12" name="Rectangle 11">
            <a:extLst>
              <a:ext uri="{FF2B5EF4-FFF2-40B4-BE49-F238E27FC236}">
                <a16:creationId xmlns:a16="http://schemas.microsoft.com/office/drawing/2014/main" id="{450C7666-74DE-3DCA-7413-EE04DA535D11}"/>
              </a:ext>
            </a:extLst>
          </p:cNvPr>
          <p:cNvSpPr>
            <a:spLocks/>
          </p:cNvSpPr>
          <p:nvPr/>
        </p:nvSpPr>
        <p:spPr>
          <a:xfrm>
            <a:off x="940247" y="1934137"/>
            <a:ext cx="10415016"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Breakthrough Objectives</a:t>
            </a:r>
            <a:endPar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Rectangle 12">
            <a:extLst>
              <a:ext uri="{FF2B5EF4-FFF2-40B4-BE49-F238E27FC236}">
                <a16:creationId xmlns:a16="http://schemas.microsoft.com/office/drawing/2014/main" id="{0CF0ED50-8680-753F-E280-CD958150AF3D}"/>
              </a:ext>
            </a:extLst>
          </p:cNvPr>
          <p:cNvSpPr>
            <a:spLocks/>
          </p:cNvSpPr>
          <p:nvPr/>
        </p:nvSpPr>
        <p:spPr>
          <a:xfrm>
            <a:off x="940248" y="3028466"/>
            <a:ext cx="10413551"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Annual Improvement Priorities (AIPs)</a:t>
            </a:r>
          </a:p>
        </p:txBody>
      </p:sp>
      <p:sp>
        <p:nvSpPr>
          <p:cNvPr id="14" name="Rectangle 13">
            <a:extLst>
              <a:ext uri="{FF2B5EF4-FFF2-40B4-BE49-F238E27FC236}">
                <a16:creationId xmlns:a16="http://schemas.microsoft.com/office/drawing/2014/main" id="{D4CD454C-4495-DD51-E3E5-E21B7C80C48B}"/>
              </a:ext>
            </a:extLst>
          </p:cNvPr>
          <p:cNvSpPr>
            <a:spLocks/>
          </p:cNvSpPr>
          <p:nvPr/>
        </p:nvSpPr>
        <p:spPr>
          <a:xfrm>
            <a:off x="940247" y="4122795"/>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Targets to Improve</a:t>
            </a:r>
          </a:p>
        </p:txBody>
      </p:sp>
      <p:sp>
        <p:nvSpPr>
          <p:cNvPr id="16" name="Rectangle 15">
            <a:extLst>
              <a:ext uri="{FF2B5EF4-FFF2-40B4-BE49-F238E27FC236}">
                <a16:creationId xmlns:a16="http://schemas.microsoft.com/office/drawing/2014/main" id="{3D1A6B48-A140-2685-7102-ACB9AA7CDCA9}"/>
              </a:ext>
            </a:extLst>
          </p:cNvPr>
          <p:cNvSpPr>
            <a:spLocks/>
          </p:cNvSpPr>
          <p:nvPr/>
        </p:nvSpPr>
        <p:spPr>
          <a:xfrm>
            <a:off x="940247" y="5217125"/>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Resources for each AIP</a:t>
            </a:r>
          </a:p>
        </p:txBody>
      </p:sp>
      <p:sp>
        <p:nvSpPr>
          <p:cNvPr id="20" name="Title 1">
            <a:extLst>
              <a:ext uri="{FF2B5EF4-FFF2-40B4-BE49-F238E27FC236}">
                <a16:creationId xmlns:a16="http://schemas.microsoft.com/office/drawing/2014/main" id="{5DBDFE1D-CCD0-F593-0828-E0ABDAE15929}"/>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2B3CA522-0EF0-083D-DC8D-AC83EE537B51}"/>
              </a:ext>
            </a:extLst>
          </p:cNvPr>
          <p:cNvGrpSpPr/>
          <p:nvPr/>
        </p:nvGrpSpPr>
        <p:grpSpPr>
          <a:xfrm>
            <a:off x="961102" y="302894"/>
            <a:ext cx="1229200" cy="290657"/>
            <a:chOff x="940249" y="315206"/>
            <a:chExt cx="1373841" cy="265062"/>
          </a:xfrm>
        </p:grpSpPr>
        <p:sp>
          <p:nvSpPr>
            <p:cNvPr id="3" name="AutoShape 9">
              <a:extLst>
                <a:ext uri="{FF2B5EF4-FFF2-40B4-BE49-F238E27FC236}">
                  <a16:creationId xmlns:a16="http://schemas.microsoft.com/office/drawing/2014/main" id="{EEFE0F8B-6668-E0FE-20F5-F82454FAFF8E}"/>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 name="AutoShape 9">
              <a:extLst>
                <a:ext uri="{FF2B5EF4-FFF2-40B4-BE49-F238E27FC236}">
                  <a16:creationId xmlns:a16="http://schemas.microsoft.com/office/drawing/2014/main" id="{2302F683-39A3-BDA2-D820-31C66EB855B5}"/>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 name="AutoShape 10">
              <a:extLst>
                <a:ext uri="{FF2B5EF4-FFF2-40B4-BE49-F238E27FC236}">
                  <a16:creationId xmlns:a16="http://schemas.microsoft.com/office/drawing/2014/main" id="{055ABDA8-BED8-A96E-D769-E9DA065919C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6" name="AutoShape 11">
              <a:extLst>
                <a:ext uri="{FF2B5EF4-FFF2-40B4-BE49-F238E27FC236}">
                  <a16:creationId xmlns:a16="http://schemas.microsoft.com/office/drawing/2014/main" id="{57496F4C-DA0E-B972-EA33-E3F62C608550}"/>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ABC72106-2C58-A741-30F0-A5700958A1B4}"/>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26733040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464B8-2606-6BF3-CF28-0706D24E0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A7486-68B1-2BC8-90A2-6AD7E97F7E13}"/>
              </a:ext>
            </a:extLst>
          </p:cNvPr>
          <p:cNvSpPr>
            <a:spLocks noGrp="1"/>
          </p:cNvSpPr>
          <p:nvPr>
            <p:ph type="title"/>
          </p:nvPr>
        </p:nvSpPr>
        <p:spPr/>
        <p:txBody>
          <a:bodyPr>
            <a:normAutofit/>
          </a:bodyPr>
          <a:lstStyle/>
          <a:p>
            <a:r>
              <a:rPr lang="en-US" sz="4000" dirty="0"/>
              <a:t>Reviewing Annual Improvement Priorities</a:t>
            </a:r>
          </a:p>
        </p:txBody>
      </p:sp>
      <p:sp>
        <p:nvSpPr>
          <p:cNvPr id="3" name="Content Placeholder 2">
            <a:extLst>
              <a:ext uri="{FF2B5EF4-FFF2-40B4-BE49-F238E27FC236}">
                <a16:creationId xmlns:a16="http://schemas.microsoft.com/office/drawing/2014/main" id="{5804ADAF-01FF-7B65-F50D-E6330CB15F0C}"/>
              </a:ext>
            </a:extLst>
          </p:cNvPr>
          <p:cNvSpPr>
            <a:spLocks noGrp="1"/>
          </p:cNvSpPr>
          <p:nvPr>
            <p:ph idx="1"/>
          </p:nvPr>
        </p:nvSpPr>
        <p:spPr/>
        <p:txBody>
          <a:bodyPr>
            <a:normAutofit fontScale="70000" lnSpcReduction="20000"/>
          </a:bodyPr>
          <a:lstStyle/>
          <a:p>
            <a:pPr>
              <a:lnSpc>
                <a:spcPct val="145000"/>
              </a:lnSpc>
              <a:buFont typeface="Wingdings" panose="05000000000000000000" pitchFamily="2" charset="2"/>
              <a:buNone/>
            </a:pPr>
            <a:r>
              <a:rPr lang="en-US" altLang="en-US" b="1" dirty="0"/>
              <a:t>Are the Annual Improvement Priorities…</a:t>
            </a:r>
          </a:p>
          <a:p>
            <a:pPr indent="-457200">
              <a:lnSpc>
                <a:spcPct val="145000"/>
              </a:lnSpc>
              <a:spcBef>
                <a:spcPts val="60"/>
              </a:spcBef>
              <a:spcAft>
                <a:spcPts val="60"/>
              </a:spcAft>
              <a:buSzPct val="125000"/>
              <a:buFont typeface="Wingdings" panose="05000000000000000000" pitchFamily="2" charset="2"/>
              <a:buChar char="þ"/>
            </a:pPr>
            <a:r>
              <a:rPr lang="en-US" altLang="en-US" b="1" dirty="0"/>
              <a:t>Tied to the established Breakthrough Objectives?</a:t>
            </a:r>
          </a:p>
          <a:p>
            <a:pPr indent="-457200">
              <a:lnSpc>
                <a:spcPct val="145000"/>
              </a:lnSpc>
              <a:spcBef>
                <a:spcPts val="60"/>
              </a:spcBef>
              <a:spcAft>
                <a:spcPts val="60"/>
              </a:spcAft>
              <a:buSzPct val="125000"/>
              <a:buFont typeface="Wingdings" panose="05000000000000000000" pitchFamily="2" charset="2"/>
              <a:buChar char="þ"/>
            </a:pPr>
            <a:r>
              <a:rPr lang="en-US" altLang="en-US" b="1" dirty="0"/>
              <a:t>Supporting opportunities listed in the SWOT analysis?</a:t>
            </a:r>
          </a:p>
          <a:p>
            <a:pPr indent="-457200">
              <a:lnSpc>
                <a:spcPct val="145000"/>
              </a:lnSpc>
              <a:spcBef>
                <a:spcPts val="60"/>
              </a:spcBef>
              <a:spcAft>
                <a:spcPts val="60"/>
              </a:spcAft>
              <a:buSzPct val="125000"/>
              <a:buFont typeface="Wingdings" panose="05000000000000000000" pitchFamily="2" charset="2"/>
              <a:buChar char="þ"/>
            </a:pPr>
            <a:r>
              <a:rPr lang="en-US" altLang="en-US" b="1" dirty="0"/>
              <a:t>Process-focused?</a:t>
            </a:r>
          </a:p>
          <a:p>
            <a:pPr indent="-457200">
              <a:lnSpc>
                <a:spcPct val="145000"/>
              </a:lnSpc>
              <a:spcBef>
                <a:spcPts val="60"/>
              </a:spcBef>
              <a:spcAft>
                <a:spcPts val="60"/>
              </a:spcAft>
              <a:buSzPct val="125000"/>
              <a:buFont typeface="Wingdings" panose="05000000000000000000" pitchFamily="2" charset="2"/>
              <a:buChar char="þ"/>
            </a:pPr>
            <a:r>
              <a:rPr lang="en-US" altLang="en-US" b="1" dirty="0"/>
              <a:t>Customer-focused?</a:t>
            </a:r>
          </a:p>
          <a:p>
            <a:pPr indent="-457200">
              <a:lnSpc>
                <a:spcPct val="145000"/>
              </a:lnSpc>
              <a:spcBef>
                <a:spcPts val="60"/>
              </a:spcBef>
              <a:spcAft>
                <a:spcPts val="60"/>
              </a:spcAft>
              <a:buSzPct val="125000"/>
              <a:buFont typeface="Wingdings" panose="05000000000000000000" pitchFamily="2" charset="2"/>
              <a:buChar char="þ"/>
            </a:pPr>
            <a:r>
              <a:rPr lang="en-US" altLang="en-US" b="1" dirty="0"/>
              <a:t>Measurable?</a:t>
            </a:r>
          </a:p>
          <a:p>
            <a:pPr indent="-457200">
              <a:lnSpc>
                <a:spcPct val="145000"/>
              </a:lnSpc>
              <a:spcBef>
                <a:spcPts val="60"/>
              </a:spcBef>
              <a:spcAft>
                <a:spcPts val="60"/>
              </a:spcAft>
              <a:buSzPct val="125000"/>
              <a:buFont typeface="Wingdings" panose="05000000000000000000" pitchFamily="2" charset="2"/>
              <a:buChar char="þ"/>
            </a:pPr>
            <a:r>
              <a:rPr lang="en-US" altLang="en-US" b="1" dirty="0"/>
              <a:t>Enlisting cross-functional involvement?</a:t>
            </a:r>
          </a:p>
          <a:p>
            <a:pPr indent="-457200">
              <a:lnSpc>
                <a:spcPct val="145000"/>
              </a:lnSpc>
              <a:spcBef>
                <a:spcPts val="60"/>
              </a:spcBef>
              <a:spcAft>
                <a:spcPts val="60"/>
              </a:spcAft>
              <a:buSzPct val="125000"/>
              <a:buFont typeface="Wingdings" panose="05000000000000000000" pitchFamily="2" charset="2"/>
              <a:buChar char="þ"/>
            </a:pPr>
            <a:r>
              <a:rPr lang="en-US" altLang="en-US" b="1" dirty="0"/>
              <a:t>Representing significant improvements?</a:t>
            </a:r>
          </a:p>
          <a:p>
            <a:pPr indent="-457200">
              <a:lnSpc>
                <a:spcPct val="145000"/>
              </a:lnSpc>
              <a:spcBef>
                <a:spcPts val="60"/>
              </a:spcBef>
              <a:spcAft>
                <a:spcPts val="60"/>
              </a:spcAft>
              <a:buSzPct val="125000"/>
              <a:buFont typeface="Wingdings" panose="05000000000000000000" pitchFamily="2" charset="2"/>
              <a:buChar char="þ"/>
            </a:pPr>
            <a:r>
              <a:rPr lang="en-US" altLang="en-US" b="1" dirty="0"/>
              <a:t>Resulting in a new system or new way of doing business? </a:t>
            </a:r>
          </a:p>
          <a:p>
            <a:pPr indent="-457200">
              <a:lnSpc>
                <a:spcPct val="145000"/>
              </a:lnSpc>
              <a:spcBef>
                <a:spcPts val="60"/>
              </a:spcBef>
              <a:spcAft>
                <a:spcPts val="60"/>
              </a:spcAft>
              <a:buSzPct val="125000"/>
              <a:buFont typeface="Wingdings" panose="05000000000000000000" pitchFamily="2" charset="2"/>
              <a:buChar char="þ"/>
            </a:pPr>
            <a:r>
              <a:rPr lang="en-US" altLang="en-US" b="1" dirty="0"/>
              <a:t>Not already learned? (Do we already know how to do it?)</a:t>
            </a:r>
          </a:p>
        </p:txBody>
      </p:sp>
      <p:grpSp>
        <p:nvGrpSpPr>
          <p:cNvPr id="9" name="Group 8">
            <a:extLst>
              <a:ext uri="{FF2B5EF4-FFF2-40B4-BE49-F238E27FC236}">
                <a16:creationId xmlns:a16="http://schemas.microsoft.com/office/drawing/2014/main" id="{0AA63520-8DC4-D3C9-B735-FC1F374D01D2}"/>
              </a:ext>
            </a:extLst>
          </p:cNvPr>
          <p:cNvGrpSpPr/>
          <p:nvPr/>
        </p:nvGrpSpPr>
        <p:grpSpPr>
          <a:xfrm>
            <a:off x="961102" y="302894"/>
            <a:ext cx="1229200" cy="290657"/>
            <a:chOff x="940249" y="315206"/>
            <a:chExt cx="1373841" cy="265062"/>
          </a:xfrm>
        </p:grpSpPr>
        <p:sp>
          <p:nvSpPr>
            <p:cNvPr id="10" name="AutoShape 9">
              <a:extLst>
                <a:ext uri="{FF2B5EF4-FFF2-40B4-BE49-F238E27FC236}">
                  <a16:creationId xmlns:a16="http://schemas.microsoft.com/office/drawing/2014/main" id="{6B32D9AD-D358-9A84-2239-5F989D15852A}"/>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E70514E7-DB83-C123-3436-766D5C8D9A0E}"/>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17FB4DA3-FAC4-0B8B-CE21-D20906B7F27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EF1973EA-812C-DE81-BB7B-24805063D72B}"/>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D2D032D3-8C94-00B7-3077-D02F923B90A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5572570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E03B9-12FC-78ED-BADC-C64FB489D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006A7-37A8-633A-AE1E-1942D0CD3771}"/>
              </a:ext>
            </a:extLst>
          </p:cNvPr>
          <p:cNvSpPr>
            <a:spLocks noGrp="1"/>
          </p:cNvSpPr>
          <p:nvPr>
            <p:ph type="title"/>
          </p:nvPr>
        </p:nvSpPr>
        <p:spPr/>
        <p:txBody>
          <a:bodyPr>
            <a:noAutofit/>
          </a:bodyPr>
          <a:lstStyle/>
          <a:p>
            <a:r>
              <a:rPr lang="en-US" sz="4000" dirty="0"/>
              <a:t>Reviewing Annual Improvement Priority Examples</a:t>
            </a:r>
          </a:p>
        </p:txBody>
      </p:sp>
      <p:sp>
        <p:nvSpPr>
          <p:cNvPr id="3" name="Text Placeholder 2">
            <a:extLst>
              <a:ext uri="{FF2B5EF4-FFF2-40B4-BE49-F238E27FC236}">
                <a16:creationId xmlns:a16="http://schemas.microsoft.com/office/drawing/2014/main" id="{13EE9219-CB4B-5614-192D-1D41B889B1B0}"/>
              </a:ext>
            </a:extLst>
          </p:cNvPr>
          <p:cNvSpPr>
            <a:spLocks noGrp="1"/>
          </p:cNvSpPr>
          <p:nvPr>
            <p:ph type="body" idx="1"/>
          </p:nvPr>
        </p:nvSpPr>
        <p:spPr/>
        <p:txBody>
          <a:bodyPr/>
          <a:lstStyle/>
          <a:p>
            <a:r>
              <a:rPr lang="en-US" dirty="0"/>
              <a:t>Operational-focused</a:t>
            </a:r>
          </a:p>
        </p:txBody>
      </p:sp>
      <p:sp>
        <p:nvSpPr>
          <p:cNvPr id="4" name="Content Placeholder 3">
            <a:extLst>
              <a:ext uri="{FF2B5EF4-FFF2-40B4-BE49-F238E27FC236}">
                <a16:creationId xmlns:a16="http://schemas.microsoft.com/office/drawing/2014/main" id="{27298BD2-52B2-DFD2-6261-7128A0273E8E}"/>
              </a:ext>
            </a:extLst>
          </p:cNvPr>
          <p:cNvSpPr>
            <a:spLocks noGrp="1"/>
          </p:cNvSpPr>
          <p:nvPr>
            <p:ph sz="half" idx="2"/>
          </p:nvPr>
        </p:nvSpPr>
        <p:spPr/>
        <p:txBody>
          <a:bodyPr>
            <a:normAutofit fontScale="92500" lnSpcReduction="20000"/>
          </a:bodyPr>
          <a:lstStyle/>
          <a:p>
            <a:pPr>
              <a:lnSpc>
                <a:spcPct val="110000"/>
              </a:lnSpc>
            </a:pPr>
            <a:r>
              <a:rPr lang="en-US" dirty="0"/>
              <a:t>Implement new and/or optimize existing Sales &amp; Operations Planning Processes</a:t>
            </a:r>
          </a:p>
          <a:p>
            <a:pPr>
              <a:lnSpc>
                <a:spcPct val="110000"/>
              </a:lnSpc>
            </a:pPr>
            <a:r>
              <a:rPr lang="en-US" dirty="0"/>
              <a:t>Implement new and/or improve Supplier Certification Processes</a:t>
            </a:r>
          </a:p>
          <a:p>
            <a:pPr>
              <a:lnSpc>
                <a:spcPct val="110000"/>
              </a:lnSpc>
            </a:pPr>
            <a:r>
              <a:rPr lang="en-US" dirty="0"/>
              <a:t>Implement new “Pull” Production System</a:t>
            </a:r>
          </a:p>
          <a:p>
            <a:pPr>
              <a:lnSpc>
                <a:spcPct val="110000"/>
              </a:lnSpc>
            </a:pPr>
            <a:r>
              <a:rPr lang="en-US" dirty="0"/>
              <a:t>Implement a Lean Distribution Network</a:t>
            </a:r>
          </a:p>
        </p:txBody>
      </p:sp>
      <p:sp>
        <p:nvSpPr>
          <p:cNvPr id="5" name="Text Placeholder 4">
            <a:extLst>
              <a:ext uri="{FF2B5EF4-FFF2-40B4-BE49-F238E27FC236}">
                <a16:creationId xmlns:a16="http://schemas.microsoft.com/office/drawing/2014/main" id="{DA4F88DA-3B05-A094-8D05-5823809A0A49}"/>
              </a:ext>
            </a:extLst>
          </p:cNvPr>
          <p:cNvSpPr>
            <a:spLocks noGrp="1"/>
          </p:cNvSpPr>
          <p:nvPr>
            <p:ph type="body" sz="quarter" idx="3"/>
          </p:nvPr>
        </p:nvSpPr>
        <p:spPr/>
        <p:txBody>
          <a:bodyPr/>
          <a:lstStyle/>
          <a:p>
            <a:r>
              <a:rPr lang="en-US" dirty="0"/>
              <a:t>Growth-focused</a:t>
            </a:r>
          </a:p>
        </p:txBody>
      </p:sp>
      <p:sp>
        <p:nvSpPr>
          <p:cNvPr id="6" name="Content Placeholder 5">
            <a:extLst>
              <a:ext uri="{FF2B5EF4-FFF2-40B4-BE49-F238E27FC236}">
                <a16:creationId xmlns:a16="http://schemas.microsoft.com/office/drawing/2014/main" id="{9A94962F-72E8-B977-0F61-C32A724AB1DD}"/>
              </a:ext>
            </a:extLst>
          </p:cNvPr>
          <p:cNvSpPr>
            <a:spLocks noGrp="1"/>
          </p:cNvSpPr>
          <p:nvPr>
            <p:ph sz="quarter" idx="4"/>
          </p:nvPr>
        </p:nvSpPr>
        <p:spPr/>
        <p:txBody>
          <a:bodyPr>
            <a:normAutofit fontScale="92500" lnSpcReduction="20000"/>
          </a:bodyPr>
          <a:lstStyle/>
          <a:p>
            <a:pPr>
              <a:lnSpc>
                <a:spcPct val="100000"/>
              </a:lnSpc>
            </a:pPr>
            <a:r>
              <a:rPr lang="en-US" dirty="0"/>
              <a:t>Implement new and/or optimize existing Market Opportunity Assessment Processes</a:t>
            </a:r>
          </a:p>
          <a:p>
            <a:pPr>
              <a:lnSpc>
                <a:spcPct val="100000"/>
              </a:lnSpc>
            </a:pPr>
            <a:r>
              <a:rPr lang="en-US" dirty="0"/>
              <a:t>Implement new and/or reengineer existing Product Development Processes</a:t>
            </a:r>
          </a:p>
          <a:p>
            <a:pPr>
              <a:lnSpc>
                <a:spcPct val="100000"/>
              </a:lnSpc>
            </a:pPr>
            <a:r>
              <a:rPr lang="en-US" dirty="0"/>
              <a:t>Implement new and/or improve existing “Voice of the Customer” Processes</a:t>
            </a:r>
          </a:p>
        </p:txBody>
      </p:sp>
      <p:grpSp>
        <p:nvGrpSpPr>
          <p:cNvPr id="7" name="Group 6">
            <a:extLst>
              <a:ext uri="{FF2B5EF4-FFF2-40B4-BE49-F238E27FC236}">
                <a16:creationId xmlns:a16="http://schemas.microsoft.com/office/drawing/2014/main" id="{9B53FB63-AB9E-EFC5-E35F-E7475ED45AD1}"/>
              </a:ext>
            </a:extLst>
          </p:cNvPr>
          <p:cNvGrpSpPr/>
          <p:nvPr/>
        </p:nvGrpSpPr>
        <p:grpSpPr>
          <a:xfrm>
            <a:off x="961102" y="302894"/>
            <a:ext cx="1229200" cy="290657"/>
            <a:chOff x="940249" y="315206"/>
            <a:chExt cx="1373841" cy="265062"/>
          </a:xfrm>
        </p:grpSpPr>
        <p:sp>
          <p:nvSpPr>
            <p:cNvPr id="8" name="AutoShape 9">
              <a:extLst>
                <a:ext uri="{FF2B5EF4-FFF2-40B4-BE49-F238E27FC236}">
                  <a16:creationId xmlns:a16="http://schemas.microsoft.com/office/drawing/2014/main" id="{7F1A445B-B403-781E-58D8-9597F4F5C161}"/>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9ED0547-6D9F-48BB-3B62-B5FA74C6DC00}"/>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56E28AC5-F1FF-F68E-FE30-25CA4BCCBA9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DA137216-53A3-3B9C-3239-EEB48AD7E363}"/>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2" name="TextBox 11">
            <a:extLst>
              <a:ext uri="{FF2B5EF4-FFF2-40B4-BE49-F238E27FC236}">
                <a16:creationId xmlns:a16="http://schemas.microsoft.com/office/drawing/2014/main" id="{E219D3AF-4537-6334-52D6-456075EAE8E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22010598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1B2EC-5199-AF37-4CF7-464D94B1F5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E809B-2CD4-0FA7-3E54-E1CA6365CC13}"/>
              </a:ext>
            </a:extLst>
          </p:cNvPr>
          <p:cNvSpPr>
            <a:spLocks noGrp="1"/>
          </p:cNvSpPr>
          <p:nvPr>
            <p:ph type="title"/>
          </p:nvPr>
        </p:nvSpPr>
        <p:spPr/>
        <p:txBody>
          <a:bodyPr>
            <a:noAutofit/>
          </a:bodyPr>
          <a:lstStyle/>
          <a:p>
            <a:r>
              <a:rPr lang="en-US" sz="3600" dirty="0"/>
              <a:t>Use Affinity Process as shown in earlier slides - Ground Rules for AIPs</a:t>
            </a:r>
          </a:p>
        </p:txBody>
      </p:sp>
      <p:sp>
        <p:nvSpPr>
          <p:cNvPr id="3" name="Content Placeholder 2">
            <a:extLst>
              <a:ext uri="{FF2B5EF4-FFF2-40B4-BE49-F238E27FC236}">
                <a16:creationId xmlns:a16="http://schemas.microsoft.com/office/drawing/2014/main" id="{D80E5F98-EFD6-9F91-E0B6-B3BA5B1553ED}"/>
              </a:ext>
            </a:extLst>
          </p:cNvPr>
          <p:cNvSpPr>
            <a:spLocks noGrp="1"/>
          </p:cNvSpPr>
          <p:nvPr>
            <p:ph idx="1"/>
          </p:nvPr>
        </p:nvSpPr>
        <p:spPr/>
        <p:txBody>
          <a:bodyPr>
            <a:normAutofit/>
          </a:bodyPr>
          <a:lstStyle/>
          <a:p>
            <a:pPr>
              <a:lnSpc>
                <a:spcPct val="115000"/>
              </a:lnSpc>
              <a:spcBef>
                <a:spcPct val="50000"/>
              </a:spcBef>
              <a:spcAft>
                <a:spcPct val="50000"/>
              </a:spcAft>
              <a:buSzPct val="125000"/>
            </a:pPr>
            <a:r>
              <a:rPr lang="en-US" altLang="en-US" sz="1600" dirty="0">
                <a:latin typeface="Arial" panose="020B0604020202020204" pitchFamily="34" charset="0"/>
              </a:rPr>
              <a:t>Silent brainstorming…no discussion during Post-it writing exercise</a:t>
            </a:r>
          </a:p>
          <a:p>
            <a:pPr>
              <a:lnSpc>
                <a:spcPct val="115000"/>
              </a:lnSpc>
              <a:spcBef>
                <a:spcPct val="50000"/>
              </a:spcBef>
              <a:spcAft>
                <a:spcPct val="50000"/>
              </a:spcAft>
              <a:buSzPct val="125000"/>
            </a:pPr>
            <a:r>
              <a:rPr lang="en-US" altLang="en-US" sz="1600" dirty="0">
                <a:latin typeface="Arial" panose="020B0604020202020204" pitchFamily="34" charset="0"/>
              </a:rPr>
              <a:t>At least 2 quality AIP’s per Breakthrough Objective, per person</a:t>
            </a:r>
          </a:p>
          <a:p>
            <a:pPr>
              <a:lnSpc>
                <a:spcPct val="115000"/>
              </a:lnSpc>
              <a:spcBef>
                <a:spcPct val="50000"/>
              </a:spcBef>
              <a:spcAft>
                <a:spcPct val="50000"/>
              </a:spcAft>
              <a:buSzPct val="125000"/>
            </a:pPr>
            <a:r>
              <a:rPr lang="en-US" altLang="en-US" sz="1600" dirty="0">
                <a:latin typeface="Arial" panose="020B0604020202020204" pitchFamily="34" charset="0"/>
              </a:rPr>
              <a:t>Everyone’s ideas are treated equally</a:t>
            </a:r>
          </a:p>
          <a:p>
            <a:pPr>
              <a:lnSpc>
                <a:spcPct val="115000"/>
              </a:lnSpc>
              <a:spcBef>
                <a:spcPct val="50000"/>
              </a:spcBef>
              <a:spcAft>
                <a:spcPct val="50000"/>
              </a:spcAft>
              <a:buSzPct val="125000"/>
            </a:pPr>
            <a:r>
              <a:rPr lang="en-US" altLang="en-US" sz="1600" dirty="0">
                <a:latin typeface="Arial" panose="020B0604020202020204" pitchFamily="34" charset="0"/>
              </a:rPr>
              <a:t>One idea (AIP) per Post-it</a:t>
            </a:r>
          </a:p>
          <a:p>
            <a:pPr>
              <a:lnSpc>
                <a:spcPct val="115000"/>
              </a:lnSpc>
              <a:spcBef>
                <a:spcPct val="50000"/>
              </a:spcBef>
              <a:spcAft>
                <a:spcPct val="50000"/>
              </a:spcAft>
              <a:buSzPct val="125000"/>
            </a:pPr>
            <a:r>
              <a:rPr lang="en-US" altLang="en-US" sz="1600" dirty="0">
                <a:latin typeface="Arial" panose="020B0604020202020204" pitchFamily="34" charset="0"/>
              </a:rPr>
              <a:t>Write name on the top of Post-it</a:t>
            </a:r>
          </a:p>
          <a:p>
            <a:pPr>
              <a:lnSpc>
                <a:spcPct val="115000"/>
              </a:lnSpc>
              <a:spcBef>
                <a:spcPct val="50000"/>
              </a:spcBef>
              <a:spcAft>
                <a:spcPct val="50000"/>
              </a:spcAft>
              <a:buSzPct val="125000"/>
            </a:pPr>
            <a:r>
              <a:rPr lang="en-US" altLang="en-US" sz="1600" dirty="0">
                <a:latin typeface="Arial" panose="020B0604020202020204" pitchFamily="34" charset="0"/>
              </a:rPr>
              <a:t>Be clear; state the AIP in the form of a process:</a:t>
            </a:r>
          </a:p>
          <a:p>
            <a:pPr lvl="1">
              <a:lnSpc>
                <a:spcPct val="115000"/>
              </a:lnSpc>
              <a:spcBef>
                <a:spcPct val="50000"/>
              </a:spcBef>
              <a:spcAft>
                <a:spcPct val="50000"/>
              </a:spcAft>
              <a:buSzPct val="125000"/>
            </a:pPr>
            <a:r>
              <a:rPr lang="en-US" altLang="en-US" sz="1200" dirty="0">
                <a:latin typeface="Arial" panose="020B0604020202020204" pitchFamily="34" charset="0"/>
              </a:rPr>
              <a:t>Wrong: Improve Material Costs </a:t>
            </a:r>
          </a:p>
          <a:p>
            <a:pPr lvl="1">
              <a:lnSpc>
                <a:spcPct val="115000"/>
              </a:lnSpc>
              <a:spcBef>
                <a:spcPct val="50000"/>
              </a:spcBef>
              <a:spcAft>
                <a:spcPct val="50000"/>
              </a:spcAft>
              <a:buSzPct val="125000"/>
            </a:pPr>
            <a:r>
              <a:rPr lang="en-US" altLang="en-US" sz="1200" dirty="0">
                <a:latin typeface="Arial" panose="020B0604020202020204" pitchFamily="34" charset="0"/>
              </a:rPr>
              <a:t>Right: Implement new and/or optimize existing Supplier Certification Processes</a:t>
            </a:r>
          </a:p>
          <a:p>
            <a:pPr>
              <a:lnSpc>
                <a:spcPct val="115000"/>
              </a:lnSpc>
              <a:spcBef>
                <a:spcPct val="50000"/>
              </a:spcBef>
              <a:spcAft>
                <a:spcPct val="50000"/>
              </a:spcAft>
              <a:buSzPct val="125000"/>
            </a:pPr>
            <a:r>
              <a:rPr lang="en-US" altLang="en-US" sz="1600" dirty="0">
                <a:latin typeface="Arial" panose="020B0604020202020204" pitchFamily="34" charset="0"/>
              </a:rPr>
              <a:t>Focus on the critical few ideas based on the Breakthrough Objectives</a:t>
            </a:r>
          </a:p>
        </p:txBody>
      </p:sp>
      <p:grpSp>
        <p:nvGrpSpPr>
          <p:cNvPr id="10" name="Group 9">
            <a:extLst>
              <a:ext uri="{FF2B5EF4-FFF2-40B4-BE49-F238E27FC236}">
                <a16:creationId xmlns:a16="http://schemas.microsoft.com/office/drawing/2014/main" id="{EA00B180-F458-007E-3049-35B186DEA5B7}"/>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26AD2E33-9628-16F0-BD80-D8BF37616469}"/>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1164145-AC3F-BF05-48DE-A1EF86313FCC}"/>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7FFE6EA6-462D-6947-248E-3F4E8DF42FFE}"/>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69376876-A19E-7B8C-3842-C16F0459B7D4}"/>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44E1C522-1DE1-77E0-469D-476D5BE3C2AD}"/>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28815554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83558-A272-D400-95A0-68C58D0AE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2C92B-D46B-77C8-3861-C87FA4D628DD}"/>
              </a:ext>
            </a:extLst>
          </p:cNvPr>
          <p:cNvSpPr>
            <a:spLocks noGrp="1"/>
          </p:cNvSpPr>
          <p:nvPr>
            <p:ph type="title"/>
          </p:nvPr>
        </p:nvSpPr>
        <p:spPr/>
        <p:txBody>
          <a:bodyPr>
            <a:normAutofit fontScale="90000"/>
          </a:bodyPr>
          <a:lstStyle/>
          <a:p>
            <a:r>
              <a:rPr lang="en-US" sz="4000" dirty="0">
                <a:latin typeface="Roboto Medium"/>
                <a:ea typeface="Roboto Medium"/>
                <a:cs typeface="Roboto Medium"/>
              </a:rPr>
              <a:t>Your Turn: Create Annual Improvement Priorities</a:t>
            </a:r>
          </a:p>
        </p:txBody>
      </p:sp>
      <p:sp>
        <p:nvSpPr>
          <p:cNvPr id="11" name="Rectangle 10">
            <a:extLst>
              <a:ext uri="{FF2B5EF4-FFF2-40B4-BE49-F238E27FC236}">
                <a16:creationId xmlns:a16="http://schemas.microsoft.com/office/drawing/2014/main" id="{5597DDA3-6BBB-D826-18EC-9FF3DED7EDE0}"/>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Create Annual Improvement Priorities for your company </a:t>
            </a:r>
          </a:p>
        </p:txBody>
      </p:sp>
      <p:sp>
        <p:nvSpPr>
          <p:cNvPr id="12" name="TextBox 11">
            <a:extLst>
              <a:ext uri="{FF2B5EF4-FFF2-40B4-BE49-F238E27FC236}">
                <a16:creationId xmlns:a16="http://schemas.microsoft.com/office/drawing/2014/main" id="{12EAD0FA-CDDA-3FCC-E564-62ACA7686ED2}"/>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0FABA049-1DAE-8F10-248E-6D70BB506D98}"/>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A42562F0-A1E5-B14F-FCD8-1A62FEDE7AB2}"/>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Following the Affinity Process outlined on the</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previous slides, as a team, brainstorm the top</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Annual Improvement Priorities that drive to the </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Breakthrough Objectives for your company.</a:t>
            </a:r>
          </a:p>
          <a:p>
            <a:pPr defTabSz="584200" hangingPunct="0"/>
            <a:endPar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Company leader and SD Facilitator facilitate this process. </a:t>
            </a:r>
          </a:p>
        </p:txBody>
      </p:sp>
      <p:sp>
        <p:nvSpPr>
          <p:cNvPr id="15" name="TextBox 14">
            <a:extLst>
              <a:ext uri="{FF2B5EF4-FFF2-40B4-BE49-F238E27FC236}">
                <a16:creationId xmlns:a16="http://schemas.microsoft.com/office/drawing/2014/main" id="{E7053832-E803-C706-BB39-31D4858FB13A}"/>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F4900A79-3777-4CE7-E70C-FD6E5BBE37DD}"/>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C8FA9A69-88AE-4366-6EC1-69BD05A12BD9}"/>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2-3 hours</a:t>
            </a:r>
          </a:p>
        </p:txBody>
      </p:sp>
      <p:sp>
        <p:nvSpPr>
          <p:cNvPr id="18" name="Rectangle 17">
            <a:extLst>
              <a:ext uri="{FF2B5EF4-FFF2-40B4-BE49-F238E27FC236}">
                <a16:creationId xmlns:a16="http://schemas.microsoft.com/office/drawing/2014/main" id="{56E9263C-12D1-83FF-DB41-42EEDD037EF3}"/>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Reach consensus on top 1-2 AIPs for each Breakthrough Objective for your company </a:t>
            </a:r>
          </a:p>
        </p:txBody>
      </p:sp>
      <p:grpSp>
        <p:nvGrpSpPr>
          <p:cNvPr id="23" name="Group 22">
            <a:extLst>
              <a:ext uri="{FF2B5EF4-FFF2-40B4-BE49-F238E27FC236}">
                <a16:creationId xmlns:a16="http://schemas.microsoft.com/office/drawing/2014/main" id="{EF73C814-0797-0E49-DE71-6D4648DF60F0}"/>
              </a:ext>
            </a:extLst>
          </p:cNvPr>
          <p:cNvGrpSpPr/>
          <p:nvPr/>
        </p:nvGrpSpPr>
        <p:grpSpPr>
          <a:xfrm>
            <a:off x="961102" y="302894"/>
            <a:ext cx="1229200" cy="290657"/>
            <a:chOff x="940249" y="315206"/>
            <a:chExt cx="1373841" cy="265062"/>
          </a:xfrm>
        </p:grpSpPr>
        <p:sp>
          <p:nvSpPr>
            <p:cNvPr id="24" name="AutoShape 9">
              <a:extLst>
                <a:ext uri="{FF2B5EF4-FFF2-40B4-BE49-F238E27FC236}">
                  <a16:creationId xmlns:a16="http://schemas.microsoft.com/office/drawing/2014/main" id="{1F61E596-33F6-6560-AC51-CD6F74420BB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BB766B54-0D5B-2FDC-C304-CD621AFD33DF}"/>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20F5F304-D774-8A66-D1B4-3EAD9F59789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C3813243-5136-801C-A10F-09C2CF1C39F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8" name="TextBox 27">
            <a:extLst>
              <a:ext uri="{FF2B5EF4-FFF2-40B4-BE49-F238E27FC236}">
                <a16:creationId xmlns:a16="http://schemas.microsoft.com/office/drawing/2014/main" id="{B32B8515-CF6A-C8FF-3A5E-DD7E11927626}"/>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39783350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17DF8-8939-E2B5-75D0-2F2D002E8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62EF9-C2C3-FECD-55CA-53CAC697E88F}"/>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AIP Priority Filter</a:t>
            </a:r>
            <a:endParaRPr lang="en-US" sz="4000" dirty="0"/>
          </a:p>
        </p:txBody>
      </p:sp>
      <p:grpSp>
        <p:nvGrpSpPr>
          <p:cNvPr id="28" name="Group 27">
            <a:extLst>
              <a:ext uri="{FF2B5EF4-FFF2-40B4-BE49-F238E27FC236}">
                <a16:creationId xmlns:a16="http://schemas.microsoft.com/office/drawing/2014/main" id="{E92EDA71-7651-5771-A0A8-7B3DB405894E}"/>
              </a:ext>
            </a:extLst>
          </p:cNvPr>
          <p:cNvGrpSpPr/>
          <p:nvPr/>
        </p:nvGrpSpPr>
        <p:grpSpPr>
          <a:xfrm>
            <a:off x="961102" y="302894"/>
            <a:ext cx="1229200" cy="290657"/>
            <a:chOff x="940249" y="315206"/>
            <a:chExt cx="1373841" cy="265062"/>
          </a:xfrm>
        </p:grpSpPr>
        <p:sp>
          <p:nvSpPr>
            <p:cNvPr id="29" name="AutoShape 9">
              <a:extLst>
                <a:ext uri="{FF2B5EF4-FFF2-40B4-BE49-F238E27FC236}">
                  <a16:creationId xmlns:a16="http://schemas.microsoft.com/office/drawing/2014/main" id="{850B0391-3359-23C4-04F6-9E6CC084B5BC}"/>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9">
              <a:extLst>
                <a:ext uri="{FF2B5EF4-FFF2-40B4-BE49-F238E27FC236}">
                  <a16:creationId xmlns:a16="http://schemas.microsoft.com/office/drawing/2014/main" id="{05E2503A-6698-54C8-E991-0554FCF709E4}"/>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1" name="AutoShape 10">
              <a:extLst>
                <a:ext uri="{FF2B5EF4-FFF2-40B4-BE49-F238E27FC236}">
                  <a16:creationId xmlns:a16="http://schemas.microsoft.com/office/drawing/2014/main" id="{FD868132-C4C2-7764-4936-3F4E36E7DA1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2" name="AutoShape 11">
              <a:extLst>
                <a:ext uri="{FF2B5EF4-FFF2-40B4-BE49-F238E27FC236}">
                  <a16:creationId xmlns:a16="http://schemas.microsoft.com/office/drawing/2014/main" id="{16BF3729-292F-06AC-45A4-E69C87A868E3}"/>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33" name="TextBox 32">
            <a:extLst>
              <a:ext uri="{FF2B5EF4-FFF2-40B4-BE49-F238E27FC236}">
                <a16:creationId xmlns:a16="http://schemas.microsoft.com/office/drawing/2014/main" id="{C329EAAA-4125-38D4-08D1-FE6B12A798EC}"/>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3" name="Rectangle 2">
            <a:extLst>
              <a:ext uri="{FF2B5EF4-FFF2-40B4-BE49-F238E27FC236}">
                <a16:creationId xmlns:a16="http://schemas.microsoft.com/office/drawing/2014/main" id="{66254339-554C-CE94-6F07-187253F9D8EA}"/>
              </a:ext>
            </a:extLst>
          </p:cNvPr>
          <p:cNvSpPr>
            <a:spLocks noChangeArrowheads="1"/>
          </p:cNvSpPr>
          <p:nvPr/>
        </p:nvSpPr>
        <p:spPr bwMode="auto">
          <a:xfrm>
            <a:off x="3969431" y="1919288"/>
            <a:ext cx="4495800" cy="3873500"/>
          </a:xfrm>
          <a:prstGeom prst="rect">
            <a:avLst/>
          </a:prstGeom>
          <a:solidFill>
            <a:schemeClr val="accent5"/>
          </a:solidFill>
          <a:ln w="12700" cap="sq">
            <a:solidFill>
              <a:schemeClr val="tx1"/>
            </a:solidFill>
            <a:miter lim="800000"/>
            <a:headEnd type="none" w="sm" len="sm"/>
            <a:tailEnd type="none" w="sm" len="sm"/>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endParaRPr lang="en-US" altLang="en-US"/>
          </a:p>
        </p:txBody>
      </p:sp>
      <p:sp>
        <p:nvSpPr>
          <p:cNvPr id="4" name="Line 3">
            <a:extLst>
              <a:ext uri="{FF2B5EF4-FFF2-40B4-BE49-F238E27FC236}">
                <a16:creationId xmlns:a16="http://schemas.microsoft.com/office/drawing/2014/main" id="{C5EF7D80-04BF-5BFD-DA99-0F9EA87A79E0}"/>
              </a:ext>
            </a:extLst>
          </p:cNvPr>
          <p:cNvSpPr>
            <a:spLocks noChangeShapeType="1"/>
          </p:cNvSpPr>
          <p:nvPr/>
        </p:nvSpPr>
        <p:spPr bwMode="auto">
          <a:xfrm>
            <a:off x="6217331" y="1931988"/>
            <a:ext cx="0" cy="3873500"/>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5" name="Line 4">
            <a:extLst>
              <a:ext uri="{FF2B5EF4-FFF2-40B4-BE49-F238E27FC236}">
                <a16:creationId xmlns:a16="http://schemas.microsoft.com/office/drawing/2014/main" id="{0D6A64F7-68B6-B419-27BB-E8C319692FA1}"/>
              </a:ext>
            </a:extLst>
          </p:cNvPr>
          <p:cNvSpPr>
            <a:spLocks noChangeShapeType="1"/>
          </p:cNvSpPr>
          <p:nvPr/>
        </p:nvSpPr>
        <p:spPr bwMode="auto">
          <a:xfrm>
            <a:off x="3969431" y="3887788"/>
            <a:ext cx="4495800" cy="0"/>
          </a:xfrm>
          <a:prstGeom prst="line">
            <a:avLst/>
          </a:prstGeom>
          <a:noFill/>
          <a:ln w="12700" cap="sq">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6" name="Text Box 5">
            <a:extLst>
              <a:ext uri="{FF2B5EF4-FFF2-40B4-BE49-F238E27FC236}">
                <a16:creationId xmlns:a16="http://schemas.microsoft.com/office/drawing/2014/main" id="{96E95F88-637D-3E65-F07F-E96E33992125}"/>
              </a:ext>
            </a:extLst>
          </p:cNvPr>
          <p:cNvSpPr txBox="1">
            <a:spLocks noChangeArrowheads="1"/>
          </p:cNvSpPr>
          <p:nvPr/>
        </p:nvSpPr>
        <p:spPr bwMode="auto">
          <a:xfrm>
            <a:off x="3410631" y="5567363"/>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solidFill>
                  <a:schemeClr val="tx1"/>
                </a:solidFill>
                <a:latin typeface="Arial" panose="020B0604020202020204" pitchFamily="34" charset="0"/>
              </a:rPr>
              <a:t>Low</a:t>
            </a:r>
          </a:p>
        </p:txBody>
      </p:sp>
      <p:sp>
        <p:nvSpPr>
          <p:cNvPr id="7" name="Text Box 6">
            <a:extLst>
              <a:ext uri="{FF2B5EF4-FFF2-40B4-BE49-F238E27FC236}">
                <a16:creationId xmlns:a16="http://schemas.microsoft.com/office/drawing/2014/main" id="{5E1C944F-8DA7-90C5-907E-342D65DBCC94}"/>
              </a:ext>
            </a:extLst>
          </p:cNvPr>
          <p:cNvSpPr txBox="1">
            <a:spLocks noChangeArrowheads="1"/>
          </p:cNvSpPr>
          <p:nvPr/>
        </p:nvSpPr>
        <p:spPr bwMode="auto">
          <a:xfrm>
            <a:off x="3369356" y="18796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solidFill>
                  <a:schemeClr val="tx1"/>
                </a:solidFill>
                <a:latin typeface="Arial" panose="020B0604020202020204" pitchFamily="34" charset="0"/>
              </a:rPr>
              <a:t>High</a:t>
            </a:r>
          </a:p>
        </p:txBody>
      </p:sp>
      <p:sp>
        <p:nvSpPr>
          <p:cNvPr id="8" name="Text Box 7">
            <a:extLst>
              <a:ext uri="{FF2B5EF4-FFF2-40B4-BE49-F238E27FC236}">
                <a16:creationId xmlns:a16="http://schemas.microsoft.com/office/drawing/2014/main" id="{BAD1EF94-1AF9-0BA4-2D5F-A89641E30F58}"/>
              </a:ext>
            </a:extLst>
          </p:cNvPr>
          <p:cNvSpPr txBox="1">
            <a:spLocks noChangeArrowheads="1"/>
          </p:cNvSpPr>
          <p:nvPr/>
        </p:nvSpPr>
        <p:spPr bwMode="auto">
          <a:xfrm>
            <a:off x="8049306" y="5783263"/>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solidFill>
                  <a:schemeClr val="tx1"/>
                </a:solidFill>
                <a:latin typeface="Arial" panose="020B0604020202020204" pitchFamily="34" charset="0"/>
              </a:rPr>
              <a:t>High</a:t>
            </a:r>
          </a:p>
        </p:txBody>
      </p:sp>
      <p:sp>
        <p:nvSpPr>
          <p:cNvPr id="9" name="Text Box 8">
            <a:extLst>
              <a:ext uri="{FF2B5EF4-FFF2-40B4-BE49-F238E27FC236}">
                <a16:creationId xmlns:a16="http://schemas.microsoft.com/office/drawing/2014/main" id="{1A66AF1A-5802-A239-C1EA-CAB30280C4A8}"/>
              </a:ext>
            </a:extLst>
          </p:cNvPr>
          <p:cNvSpPr txBox="1">
            <a:spLocks noChangeArrowheads="1"/>
          </p:cNvSpPr>
          <p:nvPr/>
        </p:nvSpPr>
        <p:spPr bwMode="auto">
          <a:xfrm>
            <a:off x="5268006" y="5905500"/>
            <a:ext cx="1889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2000">
                <a:solidFill>
                  <a:schemeClr val="tx1"/>
                </a:solidFill>
                <a:latin typeface="Arial" panose="020B0604020202020204" pitchFamily="34" charset="0"/>
              </a:rPr>
              <a:t>Impact / Value</a:t>
            </a:r>
          </a:p>
        </p:txBody>
      </p:sp>
      <p:sp>
        <p:nvSpPr>
          <p:cNvPr id="10" name="Text Box 9">
            <a:extLst>
              <a:ext uri="{FF2B5EF4-FFF2-40B4-BE49-F238E27FC236}">
                <a16:creationId xmlns:a16="http://schemas.microsoft.com/office/drawing/2014/main" id="{8EDC57CE-4CD5-038E-D149-AE25EA00D0FB}"/>
              </a:ext>
            </a:extLst>
          </p:cNvPr>
          <p:cNvSpPr txBox="1">
            <a:spLocks noChangeArrowheads="1"/>
          </p:cNvSpPr>
          <p:nvPr/>
        </p:nvSpPr>
        <p:spPr bwMode="auto">
          <a:xfrm flipV="1">
            <a:off x="3336018" y="2955925"/>
            <a:ext cx="48895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eaVert">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2000">
                <a:solidFill>
                  <a:schemeClr val="tx1"/>
                </a:solidFill>
                <a:latin typeface="Arial" panose="020B0604020202020204" pitchFamily="34" charset="0"/>
              </a:rPr>
              <a:t>Complexity</a:t>
            </a:r>
          </a:p>
        </p:txBody>
      </p:sp>
      <p:sp>
        <p:nvSpPr>
          <p:cNvPr id="11" name="Text Box 10">
            <a:extLst>
              <a:ext uri="{FF2B5EF4-FFF2-40B4-BE49-F238E27FC236}">
                <a16:creationId xmlns:a16="http://schemas.microsoft.com/office/drawing/2014/main" id="{9CAAAA6D-EBAF-18F0-3A29-14F13CA1A47D}"/>
              </a:ext>
            </a:extLst>
          </p:cNvPr>
          <p:cNvSpPr txBox="1">
            <a:spLocks noChangeArrowheads="1"/>
          </p:cNvSpPr>
          <p:nvPr/>
        </p:nvSpPr>
        <p:spPr bwMode="auto">
          <a:xfrm>
            <a:off x="3874181" y="5791200"/>
            <a:ext cx="53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spcBef>
                <a:spcPct val="30000"/>
              </a:spcBef>
            </a:pPr>
            <a:r>
              <a:rPr lang="en-US" altLang="en-US" sz="1400">
                <a:solidFill>
                  <a:schemeClr val="tx1"/>
                </a:solidFill>
                <a:latin typeface="Arial" panose="020B0604020202020204" pitchFamily="34" charset="0"/>
              </a:rPr>
              <a:t>Low</a:t>
            </a:r>
          </a:p>
        </p:txBody>
      </p:sp>
      <p:sp>
        <p:nvSpPr>
          <p:cNvPr id="12" name="Rectangle 11">
            <a:extLst>
              <a:ext uri="{FF2B5EF4-FFF2-40B4-BE49-F238E27FC236}">
                <a16:creationId xmlns:a16="http://schemas.microsoft.com/office/drawing/2014/main" id="{D6CD22F3-8100-B73B-ECA5-C053CE246F0C}"/>
              </a:ext>
            </a:extLst>
          </p:cNvPr>
          <p:cNvSpPr>
            <a:spLocks noChangeArrowheads="1"/>
          </p:cNvSpPr>
          <p:nvPr/>
        </p:nvSpPr>
        <p:spPr bwMode="auto">
          <a:xfrm>
            <a:off x="6306231" y="4594225"/>
            <a:ext cx="1987550" cy="309563"/>
          </a:xfrm>
          <a:prstGeom prst="rect">
            <a:avLst/>
          </a:prstGeom>
          <a:solidFill>
            <a:schemeClr val="accent5"/>
          </a:solidFill>
          <a:ln>
            <a:noFill/>
          </a:ln>
        </p:spPr>
        <p:txBody>
          <a:bodyPr lIns="90488" tIns="44450" rIns="90488" bIns="44450" anchor="b"/>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ja-JP" altLang="en-US" sz="1800">
                <a:solidFill>
                  <a:schemeClr val="tx1"/>
                </a:solidFill>
                <a:latin typeface="Arial" panose="020B0604020202020204" pitchFamily="34" charset="0"/>
              </a:rPr>
              <a:t>“</a:t>
            </a:r>
            <a:r>
              <a:rPr lang="en-US" altLang="ja-JP" sz="1800">
                <a:solidFill>
                  <a:schemeClr val="tx1"/>
                </a:solidFill>
                <a:latin typeface="Arial" panose="020B0604020202020204" pitchFamily="34" charset="0"/>
              </a:rPr>
              <a:t>Just Do It</a:t>
            </a:r>
            <a:r>
              <a:rPr lang="ja-JP" altLang="en-US" sz="1800">
                <a:solidFill>
                  <a:schemeClr val="tx1"/>
                </a:solidFill>
                <a:latin typeface="Arial" panose="020B0604020202020204" pitchFamily="34" charset="0"/>
              </a:rPr>
              <a:t>”</a:t>
            </a:r>
            <a:endParaRPr lang="en-US" altLang="en-US" sz="1800">
              <a:solidFill>
                <a:schemeClr val="tx1"/>
              </a:solidFill>
              <a:latin typeface="Arial" panose="020B0604020202020204" pitchFamily="34" charset="0"/>
            </a:endParaRPr>
          </a:p>
        </p:txBody>
      </p:sp>
      <p:sp>
        <p:nvSpPr>
          <p:cNvPr id="13" name="Rectangle 12">
            <a:extLst>
              <a:ext uri="{FF2B5EF4-FFF2-40B4-BE49-F238E27FC236}">
                <a16:creationId xmlns:a16="http://schemas.microsoft.com/office/drawing/2014/main" id="{C6794891-350E-04FA-6FBC-70B515A5A842}"/>
              </a:ext>
            </a:extLst>
          </p:cNvPr>
          <p:cNvSpPr>
            <a:spLocks noChangeArrowheads="1"/>
          </p:cNvSpPr>
          <p:nvPr/>
        </p:nvSpPr>
        <p:spPr bwMode="auto">
          <a:xfrm>
            <a:off x="6455456" y="2851150"/>
            <a:ext cx="1984375" cy="279400"/>
          </a:xfrm>
          <a:prstGeom prst="rect">
            <a:avLst/>
          </a:prstGeom>
          <a:solidFill>
            <a:schemeClr val="accent5"/>
          </a:solidFill>
          <a:ln>
            <a:noFill/>
          </a:ln>
        </p:spPr>
        <p:txBody>
          <a:bodyPr lIns="90488" tIns="44450" rIns="90488" bIns="44450" anchor="b"/>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nSpc>
                <a:spcPct val="80000"/>
              </a:lnSpc>
            </a:pPr>
            <a:r>
              <a:rPr lang="ja-JP" altLang="en-US" sz="1800">
                <a:solidFill>
                  <a:schemeClr val="tx1"/>
                </a:solidFill>
                <a:latin typeface="Arial" panose="020B0604020202020204" pitchFamily="34" charset="0"/>
              </a:rPr>
              <a:t>“</a:t>
            </a:r>
            <a:r>
              <a:rPr lang="en-US" altLang="ja-JP" sz="1800">
                <a:solidFill>
                  <a:schemeClr val="tx1"/>
                </a:solidFill>
                <a:latin typeface="Arial" panose="020B0604020202020204" pitchFamily="34" charset="0"/>
              </a:rPr>
              <a:t>Breakthrough</a:t>
            </a:r>
            <a:r>
              <a:rPr lang="ja-JP" altLang="en-US" sz="1800">
                <a:solidFill>
                  <a:schemeClr val="tx1"/>
                </a:solidFill>
                <a:latin typeface="Arial" panose="020B0604020202020204" pitchFamily="34" charset="0"/>
              </a:rPr>
              <a:t>”</a:t>
            </a:r>
            <a:endParaRPr lang="en-US" altLang="en-US" sz="1800">
              <a:solidFill>
                <a:schemeClr val="tx1"/>
              </a:solidFill>
              <a:latin typeface="Arial" panose="020B0604020202020204" pitchFamily="34" charset="0"/>
            </a:endParaRPr>
          </a:p>
        </p:txBody>
      </p:sp>
      <p:sp>
        <p:nvSpPr>
          <p:cNvPr id="14" name="Rectangle 13">
            <a:extLst>
              <a:ext uri="{FF2B5EF4-FFF2-40B4-BE49-F238E27FC236}">
                <a16:creationId xmlns:a16="http://schemas.microsoft.com/office/drawing/2014/main" id="{96BFB44B-D5A6-728A-6D81-602206CBBA64}"/>
              </a:ext>
            </a:extLst>
          </p:cNvPr>
          <p:cNvSpPr>
            <a:spLocks noChangeArrowheads="1"/>
          </p:cNvSpPr>
          <p:nvPr/>
        </p:nvSpPr>
        <p:spPr bwMode="auto">
          <a:xfrm>
            <a:off x="3971018" y="2795588"/>
            <a:ext cx="2224088" cy="319087"/>
          </a:xfrm>
          <a:prstGeom prst="rect">
            <a:avLst/>
          </a:prstGeom>
          <a:solidFill>
            <a:schemeClr val="accent5"/>
          </a:solidFill>
          <a:ln>
            <a:noFill/>
          </a:ln>
        </p:spPr>
        <p:txBody>
          <a:bodyPr lIns="90488" tIns="44450" rIns="90488" bIns="44450" anchor="b"/>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ja-JP" altLang="en-US" sz="1800" dirty="0">
                <a:solidFill>
                  <a:schemeClr val="tx1"/>
                </a:solidFill>
                <a:latin typeface="Arial" panose="020B0604020202020204" pitchFamily="34" charset="0"/>
              </a:rPr>
              <a:t>“</a:t>
            </a:r>
            <a:r>
              <a:rPr lang="en-US" altLang="ja-JP" sz="1800" dirty="0">
                <a:solidFill>
                  <a:schemeClr val="tx1"/>
                </a:solidFill>
                <a:latin typeface="Arial" panose="020B0604020202020204" pitchFamily="34" charset="0"/>
              </a:rPr>
              <a:t>Backburner</a:t>
            </a:r>
            <a:r>
              <a:rPr lang="ja-JP" altLang="en-US" sz="1800" dirty="0">
                <a:solidFill>
                  <a:schemeClr val="tx1"/>
                </a:solidFill>
                <a:latin typeface="Arial" panose="020B0604020202020204" pitchFamily="34" charset="0"/>
              </a:rPr>
              <a:t>”</a:t>
            </a:r>
            <a:endParaRPr lang="en-US" altLang="en-US" sz="1800" dirty="0">
              <a:solidFill>
                <a:schemeClr val="tx1"/>
              </a:solidFill>
              <a:latin typeface="Arial" panose="020B0604020202020204" pitchFamily="34" charset="0"/>
            </a:endParaRPr>
          </a:p>
        </p:txBody>
      </p:sp>
      <p:sp>
        <p:nvSpPr>
          <p:cNvPr id="15" name="Rectangle 14">
            <a:extLst>
              <a:ext uri="{FF2B5EF4-FFF2-40B4-BE49-F238E27FC236}">
                <a16:creationId xmlns:a16="http://schemas.microsoft.com/office/drawing/2014/main" id="{AEF8D979-8924-531C-FE91-F4E8960846C2}"/>
              </a:ext>
            </a:extLst>
          </p:cNvPr>
          <p:cNvSpPr>
            <a:spLocks noChangeArrowheads="1"/>
          </p:cNvSpPr>
          <p:nvPr/>
        </p:nvSpPr>
        <p:spPr bwMode="auto">
          <a:xfrm>
            <a:off x="3985306" y="4764088"/>
            <a:ext cx="219551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pPr>
            <a:r>
              <a:rPr lang="ja-JP" altLang="en-US" sz="1800">
                <a:solidFill>
                  <a:schemeClr val="tx1"/>
                </a:solidFill>
                <a:latin typeface="Arial" panose="020B0604020202020204" pitchFamily="34" charset="0"/>
              </a:rPr>
              <a:t>“</a:t>
            </a:r>
            <a:r>
              <a:rPr lang="en-US" altLang="ja-JP" sz="1800">
                <a:solidFill>
                  <a:schemeClr val="tx1"/>
                </a:solidFill>
                <a:latin typeface="Arial" panose="020B0604020202020204" pitchFamily="34" charset="0"/>
              </a:rPr>
              <a:t>Business Fundamentals</a:t>
            </a:r>
            <a:r>
              <a:rPr lang="ja-JP" altLang="en-US" sz="1800">
                <a:solidFill>
                  <a:schemeClr val="tx1"/>
                </a:solidFill>
                <a:latin typeface="Arial" panose="020B0604020202020204" pitchFamily="34" charset="0"/>
              </a:rPr>
              <a:t>”</a:t>
            </a:r>
            <a:endParaRPr lang="en-US" altLang="en-US" sz="1800">
              <a:solidFill>
                <a:schemeClr val="tx1"/>
              </a:solidFill>
              <a:latin typeface="Arial" panose="020B0604020202020204" pitchFamily="34" charset="0"/>
            </a:endParaRPr>
          </a:p>
        </p:txBody>
      </p:sp>
    </p:spTree>
    <p:custDataLst>
      <p:tags r:id="rId1"/>
    </p:custDataLst>
    <p:extLst>
      <p:ext uri="{BB962C8B-B14F-4D97-AF65-F5344CB8AC3E}">
        <p14:creationId xmlns:p14="http://schemas.microsoft.com/office/powerpoint/2010/main" val="29503280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EE376-976B-29F9-2798-6FE0C7FFB2C1}"/>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B14C47FA-C8C2-4F97-34F6-D1A76EFC9745}"/>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Creating the Top Level Matrix</a:t>
            </a:r>
          </a:p>
        </p:txBody>
      </p:sp>
      <p:sp>
        <p:nvSpPr>
          <p:cNvPr id="12" name="Rectangle 11">
            <a:extLst>
              <a:ext uri="{FF2B5EF4-FFF2-40B4-BE49-F238E27FC236}">
                <a16:creationId xmlns:a16="http://schemas.microsoft.com/office/drawing/2014/main" id="{ED828579-B360-D5B4-13CE-606D37295FDF}"/>
              </a:ext>
            </a:extLst>
          </p:cNvPr>
          <p:cNvSpPr>
            <a:spLocks/>
          </p:cNvSpPr>
          <p:nvPr/>
        </p:nvSpPr>
        <p:spPr>
          <a:xfrm>
            <a:off x="940247" y="1934137"/>
            <a:ext cx="10415016"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Breakthrough Objectives</a:t>
            </a:r>
            <a:endPar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Rectangle 12">
            <a:extLst>
              <a:ext uri="{FF2B5EF4-FFF2-40B4-BE49-F238E27FC236}">
                <a16:creationId xmlns:a16="http://schemas.microsoft.com/office/drawing/2014/main" id="{FD9E0D31-73F7-8CF7-66D0-D752F07CFCFD}"/>
              </a:ext>
            </a:extLst>
          </p:cNvPr>
          <p:cNvSpPr>
            <a:spLocks/>
          </p:cNvSpPr>
          <p:nvPr/>
        </p:nvSpPr>
        <p:spPr>
          <a:xfrm>
            <a:off x="940248" y="3028466"/>
            <a:ext cx="10413551"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Annual Improvement Priorities (AIPs)</a:t>
            </a:r>
          </a:p>
        </p:txBody>
      </p:sp>
      <p:sp>
        <p:nvSpPr>
          <p:cNvPr id="14" name="Rectangle 13">
            <a:extLst>
              <a:ext uri="{FF2B5EF4-FFF2-40B4-BE49-F238E27FC236}">
                <a16:creationId xmlns:a16="http://schemas.microsoft.com/office/drawing/2014/main" id="{EF7C92E5-7E74-0B92-6A4E-1129C65712B0}"/>
              </a:ext>
            </a:extLst>
          </p:cNvPr>
          <p:cNvSpPr>
            <a:spLocks/>
          </p:cNvSpPr>
          <p:nvPr/>
        </p:nvSpPr>
        <p:spPr>
          <a:xfrm>
            <a:off x="940247" y="4122795"/>
            <a:ext cx="10415016"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Targets to Improve</a:t>
            </a:r>
          </a:p>
        </p:txBody>
      </p:sp>
      <p:sp>
        <p:nvSpPr>
          <p:cNvPr id="16" name="Rectangle 15">
            <a:extLst>
              <a:ext uri="{FF2B5EF4-FFF2-40B4-BE49-F238E27FC236}">
                <a16:creationId xmlns:a16="http://schemas.microsoft.com/office/drawing/2014/main" id="{012FDA12-B866-D000-E6BC-1B3AE066D150}"/>
              </a:ext>
            </a:extLst>
          </p:cNvPr>
          <p:cNvSpPr>
            <a:spLocks/>
          </p:cNvSpPr>
          <p:nvPr/>
        </p:nvSpPr>
        <p:spPr>
          <a:xfrm>
            <a:off x="940247" y="5217125"/>
            <a:ext cx="10415016"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Resources for each AIP</a:t>
            </a:r>
          </a:p>
        </p:txBody>
      </p:sp>
      <p:sp>
        <p:nvSpPr>
          <p:cNvPr id="20" name="Title 1">
            <a:extLst>
              <a:ext uri="{FF2B5EF4-FFF2-40B4-BE49-F238E27FC236}">
                <a16:creationId xmlns:a16="http://schemas.microsoft.com/office/drawing/2014/main" id="{6B39F2CB-61F7-3A4B-114E-D4013E30BC3E}"/>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50F4C559-5E0B-7C6B-E3AF-3C51FEB53A94}"/>
              </a:ext>
            </a:extLst>
          </p:cNvPr>
          <p:cNvGrpSpPr/>
          <p:nvPr/>
        </p:nvGrpSpPr>
        <p:grpSpPr>
          <a:xfrm>
            <a:off x="961102" y="302894"/>
            <a:ext cx="1229200" cy="290657"/>
            <a:chOff x="940249" y="315206"/>
            <a:chExt cx="1373841" cy="265062"/>
          </a:xfrm>
        </p:grpSpPr>
        <p:sp>
          <p:nvSpPr>
            <p:cNvPr id="3" name="AutoShape 9">
              <a:extLst>
                <a:ext uri="{FF2B5EF4-FFF2-40B4-BE49-F238E27FC236}">
                  <a16:creationId xmlns:a16="http://schemas.microsoft.com/office/drawing/2014/main" id="{C84C0AEC-F72B-EDC0-702C-2F09B97ED870}"/>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 name="AutoShape 9">
              <a:extLst>
                <a:ext uri="{FF2B5EF4-FFF2-40B4-BE49-F238E27FC236}">
                  <a16:creationId xmlns:a16="http://schemas.microsoft.com/office/drawing/2014/main" id="{71425612-D207-902C-499C-BB405C94CA28}"/>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 name="AutoShape 10">
              <a:extLst>
                <a:ext uri="{FF2B5EF4-FFF2-40B4-BE49-F238E27FC236}">
                  <a16:creationId xmlns:a16="http://schemas.microsoft.com/office/drawing/2014/main" id="{F834076B-70BC-2057-705E-BC3E6EE09772}"/>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6" name="AutoShape 11">
              <a:extLst>
                <a:ext uri="{FF2B5EF4-FFF2-40B4-BE49-F238E27FC236}">
                  <a16:creationId xmlns:a16="http://schemas.microsoft.com/office/drawing/2014/main" id="{9F836855-9996-A97A-003E-5AE87CC30C34}"/>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A91C17C9-FCD0-F826-F113-E088AE7E700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10868783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6EB5-7170-4446-F019-A58116952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AA9FF-4D15-BC00-81A1-02D93C106264}"/>
              </a:ext>
            </a:extLst>
          </p:cNvPr>
          <p:cNvSpPr>
            <a:spLocks noGrp="1"/>
          </p:cNvSpPr>
          <p:nvPr>
            <p:ph type="title"/>
          </p:nvPr>
        </p:nvSpPr>
        <p:spPr/>
        <p:txBody>
          <a:bodyPr>
            <a:normAutofit/>
          </a:bodyPr>
          <a:lstStyle/>
          <a:p>
            <a:r>
              <a:rPr lang="en-US" sz="4000" dirty="0"/>
              <a:t>Target Checklist</a:t>
            </a:r>
          </a:p>
        </p:txBody>
      </p:sp>
      <p:sp>
        <p:nvSpPr>
          <p:cNvPr id="3" name="Content Placeholder 2">
            <a:extLst>
              <a:ext uri="{FF2B5EF4-FFF2-40B4-BE49-F238E27FC236}">
                <a16:creationId xmlns:a16="http://schemas.microsoft.com/office/drawing/2014/main" id="{54199175-59FF-E15C-9FF5-10291627641B}"/>
              </a:ext>
            </a:extLst>
          </p:cNvPr>
          <p:cNvSpPr>
            <a:spLocks noGrp="1"/>
          </p:cNvSpPr>
          <p:nvPr>
            <p:ph idx="1"/>
          </p:nvPr>
        </p:nvSpPr>
        <p:spPr/>
        <p:txBody>
          <a:bodyPr>
            <a:normAutofit fontScale="77500" lnSpcReduction="20000"/>
          </a:bodyPr>
          <a:lstStyle/>
          <a:p>
            <a:pPr>
              <a:lnSpc>
                <a:spcPct val="145000"/>
              </a:lnSpc>
              <a:buFont typeface="Wingdings" panose="05000000000000000000" pitchFamily="2" charset="2"/>
              <a:buNone/>
            </a:pPr>
            <a:r>
              <a:rPr lang="en-US" altLang="en-US" b="1" dirty="0"/>
              <a:t>Are the Targets….</a:t>
            </a:r>
          </a:p>
          <a:p>
            <a:pPr indent="-457200">
              <a:lnSpc>
                <a:spcPct val="145000"/>
              </a:lnSpc>
              <a:spcBef>
                <a:spcPts val="60"/>
              </a:spcBef>
              <a:spcAft>
                <a:spcPts val="60"/>
              </a:spcAft>
              <a:buSzPct val="125000"/>
              <a:buFont typeface="Wingdings" panose="05000000000000000000" pitchFamily="2" charset="2"/>
              <a:buChar char="þ"/>
            </a:pPr>
            <a:r>
              <a:rPr lang="en-US" altLang="en-US" b="1" dirty="0"/>
              <a:t>Measurable, at least monthly?</a:t>
            </a:r>
          </a:p>
          <a:p>
            <a:pPr indent="-457200">
              <a:lnSpc>
                <a:spcPct val="145000"/>
              </a:lnSpc>
              <a:spcBef>
                <a:spcPts val="60"/>
              </a:spcBef>
              <a:spcAft>
                <a:spcPts val="60"/>
              </a:spcAft>
              <a:buSzPct val="125000"/>
              <a:buFont typeface="Wingdings" panose="05000000000000000000" pitchFamily="2" charset="2"/>
              <a:buChar char="þ"/>
            </a:pPr>
            <a:r>
              <a:rPr lang="en-US" altLang="en-US" b="1" dirty="0"/>
              <a:t>Quantifiable?</a:t>
            </a:r>
          </a:p>
          <a:p>
            <a:pPr indent="-457200">
              <a:lnSpc>
                <a:spcPct val="145000"/>
              </a:lnSpc>
              <a:spcBef>
                <a:spcPts val="60"/>
              </a:spcBef>
              <a:spcAft>
                <a:spcPts val="60"/>
              </a:spcAft>
              <a:buSzPct val="125000"/>
              <a:buFont typeface="Wingdings" panose="05000000000000000000" pitchFamily="2" charset="2"/>
              <a:buChar char="þ"/>
            </a:pPr>
            <a:r>
              <a:rPr lang="en-US" altLang="en-US" b="1" dirty="0"/>
              <a:t>Time-bound?</a:t>
            </a:r>
          </a:p>
          <a:p>
            <a:pPr indent="-457200">
              <a:lnSpc>
                <a:spcPct val="145000"/>
              </a:lnSpc>
              <a:spcBef>
                <a:spcPts val="60"/>
              </a:spcBef>
              <a:spcAft>
                <a:spcPts val="60"/>
              </a:spcAft>
              <a:buSzPct val="125000"/>
              <a:buFont typeface="Wingdings" panose="05000000000000000000" pitchFamily="2" charset="2"/>
              <a:buChar char="þ"/>
            </a:pPr>
            <a:r>
              <a:rPr lang="en-US" altLang="en-US" b="1" dirty="0"/>
              <a:t>Stretch for the organization?</a:t>
            </a:r>
          </a:p>
          <a:p>
            <a:pPr indent="-457200">
              <a:lnSpc>
                <a:spcPct val="145000"/>
              </a:lnSpc>
              <a:spcBef>
                <a:spcPts val="60"/>
              </a:spcBef>
              <a:spcAft>
                <a:spcPts val="60"/>
              </a:spcAft>
              <a:buSzPct val="125000"/>
              <a:buFont typeface="Wingdings" panose="05000000000000000000" pitchFamily="2" charset="2"/>
              <a:buChar char="þ"/>
            </a:pPr>
            <a:r>
              <a:rPr lang="en-US" altLang="en-US" b="1" dirty="0"/>
              <a:t>Show a “from-to” range?</a:t>
            </a:r>
          </a:p>
          <a:p>
            <a:pPr indent="-457200">
              <a:lnSpc>
                <a:spcPct val="145000"/>
              </a:lnSpc>
              <a:spcBef>
                <a:spcPts val="60"/>
              </a:spcBef>
              <a:spcAft>
                <a:spcPts val="60"/>
              </a:spcAft>
              <a:buSzPct val="125000"/>
              <a:buFont typeface="Wingdings" panose="05000000000000000000" pitchFamily="2" charset="2"/>
              <a:buChar char="þ"/>
            </a:pPr>
            <a:r>
              <a:rPr lang="en-US" altLang="en-US" b="1" dirty="0"/>
              <a:t>Support reaching the Breakthrough Objectives?</a:t>
            </a:r>
          </a:p>
          <a:p>
            <a:pPr indent="-457200">
              <a:lnSpc>
                <a:spcPct val="145000"/>
              </a:lnSpc>
              <a:spcBef>
                <a:spcPts val="60"/>
              </a:spcBef>
              <a:spcAft>
                <a:spcPts val="60"/>
              </a:spcAft>
              <a:buSzPct val="125000"/>
              <a:buFont typeface="Wingdings" panose="05000000000000000000" pitchFamily="2" charset="2"/>
              <a:buChar char="þ"/>
            </a:pPr>
            <a:r>
              <a:rPr lang="en-US" altLang="en-US" b="1" dirty="0"/>
              <a:t>Involved development data that is easily attained?</a:t>
            </a:r>
          </a:p>
          <a:p>
            <a:pPr indent="-457200">
              <a:lnSpc>
                <a:spcPct val="145000"/>
              </a:lnSpc>
              <a:spcBef>
                <a:spcPts val="60"/>
              </a:spcBef>
              <a:spcAft>
                <a:spcPts val="60"/>
              </a:spcAft>
              <a:buSzPct val="125000"/>
              <a:buFont typeface="Wingdings" panose="05000000000000000000" pitchFamily="2" charset="2"/>
              <a:buChar char="þ"/>
            </a:pPr>
            <a:r>
              <a:rPr lang="en-US" altLang="en-US" b="1" dirty="0"/>
              <a:t>Have a true cause-and-effect relationship with the AIP?</a:t>
            </a:r>
          </a:p>
        </p:txBody>
      </p:sp>
      <p:grpSp>
        <p:nvGrpSpPr>
          <p:cNvPr id="9" name="Group 8">
            <a:extLst>
              <a:ext uri="{FF2B5EF4-FFF2-40B4-BE49-F238E27FC236}">
                <a16:creationId xmlns:a16="http://schemas.microsoft.com/office/drawing/2014/main" id="{0A750B54-50BC-5F95-738D-5B0E9D981324}"/>
              </a:ext>
            </a:extLst>
          </p:cNvPr>
          <p:cNvGrpSpPr/>
          <p:nvPr/>
        </p:nvGrpSpPr>
        <p:grpSpPr>
          <a:xfrm>
            <a:off x="961102" y="302894"/>
            <a:ext cx="1229200" cy="290657"/>
            <a:chOff x="940249" y="315206"/>
            <a:chExt cx="1373841" cy="265062"/>
          </a:xfrm>
        </p:grpSpPr>
        <p:sp>
          <p:nvSpPr>
            <p:cNvPr id="10" name="AutoShape 9">
              <a:extLst>
                <a:ext uri="{FF2B5EF4-FFF2-40B4-BE49-F238E27FC236}">
                  <a16:creationId xmlns:a16="http://schemas.microsoft.com/office/drawing/2014/main" id="{D0294F1F-6A5C-DC46-D8D9-D88344466C7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3F293FA5-2287-5AD3-9DFA-E7B5BD134D97}"/>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C4C5F0BF-F47A-F695-41AC-E503D3A8901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C5D7BF43-1B67-3437-B3B8-41153737C38D}"/>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04B1BB9E-1FD2-5CBC-D350-55D6BA5D8CA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29297314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45FA1-D586-2867-C549-155D1E8CC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069BE-9426-597E-5ABF-94E63E34E294}"/>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Anatomy of Targets</a:t>
            </a:r>
            <a:endParaRPr lang="en-US" sz="4000" dirty="0"/>
          </a:p>
        </p:txBody>
      </p:sp>
      <p:graphicFrame>
        <p:nvGraphicFramePr>
          <p:cNvPr id="5" name="Group 50">
            <a:extLst>
              <a:ext uri="{FF2B5EF4-FFF2-40B4-BE49-F238E27FC236}">
                <a16:creationId xmlns:a16="http://schemas.microsoft.com/office/drawing/2014/main" id="{930649AC-9DDD-310B-01C7-6B6EF07582A3}"/>
              </a:ext>
            </a:extLst>
          </p:cNvPr>
          <p:cNvGraphicFramePr>
            <a:graphicFrameLocks noGrp="1"/>
          </p:cNvGraphicFramePr>
          <p:nvPr/>
        </p:nvGraphicFramePr>
        <p:xfrm>
          <a:off x="1981993" y="2176318"/>
          <a:ext cx="8228013" cy="3711575"/>
        </p:xfrm>
        <a:graphic>
          <a:graphicData uri="http://schemas.openxmlformats.org/drawingml/2006/table">
            <a:tbl>
              <a:tblPr/>
              <a:tblGrid>
                <a:gridCol w="1465263">
                  <a:extLst>
                    <a:ext uri="{9D8B030D-6E8A-4147-A177-3AD203B41FA5}">
                      <a16:colId xmlns:a16="http://schemas.microsoft.com/office/drawing/2014/main" val="20000"/>
                    </a:ext>
                  </a:extLst>
                </a:gridCol>
                <a:gridCol w="1825625">
                  <a:extLst>
                    <a:ext uri="{9D8B030D-6E8A-4147-A177-3AD203B41FA5}">
                      <a16:colId xmlns:a16="http://schemas.microsoft.com/office/drawing/2014/main" val="20001"/>
                    </a:ext>
                  </a:extLst>
                </a:gridCol>
                <a:gridCol w="2486025">
                  <a:extLst>
                    <a:ext uri="{9D8B030D-6E8A-4147-A177-3AD203B41FA5}">
                      <a16:colId xmlns:a16="http://schemas.microsoft.com/office/drawing/2014/main" val="20002"/>
                    </a:ext>
                  </a:extLst>
                </a:gridCol>
                <a:gridCol w="804862">
                  <a:extLst>
                    <a:ext uri="{9D8B030D-6E8A-4147-A177-3AD203B41FA5}">
                      <a16:colId xmlns:a16="http://schemas.microsoft.com/office/drawing/2014/main" val="20003"/>
                    </a:ext>
                  </a:extLst>
                </a:gridCol>
                <a:gridCol w="1646238">
                  <a:extLst>
                    <a:ext uri="{9D8B030D-6E8A-4147-A177-3AD203B41FA5}">
                      <a16:colId xmlns:a16="http://schemas.microsoft.com/office/drawing/2014/main" val="20004"/>
                    </a:ext>
                  </a:extLst>
                </a:gridCol>
              </a:tblGrid>
              <a:tr h="663575">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VERB</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NOUN</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FROM X TO Y</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BY</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DATE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016000">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Improve</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Inventory Turns</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From 5.0 to 10.0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BY</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600" b="1" i="0" u="none" strike="noStrike" cap="none" normalizeH="0" baseline="0" dirty="0">
                          <a:ln>
                            <a:noFill/>
                          </a:ln>
                          <a:solidFill>
                            <a:schemeClr val="tx1"/>
                          </a:solidFill>
                          <a:effectLst/>
                          <a:latin typeface="Arial" charset="0"/>
                        </a:rPr>
                        <a:t>12/31/XX</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0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endParaRPr kumimoji="0" lang="en-US" sz="1600" b="0" i="0" u="none" strike="noStrike" cap="none" normalizeH="0" baseline="0" dirty="0">
                        <a:ln>
                          <a:noFill/>
                        </a:ln>
                        <a:solidFill>
                          <a:schemeClr val="tx1"/>
                        </a:solidFill>
                        <a:effectLst/>
                        <a:latin typeface="Arial"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7" name="Group 6">
            <a:extLst>
              <a:ext uri="{FF2B5EF4-FFF2-40B4-BE49-F238E27FC236}">
                <a16:creationId xmlns:a16="http://schemas.microsoft.com/office/drawing/2014/main" id="{BB3FF628-09CB-8D7F-E200-0B0C1A54EA52}"/>
              </a:ext>
            </a:extLst>
          </p:cNvPr>
          <p:cNvGrpSpPr/>
          <p:nvPr/>
        </p:nvGrpSpPr>
        <p:grpSpPr>
          <a:xfrm>
            <a:off x="961102" y="302894"/>
            <a:ext cx="1229200" cy="290657"/>
            <a:chOff x="940249" y="315206"/>
            <a:chExt cx="1373841" cy="265062"/>
          </a:xfrm>
        </p:grpSpPr>
        <p:sp>
          <p:nvSpPr>
            <p:cNvPr id="8" name="AutoShape 9">
              <a:extLst>
                <a:ext uri="{FF2B5EF4-FFF2-40B4-BE49-F238E27FC236}">
                  <a16:creationId xmlns:a16="http://schemas.microsoft.com/office/drawing/2014/main" id="{41FB8716-C37A-5403-A87F-C7330513DE5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DB86337B-DEFD-4EA8-1ABF-B5A7A4A86DC6}"/>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DF0DAA5D-FE4B-381A-869D-7956CF6EF49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CCD89B9F-5A17-4871-C5A9-B97494A11645}"/>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2" name="TextBox 11">
            <a:extLst>
              <a:ext uri="{FF2B5EF4-FFF2-40B4-BE49-F238E27FC236}">
                <a16:creationId xmlns:a16="http://schemas.microsoft.com/office/drawing/2014/main" id="{A102E48D-3703-32A2-50B1-C5BF56565529}"/>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20359323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4F41A-B1A3-609C-5FEC-0DE4CEC1E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43339-9FF0-72EB-BB3D-4B68A9BC533B}"/>
              </a:ext>
            </a:extLst>
          </p:cNvPr>
          <p:cNvSpPr>
            <a:spLocks noGrp="1"/>
          </p:cNvSpPr>
          <p:nvPr>
            <p:ph type="title"/>
          </p:nvPr>
        </p:nvSpPr>
        <p:spPr/>
        <p:txBody>
          <a:bodyPr>
            <a:noAutofit/>
          </a:bodyPr>
          <a:lstStyle/>
          <a:p>
            <a:r>
              <a:rPr lang="en-US" sz="3600" dirty="0"/>
              <a:t>Use Affinity Process as shown in earlier slides - Ground Rules for Targets</a:t>
            </a:r>
          </a:p>
        </p:txBody>
      </p:sp>
      <p:sp>
        <p:nvSpPr>
          <p:cNvPr id="3" name="Content Placeholder 2">
            <a:extLst>
              <a:ext uri="{FF2B5EF4-FFF2-40B4-BE49-F238E27FC236}">
                <a16:creationId xmlns:a16="http://schemas.microsoft.com/office/drawing/2014/main" id="{8290D43A-B291-F818-911B-903CE469338A}"/>
              </a:ext>
            </a:extLst>
          </p:cNvPr>
          <p:cNvSpPr>
            <a:spLocks noGrp="1"/>
          </p:cNvSpPr>
          <p:nvPr>
            <p:ph idx="1"/>
          </p:nvPr>
        </p:nvSpPr>
        <p:spPr/>
        <p:txBody>
          <a:bodyPr>
            <a:normAutofit/>
          </a:bodyPr>
          <a:lstStyle/>
          <a:p>
            <a:pPr>
              <a:lnSpc>
                <a:spcPct val="115000"/>
              </a:lnSpc>
              <a:spcBef>
                <a:spcPct val="50000"/>
              </a:spcBef>
              <a:spcAft>
                <a:spcPct val="50000"/>
              </a:spcAft>
              <a:buSzPct val="125000"/>
            </a:pPr>
            <a:r>
              <a:rPr lang="en-US" altLang="en-US" sz="1800" dirty="0">
                <a:latin typeface="Arial" panose="020B0604020202020204" pitchFamily="34" charset="0"/>
              </a:rPr>
              <a:t>Silent brainstorming…no discussion during Post-it writing exercise</a:t>
            </a:r>
          </a:p>
          <a:p>
            <a:pPr>
              <a:lnSpc>
                <a:spcPct val="115000"/>
              </a:lnSpc>
              <a:spcBef>
                <a:spcPct val="50000"/>
              </a:spcBef>
              <a:spcAft>
                <a:spcPct val="50000"/>
              </a:spcAft>
              <a:buSzPct val="125000"/>
            </a:pPr>
            <a:r>
              <a:rPr lang="en-US" altLang="en-US" sz="1800" dirty="0">
                <a:latin typeface="Arial" panose="020B0604020202020204" pitchFamily="34" charset="0"/>
              </a:rPr>
              <a:t>At least 2 quality Targets per AIP, per person</a:t>
            </a:r>
          </a:p>
          <a:p>
            <a:pPr>
              <a:lnSpc>
                <a:spcPct val="115000"/>
              </a:lnSpc>
              <a:spcBef>
                <a:spcPct val="50000"/>
              </a:spcBef>
              <a:spcAft>
                <a:spcPct val="50000"/>
              </a:spcAft>
              <a:buSzPct val="125000"/>
            </a:pPr>
            <a:r>
              <a:rPr lang="en-US" altLang="en-US" sz="1800" dirty="0">
                <a:latin typeface="Arial" panose="020B0604020202020204" pitchFamily="34" charset="0"/>
              </a:rPr>
              <a:t>Everyone’s ideas are treated equally</a:t>
            </a:r>
          </a:p>
          <a:p>
            <a:pPr>
              <a:lnSpc>
                <a:spcPct val="115000"/>
              </a:lnSpc>
              <a:spcBef>
                <a:spcPct val="50000"/>
              </a:spcBef>
              <a:spcAft>
                <a:spcPct val="50000"/>
              </a:spcAft>
              <a:buSzPct val="125000"/>
            </a:pPr>
            <a:r>
              <a:rPr lang="en-US" altLang="en-US" sz="1800" dirty="0">
                <a:latin typeface="Arial" panose="020B0604020202020204" pitchFamily="34" charset="0"/>
              </a:rPr>
              <a:t>One idea (Target) per Post-it</a:t>
            </a:r>
          </a:p>
          <a:p>
            <a:pPr>
              <a:lnSpc>
                <a:spcPct val="115000"/>
              </a:lnSpc>
              <a:spcBef>
                <a:spcPct val="50000"/>
              </a:spcBef>
              <a:spcAft>
                <a:spcPct val="50000"/>
              </a:spcAft>
              <a:buSzPct val="125000"/>
            </a:pPr>
            <a:r>
              <a:rPr lang="en-US" altLang="en-US" sz="1800" dirty="0">
                <a:latin typeface="Arial" panose="020B0604020202020204" pitchFamily="34" charset="0"/>
              </a:rPr>
              <a:t>Write name on the top of Post-it</a:t>
            </a:r>
          </a:p>
          <a:p>
            <a:pPr>
              <a:lnSpc>
                <a:spcPct val="115000"/>
              </a:lnSpc>
              <a:spcBef>
                <a:spcPct val="50000"/>
              </a:spcBef>
              <a:spcAft>
                <a:spcPct val="50000"/>
              </a:spcAft>
              <a:buSzPct val="125000"/>
            </a:pPr>
            <a:r>
              <a:rPr lang="en-US" altLang="en-US" sz="1800" dirty="0">
                <a:latin typeface="Arial" panose="020B0604020202020204" pitchFamily="34" charset="0"/>
              </a:rPr>
              <a:t>Be clear; state the Target as follows:</a:t>
            </a:r>
          </a:p>
          <a:p>
            <a:pPr lvl="1">
              <a:lnSpc>
                <a:spcPct val="115000"/>
              </a:lnSpc>
              <a:spcBef>
                <a:spcPct val="50000"/>
              </a:spcBef>
              <a:spcAft>
                <a:spcPct val="50000"/>
              </a:spcAft>
              <a:buSzPct val="125000"/>
            </a:pPr>
            <a:r>
              <a:rPr lang="en-US" altLang="en-US" sz="1400" dirty="0">
                <a:latin typeface="Arial" panose="020B0604020202020204" pitchFamily="34" charset="0"/>
              </a:rPr>
              <a:t>Wrong: Decrease Quality Rejects by 25k</a:t>
            </a:r>
          </a:p>
          <a:p>
            <a:pPr lvl="1">
              <a:lnSpc>
                <a:spcPct val="115000"/>
              </a:lnSpc>
              <a:spcBef>
                <a:spcPct val="50000"/>
              </a:spcBef>
              <a:spcAft>
                <a:spcPct val="50000"/>
              </a:spcAft>
              <a:buSzPct val="125000"/>
            </a:pPr>
            <a:r>
              <a:rPr lang="en-US" altLang="en-US" sz="1400" dirty="0">
                <a:latin typeface="Arial" panose="020B0604020202020204" pitchFamily="34" charset="0"/>
              </a:rPr>
              <a:t>Right: Decrease Quality Rejects from 45k PPM to 20k PPM by 12/31/XX</a:t>
            </a:r>
          </a:p>
        </p:txBody>
      </p:sp>
      <p:grpSp>
        <p:nvGrpSpPr>
          <p:cNvPr id="10" name="Group 9">
            <a:extLst>
              <a:ext uri="{FF2B5EF4-FFF2-40B4-BE49-F238E27FC236}">
                <a16:creationId xmlns:a16="http://schemas.microsoft.com/office/drawing/2014/main" id="{42C6D4B8-5F3B-450C-2D2C-1F9F7FCC7961}"/>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1875D7DD-2813-5859-FDE0-8D5B5AD3B30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F78A0A2-863B-096D-973C-0F5A39A1FE90}"/>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ED519D15-F2E6-FC2A-84B2-9B118AF09820}"/>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7346D13B-2B2B-063F-A699-176353AF074D}"/>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175E669D-44B7-D65D-FDE0-753A7D02C18F}"/>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13894871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A433B-A93A-5DE1-715A-486AAC6D3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C3EC5-0F0D-881F-8A74-B35B3F26CE8A}"/>
              </a:ext>
            </a:extLst>
          </p:cNvPr>
          <p:cNvSpPr>
            <a:spLocks noGrp="1"/>
          </p:cNvSpPr>
          <p:nvPr>
            <p:ph type="title"/>
          </p:nvPr>
        </p:nvSpPr>
        <p:spPr/>
        <p:txBody>
          <a:bodyPr>
            <a:normAutofit/>
          </a:bodyPr>
          <a:lstStyle/>
          <a:p>
            <a:r>
              <a:rPr lang="en-US" sz="4000" dirty="0">
                <a:latin typeface="Roboto Medium"/>
                <a:ea typeface="Roboto Medium"/>
                <a:cs typeface="Roboto Medium"/>
              </a:rPr>
              <a:t>Your Turn: Create Targets</a:t>
            </a:r>
          </a:p>
        </p:txBody>
      </p:sp>
      <p:sp>
        <p:nvSpPr>
          <p:cNvPr id="11" name="Rectangle 10">
            <a:extLst>
              <a:ext uri="{FF2B5EF4-FFF2-40B4-BE49-F238E27FC236}">
                <a16:creationId xmlns:a16="http://schemas.microsoft.com/office/drawing/2014/main" id="{649003F3-D989-8E59-23F4-A26F6FB1D5CE}"/>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Develop targets that measure AIP effectiveness for your company </a:t>
            </a:r>
          </a:p>
        </p:txBody>
      </p:sp>
      <p:sp>
        <p:nvSpPr>
          <p:cNvPr id="12" name="TextBox 11">
            <a:extLst>
              <a:ext uri="{FF2B5EF4-FFF2-40B4-BE49-F238E27FC236}">
                <a16:creationId xmlns:a16="http://schemas.microsoft.com/office/drawing/2014/main" id="{0B026331-3D89-9352-F1B1-ED3F996451D7}"/>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D4263E7B-074A-AEAA-DFCF-26AF0FEE3F7C}"/>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FF9D59C6-902A-535B-D374-D7121DDB89D2}"/>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Following the Affinity Process outlined on the</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previous slides, break into small groups and</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develop the top level targets for each AIP.</a:t>
            </a:r>
          </a:p>
          <a:p>
            <a:pPr defTabSz="584200" hangingPunct="0"/>
            <a:endPar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Company leader and SD Facilitator</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facilitate this process. </a:t>
            </a:r>
          </a:p>
        </p:txBody>
      </p:sp>
      <p:sp>
        <p:nvSpPr>
          <p:cNvPr id="15" name="TextBox 14">
            <a:extLst>
              <a:ext uri="{FF2B5EF4-FFF2-40B4-BE49-F238E27FC236}">
                <a16:creationId xmlns:a16="http://schemas.microsoft.com/office/drawing/2014/main" id="{C38573EB-F10E-6B35-022C-510053528B4B}"/>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323048C3-B293-31A3-2426-F31E21148E52}"/>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CD30C312-EDB8-DFF3-F2F1-1A1A97D6FBF7}"/>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1-2 hours</a:t>
            </a:r>
          </a:p>
        </p:txBody>
      </p:sp>
      <p:sp>
        <p:nvSpPr>
          <p:cNvPr id="18" name="Rectangle 17">
            <a:extLst>
              <a:ext uri="{FF2B5EF4-FFF2-40B4-BE49-F238E27FC236}">
                <a16:creationId xmlns:a16="http://schemas.microsoft.com/office/drawing/2014/main" id="{51411B05-98D5-2A3E-096D-32F1CFD10FF8}"/>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Reach consensus on top 1-2 top level targets for each AIP for your company </a:t>
            </a:r>
          </a:p>
        </p:txBody>
      </p:sp>
      <p:grpSp>
        <p:nvGrpSpPr>
          <p:cNvPr id="23" name="Group 22">
            <a:extLst>
              <a:ext uri="{FF2B5EF4-FFF2-40B4-BE49-F238E27FC236}">
                <a16:creationId xmlns:a16="http://schemas.microsoft.com/office/drawing/2014/main" id="{F2F9D8BF-10E6-1936-35BC-D13C4E3CA87C}"/>
              </a:ext>
            </a:extLst>
          </p:cNvPr>
          <p:cNvGrpSpPr/>
          <p:nvPr/>
        </p:nvGrpSpPr>
        <p:grpSpPr>
          <a:xfrm>
            <a:off x="961102" y="302894"/>
            <a:ext cx="1229200" cy="290657"/>
            <a:chOff x="940249" y="315206"/>
            <a:chExt cx="1373841" cy="265062"/>
          </a:xfrm>
        </p:grpSpPr>
        <p:sp>
          <p:nvSpPr>
            <p:cNvPr id="24" name="AutoShape 9">
              <a:extLst>
                <a:ext uri="{FF2B5EF4-FFF2-40B4-BE49-F238E27FC236}">
                  <a16:creationId xmlns:a16="http://schemas.microsoft.com/office/drawing/2014/main" id="{F9C9B7DE-689B-1375-788A-485407FD59B0}"/>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01F055E3-7F88-00CE-E873-960ADF4DD4BB}"/>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890C9D15-2372-2FCC-41FC-36D7708823E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0D800288-ABEC-6EE7-04D8-21F56F1312A5}"/>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8" name="TextBox 27">
            <a:extLst>
              <a:ext uri="{FF2B5EF4-FFF2-40B4-BE49-F238E27FC236}">
                <a16:creationId xmlns:a16="http://schemas.microsoft.com/office/drawing/2014/main" id="{E364E4D4-451C-C54D-E89E-796651EF964B}"/>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32864611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D0456-E750-47B8-77E7-2D71B940BEF4}"/>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AA9F4FF3-1AE1-6D80-749B-C37506EAC7BB}"/>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Creating the Top Level Matrix</a:t>
            </a:r>
          </a:p>
        </p:txBody>
      </p:sp>
      <p:sp>
        <p:nvSpPr>
          <p:cNvPr id="12" name="Rectangle 11">
            <a:extLst>
              <a:ext uri="{FF2B5EF4-FFF2-40B4-BE49-F238E27FC236}">
                <a16:creationId xmlns:a16="http://schemas.microsoft.com/office/drawing/2014/main" id="{7B913081-359B-8918-001E-316947D7E9A4}"/>
              </a:ext>
            </a:extLst>
          </p:cNvPr>
          <p:cNvSpPr>
            <a:spLocks/>
          </p:cNvSpPr>
          <p:nvPr/>
        </p:nvSpPr>
        <p:spPr>
          <a:xfrm>
            <a:off x="940247" y="1934137"/>
            <a:ext cx="10415016"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Breakthrough Objectives</a:t>
            </a:r>
            <a:endPar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Rectangle 12">
            <a:extLst>
              <a:ext uri="{FF2B5EF4-FFF2-40B4-BE49-F238E27FC236}">
                <a16:creationId xmlns:a16="http://schemas.microsoft.com/office/drawing/2014/main" id="{36AD7CD4-4C63-1DC6-F75D-20A33909A03C}"/>
              </a:ext>
            </a:extLst>
          </p:cNvPr>
          <p:cNvSpPr>
            <a:spLocks/>
          </p:cNvSpPr>
          <p:nvPr/>
        </p:nvSpPr>
        <p:spPr>
          <a:xfrm>
            <a:off x="940248" y="3028466"/>
            <a:ext cx="10413551"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Annual Improvement Priorities (AIPs)</a:t>
            </a:r>
          </a:p>
        </p:txBody>
      </p:sp>
      <p:sp>
        <p:nvSpPr>
          <p:cNvPr id="14" name="Rectangle 13">
            <a:extLst>
              <a:ext uri="{FF2B5EF4-FFF2-40B4-BE49-F238E27FC236}">
                <a16:creationId xmlns:a16="http://schemas.microsoft.com/office/drawing/2014/main" id="{41A69F0B-882D-182B-291E-F9BB26E3DC30}"/>
              </a:ext>
            </a:extLst>
          </p:cNvPr>
          <p:cNvSpPr>
            <a:spLocks/>
          </p:cNvSpPr>
          <p:nvPr/>
        </p:nvSpPr>
        <p:spPr>
          <a:xfrm>
            <a:off x="940247" y="4122795"/>
            <a:ext cx="10415016"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Targets to Improve</a:t>
            </a:r>
          </a:p>
        </p:txBody>
      </p:sp>
      <p:sp>
        <p:nvSpPr>
          <p:cNvPr id="16" name="Rectangle 15">
            <a:extLst>
              <a:ext uri="{FF2B5EF4-FFF2-40B4-BE49-F238E27FC236}">
                <a16:creationId xmlns:a16="http://schemas.microsoft.com/office/drawing/2014/main" id="{DF16EB0D-3612-A83A-0654-1D0FB9B857C1}"/>
              </a:ext>
            </a:extLst>
          </p:cNvPr>
          <p:cNvSpPr>
            <a:spLocks/>
          </p:cNvSpPr>
          <p:nvPr/>
        </p:nvSpPr>
        <p:spPr>
          <a:xfrm>
            <a:off x="940247" y="5217125"/>
            <a:ext cx="10415016"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and Determine Resources for each AIP</a:t>
            </a:r>
          </a:p>
        </p:txBody>
      </p:sp>
      <p:sp>
        <p:nvSpPr>
          <p:cNvPr id="20" name="Title 1">
            <a:extLst>
              <a:ext uri="{FF2B5EF4-FFF2-40B4-BE49-F238E27FC236}">
                <a16:creationId xmlns:a16="http://schemas.microsoft.com/office/drawing/2014/main" id="{FBE96E8B-378F-79E9-1D3D-8B1FC34B4DF0}"/>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3CA6996D-5FB2-2794-B9E5-0C77E4DDFB3B}"/>
              </a:ext>
            </a:extLst>
          </p:cNvPr>
          <p:cNvGrpSpPr/>
          <p:nvPr/>
        </p:nvGrpSpPr>
        <p:grpSpPr>
          <a:xfrm>
            <a:off x="961102" y="302894"/>
            <a:ext cx="1229200" cy="290657"/>
            <a:chOff x="940249" y="315206"/>
            <a:chExt cx="1373841" cy="265062"/>
          </a:xfrm>
        </p:grpSpPr>
        <p:sp>
          <p:nvSpPr>
            <p:cNvPr id="3" name="AutoShape 9">
              <a:extLst>
                <a:ext uri="{FF2B5EF4-FFF2-40B4-BE49-F238E27FC236}">
                  <a16:creationId xmlns:a16="http://schemas.microsoft.com/office/drawing/2014/main" id="{014C4895-9E62-40E1-76B6-F9E35900E29B}"/>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 name="AutoShape 9">
              <a:extLst>
                <a:ext uri="{FF2B5EF4-FFF2-40B4-BE49-F238E27FC236}">
                  <a16:creationId xmlns:a16="http://schemas.microsoft.com/office/drawing/2014/main" id="{8667D87F-892F-F6FF-B114-CB1C090EB6FC}"/>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 name="AutoShape 10">
              <a:extLst>
                <a:ext uri="{FF2B5EF4-FFF2-40B4-BE49-F238E27FC236}">
                  <a16:creationId xmlns:a16="http://schemas.microsoft.com/office/drawing/2014/main" id="{086F2DAC-22F4-8626-FEC6-59ECC1BA0AB7}"/>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6" name="AutoShape 11">
              <a:extLst>
                <a:ext uri="{FF2B5EF4-FFF2-40B4-BE49-F238E27FC236}">
                  <a16:creationId xmlns:a16="http://schemas.microsoft.com/office/drawing/2014/main" id="{38CA149A-D997-61D2-8ECB-97B6896FEA33}"/>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78E0C71D-4D44-02ED-567D-A38E45FF21AC}"/>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899198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CBA4B-0531-EC47-0ADA-B08E5FE73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7071F-0378-9517-3760-E9927D1BCD8C}"/>
              </a:ext>
            </a:extLst>
          </p:cNvPr>
          <p:cNvSpPr>
            <a:spLocks noGrp="1"/>
          </p:cNvSpPr>
          <p:nvPr>
            <p:ph type="title"/>
          </p:nvPr>
        </p:nvSpPr>
        <p:spPr/>
        <p:txBody>
          <a:bodyPr>
            <a:noAutofit/>
          </a:bodyPr>
          <a:lstStyle/>
          <a:p>
            <a:r>
              <a:rPr lang="en-US" sz="3600" dirty="0"/>
              <a:t>Establish Resources – Guidelines</a:t>
            </a:r>
          </a:p>
        </p:txBody>
      </p:sp>
      <p:sp>
        <p:nvSpPr>
          <p:cNvPr id="3" name="Content Placeholder 2">
            <a:extLst>
              <a:ext uri="{FF2B5EF4-FFF2-40B4-BE49-F238E27FC236}">
                <a16:creationId xmlns:a16="http://schemas.microsoft.com/office/drawing/2014/main" id="{278C26AF-AE56-D047-4535-3C99A0B9D983}"/>
              </a:ext>
            </a:extLst>
          </p:cNvPr>
          <p:cNvSpPr>
            <a:spLocks noGrp="1"/>
          </p:cNvSpPr>
          <p:nvPr>
            <p:ph idx="1"/>
          </p:nvPr>
        </p:nvSpPr>
        <p:spPr/>
        <p:txBody>
          <a:bodyPr>
            <a:normAutofit/>
          </a:bodyPr>
          <a:lstStyle/>
          <a:p>
            <a:pPr>
              <a:buSzPct val="125000"/>
            </a:pPr>
            <a:r>
              <a:rPr lang="en-US" altLang="en-US" sz="1800" dirty="0">
                <a:latin typeface="Arial" panose="020B0604020202020204" pitchFamily="34" charset="0"/>
              </a:rPr>
              <a:t>As a rule, each AIP needs to have one primary resource assigned as an AIP Owner and an Alternate AIP Owner should the primary resource not be available due to vacations, illness, etc.</a:t>
            </a:r>
          </a:p>
          <a:p>
            <a:pPr>
              <a:buSzPct val="125000"/>
            </a:pPr>
            <a:r>
              <a:rPr lang="en-US" altLang="en-US" sz="1800" dirty="0">
                <a:latin typeface="Arial" panose="020B0604020202020204" pitchFamily="34" charset="0"/>
              </a:rPr>
              <a:t>The following symbols are used to designate:</a:t>
            </a:r>
            <a:endParaRPr lang="en-US" altLang="en-US" sz="3200" dirty="0">
              <a:latin typeface="Arial" panose="020B0604020202020204" pitchFamily="34" charset="0"/>
            </a:endParaRPr>
          </a:p>
          <a:p>
            <a:pPr>
              <a:buSzPct val="90000"/>
              <a:buNone/>
            </a:pPr>
            <a:r>
              <a:rPr lang="en-US" altLang="en-US" sz="1800" dirty="0">
                <a:latin typeface="Wingdings" panose="05000000000000000000" pitchFamily="2" charset="2"/>
              </a:rPr>
              <a:t>	l</a:t>
            </a:r>
            <a:r>
              <a:rPr lang="en-US" altLang="en-US" sz="1800" dirty="0">
                <a:latin typeface="Arial" panose="020B0604020202020204" pitchFamily="34" charset="0"/>
              </a:rPr>
              <a:t> Primary Resource – AIP Owner </a:t>
            </a:r>
            <a:endParaRPr lang="en-US" altLang="en-US" sz="3200" dirty="0">
              <a:latin typeface="Arial" panose="020B0604020202020204" pitchFamily="34" charset="0"/>
            </a:endParaRPr>
          </a:p>
          <a:p>
            <a:pPr lvl="1">
              <a:buSzPct val="125000"/>
            </a:pPr>
            <a:r>
              <a:rPr lang="en-US" altLang="en-US" sz="1600" dirty="0">
                <a:latin typeface="Arial" panose="020B0604020202020204" pitchFamily="34" charset="0"/>
              </a:rPr>
              <a:t>	Has Full Responsibility Implementing the AIP</a:t>
            </a:r>
          </a:p>
          <a:p>
            <a:pPr lvl="3">
              <a:buSzPct val="125000"/>
            </a:pPr>
            <a:r>
              <a:rPr lang="en-US" altLang="en-US" sz="1600" dirty="0">
                <a:latin typeface="Arial" panose="020B0604020202020204" pitchFamily="34" charset="0"/>
              </a:rPr>
              <a:t>Assuring Sustainable Processes are Created</a:t>
            </a:r>
          </a:p>
          <a:p>
            <a:pPr lvl="3">
              <a:buSzPct val="125000"/>
            </a:pPr>
            <a:r>
              <a:rPr lang="en-US" altLang="en-US" sz="1600" dirty="0">
                <a:latin typeface="Arial" panose="020B0604020202020204" pitchFamily="34" charset="0"/>
              </a:rPr>
              <a:t>Assuring the Business Results are Achieved</a:t>
            </a:r>
          </a:p>
          <a:p>
            <a:pPr>
              <a:buSzPct val="90000"/>
              <a:buNone/>
            </a:pPr>
            <a:r>
              <a:rPr lang="en-US" altLang="en-US" sz="1800" dirty="0">
                <a:latin typeface="Wingdings" panose="05000000000000000000" pitchFamily="2" charset="2"/>
              </a:rPr>
              <a:t> u</a:t>
            </a:r>
            <a:r>
              <a:rPr lang="en-US" altLang="en-US" sz="3200" dirty="0">
                <a:latin typeface="Arial" panose="020B0604020202020204" pitchFamily="34" charset="0"/>
              </a:rPr>
              <a:t> </a:t>
            </a:r>
            <a:r>
              <a:rPr lang="en-US" altLang="en-US" sz="1800" dirty="0">
                <a:latin typeface="Arial" panose="020B0604020202020204" pitchFamily="34" charset="0"/>
              </a:rPr>
              <a:t>Alternate AIP Owner (Optional)</a:t>
            </a:r>
          </a:p>
          <a:p>
            <a:pPr lvl="2">
              <a:buSzPct val="125000"/>
            </a:pPr>
            <a:r>
              <a:rPr lang="en-US" altLang="en-US" sz="1600" dirty="0">
                <a:latin typeface="Arial" panose="020B0604020202020204" pitchFamily="34" charset="0"/>
              </a:rPr>
              <a:t>Is Assigned the Responsibility as AIP Owner when the Primary Resource / AIP Owner is Not Available to Conduct Meetings, etc.		 </a:t>
            </a:r>
            <a:endParaRPr lang="en-US" altLang="en-US" sz="1800" dirty="0">
              <a:latin typeface="Arial" panose="020B0604020202020204" pitchFamily="34" charset="0"/>
            </a:endParaRPr>
          </a:p>
          <a:p>
            <a:pPr lvl="1">
              <a:buSzPct val="90000"/>
              <a:buNone/>
            </a:pPr>
            <a:r>
              <a:rPr lang="en-US" altLang="en-US" sz="1800" dirty="0">
                <a:latin typeface="Arial" panose="020B0604020202020204" pitchFamily="34" charset="0"/>
              </a:rPr>
              <a:t>AIP Owners and the Alternate AIP Owners cascade to the next level.</a:t>
            </a:r>
          </a:p>
        </p:txBody>
      </p:sp>
      <p:grpSp>
        <p:nvGrpSpPr>
          <p:cNvPr id="9" name="Group 8">
            <a:extLst>
              <a:ext uri="{FF2B5EF4-FFF2-40B4-BE49-F238E27FC236}">
                <a16:creationId xmlns:a16="http://schemas.microsoft.com/office/drawing/2014/main" id="{D59C6864-5563-AD3C-ACD7-D3D88254A8A6}"/>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7CCA163F-20B0-CA3A-FFEC-1D46117794D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5ECDB195-0D7E-2EB3-F122-E6EC3E6E061F}"/>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08F64A5-50C6-51EF-D39A-474B6EF6692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34EF1676-D022-37E4-134E-40B2B4BD2FD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4383D6EB-8138-3104-1F26-9B68CE57BADE}"/>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11184614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BF400-93D4-15C9-E4A1-BD1DED1B0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29763-6DD1-DF27-33C3-FBBA34DF2FF7}"/>
              </a:ext>
            </a:extLst>
          </p:cNvPr>
          <p:cNvSpPr>
            <a:spLocks noGrp="1"/>
          </p:cNvSpPr>
          <p:nvPr>
            <p:ph type="title"/>
          </p:nvPr>
        </p:nvSpPr>
        <p:spPr/>
        <p:txBody>
          <a:bodyPr/>
          <a:lstStyle/>
          <a:p>
            <a:r>
              <a:rPr lang="en-US" dirty="0"/>
              <a:t>Team Composition Considerations</a:t>
            </a:r>
          </a:p>
        </p:txBody>
      </p:sp>
      <p:sp>
        <p:nvSpPr>
          <p:cNvPr id="3" name="Content Placeholder 2">
            <a:extLst>
              <a:ext uri="{FF2B5EF4-FFF2-40B4-BE49-F238E27FC236}">
                <a16:creationId xmlns:a16="http://schemas.microsoft.com/office/drawing/2014/main" id="{6051567D-CB15-985B-7E1C-45C5771AC50A}"/>
              </a:ext>
            </a:extLst>
          </p:cNvPr>
          <p:cNvSpPr>
            <a:spLocks noGrp="1"/>
          </p:cNvSpPr>
          <p:nvPr>
            <p:ph sz="half" idx="1"/>
          </p:nvPr>
        </p:nvSpPr>
        <p:spPr/>
        <p:txBody>
          <a:bodyPr>
            <a:normAutofit fontScale="92500"/>
          </a:bodyPr>
          <a:lstStyle/>
          <a:p>
            <a:pPr>
              <a:lnSpc>
                <a:spcPct val="100000"/>
              </a:lnSpc>
              <a:buSzPct val="125000"/>
            </a:pPr>
            <a:r>
              <a:rPr lang="en-US" altLang="en-US" b="1" dirty="0">
                <a:cs typeface="Arial" panose="020B0604020202020204" pitchFamily="34" charset="0"/>
              </a:rPr>
              <a:t>Ability to work in cross-functional environment</a:t>
            </a:r>
          </a:p>
          <a:p>
            <a:pPr>
              <a:lnSpc>
                <a:spcPct val="100000"/>
              </a:lnSpc>
              <a:buSzPct val="125000"/>
            </a:pPr>
            <a:r>
              <a:rPr lang="en-US" altLang="en-US" b="1" dirty="0">
                <a:cs typeface="Arial" panose="020B0604020202020204" pitchFamily="34" charset="0"/>
              </a:rPr>
              <a:t>Level of experience within role/organization</a:t>
            </a:r>
          </a:p>
          <a:p>
            <a:pPr>
              <a:lnSpc>
                <a:spcPct val="100000"/>
              </a:lnSpc>
              <a:buSzPct val="125000"/>
            </a:pPr>
            <a:r>
              <a:rPr lang="en-US" altLang="en-US" b="1" dirty="0">
                <a:cs typeface="Arial" panose="020B0604020202020204" pitchFamily="34" charset="0"/>
              </a:rPr>
              <a:t>Capabilities and Competencies</a:t>
            </a:r>
          </a:p>
          <a:p>
            <a:pPr>
              <a:lnSpc>
                <a:spcPct val="100000"/>
              </a:lnSpc>
              <a:buSzPct val="125000"/>
            </a:pPr>
            <a:r>
              <a:rPr lang="en-US" altLang="en-US" b="1" dirty="0">
                <a:cs typeface="Arial" panose="020B0604020202020204" pitchFamily="34" charset="0"/>
              </a:rPr>
              <a:t>Type of work to be performed</a:t>
            </a:r>
          </a:p>
        </p:txBody>
      </p:sp>
      <p:sp>
        <p:nvSpPr>
          <p:cNvPr id="4" name="Content Placeholder 3">
            <a:extLst>
              <a:ext uri="{FF2B5EF4-FFF2-40B4-BE49-F238E27FC236}">
                <a16:creationId xmlns:a16="http://schemas.microsoft.com/office/drawing/2014/main" id="{FC685E82-B306-953D-BE52-001FF9955C8C}"/>
              </a:ext>
            </a:extLst>
          </p:cNvPr>
          <p:cNvSpPr>
            <a:spLocks noGrp="1"/>
          </p:cNvSpPr>
          <p:nvPr>
            <p:ph sz="half" idx="2"/>
          </p:nvPr>
        </p:nvSpPr>
        <p:spPr/>
        <p:txBody>
          <a:bodyPr>
            <a:normAutofit fontScale="92500"/>
          </a:bodyPr>
          <a:lstStyle/>
          <a:p>
            <a:pPr>
              <a:lnSpc>
                <a:spcPct val="110000"/>
              </a:lnSpc>
              <a:buSzPct val="125000"/>
            </a:pPr>
            <a:r>
              <a:rPr lang="en-US" altLang="en-US" sz="2400" b="1" dirty="0">
                <a:cs typeface="Arial" panose="020B0604020202020204" pitchFamily="34" charset="0"/>
              </a:rPr>
              <a:t>Geographical location</a:t>
            </a:r>
          </a:p>
          <a:p>
            <a:pPr>
              <a:lnSpc>
                <a:spcPct val="110000"/>
              </a:lnSpc>
              <a:buSzPct val="125000"/>
            </a:pPr>
            <a:r>
              <a:rPr lang="en-US" altLang="en-US" sz="2400" b="1" dirty="0">
                <a:cs typeface="Arial" panose="020B0604020202020204" pitchFamily="34" charset="0"/>
              </a:rPr>
              <a:t>Current workload constraints</a:t>
            </a:r>
          </a:p>
          <a:p>
            <a:pPr>
              <a:lnSpc>
                <a:spcPct val="110000"/>
              </a:lnSpc>
              <a:buSzPct val="125000"/>
            </a:pPr>
            <a:r>
              <a:rPr lang="en-US" altLang="en-US" sz="2400" b="1" dirty="0">
                <a:cs typeface="Arial" panose="020B0604020202020204" pitchFamily="34" charset="0"/>
              </a:rPr>
              <a:t>Level within the organization</a:t>
            </a:r>
          </a:p>
          <a:p>
            <a:pPr>
              <a:lnSpc>
                <a:spcPct val="110000"/>
              </a:lnSpc>
              <a:buSzPct val="125000"/>
            </a:pPr>
            <a:r>
              <a:rPr lang="en-US" altLang="en-US" sz="2400" b="1" dirty="0">
                <a:cs typeface="Arial" panose="020B0604020202020204" pitchFamily="34" charset="0"/>
              </a:rPr>
              <a:t>Prior role as team leader/participant</a:t>
            </a:r>
          </a:p>
          <a:p>
            <a:pPr>
              <a:lnSpc>
                <a:spcPct val="110000"/>
              </a:lnSpc>
              <a:buSzPct val="125000"/>
            </a:pPr>
            <a:r>
              <a:rPr lang="ja-JP" altLang="en-US" sz="2400" b="1" dirty="0">
                <a:cs typeface="Arial" panose="020B0604020202020204" pitchFamily="34" charset="0"/>
              </a:rPr>
              <a:t>“</a:t>
            </a:r>
            <a:r>
              <a:rPr lang="en-US" altLang="ja-JP" sz="2400" b="1" dirty="0">
                <a:cs typeface="Arial" panose="020B0604020202020204" pitchFamily="34" charset="0"/>
              </a:rPr>
              <a:t>Charger</a:t>
            </a:r>
            <a:r>
              <a:rPr lang="ja-JP" altLang="en-US" sz="2400" b="1" dirty="0">
                <a:cs typeface="Arial" panose="020B0604020202020204" pitchFamily="34" charset="0"/>
              </a:rPr>
              <a:t>”</a:t>
            </a:r>
            <a:r>
              <a:rPr lang="en-US" altLang="ja-JP" sz="2400" b="1" dirty="0">
                <a:cs typeface="Arial" panose="020B0604020202020204" pitchFamily="34" charset="0"/>
              </a:rPr>
              <a:t> </a:t>
            </a:r>
          </a:p>
          <a:p>
            <a:pPr>
              <a:lnSpc>
                <a:spcPct val="110000"/>
              </a:lnSpc>
              <a:buSzPct val="125000"/>
            </a:pPr>
            <a:r>
              <a:rPr lang="en-US" altLang="en-US" sz="2400" b="1" dirty="0">
                <a:cs typeface="Arial" panose="020B0604020202020204" pitchFamily="34" charset="0"/>
              </a:rPr>
              <a:t>Working type</a:t>
            </a:r>
          </a:p>
          <a:p>
            <a:pPr lvl="1">
              <a:lnSpc>
                <a:spcPct val="110000"/>
              </a:lnSpc>
              <a:buSzPct val="125000"/>
            </a:pPr>
            <a:r>
              <a:rPr lang="en-US" altLang="en-US" sz="1800" b="1" dirty="0">
                <a:cs typeface="Arial" panose="020B0604020202020204" pitchFamily="34" charset="0"/>
              </a:rPr>
              <a:t>Doer</a:t>
            </a:r>
          </a:p>
          <a:p>
            <a:pPr lvl="1">
              <a:lnSpc>
                <a:spcPct val="110000"/>
              </a:lnSpc>
              <a:buSzPct val="125000"/>
            </a:pPr>
            <a:r>
              <a:rPr lang="en-US" altLang="en-US" sz="1800" b="1" dirty="0">
                <a:cs typeface="Arial" panose="020B0604020202020204" pitchFamily="34" charset="0"/>
              </a:rPr>
              <a:t>Thinker</a:t>
            </a:r>
          </a:p>
          <a:p>
            <a:pPr lvl="1">
              <a:lnSpc>
                <a:spcPct val="110000"/>
              </a:lnSpc>
              <a:buSzPct val="125000"/>
            </a:pPr>
            <a:r>
              <a:rPr lang="en-US" altLang="en-US" sz="1800" b="1" dirty="0">
                <a:cs typeface="Arial" panose="020B0604020202020204" pitchFamily="34" charset="0"/>
              </a:rPr>
              <a:t>Director</a:t>
            </a:r>
          </a:p>
          <a:p>
            <a:pPr lvl="1">
              <a:lnSpc>
                <a:spcPct val="110000"/>
              </a:lnSpc>
              <a:buSzPct val="125000"/>
            </a:pPr>
            <a:r>
              <a:rPr lang="en-US" altLang="en-US" sz="1800" b="1" dirty="0">
                <a:cs typeface="Arial" panose="020B0604020202020204" pitchFamily="34" charset="0"/>
              </a:rPr>
              <a:t>Follower</a:t>
            </a:r>
          </a:p>
        </p:txBody>
      </p:sp>
      <p:grpSp>
        <p:nvGrpSpPr>
          <p:cNvPr id="5" name="Group 4">
            <a:extLst>
              <a:ext uri="{FF2B5EF4-FFF2-40B4-BE49-F238E27FC236}">
                <a16:creationId xmlns:a16="http://schemas.microsoft.com/office/drawing/2014/main" id="{08D2B213-3FFE-993A-CD88-15035CA6FDF0}"/>
              </a:ext>
            </a:extLst>
          </p:cNvPr>
          <p:cNvGrpSpPr/>
          <p:nvPr/>
        </p:nvGrpSpPr>
        <p:grpSpPr>
          <a:xfrm>
            <a:off x="961102" y="302894"/>
            <a:ext cx="1229200" cy="290657"/>
            <a:chOff x="940249" y="315206"/>
            <a:chExt cx="1373841" cy="265062"/>
          </a:xfrm>
        </p:grpSpPr>
        <p:sp>
          <p:nvSpPr>
            <p:cNvPr id="6" name="AutoShape 9">
              <a:extLst>
                <a:ext uri="{FF2B5EF4-FFF2-40B4-BE49-F238E27FC236}">
                  <a16:creationId xmlns:a16="http://schemas.microsoft.com/office/drawing/2014/main" id="{E1FE258B-E8B0-E17B-57BC-08854C8C80A7}"/>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1DE47BAD-3C1C-49F8-FD15-CA613B7E17F3}"/>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10">
              <a:extLst>
                <a:ext uri="{FF2B5EF4-FFF2-40B4-BE49-F238E27FC236}">
                  <a16:creationId xmlns:a16="http://schemas.microsoft.com/office/drawing/2014/main" id="{432A6E13-8711-3A1A-2BF9-5D3D41A136F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642B9A97-6034-4199-9ED6-86B1AF6AC971}"/>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BA76BEE8-38EA-7AC9-CE5C-7AB33E0AA4B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18312094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B0EE4-6CB6-DC5F-20DC-668A3966A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55A89-45A1-1B73-22F2-F6E5E8BE8559}"/>
              </a:ext>
            </a:extLst>
          </p:cNvPr>
          <p:cNvSpPr>
            <a:spLocks noGrp="1"/>
          </p:cNvSpPr>
          <p:nvPr>
            <p:ph type="title"/>
          </p:nvPr>
        </p:nvSpPr>
        <p:spPr/>
        <p:txBody>
          <a:bodyPr>
            <a:noAutofit/>
          </a:bodyPr>
          <a:lstStyle/>
          <a:p>
            <a:r>
              <a:rPr lang="en-US" sz="2800" dirty="0"/>
              <a:t>Process for Developing Cross-functional Teams for each AIP</a:t>
            </a:r>
          </a:p>
        </p:txBody>
      </p:sp>
      <p:sp>
        <p:nvSpPr>
          <p:cNvPr id="4" name="Content Placeholder 3">
            <a:extLst>
              <a:ext uri="{FF2B5EF4-FFF2-40B4-BE49-F238E27FC236}">
                <a16:creationId xmlns:a16="http://schemas.microsoft.com/office/drawing/2014/main" id="{9F3C3DD6-6AF6-AD5F-0902-E00A4138F0A3}"/>
              </a:ext>
            </a:extLst>
          </p:cNvPr>
          <p:cNvSpPr>
            <a:spLocks noGrp="1"/>
          </p:cNvSpPr>
          <p:nvPr>
            <p:ph sz="half" idx="2"/>
          </p:nvPr>
        </p:nvSpPr>
        <p:spPr/>
        <p:txBody>
          <a:bodyPr>
            <a:normAutofit fontScale="92500" lnSpcReduction="10000"/>
          </a:bodyPr>
          <a:lstStyle/>
          <a:p>
            <a:pPr>
              <a:buSzPct val="125000"/>
            </a:pPr>
            <a:r>
              <a:rPr lang="en-US" altLang="en-US" dirty="0"/>
              <a:t>Group exercise…all will participate.</a:t>
            </a:r>
          </a:p>
          <a:p>
            <a:pPr>
              <a:buSzPct val="125000"/>
            </a:pPr>
            <a:r>
              <a:rPr lang="en-US" altLang="en-US" dirty="0"/>
              <a:t>Determine AIP Owners (Black Dot).</a:t>
            </a:r>
          </a:p>
          <a:p>
            <a:pPr>
              <a:buSzPct val="125000"/>
            </a:pPr>
            <a:r>
              <a:rPr lang="en-US" altLang="en-US" dirty="0"/>
              <a:t>Determine Alternate AIP Owners (Black Diamond), (Optional).</a:t>
            </a:r>
          </a:p>
          <a:p>
            <a:pPr>
              <a:buSzPct val="125000"/>
            </a:pPr>
            <a:r>
              <a:rPr lang="en-US" altLang="en-US" dirty="0"/>
              <a:t>Perform sanity check as to resource loads, etc.</a:t>
            </a:r>
          </a:p>
          <a:p>
            <a:pPr>
              <a:buSzPct val="125000"/>
            </a:pPr>
            <a:r>
              <a:rPr lang="en-US" altLang="en-US" dirty="0"/>
              <a:t>Insert the names and titles of AIP Owners and Alternate AIP Owners for each AIP into Matrix.</a:t>
            </a:r>
          </a:p>
        </p:txBody>
      </p:sp>
      <p:pic>
        <p:nvPicPr>
          <p:cNvPr id="11" name="Picture 78" descr="Process for Developing Multifunctional Teams for Each AIP">
            <a:extLst>
              <a:ext uri="{FF2B5EF4-FFF2-40B4-BE49-F238E27FC236}">
                <a16:creationId xmlns:a16="http://schemas.microsoft.com/office/drawing/2014/main" id="{7F9EFDEC-C84D-0418-58C9-7E5DFC13D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6363" y="1916112"/>
            <a:ext cx="3348037" cy="408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a:extLst>
              <a:ext uri="{FF2B5EF4-FFF2-40B4-BE49-F238E27FC236}">
                <a16:creationId xmlns:a16="http://schemas.microsoft.com/office/drawing/2014/main" id="{B9081F76-B04F-B002-BFED-14F830F20FE1}"/>
              </a:ext>
            </a:extLst>
          </p:cNvPr>
          <p:cNvGrpSpPr/>
          <p:nvPr/>
        </p:nvGrpSpPr>
        <p:grpSpPr>
          <a:xfrm>
            <a:off x="961102" y="302894"/>
            <a:ext cx="1229200" cy="290657"/>
            <a:chOff x="940249" y="315206"/>
            <a:chExt cx="1373841" cy="265062"/>
          </a:xfrm>
        </p:grpSpPr>
        <p:sp>
          <p:nvSpPr>
            <p:cNvPr id="12" name="AutoShape 9">
              <a:extLst>
                <a:ext uri="{FF2B5EF4-FFF2-40B4-BE49-F238E27FC236}">
                  <a16:creationId xmlns:a16="http://schemas.microsoft.com/office/drawing/2014/main" id="{0B1806F1-77F2-0165-073E-4E63FA8BFAA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1ACC947E-9A1F-0C43-D3D8-2CD04997A538}"/>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B5F232AD-A12C-ACDB-1E58-41A25F742A8E}"/>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D660C919-6A06-5EDD-AEF5-A463DECFAC37}"/>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6" name="TextBox 15">
            <a:extLst>
              <a:ext uri="{FF2B5EF4-FFF2-40B4-BE49-F238E27FC236}">
                <a16:creationId xmlns:a16="http://schemas.microsoft.com/office/drawing/2014/main" id="{A89EC081-AEF5-4610-34AD-46EA15C6FF7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6199664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B9EA4-1EAA-FD9C-190B-E01C90136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E91AB-E7B3-D90C-B6D4-7F3187EB9ADA}"/>
              </a:ext>
            </a:extLst>
          </p:cNvPr>
          <p:cNvSpPr>
            <a:spLocks noGrp="1"/>
          </p:cNvSpPr>
          <p:nvPr>
            <p:ph type="title"/>
          </p:nvPr>
        </p:nvSpPr>
        <p:spPr/>
        <p:txBody>
          <a:bodyPr>
            <a:normAutofit/>
          </a:bodyPr>
          <a:lstStyle/>
          <a:p>
            <a:r>
              <a:rPr lang="en-US" sz="4000" dirty="0">
                <a:latin typeface="Roboto Medium"/>
                <a:ea typeface="Roboto Medium"/>
                <a:cs typeface="Roboto Medium"/>
              </a:rPr>
              <a:t>Your Turn: Establish Resources</a:t>
            </a:r>
          </a:p>
        </p:txBody>
      </p:sp>
      <p:sp>
        <p:nvSpPr>
          <p:cNvPr id="11" name="Rectangle 10">
            <a:extLst>
              <a:ext uri="{FF2B5EF4-FFF2-40B4-BE49-F238E27FC236}">
                <a16:creationId xmlns:a16="http://schemas.microsoft.com/office/drawing/2014/main" id="{156A1C57-3582-A675-6F97-613CFCD59FB0}"/>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Establish resources to support each AIP for your company </a:t>
            </a:r>
          </a:p>
        </p:txBody>
      </p:sp>
      <p:sp>
        <p:nvSpPr>
          <p:cNvPr id="12" name="TextBox 11">
            <a:extLst>
              <a:ext uri="{FF2B5EF4-FFF2-40B4-BE49-F238E27FC236}">
                <a16:creationId xmlns:a16="http://schemas.microsoft.com/office/drawing/2014/main" id="{51E5EC89-1F07-FD4D-E326-DEEE8EEDAFEF}"/>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CB064B67-59EB-DBC1-DBA1-88B2FED4DB07}"/>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E2089EEF-093C-D78A-8B65-E2DD981E1D2A}"/>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As a group, determine the AIP Owner (Black Dot) and Alternate AIP Owner (Optional) (Black Diamond) to support each AIP.</a:t>
            </a:r>
          </a:p>
        </p:txBody>
      </p:sp>
      <p:sp>
        <p:nvSpPr>
          <p:cNvPr id="15" name="TextBox 14">
            <a:extLst>
              <a:ext uri="{FF2B5EF4-FFF2-40B4-BE49-F238E27FC236}">
                <a16:creationId xmlns:a16="http://schemas.microsoft.com/office/drawing/2014/main" id="{DFE2E722-6536-D306-B6B9-249C83E12CE3}"/>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2FA0771A-F1E2-3FD2-2C7F-CD1453F87CE8}"/>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0AC95B5F-E79D-3866-88EF-0494B09B6E61}"/>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30-60 minutes</a:t>
            </a:r>
          </a:p>
        </p:txBody>
      </p:sp>
      <p:sp>
        <p:nvSpPr>
          <p:cNvPr id="18" name="Rectangle 17">
            <a:extLst>
              <a:ext uri="{FF2B5EF4-FFF2-40B4-BE49-F238E27FC236}">
                <a16:creationId xmlns:a16="http://schemas.microsoft.com/office/drawing/2014/main" id="{C7405911-D436-BBD0-9616-72A1045E47C0}"/>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Reach a consensus on the resources for ownership of each AIP for your company </a:t>
            </a:r>
          </a:p>
        </p:txBody>
      </p:sp>
      <p:grpSp>
        <p:nvGrpSpPr>
          <p:cNvPr id="23" name="Group 22">
            <a:extLst>
              <a:ext uri="{FF2B5EF4-FFF2-40B4-BE49-F238E27FC236}">
                <a16:creationId xmlns:a16="http://schemas.microsoft.com/office/drawing/2014/main" id="{81408EDC-1951-AD08-7B2B-19F5798D30C5}"/>
              </a:ext>
            </a:extLst>
          </p:cNvPr>
          <p:cNvGrpSpPr/>
          <p:nvPr/>
        </p:nvGrpSpPr>
        <p:grpSpPr>
          <a:xfrm>
            <a:off x="961102" y="302894"/>
            <a:ext cx="1229200" cy="290657"/>
            <a:chOff x="940249" y="315206"/>
            <a:chExt cx="1373841" cy="265062"/>
          </a:xfrm>
        </p:grpSpPr>
        <p:sp>
          <p:nvSpPr>
            <p:cNvPr id="24" name="AutoShape 9">
              <a:extLst>
                <a:ext uri="{FF2B5EF4-FFF2-40B4-BE49-F238E27FC236}">
                  <a16:creationId xmlns:a16="http://schemas.microsoft.com/office/drawing/2014/main" id="{FB00DB00-6D2F-A72B-7EA6-8EDCF46EAC14}"/>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577C5A57-366E-47FB-DFDE-FEA4AC3A691B}"/>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76D2AD5F-B3A7-9BB6-A4C6-DA16A06466B5}"/>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80426A4A-EFE3-3151-9F6F-9C6CAC66A55A}"/>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8" name="TextBox 27">
            <a:extLst>
              <a:ext uri="{FF2B5EF4-FFF2-40B4-BE49-F238E27FC236}">
                <a16:creationId xmlns:a16="http://schemas.microsoft.com/office/drawing/2014/main" id="{E0AEB7B5-3667-FDDD-05BC-B27F937ED03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8468655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B7886-4CC3-C07F-E61B-3E7D8FD74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D91D8-B5EC-FC29-6F83-AE42067C3F3F}"/>
              </a:ext>
            </a:extLst>
          </p:cNvPr>
          <p:cNvSpPr>
            <a:spLocks noGrp="1"/>
          </p:cNvSpPr>
          <p:nvPr>
            <p:ph type="title"/>
          </p:nvPr>
        </p:nvSpPr>
        <p:spPr/>
        <p:txBody>
          <a:bodyPr>
            <a:noAutofit/>
          </a:bodyPr>
          <a:lstStyle/>
          <a:p>
            <a:r>
              <a:rPr lang="en-US" sz="3600" dirty="0"/>
              <a:t>Create the Top Level Matrix</a:t>
            </a:r>
          </a:p>
        </p:txBody>
      </p:sp>
      <p:sp>
        <p:nvSpPr>
          <p:cNvPr id="3" name="Content Placeholder 2">
            <a:extLst>
              <a:ext uri="{FF2B5EF4-FFF2-40B4-BE49-F238E27FC236}">
                <a16:creationId xmlns:a16="http://schemas.microsoft.com/office/drawing/2014/main" id="{0932E42B-23DD-DD44-8A04-5743151E8E02}"/>
              </a:ext>
            </a:extLst>
          </p:cNvPr>
          <p:cNvSpPr>
            <a:spLocks noGrp="1"/>
          </p:cNvSpPr>
          <p:nvPr>
            <p:ph idx="1"/>
          </p:nvPr>
        </p:nvSpPr>
        <p:spPr/>
        <p:txBody>
          <a:bodyPr>
            <a:normAutofit/>
          </a:bodyPr>
          <a:lstStyle/>
          <a:p>
            <a:pPr>
              <a:buSzPct val="125000"/>
            </a:pPr>
            <a:r>
              <a:rPr lang="en-US" altLang="en-US" sz="3200" b="1" dirty="0">
                <a:latin typeface="Arial" panose="020B0604020202020204" pitchFamily="34" charset="0"/>
              </a:rPr>
              <a:t>Review a Sample Completed Top Level Matrix</a:t>
            </a:r>
          </a:p>
          <a:p>
            <a:pPr>
              <a:buSzPct val="125000"/>
            </a:pPr>
            <a:r>
              <a:rPr lang="en-US" altLang="en-US" sz="3200" b="1" dirty="0">
                <a:latin typeface="Arial" panose="020B0604020202020204" pitchFamily="34" charset="0"/>
              </a:rPr>
              <a:t>Complete Top Level Matrix</a:t>
            </a:r>
          </a:p>
        </p:txBody>
      </p:sp>
      <p:grpSp>
        <p:nvGrpSpPr>
          <p:cNvPr id="9" name="Group 8">
            <a:extLst>
              <a:ext uri="{FF2B5EF4-FFF2-40B4-BE49-F238E27FC236}">
                <a16:creationId xmlns:a16="http://schemas.microsoft.com/office/drawing/2014/main" id="{A797F4BB-CCFA-36CD-0542-07341ABC6E0D}"/>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F011D0CA-B7D7-2941-35B9-100E0F72D3A3}"/>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84EA4D41-571E-6C94-9DB8-5BFAA1B79BBF}"/>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CC7EFDAB-E784-305E-CF7C-789AD0F278F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B4F02B5E-45D7-75CC-5372-E44C500DA5A2}"/>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4D6D202F-E0F7-BD67-60F6-69789646EDD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10272199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1B62B-4511-ED69-1378-62AEBDC14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DC5E9-2DDB-1830-AAD4-51C38BE79D3F}"/>
              </a:ext>
            </a:extLst>
          </p:cNvPr>
          <p:cNvSpPr>
            <a:spLocks noGrp="1"/>
          </p:cNvSpPr>
          <p:nvPr>
            <p:ph type="title"/>
          </p:nvPr>
        </p:nvSpPr>
        <p:spPr>
          <a:xfrm>
            <a:off x="838200" y="681037"/>
            <a:ext cx="10149114" cy="1009651"/>
          </a:xfrm>
        </p:spPr>
        <p:txBody>
          <a:bodyPr>
            <a:noAutofit/>
          </a:bodyPr>
          <a:lstStyle/>
          <a:p>
            <a:r>
              <a:rPr lang="en-US" altLang="en-US" sz="4000" dirty="0"/>
              <a:t>Strategic Deployment Top Level Matrix</a:t>
            </a:r>
            <a:endParaRPr lang="en-US" sz="4000" dirty="0"/>
          </a:p>
        </p:txBody>
      </p:sp>
      <p:grpSp>
        <p:nvGrpSpPr>
          <p:cNvPr id="27" name="Group 26">
            <a:extLst>
              <a:ext uri="{FF2B5EF4-FFF2-40B4-BE49-F238E27FC236}">
                <a16:creationId xmlns:a16="http://schemas.microsoft.com/office/drawing/2014/main" id="{1046D5AF-57FC-F167-B9A5-3309E44D7A1E}"/>
              </a:ext>
            </a:extLst>
          </p:cNvPr>
          <p:cNvGrpSpPr/>
          <p:nvPr/>
        </p:nvGrpSpPr>
        <p:grpSpPr>
          <a:xfrm>
            <a:off x="2293030" y="1777822"/>
            <a:ext cx="7605939" cy="4546600"/>
            <a:chOff x="403225" y="1257300"/>
            <a:chExt cx="8407400" cy="4979988"/>
          </a:xfrm>
        </p:grpSpPr>
        <p:sp>
          <p:nvSpPr>
            <p:cNvPr id="19" name="Text Box 10">
              <a:extLst>
                <a:ext uri="{FF2B5EF4-FFF2-40B4-BE49-F238E27FC236}">
                  <a16:creationId xmlns:a16="http://schemas.microsoft.com/office/drawing/2014/main" id="{C63A19F9-0E0A-FBA0-E648-6D189CAC9B81}"/>
                </a:ext>
              </a:extLst>
            </p:cNvPr>
            <p:cNvSpPr txBox="1">
              <a:spLocks noChangeArrowheads="1"/>
            </p:cNvSpPr>
            <p:nvPr/>
          </p:nvSpPr>
          <p:spPr bwMode="auto">
            <a:xfrm rot="16200000">
              <a:off x="4032251" y="3987800"/>
              <a:ext cx="241300" cy="314325"/>
            </a:xfrm>
            <a:prstGeom prst="rect">
              <a:avLst/>
            </a:prstGeom>
            <a:noFill/>
            <a:ln>
              <a:noFill/>
            </a:ln>
            <a:effectLst/>
            <a:extLst>
              <a:ext uri="{909E8E84-426E-40dd-AFC4-6F175D3DCCD1}">
                <a14:hiddenFill xmlns="" xmlns:a14="http://schemas.microsoft.com/office/drawing/2010/main">
                  <a:solidFill>
                    <a:srgbClr val="808080"/>
                  </a:solidFill>
                </a14:hiddenFill>
              </a:ext>
              <a:ext uri="{91240B29-F687-4f45-9708-019B960494DF}">
                <a14:hiddenLine xmlns="" xmlns:a14="http://schemas.microsoft.com/office/drawing/2010/main" w="12700" cap="sq">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gn="ctr">
                <a:lnSpc>
                  <a:spcPct val="80000"/>
                </a:lnSpc>
                <a:spcBef>
                  <a:spcPct val="20000"/>
                </a:spcBef>
                <a:defRPr/>
              </a:pPr>
              <a:r>
                <a:rPr lang="en-US" sz="1800">
                  <a:solidFill>
                    <a:schemeClr val="tx1"/>
                  </a:solidFill>
                  <a:latin typeface="Times New Roman" charset="0"/>
                </a:rPr>
                <a:t> </a:t>
              </a:r>
            </a:p>
          </p:txBody>
        </p:sp>
        <p:sp>
          <p:nvSpPr>
            <p:cNvPr id="20" name="TextBox 7">
              <a:extLst>
                <a:ext uri="{FF2B5EF4-FFF2-40B4-BE49-F238E27FC236}">
                  <a16:creationId xmlns:a16="http://schemas.microsoft.com/office/drawing/2014/main" id="{B2997D2B-E4DB-6052-5F2C-6844799F2E75}"/>
                </a:ext>
              </a:extLst>
            </p:cNvPr>
            <p:cNvSpPr txBox="1">
              <a:spLocks noChangeArrowheads="1"/>
            </p:cNvSpPr>
            <p:nvPr/>
          </p:nvSpPr>
          <p:spPr bwMode="auto">
            <a:xfrm rot="5400000">
              <a:off x="4256882" y="4907756"/>
              <a:ext cx="1857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eaLnBrk="1" hangingPunct="1"/>
              <a:endParaRPr lang="en-US" altLang="en-US"/>
            </a:p>
          </p:txBody>
        </p:sp>
        <p:graphicFrame>
          <p:nvGraphicFramePr>
            <p:cNvPr id="21" name="Object 1">
              <a:extLst>
                <a:ext uri="{FF2B5EF4-FFF2-40B4-BE49-F238E27FC236}">
                  <a16:creationId xmlns:a16="http://schemas.microsoft.com/office/drawing/2014/main" id="{56C5A1A0-E996-1CC4-C504-9439AD5D9049}"/>
                </a:ext>
              </a:extLst>
            </p:cNvPr>
            <p:cNvGraphicFramePr>
              <a:graphicFrameLocks noChangeAspect="1"/>
            </p:cNvGraphicFramePr>
            <p:nvPr/>
          </p:nvGraphicFramePr>
          <p:xfrm>
            <a:off x="403225" y="1257300"/>
            <a:ext cx="8407400" cy="4979988"/>
          </p:xfrm>
          <a:graphic>
            <a:graphicData uri="http://schemas.openxmlformats.org/presentationml/2006/ole">
              <mc:AlternateContent xmlns:mc="http://schemas.openxmlformats.org/markup-compatibility/2006">
                <mc:Choice xmlns:v="urn:schemas-microsoft-com:vml" Requires="v">
                  <p:oleObj name="Worksheet" r:id="rId4" imgW="13436600" imgH="8305800" progId="Excel.Sheet.8">
                    <p:embed/>
                  </p:oleObj>
                </mc:Choice>
                <mc:Fallback>
                  <p:oleObj name="Worksheet" r:id="rId4" imgW="13436600" imgH="8305800" progId="Excel.Sheet.8">
                    <p:embed/>
                    <p:pic>
                      <p:nvPicPr>
                        <p:cNvPr id="21" name="Object 1">
                          <a:extLst>
                            <a:ext uri="{FF2B5EF4-FFF2-40B4-BE49-F238E27FC236}">
                              <a16:creationId xmlns:a16="http://schemas.microsoft.com/office/drawing/2014/main" id="{C51B0EE7-4150-CDB5-CEB0-AF4F5A16B7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5" y="1257300"/>
                          <a:ext cx="8407400" cy="4979988"/>
                        </a:xfrm>
                        <a:prstGeom prst="rect">
                          <a:avLst/>
                        </a:prstGeom>
                        <a:noFill/>
                        <a:ln>
                          <a:noFill/>
                        </a:ln>
                      </p:spPr>
                    </p:pic>
                  </p:oleObj>
                </mc:Fallback>
              </mc:AlternateContent>
            </a:graphicData>
          </a:graphic>
        </p:graphicFrame>
        <p:sp>
          <p:nvSpPr>
            <p:cNvPr id="22" name="Oval 16">
              <a:extLst>
                <a:ext uri="{FF2B5EF4-FFF2-40B4-BE49-F238E27FC236}">
                  <a16:creationId xmlns:a16="http://schemas.microsoft.com/office/drawing/2014/main" id="{DDD44FCB-164C-3BE3-66F2-92B84D45A8B4}"/>
                </a:ext>
              </a:extLst>
            </p:cNvPr>
            <p:cNvSpPr>
              <a:spLocks noChangeArrowheads="1"/>
            </p:cNvSpPr>
            <p:nvPr/>
          </p:nvSpPr>
          <p:spPr bwMode="auto">
            <a:xfrm>
              <a:off x="569913" y="3919538"/>
              <a:ext cx="450850" cy="449262"/>
            </a:xfrm>
            <a:prstGeom prst="ellipse">
              <a:avLst/>
            </a:prstGeom>
            <a:solidFill>
              <a:srgbClr val="DDDDDD"/>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23" name="Oval 16">
              <a:extLst>
                <a:ext uri="{FF2B5EF4-FFF2-40B4-BE49-F238E27FC236}">
                  <a16:creationId xmlns:a16="http://schemas.microsoft.com/office/drawing/2014/main" id="{4E4F2F7D-4B16-3C79-AC05-96A4636CB8BC}"/>
                </a:ext>
              </a:extLst>
            </p:cNvPr>
            <p:cNvSpPr>
              <a:spLocks noChangeArrowheads="1"/>
            </p:cNvSpPr>
            <p:nvPr/>
          </p:nvSpPr>
          <p:spPr bwMode="auto">
            <a:xfrm>
              <a:off x="2273300" y="5588000"/>
              <a:ext cx="450850" cy="449263"/>
            </a:xfrm>
            <a:prstGeom prst="ellipse">
              <a:avLst/>
            </a:prstGeom>
            <a:solidFill>
              <a:schemeClr val="bg1">
                <a:lumMod val="75000"/>
              </a:schemeClr>
            </a:solidFill>
            <a:ln w="12700" cap="sq" algn="ctr">
              <a:solidFill>
                <a:schemeClr val="tx1"/>
              </a:solidFill>
              <a:round/>
              <a:headEnd/>
              <a:tailEnd/>
            </a:ln>
            <a:effectLst/>
          </p:spPr>
          <p:txBody>
            <a:bodyPr wrap="none" anchor="ctr"/>
            <a:lstStyle/>
            <a:p>
              <a:pPr algn="ctr" eaLnBrk="0" hangingPunct="0">
                <a:lnSpc>
                  <a:spcPct val="80000"/>
                </a:lnSpc>
                <a:spcBef>
                  <a:spcPct val="20000"/>
                </a:spcBef>
                <a:defRPr/>
              </a:pPr>
              <a:r>
                <a:rPr lang="en-US" sz="2000" dirty="0">
                  <a:solidFill>
                    <a:schemeClr val="tx1"/>
                  </a:solidFill>
                  <a:latin typeface="Arial" charset="0"/>
                  <a:ea typeface="+mn-ea"/>
                </a:rPr>
                <a:t>0</a:t>
              </a:r>
            </a:p>
          </p:txBody>
        </p:sp>
        <p:sp>
          <p:nvSpPr>
            <p:cNvPr id="24" name="Oval 17">
              <a:extLst>
                <a:ext uri="{FF2B5EF4-FFF2-40B4-BE49-F238E27FC236}">
                  <a16:creationId xmlns:a16="http://schemas.microsoft.com/office/drawing/2014/main" id="{2201414C-50C4-08A7-F9A7-42DF2248EE30}"/>
                </a:ext>
              </a:extLst>
            </p:cNvPr>
            <p:cNvSpPr>
              <a:spLocks noChangeArrowheads="1"/>
            </p:cNvSpPr>
            <p:nvPr/>
          </p:nvSpPr>
          <p:spPr bwMode="auto">
            <a:xfrm>
              <a:off x="2325688" y="2157413"/>
              <a:ext cx="450850" cy="449262"/>
            </a:xfrm>
            <a:prstGeom prst="ellipse">
              <a:avLst/>
            </a:prstGeom>
            <a:solidFill>
              <a:srgbClr val="00FFFF"/>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25" name="Oval 18">
              <a:extLst>
                <a:ext uri="{FF2B5EF4-FFF2-40B4-BE49-F238E27FC236}">
                  <a16:creationId xmlns:a16="http://schemas.microsoft.com/office/drawing/2014/main" id="{85347460-1FEA-0BD6-FA87-A9F25F30B322}"/>
                </a:ext>
              </a:extLst>
            </p:cNvPr>
            <p:cNvSpPr>
              <a:spLocks noChangeArrowheads="1"/>
            </p:cNvSpPr>
            <p:nvPr/>
          </p:nvSpPr>
          <p:spPr bwMode="auto">
            <a:xfrm>
              <a:off x="4573588" y="2862263"/>
              <a:ext cx="450850" cy="449262"/>
            </a:xfrm>
            <a:prstGeom prst="ellipse">
              <a:avLst/>
            </a:prstGeom>
            <a:solidFill>
              <a:srgbClr val="00CCFF"/>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3</a:t>
              </a:r>
            </a:p>
          </p:txBody>
        </p:sp>
        <p:sp>
          <p:nvSpPr>
            <p:cNvPr id="26" name="Oval 16">
              <a:extLst>
                <a:ext uri="{FF2B5EF4-FFF2-40B4-BE49-F238E27FC236}">
                  <a16:creationId xmlns:a16="http://schemas.microsoft.com/office/drawing/2014/main" id="{87031DC3-073A-A310-58E4-13BCF3933526}"/>
                </a:ext>
              </a:extLst>
            </p:cNvPr>
            <p:cNvSpPr>
              <a:spLocks noChangeArrowheads="1"/>
            </p:cNvSpPr>
            <p:nvPr/>
          </p:nvSpPr>
          <p:spPr bwMode="auto">
            <a:xfrm>
              <a:off x="6022975" y="3170238"/>
              <a:ext cx="450850" cy="449262"/>
            </a:xfrm>
            <a:prstGeom prst="ellipse">
              <a:avLst/>
            </a:prstGeom>
            <a:solidFill>
              <a:srgbClr val="CCFFCC"/>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4</a:t>
              </a:r>
            </a:p>
          </p:txBody>
        </p:sp>
      </p:grpSp>
      <p:grpSp>
        <p:nvGrpSpPr>
          <p:cNvPr id="9" name="Group 8">
            <a:extLst>
              <a:ext uri="{FF2B5EF4-FFF2-40B4-BE49-F238E27FC236}">
                <a16:creationId xmlns:a16="http://schemas.microsoft.com/office/drawing/2014/main" id="{BCA2B7A6-5A0F-7863-E509-95E791EC69A9}"/>
              </a:ext>
            </a:extLst>
          </p:cNvPr>
          <p:cNvGrpSpPr/>
          <p:nvPr/>
        </p:nvGrpSpPr>
        <p:grpSpPr>
          <a:xfrm>
            <a:off x="961102" y="302894"/>
            <a:ext cx="1229200" cy="290657"/>
            <a:chOff x="940249" y="315206"/>
            <a:chExt cx="1373841" cy="265062"/>
          </a:xfrm>
        </p:grpSpPr>
        <p:sp>
          <p:nvSpPr>
            <p:cNvPr id="10" name="AutoShape 9">
              <a:extLst>
                <a:ext uri="{FF2B5EF4-FFF2-40B4-BE49-F238E27FC236}">
                  <a16:creationId xmlns:a16="http://schemas.microsoft.com/office/drawing/2014/main" id="{24154FBF-B27F-28B0-0A8F-41577E3B72D5}"/>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2EDE3110-027C-000D-88E0-A53D794D244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DE3BFF40-645C-A0EA-0770-CC354897FAC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6BA08E25-F944-28EF-03B8-B512C2D708F9}"/>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4" name="TextBox 13">
            <a:extLst>
              <a:ext uri="{FF2B5EF4-FFF2-40B4-BE49-F238E27FC236}">
                <a16:creationId xmlns:a16="http://schemas.microsoft.com/office/drawing/2014/main" id="{3D40EB25-3196-6E3E-A3A0-8E7D7F8E140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36175452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540F-F9F5-8003-9BCA-64DD00220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2BC8D-F59C-2D5D-76E2-6719E3955FCC}"/>
              </a:ext>
            </a:extLst>
          </p:cNvPr>
          <p:cNvSpPr>
            <a:spLocks noGrp="1"/>
          </p:cNvSpPr>
          <p:nvPr>
            <p:ph type="title"/>
          </p:nvPr>
        </p:nvSpPr>
        <p:spPr/>
        <p:txBody>
          <a:bodyPr>
            <a:normAutofit/>
          </a:bodyPr>
          <a:lstStyle/>
          <a:p>
            <a:r>
              <a:rPr lang="en-US" sz="4000" dirty="0">
                <a:latin typeface="Roboto Medium"/>
                <a:ea typeface="Roboto Medium"/>
                <a:cs typeface="Roboto Medium"/>
              </a:rPr>
              <a:t>Your Turn: Creating the Top Level Matrix</a:t>
            </a:r>
          </a:p>
        </p:txBody>
      </p:sp>
      <p:sp>
        <p:nvSpPr>
          <p:cNvPr id="11" name="Rectangle 10">
            <a:extLst>
              <a:ext uri="{FF2B5EF4-FFF2-40B4-BE49-F238E27FC236}">
                <a16:creationId xmlns:a16="http://schemas.microsoft.com/office/drawing/2014/main" id="{78497FA9-B452-F40C-7CC7-79732BE8961A}"/>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Create the Top Level Matrix</a:t>
            </a:r>
          </a:p>
        </p:txBody>
      </p:sp>
      <p:sp>
        <p:nvSpPr>
          <p:cNvPr id="12" name="TextBox 11">
            <a:extLst>
              <a:ext uri="{FF2B5EF4-FFF2-40B4-BE49-F238E27FC236}">
                <a16:creationId xmlns:a16="http://schemas.microsoft.com/office/drawing/2014/main" id="{CA929D3F-5F5F-1DE6-28F1-61798AFC4183}"/>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4D2672BD-74A2-DB88-226F-345FB2DCE2DE}"/>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4A4810C3-A884-9E31-B488-B9CAFAC03019}"/>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After you have determined the Breakthrough </a:t>
            </a: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Objectives, AIPs, Targets and Resources Please </a:t>
            </a: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them in their respective areas in the Top Level</a:t>
            </a: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Matrix</a:t>
            </a:r>
          </a:p>
        </p:txBody>
      </p:sp>
      <p:sp>
        <p:nvSpPr>
          <p:cNvPr id="15" name="TextBox 14">
            <a:extLst>
              <a:ext uri="{FF2B5EF4-FFF2-40B4-BE49-F238E27FC236}">
                <a16:creationId xmlns:a16="http://schemas.microsoft.com/office/drawing/2014/main" id="{3B52974C-C0E9-9F70-2D06-EB08532B3398}"/>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C0919557-F47E-44CB-8AE5-820553B99A1D}"/>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5063D5C6-67A2-33B9-913E-3F5EE0CEA3FD}"/>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 hour</a:t>
            </a:r>
          </a:p>
        </p:txBody>
      </p:sp>
      <p:sp>
        <p:nvSpPr>
          <p:cNvPr id="18" name="Rectangle 17">
            <a:extLst>
              <a:ext uri="{FF2B5EF4-FFF2-40B4-BE49-F238E27FC236}">
                <a16:creationId xmlns:a16="http://schemas.microsoft.com/office/drawing/2014/main" id="{362B757B-9881-E601-3A5B-1B4E8F033A11}"/>
              </a:ext>
            </a:extLst>
          </p:cNvPr>
          <p:cNvSpPr/>
          <p:nvPr/>
        </p:nvSpPr>
        <p:spPr>
          <a:xfrm>
            <a:off x="5879250" y="4798034"/>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 completed Top Level Matrix for your Company</a:t>
            </a:r>
          </a:p>
        </p:txBody>
      </p:sp>
      <p:grpSp>
        <p:nvGrpSpPr>
          <p:cNvPr id="23" name="Group 22">
            <a:extLst>
              <a:ext uri="{FF2B5EF4-FFF2-40B4-BE49-F238E27FC236}">
                <a16:creationId xmlns:a16="http://schemas.microsoft.com/office/drawing/2014/main" id="{93F44141-FFFD-FAD5-583D-1B07737EFDE3}"/>
              </a:ext>
            </a:extLst>
          </p:cNvPr>
          <p:cNvGrpSpPr/>
          <p:nvPr/>
        </p:nvGrpSpPr>
        <p:grpSpPr>
          <a:xfrm>
            <a:off x="961102" y="302894"/>
            <a:ext cx="1229200" cy="290657"/>
            <a:chOff x="940249" y="315206"/>
            <a:chExt cx="1373841" cy="265062"/>
          </a:xfrm>
        </p:grpSpPr>
        <p:sp>
          <p:nvSpPr>
            <p:cNvPr id="24" name="AutoShape 9">
              <a:extLst>
                <a:ext uri="{FF2B5EF4-FFF2-40B4-BE49-F238E27FC236}">
                  <a16:creationId xmlns:a16="http://schemas.microsoft.com/office/drawing/2014/main" id="{B7878E46-8315-5833-89FE-FCBD60F37C5D}"/>
                </a:ext>
              </a:extLst>
            </p:cNvPr>
            <p:cNvSpPr>
              <a:spLocks noChangeArrowheads="1"/>
            </p:cNvSpPr>
            <p:nvPr/>
          </p:nvSpPr>
          <p:spPr bwMode="auto">
            <a:xfrm>
              <a:off x="1881273"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9560CE40-19B6-2B22-94FB-19419A5056F1}"/>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A0ABAF3F-357C-9D52-7031-55849116BFB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38E8C694-1974-67B5-3A4B-8A23A51D8720}"/>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8" name="TextBox 27">
            <a:extLst>
              <a:ext uri="{FF2B5EF4-FFF2-40B4-BE49-F238E27FC236}">
                <a16:creationId xmlns:a16="http://schemas.microsoft.com/office/drawing/2014/main" id="{B46824FA-3223-618A-BDEF-A09CA4C085A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Tree>
    <p:custDataLst>
      <p:tags r:id="rId1"/>
    </p:custDataLst>
    <p:extLst>
      <p:ext uri="{BB962C8B-B14F-4D97-AF65-F5344CB8AC3E}">
        <p14:creationId xmlns:p14="http://schemas.microsoft.com/office/powerpoint/2010/main" val="40210475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A3718-4D79-BE04-03C9-F78135F4B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A5B23-5604-71AC-C829-7A3810EB6E8F}"/>
              </a:ext>
            </a:extLst>
          </p:cNvPr>
          <p:cNvSpPr>
            <a:spLocks noGrp="1"/>
          </p:cNvSpPr>
          <p:nvPr>
            <p:ph type="title" idx="4294967295"/>
          </p:nvPr>
        </p:nvSpPr>
        <p:spPr>
          <a:xfrm>
            <a:off x="699911" y="1497012"/>
            <a:ext cx="10792178" cy="1009650"/>
          </a:xfrm>
          <a:prstGeom prst="rect">
            <a:avLst/>
          </a:prstGeom>
        </p:spPr>
        <p:txBody>
          <a:bodyPr>
            <a:normAutofit/>
          </a:bodyPr>
          <a:lstStyle/>
          <a:p>
            <a:r>
              <a:rPr lang="en-US" sz="4000" dirty="0">
                <a:latin typeface="Roboto Medium"/>
                <a:ea typeface="Roboto Medium"/>
                <a:cs typeface="Roboto Medium"/>
              </a:rPr>
              <a:t>Reflection on the Top Level Matrix</a:t>
            </a:r>
          </a:p>
        </p:txBody>
      </p:sp>
      <p:sp>
        <p:nvSpPr>
          <p:cNvPr id="3" name="Content Placeholder 2">
            <a:extLst>
              <a:ext uri="{FF2B5EF4-FFF2-40B4-BE49-F238E27FC236}">
                <a16:creationId xmlns:a16="http://schemas.microsoft.com/office/drawing/2014/main" id="{911A7125-AD8F-B316-52BF-075295159618}"/>
              </a:ext>
            </a:extLst>
          </p:cNvPr>
          <p:cNvSpPr>
            <a:spLocks noGrp="1"/>
          </p:cNvSpPr>
          <p:nvPr>
            <p:ph idx="4294967295"/>
          </p:nvPr>
        </p:nvSpPr>
        <p:spPr>
          <a:xfrm>
            <a:off x="722489" y="2506662"/>
            <a:ext cx="10515600" cy="3821400"/>
          </a:xfrm>
        </p:spPr>
        <p:txBody>
          <a:bodyPr>
            <a:normAutofit/>
          </a:bodyPr>
          <a:lstStyle/>
          <a:p>
            <a:pPr marL="0" indent="0">
              <a:lnSpc>
                <a:spcPct val="100000"/>
              </a:lnSpc>
              <a:buNone/>
            </a:pPr>
            <a:r>
              <a:rPr lang="en-US" b="1" dirty="0">
                <a:latin typeface="+mn-lt"/>
                <a:ea typeface="Roboto Medium" panose="02000000000000000000" pitchFamily="2" charset="0"/>
                <a:cs typeface="Roboto Medium" panose="02000000000000000000" pitchFamily="2" charset="0"/>
              </a:rPr>
              <a:t>Objectives:</a:t>
            </a:r>
          </a:p>
          <a:p>
            <a:pPr>
              <a:lnSpc>
                <a:spcPct val="100000"/>
              </a:lnSpc>
            </a:pPr>
            <a:r>
              <a:rPr lang="en-US" dirty="0">
                <a:latin typeface="+mn-lt"/>
              </a:rPr>
              <a:t>To evaluate Top Level Matrix</a:t>
            </a:r>
          </a:p>
          <a:p>
            <a:pPr>
              <a:lnSpc>
                <a:spcPct val="100000"/>
              </a:lnSpc>
            </a:pPr>
            <a:r>
              <a:rPr lang="en-US" dirty="0">
                <a:latin typeface="+mn-lt"/>
              </a:rPr>
              <a:t>To use the AIP Priority filter to prioritize and finalize AIPs moving forward</a:t>
            </a:r>
          </a:p>
          <a:p>
            <a:pPr>
              <a:lnSpc>
                <a:spcPct val="100000"/>
              </a:lnSpc>
            </a:pPr>
            <a:r>
              <a:rPr lang="en-US" dirty="0">
                <a:latin typeface="+mn-lt"/>
              </a:rPr>
              <a:t>To gain consensus on the finalized Top Level Matrix</a:t>
            </a:r>
          </a:p>
          <a:p>
            <a:pPr>
              <a:lnSpc>
                <a:spcPct val="100000"/>
              </a:lnSpc>
            </a:pPr>
            <a:r>
              <a:rPr lang="en-US" dirty="0">
                <a:latin typeface="+mn-lt"/>
              </a:rPr>
              <a:t>To determine data gaps and identify actions for closing data gaps beyond the event</a:t>
            </a:r>
          </a:p>
        </p:txBody>
      </p:sp>
      <p:cxnSp>
        <p:nvCxnSpPr>
          <p:cNvPr id="12" name="Straight Connector 11">
            <a:extLst>
              <a:ext uri="{FF2B5EF4-FFF2-40B4-BE49-F238E27FC236}">
                <a16:creationId xmlns:a16="http://schemas.microsoft.com/office/drawing/2014/main" id="{E4A01ED8-E69F-A7A1-06C5-EC79D89B2C81}"/>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3FB66CF-F475-86DB-2DC9-1748F6BA14D4}"/>
              </a:ext>
            </a:extLst>
          </p:cNvPr>
          <p:cNvGrpSpPr/>
          <p:nvPr/>
        </p:nvGrpSpPr>
        <p:grpSpPr>
          <a:xfrm>
            <a:off x="699911" y="837133"/>
            <a:ext cx="5850075" cy="659879"/>
            <a:chOff x="699911" y="1069861"/>
            <a:chExt cx="5850075" cy="350130"/>
          </a:xfrm>
        </p:grpSpPr>
        <p:sp>
          <p:nvSpPr>
            <p:cNvPr id="7" name="AutoShape 9">
              <a:extLst>
                <a:ext uri="{FF2B5EF4-FFF2-40B4-BE49-F238E27FC236}">
                  <a16:creationId xmlns:a16="http://schemas.microsoft.com/office/drawing/2014/main" id="{98E97522-5C4A-9B11-7995-31EC29E027C2}"/>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Reflection</a:t>
              </a:r>
            </a:p>
          </p:txBody>
        </p:sp>
        <p:grpSp>
          <p:nvGrpSpPr>
            <p:cNvPr id="8" name="Group 7">
              <a:extLst>
                <a:ext uri="{FF2B5EF4-FFF2-40B4-BE49-F238E27FC236}">
                  <a16:creationId xmlns:a16="http://schemas.microsoft.com/office/drawing/2014/main" id="{D292F359-BD52-3AAC-C078-E505D3C38159}"/>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4F895702-6C9D-E0A4-AF2C-ACFABB3872FB}"/>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Creating the Top Level Matrix</a:t>
                </a:r>
              </a:p>
            </p:txBody>
          </p:sp>
          <p:sp>
            <p:nvSpPr>
              <p:cNvPr id="10" name="AutoShape 10">
                <a:extLst>
                  <a:ext uri="{FF2B5EF4-FFF2-40B4-BE49-F238E27FC236}">
                    <a16:creationId xmlns:a16="http://schemas.microsoft.com/office/drawing/2014/main" id="{F6FAAC6B-07E5-04FE-1064-5907DB34F21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Components of Top Level Matrix</a:t>
                </a:r>
              </a:p>
            </p:txBody>
          </p:sp>
          <p:sp>
            <p:nvSpPr>
              <p:cNvPr id="11" name="AutoShape 11">
                <a:extLst>
                  <a:ext uri="{FF2B5EF4-FFF2-40B4-BE49-F238E27FC236}">
                    <a16:creationId xmlns:a16="http://schemas.microsoft.com/office/drawing/2014/main" id="{44501F87-969C-6C79-3869-0E9F5D7AE102}"/>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Overview of Strategic Deployment</a:t>
                </a:r>
              </a:p>
            </p:txBody>
          </p:sp>
        </p:grpSp>
      </p:grpSp>
    </p:spTree>
    <p:custDataLst>
      <p:tags r:id="rId1"/>
    </p:custDataLst>
    <p:extLst>
      <p:ext uri="{BB962C8B-B14F-4D97-AF65-F5344CB8AC3E}">
        <p14:creationId xmlns:p14="http://schemas.microsoft.com/office/powerpoint/2010/main" val="3336816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0DAFC-F79E-81C3-FAAE-330A0066F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1E18F-6EF1-26B6-A554-6066441A0CDF}"/>
              </a:ext>
            </a:extLst>
          </p:cNvPr>
          <p:cNvSpPr>
            <a:spLocks noGrp="1"/>
          </p:cNvSpPr>
          <p:nvPr>
            <p:ph type="title"/>
          </p:nvPr>
        </p:nvSpPr>
        <p:spPr/>
        <p:txBody>
          <a:bodyPr>
            <a:noAutofit/>
          </a:bodyPr>
          <a:lstStyle/>
          <a:p>
            <a:r>
              <a:rPr lang="en-US" sz="3600" dirty="0"/>
              <a:t>Reflection on the Top Level Matrix</a:t>
            </a:r>
          </a:p>
        </p:txBody>
      </p:sp>
      <p:sp>
        <p:nvSpPr>
          <p:cNvPr id="3" name="Content Placeholder 2">
            <a:extLst>
              <a:ext uri="{FF2B5EF4-FFF2-40B4-BE49-F238E27FC236}">
                <a16:creationId xmlns:a16="http://schemas.microsoft.com/office/drawing/2014/main" id="{A36A89A1-0758-5D8E-1F8B-A0735339D08D}"/>
              </a:ext>
            </a:extLst>
          </p:cNvPr>
          <p:cNvSpPr>
            <a:spLocks noGrp="1"/>
          </p:cNvSpPr>
          <p:nvPr>
            <p:ph idx="1"/>
          </p:nvPr>
        </p:nvSpPr>
        <p:spPr/>
        <p:txBody>
          <a:bodyPr>
            <a:normAutofit fontScale="92500" lnSpcReduction="10000"/>
          </a:bodyPr>
          <a:lstStyle/>
          <a:p>
            <a:pPr>
              <a:lnSpc>
                <a:spcPct val="115000"/>
              </a:lnSpc>
              <a:spcBef>
                <a:spcPct val="50000"/>
              </a:spcBef>
              <a:spcAft>
                <a:spcPct val="50000"/>
              </a:spcAft>
              <a:buSzPct val="125000"/>
            </a:pPr>
            <a:r>
              <a:rPr lang="en-US" altLang="en-US" sz="1600" b="1" dirty="0">
                <a:latin typeface="Arial" panose="020B0604020202020204" pitchFamily="34" charset="0"/>
              </a:rPr>
              <a:t>As a team, look at the completed Top Level Matrix.</a:t>
            </a:r>
          </a:p>
          <a:p>
            <a:pPr>
              <a:lnSpc>
                <a:spcPct val="115000"/>
              </a:lnSpc>
              <a:spcBef>
                <a:spcPct val="50000"/>
              </a:spcBef>
              <a:spcAft>
                <a:spcPct val="50000"/>
              </a:spcAft>
              <a:buSzPct val="125000"/>
            </a:pPr>
            <a:r>
              <a:rPr lang="en-US" altLang="en-US" sz="1600" b="1" dirty="0">
                <a:latin typeface="Arial" panose="020B0604020202020204" pitchFamily="34" charset="0"/>
              </a:rPr>
              <a:t>Answer the following questions:</a:t>
            </a:r>
          </a:p>
          <a:p>
            <a:pPr lvl="1">
              <a:lnSpc>
                <a:spcPct val="115000"/>
              </a:lnSpc>
              <a:spcBef>
                <a:spcPct val="50000"/>
              </a:spcBef>
              <a:spcAft>
                <a:spcPct val="50000"/>
              </a:spcAft>
              <a:buSzPct val="125000"/>
            </a:pPr>
            <a:r>
              <a:rPr lang="en-US" altLang="en-US" sz="1600" b="1" dirty="0">
                <a:latin typeface="Arial" panose="020B0604020202020204" pitchFamily="34" charset="0"/>
              </a:rPr>
              <a:t>Are the Breakthrough Objectives the correct Breakthrough Objectives?</a:t>
            </a:r>
          </a:p>
          <a:p>
            <a:pPr lvl="1">
              <a:lnSpc>
                <a:spcPct val="115000"/>
              </a:lnSpc>
              <a:spcBef>
                <a:spcPct val="50000"/>
              </a:spcBef>
              <a:spcAft>
                <a:spcPct val="50000"/>
              </a:spcAft>
              <a:buSzPct val="125000"/>
            </a:pPr>
            <a:r>
              <a:rPr lang="en-US" altLang="en-US" sz="1600" b="1" dirty="0">
                <a:latin typeface="Arial" panose="020B0604020202020204" pitchFamily="34" charset="0"/>
              </a:rPr>
              <a:t>Do the AIPs support the respective Breakthrough Objective? </a:t>
            </a:r>
          </a:p>
          <a:p>
            <a:pPr lvl="1">
              <a:lnSpc>
                <a:spcPct val="115000"/>
              </a:lnSpc>
              <a:spcBef>
                <a:spcPct val="50000"/>
              </a:spcBef>
              <a:spcAft>
                <a:spcPct val="50000"/>
              </a:spcAft>
              <a:buSzPct val="125000"/>
            </a:pPr>
            <a:r>
              <a:rPr lang="en-US" altLang="en-US" sz="1600" b="1" dirty="0">
                <a:latin typeface="Arial" panose="020B0604020202020204" pitchFamily="34" charset="0"/>
              </a:rPr>
              <a:t>Do we have too many AIPs?</a:t>
            </a:r>
          </a:p>
          <a:p>
            <a:pPr lvl="1">
              <a:lnSpc>
                <a:spcPct val="115000"/>
              </a:lnSpc>
              <a:spcBef>
                <a:spcPct val="50000"/>
              </a:spcBef>
              <a:spcAft>
                <a:spcPct val="50000"/>
              </a:spcAft>
              <a:buSzPct val="125000"/>
            </a:pPr>
            <a:r>
              <a:rPr lang="en-US" altLang="en-US" sz="1600" b="1" dirty="0">
                <a:latin typeface="Arial" panose="020B0604020202020204" pitchFamily="34" charset="0"/>
              </a:rPr>
              <a:t>What other commitments are in conflict with SD plan? (generate vigorous discussion)</a:t>
            </a:r>
          </a:p>
          <a:p>
            <a:pPr lvl="1">
              <a:lnSpc>
                <a:spcPct val="115000"/>
              </a:lnSpc>
              <a:spcBef>
                <a:spcPct val="50000"/>
              </a:spcBef>
              <a:spcAft>
                <a:spcPct val="50000"/>
              </a:spcAft>
              <a:buSzPct val="125000"/>
            </a:pPr>
            <a:r>
              <a:rPr lang="en-US" altLang="en-US" sz="1600" b="1" dirty="0">
                <a:latin typeface="Arial" panose="020B0604020202020204" pitchFamily="34" charset="0"/>
              </a:rPr>
              <a:t>Are there other initiatives and projects that need to be re-assessed?</a:t>
            </a:r>
          </a:p>
          <a:p>
            <a:pPr lvl="1">
              <a:lnSpc>
                <a:spcPct val="115000"/>
              </a:lnSpc>
              <a:spcBef>
                <a:spcPct val="50000"/>
              </a:spcBef>
              <a:spcAft>
                <a:spcPct val="50000"/>
              </a:spcAft>
              <a:buSzPct val="125000"/>
            </a:pPr>
            <a:r>
              <a:rPr lang="en-US" altLang="en-US" sz="1600" b="1" dirty="0">
                <a:latin typeface="Arial" panose="020B0604020202020204" pitchFamily="34" charset="0"/>
              </a:rPr>
              <a:t>Is this organization comfortable working in a cross-functional environment?</a:t>
            </a:r>
          </a:p>
          <a:p>
            <a:pPr>
              <a:lnSpc>
                <a:spcPct val="115000"/>
              </a:lnSpc>
              <a:spcBef>
                <a:spcPct val="50000"/>
              </a:spcBef>
              <a:spcAft>
                <a:spcPct val="50000"/>
              </a:spcAft>
              <a:buSzPct val="125000"/>
            </a:pPr>
            <a:r>
              <a:rPr lang="en-US" altLang="en-US" sz="1600" b="1" dirty="0">
                <a:latin typeface="Arial" panose="020B0604020202020204" pitchFamily="34" charset="0"/>
              </a:rPr>
              <a:t>Deliverable from this exercise is a personal action plan for every AIP Owner (Black Dot) to move forward with next steps.</a:t>
            </a:r>
          </a:p>
        </p:txBody>
      </p:sp>
      <p:grpSp>
        <p:nvGrpSpPr>
          <p:cNvPr id="10" name="Group 9">
            <a:extLst>
              <a:ext uri="{FF2B5EF4-FFF2-40B4-BE49-F238E27FC236}">
                <a16:creationId xmlns:a16="http://schemas.microsoft.com/office/drawing/2014/main" id="{24F61901-E55A-37AC-74ED-C2C67D196B03}"/>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00C54CCD-57C8-E4AF-BDEB-6DB13090AB11}"/>
                </a:ext>
              </a:extLst>
            </p:cNvPr>
            <p:cNvSpPr>
              <a:spLocks noChangeArrowheads="1"/>
            </p:cNvSpPr>
            <p:nvPr/>
          </p:nvSpPr>
          <p:spPr bwMode="auto">
            <a:xfrm>
              <a:off x="1881273"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9">
              <a:extLst>
                <a:ext uri="{FF2B5EF4-FFF2-40B4-BE49-F238E27FC236}">
                  <a16:creationId xmlns:a16="http://schemas.microsoft.com/office/drawing/2014/main" id="{4321BFFB-60C5-9005-F5AE-9DAA6A47A43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C80E1F94-4AF0-1E58-1F46-CC788D5F92C0}"/>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27583DBD-BE04-E11E-C318-46E560006025}"/>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3E30D596-E8DB-91D9-F077-E163B766CC5E}"/>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spTree>
    <p:custDataLst>
      <p:tags r:id="rId1"/>
    </p:custDataLst>
    <p:extLst>
      <p:ext uri="{BB962C8B-B14F-4D97-AF65-F5344CB8AC3E}">
        <p14:creationId xmlns:p14="http://schemas.microsoft.com/office/powerpoint/2010/main" val="6119958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98691-9AF1-A982-C4BC-09B9294D6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B530E-5698-783C-0D12-7C9DD1B65ECF}"/>
              </a:ext>
            </a:extLst>
          </p:cNvPr>
          <p:cNvSpPr>
            <a:spLocks noGrp="1"/>
          </p:cNvSpPr>
          <p:nvPr>
            <p:ph type="title"/>
          </p:nvPr>
        </p:nvSpPr>
        <p:spPr/>
        <p:txBody>
          <a:bodyPr>
            <a:normAutofit/>
          </a:bodyPr>
          <a:lstStyle/>
          <a:p>
            <a:r>
              <a:rPr lang="en-US" sz="3600" dirty="0">
                <a:latin typeface="Roboto Medium"/>
                <a:ea typeface="Roboto Medium"/>
                <a:cs typeface="Roboto Medium"/>
              </a:rPr>
              <a:t>Your Turn: Reflecting on the Top Level Matrix</a:t>
            </a:r>
          </a:p>
        </p:txBody>
      </p:sp>
      <p:sp>
        <p:nvSpPr>
          <p:cNvPr id="11" name="Rectangle 10">
            <a:extLst>
              <a:ext uri="{FF2B5EF4-FFF2-40B4-BE49-F238E27FC236}">
                <a16:creationId xmlns:a16="http://schemas.microsoft.com/office/drawing/2014/main" id="{DD60ACBF-F1A4-0626-385F-B75A7E4AAC11}"/>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Reflect on the Top Level Matrix and determine any changes </a:t>
            </a:r>
          </a:p>
        </p:txBody>
      </p:sp>
      <p:sp>
        <p:nvSpPr>
          <p:cNvPr id="12" name="TextBox 11">
            <a:extLst>
              <a:ext uri="{FF2B5EF4-FFF2-40B4-BE49-F238E27FC236}">
                <a16:creationId xmlns:a16="http://schemas.microsoft.com/office/drawing/2014/main" id="{BA2C5000-2BD4-9043-F671-2FC8B36605EF}"/>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FD3A4D37-46ED-26E8-B937-F9FB8060BA4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C27E7BDA-1065-59BE-26D1-867BCCFD1BAE}"/>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As a team, discuss the questions highlighted in</a:t>
            </a:r>
            <a:b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this section. Use the AIP filter again if necessary to further down-select to the critical AIPs.</a:t>
            </a:r>
          </a:p>
          <a:p>
            <a:pPr defTabSz="584200" hangingPunct="0"/>
            <a:endPar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All AIP Owners (Black Dot) complete the personal action plan on the following page of next steps to complete following this SD session.</a:t>
            </a:r>
          </a:p>
        </p:txBody>
      </p:sp>
      <p:sp>
        <p:nvSpPr>
          <p:cNvPr id="15" name="TextBox 14">
            <a:extLst>
              <a:ext uri="{FF2B5EF4-FFF2-40B4-BE49-F238E27FC236}">
                <a16:creationId xmlns:a16="http://schemas.microsoft.com/office/drawing/2014/main" id="{6523544A-82D5-3069-0D10-2ACE54FE0532}"/>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41FFD5CA-C398-3F8B-A6C5-14A794E9C621}"/>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F47FEA94-3DFE-DC29-526D-8C235809C2B6}"/>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2D27F9C3-BC11-5BC4-1997-5F57AEAF7947}"/>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Next step plan for every AIP Owner (Black Dot) to move  forward with next steps </a:t>
            </a:r>
          </a:p>
        </p:txBody>
      </p:sp>
      <p:grpSp>
        <p:nvGrpSpPr>
          <p:cNvPr id="3" name="Group 2">
            <a:extLst>
              <a:ext uri="{FF2B5EF4-FFF2-40B4-BE49-F238E27FC236}">
                <a16:creationId xmlns:a16="http://schemas.microsoft.com/office/drawing/2014/main" id="{A663EA05-62C8-B15E-EB39-31819410DFCF}"/>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19837A63-1D41-D68C-D1A2-BA9E2A1D8484}"/>
                </a:ext>
              </a:extLst>
            </p:cNvPr>
            <p:cNvSpPr>
              <a:spLocks noChangeArrowheads="1"/>
            </p:cNvSpPr>
            <p:nvPr/>
          </p:nvSpPr>
          <p:spPr bwMode="auto">
            <a:xfrm>
              <a:off x="1881273"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 name="AutoShape 9">
              <a:extLst>
                <a:ext uri="{FF2B5EF4-FFF2-40B4-BE49-F238E27FC236}">
                  <a16:creationId xmlns:a16="http://schemas.microsoft.com/office/drawing/2014/main" id="{9E15A98F-9028-F327-873B-92147EBA0FD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6" name="AutoShape 10">
              <a:extLst>
                <a:ext uri="{FF2B5EF4-FFF2-40B4-BE49-F238E27FC236}">
                  <a16:creationId xmlns:a16="http://schemas.microsoft.com/office/drawing/2014/main" id="{C784FC7B-FE3D-B6ED-98F5-84DB00893FB7}"/>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1">
              <a:extLst>
                <a:ext uri="{FF2B5EF4-FFF2-40B4-BE49-F238E27FC236}">
                  <a16:creationId xmlns:a16="http://schemas.microsoft.com/office/drawing/2014/main" id="{8DE37D2A-02E5-BCF9-8AB2-B4A277D84478}"/>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8" name="TextBox 7">
            <a:extLst>
              <a:ext uri="{FF2B5EF4-FFF2-40B4-BE49-F238E27FC236}">
                <a16:creationId xmlns:a16="http://schemas.microsoft.com/office/drawing/2014/main" id="{61C04623-0079-23A7-BCCF-D06437B33CD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spTree>
    <p:custDataLst>
      <p:tags r:id="rId1"/>
    </p:custDataLst>
    <p:extLst>
      <p:ext uri="{BB962C8B-B14F-4D97-AF65-F5344CB8AC3E}">
        <p14:creationId xmlns:p14="http://schemas.microsoft.com/office/powerpoint/2010/main" val="4168385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3FFFD-F5BC-724E-5FB3-05E65B623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8FE11-2B2C-5802-4426-3DBDDDD2C079}"/>
              </a:ext>
            </a:extLst>
          </p:cNvPr>
          <p:cNvSpPr>
            <a:spLocks noGrp="1"/>
          </p:cNvSpPr>
          <p:nvPr>
            <p:ph type="title"/>
          </p:nvPr>
        </p:nvSpPr>
        <p:spPr/>
        <p:txBody>
          <a:bodyPr>
            <a:noAutofit/>
          </a:bodyPr>
          <a:lstStyle/>
          <a:p>
            <a:r>
              <a:rPr lang="en-US" altLang="en-US" sz="4000" b="1" dirty="0">
                <a:latin typeface="+mn-lt"/>
                <a:ea typeface="ＭＳ Ｐゴシック" panose="020B0600070205080204" pitchFamily="34" charset="-128"/>
              </a:rPr>
              <a:t>Next Step Plan</a:t>
            </a:r>
            <a:endParaRPr lang="en-US" sz="4000" dirty="0"/>
          </a:p>
        </p:txBody>
      </p:sp>
      <p:grpSp>
        <p:nvGrpSpPr>
          <p:cNvPr id="3" name="Group 2">
            <a:extLst>
              <a:ext uri="{FF2B5EF4-FFF2-40B4-BE49-F238E27FC236}">
                <a16:creationId xmlns:a16="http://schemas.microsoft.com/office/drawing/2014/main" id="{32C44739-5E71-3B35-0E7F-7D61E46D84D5}"/>
              </a:ext>
            </a:extLst>
          </p:cNvPr>
          <p:cNvGrpSpPr/>
          <p:nvPr/>
        </p:nvGrpSpPr>
        <p:grpSpPr>
          <a:xfrm>
            <a:off x="961102" y="302894"/>
            <a:ext cx="1229200" cy="290657"/>
            <a:chOff x="940249" y="315206"/>
            <a:chExt cx="1373841" cy="265062"/>
          </a:xfrm>
        </p:grpSpPr>
        <p:sp>
          <p:nvSpPr>
            <p:cNvPr id="4" name="AutoShape 9">
              <a:extLst>
                <a:ext uri="{FF2B5EF4-FFF2-40B4-BE49-F238E27FC236}">
                  <a16:creationId xmlns:a16="http://schemas.microsoft.com/office/drawing/2014/main" id="{3B08ABE6-C688-0708-872C-33248EEA238B}"/>
                </a:ext>
              </a:extLst>
            </p:cNvPr>
            <p:cNvSpPr>
              <a:spLocks noChangeArrowheads="1"/>
            </p:cNvSpPr>
            <p:nvPr/>
          </p:nvSpPr>
          <p:spPr bwMode="auto">
            <a:xfrm>
              <a:off x="1881273"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6" name="AutoShape 9">
              <a:extLst>
                <a:ext uri="{FF2B5EF4-FFF2-40B4-BE49-F238E27FC236}">
                  <a16:creationId xmlns:a16="http://schemas.microsoft.com/office/drawing/2014/main" id="{BE690F68-FE29-2698-CA04-9A927C70D31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3BFFDE0B-CE1E-1FF5-D116-E065B5910ADE}"/>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86DFE0DC-B485-1EC5-DEF4-8A817F9E0C17}"/>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266F51DE-E635-96F8-0CD9-56823B3070C0}"/>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graphicFrame>
        <p:nvGraphicFramePr>
          <p:cNvPr id="16" name="Group 92">
            <a:extLst>
              <a:ext uri="{FF2B5EF4-FFF2-40B4-BE49-F238E27FC236}">
                <a16:creationId xmlns:a16="http://schemas.microsoft.com/office/drawing/2014/main" id="{F966C5C4-B8FB-3F85-5194-D5FE1516E788}"/>
              </a:ext>
            </a:extLst>
          </p:cNvPr>
          <p:cNvGraphicFramePr>
            <a:graphicFrameLocks noGrp="1"/>
          </p:cNvGraphicFramePr>
          <p:nvPr>
            <p:extLst>
              <p:ext uri="{D42A27DB-BD31-4B8C-83A1-F6EECF244321}">
                <p14:modId xmlns:p14="http://schemas.microsoft.com/office/powerpoint/2010/main" val="534615513"/>
              </p:ext>
            </p:extLst>
          </p:nvPr>
        </p:nvGraphicFramePr>
        <p:xfrm>
          <a:off x="1869281" y="1871939"/>
          <a:ext cx="8224838" cy="4125911"/>
        </p:xfrm>
        <a:graphic>
          <a:graphicData uri="http://schemas.openxmlformats.org/drawingml/2006/table">
            <a:tbl>
              <a:tblPr/>
              <a:tblGrid>
                <a:gridCol w="3221038">
                  <a:extLst>
                    <a:ext uri="{9D8B030D-6E8A-4147-A177-3AD203B41FA5}">
                      <a16:colId xmlns:a16="http://schemas.microsoft.com/office/drawing/2014/main" val="20000"/>
                    </a:ext>
                  </a:extLst>
                </a:gridCol>
                <a:gridCol w="3017837">
                  <a:extLst>
                    <a:ext uri="{9D8B030D-6E8A-4147-A177-3AD203B41FA5}">
                      <a16:colId xmlns:a16="http://schemas.microsoft.com/office/drawing/2014/main" val="20001"/>
                    </a:ext>
                  </a:extLst>
                </a:gridCol>
                <a:gridCol w="1985963">
                  <a:extLst>
                    <a:ext uri="{9D8B030D-6E8A-4147-A177-3AD203B41FA5}">
                      <a16:colId xmlns:a16="http://schemas.microsoft.com/office/drawing/2014/main" val="20002"/>
                    </a:ext>
                  </a:extLst>
                </a:gridCol>
              </a:tblGrid>
              <a:tr h="371848">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What</a:t>
                      </a: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Who</a:t>
                      </a: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dirty="0">
                          <a:ln>
                            <a:noFill/>
                          </a:ln>
                          <a:solidFill>
                            <a:schemeClr val="bg1"/>
                          </a:solidFill>
                          <a:effectLst/>
                          <a:latin typeface="Arial" charset="0"/>
                        </a:rPr>
                        <a:t>By When</a:t>
                      </a:r>
                    </a:p>
                  </a:txBody>
                  <a:tcPr marT="45716" marB="4571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009549">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600" b="1" i="0" u="none" strike="noStrike" cap="none" normalizeH="0" baseline="0" dirty="0">
                        <a:ln>
                          <a:noFill/>
                        </a:ln>
                        <a:solidFill>
                          <a:schemeClr val="bg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01610">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600" b="1" i="0" u="none" strike="noStrike" cap="none" normalizeH="0" baseline="0" dirty="0">
                        <a:ln>
                          <a:noFill/>
                        </a:ln>
                        <a:solidFill>
                          <a:schemeClr val="bg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00023">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600" b="1" i="0" u="none" strike="noStrike" cap="none" normalizeH="0" baseline="0" dirty="0">
                        <a:ln>
                          <a:noFill/>
                        </a:ln>
                        <a:solidFill>
                          <a:schemeClr val="bg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42881">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600" b="1" i="0" u="none" strike="noStrike" cap="none" normalizeH="0" baseline="0" dirty="0">
                        <a:ln>
                          <a:noFill/>
                        </a:ln>
                        <a:solidFill>
                          <a:schemeClr val="bg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endParaRPr kumimoji="0" lang="en-US" sz="1400" b="1" i="0" u="none" strike="noStrike" cap="none" normalizeH="0" baseline="0" dirty="0">
                        <a:ln>
                          <a:noFill/>
                        </a:ln>
                        <a:solidFill>
                          <a:schemeClr val="tx1"/>
                        </a:solidFill>
                        <a:effectLst/>
                        <a:latin typeface="Arial"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5880984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7243A-6297-9AFC-F8BC-446378D2C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7F878-8BB4-5BC9-C060-B2570C95493C}"/>
              </a:ext>
            </a:extLst>
          </p:cNvPr>
          <p:cNvSpPr>
            <a:spLocks noGrp="1"/>
          </p:cNvSpPr>
          <p:nvPr>
            <p:ph type="title"/>
          </p:nvPr>
        </p:nvSpPr>
        <p:spPr>
          <a:xfrm>
            <a:off x="838200" y="681037"/>
            <a:ext cx="10149114" cy="1009651"/>
          </a:xfrm>
        </p:spPr>
        <p:txBody>
          <a:bodyPr>
            <a:noAutofit/>
          </a:bodyPr>
          <a:lstStyle/>
          <a:p>
            <a:r>
              <a:rPr lang="en-US" altLang="en-US" sz="2800" dirty="0"/>
              <a:t>Strategic Deployment - The Way To Run Your Business!</a:t>
            </a:r>
            <a:endParaRPr lang="en-US" sz="2800" dirty="0"/>
          </a:p>
        </p:txBody>
      </p:sp>
      <p:sp>
        <p:nvSpPr>
          <p:cNvPr id="9" name="Text Box 3">
            <a:extLst>
              <a:ext uri="{FF2B5EF4-FFF2-40B4-BE49-F238E27FC236}">
                <a16:creationId xmlns:a16="http://schemas.microsoft.com/office/drawing/2014/main" id="{7004E517-15F6-4BD5-2C6D-B6260120BC30}"/>
              </a:ext>
            </a:extLst>
          </p:cNvPr>
          <p:cNvSpPr txBox="1">
            <a:spLocks noChangeArrowheads="1"/>
          </p:cNvSpPr>
          <p:nvPr/>
        </p:nvSpPr>
        <p:spPr bwMode="auto">
          <a:xfrm>
            <a:off x="1393257" y="1746704"/>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pic>
        <p:nvPicPr>
          <p:cNvPr id="10" name="Picture 4">
            <a:extLst>
              <a:ext uri="{FF2B5EF4-FFF2-40B4-BE49-F238E27FC236}">
                <a16:creationId xmlns:a16="http://schemas.microsoft.com/office/drawing/2014/main" id="{9DAD1ED4-AF17-1F8A-900E-31BA6E26B9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570" y="2064204"/>
            <a:ext cx="2838450" cy="1936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1" name="Picture 5">
            <a:extLst>
              <a:ext uri="{FF2B5EF4-FFF2-40B4-BE49-F238E27FC236}">
                <a16:creationId xmlns:a16="http://schemas.microsoft.com/office/drawing/2014/main" id="{9EE03223-0664-E9C7-EB91-AA7E4CEEAA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6145" y="2812824"/>
            <a:ext cx="2825750" cy="1841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2" name="Text Box 6">
            <a:extLst>
              <a:ext uri="{FF2B5EF4-FFF2-40B4-BE49-F238E27FC236}">
                <a16:creationId xmlns:a16="http://schemas.microsoft.com/office/drawing/2014/main" id="{A0300D11-230F-C07F-C05C-A55F21E182C1}"/>
              </a:ext>
            </a:extLst>
          </p:cNvPr>
          <p:cNvSpPr txBox="1">
            <a:spLocks noChangeArrowheads="1"/>
          </p:cNvSpPr>
          <p:nvPr/>
        </p:nvSpPr>
        <p:spPr bwMode="auto">
          <a:xfrm>
            <a:off x="2906145" y="2506436"/>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pic>
        <p:nvPicPr>
          <p:cNvPr id="13" name="Picture 7">
            <a:extLst>
              <a:ext uri="{FF2B5EF4-FFF2-40B4-BE49-F238E27FC236}">
                <a16:creationId xmlns:a16="http://schemas.microsoft.com/office/drawing/2014/main" id="{0C072AD4-02D4-856E-704D-5E6575FE52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4693" y="3429000"/>
            <a:ext cx="2894013"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4" name="Text Box 8">
            <a:extLst>
              <a:ext uri="{FF2B5EF4-FFF2-40B4-BE49-F238E27FC236}">
                <a16:creationId xmlns:a16="http://schemas.microsoft.com/office/drawing/2014/main" id="{1B5BF0B5-13F5-4AEC-B792-486989672438}"/>
              </a:ext>
            </a:extLst>
          </p:cNvPr>
          <p:cNvSpPr txBox="1">
            <a:spLocks noChangeArrowheads="1"/>
          </p:cNvSpPr>
          <p:nvPr/>
        </p:nvSpPr>
        <p:spPr bwMode="auto">
          <a:xfrm>
            <a:off x="4550568" y="3128963"/>
            <a:ext cx="15684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Action Plans</a:t>
            </a:r>
          </a:p>
        </p:txBody>
      </p:sp>
      <p:pic>
        <p:nvPicPr>
          <p:cNvPr id="15" name="Picture 9">
            <a:extLst>
              <a:ext uri="{FF2B5EF4-FFF2-40B4-BE49-F238E27FC236}">
                <a16:creationId xmlns:a16="http://schemas.microsoft.com/office/drawing/2014/main" id="{6D5E8009-C85E-C62D-0090-95204E7913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5178" y="3904798"/>
            <a:ext cx="2897187" cy="18430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6" name="Text Box 10">
            <a:extLst>
              <a:ext uri="{FF2B5EF4-FFF2-40B4-BE49-F238E27FC236}">
                <a16:creationId xmlns:a16="http://schemas.microsoft.com/office/drawing/2014/main" id="{B808D881-69D1-F1D4-0407-5FF185FB659C}"/>
              </a:ext>
            </a:extLst>
          </p:cNvPr>
          <p:cNvSpPr txBox="1">
            <a:spLocks noChangeArrowheads="1"/>
          </p:cNvSpPr>
          <p:nvPr/>
        </p:nvSpPr>
        <p:spPr bwMode="auto">
          <a:xfrm>
            <a:off x="6067878" y="359523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Bowling Chart</a:t>
            </a:r>
          </a:p>
        </p:txBody>
      </p:sp>
      <p:pic>
        <p:nvPicPr>
          <p:cNvPr id="17" name="Picture 11">
            <a:extLst>
              <a:ext uri="{FF2B5EF4-FFF2-40B4-BE49-F238E27FC236}">
                <a16:creationId xmlns:a16="http://schemas.microsoft.com/office/drawing/2014/main" id="{A023645F-ECBF-5CBD-3A72-6941D0DCFB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51989" y="4373336"/>
            <a:ext cx="2852738" cy="1927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8" name="Text Box 12">
            <a:extLst>
              <a:ext uri="{FF2B5EF4-FFF2-40B4-BE49-F238E27FC236}">
                <a16:creationId xmlns:a16="http://schemas.microsoft.com/office/drawing/2014/main" id="{9D104BAC-10AF-D615-DDAB-C13AF2457ED5}"/>
              </a:ext>
            </a:extLst>
          </p:cNvPr>
          <p:cNvSpPr txBox="1">
            <a:spLocks noChangeArrowheads="1"/>
          </p:cNvSpPr>
          <p:nvPr/>
        </p:nvSpPr>
        <p:spPr bwMode="auto">
          <a:xfrm>
            <a:off x="7774214" y="4060599"/>
            <a:ext cx="26352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Countermeasure Form</a:t>
            </a:r>
          </a:p>
        </p:txBody>
      </p:sp>
      <p:grpSp>
        <p:nvGrpSpPr>
          <p:cNvPr id="19" name="Group 18">
            <a:extLst>
              <a:ext uri="{FF2B5EF4-FFF2-40B4-BE49-F238E27FC236}">
                <a16:creationId xmlns:a16="http://schemas.microsoft.com/office/drawing/2014/main" id="{8911ED18-F0C1-14DF-B6B4-D97531EF6E3F}"/>
              </a:ext>
            </a:extLst>
          </p:cNvPr>
          <p:cNvGrpSpPr/>
          <p:nvPr/>
        </p:nvGrpSpPr>
        <p:grpSpPr>
          <a:xfrm>
            <a:off x="961102" y="302894"/>
            <a:ext cx="1229200" cy="290657"/>
            <a:chOff x="940249" y="315206"/>
            <a:chExt cx="1373841" cy="265062"/>
          </a:xfrm>
        </p:grpSpPr>
        <p:sp>
          <p:nvSpPr>
            <p:cNvPr id="20" name="AutoShape 9">
              <a:extLst>
                <a:ext uri="{FF2B5EF4-FFF2-40B4-BE49-F238E27FC236}">
                  <a16:creationId xmlns:a16="http://schemas.microsoft.com/office/drawing/2014/main" id="{4AE8EE53-0CDC-8513-5486-C0F54E5E5CBF}"/>
                </a:ext>
              </a:extLst>
            </p:cNvPr>
            <p:cNvSpPr>
              <a:spLocks noChangeArrowheads="1"/>
            </p:cNvSpPr>
            <p:nvPr/>
          </p:nvSpPr>
          <p:spPr bwMode="auto">
            <a:xfrm>
              <a:off x="1881273"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9">
              <a:extLst>
                <a:ext uri="{FF2B5EF4-FFF2-40B4-BE49-F238E27FC236}">
                  <a16:creationId xmlns:a16="http://schemas.microsoft.com/office/drawing/2014/main" id="{CD3269C6-031E-74CD-CDE8-403A710050D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792FD116-959E-0789-EFCD-36F6A28E5127}"/>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C3114CA8-835D-4394-79AD-27086103D27E}"/>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4" name="TextBox 23">
            <a:extLst>
              <a:ext uri="{FF2B5EF4-FFF2-40B4-BE49-F238E27FC236}">
                <a16:creationId xmlns:a16="http://schemas.microsoft.com/office/drawing/2014/main" id="{0734ABC7-F1A9-20C1-35B9-9B5524038E4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spTree>
    <p:custDataLst>
      <p:tags r:id="rId1"/>
    </p:custDataLst>
    <p:extLst>
      <p:ext uri="{BB962C8B-B14F-4D97-AF65-F5344CB8AC3E}">
        <p14:creationId xmlns:p14="http://schemas.microsoft.com/office/powerpoint/2010/main" val="226130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4" grpId="0" animBg="1"/>
      <p:bldP spid="16" grpId="0" animBg="1"/>
      <p:bldP spid="1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72783-1380-86DD-F6E5-F32EB3FA9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AD9D7-0E1E-3B58-9D77-473D3C4A5FE4}"/>
              </a:ext>
            </a:extLst>
          </p:cNvPr>
          <p:cNvSpPr>
            <a:spLocks noGrp="1"/>
          </p:cNvSpPr>
          <p:nvPr>
            <p:ph type="title"/>
          </p:nvPr>
        </p:nvSpPr>
        <p:spPr/>
        <p:txBody>
          <a:bodyPr>
            <a:noAutofit/>
          </a:bodyPr>
          <a:lstStyle/>
          <a:p>
            <a:r>
              <a:rPr lang="en-US" sz="2800" dirty="0"/>
              <a:t>Success Factors for Developing and Driving an SD Culture</a:t>
            </a:r>
          </a:p>
        </p:txBody>
      </p:sp>
      <p:sp>
        <p:nvSpPr>
          <p:cNvPr id="3" name="Content Placeholder 2">
            <a:extLst>
              <a:ext uri="{FF2B5EF4-FFF2-40B4-BE49-F238E27FC236}">
                <a16:creationId xmlns:a16="http://schemas.microsoft.com/office/drawing/2014/main" id="{B9B00EAD-660B-5122-103C-B415BE5DA38D}"/>
              </a:ext>
            </a:extLst>
          </p:cNvPr>
          <p:cNvSpPr>
            <a:spLocks noGrp="1"/>
          </p:cNvSpPr>
          <p:nvPr>
            <p:ph idx="1"/>
          </p:nvPr>
        </p:nvSpPr>
        <p:spPr/>
        <p:txBody>
          <a:bodyPr>
            <a:normAutofit fontScale="92500" lnSpcReduction="20000"/>
          </a:bodyPr>
          <a:lstStyle/>
          <a:p>
            <a:pPr>
              <a:lnSpc>
                <a:spcPct val="150000"/>
              </a:lnSpc>
              <a:spcBef>
                <a:spcPct val="20000"/>
              </a:spcBef>
              <a:spcAft>
                <a:spcPts val="600"/>
              </a:spcAft>
              <a:buSzPct val="125000"/>
            </a:pPr>
            <a:r>
              <a:rPr lang="en-US" altLang="en-US" sz="2000" b="1" dirty="0"/>
              <a:t>Strong, hands-on leadership that evaluates progress monthly and demonstrates an on-going interest</a:t>
            </a:r>
          </a:p>
          <a:p>
            <a:pPr>
              <a:lnSpc>
                <a:spcPct val="150000"/>
              </a:lnSpc>
              <a:spcBef>
                <a:spcPct val="20000"/>
              </a:spcBef>
              <a:spcAft>
                <a:spcPts val="600"/>
              </a:spcAft>
              <a:buSzPct val="125000"/>
            </a:pPr>
            <a:r>
              <a:rPr lang="en-US" altLang="en-US" sz="2000" b="1" dirty="0"/>
              <a:t>Ensuring that SD has the Highest Level of Priority </a:t>
            </a:r>
          </a:p>
          <a:p>
            <a:pPr>
              <a:lnSpc>
                <a:spcPct val="150000"/>
              </a:lnSpc>
              <a:spcBef>
                <a:spcPct val="20000"/>
              </a:spcBef>
              <a:spcAft>
                <a:spcPts val="600"/>
              </a:spcAft>
              <a:buSzPct val="125000"/>
            </a:pPr>
            <a:r>
              <a:rPr lang="en-US" altLang="en-US" sz="2000" b="1" dirty="0"/>
              <a:t>Requiring the use of the appropriate tools (e.g., problem-solving tools) and root cause analysis</a:t>
            </a:r>
          </a:p>
          <a:p>
            <a:pPr>
              <a:lnSpc>
                <a:spcPct val="150000"/>
              </a:lnSpc>
              <a:spcBef>
                <a:spcPct val="20000"/>
              </a:spcBef>
              <a:spcAft>
                <a:spcPts val="600"/>
              </a:spcAft>
              <a:buSzPct val="125000"/>
            </a:pPr>
            <a:r>
              <a:rPr lang="en-US" altLang="en-US" sz="2000" b="1" dirty="0"/>
              <a:t>Management applying rigor and discipline to the SD process</a:t>
            </a:r>
          </a:p>
          <a:p>
            <a:pPr>
              <a:lnSpc>
                <a:spcPct val="150000"/>
              </a:lnSpc>
              <a:spcBef>
                <a:spcPct val="20000"/>
              </a:spcBef>
              <a:spcAft>
                <a:spcPts val="600"/>
              </a:spcAft>
              <a:buSzPct val="125000"/>
            </a:pPr>
            <a:r>
              <a:rPr lang="en-US" altLang="en-US" sz="2000" b="1" dirty="0"/>
              <a:t>Ensuring that the Strategic Deployment vision is understood at all levels in the organization and that the activities and results are continually communicated through the organization </a:t>
            </a:r>
          </a:p>
          <a:p>
            <a:pPr>
              <a:lnSpc>
                <a:spcPct val="150000"/>
              </a:lnSpc>
              <a:spcBef>
                <a:spcPct val="20000"/>
              </a:spcBef>
              <a:spcAft>
                <a:spcPts val="600"/>
              </a:spcAft>
              <a:buSzPct val="125000"/>
            </a:pPr>
            <a:r>
              <a:rPr lang="en-US" altLang="en-US" sz="2000" b="1" dirty="0"/>
              <a:t>Willingness to invest in Employee/Management development </a:t>
            </a:r>
          </a:p>
        </p:txBody>
      </p:sp>
      <p:grpSp>
        <p:nvGrpSpPr>
          <p:cNvPr id="10" name="Group 9">
            <a:extLst>
              <a:ext uri="{FF2B5EF4-FFF2-40B4-BE49-F238E27FC236}">
                <a16:creationId xmlns:a16="http://schemas.microsoft.com/office/drawing/2014/main" id="{E8DF884C-BB3A-B1B2-8B9C-857F7BFF11DA}"/>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2FF5F80C-2973-9305-5056-F8B9E641C92E}"/>
                </a:ext>
              </a:extLst>
            </p:cNvPr>
            <p:cNvSpPr>
              <a:spLocks noChangeArrowheads="1"/>
            </p:cNvSpPr>
            <p:nvPr/>
          </p:nvSpPr>
          <p:spPr bwMode="auto">
            <a:xfrm>
              <a:off x="1881273"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9">
              <a:extLst>
                <a:ext uri="{FF2B5EF4-FFF2-40B4-BE49-F238E27FC236}">
                  <a16:creationId xmlns:a16="http://schemas.microsoft.com/office/drawing/2014/main" id="{13056FDA-B370-F7FD-49CA-6DA541A6053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38425A1C-F0D6-ED69-9D2D-A47E759E850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B6DCC669-83CC-0737-1728-1217FEDF491D}"/>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F975FAC3-3934-C140-6C96-A220FF8D0352}"/>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spTree>
    <p:custDataLst>
      <p:tags r:id="rId1"/>
    </p:custDataLst>
    <p:extLst>
      <p:ext uri="{BB962C8B-B14F-4D97-AF65-F5344CB8AC3E}">
        <p14:creationId xmlns:p14="http://schemas.microsoft.com/office/powerpoint/2010/main" val="41647786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4E11B-99A7-1FB0-F31F-E7ED62F2E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3D267-86A5-37D3-80EE-7E810E5E0B8F}"/>
              </a:ext>
            </a:extLst>
          </p:cNvPr>
          <p:cNvSpPr>
            <a:spLocks noGrp="1"/>
          </p:cNvSpPr>
          <p:nvPr>
            <p:ph type="title"/>
          </p:nvPr>
        </p:nvSpPr>
        <p:spPr/>
        <p:txBody>
          <a:bodyPr>
            <a:noAutofit/>
          </a:bodyPr>
          <a:lstStyle/>
          <a:p>
            <a:r>
              <a:rPr lang="en-US" sz="4000" dirty="0"/>
              <a:t>Summary</a:t>
            </a:r>
          </a:p>
        </p:txBody>
      </p:sp>
      <p:sp>
        <p:nvSpPr>
          <p:cNvPr id="3" name="Content Placeholder 2">
            <a:extLst>
              <a:ext uri="{FF2B5EF4-FFF2-40B4-BE49-F238E27FC236}">
                <a16:creationId xmlns:a16="http://schemas.microsoft.com/office/drawing/2014/main" id="{CE50A239-2DB9-35DB-0B90-D88B4740AB4C}"/>
              </a:ext>
            </a:extLst>
          </p:cNvPr>
          <p:cNvSpPr>
            <a:spLocks noGrp="1"/>
          </p:cNvSpPr>
          <p:nvPr>
            <p:ph idx="1"/>
          </p:nvPr>
        </p:nvSpPr>
        <p:spPr/>
        <p:txBody>
          <a:bodyPr>
            <a:normAutofit fontScale="85000" lnSpcReduction="10000"/>
          </a:bodyPr>
          <a:lstStyle/>
          <a:p>
            <a:pPr>
              <a:lnSpc>
                <a:spcPct val="150000"/>
              </a:lnSpc>
              <a:spcBef>
                <a:spcPct val="20000"/>
              </a:spcBef>
              <a:spcAft>
                <a:spcPts val="600"/>
              </a:spcAft>
              <a:buSzPct val="125000"/>
            </a:pPr>
            <a:r>
              <a:rPr lang="en-US" altLang="en-US" sz="2000" b="1" dirty="0">
                <a:latin typeface="+mn-lt"/>
              </a:rPr>
              <a:t>Experience has proven that it takes an organization time to become “</a:t>
            </a:r>
            <a:r>
              <a:rPr lang="en-US" altLang="ja-JP" sz="2000" b="1" u="sng" dirty="0">
                <a:latin typeface="+mn-lt"/>
              </a:rPr>
              <a:t>competent</a:t>
            </a:r>
            <a:r>
              <a:rPr lang="en-US" altLang="en-US" sz="2000" b="1" dirty="0">
                <a:latin typeface="+mn-lt"/>
              </a:rPr>
              <a:t>”</a:t>
            </a:r>
            <a:r>
              <a:rPr lang="en-US" altLang="ja-JP" sz="2000" b="1" dirty="0">
                <a:latin typeface="+mn-lt"/>
              </a:rPr>
              <a:t> in the Strategic Deployment methodology, however with rigorous application of Strategic Deployment, it has been proven that substantial value  can be created immediately. </a:t>
            </a:r>
          </a:p>
          <a:p>
            <a:pPr>
              <a:lnSpc>
                <a:spcPct val="150000"/>
              </a:lnSpc>
              <a:spcBef>
                <a:spcPct val="20000"/>
              </a:spcBef>
              <a:spcAft>
                <a:spcPts val="600"/>
              </a:spcAft>
              <a:buSzPct val="125000"/>
            </a:pPr>
            <a:r>
              <a:rPr lang="en-US" altLang="en-US" sz="2000" b="1" dirty="0">
                <a:latin typeface="+mn-lt"/>
              </a:rPr>
              <a:t>Resist the tendency to do Strategic Deployment </a:t>
            </a:r>
            <a:r>
              <a:rPr lang="ja-JP" altLang="en-US" sz="2000" b="1" dirty="0">
                <a:latin typeface="+mn-lt"/>
              </a:rPr>
              <a:t>“</a:t>
            </a:r>
            <a:r>
              <a:rPr lang="en-US" altLang="ja-JP" sz="2000" b="1" dirty="0">
                <a:latin typeface="+mn-lt"/>
              </a:rPr>
              <a:t>your way.</a:t>
            </a:r>
            <a:r>
              <a:rPr lang="ja-JP" altLang="en-US" sz="2000" b="1" dirty="0">
                <a:latin typeface="+mn-lt"/>
              </a:rPr>
              <a:t>”</a:t>
            </a:r>
            <a:r>
              <a:rPr lang="en-US" altLang="ja-JP" sz="2000" b="1" dirty="0">
                <a:latin typeface="+mn-lt"/>
              </a:rPr>
              <a:t>  Follow the guidelines within. They are there for a reason.</a:t>
            </a:r>
          </a:p>
          <a:p>
            <a:pPr>
              <a:lnSpc>
                <a:spcPct val="150000"/>
              </a:lnSpc>
              <a:spcBef>
                <a:spcPct val="20000"/>
              </a:spcBef>
              <a:spcAft>
                <a:spcPts val="600"/>
              </a:spcAft>
              <a:buSzPct val="125000"/>
            </a:pPr>
            <a:r>
              <a:rPr lang="en-US" altLang="en-US" sz="2000" b="1" dirty="0">
                <a:latin typeface="+mn-lt"/>
              </a:rPr>
              <a:t>Strategic Deployment Should Not be Viewed as Another Task…this Should Be the Way that You Run Your Business!!!</a:t>
            </a:r>
          </a:p>
          <a:p>
            <a:pPr>
              <a:lnSpc>
                <a:spcPct val="150000"/>
              </a:lnSpc>
              <a:spcBef>
                <a:spcPct val="20000"/>
              </a:spcBef>
              <a:spcAft>
                <a:spcPts val="600"/>
              </a:spcAft>
              <a:buSzPct val="125000"/>
            </a:pPr>
            <a:r>
              <a:rPr lang="en-US" altLang="en-US" sz="2000" b="1" dirty="0">
                <a:latin typeface="+mn-lt"/>
              </a:rPr>
              <a:t>Insist on Data.  How You Ask Questions Will Change the Culture!!!</a:t>
            </a:r>
          </a:p>
          <a:p>
            <a:pPr>
              <a:lnSpc>
                <a:spcPct val="150000"/>
              </a:lnSpc>
              <a:spcBef>
                <a:spcPct val="20000"/>
              </a:spcBef>
              <a:spcAft>
                <a:spcPts val="600"/>
              </a:spcAft>
              <a:buSzPct val="125000"/>
            </a:pPr>
            <a:r>
              <a:rPr lang="en-US" altLang="en-US" sz="2000" b="1" dirty="0">
                <a:latin typeface="+mn-lt"/>
              </a:rPr>
              <a:t>Good things will come! Strategic Deployment makes very good Employees/Managers Great Employees/Managers</a:t>
            </a:r>
          </a:p>
        </p:txBody>
      </p:sp>
      <p:grpSp>
        <p:nvGrpSpPr>
          <p:cNvPr id="10" name="Group 9">
            <a:extLst>
              <a:ext uri="{FF2B5EF4-FFF2-40B4-BE49-F238E27FC236}">
                <a16:creationId xmlns:a16="http://schemas.microsoft.com/office/drawing/2014/main" id="{1E696BD4-1047-CDAB-FFC8-ADB0056E9A25}"/>
              </a:ext>
            </a:extLst>
          </p:cNvPr>
          <p:cNvGrpSpPr/>
          <p:nvPr/>
        </p:nvGrpSpPr>
        <p:grpSpPr>
          <a:xfrm>
            <a:off x="961102" y="302894"/>
            <a:ext cx="1229200" cy="290657"/>
            <a:chOff x="940249" y="315206"/>
            <a:chExt cx="1373841" cy="265062"/>
          </a:xfrm>
        </p:grpSpPr>
        <p:sp>
          <p:nvSpPr>
            <p:cNvPr id="11" name="AutoShape 9">
              <a:extLst>
                <a:ext uri="{FF2B5EF4-FFF2-40B4-BE49-F238E27FC236}">
                  <a16:creationId xmlns:a16="http://schemas.microsoft.com/office/drawing/2014/main" id="{B11ED823-0A03-D2BB-98E1-5CEC0FFA7F18}"/>
                </a:ext>
              </a:extLst>
            </p:cNvPr>
            <p:cNvSpPr>
              <a:spLocks noChangeArrowheads="1"/>
            </p:cNvSpPr>
            <p:nvPr/>
          </p:nvSpPr>
          <p:spPr bwMode="auto">
            <a:xfrm>
              <a:off x="1881273"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9">
              <a:extLst>
                <a:ext uri="{FF2B5EF4-FFF2-40B4-BE49-F238E27FC236}">
                  <a16:creationId xmlns:a16="http://schemas.microsoft.com/office/drawing/2014/main" id="{C837AF2A-7791-D617-EBD9-4E98F08AE7F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4B64114-5108-9768-1DA9-1CA07B77B647}"/>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E04ABC02-F4B8-F44E-D2F7-F442F7A99349}"/>
                </a:ext>
              </a:extLst>
            </p:cNvPr>
            <p:cNvSpPr>
              <a:spLocks noChangeArrowheads="1"/>
            </p:cNvSpPr>
            <p:nvPr/>
          </p:nvSpPr>
          <p:spPr bwMode="auto">
            <a:xfrm>
              <a:off x="940249"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5" name="TextBox 14">
            <a:extLst>
              <a:ext uri="{FF2B5EF4-FFF2-40B4-BE49-F238E27FC236}">
                <a16:creationId xmlns:a16="http://schemas.microsoft.com/office/drawing/2014/main" id="{5CE5B28F-AD7A-449F-EECF-941A07217707}"/>
              </a:ext>
            </a:extLst>
          </p:cNvPr>
          <p:cNvSpPr txBox="1"/>
          <p:nvPr/>
        </p:nvSpPr>
        <p:spPr>
          <a:xfrm>
            <a:off x="2190302" y="302541"/>
            <a:ext cx="3791398"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Reflection</a:t>
            </a:r>
          </a:p>
        </p:txBody>
      </p:sp>
    </p:spTree>
    <p:custDataLst>
      <p:tags r:id="rId1"/>
    </p:custDataLst>
    <p:extLst>
      <p:ext uri="{BB962C8B-B14F-4D97-AF65-F5344CB8AC3E}">
        <p14:creationId xmlns:p14="http://schemas.microsoft.com/office/powerpoint/2010/main" val="15904037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250B5-846A-AA8C-00EF-E72BF9B28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5FA83-DC12-556C-77BC-C40923AABA9E}"/>
              </a:ext>
            </a:extLst>
          </p:cNvPr>
          <p:cNvSpPr>
            <a:spLocks noGrp="1"/>
          </p:cNvSpPr>
          <p:nvPr>
            <p:ph type="title"/>
          </p:nvPr>
        </p:nvSpPr>
        <p:spPr/>
        <p:txBody>
          <a:bodyPr>
            <a:noAutofit/>
          </a:bodyPr>
          <a:lstStyle/>
          <a:p>
            <a:r>
              <a:rPr lang="en-US" sz="4000" dirty="0"/>
              <a:t>Appendix</a:t>
            </a:r>
          </a:p>
        </p:txBody>
      </p:sp>
      <p:sp>
        <p:nvSpPr>
          <p:cNvPr id="3" name="Content Placeholder 2">
            <a:extLst>
              <a:ext uri="{FF2B5EF4-FFF2-40B4-BE49-F238E27FC236}">
                <a16:creationId xmlns:a16="http://schemas.microsoft.com/office/drawing/2014/main" id="{04FC40A9-CC12-EC5C-3A3F-8FFA5A001904}"/>
              </a:ext>
            </a:extLst>
          </p:cNvPr>
          <p:cNvSpPr>
            <a:spLocks noGrp="1"/>
          </p:cNvSpPr>
          <p:nvPr>
            <p:ph idx="1"/>
          </p:nvPr>
        </p:nvSpPr>
        <p:spPr/>
        <p:txBody>
          <a:bodyPr>
            <a:normAutofit/>
          </a:bodyPr>
          <a:lstStyle/>
          <a:p>
            <a:pPr>
              <a:buClr>
                <a:schemeClr val="tx1"/>
              </a:buClr>
              <a:buSzPct val="100000"/>
            </a:pPr>
            <a:r>
              <a:rPr lang="en-US" altLang="en-US" b="1" dirty="0"/>
              <a:t>Strategic Deployment in 7 Slides</a:t>
            </a:r>
          </a:p>
          <a:p>
            <a:pPr>
              <a:buClr>
                <a:schemeClr val="tx1"/>
              </a:buClr>
              <a:buSzPct val="100000"/>
            </a:pPr>
            <a:r>
              <a:rPr lang="en-US" altLang="en-US" b="1" dirty="0"/>
              <a:t>Danaher Slide</a:t>
            </a:r>
          </a:p>
          <a:p>
            <a:pPr>
              <a:buClr>
                <a:schemeClr val="tx1"/>
              </a:buClr>
              <a:buSzPct val="100000"/>
            </a:pPr>
            <a:r>
              <a:rPr lang="en-US" altLang="en-US" b="1" dirty="0"/>
              <a:t>Other Modules within Lean Horizons’ Offerings</a:t>
            </a:r>
          </a:p>
        </p:txBody>
      </p:sp>
    </p:spTree>
    <p:custDataLst>
      <p:tags r:id="rId1"/>
    </p:custDataLst>
    <p:extLst>
      <p:ext uri="{BB962C8B-B14F-4D97-AF65-F5344CB8AC3E}">
        <p14:creationId xmlns:p14="http://schemas.microsoft.com/office/powerpoint/2010/main" val="19162146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FF252-B586-C2CF-D150-89D09B509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3C01F-3D06-D72A-20FC-C7D99E4D37B6}"/>
              </a:ext>
            </a:extLst>
          </p:cNvPr>
          <p:cNvSpPr>
            <a:spLocks noGrp="1"/>
          </p:cNvSpPr>
          <p:nvPr>
            <p:ph type="title"/>
          </p:nvPr>
        </p:nvSpPr>
        <p:spPr>
          <a:xfrm>
            <a:off x="838200" y="681037"/>
            <a:ext cx="10149114" cy="1009651"/>
          </a:xfrm>
        </p:spPr>
        <p:txBody>
          <a:bodyPr>
            <a:noAutofit/>
          </a:bodyPr>
          <a:lstStyle/>
          <a:p>
            <a:r>
              <a:rPr lang="en-US" altLang="en-US" sz="4000" dirty="0"/>
              <a:t>Strategic Deployment Top Level Matrix</a:t>
            </a:r>
            <a:endParaRPr lang="en-US" sz="4000" dirty="0"/>
          </a:p>
        </p:txBody>
      </p:sp>
      <p:grpSp>
        <p:nvGrpSpPr>
          <p:cNvPr id="27" name="Group 26">
            <a:extLst>
              <a:ext uri="{FF2B5EF4-FFF2-40B4-BE49-F238E27FC236}">
                <a16:creationId xmlns:a16="http://schemas.microsoft.com/office/drawing/2014/main" id="{69755CE9-31A8-3C9B-3BFD-7665C6F21543}"/>
              </a:ext>
            </a:extLst>
          </p:cNvPr>
          <p:cNvGrpSpPr/>
          <p:nvPr/>
        </p:nvGrpSpPr>
        <p:grpSpPr>
          <a:xfrm>
            <a:off x="2293030" y="1777822"/>
            <a:ext cx="7605939" cy="4546600"/>
            <a:chOff x="403225" y="1257300"/>
            <a:chExt cx="8407400" cy="4979988"/>
          </a:xfrm>
        </p:grpSpPr>
        <p:sp>
          <p:nvSpPr>
            <p:cNvPr id="19" name="Text Box 10">
              <a:extLst>
                <a:ext uri="{FF2B5EF4-FFF2-40B4-BE49-F238E27FC236}">
                  <a16:creationId xmlns:a16="http://schemas.microsoft.com/office/drawing/2014/main" id="{4C384502-A164-55DB-EDC7-E736B50421EF}"/>
                </a:ext>
              </a:extLst>
            </p:cNvPr>
            <p:cNvSpPr txBox="1">
              <a:spLocks noChangeArrowheads="1"/>
            </p:cNvSpPr>
            <p:nvPr/>
          </p:nvSpPr>
          <p:spPr bwMode="auto">
            <a:xfrm rot="16200000">
              <a:off x="4032251" y="3987800"/>
              <a:ext cx="241300" cy="314325"/>
            </a:xfrm>
            <a:prstGeom prst="rect">
              <a:avLst/>
            </a:prstGeom>
            <a:noFill/>
            <a:ln>
              <a:noFill/>
            </a:ln>
            <a:effectLst/>
            <a:extLst>
              <a:ext uri="{909E8E84-426E-40dd-AFC4-6F175D3DCCD1}">
                <a14:hiddenFill xmlns="" xmlns:a14="http://schemas.microsoft.com/office/drawing/2010/main">
                  <a:solidFill>
                    <a:srgbClr val="808080"/>
                  </a:solidFill>
                </a14:hiddenFill>
              </a:ext>
              <a:ext uri="{91240B29-F687-4f45-9708-019B960494DF}">
                <a14:hiddenLine xmlns="" xmlns:a14="http://schemas.microsoft.com/office/drawing/2010/main" w="12700" cap="sq">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gn="ctr">
                <a:lnSpc>
                  <a:spcPct val="80000"/>
                </a:lnSpc>
                <a:spcBef>
                  <a:spcPct val="20000"/>
                </a:spcBef>
                <a:defRPr/>
              </a:pPr>
              <a:r>
                <a:rPr lang="en-US" sz="1800">
                  <a:solidFill>
                    <a:schemeClr val="tx1"/>
                  </a:solidFill>
                  <a:latin typeface="Times New Roman" charset="0"/>
                </a:rPr>
                <a:t> </a:t>
              </a:r>
            </a:p>
          </p:txBody>
        </p:sp>
        <p:sp>
          <p:nvSpPr>
            <p:cNvPr id="20" name="TextBox 7">
              <a:extLst>
                <a:ext uri="{FF2B5EF4-FFF2-40B4-BE49-F238E27FC236}">
                  <a16:creationId xmlns:a16="http://schemas.microsoft.com/office/drawing/2014/main" id="{DABE7984-AB68-10D2-5DAA-BBB4F9732325}"/>
                </a:ext>
              </a:extLst>
            </p:cNvPr>
            <p:cNvSpPr txBox="1">
              <a:spLocks noChangeArrowheads="1"/>
            </p:cNvSpPr>
            <p:nvPr/>
          </p:nvSpPr>
          <p:spPr bwMode="auto">
            <a:xfrm rot="5400000">
              <a:off x="4256882" y="4907756"/>
              <a:ext cx="1857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eaLnBrk="1" hangingPunct="1"/>
              <a:endParaRPr lang="en-US" altLang="en-US"/>
            </a:p>
          </p:txBody>
        </p:sp>
        <p:graphicFrame>
          <p:nvGraphicFramePr>
            <p:cNvPr id="21" name="Object 1">
              <a:extLst>
                <a:ext uri="{FF2B5EF4-FFF2-40B4-BE49-F238E27FC236}">
                  <a16:creationId xmlns:a16="http://schemas.microsoft.com/office/drawing/2014/main" id="{B8BDB7D2-0485-F571-0607-13ADEA9B0D6A}"/>
                </a:ext>
              </a:extLst>
            </p:cNvPr>
            <p:cNvGraphicFramePr>
              <a:graphicFrameLocks noChangeAspect="1"/>
            </p:cNvGraphicFramePr>
            <p:nvPr/>
          </p:nvGraphicFramePr>
          <p:xfrm>
            <a:off x="403225" y="1257300"/>
            <a:ext cx="8407400" cy="4979988"/>
          </p:xfrm>
          <a:graphic>
            <a:graphicData uri="http://schemas.openxmlformats.org/presentationml/2006/ole">
              <mc:AlternateContent xmlns:mc="http://schemas.openxmlformats.org/markup-compatibility/2006">
                <mc:Choice xmlns:v="urn:schemas-microsoft-com:vml" Requires="v">
                  <p:oleObj name="Worksheet" r:id="rId4" imgW="13436600" imgH="8305800" progId="Excel.Sheet.8">
                    <p:embed/>
                  </p:oleObj>
                </mc:Choice>
                <mc:Fallback>
                  <p:oleObj name="Worksheet" r:id="rId4" imgW="13436600" imgH="8305800" progId="Excel.Sheet.8">
                    <p:embed/>
                    <p:pic>
                      <p:nvPicPr>
                        <p:cNvPr id="21" name="Object 1">
                          <a:extLst>
                            <a:ext uri="{FF2B5EF4-FFF2-40B4-BE49-F238E27FC236}">
                              <a16:creationId xmlns:a16="http://schemas.microsoft.com/office/drawing/2014/main" id="{56C5A1A0-E996-1CC4-C504-9439AD5D90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5" y="1257300"/>
                          <a:ext cx="8407400" cy="4979988"/>
                        </a:xfrm>
                        <a:prstGeom prst="rect">
                          <a:avLst/>
                        </a:prstGeom>
                        <a:noFill/>
                        <a:ln>
                          <a:noFill/>
                        </a:ln>
                      </p:spPr>
                    </p:pic>
                  </p:oleObj>
                </mc:Fallback>
              </mc:AlternateContent>
            </a:graphicData>
          </a:graphic>
        </p:graphicFrame>
        <p:sp>
          <p:nvSpPr>
            <p:cNvPr id="22" name="Oval 16">
              <a:extLst>
                <a:ext uri="{FF2B5EF4-FFF2-40B4-BE49-F238E27FC236}">
                  <a16:creationId xmlns:a16="http://schemas.microsoft.com/office/drawing/2014/main" id="{C03B9615-E42D-F159-0BB6-5AF30DB89E3A}"/>
                </a:ext>
              </a:extLst>
            </p:cNvPr>
            <p:cNvSpPr>
              <a:spLocks noChangeArrowheads="1"/>
            </p:cNvSpPr>
            <p:nvPr/>
          </p:nvSpPr>
          <p:spPr bwMode="auto">
            <a:xfrm>
              <a:off x="569913" y="3919538"/>
              <a:ext cx="450850" cy="449262"/>
            </a:xfrm>
            <a:prstGeom prst="ellipse">
              <a:avLst/>
            </a:prstGeom>
            <a:solidFill>
              <a:srgbClr val="DDDDDD"/>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23" name="Oval 16">
              <a:extLst>
                <a:ext uri="{FF2B5EF4-FFF2-40B4-BE49-F238E27FC236}">
                  <a16:creationId xmlns:a16="http://schemas.microsoft.com/office/drawing/2014/main" id="{1C689B8F-3D65-241C-DD09-ABE9F6C9C203}"/>
                </a:ext>
              </a:extLst>
            </p:cNvPr>
            <p:cNvSpPr>
              <a:spLocks noChangeArrowheads="1"/>
            </p:cNvSpPr>
            <p:nvPr/>
          </p:nvSpPr>
          <p:spPr bwMode="auto">
            <a:xfrm>
              <a:off x="2273300" y="5588000"/>
              <a:ext cx="450850" cy="449263"/>
            </a:xfrm>
            <a:prstGeom prst="ellipse">
              <a:avLst/>
            </a:prstGeom>
            <a:solidFill>
              <a:schemeClr val="bg1">
                <a:lumMod val="75000"/>
              </a:schemeClr>
            </a:solidFill>
            <a:ln w="12700" cap="sq" algn="ctr">
              <a:solidFill>
                <a:schemeClr val="tx1"/>
              </a:solidFill>
              <a:round/>
              <a:headEnd/>
              <a:tailEnd/>
            </a:ln>
            <a:effectLst/>
          </p:spPr>
          <p:txBody>
            <a:bodyPr wrap="none" anchor="ctr"/>
            <a:lstStyle/>
            <a:p>
              <a:pPr algn="ctr" eaLnBrk="0" hangingPunct="0">
                <a:lnSpc>
                  <a:spcPct val="80000"/>
                </a:lnSpc>
                <a:spcBef>
                  <a:spcPct val="20000"/>
                </a:spcBef>
                <a:defRPr/>
              </a:pPr>
              <a:r>
                <a:rPr lang="en-US" sz="2000" dirty="0">
                  <a:solidFill>
                    <a:schemeClr val="tx1"/>
                  </a:solidFill>
                  <a:latin typeface="Arial" charset="0"/>
                  <a:ea typeface="+mn-ea"/>
                </a:rPr>
                <a:t>0</a:t>
              </a:r>
            </a:p>
          </p:txBody>
        </p:sp>
        <p:sp>
          <p:nvSpPr>
            <p:cNvPr id="24" name="Oval 17">
              <a:extLst>
                <a:ext uri="{FF2B5EF4-FFF2-40B4-BE49-F238E27FC236}">
                  <a16:creationId xmlns:a16="http://schemas.microsoft.com/office/drawing/2014/main" id="{F58FA8D3-0075-4B11-86CF-DB5A55837FCA}"/>
                </a:ext>
              </a:extLst>
            </p:cNvPr>
            <p:cNvSpPr>
              <a:spLocks noChangeArrowheads="1"/>
            </p:cNvSpPr>
            <p:nvPr/>
          </p:nvSpPr>
          <p:spPr bwMode="auto">
            <a:xfrm>
              <a:off x="2325688" y="2157413"/>
              <a:ext cx="450850" cy="449262"/>
            </a:xfrm>
            <a:prstGeom prst="ellipse">
              <a:avLst/>
            </a:prstGeom>
            <a:solidFill>
              <a:srgbClr val="00FFFF"/>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25" name="Oval 18">
              <a:extLst>
                <a:ext uri="{FF2B5EF4-FFF2-40B4-BE49-F238E27FC236}">
                  <a16:creationId xmlns:a16="http://schemas.microsoft.com/office/drawing/2014/main" id="{7A61DE5D-CC3F-9458-7AD0-4426C5353012}"/>
                </a:ext>
              </a:extLst>
            </p:cNvPr>
            <p:cNvSpPr>
              <a:spLocks noChangeArrowheads="1"/>
            </p:cNvSpPr>
            <p:nvPr/>
          </p:nvSpPr>
          <p:spPr bwMode="auto">
            <a:xfrm>
              <a:off x="4573588" y="2862263"/>
              <a:ext cx="450850" cy="449262"/>
            </a:xfrm>
            <a:prstGeom prst="ellipse">
              <a:avLst/>
            </a:prstGeom>
            <a:solidFill>
              <a:srgbClr val="00CCFF"/>
            </a:solidFill>
            <a:ln w="12700" cap="sq">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3</a:t>
              </a:r>
            </a:p>
          </p:txBody>
        </p:sp>
        <p:sp>
          <p:nvSpPr>
            <p:cNvPr id="26" name="Oval 16">
              <a:extLst>
                <a:ext uri="{FF2B5EF4-FFF2-40B4-BE49-F238E27FC236}">
                  <a16:creationId xmlns:a16="http://schemas.microsoft.com/office/drawing/2014/main" id="{DFD3EF72-1DCF-4370-5EAE-C731ACA842EF}"/>
                </a:ext>
              </a:extLst>
            </p:cNvPr>
            <p:cNvSpPr>
              <a:spLocks noChangeArrowheads="1"/>
            </p:cNvSpPr>
            <p:nvPr/>
          </p:nvSpPr>
          <p:spPr bwMode="auto">
            <a:xfrm>
              <a:off x="6022975" y="3170238"/>
              <a:ext cx="450850" cy="449262"/>
            </a:xfrm>
            <a:prstGeom prst="ellipse">
              <a:avLst/>
            </a:prstGeom>
            <a:solidFill>
              <a:srgbClr val="CCFFCC"/>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4</a:t>
              </a:r>
            </a:p>
          </p:txBody>
        </p:sp>
      </p:grpSp>
    </p:spTree>
    <p:custDataLst>
      <p:tags r:id="rId1"/>
    </p:custDataLst>
    <p:extLst>
      <p:ext uri="{BB962C8B-B14F-4D97-AF65-F5344CB8AC3E}">
        <p14:creationId xmlns:p14="http://schemas.microsoft.com/office/powerpoint/2010/main" val="41095189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F105E-2F39-8D85-ACE5-46548E16E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14C21-AC91-33A1-3B4C-3BEC3F1933C4}"/>
              </a:ext>
            </a:extLst>
          </p:cNvPr>
          <p:cNvSpPr>
            <a:spLocks noGrp="1"/>
          </p:cNvSpPr>
          <p:nvPr>
            <p:ph type="title"/>
          </p:nvPr>
        </p:nvSpPr>
        <p:spPr>
          <a:xfrm>
            <a:off x="838200" y="681037"/>
            <a:ext cx="10149114" cy="1009651"/>
          </a:xfrm>
        </p:spPr>
        <p:txBody>
          <a:bodyPr>
            <a:noAutofit/>
          </a:bodyPr>
          <a:lstStyle/>
          <a:p>
            <a:r>
              <a:rPr lang="en-US" altLang="en-US" sz="4000" dirty="0"/>
              <a:t>Cascading to Second Level</a:t>
            </a:r>
            <a:endParaRPr lang="en-US" sz="4000" dirty="0"/>
          </a:p>
        </p:txBody>
      </p:sp>
      <p:grpSp>
        <p:nvGrpSpPr>
          <p:cNvPr id="54" name="Group 53">
            <a:extLst>
              <a:ext uri="{FF2B5EF4-FFF2-40B4-BE49-F238E27FC236}">
                <a16:creationId xmlns:a16="http://schemas.microsoft.com/office/drawing/2014/main" id="{DA722E8F-1915-A1B7-053B-13AEF71ADF23}"/>
              </a:ext>
            </a:extLst>
          </p:cNvPr>
          <p:cNvGrpSpPr/>
          <p:nvPr/>
        </p:nvGrpSpPr>
        <p:grpSpPr>
          <a:xfrm>
            <a:off x="2480355" y="1690688"/>
            <a:ext cx="7231289" cy="4675009"/>
            <a:chOff x="525463" y="1093994"/>
            <a:chExt cx="7910512" cy="5184569"/>
          </a:xfrm>
        </p:grpSpPr>
        <p:graphicFrame>
          <p:nvGraphicFramePr>
            <p:cNvPr id="28" name="Object 5">
              <a:extLst>
                <a:ext uri="{FF2B5EF4-FFF2-40B4-BE49-F238E27FC236}">
                  <a16:creationId xmlns:a16="http://schemas.microsoft.com/office/drawing/2014/main" id="{080F37A2-4CD7-B6E8-B52D-71D7C67147C3}"/>
                </a:ext>
              </a:extLst>
            </p:cNvPr>
            <p:cNvGraphicFramePr>
              <a:graphicFrameLocks noChangeAspect="1"/>
            </p:cNvGraphicFramePr>
            <p:nvPr/>
          </p:nvGraphicFramePr>
          <p:xfrm>
            <a:off x="525463" y="1566863"/>
            <a:ext cx="3683000" cy="2274887"/>
          </p:xfrm>
          <a:graphic>
            <a:graphicData uri="http://schemas.openxmlformats.org/presentationml/2006/ole">
              <mc:AlternateContent xmlns:mc="http://schemas.openxmlformats.org/markup-compatibility/2006">
                <mc:Choice xmlns:v="urn:schemas-microsoft-com:vml" Requires="v">
                  <p:oleObj name="Worksheet" r:id="rId4" imgW="13436600" imgH="8305800" progId="Excel.Sheet.8">
                    <p:embed/>
                  </p:oleObj>
                </mc:Choice>
                <mc:Fallback>
                  <p:oleObj name="Worksheet" r:id="rId4" imgW="13436600" imgH="8305800" progId="Excel.Sheet.8">
                    <p:embed/>
                    <p:pic>
                      <p:nvPicPr>
                        <p:cNvPr id="28" name="Object 5">
                          <a:extLst>
                            <a:ext uri="{FF2B5EF4-FFF2-40B4-BE49-F238E27FC236}">
                              <a16:creationId xmlns:a16="http://schemas.microsoft.com/office/drawing/2014/main" id="{1AF93726-F8B0-C6FE-BDF1-2353C393E3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463" y="1566863"/>
                          <a:ext cx="3683000" cy="227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4">
              <a:extLst>
                <a:ext uri="{FF2B5EF4-FFF2-40B4-BE49-F238E27FC236}">
                  <a16:creationId xmlns:a16="http://schemas.microsoft.com/office/drawing/2014/main" id="{6E831AE6-361B-295B-0582-AB483C62432E}"/>
                </a:ext>
              </a:extLst>
            </p:cNvPr>
            <p:cNvGraphicFramePr>
              <a:graphicFrameLocks noChangeAspect="1"/>
            </p:cNvGraphicFramePr>
            <p:nvPr/>
          </p:nvGraphicFramePr>
          <p:xfrm>
            <a:off x="4772025" y="4152900"/>
            <a:ext cx="3663950" cy="2057400"/>
          </p:xfrm>
          <a:graphic>
            <a:graphicData uri="http://schemas.openxmlformats.org/presentationml/2006/ole">
              <mc:AlternateContent xmlns:mc="http://schemas.openxmlformats.org/markup-compatibility/2006">
                <mc:Choice xmlns:v="urn:schemas-microsoft-com:vml" Requires="v">
                  <p:oleObj name="Worksheet" r:id="rId6" imgW="16484600" imgH="7721600" progId="Excel.Sheet.8">
                    <p:embed/>
                  </p:oleObj>
                </mc:Choice>
                <mc:Fallback>
                  <p:oleObj name="Worksheet" r:id="rId6" imgW="16484600" imgH="7721600" progId="Excel.Sheet.8">
                    <p:embed/>
                    <p:pic>
                      <p:nvPicPr>
                        <p:cNvPr id="29" name="Object 4">
                          <a:extLst>
                            <a:ext uri="{FF2B5EF4-FFF2-40B4-BE49-F238E27FC236}">
                              <a16:creationId xmlns:a16="http://schemas.microsoft.com/office/drawing/2014/main" id="{13D7EE29-6A19-3BF4-465A-470569AE5E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72025" y="4152900"/>
                          <a:ext cx="36639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3">
              <a:extLst>
                <a:ext uri="{FF2B5EF4-FFF2-40B4-BE49-F238E27FC236}">
                  <a16:creationId xmlns:a16="http://schemas.microsoft.com/office/drawing/2014/main" id="{0EA528B9-BC9E-5F4B-E354-73E216093986}"/>
                </a:ext>
              </a:extLst>
            </p:cNvPr>
            <p:cNvGraphicFramePr>
              <a:graphicFrameLocks noChangeAspect="1"/>
            </p:cNvGraphicFramePr>
            <p:nvPr/>
          </p:nvGraphicFramePr>
          <p:xfrm>
            <a:off x="4708525" y="1425575"/>
            <a:ext cx="3695700" cy="2257425"/>
          </p:xfrm>
          <a:graphic>
            <a:graphicData uri="http://schemas.openxmlformats.org/presentationml/2006/ole">
              <mc:AlternateContent xmlns:mc="http://schemas.openxmlformats.org/markup-compatibility/2006">
                <mc:Choice xmlns:v="urn:schemas-microsoft-com:vml" Requires="v">
                  <p:oleObj name="Worksheet" r:id="rId8" imgW="16484600" imgH="8026400" progId="Excel.Sheet.8">
                    <p:embed/>
                  </p:oleObj>
                </mc:Choice>
                <mc:Fallback>
                  <p:oleObj name="Worksheet" r:id="rId8" imgW="16484600" imgH="8026400" progId="Excel.Sheet.8">
                    <p:embed/>
                    <p:pic>
                      <p:nvPicPr>
                        <p:cNvPr id="30" name="Object 3">
                          <a:extLst>
                            <a:ext uri="{FF2B5EF4-FFF2-40B4-BE49-F238E27FC236}">
                              <a16:creationId xmlns:a16="http://schemas.microsoft.com/office/drawing/2014/main" id="{2070DDB1-6A8C-C7DC-25A9-B74188B9A0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08525" y="1425575"/>
                          <a:ext cx="369570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Text Box 2">
              <a:extLst>
                <a:ext uri="{FF2B5EF4-FFF2-40B4-BE49-F238E27FC236}">
                  <a16:creationId xmlns:a16="http://schemas.microsoft.com/office/drawing/2014/main" id="{15696D56-DF27-1869-5560-03821C380C68}"/>
                </a:ext>
              </a:extLst>
            </p:cNvPr>
            <p:cNvSpPr txBox="1">
              <a:spLocks noChangeArrowheads="1"/>
            </p:cNvSpPr>
            <p:nvPr/>
          </p:nvSpPr>
          <p:spPr bwMode="auto">
            <a:xfrm>
              <a:off x="4795837" y="3801625"/>
              <a:ext cx="3486151"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 - Delivery</a:t>
              </a:r>
            </a:p>
          </p:txBody>
        </p:sp>
        <p:sp>
          <p:nvSpPr>
            <p:cNvPr id="32" name="Text Box 4">
              <a:extLst>
                <a:ext uri="{FF2B5EF4-FFF2-40B4-BE49-F238E27FC236}">
                  <a16:creationId xmlns:a16="http://schemas.microsoft.com/office/drawing/2014/main" id="{B2F0AE9D-C326-590B-3F7D-A1BE3B38613C}"/>
                </a:ext>
              </a:extLst>
            </p:cNvPr>
            <p:cNvSpPr txBox="1">
              <a:spLocks noChangeArrowheads="1"/>
            </p:cNvSpPr>
            <p:nvPr/>
          </p:nvSpPr>
          <p:spPr bwMode="auto">
            <a:xfrm>
              <a:off x="1038225" y="1227138"/>
              <a:ext cx="19875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Top Level Matrix</a:t>
              </a:r>
            </a:p>
          </p:txBody>
        </p:sp>
        <p:sp>
          <p:nvSpPr>
            <p:cNvPr id="33" name="Text Box 5">
              <a:extLst>
                <a:ext uri="{FF2B5EF4-FFF2-40B4-BE49-F238E27FC236}">
                  <a16:creationId xmlns:a16="http://schemas.microsoft.com/office/drawing/2014/main" id="{43D7203E-445F-904A-0300-14A18448CF6C}"/>
                </a:ext>
              </a:extLst>
            </p:cNvPr>
            <p:cNvSpPr txBox="1">
              <a:spLocks noChangeArrowheads="1"/>
            </p:cNvSpPr>
            <p:nvPr/>
          </p:nvSpPr>
          <p:spPr bwMode="auto">
            <a:xfrm>
              <a:off x="4840287" y="1093994"/>
              <a:ext cx="33972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 - Growth</a:t>
              </a:r>
            </a:p>
          </p:txBody>
        </p:sp>
        <p:grpSp>
          <p:nvGrpSpPr>
            <p:cNvPr id="34" name="Group 9">
              <a:extLst>
                <a:ext uri="{FF2B5EF4-FFF2-40B4-BE49-F238E27FC236}">
                  <a16:creationId xmlns:a16="http://schemas.microsoft.com/office/drawing/2014/main" id="{457353DD-F0D5-2F46-2463-79BC5A82B13F}"/>
                </a:ext>
              </a:extLst>
            </p:cNvPr>
            <p:cNvGrpSpPr>
              <a:grpSpLocks/>
            </p:cNvGrpSpPr>
            <p:nvPr/>
          </p:nvGrpSpPr>
          <p:grpSpPr bwMode="auto">
            <a:xfrm>
              <a:off x="730250" y="3368675"/>
              <a:ext cx="4357688" cy="2687638"/>
              <a:chOff x="448" y="2322"/>
              <a:chExt cx="2755" cy="1033"/>
            </a:xfrm>
          </p:grpSpPr>
          <p:sp>
            <p:nvSpPr>
              <p:cNvPr id="35" name="Line 10">
                <a:extLst>
                  <a:ext uri="{FF2B5EF4-FFF2-40B4-BE49-F238E27FC236}">
                    <a16:creationId xmlns:a16="http://schemas.microsoft.com/office/drawing/2014/main" id="{A0A86F4E-5E80-8440-CC9C-1DE41B43403E}"/>
                  </a:ext>
                </a:extLst>
              </p:cNvPr>
              <p:cNvSpPr>
                <a:spLocks noChangeShapeType="1"/>
              </p:cNvSpPr>
              <p:nvPr/>
            </p:nvSpPr>
            <p:spPr bwMode="auto">
              <a:xfrm>
                <a:off x="457" y="2322"/>
                <a:ext cx="0" cy="1024"/>
              </a:xfrm>
              <a:prstGeom prst="line">
                <a:avLst/>
              </a:prstGeom>
              <a:noFill/>
              <a:ln w="57150"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36" name="Line 11">
                <a:extLst>
                  <a:ext uri="{FF2B5EF4-FFF2-40B4-BE49-F238E27FC236}">
                    <a16:creationId xmlns:a16="http://schemas.microsoft.com/office/drawing/2014/main" id="{96F4C136-7164-58D1-FCDE-08AE8BF1DD4C}"/>
                  </a:ext>
                </a:extLst>
              </p:cNvPr>
              <p:cNvSpPr>
                <a:spLocks noChangeShapeType="1"/>
              </p:cNvSpPr>
              <p:nvPr/>
            </p:nvSpPr>
            <p:spPr bwMode="auto">
              <a:xfrm>
                <a:off x="448" y="3355"/>
                <a:ext cx="2755" cy="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grpSp>
        <p:sp>
          <p:nvSpPr>
            <p:cNvPr id="37" name="Oval 12">
              <a:extLst>
                <a:ext uri="{FF2B5EF4-FFF2-40B4-BE49-F238E27FC236}">
                  <a16:creationId xmlns:a16="http://schemas.microsoft.com/office/drawing/2014/main" id="{EA2EADB0-CB24-E82D-61E8-2B38C54B76FF}"/>
                </a:ext>
              </a:extLst>
            </p:cNvPr>
            <p:cNvSpPr>
              <a:spLocks noChangeArrowheads="1"/>
            </p:cNvSpPr>
            <p:nvPr/>
          </p:nvSpPr>
          <p:spPr bwMode="auto">
            <a:xfrm>
              <a:off x="5087938" y="5829300"/>
              <a:ext cx="450850" cy="449263"/>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38" name="Oval 13">
              <a:extLst>
                <a:ext uri="{FF2B5EF4-FFF2-40B4-BE49-F238E27FC236}">
                  <a16:creationId xmlns:a16="http://schemas.microsoft.com/office/drawing/2014/main" id="{AAD11010-D133-32F1-BB36-B539A6EDA644}"/>
                </a:ext>
              </a:extLst>
            </p:cNvPr>
            <p:cNvSpPr>
              <a:spLocks noChangeArrowheads="1"/>
            </p:cNvSpPr>
            <p:nvPr/>
          </p:nvSpPr>
          <p:spPr bwMode="auto">
            <a:xfrm>
              <a:off x="4489450" y="5021263"/>
              <a:ext cx="450850" cy="449262"/>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9" name="Oval 14">
              <a:extLst>
                <a:ext uri="{FF2B5EF4-FFF2-40B4-BE49-F238E27FC236}">
                  <a16:creationId xmlns:a16="http://schemas.microsoft.com/office/drawing/2014/main" id="{9E7E7965-91A9-EA6A-1142-3B1E745FC96D}"/>
                </a:ext>
              </a:extLst>
            </p:cNvPr>
            <p:cNvSpPr>
              <a:spLocks noChangeArrowheads="1"/>
            </p:cNvSpPr>
            <p:nvPr/>
          </p:nvSpPr>
          <p:spPr bwMode="auto">
            <a:xfrm>
              <a:off x="5005388" y="3281363"/>
              <a:ext cx="450850" cy="449262"/>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40" name="Oval 15">
              <a:extLst>
                <a:ext uri="{FF2B5EF4-FFF2-40B4-BE49-F238E27FC236}">
                  <a16:creationId xmlns:a16="http://schemas.microsoft.com/office/drawing/2014/main" id="{6D5E5585-1DBD-BA6E-6A36-51BFE6D01CFF}"/>
                </a:ext>
              </a:extLst>
            </p:cNvPr>
            <p:cNvSpPr>
              <a:spLocks noChangeArrowheads="1"/>
            </p:cNvSpPr>
            <p:nvPr/>
          </p:nvSpPr>
          <p:spPr bwMode="auto">
            <a:xfrm>
              <a:off x="4406900" y="2528888"/>
              <a:ext cx="450850" cy="449262"/>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41" name="Oval 16">
              <a:extLst>
                <a:ext uri="{FF2B5EF4-FFF2-40B4-BE49-F238E27FC236}">
                  <a16:creationId xmlns:a16="http://schemas.microsoft.com/office/drawing/2014/main" id="{2609F45C-2D11-98DA-C551-1A570BD8A89B}"/>
                </a:ext>
              </a:extLst>
            </p:cNvPr>
            <p:cNvSpPr>
              <a:spLocks noChangeArrowheads="1"/>
            </p:cNvSpPr>
            <p:nvPr/>
          </p:nvSpPr>
          <p:spPr bwMode="auto">
            <a:xfrm>
              <a:off x="533400" y="2986088"/>
              <a:ext cx="450850" cy="449262"/>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42" name="Oval 17">
              <a:extLst>
                <a:ext uri="{FF2B5EF4-FFF2-40B4-BE49-F238E27FC236}">
                  <a16:creationId xmlns:a16="http://schemas.microsoft.com/office/drawing/2014/main" id="{F3C85515-4651-34B0-6B2D-17C6A2391ED7}"/>
                </a:ext>
              </a:extLst>
            </p:cNvPr>
            <p:cNvSpPr>
              <a:spLocks noChangeArrowheads="1"/>
            </p:cNvSpPr>
            <p:nvPr/>
          </p:nvSpPr>
          <p:spPr bwMode="auto">
            <a:xfrm>
              <a:off x="1230313" y="2105025"/>
              <a:ext cx="450850" cy="449263"/>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43" name="Oval 18">
              <a:extLst>
                <a:ext uri="{FF2B5EF4-FFF2-40B4-BE49-F238E27FC236}">
                  <a16:creationId xmlns:a16="http://schemas.microsoft.com/office/drawing/2014/main" id="{C1BFEB53-BF25-3C4E-5BE3-EF81330A0893}"/>
                </a:ext>
              </a:extLst>
            </p:cNvPr>
            <p:cNvSpPr>
              <a:spLocks noChangeArrowheads="1"/>
            </p:cNvSpPr>
            <p:nvPr/>
          </p:nvSpPr>
          <p:spPr bwMode="auto">
            <a:xfrm>
              <a:off x="2287588" y="2163763"/>
              <a:ext cx="450850" cy="449262"/>
            </a:xfrm>
            <a:prstGeom prst="ellipse">
              <a:avLst/>
            </a:prstGeom>
            <a:solidFill>
              <a:srgbClr val="00CC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3</a:t>
              </a:r>
            </a:p>
          </p:txBody>
        </p:sp>
        <p:sp>
          <p:nvSpPr>
            <p:cNvPr id="44" name="Oval 19">
              <a:extLst>
                <a:ext uri="{FF2B5EF4-FFF2-40B4-BE49-F238E27FC236}">
                  <a16:creationId xmlns:a16="http://schemas.microsoft.com/office/drawing/2014/main" id="{F5DBF63E-8498-B683-78C4-8429E6D8CBCD}"/>
                </a:ext>
              </a:extLst>
            </p:cNvPr>
            <p:cNvSpPr>
              <a:spLocks noChangeArrowheads="1"/>
            </p:cNvSpPr>
            <p:nvPr/>
          </p:nvSpPr>
          <p:spPr bwMode="auto">
            <a:xfrm>
              <a:off x="5113338" y="176847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dirty="0">
                  <a:solidFill>
                    <a:schemeClr val="bg1"/>
                  </a:solidFill>
                  <a:latin typeface="Arial" charset="0"/>
                  <a:ea typeface="ＭＳ Ｐゴシック" charset="0"/>
                </a:rPr>
                <a:t>4</a:t>
              </a:r>
            </a:p>
          </p:txBody>
        </p:sp>
        <p:sp>
          <p:nvSpPr>
            <p:cNvPr id="45" name="Oval 20">
              <a:extLst>
                <a:ext uri="{FF2B5EF4-FFF2-40B4-BE49-F238E27FC236}">
                  <a16:creationId xmlns:a16="http://schemas.microsoft.com/office/drawing/2014/main" id="{0A5944DC-C248-470B-EE5F-465A2D78D35A}"/>
                </a:ext>
              </a:extLst>
            </p:cNvPr>
            <p:cNvSpPr>
              <a:spLocks noChangeArrowheads="1"/>
            </p:cNvSpPr>
            <p:nvPr/>
          </p:nvSpPr>
          <p:spPr bwMode="auto">
            <a:xfrm>
              <a:off x="5184775" y="454977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4</a:t>
              </a:r>
            </a:p>
          </p:txBody>
        </p:sp>
        <p:sp>
          <p:nvSpPr>
            <p:cNvPr id="46" name="Oval 21">
              <a:extLst>
                <a:ext uri="{FF2B5EF4-FFF2-40B4-BE49-F238E27FC236}">
                  <a16:creationId xmlns:a16="http://schemas.microsoft.com/office/drawing/2014/main" id="{27C4173B-21FA-6519-C8C5-62A30B7DCFFC}"/>
                </a:ext>
              </a:extLst>
            </p:cNvPr>
            <p:cNvSpPr>
              <a:spLocks noChangeArrowheads="1"/>
            </p:cNvSpPr>
            <p:nvPr/>
          </p:nvSpPr>
          <p:spPr bwMode="auto">
            <a:xfrm>
              <a:off x="5808663" y="228282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5</a:t>
              </a:r>
            </a:p>
          </p:txBody>
        </p:sp>
        <p:sp>
          <p:nvSpPr>
            <p:cNvPr id="47" name="Oval 22">
              <a:extLst>
                <a:ext uri="{FF2B5EF4-FFF2-40B4-BE49-F238E27FC236}">
                  <a16:creationId xmlns:a16="http://schemas.microsoft.com/office/drawing/2014/main" id="{2E685F0E-6F2E-046E-BE0C-386A175863B8}"/>
                </a:ext>
              </a:extLst>
            </p:cNvPr>
            <p:cNvSpPr>
              <a:spLocks noChangeArrowheads="1"/>
            </p:cNvSpPr>
            <p:nvPr/>
          </p:nvSpPr>
          <p:spPr bwMode="auto">
            <a:xfrm>
              <a:off x="5857875" y="4965700"/>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5</a:t>
              </a:r>
            </a:p>
          </p:txBody>
        </p:sp>
        <p:sp>
          <p:nvSpPr>
            <p:cNvPr id="48" name="Oval 23">
              <a:extLst>
                <a:ext uri="{FF2B5EF4-FFF2-40B4-BE49-F238E27FC236}">
                  <a16:creationId xmlns:a16="http://schemas.microsoft.com/office/drawing/2014/main" id="{5C7E0B4D-66D3-EB83-4695-C3BBD461E2EB}"/>
                </a:ext>
              </a:extLst>
            </p:cNvPr>
            <p:cNvSpPr>
              <a:spLocks noChangeArrowheads="1"/>
            </p:cNvSpPr>
            <p:nvPr/>
          </p:nvSpPr>
          <p:spPr bwMode="auto">
            <a:xfrm>
              <a:off x="6538913" y="2297113"/>
              <a:ext cx="450850" cy="449262"/>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6</a:t>
              </a:r>
            </a:p>
          </p:txBody>
        </p:sp>
        <p:sp>
          <p:nvSpPr>
            <p:cNvPr id="49" name="Oval 24">
              <a:extLst>
                <a:ext uri="{FF2B5EF4-FFF2-40B4-BE49-F238E27FC236}">
                  <a16:creationId xmlns:a16="http://schemas.microsoft.com/office/drawing/2014/main" id="{BFE0100B-4761-8C80-9D48-20728695914F}"/>
                </a:ext>
              </a:extLst>
            </p:cNvPr>
            <p:cNvSpPr>
              <a:spLocks noChangeArrowheads="1"/>
            </p:cNvSpPr>
            <p:nvPr/>
          </p:nvSpPr>
          <p:spPr bwMode="auto">
            <a:xfrm>
              <a:off x="6611938" y="4978400"/>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bg1"/>
                  </a:solidFill>
                  <a:latin typeface="Arial" charset="0"/>
                  <a:ea typeface="ＭＳ Ｐゴシック" charset="0"/>
                </a:rPr>
                <a:t>6</a:t>
              </a:r>
            </a:p>
          </p:txBody>
        </p:sp>
        <p:sp>
          <p:nvSpPr>
            <p:cNvPr id="50" name="Line 25">
              <a:extLst>
                <a:ext uri="{FF2B5EF4-FFF2-40B4-BE49-F238E27FC236}">
                  <a16:creationId xmlns:a16="http://schemas.microsoft.com/office/drawing/2014/main" id="{D301E0F1-FFB1-178D-74D3-29D0AA454B43}"/>
                </a:ext>
              </a:extLst>
            </p:cNvPr>
            <p:cNvSpPr>
              <a:spLocks noChangeShapeType="1"/>
            </p:cNvSpPr>
            <p:nvPr/>
          </p:nvSpPr>
          <p:spPr bwMode="auto">
            <a:xfrm>
              <a:off x="1454150" y="2581275"/>
              <a:ext cx="30163" cy="2640013"/>
            </a:xfrm>
            <a:prstGeom prst="line">
              <a:avLst/>
            </a:prstGeom>
            <a:noFill/>
            <a:ln w="57150" cap="sq">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51" name="Line 26">
              <a:extLst>
                <a:ext uri="{FF2B5EF4-FFF2-40B4-BE49-F238E27FC236}">
                  <a16:creationId xmlns:a16="http://schemas.microsoft.com/office/drawing/2014/main" id="{C4EFFFB8-2E8C-D5E8-9327-35ABAB55DFFE}"/>
                </a:ext>
              </a:extLst>
            </p:cNvPr>
            <p:cNvSpPr>
              <a:spLocks noChangeShapeType="1"/>
            </p:cNvSpPr>
            <p:nvPr/>
          </p:nvSpPr>
          <p:spPr bwMode="auto">
            <a:xfrm flipV="1">
              <a:off x="1487488" y="5275263"/>
              <a:ext cx="3001962" cy="0"/>
            </a:xfrm>
            <a:prstGeom prst="line">
              <a:avLst/>
            </a:prstGeom>
            <a:noFill/>
            <a:ln w="57150" cap="sq">
              <a:solidFill>
                <a:srgbClr val="3399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52" name="Line 27">
              <a:extLst>
                <a:ext uri="{FF2B5EF4-FFF2-40B4-BE49-F238E27FC236}">
                  <a16:creationId xmlns:a16="http://schemas.microsoft.com/office/drawing/2014/main" id="{526719B4-F8A3-CA78-7BB8-154A113C5328}"/>
                </a:ext>
              </a:extLst>
            </p:cNvPr>
            <p:cNvSpPr>
              <a:spLocks noChangeShapeType="1"/>
            </p:cNvSpPr>
            <p:nvPr/>
          </p:nvSpPr>
          <p:spPr bwMode="auto">
            <a:xfrm>
              <a:off x="784225" y="3517900"/>
              <a:ext cx="4200525" cy="127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53" name="Line 28">
              <a:extLst>
                <a:ext uri="{FF2B5EF4-FFF2-40B4-BE49-F238E27FC236}">
                  <a16:creationId xmlns:a16="http://schemas.microsoft.com/office/drawing/2014/main" id="{5FF36F36-5E73-08E6-7F0C-144DE5F88A50}"/>
                </a:ext>
              </a:extLst>
            </p:cNvPr>
            <p:cNvSpPr>
              <a:spLocks noChangeShapeType="1"/>
            </p:cNvSpPr>
            <p:nvPr/>
          </p:nvSpPr>
          <p:spPr bwMode="auto">
            <a:xfrm>
              <a:off x="1484313" y="2754313"/>
              <a:ext cx="2922587" cy="0"/>
            </a:xfrm>
            <a:prstGeom prst="line">
              <a:avLst/>
            </a:prstGeom>
            <a:noFill/>
            <a:ln w="57150" cap="sq">
              <a:solidFill>
                <a:srgbClr val="3399FF"/>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grpSp>
    </p:spTree>
    <p:custDataLst>
      <p:tags r:id="rId1"/>
    </p:custDataLst>
    <p:extLst>
      <p:ext uri="{BB962C8B-B14F-4D97-AF65-F5344CB8AC3E}">
        <p14:creationId xmlns:p14="http://schemas.microsoft.com/office/powerpoint/2010/main" val="38845412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66359-18F7-18AC-248F-886A10FD3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4C5E5-B87E-B386-F7DC-98B23777838D}"/>
              </a:ext>
            </a:extLst>
          </p:cNvPr>
          <p:cNvSpPr>
            <a:spLocks noGrp="1"/>
          </p:cNvSpPr>
          <p:nvPr>
            <p:ph type="title"/>
          </p:nvPr>
        </p:nvSpPr>
        <p:spPr>
          <a:xfrm>
            <a:off x="838200" y="681037"/>
            <a:ext cx="10149114" cy="1009651"/>
          </a:xfrm>
        </p:spPr>
        <p:txBody>
          <a:bodyPr>
            <a:noAutofit/>
          </a:bodyPr>
          <a:lstStyle/>
          <a:p>
            <a:r>
              <a:rPr lang="en-US" altLang="en-US" sz="4000" dirty="0"/>
              <a:t>Second Level Matrix - Growth</a:t>
            </a:r>
            <a:endParaRPr lang="en-US" sz="4000" dirty="0"/>
          </a:p>
        </p:txBody>
      </p:sp>
      <p:grpSp>
        <p:nvGrpSpPr>
          <p:cNvPr id="16" name="Group 15">
            <a:extLst>
              <a:ext uri="{FF2B5EF4-FFF2-40B4-BE49-F238E27FC236}">
                <a16:creationId xmlns:a16="http://schemas.microsoft.com/office/drawing/2014/main" id="{5BFA7FD2-A687-6EAF-C78E-A0DB973F541E}"/>
              </a:ext>
            </a:extLst>
          </p:cNvPr>
          <p:cNvGrpSpPr/>
          <p:nvPr/>
        </p:nvGrpSpPr>
        <p:grpSpPr>
          <a:xfrm>
            <a:off x="2408519" y="1777822"/>
            <a:ext cx="7374962" cy="4480103"/>
            <a:chOff x="241300" y="1255713"/>
            <a:chExt cx="8482013" cy="5002212"/>
          </a:xfrm>
        </p:grpSpPr>
        <p:graphicFrame>
          <p:nvGraphicFramePr>
            <p:cNvPr id="10" name="Object 1">
              <a:extLst>
                <a:ext uri="{FF2B5EF4-FFF2-40B4-BE49-F238E27FC236}">
                  <a16:creationId xmlns:a16="http://schemas.microsoft.com/office/drawing/2014/main" id="{ADC515F2-1790-08A9-5FB7-CA5848B26556}"/>
                </a:ext>
              </a:extLst>
            </p:cNvPr>
            <p:cNvGraphicFramePr>
              <a:graphicFrameLocks noChangeAspect="1"/>
            </p:cNvGraphicFramePr>
            <p:nvPr/>
          </p:nvGraphicFramePr>
          <p:xfrm>
            <a:off x="466725" y="1255713"/>
            <a:ext cx="8256588" cy="5002212"/>
          </p:xfrm>
          <a:graphic>
            <a:graphicData uri="http://schemas.openxmlformats.org/presentationml/2006/ole">
              <mc:AlternateContent xmlns:mc="http://schemas.openxmlformats.org/markup-compatibility/2006">
                <mc:Choice xmlns:v="urn:schemas-microsoft-com:vml" Requires="v">
                  <p:oleObj name="Worksheet" r:id="rId4" imgW="16484600" imgH="8026400" progId="Excel.Sheet.8">
                    <p:embed/>
                  </p:oleObj>
                </mc:Choice>
                <mc:Fallback>
                  <p:oleObj name="Worksheet" r:id="rId4" imgW="16484600" imgH="8026400" progId="Excel.Sheet.8">
                    <p:embed/>
                    <p:pic>
                      <p:nvPicPr>
                        <p:cNvPr id="10" name="Object 1">
                          <a:extLst>
                            <a:ext uri="{FF2B5EF4-FFF2-40B4-BE49-F238E27FC236}">
                              <a16:creationId xmlns:a16="http://schemas.microsoft.com/office/drawing/2014/main" id="{931D0504-3070-347C-3766-951F6F5A70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725" y="1255713"/>
                          <a:ext cx="8256588" cy="500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Oval 15">
              <a:extLst>
                <a:ext uri="{FF2B5EF4-FFF2-40B4-BE49-F238E27FC236}">
                  <a16:creationId xmlns:a16="http://schemas.microsoft.com/office/drawing/2014/main" id="{8D641603-88C2-535D-5998-0CE1C857C450}"/>
                </a:ext>
              </a:extLst>
            </p:cNvPr>
            <p:cNvSpPr>
              <a:spLocks noChangeArrowheads="1"/>
            </p:cNvSpPr>
            <p:nvPr/>
          </p:nvSpPr>
          <p:spPr bwMode="auto">
            <a:xfrm>
              <a:off x="241300" y="3770313"/>
              <a:ext cx="450850" cy="449262"/>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12" name="Oval 19">
              <a:extLst>
                <a:ext uri="{FF2B5EF4-FFF2-40B4-BE49-F238E27FC236}">
                  <a16:creationId xmlns:a16="http://schemas.microsoft.com/office/drawing/2014/main" id="{E156870F-E570-B978-8B3F-62BA79015B6A}"/>
                </a:ext>
              </a:extLst>
            </p:cNvPr>
            <p:cNvSpPr>
              <a:spLocks noChangeArrowheads="1"/>
            </p:cNvSpPr>
            <p:nvPr/>
          </p:nvSpPr>
          <p:spPr bwMode="auto">
            <a:xfrm>
              <a:off x="1568450" y="1665288"/>
              <a:ext cx="450850" cy="449262"/>
            </a:xfrm>
            <a:prstGeom prst="ellipse">
              <a:avLst/>
            </a:prstGeom>
            <a:solidFill>
              <a:srgbClr val="FFFF99"/>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3</a:t>
              </a:r>
            </a:p>
          </p:txBody>
        </p:sp>
        <p:sp>
          <p:nvSpPr>
            <p:cNvPr id="13" name="Oval 19">
              <a:extLst>
                <a:ext uri="{FF2B5EF4-FFF2-40B4-BE49-F238E27FC236}">
                  <a16:creationId xmlns:a16="http://schemas.microsoft.com/office/drawing/2014/main" id="{E603851F-24BE-8DB9-6445-7172C639C0CC}"/>
                </a:ext>
              </a:extLst>
            </p:cNvPr>
            <p:cNvSpPr>
              <a:spLocks noChangeArrowheads="1"/>
            </p:cNvSpPr>
            <p:nvPr/>
          </p:nvSpPr>
          <p:spPr bwMode="auto">
            <a:xfrm>
              <a:off x="3446463" y="3792538"/>
              <a:ext cx="450850" cy="449262"/>
            </a:xfrm>
            <a:prstGeom prst="ellipse">
              <a:avLst/>
            </a:prstGeom>
            <a:solidFill>
              <a:srgbClr val="FFFF00"/>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4</a:t>
              </a:r>
            </a:p>
          </p:txBody>
        </p:sp>
        <p:sp>
          <p:nvSpPr>
            <p:cNvPr id="14" name="Oval 19">
              <a:extLst>
                <a:ext uri="{FF2B5EF4-FFF2-40B4-BE49-F238E27FC236}">
                  <a16:creationId xmlns:a16="http://schemas.microsoft.com/office/drawing/2014/main" id="{EF1C41C6-C876-8A2D-5B00-C151B2055A8C}"/>
                </a:ext>
              </a:extLst>
            </p:cNvPr>
            <p:cNvSpPr>
              <a:spLocks noChangeArrowheads="1"/>
            </p:cNvSpPr>
            <p:nvPr/>
          </p:nvSpPr>
          <p:spPr bwMode="auto">
            <a:xfrm>
              <a:off x="5091113" y="3306763"/>
              <a:ext cx="450850" cy="449262"/>
            </a:xfrm>
            <a:prstGeom prst="ellipse">
              <a:avLst/>
            </a:prstGeom>
            <a:solidFill>
              <a:srgbClr val="CCFFCC"/>
            </a:solidFill>
            <a:ln w="12700" cap="sq">
              <a:solidFill>
                <a:schemeClr val="tx1"/>
              </a:solidFill>
              <a:round/>
              <a:headEnd/>
              <a:tailEnd/>
            </a:ln>
          </p:spPr>
          <p:txBody>
            <a:bodyPr wrap="none" anchor="ct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algn="ctr">
                <a:lnSpc>
                  <a:spcPct val="80000"/>
                </a:lnSpc>
                <a:spcBef>
                  <a:spcPct val="20000"/>
                </a:spcBef>
              </a:pPr>
              <a:r>
                <a:rPr lang="en-US" altLang="en-US" sz="2000">
                  <a:solidFill>
                    <a:schemeClr val="tx1"/>
                  </a:solidFill>
                  <a:latin typeface="Arial" panose="020B0604020202020204" pitchFamily="34" charset="0"/>
                </a:rPr>
                <a:t>5</a:t>
              </a:r>
            </a:p>
          </p:txBody>
        </p:sp>
        <p:sp>
          <p:nvSpPr>
            <p:cNvPr id="15" name="Oval 19">
              <a:extLst>
                <a:ext uri="{FF2B5EF4-FFF2-40B4-BE49-F238E27FC236}">
                  <a16:creationId xmlns:a16="http://schemas.microsoft.com/office/drawing/2014/main" id="{5234E422-3C62-A902-5358-D4402CCD7D3B}"/>
                </a:ext>
              </a:extLst>
            </p:cNvPr>
            <p:cNvSpPr>
              <a:spLocks noChangeArrowheads="1"/>
            </p:cNvSpPr>
            <p:nvPr/>
          </p:nvSpPr>
          <p:spPr bwMode="auto">
            <a:xfrm>
              <a:off x="1700213" y="5451475"/>
              <a:ext cx="450850" cy="449263"/>
            </a:xfrm>
            <a:prstGeom prst="ellipse">
              <a:avLst/>
            </a:prstGeom>
            <a:solidFill>
              <a:schemeClr val="bg1">
                <a:lumMod val="85000"/>
              </a:schemeClr>
            </a:solidFill>
            <a:ln w="12700" cap="sq" algn="ctr">
              <a:solidFill>
                <a:schemeClr val="tx1"/>
              </a:solidFill>
              <a:round/>
              <a:headEnd/>
              <a:tailEnd/>
            </a:ln>
            <a:effectLst/>
          </p:spPr>
          <p:txBody>
            <a:bodyPr wrap="none" anchor="ctr"/>
            <a:lstStyle/>
            <a:p>
              <a:pPr algn="ctr" eaLnBrk="0" hangingPunct="0">
                <a:lnSpc>
                  <a:spcPct val="80000"/>
                </a:lnSpc>
                <a:spcBef>
                  <a:spcPct val="20000"/>
                </a:spcBef>
                <a:defRPr/>
              </a:pPr>
              <a:r>
                <a:rPr lang="en-US" sz="2000" dirty="0">
                  <a:solidFill>
                    <a:schemeClr val="tx1"/>
                  </a:solidFill>
                  <a:latin typeface="Arial" charset="0"/>
                  <a:ea typeface="+mn-ea"/>
                </a:rPr>
                <a:t>1</a:t>
              </a:r>
            </a:p>
          </p:txBody>
        </p:sp>
      </p:grpSp>
    </p:spTree>
    <p:custDataLst>
      <p:tags r:id="rId1"/>
    </p:custDataLst>
    <p:extLst>
      <p:ext uri="{BB962C8B-B14F-4D97-AF65-F5344CB8AC3E}">
        <p14:creationId xmlns:p14="http://schemas.microsoft.com/office/powerpoint/2010/main" val="25311840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4ED5D-F07C-D7A7-48AE-D0B2A2A0E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E81AF-3488-C2DC-2CC1-982B19EC1E2C}"/>
              </a:ext>
            </a:extLst>
          </p:cNvPr>
          <p:cNvSpPr>
            <a:spLocks noGrp="1"/>
          </p:cNvSpPr>
          <p:nvPr>
            <p:ph type="title"/>
          </p:nvPr>
        </p:nvSpPr>
        <p:spPr>
          <a:xfrm>
            <a:off x="838200" y="681037"/>
            <a:ext cx="10149114" cy="1009651"/>
          </a:xfrm>
        </p:spPr>
        <p:txBody>
          <a:bodyPr>
            <a:noAutofit/>
          </a:bodyPr>
          <a:lstStyle/>
          <a:p>
            <a:r>
              <a:rPr lang="en-US" altLang="en-US" sz="2800" dirty="0"/>
              <a:t>Action Plans for Each Second Level Improvement Priority</a:t>
            </a:r>
            <a:endParaRPr lang="en-US" sz="2800" dirty="0"/>
          </a:p>
        </p:txBody>
      </p:sp>
      <p:sp>
        <p:nvSpPr>
          <p:cNvPr id="9" name="Text Box 3">
            <a:extLst>
              <a:ext uri="{FF2B5EF4-FFF2-40B4-BE49-F238E27FC236}">
                <a16:creationId xmlns:a16="http://schemas.microsoft.com/office/drawing/2014/main" id="{01EF59B7-7928-86E2-5887-33919EA0E8AC}"/>
              </a:ext>
            </a:extLst>
          </p:cNvPr>
          <p:cNvSpPr txBox="1">
            <a:spLocks noChangeArrowheads="1"/>
          </p:cNvSpPr>
          <p:nvPr/>
        </p:nvSpPr>
        <p:spPr bwMode="auto">
          <a:xfrm>
            <a:off x="2550765" y="1690688"/>
            <a:ext cx="19875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sp>
        <p:nvSpPr>
          <p:cNvPr id="17" name="Text Box 4">
            <a:extLst>
              <a:ext uri="{FF2B5EF4-FFF2-40B4-BE49-F238E27FC236}">
                <a16:creationId xmlns:a16="http://schemas.microsoft.com/office/drawing/2014/main" id="{91E269A8-B42C-B621-FF5B-D0356DA6379A}"/>
              </a:ext>
            </a:extLst>
          </p:cNvPr>
          <p:cNvSpPr txBox="1">
            <a:spLocks noChangeArrowheads="1"/>
          </p:cNvSpPr>
          <p:nvPr/>
        </p:nvSpPr>
        <p:spPr bwMode="auto">
          <a:xfrm>
            <a:off x="7908578" y="1773238"/>
            <a:ext cx="1568450" cy="311150"/>
          </a:xfrm>
          <a:prstGeom prst="rect">
            <a:avLst/>
          </a:prstGeom>
          <a:no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Action Plans</a:t>
            </a:r>
          </a:p>
        </p:txBody>
      </p:sp>
      <p:pic>
        <p:nvPicPr>
          <p:cNvPr id="18" name="Picture 5">
            <a:extLst>
              <a:ext uri="{FF2B5EF4-FFF2-40B4-BE49-F238E27FC236}">
                <a16:creationId xmlns:a16="http://schemas.microsoft.com/office/drawing/2014/main" id="{77FF9485-4DEE-D12F-0E86-CF98A054B1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053" y="2006600"/>
            <a:ext cx="3279775" cy="22367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9" name="Picture 6">
            <a:extLst>
              <a:ext uri="{FF2B5EF4-FFF2-40B4-BE49-F238E27FC236}">
                <a16:creationId xmlns:a16="http://schemas.microsoft.com/office/drawing/2014/main" id="{E008A4D2-2F99-D3CA-C35C-E4B0A29E11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0128" y="3675063"/>
            <a:ext cx="3344862" cy="2205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0" name="Text Box 7">
            <a:extLst>
              <a:ext uri="{FF2B5EF4-FFF2-40B4-BE49-F238E27FC236}">
                <a16:creationId xmlns:a16="http://schemas.microsoft.com/office/drawing/2014/main" id="{F762EB3C-E0F2-A5C6-106B-559B4504D52C}"/>
              </a:ext>
            </a:extLst>
          </p:cNvPr>
          <p:cNvSpPr txBox="1">
            <a:spLocks noChangeArrowheads="1"/>
          </p:cNvSpPr>
          <p:nvPr/>
        </p:nvSpPr>
        <p:spPr bwMode="auto">
          <a:xfrm>
            <a:off x="2503140" y="3345657"/>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sp>
        <p:nvSpPr>
          <p:cNvPr id="21" name="Oval 8">
            <a:extLst>
              <a:ext uri="{FF2B5EF4-FFF2-40B4-BE49-F238E27FC236}">
                <a16:creationId xmlns:a16="http://schemas.microsoft.com/office/drawing/2014/main" id="{0B6A02E3-E3E2-E6B6-79E4-D54955370CC3}"/>
              </a:ext>
            </a:extLst>
          </p:cNvPr>
          <p:cNvSpPr>
            <a:spLocks noChangeArrowheads="1"/>
          </p:cNvSpPr>
          <p:nvPr/>
        </p:nvSpPr>
        <p:spPr bwMode="auto">
          <a:xfrm>
            <a:off x="2398365" y="3949700"/>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sp>
        <p:nvSpPr>
          <p:cNvPr id="22" name="Line 9">
            <a:extLst>
              <a:ext uri="{FF2B5EF4-FFF2-40B4-BE49-F238E27FC236}">
                <a16:creationId xmlns:a16="http://schemas.microsoft.com/office/drawing/2014/main" id="{E9C3934D-D00B-BE90-5B3D-9A6815C78081}"/>
              </a:ext>
            </a:extLst>
          </p:cNvPr>
          <p:cNvSpPr>
            <a:spLocks noChangeShapeType="1"/>
          </p:cNvSpPr>
          <p:nvPr/>
        </p:nvSpPr>
        <p:spPr bwMode="auto">
          <a:xfrm flipV="1">
            <a:off x="2868265" y="4121150"/>
            <a:ext cx="4057650" cy="50800"/>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3" name="Line 10">
            <a:extLst>
              <a:ext uri="{FF2B5EF4-FFF2-40B4-BE49-F238E27FC236}">
                <a16:creationId xmlns:a16="http://schemas.microsoft.com/office/drawing/2014/main" id="{A9A27F6A-5BFE-6B07-0F63-E6BCECE1CD81}"/>
              </a:ext>
            </a:extLst>
          </p:cNvPr>
          <p:cNvSpPr>
            <a:spLocks noChangeShapeType="1"/>
          </p:cNvSpPr>
          <p:nvPr/>
        </p:nvSpPr>
        <p:spPr bwMode="auto">
          <a:xfrm flipV="1">
            <a:off x="2871440" y="2911475"/>
            <a:ext cx="4506913" cy="1219200"/>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4" name="Line 11">
            <a:extLst>
              <a:ext uri="{FF2B5EF4-FFF2-40B4-BE49-F238E27FC236}">
                <a16:creationId xmlns:a16="http://schemas.microsoft.com/office/drawing/2014/main" id="{C140BAEB-B6F9-A354-D2F8-E3DAD551EAAB}"/>
              </a:ext>
            </a:extLst>
          </p:cNvPr>
          <p:cNvSpPr>
            <a:spLocks noChangeShapeType="1"/>
          </p:cNvSpPr>
          <p:nvPr/>
        </p:nvSpPr>
        <p:spPr bwMode="auto">
          <a:xfrm>
            <a:off x="2868265" y="4197350"/>
            <a:ext cx="4546600" cy="1374775"/>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pic>
        <p:nvPicPr>
          <p:cNvPr id="25" name="Picture 12">
            <a:extLst>
              <a:ext uri="{FF2B5EF4-FFF2-40B4-BE49-F238E27FC236}">
                <a16:creationId xmlns:a16="http://schemas.microsoft.com/office/drawing/2014/main" id="{83BEE961-DAB0-00C8-7F46-EE4567A017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8353" y="2116138"/>
            <a:ext cx="2894012"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6" name="Oval 13">
            <a:extLst>
              <a:ext uri="{FF2B5EF4-FFF2-40B4-BE49-F238E27FC236}">
                <a16:creationId xmlns:a16="http://schemas.microsoft.com/office/drawing/2014/main" id="{2114017D-9D2A-BAE1-FC44-8607DD2EBCEA}"/>
              </a:ext>
            </a:extLst>
          </p:cNvPr>
          <p:cNvSpPr>
            <a:spLocks noChangeArrowheads="1"/>
          </p:cNvSpPr>
          <p:nvPr/>
        </p:nvSpPr>
        <p:spPr bwMode="auto">
          <a:xfrm>
            <a:off x="7376765" y="2641600"/>
            <a:ext cx="450850" cy="4365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pic>
        <p:nvPicPr>
          <p:cNvPr id="27" name="Picture 14">
            <a:extLst>
              <a:ext uri="{FF2B5EF4-FFF2-40B4-BE49-F238E27FC236}">
                <a16:creationId xmlns:a16="http://schemas.microsoft.com/office/drawing/2014/main" id="{1CCCCEEE-AE13-3CB1-3A76-B3BD302D9B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11628" y="3452813"/>
            <a:ext cx="2960687" cy="179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8" name="Oval 15">
            <a:extLst>
              <a:ext uri="{FF2B5EF4-FFF2-40B4-BE49-F238E27FC236}">
                <a16:creationId xmlns:a16="http://schemas.microsoft.com/office/drawing/2014/main" id="{E430FC86-7C75-4D21-9805-B807DF5EFFA6}"/>
              </a:ext>
            </a:extLst>
          </p:cNvPr>
          <p:cNvSpPr>
            <a:spLocks noChangeArrowheads="1"/>
          </p:cNvSpPr>
          <p:nvPr/>
        </p:nvSpPr>
        <p:spPr bwMode="auto">
          <a:xfrm>
            <a:off x="6916390" y="3895725"/>
            <a:ext cx="450850" cy="449263"/>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pic>
        <p:nvPicPr>
          <p:cNvPr id="29" name="Picture 16">
            <a:extLst>
              <a:ext uri="{FF2B5EF4-FFF2-40B4-BE49-F238E27FC236}">
                <a16:creationId xmlns:a16="http://schemas.microsoft.com/office/drawing/2014/main" id="{1A807ACD-1108-D8A3-A276-1527963761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1378" y="4397375"/>
            <a:ext cx="2894012"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0" name="Oval 17">
            <a:extLst>
              <a:ext uri="{FF2B5EF4-FFF2-40B4-BE49-F238E27FC236}">
                <a16:creationId xmlns:a16="http://schemas.microsoft.com/office/drawing/2014/main" id="{8F3A6706-0960-9F9F-EF97-F4369E7C1B39}"/>
              </a:ext>
            </a:extLst>
          </p:cNvPr>
          <p:cNvSpPr>
            <a:spLocks noChangeArrowheads="1"/>
          </p:cNvSpPr>
          <p:nvPr/>
        </p:nvSpPr>
        <p:spPr bwMode="auto">
          <a:xfrm>
            <a:off x="7429153" y="5399088"/>
            <a:ext cx="450850" cy="449262"/>
          </a:xfrm>
          <a:prstGeom prst="ellipse">
            <a:avLst/>
          </a:prstGeom>
          <a:solidFill>
            <a:schemeClr val="accent1"/>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latin typeface="Arial" charset="0"/>
                <a:ea typeface="ＭＳ Ｐゴシック" charset="0"/>
              </a:rPr>
              <a:t>4</a:t>
            </a:r>
          </a:p>
        </p:txBody>
      </p:sp>
    </p:spTree>
    <p:custDataLst>
      <p:tags r:id="rId1"/>
    </p:custDataLst>
    <p:extLst>
      <p:ext uri="{BB962C8B-B14F-4D97-AF65-F5344CB8AC3E}">
        <p14:creationId xmlns:p14="http://schemas.microsoft.com/office/powerpoint/2010/main" val="3074606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2" presetClass="entr" presetSubtype="4"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500"/>
                                        <p:tgtEl>
                                          <p:spTgt spid="23"/>
                                        </p:tgtEl>
                                      </p:cBhvr>
                                    </p:animEffect>
                                  </p:childTnLst>
                                </p:cTn>
                              </p:par>
                            </p:childTnLst>
                          </p:cTn>
                        </p:par>
                        <p:par>
                          <p:cTn id="12" fill="hold">
                            <p:stCondLst>
                              <p:cond delay="500"/>
                            </p:stCondLst>
                            <p:childTnLst>
                              <p:par>
                                <p:cTn id="13" presetID="2" presetClass="entr" presetSubtype="8"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0-#ppt_w/2"/>
                                          </p:val>
                                        </p:tav>
                                        <p:tav tm="100000">
                                          <p:val>
                                            <p:strVal val="#ppt_x"/>
                                          </p:val>
                                        </p:tav>
                                      </p:tavLst>
                                    </p:anim>
                                    <p:anim calcmode="lin" valueType="num">
                                      <p:cBhvr additive="base">
                                        <p:cTn id="16" dur="500" fill="hold"/>
                                        <p:tgtEl>
                                          <p:spTgt spid="28"/>
                                        </p:tgtEl>
                                        <p:attrNameLst>
                                          <p:attrName>ppt_y</p:attrName>
                                        </p:attrNameLst>
                                      </p:cBhvr>
                                      <p:tavLst>
                                        <p:tav tm="0">
                                          <p:val>
                                            <p:strVal val="#ppt_y"/>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childTnLst>
                          </p:cTn>
                        </p:par>
                        <p:par>
                          <p:cTn id="20" fill="hold">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0-#ppt_w/2"/>
                                          </p:val>
                                        </p:tav>
                                        <p:tav tm="100000">
                                          <p:val>
                                            <p:strVal val="#ppt_x"/>
                                          </p:val>
                                        </p:tav>
                                      </p:tavLst>
                                    </p:anim>
                                    <p:anim calcmode="lin" valueType="num">
                                      <p:cBhvr additive="base">
                                        <p:cTn id="24" dur="500" fill="hold"/>
                                        <p:tgtEl>
                                          <p:spTgt spid="30"/>
                                        </p:tgtEl>
                                        <p:attrNameLst>
                                          <p:attrName>ppt_y</p:attrName>
                                        </p:attrNameLst>
                                      </p:cBhvr>
                                      <p:tavLst>
                                        <p:tav tm="0">
                                          <p:val>
                                            <p:strVal val="#ppt_y"/>
                                          </p:val>
                                        </p:tav>
                                        <p:tav tm="100000">
                                          <p:val>
                                            <p:strVal val="#ppt_y"/>
                                          </p:val>
                                        </p:tav>
                                      </p:tavLst>
                                    </p:anim>
                                  </p:childTnLst>
                                </p:cTn>
                              </p:par>
                              <p:par>
                                <p:cTn id="25" presetID="22" presetClass="entr" presetSubtype="8"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3BE6C-7014-7158-3B95-3ACD228B8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CD320-B859-90AD-B61E-E49259AE4DDB}"/>
              </a:ext>
            </a:extLst>
          </p:cNvPr>
          <p:cNvSpPr>
            <a:spLocks noGrp="1"/>
          </p:cNvSpPr>
          <p:nvPr>
            <p:ph type="title"/>
          </p:nvPr>
        </p:nvSpPr>
        <p:spPr>
          <a:xfrm>
            <a:off x="838200" y="681037"/>
            <a:ext cx="10149114" cy="1009651"/>
          </a:xfrm>
        </p:spPr>
        <p:txBody>
          <a:bodyPr>
            <a:noAutofit/>
          </a:bodyPr>
          <a:lstStyle/>
          <a:p>
            <a:r>
              <a:rPr lang="en-US" altLang="en-US" sz="4000" dirty="0"/>
              <a:t>Bowling Charts at Top and Second Level</a:t>
            </a:r>
            <a:endParaRPr lang="en-US" sz="4000" dirty="0"/>
          </a:p>
        </p:txBody>
      </p:sp>
      <p:grpSp>
        <p:nvGrpSpPr>
          <p:cNvPr id="45" name="Group 44">
            <a:extLst>
              <a:ext uri="{FF2B5EF4-FFF2-40B4-BE49-F238E27FC236}">
                <a16:creationId xmlns:a16="http://schemas.microsoft.com/office/drawing/2014/main" id="{BE533454-15A0-DFAE-EED2-0CE8E533A3CF}"/>
              </a:ext>
            </a:extLst>
          </p:cNvPr>
          <p:cNvGrpSpPr/>
          <p:nvPr/>
        </p:nvGrpSpPr>
        <p:grpSpPr>
          <a:xfrm>
            <a:off x="101202" y="1741487"/>
            <a:ext cx="10352087" cy="4564969"/>
            <a:chOff x="-1690687" y="1443037"/>
            <a:chExt cx="10352087" cy="4564969"/>
          </a:xfrm>
        </p:grpSpPr>
        <p:sp>
          <p:nvSpPr>
            <p:cNvPr id="10" name="Text Box 3">
              <a:extLst>
                <a:ext uri="{FF2B5EF4-FFF2-40B4-BE49-F238E27FC236}">
                  <a16:creationId xmlns:a16="http://schemas.microsoft.com/office/drawing/2014/main" id="{38B9DFC2-F4D8-3C80-BB12-3A3483563B91}"/>
                </a:ext>
              </a:extLst>
            </p:cNvPr>
            <p:cNvSpPr txBox="1">
              <a:spLocks noChangeArrowheads="1"/>
            </p:cNvSpPr>
            <p:nvPr/>
          </p:nvSpPr>
          <p:spPr bwMode="auto">
            <a:xfrm>
              <a:off x="-1690687" y="2090738"/>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sp>
          <p:nvSpPr>
            <p:cNvPr id="11" name="Text Box 4">
              <a:extLst>
                <a:ext uri="{FF2B5EF4-FFF2-40B4-BE49-F238E27FC236}">
                  <a16:creationId xmlns:a16="http://schemas.microsoft.com/office/drawing/2014/main" id="{1AFA7716-F390-377F-4CFA-64F909C2AC28}"/>
                </a:ext>
              </a:extLst>
            </p:cNvPr>
            <p:cNvSpPr txBox="1">
              <a:spLocks noChangeArrowheads="1"/>
            </p:cNvSpPr>
            <p:nvPr/>
          </p:nvSpPr>
          <p:spPr bwMode="auto">
            <a:xfrm>
              <a:off x="-1690687" y="4482193"/>
              <a:ext cx="1953370" cy="535531"/>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 - Growth</a:t>
              </a:r>
            </a:p>
          </p:txBody>
        </p:sp>
        <p:sp>
          <p:nvSpPr>
            <p:cNvPr id="12" name="Text Box 5">
              <a:extLst>
                <a:ext uri="{FF2B5EF4-FFF2-40B4-BE49-F238E27FC236}">
                  <a16:creationId xmlns:a16="http://schemas.microsoft.com/office/drawing/2014/main" id="{6E763E68-F648-F0DF-C594-B7023CF1973E}"/>
                </a:ext>
              </a:extLst>
            </p:cNvPr>
            <p:cNvSpPr txBox="1">
              <a:spLocks noChangeArrowheads="1"/>
            </p:cNvSpPr>
            <p:nvPr/>
          </p:nvSpPr>
          <p:spPr bwMode="auto">
            <a:xfrm>
              <a:off x="4851400" y="201612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Bowling Chart</a:t>
              </a:r>
            </a:p>
          </p:txBody>
        </p:sp>
        <p:pic>
          <p:nvPicPr>
            <p:cNvPr id="13" name="Picture 6">
              <a:extLst>
                <a:ext uri="{FF2B5EF4-FFF2-40B4-BE49-F238E27FC236}">
                  <a16:creationId xmlns:a16="http://schemas.microsoft.com/office/drawing/2014/main" id="{ECA1BA35-46AF-7C99-1DDC-9E80397281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443037"/>
              <a:ext cx="3354388" cy="2289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4" name="Picture 7">
              <a:extLst>
                <a:ext uri="{FF2B5EF4-FFF2-40B4-BE49-F238E27FC236}">
                  <a16:creationId xmlns:a16="http://schemas.microsoft.com/office/drawing/2014/main" id="{81F24A86-7AEB-AD39-B4DF-E55F3BEBB2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413" y="3812493"/>
              <a:ext cx="3367088" cy="2195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5" name="Oval 8">
              <a:extLst>
                <a:ext uri="{FF2B5EF4-FFF2-40B4-BE49-F238E27FC236}">
                  <a16:creationId xmlns:a16="http://schemas.microsoft.com/office/drawing/2014/main" id="{71ED124D-1671-534D-3596-F0FE9A6A7BC7}"/>
                </a:ext>
              </a:extLst>
            </p:cNvPr>
            <p:cNvSpPr>
              <a:spLocks noChangeArrowheads="1"/>
            </p:cNvSpPr>
            <p:nvPr/>
          </p:nvSpPr>
          <p:spPr bwMode="auto">
            <a:xfrm>
              <a:off x="209550" y="2527300"/>
              <a:ext cx="450850" cy="449262"/>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16" name="Oval 9">
              <a:extLst>
                <a:ext uri="{FF2B5EF4-FFF2-40B4-BE49-F238E27FC236}">
                  <a16:creationId xmlns:a16="http://schemas.microsoft.com/office/drawing/2014/main" id="{1329B07E-0E1B-BE5D-0AE2-53859F17DC9B}"/>
                </a:ext>
              </a:extLst>
            </p:cNvPr>
            <p:cNvSpPr>
              <a:spLocks noChangeArrowheads="1"/>
            </p:cNvSpPr>
            <p:nvPr/>
          </p:nvSpPr>
          <p:spPr bwMode="auto">
            <a:xfrm>
              <a:off x="960438" y="1785937"/>
              <a:ext cx="469900" cy="500063"/>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1" name="Oval 10">
              <a:extLst>
                <a:ext uri="{FF2B5EF4-FFF2-40B4-BE49-F238E27FC236}">
                  <a16:creationId xmlns:a16="http://schemas.microsoft.com/office/drawing/2014/main" id="{DCF7145A-46E7-CB7C-FC39-82F1F5D0D855}"/>
                </a:ext>
              </a:extLst>
            </p:cNvPr>
            <p:cNvSpPr>
              <a:spLocks noChangeArrowheads="1"/>
            </p:cNvSpPr>
            <p:nvPr/>
          </p:nvSpPr>
          <p:spPr bwMode="auto">
            <a:xfrm>
              <a:off x="1847850" y="1685925"/>
              <a:ext cx="509588" cy="457200"/>
            </a:xfrm>
            <a:prstGeom prst="ellipse">
              <a:avLst/>
            </a:prstGeom>
            <a:solidFill>
              <a:srgbClr val="00CC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3</a:t>
              </a:r>
            </a:p>
          </p:txBody>
        </p:sp>
        <p:sp>
          <p:nvSpPr>
            <p:cNvPr id="32" name="Oval 11">
              <a:extLst>
                <a:ext uri="{FF2B5EF4-FFF2-40B4-BE49-F238E27FC236}">
                  <a16:creationId xmlns:a16="http://schemas.microsoft.com/office/drawing/2014/main" id="{D315A5B3-D759-969D-0BD3-1CE4BCDABC42}"/>
                </a:ext>
              </a:extLst>
            </p:cNvPr>
            <p:cNvSpPr>
              <a:spLocks noChangeArrowheads="1"/>
            </p:cNvSpPr>
            <p:nvPr/>
          </p:nvSpPr>
          <p:spPr bwMode="auto">
            <a:xfrm>
              <a:off x="749251" y="5552393"/>
              <a:ext cx="450850" cy="449263"/>
            </a:xfrm>
            <a:prstGeom prst="ellipse">
              <a:avLst/>
            </a:prstGeom>
            <a:solidFill>
              <a:srgbClr val="DDDDDD"/>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1</a:t>
              </a:r>
            </a:p>
          </p:txBody>
        </p:sp>
        <p:sp>
          <p:nvSpPr>
            <p:cNvPr id="33" name="Oval 12">
              <a:extLst>
                <a:ext uri="{FF2B5EF4-FFF2-40B4-BE49-F238E27FC236}">
                  <a16:creationId xmlns:a16="http://schemas.microsoft.com/office/drawing/2014/main" id="{707A8C94-C439-CA7C-013A-B25096C355DC}"/>
                </a:ext>
              </a:extLst>
            </p:cNvPr>
            <p:cNvSpPr>
              <a:spLocks noChangeArrowheads="1"/>
            </p:cNvSpPr>
            <p:nvPr/>
          </p:nvSpPr>
          <p:spPr bwMode="auto">
            <a:xfrm>
              <a:off x="241251" y="4909456"/>
              <a:ext cx="461962" cy="431800"/>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4" name="Oval 13">
              <a:extLst>
                <a:ext uri="{FF2B5EF4-FFF2-40B4-BE49-F238E27FC236}">
                  <a16:creationId xmlns:a16="http://schemas.microsoft.com/office/drawing/2014/main" id="{B41978E8-EBC8-9B71-D271-286A4C162874}"/>
                </a:ext>
              </a:extLst>
            </p:cNvPr>
            <p:cNvSpPr>
              <a:spLocks noChangeArrowheads="1"/>
            </p:cNvSpPr>
            <p:nvPr/>
          </p:nvSpPr>
          <p:spPr bwMode="auto">
            <a:xfrm>
              <a:off x="1473151" y="4731656"/>
              <a:ext cx="496887" cy="430212"/>
            </a:xfrm>
            <a:prstGeom prst="ellipse">
              <a:avLst/>
            </a:prstGeom>
            <a:solidFill>
              <a:srgbClr val="FFFF00"/>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5</a:t>
              </a:r>
            </a:p>
          </p:txBody>
        </p:sp>
        <p:sp>
          <p:nvSpPr>
            <p:cNvPr id="35" name="Oval 14">
              <a:extLst>
                <a:ext uri="{FF2B5EF4-FFF2-40B4-BE49-F238E27FC236}">
                  <a16:creationId xmlns:a16="http://schemas.microsoft.com/office/drawing/2014/main" id="{75B47F41-73A8-D3F0-7F2F-8281DE815071}"/>
                </a:ext>
              </a:extLst>
            </p:cNvPr>
            <p:cNvSpPr>
              <a:spLocks noChangeArrowheads="1"/>
            </p:cNvSpPr>
            <p:nvPr/>
          </p:nvSpPr>
          <p:spPr bwMode="auto">
            <a:xfrm>
              <a:off x="793701" y="4091893"/>
              <a:ext cx="484187" cy="444500"/>
            </a:xfrm>
            <a:prstGeom prst="ellipse">
              <a:avLst/>
            </a:prstGeom>
            <a:solidFill>
              <a:srgbClr val="FFFF99"/>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4</a:t>
              </a:r>
            </a:p>
          </p:txBody>
        </p:sp>
        <p:pic>
          <p:nvPicPr>
            <p:cNvPr id="36" name="Picture 15">
              <a:extLst>
                <a:ext uri="{FF2B5EF4-FFF2-40B4-BE49-F238E27FC236}">
                  <a16:creationId xmlns:a16="http://schemas.microsoft.com/office/drawing/2014/main" id="{44320A12-8717-3CB3-7B87-FFC54B0A89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7738" y="2428875"/>
              <a:ext cx="3903662" cy="3297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7" name="Oval 16">
              <a:extLst>
                <a:ext uri="{FF2B5EF4-FFF2-40B4-BE49-F238E27FC236}">
                  <a16:creationId xmlns:a16="http://schemas.microsoft.com/office/drawing/2014/main" id="{773617A3-8E1E-A72B-F95A-AF43CB59854E}"/>
                </a:ext>
              </a:extLst>
            </p:cNvPr>
            <p:cNvSpPr>
              <a:spLocks noChangeArrowheads="1"/>
            </p:cNvSpPr>
            <p:nvPr/>
          </p:nvSpPr>
          <p:spPr bwMode="auto">
            <a:xfrm>
              <a:off x="4684713" y="3033713"/>
              <a:ext cx="496887" cy="446087"/>
            </a:xfrm>
            <a:prstGeom prst="ellipse">
              <a:avLst/>
            </a:prstGeom>
            <a:solidFill>
              <a:srgbClr val="00FF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2</a:t>
              </a:r>
            </a:p>
          </p:txBody>
        </p:sp>
        <p:sp>
          <p:nvSpPr>
            <p:cNvPr id="38" name="Oval 17">
              <a:extLst>
                <a:ext uri="{FF2B5EF4-FFF2-40B4-BE49-F238E27FC236}">
                  <a16:creationId xmlns:a16="http://schemas.microsoft.com/office/drawing/2014/main" id="{79349159-1CB4-AED5-8BD2-76E843A21116}"/>
                </a:ext>
              </a:extLst>
            </p:cNvPr>
            <p:cNvSpPr>
              <a:spLocks noChangeArrowheads="1"/>
            </p:cNvSpPr>
            <p:nvPr/>
          </p:nvSpPr>
          <p:spPr bwMode="auto">
            <a:xfrm>
              <a:off x="5702300" y="3022600"/>
              <a:ext cx="509588" cy="457200"/>
            </a:xfrm>
            <a:prstGeom prst="ellipse">
              <a:avLst/>
            </a:prstGeom>
            <a:solidFill>
              <a:srgbClr val="00CCFF"/>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3</a:t>
              </a:r>
            </a:p>
          </p:txBody>
        </p:sp>
        <p:sp>
          <p:nvSpPr>
            <p:cNvPr id="39" name="Oval 18">
              <a:extLst>
                <a:ext uri="{FF2B5EF4-FFF2-40B4-BE49-F238E27FC236}">
                  <a16:creationId xmlns:a16="http://schemas.microsoft.com/office/drawing/2014/main" id="{191BDAD0-5218-9A58-90B7-BCBCA21A2B61}"/>
                </a:ext>
              </a:extLst>
            </p:cNvPr>
            <p:cNvSpPr>
              <a:spLocks noChangeArrowheads="1"/>
            </p:cNvSpPr>
            <p:nvPr/>
          </p:nvSpPr>
          <p:spPr bwMode="auto">
            <a:xfrm>
              <a:off x="4670425" y="3922713"/>
              <a:ext cx="484188" cy="444500"/>
            </a:xfrm>
            <a:prstGeom prst="ellipse">
              <a:avLst/>
            </a:prstGeom>
            <a:solidFill>
              <a:srgbClr val="FFFF99"/>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4</a:t>
              </a:r>
            </a:p>
          </p:txBody>
        </p:sp>
        <p:sp>
          <p:nvSpPr>
            <p:cNvPr id="40" name="Oval 19">
              <a:extLst>
                <a:ext uri="{FF2B5EF4-FFF2-40B4-BE49-F238E27FC236}">
                  <a16:creationId xmlns:a16="http://schemas.microsoft.com/office/drawing/2014/main" id="{496C1A99-776C-0368-F6FF-DF4BD65FB593}"/>
                </a:ext>
              </a:extLst>
            </p:cNvPr>
            <p:cNvSpPr>
              <a:spLocks noChangeArrowheads="1"/>
            </p:cNvSpPr>
            <p:nvPr/>
          </p:nvSpPr>
          <p:spPr bwMode="auto">
            <a:xfrm>
              <a:off x="5756275" y="4027488"/>
              <a:ext cx="496888" cy="430212"/>
            </a:xfrm>
            <a:prstGeom prst="ellipse">
              <a:avLst/>
            </a:prstGeom>
            <a:solidFill>
              <a:srgbClr val="FFFF00"/>
            </a:solidFill>
            <a:ln w="12700" cap="sq">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lnSpc>
                  <a:spcPct val="80000"/>
                </a:lnSpc>
                <a:spcBef>
                  <a:spcPct val="20000"/>
                </a:spcBef>
                <a:defRPr/>
              </a:pPr>
              <a:r>
                <a:rPr lang="en-US" sz="2000">
                  <a:solidFill>
                    <a:schemeClr val="tx1"/>
                  </a:solidFill>
                  <a:latin typeface="Arial" charset="0"/>
                  <a:ea typeface="ＭＳ Ｐゴシック" charset="0"/>
                </a:rPr>
                <a:t>5</a:t>
              </a:r>
            </a:p>
          </p:txBody>
        </p:sp>
        <p:sp>
          <p:nvSpPr>
            <p:cNvPr id="41" name="Line 20">
              <a:extLst>
                <a:ext uri="{FF2B5EF4-FFF2-40B4-BE49-F238E27FC236}">
                  <a16:creationId xmlns:a16="http://schemas.microsoft.com/office/drawing/2014/main" id="{B39D9C00-1A13-2B1C-3814-DC277D9BD93C}"/>
                </a:ext>
              </a:extLst>
            </p:cNvPr>
            <p:cNvSpPr>
              <a:spLocks noChangeShapeType="1"/>
            </p:cNvSpPr>
            <p:nvPr/>
          </p:nvSpPr>
          <p:spPr bwMode="auto">
            <a:xfrm>
              <a:off x="1373188" y="2143125"/>
              <a:ext cx="3338512" cy="10414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42" name="Line 21">
              <a:extLst>
                <a:ext uri="{FF2B5EF4-FFF2-40B4-BE49-F238E27FC236}">
                  <a16:creationId xmlns:a16="http://schemas.microsoft.com/office/drawing/2014/main" id="{5BD84EBD-A114-38B5-D8D8-4485DB996733}"/>
                </a:ext>
              </a:extLst>
            </p:cNvPr>
            <p:cNvSpPr>
              <a:spLocks noChangeShapeType="1"/>
            </p:cNvSpPr>
            <p:nvPr/>
          </p:nvSpPr>
          <p:spPr bwMode="auto">
            <a:xfrm>
              <a:off x="2325638" y="1997076"/>
              <a:ext cx="3392537" cy="1187449"/>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43" name="Line 22">
              <a:extLst>
                <a:ext uri="{FF2B5EF4-FFF2-40B4-BE49-F238E27FC236}">
                  <a16:creationId xmlns:a16="http://schemas.microsoft.com/office/drawing/2014/main" id="{9386E7C8-DCBA-FFD3-DAF1-B2B32DC6112A}"/>
                </a:ext>
              </a:extLst>
            </p:cNvPr>
            <p:cNvSpPr>
              <a:spLocks noChangeShapeType="1"/>
            </p:cNvSpPr>
            <p:nvPr/>
          </p:nvSpPr>
          <p:spPr bwMode="auto">
            <a:xfrm flipV="1">
              <a:off x="1277888" y="4144962"/>
              <a:ext cx="3392537" cy="121331"/>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44" name="Line 23">
              <a:extLst>
                <a:ext uri="{FF2B5EF4-FFF2-40B4-BE49-F238E27FC236}">
                  <a16:creationId xmlns:a16="http://schemas.microsoft.com/office/drawing/2014/main" id="{F0C2D2BC-5DD6-2F0F-60AD-BB221CDA74E9}"/>
                </a:ext>
              </a:extLst>
            </p:cNvPr>
            <p:cNvSpPr>
              <a:spLocks noChangeShapeType="1"/>
            </p:cNvSpPr>
            <p:nvPr/>
          </p:nvSpPr>
          <p:spPr bwMode="auto">
            <a:xfrm flipV="1">
              <a:off x="1970037" y="4346575"/>
              <a:ext cx="3843387" cy="576488"/>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grpSp>
    </p:spTree>
    <p:custDataLst>
      <p:tags r:id="rId1"/>
    </p:custDataLst>
    <p:extLst>
      <p:ext uri="{BB962C8B-B14F-4D97-AF65-F5344CB8AC3E}">
        <p14:creationId xmlns:p14="http://schemas.microsoft.com/office/powerpoint/2010/main" val="10502085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2926A-66A9-08EC-8406-4B6F8FAFE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E832F-5573-DEF1-27B1-82BC0B4918D2}"/>
              </a:ext>
            </a:extLst>
          </p:cNvPr>
          <p:cNvSpPr>
            <a:spLocks noGrp="1"/>
          </p:cNvSpPr>
          <p:nvPr>
            <p:ph type="title"/>
          </p:nvPr>
        </p:nvSpPr>
        <p:spPr>
          <a:xfrm>
            <a:off x="838200" y="681037"/>
            <a:ext cx="10149114" cy="1009651"/>
          </a:xfrm>
        </p:spPr>
        <p:txBody>
          <a:bodyPr>
            <a:noAutofit/>
          </a:bodyPr>
          <a:lstStyle/>
          <a:p>
            <a:r>
              <a:rPr lang="en-US" altLang="en-US" sz="4000" dirty="0"/>
              <a:t>Countermeasures for Every Miss</a:t>
            </a:r>
            <a:endParaRPr lang="en-US" sz="4000" dirty="0"/>
          </a:p>
        </p:txBody>
      </p:sp>
      <p:sp>
        <p:nvSpPr>
          <p:cNvPr id="9" name="Text Box 3">
            <a:extLst>
              <a:ext uri="{FF2B5EF4-FFF2-40B4-BE49-F238E27FC236}">
                <a16:creationId xmlns:a16="http://schemas.microsoft.com/office/drawing/2014/main" id="{E3AB680A-97FD-AED9-F3D3-5D78F8472E8D}"/>
              </a:ext>
            </a:extLst>
          </p:cNvPr>
          <p:cNvSpPr txBox="1">
            <a:spLocks noChangeArrowheads="1"/>
          </p:cNvSpPr>
          <p:nvPr/>
        </p:nvSpPr>
        <p:spPr bwMode="auto">
          <a:xfrm>
            <a:off x="436450" y="1948431"/>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sp>
        <p:nvSpPr>
          <p:cNvPr id="17" name="Text Box 4">
            <a:extLst>
              <a:ext uri="{FF2B5EF4-FFF2-40B4-BE49-F238E27FC236}">
                <a16:creationId xmlns:a16="http://schemas.microsoft.com/office/drawing/2014/main" id="{EC56049E-E41F-631E-2ED5-DF7BF636915F}"/>
              </a:ext>
            </a:extLst>
          </p:cNvPr>
          <p:cNvSpPr txBox="1">
            <a:spLocks noChangeArrowheads="1"/>
          </p:cNvSpPr>
          <p:nvPr/>
        </p:nvSpPr>
        <p:spPr bwMode="auto">
          <a:xfrm>
            <a:off x="8679996" y="1453472"/>
            <a:ext cx="26352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Countermeasure Form</a:t>
            </a:r>
          </a:p>
        </p:txBody>
      </p:sp>
      <p:pic>
        <p:nvPicPr>
          <p:cNvPr id="18" name="Picture 5">
            <a:extLst>
              <a:ext uri="{FF2B5EF4-FFF2-40B4-BE49-F238E27FC236}">
                <a16:creationId xmlns:a16="http://schemas.microsoft.com/office/drawing/2014/main" id="{CDBAABB1-33EA-C876-66BD-5CB86A6757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100" y="2240531"/>
            <a:ext cx="3054350" cy="2084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9" name="Picture 6">
            <a:extLst>
              <a:ext uri="{FF2B5EF4-FFF2-40B4-BE49-F238E27FC236}">
                <a16:creationId xmlns:a16="http://schemas.microsoft.com/office/drawing/2014/main" id="{7A400AA5-D610-3F4D-1C6F-DC746D1F61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373" y="3187021"/>
            <a:ext cx="3016250" cy="1966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 name="Picture 7">
            <a:extLst>
              <a:ext uri="{FF2B5EF4-FFF2-40B4-BE49-F238E27FC236}">
                <a16:creationId xmlns:a16="http://schemas.microsoft.com/office/drawing/2014/main" id="{BDBAEE08-05E3-69B1-9C70-6EBE00D81D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9177" y="3636737"/>
            <a:ext cx="3001962" cy="2535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1" name="Text Box 8">
            <a:extLst>
              <a:ext uri="{FF2B5EF4-FFF2-40B4-BE49-F238E27FC236}">
                <a16:creationId xmlns:a16="http://schemas.microsoft.com/office/drawing/2014/main" id="{45235453-54B4-69CE-F023-66DD87A035F7}"/>
              </a:ext>
            </a:extLst>
          </p:cNvPr>
          <p:cNvSpPr txBox="1">
            <a:spLocks noChangeArrowheads="1"/>
          </p:cNvSpPr>
          <p:nvPr/>
        </p:nvSpPr>
        <p:spPr bwMode="auto">
          <a:xfrm>
            <a:off x="2531835" y="2848884"/>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sp>
        <p:nvSpPr>
          <p:cNvPr id="22" name="Text Box 9">
            <a:extLst>
              <a:ext uri="{FF2B5EF4-FFF2-40B4-BE49-F238E27FC236}">
                <a16:creationId xmlns:a16="http://schemas.microsoft.com/office/drawing/2014/main" id="{987B2205-E087-EEB7-7D4E-D778491B4395}"/>
              </a:ext>
            </a:extLst>
          </p:cNvPr>
          <p:cNvSpPr txBox="1">
            <a:spLocks noChangeArrowheads="1"/>
          </p:cNvSpPr>
          <p:nvPr/>
        </p:nvSpPr>
        <p:spPr bwMode="auto">
          <a:xfrm>
            <a:off x="4765677" y="328272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a:solidFill>
                  <a:schemeClr val="tx1"/>
                </a:solidFill>
                <a:latin typeface="Arial" charset="0"/>
              </a:rPr>
              <a:t>Bowling Chart</a:t>
            </a:r>
          </a:p>
        </p:txBody>
      </p:sp>
      <p:sp>
        <p:nvSpPr>
          <p:cNvPr id="23" name="Oval 10">
            <a:extLst>
              <a:ext uri="{FF2B5EF4-FFF2-40B4-BE49-F238E27FC236}">
                <a16:creationId xmlns:a16="http://schemas.microsoft.com/office/drawing/2014/main" id="{AA0754FD-32E0-9A70-0449-50729A8B9D35}"/>
              </a:ext>
            </a:extLst>
          </p:cNvPr>
          <p:cNvSpPr>
            <a:spLocks noChangeArrowheads="1"/>
          </p:cNvSpPr>
          <p:nvPr/>
        </p:nvSpPr>
        <p:spPr bwMode="auto">
          <a:xfrm>
            <a:off x="6092827" y="4790850"/>
            <a:ext cx="666750" cy="352425"/>
          </a:xfrm>
          <a:prstGeom prst="ellipse">
            <a:avLst/>
          </a:prstGeom>
          <a:noFill/>
          <a:ln w="38100" cap="sq">
            <a:solidFill>
              <a:schemeClr val="tx1"/>
            </a:solidFill>
            <a:round/>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4" name="Oval 11">
            <a:extLst>
              <a:ext uri="{FF2B5EF4-FFF2-40B4-BE49-F238E27FC236}">
                <a16:creationId xmlns:a16="http://schemas.microsoft.com/office/drawing/2014/main" id="{E0F87DB2-A831-E612-82EF-D9D43AC56EF1}"/>
              </a:ext>
            </a:extLst>
          </p:cNvPr>
          <p:cNvSpPr>
            <a:spLocks noChangeArrowheads="1"/>
          </p:cNvSpPr>
          <p:nvPr/>
        </p:nvSpPr>
        <p:spPr bwMode="auto">
          <a:xfrm>
            <a:off x="6092827" y="5168675"/>
            <a:ext cx="666750" cy="352425"/>
          </a:xfrm>
          <a:prstGeom prst="ellipse">
            <a:avLst/>
          </a:prstGeom>
          <a:noFill/>
          <a:ln w="38100" cap="sq">
            <a:solidFill>
              <a:schemeClr val="tx1"/>
            </a:solidFill>
            <a:round/>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pic>
        <p:nvPicPr>
          <p:cNvPr id="25" name="Picture 12">
            <a:extLst>
              <a:ext uri="{FF2B5EF4-FFF2-40B4-BE49-F238E27FC236}">
                <a16:creationId xmlns:a16="http://schemas.microsoft.com/office/drawing/2014/main" id="{3DEB3F43-D962-73A5-3228-7AD7459A71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45046" y="1794784"/>
            <a:ext cx="3160713" cy="2135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6" name="Picture 13">
            <a:extLst>
              <a:ext uri="{FF2B5EF4-FFF2-40B4-BE49-F238E27FC236}">
                <a16:creationId xmlns:a16="http://schemas.microsoft.com/office/drawing/2014/main" id="{A7ADCE65-1696-9EC3-E87E-E7576A994F6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51396" y="4033159"/>
            <a:ext cx="3141663" cy="2241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7" name="Line 14">
            <a:extLst>
              <a:ext uri="{FF2B5EF4-FFF2-40B4-BE49-F238E27FC236}">
                <a16:creationId xmlns:a16="http://schemas.microsoft.com/office/drawing/2014/main" id="{6556916B-5ACE-4D97-D5ED-A34348E90154}"/>
              </a:ext>
            </a:extLst>
          </p:cNvPr>
          <p:cNvSpPr>
            <a:spLocks noChangeShapeType="1"/>
          </p:cNvSpPr>
          <p:nvPr/>
        </p:nvSpPr>
        <p:spPr bwMode="auto">
          <a:xfrm flipV="1">
            <a:off x="6761165" y="4928961"/>
            <a:ext cx="1690232" cy="409575"/>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
        <p:nvSpPr>
          <p:cNvPr id="28" name="Line 15">
            <a:extLst>
              <a:ext uri="{FF2B5EF4-FFF2-40B4-BE49-F238E27FC236}">
                <a16:creationId xmlns:a16="http://schemas.microsoft.com/office/drawing/2014/main" id="{17055C2A-1B91-355F-E677-ACBBC5593C1C}"/>
              </a:ext>
            </a:extLst>
          </p:cNvPr>
          <p:cNvSpPr>
            <a:spLocks noChangeShapeType="1"/>
          </p:cNvSpPr>
          <p:nvPr/>
        </p:nvSpPr>
        <p:spPr bwMode="auto">
          <a:xfrm flipV="1">
            <a:off x="6769102" y="2962048"/>
            <a:ext cx="1662112" cy="1966914"/>
          </a:xfrm>
          <a:prstGeom prst="line">
            <a:avLst/>
          </a:prstGeom>
          <a:noFill/>
          <a:ln w="38100" cap="sq">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Wingdings 3" charset="0"/>
              <a:ea typeface="ＭＳ Ｐゴシック" charset="0"/>
            </a:endParaRPr>
          </a:p>
        </p:txBody>
      </p:sp>
    </p:spTree>
    <p:custDataLst>
      <p:tags r:id="rId1"/>
    </p:custDataLst>
    <p:extLst>
      <p:ext uri="{BB962C8B-B14F-4D97-AF65-F5344CB8AC3E}">
        <p14:creationId xmlns:p14="http://schemas.microsoft.com/office/powerpoint/2010/main" val="3056546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1000"/>
                                        <p:tgtEl>
                                          <p:spTgt spid="28"/>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p:stCondLst>
                              <p:cond delay="2000"/>
                            </p:stCondLst>
                            <p:childTnLst>
                              <p:par>
                                <p:cTn id="17" presetID="22" presetClass="entr" presetSubtype="4"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down)">
                                      <p:cBhvr>
                                        <p:cTn id="19"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ED9B3-C00C-9E2A-3C61-28EC599EC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5CB1E-E2AF-7911-75D0-3A5A1A48472B}"/>
              </a:ext>
            </a:extLst>
          </p:cNvPr>
          <p:cNvSpPr>
            <a:spLocks noGrp="1"/>
          </p:cNvSpPr>
          <p:nvPr>
            <p:ph type="title"/>
          </p:nvPr>
        </p:nvSpPr>
        <p:spPr>
          <a:xfrm>
            <a:off x="838200" y="681037"/>
            <a:ext cx="10149114" cy="1009651"/>
          </a:xfrm>
        </p:spPr>
        <p:txBody>
          <a:bodyPr>
            <a:noAutofit/>
          </a:bodyPr>
          <a:lstStyle/>
          <a:p>
            <a:r>
              <a:rPr lang="en-US" altLang="en-US" sz="2800" dirty="0"/>
              <a:t>Strategic Deployment - The Way To Run Your Business!</a:t>
            </a:r>
            <a:endParaRPr lang="en-US" sz="2800" dirty="0"/>
          </a:p>
        </p:txBody>
      </p:sp>
      <p:sp>
        <p:nvSpPr>
          <p:cNvPr id="9" name="Text Box 3">
            <a:extLst>
              <a:ext uri="{FF2B5EF4-FFF2-40B4-BE49-F238E27FC236}">
                <a16:creationId xmlns:a16="http://schemas.microsoft.com/office/drawing/2014/main" id="{0D931CE6-854F-F12E-785E-44D5D298ABF3}"/>
              </a:ext>
            </a:extLst>
          </p:cNvPr>
          <p:cNvSpPr txBox="1">
            <a:spLocks noChangeArrowheads="1"/>
          </p:cNvSpPr>
          <p:nvPr/>
        </p:nvSpPr>
        <p:spPr bwMode="auto">
          <a:xfrm>
            <a:off x="1393257" y="1746704"/>
            <a:ext cx="1987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Top Level Matrix</a:t>
            </a:r>
          </a:p>
        </p:txBody>
      </p:sp>
      <p:pic>
        <p:nvPicPr>
          <p:cNvPr id="10" name="Picture 4">
            <a:extLst>
              <a:ext uri="{FF2B5EF4-FFF2-40B4-BE49-F238E27FC236}">
                <a16:creationId xmlns:a16="http://schemas.microsoft.com/office/drawing/2014/main" id="{E0878333-9E8A-85BD-E3A6-E89203B64A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0570" y="2064204"/>
            <a:ext cx="2838450" cy="1936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1" name="Picture 5">
            <a:extLst>
              <a:ext uri="{FF2B5EF4-FFF2-40B4-BE49-F238E27FC236}">
                <a16:creationId xmlns:a16="http://schemas.microsoft.com/office/drawing/2014/main" id="{1B5AF50A-B33E-BA3E-8875-56234AFA8D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6145" y="2812824"/>
            <a:ext cx="2825750" cy="1841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2" name="Text Box 6">
            <a:extLst>
              <a:ext uri="{FF2B5EF4-FFF2-40B4-BE49-F238E27FC236}">
                <a16:creationId xmlns:a16="http://schemas.microsoft.com/office/drawing/2014/main" id="{C4E528CB-483D-DC8D-388D-9254B3885431}"/>
              </a:ext>
            </a:extLst>
          </p:cNvPr>
          <p:cNvSpPr txBox="1">
            <a:spLocks noChangeArrowheads="1"/>
          </p:cNvSpPr>
          <p:nvPr/>
        </p:nvSpPr>
        <p:spPr bwMode="auto">
          <a:xfrm>
            <a:off x="2906145" y="2506436"/>
            <a:ext cx="23939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Second Level Matrix</a:t>
            </a:r>
          </a:p>
        </p:txBody>
      </p:sp>
      <p:pic>
        <p:nvPicPr>
          <p:cNvPr id="13" name="Picture 7">
            <a:extLst>
              <a:ext uri="{FF2B5EF4-FFF2-40B4-BE49-F238E27FC236}">
                <a16:creationId xmlns:a16="http://schemas.microsoft.com/office/drawing/2014/main" id="{7E1A60DD-019B-9507-A7F8-CE86642275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4693" y="3429000"/>
            <a:ext cx="2894013" cy="191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4" name="Text Box 8">
            <a:extLst>
              <a:ext uri="{FF2B5EF4-FFF2-40B4-BE49-F238E27FC236}">
                <a16:creationId xmlns:a16="http://schemas.microsoft.com/office/drawing/2014/main" id="{689C906F-B95D-1BB0-F1D9-9E46DD454960}"/>
              </a:ext>
            </a:extLst>
          </p:cNvPr>
          <p:cNvSpPr txBox="1">
            <a:spLocks noChangeArrowheads="1"/>
          </p:cNvSpPr>
          <p:nvPr/>
        </p:nvSpPr>
        <p:spPr bwMode="auto">
          <a:xfrm>
            <a:off x="4550568" y="3128963"/>
            <a:ext cx="15684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Action Plans</a:t>
            </a:r>
          </a:p>
        </p:txBody>
      </p:sp>
      <p:pic>
        <p:nvPicPr>
          <p:cNvPr id="15" name="Picture 9">
            <a:extLst>
              <a:ext uri="{FF2B5EF4-FFF2-40B4-BE49-F238E27FC236}">
                <a16:creationId xmlns:a16="http://schemas.microsoft.com/office/drawing/2014/main" id="{548FDFE6-ED71-3FDC-4384-EDB7EE4223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5178" y="3904798"/>
            <a:ext cx="2897187" cy="18430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6" name="Text Box 10">
            <a:extLst>
              <a:ext uri="{FF2B5EF4-FFF2-40B4-BE49-F238E27FC236}">
                <a16:creationId xmlns:a16="http://schemas.microsoft.com/office/drawing/2014/main" id="{F857D13E-31EA-79D8-C95B-D2D1DCA7B484}"/>
              </a:ext>
            </a:extLst>
          </p:cNvPr>
          <p:cNvSpPr txBox="1">
            <a:spLocks noChangeArrowheads="1"/>
          </p:cNvSpPr>
          <p:nvPr/>
        </p:nvSpPr>
        <p:spPr bwMode="auto">
          <a:xfrm>
            <a:off x="6067878" y="3595235"/>
            <a:ext cx="17335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Bowling Chart</a:t>
            </a:r>
          </a:p>
        </p:txBody>
      </p:sp>
      <p:pic>
        <p:nvPicPr>
          <p:cNvPr id="17" name="Picture 11">
            <a:extLst>
              <a:ext uri="{FF2B5EF4-FFF2-40B4-BE49-F238E27FC236}">
                <a16:creationId xmlns:a16="http://schemas.microsoft.com/office/drawing/2014/main" id="{A5512807-19D2-E758-8BCE-305C26D3D8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51989" y="4373336"/>
            <a:ext cx="2852738" cy="1927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8" name="Text Box 12">
            <a:extLst>
              <a:ext uri="{FF2B5EF4-FFF2-40B4-BE49-F238E27FC236}">
                <a16:creationId xmlns:a16="http://schemas.microsoft.com/office/drawing/2014/main" id="{BFAFA599-2974-D8B2-749A-50579BB663E5}"/>
              </a:ext>
            </a:extLst>
          </p:cNvPr>
          <p:cNvSpPr txBox="1">
            <a:spLocks noChangeArrowheads="1"/>
          </p:cNvSpPr>
          <p:nvPr/>
        </p:nvSpPr>
        <p:spPr bwMode="auto">
          <a:xfrm>
            <a:off x="7774214" y="4060599"/>
            <a:ext cx="2635250" cy="311150"/>
          </a:xfrm>
          <a:prstGeom prst="rect">
            <a:avLst/>
          </a:prstGeom>
          <a:solidFill>
            <a:schemeClr val="bg1"/>
          </a:solidFill>
          <a:ln>
            <a:noFill/>
          </a:ln>
          <a:effectLst/>
          <a:extLst>
            <a:ext uri="{91240B29-F687-4f45-9708-019B960494DF}">
              <a14:hiddenLine xmlns:a14="http://schemas.microsoft.com/office/drawing/2010/main" xmlns="" w="12700" cap="sq">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sz="900" b="1">
                <a:solidFill>
                  <a:schemeClr val="bg1"/>
                </a:solidFill>
                <a:latin typeface="Wingdings 3" charset="0"/>
                <a:ea typeface="ＭＳ Ｐゴシック" charset="0"/>
              </a:defRPr>
            </a:lvl1pPr>
            <a:lvl2pPr marL="742950" indent="-285750" eaLnBrk="0" hangingPunct="0">
              <a:defRPr sz="900" b="1">
                <a:solidFill>
                  <a:schemeClr val="bg1"/>
                </a:solidFill>
                <a:latin typeface="Wingdings 3" charset="0"/>
                <a:ea typeface="ＭＳ Ｐゴシック" charset="0"/>
              </a:defRPr>
            </a:lvl2pPr>
            <a:lvl3pPr marL="1143000" indent="-228600" eaLnBrk="0" hangingPunct="0">
              <a:defRPr sz="900" b="1">
                <a:solidFill>
                  <a:schemeClr val="bg1"/>
                </a:solidFill>
                <a:latin typeface="Wingdings 3" charset="0"/>
                <a:ea typeface="ＭＳ Ｐゴシック" charset="0"/>
              </a:defRPr>
            </a:lvl3pPr>
            <a:lvl4pPr marL="1600200" indent="-228600" eaLnBrk="0" hangingPunct="0">
              <a:defRPr sz="900" b="1">
                <a:solidFill>
                  <a:schemeClr val="bg1"/>
                </a:solidFill>
                <a:latin typeface="Wingdings 3" charset="0"/>
                <a:ea typeface="ＭＳ Ｐゴシック" charset="0"/>
              </a:defRPr>
            </a:lvl4pPr>
            <a:lvl5pPr marL="2057400" indent="-228600" eaLnBrk="0" hangingPunct="0">
              <a:defRPr sz="900" b="1">
                <a:solidFill>
                  <a:schemeClr val="bg1"/>
                </a:solidFill>
                <a:latin typeface="Wingdings 3" charset="0"/>
                <a:ea typeface="ＭＳ Ｐゴシック" charset="0"/>
              </a:defRPr>
            </a:lvl5pPr>
            <a:lvl6pPr marL="2514600" indent="-228600" eaLnBrk="0" fontAlgn="base" hangingPunct="0">
              <a:spcBef>
                <a:spcPct val="0"/>
              </a:spcBef>
              <a:spcAft>
                <a:spcPct val="0"/>
              </a:spcAft>
              <a:defRPr sz="900" b="1">
                <a:solidFill>
                  <a:schemeClr val="bg1"/>
                </a:solidFill>
                <a:latin typeface="Wingdings 3" charset="0"/>
                <a:ea typeface="ＭＳ Ｐゴシック" charset="0"/>
              </a:defRPr>
            </a:lvl6pPr>
            <a:lvl7pPr marL="2971800" indent="-228600" eaLnBrk="0" fontAlgn="base" hangingPunct="0">
              <a:spcBef>
                <a:spcPct val="0"/>
              </a:spcBef>
              <a:spcAft>
                <a:spcPct val="0"/>
              </a:spcAft>
              <a:defRPr sz="900" b="1">
                <a:solidFill>
                  <a:schemeClr val="bg1"/>
                </a:solidFill>
                <a:latin typeface="Wingdings 3" charset="0"/>
                <a:ea typeface="ＭＳ Ｐゴシック" charset="0"/>
              </a:defRPr>
            </a:lvl7pPr>
            <a:lvl8pPr marL="3429000" indent="-228600" eaLnBrk="0" fontAlgn="base" hangingPunct="0">
              <a:spcBef>
                <a:spcPct val="0"/>
              </a:spcBef>
              <a:spcAft>
                <a:spcPct val="0"/>
              </a:spcAft>
              <a:defRPr sz="900" b="1">
                <a:solidFill>
                  <a:schemeClr val="bg1"/>
                </a:solidFill>
                <a:latin typeface="Wingdings 3" charset="0"/>
                <a:ea typeface="ＭＳ Ｐゴシック" charset="0"/>
              </a:defRPr>
            </a:lvl8pPr>
            <a:lvl9pPr marL="3886200" indent="-228600" eaLnBrk="0" fontAlgn="base" hangingPunct="0">
              <a:spcBef>
                <a:spcPct val="0"/>
              </a:spcBef>
              <a:spcAft>
                <a:spcPct val="0"/>
              </a:spcAft>
              <a:defRPr sz="900" b="1">
                <a:solidFill>
                  <a:schemeClr val="bg1"/>
                </a:solidFill>
                <a:latin typeface="Wingdings 3" charset="0"/>
                <a:ea typeface="ＭＳ Ｐゴシック" charset="0"/>
              </a:defRPr>
            </a:lvl9pPr>
          </a:lstStyle>
          <a:p>
            <a:pPr>
              <a:lnSpc>
                <a:spcPct val="80000"/>
              </a:lnSpc>
              <a:spcBef>
                <a:spcPct val="20000"/>
              </a:spcBef>
              <a:defRPr/>
            </a:pPr>
            <a:r>
              <a:rPr lang="en-US" sz="1800" dirty="0">
                <a:solidFill>
                  <a:schemeClr val="tx1"/>
                </a:solidFill>
                <a:latin typeface="Arial" charset="0"/>
              </a:rPr>
              <a:t>Countermeasure Form</a:t>
            </a:r>
          </a:p>
        </p:txBody>
      </p:sp>
    </p:spTree>
    <p:custDataLst>
      <p:tags r:id="rId1"/>
    </p:custDataLst>
    <p:extLst>
      <p:ext uri="{BB962C8B-B14F-4D97-AF65-F5344CB8AC3E}">
        <p14:creationId xmlns:p14="http://schemas.microsoft.com/office/powerpoint/2010/main" val="223362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4" grpId="0" animBg="1"/>
      <p:bldP spid="16" grpId="0" animBg="1"/>
      <p:bldP spid="18"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716BD-A793-F0BE-013A-6BE5B1E1D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9A52C-DB47-A2EC-F487-33773FB9F609}"/>
              </a:ext>
            </a:extLst>
          </p:cNvPr>
          <p:cNvSpPr>
            <a:spLocks noGrp="1"/>
          </p:cNvSpPr>
          <p:nvPr>
            <p:ph type="title"/>
          </p:nvPr>
        </p:nvSpPr>
        <p:spPr>
          <a:xfrm>
            <a:off x="838200" y="737053"/>
            <a:ext cx="10149114" cy="1009651"/>
          </a:xfrm>
        </p:spPr>
        <p:txBody>
          <a:bodyPr>
            <a:noAutofit/>
          </a:bodyPr>
          <a:lstStyle/>
          <a:p>
            <a:r>
              <a:rPr lang="en-US" altLang="en-US" sz="4000" dirty="0"/>
              <a:t>What Strategic Deployment Can Do For You</a:t>
            </a:r>
            <a:endParaRPr lang="en-US" sz="4000" dirty="0"/>
          </a:p>
        </p:txBody>
      </p:sp>
      <p:pic>
        <p:nvPicPr>
          <p:cNvPr id="3" name="Picture 4">
            <a:extLst>
              <a:ext uri="{FF2B5EF4-FFF2-40B4-BE49-F238E27FC236}">
                <a16:creationId xmlns:a16="http://schemas.microsoft.com/office/drawing/2014/main" id="{9F09A544-DB00-89A5-6E8A-BC5603F67A68}"/>
              </a:ext>
            </a:extLst>
          </p:cNvPr>
          <p:cNvPicPr>
            <a:picLocks noChangeAspect="1"/>
          </p:cNvPicPr>
          <p:nvPr/>
        </p:nvPicPr>
        <p:blipFill rotWithShape="1">
          <a:blip r:embed="rId4">
            <a:extLst>
              <a:ext uri="{28A0092B-C50C-407E-A947-70E740481C1C}">
                <a14:useLocalDpi xmlns:a14="http://schemas.microsoft.com/office/drawing/2010/main" val="0"/>
              </a:ext>
            </a:extLst>
          </a:blip>
          <a:srcRect t="8671"/>
          <a:stretch>
            <a:fillRect/>
          </a:stretch>
        </p:blipFill>
        <p:spPr bwMode="auto">
          <a:xfrm>
            <a:off x="2095500" y="1746703"/>
            <a:ext cx="9004300" cy="4593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033393B6-266D-845F-0B89-39236806FDDC}"/>
              </a:ext>
            </a:extLst>
          </p:cNvPr>
          <p:cNvSpPr txBox="1"/>
          <p:nvPr/>
        </p:nvSpPr>
        <p:spPr>
          <a:xfrm>
            <a:off x="2600155" y="1746702"/>
            <a:ext cx="7994990" cy="538609"/>
          </a:xfrm>
          <a:prstGeom prst="rect">
            <a:avLst/>
          </a:prstGeom>
          <a:noFill/>
        </p:spPr>
        <p:txBody>
          <a:bodyPr wrap="square">
            <a:spAutoFit/>
          </a:bodyPr>
          <a:lstStyle>
            <a:lvl1pPr eaLnBrk="0" hangingPunct="0">
              <a:defRPr sz="900" b="1">
                <a:solidFill>
                  <a:schemeClr val="bg1"/>
                </a:solidFill>
                <a:latin typeface="Wingdings 3" panose="05040102010807070707" pitchFamily="18" charset="2"/>
                <a:ea typeface="MS PGothic" panose="020B0600070205080204" pitchFamily="34" charset="-128"/>
              </a:defRPr>
            </a:lvl1pPr>
            <a:lvl2pPr marL="742950" indent="-285750" eaLnBrk="0" hangingPunct="0">
              <a:defRPr sz="900" b="1">
                <a:solidFill>
                  <a:schemeClr val="bg1"/>
                </a:solidFill>
                <a:latin typeface="Wingdings 3" panose="05040102010807070707" pitchFamily="18" charset="2"/>
                <a:ea typeface="MS PGothic" panose="020B0600070205080204" pitchFamily="34" charset="-128"/>
              </a:defRPr>
            </a:lvl2pPr>
            <a:lvl3pPr marL="1143000" indent="-228600" eaLnBrk="0" hangingPunct="0">
              <a:defRPr sz="900" b="1">
                <a:solidFill>
                  <a:schemeClr val="bg1"/>
                </a:solidFill>
                <a:latin typeface="Wingdings 3" panose="05040102010807070707" pitchFamily="18" charset="2"/>
                <a:ea typeface="MS PGothic" panose="020B0600070205080204" pitchFamily="34" charset="-128"/>
              </a:defRPr>
            </a:lvl3pPr>
            <a:lvl4pPr marL="1600200" indent="-228600" eaLnBrk="0" hangingPunct="0">
              <a:defRPr sz="900" b="1">
                <a:solidFill>
                  <a:schemeClr val="bg1"/>
                </a:solidFill>
                <a:latin typeface="Wingdings 3" panose="05040102010807070707" pitchFamily="18" charset="2"/>
                <a:ea typeface="MS PGothic" panose="020B0600070205080204" pitchFamily="34" charset="-128"/>
              </a:defRPr>
            </a:lvl4pPr>
            <a:lvl5pPr marL="2057400" indent="-228600" eaLnBrk="0" hangingPunct="0">
              <a:defRPr sz="900" b="1">
                <a:solidFill>
                  <a:schemeClr val="bg1"/>
                </a:solidFill>
                <a:latin typeface="Wingdings 3" panose="05040102010807070707" pitchFamily="18" charset="2"/>
                <a:ea typeface="MS PGothic"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anose="05040102010807070707" pitchFamily="18" charset="2"/>
                <a:ea typeface="MS PGothic" panose="020B0600070205080204" pitchFamily="34" charset="-128"/>
              </a:defRPr>
            </a:lvl9pPr>
          </a:lstStyle>
          <a:p>
            <a:pPr eaLnBrk="1" hangingPunct="1"/>
            <a:r>
              <a:rPr lang="en-US" altLang="en-US" dirty="0">
                <a:solidFill>
                  <a:schemeClr val="tx1"/>
                </a:solidFill>
                <a:latin typeface="Arial" panose="020B0604020202020204" pitchFamily="34" charset="0"/>
              </a:rPr>
              <a:t>DHR: Steady Growth Valued by the “Street” </a:t>
            </a:r>
            <a:r>
              <a:rPr lang="en-US" altLang="en-US" sz="1000" dirty="0">
                <a:solidFill>
                  <a:schemeClr val="tx1"/>
                </a:solidFill>
                <a:latin typeface="Arial" panose="020B0604020202020204" pitchFamily="34" charset="0"/>
              </a:rPr>
              <a:t>$16.1 </a:t>
            </a:r>
            <a:r>
              <a:rPr lang="en-US" altLang="en-US" dirty="0">
                <a:solidFill>
                  <a:schemeClr val="tx1"/>
                </a:solidFill>
                <a:latin typeface="Arial" panose="020B0604020202020204" pitchFamily="34" charset="0"/>
              </a:rPr>
              <a:t>Billion Annual Revenues. An Investment of </a:t>
            </a:r>
            <a:r>
              <a:rPr lang="en-US" altLang="en-US" sz="1000" dirty="0">
                <a:solidFill>
                  <a:schemeClr val="tx1"/>
                </a:solidFill>
                <a:latin typeface="Arial" panose="020B0604020202020204" pitchFamily="34" charset="0"/>
              </a:rPr>
              <a:t>$100</a:t>
            </a:r>
            <a:r>
              <a:rPr lang="en-US" altLang="en-US" dirty="0">
                <a:solidFill>
                  <a:schemeClr val="tx1"/>
                </a:solidFill>
                <a:latin typeface="Arial" panose="020B0604020202020204" pitchFamily="34" charset="0"/>
              </a:rPr>
              <a:t> in DHR stock on 12/31/1990 with dividends reinvested was worth </a:t>
            </a:r>
            <a:r>
              <a:rPr lang="en-US" altLang="en-US" sz="1000" dirty="0">
                <a:solidFill>
                  <a:schemeClr val="tx1"/>
                </a:solidFill>
                <a:latin typeface="Arial" panose="020B0604020202020204" pitchFamily="34" charset="0"/>
              </a:rPr>
              <a:t>$4,501</a:t>
            </a:r>
            <a:r>
              <a:rPr lang="en-US" altLang="en-US" dirty="0">
                <a:solidFill>
                  <a:schemeClr val="tx1"/>
                </a:solidFill>
                <a:latin typeface="Arial" panose="020B0604020202020204" pitchFamily="34" charset="0"/>
              </a:rPr>
              <a:t> on 12/31/2011 compared to </a:t>
            </a:r>
            <a:r>
              <a:rPr lang="en-US" altLang="en-US" sz="1000" dirty="0">
                <a:solidFill>
                  <a:schemeClr val="tx1"/>
                </a:solidFill>
                <a:latin typeface="Arial" panose="020B0604020202020204" pitchFamily="34" charset="0"/>
              </a:rPr>
              <a:t>$382</a:t>
            </a:r>
            <a:r>
              <a:rPr lang="en-US" altLang="en-US" dirty="0">
                <a:solidFill>
                  <a:schemeClr val="tx1"/>
                </a:solidFill>
                <a:latin typeface="Arial" panose="020B0604020202020204" pitchFamily="34" charset="0"/>
              </a:rPr>
              <a:t> for comparable S &amp; P 500 Investment.</a:t>
            </a:r>
          </a:p>
          <a:p>
            <a:pPr eaLnBrk="1" hangingPunct="1"/>
            <a:r>
              <a:rPr lang="en-US" altLang="en-US" dirty="0">
                <a:solidFill>
                  <a:schemeClr val="tx1"/>
                </a:solidFill>
              </a:rPr>
              <a:t> </a:t>
            </a:r>
          </a:p>
        </p:txBody>
      </p:sp>
    </p:spTree>
    <p:custDataLst>
      <p:tags r:id="rId1"/>
    </p:custDataLst>
    <p:extLst>
      <p:ext uri="{BB962C8B-B14F-4D97-AF65-F5344CB8AC3E}">
        <p14:creationId xmlns:p14="http://schemas.microsoft.com/office/powerpoint/2010/main" val="23742944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Tree>
    <p:custDataLst>
      <p:tags r:id="rId1"/>
    </p:custDataLst>
    <p:extLst>
      <p:ext uri="{BB962C8B-B14F-4D97-AF65-F5344CB8AC3E}">
        <p14:creationId xmlns:p14="http://schemas.microsoft.com/office/powerpoint/2010/main" val="29435696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DESIGN_ID_OFFICE THEME" val="oCFrMooB"/>
  <p:tag name="ARTICULATE_SLIDE_COUNT" val="10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LHC FONT">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15463</TotalTime>
  <Words>9712</Words>
  <Application>Microsoft Office PowerPoint</Application>
  <PresentationFormat>Widescreen</PresentationFormat>
  <Paragraphs>1416</Paragraphs>
  <Slides>109</Slides>
  <Notes>103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109</vt:i4>
      </vt:variant>
    </vt:vector>
  </HeadingPairs>
  <TitlesOfParts>
    <vt:vector size="122" baseType="lpstr">
      <vt:lpstr>Arial</vt:lpstr>
      <vt:lpstr>Calibri</vt:lpstr>
      <vt:lpstr>Roboto</vt:lpstr>
      <vt:lpstr>Roboto Medium</vt:lpstr>
      <vt:lpstr>Tahoma</vt:lpstr>
      <vt:lpstr>Times New Roman</vt:lpstr>
      <vt:lpstr>Wingdings</vt:lpstr>
      <vt:lpstr>Wingdings 2</vt:lpstr>
      <vt:lpstr>Wingdings 3</vt:lpstr>
      <vt:lpstr>Office Theme</vt:lpstr>
      <vt:lpstr>Microsoft Office Excel Chart</vt:lpstr>
      <vt:lpstr>Worksheet</vt:lpstr>
      <vt:lpstr>Microsoft Excel 97-2003 Worksheet</vt:lpstr>
      <vt:lpstr>PowerPoint Presentation</vt:lpstr>
      <vt:lpstr>PowerPoint Presentation</vt:lpstr>
      <vt:lpstr>Ground Rules for Event</vt:lpstr>
      <vt:lpstr>Communication Process</vt:lpstr>
      <vt:lpstr>Strategic Deployment is the way to run the business</vt:lpstr>
      <vt:lpstr>Overview of Strategic Deployment</vt:lpstr>
      <vt:lpstr>Develop Strategy </vt:lpstr>
      <vt:lpstr>Why is it so difficult to implement strategy?</vt:lpstr>
      <vt:lpstr>Develop Strategy – The Missing Link</vt:lpstr>
      <vt:lpstr>Strategic Deployment is a planning and implementation process</vt:lpstr>
      <vt:lpstr>Strategic Deployment converts strategic imperatives into reality.</vt:lpstr>
      <vt:lpstr>Benefits of Strategic Deployment</vt:lpstr>
      <vt:lpstr>Hoshin Kanri: Strategic Deployment Foundation</vt:lpstr>
      <vt:lpstr>Strategic Deployment tie to a Lean Business System</vt:lpstr>
      <vt:lpstr>From Strategic Deployment to Kaizen</vt:lpstr>
      <vt:lpstr>7 Phases of the Strategy Deployment Process Based on the Deming Cycle - PDCA</vt:lpstr>
      <vt:lpstr>Strategic Deployment Roadmap</vt:lpstr>
      <vt:lpstr>Deliverable from Strategic Deployment </vt:lpstr>
      <vt:lpstr>Strategic Deployment Success Story</vt:lpstr>
      <vt:lpstr>Strategic Deployment from Top Level Matrix to Countermeasures</vt:lpstr>
      <vt:lpstr>Strategic Deployment Top Level Matrix</vt:lpstr>
      <vt:lpstr>Cascading to Second Level</vt:lpstr>
      <vt:lpstr>Second Level Matrix - Growth</vt:lpstr>
      <vt:lpstr>Action Plans for Each Second Level Improvement Priority</vt:lpstr>
      <vt:lpstr>Bowling Charts at Top and Second Level</vt:lpstr>
      <vt:lpstr>Countermeasures for Every Miss</vt:lpstr>
      <vt:lpstr>Strategic Deployment - The Way To Run Your Business!</vt:lpstr>
      <vt:lpstr>Breakthrough Objectives</vt:lpstr>
      <vt:lpstr>7 Phases of the Strategy Deployment Process Based on the Deming Cycle - PDCA</vt:lpstr>
      <vt:lpstr>Breakthrough Objectives</vt:lpstr>
      <vt:lpstr>Breakthrough Objectives Defined</vt:lpstr>
      <vt:lpstr>Breakthroughs vs. Business Fundamentals</vt:lpstr>
      <vt:lpstr>Targeting Your Breakthroughs</vt:lpstr>
      <vt:lpstr>Breakthrough versus Continuous Improvement</vt:lpstr>
      <vt:lpstr>How High Is Breakthrough?</vt:lpstr>
      <vt:lpstr>Breakthrough Examples</vt:lpstr>
      <vt:lpstr>Breakthrough Examples</vt:lpstr>
      <vt:lpstr>Breakthrough Objectives… Your personal challenge!</vt:lpstr>
      <vt:lpstr>From Strategic Deployment to Kaizen (Continuous Improvement)</vt:lpstr>
      <vt:lpstr>Breakthrough Objectives Checklist</vt:lpstr>
      <vt:lpstr>Affinity Ground Rules for Breakthrough Objectives</vt:lpstr>
      <vt:lpstr>Affinity Process for Breakthrough Objectives</vt:lpstr>
      <vt:lpstr>Affinity Process for Breakthrough Objectives</vt:lpstr>
      <vt:lpstr>Exercise: Alpha Beta Case Study</vt:lpstr>
      <vt:lpstr>Creating Annual Improvement Priorities (AIPs)</vt:lpstr>
      <vt:lpstr>7 Phases of the Strategy Deployment Process Based on the Deming Cycle - PDCA</vt:lpstr>
      <vt:lpstr>Annual Improvement Priorities</vt:lpstr>
      <vt:lpstr>Annual Improvement Priorities Defined</vt:lpstr>
      <vt:lpstr>Rate the Annual Improvement Priorities</vt:lpstr>
      <vt:lpstr>Where do AIPs Come From?</vt:lpstr>
      <vt:lpstr>AIP Checklist</vt:lpstr>
      <vt:lpstr>Use Affinity Process as shown in earlier slides - Ground Rules for AIPs</vt:lpstr>
      <vt:lpstr>Exercise: Alpha Beta Case Study</vt:lpstr>
      <vt:lpstr>Developing Targets</vt:lpstr>
      <vt:lpstr>Targets</vt:lpstr>
      <vt:lpstr>Targets Defined</vt:lpstr>
      <vt:lpstr>Anatomy of Targets</vt:lpstr>
      <vt:lpstr>Rate the Targets</vt:lpstr>
      <vt:lpstr>Target Checklist</vt:lpstr>
      <vt:lpstr>Use Affinity Process as shown in earlier slides - Ground Rules for Targets</vt:lpstr>
      <vt:lpstr>Exercise: Alpha Beta Case Study</vt:lpstr>
      <vt:lpstr>Establishing Resources</vt:lpstr>
      <vt:lpstr>Establishing Resources</vt:lpstr>
      <vt:lpstr>Establish Resources – Guidelines</vt:lpstr>
      <vt:lpstr>Process for Developing Cross-functional Teams for each AIP</vt:lpstr>
      <vt:lpstr>Creating Your Breakthrough Objectives, AIPs, Targets and Determining Resources</vt:lpstr>
      <vt:lpstr>Creating the Top Level Matrix</vt:lpstr>
      <vt:lpstr>Breakthrough Objectives Checklist</vt:lpstr>
      <vt:lpstr>Breakthrough Examples</vt:lpstr>
      <vt:lpstr>Breakthrough Examples</vt:lpstr>
      <vt:lpstr>Use Affinity Process as shown in earlier slides -Ground Rules for Breakthrough Objectives</vt:lpstr>
      <vt:lpstr>Breakthrough Analysis Tool</vt:lpstr>
      <vt:lpstr>Your Turn: Create Breakthrough Objectives</vt:lpstr>
      <vt:lpstr>Creating the Top Level Matrix</vt:lpstr>
      <vt:lpstr>Reviewing Annual Improvement Priorities</vt:lpstr>
      <vt:lpstr>Reviewing Annual Improvement Priority Examples</vt:lpstr>
      <vt:lpstr>Use Affinity Process as shown in earlier slides - Ground Rules for AIPs</vt:lpstr>
      <vt:lpstr>Your Turn: Create Annual Improvement Priorities</vt:lpstr>
      <vt:lpstr>AIP Priority Filter</vt:lpstr>
      <vt:lpstr>Creating the Top Level Matrix</vt:lpstr>
      <vt:lpstr>Target Checklist</vt:lpstr>
      <vt:lpstr>Anatomy of Targets</vt:lpstr>
      <vt:lpstr>Use Affinity Process as shown in earlier slides - Ground Rules for Targets</vt:lpstr>
      <vt:lpstr>Your Turn: Create Targets</vt:lpstr>
      <vt:lpstr>Creating the Top Level Matrix</vt:lpstr>
      <vt:lpstr>Establish Resources – Guidelines</vt:lpstr>
      <vt:lpstr>Team Composition Considerations</vt:lpstr>
      <vt:lpstr>Process for Developing Cross-functional Teams for each AIP</vt:lpstr>
      <vt:lpstr>Your Turn: Establish Resources</vt:lpstr>
      <vt:lpstr>Create the Top Level Matrix</vt:lpstr>
      <vt:lpstr>Strategic Deployment Top Level Matrix</vt:lpstr>
      <vt:lpstr>Your Turn: Creating the Top Level Matrix</vt:lpstr>
      <vt:lpstr>Reflection on the Top Level Matrix</vt:lpstr>
      <vt:lpstr>Reflection on the Top Level Matrix</vt:lpstr>
      <vt:lpstr>Your Turn: Reflecting on the Top Level Matrix</vt:lpstr>
      <vt:lpstr>Next Step Plan</vt:lpstr>
      <vt:lpstr>Strategic Deployment - The Way To Run Your Business!</vt:lpstr>
      <vt:lpstr>Success Factors for Developing and Driving an SD Culture</vt:lpstr>
      <vt:lpstr>Summary</vt:lpstr>
      <vt:lpstr>Appendix</vt:lpstr>
      <vt:lpstr>Strategic Deployment Top Level Matrix</vt:lpstr>
      <vt:lpstr>Cascading to Second Level</vt:lpstr>
      <vt:lpstr>Second Level Matrix - Growth</vt:lpstr>
      <vt:lpstr>Action Plans for Each Second Level Improvement Priority</vt:lpstr>
      <vt:lpstr>Bowling Charts at Top and Second Level</vt:lpstr>
      <vt:lpstr>Countermeasures for Every Miss</vt:lpstr>
      <vt:lpstr>Strategic Deployment - The Way To Run Your Business!</vt:lpstr>
      <vt:lpstr>What Strategic Deployment Can Do For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407</cp:revision>
  <dcterms:created xsi:type="dcterms:W3CDTF">2023-02-08T22:10:20Z</dcterms:created>
  <dcterms:modified xsi:type="dcterms:W3CDTF">2025-10-01T17:37:46Z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B8D9A5BB-DF16-402F-83C2-74DDE5304958</vt:lpwstr>
  </property>
  <property fmtid="{D5CDD505-2E9C-101B-9397-08002B2CF9AE}" pid="3" name="ArticulatePath">
    <vt:lpwstr>Top Level Matrix Workshop</vt:lpwstr>
  </property>
</Properties>
</file>