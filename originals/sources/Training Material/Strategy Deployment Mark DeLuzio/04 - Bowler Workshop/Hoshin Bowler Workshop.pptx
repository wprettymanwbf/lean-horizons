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8" r:id="rId2"/>
    <p:sldId id="351" r:id="rId3"/>
    <p:sldId id="361" r:id="rId4"/>
    <p:sldId id="574" r:id="rId5"/>
    <p:sldId id="597" r:id="rId6"/>
    <p:sldId id="598" r:id="rId7"/>
    <p:sldId id="599" r:id="rId8"/>
    <p:sldId id="600" r:id="rId9"/>
    <p:sldId id="601" r:id="rId10"/>
    <p:sldId id="602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BB3E73-66A2-459D-B8FB-21C7347B6A86}">
          <p14:sldIdLst>
            <p14:sldId id="258"/>
            <p14:sldId id="351"/>
            <p14:sldId id="361"/>
            <p14:sldId id="574"/>
            <p14:sldId id="597"/>
            <p14:sldId id="598"/>
            <p14:sldId id="599"/>
            <p14:sldId id="600"/>
            <p14:sldId id="601"/>
            <p14:sldId id="6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8300"/>
    <a:srgbClr val="222222"/>
    <a:srgbClr val="FFB627"/>
    <a:srgbClr val="177E89"/>
    <a:srgbClr val="8EDCE6"/>
    <a:srgbClr val="F1BF98"/>
    <a:srgbClr val="2EC4B6"/>
    <a:srgbClr val="BDDBD0"/>
    <a:srgbClr val="2D7DD2"/>
    <a:srgbClr val="629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85956" autoAdjust="0"/>
  </p:normalViewPr>
  <p:slideViewPr>
    <p:cSldViewPr snapToGrid="0">
      <p:cViewPr varScale="1">
        <p:scale>
          <a:sx n="97" d="100"/>
          <a:sy n="97" d="100"/>
        </p:scale>
        <p:origin x="111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3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05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 BREIFLY walk the group through this chart noting that you will be taking them through each step in the  process in great detail.  Key points to stress: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Strategic Deployment is a PROCESS.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 SD process is mirrored after the PDCA cycle.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You must do ALL of the steps to be successful.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Most companies fail by not implementing steps 5 &amp; 6.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Just because you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Planned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does not mean you did SD.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the considerable amount of steps in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Plan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vs. other steps.  This is typically a Japanese philosophy where they will spend more time in Planning and a small amount of time in the execution (DO) stage.  This is sometimes the opposite thinking of traditional Western management.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This cycle is based on the Deming Cycle, or the Plan-Do-Check-Act cycle. When leading with Strategic Deployment your business and its processes will continuously be at different points of implementing this cycle. Notice that it is a cycle (and there are cycles within the cycle) because continuous improvement never ends. 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43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0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Hoshin Bowler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2024.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099632B-E122-EDE0-0BAF-755FD08A2404}"/>
              </a:ext>
            </a:extLst>
          </p:cNvPr>
          <p:cNvSpPr txBox="1">
            <a:spLocks/>
          </p:cNvSpPr>
          <p:nvPr userDrawn="1"/>
        </p:nvSpPr>
        <p:spPr>
          <a:xfrm>
            <a:off x="8595078" y="63331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Hoshin Bowler Workshop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"/>
              </a:rPr>
              <a:t>Purpose &amp;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i="1" u="sng" dirty="0"/>
              <a:t>Purpose: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To familiarize on the mechanics of creating an effective Hoshin Action Plan. This virtual training will assure Members a more efficient, meaningful, and productive Hoshin experience when in the IMPLEMENT phase of their respective Hoshin AIPs.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i="1" u="sng" dirty="0"/>
              <a:t>Learning Objectives: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Participants will learn the various steps in creating their Hoshin Action Plans, including the following:</a:t>
            </a:r>
          </a:p>
          <a:p>
            <a:pPr>
              <a:lnSpc>
                <a:spcPct val="110000"/>
              </a:lnSpc>
            </a:pPr>
            <a:r>
              <a:rPr lang="en-US" dirty="0"/>
              <a:t>Definition of a Bowler </a:t>
            </a:r>
          </a:p>
          <a:p>
            <a:pPr>
              <a:lnSpc>
                <a:spcPct val="110000"/>
              </a:lnSpc>
            </a:pPr>
            <a:r>
              <a:rPr lang="en-US" dirty="0"/>
              <a:t>How the Bowler monitors progress to the 2nd Level Hoshin Matrices</a:t>
            </a:r>
          </a:p>
          <a:p>
            <a:pPr>
              <a:lnSpc>
                <a:spcPct val="110000"/>
              </a:lnSpc>
            </a:pPr>
            <a:r>
              <a:rPr lang="en-US" dirty="0"/>
              <a:t>Setting the right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920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B19F82A-F9BA-4400-6678-7A3917D44A32}"/>
              </a:ext>
            </a:extLst>
          </p:cNvPr>
          <p:cNvGrpSpPr/>
          <p:nvPr/>
        </p:nvGrpSpPr>
        <p:grpSpPr>
          <a:xfrm>
            <a:off x="1939306" y="4116340"/>
            <a:ext cx="2527397" cy="1136650"/>
            <a:chOff x="1939306" y="4116340"/>
            <a:chExt cx="2527397" cy="1136650"/>
          </a:xfrm>
        </p:grpSpPr>
        <p:sp>
          <p:nvSpPr>
            <p:cNvPr id="39" name="Line 13">
              <a:extLst>
                <a:ext uri="{FF2B5EF4-FFF2-40B4-BE49-F238E27FC236}">
                  <a16:creationId xmlns:a16="http://schemas.microsoft.com/office/drawing/2014/main" id="{0103937A-117A-8B29-C743-0B1AECE57D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3665" y="4925364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DAEF4F1F-75B8-B733-4D70-39F60F0993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2899841" y="4371997"/>
              <a:ext cx="1167714" cy="732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2603A965-41AF-D3FD-6A2E-3CD3DBE84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306" y="4116340"/>
              <a:ext cx="1139825" cy="11366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8D</a:t>
              </a:r>
              <a:br>
                <a:rPr lang="en-US" altLang="en-US" sz="1600" i="1" dirty="0">
                  <a:solidFill>
                    <a:srgbClr val="FFFFFF"/>
                  </a:solidFill>
                  <a:latin typeface="+mn-lt"/>
                </a:rPr>
              </a:b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Counter</a:t>
              </a:r>
              <a:r>
                <a:rPr lang="en-US" altLang="en-US" sz="1600" b="0" i="1" dirty="0">
                  <a:solidFill>
                    <a:srgbClr val="FFFFFF"/>
                  </a:solidFill>
                  <a:latin typeface="+mn-lt"/>
                </a:rPr>
                <a:t>-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measures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986B0C-9143-3850-FB0A-5A4D0972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b="1" dirty="0">
                <a:latin typeface="+mn-lt"/>
                <a:ea typeface="ＭＳ Ｐゴシック" panose="020B0600070205080204" pitchFamily="34" charset="-128"/>
              </a:rPr>
              <a:t>7 Phases of the Hoshin Process</a:t>
            </a:r>
            <a:br>
              <a:rPr lang="en-US" altLang="en-US" sz="4400" b="1" dirty="0">
                <a:latin typeface="+mn-lt"/>
                <a:ea typeface="ＭＳ Ｐゴシック" panose="020B0600070205080204" pitchFamily="34" charset="-128"/>
              </a:rPr>
            </a:br>
            <a:r>
              <a:rPr lang="en-US" altLang="en-US" sz="4400" b="1" dirty="0">
                <a:latin typeface="+mn-lt"/>
                <a:ea typeface="ＭＳ Ｐゴシック" panose="020B0600070205080204" pitchFamily="34" charset="-128"/>
              </a:rPr>
              <a:t>Based on the Deming Cycle - PDCA</a:t>
            </a:r>
            <a:endParaRPr lang="en-US" dirty="0"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91A3D7F9-A236-7B12-1B68-300D73C52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849937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QUESTION: Where could be the failure point in your organization?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CBA2949E-9336-26A1-E71E-20498679B5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2086645"/>
            <a:ext cx="0" cy="376329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C41E4CD-7510-7B56-FBD8-5F0433707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2004519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+mn-lt"/>
              </a:rPr>
              <a:t>Develop LRP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6399D34-9153-0274-3F0D-AA7E7BD22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2557886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+mn-lt"/>
              </a:rPr>
              <a:t>Develop Long-Term Stretch Objectives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065B1F8-627A-3DD1-10D6-5030DD79A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3111253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FFFFFF"/>
                </a:solidFill>
              </a:rPr>
              <a:t>Develop AIPs, Targets Top Level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07BE3CD-0982-9006-A114-5F3DBD795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025" y="3664742"/>
            <a:ext cx="4051943" cy="307777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FFFFFF"/>
                </a:solidFill>
              </a:rPr>
              <a:t>Develop AIPs, Targets, Resources - 2nd Level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B2D13E5-691F-7372-2016-440CC93C3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4217987"/>
            <a:ext cx="4050792" cy="308019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Implement AIPs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C3A8D347-AB51-1BF8-0942-280EBD01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4771354"/>
            <a:ext cx="4050792" cy="308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Monthly PDCA Review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8CF2D058-CF18-901A-8FF2-1C617F361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5324720"/>
            <a:ext cx="4050792" cy="308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Annual Review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1FAC16-F51D-8116-748F-5AAA43511344}"/>
              </a:ext>
            </a:extLst>
          </p:cNvPr>
          <p:cNvGrpSpPr/>
          <p:nvPr/>
        </p:nvGrpSpPr>
        <p:grpSpPr>
          <a:xfrm>
            <a:off x="7849179" y="2432171"/>
            <a:ext cx="1752600" cy="1135063"/>
            <a:chOff x="7849179" y="2432171"/>
            <a:chExt cx="1752600" cy="1135063"/>
          </a:xfrm>
        </p:grpSpPr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4246DC88-CD39-B38C-62E6-1B650A43C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9179" y="2711896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35C91105-EFAC-F01A-E9D6-AA8156EC0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9179" y="3265263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DBC7ABDB-8570-5844-C013-6172D435B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954" y="2432171"/>
              <a:ext cx="1139825" cy="1135063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Catchball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0CFDFB-5CF5-3284-D3FB-7BB791426E68}"/>
              </a:ext>
            </a:extLst>
          </p:cNvPr>
          <p:cNvGrpSpPr/>
          <p:nvPr/>
        </p:nvGrpSpPr>
        <p:grpSpPr>
          <a:xfrm>
            <a:off x="8118347" y="3765061"/>
            <a:ext cx="1579434" cy="1213871"/>
            <a:chOff x="8118347" y="3765061"/>
            <a:chExt cx="1579434" cy="1213871"/>
          </a:xfrm>
        </p:grpSpPr>
        <p:sp>
          <p:nvSpPr>
            <p:cNvPr id="36" name="Line 13">
              <a:extLst>
                <a:ext uri="{FF2B5EF4-FFF2-40B4-BE49-F238E27FC236}">
                  <a16:creationId xmlns:a16="http://schemas.microsoft.com/office/drawing/2014/main" id="{957FC68F-2735-56E8-F635-BA07B2677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18347" y="4371997"/>
              <a:ext cx="1173870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35F08D2B-C7F6-4733-D90A-1BFBB8202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954" y="3765061"/>
              <a:ext cx="1235827" cy="1213871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latin typeface="+mn-lt"/>
                </a:rPr>
                <a:t>Targeted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latin typeface="+mn-lt"/>
                </a:rPr>
                <a:t>CI Efforts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4D7D07-5576-F466-0568-796C2D36BAA1}"/>
              </a:ext>
            </a:extLst>
          </p:cNvPr>
          <p:cNvGrpSpPr/>
          <p:nvPr/>
        </p:nvGrpSpPr>
        <p:grpSpPr>
          <a:xfrm>
            <a:off x="325585" y="1946345"/>
            <a:ext cx="2945773" cy="1866214"/>
            <a:chOff x="749635" y="2039846"/>
            <a:chExt cx="2945773" cy="186621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BB99EC-08FE-9EEA-7470-88A5152C1AC3}"/>
                </a:ext>
              </a:extLst>
            </p:cNvPr>
            <p:cNvGrpSpPr/>
            <p:nvPr/>
          </p:nvGrpSpPr>
          <p:grpSpPr>
            <a:xfrm>
              <a:off x="749635" y="2039846"/>
              <a:ext cx="2945773" cy="1866214"/>
              <a:chOff x="749635" y="2039846"/>
              <a:chExt cx="2945773" cy="1866214"/>
            </a:xfrm>
            <a:effectLst>
              <a:outerShdw blurRad="50800" dist="50800" dir="5400000" algn="ctr" rotWithShape="0">
                <a:schemeClr val="bg1">
                  <a:lumMod val="85000"/>
                </a:schemeClr>
              </a:outerShdw>
            </a:effectLst>
          </p:grpSpPr>
          <p:sp>
            <p:nvSpPr>
              <p:cNvPr id="25" name="Rounded Rectangle 4">
                <a:extLst>
                  <a:ext uri="{FF2B5EF4-FFF2-40B4-BE49-F238E27FC236}">
                    <a16:creationId xmlns:a16="http://schemas.microsoft.com/office/drawing/2014/main" id="{EE7F95B7-3FD5-0416-E5FE-8724CB0AB566}"/>
                  </a:ext>
                </a:extLst>
              </p:cNvPr>
              <p:cNvSpPr/>
              <p:nvPr/>
            </p:nvSpPr>
            <p:spPr>
              <a:xfrm>
                <a:off x="749635" y="2039846"/>
                <a:ext cx="2945773" cy="186621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7AE4E46-B8B0-AD51-E326-FADF1228B9F6}"/>
                  </a:ext>
                </a:extLst>
              </p:cNvPr>
              <p:cNvGrpSpPr/>
              <p:nvPr/>
            </p:nvGrpSpPr>
            <p:grpSpPr>
              <a:xfrm>
                <a:off x="2562745" y="2367725"/>
                <a:ext cx="1132662" cy="1310104"/>
                <a:chOff x="2540336" y="2367725"/>
                <a:chExt cx="1155072" cy="1310104"/>
              </a:xfrm>
            </p:grpSpPr>
            <p:sp>
              <p:nvSpPr>
                <p:cNvPr id="27" name="Rectangle 20">
                  <a:extLst>
                    <a:ext uri="{FF2B5EF4-FFF2-40B4-BE49-F238E27FC236}">
                      <a16:creationId xmlns:a16="http://schemas.microsoft.com/office/drawing/2014/main" id="{46FF168F-3DC3-2623-6C56-22155B3069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2374075"/>
                  <a:ext cx="355600" cy="266700"/>
                </a:xfrm>
                <a:prstGeom prst="rect">
                  <a:avLst/>
                </a:prstGeom>
                <a:solidFill>
                  <a:schemeClr val="accent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8" name="Rectangle 21">
                  <a:extLst>
                    <a:ext uri="{FF2B5EF4-FFF2-40B4-BE49-F238E27FC236}">
                      <a16:creationId xmlns:a16="http://schemas.microsoft.com/office/drawing/2014/main" id="{EB03A0B2-7BAA-5EB6-0166-6CA711048C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2707450"/>
                  <a:ext cx="355600" cy="268288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9" name="Rectangle 22">
                  <a:extLst>
                    <a:ext uri="{FF2B5EF4-FFF2-40B4-BE49-F238E27FC236}">
                      <a16:creationId xmlns:a16="http://schemas.microsoft.com/office/drawing/2014/main" id="{B8C920C8-AA33-4694-6965-72E937605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3042413"/>
                  <a:ext cx="355600" cy="266700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0" name="Text Box 23">
                  <a:extLst>
                    <a:ext uri="{FF2B5EF4-FFF2-40B4-BE49-F238E27FC236}">
                      <a16:creationId xmlns:a16="http://schemas.microsoft.com/office/drawing/2014/main" id="{6C33676A-341C-9E38-75F9-699DDEE6AA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3080" y="2367725"/>
                  <a:ext cx="633507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Plan</a:t>
                  </a:r>
                </a:p>
              </p:txBody>
            </p:sp>
            <p:sp>
              <p:nvSpPr>
                <p:cNvPr id="31" name="Text Box 24">
                  <a:extLst>
                    <a:ext uri="{FF2B5EF4-FFF2-40B4-BE49-F238E27FC236}">
                      <a16:creationId xmlns:a16="http://schemas.microsoft.com/office/drawing/2014/main" id="{13F2B1F2-2121-D122-A1A7-6D0801B54C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0379" y="2682050"/>
                  <a:ext cx="463588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Do</a:t>
                  </a:r>
                </a:p>
              </p:txBody>
            </p:sp>
            <p:sp>
              <p:nvSpPr>
                <p:cNvPr id="32" name="Text Box 25">
                  <a:extLst>
                    <a:ext uri="{FF2B5EF4-FFF2-40B4-BE49-F238E27FC236}">
                      <a16:creationId xmlns:a16="http://schemas.microsoft.com/office/drawing/2014/main" id="{511A30F2-C02C-F759-2F18-CF2AF84ABC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0379" y="3013838"/>
                  <a:ext cx="805029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Check</a:t>
                  </a:r>
                </a:p>
              </p:txBody>
            </p:sp>
            <p:sp>
              <p:nvSpPr>
                <p:cNvPr id="33" name="Rectangle 26">
                  <a:extLst>
                    <a:ext uri="{FF2B5EF4-FFF2-40B4-BE49-F238E27FC236}">
                      <a16:creationId xmlns:a16="http://schemas.microsoft.com/office/drawing/2014/main" id="{39DB48D5-3232-F1AC-F992-47326FE49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0336" y="3364675"/>
                  <a:ext cx="357188" cy="268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Text Box 27">
                  <a:extLst>
                    <a:ext uri="{FF2B5EF4-FFF2-40B4-BE49-F238E27FC236}">
                      <a16:creationId xmlns:a16="http://schemas.microsoft.com/office/drawing/2014/main" id="{62ED337C-9CCE-B0C8-F728-604D404356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3080" y="3339275"/>
                  <a:ext cx="521297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Act</a:t>
                  </a:r>
                </a:p>
              </p:txBody>
            </p:sp>
          </p:grp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2B8988F-5899-2979-17ED-E6A0D8205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375" y="2226854"/>
              <a:ext cx="1270000" cy="1587500"/>
            </a:xfrm>
            <a:prstGeom prst="rect">
              <a:avLst/>
            </a:prstGeom>
            <a:effectLst>
              <a:softEdge rad="139700"/>
            </a:effec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060580-8C11-FDDA-1A7A-63ED7CCBA950}"/>
              </a:ext>
            </a:extLst>
          </p:cNvPr>
          <p:cNvGrpSpPr/>
          <p:nvPr/>
        </p:nvGrpSpPr>
        <p:grpSpPr>
          <a:xfrm>
            <a:off x="3873470" y="4591844"/>
            <a:ext cx="7182885" cy="996293"/>
            <a:chOff x="3809675" y="3495280"/>
            <a:chExt cx="7182885" cy="99629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631A0A3-9B52-CD43-C843-732E258D2D3F}"/>
                </a:ext>
              </a:extLst>
            </p:cNvPr>
            <p:cNvSpPr/>
            <p:nvPr/>
          </p:nvSpPr>
          <p:spPr>
            <a:xfrm>
              <a:off x="3809675" y="3495280"/>
              <a:ext cx="4550615" cy="646024"/>
            </a:xfrm>
            <a:prstGeom prst="ellipse">
              <a:avLst/>
            </a:prstGeom>
            <a:noFill/>
            <a:ln w="539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Line 14">
              <a:extLst>
                <a:ext uri="{FF2B5EF4-FFF2-40B4-BE49-F238E27FC236}">
                  <a16:creationId xmlns:a16="http://schemas.microsoft.com/office/drawing/2014/main" id="{F9A690A9-FEB4-F80F-3EB9-0ED52C695D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60288" y="3872382"/>
              <a:ext cx="1563557" cy="329394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60325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4FA8BB-6B70-4A91-CA5C-D029267172E3}"/>
                </a:ext>
              </a:extLst>
            </p:cNvPr>
            <p:cNvSpPr txBox="1"/>
            <p:nvPr/>
          </p:nvSpPr>
          <p:spPr>
            <a:xfrm>
              <a:off x="9779970" y="3845242"/>
              <a:ext cx="121259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800" b="1" dirty="0">
                  <a:solidFill>
                    <a:schemeClr val="accent1"/>
                  </a:solidFill>
                  <a:latin typeface="+mn-lt"/>
                  <a:ea typeface="ＭＳ Ｐゴシック" panose="020B0600070205080204" pitchFamily="34" charset="-128"/>
                </a:rPr>
                <a:t>We are here!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9971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Hoshin Bowler Defined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FC3E49-C5C1-C8D4-5DE9-69F019621780}"/>
              </a:ext>
            </a:extLst>
          </p:cNvPr>
          <p:cNvGrpSpPr/>
          <p:nvPr/>
        </p:nvGrpSpPr>
        <p:grpSpPr>
          <a:xfrm>
            <a:off x="838200" y="2009482"/>
            <a:ext cx="10799137" cy="599825"/>
            <a:chOff x="1056549" y="1919926"/>
            <a:chExt cx="10799137" cy="599825"/>
          </a:xfrm>
          <a:solidFill>
            <a:schemeClr val="tx1"/>
          </a:solidFill>
        </p:grpSpPr>
        <p:sp>
          <p:nvSpPr>
            <p:cNvPr id="15" name="AutoShape 9">
              <a:extLst>
                <a:ext uri="{FF2B5EF4-FFF2-40B4-BE49-F238E27FC236}">
                  <a16:creationId xmlns:a16="http://schemas.microsoft.com/office/drawing/2014/main" id="{14597299-4A81-C5D2-C446-6772CEA95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1282" y="1919926"/>
              <a:ext cx="3944404" cy="599825"/>
            </a:xfrm>
            <a:prstGeom prst="homePlate">
              <a:avLst>
                <a:gd name="adj" fmla="val 5779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Pitfalls</a:t>
              </a:r>
            </a:p>
          </p:txBody>
        </p:sp>
        <p:sp>
          <p:nvSpPr>
            <p:cNvPr id="17" name="AutoShape 10">
              <a:extLst>
                <a:ext uri="{FF2B5EF4-FFF2-40B4-BE49-F238E27FC236}">
                  <a16:creationId xmlns:a16="http://schemas.microsoft.com/office/drawing/2014/main" id="{862BBAC4-F1D4-11E2-76E6-8C033C1E3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036" y="1919926"/>
              <a:ext cx="3807320" cy="599825"/>
            </a:xfrm>
            <a:prstGeom prst="homePlate">
              <a:avLst>
                <a:gd name="adj" fmla="val 48586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marL="171450"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Characteristics</a:t>
              </a:r>
            </a:p>
          </p:txBody>
        </p:sp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9F3BDA9A-E20E-B02A-3C7C-26B35DC9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549" y="1919926"/>
              <a:ext cx="3799561" cy="599825"/>
            </a:xfrm>
            <a:prstGeom prst="homePlate">
              <a:avLst>
                <a:gd name="adj" fmla="val 5420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Definition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51631D3-C272-D061-D49A-EE9A32EFC413}"/>
              </a:ext>
            </a:extLst>
          </p:cNvPr>
          <p:cNvSpPr txBox="1"/>
          <p:nvPr/>
        </p:nvSpPr>
        <p:spPr>
          <a:xfrm>
            <a:off x="838200" y="2892056"/>
            <a:ext cx="34234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 integral performance tracking tool that monitors, on a monthly basis, Hoshin targets to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Used to plan and identify key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Provides a visual means to quickly assess plan deviations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E6BB1-14E8-EDD3-1F7E-E4CDA4BC27B4}"/>
              </a:ext>
            </a:extLst>
          </p:cNvPr>
          <p:cNvSpPr txBox="1"/>
          <p:nvPr/>
        </p:nvSpPr>
        <p:spPr>
          <a:xfrm>
            <a:off x="4384256" y="2892056"/>
            <a:ext cx="3423487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Typically, one Bowling Chart for each 2nd Level Hoshin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Corresponding Top Level Targets are tracked on the 2nd Level Bowling Chart to assess the CAUSE &amp; EFFECT impact on Top Level 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Targets are derived from the 2nd Level Hoshin Matrix and articulated on the Bowling Chart in a 12-month timeframe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ACTUALS  are tracked to PLAN and highlighted either as </a:t>
            </a:r>
            <a:r>
              <a:rPr lang="en-US" sz="1500" b="1" dirty="0">
                <a:solidFill>
                  <a:schemeClr val="accent1"/>
                </a:solidFill>
              </a:rPr>
              <a:t>RED</a:t>
            </a:r>
            <a:r>
              <a:rPr lang="en-US" sz="1500" b="1" dirty="0"/>
              <a:t> or </a:t>
            </a:r>
            <a:r>
              <a:rPr lang="en-US" sz="1500" b="1" dirty="0">
                <a:solidFill>
                  <a:schemeClr val="accent6"/>
                </a:solidFill>
              </a:rPr>
              <a:t>GREEN</a:t>
            </a:r>
            <a:r>
              <a:rPr lang="en-US" sz="1500" b="1" dirty="0"/>
              <a:t> for misses or achieving plan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1E396-9241-F03D-A81F-191A1402F370}"/>
              </a:ext>
            </a:extLst>
          </p:cNvPr>
          <p:cNvSpPr txBox="1"/>
          <p:nvPr/>
        </p:nvSpPr>
        <p:spPr>
          <a:xfrm>
            <a:off x="7930313" y="2892056"/>
            <a:ext cx="380732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Jumping Off Point (JOP) does not represent the current state of process performance (more later)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PLAN targets are spread on a 1/12th basis, not taking into consideration major events or seasonality during the year.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929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257BB-CD7D-7F56-06F9-4A839F84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Relationship Between the 2nd Level Matrix and the Hoshin Bowler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0509D8-3E51-93D7-F693-8200A93CAED6}"/>
              </a:ext>
            </a:extLst>
          </p:cNvPr>
          <p:cNvGrpSpPr/>
          <p:nvPr/>
        </p:nvGrpSpPr>
        <p:grpSpPr>
          <a:xfrm>
            <a:off x="1073805" y="1775637"/>
            <a:ext cx="10279995" cy="4476307"/>
            <a:chOff x="118237" y="317719"/>
            <a:chExt cx="11824341" cy="6283012"/>
          </a:xfrm>
        </p:grpSpPr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C4FBE2E9-2689-9E81-E74A-F452780581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109" y="317719"/>
            <a:ext cx="6159635" cy="3393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3" imgW="13855700" imgH="7632700" progId="Excel.Sheet.12">
                    <p:embed/>
                  </p:oleObj>
                </mc:Choice>
                <mc:Fallback>
                  <p:oleObj name="Worksheet" r:id="rId3" imgW="13855700" imgH="7632700" progId="Excel.Sheet.12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C4FBE2E9-2689-9E81-E74A-F452780581D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3109" y="317719"/>
                          <a:ext cx="6159635" cy="33931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26AA0C6-7EF1-E874-39D2-CB096BC21A2D}"/>
                </a:ext>
              </a:extLst>
            </p:cNvPr>
            <p:cNvSpPr/>
            <p:nvPr/>
          </p:nvSpPr>
          <p:spPr>
            <a:xfrm rot="5400000">
              <a:off x="2095211" y="1856553"/>
              <a:ext cx="2154116" cy="1029977"/>
            </a:xfrm>
            <a:prstGeom prst="ellipse">
              <a:avLst/>
            </a:prstGeom>
            <a:noFill/>
            <a:ln w="539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E31DA68-86BA-F36B-5DC1-0C3A85EC9682}"/>
                </a:ext>
              </a:extLst>
            </p:cNvPr>
            <p:cNvSpPr/>
            <p:nvPr/>
          </p:nvSpPr>
          <p:spPr>
            <a:xfrm>
              <a:off x="387664" y="713397"/>
              <a:ext cx="2500502" cy="826672"/>
            </a:xfrm>
            <a:prstGeom prst="ellipse">
              <a:avLst/>
            </a:prstGeom>
            <a:noFill/>
            <a:ln w="539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946E786-B24C-7D21-3513-552467427111}"/>
                </a:ext>
              </a:extLst>
            </p:cNvPr>
            <p:cNvCxnSpPr>
              <a:cxnSpLocks/>
              <a:endCxn id="8" idx="4"/>
            </p:cNvCxnSpPr>
            <p:nvPr/>
          </p:nvCxnSpPr>
          <p:spPr>
            <a:xfrm>
              <a:off x="1081668" y="1540069"/>
              <a:ext cx="3512634" cy="3600648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B2BCA3BC-3888-178A-BA5F-C8E94AC883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1445" y="3819818"/>
            <a:ext cx="7261133" cy="2780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5" imgW="15151100" imgH="5803900" progId="Excel.Sheet.12">
                    <p:embed/>
                  </p:oleObj>
                </mc:Choice>
                <mc:Fallback>
                  <p:oleObj name="Worksheet" r:id="rId5" imgW="15151100" imgH="5803900" progId="Excel.Sheet.12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B2BCA3BC-3888-178A-BA5F-C8E94AC883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81445" y="3819818"/>
                          <a:ext cx="7261133" cy="27809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ABB923F-CD2C-AC81-30DF-4DBBEF5DEAA1}"/>
                </a:ext>
              </a:extLst>
            </p:cNvPr>
            <p:cNvSpPr/>
            <p:nvPr/>
          </p:nvSpPr>
          <p:spPr>
            <a:xfrm rot="5400000">
              <a:off x="4079244" y="4562956"/>
              <a:ext cx="2185635" cy="1155520"/>
            </a:xfrm>
            <a:prstGeom prst="ellipse">
              <a:avLst/>
            </a:prstGeom>
            <a:noFill/>
            <a:ln w="539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E3B674B-B4D2-FB50-3849-A3C71FAB9727}"/>
                </a:ext>
              </a:extLst>
            </p:cNvPr>
            <p:cNvSpPr/>
            <p:nvPr/>
          </p:nvSpPr>
          <p:spPr>
            <a:xfrm rot="5400000">
              <a:off x="5000357" y="4625728"/>
              <a:ext cx="2154116" cy="1029977"/>
            </a:xfrm>
            <a:prstGeom prst="ellipse">
              <a:avLst/>
            </a:prstGeom>
            <a:noFill/>
            <a:ln w="539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944B97F-F112-53BD-0777-B31E20975C33}"/>
                </a:ext>
              </a:extLst>
            </p:cNvPr>
            <p:cNvCxnSpPr>
              <a:cxnSpLocks/>
            </p:cNvCxnSpPr>
            <p:nvPr/>
          </p:nvCxnSpPr>
          <p:spPr>
            <a:xfrm>
              <a:off x="3702703" y="2371541"/>
              <a:ext cx="2047119" cy="1874717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1938033-42C2-CB74-B6E2-162ABF7E8B94}"/>
                </a:ext>
              </a:extLst>
            </p:cNvPr>
            <p:cNvSpPr/>
            <p:nvPr/>
          </p:nvSpPr>
          <p:spPr>
            <a:xfrm>
              <a:off x="7238067" y="3918943"/>
              <a:ext cx="3757035" cy="2403797"/>
            </a:xfrm>
            <a:prstGeom prst="ellipse">
              <a:avLst/>
            </a:prstGeom>
            <a:noFill/>
            <a:ln w="539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EA42F1F-D8F8-B47E-96FE-33F46C2CE4F9}"/>
                </a:ext>
              </a:extLst>
            </p:cNvPr>
            <p:cNvCxnSpPr>
              <a:cxnSpLocks/>
            </p:cNvCxnSpPr>
            <p:nvPr/>
          </p:nvCxnSpPr>
          <p:spPr>
            <a:xfrm>
              <a:off x="3687258" y="2324528"/>
              <a:ext cx="4152049" cy="1856817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CF4DFF78-340F-BF9B-E2A3-52D343E8EE6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8237" y="4165300"/>
              <a:ext cx="3584466" cy="85767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en-US" altLang="en-US" sz="2400" b="1" dirty="0">
                  <a:solidFill>
                    <a:srgbClr val="FF0000"/>
                  </a:solidFill>
                  <a:latin typeface="+mn-lt"/>
                  <a:ea typeface="ＭＳ Ｐゴシック" panose="020B0600070205080204" pitchFamily="34" charset="-128"/>
                </a:rPr>
                <a:t>Caution: </a:t>
              </a:r>
              <a:r>
                <a:rPr lang="en-US" altLang="en-US" sz="2400" b="1" dirty="0">
                  <a:latin typeface="+mn-lt"/>
                  <a:ea typeface="ＭＳ Ｐゴシック" panose="020B0600070205080204" pitchFamily="34" charset="-128"/>
                </a:rPr>
                <a:t>Only the Targets from the 2</a:t>
              </a:r>
              <a:r>
                <a:rPr lang="en-US" altLang="en-US" sz="2400" b="1" baseline="30000" dirty="0">
                  <a:latin typeface="+mn-lt"/>
                  <a:ea typeface="ＭＳ Ｐゴシック" panose="020B0600070205080204" pitchFamily="34" charset="-128"/>
                </a:rPr>
                <a:t>nd</a:t>
              </a:r>
              <a:r>
                <a:rPr lang="en-US" altLang="en-US" sz="2400" b="1" dirty="0">
                  <a:latin typeface="+mn-lt"/>
                  <a:ea typeface="ＭＳ Ｐゴシック" panose="020B0600070205080204" pitchFamily="34" charset="-128"/>
                </a:rPr>
                <a:t> Level Matrix Belong on the Bowler!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39462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6FA9-73A4-92BF-A49C-CA2B1E80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Bowling Chart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B8C96A-6DE0-2D09-C008-741A5B64DCE3}"/>
              </a:ext>
            </a:extLst>
          </p:cNvPr>
          <p:cNvGrpSpPr/>
          <p:nvPr/>
        </p:nvGrpSpPr>
        <p:grpSpPr>
          <a:xfrm>
            <a:off x="544919" y="1837917"/>
            <a:ext cx="11398092" cy="4450863"/>
            <a:chOff x="342900" y="1295657"/>
            <a:chExt cx="11398092" cy="4450863"/>
          </a:xfrm>
        </p:grpSpPr>
        <p:pic>
          <p:nvPicPr>
            <p:cNvPr id="3" name="Picture 39">
              <a:extLst>
                <a:ext uri="{FF2B5EF4-FFF2-40B4-BE49-F238E27FC236}">
                  <a16:creationId xmlns:a16="http://schemas.microsoft.com/office/drawing/2014/main" id="{6CF16784-60C8-B0FB-D7B8-B686123D37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0881"/>
            <a:stretch/>
          </p:blipFill>
          <p:spPr bwMode="auto">
            <a:xfrm>
              <a:off x="342900" y="1295657"/>
              <a:ext cx="8372524" cy="4236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B94BF2C0-C438-BDA8-13A4-AF7523186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1655" y="1542601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1</a:t>
              </a:r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82950A08-787E-702A-0473-5F70435FB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1655" y="2171251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2</a:t>
              </a:r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FF0FC98B-0A10-B409-A26A-8E7548697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1655" y="3171376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3</a:t>
              </a:r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EF825599-91C7-517E-61A9-9054EDB41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1655" y="4171501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4</a:t>
              </a:r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DFEDE5F4-A9FB-2F0D-0552-A507C3555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1655" y="4628701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5</a:t>
              </a:r>
            </a:p>
          </p:txBody>
        </p:sp>
        <p:sp>
          <p:nvSpPr>
            <p:cNvPr id="9" name="Text Box 14">
              <a:extLst>
                <a:ext uri="{FF2B5EF4-FFF2-40B4-BE49-F238E27FC236}">
                  <a16:creationId xmlns:a16="http://schemas.microsoft.com/office/drawing/2014/main" id="{40D8CFF3-A669-3122-B9DF-50A6FA511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0266" y="1475926"/>
              <a:ext cx="18605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latin typeface="+mn-lt"/>
                </a:rPr>
                <a:t>Transfer corresponding AIP(s) from the matrix.</a:t>
              </a:r>
            </a:p>
          </p:txBody>
        </p:sp>
        <p:sp>
          <p:nvSpPr>
            <p:cNvPr id="10" name="Text Box 15">
              <a:extLst>
                <a:ext uri="{FF2B5EF4-FFF2-40B4-BE49-F238E27FC236}">
                  <a16:creationId xmlns:a16="http://schemas.microsoft.com/office/drawing/2014/main" id="{8ABF1DBD-C615-B9B6-4C7B-7ED7FC59A3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0266" y="2099814"/>
              <a:ext cx="18605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latin typeface="+mn-lt"/>
                </a:rPr>
                <a:t>Transfer corresponding Target from the matrix.</a:t>
              </a:r>
            </a:p>
          </p:txBody>
        </p:sp>
        <p:sp>
          <p:nvSpPr>
            <p:cNvPr id="11" name="Text Box 16">
              <a:extLst>
                <a:ext uri="{FF2B5EF4-FFF2-40B4-BE49-F238E27FC236}">
                  <a16:creationId xmlns:a16="http://schemas.microsoft.com/office/drawing/2014/main" id="{39CB58F2-DD18-9633-50FC-31E117A00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0267" y="2971351"/>
              <a:ext cx="1933575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latin typeface="+mn-lt"/>
                </a:rPr>
                <a:t>Jump -off Point: Performance measurement of the process at the beginning of the planning year.</a:t>
              </a:r>
            </a:p>
          </p:txBody>
        </p:sp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72E2B418-7904-E23A-45E8-FA6B49990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0267" y="4204839"/>
              <a:ext cx="1933575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latin typeface="+mn-lt"/>
                </a:rPr>
                <a:t>Plan vs. Actual</a:t>
              </a:r>
            </a:p>
          </p:txBody>
        </p:sp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FBE403F1-AE00-9E0C-D885-A925F73747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0267" y="4666800"/>
              <a:ext cx="19335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latin typeface="+mn-lt"/>
                </a:rPr>
                <a:t>Target ending point.</a:t>
              </a:r>
            </a:p>
          </p:txBody>
        </p:sp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7DC5429B-A6B2-66A9-1837-0EB33927A0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3739" y="4557714"/>
              <a:ext cx="395287" cy="5476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" name="Line 21">
              <a:extLst>
                <a:ext uri="{FF2B5EF4-FFF2-40B4-BE49-F238E27FC236}">
                  <a16:creationId xmlns:a16="http://schemas.microsoft.com/office/drawing/2014/main" id="{49012AF5-87F4-BC85-6926-151A619C3A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4075" y="4529138"/>
              <a:ext cx="503238" cy="65405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" name="Oval 22">
              <a:extLst>
                <a:ext uri="{FF2B5EF4-FFF2-40B4-BE49-F238E27FC236}">
                  <a16:creationId xmlns:a16="http://schemas.microsoft.com/office/drawing/2014/main" id="{49646F95-7B53-1907-3732-6365CA2B4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6417" y="5081139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6</a:t>
              </a:r>
            </a:p>
          </p:txBody>
        </p: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6DB5B1BD-C72A-B304-BF21-7F7C9B6B1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07417" y="5100189"/>
              <a:ext cx="193357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latin typeface="+mn-lt"/>
                </a:rPr>
                <a:t>Color Codes:</a:t>
              </a:r>
              <a:br>
                <a:rPr lang="en-US" altLang="en-US" sz="1200" dirty="0">
                  <a:latin typeface="+mn-lt"/>
                </a:rPr>
              </a:br>
              <a:r>
                <a:rPr lang="en-US" altLang="en-US" sz="1200" dirty="0">
                  <a:solidFill>
                    <a:schemeClr val="accent6"/>
                  </a:solidFill>
                  <a:latin typeface="+mn-lt"/>
                </a:rPr>
                <a:t>Green – On Plan</a:t>
              </a:r>
              <a:br>
                <a:rPr lang="en-US" altLang="en-US" sz="1200" dirty="0">
                  <a:solidFill>
                    <a:srgbClr val="008000"/>
                  </a:solidFill>
                  <a:latin typeface="+mn-lt"/>
                </a:rPr>
              </a:br>
              <a:r>
                <a:rPr lang="en-US" altLang="en-US" sz="1200" dirty="0">
                  <a:solidFill>
                    <a:schemeClr val="accent1"/>
                  </a:solidFill>
                  <a:latin typeface="+mn-lt"/>
                </a:rPr>
                <a:t>Red – Behind Plan</a:t>
              </a:r>
            </a:p>
          </p:txBody>
        </p:sp>
        <p:sp>
          <p:nvSpPr>
            <p:cNvPr id="18" name="Oval 47">
              <a:extLst>
                <a:ext uri="{FF2B5EF4-FFF2-40B4-BE49-F238E27FC236}">
                  <a16:creationId xmlns:a16="http://schemas.microsoft.com/office/drawing/2014/main" id="{DA4374EF-7EC3-C78C-3A19-C2E3AFFF3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739" y="2473582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1</a:t>
              </a:r>
            </a:p>
          </p:txBody>
        </p:sp>
        <p:sp>
          <p:nvSpPr>
            <p:cNvPr id="19" name="Oval 48">
              <a:extLst>
                <a:ext uri="{FF2B5EF4-FFF2-40B4-BE49-F238E27FC236}">
                  <a16:creationId xmlns:a16="http://schemas.microsoft.com/office/drawing/2014/main" id="{9DF072EA-0244-85AA-9697-D56A16743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926" y="2473582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2</a:t>
              </a:r>
            </a:p>
          </p:txBody>
        </p:sp>
        <p:sp>
          <p:nvSpPr>
            <p:cNvPr id="20" name="Oval 49">
              <a:extLst>
                <a:ext uri="{FF2B5EF4-FFF2-40B4-BE49-F238E27FC236}">
                  <a16:creationId xmlns:a16="http://schemas.microsoft.com/office/drawing/2014/main" id="{5831391D-E629-E210-221C-56A448E4A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151" y="2473582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3</a:t>
              </a:r>
            </a:p>
          </p:txBody>
        </p:sp>
        <p:sp>
          <p:nvSpPr>
            <p:cNvPr id="21" name="Oval 50">
              <a:extLst>
                <a:ext uri="{FF2B5EF4-FFF2-40B4-BE49-F238E27FC236}">
                  <a16:creationId xmlns:a16="http://schemas.microsoft.com/office/drawing/2014/main" id="{157FA29F-EACB-C048-2A1E-905C3B2D3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7391" y="2473582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4</a:t>
              </a:r>
            </a:p>
          </p:txBody>
        </p:sp>
        <p:sp>
          <p:nvSpPr>
            <p:cNvPr id="22" name="Oval 51">
              <a:extLst>
                <a:ext uri="{FF2B5EF4-FFF2-40B4-BE49-F238E27FC236}">
                  <a16:creationId xmlns:a16="http://schemas.microsoft.com/office/drawing/2014/main" id="{F36F2215-6423-5098-3233-FEFEB4A58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0639" y="2473582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5</a:t>
              </a:r>
            </a:p>
          </p:txBody>
        </p:sp>
        <p:sp>
          <p:nvSpPr>
            <p:cNvPr id="23" name="Oval 52">
              <a:extLst>
                <a:ext uri="{FF2B5EF4-FFF2-40B4-BE49-F238E27FC236}">
                  <a16:creationId xmlns:a16="http://schemas.microsoft.com/office/drawing/2014/main" id="{8A58148E-D766-2B56-1492-54F449D22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201" y="5094289"/>
              <a:ext cx="276225" cy="295275"/>
            </a:xfrm>
            <a:prstGeom prst="ellipse">
              <a:avLst/>
            </a:prstGeom>
            <a:solidFill>
              <a:srgbClr val="0070C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Font typeface="Wingdings" panose="05000000000000000000" pitchFamily="2" charset="2"/>
                <a:buChar char="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4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6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6681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2CC1-1E50-A19A-51BD-619A43339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 Scenarios You May Encounter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CA16460-91AE-8C6A-D6EA-AE75BF6292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028742"/>
              </p:ext>
            </p:extLst>
          </p:nvPr>
        </p:nvGraphicFramePr>
        <p:xfrm>
          <a:off x="236496" y="2323289"/>
          <a:ext cx="11553910" cy="150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540500" imgH="850900" progId="Excel.Sheet.12">
                  <p:embed/>
                </p:oleObj>
              </mc:Choice>
              <mc:Fallback>
                <p:oleObj name="Worksheet" r:id="rId3" imgW="6540500" imgH="85090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AC9E5F4-062D-F58C-C002-60B5148CF8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496" y="2323289"/>
                        <a:ext cx="11553910" cy="1503130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C9BE210-AC79-D714-630B-C2614C5A1753}"/>
              </a:ext>
            </a:extLst>
          </p:cNvPr>
          <p:cNvSpPr txBox="1"/>
          <p:nvPr/>
        </p:nvSpPr>
        <p:spPr>
          <a:xfrm>
            <a:off x="129624" y="1979200"/>
            <a:ext cx="8570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SCENARIO #1 - Plan is evenly distributed throughout the planning period: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0BB3327-628B-FDD5-0851-43E6DB413F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915601"/>
              </p:ext>
            </p:extLst>
          </p:nvPr>
        </p:nvGraphicFramePr>
        <p:xfrm>
          <a:off x="319045" y="4584707"/>
          <a:ext cx="11553910" cy="150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540500" imgH="850900" progId="Excel.Sheet.12">
                  <p:embed/>
                </p:oleObj>
              </mc:Choice>
              <mc:Fallback>
                <p:oleObj name="Worksheet" r:id="rId5" imgW="6540500" imgH="850900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8D3564E-9E77-501F-B396-BC5FF42F8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9045" y="4584707"/>
                        <a:ext cx="11553910" cy="150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6FFF8F-92F1-04DB-DF3F-0481A313E5F7}"/>
              </a:ext>
            </a:extLst>
          </p:cNvPr>
          <p:cNvSpPr txBox="1"/>
          <p:nvPr/>
        </p:nvSpPr>
        <p:spPr>
          <a:xfrm>
            <a:off x="236496" y="4215375"/>
            <a:ext cx="6887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SCENARIO #2 - Plan is expecting a significant event in May: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31E25D-689B-1F2F-F888-67E8159E033D}"/>
              </a:ext>
            </a:extLst>
          </p:cNvPr>
          <p:cNvSpPr/>
          <p:nvPr/>
        </p:nvSpPr>
        <p:spPr>
          <a:xfrm rot="5400000">
            <a:off x="4381203" y="4697507"/>
            <a:ext cx="772731" cy="1278595"/>
          </a:xfrm>
          <a:prstGeom prst="ellipse">
            <a:avLst/>
          </a:prstGeom>
          <a:noFill/>
          <a:ln w="539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E8D1DB-BD15-C747-F73F-37BD7DA674D3}"/>
              </a:ext>
            </a:extLst>
          </p:cNvPr>
          <p:cNvSpPr/>
          <p:nvPr/>
        </p:nvSpPr>
        <p:spPr>
          <a:xfrm rot="10800000">
            <a:off x="926246" y="2376766"/>
            <a:ext cx="9888263" cy="1416211"/>
          </a:xfrm>
          <a:prstGeom prst="ellipse">
            <a:avLst/>
          </a:prstGeom>
          <a:noFill/>
          <a:ln w="539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2481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BBEB36C-F052-7CB0-FDE4-1945D931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Typical Scenarios You May Encounter - </a:t>
            </a:r>
            <a:r>
              <a:rPr lang="en-US" sz="3600" dirty="0" err="1"/>
              <a:t>Con’t</a:t>
            </a:r>
            <a:endParaRPr lang="en-US" sz="3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C15E2E1-EE08-0580-DE69-F53761925C73}"/>
              </a:ext>
            </a:extLst>
          </p:cNvPr>
          <p:cNvGrpSpPr/>
          <p:nvPr/>
        </p:nvGrpSpPr>
        <p:grpSpPr>
          <a:xfrm>
            <a:off x="838200" y="1796902"/>
            <a:ext cx="10365712" cy="4493366"/>
            <a:chOff x="189571" y="1000901"/>
            <a:chExt cx="11636459" cy="5618595"/>
          </a:xfrm>
        </p:grpSpPr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599EDE91-5398-4863-447E-CC50830A10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2167555"/>
                </p:ext>
              </p:extLst>
            </p:nvPr>
          </p:nvGraphicFramePr>
          <p:xfrm>
            <a:off x="272120" y="1370233"/>
            <a:ext cx="11553910" cy="1503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3" imgW="6540500" imgH="850900" progId="Excel.Sheet.12">
                    <p:embed/>
                  </p:oleObj>
                </mc:Choice>
                <mc:Fallback>
                  <p:oleObj name="Worksheet" r:id="rId3" imgW="6540500" imgH="850900" progId="Excel.Sheet.12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9C1BD37F-949B-6C07-9A0A-4DB8900A53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2120" y="1370233"/>
                          <a:ext cx="11553910" cy="15031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86019C-507E-F04F-3551-CE6958F61689}"/>
                </a:ext>
              </a:extLst>
            </p:cNvPr>
            <p:cNvSpPr txBox="1"/>
            <p:nvPr/>
          </p:nvSpPr>
          <p:spPr>
            <a:xfrm>
              <a:off x="189571" y="1000901"/>
              <a:ext cx="93335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SCENARIO #3 - Process is under development with no planned results until May: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D86F7E-064A-D9D5-AC45-9D254F61F91B}"/>
                </a:ext>
              </a:extLst>
            </p:cNvPr>
            <p:cNvSpPr/>
            <p:nvPr/>
          </p:nvSpPr>
          <p:spPr>
            <a:xfrm rot="10800000">
              <a:off x="981307" y="1548226"/>
              <a:ext cx="3490333" cy="1110064"/>
            </a:xfrm>
            <a:prstGeom prst="ellipse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BC3B4F-2A2B-31A6-34E3-E2B0BED6DA89}"/>
                </a:ext>
              </a:extLst>
            </p:cNvPr>
            <p:cNvSpPr txBox="1"/>
            <p:nvPr/>
          </p:nvSpPr>
          <p:spPr>
            <a:xfrm>
              <a:off x="189571" y="2907738"/>
              <a:ext cx="115539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SCENARIO #4 - In addition to monthly targets, it may be useful to use Year-To-Date Calculations when cumulative results are meaningful:</a:t>
              </a:r>
            </a:p>
          </p:txBody>
        </p:sp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E85BEBCE-EC4F-2156-7857-0E0FCA6BF2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3249511"/>
                </p:ext>
              </p:extLst>
            </p:nvPr>
          </p:nvGraphicFramePr>
          <p:xfrm>
            <a:off x="283421" y="3659907"/>
            <a:ext cx="11460060" cy="2959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5" imgW="6540500" imgH="1689100" progId="Excel.Sheet.12">
                    <p:embed/>
                  </p:oleObj>
                </mc:Choice>
                <mc:Fallback>
                  <p:oleObj name="Worksheet" r:id="rId5" imgW="6540500" imgH="1689100" progId="Excel.Sheet.12">
                    <p:embed/>
                    <p:pic>
                      <p:nvPicPr>
                        <p:cNvPr id="15" name="Object 14">
                          <a:extLst>
                            <a:ext uri="{FF2B5EF4-FFF2-40B4-BE49-F238E27FC236}">
                              <a16:creationId xmlns:a16="http://schemas.microsoft.com/office/drawing/2014/main" id="{99807AA9-8431-F926-B2C8-D8B224232A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3421" y="3659907"/>
                          <a:ext cx="11460060" cy="295958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5D1E6E7-F067-2B5B-0470-FB466666DD0F}"/>
                </a:ext>
              </a:extLst>
            </p:cNvPr>
            <p:cNvSpPr/>
            <p:nvPr/>
          </p:nvSpPr>
          <p:spPr>
            <a:xfrm rot="10800000">
              <a:off x="272120" y="5285248"/>
              <a:ext cx="10905893" cy="1334248"/>
            </a:xfrm>
            <a:prstGeom prst="ellipse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54686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45B0-B7DB-471E-DDD4-B7BB309B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+mn-lt"/>
                <a:ea typeface="ＭＳ Ｐゴシック" panose="020B0600070205080204" pitchFamily="34" charset="-128"/>
              </a:rPr>
              <a:t>Bowling Checklist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6BAB2-B999-A4AA-4A7C-2D3A7B0E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148836"/>
            <a:ext cx="5752399" cy="41249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The Bowler Should… </a:t>
            </a:r>
            <a:endParaRPr lang="en-US" sz="2000" dirty="0"/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Tied to a First-Level AIP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Used to track progress of the implementation of breakthrough objectives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Does the improvement to the measure impact the Top-Level targets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A07FA52-845E-7D24-4038-05CF63DC1E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121" b="-6149"/>
          <a:stretch/>
        </p:blipFill>
        <p:spPr>
          <a:xfrm rot="20839358">
            <a:off x="7615237" y="1279093"/>
            <a:ext cx="3559824" cy="4660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94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45B0-B7DB-471E-DDD4-B7BB309B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+mn-lt"/>
                <a:ea typeface="ＭＳ Ｐゴシック" panose="020B0600070205080204" pitchFamily="34" charset="-128"/>
              </a:rPr>
              <a:t>Final Though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6BAB2-B999-A4AA-4A7C-2D3A7B0E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4827588" cy="41249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You have planned the work and set the measurements, now, you must work the plan! </a:t>
            </a:r>
          </a:p>
          <a:p>
            <a:pPr>
              <a:lnSpc>
                <a:spcPct val="100000"/>
              </a:lnSpc>
            </a:pPr>
            <a:endParaRPr lang="en-US" sz="2000" b="1" dirty="0"/>
          </a:p>
          <a:p>
            <a:pPr>
              <a:lnSpc>
                <a:spcPct val="100000"/>
              </a:lnSpc>
            </a:pPr>
            <a:r>
              <a:rPr lang="en-US" sz="2000" b="1" dirty="0"/>
              <a:t>The key to success is the focus of the AIP team to achieve the targets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08340D-71FE-2AD9-4C42-4224FF3BA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188" y="2148836"/>
            <a:ext cx="6117235" cy="30586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933567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HC FONT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15909</TotalTime>
  <Words>748</Words>
  <Application>Microsoft Office PowerPoint</Application>
  <PresentationFormat>Widescreen</PresentationFormat>
  <Paragraphs>89</Paragraphs>
  <Slides>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Roboto</vt:lpstr>
      <vt:lpstr>Roboto Medium</vt:lpstr>
      <vt:lpstr>Wingdings</vt:lpstr>
      <vt:lpstr>Office Theme</vt:lpstr>
      <vt:lpstr>Worksheet</vt:lpstr>
      <vt:lpstr>PowerPoint Presentation</vt:lpstr>
      <vt:lpstr>Purpose &amp; Learning Objectives</vt:lpstr>
      <vt:lpstr>7 Phases of the Hoshin Process Based on the Deming Cycle - PDCA</vt:lpstr>
      <vt:lpstr>Hoshin Bowler Defined</vt:lpstr>
      <vt:lpstr>The Relationship Between the 2nd Level Matrix and the Hoshin Bowler </vt:lpstr>
      <vt:lpstr>Anatomy of a Bowling Chart</vt:lpstr>
      <vt:lpstr>Typical Scenarios You May Encounter</vt:lpstr>
      <vt:lpstr>Typical Scenarios You May Encounter - Con’t</vt:lpstr>
      <vt:lpstr>Bowling Checklist</vt:lpstr>
      <vt:lpstr>Final Though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399</cp:revision>
  <dcterms:created xsi:type="dcterms:W3CDTF">2023-02-08T22:10:20Z</dcterms:created>
  <dcterms:modified xsi:type="dcterms:W3CDTF">2025-09-30T17:37:01Z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8EDE5FB3-C9F1-4D32-B948-81F1505A75A2</vt:lpwstr>
  </property>
  <property fmtid="{D5CDD505-2E9C-101B-9397-08002B2CF9AE}" pid="3" name="ArticulatePath">
    <vt:lpwstr>04 - Hoshin Workshop Bowler Training - Formatted Draft</vt:lpwstr>
  </property>
</Properties>
</file>