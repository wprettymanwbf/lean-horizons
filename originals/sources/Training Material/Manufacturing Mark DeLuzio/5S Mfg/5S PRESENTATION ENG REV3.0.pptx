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3.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66"/>
  </p:notesMasterIdLst>
  <p:sldIdLst>
    <p:sldId id="314" r:id="rId2"/>
    <p:sldId id="283" r:id="rId3"/>
    <p:sldId id="284" r:id="rId4"/>
    <p:sldId id="285" r:id="rId5"/>
    <p:sldId id="315" r:id="rId6"/>
    <p:sldId id="1439" r:id="rId7"/>
    <p:sldId id="317" r:id="rId8"/>
    <p:sldId id="318" r:id="rId9"/>
    <p:sldId id="319" r:id="rId10"/>
    <p:sldId id="320" r:id="rId11"/>
    <p:sldId id="321" r:id="rId12"/>
    <p:sldId id="322" r:id="rId13"/>
    <p:sldId id="323" r:id="rId14"/>
    <p:sldId id="324" r:id="rId15"/>
    <p:sldId id="325" r:id="rId16"/>
    <p:sldId id="326" r:id="rId17"/>
    <p:sldId id="327" r:id="rId18"/>
    <p:sldId id="328" r:id="rId19"/>
    <p:sldId id="329" r:id="rId20"/>
    <p:sldId id="330" r:id="rId21"/>
    <p:sldId id="331" r:id="rId22"/>
    <p:sldId id="1440" r:id="rId23"/>
    <p:sldId id="1397" r:id="rId24"/>
    <p:sldId id="1398" r:id="rId25"/>
    <p:sldId id="1399" r:id="rId26"/>
    <p:sldId id="1400" r:id="rId27"/>
    <p:sldId id="1401" r:id="rId28"/>
    <p:sldId id="1402" r:id="rId29"/>
    <p:sldId id="1403" r:id="rId30"/>
    <p:sldId id="1404" r:id="rId31"/>
    <p:sldId id="1405" r:id="rId32"/>
    <p:sldId id="1406" r:id="rId33"/>
    <p:sldId id="1407" r:id="rId34"/>
    <p:sldId id="1408" r:id="rId35"/>
    <p:sldId id="1409" r:id="rId36"/>
    <p:sldId id="1410" r:id="rId37"/>
    <p:sldId id="1411" r:id="rId38"/>
    <p:sldId id="1412" r:id="rId39"/>
    <p:sldId id="1413" r:id="rId40"/>
    <p:sldId id="1414" r:id="rId41"/>
    <p:sldId id="1415" r:id="rId42"/>
    <p:sldId id="1416" r:id="rId43"/>
    <p:sldId id="1417" r:id="rId44"/>
    <p:sldId id="1418" r:id="rId45"/>
    <p:sldId id="1419" r:id="rId46"/>
    <p:sldId id="1420" r:id="rId47"/>
    <p:sldId id="1421" r:id="rId48"/>
    <p:sldId id="1422" r:id="rId49"/>
    <p:sldId id="1423" r:id="rId50"/>
    <p:sldId id="1424" r:id="rId51"/>
    <p:sldId id="1425" r:id="rId52"/>
    <p:sldId id="1426" r:id="rId53"/>
    <p:sldId id="1427" r:id="rId54"/>
    <p:sldId id="1428" r:id="rId55"/>
    <p:sldId id="1441" r:id="rId56"/>
    <p:sldId id="1430" r:id="rId57"/>
    <p:sldId id="1431" r:id="rId58"/>
    <p:sldId id="1432" r:id="rId59"/>
    <p:sldId id="1433" r:id="rId60"/>
    <p:sldId id="1434" r:id="rId61"/>
    <p:sldId id="1435" r:id="rId62"/>
    <p:sldId id="1436" r:id="rId63"/>
    <p:sldId id="1437" r:id="rId64"/>
    <p:sldId id="1438" r:id="rId65"/>
  </p:sldIdLst>
  <p:sldSz cx="12192000" cy="6858000"/>
  <p:notesSz cx="6858000" cy="9144000"/>
  <p:custDataLst>
    <p:tags r:id="rId6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B6AAEF-3415-5D22-AFDC-F31A005CEED7}" name="Joe Rutz" initials="JR" userId="S::joe.rutz@leancoachingllc.com::74172d3c-f68f-4a41-af3d-37d02d9c9662"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FF00"/>
    <a:srgbClr val="006699"/>
    <a:srgbClr val="009900"/>
    <a:srgbClr val="222222"/>
    <a:srgbClr val="FFB627"/>
    <a:srgbClr val="177E89"/>
    <a:srgbClr val="8EDCE6"/>
    <a:srgbClr val="F1BF98"/>
    <a:srgbClr val="2EC4B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636" autoAdjust="0"/>
    <p:restoredTop sz="81849" autoAdjust="0"/>
  </p:normalViewPr>
  <p:slideViewPr>
    <p:cSldViewPr snapToGrid="0">
      <p:cViewPr varScale="1">
        <p:scale>
          <a:sx n="47" d="100"/>
          <a:sy n="47" d="100"/>
        </p:scale>
        <p:origin x="54" y="552"/>
      </p:cViewPr>
      <p:guideLst/>
    </p:cSldViewPr>
  </p:slideViewPr>
  <p:notesTextViewPr>
    <p:cViewPr>
      <p:scale>
        <a:sx n="3" d="2"/>
        <a:sy n="3" d="2"/>
      </p:scale>
      <p:origin x="0" y="0"/>
    </p:cViewPr>
  </p:notesTextViewPr>
  <p:sorterViewPr>
    <p:cViewPr>
      <p:scale>
        <a:sx n="150" d="100"/>
        <a:sy n="150" d="100"/>
      </p:scale>
      <p:origin x="0" y="-5724"/>
    </p:cViewPr>
  </p:sorterViewPr>
  <p:notesViewPr>
    <p:cSldViewPr snapToGrid="0">
      <p:cViewPr varScale="1">
        <p:scale>
          <a:sx n="62" d="100"/>
          <a:sy n="62" d="100"/>
        </p:scale>
        <p:origin x="3226" y="77"/>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microsoft.com/office/2018/10/relationships/authors" Targe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gs" Target="tags/tag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6C400-5EB2-4620-B71B-A7454A7EC846}" type="datetimeFigureOut">
              <a:rPr lang="en-US" smtClean="0"/>
              <a:t>6/10/2025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CD8548-F1A2-4EDF-A416-5F2BB6B8F64C}" type="slidenum">
              <a:rPr lang="en-US" smtClean="0"/>
              <a:t>‹#›</a:t>
            </a:fld>
            <a:endParaRPr lang="en-US"/>
          </a:p>
        </p:txBody>
      </p:sp>
    </p:spTree>
    <p:extLst>
      <p:ext uri="{BB962C8B-B14F-4D97-AF65-F5344CB8AC3E}">
        <p14:creationId xmlns:p14="http://schemas.microsoft.com/office/powerpoint/2010/main" val="1973237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a:t>
            </a:fld>
            <a:endParaRPr lang="en-US"/>
          </a:p>
        </p:txBody>
      </p:sp>
    </p:spTree>
    <p:extLst>
      <p:ext uri="{BB962C8B-B14F-4D97-AF65-F5344CB8AC3E}">
        <p14:creationId xmlns:p14="http://schemas.microsoft.com/office/powerpoint/2010/main" val="3135377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a:t>
            </a:fld>
            <a:endParaRPr lang="en-US"/>
          </a:p>
        </p:txBody>
      </p:sp>
    </p:spTree>
    <p:extLst>
      <p:ext uri="{BB962C8B-B14F-4D97-AF65-F5344CB8AC3E}">
        <p14:creationId xmlns:p14="http://schemas.microsoft.com/office/powerpoint/2010/main" val="27817722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a:t>
            </a:fld>
            <a:endParaRPr lang="en-US"/>
          </a:p>
        </p:txBody>
      </p:sp>
    </p:spTree>
    <p:extLst>
      <p:ext uri="{BB962C8B-B14F-4D97-AF65-F5344CB8AC3E}">
        <p14:creationId xmlns:p14="http://schemas.microsoft.com/office/powerpoint/2010/main" val="23806945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 </a:t>
            </a:r>
            <a:r>
              <a:rPr lang="en-US" altLang="en-US" dirty="0">
                <a:latin typeface="Arial" panose="020B0604020202020204" pitchFamily="34" charset="0"/>
                <a:ea typeface="ＭＳ Ｐゴシック" panose="020B0600070205080204" pitchFamily="34" charset="-128"/>
              </a:rPr>
              <a:t>Perform Group Introductions. Pick an ice-breaker or exercise to warm the team up to the event. (Icebreaker Example: Everyone uses their name tent and writes a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Personal License Plate</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in which they have 2 minutes to creatively use a total of 7 letters or numbers to tell us something about themselves. Examples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LV2SAIL</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OR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DADOV5</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p>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Review Event Ground Rules. </a:t>
            </a: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Does anyone have any rules they would like to see added?</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Does everyone agree to these?</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a:t>
            </a:fld>
            <a:endParaRPr lang="en-US"/>
          </a:p>
        </p:txBody>
      </p:sp>
    </p:spTree>
    <p:extLst>
      <p:ext uri="{BB962C8B-B14F-4D97-AF65-F5344CB8AC3E}">
        <p14:creationId xmlns:p14="http://schemas.microsoft.com/office/powerpoint/2010/main" val="1305716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Introduce the notion of 5S and the goal of this event. </a:t>
            </a:r>
          </a:p>
          <a:p>
            <a:r>
              <a:rPr lang="en-US" altLang="en-US" dirty="0">
                <a:latin typeface="Arial" panose="020B0604020202020204" pitchFamily="34" charset="0"/>
                <a:ea typeface="ＭＳ Ｐゴシック" panose="020B0600070205080204" pitchFamily="34" charset="-128"/>
              </a:rPr>
              <a:t>At this time it is appropriate for the Process Owner or the Kaizen Team Leader to review the kaizen charter and objectives of the event. </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a:t>
            </a:fld>
            <a:endParaRPr lang="en-US"/>
          </a:p>
        </p:txBody>
      </p:sp>
    </p:spTree>
    <p:extLst>
      <p:ext uri="{BB962C8B-B14F-4D97-AF65-F5344CB8AC3E}">
        <p14:creationId xmlns:p14="http://schemas.microsoft.com/office/powerpoint/2010/main" val="297570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a:t>
            </a:fld>
            <a:endParaRPr lang="en-US"/>
          </a:p>
        </p:txBody>
      </p:sp>
    </p:spTree>
    <p:extLst>
      <p:ext uri="{BB962C8B-B14F-4D97-AF65-F5344CB8AC3E}">
        <p14:creationId xmlns:p14="http://schemas.microsoft.com/office/powerpoint/2010/main" val="28766119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7</a:t>
            </a:fld>
            <a:endParaRPr lang="en-US"/>
          </a:p>
        </p:txBody>
      </p:sp>
    </p:spTree>
    <p:extLst>
      <p:ext uri="{BB962C8B-B14F-4D97-AF65-F5344CB8AC3E}">
        <p14:creationId xmlns:p14="http://schemas.microsoft.com/office/powerpoint/2010/main" val="28695952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8</a:t>
            </a:fld>
            <a:endParaRPr lang="en-US"/>
          </a:p>
        </p:txBody>
      </p:sp>
    </p:spTree>
    <p:extLst>
      <p:ext uri="{BB962C8B-B14F-4D97-AF65-F5344CB8AC3E}">
        <p14:creationId xmlns:p14="http://schemas.microsoft.com/office/powerpoint/2010/main" val="2263279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FF3300"/>
                </a:solidFill>
                <a:latin typeface="Arial" panose="020B0604020202020204" pitchFamily="34" charset="0"/>
                <a:ea typeface="ＭＳ Ｐゴシック" panose="020B0600070205080204" pitchFamily="34" charset="-128"/>
              </a:rPr>
              <a:t>Add phonetic spelling for each Japanese word</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dirty="0" err="1">
                <a:solidFill>
                  <a:srgbClr val="FF3300"/>
                </a:solidFill>
                <a:latin typeface="Arial" panose="020B0604020202020204" pitchFamily="34" charset="0"/>
                <a:ea typeface="ＭＳ Ｐゴシック" panose="020B0600070205080204" pitchFamily="34" charset="-128"/>
              </a:rPr>
              <a:t>Seiri</a:t>
            </a:r>
            <a:r>
              <a:rPr lang="en-US" altLang="en-US" dirty="0">
                <a:solidFill>
                  <a:srgbClr val="FF3300"/>
                </a:solidFill>
                <a:latin typeface="Arial" panose="020B0604020202020204" pitchFamily="34" charset="0"/>
                <a:ea typeface="ＭＳ Ｐゴシック" panose="020B0600070205080204" pitchFamily="34" charset="-128"/>
              </a:rPr>
              <a:t> = Sear-e</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sz="1500" dirty="0" err="1">
                <a:solidFill>
                  <a:srgbClr val="000066"/>
                </a:solidFill>
                <a:latin typeface="Arial" panose="020B0604020202020204" pitchFamily="34" charset="0"/>
                <a:ea typeface="ＭＳ Ｐゴシック" panose="020B0600070205080204" pitchFamily="34" charset="-128"/>
              </a:rPr>
              <a:t>Seiton</a:t>
            </a:r>
            <a:r>
              <a:rPr lang="en-US" altLang="en-US" sz="1500" dirty="0">
                <a:latin typeface="Arial" panose="020B0604020202020204" pitchFamily="34" charset="0"/>
                <a:ea typeface="ＭＳ Ｐゴシック" panose="020B0600070205080204" pitchFamily="34" charset="-128"/>
              </a:rPr>
              <a:t> = Say-ton</a:t>
            </a:r>
          </a:p>
        </p:txBody>
      </p:sp>
      <p:sp>
        <p:nvSpPr>
          <p:cNvPr id="4" name="Slide Number Placeholder 3"/>
          <p:cNvSpPr>
            <a:spLocks noGrp="1"/>
          </p:cNvSpPr>
          <p:nvPr>
            <p:ph type="sldNum" sz="quarter" idx="5"/>
          </p:nvPr>
        </p:nvSpPr>
        <p:spPr/>
        <p:txBody>
          <a:bodyPr/>
          <a:lstStyle/>
          <a:p>
            <a:fld id="{AECD8548-F1A2-4EDF-A416-5F2BB6B8F64C}" type="slidenum">
              <a:rPr lang="en-US" smtClean="0"/>
              <a:t>9</a:t>
            </a:fld>
            <a:endParaRPr lang="en-US"/>
          </a:p>
        </p:txBody>
      </p:sp>
    </p:spTree>
    <p:extLst>
      <p:ext uri="{BB962C8B-B14F-4D97-AF65-F5344CB8AC3E}">
        <p14:creationId xmlns:p14="http://schemas.microsoft.com/office/powerpoint/2010/main" val="17243281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rgbClr val="FF3300"/>
                </a:solidFill>
                <a:latin typeface="Arial" panose="020B0604020202020204" pitchFamily="34" charset="0"/>
                <a:ea typeface="ＭＳ Ｐゴシック" panose="020B0600070205080204" pitchFamily="34" charset="-128"/>
              </a:rPr>
              <a:t>Add phonetic spelling for each Japanese word</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dirty="0" err="1">
                <a:solidFill>
                  <a:srgbClr val="FF3300"/>
                </a:solidFill>
                <a:latin typeface="Arial" panose="020B0604020202020204" pitchFamily="34" charset="0"/>
                <a:ea typeface="ＭＳ Ｐゴシック" panose="020B0600070205080204" pitchFamily="34" charset="-128"/>
              </a:rPr>
              <a:t>Seiso</a:t>
            </a:r>
            <a:r>
              <a:rPr lang="en-US" altLang="en-US" dirty="0">
                <a:solidFill>
                  <a:srgbClr val="FF3300"/>
                </a:solidFill>
                <a:latin typeface="Arial" panose="020B0604020202020204" pitchFamily="34" charset="0"/>
                <a:ea typeface="ＭＳ Ｐゴシック" panose="020B0600070205080204" pitchFamily="34" charset="-128"/>
              </a:rPr>
              <a:t> = Say-zoo</a:t>
            </a:r>
            <a:br>
              <a:rPr lang="en-US" altLang="en-US" dirty="0">
                <a:solidFill>
                  <a:srgbClr val="FF3300"/>
                </a:solidFill>
                <a:latin typeface="Arial" panose="020B0604020202020204" pitchFamily="34" charset="0"/>
                <a:ea typeface="ＭＳ Ｐゴシック" panose="020B0600070205080204" pitchFamily="34" charset="-128"/>
              </a:rPr>
            </a:br>
            <a:r>
              <a:rPr lang="en-US" altLang="en-US" sz="1500" dirty="0" err="1">
                <a:latin typeface="Arial" panose="020B0604020202020204" pitchFamily="34" charset="0"/>
                <a:ea typeface="ＭＳ Ｐゴシック" panose="020B0600070205080204" pitchFamily="34" charset="-128"/>
              </a:rPr>
              <a:t>Seiketsu</a:t>
            </a:r>
            <a:r>
              <a:rPr lang="en-US" altLang="en-US" sz="1500" dirty="0">
                <a:latin typeface="Arial" panose="020B0604020202020204" pitchFamily="34" charset="0"/>
                <a:ea typeface="ＭＳ Ｐゴシック" panose="020B0600070205080204" pitchFamily="34" charset="-128"/>
              </a:rPr>
              <a:t> = Say-kat-zoo</a:t>
            </a:r>
            <a:br>
              <a:rPr lang="en-US" altLang="en-US" sz="1500" dirty="0">
                <a:latin typeface="Arial" panose="020B0604020202020204" pitchFamily="34" charset="0"/>
                <a:ea typeface="ＭＳ Ｐゴシック" panose="020B0600070205080204" pitchFamily="34" charset="-128"/>
              </a:rPr>
            </a:br>
            <a:r>
              <a:rPr lang="en-US" altLang="en-US" sz="1500" dirty="0" err="1">
                <a:solidFill>
                  <a:srgbClr val="000066"/>
                </a:solidFill>
                <a:latin typeface="Arial" panose="020B0604020202020204" pitchFamily="34" charset="0"/>
                <a:ea typeface="ＭＳ Ｐゴシック" panose="020B0600070205080204" pitchFamily="34" charset="-128"/>
              </a:rPr>
              <a:t>Shitsuke</a:t>
            </a:r>
            <a:r>
              <a:rPr lang="en-US" altLang="en-US" sz="1500" dirty="0">
                <a:solidFill>
                  <a:srgbClr val="000066"/>
                </a:solidFill>
                <a:latin typeface="Arial" panose="020B0604020202020204" pitchFamily="34" charset="0"/>
                <a:ea typeface="ＭＳ Ｐゴシック" panose="020B0600070205080204" pitchFamily="34" charset="-128"/>
              </a:rPr>
              <a:t> = Sheet-Soo-key</a:t>
            </a:r>
          </a:p>
        </p:txBody>
      </p:sp>
      <p:sp>
        <p:nvSpPr>
          <p:cNvPr id="4" name="Slide Number Placeholder 3"/>
          <p:cNvSpPr>
            <a:spLocks noGrp="1"/>
          </p:cNvSpPr>
          <p:nvPr>
            <p:ph type="sldNum" sz="quarter" idx="5"/>
          </p:nvPr>
        </p:nvSpPr>
        <p:spPr/>
        <p:txBody>
          <a:bodyPr/>
          <a:lstStyle/>
          <a:p>
            <a:fld id="{AECD8548-F1A2-4EDF-A416-5F2BB6B8F64C}" type="slidenum">
              <a:rPr lang="en-US" smtClean="0"/>
              <a:t>10</a:t>
            </a:fld>
            <a:endParaRPr lang="en-US"/>
          </a:p>
        </p:txBody>
      </p:sp>
    </p:spTree>
    <p:extLst>
      <p:ext uri="{BB962C8B-B14F-4D97-AF65-F5344CB8AC3E}">
        <p14:creationId xmlns:p14="http://schemas.microsoft.com/office/powerpoint/2010/main" val="39477067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500" dirty="0">
              <a:solidFill>
                <a:srgbClr val="000066"/>
              </a:solidFill>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11</a:t>
            </a:fld>
            <a:endParaRPr lang="en-US"/>
          </a:p>
        </p:txBody>
      </p:sp>
    </p:spTree>
    <p:extLst>
      <p:ext uri="{BB962C8B-B14F-4D97-AF65-F5344CB8AC3E}">
        <p14:creationId xmlns:p14="http://schemas.microsoft.com/office/powerpoint/2010/main" val="879318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500" dirty="0">
              <a:solidFill>
                <a:srgbClr val="000066"/>
              </a:solidFill>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12</a:t>
            </a:fld>
            <a:endParaRPr lang="en-US"/>
          </a:p>
        </p:txBody>
      </p:sp>
    </p:spTree>
    <p:extLst>
      <p:ext uri="{BB962C8B-B14F-4D97-AF65-F5344CB8AC3E}">
        <p14:creationId xmlns:p14="http://schemas.microsoft.com/office/powerpoint/2010/main" val="16591986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13</a:t>
            </a:fld>
            <a:endParaRPr lang="en-US"/>
          </a:p>
        </p:txBody>
      </p:sp>
    </p:spTree>
    <p:extLst>
      <p:ext uri="{BB962C8B-B14F-4D97-AF65-F5344CB8AC3E}">
        <p14:creationId xmlns:p14="http://schemas.microsoft.com/office/powerpoint/2010/main" val="13751468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14</a:t>
            </a:fld>
            <a:endParaRPr lang="en-US"/>
          </a:p>
        </p:txBody>
      </p:sp>
    </p:spTree>
    <p:extLst>
      <p:ext uri="{BB962C8B-B14F-4D97-AF65-F5344CB8AC3E}">
        <p14:creationId xmlns:p14="http://schemas.microsoft.com/office/powerpoint/2010/main" val="19028582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15</a:t>
            </a:fld>
            <a:endParaRPr lang="en-US"/>
          </a:p>
        </p:txBody>
      </p:sp>
    </p:spTree>
    <p:extLst>
      <p:ext uri="{BB962C8B-B14F-4D97-AF65-F5344CB8AC3E}">
        <p14:creationId xmlns:p14="http://schemas.microsoft.com/office/powerpoint/2010/main" val="248091493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16</a:t>
            </a:fld>
            <a:endParaRPr lang="en-US"/>
          </a:p>
        </p:txBody>
      </p:sp>
    </p:spTree>
    <p:extLst>
      <p:ext uri="{BB962C8B-B14F-4D97-AF65-F5344CB8AC3E}">
        <p14:creationId xmlns:p14="http://schemas.microsoft.com/office/powerpoint/2010/main" val="1461311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17</a:t>
            </a:fld>
            <a:endParaRPr lang="en-US"/>
          </a:p>
        </p:txBody>
      </p:sp>
    </p:spTree>
    <p:extLst>
      <p:ext uri="{BB962C8B-B14F-4D97-AF65-F5344CB8AC3E}">
        <p14:creationId xmlns:p14="http://schemas.microsoft.com/office/powerpoint/2010/main" val="200253790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The 5S Process is VERY Prescriptive!  It is very important to implement them in the order defined.  5S Culture is a mindset and habit developed through DISCIPLINE, perseverance and commitment and includes continuous improvement of the process itself.  5S require a s MINIMUM of six months, even years achieve and is a foundational item that instills the disciplines required to achieve any of the benefits from the implementation of TPS.</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18</a:t>
            </a:fld>
            <a:endParaRPr lang="en-US"/>
          </a:p>
        </p:txBody>
      </p:sp>
    </p:spTree>
    <p:extLst>
      <p:ext uri="{BB962C8B-B14F-4D97-AF65-F5344CB8AC3E}">
        <p14:creationId xmlns:p14="http://schemas.microsoft.com/office/powerpoint/2010/main" val="361109812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19</a:t>
            </a:fld>
            <a:endParaRPr lang="en-US"/>
          </a:p>
        </p:txBody>
      </p:sp>
    </p:spTree>
    <p:extLst>
      <p:ext uri="{BB962C8B-B14F-4D97-AF65-F5344CB8AC3E}">
        <p14:creationId xmlns:p14="http://schemas.microsoft.com/office/powerpoint/2010/main" val="37121267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20</a:t>
            </a:fld>
            <a:endParaRPr lang="en-US"/>
          </a:p>
        </p:txBody>
      </p:sp>
    </p:spTree>
    <p:extLst>
      <p:ext uri="{BB962C8B-B14F-4D97-AF65-F5344CB8AC3E}">
        <p14:creationId xmlns:p14="http://schemas.microsoft.com/office/powerpoint/2010/main" val="36737864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15000"/>
              </a:lnSpc>
              <a:spcBef>
                <a:spcPct val="20000"/>
              </a:spcBef>
              <a:spcAft>
                <a:spcPct val="20000"/>
              </a:spcAft>
              <a:buClr>
                <a:schemeClr val="accent1"/>
              </a:buClr>
              <a:buSzPct val="40000"/>
              <a:buFont typeface="Wingdings 2" panose="05020102010507070707" pitchFamily="18" charset="2"/>
              <a:buNone/>
              <a:tabLst/>
              <a:defRPr/>
            </a:pPr>
            <a:r>
              <a:rPr lang="en-US" altLang="en-US" sz="800" b="1" dirty="0">
                <a:latin typeface="Arial" panose="020B0604020202020204" pitchFamily="34" charset="0"/>
                <a:ea typeface="ＭＳ Ｐゴシック" panose="020B0600070205080204" pitchFamily="34" charset="-128"/>
              </a:rPr>
              <a:t>DEFINE:</a:t>
            </a:r>
            <a:r>
              <a:rPr lang="en-US" altLang="en-US" sz="800" dirty="0">
                <a:latin typeface="Arial" panose="020B0604020202020204" pitchFamily="34" charset="0"/>
                <a:ea typeface="ＭＳ Ｐゴシック" panose="020B0600070205080204" pitchFamily="34" charset="-128"/>
              </a:rPr>
              <a:t> Gemba – meaning the </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real place</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 or the place where the </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action is happening.</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 We go to the actual place to see what is actually happening and what are the actual results. </a:t>
            </a:r>
            <a:endParaRPr lang="en-US" altLang="en-US" sz="800" dirty="0">
              <a:latin typeface="Arial" panose="020B0604020202020204" pitchFamily="34" charset="0"/>
              <a:ea typeface="ＭＳ Ｐゴシック" panose="020B0600070205080204" pitchFamily="34" charset="-128"/>
            </a:endParaRPr>
          </a:p>
          <a:p>
            <a:pPr>
              <a:lnSpc>
                <a:spcPct val="115000"/>
              </a:lnSpc>
              <a:spcBef>
                <a:spcPct val="20000"/>
              </a:spcBef>
              <a:spcAft>
                <a:spcPct val="20000"/>
              </a:spcAft>
              <a:buClr>
                <a:schemeClr val="accent1"/>
              </a:buClr>
              <a:buSzPct val="40000"/>
              <a:buFont typeface="Wingdings 2" panose="05020102010507070707" pitchFamily="18" charset="2"/>
              <a:buNone/>
            </a:pPr>
            <a:endParaRPr lang="en-US" altLang="en-US" sz="800" b="1" dirty="0">
              <a:latin typeface="Arial" panose="020B0604020202020204" pitchFamily="34" charset="0"/>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21</a:t>
            </a:fld>
            <a:endParaRPr lang="en-US"/>
          </a:p>
        </p:txBody>
      </p:sp>
    </p:spTree>
    <p:extLst>
      <p:ext uri="{BB962C8B-B14F-4D97-AF65-F5344CB8AC3E}">
        <p14:creationId xmlns:p14="http://schemas.microsoft.com/office/powerpoint/2010/main" val="280371486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22</a:t>
            </a:fld>
            <a:endParaRPr lang="en-US"/>
          </a:p>
        </p:txBody>
      </p:sp>
    </p:spTree>
    <p:extLst>
      <p:ext uri="{BB962C8B-B14F-4D97-AF65-F5344CB8AC3E}">
        <p14:creationId xmlns:p14="http://schemas.microsoft.com/office/powerpoint/2010/main" val="84292036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23</a:t>
            </a:fld>
            <a:endParaRPr lang="en-US"/>
          </a:p>
        </p:txBody>
      </p:sp>
    </p:spTree>
    <p:extLst>
      <p:ext uri="{BB962C8B-B14F-4D97-AF65-F5344CB8AC3E}">
        <p14:creationId xmlns:p14="http://schemas.microsoft.com/office/powerpoint/2010/main" val="2405005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24</a:t>
            </a:fld>
            <a:endParaRPr lang="en-US"/>
          </a:p>
        </p:txBody>
      </p:sp>
    </p:spTree>
    <p:extLst>
      <p:ext uri="{BB962C8B-B14F-4D97-AF65-F5344CB8AC3E}">
        <p14:creationId xmlns:p14="http://schemas.microsoft.com/office/powerpoint/2010/main" val="98248740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25</a:t>
            </a:fld>
            <a:endParaRPr lang="en-US"/>
          </a:p>
        </p:txBody>
      </p:sp>
    </p:spTree>
    <p:extLst>
      <p:ext uri="{BB962C8B-B14F-4D97-AF65-F5344CB8AC3E}">
        <p14:creationId xmlns:p14="http://schemas.microsoft.com/office/powerpoint/2010/main" val="3600309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First step is to literally SORT everything included in your scope of this event.  Throw away anything you know you can.  This includes your computer files as well.  Remember that purpose of 1S is to SIMPLIFY and reveal the actual business process.  Hold off on literal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storing</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of items that you keep in your office until implementation of 2S when you decide on organizational techniques.</a:t>
            </a:r>
          </a:p>
          <a:p>
            <a:r>
              <a:rPr lang="en-US" altLang="en-US" b="1"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If needed, common definitions of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frequencies</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Rarely Used = once or twice per year; Occasionally used = monthly or weekly; Frequently = Daily or Hourly or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Constantly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26</a:t>
            </a:fld>
            <a:endParaRPr lang="en-US"/>
          </a:p>
        </p:txBody>
      </p:sp>
    </p:spTree>
    <p:extLst>
      <p:ext uri="{BB962C8B-B14F-4D97-AF65-F5344CB8AC3E}">
        <p14:creationId xmlns:p14="http://schemas.microsoft.com/office/powerpoint/2010/main" val="5190641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Ask the participants if they can think of other areas which should be reviewed</a:t>
            </a:r>
          </a:p>
          <a:p>
            <a:r>
              <a:rPr lang="en-US" altLang="en-US" dirty="0">
                <a:latin typeface="Arial" panose="020B0604020202020204" pitchFamily="34" charset="0"/>
                <a:ea typeface="ＭＳ Ｐゴシック" panose="020B0600070205080204" pitchFamily="34" charset="-128"/>
              </a:rPr>
              <a:t>(write them down)</a:t>
            </a:r>
          </a:p>
        </p:txBody>
      </p:sp>
      <p:sp>
        <p:nvSpPr>
          <p:cNvPr id="4" name="Slide Number Placeholder 3"/>
          <p:cNvSpPr>
            <a:spLocks noGrp="1"/>
          </p:cNvSpPr>
          <p:nvPr>
            <p:ph type="sldNum" sz="quarter" idx="5"/>
          </p:nvPr>
        </p:nvSpPr>
        <p:spPr/>
        <p:txBody>
          <a:bodyPr/>
          <a:lstStyle/>
          <a:p>
            <a:fld id="{AECD8548-F1A2-4EDF-A416-5F2BB6B8F64C}" type="slidenum">
              <a:rPr lang="en-US" smtClean="0"/>
              <a:t>27</a:t>
            </a:fld>
            <a:endParaRPr lang="en-US"/>
          </a:p>
        </p:txBody>
      </p:sp>
    </p:spTree>
    <p:extLst>
      <p:ext uri="{BB962C8B-B14F-4D97-AF65-F5344CB8AC3E}">
        <p14:creationId xmlns:p14="http://schemas.microsoft.com/office/powerpoint/2010/main" val="5060864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After all obvious items have </a:t>
            </a:r>
            <a:r>
              <a:rPr lang="en-US" altLang="ja-JP">
                <a:latin typeface="Arial" panose="020B0604020202020204" pitchFamily="34" charset="0"/>
                <a:ea typeface="ＭＳ Ｐゴシック" panose="020B0600070205080204" pitchFamily="34" charset="-128"/>
              </a:rPr>
              <a:t>been dispositioned </a:t>
            </a:r>
            <a:r>
              <a:rPr lang="en-US" altLang="ja-JP" dirty="0">
                <a:latin typeface="Arial" panose="020B0604020202020204" pitchFamily="34" charset="0"/>
                <a:ea typeface="ＭＳ Ｐゴシック" panose="020B0600070205080204" pitchFamily="34" charset="-128"/>
              </a:rPr>
              <a:t>from 1S, move on to the Red Tagging process to address those items that we are needed but not in the area.</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The purpose of Red Tagging is to provide visual identification of unneeded items and to provide a tracking system for red-tagged items.</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Explain Red Tags and Red Tag Board and how to use the lower section of the tag.</a:t>
            </a:r>
          </a:p>
          <a:p>
            <a:r>
              <a:rPr lang="en-US" altLang="en-US" dirty="0">
                <a:latin typeface="Arial" panose="020B0604020202020204" pitchFamily="34" charset="0"/>
                <a:ea typeface="ＭＳ Ｐゴシック" panose="020B0600070205080204" pitchFamily="34" charset="-128"/>
              </a:rPr>
              <a:t>Red Tag hints:</a:t>
            </a:r>
          </a:p>
          <a:p>
            <a:pPr>
              <a:buFontTx/>
              <a:buChar char="•"/>
            </a:pPr>
            <a:r>
              <a:rPr lang="en-US" altLang="en-US" dirty="0">
                <a:latin typeface="Arial" panose="020B0604020202020204" pitchFamily="34" charset="0"/>
                <a:ea typeface="ＭＳ Ｐゴシック" panose="020B0600070205080204" pitchFamily="34" charset="-128"/>
              </a:rPr>
              <a:t>do not be defensive - all areas get tagged</a:t>
            </a:r>
          </a:p>
          <a:p>
            <a:pPr>
              <a:buFontTx/>
              <a:buChar char="•"/>
            </a:pPr>
            <a:r>
              <a:rPr lang="en-US" altLang="en-US" dirty="0">
                <a:latin typeface="Arial" panose="020B0604020202020204" pitchFamily="34" charset="0"/>
                <a:ea typeface="ＭＳ Ｐゴシック" panose="020B0600070205080204" pitchFamily="34" charset="-128"/>
              </a:rPr>
              <a:t>do not red tag people</a:t>
            </a:r>
          </a:p>
          <a:p>
            <a:pPr>
              <a:buFontTx/>
              <a:buChar char="•"/>
            </a:pPr>
            <a:r>
              <a:rPr lang="en-US" altLang="en-US" dirty="0">
                <a:latin typeface="Arial" panose="020B0604020202020204" pitchFamily="34" charset="0"/>
                <a:ea typeface="ＭＳ Ｐゴシック" panose="020B0600070205080204" pitchFamily="34" charset="-128"/>
              </a:rPr>
              <a:t>one tag per item</a:t>
            </a:r>
          </a:p>
          <a:p>
            <a:pPr>
              <a:buFontTx/>
              <a:buChar char="•"/>
            </a:pPr>
            <a:r>
              <a:rPr lang="en-US" altLang="en-US" dirty="0">
                <a:latin typeface="Arial" panose="020B0604020202020204" pitchFamily="34" charset="0"/>
                <a:ea typeface="ＭＳ Ｐゴシック" panose="020B0600070205080204" pitchFamily="34" charset="-128"/>
              </a:rPr>
              <a:t>make reasonable allowances for decorative items such as family pictures and plants.</a:t>
            </a:r>
          </a:p>
          <a:p>
            <a:pPr>
              <a:buFontTx/>
              <a:buChar char="•"/>
            </a:pPr>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If in doubt - </a:t>
            </a:r>
            <a:r>
              <a:rPr lang="en-US" altLang="en-US" b="1" dirty="0">
                <a:latin typeface="Arial" panose="020B0604020202020204" pitchFamily="34" charset="0"/>
                <a:ea typeface="ＭＳ Ｐゴシック" panose="020B0600070205080204" pitchFamily="34" charset="-128"/>
              </a:rPr>
              <a:t>GET IT OUT!</a:t>
            </a:r>
          </a:p>
          <a:p>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28</a:t>
            </a:fld>
            <a:endParaRPr lang="en-US"/>
          </a:p>
        </p:txBody>
      </p:sp>
    </p:spTree>
    <p:extLst>
      <p:ext uri="{BB962C8B-B14F-4D97-AF65-F5344CB8AC3E}">
        <p14:creationId xmlns:p14="http://schemas.microsoft.com/office/powerpoint/2010/main" val="27537984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29</a:t>
            </a:fld>
            <a:endParaRPr lang="en-US"/>
          </a:p>
        </p:txBody>
      </p:sp>
    </p:spTree>
    <p:extLst>
      <p:ext uri="{BB962C8B-B14F-4D97-AF65-F5344CB8AC3E}">
        <p14:creationId xmlns:p14="http://schemas.microsoft.com/office/powerpoint/2010/main" val="13218691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30</a:t>
            </a:fld>
            <a:endParaRPr lang="en-US"/>
          </a:p>
        </p:txBody>
      </p:sp>
    </p:spTree>
    <p:extLst>
      <p:ext uri="{BB962C8B-B14F-4D97-AF65-F5344CB8AC3E}">
        <p14:creationId xmlns:p14="http://schemas.microsoft.com/office/powerpoint/2010/main" val="67606191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anose="020B0600070205080204" pitchFamily="34" charset="-128"/>
              </a:rPr>
              <a:t>Review the key actions to simplify the workplace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31</a:t>
            </a:fld>
            <a:endParaRPr lang="en-US"/>
          </a:p>
        </p:txBody>
      </p:sp>
    </p:spTree>
    <p:extLst>
      <p:ext uri="{BB962C8B-B14F-4D97-AF65-F5344CB8AC3E}">
        <p14:creationId xmlns:p14="http://schemas.microsoft.com/office/powerpoint/2010/main" val="31478195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dirty="0">
                <a:latin typeface="Arial" panose="020B0604020202020204" pitchFamily="34" charset="0"/>
                <a:ea typeface="ＭＳ Ｐゴシック" panose="020B0600070205080204" pitchFamily="34" charset="-128"/>
              </a:rPr>
              <a:t>Give the team an approximate time to complete 1S. </a:t>
            </a:r>
          </a:p>
        </p:txBody>
      </p:sp>
      <p:sp>
        <p:nvSpPr>
          <p:cNvPr id="4" name="Slide Number Placeholder 3"/>
          <p:cNvSpPr>
            <a:spLocks noGrp="1"/>
          </p:cNvSpPr>
          <p:nvPr>
            <p:ph type="sldNum" sz="quarter" idx="5"/>
          </p:nvPr>
        </p:nvSpPr>
        <p:spPr/>
        <p:txBody>
          <a:bodyPr/>
          <a:lstStyle/>
          <a:p>
            <a:fld id="{AECD8548-F1A2-4EDF-A416-5F2BB6B8F64C}" type="slidenum">
              <a:rPr lang="en-US" smtClean="0"/>
              <a:t>32</a:t>
            </a:fld>
            <a:endParaRPr lang="en-US"/>
          </a:p>
        </p:txBody>
      </p:sp>
    </p:spTree>
    <p:extLst>
      <p:ext uri="{BB962C8B-B14F-4D97-AF65-F5344CB8AC3E}">
        <p14:creationId xmlns:p14="http://schemas.microsoft.com/office/powerpoint/2010/main" val="46763069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33</a:t>
            </a:fld>
            <a:endParaRPr lang="en-US"/>
          </a:p>
        </p:txBody>
      </p:sp>
    </p:spTree>
    <p:extLst>
      <p:ext uri="{BB962C8B-B14F-4D97-AF65-F5344CB8AC3E}">
        <p14:creationId xmlns:p14="http://schemas.microsoft.com/office/powerpoint/2010/main" val="234844835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Think about, and understand, how work is done in the area. Keep everything visual and easy to understand. 2S is associated with the phrase: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 place for everything, everything in its place.</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What would happen if there were no street signs, highway or house numbers?</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34</a:t>
            </a:fld>
            <a:endParaRPr lang="en-US"/>
          </a:p>
        </p:txBody>
      </p:sp>
    </p:spTree>
    <p:extLst>
      <p:ext uri="{BB962C8B-B14F-4D97-AF65-F5344CB8AC3E}">
        <p14:creationId xmlns:p14="http://schemas.microsoft.com/office/powerpoint/2010/main" val="265369957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ct val="50000"/>
              </a:spcBef>
            </a:pPr>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When performing 2S, organize the necessary items so that they can be used and returned easily.</a:t>
            </a:r>
          </a:p>
          <a:p>
            <a:pPr>
              <a:spcBef>
                <a:spcPct val="50000"/>
              </a:spcBef>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Place all necessary items in the best location and visually organize the area.</a:t>
            </a:r>
          </a:p>
          <a:p>
            <a:pPr>
              <a:spcBef>
                <a:spcPct val="50000"/>
              </a:spcBef>
            </a:pPr>
            <a:endParaRPr lang="en-US" altLang="en-US" dirty="0">
              <a:latin typeface="Arial" panose="020B0604020202020204" pitchFamily="34" charset="0"/>
              <a:ea typeface="ＭＳ Ｐゴシック" panose="020B0600070205080204" pitchFamily="34" charset="-128"/>
            </a:endParaRPr>
          </a:p>
          <a:p>
            <a:pPr marL="368300" lvl="1" indent="-247650">
              <a:buClr>
                <a:schemeClr val="accent2"/>
              </a:buClr>
              <a:buFontTx/>
              <a:buChar char="–"/>
            </a:pPr>
            <a:r>
              <a:rPr lang="en-US" altLang="en-US" dirty="0">
                <a:latin typeface="Arial" panose="020B0604020202020204" pitchFamily="34" charset="0"/>
                <a:ea typeface="ＭＳ Ｐゴシック" panose="020B0600070205080204" pitchFamily="34" charset="-128"/>
              </a:rPr>
              <a:t>First decide where all items should be so that the organization is easy to use and understand</a:t>
            </a:r>
          </a:p>
          <a:p>
            <a:pPr marL="368300" lvl="1" indent="-247650">
              <a:buClr>
                <a:schemeClr val="accent2"/>
              </a:buClr>
              <a:buFontTx/>
              <a:buChar char="–"/>
            </a:pPr>
            <a:r>
              <a:rPr lang="en-US" altLang="en-US" dirty="0">
                <a:latin typeface="Arial" panose="020B0604020202020204" pitchFamily="34" charset="0"/>
                <a:ea typeface="ＭＳ Ｐゴシック" panose="020B0600070205080204" pitchFamily="34" charset="-128"/>
              </a:rPr>
              <a:t>Choose proper storage methods that minimize inventory and promote visual management</a:t>
            </a:r>
          </a:p>
          <a:p>
            <a:pPr marL="368300" lvl="1" indent="-247650">
              <a:buClr>
                <a:schemeClr val="accent2"/>
              </a:buClr>
              <a:buFontTx/>
              <a:buChar char="–"/>
            </a:pPr>
            <a:r>
              <a:rPr lang="en-US" altLang="en-US" dirty="0">
                <a:latin typeface="Arial" panose="020B0604020202020204" pitchFamily="34" charset="0"/>
                <a:ea typeface="ＭＳ Ｐゴシック" panose="020B0600070205080204" pitchFamily="34" charset="-128"/>
              </a:rPr>
              <a:t>Visually indicate locations so items is use can be returned and missing items are easily identified</a:t>
            </a:r>
          </a:p>
          <a:p>
            <a:pPr marL="368300" lvl="1" indent="-247650">
              <a:buClr>
                <a:schemeClr val="accent2"/>
              </a:buClr>
              <a:buFontTx/>
              <a:buChar char="–"/>
            </a:pPr>
            <a:r>
              <a:rPr lang="en-US" altLang="en-US" dirty="0">
                <a:latin typeface="Arial" panose="020B0604020202020204" pitchFamily="34" charset="0"/>
                <a:ea typeface="ＭＳ Ｐゴシック" panose="020B0600070205080204" pitchFamily="34" charset="-128"/>
              </a:rPr>
              <a:t>Make sign boards that clearly explain inventory, equipment, and other items so anyone can understand the workplace</a:t>
            </a:r>
          </a:p>
          <a:p>
            <a:pPr marL="368300" lvl="1" indent="-247650">
              <a:buClr>
                <a:schemeClr val="accent2"/>
              </a:buClr>
              <a:buFontTx/>
              <a:buChar char="–"/>
            </a:pPr>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Straighten and Organize</a:t>
            </a:r>
          </a:p>
          <a:p>
            <a:pPr marL="368300" lvl="1" indent="-247650">
              <a:buFont typeface="Wingdings" panose="05000000000000000000" pitchFamily="2" charset="2"/>
              <a:buChar char="§"/>
            </a:pPr>
            <a:r>
              <a:rPr lang="en-US" altLang="en-US" dirty="0">
                <a:latin typeface="Arial" panose="020B0604020202020204" pitchFamily="34" charset="0"/>
                <a:ea typeface="ＭＳ Ｐゴシック" panose="020B0600070205080204" pitchFamily="34" charset="-128"/>
              </a:rPr>
              <a:t>Straighten follows simplify because we do not want to waste time organizing, locating and marking items that are not necessary.</a:t>
            </a:r>
          </a:p>
          <a:p>
            <a:pPr marL="368300" lvl="1" indent="-247650">
              <a:buFont typeface="Wingdings" panose="05000000000000000000" pitchFamily="2" charset="2"/>
              <a:buChar char="§"/>
            </a:pPr>
            <a:r>
              <a:rPr lang="en-US" altLang="en-US" dirty="0">
                <a:latin typeface="Arial" panose="020B0604020202020204" pitchFamily="34" charset="0"/>
                <a:ea typeface="ＭＳ Ｐゴシック" panose="020B0600070205080204" pitchFamily="34" charset="-128"/>
              </a:rPr>
              <a:t>Now we have only what we need to do our jobs, so that the task of organizing and cleaning is much easier.</a:t>
            </a:r>
          </a:p>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35</a:t>
            </a:fld>
            <a:endParaRPr lang="en-US"/>
          </a:p>
        </p:txBody>
      </p:sp>
    </p:spTree>
    <p:extLst>
      <p:ext uri="{BB962C8B-B14F-4D97-AF65-F5344CB8AC3E}">
        <p14:creationId xmlns:p14="http://schemas.microsoft.com/office/powerpoint/2010/main" val="344297436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36</a:t>
            </a:fld>
            <a:endParaRPr lang="en-US"/>
          </a:p>
        </p:txBody>
      </p:sp>
    </p:spTree>
    <p:extLst>
      <p:ext uri="{BB962C8B-B14F-4D97-AF65-F5344CB8AC3E}">
        <p14:creationId xmlns:p14="http://schemas.microsoft.com/office/powerpoint/2010/main" val="33921248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a:t>
            </a:r>
            <a:r>
              <a:rPr lang="en-US" altLang="en-US" b="1" dirty="0">
                <a:latin typeface="Arial" panose="020B0604020202020204" pitchFamily="34" charset="0"/>
                <a:ea typeface="ＭＳ Ｐゴシック" panose="020B0600070205080204" pitchFamily="34" charset="-128"/>
              </a:rPr>
              <a:t> </a:t>
            </a:r>
            <a:r>
              <a:rPr lang="ja-JP" altLang="en-US" b="1"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Identify critical items, parts, and areas within factories with common colors which provides for a common understanding for any associate or visitor.</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Proper location:</a:t>
            </a:r>
          </a:p>
          <a:p>
            <a:pPr>
              <a:buFontTx/>
              <a:buChar char="•"/>
            </a:pPr>
            <a:r>
              <a:rPr lang="en-US" altLang="en-US" dirty="0">
                <a:latin typeface="Arial" panose="020B0604020202020204" pitchFamily="34" charset="0"/>
                <a:ea typeface="ＭＳ Ｐゴシック" panose="020B0600070205080204" pitchFamily="34" charset="-128"/>
              </a:rPr>
              <a:t>point of use location</a:t>
            </a:r>
          </a:p>
          <a:p>
            <a:pPr>
              <a:buFontTx/>
              <a:buChar char="•"/>
            </a:pPr>
            <a:r>
              <a:rPr lang="en-US" altLang="en-US" dirty="0">
                <a:latin typeface="Arial" panose="020B0604020202020204" pitchFamily="34" charset="0"/>
                <a:ea typeface="ＭＳ Ｐゴシック" panose="020B0600070205080204" pitchFamily="34" charset="-128"/>
              </a:rPr>
              <a:t>consider human mechanics</a:t>
            </a:r>
          </a:p>
          <a:p>
            <a:pPr>
              <a:buFontTx/>
              <a:buChar char="•"/>
            </a:pPr>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Also:</a:t>
            </a:r>
          </a:p>
          <a:p>
            <a:r>
              <a:rPr lang="en-US" altLang="en-US" dirty="0">
                <a:latin typeface="Arial" panose="020B0604020202020204" pitchFamily="34" charset="0"/>
                <a:ea typeface="ＭＳ Ｐゴシック" panose="020B0600070205080204" pitchFamily="34" charset="-128"/>
              </a:rPr>
              <a:t>Use 5S to minimize inventory:</a:t>
            </a:r>
          </a:p>
          <a:p>
            <a:r>
              <a:rPr lang="en-US" altLang="en-US" dirty="0">
                <a:latin typeface="Arial" panose="020B0604020202020204" pitchFamily="34" charset="0"/>
                <a:ea typeface="ＭＳ Ｐゴシック" panose="020B0600070205080204" pitchFamily="34" charset="-128"/>
              </a:rPr>
              <a:t>parts, tools, gages, paperwork</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The goal is </a:t>
            </a:r>
            <a:r>
              <a:rPr lang="en-US" altLang="en-US" b="1" i="1" u="sng" dirty="0">
                <a:latin typeface="Arial" panose="020B0604020202020204" pitchFamily="34" charset="0"/>
                <a:ea typeface="ＭＳ Ｐゴシック" panose="020B0600070205080204" pitchFamily="34" charset="-128"/>
              </a:rPr>
              <a:t>Visual Management</a:t>
            </a:r>
            <a:r>
              <a:rPr lang="en-US" altLang="en-US" dirty="0">
                <a:latin typeface="Arial" panose="020B0604020202020204" pitchFamily="34" charset="0"/>
                <a:ea typeface="ＭＳ Ｐゴシック" panose="020B0600070205080204" pitchFamily="34" charset="-128"/>
              </a:rPr>
              <a:t>. Example: Driving your car, speed limit, double yellow lines, exit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stop, yield signs, </a:t>
            </a:r>
            <a:r>
              <a:rPr lang="en-US" altLang="ja-JP" dirty="0" err="1">
                <a:latin typeface="Arial" panose="020B0604020202020204" pitchFamily="34" charset="0"/>
                <a:ea typeface="ＭＳ Ｐゴシック" panose="020B0600070205080204" pitchFamily="34" charset="-128"/>
              </a:rPr>
              <a:t>etc</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37</a:t>
            </a:fld>
            <a:endParaRPr lang="en-US"/>
          </a:p>
        </p:txBody>
      </p:sp>
    </p:spTree>
    <p:extLst>
      <p:ext uri="{BB962C8B-B14F-4D97-AF65-F5344CB8AC3E}">
        <p14:creationId xmlns:p14="http://schemas.microsoft.com/office/powerpoint/2010/main" val="1770145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dirty="0">
                <a:latin typeface="Arial" panose="020B0604020202020204" pitchFamily="34" charset="0"/>
                <a:ea typeface="ＭＳ Ｐゴシック" panose="020B0600070205080204" pitchFamily="34" charset="-128"/>
              </a:rPr>
              <a:t>Give the team an approximate time to complete 2S. </a:t>
            </a:r>
          </a:p>
        </p:txBody>
      </p:sp>
      <p:sp>
        <p:nvSpPr>
          <p:cNvPr id="4" name="Slide Number Placeholder 3"/>
          <p:cNvSpPr>
            <a:spLocks noGrp="1"/>
          </p:cNvSpPr>
          <p:nvPr>
            <p:ph type="sldNum" sz="quarter" idx="5"/>
          </p:nvPr>
        </p:nvSpPr>
        <p:spPr/>
        <p:txBody>
          <a:bodyPr/>
          <a:lstStyle/>
          <a:p>
            <a:fld id="{AECD8548-F1A2-4EDF-A416-5F2BB6B8F64C}" type="slidenum">
              <a:rPr lang="en-US" smtClean="0"/>
              <a:t>38</a:t>
            </a:fld>
            <a:endParaRPr lang="en-US"/>
          </a:p>
        </p:txBody>
      </p:sp>
    </p:spTree>
    <p:extLst>
      <p:ext uri="{BB962C8B-B14F-4D97-AF65-F5344CB8AC3E}">
        <p14:creationId xmlns:p14="http://schemas.microsoft.com/office/powerpoint/2010/main" val="9551460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39</a:t>
            </a:fld>
            <a:endParaRPr lang="en-US"/>
          </a:p>
        </p:txBody>
      </p:sp>
    </p:spTree>
    <p:extLst>
      <p:ext uri="{BB962C8B-B14F-4D97-AF65-F5344CB8AC3E}">
        <p14:creationId xmlns:p14="http://schemas.microsoft.com/office/powerpoint/2010/main" val="75175287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Scrubbing implies tough, thorough cleaning; not just sweeping!</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a:t>
            </a:r>
            <a:br>
              <a:rPr lang="en-US" altLang="ja-JP" dirty="0">
                <a:latin typeface="Arial" panose="020B0604020202020204" pitchFamily="34" charset="0"/>
                <a:ea typeface="ＭＳ Ｐゴシック" panose="020B0600070205080204" pitchFamily="34" charset="-128"/>
              </a:rPr>
            </a:br>
            <a:r>
              <a:rPr lang="en-US" altLang="ja-JP" b="1" dirty="0">
                <a:latin typeface="Arial" panose="020B0604020202020204" pitchFamily="34" charset="0"/>
                <a:ea typeface="ＭＳ Ｐゴシック" panose="020B0600070205080204" pitchFamily="34" charset="-128"/>
              </a:rPr>
              <a:t>NOTE:</a:t>
            </a:r>
            <a:r>
              <a:rPr lang="en-US" altLang="ja-JP" dirty="0">
                <a:latin typeface="Arial" panose="020B0604020202020204" pitchFamily="34" charset="0"/>
                <a:ea typeface="ＭＳ Ｐゴシック" panose="020B0600070205080204" pitchFamily="34" charset="-128"/>
              </a:rPr>
              <a:t> May do some parallel to straightening. For example, you may clean floor before you paint a line there</a:t>
            </a:r>
            <a:br>
              <a:rPr lang="en-US" altLang="ja-JP" dirty="0">
                <a:latin typeface="Arial" panose="020B0604020202020204" pitchFamily="34" charset="0"/>
                <a:ea typeface="ＭＳ Ｐゴシック" panose="020B0600070205080204" pitchFamily="34" charset="-128"/>
              </a:rPr>
            </a:br>
            <a:r>
              <a:rPr lang="en-US" altLang="ja-JP" b="1" dirty="0">
                <a:latin typeface="Arial" panose="020B0604020202020204" pitchFamily="34" charset="0"/>
                <a:ea typeface="ＭＳ Ｐゴシック" panose="020B0600070205080204" pitchFamily="34" charset="-128"/>
              </a:rPr>
              <a:t>SAY:</a:t>
            </a:r>
            <a:r>
              <a:rPr lang="en-US" altLang="ja-JP" dirty="0">
                <a:latin typeface="Arial" panose="020B0604020202020204" pitchFamily="34" charset="0"/>
                <a:ea typeface="ＭＳ Ｐゴシック" panose="020B0600070205080204" pitchFamily="34" charset="-128"/>
              </a:rPr>
              <a:t> Insure bright lighting of all area. Areas should be cleaned by those that work there.  </a:t>
            </a: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How do (did) things get dirty? Look for root causes of dirt, oil, chips, etc.</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40</a:t>
            </a:fld>
            <a:endParaRPr lang="en-US"/>
          </a:p>
        </p:txBody>
      </p:sp>
    </p:spTree>
    <p:extLst>
      <p:ext uri="{BB962C8B-B14F-4D97-AF65-F5344CB8AC3E}">
        <p14:creationId xmlns:p14="http://schemas.microsoft.com/office/powerpoint/2010/main" val="25373365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41</a:t>
            </a:fld>
            <a:endParaRPr lang="en-US"/>
          </a:p>
        </p:txBody>
      </p:sp>
    </p:spTree>
    <p:extLst>
      <p:ext uri="{BB962C8B-B14F-4D97-AF65-F5344CB8AC3E}">
        <p14:creationId xmlns:p14="http://schemas.microsoft.com/office/powerpoint/2010/main" val="1013237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dirty="0">
                <a:latin typeface="Arial" panose="020B0604020202020204" pitchFamily="34" charset="0"/>
                <a:ea typeface="ＭＳ Ｐゴシック" panose="020B0600070205080204" pitchFamily="34" charset="-128"/>
              </a:rPr>
              <a:t>Give the team an approximate time to complete 3S. </a:t>
            </a:r>
          </a:p>
        </p:txBody>
      </p:sp>
      <p:sp>
        <p:nvSpPr>
          <p:cNvPr id="4" name="Slide Number Placeholder 3"/>
          <p:cNvSpPr>
            <a:spLocks noGrp="1"/>
          </p:cNvSpPr>
          <p:nvPr>
            <p:ph type="sldNum" sz="quarter" idx="5"/>
          </p:nvPr>
        </p:nvSpPr>
        <p:spPr/>
        <p:txBody>
          <a:bodyPr/>
          <a:lstStyle/>
          <a:p>
            <a:fld id="{AECD8548-F1A2-4EDF-A416-5F2BB6B8F64C}" type="slidenum">
              <a:rPr lang="en-US" smtClean="0"/>
              <a:t>42</a:t>
            </a:fld>
            <a:endParaRPr lang="en-US"/>
          </a:p>
        </p:txBody>
      </p:sp>
    </p:spTree>
    <p:extLst>
      <p:ext uri="{BB962C8B-B14F-4D97-AF65-F5344CB8AC3E}">
        <p14:creationId xmlns:p14="http://schemas.microsoft.com/office/powerpoint/2010/main" val="214433549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43</a:t>
            </a:fld>
            <a:endParaRPr lang="en-US"/>
          </a:p>
        </p:txBody>
      </p:sp>
    </p:spTree>
    <p:extLst>
      <p:ext uri="{BB962C8B-B14F-4D97-AF65-F5344CB8AC3E}">
        <p14:creationId xmlns:p14="http://schemas.microsoft.com/office/powerpoint/2010/main" val="321427987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Why is it important to stabilize.</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Use 5S patrols to monitor 5S progress. What does not get measured does not get improved.</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To keep a workplace neat and clean, you need 4S and 5S.</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Think deeply about why we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slip</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pPr lvl="1"/>
            <a:r>
              <a:rPr lang="en-US" altLang="en-US" dirty="0">
                <a:latin typeface="Arial" panose="020B0604020202020204" pitchFamily="34" charset="0"/>
                <a:ea typeface="ＭＳ Ｐゴシック" panose="020B0600070205080204" pitchFamily="34" charset="-128"/>
              </a:rPr>
              <a:t>Is cleaning hard and unpleasant?</a:t>
            </a:r>
          </a:p>
          <a:p>
            <a:pPr lvl="1"/>
            <a:r>
              <a:rPr lang="en-US" altLang="en-US" dirty="0">
                <a:latin typeface="Arial" panose="020B0604020202020204" pitchFamily="34" charset="0"/>
                <a:ea typeface="ＭＳ Ｐゴシック" panose="020B0600070205080204" pitchFamily="34" charset="-128"/>
              </a:rPr>
              <a:t>Do we have time?</a:t>
            </a:r>
          </a:p>
          <a:p>
            <a:pPr lvl="1"/>
            <a:r>
              <a:rPr lang="en-US" altLang="en-US" dirty="0">
                <a:latin typeface="Arial" panose="020B0604020202020204" pitchFamily="34" charset="0"/>
                <a:ea typeface="ＭＳ Ｐゴシック" panose="020B0600070205080204" pitchFamily="34" charset="-128"/>
              </a:rPr>
              <a:t>How can we make it easier and faster?</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ASK:</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What else should we consider doing?</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pPr lvl="1"/>
            <a:r>
              <a:rPr lang="en-US" altLang="en-US" dirty="0">
                <a:latin typeface="Arial" panose="020B0604020202020204" pitchFamily="34" charset="0"/>
                <a:ea typeface="ＭＳ Ｐゴシック" panose="020B0600070205080204" pitchFamily="34" charset="-128"/>
              </a:rPr>
              <a:t>Eliminate excess storage areas and flat or horizontal surfaces</a:t>
            </a:r>
          </a:p>
          <a:p>
            <a:pPr lvl="1"/>
            <a:r>
              <a:rPr lang="en-US" altLang="en-US" dirty="0">
                <a:latin typeface="Arial" panose="020B0604020202020204" pitchFamily="34" charset="0"/>
                <a:ea typeface="ＭＳ Ｐゴシック" panose="020B0600070205080204" pitchFamily="34" charset="-128"/>
              </a:rPr>
              <a:t>Fix root causes of leaks, dirt, chips, etc.</a:t>
            </a:r>
          </a:p>
          <a:p>
            <a:pPr lvl="1"/>
            <a:r>
              <a:rPr lang="en-US" altLang="en-US" dirty="0">
                <a:latin typeface="Arial" panose="020B0604020202020204" pitchFamily="34" charset="0"/>
                <a:ea typeface="ＭＳ Ｐゴシック" panose="020B0600070205080204" pitchFamily="34" charset="-128"/>
              </a:rPr>
              <a:t>Checklist for daily cleaning.</a:t>
            </a:r>
          </a:p>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Discuss proactive vs. reactive efforts</a:t>
            </a:r>
          </a:p>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Discuss monitoring 5S progress through 5S patrols, reports and check sheets.</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Show and explain 5S patrol check sheets and reports.</a:t>
            </a:r>
          </a:p>
          <a:p>
            <a:endParaRPr lang="en-US" altLang="en-US"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Explain the use of the 5S wheel </a:t>
            </a:r>
          </a:p>
          <a:p>
            <a:pPr lvl="1"/>
            <a:r>
              <a:rPr lang="en-US" altLang="en-US" dirty="0">
                <a:latin typeface="Arial" panose="020B0604020202020204" pitchFamily="34" charset="0"/>
                <a:ea typeface="ＭＳ Ｐゴシック" panose="020B0600070205080204" pitchFamily="34" charset="-128"/>
              </a:rPr>
              <a:t>can be located on the cell KPI board</a:t>
            </a:r>
          </a:p>
          <a:p>
            <a:pPr lvl="1"/>
            <a:r>
              <a:rPr lang="en-US" altLang="en-US" dirty="0">
                <a:latin typeface="Arial" panose="020B0604020202020204" pitchFamily="34" charset="0"/>
                <a:ea typeface="ＭＳ Ｐゴシック" panose="020B0600070205080204" pitchFamily="34" charset="-128"/>
              </a:rPr>
              <a:t>5S levels driven by the </a:t>
            </a:r>
            <a:r>
              <a:rPr lang="en-US" altLang="en-US" dirty="0" err="1">
                <a:latin typeface="Arial" panose="020B0604020202020204" pitchFamily="34" charset="0"/>
                <a:ea typeface="ＭＳ Ｐゴシック" panose="020B0600070205080204" pitchFamily="34" charset="-128"/>
              </a:rPr>
              <a:t>checksheet</a:t>
            </a:r>
            <a:endParaRPr lang="en-US" altLang="en-US"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44</a:t>
            </a:fld>
            <a:endParaRPr lang="en-US"/>
          </a:p>
        </p:txBody>
      </p:sp>
    </p:spTree>
    <p:extLst>
      <p:ext uri="{BB962C8B-B14F-4D97-AF65-F5344CB8AC3E}">
        <p14:creationId xmlns:p14="http://schemas.microsoft.com/office/powerpoint/2010/main" val="12775237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45</a:t>
            </a:fld>
            <a:endParaRPr lang="en-US"/>
          </a:p>
        </p:txBody>
      </p:sp>
    </p:spTree>
    <p:extLst>
      <p:ext uri="{BB962C8B-B14F-4D97-AF65-F5344CB8AC3E}">
        <p14:creationId xmlns:p14="http://schemas.microsoft.com/office/powerpoint/2010/main" val="188174402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46</a:t>
            </a:fld>
            <a:endParaRPr lang="en-US"/>
          </a:p>
        </p:txBody>
      </p:sp>
    </p:spTree>
    <p:extLst>
      <p:ext uri="{BB962C8B-B14F-4D97-AF65-F5344CB8AC3E}">
        <p14:creationId xmlns:p14="http://schemas.microsoft.com/office/powerpoint/2010/main" val="22461589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47</a:t>
            </a:fld>
            <a:endParaRPr lang="en-US"/>
          </a:p>
        </p:txBody>
      </p:sp>
    </p:spTree>
    <p:extLst>
      <p:ext uri="{BB962C8B-B14F-4D97-AF65-F5344CB8AC3E}">
        <p14:creationId xmlns:p14="http://schemas.microsoft.com/office/powerpoint/2010/main" val="13312765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48</a:t>
            </a:fld>
            <a:endParaRPr lang="en-US"/>
          </a:p>
        </p:txBody>
      </p:sp>
    </p:spTree>
    <p:extLst>
      <p:ext uri="{BB962C8B-B14F-4D97-AF65-F5344CB8AC3E}">
        <p14:creationId xmlns:p14="http://schemas.microsoft.com/office/powerpoint/2010/main" val="6065788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800" dirty="0">
                <a:latin typeface="Arial" panose="020B0604020202020204" pitchFamily="34" charset="0"/>
                <a:ea typeface="ＭＳ Ｐゴシック" panose="020B0600070205080204" pitchFamily="34" charset="-128"/>
              </a:rPr>
              <a:t>Give the team an approximate time to complete 4S plan. </a:t>
            </a:r>
          </a:p>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49</a:t>
            </a:fld>
            <a:endParaRPr lang="en-US"/>
          </a:p>
        </p:txBody>
      </p:sp>
    </p:spTree>
    <p:extLst>
      <p:ext uri="{BB962C8B-B14F-4D97-AF65-F5344CB8AC3E}">
        <p14:creationId xmlns:p14="http://schemas.microsoft.com/office/powerpoint/2010/main" val="27000577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50</a:t>
            </a:fld>
            <a:endParaRPr lang="en-US"/>
          </a:p>
        </p:txBody>
      </p:sp>
    </p:spTree>
    <p:extLst>
      <p:ext uri="{BB962C8B-B14F-4D97-AF65-F5344CB8AC3E}">
        <p14:creationId xmlns:p14="http://schemas.microsoft.com/office/powerpoint/2010/main" val="32420494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 company president is walking through the plant on his way to meeting, greets the operators with a friendly greeting as he passes them, and walks right by crumpled trash on the floor. What message does that send?</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 (following important points):</a:t>
            </a:r>
          </a:p>
          <a:p>
            <a:r>
              <a:rPr lang="en-US" altLang="en-US" dirty="0">
                <a:latin typeface="Arial" panose="020B0604020202020204" pitchFamily="34" charset="0"/>
                <a:ea typeface="ＭＳ Ｐゴシック" panose="020B0600070205080204" pitchFamily="34" charset="-128"/>
              </a:rPr>
              <a:t>Habit - a pattern of behavior acquired by frequent repetition</a:t>
            </a:r>
          </a:p>
          <a:p>
            <a:r>
              <a:rPr lang="en-US" altLang="en-US" dirty="0">
                <a:latin typeface="Arial" panose="020B0604020202020204" pitchFamily="34" charset="0"/>
                <a:ea typeface="ＭＳ Ｐゴシック" panose="020B0600070205080204" pitchFamily="34" charset="-128"/>
              </a:rPr>
              <a:t>Create long term cultural change which must be preceded by behavior changes</a:t>
            </a:r>
          </a:p>
          <a:p>
            <a:r>
              <a:rPr lang="en-US" altLang="en-US" dirty="0">
                <a:latin typeface="Arial" panose="020B0604020202020204" pitchFamily="34" charset="0"/>
                <a:ea typeface="ＭＳ Ｐゴシック" panose="020B0600070205080204" pitchFamily="34" charset="-128"/>
              </a:rPr>
              <a:t>Any system is only as good as the people using it  - use an example of not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walking the talk</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dirty="0">
                <a:latin typeface="Arial" panose="020B0604020202020204" pitchFamily="34" charset="0"/>
                <a:ea typeface="ＭＳ Ｐゴシック" panose="020B0600070205080204" pitchFamily="34" charset="-128"/>
              </a:rPr>
              <a:t>Once we develop habits and 5S becomes a way of life, it</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easy to keep up</a:t>
            </a:r>
          </a:p>
          <a:p>
            <a:r>
              <a:rPr lang="en-US" altLang="en-US" dirty="0">
                <a:latin typeface="Arial" panose="020B0604020202020204" pitchFamily="34" charset="0"/>
                <a:ea typeface="ＭＳ Ｐゴシック" panose="020B0600070205080204" pitchFamily="34" charset="-128"/>
              </a:rPr>
              <a:t>5S shows in everything you do (lead by example!)</a:t>
            </a:r>
          </a:p>
          <a:p>
            <a:r>
              <a:rPr lang="en-US" altLang="en-US" dirty="0">
                <a:latin typeface="Arial" panose="020B0604020202020204" pitchFamily="34" charset="0"/>
                <a:ea typeface="ＭＳ Ｐゴシック" panose="020B0600070205080204" pitchFamily="34" charset="-128"/>
              </a:rPr>
              <a:t>5S can become an attitude that grows out of continuity and practice.</a:t>
            </a:r>
          </a:p>
          <a:p>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51</a:t>
            </a:fld>
            <a:endParaRPr lang="en-US"/>
          </a:p>
        </p:txBody>
      </p:sp>
    </p:spTree>
    <p:extLst>
      <p:ext uri="{BB962C8B-B14F-4D97-AF65-F5344CB8AC3E}">
        <p14:creationId xmlns:p14="http://schemas.microsoft.com/office/powerpoint/2010/main" val="298591022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Achieving a 5S culture requires exquisite discipline.  You must be responsible and hold each other accountable to sustain results and continue to improve.</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52</a:t>
            </a:fld>
            <a:endParaRPr lang="en-US"/>
          </a:p>
        </p:txBody>
      </p:sp>
    </p:spTree>
    <p:extLst>
      <p:ext uri="{BB962C8B-B14F-4D97-AF65-F5344CB8AC3E}">
        <p14:creationId xmlns:p14="http://schemas.microsoft.com/office/powerpoint/2010/main" val="119028472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Keep it simple, simple, simple…. Cannot stress this enough! And Make it visual, visual, visual!  Use five-why</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s and one how to address problems at root cause.</a:t>
            </a:r>
            <a:r>
              <a:rPr lang="ja-JP" altLang="en-US" dirty="0">
                <a:latin typeface="Arial" panose="020B0604020202020204" pitchFamily="34" charset="0"/>
                <a:ea typeface="ＭＳ Ｐゴシック" panose="020B0600070205080204" pitchFamily="34" charset="-128"/>
              </a:rPr>
              <a:t>”</a:t>
            </a:r>
            <a:endParaRPr lang="en-US" altLang="en-US"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53</a:t>
            </a:fld>
            <a:endParaRPr lang="en-US"/>
          </a:p>
        </p:txBody>
      </p:sp>
    </p:spTree>
    <p:extLst>
      <p:ext uri="{BB962C8B-B14F-4D97-AF65-F5344CB8AC3E}">
        <p14:creationId xmlns:p14="http://schemas.microsoft.com/office/powerpoint/2010/main" val="303791905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ea typeface="ＭＳ Ｐゴシック" panose="020B0600070205080204" pitchFamily="34" charset="-128"/>
              </a:rPr>
              <a:t>NOTE:</a:t>
            </a:r>
            <a:r>
              <a:rPr lang="en-US" altLang="en-US" sz="800" dirty="0">
                <a:latin typeface="Arial" panose="020B0604020202020204" pitchFamily="34" charset="0"/>
                <a:ea typeface="ＭＳ Ｐゴシック" panose="020B0600070205080204" pitchFamily="34" charset="-128"/>
              </a:rPr>
              <a:t>  Make sure everyone has a copy of the </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5S Patrol Checklist.</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  May need to change time to complete, based upon number of teams and location of each area.</a:t>
            </a:r>
          </a:p>
          <a:p>
            <a:r>
              <a:rPr lang="en-US" altLang="en-US" sz="800" b="1" dirty="0">
                <a:latin typeface="Arial" panose="020B0604020202020204" pitchFamily="34" charset="0"/>
                <a:ea typeface="ＭＳ Ｐゴシック" panose="020B0600070205080204" pitchFamily="34" charset="-128"/>
              </a:rPr>
              <a:t>NOTE:</a:t>
            </a:r>
            <a:r>
              <a:rPr lang="en-US" altLang="en-US" sz="800" dirty="0">
                <a:latin typeface="Arial" panose="020B0604020202020204" pitchFamily="34" charset="0"/>
                <a:ea typeface="ＭＳ Ｐゴシック" panose="020B0600070205080204" pitchFamily="34" charset="-128"/>
              </a:rPr>
              <a:t> If there is only one team on for this event, have them audit their own results. </a:t>
            </a:r>
          </a:p>
        </p:txBody>
      </p:sp>
      <p:sp>
        <p:nvSpPr>
          <p:cNvPr id="4" name="Slide Number Placeholder 3"/>
          <p:cNvSpPr>
            <a:spLocks noGrp="1"/>
          </p:cNvSpPr>
          <p:nvPr>
            <p:ph type="sldNum" sz="quarter" idx="5"/>
          </p:nvPr>
        </p:nvSpPr>
        <p:spPr/>
        <p:txBody>
          <a:bodyPr/>
          <a:lstStyle/>
          <a:p>
            <a:fld id="{AECD8548-F1A2-4EDF-A416-5F2BB6B8F64C}" type="slidenum">
              <a:rPr lang="en-US" smtClean="0"/>
              <a:t>54</a:t>
            </a:fld>
            <a:endParaRPr lang="en-US"/>
          </a:p>
        </p:txBody>
      </p:sp>
    </p:spTree>
    <p:extLst>
      <p:ext uri="{BB962C8B-B14F-4D97-AF65-F5344CB8AC3E}">
        <p14:creationId xmlns:p14="http://schemas.microsoft.com/office/powerpoint/2010/main" val="40707251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rPr>
              <a:t>DO:</a:t>
            </a:r>
            <a:r>
              <a:rPr lang="en-US" altLang="en-US" dirty="0">
                <a:latin typeface="Arial" panose="020B0604020202020204" pitchFamily="34" charset="0"/>
              </a:rPr>
              <a:t> Review section objectives on slide.</a:t>
            </a: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55</a:t>
            </a:fld>
            <a:endParaRPr lang="en-US"/>
          </a:p>
        </p:txBody>
      </p:sp>
    </p:spTree>
    <p:extLst>
      <p:ext uri="{BB962C8B-B14F-4D97-AF65-F5344CB8AC3E}">
        <p14:creationId xmlns:p14="http://schemas.microsoft.com/office/powerpoint/2010/main" val="323840005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56</a:t>
            </a:fld>
            <a:endParaRPr lang="en-US"/>
          </a:p>
        </p:txBody>
      </p:sp>
    </p:spTree>
    <p:extLst>
      <p:ext uri="{BB962C8B-B14F-4D97-AF65-F5344CB8AC3E}">
        <p14:creationId xmlns:p14="http://schemas.microsoft.com/office/powerpoint/2010/main" val="14344255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A Lean Business System represents the methodology and approach used to </a:t>
            </a:r>
            <a:r>
              <a:rPr lang="en-US" altLang="ja-JP" i="1" dirty="0">
                <a:latin typeface="Arial" panose="020B0604020202020204" pitchFamily="34" charset="0"/>
                <a:ea typeface="ＭＳ Ｐゴシック" panose="020B0600070205080204" pitchFamily="34" charset="-128"/>
              </a:rPr>
              <a:t>Implement</a:t>
            </a:r>
            <a:r>
              <a:rPr lang="en-US" altLang="ja-JP" dirty="0">
                <a:latin typeface="Arial" panose="020B0604020202020204" pitchFamily="34" charset="0"/>
                <a:ea typeface="ＭＳ Ｐゴシック" panose="020B0600070205080204" pitchFamily="34" charset="-128"/>
              </a:rPr>
              <a:t> and </a:t>
            </a:r>
            <a:r>
              <a:rPr lang="en-US" altLang="ja-JP" i="1" dirty="0">
                <a:latin typeface="Arial" panose="020B0604020202020204" pitchFamily="34" charset="0"/>
                <a:ea typeface="ＭＳ Ｐゴシック" panose="020B0600070205080204" pitchFamily="34" charset="-128"/>
              </a:rPr>
              <a:t>Deploy</a:t>
            </a:r>
            <a:r>
              <a:rPr lang="en-US" altLang="ja-JP" dirty="0">
                <a:latin typeface="Arial" panose="020B0604020202020204" pitchFamily="34" charset="0"/>
                <a:ea typeface="ＭＳ Ｐゴシック" panose="020B0600070205080204" pitchFamily="34" charset="-128"/>
              </a:rPr>
              <a:t> Lean into an Organization.</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LEAN</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is simply the elimination of waste.  5S is a MUST.  It is related to every improvement process you will embark upon.   As you have seen this week, LACK of 5S CREATES waste, and implementation of 5S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reveals</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 the true process, enabling further improvement.  5S is a foundational tool in a lean organization.  It creates the discipline needed to improve and sustain results. </a:t>
            </a:r>
          </a:p>
          <a:p>
            <a:endParaRPr lang="en-US" altLang="en-US" b="1"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NOTE:</a:t>
            </a:r>
            <a:r>
              <a:rPr lang="en-US" altLang="en-US" dirty="0">
                <a:latin typeface="Arial" panose="020B0604020202020204" pitchFamily="34" charset="0"/>
                <a:ea typeface="ＭＳ Ｐゴシック" panose="020B0600070205080204" pitchFamily="34" charset="-128"/>
              </a:rPr>
              <a:t> The Strategic Business Imperatives guide all lean efforts and activities which is why this is shown at the top. We then work our way up to fulfilling our strategy by deploying lean in this sequence. </a:t>
            </a:r>
          </a:p>
          <a:p>
            <a:endParaRPr lang="en-US" altLang="en-US"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57</a:t>
            </a:fld>
            <a:endParaRPr lang="en-US"/>
          </a:p>
        </p:txBody>
      </p:sp>
    </p:spTree>
    <p:extLst>
      <p:ext uri="{BB962C8B-B14F-4D97-AF65-F5344CB8AC3E}">
        <p14:creationId xmlns:p14="http://schemas.microsoft.com/office/powerpoint/2010/main" val="179640297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a:t>
            </a:r>
            <a:r>
              <a:rPr lang="en-US" altLang="en-US" dirty="0">
                <a:latin typeface="Arial" panose="020B0604020202020204" pitchFamily="34" charset="0"/>
                <a:ea typeface="ＭＳ Ｐゴシック" panose="020B0600070205080204" pitchFamily="34" charset="-128"/>
              </a:rPr>
              <a:t> This is a foundational improvement tool that has more to do with Safety, Visual Management and Productivity than housekeeping.  Success with 5S must occur before sustained results with other tools can be applied.</a:t>
            </a:r>
          </a:p>
        </p:txBody>
      </p:sp>
      <p:sp>
        <p:nvSpPr>
          <p:cNvPr id="4" name="Slide Number Placeholder 3"/>
          <p:cNvSpPr>
            <a:spLocks noGrp="1"/>
          </p:cNvSpPr>
          <p:nvPr>
            <p:ph type="sldNum" sz="quarter" idx="5"/>
          </p:nvPr>
        </p:nvSpPr>
        <p:spPr/>
        <p:txBody>
          <a:bodyPr/>
          <a:lstStyle/>
          <a:p>
            <a:fld id="{AECD8548-F1A2-4EDF-A416-5F2BB6B8F64C}" type="slidenum">
              <a:rPr lang="en-US" smtClean="0"/>
              <a:t>58</a:t>
            </a:fld>
            <a:endParaRPr lang="en-US"/>
          </a:p>
        </p:txBody>
      </p:sp>
    </p:spTree>
    <p:extLst>
      <p:ext uri="{BB962C8B-B14F-4D97-AF65-F5344CB8AC3E}">
        <p14:creationId xmlns:p14="http://schemas.microsoft.com/office/powerpoint/2010/main" val="361716402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800" b="1" dirty="0">
                <a:latin typeface="Arial" panose="020B0604020202020204" pitchFamily="34" charset="0"/>
                <a:ea typeface="ＭＳ Ｐゴシック" panose="020B0600070205080204" pitchFamily="34" charset="-128"/>
              </a:rPr>
              <a:t>POTENTIAL ANSWERS:</a:t>
            </a:r>
          </a:p>
          <a:p>
            <a:pPr>
              <a:buFontTx/>
              <a:buChar char="-"/>
            </a:pPr>
            <a:r>
              <a:rPr lang="en-US" altLang="en-US" sz="800" dirty="0">
                <a:latin typeface="Arial" panose="020B0604020202020204" pitchFamily="34" charset="0"/>
                <a:ea typeface="ＭＳ Ｐゴシック" panose="020B0600070205080204" pitchFamily="34" charset="-128"/>
              </a:rPr>
              <a:t>Tie 5S events to key business imperatives</a:t>
            </a:r>
          </a:p>
          <a:p>
            <a:pPr>
              <a:buFontTx/>
              <a:buChar char="-"/>
            </a:pPr>
            <a:r>
              <a:rPr lang="en-US" altLang="en-US" sz="800" dirty="0">
                <a:latin typeface="Arial" panose="020B0604020202020204" pitchFamily="34" charset="0"/>
                <a:ea typeface="ＭＳ Ｐゴシック" panose="020B0600070205080204" pitchFamily="34" charset="-128"/>
              </a:rPr>
              <a:t>Support the participation of all associates on 5S events</a:t>
            </a:r>
          </a:p>
          <a:p>
            <a:pPr>
              <a:buFontTx/>
              <a:buChar char="-"/>
            </a:pPr>
            <a:r>
              <a:rPr lang="en-US" altLang="en-US" sz="800" dirty="0">
                <a:latin typeface="Arial" panose="020B0604020202020204" pitchFamily="34" charset="0"/>
                <a:ea typeface="ＭＳ Ｐゴシック" panose="020B0600070205080204" pitchFamily="34" charset="-128"/>
              </a:rPr>
              <a:t>Establish 5S </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Owners</a:t>
            </a:r>
            <a:r>
              <a:rPr lang="ja-JP" altLang="en-US" sz="800" dirty="0">
                <a:latin typeface="Arial" panose="020B0604020202020204" pitchFamily="34" charset="0"/>
                <a:ea typeface="ＭＳ Ｐゴシック" panose="020B0600070205080204" pitchFamily="34" charset="-128"/>
              </a:rPr>
              <a:t>”</a:t>
            </a:r>
            <a:r>
              <a:rPr lang="en-US" altLang="ja-JP" sz="800" dirty="0">
                <a:latin typeface="Arial" panose="020B0604020202020204" pitchFamily="34" charset="0"/>
                <a:ea typeface="ＭＳ Ｐゴシック" panose="020B0600070205080204" pitchFamily="34" charset="-128"/>
              </a:rPr>
              <a:t> at the end of each event accountable for the monitoring of the 5S areas</a:t>
            </a:r>
          </a:p>
          <a:p>
            <a:pPr>
              <a:buFontTx/>
              <a:buChar char="-"/>
            </a:pPr>
            <a:r>
              <a:rPr lang="en-US" altLang="en-US" sz="800" dirty="0">
                <a:latin typeface="Arial" panose="020B0604020202020204" pitchFamily="34" charset="0"/>
                <a:ea typeface="ＭＳ Ｐゴシック" panose="020B0600070205080204" pitchFamily="34" charset="-128"/>
              </a:rPr>
              <a:t>Management should perform 5S audits and provide feedback</a:t>
            </a:r>
          </a:p>
          <a:p>
            <a:pPr>
              <a:buFontTx/>
              <a:buChar char="-"/>
            </a:pPr>
            <a:r>
              <a:rPr lang="en-US" altLang="en-US" sz="800" dirty="0">
                <a:latin typeface="Arial" panose="020B0604020202020204" pitchFamily="34" charset="0"/>
                <a:ea typeface="ＭＳ Ｐゴシック" panose="020B0600070205080204" pitchFamily="34" charset="-128"/>
              </a:rPr>
              <a:t>Management should communicate the benefits of 5S and model the desired behavior</a:t>
            </a:r>
          </a:p>
          <a:p>
            <a:pPr>
              <a:buFontTx/>
              <a:buChar char="-"/>
            </a:pPr>
            <a:r>
              <a:rPr lang="en-US" altLang="en-US" sz="800" dirty="0">
                <a:latin typeface="Arial" panose="020B0604020202020204" pitchFamily="34" charset="0"/>
                <a:ea typeface="ＭＳ Ｐゴシック" panose="020B0600070205080204" pitchFamily="34" charset="-128"/>
              </a:rPr>
              <a:t>5S Events should be held in non-operations areas</a:t>
            </a:r>
          </a:p>
          <a:p>
            <a:pPr>
              <a:buFontTx/>
              <a:buChar char="-"/>
            </a:pPr>
            <a:r>
              <a:rPr lang="en-US" altLang="en-US" sz="800" dirty="0">
                <a:latin typeface="Arial" panose="020B0604020202020204" pitchFamily="34" charset="0"/>
                <a:ea typeface="ＭＳ Ｐゴシック" panose="020B0600070205080204" pitchFamily="34" charset="-128"/>
              </a:rPr>
              <a:t>Event results should be shared and communicated</a:t>
            </a:r>
          </a:p>
          <a:p>
            <a:pPr>
              <a:buFontTx/>
              <a:buChar char="-"/>
            </a:pPr>
            <a:r>
              <a:rPr lang="en-US" altLang="en-US" sz="800" dirty="0">
                <a:latin typeface="Arial" panose="020B0604020202020204" pitchFamily="34" charset="0"/>
                <a:ea typeface="ＭＳ Ｐゴシック" panose="020B0600070205080204" pitchFamily="34" charset="-128"/>
              </a:rPr>
              <a:t>Testimonials about improved safety and workplace morale as a result of the 5S event should be communicated. </a:t>
            </a:r>
          </a:p>
          <a:p>
            <a:endParaRPr lang="en-US" altLang="en-US" sz="800" dirty="0">
              <a:latin typeface="Arial" panose="020B0604020202020204" pitchFamily="34" charset="0"/>
              <a:ea typeface="ＭＳ Ｐゴシック" panose="020B0600070205080204" pitchFamily="34" charset="-128"/>
            </a:endParaRPr>
          </a:p>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59</a:t>
            </a:fld>
            <a:endParaRPr lang="en-US"/>
          </a:p>
        </p:txBody>
      </p:sp>
    </p:spTree>
    <p:extLst>
      <p:ext uri="{BB962C8B-B14F-4D97-AF65-F5344CB8AC3E}">
        <p14:creationId xmlns:p14="http://schemas.microsoft.com/office/powerpoint/2010/main" val="244940631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SAY: </a:t>
            </a:r>
            <a:r>
              <a:rPr lang="ja-JP" altLang="en-US" dirty="0">
                <a:latin typeface="Arial" panose="020B0604020202020204" pitchFamily="34" charset="0"/>
                <a:ea typeface="ＭＳ Ｐゴシック" panose="020B0600070205080204" pitchFamily="34" charset="-128"/>
              </a:rPr>
              <a:t>“</a:t>
            </a:r>
            <a:r>
              <a:rPr lang="en-US" altLang="ja-JP" dirty="0">
                <a:latin typeface="Arial" panose="020B0604020202020204" pitchFamily="34" charset="0"/>
                <a:ea typeface="ＭＳ Ｐゴシック" panose="020B0600070205080204" pitchFamily="34" charset="-128"/>
              </a:rPr>
              <a:t>Here is a form we recommend you use to track the kaizen results. This makes it easier to have a visual of the improvements made to date and the opportunities that still exist.</a:t>
            </a:r>
            <a:r>
              <a:rPr lang="ja-JP" altLang="en-US" dirty="0">
                <a:latin typeface="Arial" panose="020B0604020202020204" pitchFamily="34" charset="0"/>
                <a:ea typeface="ＭＳ Ｐゴシック" panose="020B0600070205080204" pitchFamily="34" charset="-128"/>
              </a:rPr>
              <a:t>”</a:t>
            </a:r>
            <a:endParaRPr lang="en-US" altLang="ja-JP" dirty="0">
              <a:latin typeface="Arial" panose="020B0604020202020204" pitchFamily="34" charset="0"/>
              <a:ea typeface="ＭＳ Ｐゴシック" panose="020B0600070205080204" pitchFamily="34" charset="-128"/>
            </a:endParaRPr>
          </a:p>
          <a:p>
            <a:endParaRPr lang="en-US" altLang="en-US" dirty="0">
              <a:latin typeface="Arial" panose="020B0604020202020204" pitchFamily="34" charset="0"/>
              <a:ea typeface="ＭＳ Ｐゴシック" panose="020B0600070205080204" pitchFamily="34" charset="-128"/>
            </a:endParaRPr>
          </a:p>
          <a:p>
            <a:r>
              <a:rPr lang="en-US" altLang="en-US" b="1" dirty="0">
                <a:latin typeface="Arial" panose="020B0604020202020204" pitchFamily="34" charset="0"/>
                <a:ea typeface="ＭＳ Ｐゴシック" panose="020B0600070205080204" pitchFamily="34" charset="-128"/>
              </a:rPr>
              <a:t>NOTE: </a:t>
            </a:r>
            <a:r>
              <a:rPr lang="en-US" altLang="en-US" dirty="0">
                <a:latin typeface="Arial" panose="020B0604020202020204" pitchFamily="34" charset="0"/>
                <a:ea typeface="ＭＳ Ｐゴシック" panose="020B0600070205080204" pitchFamily="34" charset="-128"/>
              </a:rPr>
              <a:t>This form is in excel and additional measurements could be added per the event objectives. </a:t>
            </a:r>
          </a:p>
          <a:p>
            <a:endParaRPr lang="en-US" altLang="en-US" b="1" dirty="0">
              <a:latin typeface="Arial" panose="020B0604020202020204" pitchFamily="34" charset="0"/>
              <a:ea typeface="ＭＳ Ｐゴシック" panose="020B0600070205080204" pitchFamily="34" charset="-128"/>
            </a:endParaRPr>
          </a:p>
          <a:p>
            <a:endParaRPr lang="en-US" dirty="0"/>
          </a:p>
        </p:txBody>
      </p:sp>
      <p:sp>
        <p:nvSpPr>
          <p:cNvPr id="4" name="Slide Number Placeholder 3"/>
          <p:cNvSpPr>
            <a:spLocks noGrp="1"/>
          </p:cNvSpPr>
          <p:nvPr>
            <p:ph type="sldNum" sz="quarter" idx="5"/>
          </p:nvPr>
        </p:nvSpPr>
        <p:spPr/>
        <p:txBody>
          <a:bodyPr/>
          <a:lstStyle/>
          <a:p>
            <a:fld id="{AECD8548-F1A2-4EDF-A416-5F2BB6B8F64C}" type="slidenum">
              <a:rPr lang="en-US" smtClean="0"/>
              <a:t>60</a:t>
            </a:fld>
            <a:endParaRPr lang="en-US"/>
          </a:p>
        </p:txBody>
      </p:sp>
    </p:spTree>
    <p:extLst>
      <p:ext uri="{BB962C8B-B14F-4D97-AF65-F5344CB8AC3E}">
        <p14:creationId xmlns:p14="http://schemas.microsoft.com/office/powerpoint/2010/main" val="164394255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Cover report-out guidelines.</a:t>
            </a:r>
          </a:p>
        </p:txBody>
      </p:sp>
      <p:sp>
        <p:nvSpPr>
          <p:cNvPr id="4" name="Slide Number Placeholder 3"/>
          <p:cNvSpPr>
            <a:spLocks noGrp="1"/>
          </p:cNvSpPr>
          <p:nvPr>
            <p:ph type="sldNum" sz="quarter" idx="5"/>
          </p:nvPr>
        </p:nvSpPr>
        <p:spPr/>
        <p:txBody>
          <a:bodyPr/>
          <a:lstStyle/>
          <a:p>
            <a:fld id="{AECD8548-F1A2-4EDF-A416-5F2BB6B8F64C}" type="slidenum">
              <a:rPr lang="en-US" smtClean="0"/>
              <a:t>61</a:t>
            </a:fld>
            <a:endParaRPr lang="en-US"/>
          </a:p>
        </p:txBody>
      </p:sp>
    </p:spTree>
    <p:extLst>
      <p:ext uri="{BB962C8B-B14F-4D97-AF65-F5344CB8AC3E}">
        <p14:creationId xmlns:p14="http://schemas.microsoft.com/office/powerpoint/2010/main" val="324446690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800"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62</a:t>
            </a:fld>
            <a:endParaRPr lang="en-US"/>
          </a:p>
        </p:txBody>
      </p:sp>
    </p:spTree>
    <p:extLst>
      <p:ext uri="{BB962C8B-B14F-4D97-AF65-F5344CB8AC3E}">
        <p14:creationId xmlns:p14="http://schemas.microsoft.com/office/powerpoint/2010/main" val="255399818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b="1" dirty="0">
                <a:latin typeface="Arial" panose="020B0604020202020204" pitchFamily="34" charset="0"/>
                <a:ea typeface="ＭＳ Ｐゴシック" panose="020B0600070205080204" pitchFamily="34" charset="-128"/>
              </a:rPr>
              <a:t>DO:</a:t>
            </a:r>
            <a:r>
              <a:rPr lang="en-US" altLang="en-US" dirty="0">
                <a:latin typeface="Arial" panose="020B0604020202020204" pitchFamily="34" charset="0"/>
                <a:ea typeface="ＭＳ Ｐゴシック" panose="020B0600070205080204" pitchFamily="34" charset="-128"/>
              </a:rPr>
              <a:t> Summarize the importance of 5S and ask participants to describe what they can do right now (when they return to their workplace) to begin to implement a 5S program.</a:t>
            </a:r>
          </a:p>
          <a:p>
            <a:endParaRPr lang="en-US" altLang="en-US" b="1" dirty="0">
              <a:latin typeface="Arial" panose="020B0604020202020204" pitchFamily="34" charset="0"/>
              <a:ea typeface="ＭＳ Ｐゴシック" panose="020B0600070205080204" pitchFamily="34" charset="-128"/>
            </a:endParaRPr>
          </a:p>
        </p:txBody>
      </p:sp>
      <p:sp>
        <p:nvSpPr>
          <p:cNvPr id="4" name="Slide Number Placeholder 3"/>
          <p:cNvSpPr>
            <a:spLocks noGrp="1"/>
          </p:cNvSpPr>
          <p:nvPr>
            <p:ph type="sldNum" sz="quarter" idx="5"/>
          </p:nvPr>
        </p:nvSpPr>
        <p:spPr/>
        <p:txBody>
          <a:bodyPr/>
          <a:lstStyle/>
          <a:p>
            <a:fld id="{AECD8548-F1A2-4EDF-A416-5F2BB6B8F64C}" type="slidenum">
              <a:rPr lang="en-US" smtClean="0"/>
              <a:t>63</a:t>
            </a:fld>
            <a:endParaRPr lang="en-US"/>
          </a:p>
        </p:txBody>
      </p:sp>
    </p:spTree>
    <p:extLst>
      <p:ext uri="{BB962C8B-B14F-4D97-AF65-F5344CB8AC3E}">
        <p14:creationId xmlns:p14="http://schemas.microsoft.com/office/powerpoint/2010/main" val="1630761555"/>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ECD8548-F1A2-4EDF-A416-5F2BB6B8F64C}" type="slidenum">
              <a:rPr lang="en-US" smtClean="0"/>
              <a:t>64</a:t>
            </a:fld>
            <a:endParaRPr lang="en-US"/>
          </a:p>
        </p:txBody>
      </p:sp>
    </p:spTree>
    <p:extLst>
      <p:ext uri="{BB962C8B-B14F-4D97-AF65-F5344CB8AC3E}">
        <p14:creationId xmlns:p14="http://schemas.microsoft.com/office/powerpoint/2010/main" val="11031782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6" name="Picture 5" descr="Logo&#10;&#10;Description automatically generated">
            <a:extLst>
              <a:ext uri="{FF2B5EF4-FFF2-40B4-BE49-F238E27FC236}">
                <a16:creationId xmlns:a16="http://schemas.microsoft.com/office/drawing/2014/main" id="{7B85E90D-7DD7-92B5-E387-8C0441E41AC3}"/>
              </a:ext>
            </a:extLst>
          </p:cNvPr>
          <p:cNvPicPr>
            <a:picLocks noChangeAspect="1"/>
          </p:cNvPicPr>
          <p:nvPr userDrawn="1"/>
        </p:nvPicPr>
        <p:blipFill>
          <a:blip r:embed="rId2"/>
          <a:stretch>
            <a:fillRect/>
          </a:stretch>
        </p:blipFill>
        <p:spPr>
          <a:xfrm>
            <a:off x="2385391" y="1950112"/>
            <a:ext cx="7772400" cy="2590800"/>
          </a:xfrm>
          <a:prstGeom prst="rect">
            <a:avLst/>
          </a:prstGeom>
        </p:spPr>
      </p:pic>
    </p:spTree>
    <p:extLst>
      <p:ext uri="{BB962C8B-B14F-4D97-AF65-F5344CB8AC3E}">
        <p14:creationId xmlns:p14="http://schemas.microsoft.com/office/powerpoint/2010/main" val="1856233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685360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2" name="Picture 1" descr="Logo&#10;&#10;Description automatically generated">
            <a:extLst>
              <a:ext uri="{FF2B5EF4-FFF2-40B4-BE49-F238E27FC236}">
                <a16:creationId xmlns:a16="http://schemas.microsoft.com/office/drawing/2014/main" id="{DFA04139-8C44-65B7-CCE0-3C7273396743}"/>
              </a:ext>
            </a:extLst>
          </p:cNvPr>
          <p:cNvPicPr>
            <a:picLocks noChangeAspect="1"/>
          </p:cNvPicPr>
          <p:nvPr userDrawn="1"/>
        </p:nvPicPr>
        <p:blipFill>
          <a:blip r:embed="rId2"/>
          <a:stretch>
            <a:fillRect/>
          </a:stretch>
        </p:blipFill>
        <p:spPr>
          <a:xfrm>
            <a:off x="10041954" y="6012921"/>
            <a:ext cx="1825625" cy="365125"/>
          </a:xfrm>
          <a:prstGeom prst="rect">
            <a:avLst/>
          </a:prstGeom>
        </p:spPr>
      </p:pic>
    </p:spTree>
    <p:extLst>
      <p:ext uri="{BB962C8B-B14F-4D97-AF65-F5344CB8AC3E}">
        <p14:creationId xmlns:p14="http://schemas.microsoft.com/office/powerpoint/2010/main" val="13405463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640B0-16F5-BFBE-E22F-812ED893EE45}"/>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A30DE2FD-1979-A3D6-90A4-45D744A02739}"/>
              </a:ext>
            </a:extLst>
          </p:cNvPr>
          <p:cNvSpPr>
            <a:spLocks noGrp="1"/>
          </p:cNvSpPr>
          <p:nvPr>
            <p:ph type="subTitle" idx="1"/>
          </p:nvPr>
        </p:nvSpPr>
        <p:spPr>
          <a:xfrm>
            <a:off x="1524000" y="3800722"/>
            <a:ext cx="9144000" cy="1457077"/>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pic>
        <p:nvPicPr>
          <p:cNvPr id="7" name="Picture 6">
            <a:extLst>
              <a:ext uri="{FF2B5EF4-FFF2-40B4-BE49-F238E27FC236}">
                <a16:creationId xmlns:a16="http://schemas.microsoft.com/office/drawing/2014/main" id="{79394B0F-E5B4-CFAF-7473-46BB2646C463}"/>
              </a:ext>
            </a:extLst>
          </p:cNvPr>
          <p:cNvPicPr>
            <a:picLocks noChangeAspect="1"/>
          </p:cNvPicPr>
          <p:nvPr userDrawn="1"/>
        </p:nvPicPr>
        <p:blipFill>
          <a:blip r:embed="rId2"/>
          <a:stretch>
            <a:fillRect/>
          </a:stretch>
        </p:blipFill>
        <p:spPr>
          <a:xfrm>
            <a:off x="4126380" y="3556319"/>
            <a:ext cx="3939240" cy="45719"/>
          </a:xfrm>
          <a:prstGeom prst="rect">
            <a:avLst/>
          </a:prstGeom>
        </p:spPr>
      </p:pic>
    </p:spTree>
    <p:extLst>
      <p:ext uri="{BB962C8B-B14F-4D97-AF65-F5344CB8AC3E}">
        <p14:creationId xmlns:p14="http://schemas.microsoft.com/office/powerpoint/2010/main" val="2626065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36242-F70A-0032-2B4B-BCCF0734FAF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D039E81F-378B-8CF2-E1C3-1D9054EF712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EDBCBB7B-054A-FE83-5F7C-FE4A1CDFEEBA}"/>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161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EA9C9-FDCA-934D-785B-BFD907843AD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7695437-1877-C6A2-EE04-3EF98092E16F}"/>
              </a:ext>
            </a:extLst>
          </p:cNvPr>
          <p:cNvSpPr>
            <a:spLocks noGrp="1"/>
          </p:cNvSpPr>
          <p:nvPr>
            <p:ph type="body" idx="1"/>
          </p:nvPr>
        </p:nvSpPr>
        <p:spPr>
          <a:xfrm>
            <a:off x="831850" y="4715123"/>
            <a:ext cx="10515600" cy="137452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4287208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A8C054-8592-E116-8DB0-D7814A8CDB6B}"/>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B35C802A-EC64-E4D9-44D3-54E728E3E9B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1EA5B75-CA16-4AC3-A34C-C3C4FF82FD7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Straight Connector 8">
            <a:extLst>
              <a:ext uri="{FF2B5EF4-FFF2-40B4-BE49-F238E27FC236}">
                <a16:creationId xmlns:a16="http://schemas.microsoft.com/office/drawing/2014/main" id="{23186D81-5D29-FE58-C442-6A6A0689DB5B}"/>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0594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62F87-A7AE-9269-55EC-7B1C8A4D2FA0}"/>
              </a:ext>
            </a:extLst>
          </p:cNvPr>
          <p:cNvSpPr>
            <a:spLocks noGrp="1"/>
          </p:cNvSpPr>
          <p:nvPr>
            <p:ph type="title"/>
          </p:nvPr>
        </p:nvSpPr>
        <p:spPr>
          <a:xfrm>
            <a:off x="839788" y="668337"/>
            <a:ext cx="10515600" cy="1022351"/>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23727D69-EB01-A889-0CC3-A64B4F7DAB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1F1EC85-625B-CEAA-F97D-EF024B15F27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D5D1D7-7D1D-2F5D-8D5E-152CC8269A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9D830EE-92A6-15ED-D99F-35788F37AD9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74CBFE9C-CE1B-ED6E-1745-391F9496BE1D}"/>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35150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CD9D87-BBC7-C5DC-191E-E5E1CA2BC2BE}"/>
              </a:ext>
            </a:extLst>
          </p:cNvPr>
          <p:cNvSpPr>
            <a:spLocks noGrp="1"/>
          </p:cNvSpPr>
          <p:nvPr>
            <p:ph type="title"/>
          </p:nvPr>
        </p:nvSpPr>
        <p:spPr/>
        <p:txBody>
          <a:bodyPr/>
          <a:lstStyle/>
          <a:p>
            <a:r>
              <a:rPr lang="en-US" dirty="0"/>
              <a:t>Click to edit Master title style</a:t>
            </a:r>
          </a:p>
        </p:txBody>
      </p:sp>
      <p:cxnSp>
        <p:nvCxnSpPr>
          <p:cNvPr id="6" name="Straight Connector 5">
            <a:extLst>
              <a:ext uri="{FF2B5EF4-FFF2-40B4-BE49-F238E27FC236}">
                <a16:creationId xmlns:a16="http://schemas.microsoft.com/office/drawing/2014/main" id="{7E55C65A-BA96-51C7-B6FE-07AB4FB9C96C}"/>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53027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C6C847F-0B94-F947-B172-F99DB133759E}"/>
              </a:ext>
            </a:extLst>
          </p:cNvPr>
          <p:cNvSpPr>
            <a:spLocks noGrp="1"/>
          </p:cNvSpPr>
          <p:nvPr>
            <p:ph type="sldNum" sz="quarter" idx="11"/>
          </p:nvPr>
        </p:nvSpPr>
        <p:spPr/>
        <p:txBody>
          <a:bodyPr/>
          <a:lstStyle/>
          <a:p>
            <a:fld id="{CC6D4273-7FC1-0947-B9FE-19CB3C0D1FB6}" type="slidenum">
              <a:rPr lang="en-US" smtClean="0"/>
              <a:pPr/>
              <a:t>‹#›</a:t>
            </a:fld>
            <a:endParaRPr lang="en-US" dirty="0"/>
          </a:p>
        </p:txBody>
      </p:sp>
      <p:sp>
        <p:nvSpPr>
          <p:cNvPr id="7" name="TextBox 6">
            <a:extLst>
              <a:ext uri="{FF2B5EF4-FFF2-40B4-BE49-F238E27FC236}">
                <a16:creationId xmlns:a16="http://schemas.microsoft.com/office/drawing/2014/main" id="{5C21B1ED-B2E3-19AE-DDFC-B157A0140513}"/>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20677971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5009C-FECA-9E9B-9F45-5710762AEB4B}"/>
              </a:ext>
            </a:extLst>
          </p:cNvPr>
          <p:cNvSpPr>
            <a:spLocks noGrp="1"/>
          </p:cNvSpPr>
          <p:nvPr>
            <p:ph type="title"/>
          </p:nvPr>
        </p:nvSpPr>
        <p:spPr>
          <a:xfrm>
            <a:off x="839788" y="457200"/>
            <a:ext cx="3932237" cy="1465029"/>
          </a:xfrm>
        </p:spPr>
        <p:txBody>
          <a:bodyPr anchor="b"/>
          <a:lstStyle>
            <a:lvl1pPr>
              <a:defRPr sz="3200"/>
            </a:lvl1pPr>
          </a:lstStyle>
          <a:p>
            <a:r>
              <a:rPr lang="en-US" dirty="0"/>
              <a:t>Click to edit Master title style</a:t>
            </a:r>
          </a:p>
        </p:txBody>
      </p:sp>
      <p:sp>
        <p:nvSpPr>
          <p:cNvPr id="3" name="Content Placeholder 2">
            <a:extLst>
              <a:ext uri="{FF2B5EF4-FFF2-40B4-BE49-F238E27FC236}">
                <a16:creationId xmlns:a16="http://schemas.microsoft.com/office/drawing/2014/main" id="{925B4662-A656-519F-E5DC-FEF8051A04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C555F82-CA62-EC30-181A-37223E01FDD3}"/>
              </a:ext>
            </a:extLst>
          </p:cNvPr>
          <p:cNvSpPr>
            <a:spLocks noGrp="1"/>
          </p:cNvSpPr>
          <p:nvPr>
            <p:ph type="body" sz="half" idx="2"/>
          </p:nvPr>
        </p:nvSpPr>
        <p:spPr>
          <a:xfrm>
            <a:off x="839788" y="2146852"/>
            <a:ext cx="3932237" cy="372213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EB026B9A-5C7E-C150-5C07-A68A167F0F67}"/>
              </a:ext>
            </a:extLst>
          </p:cNvPr>
          <p:cNvCxnSpPr>
            <a:cxnSpLocks/>
          </p:cNvCxnSpPr>
          <p:nvPr userDrawn="1"/>
        </p:nvCxnSpPr>
        <p:spPr>
          <a:xfrm>
            <a:off x="838200" y="1922229"/>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92259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35D53-C186-1B2C-FD72-2AC470B82098}"/>
              </a:ext>
            </a:extLst>
          </p:cNvPr>
          <p:cNvSpPr>
            <a:spLocks noGrp="1"/>
          </p:cNvSpPr>
          <p:nvPr>
            <p:ph type="title"/>
          </p:nvPr>
        </p:nvSpPr>
        <p:spPr>
          <a:xfrm>
            <a:off x="839788" y="457200"/>
            <a:ext cx="3932237" cy="1463045"/>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8C7372F6-C6B1-D2F4-8DED-EF3C3DBEAA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566E1FE-9DAE-4781-C70A-CF8F68AAFDD6}"/>
              </a:ext>
            </a:extLst>
          </p:cNvPr>
          <p:cNvSpPr>
            <a:spLocks noGrp="1"/>
          </p:cNvSpPr>
          <p:nvPr>
            <p:ph type="body" sz="half" idx="2"/>
          </p:nvPr>
        </p:nvSpPr>
        <p:spPr>
          <a:xfrm>
            <a:off x="839788" y="2148836"/>
            <a:ext cx="3932237" cy="372015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cxnSp>
        <p:nvCxnSpPr>
          <p:cNvPr id="8" name="Straight Connector 7">
            <a:extLst>
              <a:ext uri="{FF2B5EF4-FFF2-40B4-BE49-F238E27FC236}">
                <a16:creationId xmlns:a16="http://schemas.microsoft.com/office/drawing/2014/main" id="{6BBD52B6-C25E-E933-F2B7-D40B2BFDF83D}"/>
              </a:ext>
            </a:extLst>
          </p:cNvPr>
          <p:cNvCxnSpPr>
            <a:cxnSpLocks/>
          </p:cNvCxnSpPr>
          <p:nvPr userDrawn="1"/>
        </p:nvCxnSpPr>
        <p:spPr>
          <a:xfrm>
            <a:off x="838200" y="1920245"/>
            <a:ext cx="3933825"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01948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4F5CEA-F0B2-6EAB-4435-59D188AF388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2B515F-CCC6-5F3D-26FA-AF419F9D87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E155FD7A-35A4-E3BB-30E7-93993A9F2FCF}"/>
              </a:ext>
            </a:extLst>
          </p:cNvPr>
          <p:cNvCxnSpPr>
            <a:cxnSpLocks/>
          </p:cNvCxnSpPr>
          <p:nvPr userDrawn="1"/>
        </p:nvCxnSpPr>
        <p:spPr>
          <a:xfrm>
            <a:off x="838200" y="1690688"/>
            <a:ext cx="6656109" cy="0"/>
          </a:xfrm>
          <a:prstGeom prst="line">
            <a:avLst/>
          </a:prstGeom>
          <a:ln w="38100">
            <a:solidFill>
              <a:srgbClr val="EE32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28601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6EEA24E-3139-367F-63CD-6BE14639C42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D504B8-9AC5-F3B2-2873-A2C23446016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73289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FC7573B6-84E2-B075-59F6-13B735C1EA0C}"/>
              </a:ext>
            </a:extLst>
          </p:cNvPr>
          <p:cNvPicPr>
            <a:picLocks noChangeAspect="1"/>
          </p:cNvPicPr>
          <p:nvPr userDrawn="1"/>
        </p:nvPicPr>
        <p:blipFill>
          <a:blip r:embed="rId16"/>
          <a:srcRect/>
          <a:stretch/>
        </p:blipFill>
        <p:spPr>
          <a:xfrm>
            <a:off x="0" y="0"/>
            <a:ext cx="12192000" cy="6858000"/>
          </a:xfrm>
          <a:prstGeom prst="rect">
            <a:avLst/>
          </a:prstGeom>
        </p:spPr>
      </p:pic>
      <p:sp>
        <p:nvSpPr>
          <p:cNvPr id="2" name="Title Placeholder 1">
            <a:extLst>
              <a:ext uri="{FF2B5EF4-FFF2-40B4-BE49-F238E27FC236}">
                <a16:creationId xmlns:a16="http://schemas.microsoft.com/office/drawing/2014/main" id="{AF899C9A-A2FC-CD4A-1E66-538BA9DCD182}"/>
              </a:ext>
            </a:extLst>
          </p:cNvPr>
          <p:cNvSpPr>
            <a:spLocks noGrp="1"/>
          </p:cNvSpPr>
          <p:nvPr>
            <p:ph type="title"/>
          </p:nvPr>
        </p:nvSpPr>
        <p:spPr>
          <a:xfrm>
            <a:off x="838200" y="681037"/>
            <a:ext cx="10515600" cy="1009651"/>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5BEC040-D756-ECEA-9BEA-816A77F6A3E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Slide Number Placeholder 5">
            <a:extLst>
              <a:ext uri="{FF2B5EF4-FFF2-40B4-BE49-F238E27FC236}">
                <a16:creationId xmlns:a16="http://schemas.microsoft.com/office/drawing/2014/main" id="{0655B500-689F-3416-FFFA-6EFE369BF707}"/>
              </a:ext>
            </a:extLst>
          </p:cNvPr>
          <p:cNvSpPr>
            <a:spLocks noGrp="1"/>
          </p:cNvSpPr>
          <p:nvPr>
            <p:ph type="sldNum" sz="quarter" idx="4"/>
          </p:nvPr>
        </p:nvSpPr>
        <p:spPr>
          <a:xfrm>
            <a:off x="8595078" y="6333148"/>
            <a:ext cx="2743200" cy="365125"/>
          </a:xfrm>
          <a:prstGeom prst="rect">
            <a:avLst/>
          </a:prstGeom>
        </p:spPr>
        <p:txBody>
          <a:bodyPr vert="horz" lIns="91440" tIns="45720" rIns="91440" bIns="45720" rtlCol="0" anchor="ctr"/>
          <a:lstStyle>
            <a:lvl1pPr algn="r">
              <a:defRPr sz="1200">
                <a:solidFill>
                  <a:schemeClr val="tx1"/>
                </a:solidFill>
              </a:defRPr>
            </a:lvl1pPr>
          </a:lstStyle>
          <a:p>
            <a:fld id="{CC6D4273-7FC1-0947-B9FE-19CB3C0D1FB6}" type="slidenum">
              <a:rPr lang="en-US" smtClean="0"/>
              <a:pPr/>
              <a:t>‹#›</a:t>
            </a:fld>
            <a:endParaRPr lang="en-US" dirty="0"/>
          </a:p>
        </p:txBody>
      </p:sp>
      <p:pic>
        <p:nvPicPr>
          <p:cNvPr id="10" name="Picture 9" descr="Logo&#10;&#10;Description automatically generated">
            <a:extLst>
              <a:ext uri="{FF2B5EF4-FFF2-40B4-BE49-F238E27FC236}">
                <a16:creationId xmlns:a16="http://schemas.microsoft.com/office/drawing/2014/main" id="{83AB58F5-18C5-C368-94F4-CC4D543C8982}"/>
              </a:ext>
            </a:extLst>
          </p:cNvPr>
          <p:cNvPicPr>
            <a:picLocks noChangeAspect="1"/>
          </p:cNvPicPr>
          <p:nvPr userDrawn="1"/>
        </p:nvPicPr>
        <p:blipFill>
          <a:blip r:embed="rId17"/>
          <a:stretch>
            <a:fillRect/>
          </a:stretch>
        </p:blipFill>
        <p:spPr>
          <a:xfrm>
            <a:off x="10650147" y="311856"/>
            <a:ext cx="1376262" cy="275252"/>
          </a:xfrm>
          <a:prstGeom prst="rect">
            <a:avLst/>
          </a:prstGeom>
        </p:spPr>
      </p:pic>
      <p:cxnSp>
        <p:nvCxnSpPr>
          <p:cNvPr id="16" name="Straight Connector 15">
            <a:extLst>
              <a:ext uri="{FF2B5EF4-FFF2-40B4-BE49-F238E27FC236}">
                <a16:creationId xmlns:a16="http://schemas.microsoft.com/office/drawing/2014/main" id="{BFFEF531-ADF4-AB70-CB0F-227DD4FA1B4F}"/>
              </a:ext>
            </a:extLst>
          </p:cNvPr>
          <p:cNvCxnSpPr/>
          <p:nvPr userDrawn="1"/>
        </p:nvCxnSpPr>
        <p:spPr>
          <a:xfrm>
            <a:off x="838200" y="6382347"/>
            <a:ext cx="10515599" cy="0"/>
          </a:xfrm>
          <a:prstGeom prst="line">
            <a:avLst/>
          </a:prstGeom>
          <a:ln w="2540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47AF5F83-88DF-460F-82C5-C2709D4DF5D2}"/>
              </a:ext>
            </a:extLst>
          </p:cNvPr>
          <p:cNvSpPr txBox="1"/>
          <p:nvPr userDrawn="1"/>
        </p:nvSpPr>
        <p:spPr>
          <a:xfrm>
            <a:off x="838200" y="6389310"/>
            <a:ext cx="4171934" cy="400110"/>
          </a:xfrm>
          <a:prstGeom prst="rect">
            <a:avLst/>
          </a:prstGeom>
          <a:noFill/>
        </p:spPr>
        <p:txBody>
          <a:bodyPr wrap="square" rtlCol="0">
            <a:spAutoFit/>
          </a:bodyPr>
          <a:lstStyle/>
          <a:p>
            <a:r>
              <a:rPr lang="en-US" sz="1000" dirty="0"/>
              <a:t>5S PRESENTATION ENG REV3.0</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
        <p:nvSpPr>
          <p:cNvPr id="8" name="TextBox 7">
            <a:extLst>
              <a:ext uri="{FF2B5EF4-FFF2-40B4-BE49-F238E27FC236}">
                <a16:creationId xmlns:a16="http://schemas.microsoft.com/office/drawing/2014/main" id="{76B0F1ED-1C44-DFD6-E7DA-038409D9167D}"/>
              </a:ext>
            </a:extLst>
          </p:cNvPr>
          <p:cNvSpPr txBox="1"/>
          <p:nvPr userDrawn="1"/>
        </p:nvSpPr>
        <p:spPr>
          <a:xfrm>
            <a:off x="4205176" y="6384780"/>
            <a:ext cx="4171934" cy="40011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0" i="0" dirty="0">
                <a:latin typeface="Roboto" panose="02000000000000000000" pitchFamily="2" charset="0"/>
                <a:ea typeface="Roboto" panose="02000000000000000000" pitchFamily="2" charset="0"/>
                <a:cs typeface="Roboto" panose="02000000000000000000" pitchFamily="2" charset="0"/>
              </a:rPr>
              <a:t>© Lean Horizons Consulting, LLC 2023. All Rights Reserved</a:t>
            </a:r>
          </a:p>
          <a:p>
            <a:pPr algn="ctr"/>
            <a:endParaRPr lang="en-US" sz="1000" b="0" i="0" dirty="0">
              <a:latin typeface="Roboto" panose="02000000000000000000" pitchFamily="2" charset="0"/>
              <a:ea typeface="Roboto" panose="02000000000000000000" pitchFamily="2" charset="0"/>
              <a:cs typeface="Roboto" panose="02000000000000000000" pitchFamily="2" charset="0"/>
            </a:endParaRPr>
          </a:p>
        </p:txBody>
      </p:sp>
    </p:spTree>
    <p:extLst>
      <p:ext uri="{BB962C8B-B14F-4D97-AF65-F5344CB8AC3E}">
        <p14:creationId xmlns:p14="http://schemas.microsoft.com/office/powerpoint/2010/main" val="3092232385"/>
      </p:ext>
    </p:extLst>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49" r:id="rId4"/>
    <p:sldLayoutId id="2147483650" r:id="rId5"/>
    <p:sldLayoutId id="2147483651" r:id="rId6"/>
    <p:sldLayoutId id="2147483652" r:id="rId7"/>
    <p:sldLayoutId id="2147483653" r:id="rId8"/>
    <p:sldLayoutId id="2147483654" r:id="rId9"/>
    <p:sldLayoutId id="2147483655" r:id="rId10"/>
    <p:sldLayoutId id="2147483656" r:id="rId11"/>
    <p:sldLayoutId id="2147483657" r:id="rId12"/>
    <p:sldLayoutId id="2147483658" r:id="rId13"/>
    <p:sldLayoutId id="2147483659" r:id="rId14"/>
  </p:sldLayoutIdLst>
  <p:hf hdr="0" ftr="0" dt="0"/>
  <p:txStyles>
    <p:titleStyle>
      <a:lvl1pPr algn="l" defTabSz="914400" rtl="0" eaLnBrk="1" latinLnBrk="0" hangingPunct="1">
        <a:lnSpc>
          <a:spcPct val="90000"/>
        </a:lnSpc>
        <a:spcBef>
          <a:spcPct val="0"/>
        </a:spcBef>
        <a:buNone/>
        <a:defRPr sz="4400" b="0" i="0" kern="1200">
          <a:solidFill>
            <a:schemeClr val="tx1"/>
          </a:solidFill>
          <a:latin typeface="Roboto Medium" panose="02000000000000000000" pitchFamily="2" charset="0"/>
          <a:ea typeface="Roboto Medium" panose="02000000000000000000" pitchFamily="2" charset="0"/>
          <a:cs typeface="Roboto Medium" panose="02000000000000000000" pitchFamily="2"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4.emf"/></Relationships>
</file>

<file path=ppt/slides/_rels/slide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0.xml"/><Relationship Id="rId4" Type="http://schemas.openxmlformats.org/officeDocument/2006/relationships/image" Target="../media/image5.gi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8.xml"/><Relationship Id="rId4" Type="http://schemas.openxmlformats.org/officeDocument/2006/relationships/image" Target="../media/image7.jpeg"/></Relationships>
</file>

<file path=ppt/slides/_rels/slide1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9.jpeg"/></Relationships>
</file>

<file path=ppt/slides/_rels/slide1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1.jpeg"/></Relationships>
</file>

<file path=ppt/slides/_rels/slide16.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3.jpeg"/></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5.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8.xml"/><Relationship Id="rId1" Type="http://schemas.openxmlformats.org/officeDocument/2006/relationships/tags" Target="../tags/tag3.xml"/><Relationship Id="rId4" Type="http://schemas.openxmlformats.org/officeDocument/2006/relationships/image" Target="../media/image16.jpe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36.xml"/><Relationship Id="rId1" Type="http://schemas.openxmlformats.org/officeDocument/2006/relationships/slideLayout" Target="../slideLayouts/slideLayout7.xml"/><Relationship Id="rId4" Type="http://schemas.openxmlformats.org/officeDocument/2006/relationships/image" Target="../media/image19.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47.xml"/><Relationship Id="rId1" Type="http://schemas.openxmlformats.org/officeDocument/2006/relationships/slideLayout" Target="../slideLayouts/slideLayout9.xml"/><Relationship Id="rId4" Type="http://schemas.openxmlformats.org/officeDocument/2006/relationships/image" Target="../media/image24.jpe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5.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60.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5.xml"/></Relationships>
</file>

<file path=ppt/slides/_rels/slide6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4.xml"/><Relationship Id="rId1" Type="http://schemas.openxmlformats.org/officeDocument/2006/relationships/slideLayout" Target="../slideLayouts/slideLayout10.xml"/><Relationship Id="rId4" Type="http://schemas.openxmlformats.org/officeDocument/2006/relationships/image" Target="../media/image5.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D087CB-B0CE-ACE5-4322-BDE16A56A1BC}"/>
              </a:ext>
            </a:extLst>
          </p:cNvPr>
          <p:cNvPicPr>
            <a:picLocks noChangeAspect="1"/>
          </p:cNvPicPr>
          <p:nvPr/>
        </p:nvPicPr>
        <p:blipFill>
          <a:blip r:embed="rId4"/>
          <a:stretch>
            <a:fillRect/>
          </a:stretch>
        </p:blipFill>
        <p:spPr>
          <a:xfrm>
            <a:off x="4747929" y="4846192"/>
            <a:ext cx="2696138" cy="45719"/>
          </a:xfrm>
          <a:prstGeom prst="rect">
            <a:avLst/>
          </a:prstGeom>
        </p:spPr>
      </p:pic>
      <p:sp>
        <p:nvSpPr>
          <p:cNvPr id="3" name="TextBox 2">
            <a:extLst>
              <a:ext uri="{FF2B5EF4-FFF2-40B4-BE49-F238E27FC236}">
                <a16:creationId xmlns:a16="http://schemas.microsoft.com/office/drawing/2014/main" id="{C0C17828-39BF-1CB3-A804-BE8AA75ACFF8}"/>
              </a:ext>
            </a:extLst>
          </p:cNvPr>
          <p:cNvSpPr txBox="1"/>
          <p:nvPr/>
        </p:nvSpPr>
        <p:spPr>
          <a:xfrm>
            <a:off x="3442234" y="3900266"/>
            <a:ext cx="5674290" cy="920252"/>
          </a:xfrm>
          <a:prstGeom prst="rect">
            <a:avLst/>
          </a:prstGeom>
          <a:noFill/>
        </p:spPr>
        <p:txBody>
          <a:bodyPr wrap="square" rtlCol="0">
            <a:spAutoFit/>
          </a:bodyPr>
          <a:lstStyle/>
          <a:p>
            <a:pPr algn="ctr">
              <a:lnSpc>
                <a:spcPct val="150000"/>
              </a:lnSpc>
              <a:spcBef>
                <a:spcPct val="0"/>
              </a:spcBef>
            </a:pPr>
            <a:r>
              <a:rPr lang="en-GB" altLang="en-US" sz="4000" b="0" dirty="0"/>
              <a:t>5S</a:t>
            </a:r>
          </a:p>
        </p:txBody>
      </p:sp>
    </p:spTree>
    <p:custDataLst>
      <p:tags r:id="rId1"/>
    </p:custDataLst>
    <p:extLst>
      <p:ext uri="{BB962C8B-B14F-4D97-AF65-F5344CB8AC3E}">
        <p14:creationId xmlns:p14="http://schemas.microsoft.com/office/powerpoint/2010/main" val="2012730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a:t>
            </a:fld>
            <a:endParaRPr lang="en-US" dirty="0"/>
          </a:p>
        </p:txBody>
      </p:sp>
    </p:spTree>
    <p:extLst>
      <p:ext uri="{BB962C8B-B14F-4D97-AF65-F5344CB8AC3E}">
        <p14:creationId xmlns:p14="http://schemas.microsoft.com/office/powerpoint/2010/main" val="811029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3517106" y="2278809"/>
            <a:ext cx="5157787" cy="230038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000" dirty="0">
                <a:solidFill>
                  <a:schemeClr val="tx1"/>
                </a:solidFill>
              </a:rPr>
              <a:t>This document contains confidential</a:t>
            </a:r>
            <a:br>
              <a:rPr lang="en-US" sz="2000" dirty="0">
                <a:solidFill>
                  <a:schemeClr val="tx1"/>
                </a:solidFill>
              </a:rPr>
            </a:br>
            <a:r>
              <a:rPr lang="en-US" sz="2000" dirty="0">
                <a:solidFill>
                  <a:schemeClr val="tx1"/>
                </a:solidFill>
              </a:rPr>
              <a:t>and proprietary information owned</a:t>
            </a:r>
            <a:br>
              <a:rPr lang="en-US" sz="2000" dirty="0">
                <a:solidFill>
                  <a:schemeClr val="tx1"/>
                </a:solidFill>
              </a:rPr>
            </a:br>
            <a:r>
              <a:rPr lang="en-US" sz="2000" dirty="0">
                <a:solidFill>
                  <a:schemeClr val="tx1"/>
                </a:solidFill>
              </a:rPr>
              <a:t> by Lean Horizons Consulting, LLC.</a:t>
            </a:r>
            <a:br>
              <a:rPr lang="en-US" sz="2000" dirty="0">
                <a:solidFill>
                  <a:schemeClr val="tx1"/>
                </a:solidFill>
              </a:rPr>
            </a:br>
            <a:br>
              <a:rPr lang="en-US" sz="2000" dirty="0">
                <a:solidFill>
                  <a:schemeClr val="tx1"/>
                </a:solidFill>
              </a:rPr>
            </a:br>
            <a:r>
              <a:rPr lang="en-US" sz="2000" dirty="0">
                <a:solidFill>
                  <a:schemeClr val="tx1"/>
                </a:solidFill>
              </a:rPr>
              <a:t>Any disclosure, use, copying or</a:t>
            </a:r>
            <a:br>
              <a:rPr lang="en-US" sz="2000" dirty="0">
                <a:solidFill>
                  <a:schemeClr val="tx1"/>
                </a:solidFill>
              </a:rPr>
            </a:br>
            <a:r>
              <a:rPr lang="en-US" sz="2000" dirty="0">
                <a:solidFill>
                  <a:schemeClr val="tx1"/>
                </a:solidFill>
              </a:rPr>
              <a:t>distribution of this information without the express written consent of Lean Horizons Consulting is strictly prohibited.</a:t>
            </a:r>
          </a:p>
        </p:txBody>
      </p:sp>
      <p:sp>
        <p:nvSpPr>
          <p:cNvPr id="12" name="Slide Number Placeholder 11">
            <a:extLst>
              <a:ext uri="{FF2B5EF4-FFF2-40B4-BE49-F238E27FC236}">
                <a16:creationId xmlns:a16="http://schemas.microsoft.com/office/drawing/2014/main" id="{C8A6FCFA-DB7B-71C3-70EC-F677EBA239A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a:t>
            </a:fld>
            <a:endParaRPr lang="en-US"/>
          </a:p>
        </p:txBody>
      </p:sp>
    </p:spTree>
    <p:extLst>
      <p:ext uri="{BB962C8B-B14F-4D97-AF65-F5344CB8AC3E}">
        <p14:creationId xmlns:p14="http://schemas.microsoft.com/office/powerpoint/2010/main" val="378529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61B1F-82BB-20AA-556E-27FE22CCD7A0}"/>
              </a:ext>
            </a:extLst>
          </p:cNvPr>
          <p:cNvSpPr>
            <a:spLocks noGrp="1"/>
          </p:cNvSpPr>
          <p:nvPr>
            <p:ph type="title"/>
          </p:nvPr>
        </p:nvSpPr>
        <p:spPr/>
        <p:txBody>
          <a:bodyPr>
            <a:normAutofit/>
          </a:bodyPr>
          <a:lstStyle/>
          <a:p>
            <a:r>
              <a:rPr lang="en-US" sz="4000" dirty="0">
                <a:latin typeface="Roboto Medium"/>
                <a:ea typeface="Roboto Medium"/>
                <a:cs typeface="Roboto Medium"/>
              </a:rPr>
              <a:t>Ground Rules for Event</a:t>
            </a:r>
          </a:p>
        </p:txBody>
      </p:sp>
      <p:sp>
        <p:nvSpPr>
          <p:cNvPr id="3" name="Content Placeholder 2">
            <a:extLst>
              <a:ext uri="{FF2B5EF4-FFF2-40B4-BE49-F238E27FC236}">
                <a16:creationId xmlns:a16="http://schemas.microsoft.com/office/drawing/2014/main" id="{D1CAA202-895A-70BD-7319-C214C2BDD1B2}"/>
              </a:ext>
            </a:extLst>
          </p:cNvPr>
          <p:cNvSpPr>
            <a:spLocks noGrp="1"/>
          </p:cNvSpPr>
          <p:nvPr>
            <p:ph idx="1"/>
          </p:nvPr>
        </p:nvSpPr>
        <p:spPr/>
        <p:txBody>
          <a:bodyPr/>
          <a:lstStyle/>
          <a:p>
            <a:r>
              <a:rPr lang="en-US" altLang="en-US" sz="2800" dirty="0">
                <a:ea typeface="ＭＳ Ｐゴシック" panose="020B0600070205080204" pitchFamily="34" charset="-128"/>
              </a:rPr>
              <a:t>Safety first (use personal protective equipment)</a:t>
            </a:r>
          </a:p>
          <a:p>
            <a:r>
              <a:rPr lang="en-US" altLang="en-US" sz="2800" dirty="0">
                <a:ea typeface="ＭＳ Ｐゴシック" panose="020B0600070205080204" pitchFamily="34" charset="-128"/>
              </a:rPr>
              <a:t>Active participation by all</a:t>
            </a:r>
          </a:p>
          <a:p>
            <a:r>
              <a:rPr lang="en-US" altLang="en-US" sz="2800" dirty="0">
                <a:ea typeface="ＭＳ Ｐゴシック" panose="020B0600070205080204" pitchFamily="34" charset="-128"/>
              </a:rPr>
              <a:t>Start and end on time</a:t>
            </a:r>
          </a:p>
          <a:p>
            <a:r>
              <a:rPr lang="en-US" altLang="en-US" sz="2800" dirty="0">
                <a:ea typeface="ＭＳ Ｐゴシック" panose="020B0600070205080204" pitchFamily="34" charset="-128"/>
              </a:rPr>
              <a:t>All electronic gadgets (phones, pagers, </a:t>
            </a:r>
            <a:r>
              <a:rPr lang="en-US" altLang="en-US" sz="2800" dirty="0" err="1">
                <a:ea typeface="ＭＳ Ｐゴシック" panose="020B0600070205080204" pitchFamily="34" charset="-128"/>
              </a:rPr>
              <a:t>etc</a:t>
            </a:r>
            <a:r>
              <a:rPr lang="en-US" altLang="en-US" sz="2800" dirty="0">
                <a:ea typeface="ＭＳ Ｐゴシック" panose="020B0600070205080204" pitchFamily="34" charset="-128"/>
              </a:rPr>
              <a:t>) turned to </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off</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 or </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silent</a:t>
            </a:r>
            <a:r>
              <a:rPr lang="ja-JP" altLang="en-US" sz="2800" dirty="0">
                <a:ea typeface="ＭＳ Ｐゴシック" panose="020B0600070205080204" pitchFamily="34" charset="-128"/>
              </a:rPr>
              <a:t>”</a:t>
            </a:r>
            <a:endParaRPr lang="en-US" altLang="ja-JP" sz="2800" dirty="0">
              <a:ea typeface="ＭＳ Ｐゴシック" panose="020B0600070205080204" pitchFamily="34" charset="-128"/>
            </a:endParaRPr>
          </a:p>
          <a:p>
            <a:r>
              <a:rPr lang="en-US" altLang="en-US" sz="2800" dirty="0">
                <a:ea typeface="ＭＳ Ｐゴシック" panose="020B0600070205080204" pitchFamily="34" charset="-128"/>
              </a:rPr>
              <a:t>Computers to be used only when instructed</a:t>
            </a:r>
          </a:p>
          <a:p>
            <a:r>
              <a:rPr lang="en-US" altLang="en-US" sz="2800" dirty="0">
                <a:ea typeface="ＭＳ Ｐゴシック" panose="020B0600070205080204" pitchFamily="34" charset="-128"/>
              </a:rPr>
              <a:t>Keep an open mind to change</a:t>
            </a:r>
          </a:p>
          <a:p>
            <a:r>
              <a:rPr lang="en-US" altLang="en-US" sz="2800" dirty="0">
                <a:ea typeface="ＭＳ Ｐゴシック" panose="020B0600070205080204" pitchFamily="34" charset="-128"/>
              </a:rPr>
              <a:t>Don</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t let </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perfect</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 get in the way of </a:t>
            </a:r>
            <a:r>
              <a:rPr lang="ja-JP" altLang="en-US" sz="2800" dirty="0">
                <a:ea typeface="ＭＳ Ｐゴシック" panose="020B0600070205080204" pitchFamily="34" charset="-128"/>
              </a:rPr>
              <a:t>“</a:t>
            </a:r>
            <a:r>
              <a:rPr lang="en-US" altLang="ja-JP" sz="2800" dirty="0">
                <a:ea typeface="ＭＳ Ｐゴシック" panose="020B0600070205080204" pitchFamily="34" charset="-128"/>
              </a:rPr>
              <a:t>better</a:t>
            </a:r>
            <a:r>
              <a:rPr lang="ja-JP" altLang="en-US" sz="2800" dirty="0">
                <a:ea typeface="ＭＳ Ｐゴシック" panose="020B0600070205080204" pitchFamily="34" charset="-128"/>
              </a:rPr>
              <a:t>”</a:t>
            </a:r>
            <a:endParaRPr lang="en-US" altLang="en-US" sz="2800" dirty="0">
              <a:ea typeface="ＭＳ Ｐゴシック" panose="020B0600070205080204" pitchFamily="34" charset="-128"/>
            </a:endParaRPr>
          </a:p>
        </p:txBody>
      </p:sp>
      <p:sp>
        <p:nvSpPr>
          <p:cNvPr id="8" name="Slide Number Placeholder 7">
            <a:extLst>
              <a:ext uri="{FF2B5EF4-FFF2-40B4-BE49-F238E27FC236}">
                <a16:creationId xmlns:a16="http://schemas.microsoft.com/office/drawing/2014/main" id="{42705716-A551-625A-37E2-96047D07B497}"/>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a:t>
            </a:fld>
            <a:endParaRPr lang="en-US"/>
          </a:p>
        </p:txBody>
      </p:sp>
    </p:spTree>
    <p:extLst>
      <p:ext uri="{BB962C8B-B14F-4D97-AF65-F5344CB8AC3E}">
        <p14:creationId xmlns:p14="http://schemas.microsoft.com/office/powerpoint/2010/main" val="27261886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Goal of 5S Module</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pPr marL="0" indent="0">
              <a:buNone/>
            </a:pPr>
            <a:r>
              <a:rPr lang="en-US" dirty="0"/>
              <a:t>To define 5S and apply the 5S process to achieve a target goal for your business as well as implement a process to sustain event results. </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a:t>
            </a:fld>
            <a:endParaRPr lang="en-US"/>
          </a:p>
        </p:txBody>
      </p:sp>
      <p:grpSp>
        <p:nvGrpSpPr>
          <p:cNvPr id="4" name="Group 3">
            <a:extLst>
              <a:ext uri="{FF2B5EF4-FFF2-40B4-BE49-F238E27FC236}">
                <a16:creationId xmlns:a16="http://schemas.microsoft.com/office/drawing/2014/main" id="{14F72706-4A90-F53F-7A0E-885B3D8945A3}"/>
              </a:ext>
            </a:extLst>
          </p:cNvPr>
          <p:cNvGrpSpPr/>
          <p:nvPr/>
        </p:nvGrpSpPr>
        <p:grpSpPr>
          <a:xfrm>
            <a:off x="2697308" y="3496469"/>
            <a:ext cx="6797384" cy="1009650"/>
            <a:chOff x="826426" y="4041857"/>
            <a:chExt cx="1060167" cy="290657"/>
          </a:xfrm>
        </p:grpSpPr>
        <p:sp>
          <p:nvSpPr>
            <p:cNvPr id="6" name="AutoShape 9">
              <a:extLst>
                <a:ext uri="{FF2B5EF4-FFF2-40B4-BE49-F238E27FC236}">
                  <a16:creationId xmlns:a16="http://schemas.microsoft.com/office/drawing/2014/main" id="{E9702FE4-F76A-0E7B-F2C0-92B739EDD5EB}"/>
                </a:ext>
              </a:extLst>
            </p:cNvPr>
            <p:cNvSpPr>
              <a:spLocks noChangeArrowheads="1"/>
            </p:cNvSpPr>
            <p:nvPr/>
          </p:nvSpPr>
          <p:spPr bwMode="auto">
            <a:xfrm>
              <a:off x="1453776"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Review</a:t>
              </a:r>
            </a:p>
          </p:txBody>
        </p:sp>
        <p:sp>
          <p:nvSpPr>
            <p:cNvPr id="7" name="AutoShape 11">
              <a:extLst>
                <a:ext uri="{FF2B5EF4-FFF2-40B4-BE49-F238E27FC236}">
                  <a16:creationId xmlns:a16="http://schemas.microsoft.com/office/drawing/2014/main" id="{74520DF7-A54D-4EF2-533A-E389665448E4}"/>
                </a:ext>
              </a:extLst>
            </p:cNvPr>
            <p:cNvSpPr>
              <a:spLocks noChangeArrowheads="1"/>
            </p:cNvSpPr>
            <p:nvPr/>
          </p:nvSpPr>
          <p:spPr bwMode="auto">
            <a:xfrm>
              <a:off x="1140101" y="4041858"/>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Process</a:t>
              </a:r>
            </a:p>
          </p:txBody>
        </p:sp>
        <p:sp>
          <p:nvSpPr>
            <p:cNvPr id="8" name="AutoShape 10">
              <a:extLst>
                <a:ext uri="{FF2B5EF4-FFF2-40B4-BE49-F238E27FC236}">
                  <a16:creationId xmlns:a16="http://schemas.microsoft.com/office/drawing/2014/main" id="{FA261B01-7C07-4A71-E8ED-4B853C53BAD9}"/>
                </a:ext>
              </a:extLst>
            </p:cNvPr>
            <p:cNvSpPr>
              <a:spLocks noChangeArrowheads="1"/>
            </p:cNvSpPr>
            <p:nvPr/>
          </p:nvSpPr>
          <p:spPr bwMode="auto">
            <a:xfrm>
              <a:off x="826426" y="4041857"/>
              <a:ext cx="432817" cy="290656"/>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2000" dirty="0">
                  <a:solidFill>
                    <a:schemeClr val="bg1"/>
                  </a:solidFill>
                </a:rPr>
                <a:t>5S</a:t>
              </a:r>
            </a:p>
            <a:p>
              <a:pPr algn="ctr">
                <a:lnSpc>
                  <a:spcPct val="80000"/>
                </a:lnSpc>
                <a:spcBef>
                  <a:spcPct val="20000"/>
                </a:spcBef>
                <a:spcAft>
                  <a:spcPct val="0"/>
                </a:spcAft>
                <a:buClrTx/>
                <a:buSzTx/>
                <a:buNone/>
              </a:pPr>
              <a:r>
                <a:rPr lang="en-US" altLang="en-US" sz="2000" dirty="0">
                  <a:solidFill>
                    <a:schemeClr val="bg1"/>
                  </a:solidFill>
                </a:rPr>
                <a:t>Definition</a:t>
              </a:r>
            </a:p>
          </p:txBody>
        </p:sp>
      </p:grpSp>
    </p:spTree>
    <p:extLst>
      <p:ext uri="{BB962C8B-B14F-4D97-AF65-F5344CB8AC3E}">
        <p14:creationId xmlns:p14="http://schemas.microsoft.com/office/powerpoint/2010/main" val="4392076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Define the goal of the 5S process</a:t>
            </a:r>
          </a:p>
          <a:p>
            <a:r>
              <a:rPr lang="en-US" dirty="0"/>
              <a:t>Define 5S</a:t>
            </a:r>
          </a:p>
          <a:p>
            <a:r>
              <a:rPr lang="en-US" dirty="0"/>
              <a:t>Identify purpose and benefits of 5S</a:t>
            </a:r>
          </a:p>
          <a:p>
            <a:r>
              <a:rPr lang="en-US" dirty="0"/>
              <a:t>Identify and define the steps of the 5S process</a:t>
            </a:r>
          </a:p>
          <a:p>
            <a:r>
              <a:rPr lang="en-US" dirty="0"/>
              <a:t>Discuss the impact of 5S in your work area</a:t>
            </a:r>
          </a:p>
          <a:p>
            <a:r>
              <a:rPr lang="en-US" dirty="0"/>
              <a:t>Review the 5S Event Charter</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latin typeface="Roboto" panose="02000000000000000000" pitchFamily="2" charset="0"/>
                  <a:ea typeface="Roboto" panose="02000000000000000000" pitchFamily="2" charset="0"/>
                  <a:cs typeface="Roboto" panose="02000000000000000000" pitchFamily="2" charset="0"/>
                </a:rPr>
                <a:t>5S Definition</a:t>
              </a:r>
            </a:p>
          </p:txBody>
        </p:sp>
      </p:grpSp>
    </p:spTree>
    <p:extLst>
      <p:ext uri="{BB962C8B-B14F-4D97-AF65-F5344CB8AC3E}">
        <p14:creationId xmlns:p14="http://schemas.microsoft.com/office/powerpoint/2010/main" val="3631786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287BA79-BC0E-9B68-5E47-60ACB12957C8}"/>
              </a:ext>
            </a:extLst>
          </p:cNvPr>
          <p:cNvSpPr>
            <a:spLocks noGrp="1"/>
          </p:cNvSpPr>
          <p:nvPr>
            <p:ph type="body" sz="half" idx="2"/>
          </p:nvPr>
        </p:nvSpPr>
        <p:spPr/>
        <p:txBody>
          <a:bodyPr anchor="ctr">
            <a:normAutofit/>
          </a:bodyPr>
          <a:lstStyle/>
          <a:p>
            <a:r>
              <a:rPr lang="en-US" altLang="ja-JP" sz="2200" dirty="0">
                <a:solidFill>
                  <a:schemeClr val="bg2">
                    <a:lumMod val="10000"/>
                  </a:schemeClr>
                </a:solidFill>
              </a:rPr>
              <a:t>The goal of 5S is to create </a:t>
            </a:r>
            <a:br>
              <a:rPr lang="en-US" altLang="ja-JP" sz="2200" dirty="0">
                <a:solidFill>
                  <a:schemeClr val="bg2">
                    <a:lumMod val="10000"/>
                  </a:schemeClr>
                </a:solidFill>
              </a:rPr>
            </a:br>
            <a:r>
              <a:rPr lang="en-US" altLang="ja-JP" sz="2200" dirty="0">
                <a:solidFill>
                  <a:schemeClr val="bg2">
                    <a:lumMod val="10000"/>
                  </a:schemeClr>
                </a:solidFill>
              </a:rPr>
              <a:t>workplace organization, </a:t>
            </a:r>
            <a:br>
              <a:rPr lang="en-US" altLang="ja-JP" sz="2200" dirty="0">
                <a:solidFill>
                  <a:schemeClr val="bg2">
                    <a:lumMod val="10000"/>
                  </a:schemeClr>
                </a:solidFill>
              </a:rPr>
            </a:br>
            <a:r>
              <a:rPr lang="en-US" altLang="ja-JP" sz="2200" dirty="0">
                <a:solidFill>
                  <a:schemeClr val="bg2">
                    <a:lumMod val="10000"/>
                  </a:schemeClr>
                </a:solidFill>
              </a:rPr>
              <a:t>improve productivity, </a:t>
            </a:r>
            <a:br>
              <a:rPr lang="en-US" altLang="ja-JP" sz="2200" dirty="0">
                <a:solidFill>
                  <a:schemeClr val="bg2">
                    <a:lumMod val="10000"/>
                  </a:schemeClr>
                </a:solidFill>
              </a:rPr>
            </a:br>
            <a:r>
              <a:rPr lang="en-US" altLang="ja-JP" sz="2200" dirty="0">
                <a:solidFill>
                  <a:schemeClr val="bg2">
                    <a:lumMod val="10000"/>
                  </a:schemeClr>
                </a:solidFill>
              </a:rPr>
              <a:t>enable visual management, and lay the foundation for all other lean tools. </a:t>
            </a:r>
          </a:p>
        </p:txBody>
      </p:sp>
      <p:sp>
        <p:nvSpPr>
          <p:cNvPr id="7" name="Slide Number Placeholder 6">
            <a:extLst>
              <a:ext uri="{FF2B5EF4-FFF2-40B4-BE49-F238E27FC236}">
                <a16:creationId xmlns:a16="http://schemas.microsoft.com/office/drawing/2014/main" id="{8DDF98C7-E326-67DA-15D8-AD0EFBA4380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7</a:t>
            </a:fld>
            <a:endParaRPr lang="en-US"/>
          </a:p>
        </p:txBody>
      </p:sp>
      <p:sp>
        <p:nvSpPr>
          <p:cNvPr id="2" name="Title 1">
            <a:extLst>
              <a:ext uri="{FF2B5EF4-FFF2-40B4-BE49-F238E27FC236}">
                <a16:creationId xmlns:a16="http://schemas.microsoft.com/office/drawing/2014/main" id="{3BEF1C1C-86A0-4488-68EC-1E6D1847DB51}"/>
              </a:ext>
            </a:extLst>
          </p:cNvPr>
          <p:cNvSpPr>
            <a:spLocks noGrp="1"/>
          </p:cNvSpPr>
          <p:nvPr>
            <p:ph type="title"/>
          </p:nvPr>
        </p:nvSpPr>
        <p:spPr>
          <a:xfrm>
            <a:off x="839788" y="1222913"/>
            <a:ext cx="3932237" cy="531812"/>
          </a:xfrm>
        </p:spPr>
        <p:txBody>
          <a:bodyPr>
            <a:noAutofit/>
          </a:bodyPr>
          <a:lstStyle/>
          <a:p>
            <a:r>
              <a:rPr lang="en-US" sz="4000" dirty="0">
                <a:latin typeface="Roboto Medium"/>
                <a:ea typeface="Roboto Medium"/>
                <a:cs typeface="Roboto Medium"/>
              </a:rPr>
              <a:t>Goal of 5S</a:t>
            </a:r>
          </a:p>
        </p:txBody>
      </p:sp>
      <p:grpSp>
        <p:nvGrpSpPr>
          <p:cNvPr id="5" name="Group 4">
            <a:extLst>
              <a:ext uri="{FF2B5EF4-FFF2-40B4-BE49-F238E27FC236}">
                <a16:creationId xmlns:a16="http://schemas.microsoft.com/office/drawing/2014/main" id="{48C1D6E7-A893-4D82-3D52-586D3F4258E0}"/>
              </a:ext>
            </a:extLst>
          </p:cNvPr>
          <p:cNvGrpSpPr/>
          <p:nvPr/>
        </p:nvGrpSpPr>
        <p:grpSpPr>
          <a:xfrm>
            <a:off x="940249" y="289611"/>
            <a:ext cx="1060167" cy="324859"/>
            <a:chOff x="940249" y="315206"/>
            <a:chExt cx="1060167" cy="265062"/>
          </a:xfrm>
        </p:grpSpPr>
        <p:sp>
          <p:nvSpPr>
            <p:cNvPr id="10" name="AutoShape 9">
              <a:extLst>
                <a:ext uri="{FF2B5EF4-FFF2-40B4-BE49-F238E27FC236}">
                  <a16:creationId xmlns:a16="http://schemas.microsoft.com/office/drawing/2014/main" id="{7A8F5BB9-FAB4-6395-81D0-200F966608E3}"/>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1" name="AutoShape 10">
              <a:extLst>
                <a:ext uri="{FF2B5EF4-FFF2-40B4-BE49-F238E27FC236}">
                  <a16:creationId xmlns:a16="http://schemas.microsoft.com/office/drawing/2014/main" id="{FC1625F7-8FC0-B69E-AF21-90E6799907A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1">
              <a:extLst>
                <a:ext uri="{FF2B5EF4-FFF2-40B4-BE49-F238E27FC236}">
                  <a16:creationId xmlns:a16="http://schemas.microsoft.com/office/drawing/2014/main" id="{1C4EF245-2BA4-F3FA-D88C-263F4701076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3" name="TextBox 12">
            <a:extLst>
              <a:ext uri="{FF2B5EF4-FFF2-40B4-BE49-F238E27FC236}">
                <a16:creationId xmlns:a16="http://schemas.microsoft.com/office/drawing/2014/main" id="{025EF277-5594-1C4C-8F9F-17DAF97192EC}"/>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
        <p:nvSpPr>
          <p:cNvPr id="6" name="Content Placeholder 5">
            <a:extLst>
              <a:ext uri="{FF2B5EF4-FFF2-40B4-BE49-F238E27FC236}">
                <a16:creationId xmlns:a16="http://schemas.microsoft.com/office/drawing/2014/main" id="{8922653A-07EA-A2B4-414B-D098491F9059}"/>
              </a:ext>
            </a:extLst>
          </p:cNvPr>
          <p:cNvSpPr>
            <a:spLocks noGrp="1"/>
          </p:cNvSpPr>
          <p:nvPr>
            <p:ph idx="1"/>
          </p:nvPr>
        </p:nvSpPr>
        <p:spPr>
          <a:xfrm>
            <a:off x="5183188" y="2045970"/>
            <a:ext cx="6169024" cy="3815080"/>
          </a:xfrm>
        </p:spPr>
        <p:txBody>
          <a:bodyPr>
            <a:normAutofit fontScale="70000" lnSpcReduction="20000"/>
          </a:bodyPr>
          <a:lstStyle/>
          <a:p>
            <a:r>
              <a:rPr lang="en-US" dirty="0"/>
              <a:t>Safety</a:t>
            </a:r>
          </a:p>
          <a:p>
            <a:pPr lvl="1"/>
            <a:r>
              <a:rPr lang="en-US" dirty="0"/>
              <a:t>Reduce the number of lost time accidents, workman’s compensation claims and </a:t>
            </a:r>
            <a:br>
              <a:rPr lang="en-US" dirty="0"/>
            </a:br>
            <a:r>
              <a:rPr lang="en-US" dirty="0"/>
              <a:t>OSHA recordables</a:t>
            </a:r>
          </a:p>
          <a:p>
            <a:r>
              <a:rPr lang="en-US" dirty="0"/>
              <a:t>Quality</a:t>
            </a:r>
          </a:p>
          <a:p>
            <a:pPr lvl="1"/>
            <a:r>
              <a:rPr lang="en-US" dirty="0"/>
              <a:t>Eliminate the possibility of using previously rejected parts or the wrong tools. Eliminate contamination and assure compliance to </a:t>
            </a:r>
            <a:br>
              <a:rPr lang="en-US" dirty="0"/>
            </a:br>
            <a:r>
              <a:rPr lang="en-US" dirty="0"/>
              <a:t>standard procedures</a:t>
            </a:r>
          </a:p>
          <a:p>
            <a:r>
              <a:rPr lang="en-US" dirty="0"/>
              <a:t>Productivity</a:t>
            </a:r>
          </a:p>
          <a:p>
            <a:pPr lvl="1"/>
            <a:r>
              <a:rPr lang="en-US" dirty="0"/>
              <a:t>Eliminate wasted time looking for tools. Reduce cycle time, reduce equipment downtime through regular cleaning and inspection</a:t>
            </a:r>
          </a:p>
          <a:p>
            <a:endParaRPr lang="en-US" dirty="0"/>
          </a:p>
        </p:txBody>
      </p:sp>
      <p:sp>
        <p:nvSpPr>
          <p:cNvPr id="9" name="Rectangle 8">
            <a:extLst>
              <a:ext uri="{FF2B5EF4-FFF2-40B4-BE49-F238E27FC236}">
                <a16:creationId xmlns:a16="http://schemas.microsoft.com/office/drawing/2014/main" id="{3119D526-9C91-C567-E7EF-99C21559D72F}"/>
              </a:ext>
            </a:extLst>
          </p:cNvPr>
          <p:cNvSpPr/>
          <p:nvPr/>
        </p:nvSpPr>
        <p:spPr>
          <a:xfrm>
            <a:off x="5183188" y="1488819"/>
            <a:ext cx="569817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Benefits of 5S Culture</a:t>
            </a:r>
          </a:p>
        </p:txBody>
      </p:sp>
    </p:spTree>
    <p:extLst>
      <p:ext uri="{BB962C8B-B14F-4D97-AF65-F5344CB8AC3E}">
        <p14:creationId xmlns:p14="http://schemas.microsoft.com/office/powerpoint/2010/main" val="2589989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What is 5S?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8</a:t>
            </a:fld>
            <a:endParaRPr lang="en-US"/>
          </a:p>
        </p:txBody>
      </p:sp>
      <p:graphicFrame>
        <p:nvGraphicFramePr>
          <p:cNvPr id="3" name="Group 3">
            <a:extLst>
              <a:ext uri="{FF2B5EF4-FFF2-40B4-BE49-F238E27FC236}">
                <a16:creationId xmlns:a16="http://schemas.microsoft.com/office/drawing/2014/main" id="{FD540487-2CE5-B5E5-A842-F21DCA5D8894}"/>
              </a:ext>
            </a:extLst>
          </p:cNvPr>
          <p:cNvGraphicFramePr>
            <a:graphicFrameLocks noGrp="1"/>
          </p:cNvGraphicFramePr>
          <p:nvPr>
            <p:extLst>
              <p:ext uri="{D42A27DB-BD31-4B8C-83A1-F6EECF244321}">
                <p14:modId xmlns:p14="http://schemas.microsoft.com/office/powerpoint/2010/main" val="2683868186"/>
              </p:ext>
            </p:extLst>
          </p:nvPr>
        </p:nvGraphicFramePr>
        <p:xfrm>
          <a:off x="838200" y="1888637"/>
          <a:ext cx="10114597" cy="4304927"/>
        </p:xfrm>
        <a:graphic>
          <a:graphicData uri="http://schemas.openxmlformats.org/drawingml/2006/table">
            <a:tbl>
              <a:tblPr/>
              <a:tblGrid>
                <a:gridCol w="3916532">
                  <a:extLst>
                    <a:ext uri="{9D8B030D-6E8A-4147-A177-3AD203B41FA5}">
                      <a16:colId xmlns:a16="http://schemas.microsoft.com/office/drawing/2014/main" val="20000"/>
                    </a:ext>
                  </a:extLst>
                </a:gridCol>
                <a:gridCol w="2263846">
                  <a:extLst>
                    <a:ext uri="{9D8B030D-6E8A-4147-A177-3AD203B41FA5}">
                      <a16:colId xmlns:a16="http://schemas.microsoft.com/office/drawing/2014/main" val="20001"/>
                    </a:ext>
                  </a:extLst>
                </a:gridCol>
                <a:gridCol w="3934219">
                  <a:extLst>
                    <a:ext uri="{9D8B030D-6E8A-4147-A177-3AD203B41FA5}">
                      <a16:colId xmlns:a16="http://schemas.microsoft.com/office/drawing/2014/main" val="20002"/>
                    </a:ext>
                  </a:extLst>
                </a:gridCol>
              </a:tblGrid>
              <a:tr h="853758">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about sustained workplace organization and discipline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not about </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spring cleaning</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930834">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tool that benefits the entire organization</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not a </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shop-floor </a:t>
                      </a:r>
                      <a:b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b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only</a:t>
                      </a:r>
                      <a:r>
                        <a:rPr kumimoji="0" lang="ja-JP" altLang="en-US" sz="2000" b="0" i="0" u="none" strike="noStrike" cap="none" normalizeH="0" baseline="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a:ln>
                            <a:noFill/>
                          </a:ln>
                          <a:solidFill>
                            <a:schemeClr val="tx1"/>
                          </a:solidFill>
                          <a:effectLst/>
                          <a:latin typeface="Roboto" panose="02000000000000000000" pitchFamily="2" charset="0"/>
                          <a:ea typeface="Roboto" panose="02000000000000000000" pitchFamily="2" charset="0"/>
                        </a:rPr>
                        <a:t> tool</a:t>
                      </a: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26388">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continuous process and an on-going management tool</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a one-time event</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25597">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for everyone</a:t>
                      </a: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a:t>
                      </a:r>
                      <a:r>
                        <a:rPr kumimoji="0" lang="ja-JP" altLang="en-US"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someone else</a:t>
                      </a:r>
                      <a:r>
                        <a:rPr kumimoji="0" lang="en-US" altLang="ja-JP"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s</a:t>
                      </a:r>
                      <a:r>
                        <a:rPr kumimoji="0" lang="ja-JP" altLang="en-US" sz="2000" b="0" i="0" u="none" strike="noStrike" cap="none" normalizeH="0" baseline="0" dirty="0">
                          <a:ln>
                            <a:noFill/>
                          </a:ln>
                          <a:solidFill>
                            <a:schemeClr val="tx1"/>
                          </a:solidFill>
                          <a:effectLst/>
                          <a:latin typeface="Roboto" panose="02000000000000000000" pitchFamily="2" charset="0"/>
                          <a:ea typeface="ＭＳ Ｐゴシック" panose="020B0600070205080204" pitchFamily="34" charset="-128"/>
                        </a:rPr>
                        <a:t>”</a:t>
                      </a:r>
                      <a:r>
                        <a:rPr kumimoji="0" lang="en-US" altLang="ja-JP"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 responsibility</a:t>
                      </a:r>
                      <a:endPar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09984">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Is a basic foundation for</a:t>
                      </a:r>
                      <a:b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br>
                      <a:r>
                        <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rPr>
                        <a:t>all other improvement</a:t>
                      </a: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endParaRPr kumimoji="0" lang="en-US" altLang="en-US" sz="2000" b="0"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tc>
                  <a:txBody>
                    <a:bodyPr/>
                    <a:lstStyle>
                      <a:lvl1pPr algn="l">
                        <a:lnSpc>
                          <a:spcPct val="115000"/>
                        </a:lnSpc>
                        <a:spcBef>
                          <a:spcPct val="50000"/>
                        </a:spcBef>
                        <a:spcAft>
                          <a:spcPct val="50000"/>
                        </a:spcAft>
                        <a:buClr>
                          <a:srgbClr val="006699"/>
                        </a:buClr>
                        <a:buSzPct val="90000"/>
                        <a:buFont typeface="Wingdings" pitchFamily="2" charset="2"/>
                        <a:defRPr sz="2800" b="1">
                          <a:solidFill>
                            <a:schemeClr val="tx1"/>
                          </a:solidFill>
                          <a:latin typeface="Arial" panose="020B0604020202020204" pitchFamily="34" charset="0"/>
                          <a:ea typeface="ＭＳ Ｐゴシック" panose="020B0600070205080204" pitchFamily="34" charset="-128"/>
                        </a:defRPr>
                      </a:lvl1pPr>
                      <a:lvl2pPr marL="742950" indent="-285750" algn="l">
                        <a:lnSpc>
                          <a:spcPct val="115000"/>
                        </a:lnSpc>
                        <a:spcBef>
                          <a:spcPct val="50000"/>
                        </a:spcBef>
                        <a:spcAft>
                          <a:spcPct val="50000"/>
                        </a:spcAft>
                        <a:buClr>
                          <a:srgbClr val="006699"/>
                        </a:buClr>
                        <a:buSzPct val="90000"/>
                        <a:buFont typeface="Wingdings" pitchFamily="2" charset="2"/>
                        <a:defRPr sz="1400" b="1">
                          <a:solidFill>
                            <a:schemeClr val="tx1"/>
                          </a:solidFill>
                          <a:latin typeface="Arial" panose="020B0604020202020204" pitchFamily="34" charset="0"/>
                          <a:ea typeface="ＭＳ Ｐゴシック" panose="020B0600070205080204" pitchFamily="34" charset="-128"/>
                        </a:defRPr>
                      </a:lvl2pPr>
                      <a:lvl3pPr marL="1143000" indent="-228600" algn="l">
                        <a:lnSpc>
                          <a:spcPct val="115000"/>
                        </a:lnSpc>
                        <a:spcBef>
                          <a:spcPct val="50000"/>
                        </a:spcBef>
                        <a:spcAft>
                          <a:spcPct val="50000"/>
                        </a:spcAft>
                        <a:buClr>
                          <a:srgbClr val="006699"/>
                        </a:buClr>
                        <a:buSzPct val="90000"/>
                        <a:buFont typeface="Wingdings" pitchFamily="2" charset="2"/>
                        <a:defRPr sz="1200" b="1">
                          <a:solidFill>
                            <a:schemeClr val="tx1"/>
                          </a:solidFill>
                          <a:latin typeface="Arial" panose="020B0604020202020204" pitchFamily="34" charset="0"/>
                          <a:ea typeface="ＭＳ Ｐゴシック" panose="020B0600070205080204" pitchFamily="34" charset="-128"/>
                        </a:defRPr>
                      </a:lvl3pPr>
                      <a:lvl4pPr marL="1600200" indent="-228600" algn="l">
                        <a:buClr>
                          <a:schemeClr val="tx1"/>
                        </a:buClr>
                        <a:defRPr>
                          <a:solidFill>
                            <a:schemeClr val="tx1"/>
                          </a:solidFill>
                          <a:latin typeface="Book Antiqua" panose="02040602050305030304" pitchFamily="18" charset="0"/>
                          <a:ea typeface="ＭＳ Ｐゴシック" panose="020B0600070205080204" pitchFamily="34" charset="-128"/>
                        </a:defRPr>
                      </a:lvl4pPr>
                      <a:lvl5pPr marL="2057400" indent="-228600" algn="l">
                        <a:buClr>
                          <a:schemeClr val="tx1"/>
                        </a:buClr>
                        <a:defRPr>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defRPr>
                          <a:solidFill>
                            <a:schemeClr val="tx1"/>
                          </a:solidFill>
                          <a:latin typeface="Book Antiqua" panose="02040602050305030304" pitchFamily="18" charset="0"/>
                          <a:ea typeface="ＭＳ Ｐゴシック" panose="020B0600070205080204" pitchFamily="34" charset="-128"/>
                        </a:defRPr>
                      </a:lvl9pPr>
                    </a:lstStyle>
                    <a:p>
                      <a:pPr marL="0" marR="0" lvl="0" indent="0" algn="r"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altLang="en-US" sz="2000" b="0" i="0" u="none" strike="noStrike" cap="none" normalizeH="0" baseline="0" dirty="0">
                          <a:ln>
                            <a:noFill/>
                          </a:ln>
                          <a:solidFill>
                            <a:schemeClr val="tx1"/>
                          </a:solidFill>
                          <a:effectLst/>
                          <a:latin typeface="Roboto" panose="02000000000000000000" pitchFamily="2" charset="0"/>
                          <a:ea typeface="Roboto" panose="02000000000000000000" pitchFamily="2" charset="0"/>
                        </a:rPr>
                        <a:t>Is not optional</a:t>
                      </a:r>
                    </a:p>
                  </a:txBody>
                  <a:tcPr horzOverflow="overflow">
                    <a:lnL>
                      <a:noFill/>
                    </a:lnL>
                    <a:lnR>
                      <a:noFill/>
                    </a:lnR>
                    <a:lnT w="12700" cap="flat" cmpd="sng" algn="ctr">
                      <a:solidFill>
                        <a:schemeClr val="tx1"/>
                      </a:solidFill>
                      <a:prstDash val="solid"/>
                      <a:round/>
                      <a:headEnd type="none" w="med" len="med"/>
                      <a:tailEnd type="none" w="med" len="med"/>
                    </a:lnT>
                    <a:lnB>
                      <a:noFill/>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AutoShape 37">
            <a:extLst>
              <a:ext uri="{FF2B5EF4-FFF2-40B4-BE49-F238E27FC236}">
                <a16:creationId xmlns:a16="http://schemas.microsoft.com/office/drawing/2014/main" id="{C2FDDECF-701C-B6DF-BA97-DFC301E51479}"/>
              </a:ext>
            </a:extLst>
          </p:cNvPr>
          <p:cNvSpPr>
            <a:spLocks noChangeArrowheads="1"/>
          </p:cNvSpPr>
          <p:nvPr/>
        </p:nvSpPr>
        <p:spPr bwMode="auto">
          <a:xfrm>
            <a:off x="5095684" y="2060880"/>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6" name="AutoShape 38">
            <a:extLst>
              <a:ext uri="{FF2B5EF4-FFF2-40B4-BE49-F238E27FC236}">
                <a16:creationId xmlns:a16="http://schemas.microsoft.com/office/drawing/2014/main" id="{14CFFC3A-672A-049A-C670-7D7DE984CB23}"/>
              </a:ext>
            </a:extLst>
          </p:cNvPr>
          <p:cNvSpPr>
            <a:spLocks noChangeArrowheads="1"/>
          </p:cNvSpPr>
          <p:nvPr/>
        </p:nvSpPr>
        <p:spPr bwMode="auto">
          <a:xfrm>
            <a:off x="5114734" y="3010205"/>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7" name="AutoShape 39">
            <a:extLst>
              <a:ext uri="{FF2B5EF4-FFF2-40B4-BE49-F238E27FC236}">
                <a16:creationId xmlns:a16="http://schemas.microsoft.com/office/drawing/2014/main" id="{A9F4536A-1F17-6463-4C4B-30F68B95BCA0}"/>
              </a:ext>
            </a:extLst>
          </p:cNvPr>
          <p:cNvSpPr>
            <a:spLocks noChangeArrowheads="1"/>
          </p:cNvSpPr>
          <p:nvPr/>
        </p:nvSpPr>
        <p:spPr bwMode="auto">
          <a:xfrm>
            <a:off x="5133784" y="3984930"/>
            <a:ext cx="1599627" cy="160338"/>
          </a:xfrm>
          <a:prstGeom prst="leftRightArrow">
            <a:avLst>
              <a:gd name="adj1" fmla="val 50000"/>
              <a:gd name="adj2" fmla="val 161188"/>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8" name="AutoShape 40">
            <a:extLst>
              <a:ext uri="{FF2B5EF4-FFF2-40B4-BE49-F238E27FC236}">
                <a16:creationId xmlns:a16="http://schemas.microsoft.com/office/drawing/2014/main" id="{BAB9C1A1-0718-F1C9-7F37-16F3BCCAD137}"/>
              </a:ext>
            </a:extLst>
          </p:cNvPr>
          <p:cNvSpPr>
            <a:spLocks noChangeArrowheads="1"/>
          </p:cNvSpPr>
          <p:nvPr/>
        </p:nvSpPr>
        <p:spPr bwMode="auto">
          <a:xfrm>
            <a:off x="5152834" y="4945368"/>
            <a:ext cx="1599627" cy="160337"/>
          </a:xfrm>
          <a:prstGeom prst="leftRightArrow">
            <a:avLst>
              <a:gd name="adj1" fmla="val 50000"/>
              <a:gd name="adj2" fmla="val 161189"/>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9" name="AutoShape 46">
            <a:extLst>
              <a:ext uri="{FF2B5EF4-FFF2-40B4-BE49-F238E27FC236}">
                <a16:creationId xmlns:a16="http://schemas.microsoft.com/office/drawing/2014/main" id="{02B1EE83-1E59-7783-F8F9-BB66B89C0C0C}"/>
              </a:ext>
            </a:extLst>
          </p:cNvPr>
          <p:cNvSpPr>
            <a:spLocks noChangeArrowheads="1"/>
          </p:cNvSpPr>
          <p:nvPr/>
        </p:nvSpPr>
        <p:spPr bwMode="auto">
          <a:xfrm>
            <a:off x="5171884" y="5802618"/>
            <a:ext cx="1599627" cy="160337"/>
          </a:xfrm>
          <a:prstGeom prst="leftRightArrow">
            <a:avLst>
              <a:gd name="adj1" fmla="val 50000"/>
              <a:gd name="adj2" fmla="val 161189"/>
            </a:avLst>
          </a:prstGeom>
          <a:solidFill>
            <a:schemeClr val="tx2"/>
          </a:solidFill>
          <a:ln w="12700" cap="sq">
            <a:solidFill>
              <a:schemeClr val="tx2"/>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grpSp>
        <p:nvGrpSpPr>
          <p:cNvPr id="10" name="Group 9">
            <a:extLst>
              <a:ext uri="{FF2B5EF4-FFF2-40B4-BE49-F238E27FC236}">
                <a16:creationId xmlns:a16="http://schemas.microsoft.com/office/drawing/2014/main" id="{AD9EAE90-9F64-D8C4-89DB-1C39424AA21B}"/>
              </a:ext>
            </a:extLst>
          </p:cNvPr>
          <p:cNvGrpSpPr/>
          <p:nvPr/>
        </p:nvGrpSpPr>
        <p:grpSpPr>
          <a:xfrm>
            <a:off x="940249" y="289611"/>
            <a:ext cx="1060167" cy="324859"/>
            <a:chOff x="940249" y="315206"/>
            <a:chExt cx="1060167" cy="265062"/>
          </a:xfrm>
        </p:grpSpPr>
        <p:sp>
          <p:nvSpPr>
            <p:cNvPr id="11" name="AutoShape 9">
              <a:extLst>
                <a:ext uri="{FF2B5EF4-FFF2-40B4-BE49-F238E27FC236}">
                  <a16:creationId xmlns:a16="http://schemas.microsoft.com/office/drawing/2014/main" id="{482B71FD-D28F-BCDE-18FD-0018729AAEB6}"/>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2" name="AutoShape 10">
              <a:extLst>
                <a:ext uri="{FF2B5EF4-FFF2-40B4-BE49-F238E27FC236}">
                  <a16:creationId xmlns:a16="http://schemas.microsoft.com/office/drawing/2014/main" id="{C779CA3F-AB77-3B84-7489-E30F17EDD7E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1">
              <a:extLst>
                <a:ext uri="{FF2B5EF4-FFF2-40B4-BE49-F238E27FC236}">
                  <a16:creationId xmlns:a16="http://schemas.microsoft.com/office/drawing/2014/main" id="{EC0E0CCA-6885-CCE2-55D1-B3CB2769C1E6}"/>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4" name="TextBox 13">
            <a:extLst>
              <a:ext uri="{FF2B5EF4-FFF2-40B4-BE49-F238E27FC236}">
                <a16:creationId xmlns:a16="http://schemas.microsoft.com/office/drawing/2014/main" id="{51D64E88-BEAC-E62B-CB20-4DF97141015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297894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5S – Original Japanese Terminology</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9</a:t>
            </a:fld>
            <a:endParaRPr lang="en-US"/>
          </a:p>
        </p:txBody>
      </p:sp>
      <p:sp>
        <p:nvSpPr>
          <p:cNvPr id="10" name="Line 3">
            <a:extLst>
              <a:ext uri="{FF2B5EF4-FFF2-40B4-BE49-F238E27FC236}">
                <a16:creationId xmlns:a16="http://schemas.microsoft.com/office/drawing/2014/main" id="{689B7B45-056C-A6E2-45C6-B4D01776D980}"/>
              </a:ext>
            </a:extLst>
          </p:cNvPr>
          <p:cNvSpPr>
            <a:spLocks noChangeShapeType="1"/>
          </p:cNvSpPr>
          <p:nvPr/>
        </p:nvSpPr>
        <p:spPr bwMode="auto">
          <a:xfrm>
            <a:off x="838200" y="4038600"/>
            <a:ext cx="917078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1" name="Line 4">
            <a:extLst>
              <a:ext uri="{FF2B5EF4-FFF2-40B4-BE49-F238E27FC236}">
                <a16:creationId xmlns:a16="http://schemas.microsoft.com/office/drawing/2014/main" id="{FB488239-271D-2690-E470-F11BB2A1B8BA}"/>
              </a:ext>
            </a:extLst>
          </p:cNvPr>
          <p:cNvSpPr>
            <a:spLocks noChangeShapeType="1"/>
          </p:cNvSpPr>
          <p:nvPr/>
        </p:nvSpPr>
        <p:spPr bwMode="auto">
          <a:xfrm>
            <a:off x="854075" y="5867400"/>
            <a:ext cx="912137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2" name="Line 5">
            <a:extLst>
              <a:ext uri="{FF2B5EF4-FFF2-40B4-BE49-F238E27FC236}">
                <a16:creationId xmlns:a16="http://schemas.microsoft.com/office/drawing/2014/main" id="{266B6F32-DAB8-7C27-1C90-DDC9844D14DB}"/>
              </a:ext>
            </a:extLst>
          </p:cNvPr>
          <p:cNvSpPr>
            <a:spLocks noChangeShapeType="1"/>
          </p:cNvSpPr>
          <p:nvPr/>
        </p:nvSpPr>
        <p:spPr bwMode="auto">
          <a:xfrm>
            <a:off x="828675" y="2297113"/>
            <a:ext cx="9184897" cy="0"/>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13" name="Text Box 6">
            <a:extLst>
              <a:ext uri="{FF2B5EF4-FFF2-40B4-BE49-F238E27FC236}">
                <a16:creationId xmlns:a16="http://schemas.microsoft.com/office/drawing/2014/main" id="{8A3F5AA8-0FCA-F4DA-BE93-AFECE9F4CD21}"/>
              </a:ext>
            </a:extLst>
          </p:cNvPr>
          <p:cNvSpPr txBox="1">
            <a:spLocks noChangeArrowheads="1"/>
          </p:cNvSpPr>
          <p:nvPr/>
        </p:nvSpPr>
        <p:spPr bwMode="auto">
          <a:xfrm>
            <a:off x="838199" y="1993900"/>
            <a:ext cx="7756879"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5S		           	 	 Descriptions</a:t>
            </a:r>
          </a:p>
        </p:txBody>
      </p:sp>
      <p:grpSp>
        <p:nvGrpSpPr>
          <p:cNvPr id="14" name="Group 7">
            <a:extLst>
              <a:ext uri="{FF2B5EF4-FFF2-40B4-BE49-F238E27FC236}">
                <a16:creationId xmlns:a16="http://schemas.microsoft.com/office/drawing/2014/main" id="{E98A1BDD-5912-F8BE-3C8F-A82F1C1A4411}"/>
              </a:ext>
            </a:extLst>
          </p:cNvPr>
          <p:cNvGrpSpPr>
            <a:grpSpLocks/>
          </p:cNvGrpSpPr>
          <p:nvPr/>
        </p:nvGrpSpPr>
        <p:grpSpPr bwMode="auto">
          <a:xfrm>
            <a:off x="871536" y="2497138"/>
            <a:ext cx="8992553" cy="1274582"/>
            <a:chOff x="327" y="1231"/>
            <a:chExt cx="5096" cy="780"/>
          </a:xfrm>
        </p:grpSpPr>
        <p:sp>
          <p:nvSpPr>
            <p:cNvPr id="15" name="Rectangle 8">
              <a:extLst>
                <a:ext uri="{FF2B5EF4-FFF2-40B4-BE49-F238E27FC236}">
                  <a16:creationId xmlns:a16="http://schemas.microsoft.com/office/drawing/2014/main" id="{FD8A923F-6C67-58D4-5D79-73CD41F97419}"/>
                </a:ext>
              </a:extLst>
            </p:cNvPr>
            <p:cNvSpPr>
              <a:spLocks noChangeArrowheads="1"/>
            </p:cNvSpPr>
            <p:nvPr/>
          </p:nvSpPr>
          <p:spPr bwMode="auto">
            <a:xfrm>
              <a:off x="754" y="1242"/>
              <a:ext cx="1202" cy="358"/>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Seiri</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整理</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16" name="Rectangle 9">
              <a:extLst>
                <a:ext uri="{FF2B5EF4-FFF2-40B4-BE49-F238E27FC236}">
                  <a16:creationId xmlns:a16="http://schemas.microsoft.com/office/drawing/2014/main" id="{F9F99AE4-54D9-48C5-D37E-9CDE1E512C76}"/>
                </a:ext>
              </a:extLst>
            </p:cNvPr>
            <p:cNvSpPr>
              <a:spLocks noChangeArrowheads="1"/>
            </p:cNvSpPr>
            <p:nvPr/>
          </p:nvSpPr>
          <p:spPr bwMode="auto">
            <a:xfrm>
              <a:off x="2292" y="1231"/>
              <a:ext cx="3131"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dirty="0">
                  <a:latin typeface="Roboto" panose="02000000000000000000" pitchFamily="2" charset="0"/>
                  <a:ea typeface="Roboto" panose="02000000000000000000" pitchFamily="2" charset="0"/>
                </a:rPr>
                <a:t>Tidiness, organization</a:t>
              </a:r>
              <a:br>
                <a:rPr lang="en-US" altLang="en-US" sz="1400" dirty="0">
                  <a:latin typeface="Roboto" panose="02000000000000000000" pitchFamily="2" charset="0"/>
                  <a:ea typeface="Roboto" panose="02000000000000000000" pitchFamily="2" charset="0"/>
                </a:rPr>
              </a:br>
              <a:br>
                <a:rPr lang="en-US" altLang="en-US" sz="8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Refers to the practice of sorting through everything in the work area and keeping only essential items. Everything else is stored or discarded. This leads to fewer hazards and less clutter to interfere with productive work. </a:t>
              </a:r>
              <a:endParaRPr lang="en-US" altLang="en-US" sz="1400" b="0" dirty="0">
                <a:latin typeface="Roboto" panose="02000000000000000000" pitchFamily="2" charset="0"/>
                <a:ea typeface="Roboto" panose="02000000000000000000" pitchFamily="2" charset="0"/>
              </a:endParaRPr>
            </a:p>
          </p:txBody>
        </p:sp>
        <p:sp>
          <p:nvSpPr>
            <p:cNvPr id="17" name="Oval 10">
              <a:extLst>
                <a:ext uri="{FF2B5EF4-FFF2-40B4-BE49-F238E27FC236}">
                  <a16:creationId xmlns:a16="http://schemas.microsoft.com/office/drawing/2014/main" id="{25A6C3D1-9323-208C-1708-CC50099D8370}"/>
                </a:ext>
              </a:extLst>
            </p:cNvPr>
            <p:cNvSpPr>
              <a:spLocks noChangeArrowheads="1"/>
            </p:cNvSpPr>
            <p:nvPr/>
          </p:nvSpPr>
          <p:spPr bwMode="auto">
            <a:xfrm>
              <a:off x="327" y="1310"/>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1S</a:t>
              </a:r>
            </a:p>
          </p:txBody>
        </p:sp>
      </p:grpSp>
      <p:grpSp>
        <p:nvGrpSpPr>
          <p:cNvPr id="18" name="Group 11">
            <a:extLst>
              <a:ext uri="{FF2B5EF4-FFF2-40B4-BE49-F238E27FC236}">
                <a16:creationId xmlns:a16="http://schemas.microsoft.com/office/drawing/2014/main" id="{F3A0DC22-C113-D046-A8E6-16CC40FFAF28}"/>
              </a:ext>
            </a:extLst>
          </p:cNvPr>
          <p:cNvGrpSpPr>
            <a:grpSpLocks/>
          </p:cNvGrpSpPr>
          <p:nvPr/>
        </p:nvGrpSpPr>
        <p:grpSpPr bwMode="auto">
          <a:xfrm>
            <a:off x="915986" y="4243434"/>
            <a:ext cx="9008435" cy="1277851"/>
            <a:chOff x="327" y="2166"/>
            <a:chExt cx="5105" cy="782"/>
          </a:xfrm>
        </p:grpSpPr>
        <p:sp>
          <p:nvSpPr>
            <p:cNvPr id="19" name="Rectangle 12">
              <a:extLst>
                <a:ext uri="{FF2B5EF4-FFF2-40B4-BE49-F238E27FC236}">
                  <a16:creationId xmlns:a16="http://schemas.microsoft.com/office/drawing/2014/main" id="{C258BA2C-1AA9-F9FA-DBE5-4AFC5B05EE14}"/>
                </a:ext>
              </a:extLst>
            </p:cNvPr>
            <p:cNvSpPr>
              <a:spLocks noChangeArrowheads="1"/>
            </p:cNvSpPr>
            <p:nvPr/>
          </p:nvSpPr>
          <p:spPr bwMode="auto">
            <a:xfrm>
              <a:off x="729" y="2166"/>
              <a:ext cx="1202" cy="358"/>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Seiton</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整頓</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20" name="Rectangle 13">
              <a:extLst>
                <a:ext uri="{FF2B5EF4-FFF2-40B4-BE49-F238E27FC236}">
                  <a16:creationId xmlns:a16="http://schemas.microsoft.com/office/drawing/2014/main" id="{C8F798AE-2BB7-D47A-BE08-3832D02FBB7C}"/>
                </a:ext>
              </a:extLst>
            </p:cNvPr>
            <p:cNvSpPr>
              <a:spLocks noChangeArrowheads="1"/>
            </p:cNvSpPr>
            <p:nvPr/>
          </p:nvSpPr>
          <p:spPr bwMode="auto">
            <a:xfrm>
              <a:off x="2294" y="2168"/>
              <a:ext cx="3138"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dirty="0">
                  <a:latin typeface="Roboto" panose="02000000000000000000" pitchFamily="2" charset="0"/>
                  <a:ea typeface="Roboto" panose="02000000000000000000" pitchFamily="2" charset="0"/>
                </a:rPr>
                <a:t>Orderliness</a:t>
              </a:r>
              <a:br>
                <a:rPr lang="en-US" altLang="en-US" sz="800" dirty="0">
                  <a:latin typeface="Roboto" panose="02000000000000000000" pitchFamily="2" charset="0"/>
                  <a:ea typeface="Roboto" panose="02000000000000000000" pitchFamily="2" charset="0"/>
                </a:rPr>
              </a:br>
              <a:br>
                <a:rPr lang="en-US" altLang="en-US" sz="8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Focuses on need for an orderly workplace. Information, equipment, and materials must be systematically arranged for the easiest and most efficient access. There must be a place for everything and everything must be in its place.  </a:t>
              </a:r>
              <a:endParaRPr lang="en-US" altLang="en-US" sz="1400" b="0" dirty="0">
                <a:latin typeface="Roboto" panose="02000000000000000000" pitchFamily="2" charset="0"/>
                <a:ea typeface="Roboto" panose="02000000000000000000" pitchFamily="2" charset="0"/>
              </a:endParaRPr>
            </a:p>
          </p:txBody>
        </p:sp>
        <p:sp>
          <p:nvSpPr>
            <p:cNvPr id="21" name="Oval 14">
              <a:extLst>
                <a:ext uri="{FF2B5EF4-FFF2-40B4-BE49-F238E27FC236}">
                  <a16:creationId xmlns:a16="http://schemas.microsoft.com/office/drawing/2014/main" id="{323A0E9B-835E-817E-ADF0-C4A804E5F4C8}"/>
                </a:ext>
              </a:extLst>
            </p:cNvPr>
            <p:cNvSpPr>
              <a:spLocks noChangeArrowheads="1"/>
            </p:cNvSpPr>
            <p:nvPr/>
          </p:nvSpPr>
          <p:spPr bwMode="auto">
            <a:xfrm>
              <a:off x="327" y="2235"/>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2S</a:t>
              </a:r>
            </a:p>
          </p:txBody>
        </p:sp>
      </p:grpSp>
      <p:grpSp>
        <p:nvGrpSpPr>
          <p:cNvPr id="22" name="Group 21">
            <a:extLst>
              <a:ext uri="{FF2B5EF4-FFF2-40B4-BE49-F238E27FC236}">
                <a16:creationId xmlns:a16="http://schemas.microsoft.com/office/drawing/2014/main" id="{24043AB6-C425-D1C8-ACBE-E2504AF9F07E}"/>
              </a:ext>
            </a:extLst>
          </p:cNvPr>
          <p:cNvGrpSpPr/>
          <p:nvPr/>
        </p:nvGrpSpPr>
        <p:grpSpPr>
          <a:xfrm>
            <a:off x="940249" y="289611"/>
            <a:ext cx="1060167" cy="324859"/>
            <a:chOff x="940249" y="315206"/>
            <a:chExt cx="1060167" cy="265062"/>
          </a:xfrm>
        </p:grpSpPr>
        <p:sp>
          <p:nvSpPr>
            <p:cNvPr id="23" name="AutoShape 9">
              <a:extLst>
                <a:ext uri="{FF2B5EF4-FFF2-40B4-BE49-F238E27FC236}">
                  <a16:creationId xmlns:a16="http://schemas.microsoft.com/office/drawing/2014/main" id="{888CF116-9DA9-08D5-F0FF-9335BF8B812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4" name="AutoShape 10">
              <a:extLst>
                <a:ext uri="{FF2B5EF4-FFF2-40B4-BE49-F238E27FC236}">
                  <a16:creationId xmlns:a16="http://schemas.microsoft.com/office/drawing/2014/main" id="{7B2A35ED-029E-865C-D03B-6742A9F772D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5" name="AutoShape 11">
              <a:extLst>
                <a:ext uri="{FF2B5EF4-FFF2-40B4-BE49-F238E27FC236}">
                  <a16:creationId xmlns:a16="http://schemas.microsoft.com/office/drawing/2014/main" id="{0DF65AB2-0EC7-FBB3-A3AD-8E5F6578EE7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26" name="TextBox 25">
            <a:extLst>
              <a:ext uri="{FF2B5EF4-FFF2-40B4-BE49-F238E27FC236}">
                <a16:creationId xmlns:a16="http://schemas.microsoft.com/office/drawing/2014/main" id="{EF3A7671-7A7A-3448-3D55-BFEF1BA42533}"/>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5147712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fontScale="90000"/>
          </a:bodyPr>
          <a:lstStyle/>
          <a:p>
            <a:r>
              <a:rPr lang="en-US" sz="4000" dirty="0"/>
              <a:t>5S – Original Japanese Terminology, Continued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10</a:t>
            </a:fld>
            <a:endParaRPr lang="en-US"/>
          </a:p>
        </p:txBody>
      </p:sp>
      <p:sp>
        <p:nvSpPr>
          <p:cNvPr id="3" name="Line 3">
            <a:extLst>
              <a:ext uri="{FF2B5EF4-FFF2-40B4-BE49-F238E27FC236}">
                <a16:creationId xmlns:a16="http://schemas.microsoft.com/office/drawing/2014/main" id="{3F561ABF-0D95-78B8-F74C-EAAC1A4C398F}"/>
              </a:ext>
            </a:extLst>
          </p:cNvPr>
          <p:cNvSpPr>
            <a:spLocks noChangeShapeType="1"/>
          </p:cNvSpPr>
          <p:nvPr/>
        </p:nvSpPr>
        <p:spPr bwMode="auto">
          <a:xfrm>
            <a:off x="597218" y="3577737"/>
            <a:ext cx="1120873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5" name="Line 4">
            <a:extLst>
              <a:ext uri="{FF2B5EF4-FFF2-40B4-BE49-F238E27FC236}">
                <a16:creationId xmlns:a16="http://schemas.microsoft.com/office/drawing/2014/main" id="{EE0278DB-ECD3-25AF-32AD-FDAFEBDD9E9D}"/>
              </a:ext>
            </a:extLst>
          </p:cNvPr>
          <p:cNvSpPr>
            <a:spLocks noChangeShapeType="1"/>
          </p:cNvSpPr>
          <p:nvPr/>
        </p:nvSpPr>
        <p:spPr bwMode="auto">
          <a:xfrm>
            <a:off x="587693" y="2082312"/>
            <a:ext cx="11208730" cy="3175"/>
          </a:xfrm>
          <a:prstGeom prst="line">
            <a:avLst/>
          </a:prstGeom>
          <a:noFill/>
          <a:ln w="38100">
            <a:solidFill>
              <a:srgbClr val="000066"/>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6" name="Text Box 5">
            <a:extLst>
              <a:ext uri="{FF2B5EF4-FFF2-40B4-BE49-F238E27FC236}">
                <a16:creationId xmlns:a16="http://schemas.microsoft.com/office/drawing/2014/main" id="{DFDCACF3-C523-B58D-5D76-69F0207E22BD}"/>
              </a:ext>
            </a:extLst>
          </p:cNvPr>
          <p:cNvSpPr txBox="1">
            <a:spLocks noChangeArrowheads="1"/>
          </p:cNvSpPr>
          <p:nvPr/>
        </p:nvSpPr>
        <p:spPr bwMode="auto">
          <a:xfrm>
            <a:off x="597218" y="1779098"/>
            <a:ext cx="9118282" cy="322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squar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5S		           		      Descriptions</a:t>
            </a:r>
          </a:p>
        </p:txBody>
      </p:sp>
      <p:grpSp>
        <p:nvGrpSpPr>
          <p:cNvPr id="7" name="Group 6">
            <a:extLst>
              <a:ext uri="{FF2B5EF4-FFF2-40B4-BE49-F238E27FC236}">
                <a16:creationId xmlns:a16="http://schemas.microsoft.com/office/drawing/2014/main" id="{C689CB6F-A6BA-B96B-28EA-55BE0FE797C2}"/>
              </a:ext>
            </a:extLst>
          </p:cNvPr>
          <p:cNvGrpSpPr>
            <a:grpSpLocks/>
          </p:cNvGrpSpPr>
          <p:nvPr/>
        </p:nvGrpSpPr>
        <p:grpSpPr bwMode="auto">
          <a:xfrm>
            <a:off x="644842" y="3722199"/>
            <a:ext cx="10990897" cy="1058863"/>
            <a:chOff x="327" y="1231"/>
            <a:chExt cx="5096" cy="667"/>
          </a:xfrm>
        </p:grpSpPr>
        <p:sp>
          <p:nvSpPr>
            <p:cNvPr id="8" name="Rectangle 7">
              <a:extLst>
                <a:ext uri="{FF2B5EF4-FFF2-40B4-BE49-F238E27FC236}">
                  <a16:creationId xmlns:a16="http://schemas.microsoft.com/office/drawing/2014/main" id="{3B9EB7F7-DD66-05CC-1D0C-84DC06FD99D0}"/>
                </a:ext>
              </a:extLst>
            </p:cNvPr>
            <p:cNvSpPr>
              <a:spLocks noChangeArrowheads="1"/>
            </p:cNvSpPr>
            <p:nvPr/>
          </p:nvSpPr>
          <p:spPr bwMode="auto">
            <a:xfrm>
              <a:off x="754" y="1242"/>
              <a:ext cx="1202" cy="358"/>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Seiketsu</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清潔</a:t>
              </a:r>
              <a:r>
                <a:rPr lang="en-US" altLang="ja-JP" sz="900" dirty="0">
                  <a:latin typeface="Roboto" panose="02000000000000000000" pitchFamily="2" charset="0"/>
                  <a:ea typeface="Roboto" panose="02000000000000000000" pitchFamily="2" charset="0"/>
                </a:rPr>
                <a:t>) </a:t>
              </a:r>
              <a:endParaRPr lang="en-US" altLang="en-US" sz="900" dirty="0">
                <a:latin typeface="Roboto" panose="02000000000000000000" pitchFamily="2" charset="0"/>
                <a:ea typeface="Roboto" panose="02000000000000000000" pitchFamily="2" charset="0"/>
              </a:endParaRPr>
            </a:p>
          </p:txBody>
        </p:sp>
        <p:sp>
          <p:nvSpPr>
            <p:cNvPr id="9" name="Rectangle 8">
              <a:extLst>
                <a:ext uri="{FF2B5EF4-FFF2-40B4-BE49-F238E27FC236}">
                  <a16:creationId xmlns:a16="http://schemas.microsoft.com/office/drawing/2014/main" id="{155CD41E-5A3F-34E5-D54A-9241ED7E75E5}"/>
                </a:ext>
              </a:extLst>
            </p:cNvPr>
            <p:cNvSpPr>
              <a:spLocks noChangeArrowheads="1"/>
            </p:cNvSpPr>
            <p:nvPr/>
          </p:nvSpPr>
          <p:spPr bwMode="auto">
            <a:xfrm>
              <a:off x="2292" y="1231"/>
              <a:ext cx="3131" cy="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Standards</a:t>
              </a:r>
              <a:br>
                <a:rPr lang="en-US" altLang="en-US" sz="1400">
                  <a:latin typeface="Roboto" panose="02000000000000000000" pitchFamily="2" charset="0"/>
                  <a:ea typeface="Roboto" panose="02000000000000000000" pitchFamily="2" charset="0"/>
                </a:rPr>
              </a:br>
              <a:br>
                <a:rPr lang="en-US" altLang="en-US" sz="8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Allows for control and consistency. Basic housekeeping standards apply everywhere in the facility. Everyone knows exactly what his or her responsibilities are. Housekeeping duties are part of regular work routines. </a:t>
              </a:r>
              <a:endParaRPr lang="en-US" altLang="en-US" sz="1400" b="0">
                <a:latin typeface="Roboto" panose="02000000000000000000" pitchFamily="2" charset="0"/>
                <a:ea typeface="Roboto" panose="02000000000000000000" pitchFamily="2" charset="0"/>
              </a:endParaRPr>
            </a:p>
          </p:txBody>
        </p:sp>
        <p:sp>
          <p:nvSpPr>
            <p:cNvPr id="22" name="Oval 9">
              <a:extLst>
                <a:ext uri="{FF2B5EF4-FFF2-40B4-BE49-F238E27FC236}">
                  <a16:creationId xmlns:a16="http://schemas.microsoft.com/office/drawing/2014/main" id="{0389C8C5-2CB6-4492-595A-A308479968BE}"/>
                </a:ext>
              </a:extLst>
            </p:cNvPr>
            <p:cNvSpPr>
              <a:spLocks noChangeArrowheads="1"/>
            </p:cNvSpPr>
            <p:nvPr/>
          </p:nvSpPr>
          <p:spPr bwMode="auto">
            <a:xfrm>
              <a:off x="327" y="1310"/>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4S</a:t>
              </a:r>
            </a:p>
          </p:txBody>
        </p:sp>
      </p:grpSp>
      <p:grpSp>
        <p:nvGrpSpPr>
          <p:cNvPr id="23" name="Group 10">
            <a:extLst>
              <a:ext uri="{FF2B5EF4-FFF2-40B4-BE49-F238E27FC236}">
                <a16:creationId xmlns:a16="http://schemas.microsoft.com/office/drawing/2014/main" id="{4D053500-AFC7-7626-BFE7-5ACB7E8942CE}"/>
              </a:ext>
            </a:extLst>
          </p:cNvPr>
          <p:cNvGrpSpPr>
            <a:grpSpLocks/>
          </p:cNvGrpSpPr>
          <p:nvPr/>
        </p:nvGrpSpPr>
        <p:grpSpPr bwMode="auto">
          <a:xfrm>
            <a:off x="695008" y="5193812"/>
            <a:ext cx="11031875" cy="847725"/>
            <a:chOff x="317" y="2165"/>
            <a:chExt cx="5115" cy="534"/>
          </a:xfrm>
        </p:grpSpPr>
        <p:sp>
          <p:nvSpPr>
            <p:cNvPr id="24" name="Rectangle 11">
              <a:extLst>
                <a:ext uri="{FF2B5EF4-FFF2-40B4-BE49-F238E27FC236}">
                  <a16:creationId xmlns:a16="http://schemas.microsoft.com/office/drawing/2014/main" id="{6A877E09-1C7B-A743-3F02-5DFDDD98B979}"/>
                </a:ext>
              </a:extLst>
            </p:cNvPr>
            <p:cNvSpPr>
              <a:spLocks noChangeArrowheads="1"/>
            </p:cNvSpPr>
            <p:nvPr/>
          </p:nvSpPr>
          <p:spPr bwMode="auto">
            <a:xfrm>
              <a:off x="721" y="2165"/>
              <a:ext cx="1202" cy="358"/>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latin typeface="Roboto" panose="02000000000000000000" pitchFamily="2" charset="0"/>
                  <a:ea typeface="Roboto" panose="02000000000000000000" pitchFamily="2" charset="0"/>
                </a:rPr>
                <a:t>Shitsuke</a:t>
              </a:r>
              <a:br>
                <a:rPr lang="en-US" altLang="en-US" sz="1400" dirty="0">
                  <a:latin typeface="Roboto" panose="02000000000000000000" pitchFamily="2" charset="0"/>
                  <a:ea typeface="Roboto" panose="02000000000000000000" pitchFamily="2" charset="0"/>
                </a:rPr>
              </a:br>
              <a:r>
                <a:rPr lang="en-US" altLang="en-US" sz="900" dirty="0">
                  <a:latin typeface="Roboto" panose="02000000000000000000" pitchFamily="2" charset="0"/>
                  <a:ea typeface="Roboto" panose="02000000000000000000" pitchFamily="2" charset="0"/>
                </a:rPr>
                <a:t>(</a:t>
              </a:r>
              <a:r>
                <a:rPr lang="ja-JP" altLang="en-US" sz="900" dirty="0">
                  <a:latin typeface="Roboto" panose="02000000000000000000" pitchFamily="2" charset="0"/>
                </a:rPr>
                <a:t>躾</a:t>
              </a:r>
              <a:r>
                <a:rPr lang="en-US" altLang="ja-JP" sz="900" dirty="0">
                  <a:latin typeface="Roboto" panose="02000000000000000000" pitchFamily="2" charset="0"/>
                  <a:ea typeface="Roboto" panose="02000000000000000000" pitchFamily="2" charset="0"/>
                </a:rPr>
                <a:t>)</a:t>
              </a:r>
              <a:endParaRPr lang="en-US" altLang="en-US" sz="900" dirty="0">
                <a:latin typeface="Roboto" panose="02000000000000000000" pitchFamily="2" charset="0"/>
                <a:ea typeface="Roboto" panose="02000000000000000000" pitchFamily="2" charset="0"/>
              </a:endParaRPr>
            </a:p>
          </p:txBody>
        </p:sp>
        <p:sp>
          <p:nvSpPr>
            <p:cNvPr id="25" name="Rectangle 12">
              <a:extLst>
                <a:ext uri="{FF2B5EF4-FFF2-40B4-BE49-F238E27FC236}">
                  <a16:creationId xmlns:a16="http://schemas.microsoft.com/office/drawing/2014/main" id="{329F9120-4FA5-9AD2-2583-6F4D46951259}"/>
                </a:ext>
              </a:extLst>
            </p:cNvPr>
            <p:cNvSpPr>
              <a:spLocks noChangeArrowheads="1"/>
            </p:cNvSpPr>
            <p:nvPr/>
          </p:nvSpPr>
          <p:spPr bwMode="auto">
            <a:xfrm>
              <a:off x="2294" y="2168"/>
              <a:ext cx="3138" cy="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dirty="0">
                  <a:latin typeface="Roboto" panose="02000000000000000000" pitchFamily="2" charset="0"/>
                  <a:ea typeface="Roboto" panose="02000000000000000000" pitchFamily="2" charset="0"/>
                </a:rPr>
                <a:t>Sustaining discipline</a:t>
              </a:r>
              <a:br>
                <a:rPr lang="en-US" altLang="en-US" sz="1400" dirty="0">
                  <a:latin typeface="Roboto" panose="02000000000000000000" pitchFamily="2" charset="0"/>
                  <a:ea typeface="Roboto" panose="02000000000000000000" pitchFamily="2" charset="0"/>
                </a:rPr>
              </a:br>
              <a:br>
                <a:rPr lang="en-US" altLang="en-US" sz="8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Refers to maintaining standards and keeping the facility in safe and efficient order day after day, year after year.   </a:t>
              </a:r>
              <a:endParaRPr lang="en-US" altLang="en-US" sz="1400" b="0" dirty="0">
                <a:latin typeface="Roboto" panose="02000000000000000000" pitchFamily="2" charset="0"/>
                <a:ea typeface="Roboto" panose="02000000000000000000" pitchFamily="2" charset="0"/>
              </a:endParaRPr>
            </a:p>
          </p:txBody>
        </p:sp>
        <p:sp>
          <p:nvSpPr>
            <p:cNvPr id="26" name="Oval 13">
              <a:extLst>
                <a:ext uri="{FF2B5EF4-FFF2-40B4-BE49-F238E27FC236}">
                  <a16:creationId xmlns:a16="http://schemas.microsoft.com/office/drawing/2014/main" id="{6CFD8D3A-3DC5-43DA-E7BF-EF522DD46354}"/>
                </a:ext>
              </a:extLst>
            </p:cNvPr>
            <p:cNvSpPr>
              <a:spLocks noChangeArrowheads="1"/>
            </p:cNvSpPr>
            <p:nvPr/>
          </p:nvSpPr>
          <p:spPr bwMode="auto">
            <a:xfrm>
              <a:off x="317" y="2232"/>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5S</a:t>
              </a:r>
            </a:p>
          </p:txBody>
        </p:sp>
      </p:grpSp>
      <p:sp>
        <p:nvSpPr>
          <p:cNvPr id="27" name="Line 19">
            <a:extLst>
              <a:ext uri="{FF2B5EF4-FFF2-40B4-BE49-F238E27FC236}">
                <a16:creationId xmlns:a16="http://schemas.microsoft.com/office/drawing/2014/main" id="{4B264CBE-D95C-0BA3-EE92-58D2F0368350}"/>
              </a:ext>
            </a:extLst>
          </p:cNvPr>
          <p:cNvSpPr>
            <a:spLocks noChangeShapeType="1"/>
          </p:cNvSpPr>
          <p:nvPr/>
        </p:nvSpPr>
        <p:spPr bwMode="auto">
          <a:xfrm>
            <a:off x="597218" y="5029982"/>
            <a:ext cx="11208731"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grpSp>
        <p:nvGrpSpPr>
          <p:cNvPr id="28" name="Group 20">
            <a:extLst>
              <a:ext uri="{FF2B5EF4-FFF2-40B4-BE49-F238E27FC236}">
                <a16:creationId xmlns:a16="http://schemas.microsoft.com/office/drawing/2014/main" id="{839A4993-2139-BEB6-96AF-A842FCD92C6F}"/>
              </a:ext>
            </a:extLst>
          </p:cNvPr>
          <p:cNvGrpSpPr>
            <a:grpSpLocks/>
          </p:cNvGrpSpPr>
          <p:nvPr/>
        </p:nvGrpSpPr>
        <p:grpSpPr bwMode="auto">
          <a:xfrm>
            <a:off x="616268" y="2258524"/>
            <a:ext cx="10995211" cy="1063625"/>
            <a:chOff x="327" y="2989"/>
            <a:chExt cx="5098" cy="670"/>
          </a:xfrm>
        </p:grpSpPr>
        <p:sp>
          <p:nvSpPr>
            <p:cNvPr id="29" name="Rectangle 21">
              <a:extLst>
                <a:ext uri="{FF2B5EF4-FFF2-40B4-BE49-F238E27FC236}">
                  <a16:creationId xmlns:a16="http://schemas.microsoft.com/office/drawing/2014/main" id="{8B470412-F283-F71C-A777-FF8F0F097A0D}"/>
                </a:ext>
              </a:extLst>
            </p:cNvPr>
            <p:cNvSpPr>
              <a:spLocks noChangeArrowheads="1"/>
            </p:cNvSpPr>
            <p:nvPr/>
          </p:nvSpPr>
          <p:spPr bwMode="auto">
            <a:xfrm>
              <a:off x="754" y="2989"/>
              <a:ext cx="1202" cy="358"/>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err="1">
                  <a:solidFill>
                    <a:schemeClr val="bg1"/>
                  </a:solidFill>
                  <a:latin typeface="Roboto" panose="02000000000000000000" pitchFamily="2" charset="0"/>
                  <a:ea typeface="Roboto" panose="02000000000000000000" pitchFamily="2" charset="0"/>
                </a:rPr>
                <a:t>Seiso</a:t>
              </a:r>
              <a:br>
                <a:rPr lang="en-US" altLang="en-US" sz="1400" dirty="0">
                  <a:solidFill>
                    <a:schemeClr val="bg1"/>
                  </a:solidFill>
                  <a:latin typeface="Roboto" panose="02000000000000000000" pitchFamily="2" charset="0"/>
                  <a:ea typeface="Roboto" panose="02000000000000000000" pitchFamily="2" charset="0"/>
                </a:rPr>
              </a:br>
              <a:r>
                <a:rPr lang="en-US" altLang="en-US" sz="900" dirty="0">
                  <a:solidFill>
                    <a:schemeClr val="bg1"/>
                  </a:solidFill>
                  <a:latin typeface="Roboto" panose="02000000000000000000" pitchFamily="2" charset="0"/>
                  <a:ea typeface="Roboto" panose="02000000000000000000" pitchFamily="2" charset="0"/>
                </a:rPr>
                <a:t>(</a:t>
              </a:r>
              <a:r>
                <a:rPr lang="ja-JP" altLang="en-US" sz="900" dirty="0">
                  <a:solidFill>
                    <a:schemeClr val="bg1"/>
                  </a:solidFill>
                  <a:latin typeface="Roboto" panose="02000000000000000000" pitchFamily="2" charset="0"/>
                </a:rPr>
                <a:t>清掃</a:t>
              </a:r>
              <a:r>
                <a:rPr lang="en-US" altLang="ja-JP" sz="900" dirty="0">
                  <a:solidFill>
                    <a:schemeClr val="bg1"/>
                  </a:solidFill>
                  <a:latin typeface="Roboto" panose="02000000000000000000" pitchFamily="2" charset="0"/>
                  <a:ea typeface="Roboto" panose="02000000000000000000" pitchFamily="2" charset="0"/>
                </a:rPr>
                <a:t>)</a:t>
              </a:r>
              <a:endParaRPr lang="en-US" altLang="en-US" sz="900" dirty="0">
                <a:solidFill>
                  <a:schemeClr val="bg1"/>
                </a:solidFill>
                <a:latin typeface="Roboto" panose="02000000000000000000" pitchFamily="2" charset="0"/>
                <a:ea typeface="Roboto" panose="02000000000000000000" pitchFamily="2" charset="0"/>
              </a:endParaRPr>
            </a:p>
          </p:txBody>
        </p:sp>
        <p:sp>
          <p:nvSpPr>
            <p:cNvPr id="30" name="Rectangle 22">
              <a:extLst>
                <a:ext uri="{FF2B5EF4-FFF2-40B4-BE49-F238E27FC236}">
                  <a16:creationId xmlns:a16="http://schemas.microsoft.com/office/drawing/2014/main" id="{8F4EDADE-43F5-33FE-552B-9C65789B9303}"/>
                </a:ext>
              </a:extLst>
            </p:cNvPr>
            <p:cNvSpPr>
              <a:spLocks noChangeArrowheads="1"/>
            </p:cNvSpPr>
            <p:nvPr/>
          </p:nvSpPr>
          <p:spPr bwMode="auto">
            <a:xfrm>
              <a:off x="2294" y="2992"/>
              <a:ext cx="3131" cy="6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accent1"/>
                </a:buClr>
                <a:buSzPct val="40000"/>
                <a:buFont typeface="Wingdings 2" panose="05020102010507070707" pitchFamily="18" charset="2"/>
                <a:buChar char="¢"/>
              </a:pPr>
              <a:r>
                <a:rPr lang="en-US" altLang="en-US" sz="1400">
                  <a:latin typeface="Roboto" panose="02000000000000000000" pitchFamily="2" charset="0"/>
                  <a:ea typeface="Roboto" panose="02000000000000000000" pitchFamily="2" charset="0"/>
                </a:rPr>
                <a:t>Systemized Cleanliness</a:t>
              </a:r>
              <a:br>
                <a:rPr lang="en-US" altLang="en-US" sz="1400">
                  <a:latin typeface="Roboto" panose="02000000000000000000" pitchFamily="2" charset="0"/>
                  <a:ea typeface="Roboto" panose="02000000000000000000" pitchFamily="2" charset="0"/>
                </a:rPr>
              </a:br>
              <a:br>
                <a:rPr lang="en-US" altLang="en-US" sz="8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Indicates the need to keep the workplace clean as well as neat. Cleaning in Japanese companies is a daily activity. At the end of each shift the work area is cleaned up and everything restored to its place.  </a:t>
              </a:r>
              <a:endParaRPr lang="en-US" altLang="en-US" sz="1400" b="0">
                <a:latin typeface="Roboto" panose="02000000000000000000" pitchFamily="2" charset="0"/>
                <a:ea typeface="Roboto" panose="02000000000000000000" pitchFamily="2" charset="0"/>
              </a:endParaRPr>
            </a:p>
          </p:txBody>
        </p:sp>
        <p:sp>
          <p:nvSpPr>
            <p:cNvPr id="31" name="Oval 23">
              <a:extLst>
                <a:ext uri="{FF2B5EF4-FFF2-40B4-BE49-F238E27FC236}">
                  <a16:creationId xmlns:a16="http://schemas.microsoft.com/office/drawing/2014/main" id="{AD08A714-AB75-8F00-2AF0-4CCD868EEA72}"/>
                </a:ext>
              </a:extLst>
            </p:cNvPr>
            <p:cNvSpPr>
              <a:spLocks noChangeArrowheads="1"/>
            </p:cNvSpPr>
            <p:nvPr/>
          </p:nvSpPr>
          <p:spPr bwMode="auto">
            <a:xfrm>
              <a:off x="327" y="3057"/>
              <a:ext cx="252" cy="231"/>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3S</a:t>
              </a:r>
            </a:p>
          </p:txBody>
        </p:sp>
      </p:grpSp>
      <p:grpSp>
        <p:nvGrpSpPr>
          <p:cNvPr id="32" name="Group 31">
            <a:extLst>
              <a:ext uri="{FF2B5EF4-FFF2-40B4-BE49-F238E27FC236}">
                <a16:creationId xmlns:a16="http://schemas.microsoft.com/office/drawing/2014/main" id="{2F56FF55-C317-82F9-8430-F729F4B417CA}"/>
              </a:ext>
            </a:extLst>
          </p:cNvPr>
          <p:cNvGrpSpPr/>
          <p:nvPr/>
        </p:nvGrpSpPr>
        <p:grpSpPr>
          <a:xfrm>
            <a:off x="940249" y="289611"/>
            <a:ext cx="1060167" cy="324859"/>
            <a:chOff x="940249" y="315206"/>
            <a:chExt cx="1060167" cy="265062"/>
          </a:xfrm>
        </p:grpSpPr>
        <p:sp>
          <p:nvSpPr>
            <p:cNvPr id="33" name="AutoShape 9">
              <a:extLst>
                <a:ext uri="{FF2B5EF4-FFF2-40B4-BE49-F238E27FC236}">
                  <a16:creationId xmlns:a16="http://schemas.microsoft.com/office/drawing/2014/main" id="{D699E618-F556-C4E6-583E-F329D27A560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4" name="AutoShape 10">
              <a:extLst>
                <a:ext uri="{FF2B5EF4-FFF2-40B4-BE49-F238E27FC236}">
                  <a16:creationId xmlns:a16="http://schemas.microsoft.com/office/drawing/2014/main" id="{323C30B1-5359-AF30-C147-F2EB9338C47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35" name="AutoShape 11">
              <a:extLst>
                <a:ext uri="{FF2B5EF4-FFF2-40B4-BE49-F238E27FC236}">
                  <a16:creationId xmlns:a16="http://schemas.microsoft.com/office/drawing/2014/main" id="{AD7B0C55-46FD-793F-2902-3A5949D9F7A0}"/>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36" name="TextBox 35">
            <a:extLst>
              <a:ext uri="{FF2B5EF4-FFF2-40B4-BE49-F238E27FC236}">
                <a16:creationId xmlns:a16="http://schemas.microsoft.com/office/drawing/2014/main" id="{D0CBC136-1566-9111-202D-99E2DD07A15F}"/>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0888745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4000" dirty="0"/>
              <a:t>5S – English Translations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11</a:t>
            </a:fld>
            <a:endParaRPr lang="en-US"/>
          </a:p>
        </p:txBody>
      </p:sp>
      <p:graphicFrame>
        <p:nvGraphicFramePr>
          <p:cNvPr id="10" name="Table 10">
            <a:extLst>
              <a:ext uri="{FF2B5EF4-FFF2-40B4-BE49-F238E27FC236}">
                <a16:creationId xmlns:a16="http://schemas.microsoft.com/office/drawing/2014/main" id="{54596867-2544-4F38-EB8B-5E7476165CCF}"/>
              </a:ext>
            </a:extLst>
          </p:cNvPr>
          <p:cNvGraphicFramePr>
            <a:graphicFrameLocks noGrp="1"/>
          </p:cNvGraphicFramePr>
          <p:nvPr>
            <p:extLst>
              <p:ext uri="{D42A27DB-BD31-4B8C-83A1-F6EECF244321}">
                <p14:modId xmlns:p14="http://schemas.microsoft.com/office/powerpoint/2010/main" val="3105523069"/>
              </p:ext>
            </p:extLst>
          </p:nvPr>
        </p:nvGraphicFramePr>
        <p:xfrm>
          <a:off x="1185545" y="1908798"/>
          <a:ext cx="9820910" cy="4206240"/>
        </p:xfrm>
        <a:graphic>
          <a:graphicData uri="http://schemas.openxmlformats.org/drawingml/2006/table">
            <a:tbl>
              <a:tblPr firstRow="1" bandRow="1">
                <a:tableStyleId>{5C22544A-7EE6-4342-B048-85BDC9FD1C3A}</a:tableStyleId>
              </a:tblPr>
              <a:tblGrid>
                <a:gridCol w="888241">
                  <a:extLst>
                    <a:ext uri="{9D8B030D-6E8A-4147-A177-3AD203B41FA5}">
                      <a16:colId xmlns:a16="http://schemas.microsoft.com/office/drawing/2014/main" val="557776809"/>
                    </a:ext>
                  </a:extLst>
                </a:gridCol>
                <a:gridCol w="2298496">
                  <a:extLst>
                    <a:ext uri="{9D8B030D-6E8A-4147-A177-3AD203B41FA5}">
                      <a16:colId xmlns:a16="http://schemas.microsoft.com/office/drawing/2014/main" val="3600788409"/>
                    </a:ext>
                  </a:extLst>
                </a:gridCol>
                <a:gridCol w="6634173">
                  <a:extLst>
                    <a:ext uri="{9D8B030D-6E8A-4147-A177-3AD203B41FA5}">
                      <a16:colId xmlns:a16="http://schemas.microsoft.com/office/drawing/2014/main" val="2023013473"/>
                    </a:ext>
                  </a:extLst>
                </a:gridCol>
              </a:tblGrid>
              <a:tr h="370840">
                <a:tc>
                  <a:txBody>
                    <a:bodyPr/>
                    <a:lstStyle/>
                    <a:p>
                      <a:r>
                        <a:rPr lang="en-US" sz="2400" dirty="0">
                          <a:latin typeface="Roboto" panose="02000000000000000000" pitchFamily="2" charset="0"/>
                          <a:ea typeface="Roboto" panose="02000000000000000000" pitchFamily="2" charset="0"/>
                        </a:rPr>
                        <a:t>5S</a:t>
                      </a:r>
                    </a:p>
                  </a:txBody>
                  <a:tcPr/>
                </a:tc>
                <a:tc>
                  <a:txBody>
                    <a:bodyPr/>
                    <a:lstStyle/>
                    <a:p>
                      <a:r>
                        <a:rPr lang="en-US" sz="2400" dirty="0">
                          <a:latin typeface="Roboto" panose="02000000000000000000" pitchFamily="2" charset="0"/>
                          <a:ea typeface="Roboto" panose="02000000000000000000" pitchFamily="2" charset="0"/>
                        </a:rPr>
                        <a:t>English</a:t>
                      </a:r>
                    </a:p>
                  </a:txBody>
                  <a:tcPr/>
                </a:tc>
                <a:tc>
                  <a:txBody>
                    <a:bodyPr/>
                    <a:lstStyle/>
                    <a:p>
                      <a:r>
                        <a:rPr lang="en-US" sz="2400" dirty="0">
                          <a:latin typeface="Roboto" panose="02000000000000000000" pitchFamily="2" charset="0"/>
                          <a:ea typeface="Roboto" panose="02000000000000000000" pitchFamily="2" charset="0"/>
                        </a:rPr>
                        <a:t>Description</a:t>
                      </a:r>
                    </a:p>
                  </a:txBody>
                  <a:tcPr/>
                </a:tc>
                <a:extLst>
                  <a:ext uri="{0D108BD9-81ED-4DB2-BD59-A6C34878D82A}">
                    <a16:rowId xmlns:a16="http://schemas.microsoft.com/office/drawing/2014/main" val="2625717967"/>
                  </a:ext>
                </a:extLst>
              </a:tr>
              <a:tr h="370840">
                <a:tc>
                  <a:txBody>
                    <a:bodyPr/>
                    <a:lstStyle/>
                    <a:p>
                      <a:r>
                        <a:rPr lang="en-US" sz="2400" dirty="0">
                          <a:latin typeface="Roboto" panose="02000000000000000000" pitchFamily="2" charset="0"/>
                          <a:ea typeface="Roboto" panose="02000000000000000000" pitchFamily="2" charset="0"/>
                        </a:rPr>
                        <a:t>1S</a:t>
                      </a:r>
                    </a:p>
                  </a:txBody>
                  <a:tcPr/>
                </a:tc>
                <a:tc>
                  <a:txBody>
                    <a:bodyPr/>
                    <a:lstStyle/>
                    <a:p>
                      <a:r>
                        <a:rPr lang="en-US" sz="2400" dirty="0">
                          <a:latin typeface="Roboto" panose="02000000000000000000" pitchFamily="2" charset="0"/>
                          <a:ea typeface="Roboto" panose="02000000000000000000" pitchFamily="2" charset="0"/>
                        </a:rPr>
                        <a:t>Sort</a:t>
                      </a:r>
                    </a:p>
                  </a:txBody>
                  <a:tcPr/>
                </a:tc>
                <a:tc>
                  <a:txBody>
                    <a:bodyPr/>
                    <a:lstStyle/>
                    <a:p>
                      <a:r>
                        <a:rPr lang="en-US" sz="2400" dirty="0">
                          <a:latin typeface="Roboto" panose="02000000000000000000" pitchFamily="2" charset="0"/>
                          <a:ea typeface="Roboto" panose="02000000000000000000" pitchFamily="2" charset="0"/>
                        </a:rPr>
                        <a:t>Define what is necessary and unnecessary </a:t>
                      </a:r>
                    </a:p>
                  </a:txBody>
                  <a:tcPr/>
                </a:tc>
                <a:extLst>
                  <a:ext uri="{0D108BD9-81ED-4DB2-BD59-A6C34878D82A}">
                    <a16:rowId xmlns:a16="http://schemas.microsoft.com/office/drawing/2014/main" val="1852747719"/>
                  </a:ext>
                </a:extLst>
              </a:tr>
              <a:tr h="370840">
                <a:tc>
                  <a:txBody>
                    <a:bodyPr/>
                    <a:lstStyle/>
                    <a:p>
                      <a:r>
                        <a:rPr lang="en-US" sz="2400" dirty="0">
                          <a:latin typeface="Roboto" panose="02000000000000000000" pitchFamily="2" charset="0"/>
                          <a:ea typeface="Roboto" panose="02000000000000000000" pitchFamily="2" charset="0"/>
                        </a:rPr>
                        <a:t>2S</a:t>
                      </a:r>
                    </a:p>
                  </a:txBody>
                  <a:tcPr/>
                </a:tc>
                <a:tc>
                  <a:txBody>
                    <a:bodyPr/>
                    <a:lstStyle/>
                    <a:p>
                      <a:r>
                        <a:rPr lang="en-US" sz="2400" dirty="0">
                          <a:latin typeface="Roboto" panose="02000000000000000000" pitchFamily="2" charset="0"/>
                          <a:ea typeface="Roboto" panose="02000000000000000000" pitchFamily="2" charset="0"/>
                        </a:rPr>
                        <a:t>Straighten</a:t>
                      </a:r>
                    </a:p>
                  </a:txBody>
                  <a:tcPr/>
                </a:tc>
                <a:tc>
                  <a:txBody>
                    <a:bodyPr/>
                    <a:lstStyle/>
                    <a:p>
                      <a:r>
                        <a:rPr lang="en-US" sz="2400" dirty="0">
                          <a:latin typeface="Roboto" panose="02000000000000000000" pitchFamily="2" charset="0"/>
                          <a:ea typeface="Roboto" panose="02000000000000000000" pitchFamily="2" charset="0"/>
                        </a:rPr>
                        <a:t>A place for everything and everything in its place </a:t>
                      </a:r>
                    </a:p>
                  </a:txBody>
                  <a:tcPr/>
                </a:tc>
                <a:extLst>
                  <a:ext uri="{0D108BD9-81ED-4DB2-BD59-A6C34878D82A}">
                    <a16:rowId xmlns:a16="http://schemas.microsoft.com/office/drawing/2014/main" val="4168134052"/>
                  </a:ext>
                </a:extLst>
              </a:tr>
              <a:tr h="370840">
                <a:tc>
                  <a:txBody>
                    <a:bodyPr/>
                    <a:lstStyle/>
                    <a:p>
                      <a:r>
                        <a:rPr lang="en-US" sz="2400" dirty="0">
                          <a:latin typeface="Roboto" panose="02000000000000000000" pitchFamily="2" charset="0"/>
                          <a:ea typeface="Roboto" panose="02000000000000000000" pitchFamily="2" charset="0"/>
                        </a:rPr>
                        <a:t>3S</a:t>
                      </a:r>
                    </a:p>
                  </a:txBody>
                  <a:tcPr/>
                </a:tc>
                <a:tc>
                  <a:txBody>
                    <a:bodyPr/>
                    <a:lstStyle/>
                    <a:p>
                      <a:r>
                        <a:rPr lang="en-US" sz="2400" dirty="0">
                          <a:latin typeface="Roboto" panose="02000000000000000000" pitchFamily="2" charset="0"/>
                          <a:ea typeface="Roboto" panose="02000000000000000000" pitchFamily="2" charset="0"/>
                        </a:rPr>
                        <a:t>Scrub</a:t>
                      </a:r>
                    </a:p>
                  </a:txBody>
                  <a:tcPr/>
                </a:tc>
                <a:tc>
                  <a:txBody>
                    <a:bodyPr/>
                    <a:lstStyle/>
                    <a:p>
                      <a:r>
                        <a:rPr lang="en-US" sz="2400" dirty="0">
                          <a:latin typeface="Roboto" panose="02000000000000000000" pitchFamily="2" charset="0"/>
                          <a:ea typeface="Roboto" panose="02000000000000000000" pitchFamily="2" charset="0"/>
                        </a:rPr>
                        <a:t>Thoroughly clean the area and identify the sources of uncleanliness </a:t>
                      </a:r>
                    </a:p>
                  </a:txBody>
                  <a:tcPr/>
                </a:tc>
                <a:extLst>
                  <a:ext uri="{0D108BD9-81ED-4DB2-BD59-A6C34878D82A}">
                    <a16:rowId xmlns:a16="http://schemas.microsoft.com/office/drawing/2014/main" val="1786301352"/>
                  </a:ext>
                </a:extLst>
              </a:tr>
              <a:tr h="370840">
                <a:tc>
                  <a:txBody>
                    <a:bodyPr/>
                    <a:lstStyle/>
                    <a:p>
                      <a:r>
                        <a:rPr lang="en-US" sz="2400" dirty="0">
                          <a:latin typeface="Roboto" panose="02000000000000000000" pitchFamily="2" charset="0"/>
                          <a:ea typeface="Roboto" panose="02000000000000000000" pitchFamily="2" charset="0"/>
                        </a:rPr>
                        <a:t>4S</a:t>
                      </a:r>
                    </a:p>
                  </a:txBody>
                  <a:tcPr/>
                </a:tc>
                <a:tc>
                  <a:txBody>
                    <a:bodyPr/>
                    <a:lstStyle/>
                    <a:p>
                      <a:r>
                        <a:rPr lang="en-US" sz="2400" dirty="0">
                          <a:latin typeface="Roboto" panose="02000000000000000000" pitchFamily="2" charset="0"/>
                          <a:ea typeface="Roboto" panose="02000000000000000000" pitchFamily="2" charset="0"/>
                        </a:rPr>
                        <a:t>Stabilize</a:t>
                      </a:r>
                    </a:p>
                  </a:txBody>
                  <a:tcPr/>
                </a:tc>
                <a:tc>
                  <a:txBody>
                    <a:bodyPr/>
                    <a:lstStyle/>
                    <a:p>
                      <a:r>
                        <a:rPr lang="en-US" sz="2400" dirty="0">
                          <a:latin typeface="Roboto" panose="02000000000000000000" pitchFamily="2" charset="0"/>
                          <a:ea typeface="Roboto" panose="02000000000000000000" pitchFamily="2" charset="0"/>
                        </a:rPr>
                        <a:t>Execute process to maintain/improve the standards of the first 3 S’s</a:t>
                      </a:r>
                    </a:p>
                  </a:txBody>
                  <a:tcPr/>
                </a:tc>
                <a:extLst>
                  <a:ext uri="{0D108BD9-81ED-4DB2-BD59-A6C34878D82A}">
                    <a16:rowId xmlns:a16="http://schemas.microsoft.com/office/drawing/2014/main" val="2248128915"/>
                  </a:ext>
                </a:extLst>
              </a:tr>
              <a:tr h="370840">
                <a:tc>
                  <a:txBody>
                    <a:bodyPr/>
                    <a:lstStyle/>
                    <a:p>
                      <a:r>
                        <a:rPr lang="en-US" sz="2400" dirty="0">
                          <a:latin typeface="Roboto" panose="02000000000000000000" pitchFamily="2" charset="0"/>
                          <a:ea typeface="Roboto" panose="02000000000000000000" pitchFamily="2" charset="0"/>
                        </a:rPr>
                        <a:t>5S</a:t>
                      </a:r>
                    </a:p>
                  </a:txBody>
                  <a:tcPr/>
                </a:tc>
                <a:tc>
                  <a:txBody>
                    <a:bodyPr/>
                    <a:lstStyle/>
                    <a:p>
                      <a:r>
                        <a:rPr lang="en-US" sz="2400" dirty="0">
                          <a:latin typeface="Roboto" panose="02000000000000000000" pitchFamily="2" charset="0"/>
                          <a:ea typeface="Roboto" panose="02000000000000000000" pitchFamily="2" charset="0"/>
                        </a:rPr>
                        <a:t>Sustain</a:t>
                      </a:r>
                    </a:p>
                  </a:txBody>
                  <a:tcPr/>
                </a:tc>
                <a:tc>
                  <a:txBody>
                    <a:bodyPr/>
                    <a:lstStyle/>
                    <a:p>
                      <a:r>
                        <a:rPr lang="en-US" sz="2400" dirty="0">
                          <a:latin typeface="Roboto" panose="02000000000000000000" pitchFamily="2" charset="0"/>
                          <a:ea typeface="Roboto" panose="02000000000000000000" pitchFamily="2" charset="0"/>
                        </a:rPr>
                        <a:t>A sustained, disciplined 5S culture in the workplace </a:t>
                      </a:r>
                    </a:p>
                  </a:txBody>
                  <a:tcPr/>
                </a:tc>
                <a:extLst>
                  <a:ext uri="{0D108BD9-81ED-4DB2-BD59-A6C34878D82A}">
                    <a16:rowId xmlns:a16="http://schemas.microsoft.com/office/drawing/2014/main" val="3189724792"/>
                  </a:ext>
                </a:extLst>
              </a:tr>
            </a:tbl>
          </a:graphicData>
        </a:graphic>
      </p:graphicFrame>
      <p:grpSp>
        <p:nvGrpSpPr>
          <p:cNvPr id="11" name="Group 10">
            <a:extLst>
              <a:ext uri="{FF2B5EF4-FFF2-40B4-BE49-F238E27FC236}">
                <a16:creationId xmlns:a16="http://schemas.microsoft.com/office/drawing/2014/main" id="{8DA81B3E-25C3-1EC1-6E48-3D1BF0A1CF3C}"/>
              </a:ext>
            </a:extLst>
          </p:cNvPr>
          <p:cNvGrpSpPr/>
          <p:nvPr/>
        </p:nvGrpSpPr>
        <p:grpSpPr>
          <a:xfrm>
            <a:off x="940249" y="289611"/>
            <a:ext cx="1060167" cy="324859"/>
            <a:chOff x="940249" y="315206"/>
            <a:chExt cx="1060167" cy="265062"/>
          </a:xfrm>
        </p:grpSpPr>
        <p:sp>
          <p:nvSpPr>
            <p:cNvPr id="12" name="AutoShape 9">
              <a:extLst>
                <a:ext uri="{FF2B5EF4-FFF2-40B4-BE49-F238E27FC236}">
                  <a16:creationId xmlns:a16="http://schemas.microsoft.com/office/drawing/2014/main" id="{F46423BA-0633-C85D-EEFA-32D78ACD451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555537-6E7E-FBA3-3276-1AD2EE5D7521}"/>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1">
              <a:extLst>
                <a:ext uri="{FF2B5EF4-FFF2-40B4-BE49-F238E27FC236}">
                  <a16:creationId xmlns:a16="http://schemas.microsoft.com/office/drawing/2014/main" id="{672822BA-7B6C-E2BF-627D-32CF525E3AD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5" name="TextBox 14">
            <a:extLst>
              <a:ext uri="{FF2B5EF4-FFF2-40B4-BE49-F238E27FC236}">
                <a16:creationId xmlns:a16="http://schemas.microsoft.com/office/drawing/2014/main" id="{680A7333-8667-82DE-D410-CBB471749218}"/>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039273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rmAutofit/>
          </a:bodyPr>
          <a:lstStyle/>
          <a:p>
            <a:r>
              <a:rPr lang="en-US" sz="3200" dirty="0"/>
              <a:t>How does 5S relate to other lean best practices?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12</a:t>
            </a:fld>
            <a:endParaRPr lang="en-US"/>
          </a:p>
        </p:txBody>
      </p:sp>
      <p:sp>
        <p:nvSpPr>
          <p:cNvPr id="21" name="Rectangle 3">
            <a:extLst>
              <a:ext uri="{FF2B5EF4-FFF2-40B4-BE49-F238E27FC236}">
                <a16:creationId xmlns:a16="http://schemas.microsoft.com/office/drawing/2014/main" id="{E22746A6-878D-F379-F17E-6653C9A8A1A1}"/>
              </a:ext>
            </a:extLst>
          </p:cNvPr>
          <p:cNvSpPr>
            <a:spLocks noChangeArrowheads="1"/>
          </p:cNvSpPr>
          <p:nvPr/>
        </p:nvSpPr>
        <p:spPr bwMode="auto">
          <a:xfrm>
            <a:off x="1623695" y="1847679"/>
            <a:ext cx="2916238" cy="838200"/>
          </a:xfrm>
          <a:prstGeom prst="rect">
            <a:avLst/>
          </a:prstGeom>
          <a:solidFill>
            <a:schemeClr val="bg1"/>
          </a:solidFill>
          <a:ln w="9525">
            <a:solidFill>
              <a:srgbClr val="000054"/>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dirty="0">
                <a:latin typeface="Roboto" panose="02000000000000000000" pitchFamily="2" charset="0"/>
                <a:ea typeface="Roboto" panose="02000000000000000000" pitchFamily="2" charset="0"/>
              </a:rPr>
              <a:t>SMED</a:t>
            </a:r>
          </a:p>
        </p:txBody>
      </p:sp>
      <p:sp>
        <p:nvSpPr>
          <p:cNvPr id="22" name="Rectangle 4">
            <a:extLst>
              <a:ext uri="{FF2B5EF4-FFF2-40B4-BE49-F238E27FC236}">
                <a16:creationId xmlns:a16="http://schemas.microsoft.com/office/drawing/2014/main" id="{46407E3F-00CB-32B2-FB37-4FC5F77AB32F}"/>
              </a:ext>
            </a:extLst>
          </p:cNvPr>
          <p:cNvSpPr>
            <a:spLocks noChangeArrowheads="1"/>
          </p:cNvSpPr>
          <p:nvPr/>
        </p:nvSpPr>
        <p:spPr bwMode="auto">
          <a:xfrm>
            <a:off x="1623695" y="3024017"/>
            <a:ext cx="2916238" cy="841375"/>
          </a:xfrm>
          <a:prstGeom prst="rect">
            <a:avLst/>
          </a:prstGeom>
          <a:solidFill>
            <a:srgbClr val="DDDDDD"/>
          </a:solidFill>
          <a:ln w="9525">
            <a:solidFill>
              <a:srgbClr val="000054"/>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a:latin typeface="Roboto" panose="02000000000000000000" pitchFamily="2" charset="0"/>
                <a:ea typeface="Roboto" panose="02000000000000000000" pitchFamily="2" charset="0"/>
              </a:rPr>
              <a:t>TPM</a:t>
            </a:r>
          </a:p>
        </p:txBody>
      </p:sp>
      <p:sp>
        <p:nvSpPr>
          <p:cNvPr id="23" name="Rectangle 5">
            <a:extLst>
              <a:ext uri="{FF2B5EF4-FFF2-40B4-BE49-F238E27FC236}">
                <a16:creationId xmlns:a16="http://schemas.microsoft.com/office/drawing/2014/main" id="{DBD8AF26-C45E-9E7A-5492-614A15FDBCFA}"/>
              </a:ext>
            </a:extLst>
          </p:cNvPr>
          <p:cNvSpPr>
            <a:spLocks noChangeArrowheads="1"/>
          </p:cNvSpPr>
          <p:nvPr/>
        </p:nvSpPr>
        <p:spPr bwMode="auto">
          <a:xfrm>
            <a:off x="1623695" y="4146379"/>
            <a:ext cx="2916238" cy="838200"/>
          </a:xfrm>
          <a:prstGeom prst="rect">
            <a:avLst/>
          </a:prstGeom>
          <a:solidFill>
            <a:schemeClr val="accent3"/>
          </a:solidFill>
          <a:ln w="9525">
            <a:solidFill>
              <a:srgbClr val="000054"/>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Standard Work</a:t>
            </a:r>
          </a:p>
        </p:txBody>
      </p:sp>
      <p:cxnSp>
        <p:nvCxnSpPr>
          <p:cNvPr id="24" name="AutoShape 7">
            <a:extLst>
              <a:ext uri="{FF2B5EF4-FFF2-40B4-BE49-F238E27FC236}">
                <a16:creationId xmlns:a16="http://schemas.microsoft.com/office/drawing/2014/main" id="{F9248555-B6C3-437D-08C6-3F13B3F61757}"/>
              </a:ext>
            </a:extLst>
          </p:cNvPr>
          <p:cNvCxnSpPr>
            <a:cxnSpLocks noChangeShapeType="1"/>
            <a:stCxn id="21" idx="2"/>
            <a:endCxn id="22" idx="0"/>
          </p:cNvCxnSpPr>
          <p:nvPr/>
        </p:nvCxnSpPr>
        <p:spPr bwMode="auto">
          <a:xfrm>
            <a:off x="3082608" y="2685879"/>
            <a:ext cx="0" cy="338138"/>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25" name="AutoShape 8">
            <a:extLst>
              <a:ext uri="{FF2B5EF4-FFF2-40B4-BE49-F238E27FC236}">
                <a16:creationId xmlns:a16="http://schemas.microsoft.com/office/drawing/2014/main" id="{C891F743-1965-6B35-EB42-393A5BBE2C65}"/>
              </a:ext>
            </a:extLst>
          </p:cNvPr>
          <p:cNvCxnSpPr>
            <a:cxnSpLocks noChangeShapeType="1"/>
            <a:stCxn id="22" idx="2"/>
            <a:endCxn id="23" idx="0"/>
          </p:cNvCxnSpPr>
          <p:nvPr/>
        </p:nvCxnSpPr>
        <p:spPr bwMode="auto">
          <a:xfrm>
            <a:off x="3082608" y="3865392"/>
            <a:ext cx="0" cy="28098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6" name="Rectangle 10">
            <a:extLst>
              <a:ext uri="{FF2B5EF4-FFF2-40B4-BE49-F238E27FC236}">
                <a16:creationId xmlns:a16="http://schemas.microsoft.com/office/drawing/2014/main" id="{0B407A74-8D17-E149-D8B9-8F63D098B082}"/>
              </a:ext>
            </a:extLst>
          </p:cNvPr>
          <p:cNvSpPr>
            <a:spLocks noChangeArrowheads="1"/>
          </p:cNvSpPr>
          <p:nvPr/>
        </p:nvSpPr>
        <p:spPr bwMode="auto">
          <a:xfrm>
            <a:off x="4800283" y="4203425"/>
            <a:ext cx="5038725" cy="655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25000"/>
              </a:spcBef>
              <a:spcAft>
                <a:spcPct val="25000"/>
              </a:spcAft>
              <a:buClr>
                <a:schemeClr val="accent2"/>
              </a:buClr>
              <a:buSzTx/>
              <a:buFont typeface="Wingdings" panose="05000000000000000000" pitchFamily="2" charset="2"/>
              <a:buNone/>
            </a:pPr>
            <a:r>
              <a:rPr lang="en-US" altLang="en-US" sz="1400" dirty="0">
                <a:latin typeface="Roboto" panose="02000000000000000000" pitchFamily="2" charset="0"/>
                <a:ea typeface="Roboto" panose="02000000000000000000" pitchFamily="2" charset="0"/>
              </a:rPr>
              <a:t>	5S supports having a waste-free, repeatable, sustainable process. In order to implement Standard Work in any area, completing 5S is essential. </a:t>
            </a:r>
          </a:p>
        </p:txBody>
      </p:sp>
      <p:sp>
        <p:nvSpPr>
          <p:cNvPr id="27" name="Rectangle 11">
            <a:extLst>
              <a:ext uri="{FF2B5EF4-FFF2-40B4-BE49-F238E27FC236}">
                <a16:creationId xmlns:a16="http://schemas.microsoft.com/office/drawing/2014/main" id="{1CDF521C-5A2C-71B5-E761-D1BD4172C9AB}"/>
              </a:ext>
            </a:extLst>
          </p:cNvPr>
          <p:cNvSpPr>
            <a:spLocks noChangeArrowheads="1"/>
          </p:cNvSpPr>
          <p:nvPr/>
        </p:nvSpPr>
        <p:spPr bwMode="auto">
          <a:xfrm>
            <a:off x="4784408" y="3153397"/>
            <a:ext cx="5054600" cy="636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25000"/>
              </a:spcBef>
              <a:spcAft>
                <a:spcPct val="25000"/>
              </a:spcAft>
              <a:buClr>
                <a:schemeClr val="accent2"/>
              </a:buClr>
              <a:buSzTx/>
              <a:buFont typeface="Wingdings" panose="05000000000000000000" pitchFamily="2" charset="2"/>
              <a:buNone/>
            </a:pPr>
            <a:r>
              <a:rPr lang="en-US" altLang="en-US" sz="1400" dirty="0">
                <a:latin typeface="Roboto" panose="02000000000000000000" pitchFamily="2" charset="0"/>
                <a:ea typeface="Roboto" panose="02000000000000000000" pitchFamily="2" charset="0"/>
              </a:rPr>
              <a:t>	The first step of Total Productive Maintenance (TPM) is operator clean-up of machines. </a:t>
            </a:r>
          </a:p>
        </p:txBody>
      </p:sp>
      <p:sp>
        <p:nvSpPr>
          <p:cNvPr id="28" name="Rectangle 12">
            <a:extLst>
              <a:ext uri="{FF2B5EF4-FFF2-40B4-BE49-F238E27FC236}">
                <a16:creationId xmlns:a16="http://schemas.microsoft.com/office/drawing/2014/main" id="{78B1DCFF-10E3-DCD0-0AF7-F18D898ACA56}"/>
              </a:ext>
            </a:extLst>
          </p:cNvPr>
          <p:cNvSpPr>
            <a:spLocks noChangeArrowheads="1"/>
          </p:cNvSpPr>
          <p:nvPr/>
        </p:nvSpPr>
        <p:spPr bwMode="auto">
          <a:xfrm>
            <a:off x="4782820" y="1954042"/>
            <a:ext cx="5038725"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25000"/>
              </a:spcBef>
              <a:spcAft>
                <a:spcPct val="25000"/>
              </a:spcAft>
              <a:buClr>
                <a:schemeClr val="accent2"/>
              </a:buClr>
              <a:buSzTx/>
              <a:buFont typeface="Wingdings" panose="05000000000000000000" pitchFamily="2" charset="2"/>
              <a:buNone/>
            </a:pPr>
            <a:r>
              <a:rPr lang="en-US" altLang="en-US" sz="1400" dirty="0">
                <a:latin typeface="Roboto" panose="02000000000000000000" pitchFamily="2" charset="0"/>
                <a:ea typeface="Roboto" panose="02000000000000000000" pitchFamily="2" charset="0"/>
              </a:rPr>
              <a:t>	5S requires the clearing out of things which are not needed to make it easier to obtain the needed tools and parts. This is the foundation of Single Minute Change of Dies (SMED)</a:t>
            </a:r>
          </a:p>
        </p:txBody>
      </p:sp>
      <p:sp>
        <p:nvSpPr>
          <p:cNvPr id="29" name="AutoShape 14">
            <a:extLst>
              <a:ext uri="{FF2B5EF4-FFF2-40B4-BE49-F238E27FC236}">
                <a16:creationId xmlns:a16="http://schemas.microsoft.com/office/drawing/2014/main" id="{4A684FD8-542D-A609-BB77-BF89AD1A9425}"/>
              </a:ext>
            </a:extLst>
          </p:cNvPr>
          <p:cNvSpPr>
            <a:spLocks noChangeArrowheads="1"/>
          </p:cNvSpPr>
          <p:nvPr/>
        </p:nvSpPr>
        <p:spPr bwMode="auto">
          <a:xfrm>
            <a:off x="4705033" y="2093742"/>
            <a:ext cx="401637" cy="498475"/>
          </a:xfrm>
          <a:prstGeom prst="rightArrow">
            <a:avLst>
              <a:gd name="adj1" fmla="val 58185"/>
              <a:gd name="adj2" fmla="val 60870"/>
            </a:avLst>
          </a:prstGeom>
          <a:solidFill>
            <a:srgbClr val="808080"/>
          </a:solidFill>
          <a:ln w="1905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0" name="AutoShape 15">
            <a:extLst>
              <a:ext uri="{FF2B5EF4-FFF2-40B4-BE49-F238E27FC236}">
                <a16:creationId xmlns:a16="http://schemas.microsoft.com/office/drawing/2014/main" id="{FAFAD135-71F3-35A8-7B51-5C2FDBB4DE69}"/>
              </a:ext>
            </a:extLst>
          </p:cNvPr>
          <p:cNvSpPr>
            <a:spLocks noChangeArrowheads="1"/>
          </p:cNvSpPr>
          <p:nvPr/>
        </p:nvSpPr>
        <p:spPr bwMode="auto">
          <a:xfrm>
            <a:off x="4705033" y="3157367"/>
            <a:ext cx="401637" cy="498475"/>
          </a:xfrm>
          <a:prstGeom prst="rightArrow">
            <a:avLst>
              <a:gd name="adj1" fmla="val 58185"/>
              <a:gd name="adj2" fmla="val 60870"/>
            </a:avLst>
          </a:prstGeom>
          <a:solidFill>
            <a:srgbClr val="808080"/>
          </a:solidFill>
          <a:ln w="1905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1" name="AutoShape 16">
            <a:extLst>
              <a:ext uri="{FF2B5EF4-FFF2-40B4-BE49-F238E27FC236}">
                <a16:creationId xmlns:a16="http://schemas.microsoft.com/office/drawing/2014/main" id="{4B5A228C-F7D5-757A-2F1E-A78794802395}"/>
              </a:ext>
            </a:extLst>
          </p:cNvPr>
          <p:cNvSpPr>
            <a:spLocks noChangeArrowheads="1"/>
          </p:cNvSpPr>
          <p:nvPr/>
        </p:nvSpPr>
        <p:spPr bwMode="auto">
          <a:xfrm>
            <a:off x="4705033" y="4324179"/>
            <a:ext cx="401637" cy="498475"/>
          </a:xfrm>
          <a:prstGeom prst="rightArrow">
            <a:avLst>
              <a:gd name="adj1" fmla="val 58185"/>
              <a:gd name="adj2" fmla="val 60870"/>
            </a:avLst>
          </a:prstGeom>
          <a:solidFill>
            <a:srgbClr val="808080"/>
          </a:solidFill>
          <a:ln w="1905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33" name="Rectangle 5">
            <a:extLst>
              <a:ext uri="{FF2B5EF4-FFF2-40B4-BE49-F238E27FC236}">
                <a16:creationId xmlns:a16="http://schemas.microsoft.com/office/drawing/2014/main" id="{B47FD415-9A7B-AB2D-172F-1DC93CB39203}"/>
              </a:ext>
            </a:extLst>
          </p:cNvPr>
          <p:cNvSpPr>
            <a:spLocks noChangeArrowheads="1"/>
          </p:cNvSpPr>
          <p:nvPr/>
        </p:nvSpPr>
        <p:spPr bwMode="auto">
          <a:xfrm>
            <a:off x="1618933" y="5313192"/>
            <a:ext cx="2916237" cy="838200"/>
          </a:xfrm>
          <a:prstGeom prst="rect">
            <a:avLst/>
          </a:prstGeom>
          <a:solidFill>
            <a:schemeClr val="tx2"/>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eaLnBrk="1" hangingPunct="1">
              <a:lnSpc>
                <a:spcPct val="100000"/>
              </a:lnSpc>
              <a:spcBef>
                <a:spcPct val="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rPr>
              <a:t>Visual Management</a:t>
            </a:r>
          </a:p>
        </p:txBody>
      </p:sp>
      <p:sp>
        <p:nvSpPr>
          <p:cNvPr id="34" name="Rectangle 10">
            <a:extLst>
              <a:ext uri="{FF2B5EF4-FFF2-40B4-BE49-F238E27FC236}">
                <a16:creationId xmlns:a16="http://schemas.microsoft.com/office/drawing/2014/main" id="{B7A4F628-46B9-BBFD-9700-D74028CD1CE7}"/>
              </a:ext>
            </a:extLst>
          </p:cNvPr>
          <p:cNvSpPr>
            <a:spLocks noChangeArrowheads="1"/>
          </p:cNvSpPr>
          <p:nvPr/>
        </p:nvSpPr>
        <p:spPr bwMode="auto">
          <a:xfrm>
            <a:off x="4781233" y="5256042"/>
            <a:ext cx="5038725" cy="655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25000"/>
              </a:spcBef>
              <a:spcAft>
                <a:spcPct val="25000"/>
              </a:spcAft>
              <a:buClr>
                <a:schemeClr val="accent2"/>
              </a:buClr>
              <a:buSzTx/>
              <a:buFont typeface="Wingdings" panose="05000000000000000000" pitchFamily="2" charset="2"/>
              <a:buNone/>
            </a:pPr>
            <a:r>
              <a:rPr lang="en-US" altLang="en-US" sz="1400">
                <a:latin typeface="Roboto" panose="02000000000000000000" pitchFamily="2" charset="0"/>
                <a:ea typeface="Roboto" panose="02000000000000000000" pitchFamily="2" charset="0"/>
              </a:rPr>
              <a:t>	The application of the first 3S</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 enables the 4</a:t>
            </a:r>
            <a:r>
              <a:rPr lang="en-US" altLang="ja-JP" sz="1400" baseline="30000">
                <a:latin typeface="Roboto" panose="02000000000000000000" pitchFamily="2" charset="0"/>
                <a:ea typeface="Roboto" panose="02000000000000000000" pitchFamily="2" charset="0"/>
              </a:rPr>
              <a:t>th</a:t>
            </a:r>
            <a:r>
              <a:rPr lang="en-US" altLang="ja-JP" sz="1400">
                <a:latin typeface="Roboto" panose="02000000000000000000" pitchFamily="2" charset="0"/>
                <a:ea typeface="Roboto" panose="02000000000000000000" pitchFamily="2" charset="0"/>
              </a:rPr>
              <a:t> </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 Standardize. In the step, Visual Management is put in place in order stabilize the process and enable detecting normal from abnormal conditions.  </a:t>
            </a:r>
            <a:endParaRPr lang="en-US" altLang="en-US" sz="1400">
              <a:latin typeface="Roboto" panose="02000000000000000000" pitchFamily="2" charset="0"/>
              <a:ea typeface="Roboto" panose="02000000000000000000" pitchFamily="2" charset="0"/>
            </a:endParaRPr>
          </a:p>
        </p:txBody>
      </p:sp>
      <p:sp>
        <p:nvSpPr>
          <p:cNvPr id="35" name="AutoShape 16">
            <a:extLst>
              <a:ext uri="{FF2B5EF4-FFF2-40B4-BE49-F238E27FC236}">
                <a16:creationId xmlns:a16="http://schemas.microsoft.com/office/drawing/2014/main" id="{6A244ADB-BFCF-F864-075B-0496CCDEB3F7}"/>
              </a:ext>
            </a:extLst>
          </p:cNvPr>
          <p:cNvSpPr>
            <a:spLocks noChangeArrowheads="1"/>
          </p:cNvSpPr>
          <p:nvPr/>
        </p:nvSpPr>
        <p:spPr bwMode="auto">
          <a:xfrm>
            <a:off x="4700270" y="5490992"/>
            <a:ext cx="401638" cy="498475"/>
          </a:xfrm>
          <a:prstGeom prst="rightArrow">
            <a:avLst>
              <a:gd name="adj1" fmla="val 58185"/>
              <a:gd name="adj2" fmla="val 60870"/>
            </a:avLst>
          </a:prstGeom>
          <a:solidFill>
            <a:srgbClr val="808080"/>
          </a:solidFill>
          <a:ln w="19050">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cxnSp>
        <p:nvCxnSpPr>
          <p:cNvPr id="36" name="AutoShape 29">
            <a:extLst>
              <a:ext uri="{FF2B5EF4-FFF2-40B4-BE49-F238E27FC236}">
                <a16:creationId xmlns:a16="http://schemas.microsoft.com/office/drawing/2014/main" id="{136B094A-EC2E-AC91-5CB5-CDB38811A616}"/>
              </a:ext>
            </a:extLst>
          </p:cNvPr>
          <p:cNvCxnSpPr>
            <a:cxnSpLocks noChangeShapeType="1"/>
            <a:stCxn id="23" idx="2"/>
            <a:endCxn id="33" idx="0"/>
          </p:cNvCxnSpPr>
          <p:nvPr/>
        </p:nvCxnSpPr>
        <p:spPr bwMode="auto">
          <a:xfrm flipH="1">
            <a:off x="3077845" y="4984579"/>
            <a:ext cx="4763" cy="328613"/>
          </a:xfrm>
          <a:prstGeom prst="straightConnector1">
            <a:avLst/>
          </a:prstGeom>
          <a:noFill/>
          <a:ln w="12700" cap="sq">
            <a:solidFill>
              <a:schemeClr val="tx1"/>
            </a:solidFill>
            <a:round/>
            <a:headEnd/>
            <a:tailEnd type="triangle" w="med" len="med"/>
          </a:ln>
          <a:extLst>
            <a:ext uri="{909E8E84-426E-40DD-AFC4-6F175D3DCCD1}">
              <a14:hiddenFill xmlns:a14="http://schemas.microsoft.com/office/drawing/2010/main">
                <a:noFill/>
              </a14:hiddenFill>
            </a:ext>
          </a:extLst>
        </p:spPr>
      </p:cxnSp>
      <p:grpSp>
        <p:nvGrpSpPr>
          <p:cNvPr id="38" name="Group 37">
            <a:extLst>
              <a:ext uri="{FF2B5EF4-FFF2-40B4-BE49-F238E27FC236}">
                <a16:creationId xmlns:a16="http://schemas.microsoft.com/office/drawing/2014/main" id="{20EA9FF3-3C30-EA76-7EC3-01F27FB56AA7}"/>
              </a:ext>
            </a:extLst>
          </p:cNvPr>
          <p:cNvGrpSpPr/>
          <p:nvPr/>
        </p:nvGrpSpPr>
        <p:grpSpPr>
          <a:xfrm>
            <a:off x="940249" y="289611"/>
            <a:ext cx="1060167" cy="324859"/>
            <a:chOff x="940249" y="315206"/>
            <a:chExt cx="1060167" cy="265062"/>
          </a:xfrm>
        </p:grpSpPr>
        <p:sp>
          <p:nvSpPr>
            <p:cNvPr id="39" name="AutoShape 9">
              <a:extLst>
                <a:ext uri="{FF2B5EF4-FFF2-40B4-BE49-F238E27FC236}">
                  <a16:creationId xmlns:a16="http://schemas.microsoft.com/office/drawing/2014/main" id="{B0228523-DB6E-4361-9E20-1F4DF023E3F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0" name="AutoShape 10">
              <a:extLst>
                <a:ext uri="{FF2B5EF4-FFF2-40B4-BE49-F238E27FC236}">
                  <a16:creationId xmlns:a16="http://schemas.microsoft.com/office/drawing/2014/main" id="{B7ED3362-FFDF-2044-6878-BFDE4C01257A}"/>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41" name="AutoShape 11">
              <a:extLst>
                <a:ext uri="{FF2B5EF4-FFF2-40B4-BE49-F238E27FC236}">
                  <a16:creationId xmlns:a16="http://schemas.microsoft.com/office/drawing/2014/main" id="{80EA7DDB-8183-B0AA-F8E2-166DAD72BE0F}"/>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42" name="TextBox 41">
            <a:extLst>
              <a:ext uri="{FF2B5EF4-FFF2-40B4-BE49-F238E27FC236}">
                <a16:creationId xmlns:a16="http://schemas.microsoft.com/office/drawing/2014/main" id="{B6007A6F-C3B8-016A-84CD-ACCA29FCDC69}"/>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02376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Examples of 5S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After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13</a:t>
            </a:fld>
            <a:endParaRPr lang="en-US"/>
          </a:p>
        </p:txBody>
      </p:sp>
      <p:pic>
        <p:nvPicPr>
          <p:cNvPr id="10" name="Picture 4" descr="Before example of 5S with items stacked in a disorganized manner and paper on the ground.">
            <a:extLst>
              <a:ext uri="{FF2B5EF4-FFF2-40B4-BE49-F238E27FC236}">
                <a16:creationId xmlns:a16="http://schemas.microsoft.com/office/drawing/2014/main" id="{1BF9223C-6B12-FC28-8E3A-B8A0E5FAE42D}"/>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95534" y="2505075"/>
            <a:ext cx="2790666" cy="373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5" descr="A stack of wooden pallets where each pallet is in it's pre-defined location.">
            <a:extLst>
              <a:ext uri="{FF2B5EF4-FFF2-40B4-BE49-F238E27FC236}">
                <a16:creationId xmlns:a16="http://schemas.microsoft.com/office/drawing/2014/main" id="{2D91172E-EAC9-BC8D-50EA-6AAFAF6A0906}"/>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253321" y="2505075"/>
            <a:ext cx="4980022" cy="37318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1B492102-ABCB-0F0A-9534-97B05D8C7A81}"/>
              </a:ext>
            </a:extLst>
          </p:cNvPr>
          <p:cNvGrpSpPr/>
          <p:nvPr/>
        </p:nvGrpSpPr>
        <p:grpSpPr>
          <a:xfrm>
            <a:off x="940249" y="289611"/>
            <a:ext cx="1060167" cy="324859"/>
            <a:chOff x="940249" y="315206"/>
            <a:chExt cx="1060167" cy="265062"/>
          </a:xfrm>
        </p:grpSpPr>
        <p:sp>
          <p:nvSpPr>
            <p:cNvPr id="13" name="AutoShape 9">
              <a:extLst>
                <a:ext uri="{FF2B5EF4-FFF2-40B4-BE49-F238E27FC236}">
                  <a16:creationId xmlns:a16="http://schemas.microsoft.com/office/drawing/2014/main" id="{C17C2C95-9020-A597-6BD3-FB6BDE39EC5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CABB881A-E2BB-8E54-9DB6-4216490D6A67}"/>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F5A0AC37-F9D7-1A90-B2F1-7B677F335923}"/>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6" name="TextBox 15">
            <a:extLst>
              <a:ext uri="{FF2B5EF4-FFF2-40B4-BE49-F238E27FC236}">
                <a16:creationId xmlns:a16="http://schemas.microsoft.com/office/drawing/2014/main" id="{B6B57F1E-86BB-F3DE-8F3B-3124914C78A8}"/>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0205506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Examples of 5S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After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14</a:t>
            </a:fld>
            <a:endParaRPr lang="en-US"/>
          </a:p>
        </p:txBody>
      </p:sp>
      <p:pic>
        <p:nvPicPr>
          <p:cNvPr id="6" name="Content Placeholder 5" descr="IMG_1577">
            <a:extLst>
              <a:ext uri="{FF2B5EF4-FFF2-40B4-BE49-F238E27FC236}">
                <a16:creationId xmlns:a16="http://schemas.microsoft.com/office/drawing/2014/main" id="{7EF2AE3E-0600-51E3-E8F6-685FE8B8D77B}"/>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92835" y="2505075"/>
            <a:ext cx="4769109"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6" descr="IMG_1636">
            <a:extLst>
              <a:ext uri="{FF2B5EF4-FFF2-40B4-BE49-F238E27FC236}">
                <a16:creationId xmlns:a16="http://schemas.microsoft.com/office/drawing/2014/main" id="{BED939FE-3BD1-45FC-6E80-07AF06373791}"/>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330058" y="2505074"/>
            <a:ext cx="4940696" cy="368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3" name="Group 12">
            <a:extLst>
              <a:ext uri="{FF2B5EF4-FFF2-40B4-BE49-F238E27FC236}">
                <a16:creationId xmlns:a16="http://schemas.microsoft.com/office/drawing/2014/main" id="{66A924B6-FC47-554D-1F34-20EAC53A162D}"/>
              </a:ext>
            </a:extLst>
          </p:cNvPr>
          <p:cNvGrpSpPr/>
          <p:nvPr/>
        </p:nvGrpSpPr>
        <p:grpSpPr>
          <a:xfrm>
            <a:off x="940249" y="289611"/>
            <a:ext cx="1060167" cy="324859"/>
            <a:chOff x="940249" y="315206"/>
            <a:chExt cx="1060167" cy="265062"/>
          </a:xfrm>
        </p:grpSpPr>
        <p:sp>
          <p:nvSpPr>
            <p:cNvPr id="14" name="AutoShape 9">
              <a:extLst>
                <a:ext uri="{FF2B5EF4-FFF2-40B4-BE49-F238E27FC236}">
                  <a16:creationId xmlns:a16="http://schemas.microsoft.com/office/drawing/2014/main" id="{796E0E01-2CDE-000D-A3EC-6CDD141E43F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0">
              <a:extLst>
                <a:ext uri="{FF2B5EF4-FFF2-40B4-BE49-F238E27FC236}">
                  <a16:creationId xmlns:a16="http://schemas.microsoft.com/office/drawing/2014/main" id="{82804196-1542-C4EC-34F8-46D54075AF1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6" name="AutoShape 11">
              <a:extLst>
                <a:ext uri="{FF2B5EF4-FFF2-40B4-BE49-F238E27FC236}">
                  <a16:creationId xmlns:a16="http://schemas.microsoft.com/office/drawing/2014/main" id="{72754595-8BD4-BDF5-35C0-B7C3A6CB30D9}"/>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7" name="TextBox 16">
            <a:extLst>
              <a:ext uri="{FF2B5EF4-FFF2-40B4-BE49-F238E27FC236}">
                <a16:creationId xmlns:a16="http://schemas.microsoft.com/office/drawing/2014/main" id="{19C7A9A4-B1B1-515D-5A21-7EC73CBA81B6}"/>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40500885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Examples of 5S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After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15</a:t>
            </a:fld>
            <a:endParaRPr lang="en-US"/>
          </a:p>
        </p:txBody>
      </p:sp>
      <p:pic>
        <p:nvPicPr>
          <p:cNvPr id="9" name="Picture 3" descr="IMG_1585">
            <a:extLst>
              <a:ext uri="{FF2B5EF4-FFF2-40B4-BE49-F238E27FC236}">
                <a16:creationId xmlns:a16="http://schemas.microsoft.com/office/drawing/2014/main" id="{FD4F880C-4408-2E02-9257-B12F35C37376}"/>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86009" y="2505075"/>
            <a:ext cx="4927233"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4" descr="IMG_1630">
            <a:extLst>
              <a:ext uri="{FF2B5EF4-FFF2-40B4-BE49-F238E27FC236}">
                <a16:creationId xmlns:a16="http://schemas.microsoft.com/office/drawing/2014/main" id="{A9AAE5E8-8FCC-C2C6-BFD3-AF0DC5A74052}"/>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938442" y="2510632"/>
            <a:ext cx="3313272"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1" name="Group 10">
            <a:extLst>
              <a:ext uri="{FF2B5EF4-FFF2-40B4-BE49-F238E27FC236}">
                <a16:creationId xmlns:a16="http://schemas.microsoft.com/office/drawing/2014/main" id="{DD5B1FD9-66C2-331A-3E2E-074DE0195046}"/>
              </a:ext>
            </a:extLst>
          </p:cNvPr>
          <p:cNvGrpSpPr/>
          <p:nvPr/>
        </p:nvGrpSpPr>
        <p:grpSpPr>
          <a:xfrm>
            <a:off x="940249" y="289611"/>
            <a:ext cx="1060167" cy="324859"/>
            <a:chOff x="940249" y="315206"/>
            <a:chExt cx="1060167" cy="265062"/>
          </a:xfrm>
        </p:grpSpPr>
        <p:sp>
          <p:nvSpPr>
            <p:cNvPr id="13" name="AutoShape 9">
              <a:extLst>
                <a:ext uri="{FF2B5EF4-FFF2-40B4-BE49-F238E27FC236}">
                  <a16:creationId xmlns:a16="http://schemas.microsoft.com/office/drawing/2014/main" id="{BAE9B6EA-98E7-9D6A-1EEC-F5FDDCACE6C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0BF1C352-0329-D0AE-B4AA-FFFF1AF87059}"/>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925E2EA9-73A4-D0AD-47B1-935CE96652C2}"/>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6" name="TextBox 15">
            <a:extLst>
              <a:ext uri="{FF2B5EF4-FFF2-40B4-BE49-F238E27FC236}">
                <a16:creationId xmlns:a16="http://schemas.microsoft.com/office/drawing/2014/main" id="{F0970CB2-B7EF-1B6E-DB76-8E2873E551F1}"/>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229270113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Examples of 5S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After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16</a:t>
            </a:fld>
            <a:endParaRPr lang="en-US"/>
          </a:p>
        </p:txBody>
      </p:sp>
      <p:pic>
        <p:nvPicPr>
          <p:cNvPr id="7" name="Picture 5" descr="IMG_1603">
            <a:extLst>
              <a:ext uri="{FF2B5EF4-FFF2-40B4-BE49-F238E27FC236}">
                <a16:creationId xmlns:a16="http://schemas.microsoft.com/office/drawing/2014/main" id="{4C735739-BF37-1371-BFEB-A1DA22CF2A2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084263" y="2505075"/>
            <a:ext cx="4903444"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6" descr="IMG_1601">
            <a:extLst>
              <a:ext uri="{FF2B5EF4-FFF2-40B4-BE49-F238E27FC236}">
                <a16:creationId xmlns:a16="http://schemas.microsoft.com/office/drawing/2014/main" id="{8C1EC3CF-2802-FD22-439E-9909309EFAB5}"/>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242050" y="2505074"/>
            <a:ext cx="4908095" cy="3684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8FD151BF-304B-23E1-6E43-E9843E217CEE}"/>
              </a:ext>
            </a:extLst>
          </p:cNvPr>
          <p:cNvGrpSpPr/>
          <p:nvPr/>
        </p:nvGrpSpPr>
        <p:grpSpPr>
          <a:xfrm>
            <a:off x="940249" y="289611"/>
            <a:ext cx="1060167" cy="324859"/>
            <a:chOff x="940249" y="315206"/>
            <a:chExt cx="1060167" cy="265062"/>
          </a:xfrm>
        </p:grpSpPr>
        <p:sp>
          <p:nvSpPr>
            <p:cNvPr id="13" name="AutoShape 9">
              <a:extLst>
                <a:ext uri="{FF2B5EF4-FFF2-40B4-BE49-F238E27FC236}">
                  <a16:creationId xmlns:a16="http://schemas.microsoft.com/office/drawing/2014/main" id="{18F81725-16C7-B572-0DF0-DC52BBE2367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7E473A49-C69A-E4D9-694A-971F46145DB5}"/>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5B71C0B5-50C3-420E-95E0-E4DEC4525CD8}"/>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6" name="TextBox 15">
            <a:extLst>
              <a:ext uri="{FF2B5EF4-FFF2-40B4-BE49-F238E27FC236}">
                <a16:creationId xmlns:a16="http://schemas.microsoft.com/office/drawing/2014/main" id="{9E2EFC42-881C-16DF-F092-43F97BD63266}"/>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2179289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Examples of 5S</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Before</a:t>
            </a:r>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After</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17</a:t>
            </a:fld>
            <a:endParaRPr lang="en-US"/>
          </a:p>
        </p:txBody>
      </p:sp>
      <p:pic>
        <p:nvPicPr>
          <p:cNvPr id="6" name="Picture 6">
            <a:extLst>
              <a:ext uri="{FF2B5EF4-FFF2-40B4-BE49-F238E27FC236}">
                <a16:creationId xmlns:a16="http://schemas.microsoft.com/office/drawing/2014/main" id="{60B76A24-D5D7-F0CF-64E0-34E216886737}"/>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659075" y="2505074"/>
            <a:ext cx="2764335" cy="368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5" descr="IMG_1631">
            <a:extLst>
              <a:ext uri="{FF2B5EF4-FFF2-40B4-BE49-F238E27FC236}">
                <a16:creationId xmlns:a16="http://schemas.microsoft.com/office/drawing/2014/main" id="{5CAA00EF-50A6-3260-132B-C39CB80CAE18}"/>
              </a:ext>
            </a:extLst>
          </p:cNvPr>
          <p:cNvPicPr>
            <a:picLocks noGrp="1" noChangeAspect="1" noChangeArrowheads="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558916" y="2505074"/>
            <a:ext cx="2710969" cy="3682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2" name="Group 11">
            <a:extLst>
              <a:ext uri="{FF2B5EF4-FFF2-40B4-BE49-F238E27FC236}">
                <a16:creationId xmlns:a16="http://schemas.microsoft.com/office/drawing/2014/main" id="{8460DFEA-4E95-F701-8E87-009B3693F9EC}"/>
              </a:ext>
            </a:extLst>
          </p:cNvPr>
          <p:cNvGrpSpPr/>
          <p:nvPr/>
        </p:nvGrpSpPr>
        <p:grpSpPr>
          <a:xfrm>
            <a:off x="940249" y="289611"/>
            <a:ext cx="1060167" cy="324859"/>
            <a:chOff x="940249" y="315206"/>
            <a:chExt cx="1060167" cy="265062"/>
          </a:xfrm>
        </p:grpSpPr>
        <p:sp>
          <p:nvSpPr>
            <p:cNvPr id="13" name="AutoShape 9">
              <a:extLst>
                <a:ext uri="{FF2B5EF4-FFF2-40B4-BE49-F238E27FC236}">
                  <a16:creationId xmlns:a16="http://schemas.microsoft.com/office/drawing/2014/main" id="{6D179299-162A-74DB-73A1-0E81A6789B2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D8EB1619-6CFB-F16C-B45E-1B483DE3BECD}"/>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5" name="AutoShape 11">
              <a:extLst>
                <a:ext uri="{FF2B5EF4-FFF2-40B4-BE49-F238E27FC236}">
                  <a16:creationId xmlns:a16="http://schemas.microsoft.com/office/drawing/2014/main" id="{1FCA1792-65BC-314B-CA5B-54A6D14B2BDE}"/>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16" name="TextBox 15">
            <a:extLst>
              <a:ext uri="{FF2B5EF4-FFF2-40B4-BE49-F238E27FC236}">
                <a16:creationId xmlns:a16="http://schemas.microsoft.com/office/drawing/2014/main" id="{46414D48-1F68-53BC-10EB-7484A82664EF}"/>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180967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Implementation Roadmap</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18</a:t>
            </a:fld>
            <a:endParaRPr lang="en-US"/>
          </a:p>
        </p:txBody>
      </p:sp>
      <p:grpSp>
        <p:nvGrpSpPr>
          <p:cNvPr id="3" name="Group 2">
            <a:extLst>
              <a:ext uri="{FF2B5EF4-FFF2-40B4-BE49-F238E27FC236}">
                <a16:creationId xmlns:a16="http://schemas.microsoft.com/office/drawing/2014/main" id="{AB108694-B8DC-1A19-1838-759308D2CB20}"/>
              </a:ext>
            </a:extLst>
          </p:cNvPr>
          <p:cNvGrpSpPr/>
          <p:nvPr/>
        </p:nvGrpSpPr>
        <p:grpSpPr>
          <a:xfrm>
            <a:off x="940249" y="289611"/>
            <a:ext cx="1060167" cy="324859"/>
            <a:chOff x="940249" y="315206"/>
            <a:chExt cx="1060167" cy="265062"/>
          </a:xfrm>
        </p:grpSpPr>
        <p:sp>
          <p:nvSpPr>
            <p:cNvPr id="5" name="AutoShape 9">
              <a:extLst>
                <a:ext uri="{FF2B5EF4-FFF2-40B4-BE49-F238E27FC236}">
                  <a16:creationId xmlns:a16="http://schemas.microsoft.com/office/drawing/2014/main" id="{E7C95580-E0C5-BE3B-CCF1-5A0731D7B842}"/>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59695A5C-6D56-591B-4283-3DAC0D825F6B}"/>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15FC791E-EDDB-DD01-F1D5-83B87060D621}"/>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CD7841E5-B03B-BCAE-F898-4CFC71443139}"/>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grpSp>
        <p:nvGrpSpPr>
          <p:cNvPr id="9" name="Group 2">
            <a:extLst>
              <a:ext uri="{FF2B5EF4-FFF2-40B4-BE49-F238E27FC236}">
                <a16:creationId xmlns:a16="http://schemas.microsoft.com/office/drawing/2014/main" id="{F0F8A64D-C2D4-48A2-53D5-ABC60007F9B4}"/>
              </a:ext>
            </a:extLst>
          </p:cNvPr>
          <p:cNvGrpSpPr>
            <a:grpSpLocks/>
          </p:cNvGrpSpPr>
          <p:nvPr/>
        </p:nvGrpSpPr>
        <p:grpSpPr bwMode="auto">
          <a:xfrm>
            <a:off x="3313466" y="1755286"/>
            <a:ext cx="5321300" cy="1963738"/>
            <a:chOff x="1389" y="1239"/>
            <a:chExt cx="2276" cy="1533"/>
          </a:xfrm>
          <a:solidFill>
            <a:schemeClr val="bg2"/>
          </a:solidFill>
        </p:grpSpPr>
        <p:sp>
          <p:nvSpPr>
            <p:cNvPr id="10" name="Rectangle 3">
              <a:extLst>
                <a:ext uri="{FF2B5EF4-FFF2-40B4-BE49-F238E27FC236}">
                  <a16:creationId xmlns:a16="http://schemas.microsoft.com/office/drawing/2014/main" id="{BFF6B01D-81FD-E36B-526D-EB42286AFECE}"/>
                </a:ext>
              </a:extLst>
            </p:cNvPr>
            <p:cNvSpPr>
              <a:spLocks noChangeArrowheads="1"/>
            </p:cNvSpPr>
            <p:nvPr/>
          </p:nvSpPr>
          <p:spPr bwMode="auto">
            <a:xfrm>
              <a:off x="1389" y="1239"/>
              <a:ext cx="2276" cy="1533"/>
            </a:xfrm>
            <a:prstGeom prst="rect">
              <a:avLst/>
            </a:prstGeom>
            <a:grpFill/>
            <a:ln w="12700" cap="sq">
              <a:solidFill>
                <a:srgbClr val="0033CC"/>
              </a:solidFill>
              <a:miter lim="800000"/>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latin typeface="Roboto" panose="02000000000000000000" pitchFamily="2" charset="0"/>
                <a:ea typeface="Roboto" panose="02000000000000000000" pitchFamily="2" charset="0"/>
              </a:endParaRPr>
            </a:p>
          </p:txBody>
        </p:sp>
        <p:sp>
          <p:nvSpPr>
            <p:cNvPr id="11" name="Text Box 4">
              <a:extLst>
                <a:ext uri="{FF2B5EF4-FFF2-40B4-BE49-F238E27FC236}">
                  <a16:creationId xmlns:a16="http://schemas.microsoft.com/office/drawing/2014/main" id="{2C093CE2-4B2B-5575-A76C-E27A857C67B3}"/>
                </a:ext>
              </a:extLst>
            </p:cNvPr>
            <p:cNvSpPr txBox="1">
              <a:spLocks noChangeArrowheads="1"/>
            </p:cNvSpPr>
            <p:nvPr/>
          </p:nvSpPr>
          <p:spPr bwMode="auto">
            <a:xfrm>
              <a:off x="1408" y="1291"/>
              <a:ext cx="2244" cy="263"/>
            </a:xfrm>
            <a:prstGeom prst="rect">
              <a:avLst/>
            </a:prstGeom>
            <a:grpFill/>
            <a:ln>
              <a:noFill/>
            </a:ln>
            <a:extLs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600" i="1" dirty="0">
                  <a:latin typeface="Roboto" panose="02000000000000000000" pitchFamily="2" charset="0"/>
                  <a:ea typeface="Roboto" panose="02000000000000000000" pitchFamily="2" charset="0"/>
                </a:rPr>
                <a:t>5S Event</a:t>
              </a:r>
            </a:p>
          </p:txBody>
        </p:sp>
      </p:grpSp>
      <p:cxnSp>
        <p:nvCxnSpPr>
          <p:cNvPr id="12" name="AutoShape 6">
            <a:extLst>
              <a:ext uri="{FF2B5EF4-FFF2-40B4-BE49-F238E27FC236}">
                <a16:creationId xmlns:a16="http://schemas.microsoft.com/office/drawing/2014/main" id="{0B479746-6537-83B8-569A-9B3ED9EF7791}"/>
              </a:ext>
            </a:extLst>
          </p:cNvPr>
          <p:cNvCxnSpPr>
            <a:cxnSpLocks noChangeShapeType="1"/>
          </p:cNvCxnSpPr>
          <p:nvPr/>
        </p:nvCxnSpPr>
        <p:spPr bwMode="auto">
          <a:xfrm>
            <a:off x="4978753" y="3017349"/>
            <a:ext cx="246063"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3" name="AutoShape 7">
            <a:extLst>
              <a:ext uri="{FF2B5EF4-FFF2-40B4-BE49-F238E27FC236}">
                <a16:creationId xmlns:a16="http://schemas.microsoft.com/office/drawing/2014/main" id="{3A936EF3-10C6-FE01-ED23-FC8B665690CD}"/>
              </a:ext>
            </a:extLst>
          </p:cNvPr>
          <p:cNvCxnSpPr>
            <a:cxnSpLocks noChangeShapeType="1"/>
            <a:stCxn id="22" idx="3"/>
            <a:endCxn id="25" idx="1"/>
          </p:cNvCxnSpPr>
          <p:nvPr/>
        </p:nvCxnSpPr>
        <p:spPr bwMode="auto">
          <a:xfrm>
            <a:off x="6728178" y="2993536"/>
            <a:ext cx="250825"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14" name="AutoShape 8">
            <a:extLst>
              <a:ext uri="{FF2B5EF4-FFF2-40B4-BE49-F238E27FC236}">
                <a16:creationId xmlns:a16="http://schemas.microsoft.com/office/drawing/2014/main" id="{692BE232-CA44-47AD-D944-DB478397C1AC}"/>
              </a:ext>
            </a:extLst>
          </p:cNvPr>
          <p:cNvCxnSpPr>
            <a:cxnSpLocks noChangeShapeType="1"/>
            <a:stCxn id="25" idx="3"/>
            <a:endCxn id="34" idx="1"/>
          </p:cNvCxnSpPr>
          <p:nvPr/>
        </p:nvCxnSpPr>
        <p:spPr bwMode="auto">
          <a:xfrm flipV="1">
            <a:off x="8499828" y="2991949"/>
            <a:ext cx="269875" cy="1587"/>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15" name="Rectangle 9">
            <a:extLst>
              <a:ext uri="{FF2B5EF4-FFF2-40B4-BE49-F238E27FC236}">
                <a16:creationId xmlns:a16="http://schemas.microsoft.com/office/drawing/2014/main" id="{C7FA84F2-6F84-8160-2AEF-9C7232E9F3FD}"/>
              </a:ext>
            </a:extLst>
          </p:cNvPr>
          <p:cNvSpPr>
            <a:spLocks noChangeArrowheads="1"/>
          </p:cNvSpPr>
          <p:nvPr/>
        </p:nvSpPr>
        <p:spPr bwMode="auto">
          <a:xfrm>
            <a:off x="1546578" y="3798399"/>
            <a:ext cx="1828800" cy="2049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Tx/>
              <a:buFont typeface="Arial" panose="020B0604020202020204" pitchFamily="34" charset="0"/>
              <a:buChar char="•"/>
            </a:pPr>
            <a:r>
              <a:rPr lang="en-US" altLang="en-US" sz="1200" dirty="0">
                <a:latin typeface="Roboto" panose="02000000000000000000" pitchFamily="2" charset="0"/>
                <a:ea typeface="Roboto" panose="02000000000000000000" pitchFamily="2" charset="0"/>
              </a:rPr>
              <a:t>Complete event charter &amp; preparation</a:t>
            </a:r>
          </a:p>
        </p:txBody>
      </p:sp>
      <p:sp>
        <p:nvSpPr>
          <p:cNvPr id="16" name="Rectangle 10">
            <a:extLst>
              <a:ext uri="{FF2B5EF4-FFF2-40B4-BE49-F238E27FC236}">
                <a16:creationId xmlns:a16="http://schemas.microsoft.com/office/drawing/2014/main" id="{02A6F1F3-0762-61C5-FEE7-8A9372C9E8BF}"/>
              </a:ext>
            </a:extLst>
          </p:cNvPr>
          <p:cNvSpPr>
            <a:spLocks noChangeArrowheads="1"/>
          </p:cNvSpPr>
          <p:nvPr/>
        </p:nvSpPr>
        <p:spPr bwMode="auto">
          <a:xfrm>
            <a:off x="3286478" y="3798399"/>
            <a:ext cx="1828800" cy="185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Review pre-work and event charter with team</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Photograph areas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Measure virtual and physical space </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Identify waste</a:t>
            </a:r>
          </a:p>
        </p:txBody>
      </p:sp>
      <p:sp>
        <p:nvSpPr>
          <p:cNvPr id="17" name="Rectangle 11">
            <a:extLst>
              <a:ext uri="{FF2B5EF4-FFF2-40B4-BE49-F238E27FC236}">
                <a16:creationId xmlns:a16="http://schemas.microsoft.com/office/drawing/2014/main" id="{765EC4C9-9B43-A19C-5AF1-18A2C2D737C6}"/>
              </a:ext>
            </a:extLst>
          </p:cNvPr>
          <p:cNvSpPr>
            <a:spLocks noChangeArrowheads="1"/>
          </p:cNvSpPr>
          <p:nvPr/>
        </p:nvSpPr>
        <p:spPr bwMode="auto">
          <a:xfrm>
            <a:off x="5094641" y="3787286"/>
            <a:ext cx="1676400" cy="121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Implement 1S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Implement 2S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Implement 3S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Develop tools</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to stabilize and maintain results</a:t>
            </a:r>
          </a:p>
        </p:txBody>
      </p:sp>
      <p:sp>
        <p:nvSpPr>
          <p:cNvPr id="18" name="Rectangle 12">
            <a:extLst>
              <a:ext uri="{FF2B5EF4-FFF2-40B4-BE49-F238E27FC236}">
                <a16:creationId xmlns:a16="http://schemas.microsoft.com/office/drawing/2014/main" id="{C7416CD2-21DE-53A9-8C7C-1CA93EF6B0D4}"/>
              </a:ext>
            </a:extLst>
          </p:cNvPr>
          <p:cNvSpPr>
            <a:spLocks noChangeArrowheads="1"/>
          </p:cNvSpPr>
          <p:nvPr/>
        </p:nvSpPr>
        <p:spPr bwMode="auto">
          <a:xfrm>
            <a:off x="6794853" y="3772999"/>
            <a:ext cx="18288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Photograph areas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Measure virtual</a:t>
            </a:r>
            <a:br>
              <a:rPr lang="en-US" altLang="en-US" sz="1200">
                <a:latin typeface="Roboto" panose="02000000000000000000" pitchFamily="2" charset="0"/>
                <a:ea typeface="Roboto" panose="02000000000000000000" pitchFamily="2" charset="0"/>
              </a:rPr>
            </a:br>
            <a:r>
              <a:rPr lang="en-US" altLang="en-US" sz="1200">
                <a:latin typeface="Roboto" panose="02000000000000000000" pitchFamily="2" charset="0"/>
                <a:ea typeface="Roboto" panose="02000000000000000000" pitchFamily="2" charset="0"/>
              </a:rPr>
              <a:t>&amp; physical space</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Quantify waste reduction</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Implement 4S tools</a:t>
            </a: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p:txBody>
      </p:sp>
      <p:cxnSp>
        <p:nvCxnSpPr>
          <p:cNvPr id="19" name="AutoShape 13">
            <a:extLst>
              <a:ext uri="{FF2B5EF4-FFF2-40B4-BE49-F238E27FC236}">
                <a16:creationId xmlns:a16="http://schemas.microsoft.com/office/drawing/2014/main" id="{CF65FD51-3C23-AAFB-4DC9-9A9F26D7DCD2}"/>
              </a:ext>
            </a:extLst>
          </p:cNvPr>
          <p:cNvCxnSpPr>
            <a:cxnSpLocks noChangeShapeType="1"/>
          </p:cNvCxnSpPr>
          <p:nvPr/>
        </p:nvCxnSpPr>
        <p:spPr bwMode="auto">
          <a:xfrm>
            <a:off x="3192816" y="2991949"/>
            <a:ext cx="246062" cy="0"/>
          </a:xfrm>
          <a:prstGeom prst="straightConnector1">
            <a:avLst/>
          </a:prstGeom>
          <a:noFill/>
          <a:ln w="38100" cap="sq">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20" name="Rectangle 14">
            <a:extLst>
              <a:ext uri="{FF2B5EF4-FFF2-40B4-BE49-F238E27FC236}">
                <a16:creationId xmlns:a16="http://schemas.microsoft.com/office/drawing/2014/main" id="{17252DA2-2425-81C1-3A62-E0B91F89C5C0}"/>
              </a:ext>
            </a:extLst>
          </p:cNvPr>
          <p:cNvSpPr>
            <a:spLocks noChangeArrowheads="1"/>
          </p:cNvSpPr>
          <p:nvPr/>
        </p:nvSpPr>
        <p:spPr bwMode="auto">
          <a:xfrm>
            <a:off x="8595078" y="3771411"/>
            <a:ext cx="182880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tabLst>
                <a:tab pos="3086100" algn="l"/>
              </a:tabLst>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tabLst>
                <a:tab pos="3086100" algn="l"/>
              </a:tabLst>
              <a:defRPr sz="2000">
                <a:solidFill>
                  <a:schemeClr val="tx1"/>
                </a:solidFill>
                <a:latin typeface="Book Antiqua" panose="02040602050305030304" pitchFamily="18" charset="0"/>
                <a:ea typeface="ＭＳ Ｐゴシック" panose="020B0600070205080204" pitchFamily="34" charset="-128"/>
              </a:defRPr>
            </a:lvl9pPr>
          </a:lstStyle>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Sustain results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Develop habits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Improve processes</a:t>
            </a:r>
          </a:p>
          <a:p>
            <a:pPr eaLnBrk="1" hangingPunct="1">
              <a:lnSpc>
                <a:spcPct val="100000"/>
              </a:lnSpc>
              <a:spcBef>
                <a:spcPct val="30000"/>
              </a:spcBef>
              <a:spcAft>
                <a:spcPct val="0"/>
              </a:spcAft>
              <a:buClrTx/>
              <a:buFont typeface="Arial" panose="020B0604020202020204" pitchFamily="34" charset="0"/>
              <a:buChar char="•"/>
            </a:pPr>
            <a:r>
              <a:rPr lang="en-US" altLang="en-US" sz="1200">
                <a:latin typeface="Roboto" panose="02000000000000000000" pitchFamily="2" charset="0"/>
                <a:ea typeface="Roboto" panose="02000000000000000000" pitchFamily="2" charset="0"/>
              </a:rPr>
              <a:t>Implement for entire business</a:t>
            </a: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a:p>
            <a:pPr eaLnBrk="1" hangingPunct="1">
              <a:lnSpc>
                <a:spcPct val="100000"/>
              </a:lnSpc>
              <a:spcBef>
                <a:spcPct val="30000"/>
              </a:spcBef>
              <a:spcAft>
                <a:spcPct val="0"/>
              </a:spcAft>
              <a:buClrTx/>
              <a:buFont typeface="Arial" panose="020B0604020202020204" pitchFamily="34" charset="0"/>
              <a:buChar char="•"/>
            </a:pPr>
            <a:endParaRPr lang="en-US" altLang="en-US" sz="1200">
              <a:latin typeface="Roboto" panose="02000000000000000000" pitchFamily="2" charset="0"/>
              <a:ea typeface="Roboto" panose="02000000000000000000" pitchFamily="2" charset="0"/>
            </a:endParaRPr>
          </a:p>
        </p:txBody>
      </p:sp>
      <p:grpSp>
        <p:nvGrpSpPr>
          <p:cNvPr id="21" name="Group 20">
            <a:extLst>
              <a:ext uri="{FF2B5EF4-FFF2-40B4-BE49-F238E27FC236}">
                <a16:creationId xmlns:a16="http://schemas.microsoft.com/office/drawing/2014/main" id="{6DA4F756-E1D6-6EFD-3819-D6FC4D5B6006}"/>
              </a:ext>
            </a:extLst>
          </p:cNvPr>
          <p:cNvGrpSpPr>
            <a:grpSpLocks/>
          </p:cNvGrpSpPr>
          <p:nvPr/>
        </p:nvGrpSpPr>
        <p:grpSpPr bwMode="auto">
          <a:xfrm>
            <a:off x="5207353" y="2191849"/>
            <a:ext cx="1522413" cy="1341437"/>
            <a:chOff x="2597" y="1761"/>
            <a:chExt cx="959" cy="845"/>
          </a:xfrm>
        </p:grpSpPr>
        <p:sp>
          <p:nvSpPr>
            <p:cNvPr id="22" name="Rectangle 21">
              <a:extLst>
                <a:ext uri="{FF2B5EF4-FFF2-40B4-BE49-F238E27FC236}">
                  <a16:creationId xmlns:a16="http://schemas.microsoft.com/office/drawing/2014/main" id="{AA6FE4AE-1D89-A3E3-1111-B88CBECFE740}"/>
                </a:ext>
              </a:extLst>
            </p:cNvPr>
            <p:cNvSpPr>
              <a:spLocks noChangeArrowheads="1"/>
            </p:cNvSpPr>
            <p:nvPr/>
          </p:nvSpPr>
          <p:spPr bwMode="auto">
            <a:xfrm>
              <a:off x="2597" y="1926"/>
              <a:ext cx="958" cy="68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Execute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Process</a:t>
              </a:r>
            </a:p>
          </p:txBody>
        </p:sp>
        <p:sp>
          <p:nvSpPr>
            <p:cNvPr id="23" name="Rectangle 22">
              <a:extLst>
                <a:ext uri="{FF2B5EF4-FFF2-40B4-BE49-F238E27FC236}">
                  <a16:creationId xmlns:a16="http://schemas.microsoft.com/office/drawing/2014/main" id="{3AC9E3A4-7147-F27D-CEAE-06988D27A9B8}"/>
                </a:ext>
              </a:extLst>
            </p:cNvPr>
            <p:cNvSpPr>
              <a:spLocks noChangeArrowheads="1"/>
            </p:cNvSpPr>
            <p:nvPr/>
          </p:nvSpPr>
          <p:spPr bwMode="auto">
            <a:xfrm>
              <a:off x="2597" y="1761"/>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3</a:t>
              </a:r>
            </a:p>
          </p:txBody>
        </p:sp>
      </p:grpSp>
      <p:grpSp>
        <p:nvGrpSpPr>
          <p:cNvPr id="24" name="Group 23">
            <a:extLst>
              <a:ext uri="{FF2B5EF4-FFF2-40B4-BE49-F238E27FC236}">
                <a16:creationId xmlns:a16="http://schemas.microsoft.com/office/drawing/2014/main" id="{0AC8105A-CE55-686A-8E20-D552A9BEC9D3}"/>
              </a:ext>
            </a:extLst>
          </p:cNvPr>
          <p:cNvGrpSpPr>
            <a:grpSpLocks/>
          </p:cNvGrpSpPr>
          <p:nvPr/>
        </p:nvGrpSpPr>
        <p:grpSpPr bwMode="auto">
          <a:xfrm>
            <a:off x="6979003" y="2191849"/>
            <a:ext cx="1522413" cy="1341437"/>
            <a:chOff x="3621" y="1754"/>
            <a:chExt cx="959" cy="845"/>
          </a:xfrm>
        </p:grpSpPr>
        <p:sp>
          <p:nvSpPr>
            <p:cNvPr id="25" name="Rectangle 24">
              <a:extLst>
                <a:ext uri="{FF2B5EF4-FFF2-40B4-BE49-F238E27FC236}">
                  <a16:creationId xmlns:a16="http://schemas.microsoft.com/office/drawing/2014/main" id="{4005908E-2A40-F8BF-1312-3AEF2F723860}"/>
                </a:ext>
              </a:extLst>
            </p:cNvPr>
            <p:cNvSpPr>
              <a:spLocks noChangeArrowheads="1"/>
            </p:cNvSpPr>
            <p:nvPr/>
          </p:nvSpPr>
          <p:spPr bwMode="auto">
            <a:xfrm>
              <a:off x="3621" y="1919"/>
              <a:ext cx="958" cy="680"/>
            </a:xfrm>
            <a:prstGeom prst="rect">
              <a:avLst/>
            </a:prstGeom>
            <a:solidFill>
              <a:srgbClr val="FFFFFF"/>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Document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Results</a:t>
              </a:r>
            </a:p>
          </p:txBody>
        </p:sp>
        <p:sp>
          <p:nvSpPr>
            <p:cNvPr id="26" name="Rectangle 25">
              <a:extLst>
                <a:ext uri="{FF2B5EF4-FFF2-40B4-BE49-F238E27FC236}">
                  <a16:creationId xmlns:a16="http://schemas.microsoft.com/office/drawing/2014/main" id="{57FC835D-1063-4D15-0440-B3269CE8D9FE}"/>
                </a:ext>
              </a:extLst>
            </p:cNvPr>
            <p:cNvSpPr>
              <a:spLocks noChangeArrowheads="1"/>
            </p:cNvSpPr>
            <p:nvPr/>
          </p:nvSpPr>
          <p:spPr bwMode="auto">
            <a:xfrm>
              <a:off x="3621" y="175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4</a:t>
              </a:r>
            </a:p>
          </p:txBody>
        </p:sp>
      </p:grpSp>
      <p:grpSp>
        <p:nvGrpSpPr>
          <p:cNvPr id="27" name="Group 26">
            <a:extLst>
              <a:ext uri="{FF2B5EF4-FFF2-40B4-BE49-F238E27FC236}">
                <a16:creationId xmlns:a16="http://schemas.microsoft.com/office/drawing/2014/main" id="{22F238CE-C307-2583-D25A-79A0DB74A925}"/>
              </a:ext>
            </a:extLst>
          </p:cNvPr>
          <p:cNvGrpSpPr>
            <a:grpSpLocks/>
          </p:cNvGrpSpPr>
          <p:nvPr/>
        </p:nvGrpSpPr>
        <p:grpSpPr bwMode="auto">
          <a:xfrm>
            <a:off x="3437291" y="2191849"/>
            <a:ext cx="1522412" cy="1341437"/>
            <a:chOff x="1454" y="1761"/>
            <a:chExt cx="959" cy="845"/>
          </a:xfrm>
        </p:grpSpPr>
        <p:sp>
          <p:nvSpPr>
            <p:cNvPr id="28" name="Rectangle 27">
              <a:extLst>
                <a:ext uri="{FF2B5EF4-FFF2-40B4-BE49-F238E27FC236}">
                  <a16:creationId xmlns:a16="http://schemas.microsoft.com/office/drawing/2014/main" id="{E750B518-F84D-F56C-C0F8-39EB0E04E51C}"/>
                </a:ext>
              </a:extLst>
            </p:cNvPr>
            <p:cNvSpPr>
              <a:spLocks noChangeArrowheads="1"/>
            </p:cNvSpPr>
            <p:nvPr/>
          </p:nvSpPr>
          <p:spPr bwMode="auto">
            <a:xfrm>
              <a:off x="1454" y="1926"/>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Capture </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Before Event</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 Data</a:t>
              </a:r>
              <a:endParaRPr lang="en-US" altLang="en-US" sz="1400">
                <a:latin typeface="Roboto" panose="02000000000000000000" pitchFamily="2" charset="0"/>
                <a:ea typeface="Roboto" panose="02000000000000000000" pitchFamily="2" charset="0"/>
              </a:endParaRPr>
            </a:p>
          </p:txBody>
        </p:sp>
        <p:sp>
          <p:nvSpPr>
            <p:cNvPr id="29" name="Rectangle 28">
              <a:extLst>
                <a:ext uri="{FF2B5EF4-FFF2-40B4-BE49-F238E27FC236}">
                  <a16:creationId xmlns:a16="http://schemas.microsoft.com/office/drawing/2014/main" id="{9DC409C3-55AA-4E04-3BF0-E22CFE5AE44E}"/>
                </a:ext>
              </a:extLst>
            </p:cNvPr>
            <p:cNvSpPr>
              <a:spLocks noChangeArrowheads="1"/>
            </p:cNvSpPr>
            <p:nvPr/>
          </p:nvSpPr>
          <p:spPr bwMode="auto">
            <a:xfrm>
              <a:off x="1454" y="1761"/>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2</a:t>
              </a:r>
            </a:p>
          </p:txBody>
        </p:sp>
      </p:grpSp>
      <p:grpSp>
        <p:nvGrpSpPr>
          <p:cNvPr id="30" name="Group 29">
            <a:extLst>
              <a:ext uri="{FF2B5EF4-FFF2-40B4-BE49-F238E27FC236}">
                <a16:creationId xmlns:a16="http://schemas.microsoft.com/office/drawing/2014/main" id="{8C464437-8B6D-C7AF-4AB3-A7907912E303}"/>
              </a:ext>
            </a:extLst>
          </p:cNvPr>
          <p:cNvGrpSpPr>
            <a:grpSpLocks/>
          </p:cNvGrpSpPr>
          <p:nvPr/>
        </p:nvGrpSpPr>
        <p:grpSpPr bwMode="auto">
          <a:xfrm>
            <a:off x="1649766" y="2198199"/>
            <a:ext cx="1522412" cy="1341437"/>
            <a:chOff x="323" y="1764"/>
            <a:chExt cx="959" cy="845"/>
          </a:xfrm>
        </p:grpSpPr>
        <p:sp>
          <p:nvSpPr>
            <p:cNvPr id="31" name="Rectangle 30">
              <a:extLst>
                <a:ext uri="{FF2B5EF4-FFF2-40B4-BE49-F238E27FC236}">
                  <a16:creationId xmlns:a16="http://schemas.microsoft.com/office/drawing/2014/main" id="{37066353-DBCC-1B34-7665-0AE6A3B380F1}"/>
                </a:ext>
              </a:extLst>
            </p:cNvPr>
            <p:cNvSpPr>
              <a:spLocks noChangeArrowheads="1"/>
            </p:cNvSpPr>
            <p:nvPr/>
          </p:nvSpPr>
          <p:spPr bwMode="auto">
            <a:xfrm>
              <a:off x="323" y="1929"/>
              <a:ext cx="958" cy="680"/>
            </a:xfrm>
            <a:prstGeom prst="rect">
              <a:avLst/>
            </a:prstGeom>
            <a:solidFill>
              <a:schemeClr val="bg1"/>
            </a:solidFill>
            <a:ln w="12700" cap="sq">
              <a:solidFill>
                <a:schemeClr val="tx1"/>
              </a:solidFill>
              <a:miter lim="800000"/>
              <a:headEnd/>
              <a:tailEnd/>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Complete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Event</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Pre-Work</a:t>
              </a:r>
            </a:p>
          </p:txBody>
        </p:sp>
        <p:sp>
          <p:nvSpPr>
            <p:cNvPr id="32" name="Rectangle 31">
              <a:extLst>
                <a:ext uri="{FF2B5EF4-FFF2-40B4-BE49-F238E27FC236}">
                  <a16:creationId xmlns:a16="http://schemas.microsoft.com/office/drawing/2014/main" id="{304E17C9-A0E9-8C6E-8997-ECB0E6A77EEB}"/>
                </a:ext>
              </a:extLst>
            </p:cNvPr>
            <p:cNvSpPr>
              <a:spLocks noChangeArrowheads="1"/>
            </p:cNvSpPr>
            <p:nvPr/>
          </p:nvSpPr>
          <p:spPr bwMode="auto">
            <a:xfrm>
              <a:off x="323" y="1764"/>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rPr>
                <a:t>PROCESS STEP 1</a:t>
              </a:r>
            </a:p>
          </p:txBody>
        </p:sp>
      </p:grpSp>
      <p:grpSp>
        <p:nvGrpSpPr>
          <p:cNvPr id="33" name="Group 32">
            <a:extLst>
              <a:ext uri="{FF2B5EF4-FFF2-40B4-BE49-F238E27FC236}">
                <a16:creationId xmlns:a16="http://schemas.microsoft.com/office/drawing/2014/main" id="{41C55844-5052-ADFD-9C0F-8D603CE3AD24}"/>
              </a:ext>
            </a:extLst>
          </p:cNvPr>
          <p:cNvGrpSpPr>
            <a:grpSpLocks/>
          </p:cNvGrpSpPr>
          <p:nvPr/>
        </p:nvGrpSpPr>
        <p:grpSpPr bwMode="auto">
          <a:xfrm>
            <a:off x="8769703" y="2190261"/>
            <a:ext cx="1522413" cy="1341438"/>
            <a:chOff x="4667" y="1753"/>
            <a:chExt cx="959" cy="845"/>
          </a:xfrm>
        </p:grpSpPr>
        <p:sp>
          <p:nvSpPr>
            <p:cNvPr id="34" name="Rectangle 33">
              <a:extLst>
                <a:ext uri="{FF2B5EF4-FFF2-40B4-BE49-F238E27FC236}">
                  <a16:creationId xmlns:a16="http://schemas.microsoft.com/office/drawing/2014/main" id="{6D1CB011-456A-D245-7B8B-806840F2E706}"/>
                </a:ext>
              </a:extLst>
            </p:cNvPr>
            <p:cNvSpPr>
              <a:spLocks noChangeArrowheads="1"/>
            </p:cNvSpPr>
            <p:nvPr/>
          </p:nvSpPr>
          <p:spPr bwMode="auto">
            <a:xfrm>
              <a:off x="4667" y="1918"/>
              <a:ext cx="958" cy="680"/>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Achieve</a:t>
              </a:r>
              <a:br>
                <a:rPr lang="en-US" altLang="en-US" sz="1400">
                  <a:latin typeface="Roboto" panose="02000000000000000000" pitchFamily="2" charset="0"/>
                  <a:ea typeface="Roboto" panose="02000000000000000000" pitchFamily="2" charset="0"/>
                </a:rPr>
              </a:br>
              <a:r>
                <a:rPr lang="en-US" altLang="en-US" sz="1400">
                  <a:latin typeface="Roboto" panose="02000000000000000000" pitchFamily="2" charset="0"/>
                  <a:ea typeface="Roboto" panose="02000000000000000000" pitchFamily="2" charset="0"/>
                </a:rPr>
                <a:t>5S Culture</a:t>
              </a:r>
            </a:p>
          </p:txBody>
        </p:sp>
        <p:sp>
          <p:nvSpPr>
            <p:cNvPr id="35" name="Rectangle 34">
              <a:extLst>
                <a:ext uri="{FF2B5EF4-FFF2-40B4-BE49-F238E27FC236}">
                  <a16:creationId xmlns:a16="http://schemas.microsoft.com/office/drawing/2014/main" id="{0A24220A-85CE-C68F-B4B0-B35E1F25579D}"/>
                </a:ext>
              </a:extLst>
            </p:cNvPr>
            <p:cNvSpPr>
              <a:spLocks noChangeArrowheads="1"/>
            </p:cNvSpPr>
            <p:nvPr/>
          </p:nvSpPr>
          <p:spPr bwMode="auto">
            <a:xfrm>
              <a:off x="4667" y="1753"/>
              <a:ext cx="959" cy="159"/>
            </a:xfrm>
            <a:prstGeom prst="rect">
              <a:avLst/>
            </a:prstGeom>
            <a:solidFill>
              <a:schemeClr val="accent1"/>
            </a:solidFill>
            <a:ln w="12700" cap="sq">
              <a:solidFill>
                <a:schemeClr val="tx1"/>
              </a:solidFill>
              <a:miter lim="800000"/>
              <a:headEnd/>
              <a:tailEnd/>
            </a:ln>
          </p:spPr>
          <p:txBody>
            <a:bodyPr wrap="none" anchor="ctr" anchorCtr="1"/>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200">
                  <a:solidFill>
                    <a:schemeClr val="bg1"/>
                  </a:solidFill>
                  <a:latin typeface="Roboto" panose="02000000000000000000" pitchFamily="2" charset="0"/>
                  <a:ea typeface="Roboto" panose="02000000000000000000" pitchFamily="2" charset="0"/>
                </a:rPr>
                <a:t>PROCESS STEP 5</a:t>
              </a:r>
            </a:p>
          </p:txBody>
        </p:sp>
      </p:grpSp>
      <p:sp>
        <p:nvSpPr>
          <p:cNvPr id="36" name="AutoShape 35">
            <a:extLst>
              <a:ext uri="{FF2B5EF4-FFF2-40B4-BE49-F238E27FC236}">
                <a16:creationId xmlns:a16="http://schemas.microsoft.com/office/drawing/2014/main" id="{9C9C0D39-6400-2B35-F1A3-ACCB890AD419}"/>
              </a:ext>
            </a:extLst>
          </p:cNvPr>
          <p:cNvSpPr>
            <a:spLocks noChangeArrowheads="1"/>
          </p:cNvSpPr>
          <p:nvPr/>
        </p:nvSpPr>
        <p:spPr bwMode="auto">
          <a:xfrm>
            <a:off x="1913291" y="5747849"/>
            <a:ext cx="8204200" cy="520700"/>
          </a:xfrm>
          <a:prstGeom prst="homePlate">
            <a:avLst>
              <a:gd name="adj" fmla="val 32169"/>
            </a:avLst>
          </a:prstGeom>
          <a:solidFill>
            <a:schemeClr val="tx2"/>
          </a:solidFill>
          <a:ln>
            <a:noFill/>
          </a:ln>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5S has been quoted as the most important of all lean tools</a:t>
            </a:r>
          </a:p>
        </p:txBody>
      </p:sp>
    </p:spTree>
    <p:extLst>
      <p:ext uri="{BB962C8B-B14F-4D97-AF65-F5344CB8AC3E}">
        <p14:creationId xmlns:p14="http://schemas.microsoft.com/office/powerpoint/2010/main" val="40858763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3"/>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5S Discussion</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19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the impact of 5S in your work area.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bg1">
              <a:lumMod val="50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discuss the issues you have seen in your work environment as a result of a lack of 5S. What wastes were caused?</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personal advantages do you see to working in a 5S culture?</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Table answers on a chart paper.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645318"/>
            <a:ext cx="4681292" cy="1210588"/>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One person from each group reports to rest of class results of</a:t>
            </a:r>
            <a:b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br>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discussion. </a:t>
            </a:r>
          </a:p>
        </p:txBody>
      </p:sp>
      <p:grpSp>
        <p:nvGrpSpPr>
          <p:cNvPr id="3" name="Group 2">
            <a:extLst>
              <a:ext uri="{FF2B5EF4-FFF2-40B4-BE49-F238E27FC236}">
                <a16:creationId xmlns:a16="http://schemas.microsoft.com/office/drawing/2014/main" id="{4668AA49-5E06-15FB-9A28-3170A331285B}"/>
              </a:ext>
            </a:extLst>
          </p:cNvPr>
          <p:cNvGrpSpPr/>
          <p:nvPr/>
        </p:nvGrpSpPr>
        <p:grpSpPr>
          <a:xfrm>
            <a:off x="940249" y="289611"/>
            <a:ext cx="1060167" cy="324859"/>
            <a:chOff x="940249" y="315206"/>
            <a:chExt cx="1060167" cy="265062"/>
          </a:xfrm>
        </p:grpSpPr>
        <p:sp>
          <p:nvSpPr>
            <p:cNvPr id="4" name="AutoShape 9">
              <a:extLst>
                <a:ext uri="{FF2B5EF4-FFF2-40B4-BE49-F238E27FC236}">
                  <a16:creationId xmlns:a16="http://schemas.microsoft.com/office/drawing/2014/main" id="{8EA98C4F-69C5-9E9D-B53B-25926DB878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DF53C942-A832-95F7-E376-017AC6D9D3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B3B27A0F-49EF-A51F-7A88-6C392FA1B49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BE19475E-795F-5D94-77E2-9BB9D72BA71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12837543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rmAutofit/>
          </a:bodyPr>
          <a:lstStyle/>
          <a:p>
            <a:r>
              <a:rPr lang="en-US" sz="4000" dirty="0">
                <a:latin typeface="Roboto Medium"/>
                <a:ea typeface="Roboto Medium"/>
                <a:cs typeface="Roboto Medium"/>
              </a:rPr>
              <a:t>Exercise: 5S Charter Review</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20</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5S Charter for the event against charter criteria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the event charter and answer the following questions: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is the business need for this event?</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clear geographic boundaries?</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Who is the owner?</a:t>
            </a: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What are the goals for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30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829984"/>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Make any modifications to charter as necessary. </a:t>
            </a:r>
          </a:p>
        </p:txBody>
      </p:sp>
      <p:grpSp>
        <p:nvGrpSpPr>
          <p:cNvPr id="3" name="Group 2">
            <a:extLst>
              <a:ext uri="{FF2B5EF4-FFF2-40B4-BE49-F238E27FC236}">
                <a16:creationId xmlns:a16="http://schemas.microsoft.com/office/drawing/2014/main" id="{4668AA49-5E06-15FB-9A28-3170A331285B}"/>
              </a:ext>
            </a:extLst>
          </p:cNvPr>
          <p:cNvGrpSpPr/>
          <p:nvPr/>
        </p:nvGrpSpPr>
        <p:grpSpPr>
          <a:xfrm>
            <a:off x="940249" y="289611"/>
            <a:ext cx="1060167" cy="324859"/>
            <a:chOff x="940249" y="315206"/>
            <a:chExt cx="1060167" cy="265062"/>
          </a:xfrm>
        </p:grpSpPr>
        <p:sp>
          <p:nvSpPr>
            <p:cNvPr id="4" name="AutoShape 9">
              <a:extLst>
                <a:ext uri="{FF2B5EF4-FFF2-40B4-BE49-F238E27FC236}">
                  <a16:creationId xmlns:a16="http://schemas.microsoft.com/office/drawing/2014/main" id="{8EA98C4F-69C5-9E9D-B53B-25926DB878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DF53C942-A832-95F7-E376-017AC6D9D3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B3B27A0F-49EF-A51F-7A88-6C392FA1B49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BE19475E-795F-5D94-77E2-9BB9D72BA71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29636008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Exercise: 5S Gemba Tour</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21</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Review the area for the 5S event to examine current conditions.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go to the area identified in the charter for the 5S event to examine the current conditions. </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observations.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Discussion of observations. </a:t>
            </a:r>
          </a:p>
        </p:txBody>
      </p:sp>
      <p:grpSp>
        <p:nvGrpSpPr>
          <p:cNvPr id="3" name="Group 2">
            <a:extLst>
              <a:ext uri="{FF2B5EF4-FFF2-40B4-BE49-F238E27FC236}">
                <a16:creationId xmlns:a16="http://schemas.microsoft.com/office/drawing/2014/main" id="{4668AA49-5E06-15FB-9A28-3170A331285B}"/>
              </a:ext>
            </a:extLst>
          </p:cNvPr>
          <p:cNvGrpSpPr/>
          <p:nvPr/>
        </p:nvGrpSpPr>
        <p:grpSpPr>
          <a:xfrm>
            <a:off x="940249" y="289611"/>
            <a:ext cx="1060167" cy="324859"/>
            <a:chOff x="940249" y="315206"/>
            <a:chExt cx="1060167" cy="265062"/>
          </a:xfrm>
        </p:grpSpPr>
        <p:sp>
          <p:nvSpPr>
            <p:cNvPr id="4" name="AutoShape 9">
              <a:extLst>
                <a:ext uri="{FF2B5EF4-FFF2-40B4-BE49-F238E27FC236}">
                  <a16:creationId xmlns:a16="http://schemas.microsoft.com/office/drawing/2014/main" id="{8EA98C4F-69C5-9E9D-B53B-25926DB87809}"/>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6" name="AutoShape 10">
              <a:extLst>
                <a:ext uri="{FF2B5EF4-FFF2-40B4-BE49-F238E27FC236}">
                  <a16:creationId xmlns:a16="http://schemas.microsoft.com/office/drawing/2014/main" id="{DF53C942-A832-95F7-E376-017AC6D9D3B6}"/>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7" name="AutoShape 11">
              <a:extLst>
                <a:ext uri="{FF2B5EF4-FFF2-40B4-BE49-F238E27FC236}">
                  <a16:creationId xmlns:a16="http://schemas.microsoft.com/office/drawing/2014/main" id="{B3B27A0F-49EF-A51F-7A88-6C392FA1B494}"/>
                </a:ext>
              </a:extLst>
            </p:cNvPr>
            <p:cNvSpPr>
              <a:spLocks noChangeArrowheads="1"/>
            </p:cNvSpPr>
            <p:nvPr/>
          </p:nvSpPr>
          <p:spPr bwMode="auto">
            <a:xfrm>
              <a:off x="940249"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sp>
        <p:nvSpPr>
          <p:cNvPr id="8" name="TextBox 7">
            <a:extLst>
              <a:ext uri="{FF2B5EF4-FFF2-40B4-BE49-F238E27FC236}">
                <a16:creationId xmlns:a16="http://schemas.microsoft.com/office/drawing/2014/main" id="{BE19475E-795F-5D94-77E2-9BB9D72BA712}"/>
              </a:ext>
            </a:extLst>
          </p:cNvPr>
          <p:cNvSpPr txBox="1"/>
          <p:nvPr/>
        </p:nvSpPr>
        <p:spPr>
          <a:xfrm>
            <a:off x="2000416" y="323813"/>
            <a:ext cx="1708645"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Definition</a:t>
            </a:r>
          </a:p>
        </p:txBody>
      </p:sp>
    </p:spTree>
    <p:extLst>
      <p:ext uri="{BB962C8B-B14F-4D97-AF65-F5344CB8AC3E}">
        <p14:creationId xmlns:p14="http://schemas.microsoft.com/office/powerpoint/2010/main" val="3098950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Review the components to each step of 5S</a:t>
            </a:r>
          </a:p>
          <a:p>
            <a:r>
              <a:rPr lang="en-US" dirty="0"/>
              <a:t>Apply each step of the 5S process to your business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r>
                <a:rPr lang="en-US" altLang="en-US" sz="12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Definition</a:t>
              </a:r>
            </a:p>
          </p:txBody>
        </p:sp>
      </p:grpSp>
    </p:spTree>
    <p:extLst>
      <p:ext uri="{BB962C8B-B14F-4D97-AF65-F5344CB8AC3E}">
        <p14:creationId xmlns:p14="http://schemas.microsoft.com/office/powerpoint/2010/main" val="26073124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23</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407800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24</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rgbClr val="EE3629"/>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9765816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1S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25</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SEIRI</a:t>
            </a:r>
          </a:p>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Tidiness, organization. Refers to the practice of sorting through all the tools, materials, etc., in the work area and keeping only essential items. Everything else is stored or discarded. This leads to fewer hazards and less clutter to interfere with productive work.</a:t>
            </a:r>
            <a:r>
              <a:rPr lang="en-US" altLang="en-US" sz="1400" dirty="0">
                <a:solidFill>
                  <a:schemeClr val="bg1"/>
                </a:solidFill>
                <a:latin typeface="Roboto" panose="02000000000000000000" pitchFamily="2" charset="0"/>
                <a:ea typeface="Roboto" panose="02000000000000000000" pitchFamily="2" charset="0"/>
              </a:rPr>
              <a:t>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Reveal the process by eliminating what is unnecessary from the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Ask the questions:</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What is it for?</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Why do I have it?</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How often do I use it?</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Does someone else have the same thing?</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SORT</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Clearly distinguish between what is necessary and unnecessary and disposing of the unnecessary</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1S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 Japanese: SEIRI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English: SORT</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a:solidFill>
                  <a:schemeClr val="bg1"/>
                </a:solidFill>
                <a:latin typeface="Roboto" panose="02000000000000000000" pitchFamily="2" charset="0"/>
                <a:ea typeface="Roboto" panose="02000000000000000000" pitchFamily="2" charset="0"/>
              </a:rPr>
              <a:t>1S reveals the true process</a:t>
            </a:r>
          </a:p>
        </p:txBody>
      </p:sp>
    </p:spTree>
    <p:extLst>
      <p:ext uri="{BB962C8B-B14F-4D97-AF65-F5344CB8AC3E}">
        <p14:creationId xmlns:p14="http://schemas.microsoft.com/office/powerpoint/2010/main" val="19858742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1S Sort Strategy, continued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26</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8" name="Rectangle 3">
            <a:extLst>
              <a:ext uri="{FF2B5EF4-FFF2-40B4-BE49-F238E27FC236}">
                <a16:creationId xmlns:a16="http://schemas.microsoft.com/office/drawing/2014/main" id="{D4F6C07F-DA2D-B0EE-2296-BE7C1F428B5B}"/>
              </a:ext>
            </a:extLst>
          </p:cNvPr>
          <p:cNvSpPr>
            <a:spLocks noChangeArrowheads="1"/>
          </p:cNvSpPr>
          <p:nvPr/>
        </p:nvSpPr>
        <p:spPr bwMode="auto">
          <a:xfrm>
            <a:off x="1173611" y="2419655"/>
            <a:ext cx="1908175" cy="568325"/>
          </a:xfrm>
          <a:prstGeom prst="rect">
            <a:avLst/>
          </a:prstGeom>
          <a:noFill/>
          <a:ln w="12700" cap="sq">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Unnecessary</a:t>
            </a:r>
            <a:br>
              <a:rPr lang="en-US" altLang="en-US" sz="1400" dirty="0">
                <a:latin typeface="Roboto" panose="02000000000000000000" pitchFamily="2" charset="0"/>
                <a:ea typeface="Roboto" panose="02000000000000000000" pitchFamily="2" charset="0"/>
              </a:rPr>
            </a:br>
            <a:r>
              <a:rPr lang="en-US" altLang="en-US" sz="1400" dirty="0">
                <a:latin typeface="Roboto" panose="02000000000000000000" pitchFamily="2" charset="0"/>
                <a:ea typeface="Roboto" panose="02000000000000000000" pitchFamily="2" charset="0"/>
              </a:rPr>
              <a:t>Cannot be used</a:t>
            </a:r>
          </a:p>
        </p:txBody>
      </p:sp>
      <p:sp>
        <p:nvSpPr>
          <p:cNvPr id="19" name="Rectangle 4">
            <a:extLst>
              <a:ext uri="{FF2B5EF4-FFF2-40B4-BE49-F238E27FC236}">
                <a16:creationId xmlns:a16="http://schemas.microsoft.com/office/drawing/2014/main" id="{41DC0394-CB5B-48D1-7B69-DEB9FD379AA6}"/>
              </a:ext>
            </a:extLst>
          </p:cNvPr>
          <p:cNvSpPr>
            <a:spLocks noChangeArrowheads="1"/>
          </p:cNvSpPr>
          <p:nvPr/>
        </p:nvSpPr>
        <p:spPr bwMode="auto">
          <a:xfrm>
            <a:off x="1173611" y="3227693"/>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latin typeface="Roboto" panose="02000000000000000000" pitchFamily="2" charset="0"/>
                <a:ea typeface="Roboto" panose="02000000000000000000" pitchFamily="2" charset="0"/>
              </a:rPr>
              <a:t>Unlikely to be Used</a:t>
            </a:r>
          </a:p>
        </p:txBody>
      </p:sp>
      <p:sp>
        <p:nvSpPr>
          <p:cNvPr id="20" name="Rectangle 5">
            <a:extLst>
              <a:ext uri="{FF2B5EF4-FFF2-40B4-BE49-F238E27FC236}">
                <a16:creationId xmlns:a16="http://schemas.microsoft.com/office/drawing/2014/main" id="{9291E7C0-56CC-CE52-C777-6F4193B73995}"/>
              </a:ext>
            </a:extLst>
          </p:cNvPr>
          <p:cNvSpPr>
            <a:spLocks noChangeArrowheads="1"/>
          </p:cNvSpPr>
          <p:nvPr/>
        </p:nvSpPr>
        <p:spPr bwMode="auto">
          <a:xfrm>
            <a:off x="1173611" y="3992868"/>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Rarely Used</a:t>
            </a:r>
          </a:p>
        </p:txBody>
      </p:sp>
      <p:sp>
        <p:nvSpPr>
          <p:cNvPr id="21" name="Rectangle 6">
            <a:extLst>
              <a:ext uri="{FF2B5EF4-FFF2-40B4-BE49-F238E27FC236}">
                <a16:creationId xmlns:a16="http://schemas.microsoft.com/office/drawing/2014/main" id="{F17FFA2A-F2C1-FB5D-1485-312DC8BEACE0}"/>
              </a:ext>
            </a:extLst>
          </p:cNvPr>
          <p:cNvSpPr>
            <a:spLocks noChangeArrowheads="1"/>
          </p:cNvSpPr>
          <p:nvPr/>
        </p:nvSpPr>
        <p:spPr bwMode="auto">
          <a:xfrm>
            <a:off x="1173611" y="4726293"/>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Occasionally Used</a:t>
            </a:r>
          </a:p>
        </p:txBody>
      </p:sp>
      <p:sp>
        <p:nvSpPr>
          <p:cNvPr id="22" name="Line 7">
            <a:extLst>
              <a:ext uri="{FF2B5EF4-FFF2-40B4-BE49-F238E27FC236}">
                <a16:creationId xmlns:a16="http://schemas.microsoft.com/office/drawing/2014/main" id="{2A7594A8-D22E-5894-41B7-0C1DC16BBF94}"/>
              </a:ext>
            </a:extLst>
          </p:cNvPr>
          <p:cNvSpPr>
            <a:spLocks noChangeShapeType="1"/>
          </p:cNvSpPr>
          <p:nvPr/>
        </p:nvSpPr>
        <p:spPr bwMode="auto">
          <a:xfrm>
            <a:off x="1019624" y="3126093"/>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Line 8">
            <a:extLst>
              <a:ext uri="{FF2B5EF4-FFF2-40B4-BE49-F238E27FC236}">
                <a16:creationId xmlns:a16="http://schemas.microsoft.com/office/drawing/2014/main" id="{0D661B59-8690-F338-A855-BAB6CF3DD3BB}"/>
              </a:ext>
            </a:extLst>
          </p:cNvPr>
          <p:cNvSpPr>
            <a:spLocks noChangeShapeType="1"/>
          </p:cNvSpPr>
          <p:nvPr/>
        </p:nvSpPr>
        <p:spPr bwMode="auto">
          <a:xfrm>
            <a:off x="1035499" y="3903968"/>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4" name="Line 9">
            <a:extLst>
              <a:ext uri="{FF2B5EF4-FFF2-40B4-BE49-F238E27FC236}">
                <a16:creationId xmlns:a16="http://schemas.microsoft.com/office/drawing/2014/main" id="{DE3A186F-511D-824C-A638-6D2214E15A01}"/>
              </a:ext>
            </a:extLst>
          </p:cNvPr>
          <p:cNvSpPr>
            <a:spLocks noChangeShapeType="1"/>
          </p:cNvSpPr>
          <p:nvPr/>
        </p:nvSpPr>
        <p:spPr bwMode="auto">
          <a:xfrm>
            <a:off x="1005336" y="4648505"/>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5" name="Line 10">
            <a:extLst>
              <a:ext uri="{FF2B5EF4-FFF2-40B4-BE49-F238E27FC236}">
                <a16:creationId xmlns:a16="http://schemas.microsoft.com/office/drawing/2014/main" id="{93548140-C4C8-E5F5-2E3C-D61E9A75D3EF}"/>
              </a:ext>
            </a:extLst>
          </p:cNvPr>
          <p:cNvSpPr>
            <a:spLocks noChangeShapeType="1"/>
          </p:cNvSpPr>
          <p:nvPr/>
        </p:nvSpPr>
        <p:spPr bwMode="auto">
          <a:xfrm>
            <a:off x="1021211" y="543749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6" name="Rectangle 11">
            <a:extLst>
              <a:ext uri="{FF2B5EF4-FFF2-40B4-BE49-F238E27FC236}">
                <a16:creationId xmlns:a16="http://schemas.microsoft.com/office/drawing/2014/main" id="{7125C278-1E48-B652-0298-C92471BCD241}"/>
              </a:ext>
            </a:extLst>
          </p:cNvPr>
          <p:cNvSpPr>
            <a:spLocks noChangeArrowheads="1"/>
          </p:cNvSpPr>
          <p:nvPr/>
        </p:nvSpPr>
        <p:spPr bwMode="auto">
          <a:xfrm>
            <a:off x="4186686" y="240219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Discard or delete</a:t>
            </a:r>
          </a:p>
        </p:txBody>
      </p:sp>
      <p:sp>
        <p:nvSpPr>
          <p:cNvPr id="27" name="Rectangle 12">
            <a:extLst>
              <a:ext uri="{FF2B5EF4-FFF2-40B4-BE49-F238E27FC236}">
                <a16:creationId xmlns:a16="http://schemas.microsoft.com/office/drawing/2014/main" id="{D6311D6C-095F-5732-9A63-D36E8AFFC83E}"/>
              </a:ext>
            </a:extLst>
          </p:cNvPr>
          <p:cNvSpPr>
            <a:spLocks noChangeArrowheads="1"/>
          </p:cNvSpPr>
          <p:nvPr/>
        </p:nvSpPr>
        <p:spPr bwMode="auto">
          <a:xfrm>
            <a:off x="4189861" y="3232455"/>
            <a:ext cx="4981575"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Discard, delete or donate</a:t>
            </a:r>
            <a:endParaRPr lang="en-US" altLang="en-US" sz="1400" b="0">
              <a:latin typeface="Roboto" panose="02000000000000000000" pitchFamily="2" charset="0"/>
              <a:ea typeface="Roboto" panose="02000000000000000000" pitchFamily="2" charset="0"/>
            </a:endParaRPr>
          </a:p>
        </p:txBody>
      </p:sp>
      <p:sp>
        <p:nvSpPr>
          <p:cNvPr id="28" name="Rectangle 13">
            <a:extLst>
              <a:ext uri="{FF2B5EF4-FFF2-40B4-BE49-F238E27FC236}">
                <a16:creationId xmlns:a16="http://schemas.microsoft.com/office/drawing/2014/main" id="{4A70D4BE-9263-225A-2B32-706BA3C73EDC}"/>
              </a:ext>
            </a:extLst>
          </p:cNvPr>
          <p:cNvSpPr>
            <a:spLocks noChangeArrowheads="1"/>
          </p:cNvSpPr>
          <p:nvPr/>
        </p:nvSpPr>
        <p:spPr bwMode="auto">
          <a:xfrm>
            <a:off x="4189861" y="3997630"/>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remotely or electronically</a:t>
            </a:r>
            <a:endParaRPr lang="en-US" altLang="en-US" sz="1400" b="0">
              <a:latin typeface="Roboto" panose="02000000000000000000" pitchFamily="2" charset="0"/>
              <a:ea typeface="Roboto" panose="02000000000000000000" pitchFamily="2" charset="0"/>
            </a:endParaRPr>
          </a:p>
        </p:txBody>
      </p:sp>
      <p:sp>
        <p:nvSpPr>
          <p:cNvPr id="29" name="Rectangle 14">
            <a:extLst>
              <a:ext uri="{FF2B5EF4-FFF2-40B4-BE49-F238E27FC236}">
                <a16:creationId xmlns:a16="http://schemas.microsoft.com/office/drawing/2014/main" id="{AB274F70-48D1-FE6F-B526-33F373FF3E70}"/>
              </a:ext>
            </a:extLst>
          </p:cNvPr>
          <p:cNvSpPr>
            <a:spLocks noChangeArrowheads="1"/>
          </p:cNvSpPr>
          <p:nvPr/>
        </p:nvSpPr>
        <p:spPr bwMode="auto">
          <a:xfrm>
            <a:off x="4189861" y="473264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nearby for easy access</a:t>
            </a:r>
            <a:endParaRPr lang="en-US" altLang="en-US" sz="1400" b="0">
              <a:latin typeface="Roboto" panose="02000000000000000000" pitchFamily="2" charset="0"/>
              <a:ea typeface="Roboto" panose="02000000000000000000" pitchFamily="2" charset="0"/>
            </a:endParaRPr>
          </a:p>
        </p:txBody>
      </p:sp>
      <p:sp>
        <p:nvSpPr>
          <p:cNvPr id="30" name="Line 15">
            <a:extLst>
              <a:ext uri="{FF2B5EF4-FFF2-40B4-BE49-F238E27FC236}">
                <a16:creationId xmlns:a16="http://schemas.microsoft.com/office/drawing/2014/main" id="{9349D918-9F81-B696-28B5-F200388B67D0}"/>
              </a:ext>
            </a:extLst>
          </p:cNvPr>
          <p:cNvSpPr>
            <a:spLocks noChangeShapeType="1"/>
          </p:cNvSpPr>
          <p:nvPr/>
        </p:nvSpPr>
        <p:spPr bwMode="auto">
          <a:xfrm>
            <a:off x="1010099" y="2287893"/>
            <a:ext cx="8237537"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1" name="Text Box 16">
            <a:extLst>
              <a:ext uri="{FF2B5EF4-FFF2-40B4-BE49-F238E27FC236}">
                <a16:creationId xmlns:a16="http://schemas.microsoft.com/office/drawing/2014/main" id="{FE7370A0-CE50-EA36-71F4-012EB2EDE4A4}"/>
              </a:ext>
            </a:extLst>
          </p:cNvPr>
          <p:cNvSpPr txBox="1">
            <a:spLocks noChangeArrowheads="1"/>
          </p:cNvSpPr>
          <p:nvPr/>
        </p:nvSpPr>
        <p:spPr bwMode="auto">
          <a:xfrm>
            <a:off x="940249" y="1941818"/>
            <a:ext cx="4376519"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a:latin typeface="Roboto" panose="02000000000000000000" pitchFamily="2" charset="0"/>
                <a:ea typeface="Roboto" panose="02000000000000000000" pitchFamily="2" charset="0"/>
              </a:rPr>
              <a:t>Frequency of Use                     Disposition</a:t>
            </a:r>
          </a:p>
        </p:txBody>
      </p:sp>
      <p:sp>
        <p:nvSpPr>
          <p:cNvPr id="32" name="Rectangle 17">
            <a:extLst>
              <a:ext uri="{FF2B5EF4-FFF2-40B4-BE49-F238E27FC236}">
                <a16:creationId xmlns:a16="http://schemas.microsoft.com/office/drawing/2014/main" id="{61CC52AF-7890-4F90-78F6-DCAFC2B868B8}"/>
              </a:ext>
            </a:extLst>
          </p:cNvPr>
          <p:cNvSpPr>
            <a:spLocks noChangeArrowheads="1"/>
          </p:cNvSpPr>
          <p:nvPr/>
        </p:nvSpPr>
        <p:spPr bwMode="auto">
          <a:xfrm>
            <a:off x="1173611" y="5513693"/>
            <a:ext cx="1908175" cy="568325"/>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Frequently Used</a:t>
            </a:r>
          </a:p>
        </p:txBody>
      </p:sp>
      <p:sp>
        <p:nvSpPr>
          <p:cNvPr id="33" name="Line 18">
            <a:extLst>
              <a:ext uri="{FF2B5EF4-FFF2-40B4-BE49-F238E27FC236}">
                <a16:creationId xmlns:a16="http://schemas.microsoft.com/office/drawing/2014/main" id="{318A67EE-BBDB-299D-7A04-688340520A02}"/>
              </a:ext>
            </a:extLst>
          </p:cNvPr>
          <p:cNvSpPr>
            <a:spLocks noChangeShapeType="1"/>
          </p:cNvSpPr>
          <p:nvPr/>
        </p:nvSpPr>
        <p:spPr bwMode="auto">
          <a:xfrm>
            <a:off x="1021211" y="6224893"/>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4" name="Rectangle 19">
            <a:extLst>
              <a:ext uri="{FF2B5EF4-FFF2-40B4-BE49-F238E27FC236}">
                <a16:creationId xmlns:a16="http://schemas.microsoft.com/office/drawing/2014/main" id="{F478B7B8-8DFD-6ADF-79B9-745915FAC96D}"/>
              </a:ext>
            </a:extLst>
          </p:cNvPr>
          <p:cNvSpPr>
            <a:spLocks noChangeArrowheads="1"/>
          </p:cNvSpPr>
          <p:nvPr/>
        </p:nvSpPr>
        <p:spPr bwMode="auto">
          <a:xfrm>
            <a:off x="4189861" y="5520043"/>
            <a:ext cx="4970463" cy="28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Store close at hand for ready-access</a:t>
            </a:r>
            <a:endParaRPr lang="en-US" altLang="en-US" sz="1400" b="0">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5779429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Areas That Should be Reviewed</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Production Areas</a:t>
            </a:r>
          </a:p>
        </p:txBody>
      </p:sp>
      <p:sp>
        <p:nvSpPr>
          <p:cNvPr id="4" name="Content Placeholder 3">
            <a:extLst>
              <a:ext uri="{FF2B5EF4-FFF2-40B4-BE49-F238E27FC236}">
                <a16:creationId xmlns:a16="http://schemas.microsoft.com/office/drawing/2014/main" id="{2E3BC3A4-C860-76B2-2DD3-B03AB882C853}"/>
              </a:ext>
            </a:extLst>
          </p:cNvPr>
          <p:cNvSpPr>
            <a:spLocks noGrp="1"/>
          </p:cNvSpPr>
          <p:nvPr>
            <p:ph sz="half" idx="2"/>
          </p:nvPr>
        </p:nvSpPr>
        <p:spPr/>
        <p:txBody>
          <a:bodyPr>
            <a:normAutofit fontScale="47500" lnSpcReduction="20000"/>
          </a:bodyPr>
          <a:lstStyle/>
          <a:p>
            <a:r>
              <a:rPr lang="en-US" b="1" dirty="0"/>
              <a:t>Cabinets</a:t>
            </a:r>
          </a:p>
          <a:p>
            <a:r>
              <a:rPr lang="en-US" b="1" dirty="0"/>
              <a:t>Components</a:t>
            </a:r>
          </a:p>
          <a:p>
            <a:r>
              <a:rPr lang="en-US" b="1" dirty="0"/>
              <a:t>Documentation</a:t>
            </a:r>
          </a:p>
          <a:p>
            <a:r>
              <a:rPr lang="en-US" b="1" dirty="0"/>
              <a:t>Gages</a:t>
            </a:r>
          </a:p>
          <a:p>
            <a:r>
              <a:rPr lang="en-US" b="1" dirty="0"/>
              <a:t>Machines</a:t>
            </a:r>
          </a:p>
          <a:p>
            <a:r>
              <a:rPr lang="en-US" b="1" dirty="0"/>
              <a:t>Packaging Material</a:t>
            </a:r>
          </a:p>
          <a:p>
            <a:r>
              <a:rPr lang="en-US" b="1" dirty="0"/>
              <a:t>Parts</a:t>
            </a:r>
          </a:p>
          <a:p>
            <a:r>
              <a:rPr lang="en-US" b="1" dirty="0"/>
              <a:t>Prints</a:t>
            </a:r>
          </a:p>
          <a:p>
            <a:r>
              <a:rPr lang="en-US" b="1" dirty="0"/>
              <a:t>Shelves</a:t>
            </a:r>
          </a:p>
          <a:p>
            <a:r>
              <a:rPr lang="en-US" b="1" dirty="0"/>
              <a:t>Supplies</a:t>
            </a:r>
          </a:p>
          <a:p>
            <a:r>
              <a:rPr lang="en-US" b="1" dirty="0"/>
              <a:t>Tables</a:t>
            </a:r>
          </a:p>
          <a:p>
            <a:r>
              <a:rPr lang="en-US" b="1" dirty="0"/>
              <a:t>Tooling</a:t>
            </a:r>
          </a:p>
          <a:p>
            <a:r>
              <a:rPr lang="en-US" b="1" dirty="0"/>
              <a:t>Towels</a:t>
            </a:r>
          </a:p>
          <a:p>
            <a:r>
              <a:rPr lang="en-US" b="1" dirty="0"/>
              <a:t>Trash</a:t>
            </a:r>
          </a:p>
          <a:p>
            <a:pPr marL="0" indent="0">
              <a:buNone/>
            </a:pPr>
            <a:endParaRPr lang="en-US" b="1" dirty="0"/>
          </a:p>
        </p:txBody>
      </p:sp>
      <p:sp>
        <p:nvSpPr>
          <p:cNvPr id="5" name="Text Placeholder 4">
            <a:extLst>
              <a:ext uri="{FF2B5EF4-FFF2-40B4-BE49-F238E27FC236}">
                <a16:creationId xmlns:a16="http://schemas.microsoft.com/office/drawing/2014/main" id="{D97C3043-C5C3-113A-8520-6B843B812614}"/>
              </a:ext>
            </a:extLst>
          </p:cNvPr>
          <p:cNvSpPr>
            <a:spLocks noGrp="1"/>
          </p:cNvSpPr>
          <p:nvPr>
            <p:ph type="body" sz="quarter" idx="3"/>
          </p:nvPr>
        </p:nvSpPr>
        <p:spPr/>
        <p:txBody>
          <a:bodyPr/>
          <a:lstStyle/>
          <a:p>
            <a:r>
              <a:rPr lang="en-US" dirty="0"/>
              <a:t>Office Areas</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47500" lnSpcReduction="20000"/>
          </a:bodyPr>
          <a:lstStyle/>
          <a:p>
            <a:r>
              <a:rPr lang="en-US" b="1" dirty="0"/>
              <a:t>Books</a:t>
            </a:r>
          </a:p>
          <a:p>
            <a:r>
              <a:rPr lang="en-US" b="1" dirty="0"/>
              <a:t>Business Forms</a:t>
            </a:r>
          </a:p>
          <a:p>
            <a:r>
              <a:rPr lang="en-US" b="1" dirty="0"/>
              <a:t>Cabinets</a:t>
            </a:r>
          </a:p>
          <a:p>
            <a:r>
              <a:rPr lang="en-US" b="1" dirty="0"/>
              <a:t>Catalogs</a:t>
            </a:r>
          </a:p>
          <a:p>
            <a:r>
              <a:rPr lang="en-US" b="1" dirty="0"/>
              <a:t>Correspondence</a:t>
            </a:r>
          </a:p>
          <a:p>
            <a:r>
              <a:rPr lang="en-US" b="1" dirty="0"/>
              <a:t>Equipment</a:t>
            </a:r>
          </a:p>
          <a:p>
            <a:r>
              <a:rPr lang="en-US" b="1" dirty="0"/>
              <a:t>Magazines</a:t>
            </a:r>
          </a:p>
          <a:p>
            <a:r>
              <a:rPr lang="en-US" b="1" dirty="0"/>
              <a:t>Paper</a:t>
            </a:r>
          </a:p>
          <a:p>
            <a:r>
              <a:rPr lang="en-US" b="1" dirty="0"/>
              <a:t>Parts</a:t>
            </a:r>
          </a:p>
          <a:p>
            <a:r>
              <a:rPr lang="en-US" b="1" dirty="0"/>
              <a:t>Records</a:t>
            </a:r>
          </a:p>
          <a:p>
            <a:r>
              <a:rPr lang="en-US" b="1" dirty="0"/>
              <a:t>Samples</a:t>
            </a:r>
          </a:p>
          <a:p>
            <a:r>
              <a:rPr lang="en-US" b="1" dirty="0"/>
              <a:t>Shelves</a:t>
            </a:r>
          </a:p>
          <a:p>
            <a:r>
              <a:rPr lang="en-US" b="1" dirty="0"/>
              <a:t>Supplies</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27</a:t>
            </a:fld>
            <a:endParaRPr lang="en-US"/>
          </a:p>
        </p:txBody>
      </p:sp>
      <p:sp>
        <p:nvSpPr>
          <p:cNvPr id="7" name="TextBox 6">
            <a:extLst>
              <a:ext uri="{FF2B5EF4-FFF2-40B4-BE49-F238E27FC236}">
                <a16:creationId xmlns:a16="http://schemas.microsoft.com/office/drawing/2014/main" id="{1E2273FF-3787-19AB-9DB6-843315DDE8C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9" name="Group 8">
            <a:extLst>
              <a:ext uri="{FF2B5EF4-FFF2-40B4-BE49-F238E27FC236}">
                <a16:creationId xmlns:a16="http://schemas.microsoft.com/office/drawing/2014/main" id="{ADF9D0E9-F11C-C603-6300-AE18CAC74738}"/>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177AFC32-6E76-AE17-3F3E-2A92258BCD1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342CBE5F-C46D-80DD-518D-F1C102F20149}"/>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710D32B0-6BFB-E617-E907-DAF3B35E7AC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FA88BDB0-2CDE-2A1E-9447-95CC6C85C4D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780675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9AF1BE-FC74-D20F-6189-931578F7FF58}"/>
              </a:ext>
            </a:extLst>
          </p:cNvPr>
          <p:cNvSpPr>
            <a:spLocks noGrp="1"/>
          </p:cNvSpPr>
          <p:nvPr>
            <p:ph type="title"/>
          </p:nvPr>
        </p:nvSpPr>
        <p:spPr/>
        <p:txBody>
          <a:bodyPr/>
          <a:lstStyle/>
          <a:p>
            <a:r>
              <a:rPr lang="en-US" dirty="0"/>
              <a:t>Red-Tagging</a:t>
            </a:r>
          </a:p>
        </p:txBody>
      </p:sp>
      <p:sp>
        <p:nvSpPr>
          <p:cNvPr id="3" name="Text Placeholder 2">
            <a:extLst>
              <a:ext uri="{FF2B5EF4-FFF2-40B4-BE49-F238E27FC236}">
                <a16:creationId xmlns:a16="http://schemas.microsoft.com/office/drawing/2014/main" id="{BF2D1452-04BC-1846-9D2B-D064B736ED43}"/>
              </a:ext>
            </a:extLst>
          </p:cNvPr>
          <p:cNvSpPr>
            <a:spLocks noGrp="1"/>
          </p:cNvSpPr>
          <p:nvPr>
            <p:ph type="body" idx="1"/>
          </p:nvPr>
        </p:nvSpPr>
        <p:spPr/>
        <p:txBody>
          <a:bodyPr/>
          <a:lstStyle/>
          <a:p>
            <a:r>
              <a:rPr lang="en-US" dirty="0"/>
              <a:t>Red Tag Template</a:t>
            </a:r>
          </a:p>
        </p:txBody>
      </p:sp>
      <p:sp>
        <p:nvSpPr>
          <p:cNvPr id="6" name="Content Placeholder 5">
            <a:extLst>
              <a:ext uri="{FF2B5EF4-FFF2-40B4-BE49-F238E27FC236}">
                <a16:creationId xmlns:a16="http://schemas.microsoft.com/office/drawing/2014/main" id="{705B0951-5D5C-15E9-2447-60234BD31A60}"/>
              </a:ext>
            </a:extLst>
          </p:cNvPr>
          <p:cNvSpPr>
            <a:spLocks noGrp="1"/>
          </p:cNvSpPr>
          <p:nvPr>
            <p:ph sz="quarter" idx="4"/>
          </p:nvPr>
        </p:nvSpPr>
        <p:spPr/>
        <p:txBody>
          <a:bodyPr>
            <a:normAutofit fontScale="77500" lnSpcReduction="20000"/>
          </a:bodyPr>
          <a:lstStyle/>
          <a:p>
            <a:r>
              <a:rPr lang="en-US" dirty="0"/>
              <a:t>A tracking process to provide visual identification of unneeded items</a:t>
            </a:r>
          </a:p>
          <a:p>
            <a:r>
              <a:rPr lang="en-US" dirty="0"/>
              <a:t>After all obvious items are discarded, the remaining items are red-tagged to assure proper disposition</a:t>
            </a:r>
          </a:p>
          <a:p>
            <a:r>
              <a:rPr lang="en-US" dirty="0"/>
              <a:t>Should be full size </a:t>
            </a:r>
            <a:br>
              <a:rPr lang="en-US" dirty="0"/>
            </a:br>
            <a:r>
              <a:rPr lang="en-US" dirty="0"/>
              <a:t>(8.5” x 11”)</a:t>
            </a:r>
          </a:p>
          <a:p>
            <a:r>
              <a:rPr lang="en-US" dirty="0"/>
              <a:t>Bright red to promote visibility</a:t>
            </a:r>
          </a:p>
          <a:p>
            <a:r>
              <a:rPr lang="en-US" dirty="0"/>
              <a:t>Should have pre-printed sequential tag numbers</a:t>
            </a:r>
          </a:p>
          <a:p>
            <a:r>
              <a:rPr lang="en-US" dirty="0"/>
              <a:t>Perforated lower section to record location of tag</a:t>
            </a:r>
          </a:p>
        </p:txBody>
      </p:sp>
      <p:sp>
        <p:nvSpPr>
          <p:cNvPr id="8" name="Slide Number Placeholder 7">
            <a:extLst>
              <a:ext uri="{FF2B5EF4-FFF2-40B4-BE49-F238E27FC236}">
                <a16:creationId xmlns:a16="http://schemas.microsoft.com/office/drawing/2014/main" id="{408954DA-A1B0-C7B8-680E-6D1AB2D2B67A}"/>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28</a:t>
            </a:fld>
            <a:endParaRPr lang="en-US"/>
          </a:p>
        </p:txBody>
      </p:sp>
      <p:sp>
        <p:nvSpPr>
          <p:cNvPr id="7" name="TextBox 6">
            <a:extLst>
              <a:ext uri="{FF2B5EF4-FFF2-40B4-BE49-F238E27FC236}">
                <a16:creationId xmlns:a16="http://schemas.microsoft.com/office/drawing/2014/main" id="{93808F32-D3AD-B9C7-C8E3-8793B2BBC46B}"/>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9" name="Group 8">
            <a:extLst>
              <a:ext uri="{FF2B5EF4-FFF2-40B4-BE49-F238E27FC236}">
                <a16:creationId xmlns:a16="http://schemas.microsoft.com/office/drawing/2014/main" id="{051F2B21-0A35-B8FE-4B95-2FA708FBE88C}"/>
              </a:ext>
            </a:extLst>
          </p:cNvPr>
          <p:cNvGrpSpPr/>
          <p:nvPr/>
        </p:nvGrpSpPr>
        <p:grpSpPr>
          <a:xfrm>
            <a:off x="940249" y="302538"/>
            <a:ext cx="1060167" cy="290657"/>
            <a:chOff x="940249" y="315206"/>
            <a:chExt cx="1060167" cy="265062"/>
          </a:xfrm>
        </p:grpSpPr>
        <p:sp>
          <p:nvSpPr>
            <p:cNvPr id="10" name="AutoShape 9">
              <a:extLst>
                <a:ext uri="{FF2B5EF4-FFF2-40B4-BE49-F238E27FC236}">
                  <a16:creationId xmlns:a16="http://schemas.microsoft.com/office/drawing/2014/main" id="{2C4CFBBE-AEEE-E0D3-7456-24441F5BB43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61762456-7B0F-A7E2-A86F-1E899157C74D}"/>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457E8CB2-E04C-93CE-645A-9BB2A76FC0DF}"/>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2437DF7B-C446-CF0D-FD29-FEAD822DCD8B}"/>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14" name="Picture 26" descr="red tag">
            <a:extLst>
              <a:ext uri="{FF2B5EF4-FFF2-40B4-BE49-F238E27FC236}">
                <a16:creationId xmlns:a16="http://schemas.microsoft.com/office/drawing/2014/main" id="{DDB8E8C7-D516-31A5-5178-BC1D5EA14B9D}"/>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2026428" y="2505075"/>
            <a:ext cx="2784506" cy="368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AutoShape 5">
            <a:extLst>
              <a:ext uri="{FF2B5EF4-FFF2-40B4-BE49-F238E27FC236}">
                <a16:creationId xmlns:a16="http://schemas.microsoft.com/office/drawing/2014/main" id="{1E35BD5C-C127-E202-0EAF-4DE6D91F31D5}"/>
              </a:ext>
            </a:extLst>
          </p:cNvPr>
          <p:cNvSpPr>
            <a:spLocks noChangeArrowheads="1"/>
          </p:cNvSpPr>
          <p:nvPr/>
        </p:nvSpPr>
        <p:spPr bwMode="auto">
          <a:xfrm>
            <a:off x="5600857" y="2882900"/>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dirty="0">
              <a:solidFill>
                <a:schemeClr val="bg1"/>
              </a:solidFill>
            </a:endParaRPr>
          </a:p>
        </p:txBody>
      </p:sp>
    </p:spTree>
    <p:custDataLst>
      <p:tags r:id="rId1"/>
    </p:custDataLst>
    <p:extLst>
      <p:ext uri="{BB962C8B-B14F-4D97-AF65-F5344CB8AC3E}">
        <p14:creationId xmlns:p14="http://schemas.microsoft.com/office/powerpoint/2010/main" val="589194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Red-Tagging Procedures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29</a:t>
            </a:fld>
            <a:endParaRPr lang="en-US"/>
          </a:p>
        </p:txBody>
      </p:sp>
      <p:sp>
        <p:nvSpPr>
          <p:cNvPr id="3" name="AutoShape 17">
            <a:extLst>
              <a:ext uri="{FF2B5EF4-FFF2-40B4-BE49-F238E27FC236}">
                <a16:creationId xmlns:a16="http://schemas.microsoft.com/office/drawing/2014/main" id="{8416A5F2-E4A6-62A1-A63D-E633D21C03D2}"/>
              </a:ext>
            </a:extLst>
          </p:cNvPr>
          <p:cNvSpPr>
            <a:spLocks noChangeArrowheads="1"/>
          </p:cNvSpPr>
          <p:nvPr/>
        </p:nvSpPr>
        <p:spPr bwMode="auto">
          <a:xfrm>
            <a:off x="7820060" y="1833245"/>
            <a:ext cx="2098675" cy="625475"/>
          </a:xfrm>
          <a:prstGeom prst="homePlate">
            <a:avLst>
              <a:gd name="adj" fmla="val 50144"/>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rPr>
              <a:t>   Step 5</a:t>
            </a:r>
          </a:p>
        </p:txBody>
      </p:sp>
      <p:sp>
        <p:nvSpPr>
          <p:cNvPr id="5" name="Rectangle 18">
            <a:extLst>
              <a:ext uri="{FF2B5EF4-FFF2-40B4-BE49-F238E27FC236}">
                <a16:creationId xmlns:a16="http://schemas.microsoft.com/office/drawing/2014/main" id="{582B9046-5C3C-5189-CD32-C1E78CED40D8}"/>
              </a:ext>
            </a:extLst>
          </p:cNvPr>
          <p:cNvSpPr>
            <a:spLocks noChangeArrowheads="1"/>
          </p:cNvSpPr>
          <p:nvPr/>
        </p:nvSpPr>
        <p:spPr bwMode="auto">
          <a:xfrm>
            <a:off x="7748623" y="2682558"/>
            <a:ext cx="2135187"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t>Evaluate red tag items</a:t>
            </a:r>
          </a:p>
          <a:p>
            <a:pPr>
              <a:lnSpc>
                <a:spcPct val="100000"/>
              </a:lnSpc>
              <a:spcBef>
                <a:spcPct val="40000"/>
              </a:spcBef>
              <a:spcAft>
                <a:spcPct val="0"/>
              </a:spcAft>
              <a:buClr>
                <a:schemeClr val="accent1"/>
              </a:buClr>
            </a:pPr>
            <a:r>
              <a:rPr lang="en-US" altLang="en-US" sz="1400"/>
              <a:t>Dispose of truly unnecessary items</a:t>
            </a:r>
          </a:p>
          <a:p>
            <a:pPr>
              <a:lnSpc>
                <a:spcPct val="100000"/>
              </a:lnSpc>
              <a:spcBef>
                <a:spcPct val="40000"/>
              </a:spcBef>
              <a:spcAft>
                <a:spcPct val="0"/>
              </a:spcAft>
              <a:buClr>
                <a:schemeClr val="accent1"/>
              </a:buClr>
            </a:pPr>
            <a:r>
              <a:rPr lang="en-US" altLang="en-US" sz="1400"/>
              <a:t>Retain red tagged material if there is proper justification</a:t>
            </a:r>
          </a:p>
          <a:p>
            <a:pPr>
              <a:lnSpc>
                <a:spcPct val="100000"/>
              </a:lnSpc>
              <a:spcBef>
                <a:spcPct val="40000"/>
              </a:spcBef>
              <a:spcAft>
                <a:spcPct val="0"/>
              </a:spcAft>
              <a:buClr>
                <a:schemeClr val="accent1"/>
              </a:buClr>
            </a:pPr>
            <a:r>
              <a:rPr lang="en-US" altLang="en-US" sz="1400"/>
              <a:t>Discard any material which has been red tagged after a pre-determined time</a:t>
            </a:r>
          </a:p>
          <a:p>
            <a:pPr>
              <a:lnSpc>
                <a:spcPct val="100000"/>
              </a:lnSpc>
              <a:spcBef>
                <a:spcPct val="40000"/>
              </a:spcBef>
              <a:spcAft>
                <a:spcPct val="0"/>
              </a:spcAft>
              <a:buClr>
                <a:schemeClr val="accent1"/>
              </a:buClr>
            </a:pPr>
            <a:r>
              <a:rPr lang="en-US" altLang="en-US" sz="1400"/>
              <a:t>All red tags must be completed and returned to the red tag coordinator</a:t>
            </a:r>
          </a:p>
        </p:txBody>
      </p:sp>
      <p:sp>
        <p:nvSpPr>
          <p:cNvPr id="6" name="AutoShape 5">
            <a:extLst>
              <a:ext uri="{FF2B5EF4-FFF2-40B4-BE49-F238E27FC236}">
                <a16:creationId xmlns:a16="http://schemas.microsoft.com/office/drawing/2014/main" id="{6BC9815B-D7BD-018B-5A3D-31BCA97A7F7B}"/>
              </a:ext>
            </a:extLst>
          </p:cNvPr>
          <p:cNvSpPr>
            <a:spLocks noChangeArrowheads="1"/>
          </p:cNvSpPr>
          <p:nvPr/>
        </p:nvSpPr>
        <p:spPr bwMode="auto">
          <a:xfrm>
            <a:off x="6073810" y="1823720"/>
            <a:ext cx="2162175" cy="625475"/>
          </a:xfrm>
          <a:prstGeom prst="homePlate">
            <a:avLst>
              <a:gd name="adj" fmla="val 51661"/>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rPr>
              <a:t>   Step 4</a:t>
            </a:r>
          </a:p>
        </p:txBody>
      </p:sp>
      <p:sp>
        <p:nvSpPr>
          <p:cNvPr id="7" name="Rectangle 6">
            <a:extLst>
              <a:ext uri="{FF2B5EF4-FFF2-40B4-BE49-F238E27FC236}">
                <a16:creationId xmlns:a16="http://schemas.microsoft.com/office/drawing/2014/main" id="{4370BA03-21EE-10AE-15EC-31E7ACC071F9}"/>
              </a:ext>
            </a:extLst>
          </p:cNvPr>
          <p:cNvSpPr>
            <a:spLocks noChangeArrowheads="1"/>
          </p:cNvSpPr>
          <p:nvPr/>
        </p:nvSpPr>
        <p:spPr bwMode="auto">
          <a:xfrm>
            <a:off x="6140485" y="2673033"/>
            <a:ext cx="1701800"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t>Explain red tag criteria to teams</a:t>
            </a:r>
          </a:p>
          <a:p>
            <a:pPr>
              <a:lnSpc>
                <a:spcPct val="100000"/>
              </a:lnSpc>
              <a:spcBef>
                <a:spcPct val="40000"/>
              </a:spcBef>
              <a:spcAft>
                <a:spcPct val="0"/>
              </a:spcAft>
              <a:buClr>
                <a:schemeClr val="accent1"/>
              </a:buClr>
            </a:pPr>
            <a:r>
              <a:rPr lang="en-US" altLang="en-US" sz="1400"/>
              <a:t>Ensure a good cross-section of people tagging items to prevent </a:t>
            </a:r>
            <a:r>
              <a:rPr lang="ja-JP" altLang="en-US" sz="1400"/>
              <a:t>“</a:t>
            </a:r>
            <a:r>
              <a:rPr lang="en-US" altLang="ja-JP" sz="1400"/>
              <a:t>I might need that</a:t>
            </a:r>
            <a:r>
              <a:rPr lang="ja-JP" altLang="en-US" sz="1400"/>
              <a:t>”</a:t>
            </a:r>
            <a:endParaRPr lang="en-US" altLang="ja-JP" sz="1400"/>
          </a:p>
          <a:p>
            <a:pPr>
              <a:lnSpc>
                <a:spcPct val="100000"/>
              </a:lnSpc>
              <a:spcBef>
                <a:spcPct val="40000"/>
              </a:spcBef>
              <a:spcAft>
                <a:spcPct val="0"/>
              </a:spcAft>
              <a:buClr>
                <a:schemeClr val="accent1"/>
              </a:buClr>
            </a:pPr>
            <a:r>
              <a:rPr lang="en-US" altLang="en-US" sz="1400"/>
              <a:t>Red tag work area as rapidly as possible</a:t>
            </a:r>
          </a:p>
        </p:txBody>
      </p:sp>
      <p:sp>
        <p:nvSpPr>
          <p:cNvPr id="8" name="Rectangle 8">
            <a:extLst>
              <a:ext uri="{FF2B5EF4-FFF2-40B4-BE49-F238E27FC236}">
                <a16:creationId xmlns:a16="http://schemas.microsoft.com/office/drawing/2014/main" id="{2385F30E-CAD6-CB4A-93AD-B53D4FF4E47E}"/>
              </a:ext>
            </a:extLst>
          </p:cNvPr>
          <p:cNvSpPr>
            <a:spLocks noChangeArrowheads="1"/>
          </p:cNvSpPr>
          <p:nvPr/>
        </p:nvSpPr>
        <p:spPr bwMode="auto">
          <a:xfrm>
            <a:off x="4594260" y="2669858"/>
            <a:ext cx="162877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t>Define Red Tag criteria</a:t>
            </a:r>
          </a:p>
          <a:p>
            <a:pPr>
              <a:lnSpc>
                <a:spcPct val="100000"/>
              </a:lnSpc>
              <a:spcBef>
                <a:spcPct val="40000"/>
              </a:spcBef>
              <a:spcAft>
                <a:spcPct val="0"/>
              </a:spcAft>
              <a:buClr>
                <a:schemeClr val="accent1"/>
              </a:buClr>
            </a:pPr>
            <a:r>
              <a:rPr lang="en-US" altLang="en-US" sz="1400"/>
              <a:t>Determine what criteria will used to distinguish a needed item from  an unneeded item</a:t>
            </a:r>
          </a:p>
          <a:p>
            <a:pPr>
              <a:lnSpc>
                <a:spcPct val="100000"/>
              </a:lnSpc>
              <a:spcBef>
                <a:spcPct val="40000"/>
              </a:spcBef>
              <a:spcAft>
                <a:spcPct val="0"/>
              </a:spcAft>
              <a:buClr>
                <a:schemeClr val="accent1"/>
              </a:buClr>
            </a:pPr>
            <a:r>
              <a:rPr lang="en-US" altLang="en-US" sz="1400"/>
              <a:t>Example: Save only the items needed to conduct business in the area</a:t>
            </a:r>
          </a:p>
        </p:txBody>
      </p:sp>
      <p:sp>
        <p:nvSpPr>
          <p:cNvPr id="9" name="AutoShape 9">
            <a:extLst>
              <a:ext uri="{FF2B5EF4-FFF2-40B4-BE49-F238E27FC236}">
                <a16:creationId xmlns:a16="http://schemas.microsoft.com/office/drawing/2014/main" id="{EBDCB8EF-7294-3926-FFE4-A4E34156074B}"/>
              </a:ext>
            </a:extLst>
          </p:cNvPr>
          <p:cNvSpPr>
            <a:spLocks noChangeArrowheads="1"/>
          </p:cNvSpPr>
          <p:nvPr/>
        </p:nvSpPr>
        <p:spPr bwMode="auto">
          <a:xfrm>
            <a:off x="4543460" y="1823720"/>
            <a:ext cx="1893888" cy="625475"/>
          </a:xfrm>
          <a:prstGeom prst="homePlate">
            <a:avLst>
              <a:gd name="adj" fmla="val 45209"/>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rPr>
              <a:t>       Step 3</a:t>
            </a:r>
          </a:p>
        </p:txBody>
      </p:sp>
      <p:grpSp>
        <p:nvGrpSpPr>
          <p:cNvPr id="10" name="Group 10">
            <a:extLst>
              <a:ext uri="{FF2B5EF4-FFF2-40B4-BE49-F238E27FC236}">
                <a16:creationId xmlns:a16="http://schemas.microsoft.com/office/drawing/2014/main" id="{62CBCA5B-0343-AEDD-F90E-B04F607C4430}"/>
              </a:ext>
            </a:extLst>
          </p:cNvPr>
          <p:cNvGrpSpPr>
            <a:grpSpLocks/>
          </p:cNvGrpSpPr>
          <p:nvPr/>
        </p:nvGrpSpPr>
        <p:grpSpPr bwMode="auto">
          <a:xfrm>
            <a:off x="3125823" y="1823720"/>
            <a:ext cx="1741487" cy="3357563"/>
            <a:chOff x="1549" y="1012"/>
            <a:chExt cx="1472" cy="2115"/>
          </a:xfrm>
        </p:grpSpPr>
        <p:sp>
          <p:nvSpPr>
            <p:cNvPr id="11" name="Rectangle 11">
              <a:extLst>
                <a:ext uri="{FF2B5EF4-FFF2-40B4-BE49-F238E27FC236}">
                  <a16:creationId xmlns:a16="http://schemas.microsoft.com/office/drawing/2014/main" id="{1C377CFE-FAA8-3394-3D32-700826E7FB09}"/>
                </a:ext>
              </a:extLst>
            </p:cNvPr>
            <p:cNvSpPr>
              <a:spLocks noChangeArrowheads="1"/>
            </p:cNvSpPr>
            <p:nvPr/>
          </p:nvSpPr>
          <p:spPr bwMode="auto">
            <a:xfrm>
              <a:off x="1657" y="1545"/>
              <a:ext cx="1197" cy="15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t>Identify Red Tag targets</a:t>
              </a:r>
            </a:p>
            <a:p>
              <a:pPr>
                <a:lnSpc>
                  <a:spcPct val="100000"/>
                </a:lnSpc>
                <a:spcBef>
                  <a:spcPct val="40000"/>
                </a:spcBef>
                <a:spcAft>
                  <a:spcPct val="0"/>
                </a:spcAft>
                <a:buClr>
                  <a:schemeClr val="accent1"/>
                </a:buClr>
              </a:pPr>
              <a:r>
                <a:rPr lang="en-US" altLang="en-US" sz="1400"/>
                <a:t>Inventory, equipment, supplies, tooling, space</a:t>
              </a:r>
            </a:p>
            <a:p>
              <a:pPr>
                <a:lnSpc>
                  <a:spcPct val="100000"/>
                </a:lnSpc>
                <a:spcBef>
                  <a:spcPct val="40000"/>
                </a:spcBef>
                <a:spcAft>
                  <a:spcPct val="0"/>
                </a:spcAft>
                <a:buClr>
                  <a:schemeClr val="accent1"/>
                </a:buClr>
              </a:pPr>
              <a:r>
                <a:rPr lang="en-US" altLang="en-US" sz="1400"/>
                <a:t>Office areas are not exempt from red tagging </a:t>
              </a:r>
              <a:endParaRPr lang="en-US" altLang="en-US" sz="1200"/>
            </a:p>
          </p:txBody>
        </p:sp>
        <p:sp>
          <p:nvSpPr>
            <p:cNvPr id="12" name="AutoShape 12">
              <a:extLst>
                <a:ext uri="{FF2B5EF4-FFF2-40B4-BE49-F238E27FC236}">
                  <a16:creationId xmlns:a16="http://schemas.microsoft.com/office/drawing/2014/main" id="{DFB6961F-0CC6-0228-E137-4ECE16A76A81}"/>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a:solidFill>
                    <a:schemeClr val="bg1"/>
                  </a:solidFill>
                </a:rPr>
                <a:t>Step 2</a:t>
              </a:r>
            </a:p>
          </p:txBody>
        </p:sp>
      </p:grpSp>
      <p:grpSp>
        <p:nvGrpSpPr>
          <p:cNvPr id="13" name="Group 13">
            <a:extLst>
              <a:ext uri="{FF2B5EF4-FFF2-40B4-BE49-F238E27FC236}">
                <a16:creationId xmlns:a16="http://schemas.microsoft.com/office/drawing/2014/main" id="{C25FE2A9-3B8D-9356-460B-4B7570D4BEC9}"/>
              </a:ext>
            </a:extLst>
          </p:cNvPr>
          <p:cNvGrpSpPr>
            <a:grpSpLocks/>
          </p:cNvGrpSpPr>
          <p:nvPr/>
        </p:nvGrpSpPr>
        <p:grpSpPr bwMode="auto">
          <a:xfrm>
            <a:off x="1633573" y="1823720"/>
            <a:ext cx="1766887" cy="2706688"/>
            <a:chOff x="311" y="1012"/>
            <a:chExt cx="1469" cy="1705"/>
          </a:xfrm>
        </p:grpSpPr>
        <p:sp>
          <p:nvSpPr>
            <p:cNvPr id="14" name="Rectangle 14">
              <a:extLst>
                <a:ext uri="{FF2B5EF4-FFF2-40B4-BE49-F238E27FC236}">
                  <a16:creationId xmlns:a16="http://schemas.microsoft.com/office/drawing/2014/main" id="{737BB0DD-3095-9858-3D97-EDD968C66927}"/>
                </a:ext>
              </a:extLst>
            </p:cNvPr>
            <p:cNvSpPr>
              <a:spLocks noChangeArrowheads="1"/>
            </p:cNvSpPr>
            <p:nvPr/>
          </p:nvSpPr>
          <p:spPr bwMode="auto">
            <a:xfrm>
              <a:off x="352" y="1545"/>
              <a:ext cx="1316" cy="11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accent1"/>
                </a:buClr>
              </a:pPr>
              <a:r>
                <a:rPr lang="en-US" altLang="en-US" sz="1400"/>
                <a:t>Select members from various teams</a:t>
              </a:r>
            </a:p>
            <a:p>
              <a:pPr>
                <a:lnSpc>
                  <a:spcPct val="100000"/>
                </a:lnSpc>
                <a:spcBef>
                  <a:spcPct val="40000"/>
                </a:spcBef>
                <a:spcAft>
                  <a:spcPct val="0"/>
                </a:spcAft>
                <a:buClr>
                  <a:schemeClr val="accent1"/>
                </a:buClr>
              </a:pPr>
              <a:r>
                <a:rPr lang="en-US" altLang="en-US" sz="1400"/>
                <a:t>Select a high level manager to participate as a team member</a:t>
              </a:r>
            </a:p>
          </p:txBody>
        </p:sp>
        <p:sp>
          <p:nvSpPr>
            <p:cNvPr id="15" name="AutoShape 15">
              <a:extLst>
                <a:ext uri="{FF2B5EF4-FFF2-40B4-BE49-F238E27FC236}">
                  <a16:creationId xmlns:a16="http://schemas.microsoft.com/office/drawing/2014/main" id="{370FAEF6-B53B-1453-698D-12931075DB81}"/>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rPr>
                <a:t>Step 1</a:t>
              </a:r>
            </a:p>
          </p:txBody>
        </p:sp>
      </p:grpSp>
      <p:sp>
        <p:nvSpPr>
          <p:cNvPr id="16" name="TextBox 15">
            <a:extLst>
              <a:ext uri="{FF2B5EF4-FFF2-40B4-BE49-F238E27FC236}">
                <a16:creationId xmlns:a16="http://schemas.microsoft.com/office/drawing/2014/main" id="{86973CC2-F40B-2ED7-E482-D2AC3950387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7" name="Group 16">
            <a:extLst>
              <a:ext uri="{FF2B5EF4-FFF2-40B4-BE49-F238E27FC236}">
                <a16:creationId xmlns:a16="http://schemas.microsoft.com/office/drawing/2014/main" id="{C1FC3D5D-02B6-A770-BE3E-211D1F246D46}"/>
              </a:ext>
            </a:extLst>
          </p:cNvPr>
          <p:cNvGrpSpPr/>
          <p:nvPr/>
        </p:nvGrpSpPr>
        <p:grpSpPr>
          <a:xfrm>
            <a:off x="940249" y="302538"/>
            <a:ext cx="1060167" cy="290657"/>
            <a:chOff x="940249" y="315206"/>
            <a:chExt cx="1060167" cy="265062"/>
          </a:xfrm>
        </p:grpSpPr>
        <p:sp>
          <p:nvSpPr>
            <p:cNvPr id="18" name="AutoShape 9">
              <a:extLst>
                <a:ext uri="{FF2B5EF4-FFF2-40B4-BE49-F238E27FC236}">
                  <a16:creationId xmlns:a16="http://schemas.microsoft.com/office/drawing/2014/main" id="{6F498EF4-B2E1-9506-5CA0-5060B4C6904B}"/>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9" name="Group 18">
              <a:extLst>
                <a:ext uri="{FF2B5EF4-FFF2-40B4-BE49-F238E27FC236}">
                  <a16:creationId xmlns:a16="http://schemas.microsoft.com/office/drawing/2014/main" id="{FDF781E2-84AC-3552-82AD-A2BFF1EF5381}"/>
                </a:ext>
              </a:extLst>
            </p:cNvPr>
            <p:cNvGrpSpPr/>
            <p:nvPr/>
          </p:nvGrpSpPr>
          <p:grpSpPr>
            <a:xfrm>
              <a:off x="940249" y="315206"/>
              <a:ext cx="746492" cy="265062"/>
              <a:chOff x="940249" y="315206"/>
              <a:chExt cx="746492" cy="265062"/>
            </a:xfrm>
          </p:grpSpPr>
          <p:sp>
            <p:nvSpPr>
              <p:cNvPr id="20" name="AutoShape 11">
                <a:extLst>
                  <a:ext uri="{FF2B5EF4-FFF2-40B4-BE49-F238E27FC236}">
                    <a16:creationId xmlns:a16="http://schemas.microsoft.com/office/drawing/2014/main" id="{09D0B0C2-B19B-AA42-9B84-6C5050D7119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1" name="AutoShape 10">
                <a:extLst>
                  <a:ext uri="{FF2B5EF4-FFF2-40B4-BE49-F238E27FC236}">
                    <a16:creationId xmlns:a16="http://schemas.microsoft.com/office/drawing/2014/main" id="{F0F37F1B-0E17-0022-7401-000189A35A4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8597920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Example of a Red Tag Area</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30</a:t>
            </a:fld>
            <a:endParaRPr lang="en-US"/>
          </a:p>
        </p:txBody>
      </p:sp>
      <p:pic>
        <p:nvPicPr>
          <p:cNvPr id="3" name="Picture 4" descr="Picture 014">
            <a:extLst>
              <a:ext uri="{FF2B5EF4-FFF2-40B4-BE49-F238E27FC236}">
                <a16:creationId xmlns:a16="http://schemas.microsoft.com/office/drawing/2014/main" id="{B731B63D-7D9E-5173-472F-DA0D6AEF637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1464"/>
          <a:stretch/>
        </p:blipFill>
        <p:spPr bwMode="auto">
          <a:xfrm>
            <a:off x="2388501" y="1753949"/>
            <a:ext cx="7414998" cy="4515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9174D17-887C-C64B-D593-D1977A8E353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350140EE-D749-0115-83C5-BA72D0E395C9}"/>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BD4CC777-E1A5-4FBD-768F-A6D585615A45}"/>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606C5484-76C9-B015-05A4-F19B1C06390B}"/>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A25108E2-56BF-CF0F-F575-3270279B807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6653284F-376B-DC6A-AF0F-F2EF689DCF1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37158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Sort Strategy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Examine the workplace</a:t>
            </a:r>
          </a:p>
          <a:p>
            <a:r>
              <a:rPr lang="en-US" dirty="0"/>
              <a:t>Identify truly needed items</a:t>
            </a:r>
          </a:p>
          <a:p>
            <a:pPr lvl="1"/>
            <a:r>
              <a:rPr lang="en-US" dirty="0"/>
              <a:t>What is it for?</a:t>
            </a:r>
          </a:p>
          <a:p>
            <a:pPr lvl="1"/>
            <a:r>
              <a:rPr lang="en-US" dirty="0"/>
              <a:t>Why do I have it?</a:t>
            </a:r>
          </a:p>
          <a:p>
            <a:pPr lvl="1"/>
            <a:r>
              <a:rPr lang="en-US" dirty="0"/>
              <a:t>How often do I use it?</a:t>
            </a:r>
          </a:p>
          <a:p>
            <a:pPr lvl="1"/>
            <a:r>
              <a:rPr lang="en-US" dirty="0"/>
              <a:t>Does someone else have it?</a:t>
            </a:r>
          </a:p>
          <a:p>
            <a:r>
              <a:rPr lang="en-US" dirty="0"/>
              <a:t>Throw away anything you know you can</a:t>
            </a:r>
          </a:p>
          <a:p>
            <a:r>
              <a:rPr lang="en-US" dirty="0"/>
              <a:t>Use red tagging for items that you are unsure whether or not </a:t>
            </a:r>
            <a:br>
              <a:rPr lang="en-US" dirty="0"/>
            </a:br>
            <a:r>
              <a:rPr lang="en-US" dirty="0"/>
              <a:t>they are needed</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31</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57492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1S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1S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approach to completing 1S.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1S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1S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68788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33</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chemeClr val="bg1"/>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905669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2S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34</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SEITON</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Orderliness. Focuses on the need for an orderly workplace. Tools, equipment, and materials must be systematically arranged for the easiest and most efficient access. There must be a place for everything and everything must be in its place. </a:t>
            </a:r>
            <a:endParaRPr lang="en-US" altLang="en-US" sz="1400" dirty="0">
              <a:solidFill>
                <a:schemeClr val="bg1"/>
              </a:solidFill>
              <a:latin typeface="Roboto" panose="02000000000000000000" pitchFamily="2" charset="0"/>
              <a:ea typeface="Roboto" panose="02000000000000000000" pitchFamily="2" charset="0"/>
            </a:endParaRP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Place all of the items in the best location and visually organize the area</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Keep in mind:</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Proper locations</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Storage Methods</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Location Marking</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Shadow Boards</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Sign Boards</a:t>
            </a:r>
          </a:p>
          <a:p>
            <a:pPr>
              <a:lnSpc>
                <a:spcPct val="100000"/>
              </a:lnSpc>
              <a:spcBef>
                <a:spcPct val="40000"/>
              </a:spcBef>
              <a:spcAft>
                <a:spcPct val="0"/>
              </a:spcAft>
              <a:buClr>
                <a:schemeClr val="tx1"/>
              </a:buClr>
              <a:buFont typeface="Arial" panose="020B0604020202020204" pitchFamily="34" charset="0"/>
              <a:buChar char="•"/>
            </a:pPr>
            <a:endParaRPr lang="en-US" altLang="en-US" sz="1400" dirty="0">
              <a:latin typeface="Roboto" panose="02000000000000000000" pitchFamily="2" charset="0"/>
              <a:ea typeface="Roboto" panose="02000000000000000000" pitchFamily="2" charset="0"/>
            </a:endParaRP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STRAIGHTEN</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Organize the necessary items so that they can be used and returned easily</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2S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STRAIGHTEN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STRAIGHTEN</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2S promotes visual management</a:t>
            </a:r>
          </a:p>
        </p:txBody>
      </p:sp>
    </p:spTree>
    <p:extLst>
      <p:ext uri="{BB962C8B-B14F-4D97-AF65-F5344CB8AC3E}">
        <p14:creationId xmlns:p14="http://schemas.microsoft.com/office/powerpoint/2010/main" val="21716971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dirty="0"/>
              <a:t>2S Strategy</a:t>
            </a:r>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First decide where all items should be so that the organization is easy to use and understand</a:t>
            </a:r>
          </a:p>
          <a:p>
            <a:r>
              <a:rPr lang="en-US" dirty="0"/>
              <a:t>Choose proper storage methods that minimize inventory and promote visual management</a:t>
            </a:r>
          </a:p>
          <a:p>
            <a:r>
              <a:rPr lang="en-US" dirty="0"/>
              <a:t>Visually indicate locations so items in use can be returned and missing items are easily identified</a:t>
            </a:r>
          </a:p>
          <a:p>
            <a:r>
              <a:rPr lang="en-US" dirty="0"/>
              <a:t>Make sign boards that clearly explain inventory, equipment, and other items so anyone can understand in the workplace</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35</a:t>
            </a:fld>
            <a:endParaRPr lang="en-US"/>
          </a:p>
        </p:txBody>
      </p:sp>
      <p:sp>
        <p:nvSpPr>
          <p:cNvPr id="4" name="TextBox 3">
            <a:extLst>
              <a:ext uri="{FF2B5EF4-FFF2-40B4-BE49-F238E27FC236}">
                <a16:creationId xmlns:a16="http://schemas.microsoft.com/office/drawing/2014/main" id="{7221F4DB-E921-659A-F225-3C48DF2DB89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643904D1-09C6-FD4A-BD1F-F3076F8E26DC}"/>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72F2E50A-D20F-1956-8303-0B2A01A5A0F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EEC4ECF6-3911-AF92-42DD-1FDA2A9E9E27}"/>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EE0C02C0-8A10-853E-662D-B849A7667A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7CC5D6C-6805-19EF-F3B3-D33CC4478DE5}"/>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2231504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Autofit/>
          </a:bodyPr>
          <a:lstStyle/>
          <a:p>
            <a:r>
              <a:rPr lang="en-US" sz="3200" dirty="0"/>
              <a:t>2S: A place for everything and everything in its place</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36</a:t>
            </a:fld>
            <a:endParaRPr lang="en-US"/>
          </a:p>
        </p:txBody>
      </p:sp>
      <p:pic>
        <p:nvPicPr>
          <p:cNvPr id="5" name="Picture 6">
            <a:extLst>
              <a:ext uri="{FF2B5EF4-FFF2-40B4-BE49-F238E27FC236}">
                <a16:creationId xmlns:a16="http://schemas.microsoft.com/office/drawing/2014/main" id="{E550768C-DBC7-46BE-F78D-A86BCA22084B}"/>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b="119"/>
          <a:stretch>
            <a:fillRect/>
          </a:stretch>
        </p:blipFill>
        <p:spPr bwMode="auto">
          <a:xfrm>
            <a:off x="838200" y="1891460"/>
            <a:ext cx="5141180" cy="34463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5">
            <a:extLst>
              <a:ext uri="{FF2B5EF4-FFF2-40B4-BE49-F238E27FC236}">
                <a16:creationId xmlns:a16="http://schemas.microsoft.com/office/drawing/2014/main" id="{0EDE036D-2008-9F58-4B86-8768EE3D234D}"/>
              </a:ext>
            </a:extLst>
          </p:cNvPr>
          <p:cNvPicPr>
            <a:picLocks noGrp="1" noChangeAspect="1" noChangeArrowheads="1"/>
          </p:cNvPicPr>
          <p:nvPr>
            <p:ph sz="half" idx="2"/>
          </p:nvPr>
        </p:nvPicPr>
        <p:blipFill>
          <a:blip r:embed="rId4">
            <a:extLst>
              <a:ext uri="{28A0092B-C50C-407E-A947-70E740481C1C}">
                <a14:useLocalDpi xmlns:a14="http://schemas.microsoft.com/office/drawing/2010/main" val="0"/>
              </a:ext>
            </a:extLst>
          </a:blip>
          <a:srcRect/>
          <a:stretch>
            <a:fillRect/>
          </a:stretch>
        </p:blipFill>
        <p:spPr bwMode="auto">
          <a:xfrm>
            <a:off x="6373177" y="1891460"/>
            <a:ext cx="4834040" cy="3446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50800">
                <a:solidFill>
                  <a:srgbClr val="000000"/>
                </a:solidFill>
                <a:miter lim="800000"/>
                <a:headEnd/>
                <a:tailEnd/>
              </a14:hiddenLine>
            </a:ext>
          </a:extLst>
        </p:spPr>
      </p:pic>
      <p:sp>
        <p:nvSpPr>
          <p:cNvPr id="8" name="Oval 4">
            <a:extLst>
              <a:ext uri="{FF2B5EF4-FFF2-40B4-BE49-F238E27FC236}">
                <a16:creationId xmlns:a16="http://schemas.microsoft.com/office/drawing/2014/main" id="{5B7C636A-961E-14BF-7D24-7A385891B045}"/>
              </a:ext>
            </a:extLst>
          </p:cNvPr>
          <p:cNvSpPr>
            <a:spLocks noChangeArrowheads="1"/>
          </p:cNvSpPr>
          <p:nvPr/>
        </p:nvSpPr>
        <p:spPr bwMode="auto">
          <a:xfrm>
            <a:off x="5917468" y="5446507"/>
            <a:ext cx="1738312" cy="762000"/>
          </a:xfrm>
          <a:prstGeom prst="ellipse">
            <a:avLst/>
          </a:prstGeom>
          <a:solidFill>
            <a:schemeClr val="bg2"/>
          </a:solidFill>
          <a:ln w="28575">
            <a:noFill/>
            <a:round/>
            <a:headEnd/>
            <a:tailEnd/>
          </a:ln>
        </p:spPr>
        <p:txBody>
          <a:bodyPr anchor="ct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9" name="Text Box 7">
            <a:extLst>
              <a:ext uri="{FF2B5EF4-FFF2-40B4-BE49-F238E27FC236}">
                <a16:creationId xmlns:a16="http://schemas.microsoft.com/office/drawing/2014/main" id="{7B6A1B66-CA80-AEFB-C952-32ECD00E2602}"/>
              </a:ext>
            </a:extLst>
          </p:cNvPr>
          <p:cNvSpPr txBox="1">
            <a:spLocks noChangeArrowheads="1"/>
          </p:cNvSpPr>
          <p:nvPr/>
        </p:nvSpPr>
        <p:spPr bwMode="auto">
          <a:xfrm>
            <a:off x="5979380" y="5572077"/>
            <a:ext cx="17414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Aft>
                <a:spcPct val="0"/>
              </a:spcAft>
              <a:buClrTx/>
              <a:buSzTx/>
              <a:buFontTx/>
              <a:buNone/>
            </a:pPr>
            <a:r>
              <a:rPr lang="en-US" altLang="en-US" sz="1400" dirty="0">
                <a:latin typeface="Roboto" panose="02000000000000000000" pitchFamily="2" charset="0"/>
                <a:ea typeface="Roboto" panose="02000000000000000000" pitchFamily="2" charset="0"/>
                <a:cs typeface="Arial" panose="020B0604020202020204" pitchFamily="34" charset="0"/>
              </a:rPr>
              <a:t>Notice the missing tools…</a:t>
            </a:r>
          </a:p>
        </p:txBody>
      </p:sp>
      <p:sp>
        <p:nvSpPr>
          <p:cNvPr id="10" name="Line 8">
            <a:extLst>
              <a:ext uri="{FF2B5EF4-FFF2-40B4-BE49-F238E27FC236}">
                <a16:creationId xmlns:a16="http://schemas.microsoft.com/office/drawing/2014/main" id="{D07392FB-F026-665C-36F9-2DBE89862FEE}"/>
              </a:ext>
            </a:extLst>
          </p:cNvPr>
          <p:cNvSpPr>
            <a:spLocks noChangeShapeType="1"/>
          </p:cNvSpPr>
          <p:nvPr/>
        </p:nvSpPr>
        <p:spPr bwMode="auto">
          <a:xfrm flipV="1">
            <a:off x="7579581" y="2983232"/>
            <a:ext cx="2501680" cy="2615675"/>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US"/>
          </a:p>
        </p:txBody>
      </p:sp>
      <p:sp>
        <p:nvSpPr>
          <p:cNvPr id="11" name="Line 11">
            <a:extLst>
              <a:ext uri="{FF2B5EF4-FFF2-40B4-BE49-F238E27FC236}">
                <a16:creationId xmlns:a16="http://schemas.microsoft.com/office/drawing/2014/main" id="{4145AA1C-3304-073F-2F8D-B05B81137157}"/>
              </a:ext>
            </a:extLst>
          </p:cNvPr>
          <p:cNvSpPr>
            <a:spLocks noChangeShapeType="1"/>
          </p:cNvSpPr>
          <p:nvPr/>
        </p:nvSpPr>
        <p:spPr bwMode="auto">
          <a:xfrm flipV="1">
            <a:off x="7717692" y="4834890"/>
            <a:ext cx="2363569" cy="998284"/>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square">
            <a:spAutoFit/>
          </a:bodyPr>
          <a:lstStyle/>
          <a:p>
            <a:endParaRPr lang="en-US"/>
          </a:p>
        </p:txBody>
      </p:sp>
      <p:sp>
        <p:nvSpPr>
          <p:cNvPr id="12" name="TextBox 11">
            <a:extLst>
              <a:ext uri="{FF2B5EF4-FFF2-40B4-BE49-F238E27FC236}">
                <a16:creationId xmlns:a16="http://schemas.microsoft.com/office/drawing/2014/main" id="{437D6091-D95F-0038-BDC0-E5463009DDDE}"/>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3" name="Group 12">
            <a:extLst>
              <a:ext uri="{FF2B5EF4-FFF2-40B4-BE49-F238E27FC236}">
                <a16:creationId xmlns:a16="http://schemas.microsoft.com/office/drawing/2014/main" id="{5C50198F-B114-2873-D05A-52C12508C5BB}"/>
              </a:ext>
            </a:extLst>
          </p:cNvPr>
          <p:cNvGrpSpPr/>
          <p:nvPr/>
        </p:nvGrpSpPr>
        <p:grpSpPr>
          <a:xfrm>
            <a:off x="940249" y="302538"/>
            <a:ext cx="1060167" cy="290657"/>
            <a:chOff x="940249" y="315206"/>
            <a:chExt cx="1060167" cy="265062"/>
          </a:xfrm>
        </p:grpSpPr>
        <p:sp>
          <p:nvSpPr>
            <p:cNvPr id="14" name="AutoShape 9">
              <a:extLst>
                <a:ext uri="{FF2B5EF4-FFF2-40B4-BE49-F238E27FC236}">
                  <a16:creationId xmlns:a16="http://schemas.microsoft.com/office/drawing/2014/main" id="{FF443819-D7F9-E452-890B-C416CCACFA7C}"/>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5" name="Group 14">
              <a:extLst>
                <a:ext uri="{FF2B5EF4-FFF2-40B4-BE49-F238E27FC236}">
                  <a16:creationId xmlns:a16="http://schemas.microsoft.com/office/drawing/2014/main" id="{3E2F7253-50B4-DA33-8858-7B2DD1B16E23}"/>
                </a:ext>
              </a:extLst>
            </p:cNvPr>
            <p:cNvGrpSpPr/>
            <p:nvPr/>
          </p:nvGrpSpPr>
          <p:grpSpPr>
            <a:xfrm>
              <a:off x="940249" y="315206"/>
              <a:ext cx="746492" cy="265062"/>
              <a:chOff x="940249" y="315206"/>
              <a:chExt cx="746492" cy="265062"/>
            </a:xfrm>
          </p:grpSpPr>
          <p:sp>
            <p:nvSpPr>
              <p:cNvPr id="16" name="AutoShape 11">
                <a:extLst>
                  <a:ext uri="{FF2B5EF4-FFF2-40B4-BE49-F238E27FC236}">
                    <a16:creationId xmlns:a16="http://schemas.microsoft.com/office/drawing/2014/main" id="{03B932D0-30DC-4235-B7BA-853C8480C648}"/>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7" name="AutoShape 10">
                <a:extLst>
                  <a:ext uri="{FF2B5EF4-FFF2-40B4-BE49-F238E27FC236}">
                    <a16:creationId xmlns:a16="http://schemas.microsoft.com/office/drawing/2014/main" id="{F21C3045-A77C-BA3E-105C-4B73F9D3011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935332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noAutofit/>
          </a:bodyPr>
          <a:lstStyle/>
          <a:p>
            <a:r>
              <a:rPr lang="en-US" sz="3600" dirty="0"/>
              <a:t>Visually Identify Critical Parts, Areas, and Items</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37</a:t>
            </a:fld>
            <a:endParaRPr lang="en-US"/>
          </a:p>
        </p:txBody>
      </p:sp>
      <p:sp>
        <p:nvSpPr>
          <p:cNvPr id="3" name="TextBox 2">
            <a:extLst>
              <a:ext uri="{FF2B5EF4-FFF2-40B4-BE49-F238E27FC236}">
                <a16:creationId xmlns:a16="http://schemas.microsoft.com/office/drawing/2014/main" id="{38EE9B35-F037-DF6A-48BA-01185A268635}"/>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0AA23495-A2F4-5A1D-1DD6-37807D2C3E2B}"/>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FED88893-CA99-D79D-4A9C-208503834301}"/>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8FF2FE81-7E6F-65A2-4E8A-D31CF0BD280D}"/>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419E3A5A-C7FC-C1A8-78F7-3CD9301055C4}"/>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9AE8D2ED-5743-DD41-815E-E1349841C02E}"/>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aphicFrame>
        <p:nvGraphicFramePr>
          <p:cNvPr id="10" name="Group 42">
            <a:extLst>
              <a:ext uri="{FF2B5EF4-FFF2-40B4-BE49-F238E27FC236}">
                <a16:creationId xmlns:a16="http://schemas.microsoft.com/office/drawing/2014/main" id="{87C9985A-616C-529F-8FA1-FD1E449976EF}"/>
              </a:ext>
            </a:extLst>
          </p:cNvPr>
          <p:cNvGraphicFramePr>
            <a:graphicFrameLocks noGrp="1"/>
          </p:cNvGraphicFramePr>
          <p:nvPr>
            <p:extLst>
              <p:ext uri="{D42A27DB-BD31-4B8C-83A1-F6EECF244321}">
                <p14:modId xmlns:p14="http://schemas.microsoft.com/office/powerpoint/2010/main" val="782304994"/>
              </p:ext>
            </p:extLst>
          </p:nvPr>
        </p:nvGraphicFramePr>
        <p:xfrm>
          <a:off x="450850" y="1552574"/>
          <a:ext cx="10201910" cy="4780575"/>
        </p:xfrm>
        <a:graphic>
          <a:graphicData uri="http://schemas.openxmlformats.org/drawingml/2006/table">
            <a:tbl>
              <a:tblPr/>
              <a:tblGrid>
                <a:gridCol w="2407038">
                  <a:extLst>
                    <a:ext uri="{9D8B030D-6E8A-4147-A177-3AD203B41FA5}">
                      <a16:colId xmlns:a16="http://schemas.microsoft.com/office/drawing/2014/main" val="20000"/>
                    </a:ext>
                  </a:extLst>
                </a:gridCol>
                <a:gridCol w="2910059">
                  <a:extLst>
                    <a:ext uri="{9D8B030D-6E8A-4147-A177-3AD203B41FA5}">
                      <a16:colId xmlns:a16="http://schemas.microsoft.com/office/drawing/2014/main" val="20001"/>
                    </a:ext>
                  </a:extLst>
                </a:gridCol>
                <a:gridCol w="4884813">
                  <a:extLst>
                    <a:ext uri="{9D8B030D-6E8A-4147-A177-3AD203B41FA5}">
                      <a16:colId xmlns:a16="http://schemas.microsoft.com/office/drawing/2014/main" val="20002"/>
                    </a:ext>
                  </a:extLst>
                </a:gridCol>
              </a:tblGrid>
              <a:tr h="462867">
                <a:tc gridSpan="3">
                  <a:txBody>
                    <a:bodyPr/>
                    <a:lstStyle/>
                    <a:p>
                      <a:pPr marL="0" marR="0" lvl="0" indent="0" algn="l" defTabSz="914400" rtl="0" eaLnBrk="0" fontAlgn="base" latinLnBrk="0" hangingPunct="0">
                        <a:lnSpc>
                          <a:spcPct val="115000"/>
                        </a:lnSpc>
                        <a:spcBef>
                          <a:spcPct val="50000"/>
                        </a:spcBef>
                        <a:spcAft>
                          <a:spcPct val="50000"/>
                        </a:spcAft>
                        <a:buClr>
                          <a:srgbClr val="006699"/>
                        </a:buClr>
                        <a:buSzPct val="90000"/>
                        <a:buFont typeface="Wingdings" pitchFamily="2" charset="2"/>
                        <a:buNone/>
                        <a:tabLst/>
                      </a:pPr>
                      <a:r>
                        <a:rPr kumimoji="0" lang="en-US" sz="1800" b="1" i="0" u="none" strike="noStrike" cap="none" normalizeH="0" baseline="0" dirty="0">
                          <a:ln>
                            <a:noFill/>
                          </a:ln>
                          <a:solidFill>
                            <a:schemeClr val="bg1"/>
                          </a:solidFill>
                          <a:effectLst/>
                          <a:latin typeface="Roboto" panose="02000000000000000000" pitchFamily="2" charset="0"/>
                          <a:ea typeface="Roboto" panose="02000000000000000000" pitchFamily="2" charset="0"/>
                        </a:rPr>
                        <a:t>Standard Color Guide</a:t>
                      </a:r>
                    </a:p>
                  </a:txBody>
                  <a:tcPr marT="45714" marB="45714" anchor="b" horzOverflow="overflow">
                    <a:lnL cap="flat">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tx1"/>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881238">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Safety </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International Green</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Safety Equipment, First Aid, Safety Posters, Notices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57763">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Quality</a:t>
                      </a:r>
                    </a:p>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International Blue</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Inspection Points, Quality Notices and Instructions, Gauging</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Standards</a:t>
                      </a:r>
                    </a:p>
                    <a:p>
                      <a:pPr marL="290513" marR="0" lvl="0" indent="-290513"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Federal Safety Yellow</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Operations Standards, Location Marks, New Tooling, Good Part Storage</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dirty="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Defects</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Federal Safety Red</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Scrap, Bad Parts, Warranty Materials, Dull Tools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859569">
                <a:tc>
                  <a:txBody>
                    <a:bodyPr/>
                    <a:lstStyle/>
                    <a:p>
                      <a:pPr marL="0" marR="0" lvl="0" indent="0" algn="l" defTabSz="914400" rtl="0" eaLnBrk="0" fontAlgn="base" latinLnBrk="0" hangingPunct="0">
                        <a:lnSpc>
                          <a:spcPct val="115000"/>
                        </a:lnSpc>
                        <a:spcBef>
                          <a:spcPct val="20000"/>
                        </a:spcBef>
                        <a:spcAft>
                          <a:spcPct val="20000"/>
                        </a:spcAft>
                        <a:buClr>
                          <a:srgbClr val="006699"/>
                        </a:buClr>
                        <a:buSzPct val="90000"/>
                        <a:buFont typeface="Wingdings" pitchFamily="2" charset="2"/>
                        <a:buNone/>
                        <a:tabLst/>
                      </a:pPr>
                      <a:endParaRPr kumimoji="0" lang="en-US" sz="1600" b="1" i="0" u="none" strike="noStrike" cap="none" normalizeH="0" baseline="0">
                        <a:ln>
                          <a:noFill/>
                        </a:ln>
                        <a:solidFill>
                          <a:schemeClr val="tx1"/>
                        </a:solidFill>
                        <a:effectLst/>
                        <a:latin typeface="Roboto" panose="02000000000000000000" pitchFamily="2" charset="0"/>
                        <a:ea typeface="Roboto" panose="02000000000000000000" pitchFamily="2" charset="0"/>
                      </a:endParaRPr>
                    </a:p>
                  </a:txBody>
                  <a:tcPr marT="45714" marB="45714" horzOverflow="overflow">
                    <a:lnL cap="flat">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Maintenance</a:t>
                      </a:r>
                    </a:p>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None/>
                        <a:tabLst/>
                      </a:pPr>
                      <a:r>
                        <a:rPr kumimoji="0" lang="en-US" sz="1400" b="1" i="0" u="none" strike="noStrike" cap="none" normalizeH="0" baseline="0">
                          <a:ln>
                            <a:noFill/>
                          </a:ln>
                          <a:solidFill>
                            <a:schemeClr val="tx1"/>
                          </a:solidFill>
                          <a:effectLst/>
                          <a:latin typeface="Roboto" panose="02000000000000000000" pitchFamily="2" charset="0"/>
                          <a:ea typeface="Roboto" panose="02000000000000000000" pitchFamily="2" charset="0"/>
                        </a:rPr>
                        <a:t>Pure White</a:t>
                      </a:r>
                    </a:p>
                  </a:txBody>
                  <a:tcPr marT="45714" marB="45714" horzOverflow="overflow">
                    <a:lnL>
                      <a:noFill/>
                    </a:lnL>
                    <a:lnR>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231775" marR="0" lvl="0" indent="-231775" algn="l" defTabSz="914400" rtl="0" eaLnBrk="0" fontAlgn="base" latinLnBrk="0" hangingPunct="0">
                        <a:lnSpc>
                          <a:spcPct val="100000"/>
                        </a:lnSpc>
                        <a:spcBef>
                          <a:spcPct val="20000"/>
                        </a:spcBef>
                        <a:spcAft>
                          <a:spcPct val="20000"/>
                        </a:spcAft>
                        <a:buClr>
                          <a:srgbClr val="006699"/>
                        </a:buClr>
                        <a:buSzPct val="90000"/>
                        <a:buFont typeface="Wingdings" pitchFamily="2" charset="2"/>
                        <a:buChar char="§"/>
                        <a:tabLst/>
                      </a:pPr>
                      <a:r>
                        <a:rPr kumimoji="0" lang="en-US" sz="1400" b="1" i="0" u="none" strike="noStrike" cap="none" normalizeH="0" baseline="0" dirty="0">
                          <a:ln>
                            <a:noFill/>
                          </a:ln>
                          <a:solidFill>
                            <a:schemeClr val="tx1"/>
                          </a:solidFill>
                          <a:effectLst/>
                          <a:latin typeface="Roboto" panose="02000000000000000000" pitchFamily="2" charset="0"/>
                          <a:ea typeface="Roboto" panose="02000000000000000000" pitchFamily="2" charset="0"/>
                        </a:rPr>
                        <a:t>Repair Tools, TPM Materials, Machinery, Cleanliness</a:t>
                      </a:r>
                    </a:p>
                  </a:txBody>
                  <a:tcPr marT="45714" marB="45714" horzOverflow="overflow">
                    <a:lnL>
                      <a:noFill/>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11" name="Rectangle 43">
            <a:extLst>
              <a:ext uri="{FF2B5EF4-FFF2-40B4-BE49-F238E27FC236}">
                <a16:creationId xmlns:a16="http://schemas.microsoft.com/office/drawing/2014/main" id="{1165FC1C-C2F5-A0EB-3B61-592714400046}"/>
              </a:ext>
            </a:extLst>
          </p:cNvPr>
          <p:cNvSpPr>
            <a:spLocks noChangeArrowheads="1"/>
          </p:cNvSpPr>
          <p:nvPr/>
        </p:nvSpPr>
        <p:spPr bwMode="auto">
          <a:xfrm>
            <a:off x="679979" y="2119538"/>
            <a:ext cx="1414749" cy="606827"/>
          </a:xfrm>
          <a:prstGeom prst="rect">
            <a:avLst/>
          </a:prstGeom>
          <a:solidFill>
            <a:srgbClr val="0099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2" name="Rectangle 44">
            <a:extLst>
              <a:ext uri="{FF2B5EF4-FFF2-40B4-BE49-F238E27FC236}">
                <a16:creationId xmlns:a16="http://schemas.microsoft.com/office/drawing/2014/main" id="{266C3F2E-66AC-51A0-C7B5-3135F9D4082A}"/>
              </a:ext>
            </a:extLst>
          </p:cNvPr>
          <p:cNvSpPr>
            <a:spLocks noChangeArrowheads="1"/>
          </p:cNvSpPr>
          <p:nvPr/>
        </p:nvSpPr>
        <p:spPr bwMode="auto">
          <a:xfrm>
            <a:off x="679979" y="2974072"/>
            <a:ext cx="1414749" cy="606827"/>
          </a:xfrm>
          <a:prstGeom prst="rect">
            <a:avLst/>
          </a:prstGeom>
          <a:solidFill>
            <a:srgbClr val="006699"/>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3" name="Rectangle 45">
            <a:extLst>
              <a:ext uri="{FF2B5EF4-FFF2-40B4-BE49-F238E27FC236}">
                <a16:creationId xmlns:a16="http://schemas.microsoft.com/office/drawing/2014/main" id="{4BF88433-8271-B767-5F32-B80FEC95A365}"/>
              </a:ext>
            </a:extLst>
          </p:cNvPr>
          <p:cNvSpPr>
            <a:spLocks noChangeArrowheads="1"/>
          </p:cNvSpPr>
          <p:nvPr/>
        </p:nvSpPr>
        <p:spPr bwMode="auto">
          <a:xfrm>
            <a:off x="665691" y="3828606"/>
            <a:ext cx="1414749" cy="606827"/>
          </a:xfrm>
          <a:prstGeom prst="rect">
            <a:avLst/>
          </a:prstGeom>
          <a:solidFill>
            <a:srgbClr val="FFFF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Rectangle 46">
            <a:extLst>
              <a:ext uri="{FF2B5EF4-FFF2-40B4-BE49-F238E27FC236}">
                <a16:creationId xmlns:a16="http://schemas.microsoft.com/office/drawing/2014/main" id="{1BF2CFCC-24AA-072D-A228-80828D575940}"/>
              </a:ext>
            </a:extLst>
          </p:cNvPr>
          <p:cNvSpPr>
            <a:spLocks noChangeArrowheads="1"/>
          </p:cNvSpPr>
          <p:nvPr/>
        </p:nvSpPr>
        <p:spPr bwMode="auto">
          <a:xfrm>
            <a:off x="679979" y="4683140"/>
            <a:ext cx="1414749" cy="606827"/>
          </a:xfrm>
          <a:prstGeom prst="rect">
            <a:avLst/>
          </a:prstGeom>
          <a:solidFill>
            <a:srgbClr val="FF0000"/>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5" name="Rectangle 47">
            <a:extLst>
              <a:ext uri="{FF2B5EF4-FFF2-40B4-BE49-F238E27FC236}">
                <a16:creationId xmlns:a16="http://schemas.microsoft.com/office/drawing/2014/main" id="{13DD3854-308F-8839-6128-FB9A4422D70C}"/>
              </a:ext>
            </a:extLst>
          </p:cNvPr>
          <p:cNvSpPr>
            <a:spLocks noChangeArrowheads="1"/>
          </p:cNvSpPr>
          <p:nvPr/>
        </p:nvSpPr>
        <p:spPr bwMode="auto">
          <a:xfrm>
            <a:off x="665691" y="5537675"/>
            <a:ext cx="1414749" cy="606827"/>
          </a:xfrm>
          <a:prstGeom prst="rect">
            <a:avLst/>
          </a:prstGeom>
          <a:solidFill>
            <a:schemeClr val="bg1"/>
          </a:solidFill>
          <a:ln w="9525">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Tree>
    <p:extLst>
      <p:ext uri="{BB962C8B-B14F-4D97-AF65-F5344CB8AC3E}">
        <p14:creationId xmlns:p14="http://schemas.microsoft.com/office/powerpoint/2010/main" val="4277310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2S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2S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approach to completing 2S.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2S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2S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784606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39</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05600797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3S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40</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SEISO</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Cleanliness. Indicates the need to keep the workplace clean as well as neat. Cleaning in Japanese companies is a daily activity. At the end of each shift the work area is cleaned up and everything restored to its place. </a:t>
            </a:r>
            <a:endParaRPr lang="en-US" altLang="en-US" sz="1400" dirty="0">
              <a:solidFill>
                <a:schemeClr val="bg1"/>
              </a:solidFill>
              <a:latin typeface="Roboto" panose="02000000000000000000" pitchFamily="2" charset="0"/>
              <a:ea typeface="Roboto" panose="02000000000000000000" pitchFamily="2" charset="0"/>
            </a:endParaRP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Establish a clean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Sweep and wash floors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Clean in, around and under all equipment and furniture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Eliminate all trash from the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Ask the question:</a:t>
            </a:r>
          </a:p>
          <a:p>
            <a:pPr lvl="1">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How do things get dirty?</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Find and address root cause</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SCRUB</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Cleaning floors, equipment, furniture in all areas of the workplace</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3S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SEISO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SCRUB</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3S identifies and eliminates the source of uncleanliness</a:t>
            </a:r>
          </a:p>
        </p:txBody>
      </p:sp>
    </p:spTree>
    <p:extLst>
      <p:ext uri="{BB962C8B-B14F-4D97-AF65-F5344CB8AC3E}">
        <p14:creationId xmlns:p14="http://schemas.microsoft.com/office/powerpoint/2010/main" val="294798415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lstStyle/>
          <a:p>
            <a:r>
              <a:rPr lang="en-US" dirty="0"/>
              <a:t>3S Strategy, continued</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normAutofit lnSpcReduction="10000"/>
          </a:bodyPr>
          <a:lstStyle/>
          <a:p>
            <a:r>
              <a:rPr lang="en-US" dirty="0"/>
              <a:t>Allows you to quickly identify “abnormalities”</a:t>
            </a:r>
          </a:p>
          <a:p>
            <a:r>
              <a:rPr lang="en-US" dirty="0"/>
              <a:t>Eliminates idea of “spring cleaning”</a:t>
            </a:r>
          </a:p>
          <a:p>
            <a:r>
              <a:rPr lang="en-US" dirty="0"/>
              <a:t>Maintains discipline</a:t>
            </a:r>
          </a:p>
          <a:p>
            <a:r>
              <a:rPr lang="en-US" dirty="0"/>
              <a:t>Becomes a part of your regular, daily routine</a:t>
            </a:r>
          </a:p>
          <a:p>
            <a:r>
              <a:rPr lang="en-US" dirty="0"/>
              <a:t>Dedicate FIRST five minutes of each day to systemic cleaning</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41</a:t>
            </a:fld>
            <a:endParaRPr lang="en-US"/>
          </a:p>
        </p:txBody>
      </p:sp>
      <p:pic>
        <p:nvPicPr>
          <p:cNvPr id="5" name="Picture 12" descr="Image009">
            <a:extLst>
              <a:ext uri="{FF2B5EF4-FFF2-40B4-BE49-F238E27FC236}">
                <a16:creationId xmlns:a16="http://schemas.microsoft.com/office/drawing/2014/main" id="{ACCEE6A8-8616-B6E4-7420-22FFDC64BA78}"/>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838199" y="1825625"/>
            <a:ext cx="5192547" cy="39008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6577438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3600" dirty="0">
                <a:latin typeface="Roboto Medium"/>
                <a:ea typeface="Roboto Medium"/>
                <a:cs typeface="Roboto Medium"/>
              </a:rPr>
              <a:t>Exercise: 3S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3S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approach to completing 3S.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individual tasks.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time to accomplish 3S and review</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results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3S</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2966579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43</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4683258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4S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44</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SEIKETSU</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Standards. Allows for control and consistency. Basic housekeeping standards apply everywhere in the facility. Everyone knows exactly what his or her responsibilities are. Housekeeping duties are part of regular work routines.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Maintain and improve the neat, organized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Eliminate excess storage areas and flat surfaces</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Make changes to equipment that make it easy and quick to eliminate dirt and leaks at their source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Use checklist to establish daily cleaning and organization activity</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Institute 5S Patrols</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8062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STABILIZE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Maintaining and improving the standards of the first 3 S’s</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4S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SEIKETSU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STABILIZE</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4S not only maintains, but improves what has been put in place</a:t>
            </a:r>
          </a:p>
        </p:txBody>
      </p:sp>
    </p:spTree>
    <p:extLst>
      <p:ext uri="{BB962C8B-B14F-4D97-AF65-F5344CB8AC3E}">
        <p14:creationId xmlns:p14="http://schemas.microsoft.com/office/powerpoint/2010/main" val="13650487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fontScale="90000"/>
          </a:bodyPr>
          <a:lstStyle/>
          <a:p>
            <a:r>
              <a:rPr lang="en-US" dirty="0"/>
              <a:t>5S Patrol Checklist – Manufacturing Areas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Develop a standard procedure for the use of this form</a:t>
            </a:r>
          </a:p>
          <a:p>
            <a:r>
              <a:rPr lang="en-US" dirty="0"/>
              <a:t>Use form consistently to measure results of 5S in all areas</a:t>
            </a:r>
          </a:p>
          <a:p>
            <a:r>
              <a:rPr lang="en-US" dirty="0"/>
              <a:t>Identify 5S Owner of each area – make no assumptions regarding ownership</a:t>
            </a:r>
          </a:p>
          <a:p>
            <a:r>
              <a:rPr lang="en-US" dirty="0"/>
              <a:t>Follow-up and conduct regular 5S Patrols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45</a:t>
            </a:fld>
            <a:endParaRPr lang="en-US"/>
          </a:p>
        </p:txBody>
      </p:sp>
      <p:pic>
        <p:nvPicPr>
          <p:cNvPr id="5" name="Picture 17" descr="5S Patrol Mfg">
            <a:extLst>
              <a:ext uri="{FF2B5EF4-FFF2-40B4-BE49-F238E27FC236}">
                <a16:creationId xmlns:a16="http://schemas.microsoft.com/office/drawing/2014/main" id="{4ED346E5-69D2-CC4E-A15E-66666989CD8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bwMode="auto">
          <a:xfrm>
            <a:off x="1876259" y="1825625"/>
            <a:ext cx="3105481"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AutoShape 5">
            <a:extLst>
              <a:ext uri="{FF2B5EF4-FFF2-40B4-BE49-F238E27FC236}">
                <a16:creationId xmlns:a16="http://schemas.microsoft.com/office/drawing/2014/main" id="{43BC6D50-8485-BB98-D519-DABF58C20A63}"/>
              </a:ext>
            </a:extLst>
          </p:cNvPr>
          <p:cNvSpPr>
            <a:spLocks noChangeArrowheads="1"/>
          </p:cNvSpPr>
          <p:nvPr/>
        </p:nvSpPr>
        <p:spPr bwMode="auto">
          <a:xfrm>
            <a:off x="5643245" y="2754312"/>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14" name="TextBox 13">
            <a:extLst>
              <a:ext uri="{FF2B5EF4-FFF2-40B4-BE49-F238E27FC236}">
                <a16:creationId xmlns:a16="http://schemas.microsoft.com/office/drawing/2014/main" id="{C8E27D30-713D-7CA4-8B4B-46A7663B15B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5" name="Group 14">
            <a:extLst>
              <a:ext uri="{FF2B5EF4-FFF2-40B4-BE49-F238E27FC236}">
                <a16:creationId xmlns:a16="http://schemas.microsoft.com/office/drawing/2014/main" id="{10A703E4-7CBC-C62D-0FE9-14815EA0F53A}"/>
              </a:ext>
            </a:extLst>
          </p:cNvPr>
          <p:cNvGrpSpPr/>
          <p:nvPr/>
        </p:nvGrpSpPr>
        <p:grpSpPr>
          <a:xfrm>
            <a:off x="940249" y="302538"/>
            <a:ext cx="1060167" cy="290657"/>
            <a:chOff x="940249" y="315206"/>
            <a:chExt cx="1060167" cy="265062"/>
          </a:xfrm>
        </p:grpSpPr>
        <p:sp>
          <p:nvSpPr>
            <p:cNvPr id="16" name="AutoShape 9">
              <a:extLst>
                <a:ext uri="{FF2B5EF4-FFF2-40B4-BE49-F238E27FC236}">
                  <a16:creationId xmlns:a16="http://schemas.microsoft.com/office/drawing/2014/main" id="{8DDF307C-F6FF-320E-F625-B397D5F3DEC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7" name="Group 16">
              <a:extLst>
                <a:ext uri="{FF2B5EF4-FFF2-40B4-BE49-F238E27FC236}">
                  <a16:creationId xmlns:a16="http://schemas.microsoft.com/office/drawing/2014/main" id="{191C5909-F852-8FBF-2CE5-40399C0BAC12}"/>
                </a:ext>
              </a:extLst>
            </p:cNvPr>
            <p:cNvGrpSpPr/>
            <p:nvPr/>
          </p:nvGrpSpPr>
          <p:grpSpPr>
            <a:xfrm>
              <a:off x="940249" y="315206"/>
              <a:ext cx="746492" cy="265062"/>
              <a:chOff x="940249" y="315206"/>
              <a:chExt cx="746492" cy="265062"/>
            </a:xfrm>
          </p:grpSpPr>
          <p:sp>
            <p:nvSpPr>
              <p:cNvPr id="18" name="AutoShape 11">
                <a:extLst>
                  <a:ext uri="{FF2B5EF4-FFF2-40B4-BE49-F238E27FC236}">
                    <a16:creationId xmlns:a16="http://schemas.microsoft.com/office/drawing/2014/main" id="{65B9027B-7946-C52B-B8DA-6609C896154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9" name="AutoShape 10">
                <a:extLst>
                  <a:ext uri="{FF2B5EF4-FFF2-40B4-BE49-F238E27FC236}">
                    <a16:creationId xmlns:a16="http://schemas.microsoft.com/office/drawing/2014/main" id="{B24F8E11-E39A-C4A8-1602-977ECDC36F9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5764969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668A9-873A-57D2-016B-C3B5AEEC0C72}"/>
              </a:ext>
            </a:extLst>
          </p:cNvPr>
          <p:cNvSpPr>
            <a:spLocks noGrp="1"/>
          </p:cNvSpPr>
          <p:nvPr>
            <p:ph type="title"/>
          </p:nvPr>
        </p:nvSpPr>
        <p:spPr/>
        <p:txBody>
          <a:bodyPr>
            <a:normAutofit/>
          </a:bodyPr>
          <a:lstStyle/>
          <a:p>
            <a:r>
              <a:rPr lang="en-US" dirty="0"/>
              <a:t>5S Patrol Checklist – Office Areas</a:t>
            </a:r>
          </a:p>
        </p:txBody>
      </p:sp>
      <p:sp>
        <p:nvSpPr>
          <p:cNvPr id="4" name="Content Placeholder 3">
            <a:extLst>
              <a:ext uri="{FF2B5EF4-FFF2-40B4-BE49-F238E27FC236}">
                <a16:creationId xmlns:a16="http://schemas.microsoft.com/office/drawing/2014/main" id="{5FEF15FE-DFC4-36AD-A503-63A8D0B5FEA6}"/>
              </a:ext>
            </a:extLst>
          </p:cNvPr>
          <p:cNvSpPr>
            <a:spLocks noGrp="1"/>
          </p:cNvSpPr>
          <p:nvPr>
            <p:ph sz="half" idx="2"/>
          </p:nvPr>
        </p:nvSpPr>
        <p:spPr/>
        <p:txBody>
          <a:bodyPr/>
          <a:lstStyle/>
          <a:p>
            <a:r>
              <a:rPr lang="en-US" dirty="0"/>
              <a:t>Office areas are not exempt from 5S</a:t>
            </a:r>
          </a:p>
          <a:p>
            <a:r>
              <a:rPr lang="en-US" dirty="0"/>
              <a:t>Form is a guideline – modify as appropriate for your use</a:t>
            </a:r>
          </a:p>
          <a:p>
            <a:r>
              <a:rPr lang="en-US" dirty="0"/>
              <a:t>If 5S event occurred for electronic/digital process – what considerations will need to be made in order to stabilize and improve the process?</a:t>
            </a:r>
          </a:p>
        </p:txBody>
      </p:sp>
      <p:sp>
        <p:nvSpPr>
          <p:cNvPr id="6" name="Slide Number Placeholder 5">
            <a:extLst>
              <a:ext uri="{FF2B5EF4-FFF2-40B4-BE49-F238E27FC236}">
                <a16:creationId xmlns:a16="http://schemas.microsoft.com/office/drawing/2014/main" id="{513532D1-AE2A-ADCD-94E6-52E41022128B}"/>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46</a:t>
            </a:fld>
            <a:endParaRPr lang="en-US"/>
          </a:p>
        </p:txBody>
      </p:sp>
      <p:sp>
        <p:nvSpPr>
          <p:cNvPr id="7" name="AutoShape 5">
            <a:extLst>
              <a:ext uri="{FF2B5EF4-FFF2-40B4-BE49-F238E27FC236}">
                <a16:creationId xmlns:a16="http://schemas.microsoft.com/office/drawing/2014/main" id="{43BC6D50-8485-BB98-D519-DABF58C20A63}"/>
              </a:ext>
            </a:extLst>
          </p:cNvPr>
          <p:cNvSpPr>
            <a:spLocks noChangeArrowheads="1"/>
          </p:cNvSpPr>
          <p:nvPr/>
        </p:nvSpPr>
        <p:spPr bwMode="auto">
          <a:xfrm>
            <a:off x="5643245" y="2754312"/>
            <a:ext cx="285750" cy="2493963"/>
          </a:xfrm>
          <a:prstGeom prst="rightArrow">
            <a:avLst>
              <a:gd name="adj1" fmla="val 67278"/>
              <a:gd name="adj2" fmla="val 72222"/>
            </a:avLst>
          </a:prstGeom>
          <a:solidFill>
            <a:schemeClr val="tx2"/>
          </a:solidFill>
          <a:ln w="1905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pic>
        <p:nvPicPr>
          <p:cNvPr id="8" name="Picture 17" descr="5S Patrol Office">
            <a:extLst>
              <a:ext uri="{FF2B5EF4-FFF2-40B4-BE49-F238E27FC236}">
                <a16:creationId xmlns:a16="http://schemas.microsoft.com/office/drawing/2014/main" id="{BB731BEC-CCD3-B4C0-89C4-904A9CB98B3C}"/>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b="24164"/>
          <a:stretch>
            <a:fillRect/>
          </a:stretch>
        </p:blipFill>
        <p:spPr bwMode="auto">
          <a:xfrm>
            <a:off x="1381502" y="1825625"/>
            <a:ext cx="4094996"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a:extLst>
              <a:ext uri="{FF2B5EF4-FFF2-40B4-BE49-F238E27FC236}">
                <a16:creationId xmlns:a16="http://schemas.microsoft.com/office/drawing/2014/main" id="{437E42D1-BBA9-0987-1217-E4A376A9222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F0983A6D-6E2B-CEF6-4D7F-8855D273140D}"/>
              </a:ext>
            </a:extLst>
          </p:cNvPr>
          <p:cNvGrpSpPr/>
          <p:nvPr/>
        </p:nvGrpSpPr>
        <p:grpSpPr>
          <a:xfrm>
            <a:off x="940249" y="302538"/>
            <a:ext cx="1060167" cy="290657"/>
            <a:chOff x="940249" y="315206"/>
            <a:chExt cx="1060167" cy="265062"/>
          </a:xfrm>
        </p:grpSpPr>
        <p:sp>
          <p:nvSpPr>
            <p:cNvPr id="11" name="AutoShape 9">
              <a:extLst>
                <a:ext uri="{FF2B5EF4-FFF2-40B4-BE49-F238E27FC236}">
                  <a16:creationId xmlns:a16="http://schemas.microsoft.com/office/drawing/2014/main" id="{6E4D9A64-339F-13E5-24BA-0AA2957AF0FD}"/>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2" name="Group 11">
              <a:extLst>
                <a:ext uri="{FF2B5EF4-FFF2-40B4-BE49-F238E27FC236}">
                  <a16:creationId xmlns:a16="http://schemas.microsoft.com/office/drawing/2014/main" id="{B02CD219-8BA7-A402-01E3-D5EDA4C6A013}"/>
                </a:ext>
              </a:extLst>
            </p:cNvPr>
            <p:cNvGrpSpPr/>
            <p:nvPr/>
          </p:nvGrpSpPr>
          <p:grpSpPr>
            <a:xfrm>
              <a:off x="940249" y="315206"/>
              <a:ext cx="746492" cy="265062"/>
              <a:chOff x="940249" y="315206"/>
              <a:chExt cx="746492" cy="265062"/>
            </a:xfrm>
          </p:grpSpPr>
          <p:sp>
            <p:nvSpPr>
              <p:cNvPr id="13" name="AutoShape 11">
                <a:extLst>
                  <a:ext uri="{FF2B5EF4-FFF2-40B4-BE49-F238E27FC236}">
                    <a16:creationId xmlns:a16="http://schemas.microsoft.com/office/drawing/2014/main" id="{F8D767BA-F9B2-73E5-28F1-63382EACF3D1}"/>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4" name="AutoShape 10">
                <a:extLst>
                  <a:ext uri="{FF2B5EF4-FFF2-40B4-BE49-F238E27FC236}">
                    <a16:creationId xmlns:a16="http://schemas.microsoft.com/office/drawing/2014/main" id="{41D50D14-3707-81F6-0818-094443E63D9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9657821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Audit Example</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47</a:t>
            </a:fld>
            <a:endParaRPr lang="en-US"/>
          </a:p>
        </p:txBody>
      </p:sp>
      <p:sp>
        <p:nvSpPr>
          <p:cNvPr id="3" name="TextBox 2">
            <a:extLst>
              <a:ext uri="{FF2B5EF4-FFF2-40B4-BE49-F238E27FC236}">
                <a16:creationId xmlns:a16="http://schemas.microsoft.com/office/drawing/2014/main" id="{A2266AAA-36A6-19E4-6902-C340118ECE1A}"/>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3EC886C6-F6E3-82FE-0D0D-8A4E4AD97081}"/>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BFED3274-F594-3AC2-CB2C-4E6EBD7DAD27}"/>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2F5CF033-BC02-4FA5-2283-CD685FA7D2D8}"/>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12B2CC66-C371-BB54-2FC3-680C86B5F755}"/>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44470C04-2F9E-D12E-BB01-30E1B4069C3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pic>
        <p:nvPicPr>
          <p:cNvPr id="10" name="Picture 6">
            <a:extLst>
              <a:ext uri="{FF2B5EF4-FFF2-40B4-BE49-F238E27FC236}">
                <a16:creationId xmlns:a16="http://schemas.microsoft.com/office/drawing/2014/main" id="{68A3DEB5-593B-C6D3-B4B6-589ACD9C5FA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780" t="11912" r="12106" b="13581"/>
          <a:stretch/>
        </p:blipFill>
        <p:spPr bwMode="auto">
          <a:xfrm>
            <a:off x="940249" y="1897503"/>
            <a:ext cx="6059170" cy="4279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7">
            <a:extLst>
              <a:ext uri="{FF2B5EF4-FFF2-40B4-BE49-F238E27FC236}">
                <a16:creationId xmlns:a16="http://schemas.microsoft.com/office/drawing/2014/main" id="{38A50BD6-84D3-4CC1-E5F0-CB21B76F4D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00900" y="1897503"/>
            <a:ext cx="4815676" cy="36117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Line 8">
            <a:extLst>
              <a:ext uri="{FF2B5EF4-FFF2-40B4-BE49-F238E27FC236}">
                <a16:creationId xmlns:a16="http://schemas.microsoft.com/office/drawing/2014/main" id="{2F9DFA47-462B-6815-A4ED-E6FB04DB2698}"/>
              </a:ext>
            </a:extLst>
          </p:cNvPr>
          <p:cNvSpPr>
            <a:spLocks noChangeShapeType="1"/>
          </p:cNvSpPr>
          <p:nvPr/>
        </p:nvSpPr>
        <p:spPr bwMode="auto">
          <a:xfrm flipV="1">
            <a:off x="4800600" y="3525838"/>
            <a:ext cx="3137218" cy="1085850"/>
          </a:xfrm>
          <a:prstGeom prst="line">
            <a:avLst/>
          </a:prstGeom>
          <a:noFill/>
          <a:ln w="57150" cap="sq">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126223904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2800" dirty="0">
                <a:latin typeface="Roboto Medium"/>
                <a:ea typeface="Roboto Medium"/>
                <a:cs typeface="Roboto Medium"/>
              </a:rPr>
              <a:t>Exercise: Identifying processes that need to be sustained</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48</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Generate list of processes that need to be sustained</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discuss which processes need to be</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sustained from THIS event.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Generated list on chart paper</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99939890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4S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49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Complete plan for 4S for the business event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develop specific plan/process to</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standardize and sustain the processes from the</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generated list for this event.</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Assign owner(s). </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endPar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endParaRPr>
          </a:p>
        </p:txBody>
      </p:sp>
      <p:sp>
        <p:nvSpPr>
          <p:cNvPr id="18" name="Rectangle 17">
            <a:extLst>
              <a:ext uri="{FF2B5EF4-FFF2-40B4-BE49-F238E27FC236}">
                <a16:creationId xmlns:a16="http://schemas.microsoft.com/office/drawing/2014/main" id="{84DF6BD6-975A-3700-5E69-322EFF4F722E}"/>
              </a:ext>
            </a:extLst>
          </p:cNvPr>
          <p:cNvSpPr/>
          <p:nvPr/>
        </p:nvSpPr>
        <p:spPr>
          <a:xfrm>
            <a:off x="5879250" y="4751555"/>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Completed 4S plan</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81331434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24">
            <a:extLst>
              <a:ext uri="{FF2B5EF4-FFF2-40B4-BE49-F238E27FC236}">
                <a16:creationId xmlns:a16="http://schemas.microsoft.com/office/drawing/2014/main" id="{868D4041-D0F9-25FB-4F54-742F539993D0}"/>
              </a:ext>
            </a:extLst>
          </p:cNvPr>
          <p:cNvSpPr>
            <a:spLocks noGrp="1"/>
          </p:cNvSpPr>
          <p:nvPr>
            <p:ph type="title"/>
          </p:nvPr>
        </p:nvSpPr>
        <p:spPr/>
        <p:txBody>
          <a:bodyPr>
            <a:normAutofit/>
          </a:bodyPr>
          <a:lstStyle/>
          <a:p>
            <a:r>
              <a:rPr lang="en-US" sz="4000" dirty="0">
                <a:latin typeface="Roboto Medium"/>
                <a:ea typeface="Roboto Medium"/>
                <a:cs typeface="Roboto Medium"/>
              </a:rPr>
              <a:t>5S</a:t>
            </a:r>
          </a:p>
        </p:txBody>
      </p:sp>
      <p:sp>
        <p:nvSpPr>
          <p:cNvPr id="5" name="Slide Number Placeholder 4">
            <a:extLst>
              <a:ext uri="{FF2B5EF4-FFF2-40B4-BE49-F238E27FC236}">
                <a16:creationId xmlns:a16="http://schemas.microsoft.com/office/drawing/2014/main" id="{1AA34B74-93DA-5F21-CF4A-77FE692D026C}"/>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50</a:t>
            </a:fld>
            <a:endParaRPr lang="en-US"/>
          </a:p>
        </p:txBody>
      </p:sp>
      <p:sp>
        <p:nvSpPr>
          <p:cNvPr id="20" name="Title 1">
            <a:extLst>
              <a:ext uri="{FF2B5EF4-FFF2-40B4-BE49-F238E27FC236}">
                <a16:creationId xmlns:a16="http://schemas.microsoft.com/office/drawing/2014/main" id="{9B1715EE-FB55-A550-4CE5-A4D05A73859A}"/>
              </a:ext>
            </a:extLst>
          </p:cNvPr>
          <p:cNvSpPr txBox="1">
            <a:spLocks/>
          </p:cNvSpPr>
          <p:nvPr/>
        </p:nvSpPr>
        <p:spPr>
          <a:xfrm>
            <a:off x="699910" y="681038"/>
            <a:ext cx="9815689" cy="100965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endParaRPr lang="en-US" dirty="0">
              <a:solidFill>
                <a:schemeClr val="tx1"/>
              </a:solidFill>
            </a:endParaRPr>
          </a:p>
        </p:txBody>
      </p:sp>
      <p:sp>
        <p:nvSpPr>
          <p:cNvPr id="24" name="TextBox 23">
            <a:extLst>
              <a:ext uri="{FF2B5EF4-FFF2-40B4-BE49-F238E27FC236}">
                <a16:creationId xmlns:a16="http://schemas.microsoft.com/office/drawing/2014/main" id="{C5BDF42C-A61F-0C81-8AC6-8365C83CB3A9}"/>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sp>
        <p:nvSpPr>
          <p:cNvPr id="10" name="Rectangle 9">
            <a:extLst>
              <a:ext uri="{FF2B5EF4-FFF2-40B4-BE49-F238E27FC236}">
                <a16:creationId xmlns:a16="http://schemas.microsoft.com/office/drawing/2014/main" id="{68230320-19C2-752A-1176-1BBB64EE0496}"/>
              </a:ext>
            </a:extLst>
          </p:cNvPr>
          <p:cNvSpPr>
            <a:spLocks/>
          </p:cNvSpPr>
          <p:nvPr/>
        </p:nvSpPr>
        <p:spPr>
          <a:xfrm>
            <a:off x="940249" y="2771056"/>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lvl="2"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2S - Straighten</a:t>
            </a:r>
          </a:p>
        </p:txBody>
      </p:sp>
      <p:sp>
        <p:nvSpPr>
          <p:cNvPr id="17" name="Rectangle 16">
            <a:extLst>
              <a:ext uri="{FF2B5EF4-FFF2-40B4-BE49-F238E27FC236}">
                <a16:creationId xmlns:a16="http://schemas.microsoft.com/office/drawing/2014/main" id="{C482F546-04CD-6441-A9E4-982C043DC9B1}"/>
              </a:ext>
            </a:extLst>
          </p:cNvPr>
          <p:cNvSpPr>
            <a:spLocks/>
          </p:cNvSpPr>
          <p:nvPr/>
        </p:nvSpPr>
        <p:spPr>
          <a:xfrm>
            <a:off x="940249" y="1955700"/>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defTabSz="584200" hangingPunct="0"/>
            <a:r>
              <a:rPr lang="en-US" sz="28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sym typeface="Roboto"/>
              </a:rPr>
              <a:t>1S - Sort</a:t>
            </a:r>
          </a:p>
        </p:txBody>
      </p:sp>
      <p:sp>
        <p:nvSpPr>
          <p:cNvPr id="18" name="Rectangle 17">
            <a:extLst>
              <a:ext uri="{FF2B5EF4-FFF2-40B4-BE49-F238E27FC236}">
                <a16:creationId xmlns:a16="http://schemas.microsoft.com/office/drawing/2014/main" id="{04166E1C-DE2E-5165-515B-6DCF41316AB8}"/>
              </a:ext>
            </a:extLst>
          </p:cNvPr>
          <p:cNvSpPr>
            <a:spLocks/>
          </p:cNvSpPr>
          <p:nvPr/>
        </p:nvSpPr>
        <p:spPr>
          <a:xfrm>
            <a:off x="940249" y="3586412"/>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algn="l" defTabSz="584200"/>
            <a:r>
              <a:rPr kumimoji="0" lang="en-US" sz="28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3S - Scrub</a:t>
            </a:r>
          </a:p>
        </p:txBody>
      </p:sp>
      <p:sp>
        <p:nvSpPr>
          <p:cNvPr id="19" name="Rectangle 18">
            <a:extLst>
              <a:ext uri="{FF2B5EF4-FFF2-40B4-BE49-F238E27FC236}">
                <a16:creationId xmlns:a16="http://schemas.microsoft.com/office/drawing/2014/main" id="{4B602BE5-7414-9257-9501-3665A565B44C}"/>
              </a:ext>
            </a:extLst>
          </p:cNvPr>
          <p:cNvSpPr/>
          <p:nvPr/>
        </p:nvSpPr>
        <p:spPr>
          <a:xfrm>
            <a:off x="940249" y="4401768"/>
            <a:ext cx="5722970" cy="452898"/>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4S - Stabilize</a:t>
            </a:r>
          </a:p>
        </p:txBody>
      </p:sp>
      <p:sp>
        <p:nvSpPr>
          <p:cNvPr id="21" name="Rectangle 20">
            <a:extLst>
              <a:ext uri="{FF2B5EF4-FFF2-40B4-BE49-F238E27FC236}">
                <a16:creationId xmlns:a16="http://schemas.microsoft.com/office/drawing/2014/main" id="{0CC760C4-5A3C-A15B-3330-4EAF983076B7}"/>
              </a:ext>
            </a:extLst>
          </p:cNvPr>
          <p:cNvSpPr>
            <a:spLocks/>
          </p:cNvSpPr>
          <p:nvPr/>
        </p:nvSpPr>
        <p:spPr>
          <a:xfrm>
            <a:off x="940249" y="5217125"/>
            <a:ext cx="5722970" cy="452898"/>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chemeClr val="bg1"/>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5S - Sustain</a:t>
            </a:r>
          </a:p>
        </p:txBody>
      </p:sp>
      <p:grpSp>
        <p:nvGrpSpPr>
          <p:cNvPr id="3" name="Group 2">
            <a:extLst>
              <a:ext uri="{FF2B5EF4-FFF2-40B4-BE49-F238E27FC236}">
                <a16:creationId xmlns:a16="http://schemas.microsoft.com/office/drawing/2014/main" id="{34336E33-7DA4-D294-02BE-E48070ABC227}"/>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C440E8D-7ED5-504D-B968-2837080BC84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11" name="Group 10">
              <a:extLst>
                <a:ext uri="{FF2B5EF4-FFF2-40B4-BE49-F238E27FC236}">
                  <a16:creationId xmlns:a16="http://schemas.microsoft.com/office/drawing/2014/main" id="{138640DA-1229-3E1A-242D-D81D7014ED16}"/>
                </a:ext>
              </a:extLst>
            </p:cNvPr>
            <p:cNvGrpSpPr/>
            <p:nvPr/>
          </p:nvGrpSpPr>
          <p:grpSpPr>
            <a:xfrm>
              <a:off x="940249" y="315206"/>
              <a:ext cx="746492" cy="265062"/>
              <a:chOff x="940249" y="315206"/>
              <a:chExt cx="746492" cy="265062"/>
            </a:xfrm>
          </p:grpSpPr>
          <p:sp>
            <p:nvSpPr>
              <p:cNvPr id="12" name="AutoShape 11">
                <a:extLst>
                  <a:ext uri="{FF2B5EF4-FFF2-40B4-BE49-F238E27FC236}">
                    <a16:creationId xmlns:a16="http://schemas.microsoft.com/office/drawing/2014/main" id="{1591C2C8-E109-3601-9F61-5603F6D989FA}"/>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3" name="AutoShape 10">
                <a:extLst>
                  <a:ext uri="{FF2B5EF4-FFF2-40B4-BE49-F238E27FC236}">
                    <a16:creationId xmlns:a16="http://schemas.microsoft.com/office/drawing/2014/main" id="{5E45C12B-E50E-E1C1-11F4-ECB0F83ECE28}"/>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88625039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Defined</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51</a:t>
            </a:fld>
            <a:endParaRPr lang="en-US"/>
          </a:p>
        </p:txBody>
      </p:sp>
      <p:sp>
        <p:nvSpPr>
          <p:cNvPr id="3" name="TextBox 2">
            <a:extLst>
              <a:ext uri="{FF2B5EF4-FFF2-40B4-BE49-F238E27FC236}">
                <a16:creationId xmlns:a16="http://schemas.microsoft.com/office/drawing/2014/main" id="{75296461-D27A-3C58-A14D-461C8B6B2E9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5" name="Group 4">
            <a:extLst>
              <a:ext uri="{FF2B5EF4-FFF2-40B4-BE49-F238E27FC236}">
                <a16:creationId xmlns:a16="http://schemas.microsoft.com/office/drawing/2014/main" id="{76D1D5F1-97EE-0F52-5D6D-83F8075EED16}"/>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7FEA9193-ACAB-1BEF-D945-4CFE87A51CC4}"/>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7" name="Group 6">
              <a:extLst>
                <a:ext uri="{FF2B5EF4-FFF2-40B4-BE49-F238E27FC236}">
                  <a16:creationId xmlns:a16="http://schemas.microsoft.com/office/drawing/2014/main" id="{C856A577-5930-F4F8-32A3-39ABAB751BF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3E656630-0CB9-DC5A-7782-532DE1F01157}"/>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9" name="AutoShape 10">
                <a:extLst>
                  <a:ext uri="{FF2B5EF4-FFF2-40B4-BE49-F238E27FC236}">
                    <a16:creationId xmlns:a16="http://schemas.microsoft.com/office/drawing/2014/main" id="{CDBAFF34-1A84-1872-51A9-FC0684245C5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0" name="Rectangle 3">
            <a:extLst>
              <a:ext uri="{FF2B5EF4-FFF2-40B4-BE49-F238E27FC236}">
                <a16:creationId xmlns:a16="http://schemas.microsoft.com/office/drawing/2014/main" id="{436AA8F3-5270-108F-7E1F-D18ADC75D8E9}"/>
              </a:ext>
            </a:extLst>
          </p:cNvPr>
          <p:cNvSpPr>
            <a:spLocks noChangeArrowheads="1"/>
          </p:cNvSpPr>
          <p:nvPr/>
        </p:nvSpPr>
        <p:spPr bwMode="auto">
          <a:xfrm>
            <a:off x="4700906" y="2808593"/>
            <a:ext cx="3251792"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SHITUSKE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Sustaining discipline. Refers to maintaining standards and keeping the facility in safe and efficient order day after day, year after year. </a:t>
            </a:r>
          </a:p>
        </p:txBody>
      </p:sp>
      <p:sp>
        <p:nvSpPr>
          <p:cNvPr id="11" name="Rectangle 4">
            <a:extLst>
              <a:ext uri="{FF2B5EF4-FFF2-40B4-BE49-F238E27FC236}">
                <a16:creationId xmlns:a16="http://schemas.microsoft.com/office/drawing/2014/main" id="{D6A26AF8-AF73-E774-9AA5-80F2C8E80080}"/>
              </a:ext>
            </a:extLst>
          </p:cNvPr>
          <p:cNvSpPr>
            <a:spLocks noChangeArrowheads="1"/>
          </p:cNvSpPr>
          <p:nvPr/>
        </p:nvSpPr>
        <p:spPr bwMode="auto">
          <a:xfrm>
            <a:off x="7924449" y="2808593"/>
            <a:ext cx="3587115" cy="2511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71438" tIns="36512" rIns="71438" bIns="36512"/>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Develop a habit of sorting, straightening, scrubbing, and stabilizing your workplace</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Everyone has to accept 5S as a personal goal</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People follow examples (good and bad), set a good example</a:t>
            </a:r>
          </a:p>
        </p:txBody>
      </p:sp>
      <p:sp>
        <p:nvSpPr>
          <p:cNvPr id="12" name="Rectangle 5">
            <a:extLst>
              <a:ext uri="{FF2B5EF4-FFF2-40B4-BE49-F238E27FC236}">
                <a16:creationId xmlns:a16="http://schemas.microsoft.com/office/drawing/2014/main" id="{6C0D4673-0DC6-5CE2-B500-02FD6C00A465}"/>
              </a:ext>
            </a:extLst>
          </p:cNvPr>
          <p:cNvSpPr>
            <a:spLocks noChangeArrowheads="1"/>
          </p:cNvSpPr>
          <p:nvPr/>
        </p:nvSpPr>
        <p:spPr bwMode="auto">
          <a:xfrm>
            <a:off x="900113" y="2808446"/>
            <a:ext cx="3239374" cy="1021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71438" tIns="36512" rIns="71438" bIns="36512">
            <a:spAutoFit/>
          </a:bodyPr>
          <a:lstStyle>
            <a:lvl1pPr marL="165100" indent="-165100"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SUSTAIN</a:t>
            </a:r>
          </a:p>
          <a:p>
            <a:pPr>
              <a:lnSpc>
                <a:spcPct val="100000"/>
              </a:lnSpc>
              <a:spcBef>
                <a:spcPct val="40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Achieving the discipline or habit of properly maintaining the correct 5S procedures</a:t>
            </a:r>
          </a:p>
        </p:txBody>
      </p:sp>
      <p:grpSp>
        <p:nvGrpSpPr>
          <p:cNvPr id="13" name="Group 6">
            <a:extLst>
              <a:ext uri="{FF2B5EF4-FFF2-40B4-BE49-F238E27FC236}">
                <a16:creationId xmlns:a16="http://schemas.microsoft.com/office/drawing/2014/main" id="{105B75E2-DC6A-6393-4D85-32BE8453D729}"/>
              </a:ext>
            </a:extLst>
          </p:cNvPr>
          <p:cNvGrpSpPr>
            <a:grpSpLocks/>
          </p:cNvGrpSpPr>
          <p:nvPr/>
        </p:nvGrpSpPr>
        <p:grpSpPr bwMode="auto">
          <a:xfrm>
            <a:off x="838200" y="1962308"/>
            <a:ext cx="10777901" cy="625475"/>
            <a:chOff x="311" y="1012"/>
            <a:chExt cx="3908" cy="394"/>
          </a:xfrm>
        </p:grpSpPr>
        <p:sp>
          <p:nvSpPr>
            <p:cNvPr id="14" name="AutoShape 7">
              <a:extLst>
                <a:ext uri="{FF2B5EF4-FFF2-40B4-BE49-F238E27FC236}">
                  <a16:creationId xmlns:a16="http://schemas.microsoft.com/office/drawing/2014/main" id="{129DC9E6-6C48-FCC8-3A9B-914A29E7578A}"/>
                </a:ext>
              </a:extLst>
            </p:cNvPr>
            <p:cNvSpPr>
              <a:spLocks noChangeArrowheads="1"/>
            </p:cNvSpPr>
            <p:nvPr/>
          </p:nvSpPr>
          <p:spPr bwMode="auto">
            <a:xfrm>
              <a:off x="2694" y="1012"/>
              <a:ext cx="1525" cy="394"/>
            </a:xfrm>
            <a:prstGeom prst="homePlate">
              <a:avLst>
                <a:gd name="adj" fmla="val 5779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Objective </a:t>
              </a:r>
              <a:br>
                <a:rPr lang="en-US" altLang="en-US" sz="1800" dirty="0">
                  <a:solidFill>
                    <a:schemeClr val="bg1"/>
                  </a:solidFill>
                  <a:latin typeface="Roboto" panose="02000000000000000000" pitchFamily="2" charset="0"/>
                  <a:ea typeface="Roboto" panose="02000000000000000000" pitchFamily="2" charset="0"/>
                </a:rPr>
              </a:br>
              <a:r>
                <a:rPr lang="en-US" altLang="en-US" sz="1800" dirty="0">
                  <a:solidFill>
                    <a:schemeClr val="bg1"/>
                  </a:solidFill>
                  <a:latin typeface="Roboto" panose="02000000000000000000" pitchFamily="2" charset="0"/>
                  <a:ea typeface="Roboto" panose="02000000000000000000" pitchFamily="2" charset="0"/>
                </a:rPr>
                <a:t>of 5S</a:t>
              </a:r>
            </a:p>
          </p:txBody>
        </p:sp>
        <p:sp>
          <p:nvSpPr>
            <p:cNvPr id="15" name="AutoShape 8">
              <a:extLst>
                <a:ext uri="{FF2B5EF4-FFF2-40B4-BE49-F238E27FC236}">
                  <a16:creationId xmlns:a16="http://schemas.microsoft.com/office/drawing/2014/main" id="{277A3B52-36CA-686D-6983-15D004C29E47}"/>
                </a:ext>
              </a:extLst>
            </p:cNvPr>
            <p:cNvSpPr>
              <a:spLocks noChangeArrowheads="1"/>
            </p:cNvSpPr>
            <p:nvPr/>
          </p:nvSpPr>
          <p:spPr bwMode="auto">
            <a:xfrm>
              <a:off x="1549" y="1012"/>
              <a:ext cx="1472" cy="394"/>
            </a:xfrm>
            <a:prstGeom prst="homePlate">
              <a:avLst>
                <a:gd name="adj" fmla="val 48586"/>
              </a:avLst>
            </a:prstGeom>
            <a:solidFill>
              <a:schemeClr val="accent1"/>
            </a:solidFill>
            <a:ln w="19050">
              <a:solidFill>
                <a:schemeClr val="bg1"/>
              </a:solidFill>
              <a:miter lim="800000"/>
              <a:headEnd/>
              <a:tailEnd/>
            </a:ln>
          </p:spPr>
          <p:txBody>
            <a:bodyPr lIns="45720" tIns="46038" rIns="45720" bIns="46038" anchor="ctr"/>
            <a:lstStyle>
              <a:lvl1pPr marL="171450">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 Japanese: SHITSUKE </a:t>
              </a:r>
            </a:p>
          </p:txBody>
        </p:sp>
        <p:sp>
          <p:nvSpPr>
            <p:cNvPr id="16" name="AutoShape 9">
              <a:extLst>
                <a:ext uri="{FF2B5EF4-FFF2-40B4-BE49-F238E27FC236}">
                  <a16:creationId xmlns:a16="http://schemas.microsoft.com/office/drawing/2014/main" id="{0F61DD03-FD3F-FBCF-67DD-E39974B5C6B0}"/>
                </a:ext>
              </a:extLst>
            </p:cNvPr>
            <p:cNvSpPr>
              <a:spLocks noChangeArrowheads="1"/>
            </p:cNvSpPr>
            <p:nvPr/>
          </p:nvSpPr>
          <p:spPr bwMode="auto">
            <a:xfrm>
              <a:off x="311" y="1012"/>
              <a:ext cx="1469" cy="394"/>
            </a:xfrm>
            <a:prstGeom prst="homePlate">
              <a:avLst>
                <a:gd name="adj" fmla="val 54200"/>
              </a:avLst>
            </a:prstGeom>
            <a:solidFill>
              <a:schemeClr val="accent1"/>
            </a:solidFill>
            <a:ln w="19050">
              <a:solidFill>
                <a:schemeClr val="bg1"/>
              </a:solidFill>
              <a:miter lim="800000"/>
              <a:headEnd/>
              <a:tailEnd/>
            </a:ln>
          </p:spPr>
          <p:txBody>
            <a:bodyPr lIns="45720" tIns="46038" rIns="45720" bIns="46038"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95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English: SUSTAIN</a:t>
              </a:r>
            </a:p>
          </p:txBody>
        </p:sp>
      </p:grpSp>
      <p:sp>
        <p:nvSpPr>
          <p:cNvPr id="17" name="AutoShape 10">
            <a:extLst>
              <a:ext uri="{FF2B5EF4-FFF2-40B4-BE49-F238E27FC236}">
                <a16:creationId xmlns:a16="http://schemas.microsoft.com/office/drawing/2014/main" id="{BD380F9A-F259-E8AA-00B4-6567920E9E99}"/>
              </a:ext>
            </a:extLst>
          </p:cNvPr>
          <p:cNvSpPr>
            <a:spLocks noChangeArrowheads="1"/>
          </p:cNvSpPr>
          <p:nvPr/>
        </p:nvSpPr>
        <p:spPr bwMode="auto">
          <a:xfrm>
            <a:off x="900113" y="5540828"/>
            <a:ext cx="10697177" cy="520700"/>
          </a:xfrm>
          <a:prstGeom prst="homePlate">
            <a:avLst>
              <a:gd name="adj" fmla="val 32169"/>
            </a:avLst>
          </a:prstGeom>
          <a:solidFill>
            <a:schemeClr val="tx2"/>
          </a:solidFill>
          <a:ln>
            <a:noFill/>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0"/>
              </a:spcBef>
              <a:spcAft>
                <a:spcPct val="0"/>
              </a:spcAft>
              <a:buClrTx/>
              <a:buSzTx/>
              <a:buFontTx/>
              <a:buNone/>
            </a:pPr>
            <a:r>
              <a:rPr lang="en-US" altLang="en-US" sz="1800" dirty="0">
                <a:solidFill>
                  <a:schemeClr val="bg1"/>
                </a:solidFill>
                <a:latin typeface="Roboto" panose="02000000000000000000" pitchFamily="2" charset="0"/>
                <a:ea typeface="Roboto" panose="02000000000000000000" pitchFamily="2" charset="0"/>
              </a:rPr>
              <a:t>5S is about changing the discipline of your culture</a:t>
            </a:r>
          </a:p>
        </p:txBody>
      </p:sp>
    </p:spTree>
    <p:extLst>
      <p:ext uri="{BB962C8B-B14F-4D97-AF65-F5344CB8AC3E}">
        <p14:creationId xmlns:p14="http://schemas.microsoft.com/office/powerpoint/2010/main" val="20649857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5S Strategy</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Discipline yourself to maintain 5S procedures</a:t>
            </a:r>
          </a:p>
          <a:p>
            <a:r>
              <a:rPr lang="en-US" dirty="0"/>
              <a:t>Proliferate 5S across entire business</a:t>
            </a:r>
          </a:p>
          <a:p>
            <a:r>
              <a:rPr lang="en-US" dirty="0"/>
              <a:t>Hold each other accountable for sustainability</a:t>
            </a:r>
          </a:p>
          <a:p>
            <a:r>
              <a:rPr lang="en-US" dirty="0"/>
              <a:t>Set high standards for yourself and good example for others</a:t>
            </a:r>
          </a:p>
          <a:p>
            <a:r>
              <a:rPr lang="en-US" dirty="0"/>
              <a:t>Management must lead the way</a:t>
            </a:r>
          </a:p>
          <a:p>
            <a:r>
              <a:rPr lang="en-US" dirty="0"/>
              <a:t>Set the standard to benchmark</a:t>
            </a:r>
          </a:p>
          <a:p>
            <a:r>
              <a:rPr lang="en-US" dirty="0"/>
              <a:t>Include 5S in performance reviews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52</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67795316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lstStyle/>
          <a:p>
            <a:r>
              <a:rPr lang="en-US" altLang="en-US" dirty="0">
                <a:ea typeface="ＭＳ Ｐゴシック" panose="020B0600070205080204" pitchFamily="34" charset="-128"/>
              </a:rPr>
              <a:t>5S Rules of Discipline</a:t>
            </a:r>
            <a:endParaRPr lang="en-US"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Keep it simple</a:t>
            </a:r>
          </a:p>
          <a:p>
            <a:r>
              <a:rPr lang="en-US" dirty="0"/>
              <a:t>Make it visual</a:t>
            </a:r>
          </a:p>
          <a:p>
            <a:r>
              <a:rPr lang="en-US" dirty="0"/>
              <a:t>Accept feedback and give it constructively</a:t>
            </a:r>
          </a:p>
          <a:p>
            <a:r>
              <a:rPr lang="en-US" dirty="0"/>
              <a:t>Correct problems immediately</a:t>
            </a:r>
          </a:p>
          <a:p>
            <a:r>
              <a:rPr lang="en-US" dirty="0"/>
              <a:t>Drill down to root cause to address source of disorder or dirt</a:t>
            </a:r>
          </a:p>
          <a:p>
            <a:r>
              <a:rPr lang="en-US" dirty="0"/>
              <a:t>Energize yourself!  Improvement requires effort and effort requires enthusiasm</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53</a:t>
            </a:fld>
            <a:endParaRPr lang="en-US"/>
          </a:p>
        </p:txBody>
      </p:sp>
      <p:sp>
        <p:nvSpPr>
          <p:cNvPr id="4" name="TextBox 3">
            <a:extLst>
              <a:ext uri="{FF2B5EF4-FFF2-40B4-BE49-F238E27FC236}">
                <a16:creationId xmlns:a16="http://schemas.microsoft.com/office/drawing/2014/main" id="{3FF89735-3E72-987A-C4E7-B1FDE47A50C3}"/>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6" name="Group 5">
            <a:extLst>
              <a:ext uri="{FF2B5EF4-FFF2-40B4-BE49-F238E27FC236}">
                <a16:creationId xmlns:a16="http://schemas.microsoft.com/office/drawing/2014/main" id="{895A1E22-3A20-5666-B4F3-71A547F45291}"/>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5868EF84-EDCA-139B-E69B-434D0F25E7BF}"/>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8" name="Group 7">
              <a:extLst>
                <a:ext uri="{FF2B5EF4-FFF2-40B4-BE49-F238E27FC236}">
                  <a16:creationId xmlns:a16="http://schemas.microsoft.com/office/drawing/2014/main" id="{1A934946-9220-B57F-4BCE-A0A7020FA0E6}"/>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24E034DB-D9B1-37D7-45F7-88DCE463D8AE}"/>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10" name="AutoShape 10">
                <a:extLst>
                  <a:ext uri="{FF2B5EF4-FFF2-40B4-BE49-F238E27FC236}">
                    <a16:creationId xmlns:a16="http://schemas.microsoft.com/office/drawing/2014/main" id="{C49C55FC-FBBC-96B1-3F24-F6144212C2C1}"/>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47394652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5S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54</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audit of the kaizen area. </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As a team, review your list of wastes from 1S activity (or multiple S’s) and quantify benefits of your event success (include estimated time savings, defect reduction, computer downtime, customer perceptions, pride and personal satisfaction).</a:t>
            </a:r>
          </a:p>
          <a:p>
            <a:pPr marL="0" marR="0" indent="0" algn="l" defTabSz="584200" rtl="0" fontAlgn="auto" latinLnBrk="0" hangingPunct="0">
              <a:lnSpc>
                <a:spcPct val="100000"/>
              </a:lnSpc>
              <a:spcBef>
                <a:spcPts val="0"/>
              </a:spcBef>
              <a:spcAft>
                <a:spcPts val="0"/>
              </a:spcAft>
              <a:buClrTx/>
              <a:buSzTx/>
              <a:buFontTx/>
              <a:buNone/>
              <a:tabLst/>
            </a:pPr>
            <a:endPar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Perform objective audit using the 5S Patrol Checklist of the target area, providing very specific feedback and any further ideas for improvement.</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80441"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Measurable results obtained by event and thoughtful feedback</a:t>
            </a:r>
          </a:p>
        </p:txBody>
      </p:sp>
      <p:sp>
        <p:nvSpPr>
          <p:cNvPr id="9" name="TextBox 8">
            <a:extLst>
              <a:ext uri="{FF2B5EF4-FFF2-40B4-BE49-F238E27FC236}">
                <a16:creationId xmlns:a16="http://schemas.microsoft.com/office/drawing/2014/main" id="{985AA00D-A29D-6544-7130-516B09E40D2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Process</a:t>
            </a:r>
          </a:p>
        </p:txBody>
      </p:sp>
      <p:grpSp>
        <p:nvGrpSpPr>
          <p:cNvPr id="10" name="Group 9">
            <a:extLst>
              <a:ext uri="{FF2B5EF4-FFF2-40B4-BE49-F238E27FC236}">
                <a16:creationId xmlns:a16="http://schemas.microsoft.com/office/drawing/2014/main" id="{B624FD29-6362-899C-35BD-CD83F08220E5}"/>
              </a:ext>
            </a:extLst>
          </p:cNvPr>
          <p:cNvGrpSpPr/>
          <p:nvPr/>
        </p:nvGrpSpPr>
        <p:grpSpPr>
          <a:xfrm>
            <a:off x="940249" y="302538"/>
            <a:ext cx="1060167" cy="290657"/>
            <a:chOff x="940249" y="315206"/>
            <a:chExt cx="1060167" cy="265062"/>
          </a:xfrm>
        </p:grpSpPr>
        <p:sp>
          <p:nvSpPr>
            <p:cNvPr id="19" name="AutoShape 9">
              <a:extLst>
                <a:ext uri="{FF2B5EF4-FFF2-40B4-BE49-F238E27FC236}">
                  <a16:creationId xmlns:a16="http://schemas.microsoft.com/office/drawing/2014/main" id="{FDF31AEA-B9A3-8ED4-A650-A6E999D87FFA}"/>
                </a:ext>
              </a:extLst>
            </p:cNvPr>
            <p:cNvSpPr>
              <a:spLocks noChangeArrowheads="1"/>
            </p:cNvSpPr>
            <p:nvPr/>
          </p:nvSpPr>
          <p:spPr bwMode="auto">
            <a:xfrm>
              <a:off x="156759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nvGrpSpPr>
            <p:cNvPr id="20" name="Group 19">
              <a:extLst>
                <a:ext uri="{FF2B5EF4-FFF2-40B4-BE49-F238E27FC236}">
                  <a16:creationId xmlns:a16="http://schemas.microsoft.com/office/drawing/2014/main" id="{37DB9D66-3761-99F8-976C-54CBE50C471B}"/>
                </a:ext>
              </a:extLst>
            </p:cNvPr>
            <p:cNvGrpSpPr/>
            <p:nvPr/>
          </p:nvGrpSpPr>
          <p:grpSpPr>
            <a:xfrm>
              <a:off x="940249" y="315206"/>
              <a:ext cx="746492" cy="265062"/>
              <a:chOff x="940249" y="315206"/>
              <a:chExt cx="746492" cy="265062"/>
            </a:xfrm>
          </p:grpSpPr>
          <p:sp>
            <p:nvSpPr>
              <p:cNvPr id="21" name="AutoShape 11">
                <a:extLst>
                  <a:ext uri="{FF2B5EF4-FFF2-40B4-BE49-F238E27FC236}">
                    <a16:creationId xmlns:a16="http://schemas.microsoft.com/office/drawing/2014/main" id="{AD50B12C-C902-7D27-4E1C-060FF711BA72}"/>
                  </a:ext>
                </a:extLst>
              </p:cNvPr>
              <p:cNvSpPr>
                <a:spLocks noChangeArrowheads="1"/>
              </p:cNvSpPr>
              <p:nvPr/>
            </p:nvSpPr>
            <p:spPr bwMode="auto">
              <a:xfrm>
                <a:off x="1253924" y="315207"/>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sp>
            <p:nvSpPr>
              <p:cNvPr id="22" name="AutoShape 10">
                <a:extLst>
                  <a:ext uri="{FF2B5EF4-FFF2-40B4-BE49-F238E27FC236}">
                    <a16:creationId xmlns:a16="http://schemas.microsoft.com/office/drawing/2014/main" id="{74EC2DCA-13CD-8D1B-5812-649364398B06}"/>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5123932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7BA17-B180-9889-85DC-DBE8C080CFB7}"/>
              </a:ext>
            </a:extLst>
          </p:cNvPr>
          <p:cNvSpPr>
            <a:spLocks noGrp="1"/>
          </p:cNvSpPr>
          <p:nvPr>
            <p:ph type="title" idx="4294967295"/>
          </p:nvPr>
        </p:nvSpPr>
        <p:spPr>
          <a:xfrm>
            <a:off x="699911" y="1497012"/>
            <a:ext cx="9815689" cy="1009650"/>
          </a:xfrm>
          <a:prstGeom prst="rect">
            <a:avLst/>
          </a:prstGeom>
        </p:spPr>
        <p:txBody>
          <a:bodyPr>
            <a:normAutofit/>
          </a:bodyPr>
          <a:lstStyle/>
          <a:p>
            <a:r>
              <a:rPr lang="en-US" sz="4000" dirty="0">
                <a:latin typeface="Roboto Medium"/>
                <a:ea typeface="Roboto Medium"/>
                <a:cs typeface="Roboto Medium"/>
              </a:rPr>
              <a:t>5S</a:t>
            </a:r>
          </a:p>
        </p:txBody>
      </p:sp>
      <p:sp>
        <p:nvSpPr>
          <p:cNvPr id="3" name="Content Placeholder 2">
            <a:extLst>
              <a:ext uri="{FF2B5EF4-FFF2-40B4-BE49-F238E27FC236}">
                <a16:creationId xmlns:a16="http://schemas.microsoft.com/office/drawing/2014/main" id="{30534846-F3D4-20E7-25C0-91FCF7736CB5}"/>
              </a:ext>
            </a:extLst>
          </p:cNvPr>
          <p:cNvSpPr>
            <a:spLocks noGrp="1"/>
          </p:cNvSpPr>
          <p:nvPr>
            <p:ph idx="4294967295"/>
          </p:nvPr>
        </p:nvSpPr>
        <p:spPr>
          <a:xfrm>
            <a:off x="722489" y="2506662"/>
            <a:ext cx="10515600" cy="4351338"/>
          </a:xfrm>
        </p:spPr>
        <p:txBody>
          <a:bodyPr/>
          <a:lstStyle/>
          <a:p>
            <a:pPr marL="0" indent="0">
              <a:buNone/>
            </a:pPr>
            <a:r>
              <a:rPr lang="en-US" dirty="0">
                <a:latin typeface="Roboto Medium" panose="02000000000000000000" pitchFamily="2" charset="0"/>
                <a:ea typeface="Roboto Medium" panose="02000000000000000000" pitchFamily="2" charset="0"/>
                <a:cs typeface="Roboto Medium" panose="02000000000000000000" pitchFamily="2" charset="0"/>
              </a:rPr>
              <a:t>Objectives:</a:t>
            </a:r>
          </a:p>
          <a:p>
            <a:r>
              <a:rPr lang="en-US" dirty="0"/>
              <a:t>Summary of the steps of 5S</a:t>
            </a:r>
          </a:p>
          <a:p>
            <a:r>
              <a:rPr lang="en-US" dirty="0"/>
              <a:t>Identify common pitfalls when implementing 5S</a:t>
            </a:r>
          </a:p>
          <a:p>
            <a:r>
              <a:rPr lang="en-US" dirty="0"/>
              <a:t>Discuss how to avoid 5S common pitfalls</a:t>
            </a:r>
          </a:p>
          <a:p>
            <a:r>
              <a:rPr lang="en-US" dirty="0"/>
              <a:t>Review of key learnings</a:t>
            </a:r>
          </a:p>
        </p:txBody>
      </p:sp>
      <p:cxnSp>
        <p:nvCxnSpPr>
          <p:cNvPr id="12" name="Straight Connector 11">
            <a:extLst>
              <a:ext uri="{FF2B5EF4-FFF2-40B4-BE49-F238E27FC236}">
                <a16:creationId xmlns:a16="http://schemas.microsoft.com/office/drawing/2014/main" id="{A4FB0DFD-2D15-952D-9825-996B08251FD4}"/>
              </a:ext>
            </a:extLst>
          </p:cNvPr>
          <p:cNvCxnSpPr/>
          <p:nvPr/>
        </p:nvCxnSpPr>
        <p:spPr>
          <a:xfrm>
            <a:off x="699911" y="2386919"/>
            <a:ext cx="3882975" cy="0"/>
          </a:xfrm>
          <a:prstGeom prst="line">
            <a:avLst/>
          </a:prstGeom>
          <a:ln w="25400"/>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1157C199-7442-CD49-CE0F-E180C6F3CECC}"/>
              </a:ext>
            </a:extLst>
          </p:cNvPr>
          <p:cNvGrpSpPr/>
          <p:nvPr/>
        </p:nvGrpSpPr>
        <p:grpSpPr>
          <a:xfrm>
            <a:off x="699911" y="837133"/>
            <a:ext cx="4425950" cy="659879"/>
            <a:chOff x="5627530" y="641179"/>
            <a:chExt cx="6564470" cy="804977"/>
          </a:xfrm>
        </p:grpSpPr>
        <p:sp>
          <p:nvSpPr>
            <p:cNvPr id="9" name="AutoShape 9">
              <a:extLst>
                <a:ext uri="{FF2B5EF4-FFF2-40B4-BE49-F238E27FC236}">
                  <a16:creationId xmlns:a16="http://schemas.microsoft.com/office/drawing/2014/main" id="{9636090C-9B3A-7315-EAC7-310501F90312}"/>
                </a:ext>
              </a:extLst>
            </p:cNvPr>
            <p:cNvSpPr>
              <a:spLocks noChangeArrowheads="1"/>
            </p:cNvSpPr>
            <p:nvPr/>
          </p:nvSpPr>
          <p:spPr bwMode="auto">
            <a:xfrm>
              <a:off x="9851136" y="641179"/>
              <a:ext cx="2340864" cy="804977"/>
            </a:xfrm>
            <a:prstGeom prst="homePlate">
              <a:avLst>
                <a:gd name="adj" fmla="val 29912"/>
              </a:avLst>
            </a:prstGeom>
            <a:solidFill>
              <a:srgbClr val="FFB627"/>
            </a:solidFill>
            <a:ln w="12700" cap="sq">
              <a:solidFill>
                <a:schemeClr val="tx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latin typeface="Roboto" panose="02000000000000000000" pitchFamily="2" charset="0"/>
                  <a:ea typeface="Roboto" panose="02000000000000000000" pitchFamily="2" charset="0"/>
                </a:rPr>
                <a:t>5S Review</a:t>
              </a:r>
            </a:p>
          </p:txBody>
        </p:sp>
        <p:sp>
          <p:nvSpPr>
            <p:cNvPr id="10" name="AutoShape 10">
              <a:extLst>
                <a:ext uri="{FF2B5EF4-FFF2-40B4-BE49-F238E27FC236}">
                  <a16:creationId xmlns:a16="http://schemas.microsoft.com/office/drawing/2014/main" id="{9E5917A9-C189-C029-D3D6-F13EAB3E7D7D}"/>
                </a:ext>
              </a:extLst>
            </p:cNvPr>
            <p:cNvSpPr>
              <a:spLocks noChangeArrowheads="1"/>
            </p:cNvSpPr>
            <p:nvPr/>
          </p:nvSpPr>
          <p:spPr bwMode="auto">
            <a:xfrm>
              <a:off x="7737856" y="641180"/>
              <a:ext cx="2342768" cy="804976"/>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Process</a:t>
              </a:r>
            </a:p>
          </p:txBody>
        </p:sp>
        <p:sp>
          <p:nvSpPr>
            <p:cNvPr id="11" name="AutoShape 11">
              <a:extLst>
                <a:ext uri="{FF2B5EF4-FFF2-40B4-BE49-F238E27FC236}">
                  <a16:creationId xmlns:a16="http://schemas.microsoft.com/office/drawing/2014/main" id="{2E7F9190-48A4-B1B5-C2C9-A17DAEE1726C}"/>
                </a:ext>
              </a:extLst>
            </p:cNvPr>
            <p:cNvSpPr>
              <a:spLocks noChangeArrowheads="1"/>
            </p:cNvSpPr>
            <p:nvPr/>
          </p:nvSpPr>
          <p:spPr bwMode="auto">
            <a:xfrm>
              <a:off x="5627530" y="641179"/>
              <a:ext cx="2340864" cy="804977"/>
            </a:xfrm>
            <a:prstGeom prst="homePlate">
              <a:avLst>
                <a:gd name="adj" fmla="val 29912"/>
              </a:avLst>
            </a:prstGeom>
            <a:solidFill>
              <a:srgbClr val="222222"/>
            </a:solidFill>
            <a:ln w="12700" cap="sq">
              <a:solidFill>
                <a:schemeClr val="bg1"/>
              </a:solidFill>
              <a:miter lim="800000"/>
              <a:headEnd/>
              <a:tailEnd/>
            </a:ln>
          </p:spPr>
          <p:txBody>
            <a:bodyPr wrap="squar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r>
                <a:rPr lang="en-US" altLang="en-US" sz="1200" dirty="0">
                  <a:solidFill>
                    <a:schemeClr val="bg1"/>
                  </a:solidFill>
                  <a:latin typeface="Roboto" panose="02000000000000000000" pitchFamily="2" charset="0"/>
                  <a:ea typeface="Roboto" panose="02000000000000000000" pitchFamily="2" charset="0"/>
                </a:rPr>
                <a:t>5S Definition</a:t>
              </a:r>
            </a:p>
          </p:txBody>
        </p:sp>
      </p:grpSp>
    </p:spTree>
    <p:extLst>
      <p:ext uri="{BB962C8B-B14F-4D97-AF65-F5344CB8AC3E}">
        <p14:creationId xmlns:p14="http://schemas.microsoft.com/office/powerpoint/2010/main" val="33925129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Summary of 5S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56</a:t>
            </a:fld>
            <a:endParaRPr lang="en-US"/>
          </a:p>
        </p:txBody>
      </p:sp>
      <p:sp>
        <p:nvSpPr>
          <p:cNvPr id="3" name="TextBox 2">
            <a:extLst>
              <a:ext uri="{FF2B5EF4-FFF2-40B4-BE49-F238E27FC236}">
                <a16:creationId xmlns:a16="http://schemas.microsoft.com/office/drawing/2014/main" id="{28548229-DB52-23FD-1EF5-6A96E6D3F10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5" name="Group 4">
            <a:extLst>
              <a:ext uri="{FF2B5EF4-FFF2-40B4-BE49-F238E27FC236}">
                <a16:creationId xmlns:a16="http://schemas.microsoft.com/office/drawing/2014/main" id="{D8A4E04F-4B3E-13A3-6189-E4BDC6765984}"/>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37648AF1-C638-AE04-115D-FCAD6C5D30EE}"/>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F3FEFE9D-91FF-7A6E-7067-E1A13A81E26E}"/>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2A26297C-D73F-9D41-CC6A-8B2827D05BBA}"/>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0">
                <a:extLst>
                  <a:ext uri="{FF2B5EF4-FFF2-40B4-BE49-F238E27FC236}">
                    <a16:creationId xmlns:a16="http://schemas.microsoft.com/office/drawing/2014/main" id="{02FF5B7C-1556-3A75-43D0-DE48BCF4E9E9}"/>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
        <p:nvSpPr>
          <p:cNvPr id="15" name="Rectangle 3">
            <a:extLst>
              <a:ext uri="{FF2B5EF4-FFF2-40B4-BE49-F238E27FC236}">
                <a16:creationId xmlns:a16="http://schemas.microsoft.com/office/drawing/2014/main" id="{216337D0-643E-8329-F9D0-02C43C720B9A}"/>
              </a:ext>
            </a:extLst>
          </p:cNvPr>
          <p:cNvSpPr>
            <a:spLocks noChangeArrowheads="1"/>
          </p:cNvSpPr>
          <p:nvPr/>
        </p:nvSpPr>
        <p:spPr bwMode="auto">
          <a:xfrm>
            <a:off x="1675261" y="2398224"/>
            <a:ext cx="1908175" cy="568325"/>
          </a:xfrm>
          <a:prstGeom prst="rect">
            <a:avLst/>
          </a:prstGeom>
          <a:solidFill>
            <a:schemeClr val="bg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Sort</a:t>
            </a:r>
          </a:p>
        </p:txBody>
      </p:sp>
      <p:sp>
        <p:nvSpPr>
          <p:cNvPr id="16" name="Rectangle 4">
            <a:extLst>
              <a:ext uri="{FF2B5EF4-FFF2-40B4-BE49-F238E27FC236}">
                <a16:creationId xmlns:a16="http://schemas.microsoft.com/office/drawing/2014/main" id="{0F171AA8-61CC-E1F6-2A18-0DE00C82690C}"/>
              </a:ext>
            </a:extLst>
          </p:cNvPr>
          <p:cNvSpPr>
            <a:spLocks noChangeArrowheads="1"/>
          </p:cNvSpPr>
          <p:nvPr/>
        </p:nvSpPr>
        <p:spPr bwMode="auto">
          <a:xfrm>
            <a:off x="1675261" y="3206262"/>
            <a:ext cx="1908175" cy="568325"/>
          </a:xfrm>
          <a:prstGeom prst="rect">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latin typeface="Roboto" panose="02000000000000000000" pitchFamily="2" charset="0"/>
                <a:ea typeface="Roboto" panose="02000000000000000000" pitchFamily="2" charset="0"/>
              </a:rPr>
              <a:t>Straighten</a:t>
            </a:r>
          </a:p>
        </p:txBody>
      </p:sp>
      <p:sp>
        <p:nvSpPr>
          <p:cNvPr id="17" name="Rectangle 5">
            <a:extLst>
              <a:ext uri="{FF2B5EF4-FFF2-40B4-BE49-F238E27FC236}">
                <a16:creationId xmlns:a16="http://schemas.microsoft.com/office/drawing/2014/main" id="{9EF3043B-210F-BC90-D94F-91FC2B0301DE}"/>
              </a:ext>
            </a:extLst>
          </p:cNvPr>
          <p:cNvSpPr>
            <a:spLocks noChangeArrowheads="1"/>
          </p:cNvSpPr>
          <p:nvPr/>
        </p:nvSpPr>
        <p:spPr bwMode="auto">
          <a:xfrm>
            <a:off x="1675261" y="3971437"/>
            <a:ext cx="1908175" cy="568325"/>
          </a:xfrm>
          <a:prstGeom prst="rect">
            <a:avLst/>
          </a:prstGeom>
          <a:solidFill>
            <a:schemeClr val="accent4"/>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Scrub</a:t>
            </a:r>
          </a:p>
        </p:txBody>
      </p:sp>
      <p:sp>
        <p:nvSpPr>
          <p:cNvPr id="18" name="Rectangle 6">
            <a:extLst>
              <a:ext uri="{FF2B5EF4-FFF2-40B4-BE49-F238E27FC236}">
                <a16:creationId xmlns:a16="http://schemas.microsoft.com/office/drawing/2014/main" id="{FAA22436-1D3E-76CA-9574-F8D5423A2542}"/>
              </a:ext>
            </a:extLst>
          </p:cNvPr>
          <p:cNvSpPr>
            <a:spLocks noChangeArrowheads="1"/>
          </p:cNvSpPr>
          <p:nvPr/>
        </p:nvSpPr>
        <p:spPr bwMode="auto">
          <a:xfrm>
            <a:off x="1675261" y="4704862"/>
            <a:ext cx="1908175" cy="568325"/>
          </a:xfrm>
          <a:prstGeom prst="rect">
            <a:avLst/>
          </a:prstGeom>
          <a:solidFill>
            <a:schemeClr val="accent3"/>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solidFill>
                  <a:schemeClr val="bg1"/>
                </a:solidFill>
                <a:latin typeface="Roboto" panose="02000000000000000000" pitchFamily="2" charset="0"/>
                <a:ea typeface="Roboto" panose="02000000000000000000" pitchFamily="2" charset="0"/>
              </a:rPr>
              <a:t>Stabilize</a:t>
            </a:r>
          </a:p>
        </p:txBody>
      </p:sp>
      <p:sp>
        <p:nvSpPr>
          <p:cNvPr id="19" name="Line 7">
            <a:extLst>
              <a:ext uri="{FF2B5EF4-FFF2-40B4-BE49-F238E27FC236}">
                <a16:creationId xmlns:a16="http://schemas.microsoft.com/office/drawing/2014/main" id="{81D702B1-138F-17AC-90DA-1A9F184C0B9E}"/>
              </a:ext>
            </a:extLst>
          </p:cNvPr>
          <p:cNvSpPr>
            <a:spLocks noChangeShapeType="1"/>
          </p:cNvSpPr>
          <p:nvPr/>
        </p:nvSpPr>
        <p:spPr bwMode="auto">
          <a:xfrm>
            <a:off x="949774" y="3104662"/>
            <a:ext cx="825023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0" name="Line 8">
            <a:extLst>
              <a:ext uri="{FF2B5EF4-FFF2-40B4-BE49-F238E27FC236}">
                <a16:creationId xmlns:a16="http://schemas.microsoft.com/office/drawing/2014/main" id="{2F228833-447C-7375-6AAB-4D97D1203243}"/>
              </a:ext>
            </a:extLst>
          </p:cNvPr>
          <p:cNvSpPr>
            <a:spLocks noChangeShapeType="1"/>
          </p:cNvSpPr>
          <p:nvPr/>
        </p:nvSpPr>
        <p:spPr bwMode="auto">
          <a:xfrm>
            <a:off x="965649" y="3882537"/>
            <a:ext cx="8205787"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1" name="Line 9">
            <a:extLst>
              <a:ext uri="{FF2B5EF4-FFF2-40B4-BE49-F238E27FC236}">
                <a16:creationId xmlns:a16="http://schemas.microsoft.com/office/drawing/2014/main" id="{E00BC734-FF28-F831-1B2D-D3AC8F0F5E36}"/>
              </a:ext>
            </a:extLst>
          </p:cNvPr>
          <p:cNvSpPr>
            <a:spLocks noChangeShapeType="1"/>
          </p:cNvSpPr>
          <p:nvPr/>
        </p:nvSpPr>
        <p:spPr bwMode="auto">
          <a:xfrm>
            <a:off x="935486" y="4627074"/>
            <a:ext cx="8235950"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2" name="Line 10">
            <a:extLst>
              <a:ext uri="{FF2B5EF4-FFF2-40B4-BE49-F238E27FC236}">
                <a16:creationId xmlns:a16="http://schemas.microsoft.com/office/drawing/2014/main" id="{61CB5A9E-55B8-941C-0F1E-D473650DB7A8}"/>
              </a:ext>
            </a:extLst>
          </p:cNvPr>
          <p:cNvSpPr>
            <a:spLocks noChangeShapeType="1"/>
          </p:cNvSpPr>
          <p:nvPr/>
        </p:nvSpPr>
        <p:spPr bwMode="auto">
          <a:xfrm>
            <a:off x="951361" y="54160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3" name="Rectangle 11">
            <a:extLst>
              <a:ext uri="{FF2B5EF4-FFF2-40B4-BE49-F238E27FC236}">
                <a16:creationId xmlns:a16="http://schemas.microsoft.com/office/drawing/2014/main" id="{636B8CA2-B38B-A811-4561-CF3D47A0B9E9}"/>
              </a:ext>
            </a:extLst>
          </p:cNvPr>
          <p:cNvSpPr>
            <a:spLocks noChangeArrowheads="1"/>
          </p:cNvSpPr>
          <p:nvPr/>
        </p:nvSpPr>
        <p:spPr bwMode="auto">
          <a:xfrm>
            <a:off x="4116836" y="238076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dirty="0">
                <a:latin typeface="Roboto" panose="02000000000000000000" pitchFamily="2" charset="0"/>
                <a:ea typeface="Roboto" panose="02000000000000000000" pitchFamily="2" charset="0"/>
              </a:rPr>
              <a:t>Define what is necessary and unnecessary </a:t>
            </a:r>
            <a:endParaRPr lang="en-US" altLang="en-US" sz="1400" b="0" dirty="0">
              <a:latin typeface="Roboto" panose="02000000000000000000" pitchFamily="2" charset="0"/>
              <a:ea typeface="Roboto" panose="02000000000000000000" pitchFamily="2" charset="0"/>
            </a:endParaRPr>
          </a:p>
        </p:txBody>
      </p:sp>
      <p:sp>
        <p:nvSpPr>
          <p:cNvPr id="24" name="Rectangle 12">
            <a:extLst>
              <a:ext uri="{FF2B5EF4-FFF2-40B4-BE49-F238E27FC236}">
                <a16:creationId xmlns:a16="http://schemas.microsoft.com/office/drawing/2014/main" id="{224A2E66-84DC-468F-C5FF-4F0225F7A789}"/>
              </a:ext>
            </a:extLst>
          </p:cNvPr>
          <p:cNvSpPr>
            <a:spLocks noChangeArrowheads="1"/>
          </p:cNvSpPr>
          <p:nvPr/>
        </p:nvSpPr>
        <p:spPr bwMode="auto">
          <a:xfrm>
            <a:off x="4120011" y="3211024"/>
            <a:ext cx="4981575"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 place for everything and everything in its place </a:t>
            </a:r>
            <a:endParaRPr lang="en-US" altLang="en-US" sz="1400" b="0">
              <a:latin typeface="Roboto" panose="02000000000000000000" pitchFamily="2" charset="0"/>
              <a:ea typeface="Roboto" panose="02000000000000000000" pitchFamily="2" charset="0"/>
            </a:endParaRPr>
          </a:p>
        </p:txBody>
      </p:sp>
      <p:sp>
        <p:nvSpPr>
          <p:cNvPr id="25" name="Rectangle 13">
            <a:extLst>
              <a:ext uri="{FF2B5EF4-FFF2-40B4-BE49-F238E27FC236}">
                <a16:creationId xmlns:a16="http://schemas.microsoft.com/office/drawing/2014/main" id="{40343E21-6F0C-0B3C-0BFF-FBD76847D4AE}"/>
              </a:ext>
            </a:extLst>
          </p:cNvPr>
          <p:cNvSpPr>
            <a:spLocks noChangeArrowheads="1"/>
          </p:cNvSpPr>
          <p:nvPr/>
        </p:nvSpPr>
        <p:spPr bwMode="auto">
          <a:xfrm>
            <a:off x="4120011" y="3976199"/>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Identify the sources of uncleanliness </a:t>
            </a:r>
            <a:endParaRPr lang="en-US" altLang="en-US" sz="1400" b="0">
              <a:latin typeface="Roboto" panose="02000000000000000000" pitchFamily="2" charset="0"/>
              <a:ea typeface="Roboto" panose="02000000000000000000" pitchFamily="2" charset="0"/>
            </a:endParaRPr>
          </a:p>
        </p:txBody>
      </p:sp>
      <p:sp>
        <p:nvSpPr>
          <p:cNvPr id="26" name="Rectangle 14">
            <a:extLst>
              <a:ext uri="{FF2B5EF4-FFF2-40B4-BE49-F238E27FC236}">
                <a16:creationId xmlns:a16="http://schemas.microsoft.com/office/drawing/2014/main" id="{043BA5CD-661F-D3ED-3533-3CC942F79F6A}"/>
              </a:ext>
            </a:extLst>
          </p:cNvPr>
          <p:cNvSpPr>
            <a:spLocks noChangeArrowheads="1"/>
          </p:cNvSpPr>
          <p:nvPr/>
        </p:nvSpPr>
        <p:spPr bwMode="auto">
          <a:xfrm>
            <a:off x="4120011" y="4711212"/>
            <a:ext cx="4970463" cy="504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0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Execute process to maintain/improve the standards of the first 3 S</a:t>
            </a:r>
            <a:r>
              <a:rPr lang="ja-JP" altLang="en-US" sz="1400">
                <a:latin typeface="Roboto" panose="02000000000000000000" pitchFamily="2" charset="0"/>
              </a:rPr>
              <a:t>’</a:t>
            </a:r>
            <a:r>
              <a:rPr lang="en-US" altLang="ja-JP" sz="1400">
                <a:latin typeface="Roboto" panose="02000000000000000000" pitchFamily="2" charset="0"/>
                <a:ea typeface="Roboto" panose="02000000000000000000" pitchFamily="2" charset="0"/>
              </a:rPr>
              <a:t>s</a:t>
            </a:r>
            <a:endParaRPr lang="en-US" altLang="en-US" sz="1400" b="0">
              <a:latin typeface="Roboto" panose="02000000000000000000" pitchFamily="2" charset="0"/>
              <a:ea typeface="Roboto" panose="02000000000000000000" pitchFamily="2" charset="0"/>
            </a:endParaRPr>
          </a:p>
        </p:txBody>
      </p:sp>
      <p:sp>
        <p:nvSpPr>
          <p:cNvPr id="27" name="Line 15">
            <a:extLst>
              <a:ext uri="{FF2B5EF4-FFF2-40B4-BE49-F238E27FC236}">
                <a16:creationId xmlns:a16="http://schemas.microsoft.com/office/drawing/2014/main" id="{F1110686-F9F8-FFD2-F8E0-B80D9FF0CF40}"/>
              </a:ext>
            </a:extLst>
          </p:cNvPr>
          <p:cNvSpPr>
            <a:spLocks noChangeShapeType="1"/>
          </p:cNvSpPr>
          <p:nvPr/>
        </p:nvSpPr>
        <p:spPr bwMode="auto">
          <a:xfrm flipV="1">
            <a:off x="940249" y="2250587"/>
            <a:ext cx="8250237" cy="15875"/>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28" name="Text Box 16">
            <a:extLst>
              <a:ext uri="{FF2B5EF4-FFF2-40B4-BE49-F238E27FC236}">
                <a16:creationId xmlns:a16="http://schemas.microsoft.com/office/drawing/2014/main" id="{DF636EB9-529F-1E51-2F5A-5BFDA17B9FAA}"/>
              </a:ext>
            </a:extLst>
          </p:cNvPr>
          <p:cNvSpPr txBox="1">
            <a:spLocks noChangeArrowheads="1"/>
          </p:cNvSpPr>
          <p:nvPr/>
        </p:nvSpPr>
        <p:spPr bwMode="auto">
          <a:xfrm>
            <a:off x="949774" y="1963249"/>
            <a:ext cx="4608954" cy="316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a:tailEnd/>
              </a14:hiddenLine>
            </a:ext>
          </a:extLst>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80000"/>
              </a:lnSpc>
              <a:spcBef>
                <a:spcPct val="20000"/>
              </a:spcBef>
              <a:spcAft>
                <a:spcPct val="0"/>
              </a:spcAft>
              <a:buClrTx/>
              <a:buSzTx/>
              <a:buFontTx/>
              <a:buNone/>
            </a:pPr>
            <a:r>
              <a:rPr lang="en-US" altLang="en-US" sz="1800" dirty="0">
                <a:latin typeface="Roboto" panose="02000000000000000000" pitchFamily="2" charset="0"/>
                <a:ea typeface="Roboto" panose="02000000000000000000" pitchFamily="2" charset="0"/>
              </a:rPr>
              <a:t>5S		           	      Descriptions</a:t>
            </a:r>
          </a:p>
        </p:txBody>
      </p:sp>
      <p:sp>
        <p:nvSpPr>
          <p:cNvPr id="29" name="Oval 17">
            <a:extLst>
              <a:ext uri="{FF2B5EF4-FFF2-40B4-BE49-F238E27FC236}">
                <a16:creationId xmlns:a16="http://schemas.microsoft.com/office/drawing/2014/main" id="{B8F5A98F-4CC5-C36D-DE16-BCF4A048C463}"/>
              </a:ext>
            </a:extLst>
          </p:cNvPr>
          <p:cNvSpPr>
            <a:spLocks noChangeArrowheads="1"/>
          </p:cNvSpPr>
          <p:nvPr/>
        </p:nvSpPr>
        <p:spPr bwMode="auto">
          <a:xfrm>
            <a:off x="997399" y="2506174"/>
            <a:ext cx="400050" cy="366713"/>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1S</a:t>
            </a:r>
          </a:p>
        </p:txBody>
      </p:sp>
      <p:sp>
        <p:nvSpPr>
          <p:cNvPr id="30" name="Oval 18">
            <a:extLst>
              <a:ext uri="{FF2B5EF4-FFF2-40B4-BE49-F238E27FC236}">
                <a16:creationId xmlns:a16="http://schemas.microsoft.com/office/drawing/2014/main" id="{D100D597-9187-B179-6D83-4D676941A0EA}"/>
              </a:ext>
            </a:extLst>
          </p:cNvPr>
          <p:cNvSpPr>
            <a:spLocks noChangeArrowheads="1"/>
          </p:cNvSpPr>
          <p:nvPr/>
        </p:nvSpPr>
        <p:spPr bwMode="auto">
          <a:xfrm>
            <a:off x="997399" y="3317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2S</a:t>
            </a:r>
          </a:p>
        </p:txBody>
      </p:sp>
      <p:sp>
        <p:nvSpPr>
          <p:cNvPr id="31" name="Oval 19">
            <a:extLst>
              <a:ext uri="{FF2B5EF4-FFF2-40B4-BE49-F238E27FC236}">
                <a16:creationId xmlns:a16="http://schemas.microsoft.com/office/drawing/2014/main" id="{0C7E242A-175B-E74A-4374-9C43D640598E}"/>
              </a:ext>
            </a:extLst>
          </p:cNvPr>
          <p:cNvSpPr>
            <a:spLocks noChangeArrowheads="1"/>
          </p:cNvSpPr>
          <p:nvPr/>
        </p:nvSpPr>
        <p:spPr bwMode="auto">
          <a:xfrm>
            <a:off x="997399" y="4079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3S</a:t>
            </a:r>
          </a:p>
        </p:txBody>
      </p:sp>
      <p:sp>
        <p:nvSpPr>
          <p:cNvPr id="32" name="Oval 20">
            <a:extLst>
              <a:ext uri="{FF2B5EF4-FFF2-40B4-BE49-F238E27FC236}">
                <a16:creationId xmlns:a16="http://schemas.microsoft.com/office/drawing/2014/main" id="{9B77D4D5-67A7-4A2D-08D5-E2BC155D4AB3}"/>
              </a:ext>
            </a:extLst>
          </p:cNvPr>
          <p:cNvSpPr>
            <a:spLocks noChangeArrowheads="1"/>
          </p:cNvSpPr>
          <p:nvPr/>
        </p:nvSpPr>
        <p:spPr bwMode="auto">
          <a:xfrm>
            <a:off x="997399" y="48159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4S</a:t>
            </a:r>
          </a:p>
        </p:txBody>
      </p:sp>
      <p:sp>
        <p:nvSpPr>
          <p:cNvPr id="33" name="Rectangle 21">
            <a:extLst>
              <a:ext uri="{FF2B5EF4-FFF2-40B4-BE49-F238E27FC236}">
                <a16:creationId xmlns:a16="http://schemas.microsoft.com/office/drawing/2014/main" id="{50DB16D9-E58E-C853-1F2C-8BB8A47641F1}"/>
              </a:ext>
            </a:extLst>
          </p:cNvPr>
          <p:cNvSpPr>
            <a:spLocks noChangeArrowheads="1"/>
          </p:cNvSpPr>
          <p:nvPr/>
        </p:nvSpPr>
        <p:spPr bwMode="auto">
          <a:xfrm>
            <a:off x="1675261" y="5492262"/>
            <a:ext cx="1908175" cy="568325"/>
          </a:xfrm>
          <a:prstGeom prst="rect">
            <a:avLst/>
          </a:prstGeom>
          <a:solidFill>
            <a:schemeClr val="tx1"/>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Sustain</a:t>
            </a:r>
          </a:p>
        </p:txBody>
      </p:sp>
      <p:sp>
        <p:nvSpPr>
          <p:cNvPr id="34" name="Line 22">
            <a:extLst>
              <a:ext uri="{FF2B5EF4-FFF2-40B4-BE49-F238E27FC236}">
                <a16:creationId xmlns:a16="http://schemas.microsoft.com/office/drawing/2014/main" id="{9276DC1E-2D5A-390C-8A4A-9840D18F3053}"/>
              </a:ext>
            </a:extLst>
          </p:cNvPr>
          <p:cNvSpPr>
            <a:spLocks noChangeShapeType="1"/>
          </p:cNvSpPr>
          <p:nvPr/>
        </p:nvSpPr>
        <p:spPr bwMode="auto">
          <a:xfrm>
            <a:off x="951361" y="6203462"/>
            <a:ext cx="8220075" cy="0"/>
          </a:xfrm>
          <a:prstGeom prst="line">
            <a:avLst/>
          </a:prstGeom>
          <a:noFill/>
          <a:ln w="19050">
            <a:solidFill>
              <a:srgbClr val="000066"/>
            </a:solidFill>
            <a:prstDash val="sysDot"/>
            <a:round/>
            <a:headEnd/>
            <a:tailEnd/>
          </a:ln>
          <a:extLst>
            <a:ext uri="{909E8E84-426E-40DD-AFC4-6F175D3DCCD1}">
              <a14:hiddenFill xmlns:a14="http://schemas.microsoft.com/office/drawing/2010/main">
                <a:noFill/>
              </a14:hiddenFill>
            </a:ext>
          </a:extLst>
        </p:spPr>
        <p:txBody>
          <a:bodyPr wrap="none" anchor="ctr"/>
          <a:lstStyle/>
          <a:p>
            <a:endParaRPr lang="en-US">
              <a:latin typeface="Roboto" panose="02000000000000000000" pitchFamily="2" charset="0"/>
              <a:ea typeface="Roboto" panose="02000000000000000000" pitchFamily="2" charset="0"/>
            </a:endParaRPr>
          </a:p>
        </p:txBody>
      </p:sp>
      <p:sp>
        <p:nvSpPr>
          <p:cNvPr id="35" name="Rectangle 23">
            <a:extLst>
              <a:ext uri="{FF2B5EF4-FFF2-40B4-BE49-F238E27FC236}">
                <a16:creationId xmlns:a16="http://schemas.microsoft.com/office/drawing/2014/main" id="{6477CC5F-F0CA-63B6-BF2A-CF0071D22732}"/>
              </a:ext>
            </a:extLst>
          </p:cNvPr>
          <p:cNvSpPr>
            <a:spLocks noChangeArrowheads="1"/>
          </p:cNvSpPr>
          <p:nvPr/>
        </p:nvSpPr>
        <p:spPr bwMode="auto">
          <a:xfrm>
            <a:off x="4120011" y="5498612"/>
            <a:ext cx="4970463" cy="2891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prstDash val="sysDot"/>
                <a:miter lim="800000"/>
                <a:headEnd/>
                <a:tailEnd/>
              </a14:hiddenLine>
            </a:ext>
          </a:extLst>
        </p:spPr>
        <p:txBody>
          <a:bodyPr lIns="71438" tIns="36513" rIns="71438" bIns="36513">
            <a:spAutoFit/>
          </a:bodyPr>
          <a:lstStyle>
            <a:lvl1pPr marL="231775" indent="-231775" defTabSz="708025">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defTabSz="708025">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defTabSz="708025">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defTabSz="708025">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defTabSz="708025"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nSpc>
                <a:spcPct val="100000"/>
              </a:lnSpc>
              <a:spcBef>
                <a:spcPct val="45000"/>
              </a:spcBef>
              <a:spcAft>
                <a:spcPct val="0"/>
              </a:spcAft>
              <a:buClr>
                <a:schemeClr val="tx1"/>
              </a:buClr>
              <a:buFont typeface="Arial" panose="020B0604020202020204" pitchFamily="34" charset="0"/>
              <a:buChar char="•"/>
            </a:pPr>
            <a:r>
              <a:rPr lang="en-US" altLang="en-US" sz="1400">
                <a:latin typeface="Roboto" panose="02000000000000000000" pitchFamily="2" charset="0"/>
                <a:ea typeface="Roboto" panose="02000000000000000000" pitchFamily="2" charset="0"/>
              </a:rPr>
              <a:t>A sustained, disciplined 5S culture in the workplace </a:t>
            </a:r>
            <a:endParaRPr lang="en-US" altLang="en-US" sz="1400" b="0">
              <a:latin typeface="Roboto" panose="02000000000000000000" pitchFamily="2" charset="0"/>
              <a:ea typeface="Roboto" panose="02000000000000000000" pitchFamily="2" charset="0"/>
            </a:endParaRPr>
          </a:p>
        </p:txBody>
      </p:sp>
      <p:sp>
        <p:nvSpPr>
          <p:cNvPr id="36" name="Oval 24">
            <a:extLst>
              <a:ext uri="{FF2B5EF4-FFF2-40B4-BE49-F238E27FC236}">
                <a16:creationId xmlns:a16="http://schemas.microsoft.com/office/drawing/2014/main" id="{792034B8-5DA4-9F53-E36B-4DEAB2A7D8B0}"/>
              </a:ext>
            </a:extLst>
          </p:cNvPr>
          <p:cNvSpPr>
            <a:spLocks noChangeArrowheads="1"/>
          </p:cNvSpPr>
          <p:nvPr/>
        </p:nvSpPr>
        <p:spPr bwMode="auto">
          <a:xfrm>
            <a:off x="997399" y="5603387"/>
            <a:ext cx="400050" cy="366712"/>
          </a:xfrm>
          <a:prstGeom prst="ellipse">
            <a:avLst/>
          </a:prstGeom>
          <a:solidFill>
            <a:schemeClr val="accent1"/>
          </a:solidFill>
          <a:ln w="12700" cap="sq">
            <a:solidFill>
              <a:srgbClr val="800000"/>
            </a:solidFill>
            <a:round/>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a:solidFill>
                  <a:schemeClr val="bg1"/>
                </a:solidFill>
                <a:latin typeface="Roboto" panose="02000000000000000000" pitchFamily="2" charset="0"/>
                <a:ea typeface="Roboto" panose="02000000000000000000" pitchFamily="2" charset="0"/>
              </a:rPr>
              <a:t>5S</a:t>
            </a:r>
          </a:p>
        </p:txBody>
      </p:sp>
    </p:spTree>
    <p:extLst>
      <p:ext uri="{BB962C8B-B14F-4D97-AF65-F5344CB8AC3E}">
        <p14:creationId xmlns:p14="http://schemas.microsoft.com/office/powerpoint/2010/main" val="5793832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5S is Key to a Lean Business System</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57</a:t>
            </a:fld>
            <a:endParaRPr lang="en-US"/>
          </a:p>
        </p:txBody>
      </p:sp>
      <p:sp>
        <p:nvSpPr>
          <p:cNvPr id="3" name="TextBox 2">
            <a:extLst>
              <a:ext uri="{FF2B5EF4-FFF2-40B4-BE49-F238E27FC236}">
                <a16:creationId xmlns:a16="http://schemas.microsoft.com/office/drawing/2014/main" id="{AECF8837-EAC4-18D6-8458-CA5FA0F1D1A6}"/>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5" name="Group 4">
            <a:extLst>
              <a:ext uri="{FF2B5EF4-FFF2-40B4-BE49-F238E27FC236}">
                <a16:creationId xmlns:a16="http://schemas.microsoft.com/office/drawing/2014/main" id="{68B4708D-5AAB-3F34-BC4C-50A6516364D2}"/>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60FFE913-73E9-3134-80E2-9D06D3C3C98C}"/>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396D8B37-C6C3-CF97-3658-677A5A31EE66}"/>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978A2940-DACB-0A38-F7AC-C71B9EC94D6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9" name="AutoShape 10">
                <a:extLst>
                  <a:ext uri="{FF2B5EF4-FFF2-40B4-BE49-F238E27FC236}">
                    <a16:creationId xmlns:a16="http://schemas.microsoft.com/office/drawing/2014/main" id="{9F31856E-A02C-A8DF-8270-1B86382FA3BD}"/>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grpSp>
        <p:nvGrpSpPr>
          <p:cNvPr id="29" name="Group 2">
            <a:extLst>
              <a:ext uri="{FF2B5EF4-FFF2-40B4-BE49-F238E27FC236}">
                <a16:creationId xmlns:a16="http://schemas.microsoft.com/office/drawing/2014/main" id="{C672C91D-EFC7-5A3B-70A5-B4978DED3A17}"/>
              </a:ext>
            </a:extLst>
          </p:cNvPr>
          <p:cNvGrpSpPr>
            <a:grpSpLocks/>
          </p:cNvGrpSpPr>
          <p:nvPr/>
        </p:nvGrpSpPr>
        <p:grpSpPr bwMode="auto">
          <a:xfrm>
            <a:off x="3184525" y="4200552"/>
            <a:ext cx="5457825" cy="2071687"/>
            <a:chOff x="1094" y="2523"/>
            <a:chExt cx="3438" cy="1305"/>
          </a:xfrm>
        </p:grpSpPr>
        <p:sp>
          <p:nvSpPr>
            <p:cNvPr id="30" name="Rectangle 3">
              <a:extLst>
                <a:ext uri="{FF2B5EF4-FFF2-40B4-BE49-F238E27FC236}">
                  <a16:creationId xmlns:a16="http://schemas.microsoft.com/office/drawing/2014/main" id="{0B10808E-03C0-1AC9-03D8-DA361ADB61D0}"/>
                </a:ext>
              </a:extLst>
            </p:cNvPr>
            <p:cNvSpPr>
              <a:spLocks noChangeArrowheads="1"/>
            </p:cNvSpPr>
            <p:nvPr/>
          </p:nvSpPr>
          <p:spPr bwMode="auto">
            <a:xfrm>
              <a:off x="1094" y="2523"/>
              <a:ext cx="3438" cy="1290"/>
            </a:xfrm>
            <a:prstGeom prst="rect">
              <a:avLst/>
            </a:prstGeom>
            <a:noFill/>
            <a:ln w="28575">
              <a:solidFill>
                <a:schemeClr val="tx1"/>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31" name="Oval 4">
              <a:extLst>
                <a:ext uri="{FF2B5EF4-FFF2-40B4-BE49-F238E27FC236}">
                  <a16:creationId xmlns:a16="http://schemas.microsoft.com/office/drawing/2014/main" id="{B6C89592-2753-BDE9-7744-2C58DA7123CA}"/>
                </a:ext>
              </a:extLst>
            </p:cNvPr>
            <p:cNvSpPr>
              <a:spLocks noChangeArrowheads="1"/>
            </p:cNvSpPr>
            <p:nvPr/>
          </p:nvSpPr>
          <p:spPr bwMode="auto">
            <a:xfrm>
              <a:off x="2110" y="2558"/>
              <a:ext cx="1496" cy="40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rPr>
                <a:t>Value Stream Optimization</a:t>
              </a:r>
            </a:p>
          </p:txBody>
        </p:sp>
        <p:sp>
          <p:nvSpPr>
            <p:cNvPr id="32" name="Oval 5">
              <a:extLst>
                <a:ext uri="{FF2B5EF4-FFF2-40B4-BE49-F238E27FC236}">
                  <a16:creationId xmlns:a16="http://schemas.microsoft.com/office/drawing/2014/main" id="{23C76421-4F36-92DF-C6A2-6E3E03723569}"/>
                </a:ext>
              </a:extLst>
            </p:cNvPr>
            <p:cNvSpPr>
              <a:spLocks noChangeArrowheads="1"/>
            </p:cNvSpPr>
            <p:nvPr/>
          </p:nvSpPr>
          <p:spPr bwMode="auto">
            <a:xfrm>
              <a:off x="2927" y="3084"/>
              <a:ext cx="1496" cy="403"/>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Waste Elimination Tools</a:t>
              </a:r>
            </a:p>
          </p:txBody>
        </p:sp>
        <p:sp>
          <p:nvSpPr>
            <p:cNvPr id="33" name="Oval 6">
              <a:extLst>
                <a:ext uri="{FF2B5EF4-FFF2-40B4-BE49-F238E27FC236}">
                  <a16:creationId xmlns:a16="http://schemas.microsoft.com/office/drawing/2014/main" id="{3AE10E13-0D86-5477-5B58-6AF7C8AFF0F3}"/>
                </a:ext>
              </a:extLst>
            </p:cNvPr>
            <p:cNvSpPr>
              <a:spLocks noChangeArrowheads="1"/>
            </p:cNvSpPr>
            <p:nvPr/>
          </p:nvSpPr>
          <p:spPr bwMode="auto">
            <a:xfrm>
              <a:off x="1283" y="3074"/>
              <a:ext cx="1496" cy="403"/>
            </a:xfrm>
            <a:prstGeom prst="ellipse">
              <a:avLst/>
            </a:prstGeom>
            <a:solidFill>
              <a:schemeClr val="accent1"/>
            </a:solidFill>
            <a:ln w="12700" cap="sq">
              <a:solidFill>
                <a:schemeClr val="tx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Lean Fundamentals</a:t>
              </a:r>
            </a:p>
          </p:txBody>
        </p:sp>
        <p:sp>
          <p:nvSpPr>
            <p:cNvPr id="34" name="Text Box 7">
              <a:extLst>
                <a:ext uri="{FF2B5EF4-FFF2-40B4-BE49-F238E27FC236}">
                  <a16:creationId xmlns:a16="http://schemas.microsoft.com/office/drawing/2014/main" id="{8E2B5949-31DD-7E47-8249-7A74C932D09A}"/>
                </a:ext>
              </a:extLst>
            </p:cNvPr>
            <p:cNvSpPr txBox="1">
              <a:spLocks noChangeArrowheads="1"/>
            </p:cNvSpPr>
            <p:nvPr/>
          </p:nvSpPr>
          <p:spPr bwMode="auto">
            <a:xfrm>
              <a:off x="1403" y="3655"/>
              <a:ext cx="2961" cy="173"/>
            </a:xfrm>
            <a:prstGeom prst="rect">
              <a:avLst/>
            </a:prstGeom>
            <a:solidFill>
              <a:schemeClr val="accent2"/>
            </a:solidFill>
            <a:ln w="12700" cap="sq">
              <a:solidFill>
                <a:schemeClr val="tx1"/>
              </a:solidFill>
              <a:miter lim="800000"/>
              <a:headEnd/>
              <a:tailEnd/>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400" dirty="0"/>
                <a:t>Lean Infrastructure</a:t>
              </a:r>
            </a:p>
          </p:txBody>
        </p:sp>
      </p:grpSp>
      <p:sp>
        <p:nvSpPr>
          <p:cNvPr id="35" name="Oval 8">
            <a:extLst>
              <a:ext uri="{FF2B5EF4-FFF2-40B4-BE49-F238E27FC236}">
                <a16:creationId xmlns:a16="http://schemas.microsoft.com/office/drawing/2014/main" id="{A4FE47F5-6FD8-80A0-1B08-A530E7BDD8B3}"/>
              </a:ext>
            </a:extLst>
          </p:cNvPr>
          <p:cNvSpPr>
            <a:spLocks noChangeArrowheads="1"/>
          </p:cNvSpPr>
          <p:nvPr/>
        </p:nvSpPr>
        <p:spPr bwMode="auto">
          <a:xfrm>
            <a:off x="4843258" y="344395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Enterprise Optimization</a:t>
            </a:r>
          </a:p>
        </p:txBody>
      </p:sp>
      <p:sp>
        <p:nvSpPr>
          <p:cNvPr id="36" name="Oval 9">
            <a:extLst>
              <a:ext uri="{FF2B5EF4-FFF2-40B4-BE49-F238E27FC236}">
                <a16:creationId xmlns:a16="http://schemas.microsoft.com/office/drawing/2014/main" id="{2CFE13EE-E569-8A68-7D03-93BA762A5102}"/>
              </a:ext>
            </a:extLst>
          </p:cNvPr>
          <p:cNvSpPr>
            <a:spLocks noChangeArrowheads="1"/>
          </p:cNvSpPr>
          <p:nvPr/>
        </p:nvSpPr>
        <p:spPr bwMode="auto">
          <a:xfrm>
            <a:off x="4838132" y="180721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dirty="0">
                <a:solidFill>
                  <a:schemeClr val="bg1"/>
                </a:solidFill>
              </a:rPr>
              <a:t>Develop Strategic</a:t>
            </a:r>
            <a:br>
              <a:rPr lang="en-US" altLang="en-US" sz="1400" dirty="0">
                <a:solidFill>
                  <a:schemeClr val="bg1"/>
                </a:solidFill>
              </a:rPr>
            </a:br>
            <a:r>
              <a:rPr lang="en-US" altLang="en-US" sz="1400" dirty="0">
                <a:solidFill>
                  <a:schemeClr val="bg1"/>
                </a:solidFill>
              </a:rPr>
              <a:t>Business Imperatives</a:t>
            </a:r>
          </a:p>
        </p:txBody>
      </p:sp>
      <p:sp>
        <p:nvSpPr>
          <p:cNvPr id="37" name="Oval 11">
            <a:extLst>
              <a:ext uri="{FF2B5EF4-FFF2-40B4-BE49-F238E27FC236}">
                <a16:creationId xmlns:a16="http://schemas.microsoft.com/office/drawing/2014/main" id="{97A2EB6C-2458-6C52-D504-DF3F2604DD98}"/>
              </a:ext>
            </a:extLst>
          </p:cNvPr>
          <p:cNvSpPr>
            <a:spLocks noChangeArrowheads="1"/>
          </p:cNvSpPr>
          <p:nvPr/>
        </p:nvSpPr>
        <p:spPr bwMode="auto">
          <a:xfrm>
            <a:off x="4848384" y="2625580"/>
            <a:ext cx="2374900" cy="640080"/>
          </a:xfrm>
          <a:prstGeom prst="ellipse">
            <a:avLst/>
          </a:prstGeom>
          <a:solidFill>
            <a:schemeClr val="accent1"/>
          </a:solidFill>
          <a:ln w="12700" cap="sq">
            <a:solidFill>
              <a:schemeClr val="accent1"/>
            </a:solidFill>
            <a:round/>
            <a:headEnd type="none" w="sm" len="sm"/>
            <a:tailEnd type="none" w="sm" len="sm"/>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100000"/>
              </a:lnSpc>
              <a:spcBef>
                <a:spcPct val="30000"/>
              </a:spcBef>
              <a:spcAft>
                <a:spcPct val="0"/>
              </a:spcAft>
              <a:buClrTx/>
              <a:buSzTx/>
              <a:buFontTx/>
              <a:buNone/>
            </a:pPr>
            <a:r>
              <a:rPr lang="en-US" altLang="en-US" sz="1400">
                <a:solidFill>
                  <a:schemeClr val="bg1"/>
                </a:solidFill>
              </a:rPr>
              <a:t>Profitable Growth</a:t>
            </a:r>
          </a:p>
        </p:txBody>
      </p:sp>
      <p:sp>
        <p:nvSpPr>
          <p:cNvPr id="38" name="AutoShape 12">
            <a:extLst>
              <a:ext uri="{FF2B5EF4-FFF2-40B4-BE49-F238E27FC236}">
                <a16:creationId xmlns:a16="http://schemas.microsoft.com/office/drawing/2014/main" id="{DA7EC2BE-B1D6-9A16-2786-1CB95155A4C4}"/>
              </a:ext>
            </a:extLst>
          </p:cNvPr>
          <p:cNvSpPr>
            <a:spLocks noChangeArrowheads="1"/>
          </p:cNvSpPr>
          <p:nvPr/>
        </p:nvSpPr>
        <p:spPr bwMode="auto">
          <a:xfrm>
            <a:off x="2350453" y="1794669"/>
            <a:ext cx="1450975" cy="4456112"/>
          </a:xfrm>
          <a:prstGeom prst="curvedRightArrow">
            <a:avLst>
              <a:gd name="adj1" fmla="val 50986"/>
              <a:gd name="adj2" fmla="val 112409"/>
              <a:gd name="adj3" fmla="val 7133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39" name="AutoShape 13">
            <a:extLst>
              <a:ext uri="{FF2B5EF4-FFF2-40B4-BE49-F238E27FC236}">
                <a16:creationId xmlns:a16="http://schemas.microsoft.com/office/drawing/2014/main" id="{FA5A7EB4-93F6-6985-A3F7-19C60D7BC139}"/>
              </a:ext>
            </a:extLst>
          </p:cNvPr>
          <p:cNvSpPr>
            <a:spLocks noChangeArrowheads="1"/>
          </p:cNvSpPr>
          <p:nvPr/>
        </p:nvSpPr>
        <p:spPr bwMode="auto">
          <a:xfrm rot="21066101" flipH="1" flipV="1">
            <a:off x="8160703" y="1200944"/>
            <a:ext cx="1450975" cy="4456112"/>
          </a:xfrm>
          <a:prstGeom prst="curvedRightArrow">
            <a:avLst>
              <a:gd name="adj1" fmla="val 50986"/>
              <a:gd name="adj2" fmla="val 112409"/>
              <a:gd name="adj3" fmla="val 71333"/>
            </a:avLst>
          </a:prstGeom>
          <a:solidFill>
            <a:schemeClr val="bg2"/>
          </a:solidFill>
          <a:ln w="12700" cap="sq">
            <a:solidFill>
              <a:schemeClr val="tx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endParaRPr lang="en-US" altLang="en-US" sz="900">
              <a:solidFill>
                <a:schemeClr val="bg1"/>
              </a:solidFill>
            </a:endParaRPr>
          </a:p>
        </p:txBody>
      </p:sp>
      <p:sp>
        <p:nvSpPr>
          <p:cNvPr id="40" name="Text Box 27">
            <a:extLst>
              <a:ext uri="{FF2B5EF4-FFF2-40B4-BE49-F238E27FC236}">
                <a16:creationId xmlns:a16="http://schemas.microsoft.com/office/drawing/2014/main" id="{01CE90F9-B21A-C101-6F96-53474B2F0662}"/>
              </a:ext>
            </a:extLst>
          </p:cNvPr>
          <p:cNvSpPr txBox="1">
            <a:spLocks noChangeArrowheads="1"/>
          </p:cNvSpPr>
          <p:nvPr/>
        </p:nvSpPr>
        <p:spPr bwMode="auto">
          <a:xfrm>
            <a:off x="4052253" y="4374356"/>
            <a:ext cx="463550" cy="314325"/>
          </a:xfrm>
          <a:prstGeom prst="rect">
            <a:avLst/>
          </a:prstGeom>
          <a:solidFill>
            <a:schemeClr val="accent2"/>
          </a:solidFill>
          <a:ln>
            <a:noFill/>
          </a:ln>
        </p:spPr>
        <p:txBody>
          <a:bodyPr>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dirty="0"/>
              <a:t>5S</a:t>
            </a:r>
          </a:p>
        </p:txBody>
      </p:sp>
      <p:sp>
        <p:nvSpPr>
          <p:cNvPr id="41" name="Text Box 28">
            <a:extLst>
              <a:ext uri="{FF2B5EF4-FFF2-40B4-BE49-F238E27FC236}">
                <a16:creationId xmlns:a16="http://schemas.microsoft.com/office/drawing/2014/main" id="{325B3AB1-380E-1A4C-9E35-7F73D109EEE4}"/>
              </a:ext>
            </a:extLst>
          </p:cNvPr>
          <p:cNvSpPr txBox="1">
            <a:spLocks noChangeArrowheads="1"/>
          </p:cNvSpPr>
          <p:nvPr/>
        </p:nvSpPr>
        <p:spPr bwMode="auto">
          <a:xfrm>
            <a:off x="7506653" y="4425156"/>
            <a:ext cx="466725" cy="314325"/>
          </a:xfrm>
          <a:prstGeom prst="rect">
            <a:avLst/>
          </a:prstGeom>
          <a:solidFill>
            <a:schemeClr val="accent2"/>
          </a:solid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a:t>5S</a:t>
            </a:r>
          </a:p>
        </p:txBody>
      </p:sp>
      <p:sp>
        <p:nvSpPr>
          <p:cNvPr id="42" name="Text Box 29">
            <a:extLst>
              <a:ext uri="{FF2B5EF4-FFF2-40B4-BE49-F238E27FC236}">
                <a16:creationId xmlns:a16="http://schemas.microsoft.com/office/drawing/2014/main" id="{AFA8AC17-FCFC-8E4C-434F-0FFDA2E60310}"/>
              </a:ext>
            </a:extLst>
          </p:cNvPr>
          <p:cNvSpPr txBox="1">
            <a:spLocks noChangeArrowheads="1"/>
          </p:cNvSpPr>
          <p:nvPr/>
        </p:nvSpPr>
        <p:spPr bwMode="auto">
          <a:xfrm>
            <a:off x="5779453" y="5606256"/>
            <a:ext cx="466725" cy="314325"/>
          </a:xfrm>
          <a:prstGeom prst="rect">
            <a:avLst/>
          </a:prstGeom>
          <a:solidFill>
            <a:schemeClr val="accent2"/>
          </a:solidFill>
          <a:ln>
            <a:noFill/>
          </a:ln>
        </p:spPr>
        <p:txBody>
          <a:bodyPr wrap="none">
            <a:spAutoFit/>
          </a:bodyPr>
          <a:lstStyle>
            <a:lvl1pPr>
              <a:lnSpc>
                <a:spcPct val="115000"/>
              </a:lnSpc>
              <a:spcBef>
                <a:spcPct val="50000"/>
              </a:spcBef>
              <a:spcAft>
                <a:spcPct val="50000"/>
              </a:spcAft>
              <a:buClr>
                <a:srgbClr val="006699"/>
              </a:buClr>
              <a:buSzPct val="90000"/>
              <a:buFont typeface="Wingdings" panose="05000000000000000000" pitchFamily="2" charset="2"/>
              <a:buChar char="§"/>
              <a:defRPr sz="3200" b="1">
                <a:solidFill>
                  <a:schemeClr val="tx1"/>
                </a:solidFill>
                <a:latin typeface="Arial" panose="020B0604020202020204" pitchFamily="34" charset="0"/>
                <a:ea typeface="ＭＳ Ｐゴシック"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b="1">
                <a:solidFill>
                  <a:schemeClr val="tx1"/>
                </a:solidFill>
                <a:latin typeface="Arial" panose="020B0604020202020204" pitchFamily="34" charset="0"/>
                <a:ea typeface="ＭＳ Ｐゴシック"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b="1">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ＭＳ Ｐゴシック"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ＭＳ Ｐゴシック" panose="020B0600070205080204" pitchFamily="34" charset="-128"/>
              </a:defRPr>
            </a:lvl9pPr>
          </a:lstStyle>
          <a:p>
            <a:pPr algn="ctr">
              <a:lnSpc>
                <a:spcPct val="80000"/>
              </a:lnSpc>
              <a:spcBef>
                <a:spcPct val="20000"/>
              </a:spcBef>
              <a:spcAft>
                <a:spcPct val="0"/>
              </a:spcAft>
              <a:buClrTx/>
              <a:buSzTx/>
              <a:buFontTx/>
              <a:buNone/>
            </a:pPr>
            <a:r>
              <a:rPr lang="en-US" altLang="en-US" sz="1800"/>
              <a:t>5S</a:t>
            </a:r>
          </a:p>
        </p:txBody>
      </p:sp>
      <p:cxnSp>
        <p:nvCxnSpPr>
          <p:cNvPr id="43" name="AutoShape 32">
            <a:extLst>
              <a:ext uri="{FF2B5EF4-FFF2-40B4-BE49-F238E27FC236}">
                <a16:creationId xmlns:a16="http://schemas.microsoft.com/office/drawing/2014/main" id="{166EE3EE-82EB-802E-48EB-08C8C5658253}"/>
              </a:ext>
            </a:extLst>
          </p:cNvPr>
          <p:cNvCxnSpPr>
            <a:cxnSpLocks noChangeShapeType="1"/>
            <a:stCxn id="33" idx="1"/>
            <a:endCxn id="40" idx="1"/>
          </p:cNvCxnSpPr>
          <p:nvPr/>
        </p:nvCxnSpPr>
        <p:spPr bwMode="auto">
          <a:xfrm rot="5400000" flipH="1" flipV="1">
            <a:off x="3623588" y="4740290"/>
            <a:ext cx="637436" cy="219894"/>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4" name="AutoShape 33">
            <a:extLst>
              <a:ext uri="{FF2B5EF4-FFF2-40B4-BE49-F238E27FC236}">
                <a16:creationId xmlns:a16="http://schemas.microsoft.com/office/drawing/2014/main" id="{9C24D11F-E2F1-B2C0-BAF2-4BDCF9BA0B87}"/>
              </a:ext>
            </a:extLst>
          </p:cNvPr>
          <p:cNvCxnSpPr>
            <a:cxnSpLocks noChangeShapeType="1"/>
            <a:stCxn id="40" idx="3"/>
            <a:endCxn id="31" idx="1"/>
          </p:cNvCxnSpPr>
          <p:nvPr/>
        </p:nvCxnSpPr>
        <p:spPr bwMode="auto">
          <a:xfrm flipV="1">
            <a:off x="4515803" y="4349805"/>
            <a:ext cx="629418" cy="181714"/>
          </a:xfrm>
          <a:prstGeom prst="curvedConnector4">
            <a:avLst>
              <a:gd name="adj1" fmla="val 22372"/>
              <a:gd name="adj2" fmla="val 27736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5" name="AutoShape 34">
            <a:extLst>
              <a:ext uri="{FF2B5EF4-FFF2-40B4-BE49-F238E27FC236}">
                <a16:creationId xmlns:a16="http://schemas.microsoft.com/office/drawing/2014/main" id="{97C84DC0-17EF-85FB-25B1-C6DB2552D4C0}"/>
              </a:ext>
            </a:extLst>
          </p:cNvPr>
          <p:cNvCxnSpPr>
            <a:cxnSpLocks noChangeShapeType="1"/>
            <a:stCxn id="31" idx="7"/>
            <a:endCxn id="41" idx="1"/>
          </p:cNvCxnSpPr>
          <p:nvPr/>
        </p:nvCxnSpPr>
        <p:spPr bwMode="auto">
          <a:xfrm rot="16200000" flipH="1">
            <a:off x="7049334" y="4125000"/>
            <a:ext cx="232514" cy="682124"/>
          </a:xfrm>
          <a:prstGeom prst="curvedConnector4">
            <a:avLst>
              <a:gd name="adj1" fmla="val -98317"/>
              <a:gd name="adj2" fmla="val 75494"/>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6" name="AutoShape 36">
            <a:extLst>
              <a:ext uri="{FF2B5EF4-FFF2-40B4-BE49-F238E27FC236}">
                <a16:creationId xmlns:a16="http://schemas.microsoft.com/office/drawing/2014/main" id="{D5DF0670-864D-252F-8905-704F912F7B06}"/>
              </a:ext>
            </a:extLst>
          </p:cNvPr>
          <p:cNvCxnSpPr>
            <a:cxnSpLocks noChangeShapeType="1"/>
            <a:stCxn id="41" idx="3"/>
            <a:endCxn id="32" idx="7"/>
          </p:cNvCxnSpPr>
          <p:nvPr/>
        </p:nvCxnSpPr>
        <p:spPr bwMode="auto">
          <a:xfrm>
            <a:off x="7973378" y="4582319"/>
            <a:ext cx="148139" cy="602511"/>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7" name="AutoShape 37">
            <a:extLst>
              <a:ext uri="{FF2B5EF4-FFF2-40B4-BE49-F238E27FC236}">
                <a16:creationId xmlns:a16="http://schemas.microsoft.com/office/drawing/2014/main" id="{D3943810-232C-3403-6FCF-3C37ACCAFE5C}"/>
              </a:ext>
            </a:extLst>
          </p:cNvPr>
          <p:cNvCxnSpPr>
            <a:cxnSpLocks noChangeShapeType="1"/>
            <a:stCxn id="33" idx="5"/>
            <a:endCxn id="42" idx="1"/>
          </p:cNvCxnSpPr>
          <p:nvPr/>
        </p:nvCxnSpPr>
        <p:spPr bwMode="auto">
          <a:xfrm rot="16200000" flipH="1">
            <a:off x="5574518" y="5558484"/>
            <a:ext cx="142084" cy="267786"/>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cxnSp>
        <p:nvCxnSpPr>
          <p:cNvPr id="48" name="AutoShape 38">
            <a:extLst>
              <a:ext uri="{FF2B5EF4-FFF2-40B4-BE49-F238E27FC236}">
                <a16:creationId xmlns:a16="http://schemas.microsoft.com/office/drawing/2014/main" id="{7159CD3D-FE22-E3B8-65C5-E1EAA4772ABD}"/>
              </a:ext>
            </a:extLst>
          </p:cNvPr>
          <p:cNvCxnSpPr>
            <a:cxnSpLocks noChangeShapeType="1"/>
            <a:endCxn id="32" idx="3"/>
          </p:cNvCxnSpPr>
          <p:nvPr/>
        </p:nvCxnSpPr>
        <p:spPr bwMode="auto">
          <a:xfrm flipV="1">
            <a:off x="6238240" y="5637210"/>
            <a:ext cx="203969" cy="134146"/>
          </a:xfrm>
          <a:prstGeom prst="curvedConnector2">
            <a:avLst/>
          </a:prstGeom>
          <a:noFill/>
          <a:ln w="9525">
            <a:solidFill>
              <a:schemeClr val="tx1"/>
            </a:solidFill>
            <a:prstDash val="dash"/>
            <a:round/>
            <a:headEnd type="triangle" w="med" len="me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688152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2800" dirty="0">
                <a:ea typeface="ＭＳ Ｐゴシック" panose="020B0600070205080204" pitchFamily="34" charset="-128"/>
              </a:rPr>
              <a:t>What are common pitfalls with 5S you have seen or foresee?</a:t>
            </a:r>
            <a:endParaRPr lang="en-US" sz="28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lstStyle/>
          <a:p>
            <a:r>
              <a:rPr lang="en-US" dirty="0"/>
              <a:t>Lack of assessment procedures</a:t>
            </a:r>
          </a:p>
          <a:p>
            <a:r>
              <a:rPr lang="en-US" dirty="0"/>
              <a:t>Perception that 5S is a “shop-floor only” tool</a:t>
            </a:r>
          </a:p>
          <a:p>
            <a:r>
              <a:rPr lang="en-US" dirty="0"/>
              <a:t>Perception is that 5S is about “cleaning”</a:t>
            </a:r>
          </a:p>
          <a:p>
            <a:r>
              <a:rPr lang="en-US" dirty="0"/>
              <a:t>Perception that this is a 1-time event… not a continuous process</a:t>
            </a:r>
          </a:p>
          <a:p>
            <a:r>
              <a:rPr lang="en-US" dirty="0"/>
              <a:t>5S not seen as a management tool</a:t>
            </a:r>
          </a:p>
          <a:p>
            <a:r>
              <a:rPr lang="en-US" dirty="0"/>
              <a:t>5S viewed as somebody else’s responsibility</a:t>
            </a:r>
          </a:p>
          <a:p>
            <a:r>
              <a:rPr lang="en-US" dirty="0"/>
              <a:t>5S viewed as “simple” and that everyone “knows how to do it”</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58</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2424551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How to avoid common pitfalls</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59</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Discuss methods to avoid the common 5S pitfalls</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In small groups, discuss each of the 5S pitfalls. </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Determine what actions could be taken, or what</a:t>
            </a:r>
            <a:b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b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could be done to avoid the common pitfalls.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Chart ideas on chart paper.</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10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80441"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Report-out on ideas for avoiding pitfalls</a:t>
            </a:r>
          </a:p>
        </p:txBody>
      </p:sp>
      <p:sp>
        <p:nvSpPr>
          <p:cNvPr id="3" name="TextBox 2">
            <a:extLst>
              <a:ext uri="{FF2B5EF4-FFF2-40B4-BE49-F238E27FC236}">
                <a16:creationId xmlns:a16="http://schemas.microsoft.com/office/drawing/2014/main" id="{CE0579B4-E28D-701F-560C-ACDB03E31A6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4" name="Group 3">
            <a:extLst>
              <a:ext uri="{FF2B5EF4-FFF2-40B4-BE49-F238E27FC236}">
                <a16:creationId xmlns:a16="http://schemas.microsoft.com/office/drawing/2014/main" id="{72354D01-5A7F-3939-958E-B74484D10AFF}"/>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09F086C-85BF-C9AE-8ED9-78F1B3CC520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D69D82AE-FA47-C4C3-75E8-F5B8CBDA50F7}"/>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C97B0014-FF3A-2759-D508-A527F4DA7DB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F69B1D5D-EFCC-3FD7-FA72-81536341808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3477375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77D53-AE4C-E910-8799-DEEA2CC0A5FC}"/>
              </a:ext>
            </a:extLst>
          </p:cNvPr>
          <p:cNvSpPr>
            <a:spLocks noGrp="1"/>
          </p:cNvSpPr>
          <p:nvPr>
            <p:ph type="title"/>
          </p:nvPr>
        </p:nvSpPr>
        <p:spPr/>
        <p:txBody>
          <a:bodyPr/>
          <a:lstStyle/>
          <a:p>
            <a:r>
              <a:rPr lang="en-US" dirty="0"/>
              <a:t>Kaizen Results </a:t>
            </a:r>
          </a:p>
        </p:txBody>
      </p:sp>
      <p:sp>
        <p:nvSpPr>
          <p:cNvPr id="4" name="Slide Number Placeholder 3">
            <a:extLst>
              <a:ext uri="{FF2B5EF4-FFF2-40B4-BE49-F238E27FC236}">
                <a16:creationId xmlns:a16="http://schemas.microsoft.com/office/drawing/2014/main" id="{664678EF-C2ED-ABA5-0EEC-F0AB19692545}"/>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60</a:t>
            </a:fld>
            <a:endParaRPr lang="en-US"/>
          </a:p>
        </p:txBody>
      </p:sp>
      <p:pic>
        <p:nvPicPr>
          <p:cNvPr id="3" name="Picture 4" descr="Kaizen Results Form">
            <a:extLst>
              <a:ext uri="{FF2B5EF4-FFF2-40B4-BE49-F238E27FC236}">
                <a16:creationId xmlns:a16="http://schemas.microsoft.com/office/drawing/2014/main" id="{3AB5E2E7-7207-91DA-6CB8-48836AB5A99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767"/>
          <a:stretch/>
        </p:blipFill>
        <p:spPr bwMode="auto">
          <a:xfrm>
            <a:off x="2691924" y="1745636"/>
            <a:ext cx="6808152" cy="4532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648E12D6-0072-CA1D-3FF0-D050BF478600}"/>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6" name="Group 5">
            <a:extLst>
              <a:ext uri="{FF2B5EF4-FFF2-40B4-BE49-F238E27FC236}">
                <a16:creationId xmlns:a16="http://schemas.microsoft.com/office/drawing/2014/main" id="{5429DA8E-1F64-11D7-00CC-25521F68C519}"/>
              </a:ext>
            </a:extLst>
          </p:cNvPr>
          <p:cNvGrpSpPr/>
          <p:nvPr/>
        </p:nvGrpSpPr>
        <p:grpSpPr>
          <a:xfrm>
            <a:off x="940249" y="302538"/>
            <a:ext cx="1060167" cy="290657"/>
            <a:chOff x="940249" y="315206"/>
            <a:chExt cx="1060167" cy="265062"/>
          </a:xfrm>
        </p:grpSpPr>
        <p:sp>
          <p:nvSpPr>
            <p:cNvPr id="7" name="AutoShape 9">
              <a:extLst>
                <a:ext uri="{FF2B5EF4-FFF2-40B4-BE49-F238E27FC236}">
                  <a16:creationId xmlns:a16="http://schemas.microsoft.com/office/drawing/2014/main" id="{B46BEF4D-9C4F-EF4A-3B99-A8642D481E12}"/>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8" name="Group 7">
              <a:extLst>
                <a:ext uri="{FF2B5EF4-FFF2-40B4-BE49-F238E27FC236}">
                  <a16:creationId xmlns:a16="http://schemas.microsoft.com/office/drawing/2014/main" id="{784C9017-E5C0-4EF1-9DB0-92795FB5FF41}"/>
                </a:ext>
              </a:extLst>
            </p:cNvPr>
            <p:cNvGrpSpPr/>
            <p:nvPr/>
          </p:nvGrpSpPr>
          <p:grpSpPr>
            <a:xfrm>
              <a:off x="940249" y="315206"/>
              <a:ext cx="746492" cy="265062"/>
              <a:chOff x="940249" y="315206"/>
              <a:chExt cx="746492" cy="265062"/>
            </a:xfrm>
          </p:grpSpPr>
          <p:sp>
            <p:nvSpPr>
              <p:cNvPr id="9" name="AutoShape 11">
                <a:extLst>
                  <a:ext uri="{FF2B5EF4-FFF2-40B4-BE49-F238E27FC236}">
                    <a16:creationId xmlns:a16="http://schemas.microsoft.com/office/drawing/2014/main" id="{C475E3D6-144C-808F-54C2-FDBAD04E56A0}"/>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0" name="AutoShape 10">
                <a:extLst>
                  <a:ext uri="{FF2B5EF4-FFF2-40B4-BE49-F238E27FC236}">
                    <a16:creationId xmlns:a16="http://schemas.microsoft.com/office/drawing/2014/main" id="{B13E0F70-23B4-F006-6207-564919EE147C}"/>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42865045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600" dirty="0">
                <a:ea typeface="ＭＳ Ｐゴシック" panose="020B0600070205080204" pitchFamily="34" charset="-128"/>
              </a:rPr>
              <a:t>Prepare for Final Report-Out to Management</a:t>
            </a:r>
            <a:endParaRPr lang="en-US" sz="36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lnSpcReduction="10000"/>
          </a:bodyPr>
          <a:lstStyle/>
          <a:p>
            <a:r>
              <a:rPr lang="en-US" dirty="0"/>
              <a:t>All team members should contribute to the final report-out presentation to management</a:t>
            </a:r>
          </a:p>
          <a:p>
            <a:r>
              <a:rPr lang="en-US" dirty="0"/>
              <a:t>Report-out should include</a:t>
            </a:r>
          </a:p>
          <a:p>
            <a:pPr lvl="1"/>
            <a:r>
              <a:rPr lang="en-US" dirty="0"/>
              <a:t>Introduction of Team</a:t>
            </a:r>
          </a:p>
          <a:p>
            <a:pPr lvl="1"/>
            <a:r>
              <a:rPr lang="en-US" dirty="0"/>
              <a:t>Review of Event goals and objectives</a:t>
            </a:r>
          </a:p>
          <a:p>
            <a:pPr lvl="1"/>
            <a:r>
              <a:rPr lang="en-US" dirty="0"/>
              <a:t>Review of Former Process and Documentation Forms</a:t>
            </a:r>
          </a:p>
          <a:p>
            <a:pPr lvl="1"/>
            <a:r>
              <a:rPr lang="en-US" dirty="0"/>
              <a:t>Review of Improvement Opportunities Identified and Implemented</a:t>
            </a:r>
          </a:p>
          <a:p>
            <a:pPr lvl="1"/>
            <a:r>
              <a:rPr lang="en-US" dirty="0"/>
              <a:t>Review of Documentation and Kaizen Results Form</a:t>
            </a:r>
          </a:p>
          <a:p>
            <a:pPr lvl="1"/>
            <a:r>
              <a:rPr lang="en-US" dirty="0"/>
              <a:t>Review of Kaizen Newspaper</a:t>
            </a:r>
          </a:p>
          <a:p>
            <a:r>
              <a:rPr lang="en-US" dirty="0"/>
              <a:t>Typical Report-Out times are 15 minutes for presentation and 15 minutes for questions</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61</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253116785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9ED7-5CF9-6F4B-B4A8-2DBF8D852A20}"/>
              </a:ext>
            </a:extLst>
          </p:cNvPr>
          <p:cNvSpPr>
            <a:spLocks noGrp="1"/>
          </p:cNvSpPr>
          <p:nvPr>
            <p:ph type="title"/>
          </p:nvPr>
        </p:nvSpPr>
        <p:spPr/>
        <p:txBody>
          <a:bodyPr>
            <a:noAutofit/>
          </a:bodyPr>
          <a:lstStyle/>
          <a:p>
            <a:r>
              <a:rPr lang="en-US" sz="4000" dirty="0">
                <a:latin typeface="Roboto Medium"/>
                <a:ea typeface="Roboto Medium"/>
                <a:cs typeface="Roboto Medium"/>
              </a:rPr>
              <a:t>Exercise: 5S Event Wrap-Up</a:t>
            </a:r>
          </a:p>
        </p:txBody>
      </p:sp>
      <p:sp>
        <p:nvSpPr>
          <p:cNvPr id="5" name="Slide Number Placeholder 4">
            <a:extLst>
              <a:ext uri="{FF2B5EF4-FFF2-40B4-BE49-F238E27FC236}">
                <a16:creationId xmlns:a16="http://schemas.microsoft.com/office/drawing/2014/main" id="{EFB3C390-D307-7FFC-DADE-918C5180FE01}"/>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62</a:t>
            </a:fld>
            <a:endParaRPr lang="en-US"/>
          </a:p>
        </p:txBody>
      </p:sp>
      <p:sp>
        <p:nvSpPr>
          <p:cNvPr id="11" name="Rectangle 10">
            <a:extLst>
              <a:ext uri="{FF2B5EF4-FFF2-40B4-BE49-F238E27FC236}">
                <a16:creationId xmlns:a16="http://schemas.microsoft.com/office/drawing/2014/main" id="{3A9506B7-1A57-1322-5AB5-DA8522EE7602}"/>
              </a:ext>
            </a:extLst>
          </p:cNvPr>
          <p:cNvSpPr/>
          <p:nvPr/>
        </p:nvSpPr>
        <p:spPr>
          <a:xfrm>
            <a:off x="838200" y="2328433"/>
            <a:ext cx="972234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24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Document event results and record lessons learned.</a:t>
            </a:r>
          </a:p>
        </p:txBody>
      </p:sp>
      <p:sp>
        <p:nvSpPr>
          <p:cNvPr id="12" name="TextBox 11">
            <a:extLst>
              <a:ext uri="{FF2B5EF4-FFF2-40B4-BE49-F238E27FC236}">
                <a16:creationId xmlns:a16="http://schemas.microsoft.com/office/drawing/2014/main" id="{A4ECB5F6-F271-06CD-2A6A-E79F5245CD15}"/>
              </a:ext>
            </a:extLst>
          </p:cNvPr>
          <p:cNvSpPr txBox="1"/>
          <p:nvPr/>
        </p:nvSpPr>
        <p:spPr>
          <a:xfrm>
            <a:off x="838200" y="1767653"/>
            <a:ext cx="1603003"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Objective</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3" name="TextBox 12">
            <a:extLst>
              <a:ext uri="{FF2B5EF4-FFF2-40B4-BE49-F238E27FC236}">
                <a16:creationId xmlns:a16="http://schemas.microsoft.com/office/drawing/2014/main" id="{EA94F381-2B48-C111-2724-726B0390290F}"/>
              </a:ext>
            </a:extLst>
          </p:cNvPr>
          <p:cNvSpPr txBox="1"/>
          <p:nvPr/>
        </p:nvSpPr>
        <p:spPr>
          <a:xfrm>
            <a:off x="838200" y="2952549"/>
            <a:ext cx="2022990"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Instructions</a:t>
            </a:r>
            <a:endParaRPr kumimoji="0" lang="en-US" sz="56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endParaRPr>
          </a:p>
        </p:txBody>
      </p:sp>
      <p:sp>
        <p:nvSpPr>
          <p:cNvPr id="14" name="Rectangle 13">
            <a:extLst>
              <a:ext uri="{FF2B5EF4-FFF2-40B4-BE49-F238E27FC236}">
                <a16:creationId xmlns:a16="http://schemas.microsoft.com/office/drawing/2014/main" id="{82677B47-98C9-F770-8D4E-7D91CF39F5A7}"/>
              </a:ext>
            </a:extLst>
          </p:cNvPr>
          <p:cNvSpPr/>
          <p:nvPr/>
        </p:nvSpPr>
        <p:spPr>
          <a:xfrm>
            <a:off x="818941" y="3486027"/>
            <a:ext cx="4419809" cy="2318583"/>
          </a:xfrm>
          <a:prstGeom prst="rect">
            <a:avLst/>
          </a:prstGeom>
          <a:solidFill>
            <a:schemeClr val="accent3"/>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Each team photograph all “after” areas</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Post 4S Checklist and 5S Audit Sheet in area</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Record top 3-5 lessons learned on chart paper</a:t>
            </a:r>
          </a:p>
          <a:p>
            <a:pPr marL="0" marR="0" indent="0" algn="l" defTabSz="584200" rtl="0" fontAlgn="auto" latinLnBrk="0" hangingPunct="0">
              <a:lnSpc>
                <a:spcPct val="100000"/>
              </a:lnSpc>
              <a:spcBef>
                <a:spcPts val="0"/>
              </a:spcBef>
              <a:spcAft>
                <a:spcPts val="0"/>
              </a:spcAft>
              <a:buClrTx/>
              <a:buSzTx/>
              <a:buFontTx/>
              <a:buNone/>
              <a:tabLst/>
            </a:pPr>
            <a:endPar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endParaRPr>
          </a:p>
          <a:p>
            <a:pPr marL="0" marR="0" indent="0" algn="l" defTabSz="584200" rtl="0" fontAlgn="auto" latinLnBrk="0" hangingPunct="0">
              <a:lnSpc>
                <a:spcPct val="100000"/>
              </a:lnSpc>
              <a:spcBef>
                <a:spcPts val="0"/>
              </a:spcBef>
              <a:spcAft>
                <a:spcPts val="0"/>
              </a:spcAft>
              <a:buClrTx/>
              <a:buSzTx/>
              <a:buFontTx/>
              <a:buNone/>
              <a:tabLst/>
            </a:pPr>
            <a:r>
              <a:rPr kumimoji="0" lang="en-US" sz="1600" b="0" i="0" u="none" strike="noStrike" cap="none" spc="0" normalizeH="0" baseline="0" dirty="0">
                <a:ln>
                  <a:noFill/>
                </a:ln>
                <a:solidFill>
                  <a:srgbClr val="FFFFFF"/>
                </a:solidFill>
                <a:effectLst>
                  <a:outerShdw blurRad="38100" dist="12700" dir="5400000" rotWithShape="0">
                    <a:srgbClr val="000000">
                      <a:alpha val="50000"/>
                    </a:srgbClr>
                  </a:outerShdw>
                </a:effectLst>
                <a:uFillTx/>
                <a:latin typeface="Roboto" panose="02000000000000000000" pitchFamily="2" charset="0"/>
                <a:ea typeface="Roboto" panose="02000000000000000000" pitchFamily="2" charset="0"/>
                <a:cs typeface="Roboto" panose="02000000000000000000" pitchFamily="2" charset="0"/>
                <a:sym typeface="Roboto"/>
              </a:rPr>
              <a:t>Celebrate!</a:t>
            </a:r>
          </a:p>
        </p:txBody>
      </p:sp>
      <p:sp>
        <p:nvSpPr>
          <p:cNvPr id="15" name="TextBox 14">
            <a:extLst>
              <a:ext uri="{FF2B5EF4-FFF2-40B4-BE49-F238E27FC236}">
                <a16:creationId xmlns:a16="http://schemas.microsoft.com/office/drawing/2014/main" id="{90914B3B-0CE2-FDFF-2FB9-215236316256}"/>
              </a:ext>
            </a:extLst>
          </p:cNvPr>
          <p:cNvSpPr txBox="1"/>
          <p:nvPr/>
        </p:nvSpPr>
        <p:spPr>
          <a:xfrm>
            <a:off x="5879250" y="2952548"/>
            <a:ext cx="2968761"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Time to Complete</a:t>
            </a:r>
          </a:p>
        </p:txBody>
      </p:sp>
      <p:sp>
        <p:nvSpPr>
          <p:cNvPr id="16" name="TextBox 15">
            <a:extLst>
              <a:ext uri="{FF2B5EF4-FFF2-40B4-BE49-F238E27FC236}">
                <a16:creationId xmlns:a16="http://schemas.microsoft.com/office/drawing/2014/main" id="{6285230A-07BD-F376-25CA-177CC1D4233F}"/>
              </a:ext>
            </a:extLst>
          </p:cNvPr>
          <p:cNvSpPr txBox="1"/>
          <p:nvPr/>
        </p:nvSpPr>
        <p:spPr>
          <a:xfrm>
            <a:off x="5879250" y="4136472"/>
            <a:ext cx="1888337" cy="53347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spAutoFit/>
          </a:bodyPr>
          <a:lstStyle/>
          <a:p>
            <a:pPr marL="0" marR="0" indent="0" algn="l" defTabSz="825500" rtl="0" fontAlgn="auto" latinLnBrk="0" hangingPunct="0">
              <a:lnSpc>
                <a:spcPct val="100000"/>
              </a:lnSpc>
              <a:spcBef>
                <a:spcPts val="0"/>
              </a:spcBef>
              <a:spcAft>
                <a:spcPts val="0"/>
              </a:spcAft>
              <a:buClrTx/>
              <a:buSzTx/>
              <a:buFontTx/>
              <a:buNone/>
              <a:tabLst/>
            </a:pPr>
            <a:r>
              <a:rPr kumimoji="0" lang="en-US" sz="2800" u="none" strike="noStrike" cap="none" spc="0" normalizeH="0" baseline="0" dirty="0">
                <a:ln>
                  <a:noFill/>
                </a:ln>
                <a:effectLst/>
                <a:uFillTx/>
                <a:latin typeface="Roboto Medium" panose="02000000000000000000" pitchFamily="2" charset="0"/>
                <a:ea typeface="Roboto Medium" panose="02000000000000000000" pitchFamily="2" charset="0"/>
                <a:cs typeface="Roboto Medium" panose="02000000000000000000" pitchFamily="2" charset="0"/>
                <a:sym typeface="Roboto"/>
              </a:rPr>
              <a:t>Deliverable</a:t>
            </a:r>
          </a:p>
        </p:txBody>
      </p:sp>
      <p:sp>
        <p:nvSpPr>
          <p:cNvPr id="17" name="Rectangle 16">
            <a:extLst>
              <a:ext uri="{FF2B5EF4-FFF2-40B4-BE49-F238E27FC236}">
                <a16:creationId xmlns:a16="http://schemas.microsoft.com/office/drawing/2014/main" id="{67530399-8FDB-50CD-E8FD-8E286DE1A2EA}"/>
              </a:ext>
            </a:extLst>
          </p:cNvPr>
          <p:cNvSpPr/>
          <p:nvPr/>
        </p:nvSpPr>
        <p:spPr>
          <a:xfrm>
            <a:off x="5879250" y="3496996"/>
            <a:ext cx="4681292" cy="471924"/>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60 minutes</a:t>
            </a:r>
          </a:p>
        </p:txBody>
      </p:sp>
      <p:sp>
        <p:nvSpPr>
          <p:cNvPr id="18" name="Rectangle 17">
            <a:extLst>
              <a:ext uri="{FF2B5EF4-FFF2-40B4-BE49-F238E27FC236}">
                <a16:creationId xmlns:a16="http://schemas.microsoft.com/office/drawing/2014/main" id="{84DF6BD6-975A-3700-5E69-322EFF4F722E}"/>
              </a:ext>
            </a:extLst>
          </p:cNvPr>
          <p:cNvSpPr/>
          <p:nvPr/>
        </p:nvSpPr>
        <p:spPr>
          <a:xfrm>
            <a:off x="5880441" y="4665559"/>
            <a:ext cx="4681292" cy="841256"/>
          </a:xfrm>
          <a:prstGeom prst="rect">
            <a:avLst/>
          </a:prstGeom>
          <a:solidFill>
            <a:srgbClr val="EE3228"/>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defTabSz="584200" hangingPunct="0"/>
            <a:r>
              <a:rPr lang="en-US" sz="2400" dirty="0">
                <a:solidFill>
                  <a:srgbClr val="FFFFFF"/>
                </a:solidFill>
                <a:effectLst>
                  <a:outerShdw blurRad="38100" dist="12700" dir="5400000" rotWithShape="0">
                    <a:srgbClr val="000000">
                      <a:alpha val="50000"/>
                    </a:srgbClr>
                  </a:outerShdw>
                </a:effectLst>
                <a:latin typeface="Roboto" panose="02000000000000000000" pitchFamily="2" charset="0"/>
                <a:ea typeface="Roboto" panose="02000000000000000000" pitchFamily="2" charset="0"/>
                <a:cs typeface="Roboto" panose="02000000000000000000" pitchFamily="2" charset="0"/>
                <a:sym typeface="Roboto"/>
              </a:rPr>
              <a:t>Invite others for report-out of results and a tour of “new” areas</a:t>
            </a:r>
          </a:p>
        </p:txBody>
      </p:sp>
      <p:sp>
        <p:nvSpPr>
          <p:cNvPr id="3" name="TextBox 2">
            <a:extLst>
              <a:ext uri="{FF2B5EF4-FFF2-40B4-BE49-F238E27FC236}">
                <a16:creationId xmlns:a16="http://schemas.microsoft.com/office/drawing/2014/main" id="{CE0579B4-E28D-701F-560C-ACDB03E31A62}"/>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4" name="Group 3">
            <a:extLst>
              <a:ext uri="{FF2B5EF4-FFF2-40B4-BE49-F238E27FC236}">
                <a16:creationId xmlns:a16="http://schemas.microsoft.com/office/drawing/2014/main" id="{72354D01-5A7F-3939-958E-B74484D10AFF}"/>
              </a:ext>
            </a:extLst>
          </p:cNvPr>
          <p:cNvGrpSpPr/>
          <p:nvPr/>
        </p:nvGrpSpPr>
        <p:grpSpPr>
          <a:xfrm>
            <a:off x="940249" y="302538"/>
            <a:ext cx="1060167" cy="290657"/>
            <a:chOff x="940249" y="315206"/>
            <a:chExt cx="1060167" cy="265062"/>
          </a:xfrm>
        </p:grpSpPr>
        <p:sp>
          <p:nvSpPr>
            <p:cNvPr id="6" name="AutoShape 9">
              <a:extLst>
                <a:ext uri="{FF2B5EF4-FFF2-40B4-BE49-F238E27FC236}">
                  <a16:creationId xmlns:a16="http://schemas.microsoft.com/office/drawing/2014/main" id="{C09F086C-85BF-C9AE-8ED9-78F1B3CC5208}"/>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7" name="Group 6">
              <a:extLst>
                <a:ext uri="{FF2B5EF4-FFF2-40B4-BE49-F238E27FC236}">
                  <a16:creationId xmlns:a16="http://schemas.microsoft.com/office/drawing/2014/main" id="{D69D82AE-FA47-C4C3-75E8-F5B8CBDA50F7}"/>
                </a:ext>
              </a:extLst>
            </p:cNvPr>
            <p:cNvGrpSpPr/>
            <p:nvPr/>
          </p:nvGrpSpPr>
          <p:grpSpPr>
            <a:xfrm>
              <a:off x="940249" y="315206"/>
              <a:ext cx="746492" cy="265062"/>
              <a:chOff x="940249" y="315206"/>
              <a:chExt cx="746492" cy="265062"/>
            </a:xfrm>
          </p:grpSpPr>
          <p:sp>
            <p:nvSpPr>
              <p:cNvPr id="8" name="AutoShape 11">
                <a:extLst>
                  <a:ext uri="{FF2B5EF4-FFF2-40B4-BE49-F238E27FC236}">
                    <a16:creationId xmlns:a16="http://schemas.microsoft.com/office/drawing/2014/main" id="{C97B0014-FF3A-2759-D508-A527F4DA7DBF}"/>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23" name="AutoShape 10">
                <a:extLst>
                  <a:ext uri="{FF2B5EF4-FFF2-40B4-BE49-F238E27FC236}">
                    <a16:creationId xmlns:a16="http://schemas.microsoft.com/office/drawing/2014/main" id="{F69B1D5D-EFCC-3FD7-FA72-815363418082}"/>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31140734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736DE-1C79-10BE-2E47-C088B4D0801F}"/>
              </a:ext>
            </a:extLst>
          </p:cNvPr>
          <p:cNvSpPr>
            <a:spLocks noGrp="1"/>
          </p:cNvSpPr>
          <p:nvPr>
            <p:ph type="title"/>
          </p:nvPr>
        </p:nvSpPr>
        <p:spPr/>
        <p:txBody>
          <a:bodyPr>
            <a:noAutofit/>
          </a:bodyPr>
          <a:lstStyle/>
          <a:p>
            <a:r>
              <a:rPr lang="en-US" altLang="en-US" sz="3600" dirty="0">
                <a:ea typeface="ＭＳ Ｐゴシック" panose="020B0600070205080204" pitchFamily="34" charset="-128"/>
              </a:rPr>
              <a:t>Summary of 5S</a:t>
            </a:r>
            <a:endParaRPr lang="en-US" sz="3600" dirty="0"/>
          </a:p>
        </p:txBody>
      </p:sp>
      <p:sp>
        <p:nvSpPr>
          <p:cNvPr id="3" name="Content Placeholder 2">
            <a:extLst>
              <a:ext uri="{FF2B5EF4-FFF2-40B4-BE49-F238E27FC236}">
                <a16:creationId xmlns:a16="http://schemas.microsoft.com/office/drawing/2014/main" id="{2AA7A201-AD05-6520-E140-CCF11E59E700}"/>
              </a:ext>
            </a:extLst>
          </p:cNvPr>
          <p:cNvSpPr>
            <a:spLocks noGrp="1"/>
          </p:cNvSpPr>
          <p:nvPr>
            <p:ph idx="1"/>
          </p:nvPr>
        </p:nvSpPr>
        <p:spPr/>
        <p:txBody>
          <a:bodyPr>
            <a:normAutofit/>
          </a:bodyPr>
          <a:lstStyle/>
          <a:p>
            <a:r>
              <a:rPr lang="en-US" dirty="0"/>
              <a:t>5S is a foundation for improvement</a:t>
            </a:r>
          </a:p>
          <a:p>
            <a:r>
              <a:rPr lang="en-US" dirty="0"/>
              <a:t>Visual Management is the ultimate goal</a:t>
            </a:r>
          </a:p>
          <a:p>
            <a:r>
              <a:rPr lang="en-US" dirty="0"/>
              <a:t>It is up to each and every one of us to make 5S a personal goal</a:t>
            </a:r>
          </a:p>
        </p:txBody>
      </p:sp>
      <p:sp>
        <p:nvSpPr>
          <p:cNvPr id="5" name="Slide Number Placeholder 4">
            <a:extLst>
              <a:ext uri="{FF2B5EF4-FFF2-40B4-BE49-F238E27FC236}">
                <a16:creationId xmlns:a16="http://schemas.microsoft.com/office/drawing/2014/main" id="{DE8DCB82-E886-7E0C-68DC-9558A2ED4223}"/>
              </a:ext>
            </a:extLst>
          </p:cNvPr>
          <p:cNvSpPr>
            <a:spLocks noGrp="1"/>
          </p:cNvSpPr>
          <p:nvPr>
            <p:ph type="sldNum" sz="quarter" idx="4294967295"/>
          </p:nvPr>
        </p:nvSpPr>
        <p:spPr>
          <a:xfrm>
            <a:off x="8595078" y="6333148"/>
            <a:ext cx="2743200" cy="365125"/>
          </a:xfrm>
        </p:spPr>
        <p:txBody>
          <a:bodyPr/>
          <a:lstStyle/>
          <a:p>
            <a:fld id="{CC6D4273-7FC1-0947-B9FE-19CB3C0D1FB6}" type="slidenum">
              <a:rPr lang="en-US" smtClean="0"/>
              <a:t>63</a:t>
            </a:fld>
            <a:endParaRPr lang="en-US"/>
          </a:p>
        </p:txBody>
      </p:sp>
      <p:sp>
        <p:nvSpPr>
          <p:cNvPr id="11" name="TextBox 10">
            <a:extLst>
              <a:ext uri="{FF2B5EF4-FFF2-40B4-BE49-F238E27FC236}">
                <a16:creationId xmlns:a16="http://schemas.microsoft.com/office/drawing/2014/main" id="{54F94DFF-542B-1A3C-1AFF-9CF70B5D5648}"/>
              </a:ext>
            </a:extLst>
          </p:cNvPr>
          <p:cNvSpPr txBox="1"/>
          <p:nvPr/>
        </p:nvSpPr>
        <p:spPr>
          <a:xfrm>
            <a:off x="2000416" y="323813"/>
            <a:ext cx="2447598" cy="29065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80000"/>
              </a:lnSpc>
              <a:spcBef>
                <a:spcPct val="20000"/>
              </a:spcBef>
              <a:spcAft>
                <a:spcPct val="0"/>
              </a:spcAft>
              <a:buClrTx/>
              <a:buSzTx/>
              <a:buFontTx/>
              <a:buNone/>
            </a:pPr>
            <a:r>
              <a:rPr lang="en-US" altLang="en-US" sz="1600" dirty="0">
                <a:solidFill>
                  <a:schemeClr val="bg1"/>
                </a:solidFill>
                <a:latin typeface="Roboto" panose="02000000000000000000" pitchFamily="2" charset="0"/>
                <a:ea typeface="Roboto" panose="02000000000000000000" pitchFamily="2" charset="0"/>
                <a:cs typeface="Roboto" panose="02000000000000000000" pitchFamily="2" charset="0"/>
              </a:rPr>
              <a:t>5S Review</a:t>
            </a:r>
          </a:p>
        </p:txBody>
      </p:sp>
      <p:grpSp>
        <p:nvGrpSpPr>
          <p:cNvPr id="12" name="Group 11">
            <a:extLst>
              <a:ext uri="{FF2B5EF4-FFF2-40B4-BE49-F238E27FC236}">
                <a16:creationId xmlns:a16="http://schemas.microsoft.com/office/drawing/2014/main" id="{7A6F023B-5E31-03F5-9C34-C6F3DC7D6406}"/>
              </a:ext>
            </a:extLst>
          </p:cNvPr>
          <p:cNvGrpSpPr/>
          <p:nvPr/>
        </p:nvGrpSpPr>
        <p:grpSpPr>
          <a:xfrm>
            <a:off x="940249" y="302538"/>
            <a:ext cx="1060167" cy="290657"/>
            <a:chOff x="940249" y="315206"/>
            <a:chExt cx="1060167" cy="265062"/>
          </a:xfrm>
        </p:grpSpPr>
        <p:sp>
          <p:nvSpPr>
            <p:cNvPr id="13" name="AutoShape 9">
              <a:extLst>
                <a:ext uri="{FF2B5EF4-FFF2-40B4-BE49-F238E27FC236}">
                  <a16:creationId xmlns:a16="http://schemas.microsoft.com/office/drawing/2014/main" id="{F7F6D0E9-B307-F394-3297-F34C253E944A}"/>
                </a:ext>
              </a:extLst>
            </p:cNvPr>
            <p:cNvSpPr>
              <a:spLocks noChangeArrowheads="1"/>
            </p:cNvSpPr>
            <p:nvPr/>
          </p:nvSpPr>
          <p:spPr bwMode="auto">
            <a:xfrm>
              <a:off x="1567599" y="315206"/>
              <a:ext cx="432817" cy="265061"/>
            </a:xfrm>
            <a:prstGeom prst="homePlate">
              <a:avLst>
                <a:gd name="adj" fmla="val 29912"/>
              </a:avLst>
            </a:prstGeom>
            <a:solidFill>
              <a:srgbClr val="FFB627"/>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grpSp>
          <p:nvGrpSpPr>
            <p:cNvPr id="14" name="Group 13">
              <a:extLst>
                <a:ext uri="{FF2B5EF4-FFF2-40B4-BE49-F238E27FC236}">
                  <a16:creationId xmlns:a16="http://schemas.microsoft.com/office/drawing/2014/main" id="{3F3ED864-DDF9-0475-5BE9-BAF091785AFA}"/>
                </a:ext>
              </a:extLst>
            </p:cNvPr>
            <p:cNvGrpSpPr/>
            <p:nvPr/>
          </p:nvGrpSpPr>
          <p:grpSpPr>
            <a:xfrm>
              <a:off x="940249" y="315206"/>
              <a:ext cx="746492" cy="265062"/>
              <a:chOff x="940249" y="315206"/>
              <a:chExt cx="746492" cy="265062"/>
            </a:xfrm>
          </p:grpSpPr>
          <p:sp>
            <p:nvSpPr>
              <p:cNvPr id="15" name="AutoShape 11">
                <a:extLst>
                  <a:ext uri="{FF2B5EF4-FFF2-40B4-BE49-F238E27FC236}">
                    <a16:creationId xmlns:a16="http://schemas.microsoft.com/office/drawing/2014/main" id="{93E04F85-210C-E794-2771-DB64C6AFF203}"/>
                  </a:ext>
                </a:extLst>
              </p:cNvPr>
              <p:cNvSpPr>
                <a:spLocks noChangeArrowheads="1"/>
              </p:cNvSpPr>
              <p:nvPr/>
            </p:nvSpPr>
            <p:spPr bwMode="auto">
              <a:xfrm>
                <a:off x="1253924" y="315207"/>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None/>
                </a:pPr>
                <a:endParaRPr lang="en-US" altLang="en-US" sz="2000" dirty="0">
                  <a:solidFill>
                    <a:schemeClr val="bg1"/>
                  </a:solidFill>
                </a:endParaRPr>
              </a:p>
            </p:txBody>
          </p:sp>
          <p:sp>
            <p:nvSpPr>
              <p:cNvPr id="16" name="AutoShape 10">
                <a:extLst>
                  <a:ext uri="{FF2B5EF4-FFF2-40B4-BE49-F238E27FC236}">
                    <a16:creationId xmlns:a16="http://schemas.microsoft.com/office/drawing/2014/main" id="{DFA70FF8-60FF-AC16-87C2-9017CFCA1A14}"/>
                  </a:ext>
                </a:extLst>
              </p:cNvPr>
              <p:cNvSpPr>
                <a:spLocks noChangeArrowheads="1"/>
              </p:cNvSpPr>
              <p:nvPr/>
            </p:nvSpPr>
            <p:spPr bwMode="auto">
              <a:xfrm>
                <a:off x="940249" y="315206"/>
                <a:ext cx="432817" cy="265061"/>
              </a:xfrm>
              <a:prstGeom prst="homePlate">
                <a:avLst>
                  <a:gd name="adj" fmla="val 29912"/>
                </a:avLst>
              </a:prstGeom>
              <a:solidFill>
                <a:srgbClr val="222222"/>
              </a:solidFill>
              <a:ln w="12700" cap="sq">
                <a:solidFill>
                  <a:schemeClr val="bg1"/>
                </a:solidFill>
                <a:miter lim="800000"/>
                <a:headEnd/>
                <a:tailEnd/>
              </a:ln>
            </p:spPr>
            <p:txBody>
              <a:bodyPr wrap="none" anchor="ctr"/>
              <a:lstStyle>
                <a:lvl1pPr>
                  <a:lnSpc>
                    <a:spcPct val="115000"/>
                  </a:lnSpc>
                  <a:spcBef>
                    <a:spcPct val="50000"/>
                  </a:spcBef>
                  <a:spcAft>
                    <a:spcPct val="50000"/>
                  </a:spcAft>
                  <a:buClr>
                    <a:srgbClr val="006699"/>
                  </a:buClr>
                  <a:buSzPct val="90000"/>
                  <a:buFont typeface="Wingdings" panose="05000000000000000000" pitchFamily="2" charset="2"/>
                  <a:buChar char="§"/>
                  <a:defRPr>
                    <a:solidFill>
                      <a:schemeClr val="tx1"/>
                    </a:solidFill>
                    <a:latin typeface="Arial" panose="020B0604020202020204" pitchFamily="34" charset="0"/>
                    <a:ea typeface="MS PGothic" panose="020B0600070205080204" pitchFamily="34" charset="-128"/>
                  </a:defRPr>
                </a:lvl1pPr>
                <a:lvl2pPr marL="742950" indent="-285750">
                  <a:lnSpc>
                    <a:spcPct val="115000"/>
                  </a:lnSpc>
                  <a:spcBef>
                    <a:spcPct val="50000"/>
                  </a:spcBef>
                  <a:spcAft>
                    <a:spcPct val="50000"/>
                  </a:spcAft>
                  <a:buClr>
                    <a:srgbClr val="006699"/>
                  </a:buClr>
                  <a:buSzPct val="90000"/>
                  <a:buFont typeface="Wingdings" panose="05000000000000000000" pitchFamily="2" charset="2"/>
                  <a:buChar char="§"/>
                  <a:defRPr sz="1600">
                    <a:solidFill>
                      <a:schemeClr val="tx1"/>
                    </a:solidFill>
                    <a:latin typeface="Arial" panose="020B0604020202020204" pitchFamily="34" charset="0"/>
                    <a:ea typeface="MS PGothic" panose="020B0600070205080204" pitchFamily="34" charset="-128"/>
                  </a:defRPr>
                </a:lvl2pPr>
                <a:lvl3pPr marL="1143000" indent="-228600">
                  <a:lnSpc>
                    <a:spcPct val="115000"/>
                  </a:lnSpc>
                  <a:spcBef>
                    <a:spcPct val="50000"/>
                  </a:spcBef>
                  <a:spcAft>
                    <a:spcPct val="50000"/>
                  </a:spcAft>
                  <a:buClr>
                    <a:srgbClr val="006699"/>
                  </a:buClr>
                  <a:buSzPct val="90000"/>
                  <a:buFont typeface="Wingdings" panose="05000000000000000000" pitchFamily="2" charset="2"/>
                  <a:buChar char="§"/>
                  <a:defRPr sz="1400">
                    <a:solidFill>
                      <a:schemeClr val="tx1"/>
                    </a:solidFill>
                    <a:latin typeface="Arial" panose="020B0604020202020204" pitchFamily="34" charset="0"/>
                    <a:ea typeface="MS PGothic" panose="020B0600070205080204" pitchFamily="34" charset="-128"/>
                  </a:defRPr>
                </a:lvl3pPr>
                <a:lvl4pPr marL="16002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4pPr>
                <a:lvl5pPr marL="2057400" indent="-228600">
                  <a:spcBef>
                    <a:spcPct val="20000"/>
                  </a:spcBef>
                  <a:buClr>
                    <a:schemeClr val="tx1"/>
                  </a:buClr>
                  <a:buChar char="•"/>
                  <a:defRPr sz="2000">
                    <a:solidFill>
                      <a:schemeClr val="tx1"/>
                    </a:solidFill>
                    <a:latin typeface="Book Antiqua" panose="02040602050305030304" pitchFamily="18" charset="0"/>
                    <a:ea typeface="MS PGothic" panose="020B0600070205080204" pitchFamily="34" charset="-128"/>
                  </a:defRPr>
                </a:lvl5pPr>
                <a:lvl6pPr marL="25146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6pPr>
                <a:lvl7pPr marL="29718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7pPr>
                <a:lvl8pPr marL="34290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8pPr>
                <a:lvl9pPr marL="3886200" indent="-228600" eaLnBrk="0" fontAlgn="base" hangingPunct="0">
                  <a:spcBef>
                    <a:spcPct val="20000"/>
                  </a:spcBef>
                  <a:spcAft>
                    <a:spcPct val="0"/>
                  </a:spcAft>
                  <a:buClr>
                    <a:schemeClr val="tx1"/>
                  </a:buClr>
                  <a:buChar char="•"/>
                  <a:defRPr sz="2000">
                    <a:solidFill>
                      <a:schemeClr val="tx1"/>
                    </a:solidFill>
                    <a:latin typeface="Book Antiqua" panose="02040602050305030304" pitchFamily="18" charset="0"/>
                    <a:ea typeface="MS PGothic" panose="020B0600070205080204" pitchFamily="34" charset="-128"/>
                  </a:defRPr>
                </a:lvl9pPr>
              </a:lstStyle>
              <a:p>
                <a:pPr algn="ctr">
                  <a:lnSpc>
                    <a:spcPct val="80000"/>
                  </a:lnSpc>
                  <a:spcBef>
                    <a:spcPct val="20000"/>
                  </a:spcBef>
                  <a:spcAft>
                    <a:spcPct val="0"/>
                  </a:spcAft>
                  <a:buClrTx/>
                  <a:buSzTx/>
                  <a:buFontTx/>
                  <a:buNone/>
                </a:pPr>
                <a:endParaRPr lang="en-US" altLang="en-US" sz="2000" dirty="0">
                  <a:solidFill>
                    <a:schemeClr val="bg1"/>
                  </a:solidFill>
                  <a:latin typeface="+mn-lt"/>
                </a:endParaRPr>
              </a:p>
            </p:txBody>
          </p:sp>
        </p:grpSp>
      </p:grpSp>
    </p:spTree>
    <p:extLst>
      <p:ext uri="{BB962C8B-B14F-4D97-AF65-F5344CB8AC3E}">
        <p14:creationId xmlns:p14="http://schemas.microsoft.com/office/powerpoint/2010/main" val="191334081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301234-A0AA-5598-26B5-033CE6FE23E5}"/>
              </a:ext>
            </a:extLst>
          </p:cNvPr>
          <p:cNvSpPr txBox="1">
            <a:spLocks/>
          </p:cNvSpPr>
          <p:nvPr/>
        </p:nvSpPr>
        <p:spPr>
          <a:xfrm>
            <a:off x="606705" y="793843"/>
            <a:ext cx="10515600" cy="1022351"/>
          </a:xfrm>
          <a:prstGeom prst="rect">
            <a:avLst/>
          </a:prstGeom>
        </p:spPr>
        <p:txBody>
          <a:bodyPr lIns="91440" tIns="45720" rIns="91440" bIns="45720" anchor="t"/>
          <a:lstStyle>
            <a:lvl1pPr algn="l" defTabSz="914400" rtl="0" eaLnBrk="1" latinLnBrk="0" hangingPunct="1">
              <a:lnSpc>
                <a:spcPct val="90000"/>
              </a:lnSpc>
              <a:spcBef>
                <a:spcPct val="0"/>
              </a:spcBef>
              <a:buNone/>
              <a:defRPr sz="4400" kern="1200">
                <a:solidFill>
                  <a:schemeClr val="bg1"/>
                </a:solidFill>
                <a:latin typeface="Baskerville" panose="02020502070401020303" pitchFamily="18" charset="0"/>
                <a:ea typeface="Baskerville" panose="02020502070401020303" pitchFamily="18" charset="0"/>
                <a:cs typeface="+mj-cs"/>
              </a:defRPr>
            </a:lvl1pPr>
          </a:lstStyle>
          <a:p>
            <a:r>
              <a:rPr lang="en-US" dirty="0">
                <a:solidFill>
                  <a:schemeClr val="tx1"/>
                </a:solidFill>
                <a:latin typeface="Roboto Medium"/>
                <a:cs typeface="Roboto"/>
              </a:rPr>
              <a:t>Other</a:t>
            </a:r>
            <a:r>
              <a:rPr lang="en-US" dirty="0">
                <a:solidFill>
                  <a:schemeClr val="tx1"/>
                </a:solidFill>
                <a:latin typeface="Roboto Medium"/>
                <a:cs typeface="Roboto Medium"/>
              </a:rPr>
              <a:t> Modules In This Series:</a:t>
            </a:r>
          </a:p>
        </p:txBody>
      </p:sp>
      <p:pic>
        <p:nvPicPr>
          <p:cNvPr id="3" name="Picture 2">
            <a:extLst>
              <a:ext uri="{FF2B5EF4-FFF2-40B4-BE49-F238E27FC236}">
                <a16:creationId xmlns:a16="http://schemas.microsoft.com/office/drawing/2014/main" id="{5DF3825E-B951-729D-1675-8A890DAAC766}"/>
              </a:ext>
            </a:extLst>
          </p:cNvPr>
          <p:cNvPicPr>
            <a:picLocks noChangeAspect="1"/>
          </p:cNvPicPr>
          <p:nvPr/>
        </p:nvPicPr>
        <p:blipFill>
          <a:blip r:embed="rId3"/>
          <a:stretch>
            <a:fillRect/>
          </a:stretch>
        </p:blipFill>
        <p:spPr>
          <a:xfrm>
            <a:off x="605117" y="1638489"/>
            <a:ext cx="3939240" cy="45719"/>
          </a:xfrm>
          <a:prstGeom prst="rect">
            <a:avLst/>
          </a:prstGeom>
        </p:spPr>
      </p:pic>
      <p:sp>
        <p:nvSpPr>
          <p:cNvPr id="4" name="Content Placeholder 3">
            <a:extLst>
              <a:ext uri="{FF2B5EF4-FFF2-40B4-BE49-F238E27FC236}">
                <a16:creationId xmlns:a16="http://schemas.microsoft.com/office/drawing/2014/main" id="{C9914E55-E875-9B78-1E43-35D121FD9751}"/>
              </a:ext>
            </a:extLst>
          </p:cNvPr>
          <p:cNvSpPr txBox="1">
            <a:spLocks/>
          </p:cNvSpPr>
          <p:nvPr/>
        </p:nvSpPr>
        <p:spPr>
          <a:xfrm>
            <a:off x="5839258" y="1166648"/>
            <a:ext cx="5157787" cy="3684588"/>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Roboto" panose="02000000000000000000" pitchFamily="2" charset="0"/>
                <a:ea typeface="Roboto" panose="02000000000000000000" pitchFamily="2" charset="0"/>
                <a:cs typeface="Roboto" panose="02000000000000000000" pitchFamily="2"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Roboto" panose="02000000000000000000" pitchFamily="2" charset="0"/>
                <a:ea typeface="Roboto" panose="02000000000000000000" pitchFamily="2" charset="0"/>
                <a:cs typeface="Roboto" panose="02000000000000000000" pitchFamily="2"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Roboto" panose="02000000000000000000" pitchFamily="2" charset="0"/>
                <a:ea typeface="Roboto" panose="02000000000000000000" pitchFamily="2" charset="0"/>
                <a:cs typeface="Roboto" panose="02000000000000000000" pitchFamily="2"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Roboto" panose="02000000000000000000" pitchFamily="2" charset="0"/>
                <a:ea typeface="Roboto" panose="02000000000000000000" pitchFamily="2" charset="0"/>
                <a:cs typeface="Roboto" panose="02000000000000000000"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a:buNone/>
            </a:pPr>
            <a:r>
              <a:rPr lang="en-US" sz="1400" dirty="0">
                <a:solidFill>
                  <a:schemeClr val="tx1"/>
                </a:solidFill>
              </a:rPr>
              <a:t>5S</a:t>
            </a:r>
          </a:p>
          <a:p>
            <a:pPr marL="0" indent="0" algn="r">
              <a:buNone/>
            </a:pPr>
            <a:r>
              <a:rPr lang="en-US" sz="1400" dirty="0">
                <a:solidFill>
                  <a:schemeClr val="tx1"/>
                </a:solidFill>
              </a:rPr>
              <a:t>Standard Work</a:t>
            </a:r>
          </a:p>
          <a:p>
            <a:pPr marL="0" indent="0" algn="r">
              <a:buNone/>
            </a:pPr>
            <a:r>
              <a:rPr lang="en-US" sz="1400" dirty="0">
                <a:solidFill>
                  <a:schemeClr val="tx1"/>
                </a:solidFill>
              </a:rPr>
              <a:t>Total Productive Maintenance (TPM)</a:t>
            </a:r>
          </a:p>
          <a:p>
            <a:pPr marL="0" indent="0" algn="r">
              <a:buNone/>
            </a:pPr>
            <a:r>
              <a:rPr lang="en-US" sz="1400" dirty="0">
                <a:solidFill>
                  <a:schemeClr val="tx1"/>
                </a:solidFill>
              </a:rPr>
              <a:t>Administrative Lean</a:t>
            </a:r>
          </a:p>
          <a:p>
            <a:pPr marL="0" indent="0" algn="r">
              <a:buNone/>
            </a:pPr>
            <a:r>
              <a:rPr lang="en-US" sz="1400" dirty="0">
                <a:solidFill>
                  <a:schemeClr val="tx1"/>
                </a:solidFill>
              </a:rPr>
              <a:t>Cell Design/ Production Preparation Process (3P)</a:t>
            </a:r>
          </a:p>
          <a:p>
            <a:pPr marL="0" indent="0" algn="r">
              <a:buNone/>
            </a:pPr>
            <a:r>
              <a:rPr lang="en-US" sz="1400" dirty="0">
                <a:solidFill>
                  <a:schemeClr val="tx1"/>
                </a:solidFill>
              </a:rPr>
              <a:t>Kaizen</a:t>
            </a:r>
          </a:p>
          <a:p>
            <a:pPr marL="0" indent="0" algn="r">
              <a:buNone/>
            </a:pPr>
            <a:r>
              <a:rPr lang="en-US" sz="1400" dirty="0">
                <a:solidFill>
                  <a:schemeClr val="tx1"/>
                </a:solidFill>
              </a:rPr>
              <a:t>Kanban</a:t>
            </a:r>
          </a:p>
          <a:p>
            <a:pPr marL="0" indent="0" algn="r">
              <a:buNone/>
            </a:pPr>
            <a:r>
              <a:rPr lang="en-US" sz="1400" dirty="0">
                <a:solidFill>
                  <a:schemeClr val="tx1"/>
                </a:solidFill>
              </a:rPr>
              <a:t>Problem Solving</a:t>
            </a:r>
          </a:p>
          <a:p>
            <a:pPr marL="0" indent="0" algn="r">
              <a:buNone/>
            </a:pPr>
            <a:r>
              <a:rPr lang="en-US" sz="1400" dirty="0" err="1">
                <a:solidFill>
                  <a:schemeClr val="tx1"/>
                </a:solidFill>
              </a:rPr>
              <a:t>Poka</a:t>
            </a:r>
            <a:r>
              <a:rPr lang="en-US" sz="1400" dirty="0">
                <a:solidFill>
                  <a:schemeClr val="tx1"/>
                </a:solidFill>
              </a:rPr>
              <a:t> Yoke Quality Systems</a:t>
            </a:r>
          </a:p>
          <a:p>
            <a:pPr marL="0" indent="0" algn="r">
              <a:buNone/>
            </a:pPr>
            <a:r>
              <a:rPr lang="en-US" sz="1400" dirty="0">
                <a:solidFill>
                  <a:schemeClr val="tx1"/>
                </a:solidFill>
              </a:rPr>
              <a:t>Transaction Process Improvement (TPI)</a:t>
            </a:r>
          </a:p>
          <a:p>
            <a:pPr marL="0" indent="0" algn="r">
              <a:buNone/>
            </a:pPr>
            <a:r>
              <a:rPr lang="en-US" sz="1400" dirty="0">
                <a:solidFill>
                  <a:schemeClr val="tx1"/>
                </a:solidFill>
              </a:rPr>
              <a:t>Cause &amp; Effect Diagram with the Additions of Cards (CEDAC)</a:t>
            </a:r>
          </a:p>
          <a:p>
            <a:pPr marL="0" indent="0" algn="r">
              <a:buNone/>
            </a:pPr>
            <a:r>
              <a:rPr lang="en-US" sz="1400" dirty="0">
                <a:solidFill>
                  <a:schemeClr val="tx1"/>
                </a:solidFill>
              </a:rPr>
              <a:t>Single Minute Exchange of Dies (SMED)</a:t>
            </a:r>
          </a:p>
          <a:p>
            <a:pPr marL="0" indent="0" algn="r">
              <a:buNone/>
            </a:pPr>
            <a:r>
              <a:rPr lang="en-US" sz="1400" dirty="0">
                <a:solidFill>
                  <a:schemeClr val="tx1"/>
                </a:solidFill>
              </a:rPr>
              <a:t>Value Stream Mapping (</a:t>
            </a:r>
            <a:r>
              <a:rPr lang="en-US" sz="1400" dirty="0" err="1">
                <a:solidFill>
                  <a:schemeClr val="tx1"/>
                </a:solidFill>
              </a:rPr>
              <a:t>VSMi</a:t>
            </a:r>
            <a:r>
              <a:rPr lang="en-US" sz="1400" dirty="0">
                <a:solidFill>
                  <a:schemeClr val="tx1"/>
                </a:solidFill>
              </a:rPr>
              <a:t>®)</a:t>
            </a:r>
          </a:p>
          <a:p>
            <a:pPr marL="0" indent="0" algn="r">
              <a:buNone/>
            </a:pPr>
            <a:r>
              <a:rPr lang="en-US" sz="1400" dirty="0">
                <a:solidFill>
                  <a:schemeClr val="tx1"/>
                </a:solidFill>
              </a:rPr>
              <a:t>Visual Management</a:t>
            </a:r>
          </a:p>
          <a:p>
            <a:pPr marL="0" indent="0" algn="r">
              <a:buNone/>
            </a:pPr>
            <a:r>
              <a:rPr lang="en-US" sz="1400" dirty="0">
                <a:solidFill>
                  <a:schemeClr val="tx1"/>
                </a:solidFill>
              </a:rPr>
              <a:t>Managing Daily Process Excellence</a:t>
            </a:r>
          </a:p>
        </p:txBody>
      </p:sp>
      <p:pic>
        <p:nvPicPr>
          <p:cNvPr id="11" name="Picture 10">
            <a:extLst>
              <a:ext uri="{FF2B5EF4-FFF2-40B4-BE49-F238E27FC236}">
                <a16:creationId xmlns:a16="http://schemas.microsoft.com/office/drawing/2014/main" id="{11F73560-3A07-DDBC-A93D-9C2969C3C85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0142" y="2039270"/>
            <a:ext cx="2945426" cy="1754165"/>
          </a:xfrm>
          <a:prstGeom prst="rect">
            <a:avLst/>
          </a:prstGeom>
        </p:spPr>
      </p:pic>
      <p:sp>
        <p:nvSpPr>
          <p:cNvPr id="13" name="Steve Jones">
            <a:extLst>
              <a:ext uri="{FF2B5EF4-FFF2-40B4-BE49-F238E27FC236}">
                <a16:creationId xmlns:a16="http://schemas.microsoft.com/office/drawing/2014/main" id="{32D7D26D-2286-A78A-74DF-8555FD64C346}"/>
              </a:ext>
            </a:extLst>
          </p:cNvPr>
          <p:cNvSpPr/>
          <p:nvPr/>
        </p:nvSpPr>
        <p:spPr>
          <a:xfrm>
            <a:off x="1069695" y="4201690"/>
            <a:ext cx="3475310" cy="199029"/>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nchor="ctr">
            <a:spAutoFit/>
          </a:bodyPr>
          <a:lstStyle>
            <a:lvl1pPr defTabSz="1155700">
              <a:lnSpc>
                <a:spcPct val="80000"/>
              </a:lnSpc>
              <a:defRPr sz="3000" b="1">
                <a:solidFill>
                  <a:srgbClr val="FFFFFF"/>
                </a:solidFill>
              </a:defRPr>
            </a:lvl1pPr>
          </a:lstStyle>
          <a:p>
            <a:r>
              <a:rPr lang="en-US" sz="1600" dirty="0">
                <a:solidFill>
                  <a:srgbClr val="EE3228"/>
                </a:solidFill>
                <a:latin typeface="Roboto" panose="02000000000000000000" pitchFamily="2" charset="0"/>
                <a:ea typeface="Roboto" panose="02000000000000000000" pitchFamily="2" charset="0"/>
                <a:cs typeface="Roboto" panose="02000000000000000000" pitchFamily="2" charset="0"/>
              </a:rPr>
              <a:t>For More Information Please Contact:</a:t>
            </a:r>
          </a:p>
        </p:txBody>
      </p:sp>
      <p:sp>
        <p:nvSpPr>
          <p:cNvPr id="14" name="Head of Management Dept.">
            <a:extLst>
              <a:ext uri="{FF2B5EF4-FFF2-40B4-BE49-F238E27FC236}">
                <a16:creationId xmlns:a16="http://schemas.microsoft.com/office/drawing/2014/main" id="{13AAF857-F867-C38A-47E8-4FCE37EF32C8}"/>
              </a:ext>
            </a:extLst>
          </p:cNvPr>
          <p:cNvSpPr/>
          <p:nvPr/>
        </p:nvSpPr>
        <p:spPr>
          <a:xfrm>
            <a:off x="1367375" y="4590893"/>
            <a:ext cx="2879948" cy="838178"/>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lvl1pPr defTabSz="1155700">
              <a:defRPr sz="3000">
                <a:solidFill>
                  <a:srgbClr val="5D616E"/>
                </a:solidFill>
              </a:defRPr>
            </a:lvl1pPr>
          </a:lstStyle>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 DeLuzio, President and CEO</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+1.860.234.0915</a:t>
            </a:r>
          </a:p>
          <a:p>
            <a:pPr algn="ctr">
              <a:lnSpc>
                <a:spcPct val="90000"/>
              </a:lnSpc>
              <a:spcBef>
                <a:spcPts val="1000"/>
              </a:spcBef>
            </a:pPr>
            <a:r>
              <a:rPr lang="en-US" sz="1400" dirty="0">
                <a:solidFill>
                  <a:schemeClr val="tx1"/>
                </a:solidFill>
                <a:latin typeface="Roboto" panose="02000000000000000000" pitchFamily="2" charset="0"/>
                <a:ea typeface="Roboto" panose="02000000000000000000" pitchFamily="2" charset="0"/>
                <a:cs typeface="Roboto" panose="02000000000000000000" pitchFamily="2" charset="0"/>
              </a:rPr>
              <a:t>mark.deluzio@leanhorizons.com</a:t>
            </a:r>
            <a:endParaRPr sz="1400" dirty="0">
              <a:solidFill>
                <a:schemeClr val="tx1"/>
              </a:solidFill>
              <a:latin typeface="Roboto" panose="02000000000000000000" pitchFamily="2" charset="0"/>
              <a:ea typeface="Roboto" panose="02000000000000000000" pitchFamily="2" charset="0"/>
              <a:cs typeface="Roboto" panose="02000000000000000000" pitchFamily="2" charset="0"/>
            </a:endParaRPr>
          </a:p>
        </p:txBody>
      </p:sp>
      <p:sp>
        <p:nvSpPr>
          <p:cNvPr id="15" name="TextBox 14">
            <a:extLst>
              <a:ext uri="{FF2B5EF4-FFF2-40B4-BE49-F238E27FC236}">
                <a16:creationId xmlns:a16="http://schemas.microsoft.com/office/drawing/2014/main" id="{1729F7AC-495A-4FB8-042F-1DBECD3DB7C9}"/>
              </a:ext>
            </a:extLst>
          </p:cNvPr>
          <p:cNvSpPr txBox="1"/>
          <p:nvPr/>
        </p:nvSpPr>
        <p:spPr>
          <a:xfrm>
            <a:off x="6291" y="5619244"/>
            <a:ext cx="5602115" cy="2664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gn="ctr">
              <a:lnSpc>
                <a:spcPct val="80000"/>
              </a:lnSpc>
              <a:spcAft>
                <a:spcPct val="0"/>
              </a:spcAft>
              <a:buClrTx/>
              <a:buSzTx/>
              <a:buFontTx/>
              <a:buNone/>
            </a:pPr>
            <a:r>
              <a:rPr lang="en-US" altLang="en-US" sz="1400" i="1" dirty="0">
                <a:latin typeface="Roboto" panose="02000000000000000000" pitchFamily="2" charset="0"/>
                <a:ea typeface="Roboto" panose="02000000000000000000" pitchFamily="2" charset="0"/>
                <a:cs typeface="Roboto" panose="02000000000000000000" pitchFamily="2" charset="0"/>
              </a:rPr>
              <a:t>Strategically Creating Value Through the Elimination of Waste</a:t>
            </a:r>
            <a:endParaRPr lang="en-US" altLang="en-US" sz="1400" dirty="0">
              <a:latin typeface="Roboto" panose="02000000000000000000" pitchFamily="2" charset="0"/>
              <a:ea typeface="Roboto" panose="02000000000000000000" pitchFamily="2" charset="0"/>
              <a:cs typeface="Roboto" panose="02000000000000000000" pitchFamily="2" charset="0"/>
            </a:endParaRPr>
          </a:p>
        </p:txBody>
      </p:sp>
      <p:sp>
        <p:nvSpPr>
          <p:cNvPr id="18" name="Slide Number Placeholder 17">
            <a:extLst>
              <a:ext uri="{FF2B5EF4-FFF2-40B4-BE49-F238E27FC236}">
                <a16:creationId xmlns:a16="http://schemas.microsoft.com/office/drawing/2014/main" id="{F71C8E8F-D781-AA13-E1D1-E5284A242753}"/>
              </a:ext>
            </a:extLst>
          </p:cNvPr>
          <p:cNvSpPr>
            <a:spLocks noGrp="1"/>
          </p:cNvSpPr>
          <p:nvPr>
            <p:ph type="sldNum" sz="quarter" idx="4294967295"/>
          </p:nvPr>
        </p:nvSpPr>
        <p:spPr>
          <a:xfrm>
            <a:off x="8595078" y="6333148"/>
            <a:ext cx="2743200" cy="365125"/>
          </a:xfrm>
          <a:prstGeom prst="rect">
            <a:avLst/>
          </a:prstGeom>
        </p:spPr>
        <p:txBody>
          <a:bodyPr/>
          <a:lstStyle/>
          <a:p>
            <a:fld id="{CC6D4273-7FC1-0947-B9FE-19CB3C0D1FB6}" type="slidenum">
              <a:rPr lang="en-US" smtClean="0"/>
              <a:t>64</a:t>
            </a:fld>
            <a:endParaRPr lang="en-US" dirty="0"/>
          </a:p>
        </p:txBody>
      </p:sp>
    </p:spTree>
    <p:extLst>
      <p:ext uri="{BB962C8B-B14F-4D97-AF65-F5344CB8AC3E}">
        <p14:creationId xmlns:p14="http://schemas.microsoft.com/office/powerpoint/2010/main" val="17472899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4"/>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Custom 1">
      <a:dk1>
        <a:srgbClr val="000000"/>
      </a:dk1>
      <a:lt1>
        <a:srgbClr val="FFFFFF"/>
      </a:lt1>
      <a:dk2>
        <a:srgbClr val="44546A"/>
      </a:dk2>
      <a:lt2>
        <a:srgbClr val="E7E6E6"/>
      </a:lt2>
      <a:accent1>
        <a:srgbClr val="EE3228"/>
      </a:accent1>
      <a:accent2>
        <a:srgbClr val="FDCA40"/>
      </a:accent2>
      <a:accent3>
        <a:srgbClr val="939598"/>
      </a:accent3>
      <a:accent4>
        <a:srgbClr val="76939F"/>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16050</TotalTime>
  <Words>5595</Words>
  <Application>Microsoft Office PowerPoint</Application>
  <PresentationFormat>Widescreen</PresentationFormat>
  <Paragraphs>919</Paragraphs>
  <Slides>64</Slides>
  <Notes>64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64</vt:i4>
      </vt:variant>
    </vt:vector>
  </HeadingPairs>
  <TitlesOfParts>
    <vt:vector size="72" baseType="lpstr">
      <vt:lpstr>ＭＳ Ｐゴシック</vt:lpstr>
      <vt:lpstr>Arial</vt:lpstr>
      <vt:lpstr>Calibri</vt:lpstr>
      <vt:lpstr>Roboto</vt:lpstr>
      <vt:lpstr>Roboto Medium</vt:lpstr>
      <vt:lpstr>Wingdings</vt:lpstr>
      <vt:lpstr>Wingdings 2</vt:lpstr>
      <vt:lpstr>Office Theme</vt:lpstr>
      <vt:lpstr>PowerPoint Presentation</vt:lpstr>
      <vt:lpstr>PowerPoint Presentation</vt:lpstr>
      <vt:lpstr>PowerPoint Presentation</vt:lpstr>
      <vt:lpstr>Ground Rules for Event</vt:lpstr>
      <vt:lpstr>Goal of 5S Module</vt:lpstr>
      <vt:lpstr>5S</vt:lpstr>
      <vt:lpstr>Goal of 5S</vt:lpstr>
      <vt:lpstr>What is 5S?</vt:lpstr>
      <vt:lpstr>5S – Original Japanese Terminology</vt:lpstr>
      <vt:lpstr>5S – Original Japanese Terminology, Continued</vt:lpstr>
      <vt:lpstr>5S – English Translations </vt:lpstr>
      <vt:lpstr>How does 5S relate to other lean best practices?</vt:lpstr>
      <vt:lpstr>Examples of 5S</vt:lpstr>
      <vt:lpstr>Examples of 5S</vt:lpstr>
      <vt:lpstr>Examples of 5S</vt:lpstr>
      <vt:lpstr>Examples of 5S</vt:lpstr>
      <vt:lpstr>Examples of 5S</vt:lpstr>
      <vt:lpstr>5S Implementation Roadmap</vt:lpstr>
      <vt:lpstr>Exercise: 5S Discussion</vt:lpstr>
      <vt:lpstr>Exercise: 5S Charter Review</vt:lpstr>
      <vt:lpstr>Exercise: 5S Gemba Tour</vt:lpstr>
      <vt:lpstr>5S</vt:lpstr>
      <vt:lpstr>5S</vt:lpstr>
      <vt:lpstr>5S</vt:lpstr>
      <vt:lpstr>1S Defined</vt:lpstr>
      <vt:lpstr>1S Sort Strategy, continued</vt:lpstr>
      <vt:lpstr>Areas That Should be Reviewed</vt:lpstr>
      <vt:lpstr>Red-Tagging</vt:lpstr>
      <vt:lpstr>Red-Tagging Procedures</vt:lpstr>
      <vt:lpstr>Example of a Red Tag Area</vt:lpstr>
      <vt:lpstr>Sort Strategy</vt:lpstr>
      <vt:lpstr>Exercise: 1S</vt:lpstr>
      <vt:lpstr>5S</vt:lpstr>
      <vt:lpstr>2S Defined</vt:lpstr>
      <vt:lpstr>2S Strategy</vt:lpstr>
      <vt:lpstr>2S: A place for everything and everything in its place</vt:lpstr>
      <vt:lpstr>Visually Identify Critical Parts, Areas, and Items</vt:lpstr>
      <vt:lpstr>Exercise: 2S</vt:lpstr>
      <vt:lpstr>5S</vt:lpstr>
      <vt:lpstr>3S Defined</vt:lpstr>
      <vt:lpstr>3S Strategy, continued</vt:lpstr>
      <vt:lpstr>Exercise: 3S</vt:lpstr>
      <vt:lpstr>5S</vt:lpstr>
      <vt:lpstr>4S Defined</vt:lpstr>
      <vt:lpstr>5S Patrol Checklist – Manufacturing Areas</vt:lpstr>
      <vt:lpstr>5S Patrol Checklist – Office Areas</vt:lpstr>
      <vt:lpstr>5S Audit Example</vt:lpstr>
      <vt:lpstr>Exercise: Identifying processes that need to be sustained</vt:lpstr>
      <vt:lpstr>Exercise: 4S</vt:lpstr>
      <vt:lpstr>5S</vt:lpstr>
      <vt:lpstr>5S Defined</vt:lpstr>
      <vt:lpstr>5S Strategy</vt:lpstr>
      <vt:lpstr>5S Rules of Discipline</vt:lpstr>
      <vt:lpstr>Exercise: 5S</vt:lpstr>
      <vt:lpstr>5S</vt:lpstr>
      <vt:lpstr>Summary of 5S </vt:lpstr>
      <vt:lpstr>5S is Key to a Lean Business System</vt:lpstr>
      <vt:lpstr>What are common pitfalls with 5S you have seen or foresee?</vt:lpstr>
      <vt:lpstr>Exercise: How to avoid common pitfalls</vt:lpstr>
      <vt:lpstr>Kaizen Results </vt:lpstr>
      <vt:lpstr>Prepare for Final Report-Out to Management</vt:lpstr>
      <vt:lpstr>Exercise: 5S Event Wrap-Up</vt:lpstr>
      <vt:lpstr>Summary of 5S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Justin Santiago</dc:creator>
  <cp:lastModifiedBy>Scott DeLuzio</cp:lastModifiedBy>
  <cp:revision>387</cp:revision>
  <dcterms:created xsi:type="dcterms:W3CDTF">2023-02-08T22:10:20Z</dcterms:created>
  <dcterms:modified xsi:type="dcterms:W3CDTF">2025-06-11T23:42:03Z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9B03DC17-300B-47B8-8BB4-6641D3ACBEED</vt:lpwstr>
  </property>
  <property fmtid="{D5CDD505-2E9C-101B-9397-08002B2CF9AE}" pid="3" name="ArticulatePath">
    <vt:lpwstr>5S PRESENTATION ENG REV3.0</vt:lpwstr>
  </property>
</Properties>
</file>