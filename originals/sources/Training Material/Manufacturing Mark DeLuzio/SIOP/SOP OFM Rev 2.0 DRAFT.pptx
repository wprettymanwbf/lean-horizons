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ls" ContentType="application/vnd.ms-exce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1"/>
  </p:notesMasterIdLst>
  <p:sldIdLst>
    <p:sldId id="258" r:id="rId2"/>
    <p:sldId id="283" r:id="rId3"/>
    <p:sldId id="284" r:id="rId4"/>
    <p:sldId id="285" r:id="rId5"/>
    <p:sldId id="352" r:id="rId6"/>
    <p:sldId id="351"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386" r:id="rId41"/>
    <p:sldId id="387" r:id="rId42"/>
    <p:sldId id="388" r:id="rId43"/>
    <p:sldId id="389"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402" r:id="rId57"/>
    <p:sldId id="403" r:id="rId58"/>
    <p:sldId id="404" r:id="rId59"/>
    <p:sldId id="405" r:id="rId60"/>
    <p:sldId id="406" r:id="rId61"/>
    <p:sldId id="407" r:id="rId62"/>
    <p:sldId id="408" r:id="rId63"/>
    <p:sldId id="409" r:id="rId64"/>
    <p:sldId id="410" r:id="rId65"/>
    <p:sldId id="411" r:id="rId66"/>
    <p:sldId id="412" r:id="rId67"/>
    <p:sldId id="413" r:id="rId68"/>
    <p:sldId id="414" r:id="rId69"/>
    <p:sldId id="415" r:id="rId70"/>
    <p:sldId id="416" r:id="rId71"/>
    <p:sldId id="417" r:id="rId72"/>
    <p:sldId id="418" r:id="rId73"/>
    <p:sldId id="419" r:id="rId74"/>
    <p:sldId id="420" r:id="rId75"/>
    <p:sldId id="421" r:id="rId76"/>
    <p:sldId id="422" r:id="rId77"/>
    <p:sldId id="423" r:id="rId78"/>
    <p:sldId id="424" r:id="rId79"/>
    <p:sldId id="425"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F82C0AC-46A5-4BBB-8DFB-F4E7A736FB69}">
          <p14:sldIdLst>
            <p14:sldId id="258"/>
            <p14:sldId id="283"/>
            <p14:sldId id="284"/>
            <p14:sldId id="285"/>
            <p14:sldId id="352"/>
            <p14:sldId id="351"/>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Lst>
        </p14:section>
        <p14:section name="Templates" id="{DCCE725C-D041-4F90-8D76-3FE20DA8453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3228"/>
    <a:srgbClr val="222222"/>
    <a:srgbClr val="FFB627"/>
    <a:srgbClr val="177E89"/>
    <a:srgbClr val="8EDCE6"/>
    <a:srgbClr val="F1BF98"/>
    <a:srgbClr val="2EC4B6"/>
    <a:srgbClr val="BDDBD0"/>
    <a:srgbClr val="2D7DD2"/>
    <a:srgbClr val="6292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1" autoAdjust="0"/>
    <p:restoredTop sz="81849" autoAdjust="0"/>
  </p:normalViewPr>
  <p:slideViewPr>
    <p:cSldViewPr snapToGrid="0">
      <p:cViewPr>
        <p:scale>
          <a:sx n="75" d="100"/>
          <a:sy n="75" d="100"/>
        </p:scale>
        <p:origin x="984" y="408"/>
      </p:cViewPr>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275449101796408E-2"/>
          <c:y val="6.2162162162162166E-2"/>
          <c:w val="0.92574850299401201"/>
          <c:h val="0.75135135135135134"/>
        </c:manualLayout>
      </c:layout>
      <c:barChart>
        <c:barDir val="col"/>
        <c:grouping val="clustered"/>
        <c:varyColors val="0"/>
        <c:ser>
          <c:idx val="1"/>
          <c:order val="0"/>
          <c:tx>
            <c:strRef>
              <c:f>Sheet1!$A$2</c:f>
              <c:strCache>
                <c:ptCount val="1"/>
                <c:pt idx="0">
                  <c:v>Required</c:v>
                </c:pt>
              </c:strCache>
            </c:strRef>
          </c:tx>
          <c:spPr>
            <a:solidFill>
              <a:schemeClr val="accent2"/>
            </a:solidFill>
            <a:ln>
              <a:noFill/>
            </a:ln>
            <a:effectLst/>
          </c:spPr>
          <c:invertIfNegative val="0"/>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Sheet1!$B$2:$V$2</c:f>
              <c:numCache>
                <c:formatCode>General</c:formatCode>
                <c:ptCount val="21"/>
                <c:pt idx="0">
                  <c:v>300</c:v>
                </c:pt>
                <c:pt idx="1">
                  <c:v>300</c:v>
                </c:pt>
                <c:pt idx="2">
                  <c:v>300</c:v>
                </c:pt>
                <c:pt idx="3">
                  <c:v>450</c:v>
                </c:pt>
                <c:pt idx="4">
                  <c:v>450</c:v>
                </c:pt>
                <c:pt idx="5">
                  <c:v>450</c:v>
                </c:pt>
                <c:pt idx="6">
                  <c:v>450</c:v>
                </c:pt>
                <c:pt idx="7">
                  <c:v>450</c:v>
                </c:pt>
                <c:pt idx="8">
                  <c:v>625</c:v>
                </c:pt>
                <c:pt idx="9">
                  <c:v>625</c:v>
                </c:pt>
                <c:pt idx="10">
                  <c:v>625</c:v>
                </c:pt>
                <c:pt idx="11">
                  <c:v>625</c:v>
                </c:pt>
                <c:pt idx="12">
                  <c:v>900</c:v>
                </c:pt>
                <c:pt idx="13">
                  <c:v>900</c:v>
                </c:pt>
                <c:pt idx="14">
                  <c:v>900</c:v>
                </c:pt>
                <c:pt idx="15">
                  <c:v>700</c:v>
                </c:pt>
                <c:pt idx="16">
                  <c:v>700</c:v>
                </c:pt>
                <c:pt idx="17">
                  <c:v>700</c:v>
                </c:pt>
                <c:pt idx="18">
                  <c:v>600</c:v>
                </c:pt>
                <c:pt idx="19">
                  <c:v>600</c:v>
                </c:pt>
                <c:pt idx="20">
                  <c:v>600</c:v>
                </c:pt>
              </c:numCache>
            </c:numRef>
          </c:val>
          <c:extLst>
            <c:ext xmlns:c16="http://schemas.microsoft.com/office/drawing/2014/chart" uri="{C3380CC4-5D6E-409C-BE32-E72D297353CC}">
              <c16:uniqueId val="{00000000-2E08-4193-8937-94C460086E8E}"/>
            </c:ext>
          </c:extLst>
        </c:ser>
        <c:dLbls>
          <c:showLegendKey val="0"/>
          <c:showVal val="0"/>
          <c:showCatName val="0"/>
          <c:showSerName val="0"/>
          <c:showPercent val="0"/>
          <c:showBubbleSize val="0"/>
        </c:dLbls>
        <c:gapWidth val="150"/>
        <c:axId val="637858783"/>
        <c:axId val="1"/>
      </c:barChart>
      <c:lineChart>
        <c:grouping val="standard"/>
        <c:varyColors val="0"/>
        <c:ser>
          <c:idx val="2"/>
          <c:order val="1"/>
          <c:tx>
            <c:strRef>
              <c:f>Sheet1!$A$3</c:f>
              <c:strCache>
                <c:ptCount val="1"/>
                <c:pt idx="0">
                  <c:v>Demonstrated</c:v>
                </c:pt>
              </c:strCache>
            </c:strRef>
          </c:tx>
          <c:spPr>
            <a:ln w="19050" cap="rnd" cmpd="sng" algn="ctr">
              <a:solidFill>
                <a:schemeClr val="accent3"/>
              </a:solidFill>
              <a:prstDash val="solid"/>
              <a:round/>
            </a:ln>
            <a:effectLst/>
          </c:spPr>
          <c:marker>
            <c:symbol val="triangle"/>
            <c:size val="4"/>
            <c:spPr>
              <a:solidFill>
                <a:schemeClr val="accent3"/>
              </a:solidFill>
              <a:ln w="6350" cap="flat" cmpd="sng" algn="ctr">
                <a:solidFill>
                  <a:schemeClr val="accent3"/>
                </a:solidFill>
                <a:prstDash val="solid"/>
                <a:round/>
              </a:ln>
              <a:effectLst/>
            </c:spPr>
          </c:marker>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Sheet1!$B$3:$V$3</c:f>
              <c:numCache>
                <c:formatCode>General</c:formatCode>
                <c:ptCount val="21"/>
                <c:pt idx="0">
                  <c:v>400</c:v>
                </c:pt>
                <c:pt idx="1">
                  <c:v>400</c:v>
                </c:pt>
                <c:pt idx="2">
                  <c:v>400</c:v>
                </c:pt>
                <c:pt idx="3">
                  <c:v>400</c:v>
                </c:pt>
                <c:pt idx="4">
                  <c:v>400</c:v>
                </c:pt>
                <c:pt idx="5">
                  <c:v>400</c:v>
                </c:pt>
                <c:pt idx="6">
                  <c:v>400</c:v>
                </c:pt>
                <c:pt idx="7">
                  <c:v>400</c:v>
                </c:pt>
                <c:pt idx="8">
                  <c:v>400</c:v>
                </c:pt>
                <c:pt idx="9">
                  <c:v>400</c:v>
                </c:pt>
                <c:pt idx="10">
                  <c:v>400</c:v>
                </c:pt>
                <c:pt idx="11">
                  <c:v>400</c:v>
                </c:pt>
                <c:pt idx="12">
                  <c:v>400</c:v>
                </c:pt>
                <c:pt idx="13">
                  <c:v>400</c:v>
                </c:pt>
                <c:pt idx="14">
                  <c:v>400</c:v>
                </c:pt>
                <c:pt idx="15">
                  <c:v>400</c:v>
                </c:pt>
                <c:pt idx="16">
                  <c:v>400</c:v>
                </c:pt>
                <c:pt idx="17">
                  <c:v>400</c:v>
                </c:pt>
                <c:pt idx="18">
                  <c:v>400</c:v>
                </c:pt>
                <c:pt idx="19">
                  <c:v>400</c:v>
                </c:pt>
                <c:pt idx="20">
                  <c:v>400</c:v>
                </c:pt>
              </c:numCache>
            </c:numRef>
          </c:val>
          <c:smooth val="0"/>
          <c:extLst>
            <c:ext xmlns:c16="http://schemas.microsoft.com/office/drawing/2014/chart" uri="{C3380CC4-5D6E-409C-BE32-E72D297353CC}">
              <c16:uniqueId val="{00000001-2E08-4193-8937-94C460086E8E}"/>
            </c:ext>
          </c:extLst>
        </c:ser>
        <c:ser>
          <c:idx val="3"/>
          <c:order val="2"/>
          <c:tx>
            <c:strRef>
              <c:f>Sheet1!$A$4</c:f>
              <c:strCache>
                <c:ptCount val="1"/>
                <c:pt idx="0">
                  <c:v>Planned</c:v>
                </c:pt>
              </c:strCache>
            </c:strRef>
          </c:tx>
          <c:spPr>
            <a:ln w="19050" cap="rnd" cmpd="sng" algn="ctr">
              <a:solidFill>
                <a:schemeClr val="accent4"/>
              </a:solidFill>
              <a:prstDash val="solid"/>
              <a:round/>
            </a:ln>
            <a:effectLst/>
          </c:spPr>
          <c:marker>
            <c:symbol val="x"/>
            <c:size val="4"/>
            <c:spPr>
              <a:noFill/>
              <a:ln w="6350" cap="flat" cmpd="sng" algn="ctr">
                <a:solidFill>
                  <a:schemeClr val="accent4"/>
                </a:solidFill>
                <a:prstDash val="solid"/>
                <a:round/>
              </a:ln>
              <a:effectLst/>
            </c:spPr>
          </c:marker>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Sheet1!$B$4:$V$4</c:f>
              <c:numCache>
                <c:formatCode>General</c:formatCode>
                <c:ptCount val="21"/>
                <c:pt idx="0">
                  <c:v>500</c:v>
                </c:pt>
                <c:pt idx="1">
                  <c:v>500</c:v>
                </c:pt>
                <c:pt idx="2">
                  <c:v>500</c:v>
                </c:pt>
                <c:pt idx="3">
                  <c:v>600</c:v>
                </c:pt>
                <c:pt idx="4">
                  <c:v>600</c:v>
                </c:pt>
                <c:pt idx="5">
                  <c:v>600</c:v>
                </c:pt>
                <c:pt idx="6">
                  <c:v>600</c:v>
                </c:pt>
                <c:pt idx="7">
                  <c:v>600</c:v>
                </c:pt>
                <c:pt idx="8">
                  <c:v>600</c:v>
                </c:pt>
                <c:pt idx="9">
                  <c:v>600</c:v>
                </c:pt>
                <c:pt idx="10">
                  <c:v>600</c:v>
                </c:pt>
                <c:pt idx="11">
                  <c:v>600</c:v>
                </c:pt>
                <c:pt idx="12">
                  <c:v>800</c:v>
                </c:pt>
                <c:pt idx="13">
                  <c:v>800</c:v>
                </c:pt>
                <c:pt idx="14">
                  <c:v>800</c:v>
                </c:pt>
                <c:pt idx="15">
                  <c:v>800</c:v>
                </c:pt>
                <c:pt idx="16">
                  <c:v>800</c:v>
                </c:pt>
                <c:pt idx="17">
                  <c:v>800</c:v>
                </c:pt>
                <c:pt idx="18">
                  <c:v>700</c:v>
                </c:pt>
                <c:pt idx="19">
                  <c:v>700</c:v>
                </c:pt>
                <c:pt idx="20">
                  <c:v>700</c:v>
                </c:pt>
              </c:numCache>
            </c:numRef>
          </c:val>
          <c:smooth val="0"/>
          <c:extLst>
            <c:ext xmlns:c16="http://schemas.microsoft.com/office/drawing/2014/chart" uri="{C3380CC4-5D6E-409C-BE32-E72D297353CC}">
              <c16:uniqueId val="{00000002-2E08-4193-8937-94C460086E8E}"/>
            </c:ext>
          </c:extLst>
        </c:ser>
        <c:ser>
          <c:idx val="0"/>
          <c:order val="3"/>
          <c:tx>
            <c:strRef>
              <c:f>Sheet1!$A$5</c:f>
              <c:strCache>
                <c:ptCount val="1"/>
                <c:pt idx="0">
                  <c:v>Max Demonstrated</c:v>
                </c:pt>
              </c:strCache>
            </c:strRef>
          </c:tx>
          <c:spPr>
            <a:ln w="19050" cap="rnd" cmpd="sng" algn="ctr">
              <a:solidFill>
                <a:schemeClr val="accent1"/>
              </a:solidFill>
              <a:prstDash val="solid"/>
              <a:round/>
            </a:ln>
            <a:effectLst/>
          </c:spPr>
          <c:marker>
            <c:symbol val="diamond"/>
            <c:size val="4"/>
            <c:spPr>
              <a:solidFill>
                <a:schemeClr val="accent1"/>
              </a:solidFill>
              <a:ln w="6350" cap="flat" cmpd="sng" algn="ctr">
                <a:solidFill>
                  <a:schemeClr val="accent1"/>
                </a:solidFill>
                <a:prstDash val="solid"/>
                <a:round/>
              </a:ln>
              <a:effectLst/>
            </c:spPr>
          </c:marker>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Sheet1!$B$5:$V$5</c:f>
              <c:numCache>
                <c:formatCode>General</c:formatCode>
                <c:ptCount val="21"/>
                <c:pt idx="0">
                  <c:v>850</c:v>
                </c:pt>
                <c:pt idx="1">
                  <c:v>850</c:v>
                </c:pt>
                <c:pt idx="2">
                  <c:v>850</c:v>
                </c:pt>
                <c:pt idx="3">
                  <c:v>850</c:v>
                </c:pt>
                <c:pt idx="4">
                  <c:v>850</c:v>
                </c:pt>
                <c:pt idx="5">
                  <c:v>850</c:v>
                </c:pt>
                <c:pt idx="6">
                  <c:v>850</c:v>
                </c:pt>
                <c:pt idx="7">
                  <c:v>850</c:v>
                </c:pt>
                <c:pt idx="8">
                  <c:v>850</c:v>
                </c:pt>
                <c:pt idx="9">
                  <c:v>850</c:v>
                </c:pt>
                <c:pt idx="10">
                  <c:v>850</c:v>
                </c:pt>
                <c:pt idx="11">
                  <c:v>850</c:v>
                </c:pt>
                <c:pt idx="12">
                  <c:v>850</c:v>
                </c:pt>
                <c:pt idx="13">
                  <c:v>850</c:v>
                </c:pt>
                <c:pt idx="14">
                  <c:v>850</c:v>
                </c:pt>
                <c:pt idx="15">
                  <c:v>850</c:v>
                </c:pt>
                <c:pt idx="16">
                  <c:v>850</c:v>
                </c:pt>
                <c:pt idx="17">
                  <c:v>850</c:v>
                </c:pt>
                <c:pt idx="18">
                  <c:v>850</c:v>
                </c:pt>
                <c:pt idx="19">
                  <c:v>850</c:v>
                </c:pt>
                <c:pt idx="20">
                  <c:v>850</c:v>
                </c:pt>
              </c:numCache>
            </c:numRef>
          </c:val>
          <c:smooth val="0"/>
          <c:extLst>
            <c:ext xmlns:c16="http://schemas.microsoft.com/office/drawing/2014/chart" uri="{C3380CC4-5D6E-409C-BE32-E72D297353CC}">
              <c16:uniqueId val="{00000003-2E08-4193-8937-94C460086E8E}"/>
            </c:ext>
          </c:extLst>
        </c:ser>
        <c:dLbls>
          <c:showLegendKey val="0"/>
          <c:showVal val="0"/>
          <c:showCatName val="0"/>
          <c:showSerName val="0"/>
          <c:showPercent val="0"/>
          <c:showBubbleSize val="0"/>
        </c:dLbls>
        <c:marker val="1"/>
        <c:smooth val="0"/>
        <c:axId val="3"/>
        <c:axId val="4"/>
      </c:lineChart>
      <c:catAx>
        <c:axId val="637858783"/>
        <c:scaling>
          <c:orientation val="minMax"/>
        </c:scaling>
        <c:delete val="0"/>
        <c:axPos val="b"/>
        <c:numFmt formatCode="General" sourceLinked="1"/>
        <c:majorTickMark val="cross"/>
        <c:minorTickMark val="none"/>
        <c:tickLblPos val="nextTo"/>
        <c:spPr>
          <a:noFill/>
          <a:ln w="3159" cap="flat" cmpd="sng" algn="ctr">
            <a:solidFill>
              <a:schemeClr val="tx1"/>
            </a:solidFill>
            <a:prstDash val="solid"/>
            <a:round/>
          </a:ln>
          <a:effectLst/>
        </c:spPr>
        <c:txPr>
          <a:bodyPr rot="0" spcFirstLastPara="1" vertOverflow="ellipsis" wrap="square" anchor="ctr" anchorCtr="1"/>
          <a:lstStyle/>
          <a:p>
            <a:pPr>
              <a:defRPr sz="995" b="1" i="0" u="none" strike="noStrike" kern="1200" baseline="0">
                <a:solidFill>
                  <a:schemeClr val="tx1"/>
                </a:solidFill>
                <a:latin typeface="Arial"/>
                <a:ea typeface="Arial"/>
                <a:cs typeface="Arial"/>
              </a:defRPr>
            </a:pPr>
            <a:endParaRPr lang="en-US"/>
          </a:p>
        </c:txPr>
        <c:crossAx val="1"/>
        <c:crosses val="autoZero"/>
        <c:auto val="0"/>
        <c:lblAlgn val="ctr"/>
        <c:lblOffset val="100"/>
        <c:tickLblSkip val="1"/>
        <c:tickMarkSkip val="1"/>
        <c:noMultiLvlLbl val="0"/>
      </c:catAx>
      <c:valAx>
        <c:axId val="1"/>
        <c:scaling>
          <c:orientation val="minMax"/>
        </c:scaling>
        <c:delete val="0"/>
        <c:axPos val="l"/>
        <c:numFmt formatCode="General" sourceLinked="1"/>
        <c:majorTickMark val="cross"/>
        <c:minorTickMark val="none"/>
        <c:tickLblPos val="nextTo"/>
        <c:spPr>
          <a:noFill/>
          <a:ln w="3159" cap="flat" cmpd="sng" algn="ctr">
            <a:solidFill>
              <a:schemeClr val="tx1"/>
            </a:solidFill>
            <a:prstDash val="solid"/>
            <a:round/>
          </a:ln>
          <a:effectLst/>
        </c:spPr>
        <c:txPr>
          <a:bodyPr rot="0" spcFirstLastPara="1" vertOverflow="ellipsis" wrap="square" anchor="ctr" anchorCtr="1"/>
          <a:lstStyle/>
          <a:p>
            <a:pPr>
              <a:defRPr sz="995" b="1" i="0" u="none" strike="noStrike" kern="1200" baseline="0">
                <a:solidFill>
                  <a:schemeClr val="tx1"/>
                </a:solidFill>
                <a:latin typeface="Arial"/>
                <a:ea typeface="Arial"/>
                <a:cs typeface="Arial"/>
              </a:defRPr>
            </a:pPr>
            <a:endParaRPr lang="en-US"/>
          </a:p>
        </c:txPr>
        <c:crossAx val="637858783"/>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0"/>
        <c:lblAlgn val="ctr"/>
        <c:lblOffset val="100"/>
        <c:noMultiLvlLbl val="0"/>
      </c:catAx>
      <c:valAx>
        <c:axId val="4"/>
        <c:scaling>
          <c:orientation val="minMax"/>
        </c:scaling>
        <c:delete val="1"/>
        <c:axPos val="l"/>
        <c:numFmt formatCode="General" sourceLinked="1"/>
        <c:majorTickMark val="out"/>
        <c:minorTickMark val="none"/>
        <c:tickLblPos val="nextTo"/>
        <c:crossAx val="3"/>
        <c:crosses val="autoZero"/>
        <c:crossBetween val="between"/>
      </c:valAx>
      <c:spPr>
        <a:solidFill>
          <a:srgbClr val="C0C0C0"/>
        </a:solidFill>
        <a:ln w="12635">
          <a:solidFill>
            <a:srgbClr val="808080"/>
          </a:solidFill>
          <a:prstDash val="solid"/>
        </a:ln>
        <a:effectLst/>
      </c:spPr>
    </c:plotArea>
    <c:legend>
      <c:legendPos val="b"/>
      <c:layout>
        <c:manualLayout>
          <c:xMode val="edge"/>
          <c:yMode val="edge"/>
          <c:x val="0.2622754491017964"/>
          <c:y val="0.89729729729729735"/>
          <c:w val="0.5245508982035928"/>
          <c:h val="6.4864864864864868E-2"/>
        </c:manualLayout>
      </c:layout>
      <c:overlay val="0"/>
      <c:spPr>
        <a:solidFill>
          <a:schemeClr val="bg1"/>
        </a:solidFill>
        <a:ln w="3159">
          <a:solidFill>
            <a:schemeClr val="tx1"/>
          </a:solidFill>
          <a:prstDash val="solid"/>
        </a:ln>
        <a:effectLst/>
      </c:spPr>
      <c:txPr>
        <a:bodyPr rot="0" spcFirstLastPara="1" vertOverflow="ellipsis" vert="horz" wrap="square" anchor="ctr" anchorCtr="1"/>
        <a:lstStyle/>
        <a:p>
          <a:pPr>
            <a:defRPr sz="915" b="0" i="0" u="none" strike="noStrike" kern="1200" baseline="0">
              <a:solidFill>
                <a:schemeClr val="tx1"/>
              </a:solidFill>
              <a:latin typeface="Arial"/>
              <a:ea typeface="Arial"/>
              <a:cs typeface="Arial"/>
            </a:defRPr>
          </a:pPr>
          <a:endParaRPr lang="en-US"/>
        </a:p>
      </c:txPr>
    </c:legend>
    <c:plotVisOnly val="1"/>
    <c:dispBlanksAs val="gap"/>
    <c:showDLblsOverMax val="0"/>
  </c:chart>
  <c:spPr>
    <a:noFill/>
    <a:ln w="6350" cap="flat" cmpd="sng" algn="ctr">
      <a:noFill/>
      <a:prstDash val="solid"/>
      <a:miter lim="800000"/>
    </a:ln>
    <a:effectLst/>
  </c:spPr>
  <c:txPr>
    <a:bodyPr/>
    <a:lstStyle/>
    <a:p>
      <a:pPr>
        <a:defRPr sz="995" b="0" i="0" u="none" strike="noStrike" baseline="0">
          <a:solidFill>
            <a:schemeClr val="tx1"/>
          </a:solidFill>
          <a:latin typeface="Arial"/>
          <a:ea typeface="Arial"/>
          <a:cs typeface="Aria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275449101796408E-2"/>
          <c:y val="6.2162162162162166E-2"/>
          <c:w val="0.92574850299401201"/>
          <c:h val="0.75135135135135134"/>
        </c:manualLayout>
      </c:layout>
      <c:barChart>
        <c:barDir val="col"/>
        <c:grouping val="clustered"/>
        <c:varyColors val="0"/>
        <c:ser>
          <c:idx val="1"/>
          <c:order val="0"/>
          <c:tx>
            <c:strRef>
              <c:f>Sheet1!$A$2</c:f>
              <c:strCache>
                <c:ptCount val="1"/>
                <c:pt idx="0">
                  <c:v>Required</c:v>
                </c:pt>
              </c:strCache>
            </c:strRef>
          </c:tx>
          <c:spPr>
            <a:solidFill>
              <a:schemeClr val="accent2"/>
            </a:solidFill>
            <a:ln>
              <a:noFill/>
            </a:ln>
            <a:effectLst/>
          </c:spPr>
          <c:invertIfNegative val="0"/>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Sheet1!$B$2:$V$2</c:f>
              <c:numCache>
                <c:formatCode>General</c:formatCode>
                <c:ptCount val="21"/>
                <c:pt idx="0">
                  <c:v>300</c:v>
                </c:pt>
                <c:pt idx="1">
                  <c:v>300</c:v>
                </c:pt>
                <c:pt idx="2">
                  <c:v>300</c:v>
                </c:pt>
                <c:pt idx="3">
                  <c:v>450</c:v>
                </c:pt>
                <c:pt idx="4">
                  <c:v>450</c:v>
                </c:pt>
                <c:pt idx="5">
                  <c:v>450</c:v>
                </c:pt>
                <c:pt idx="6">
                  <c:v>450</c:v>
                </c:pt>
                <c:pt idx="7">
                  <c:v>450</c:v>
                </c:pt>
                <c:pt idx="8">
                  <c:v>625</c:v>
                </c:pt>
                <c:pt idx="9">
                  <c:v>625</c:v>
                </c:pt>
                <c:pt idx="10">
                  <c:v>625</c:v>
                </c:pt>
                <c:pt idx="11">
                  <c:v>625</c:v>
                </c:pt>
                <c:pt idx="12">
                  <c:v>900</c:v>
                </c:pt>
                <c:pt idx="13">
                  <c:v>900</c:v>
                </c:pt>
                <c:pt idx="14">
                  <c:v>900</c:v>
                </c:pt>
                <c:pt idx="15">
                  <c:v>700</c:v>
                </c:pt>
                <c:pt idx="16">
                  <c:v>700</c:v>
                </c:pt>
                <c:pt idx="17">
                  <c:v>700</c:v>
                </c:pt>
                <c:pt idx="18">
                  <c:v>600</c:v>
                </c:pt>
                <c:pt idx="19">
                  <c:v>600</c:v>
                </c:pt>
                <c:pt idx="20">
                  <c:v>600</c:v>
                </c:pt>
              </c:numCache>
            </c:numRef>
          </c:val>
          <c:extLst>
            <c:ext xmlns:c16="http://schemas.microsoft.com/office/drawing/2014/chart" uri="{C3380CC4-5D6E-409C-BE32-E72D297353CC}">
              <c16:uniqueId val="{00000000-F7DB-49F5-9E82-B1E172B02E89}"/>
            </c:ext>
          </c:extLst>
        </c:ser>
        <c:dLbls>
          <c:showLegendKey val="0"/>
          <c:showVal val="0"/>
          <c:showCatName val="0"/>
          <c:showSerName val="0"/>
          <c:showPercent val="0"/>
          <c:showBubbleSize val="0"/>
        </c:dLbls>
        <c:gapWidth val="150"/>
        <c:axId val="637858783"/>
        <c:axId val="1"/>
      </c:barChart>
      <c:lineChart>
        <c:grouping val="standard"/>
        <c:varyColors val="0"/>
        <c:ser>
          <c:idx val="2"/>
          <c:order val="1"/>
          <c:tx>
            <c:strRef>
              <c:f>Sheet1!$A$3</c:f>
              <c:strCache>
                <c:ptCount val="1"/>
                <c:pt idx="0">
                  <c:v>Demonstrated</c:v>
                </c:pt>
              </c:strCache>
            </c:strRef>
          </c:tx>
          <c:spPr>
            <a:ln w="19050" cap="rnd" cmpd="sng" algn="ctr">
              <a:solidFill>
                <a:schemeClr val="accent3"/>
              </a:solidFill>
              <a:prstDash val="solid"/>
              <a:round/>
            </a:ln>
            <a:effectLst/>
          </c:spPr>
          <c:marker>
            <c:symbol val="triangle"/>
            <c:size val="4"/>
            <c:spPr>
              <a:solidFill>
                <a:schemeClr val="accent3"/>
              </a:solidFill>
              <a:ln w="6350" cap="flat" cmpd="sng" algn="ctr">
                <a:solidFill>
                  <a:schemeClr val="accent3"/>
                </a:solidFill>
                <a:prstDash val="solid"/>
                <a:round/>
              </a:ln>
              <a:effectLst/>
            </c:spPr>
          </c:marker>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Sheet1!$B$3:$V$3</c:f>
              <c:numCache>
                <c:formatCode>General</c:formatCode>
                <c:ptCount val="21"/>
                <c:pt idx="0">
                  <c:v>400</c:v>
                </c:pt>
                <c:pt idx="1">
                  <c:v>400</c:v>
                </c:pt>
                <c:pt idx="2">
                  <c:v>400</c:v>
                </c:pt>
                <c:pt idx="3">
                  <c:v>400</c:v>
                </c:pt>
                <c:pt idx="4">
                  <c:v>400</c:v>
                </c:pt>
                <c:pt idx="5">
                  <c:v>400</c:v>
                </c:pt>
                <c:pt idx="6">
                  <c:v>400</c:v>
                </c:pt>
                <c:pt idx="7">
                  <c:v>400</c:v>
                </c:pt>
                <c:pt idx="8">
                  <c:v>400</c:v>
                </c:pt>
                <c:pt idx="9">
                  <c:v>400</c:v>
                </c:pt>
                <c:pt idx="10">
                  <c:v>400</c:v>
                </c:pt>
                <c:pt idx="11">
                  <c:v>400</c:v>
                </c:pt>
                <c:pt idx="12">
                  <c:v>400</c:v>
                </c:pt>
                <c:pt idx="13">
                  <c:v>400</c:v>
                </c:pt>
                <c:pt idx="14">
                  <c:v>400</c:v>
                </c:pt>
                <c:pt idx="15">
                  <c:v>400</c:v>
                </c:pt>
                <c:pt idx="16">
                  <c:v>400</c:v>
                </c:pt>
                <c:pt idx="17">
                  <c:v>400</c:v>
                </c:pt>
                <c:pt idx="18">
                  <c:v>400</c:v>
                </c:pt>
                <c:pt idx="19">
                  <c:v>400</c:v>
                </c:pt>
                <c:pt idx="20">
                  <c:v>400</c:v>
                </c:pt>
              </c:numCache>
            </c:numRef>
          </c:val>
          <c:smooth val="0"/>
          <c:extLst>
            <c:ext xmlns:c16="http://schemas.microsoft.com/office/drawing/2014/chart" uri="{C3380CC4-5D6E-409C-BE32-E72D297353CC}">
              <c16:uniqueId val="{00000001-F7DB-49F5-9E82-B1E172B02E89}"/>
            </c:ext>
          </c:extLst>
        </c:ser>
        <c:ser>
          <c:idx val="3"/>
          <c:order val="2"/>
          <c:tx>
            <c:strRef>
              <c:f>Sheet1!$A$4</c:f>
              <c:strCache>
                <c:ptCount val="1"/>
                <c:pt idx="0">
                  <c:v>Planned</c:v>
                </c:pt>
              </c:strCache>
            </c:strRef>
          </c:tx>
          <c:spPr>
            <a:ln w="19050" cap="rnd" cmpd="sng" algn="ctr">
              <a:solidFill>
                <a:schemeClr val="accent4"/>
              </a:solidFill>
              <a:prstDash val="solid"/>
              <a:round/>
            </a:ln>
            <a:effectLst/>
          </c:spPr>
          <c:marker>
            <c:symbol val="x"/>
            <c:size val="4"/>
            <c:spPr>
              <a:noFill/>
              <a:ln w="6350" cap="flat" cmpd="sng" algn="ctr">
                <a:solidFill>
                  <a:schemeClr val="accent4"/>
                </a:solidFill>
                <a:prstDash val="solid"/>
                <a:round/>
              </a:ln>
              <a:effectLst/>
            </c:spPr>
          </c:marker>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Sheet1!$B$4:$V$4</c:f>
              <c:numCache>
                <c:formatCode>General</c:formatCode>
                <c:ptCount val="21"/>
                <c:pt idx="0">
                  <c:v>500</c:v>
                </c:pt>
                <c:pt idx="1">
                  <c:v>500</c:v>
                </c:pt>
                <c:pt idx="2">
                  <c:v>500</c:v>
                </c:pt>
                <c:pt idx="3">
                  <c:v>600</c:v>
                </c:pt>
                <c:pt idx="4">
                  <c:v>600</c:v>
                </c:pt>
                <c:pt idx="5">
                  <c:v>600</c:v>
                </c:pt>
                <c:pt idx="6">
                  <c:v>600</c:v>
                </c:pt>
                <c:pt idx="7">
                  <c:v>600</c:v>
                </c:pt>
                <c:pt idx="8">
                  <c:v>600</c:v>
                </c:pt>
                <c:pt idx="9">
                  <c:v>600</c:v>
                </c:pt>
                <c:pt idx="10">
                  <c:v>600</c:v>
                </c:pt>
                <c:pt idx="11">
                  <c:v>600</c:v>
                </c:pt>
                <c:pt idx="12">
                  <c:v>800</c:v>
                </c:pt>
                <c:pt idx="13">
                  <c:v>800</c:v>
                </c:pt>
                <c:pt idx="14">
                  <c:v>800</c:v>
                </c:pt>
                <c:pt idx="15">
                  <c:v>800</c:v>
                </c:pt>
                <c:pt idx="16">
                  <c:v>800</c:v>
                </c:pt>
                <c:pt idx="17">
                  <c:v>800</c:v>
                </c:pt>
                <c:pt idx="18">
                  <c:v>700</c:v>
                </c:pt>
                <c:pt idx="19">
                  <c:v>700</c:v>
                </c:pt>
                <c:pt idx="20">
                  <c:v>700</c:v>
                </c:pt>
              </c:numCache>
            </c:numRef>
          </c:val>
          <c:smooth val="0"/>
          <c:extLst>
            <c:ext xmlns:c16="http://schemas.microsoft.com/office/drawing/2014/chart" uri="{C3380CC4-5D6E-409C-BE32-E72D297353CC}">
              <c16:uniqueId val="{00000002-F7DB-49F5-9E82-B1E172B02E89}"/>
            </c:ext>
          </c:extLst>
        </c:ser>
        <c:ser>
          <c:idx val="0"/>
          <c:order val="3"/>
          <c:tx>
            <c:strRef>
              <c:f>Sheet1!$A$5</c:f>
              <c:strCache>
                <c:ptCount val="1"/>
                <c:pt idx="0">
                  <c:v>Max Demonstrated</c:v>
                </c:pt>
              </c:strCache>
            </c:strRef>
          </c:tx>
          <c:spPr>
            <a:ln w="19050" cap="rnd" cmpd="sng" algn="ctr">
              <a:solidFill>
                <a:schemeClr val="accent1"/>
              </a:solidFill>
              <a:prstDash val="solid"/>
              <a:round/>
            </a:ln>
            <a:effectLst/>
          </c:spPr>
          <c:marker>
            <c:symbol val="diamond"/>
            <c:size val="4"/>
            <c:spPr>
              <a:solidFill>
                <a:schemeClr val="accent1"/>
              </a:solidFill>
              <a:ln w="6350" cap="flat" cmpd="sng" algn="ctr">
                <a:solidFill>
                  <a:schemeClr val="accent1"/>
                </a:solidFill>
                <a:prstDash val="solid"/>
                <a:round/>
              </a:ln>
              <a:effectLst/>
            </c:spPr>
          </c:marker>
          <c:cat>
            <c:numRef>
              <c:f>Sheet1!$B$1:$V$1</c:f>
              <c:numCache>
                <c:formatCode>General</c:formatCode>
                <c:ptCount val="21"/>
                <c:pt idx="0">
                  <c:v>-3</c:v>
                </c:pt>
                <c:pt idx="1">
                  <c:v>-2</c:v>
                </c:pt>
                <c:pt idx="2">
                  <c:v>-1</c:v>
                </c:pt>
                <c:pt idx="3">
                  <c:v>1</c:v>
                </c:pt>
                <c:pt idx="4">
                  <c:v>2</c:v>
                </c:pt>
                <c:pt idx="5">
                  <c:v>3</c:v>
                </c:pt>
                <c:pt idx="6">
                  <c:v>4</c:v>
                </c:pt>
                <c:pt idx="7">
                  <c:v>5</c:v>
                </c:pt>
                <c:pt idx="8">
                  <c:v>6</c:v>
                </c:pt>
                <c:pt idx="9">
                  <c:v>7</c:v>
                </c:pt>
                <c:pt idx="10">
                  <c:v>8</c:v>
                </c:pt>
                <c:pt idx="11">
                  <c:v>9</c:v>
                </c:pt>
                <c:pt idx="12">
                  <c:v>10</c:v>
                </c:pt>
                <c:pt idx="13">
                  <c:v>11</c:v>
                </c:pt>
                <c:pt idx="14">
                  <c:v>12</c:v>
                </c:pt>
                <c:pt idx="15">
                  <c:v>13</c:v>
                </c:pt>
                <c:pt idx="16">
                  <c:v>14</c:v>
                </c:pt>
                <c:pt idx="17">
                  <c:v>15</c:v>
                </c:pt>
                <c:pt idx="18">
                  <c:v>16</c:v>
                </c:pt>
                <c:pt idx="19">
                  <c:v>17</c:v>
                </c:pt>
                <c:pt idx="20">
                  <c:v>18</c:v>
                </c:pt>
              </c:numCache>
            </c:numRef>
          </c:cat>
          <c:val>
            <c:numRef>
              <c:f>Sheet1!$B$5:$V$5</c:f>
              <c:numCache>
                <c:formatCode>General</c:formatCode>
                <c:ptCount val="21"/>
                <c:pt idx="0">
                  <c:v>850</c:v>
                </c:pt>
                <c:pt idx="1">
                  <c:v>850</c:v>
                </c:pt>
                <c:pt idx="2">
                  <c:v>850</c:v>
                </c:pt>
                <c:pt idx="3">
                  <c:v>850</c:v>
                </c:pt>
                <c:pt idx="4">
                  <c:v>850</c:v>
                </c:pt>
                <c:pt idx="5">
                  <c:v>850</c:v>
                </c:pt>
                <c:pt idx="6">
                  <c:v>850</c:v>
                </c:pt>
                <c:pt idx="7">
                  <c:v>850</c:v>
                </c:pt>
                <c:pt idx="8">
                  <c:v>850</c:v>
                </c:pt>
                <c:pt idx="9">
                  <c:v>850</c:v>
                </c:pt>
                <c:pt idx="10">
                  <c:v>850</c:v>
                </c:pt>
                <c:pt idx="11">
                  <c:v>850</c:v>
                </c:pt>
                <c:pt idx="12">
                  <c:v>850</c:v>
                </c:pt>
                <c:pt idx="13">
                  <c:v>850</c:v>
                </c:pt>
                <c:pt idx="14">
                  <c:v>850</c:v>
                </c:pt>
                <c:pt idx="15">
                  <c:v>850</c:v>
                </c:pt>
                <c:pt idx="16">
                  <c:v>850</c:v>
                </c:pt>
                <c:pt idx="17">
                  <c:v>850</c:v>
                </c:pt>
                <c:pt idx="18">
                  <c:v>850</c:v>
                </c:pt>
                <c:pt idx="19">
                  <c:v>850</c:v>
                </c:pt>
                <c:pt idx="20">
                  <c:v>850</c:v>
                </c:pt>
              </c:numCache>
            </c:numRef>
          </c:val>
          <c:smooth val="0"/>
          <c:extLst>
            <c:ext xmlns:c16="http://schemas.microsoft.com/office/drawing/2014/chart" uri="{C3380CC4-5D6E-409C-BE32-E72D297353CC}">
              <c16:uniqueId val="{00000003-F7DB-49F5-9E82-B1E172B02E89}"/>
            </c:ext>
          </c:extLst>
        </c:ser>
        <c:dLbls>
          <c:showLegendKey val="0"/>
          <c:showVal val="0"/>
          <c:showCatName val="0"/>
          <c:showSerName val="0"/>
          <c:showPercent val="0"/>
          <c:showBubbleSize val="0"/>
        </c:dLbls>
        <c:marker val="1"/>
        <c:smooth val="0"/>
        <c:axId val="3"/>
        <c:axId val="4"/>
      </c:lineChart>
      <c:catAx>
        <c:axId val="637858783"/>
        <c:scaling>
          <c:orientation val="minMax"/>
        </c:scaling>
        <c:delete val="0"/>
        <c:axPos val="b"/>
        <c:numFmt formatCode="General" sourceLinked="1"/>
        <c:majorTickMark val="cross"/>
        <c:minorTickMark val="none"/>
        <c:tickLblPos val="nextTo"/>
        <c:spPr>
          <a:noFill/>
          <a:ln w="3159" cap="flat" cmpd="sng" algn="ctr">
            <a:solidFill>
              <a:schemeClr val="tx1"/>
            </a:solidFill>
            <a:prstDash val="solid"/>
            <a:round/>
          </a:ln>
          <a:effectLst/>
        </c:spPr>
        <c:txPr>
          <a:bodyPr rot="0" spcFirstLastPara="1" vertOverflow="ellipsis" wrap="square" anchor="ctr" anchorCtr="1"/>
          <a:lstStyle/>
          <a:p>
            <a:pPr>
              <a:defRPr sz="300" b="1" i="0" u="none" strike="noStrike" kern="1200" baseline="0">
                <a:solidFill>
                  <a:schemeClr val="tx1"/>
                </a:solidFill>
                <a:latin typeface="+mn-lt"/>
                <a:ea typeface="Arial"/>
                <a:cs typeface="Arial"/>
              </a:defRPr>
            </a:pPr>
            <a:endParaRPr lang="en-US"/>
          </a:p>
        </c:txPr>
        <c:crossAx val="1"/>
        <c:crosses val="autoZero"/>
        <c:auto val="0"/>
        <c:lblAlgn val="ctr"/>
        <c:lblOffset val="100"/>
        <c:tickLblSkip val="1"/>
        <c:tickMarkSkip val="1"/>
        <c:noMultiLvlLbl val="0"/>
      </c:catAx>
      <c:valAx>
        <c:axId val="1"/>
        <c:scaling>
          <c:orientation val="minMax"/>
        </c:scaling>
        <c:delete val="0"/>
        <c:axPos val="l"/>
        <c:numFmt formatCode="General" sourceLinked="1"/>
        <c:majorTickMark val="cross"/>
        <c:minorTickMark val="none"/>
        <c:tickLblPos val="nextTo"/>
        <c:spPr>
          <a:noFill/>
          <a:ln w="3159" cap="flat" cmpd="sng" algn="ctr">
            <a:solidFill>
              <a:schemeClr val="tx1"/>
            </a:solidFill>
            <a:prstDash val="solid"/>
            <a:round/>
          </a:ln>
          <a:effectLst/>
        </c:spPr>
        <c:txPr>
          <a:bodyPr rot="0" spcFirstLastPara="1" vertOverflow="ellipsis" wrap="square" anchor="ctr" anchorCtr="1"/>
          <a:lstStyle/>
          <a:p>
            <a:pPr>
              <a:defRPr sz="300" b="1" i="0" u="none" strike="noStrike" kern="1200" baseline="0">
                <a:solidFill>
                  <a:schemeClr val="tx1"/>
                </a:solidFill>
                <a:latin typeface="+mn-lt"/>
                <a:ea typeface="Arial"/>
                <a:cs typeface="Arial"/>
              </a:defRPr>
            </a:pPr>
            <a:endParaRPr lang="en-US"/>
          </a:p>
        </c:txPr>
        <c:crossAx val="637858783"/>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0"/>
        <c:lblAlgn val="ctr"/>
        <c:lblOffset val="100"/>
        <c:noMultiLvlLbl val="0"/>
      </c:catAx>
      <c:valAx>
        <c:axId val="4"/>
        <c:scaling>
          <c:orientation val="minMax"/>
        </c:scaling>
        <c:delete val="1"/>
        <c:axPos val="l"/>
        <c:numFmt formatCode="General" sourceLinked="1"/>
        <c:majorTickMark val="out"/>
        <c:minorTickMark val="none"/>
        <c:tickLblPos val="nextTo"/>
        <c:crossAx val="3"/>
        <c:crosses val="autoZero"/>
        <c:crossBetween val="between"/>
      </c:valAx>
      <c:spPr>
        <a:solidFill>
          <a:srgbClr val="C0C0C0"/>
        </a:solidFill>
        <a:ln w="12635">
          <a:solidFill>
            <a:srgbClr val="808080"/>
          </a:solidFill>
          <a:prstDash val="solid"/>
        </a:ln>
        <a:effectLst/>
      </c:spPr>
    </c:plotArea>
    <c:legend>
      <c:legendPos val="b"/>
      <c:layout>
        <c:manualLayout>
          <c:xMode val="edge"/>
          <c:yMode val="edge"/>
          <c:x val="2.3022619660754605E-2"/>
          <c:y val="0.89729729729729735"/>
          <c:w val="0.94222967827467174"/>
          <c:h val="6.4864864864864868E-2"/>
        </c:manualLayout>
      </c:layout>
      <c:overlay val="0"/>
      <c:spPr>
        <a:solidFill>
          <a:schemeClr val="bg1"/>
        </a:solidFill>
        <a:ln w="3159">
          <a:solidFill>
            <a:schemeClr val="tx1"/>
          </a:solidFill>
          <a:prstDash val="solid"/>
        </a:ln>
        <a:effectLst/>
      </c:spPr>
      <c:txPr>
        <a:bodyPr rot="0" spcFirstLastPara="1" vertOverflow="ellipsis" vert="horz" wrap="square" anchor="ctr" anchorCtr="1"/>
        <a:lstStyle/>
        <a:p>
          <a:pPr>
            <a:defRPr sz="600" b="0" i="0" u="none" strike="noStrike" kern="1200" baseline="0">
              <a:solidFill>
                <a:schemeClr val="tx1"/>
              </a:solidFill>
              <a:latin typeface="+mn-lt"/>
              <a:ea typeface="Arial"/>
              <a:cs typeface="Arial"/>
            </a:defRPr>
          </a:pPr>
          <a:endParaRPr lang="en-US"/>
        </a:p>
      </c:txPr>
    </c:legend>
    <c:plotVisOnly val="1"/>
    <c:dispBlanksAs val="gap"/>
    <c:showDLblsOverMax val="0"/>
  </c:chart>
  <c:spPr>
    <a:noFill/>
    <a:ln w="6350" cap="flat" cmpd="sng" algn="ctr">
      <a:noFill/>
      <a:prstDash val="solid"/>
      <a:miter lim="800000"/>
    </a:ln>
    <a:effectLst/>
  </c:spPr>
  <c:txPr>
    <a:bodyPr/>
    <a:lstStyle/>
    <a:p>
      <a:pPr>
        <a:defRPr sz="995" b="0" i="0" u="none" strike="noStrike" baseline="0">
          <a:solidFill>
            <a:schemeClr val="tx1"/>
          </a:solidFill>
          <a:latin typeface="Arial"/>
          <a:ea typeface="Arial"/>
          <a:cs typeface="Aria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204286323653174"/>
          <c:y val="1.9721172043572686E-2"/>
          <c:w val="0.82130965593784688"/>
          <c:h val="0.63513513513513509"/>
        </c:manualLayout>
      </c:layout>
      <c:barChart>
        <c:barDir val="col"/>
        <c:grouping val="clustered"/>
        <c:varyColors val="0"/>
        <c:ser>
          <c:idx val="1"/>
          <c:order val="0"/>
          <c:tx>
            <c:strRef>
              <c:f>Sheet1!$A$2</c:f>
              <c:strCache>
                <c:ptCount val="1"/>
                <c:pt idx="0">
                  <c:v>Business Plan</c:v>
                </c:pt>
              </c:strCache>
            </c:strRef>
          </c:tx>
          <c:spPr>
            <a:solidFill>
              <a:schemeClr val="accent3"/>
            </a:solidFill>
            <a:ln>
              <a:noFill/>
            </a:ln>
            <a:effectLst/>
          </c:spPr>
          <c:invertIfNegative val="0"/>
          <c:cat>
            <c:strRef>
              <c:f>Sheet1!$B$1:$V$1</c:f>
              <c:strCache>
                <c:ptCount val="21"/>
                <c:pt idx="0">
                  <c:v> Jan 03</c:v>
                </c:pt>
                <c:pt idx="1">
                  <c:v>Feb 03</c:v>
                </c:pt>
                <c:pt idx="2">
                  <c:v>Mar 03</c:v>
                </c:pt>
                <c:pt idx="3">
                  <c:v>Apr 03</c:v>
                </c:pt>
                <c:pt idx="4">
                  <c:v>May 03</c:v>
                </c:pt>
                <c:pt idx="5">
                  <c:v>Jun 03</c:v>
                </c:pt>
                <c:pt idx="6">
                  <c:v>Jul 03</c:v>
                </c:pt>
                <c:pt idx="7">
                  <c:v>Aug 03</c:v>
                </c:pt>
                <c:pt idx="8">
                  <c:v>Sep 03</c:v>
                </c:pt>
                <c:pt idx="9">
                  <c:v>Oct 03</c:v>
                </c:pt>
                <c:pt idx="10">
                  <c:v>Nov 03</c:v>
                </c:pt>
                <c:pt idx="11">
                  <c:v>Dec 03</c:v>
                </c:pt>
                <c:pt idx="12">
                  <c:v>Jan 04</c:v>
                </c:pt>
                <c:pt idx="13">
                  <c:v>Feb 04</c:v>
                </c:pt>
                <c:pt idx="14">
                  <c:v>Mar 04</c:v>
                </c:pt>
                <c:pt idx="15">
                  <c:v>Apr 04</c:v>
                </c:pt>
                <c:pt idx="16">
                  <c:v>May 04</c:v>
                </c:pt>
                <c:pt idx="17">
                  <c:v>Jun 04</c:v>
                </c:pt>
                <c:pt idx="18">
                  <c:v>Jul 04</c:v>
                </c:pt>
                <c:pt idx="19">
                  <c:v>Aug 04</c:v>
                </c:pt>
                <c:pt idx="20">
                  <c:v>Sep 04</c:v>
                </c:pt>
              </c:strCache>
            </c:strRef>
          </c:cat>
          <c:val>
            <c:numRef>
              <c:f>Sheet1!$B$2:$V$2</c:f>
              <c:numCache>
                <c:formatCode>General</c:formatCode>
                <c:ptCount val="21"/>
                <c:pt idx="0">
                  <c:v>300</c:v>
                </c:pt>
                <c:pt idx="1">
                  <c:v>325</c:v>
                </c:pt>
                <c:pt idx="2">
                  <c:v>375</c:v>
                </c:pt>
                <c:pt idx="3">
                  <c:v>465</c:v>
                </c:pt>
                <c:pt idx="4">
                  <c:v>550</c:v>
                </c:pt>
                <c:pt idx="5">
                  <c:v>800</c:v>
                </c:pt>
                <c:pt idx="6">
                  <c:v>720</c:v>
                </c:pt>
                <c:pt idx="7">
                  <c:v>690</c:v>
                </c:pt>
                <c:pt idx="8">
                  <c:v>565</c:v>
                </c:pt>
                <c:pt idx="9">
                  <c:v>750</c:v>
                </c:pt>
                <c:pt idx="10">
                  <c:v>800</c:v>
                </c:pt>
                <c:pt idx="11">
                  <c:v>850</c:v>
                </c:pt>
                <c:pt idx="12">
                  <c:v>800</c:v>
                </c:pt>
                <c:pt idx="13">
                  <c:v>675</c:v>
                </c:pt>
                <c:pt idx="14">
                  <c:v>750</c:v>
                </c:pt>
                <c:pt idx="15">
                  <c:v>550</c:v>
                </c:pt>
                <c:pt idx="16">
                  <c:v>525</c:v>
                </c:pt>
                <c:pt idx="17">
                  <c:v>475</c:v>
                </c:pt>
                <c:pt idx="18">
                  <c:v>400</c:v>
                </c:pt>
                <c:pt idx="19">
                  <c:v>375</c:v>
                </c:pt>
                <c:pt idx="20">
                  <c:v>400</c:v>
                </c:pt>
              </c:numCache>
            </c:numRef>
          </c:val>
          <c:extLst>
            <c:ext xmlns:c16="http://schemas.microsoft.com/office/drawing/2014/chart" uri="{C3380CC4-5D6E-409C-BE32-E72D297353CC}">
              <c16:uniqueId val="{00000000-8960-431A-BFEC-8A417329BF08}"/>
            </c:ext>
          </c:extLst>
        </c:ser>
        <c:dLbls>
          <c:showLegendKey val="0"/>
          <c:showVal val="0"/>
          <c:showCatName val="0"/>
          <c:showSerName val="0"/>
          <c:showPercent val="0"/>
          <c:showBubbleSize val="0"/>
        </c:dLbls>
        <c:gapWidth val="150"/>
        <c:axId val="2104568287"/>
        <c:axId val="1"/>
      </c:barChart>
      <c:lineChart>
        <c:grouping val="standard"/>
        <c:varyColors val="0"/>
        <c:ser>
          <c:idx val="2"/>
          <c:order val="1"/>
          <c:tx>
            <c:strRef>
              <c:f>Sheet1!$A$3</c:f>
              <c:strCache>
                <c:ptCount val="1"/>
                <c:pt idx="0">
                  <c:v>Statistical Forecast</c:v>
                </c:pt>
              </c:strCache>
            </c:strRef>
          </c:tx>
          <c:spPr>
            <a:ln w="19050" cap="rnd" cmpd="sng" algn="ctr">
              <a:solidFill>
                <a:schemeClr val="accent5"/>
              </a:solidFill>
              <a:prstDash val="solid"/>
              <a:round/>
            </a:ln>
            <a:effectLst/>
          </c:spPr>
          <c:marker>
            <c:symbol val="triangle"/>
            <c:size val="7"/>
            <c:spPr>
              <a:solidFill>
                <a:schemeClr val="accent5"/>
              </a:solidFill>
              <a:ln w="6350" cap="flat" cmpd="sng" algn="ctr">
                <a:solidFill>
                  <a:schemeClr val="accent5"/>
                </a:solidFill>
                <a:prstDash val="solid"/>
                <a:round/>
              </a:ln>
              <a:effectLst/>
            </c:spPr>
          </c:marker>
          <c:cat>
            <c:strRef>
              <c:f>Sheet1!$B$1:$V$1</c:f>
              <c:strCache>
                <c:ptCount val="21"/>
                <c:pt idx="0">
                  <c:v> Jan 03</c:v>
                </c:pt>
                <c:pt idx="1">
                  <c:v>Feb 03</c:v>
                </c:pt>
                <c:pt idx="2">
                  <c:v>Mar 03</c:v>
                </c:pt>
                <c:pt idx="3">
                  <c:v>Apr 03</c:v>
                </c:pt>
                <c:pt idx="4">
                  <c:v>May 03</c:v>
                </c:pt>
                <c:pt idx="5">
                  <c:v>Jun 03</c:v>
                </c:pt>
                <c:pt idx="6">
                  <c:v>Jul 03</c:v>
                </c:pt>
                <c:pt idx="7">
                  <c:v>Aug 03</c:v>
                </c:pt>
                <c:pt idx="8">
                  <c:v>Sep 03</c:v>
                </c:pt>
                <c:pt idx="9">
                  <c:v>Oct 03</c:v>
                </c:pt>
                <c:pt idx="10">
                  <c:v>Nov 03</c:v>
                </c:pt>
                <c:pt idx="11">
                  <c:v>Dec 03</c:v>
                </c:pt>
                <c:pt idx="12">
                  <c:v>Jan 04</c:v>
                </c:pt>
                <c:pt idx="13">
                  <c:v>Feb 04</c:v>
                </c:pt>
                <c:pt idx="14">
                  <c:v>Mar 04</c:v>
                </c:pt>
                <c:pt idx="15">
                  <c:v>Apr 04</c:v>
                </c:pt>
                <c:pt idx="16">
                  <c:v>May 04</c:v>
                </c:pt>
                <c:pt idx="17">
                  <c:v>Jun 04</c:v>
                </c:pt>
                <c:pt idx="18">
                  <c:v>Jul 04</c:v>
                </c:pt>
                <c:pt idx="19">
                  <c:v>Aug 04</c:v>
                </c:pt>
                <c:pt idx="20">
                  <c:v>Sep 04</c:v>
                </c:pt>
              </c:strCache>
            </c:strRef>
          </c:cat>
          <c:val>
            <c:numRef>
              <c:f>Sheet1!$B$3:$V$3</c:f>
              <c:numCache>
                <c:formatCode>General</c:formatCode>
                <c:ptCount val="21"/>
                <c:pt idx="0">
                  <c:v>325</c:v>
                </c:pt>
                <c:pt idx="1">
                  <c:v>350</c:v>
                </c:pt>
                <c:pt idx="2">
                  <c:v>375</c:v>
                </c:pt>
                <c:pt idx="3">
                  <c:v>525</c:v>
                </c:pt>
                <c:pt idx="4">
                  <c:v>560</c:v>
                </c:pt>
                <c:pt idx="5">
                  <c:v>820</c:v>
                </c:pt>
                <c:pt idx="6">
                  <c:v>700</c:v>
                </c:pt>
                <c:pt idx="7">
                  <c:v>600</c:v>
                </c:pt>
                <c:pt idx="8">
                  <c:v>550</c:v>
                </c:pt>
                <c:pt idx="9">
                  <c:v>700</c:v>
                </c:pt>
                <c:pt idx="10">
                  <c:v>750</c:v>
                </c:pt>
                <c:pt idx="11">
                  <c:v>825</c:v>
                </c:pt>
                <c:pt idx="12">
                  <c:v>825</c:v>
                </c:pt>
                <c:pt idx="13">
                  <c:v>600</c:v>
                </c:pt>
                <c:pt idx="14">
                  <c:v>700</c:v>
                </c:pt>
                <c:pt idx="15">
                  <c:v>500</c:v>
                </c:pt>
                <c:pt idx="16">
                  <c:v>600</c:v>
                </c:pt>
                <c:pt idx="17">
                  <c:v>500</c:v>
                </c:pt>
                <c:pt idx="18">
                  <c:v>350</c:v>
                </c:pt>
                <c:pt idx="19">
                  <c:v>325</c:v>
                </c:pt>
                <c:pt idx="20">
                  <c:v>350</c:v>
                </c:pt>
              </c:numCache>
            </c:numRef>
          </c:val>
          <c:smooth val="0"/>
          <c:extLst>
            <c:ext xmlns:c16="http://schemas.microsoft.com/office/drawing/2014/chart" uri="{C3380CC4-5D6E-409C-BE32-E72D297353CC}">
              <c16:uniqueId val="{00000001-8960-431A-BFEC-8A417329BF08}"/>
            </c:ext>
          </c:extLst>
        </c:ser>
        <c:ser>
          <c:idx val="3"/>
          <c:order val="2"/>
          <c:tx>
            <c:strRef>
              <c:f>Sheet1!$A$4</c:f>
              <c:strCache>
                <c:ptCount val="1"/>
                <c:pt idx="0">
                  <c:v>Stretch Plan</c:v>
                </c:pt>
              </c:strCache>
            </c:strRef>
          </c:tx>
          <c:spPr>
            <a:ln w="19050" cap="rnd" cmpd="sng" algn="ctr">
              <a:solidFill>
                <a:schemeClr val="accent1">
                  <a:lumMod val="60000"/>
                </a:schemeClr>
              </a:solidFill>
              <a:prstDash val="solid"/>
              <a:round/>
            </a:ln>
            <a:effectLst/>
          </c:spPr>
          <c:marker>
            <c:symbol val="x"/>
            <c:size val="7"/>
            <c:spPr>
              <a:noFill/>
              <a:ln w="6350" cap="flat" cmpd="sng" algn="ctr">
                <a:solidFill>
                  <a:schemeClr val="accent1">
                    <a:lumMod val="60000"/>
                  </a:schemeClr>
                </a:solidFill>
                <a:prstDash val="solid"/>
                <a:round/>
              </a:ln>
              <a:effectLst/>
            </c:spPr>
          </c:marker>
          <c:cat>
            <c:strRef>
              <c:f>Sheet1!$B$1:$V$1</c:f>
              <c:strCache>
                <c:ptCount val="21"/>
                <c:pt idx="0">
                  <c:v> Jan 03</c:v>
                </c:pt>
                <c:pt idx="1">
                  <c:v>Feb 03</c:v>
                </c:pt>
                <c:pt idx="2">
                  <c:v>Mar 03</c:v>
                </c:pt>
                <c:pt idx="3">
                  <c:v>Apr 03</c:v>
                </c:pt>
                <c:pt idx="4">
                  <c:v>May 03</c:v>
                </c:pt>
                <c:pt idx="5">
                  <c:v>Jun 03</c:v>
                </c:pt>
                <c:pt idx="6">
                  <c:v>Jul 03</c:v>
                </c:pt>
                <c:pt idx="7">
                  <c:v>Aug 03</c:v>
                </c:pt>
                <c:pt idx="8">
                  <c:v>Sep 03</c:v>
                </c:pt>
                <c:pt idx="9">
                  <c:v>Oct 03</c:v>
                </c:pt>
                <c:pt idx="10">
                  <c:v>Nov 03</c:v>
                </c:pt>
                <c:pt idx="11">
                  <c:v>Dec 03</c:v>
                </c:pt>
                <c:pt idx="12">
                  <c:v>Jan 04</c:v>
                </c:pt>
                <c:pt idx="13">
                  <c:v>Feb 04</c:v>
                </c:pt>
                <c:pt idx="14">
                  <c:v>Mar 04</c:v>
                </c:pt>
                <c:pt idx="15">
                  <c:v>Apr 04</c:v>
                </c:pt>
                <c:pt idx="16">
                  <c:v>May 04</c:v>
                </c:pt>
                <c:pt idx="17">
                  <c:v>Jun 04</c:v>
                </c:pt>
                <c:pt idx="18">
                  <c:v>Jul 04</c:v>
                </c:pt>
                <c:pt idx="19">
                  <c:v>Aug 04</c:v>
                </c:pt>
                <c:pt idx="20">
                  <c:v>Sep 04</c:v>
                </c:pt>
              </c:strCache>
            </c:strRef>
          </c:cat>
          <c:val>
            <c:numRef>
              <c:f>Sheet1!$B$4:$V$4</c:f>
              <c:numCache>
                <c:formatCode>General</c:formatCode>
                <c:ptCount val="21"/>
                <c:pt idx="0">
                  <c:v>400</c:v>
                </c:pt>
                <c:pt idx="1">
                  <c:v>450</c:v>
                </c:pt>
                <c:pt idx="2">
                  <c:v>400</c:v>
                </c:pt>
                <c:pt idx="3">
                  <c:v>500</c:v>
                </c:pt>
                <c:pt idx="4">
                  <c:v>600</c:v>
                </c:pt>
                <c:pt idx="5">
                  <c:v>900</c:v>
                </c:pt>
                <c:pt idx="6">
                  <c:v>850</c:v>
                </c:pt>
                <c:pt idx="7">
                  <c:v>750</c:v>
                </c:pt>
                <c:pt idx="8">
                  <c:v>600</c:v>
                </c:pt>
                <c:pt idx="9">
                  <c:v>800</c:v>
                </c:pt>
                <c:pt idx="10">
                  <c:v>875</c:v>
                </c:pt>
                <c:pt idx="11">
                  <c:v>950</c:v>
                </c:pt>
                <c:pt idx="12">
                  <c:v>850</c:v>
                </c:pt>
                <c:pt idx="13">
                  <c:v>725</c:v>
                </c:pt>
                <c:pt idx="14">
                  <c:v>800</c:v>
                </c:pt>
                <c:pt idx="15">
                  <c:v>600</c:v>
                </c:pt>
                <c:pt idx="16">
                  <c:v>600</c:v>
                </c:pt>
                <c:pt idx="17">
                  <c:v>500</c:v>
                </c:pt>
                <c:pt idx="18">
                  <c:v>475</c:v>
                </c:pt>
                <c:pt idx="19">
                  <c:v>450</c:v>
                </c:pt>
                <c:pt idx="20">
                  <c:v>550</c:v>
                </c:pt>
              </c:numCache>
            </c:numRef>
          </c:val>
          <c:smooth val="0"/>
          <c:extLst>
            <c:ext xmlns:c16="http://schemas.microsoft.com/office/drawing/2014/chart" uri="{C3380CC4-5D6E-409C-BE32-E72D297353CC}">
              <c16:uniqueId val="{00000002-8960-431A-BFEC-8A417329BF08}"/>
            </c:ext>
          </c:extLst>
        </c:ser>
        <c:dLbls>
          <c:showLegendKey val="0"/>
          <c:showVal val="0"/>
          <c:showCatName val="0"/>
          <c:showSerName val="0"/>
          <c:showPercent val="0"/>
          <c:showBubbleSize val="0"/>
        </c:dLbls>
        <c:marker val="1"/>
        <c:smooth val="0"/>
        <c:axId val="3"/>
        <c:axId val="4"/>
      </c:lineChart>
      <c:catAx>
        <c:axId val="2104568287"/>
        <c:scaling>
          <c:orientation val="minMax"/>
        </c:scaling>
        <c:delete val="0"/>
        <c:axPos val="b"/>
        <c:numFmt formatCode="General" sourceLinked="1"/>
        <c:majorTickMark val="cross"/>
        <c:minorTickMark val="none"/>
        <c:tickLblPos val="nextTo"/>
        <c:spPr>
          <a:noFill/>
          <a:ln w="3159" cap="flat" cmpd="sng" algn="ctr">
            <a:solidFill>
              <a:schemeClr val="tx1"/>
            </a:solidFill>
            <a:prstDash val="solid"/>
            <a:round/>
          </a:ln>
          <a:effectLst/>
        </c:spPr>
        <c:txPr>
          <a:bodyPr rot="0" spcFirstLastPara="1" vertOverflow="ellipsis" wrap="square" anchor="ctr" anchorCtr="1"/>
          <a:lstStyle/>
          <a:p>
            <a:pPr>
              <a:defRPr sz="995" b="0" i="0" u="none" strike="noStrike" kern="1200" baseline="0">
                <a:solidFill>
                  <a:schemeClr val="tx1"/>
                </a:solidFill>
                <a:latin typeface="+mn-lt"/>
                <a:ea typeface="Arial"/>
                <a:cs typeface="Arial"/>
              </a:defRPr>
            </a:pPr>
            <a:endParaRPr lang="en-US"/>
          </a:p>
        </c:txPr>
        <c:crossAx val="1"/>
        <c:crosses val="autoZero"/>
        <c:auto val="0"/>
        <c:lblAlgn val="ctr"/>
        <c:lblOffset val="100"/>
        <c:tickMarkSkip val="1"/>
        <c:noMultiLvlLbl val="0"/>
      </c:catAx>
      <c:valAx>
        <c:axId val="1"/>
        <c:scaling>
          <c:orientation val="minMax"/>
        </c:scaling>
        <c:delete val="0"/>
        <c:axPos val="l"/>
        <c:numFmt formatCode="General" sourceLinked="1"/>
        <c:majorTickMark val="cross"/>
        <c:minorTickMark val="none"/>
        <c:tickLblPos val="nextTo"/>
        <c:spPr>
          <a:noFill/>
          <a:ln w="3159" cap="flat" cmpd="sng" algn="ctr">
            <a:solidFill>
              <a:schemeClr val="tx1"/>
            </a:solidFill>
            <a:prstDash val="solid"/>
            <a:round/>
          </a:ln>
          <a:effectLst/>
        </c:spPr>
        <c:txPr>
          <a:bodyPr rot="0" spcFirstLastPara="1" vertOverflow="ellipsis" wrap="square" anchor="ctr" anchorCtr="1"/>
          <a:lstStyle/>
          <a:p>
            <a:pPr>
              <a:defRPr sz="995" b="0" i="0" u="none" strike="noStrike" kern="1200" baseline="0">
                <a:solidFill>
                  <a:schemeClr val="tx1"/>
                </a:solidFill>
                <a:latin typeface="+mn-lt"/>
                <a:ea typeface="Arial"/>
                <a:cs typeface="Arial"/>
              </a:defRPr>
            </a:pPr>
            <a:endParaRPr lang="en-US"/>
          </a:p>
        </c:txPr>
        <c:crossAx val="2104568287"/>
        <c:crosses val="autoZero"/>
        <c:crossBetween val="between"/>
      </c:valAx>
      <c:catAx>
        <c:axId val="3"/>
        <c:scaling>
          <c:orientation val="minMax"/>
        </c:scaling>
        <c:delete val="1"/>
        <c:axPos val="b"/>
        <c:numFmt formatCode="General" sourceLinked="1"/>
        <c:majorTickMark val="out"/>
        <c:minorTickMark val="none"/>
        <c:tickLblPos val="nextTo"/>
        <c:crossAx val="4"/>
        <c:crosses val="autoZero"/>
        <c:auto val="0"/>
        <c:lblAlgn val="ctr"/>
        <c:lblOffset val="100"/>
        <c:noMultiLvlLbl val="0"/>
      </c:catAx>
      <c:valAx>
        <c:axId val="4"/>
        <c:scaling>
          <c:orientation val="minMax"/>
        </c:scaling>
        <c:delete val="1"/>
        <c:axPos val="l"/>
        <c:numFmt formatCode="General" sourceLinked="1"/>
        <c:majorTickMark val="out"/>
        <c:minorTickMark val="none"/>
        <c:tickLblPos val="nextTo"/>
        <c:crossAx val="3"/>
        <c:crosses val="autoZero"/>
        <c:crossBetween val="between"/>
      </c:valAx>
      <c:dTable>
        <c:showHorzBorder val="1"/>
        <c:showVertBorder val="1"/>
        <c:showOutline val="1"/>
        <c:showKeys val="1"/>
        <c:spPr>
          <a:noFill/>
          <a:ln w="3159" cap="flat" cmpd="sng" algn="ctr">
            <a:solidFill>
              <a:schemeClr val="tx1"/>
            </a:solidFill>
            <a:prstDash val="solid"/>
            <a:round/>
          </a:ln>
          <a:effectLst/>
        </c:spPr>
        <c:txPr>
          <a:bodyPr rot="0" spcFirstLastPara="1" vertOverflow="ellipsis" vert="horz" wrap="square" anchor="ctr" anchorCtr="1"/>
          <a:lstStyle/>
          <a:p>
            <a:pPr rtl="0">
              <a:defRPr sz="995" b="0" i="0" u="none" strike="noStrike" kern="1200" baseline="0">
                <a:solidFill>
                  <a:schemeClr val="tx1"/>
                </a:solidFill>
                <a:latin typeface="+mn-lt"/>
                <a:ea typeface="Arial"/>
                <a:cs typeface="Arial"/>
              </a:defRPr>
            </a:pPr>
            <a:endParaRPr lang="en-US"/>
          </a:p>
        </c:txPr>
      </c:dTable>
      <c:spPr>
        <a:solidFill>
          <a:srgbClr val="C0C0C0"/>
        </a:solidFill>
        <a:ln w="12636">
          <a:solidFill>
            <a:srgbClr val="808080"/>
          </a:solidFill>
          <a:prstDash val="solid"/>
        </a:ln>
        <a:effectLst/>
      </c:spPr>
    </c:plotArea>
    <c:legend>
      <c:legendPos val="b"/>
      <c:layout>
        <c:manualLayout>
          <c:xMode val="edge"/>
          <c:yMode val="edge"/>
          <c:x val="0.29558178946518948"/>
          <c:y val="0.90093732181954456"/>
          <c:w val="0.53385127635960039"/>
          <c:h val="6.9344750571214225E-2"/>
        </c:manualLayout>
      </c:layout>
      <c:overlay val="0"/>
      <c:spPr>
        <a:solidFill>
          <a:schemeClr val="bg1"/>
        </a:solidFill>
        <a:ln w="3159">
          <a:solidFill>
            <a:schemeClr val="tx1"/>
          </a:solidFill>
          <a:prstDash val="solid"/>
        </a:ln>
        <a:effectLst/>
      </c:spPr>
      <c:txPr>
        <a:bodyPr rot="0" spcFirstLastPara="1" vertOverflow="ellipsis" vert="horz" wrap="square" anchor="ctr" anchorCtr="1"/>
        <a:lstStyle/>
        <a:p>
          <a:pPr>
            <a:defRPr sz="995" b="0" i="0" u="none" strike="noStrike" kern="1200" baseline="0">
              <a:solidFill>
                <a:schemeClr val="tx1"/>
              </a:solidFill>
              <a:latin typeface="+mn-lt"/>
              <a:ea typeface="Arial"/>
              <a:cs typeface="Arial"/>
            </a:defRPr>
          </a:pPr>
          <a:endParaRPr lang="en-US"/>
        </a:p>
      </c:txPr>
    </c:legend>
    <c:plotVisOnly val="1"/>
    <c:dispBlanksAs val="gap"/>
    <c:showDLblsOverMax val="0"/>
  </c:chart>
  <c:spPr>
    <a:noFill/>
    <a:ln w="6350" cap="flat" cmpd="sng" algn="ctr">
      <a:noFill/>
      <a:prstDash val="solid"/>
      <a:miter lim="800000"/>
    </a:ln>
    <a:effectLst/>
  </c:spPr>
  <c:txPr>
    <a:bodyPr/>
    <a:lstStyle/>
    <a:p>
      <a:pPr>
        <a:defRPr sz="995" b="0" i="0" u="none" strike="noStrike" baseline="0">
          <a:solidFill>
            <a:schemeClr val="tx1"/>
          </a:solidFill>
          <a:latin typeface="+mn-lt"/>
          <a:ea typeface="Arial"/>
          <a:cs typeface="Aria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0909090909090912E-2"/>
          <c:y val="5.2757793764988008E-2"/>
          <c:w val="0.88888888888888884"/>
          <c:h val="0.7769784172661871"/>
        </c:manualLayout>
      </c:layout>
      <c:barChart>
        <c:barDir val="col"/>
        <c:grouping val="clustered"/>
        <c:varyColors val="0"/>
        <c:ser>
          <c:idx val="0"/>
          <c:order val="0"/>
          <c:tx>
            <c:strRef>
              <c:f>Sheet1!$A$2</c:f>
              <c:strCache>
                <c:ptCount val="1"/>
                <c:pt idx="0">
                  <c:v>Laggards</c:v>
                </c:pt>
              </c:strCache>
            </c:strRef>
          </c:tx>
          <c:spPr>
            <a:solidFill>
              <a:schemeClr val="accent1"/>
            </a:solidFill>
            <a:ln>
              <a:noFill/>
            </a:ln>
            <a:effectLst/>
          </c:spPr>
          <c:invertIfNegative val="0"/>
          <c:cat>
            <c:strRef>
              <c:f>Sheet1!$B$1:$D$1</c:f>
              <c:strCache>
                <c:ptCount val="3"/>
                <c:pt idx="0">
                  <c:v>OSCOT</c:v>
                </c:pt>
                <c:pt idx="1">
                  <c:v>% Gross Margin</c:v>
                </c:pt>
                <c:pt idx="2">
                  <c:v>% Customer Retention</c:v>
                </c:pt>
              </c:strCache>
            </c:strRef>
          </c:cat>
          <c:val>
            <c:numRef>
              <c:f>Sheet1!$B$2:$D$2</c:f>
              <c:numCache>
                <c:formatCode>General</c:formatCode>
                <c:ptCount val="3"/>
                <c:pt idx="0">
                  <c:v>78</c:v>
                </c:pt>
                <c:pt idx="1">
                  <c:v>30</c:v>
                </c:pt>
                <c:pt idx="2">
                  <c:v>70</c:v>
                </c:pt>
              </c:numCache>
            </c:numRef>
          </c:val>
          <c:extLst>
            <c:ext xmlns:c16="http://schemas.microsoft.com/office/drawing/2014/chart" uri="{C3380CC4-5D6E-409C-BE32-E72D297353CC}">
              <c16:uniqueId val="{00000000-A3A4-4B14-981A-E00DDD07D0E7}"/>
            </c:ext>
          </c:extLst>
        </c:ser>
        <c:ser>
          <c:idx val="1"/>
          <c:order val="1"/>
          <c:tx>
            <c:strRef>
              <c:f>Sheet1!$A$3</c:f>
              <c:strCache>
                <c:ptCount val="1"/>
                <c:pt idx="0">
                  <c:v>Industry Norm</c:v>
                </c:pt>
              </c:strCache>
            </c:strRef>
          </c:tx>
          <c:spPr>
            <a:solidFill>
              <a:schemeClr val="accent2"/>
            </a:solidFill>
            <a:ln>
              <a:noFill/>
            </a:ln>
            <a:effectLst/>
          </c:spPr>
          <c:invertIfNegative val="0"/>
          <c:cat>
            <c:strRef>
              <c:f>Sheet1!$B$1:$D$1</c:f>
              <c:strCache>
                <c:ptCount val="3"/>
                <c:pt idx="0">
                  <c:v>OSCOT</c:v>
                </c:pt>
                <c:pt idx="1">
                  <c:v>% Gross Margin</c:v>
                </c:pt>
                <c:pt idx="2">
                  <c:v>% Customer Retention</c:v>
                </c:pt>
              </c:strCache>
            </c:strRef>
          </c:cat>
          <c:val>
            <c:numRef>
              <c:f>Sheet1!$B$3:$D$3</c:f>
              <c:numCache>
                <c:formatCode>General</c:formatCode>
                <c:ptCount val="3"/>
                <c:pt idx="0">
                  <c:v>83</c:v>
                </c:pt>
                <c:pt idx="1">
                  <c:v>38</c:v>
                </c:pt>
                <c:pt idx="2">
                  <c:v>84</c:v>
                </c:pt>
              </c:numCache>
            </c:numRef>
          </c:val>
          <c:extLst>
            <c:ext xmlns:c16="http://schemas.microsoft.com/office/drawing/2014/chart" uri="{C3380CC4-5D6E-409C-BE32-E72D297353CC}">
              <c16:uniqueId val="{00000001-A3A4-4B14-981A-E00DDD07D0E7}"/>
            </c:ext>
          </c:extLst>
        </c:ser>
        <c:ser>
          <c:idx val="2"/>
          <c:order val="2"/>
          <c:tx>
            <c:strRef>
              <c:f>Sheet1!$A$4</c:f>
              <c:strCache>
                <c:ptCount val="1"/>
                <c:pt idx="0">
                  <c:v>Best In Class</c:v>
                </c:pt>
              </c:strCache>
            </c:strRef>
          </c:tx>
          <c:spPr>
            <a:solidFill>
              <a:schemeClr val="accent3"/>
            </a:solidFill>
            <a:ln>
              <a:noFill/>
            </a:ln>
            <a:effectLst/>
          </c:spPr>
          <c:invertIfNegative val="0"/>
          <c:cat>
            <c:strRef>
              <c:f>Sheet1!$B$1:$D$1</c:f>
              <c:strCache>
                <c:ptCount val="3"/>
                <c:pt idx="0">
                  <c:v>OSCOT</c:v>
                </c:pt>
                <c:pt idx="1">
                  <c:v>% Gross Margin</c:v>
                </c:pt>
                <c:pt idx="2">
                  <c:v>% Customer Retention</c:v>
                </c:pt>
              </c:strCache>
            </c:strRef>
          </c:cat>
          <c:val>
            <c:numRef>
              <c:f>Sheet1!$B$4:$D$4</c:f>
              <c:numCache>
                <c:formatCode>General</c:formatCode>
                <c:ptCount val="3"/>
                <c:pt idx="0">
                  <c:v>95</c:v>
                </c:pt>
                <c:pt idx="1">
                  <c:v>52</c:v>
                </c:pt>
                <c:pt idx="2">
                  <c:v>92</c:v>
                </c:pt>
              </c:numCache>
            </c:numRef>
          </c:val>
          <c:extLst>
            <c:ext xmlns:c16="http://schemas.microsoft.com/office/drawing/2014/chart" uri="{C3380CC4-5D6E-409C-BE32-E72D297353CC}">
              <c16:uniqueId val="{00000002-A3A4-4B14-981A-E00DDD07D0E7}"/>
            </c:ext>
          </c:extLst>
        </c:ser>
        <c:dLbls>
          <c:showLegendKey val="0"/>
          <c:showVal val="0"/>
          <c:showCatName val="0"/>
          <c:showSerName val="0"/>
          <c:showPercent val="0"/>
          <c:showBubbleSize val="0"/>
        </c:dLbls>
        <c:gapWidth val="150"/>
        <c:axId val="793011136"/>
        <c:axId val="1"/>
      </c:barChart>
      <c:catAx>
        <c:axId val="793011136"/>
        <c:scaling>
          <c:orientation val="minMax"/>
        </c:scaling>
        <c:delete val="0"/>
        <c:axPos val="b"/>
        <c:numFmt formatCode="General" sourceLinked="1"/>
        <c:majorTickMark val="out"/>
        <c:minorTickMark val="none"/>
        <c:tickLblPos val="nextTo"/>
        <c:spPr>
          <a:noFill/>
          <a:ln w="3158" cap="flat" cmpd="sng" algn="ctr">
            <a:solidFill>
              <a:schemeClr val="tx1"/>
            </a:solidFill>
            <a:prstDash val="solid"/>
            <a:round/>
          </a:ln>
          <a:effectLst/>
        </c:spPr>
        <c:txPr>
          <a:bodyPr rot="0" spcFirstLastPara="1" vertOverflow="ellipsis" vert="horz" wrap="square" anchor="ctr" anchorCtr="1"/>
          <a:lstStyle/>
          <a:p>
            <a:pPr>
              <a:defRPr sz="945" b="1" i="0" u="none" strike="noStrike" kern="1200" baseline="0">
                <a:solidFill>
                  <a:schemeClr val="tx1"/>
                </a:solidFill>
                <a:latin typeface="+mn-lt"/>
                <a:ea typeface="Arial"/>
                <a:cs typeface="Arial"/>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158" cap="flat" cmpd="sng" algn="ctr">
              <a:solidFill>
                <a:schemeClr val="tx1"/>
              </a:solidFill>
              <a:prstDash val="solid"/>
              <a:round/>
            </a:ln>
            <a:effectLst/>
          </c:spPr>
        </c:majorGridlines>
        <c:numFmt formatCode="General" sourceLinked="1"/>
        <c:majorTickMark val="out"/>
        <c:minorTickMark val="none"/>
        <c:tickLblPos val="nextTo"/>
        <c:spPr>
          <a:noFill/>
          <a:ln w="3158" cap="flat" cmpd="sng" algn="ctr">
            <a:solidFill>
              <a:schemeClr val="tx1"/>
            </a:solidFill>
            <a:prstDash val="solid"/>
            <a:round/>
          </a:ln>
          <a:effectLst/>
        </c:spPr>
        <c:txPr>
          <a:bodyPr rot="0" spcFirstLastPara="1" vertOverflow="ellipsis" vert="horz" wrap="square" anchor="ctr" anchorCtr="1"/>
          <a:lstStyle/>
          <a:p>
            <a:pPr>
              <a:defRPr sz="945" b="1" i="0" u="none" strike="noStrike" kern="1200" baseline="0">
                <a:solidFill>
                  <a:schemeClr val="tx1"/>
                </a:solidFill>
                <a:latin typeface="+mn-lt"/>
                <a:ea typeface="Arial"/>
                <a:cs typeface="Arial"/>
              </a:defRPr>
            </a:pPr>
            <a:endParaRPr lang="en-US"/>
          </a:p>
        </c:txPr>
        <c:crossAx val="793011136"/>
        <c:crosses val="autoZero"/>
        <c:crossBetween val="between"/>
      </c:valAx>
      <c:spPr>
        <a:noFill/>
        <a:ln w="12633">
          <a:solidFill>
            <a:schemeClr val="tx1"/>
          </a:solidFill>
          <a:prstDash val="solid"/>
        </a:ln>
        <a:effectLst/>
      </c:spPr>
    </c:plotArea>
    <c:legend>
      <c:legendPos val="b"/>
      <c:layout>
        <c:manualLayout>
          <c:xMode val="edge"/>
          <c:yMode val="edge"/>
          <c:x val="0.16363636363636364"/>
          <c:y val="0.9232613908872902"/>
          <c:w val="0.63030303030303025"/>
          <c:h val="6.235011990407674E-2"/>
        </c:manualLayout>
      </c:layout>
      <c:overlay val="0"/>
      <c:spPr>
        <a:noFill/>
        <a:ln w="3158">
          <a:solidFill>
            <a:schemeClr val="tx1"/>
          </a:solidFill>
          <a:prstDash val="solid"/>
        </a:ln>
        <a:effectLst/>
      </c:spPr>
      <c:txPr>
        <a:bodyPr rot="0" spcFirstLastPara="1" vertOverflow="ellipsis" vert="horz" wrap="square" anchor="ctr" anchorCtr="1"/>
        <a:lstStyle/>
        <a:p>
          <a:pPr>
            <a:defRPr sz="915" b="1" i="0" u="none" strike="noStrike" kern="1200" baseline="0">
              <a:solidFill>
                <a:schemeClr val="tx1"/>
              </a:solidFill>
              <a:latin typeface="+mn-lt"/>
              <a:ea typeface="Arial"/>
              <a:cs typeface="Arial"/>
            </a:defRPr>
          </a:pPr>
          <a:endParaRPr lang="en-US"/>
        </a:p>
      </c:txPr>
    </c:legend>
    <c:plotVisOnly val="1"/>
    <c:dispBlanksAs val="gap"/>
    <c:showDLblsOverMax val="0"/>
  </c:chart>
  <c:spPr>
    <a:noFill/>
    <a:ln w="6350" cap="flat" cmpd="sng" algn="ctr">
      <a:noFill/>
      <a:prstDash val="solid"/>
      <a:miter lim="800000"/>
    </a:ln>
    <a:effectLst/>
  </c:spPr>
  <c:txPr>
    <a:bodyPr/>
    <a:lstStyle/>
    <a:p>
      <a:pPr>
        <a:defRPr sz="1418" b="1" i="0" u="none" strike="noStrike" baseline="0">
          <a:solidFill>
            <a:schemeClr val="tx1"/>
          </a:solidFill>
          <a:latin typeface="Arial"/>
          <a:ea typeface="Arial"/>
          <a:cs typeface="Aria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67676767676762E-2"/>
          <c:y val="5.2757793764988008E-2"/>
          <c:w val="0.90303030303030307"/>
          <c:h val="0.7769784172661871"/>
        </c:manualLayout>
      </c:layout>
      <c:barChart>
        <c:barDir val="col"/>
        <c:grouping val="clustered"/>
        <c:varyColors val="0"/>
        <c:ser>
          <c:idx val="0"/>
          <c:order val="0"/>
          <c:tx>
            <c:strRef>
              <c:f>Sheet1!$A$2</c:f>
              <c:strCache>
                <c:ptCount val="1"/>
                <c:pt idx="0">
                  <c:v>OSCOT</c:v>
                </c:pt>
              </c:strCache>
            </c:strRef>
          </c:tx>
          <c:spPr>
            <a:solidFill>
              <a:schemeClr val="accent1"/>
            </a:solidFill>
            <a:ln>
              <a:noFill/>
            </a:ln>
            <a:effectLst/>
          </c:spPr>
          <c:invertIfNegative val="0"/>
          <c:cat>
            <c:strRef>
              <c:f>Sheet1!$B$1:$D$1</c:f>
              <c:strCache>
                <c:ptCount val="3"/>
                <c:pt idx="0">
                  <c:v>Laggards</c:v>
                </c:pt>
                <c:pt idx="1">
                  <c:v>Industry Norm</c:v>
                </c:pt>
                <c:pt idx="2">
                  <c:v>Best In Class</c:v>
                </c:pt>
              </c:strCache>
            </c:strRef>
          </c:cat>
          <c:val>
            <c:numRef>
              <c:f>Sheet1!$B$2:$D$2</c:f>
              <c:numCache>
                <c:formatCode>General</c:formatCode>
                <c:ptCount val="3"/>
                <c:pt idx="0">
                  <c:v>28</c:v>
                </c:pt>
                <c:pt idx="1">
                  <c:v>23</c:v>
                </c:pt>
                <c:pt idx="2">
                  <c:v>18</c:v>
                </c:pt>
              </c:numCache>
            </c:numRef>
          </c:val>
          <c:extLst>
            <c:ext xmlns:c16="http://schemas.microsoft.com/office/drawing/2014/chart" uri="{C3380CC4-5D6E-409C-BE32-E72D297353CC}">
              <c16:uniqueId val="{00000000-03A3-4736-8435-F9623022EFA9}"/>
            </c:ext>
          </c:extLst>
        </c:ser>
        <c:ser>
          <c:idx val="1"/>
          <c:order val="1"/>
          <c:tx>
            <c:strRef>
              <c:f>Sheet1!$A$3</c:f>
              <c:strCache>
                <c:ptCount val="1"/>
                <c:pt idx="0">
                  <c:v>% Gross Margin</c:v>
                </c:pt>
              </c:strCache>
            </c:strRef>
          </c:tx>
          <c:spPr>
            <a:solidFill>
              <a:schemeClr val="accent2"/>
            </a:solidFill>
            <a:ln>
              <a:noFill/>
            </a:ln>
            <a:effectLst/>
          </c:spPr>
          <c:invertIfNegative val="0"/>
          <c:cat>
            <c:strRef>
              <c:f>Sheet1!$B$1:$D$1</c:f>
              <c:strCache>
                <c:ptCount val="3"/>
                <c:pt idx="0">
                  <c:v>Laggards</c:v>
                </c:pt>
                <c:pt idx="1">
                  <c:v>Industry Norm</c:v>
                </c:pt>
                <c:pt idx="2">
                  <c:v>Best In Class</c:v>
                </c:pt>
              </c:strCache>
            </c:strRef>
          </c:cat>
          <c:val>
            <c:numRef>
              <c:f>Sheet1!$B$3:$D$3</c:f>
              <c:numCache>
                <c:formatCode>General</c:formatCode>
                <c:ptCount val="3"/>
                <c:pt idx="0">
                  <c:v>9</c:v>
                </c:pt>
                <c:pt idx="1">
                  <c:v>6</c:v>
                </c:pt>
                <c:pt idx="2">
                  <c:v>14</c:v>
                </c:pt>
              </c:numCache>
            </c:numRef>
          </c:val>
          <c:extLst>
            <c:ext xmlns:c16="http://schemas.microsoft.com/office/drawing/2014/chart" uri="{C3380CC4-5D6E-409C-BE32-E72D297353CC}">
              <c16:uniqueId val="{00000001-03A3-4736-8435-F9623022EFA9}"/>
            </c:ext>
          </c:extLst>
        </c:ser>
        <c:ser>
          <c:idx val="2"/>
          <c:order val="2"/>
          <c:tx>
            <c:strRef>
              <c:f>Sheet1!$A$4</c:f>
              <c:strCache>
                <c:ptCount val="1"/>
                <c:pt idx="0">
                  <c:v>% Customer Retention</c:v>
                </c:pt>
              </c:strCache>
            </c:strRef>
          </c:tx>
          <c:spPr>
            <a:solidFill>
              <a:schemeClr val="accent3"/>
            </a:solidFill>
            <a:ln>
              <a:noFill/>
            </a:ln>
            <a:effectLst/>
          </c:spPr>
          <c:invertIfNegative val="0"/>
          <c:cat>
            <c:strRef>
              <c:f>Sheet1!$B$1:$D$1</c:f>
              <c:strCache>
                <c:ptCount val="3"/>
                <c:pt idx="0">
                  <c:v>Laggards</c:v>
                </c:pt>
                <c:pt idx="1">
                  <c:v>Industry Norm</c:v>
                </c:pt>
                <c:pt idx="2">
                  <c:v>Best In Class</c:v>
                </c:pt>
              </c:strCache>
            </c:strRef>
          </c:cat>
          <c:val>
            <c:numRef>
              <c:f>Sheet1!$B$4:$D$4</c:f>
              <c:numCache>
                <c:formatCode>General</c:formatCode>
                <c:ptCount val="3"/>
                <c:pt idx="0">
                  <c:v>7</c:v>
                </c:pt>
                <c:pt idx="1">
                  <c:v>8</c:v>
                </c:pt>
                <c:pt idx="2">
                  <c:v>8</c:v>
                </c:pt>
              </c:numCache>
            </c:numRef>
          </c:val>
          <c:extLst>
            <c:ext xmlns:c16="http://schemas.microsoft.com/office/drawing/2014/chart" uri="{C3380CC4-5D6E-409C-BE32-E72D297353CC}">
              <c16:uniqueId val="{00000002-03A3-4736-8435-F9623022EFA9}"/>
            </c:ext>
          </c:extLst>
        </c:ser>
        <c:dLbls>
          <c:showLegendKey val="0"/>
          <c:showVal val="0"/>
          <c:showCatName val="0"/>
          <c:showSerName val="0"/>
          <c:showPercent val="0"/>
          <c:showBubbleSize val="0"/>
        </c:dLbls>
        <c:gapWidth val="150"/>
        <c:axId val="337475743"/>
        <c:axId val="1"/>
      </c:barChart>
      <c:catAx>
        <c:axId val="337475743"/>
        <c:scaling>
          <c:orientation val="minMax"/>
        </c:scaling>
        <c:delete val="0"/>
        <c:axPos val="b"/>
        <c:numFmt formatCode="General" sourceLinked="1"/>
        <c:majorTickMark val="out"/>
        <c:minorTickMark val="none"/>
        <c:tickLblPos val="nextTo"/>
        <c:spPr>
          <a:noFill/>
          <a:ln w="3275" cap="flat" cmpd="sng" algn="ctr">
            <a:solidFill>
              <a:schemeClr val="tx1"/>
            </a:solidFill>
            <a:prstDash val="solid"/>
            <a:round/>
          </a:ln>
          <a:effectLst/>
        </c:spPr>
        <c:txPr>
          <a:bodyPr rot="0" spcFirstLastPara="1" vertOverflow="ellipsis" vert="horz" wrap="square" anchor="ctr" anchorCtr="1"/>
          <a:lstStyle/>
          <a:p>
            <a:pPr>
              <a:defRPr sz="1470" b="1" i="0" u="none" strike="noStrike" kern="1200" baseline="0">
                <a:solidFill>
                  <a:schemeClr val="tx1"/>
                </a:solidFill>
                <a:latin typeface="+mn-lt"/>
                <a:ea typeface="Arial"/>
                <a:cs typeface="Arial"/>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275" cap="flat" cmpd="sng" algn="ctr">
              <a:solidFill>
                <a:schemeClr val="tx1"/>
              </a:solidFill>
              <a:prstDash val="solid"/>
              <a:round/>
            </a:ln>
            <a:effectLst/>
          </c:spPr>
        </c:majorGridlines>
        <c:numFmt formatCode="General" sourceLinked="1"/>
        <c:majorTickMark val="out"/>
        <c:minorTickMark val="none"/>
        <c:tickLblPos val="nextTo"/>
        <c:spPr>
          <a:noFill/>
          <a:ln w="3275" cap="flat" cmpd="sng" algn="ctr">
            <a:solidFill>
              <a:schemeClr val="tx1"/>
            </a:solidFill>
            <a:prstDash val="solid"/>
            <a:round/>
          </a:ln>
          <a:effectLst/>
        </c:spPr>
        <c:txPr>
          <a:bodyPr rot="0" spcFirstLastPara="1" vertOverflow="ellipsis" vert="horz" wrap="square" anchor="ctr" anchorCtr="1"/>
          <a:lstStyle/>
          <a:p>
            <a:pPr>
              <a:defRPr sz="1470" b="1" i="0" u="none" strike="noStrike" kern="1200" baseline="0">
                <a:solidFill>
                  <a:schemeClr val="tx1"/>
                </a:solidFill>
                <a:latin typeface="+mn-lt"/>
                <a:ea typeface="Arial"/>
                <a:cs typeface="Arial"/>
              </a:defRPr>
            </a:pPr>
            <a:endParaRPr lang="en-US"/>
          </a:p>
        </c:txPr>
        <c:crossAx val="337475743"/>
        <c:crosses val="autoZero"/>
        <c:crossBetween val="between"/>
      </c:valAx>
      <c:spPr>
        <a:noFill/>
        <a:ln w="13099">
          <a:solidFill>
            <a:schemeClr val="tx1"/>
          </a:solidFill>
          <a:prstDash val="solid"/>
        </a:ln>
        <a:effectLst/>
      </c:spPr>
    </c:plotArea>
    <c:legend>
      <c:legendPos val="b"/>
      <c:layout>
        <c:manualLayout>
          <c:xMode val="edge"/>
          <c:yMode val="edge"/>
          <c:x val="0.13535353535353536"/>
          <c:y val="0.9232613908872902"/>
          <c:w val="0.78181818181818186"/>
          <c:h val="6.235011990407674E-2"/>
        </c:manualLayout>
      </c:layout>
      <c:overlay val="0"/>
      <c:spPr>
        <a:noFill/>
        <a:ln w="3275">
          <a:solidFill>
            <a:schemeClr val="tx1"/>
          </a:solidFill>
          <a:prstDash val="solid"/>
        </a:ln>
        <a:effectLst/>
      </c:spPr>
      <c:txPr>
        <a:bodyPr rot="0" spcFirstLastPara="1" vertOverflow="ellipsis" vert="horz" wrap="square" anchor="ctr" anchorCtr="1"/>
        <a:lstStyle/>
        <a:p>
          <a:pPr>
            <a:defRPr sz="1200" b="1" i="0" u="none" strike="noStrike" kern="1200" baseline="0">
              <a:solidFill>
                <a:schemeClr val="tx1"/>
              </a:solidFill>
              <a:latin typeface="+mn-lt"/>
              <a:ea typeface="Arial"/>
              <a:cs typeface="Arial"/>
            </a:defRPr>
          </a:pPr>
          <a:endParaRPr lang="en-US"/>
        </a:p>
      </c:txPr>
    </c:legend>
    <c:plotVisOnly val="1"/>
    <c:dispBlanksAs val="gap"/>
    <c:showDLblsOverMax val="0"/>
  </c:chart>
  <c:spPr>
    <a:noFill/>
    <a:ln w="6350" cap="flat" cmpd="sng" algn="ctr">
      <a:noFill/>
      <a:prstDash val="solid"/>
      <a:miter lim="800000"/>
    </a:ln>
    <a:effectLst/>
  </c:spPr>
  <c:txPr>
    <a:bodyPr/>
    <a:lstStyle/>
    <a:p>
      <a:pPr>
        <a:defRPr sz="1470" b="1" i="0" u="none" strike="noStrike" baseline="0">
          <a:solidFill>
            <a:schemeClr val="tx1"/>
          </a:solidFill>
          <a:latin typeface="+mn-lt"/>
          <a:ea typeface="Arial"/>
          <a:cs typeface="Aria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67676767676762E-2"/>
          <c:y val="5.2757793764988008E-2"/>
          <c:w val="0.90303030303030307"/>
          <c:h val="0.7769784172661871"/>
        </c:manualLayout>
      </c:layout>
      <c:barChart>
        <c:barDir val="col"/>
        <c:grouping val="clustered"/>
        <c:varyColors val="0"/>
        <c:ser>
          <c:idx val="0"/>
          <c:order val="0"/>
          <c:tx>
            <c:strRef>
              <c:f>Sheet1!$A$2</c:f>
              <c:strCache>
                <c:ptCount val="1"/>
                <c:pt idx="0">
                  <c:v>Retailers</c:v>
                </c:pt>
              </c:strCache>
            </c:strRef>
          </c:tx>
          <c:spPr>
            <a:solidFill>
              <a:schemeClr val="accent1"/>
            </a:solidFill>
            <a:ln>
              <a:noFill/>
            </a:ln>
            <a:effectLst/>
          </c:spPr>
          <c:invertIfNegative val="0"/>
          <c:cat>
            <c:strRef>
              <c:f>Sheet1!$B$1:$D$1</c:f>
              <c:strCache>
                <c:ptCount val="3"/>
                <c:pt idx="0">
                  <c:v>OSCOT</c:v>
                </c:pt>
                <c:pt idx="1">
                  <c:v>% Gross Margin</c:v>
                </c:pt>
                <c:pt idx="2">
                  <c:v>% Customer Retention</c:v>
                </c:pt>
              </c:strCache>
            </c:strRef>
          </c:cat>
          <c:val>
            <c:numRef>
              <c:f>Sheet1!$B$2:$D$2</c:f>
              <c:numCache>
                <c:formatCode>General</c:formatCode>
                <c:ptCount val="3"/>
                <c:pt idx="0">
                  <c:v>38</c:v>
                </c:pt>
                <c:pt idx="1">
                  <c:v>37</c:v>
                </c:pt>
                <c:pt idx="2">
                  <c:v>36</c:v>
                </c:pt>
              </c:numCache>
            </c:numRef>
          </c:val>
          <c:extLst>
            <c:ext xmlns:c16="http://schemas.microsoft.com/office/drawing/2014/chart" uri="{C3380CC4-5D6E-409C-BE32-E72D297353CC}">
              <c16:uniqueId val="{00000000-FFA2-43D7-A68B-D73ACD70DCE1}"/>
            </c:ext>
          </c:extLst>
        </c:ser>
        <c:ser>
          <c:idx val="1"/>
          <c:order val="1"/>
          <c:tx>
            <c:strRef>
              <c:f>Sheet1!$A$3</c:f>
              <c:strCache>
                <c:ptCount val="1"/>
                <c:pt idx="0">
                  <c:v>Services</c:v>
                </c:pt>
              </c:strCache>
            </c:strRef>
          </c:tx>
          <c:spPr>
            <a:solidFill>
              <a:schemeClr val="accent2"/>
            </a:solidFill>
            <a:ln>
              <a:noFill/>
            </a:ln>
            <a:effectLst/>
          </c:spPr>
          <c:invertIfNegative val="0"/>
          <c:cat>
            <c:strRef>
              <c:f>Sheet1!$B$1:$D$1</c:f>
              <c:strCache>
                <c:ptCount val="3"/>
                <c:pt idx="0">
                  <c:v>OSCOT</c:v>
                </c:pt>
                <c:pt idx="1">
                  <c:v>% Gross Margin</c:v>
                </c:pt>
                <c:pt idx="2">
                  <c:v>% Customer Retention</c:v>
                </c:pt>
              </c:strCache>
            </c:strRef>
          </c:cat>
          <c:val>
            <c:numRef>
              <c:f>Sheet1!$B$3:$D$3</c:f>
              <c:numCache>
                <c:formatCode>General</c:formatCode>
                <c:ptCount val="3"/>
                <c:pt idx="0">
                  <c:v>21</c:v>
                </c:pt>
                <c:pt idx="1">
                  <c:v>30</c:v>
                </c:pt>
                <c:pt idx="2">
                  <c:v>18</c:v>
                </c:pt>
              </c:numCache>
            </c:numRef>
          </c:val>
          <c:extLst>
            <c:ext xmlns:c16="http://schemas.microsoft.com/office/drawing/2014/chart" uri="{C3380CC4-5D6E-409C-BE32-E72D297353CC}">
              <c16:uniqueId val="{00000001-FFA2-43D7-A68B-D73ACD70DCE1}"/>
            </c:ext>
          </c:extLst>
        </c:ser>
        <c:ser>
          <c:idx val="2"/>
          <c:order val="2"/>
          <c:tx>
            <c:strRef>
              <c:f>Sheet1!$A$4</c:f>
              <c:strCache>
                <c:ptCount val="1"/>
                <c:pt idx="0">
                  <c:v>Cross-Industry</c:v>
                </c:pt>
              </c:strCache>
            </c:strRef>
          </c:tx>
          <c:spPr>
            <a:solidFill>
              <a:schemeClr val="accent3"/>
            </a:solidFill>
            <a:ln>
              <a:noFill/>
            </a:ln>
            <a:effectLst/>
          </c:spPr>
          <c:invertIfNegative val="0"/>
          <c:cat>
            <c:strRef>
              <c:f>Sheet1!$B$1:$D$1</c:f>
              <c:strCache>
                <c:ptCount val="3"/>
                <c:pt idx="0">
                  <c:v>OSCOT</c:v>
                </c:pt>
                <c:pt idx="1">
                  <c:v>% Gross Margin</c:v>
                </c:pt>
                <c:pt idx="2">
                  <c:v>% Customer Retention</c:v>
                </c:pt>
              </c:strCache>
            </c:strRef>
          </c:cat>
          <c:val>
            <c:numRef>
              <c:f>Sheet1!$B$4:$D$4</c:f>
              <c:numCache>
                <c:formatCode>General</c:formatCode>
                <c:ptCount val="3"/>
                <c:pt idx="0">
                  <c:v>30</c:v>
                </c:pt>
                <c:pt idx="1">
                  <c:v>28</c:v>
                </c:pt>
                <c:pt idx="2">
                  <c:v>21</c:v>
                </c:pt>
              </c:numCache>
            </c:numRef>
          </c:val>
          <c:extLst>
            <c:ext xmlns:c16="http://schemas.microsoft.com/office/drawing/2014/chart" uri="{C3380CC4-5D6E-409C-BE32-E72D297353CC}">
              <c16:uniqueId val="{00000002-FFA2-43D7-A68B-D73ACD70DCE1}"/>
            </c:ext>
          </c:extLst>
        </c:ser>
        <c:ser>
          <c:idx val="3"/>
          <c:order val="3"/>
          <c:tx>
            <c:strRef>
              <c:f>Sheet1!$A$5</c:f>
              <c:strCache>
                <c:ptCount val="1"/>
                <c:pt idx="0">
                  <c:v>Manufacturing</c:v>
                </c:pt>
              </c:strCache>
            </c:strRef>
          </c:tx>
          <c:spPr>
            <a:solidFill>
              <a:schemeClr val="accent4"/>
            </a:solidFill>
            <a:ln>
              <a:noFill/>
            </a:ln>
            <a:effectLst/>
          </c:spPr>
          <c:invertIfNegative val="0"/>
          <c:cat>
            <c:strRef>
              <c:f>Sheet1!$B$1:$D$1</c:f>
              <c:strCache>
                <c:ptCount val="3"/>
                <c:pt idx="0">
                  <c:v>OSCOT</c:v>
                </c:pt>
                <c:pt idx="1">
                  <c:v>% Gross Margin</c:v>
                </c:pt>
                <c:pt idx="2">
                  <c:v>% Customer Retention</c:v>
                </c:pt>
              </c:strCache>
            </c:strRef>
          </c:cat>
          <c:val>
            <c:numRef>
              <c:f>Sheet1!$B$5:$D$5</c:f>
              <c:numCache>
                <c:formatCode>General</c:formatCode>
                <c:ptCount val="3"/>
                <c:pt idx="0">
                  <c:v>22</c:v>
                </c:pt>
                <c:pt idx="1">
                  <c:v>23</c:v>
                </c:pt>
                <c:pt idx="2">
                  <c:v>4</c:v>
                </c:pt>
              </c:numCache>
            </c:numRef>
          </c:val>
          <c:extLst>
            <c:ext xmlns:c16="http://schemas.microsoft.com/office/drawing/2014/chart" uri="{C3380CC4-5D6E-409C-BE32-E72D297353CC}">
              <c16:uniqueId val="{00000003-FFA2-43D7-A68B-D73ACD70DCE1}"/>
            </c:ext>
          </c:extLst>
        </c:ser>
        <c:dLbls>
          <c:showLegendKey val="0"/>
          <c:showVal val="0"/>
          <c:showCatName val="0"/>
          <c:showSerName val="0"/>
          <c:showPercent val="0"/>
          <c:showBubbleSize val="0"/>
        </c:dLbls>
        <c:gapWidth val="150"/>
        <c:axId val="1109577568"/>
        <c:axId val="1"/>
      </c:barChart>
      <c:catAx>
        <c:axId val="1109577568"/>
        <c:scaling>
          <c:orientation val="minMax"/>
        </c:scaling>
        <c:delete val="0"/>
        <c:axPos val="b"/>
        <c:numFmt formatCode="General" sourceLinked="1"/>
        <c:majorTickMark val="out"/>
        <c:minorTickMark val="none"/>
        <c:tickLblPos val="nextTo"/>
        <c:spPr>
          <a:noFill/>
          <a:ln w="3325" cap="flat" cmpd="sng" algn="ctr">
            <a:solidFill>
              <a:schemeClr val="tx1"/>
            </a:solidFill>
            <a:prstDash val="solid"/>
            <a:round/>
          </a:ln>
          <a:effectLst/>
        </c:spPr>
        <c:txPr>
          <a:bodyPr rot="0" spcFirstLastPara="1" vertOverflow="ellipsis" vert="horz" wrap="square" anchor="ctr" anchorCtr="1"/>
          <a:lstStyle/>
          <a:p>
            <a:pPr>
              <a:defRPr sz="995" b="1" i="0" u="none" strike="noStrike" kern="1200" baseline="0">
                <a:solidFill>
                  <a:schemeClr val="tx1"/>
                </a:solidFill>
                <a:latin typeface="+mn-lt"/>
                <a:ea typeface="Arial"/>
                <a:cs typeface="Arial" panose="020B0604020202020204" pitchFamily="34" charset="0"/>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325" cap="flat" cmpd="sng" algn="ctr">
              <a:solidFill>
                <a:schemeClr val="tx1"/>
              </a:solidFill>
              <a:prstDash val="solid"/>
              <a:round/>
            </a:ln>
            <a:effectLst/>
          </c:spPr>
        </c:majorGridlines>
        <c:numFmt formatCode="General" sourceLinked="1"/>
        <c:majorTickMark val="out"/>
        <c:minorTickMark val="none"/>
        <c:tickLblPos val="nextTo"/>
        <c:spPr>
          <a:noFill/>
          <a:ln w="3325" cap="flat" cmpd="sng" algn="ctr">
            <a:solidFill>
              <a:schemeClr val="tx1"/>
            </a:solidFill>
            <a:prstDash val="solid"/>
            <a:round/>
          </a:ln>
          <a:effectLst/>
        </c:spPr>
        <c:txPr>
          <a:bodyPr rot="0" spcFirstLastPara="1" vertOverflow="ellipsis" vert="horz" wrap="square" anchor="ctr" anchorCtr="1"/>
          <a:lstStyle/>
          <a:p>
            <a:pPr>
              <a:defRPr sz="995" b="1" i="0" u="none" strike="noStrike" kern="1200" baseline="0">
                <a:solidFill>
                  <a:schemeClr val="tx1"/>
                </a:solidFill>
                <a:latin typeface="+mn-lt"/>
                <a:ea typeface="Arial"/>
                <a:cs typeface="Arial"/>
              </a:defRPr>
            </a:pPr>
            <a:endParaRPr lang="en-US"/>
          </a:p>
        </c:txPr>
        <c:crossAx val="1109577568"/>
        <c:crosses val="autoZero"/>
        <c:crossBetween val="between"/>
      </c:valAx>
      <c:spPr>
        <a:noFill/>
        <a:ln w="13300">
          <a:solidFill>
            <a:schemeClr val="tx1"/>
          </a:solidFill>
          <a:prstDash val="solid"/>
        </a:ln>
        <a:effectLst/>
      </c:spPr>
    </c:plotArea>
    <c:legend>
      <c:legendPos val="b"/>
      <c:layout>
        <c:manualLayout>
          <c:xMode val="edge"/>
          <c:yMode val="edge"/>
          <c:x val="7.4747474747474743E-2"/>
          <c:y val="0.90887290167865709"/>
          <c:w val="0.87474747474747472"/>
          <c:h val="6.235011990407674E-2"/>
        </c:manualLayout>
      </c:layout>
      <c:overlay val="0"/>
      <c:spPr>
        <a:noFill/>
        <a:ln w="3325">
          <a:solidFill>
            <a:schemeClr val="tx1"/>
          </a:solidFill>
          <a:prstDash val="solid"/>
        </a:ln>
        <a:effectLst/>
      </c:spPr>
      <c:txPr>
        <a:bodyPr rot="0" spcFirstLastPara="1" vertOverflow="ellipsis" vert="horz" wrap="square" anchor="ctr" anchorCtr="1"/>
        <a:lstStyle/>
        <a:p>
          <a:pPr>
            <a:defRPr sz="963" b="1" i="0" u="none" strike="noStrike" kern="1200" baseline="0">
              <a:solidFill>
                <a:schemeClr val="tx1"/>
              </a:solidFill>
              <a:latin typeface="+mn-lt"/>
              <a:ea typeface="Arial"/>
              <a:cs typeface="Arial"/>
            </a:defRPr>
          </a:pPr>
          <a:endParaRPr lang="en-US"/>
        </a:p>
      </c:txPr>
    </c:legend>
    <c:plotVisOnly val="1"/>
    <c:dispBlanksAs val="gap"/>
    <c:showDLblsOverMax val="0"/>
  </c:chart>
  <c:spPr>
    <a:noFill/>
    <a:ln w="6350" cap="flat" cmpd="sng" algn="ctr">
      <a:noFill/>
      <a:prstDash val="solid"/>
      <a:miter lim="800000"/>
    </a:ln>
    <a:effectLst/>
  </c:spPr>
  <c:txPr>
    <a:bodyPr/>
    <a:lstStyle/>
    <a:p>
      <a:pPr>
        <a:defRPr sz="1492" b="1" i="0" u="none" strike="noStrike" baseline="0">
          <a:solidFill>
            <a:schemeClr val="tx1"/>
          </a:solidFill>
          <a:latin typeface="Arial"/>
          <a:ea typeface="Arial"/>
          <a:cs typeface="Aria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247689463955637"/>
          <c:y val="3.2258064516129031E-2"/>
          <c:w val="0.69870609981515708"/>
          <c:h val="0.82697947214076251"/>
        </c:manualLayout>
      </c:layout>
      <c:barChart>
        <c:barDir val="bar"/>
        <c:grouping val="clustered"/>
        <c:varyColors val="0"/>
        <c:ser>
          <c:idx val="0"/>
          <c:order val="0"/>
          <c:tx>
            <c:strRef>
              <c:f>Sheet1!$A$2</c:f>
              <c:strCache>
                <c:ptCount val="1"/>
                <c:pt idx="0">
                  <c:v>East</c:v>
                </c:pt>
              </c:strCache>
            </c:strRef>
          </c:tx>
          <c:spPr>
            <a:solidFill>
              <a:schemeClr val="accent1"/>
            </a:solidFill>
            <a:ln>
              <a:noFill/>
            </a:ln>
            <a:effectLst/>
          </c:spPr>
          <c:invertIfNegative val="0"/>
          <c:cat>
            <c:strRef>
              <c:f>Sheet1!$B$1:$D$1</c:f>
              <c:strCache>
                <c:ptCount val="3"/>
                <c:pt idx="0">
                  <c:v>Disparate Demand Numbers Across Operation</c:v>
                </c:pt>
                <c:pt idx="1">
                  <c:v>Demand Aligned For Total Customer Base</c:v>
                </c:pt>
                <c:pt idx="2">
                  <c:v>Demand Aligned At Customer/Product Group</c:v>
                </c:pt>
              </c:strCache>
            </c:strRef>
          </c:cat>
          <c:val>
            <c:numRef>
              <c:f>Sheet1!$B$2:$D$2</c:f>
              <c:numCache>
                <c:formatCode>General</c:formatCode>
                <c:ptCount val="3"/>
                <c:pt idx="0">
                  <c:v>42</c:v>
                </c:pt>
                <c:pt idx="1">
                  <c:v>34</c:v>
                </c:pt>
                <c:pt idx="2">
                  <c:v>14</c:v>
                </c:pt>
              </c:numCache>
            </c:numRef>
          </c:val>
          <c:extLst>
            <c:ext xmlns:c16="http://schemas.microsoft.com/office/drawing/2014/chart" uri="{C3380CC4-5D6E-409C-BE32-E72D297353CC}">
              <c16:uniqueId val="{00000000-4384-453F-9948-5A80232FC272}"/>
            </c:ext>
          </c:extLst>
        </c:ser>
        <c:dLbls>
          <c:showLegendKey val="0"/>
          <c:showVal val="0"/>
          <c:showCatName val="0"/>
          <c:showSerName val="0"/>
          <c:showPercent val="0"/>
          <c:showBubbleSize val="0"/>
        </c:dLbls>
        <c:gapWidth val="182"/>
        <c:axId val="2052589615"/>
        <c:axId val="1"/>
      </c:barChart>
      <c:catAx>
        <c:axId val="20525896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
        <c:crosses val="autoZero"/>
        <c:auto val="1"/>
        <c:lblAlgn val="ctr"/>
        <c:lblOffset val="100"/>
        <c:tickLblSkip val="1"/>
        <c:tickMarkSkip val="1"/>
        <c:noMultiLvlLbl val="0"/>
      </c:catAx>
      <c:valAx>
        <c:axId val="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5258961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987060998151569"/>
          <c:y val="3.2258064516129031E-2"/>
          <c:w val="0.69131238447319776"/>
          <c:h val="0.82697947214076251"/>
        </c:manualLayout>
      </c:layout>
      <c:barChart>
        <c:barDir val="bar"/>
        <c:grouping val="clustered"/>
        <c:varyColors val="0"/>
        <c:ser>
          <c:idx val="0"/>
          <c:order val="0"/>
          <c:tx>
            <c:strRef>
              <c:f>Sheet1!$A$2</c:f>
              <c:strCache>
                <c:ptCount val="1"/>
                <c:pt idx="0">
                  <c:v>East</c:v>
                </c:pt>
              </c:strCache>
            </c:strRef>
          </c:tx>
          <c:spPr>
            <a:solidFill>
              <a:schemeClr val="accent2"/>
            </a:solidFill>
            <a:ln>
              <a:noFill/>
            </a:ln>
            <a:effectLst/>
          </c:spPr>
          <c:invertIfNegative val="0"/>
          <c:cat>
            <c:strRef>
              <c:f>Sheet1!$B$1:$E$1</c:f>
              <c:strCache>
                <c:ptCount val="4"/>
                <c:pt idx="0">
                  <c:v>No Systematic Measurement</c:v>
                </c:pt>
                <c:pt idx="1">
                  <c:v>Periodic Demand Accuracy</c:v>
                </c:pt>
                <c:pt idx="2">
                  <c:v>Periodic Demand/Supply Accuracy</c:v>
                </c:pt>
                <c:pt idx="3">
                  <c:v>Systematic Monthly Root Cause Analysis</c:v>
                </c:pt>
              </c:strCache>
            </c:strRef>
          </c:cat>
          <c:val>
            <c:numRef>
              <c:f>Sheet1!$B$2:$E$2</c:f>
              <c:numCache>
                <c:formatCode>General</c:formatCode>
                <c:ptCount val="4"/>
                <c:pt idx="0">
                  <c:v>32</c:v>
                </c:pt>
                <c:pt idx="1">
                  <c:v>37</c:v>
                </c:pt>
                <c:pt idx="2">
                  <c:v>27</c:v>
                </c:pt>
                <c:pt idx="3">
                  <c:v>8</c:v>
                </c:pt>
              </c:numCache>
            </c:numRef>
          </c:val>
          <c:extLst>
            <c:ext xmlns:c16="http://schemas.microsoft.com/office/drawing/2014/chart" uri="{C3380CC4-5D6E-409C-BE32-E72D297353CC}">
              <c16:uniqueId val="{00000000-4C0A-4BC5-8048-E36ADE74C5C6}"/>
            </c:ext>
          </c:extLst>
        </c:ser>
        <c:dLbls>
          <c:showLegendKey val="0"/>
          <c:showVal val="0"/>
          <c:showCatName val="0"/>
          <c:showSerName val="0"/>
          <c:showPercent val="0"/>
          <c:showBubbleSize val="0"/>
        </c:dLbls>
        <c:gapWidth val="182"/>
        <c:axId val="921114495"/>
        <c:axId val="1"/>
      </c:barChart>
      <c:catAx>
        <c:axId val="92111449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
        <c:crosses val="autoZero"/>
        <c:auto val="1"/>
        <c:lblAlgn val="ctr"/>
        <c:lblOffset val="100"/>
        <c:tickLblSkip val="1"/>
        <c:tickMarkSkip val="1"/>
        <c:noMultiLvlLbl val="0"/>
      </c:catAx>
      <c:valAx>
        <c:axId val="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211144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845528455284552"/>
          <c:y val="3.0054644808743168E-2"/>
          <c:w val="0.68292682926829273"/>
          <c:h val="0.84153005464480879"/>
        </c:manualLayout>
      </c:layout>
      <c:barChart>
        <c:barDir val="bar"/>
        <c:grouping val="clustered"/>
        <c:varyColors val="0"/>
        <c:ser>
          <c:idx val="0"/>
          <c:order val="0"/>
          <c:tx>
            <c:strRef>
              <c:f>Sheet1!$A$2</c:f>
              <c:strCache>
                <c:ptCount val="1"/>
                <c:pt idx="0">
                  <c:v>East</c:v>
                </c:pt>
              </c:strCache>
            </c:strRef>
          </c:tx>
          <c:spPr>
            <a:solidFill>
              <a:schemeClr val="accent6"/>
            </a:solidFill>
            <a:ln>
              <a:noFill/>
            </a:ln>
            <a:effectLst/>
          </c:spPr>
          <c:invertIfNegative val="0"/>
          <c:cat>
            <c:strRef>
              <c:f>Sheet1!$B$1:$F$1</c:f>
              <c:strCache>
                <c:ptCount val="5"/>
                <c:pt idx="0">
                  <c:v>Internal Pushback</c:v>
                </c:pt>
                <c:pt idx="1">
                  <c:v>Budget or Program Constraints</c:v>
                </c:pt>
                <c:pt idx="2">
                  <c:v>Lack of Executive Support</c:v>
                </c:pt>
                <c:pt idx="3">
                  <c:v>Lack of Business Case</c:v>
                </c:pt>
                <c:pt idx="4">
                  <c:v>Inadequate Toolkit</c:v>
                </c:pt>
              </c:strCache>
            </c:strRef>
          </c:cat>
          <c:val>
            <c:numRef>
              <c:f>Sheet1!$B$2:$F$2</c:f>
              <c:numCache>
                <c:formatCode>General</c:formatCode>
                <c:ptCount val="5"/>
                <c:pt idx="0">
                  <c:v>55</c:v>
                </c:pt>
                <c:pt idx="1">
                  <c:v>42</c:v>
                </c:pt>
                <c:pt idx="2">
                  <c:v>32</c:v>
                </c:pt>
                <c:pt idx="3">
                  <c:v>28</c:v>
                </c:pt>
                <c:pt idx="4">
                  <c:v>21</c:v>
                </c:pt>
              </c:numCache>
            </c:numRef>
          </c:val>
          <c:extLst>
            <c:ext xmlns:c16="http://schemas.microsoft.com/office/drawing/2014/chart" uri="{C3380CC4-5D6E-409C-BE32-E72D297353CC}">
              <c16:uniqueId val="{00000000-2AC1-4718-B107-FF696313FC88}"/>
            </c:ext>
          </c:extLst>
        </c:ser>
        <c:dLbls>
          <c:showLegendKey val="0"/>
          <c:showVal val="0"/>
          <c:showCatName val="0"/>
          <c:showSerName val="0"/>
          <c:showPercent val="0"/>
          <c:showBubbleSize val="0"/>
        </c:dLbls>
        <c:gapWidth val="182"/>
        <c:axId val="1392803232"/>
        <c:axId val="1"/>
      </c:barChart>
      <c:catAx>
        <c:axId val="139280323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
        <c:crosses val="autoZero"/>
        <c:auto val="1"/>
        <c:lblAlgn val="ctr"/>
        <c:lblOffset val="100"/>
        <c:tickLblSkip val="1"/>
        <c:tickMarkSkip val="1"/>
        <c:noMultiLvlLbl val="0"/>
      </c:catAx>
      <c:valAx>
        <c:axId val="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928032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16260162601629"/>
          <c:y val="3.0054644808743168E-2"/>
          <c:w val="0.70121951219512191"/>
          <c:h val="0.84153005464480879"/>
        </c:manualLayout>
      </c:layout>
      <c:barChart>
        <c:barDir val="bar"/>
        <c:grouping val="clustered"/>
        <c:varyColors val="0"/>
        <c:ser>
          <c:idx val="0"/>
          <c:order val="0"/>
          <c:tx>
            <c:strRef>
              <c:f>Sheet1!$A$2</c:f>
              <c:strCache>
                <c:ptCount val="1"/>
                <c:pt idx="0">
                  <c:v>East</c:v>
                </c:pt>
              </c:strCache>
            </c:strRef>
          </c:tx>
          <c:spPr>
            <a:solidFill>
              <a:schemeClr val="accent6"/>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0-EB47-4307-B102-0B5F1DE3E5BC}"/>
              </c:ext>
            </c:extLst>
          </c:dPt>
          <c:cat>
            <c:strRef>
              <c:f>Sheet1!$B$1:$F$1</c:f>
              <c:strCache>
                <c:ptCount val="5"/>
                <c:pt idx="0">
                  <c:v>ROI Business Case</c:v>
                </c:pt>
                <c:pt idx="1">
                  <c:v>Supplier Interaction</c:v>
                </c:pt>
                <c:pt idx="2">
                  <c:v>Direct Customer Collaboration</c:v>
                </c:pt>
                <c:pt idx="3">
                  <c:v>Cross-Functional Teaming</c:v>
                </c:pt>
                <c:pt idx="4">
                  <c:v>Executive Commitment</c:v>
                </c:pt>
              </c:strCache>
            </c:strRef>
          </c:cat>
          <c:val>
            <c:numRef>
              <c:f>Sheet1!$B$2:$F$2</c:f>
              <c:numCache>
                <c:formatCode>General</c:formatCode>
                <c:ptCount val="5"/>
                <c:pt idx="0">
                  <c:v>22</c:v>
                </c:pt>
                <c:pt idx="1">
                  <c:v>23</c:v>
                </c:pt>
                <c:pt idx="2">
                  <c:v>27</c:v>
                </c:pt>
                <c:pt idx="3">
                  <c:v>32</c:v>
                </c:pt>
                <c:pt idx="4">
                  <c:v>45</c:v>
                </c:pt>
              </c:numCache>
            </c:numRef>
          </c:val>
          <c:extLst>
            <c:ext xmlns:c16="http://schemas.microsoft.com/office/drawing/2014/chart" uri="{C3380CC4-5D6E-409C-BE32-E72D297353CC}">
              <c16:uniqueId val="{00000001-EB47-4307-B102-0B5F1DE3E5BC}"/>
            </c:ext>
          </c:extLst>
        </c:ser>
        <c:dLbls>
          <c:showLegendKey val="0"/>
          <c:showVal val="0"/>
          <c:showCatName val="0"/>
          <c:showSerName val="0"/>
          <c:showPercent val="0"/>
          <c:showBubbleSize val="0"/>
        </c:dLbls>
        <c:gapWidth val="182"/>
        <c:axId val="1052885088"/>
        <c:axId val="1"/>
      </c:barChart>
      <c:catAx>
        <c:axId val="1052885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
        <c:crosses val="autoZero"/>
        <c:auto val="1"/>
        <c:lblAlgn val="ctr"/>
        <c:lblOffset val="100"/>
        <c:tickLblSkip val="1"/>
        <c:tickMarkSkip val="1"/>
        <c:noMultiLvlLbl val="0"/>
      </c:catAx>
      <c:valAx>
        <c:axId val="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28850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12/5/2023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8665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975849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OSCOT = Orders Shipped Complete On Time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1335259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98413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713363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3235323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1873756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1823098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031922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3754675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1390767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3211902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556591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219811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201744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994331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92491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059793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3479066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2025553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563941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2178441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355292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11245354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1382749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318456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1076963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039415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57730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8598640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12785970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2177857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36860674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214108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390681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298451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4126118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40287283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39987368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3839140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27237048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32032580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600732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39734203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39605003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PRESENTATION TITLE GOES HERE</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5" name="Slide Number Placeholder 5">
            <a:extLst>
              <a:ext uri="{FF2B5EF4-FFF2-40B4-BE49-F238E27FC236}">
                <a16:creationId xmlns:a16="http://schemas.microsoft.com/office/drawing/2014/main" id="{1099632B-E122-EDE0-0BAF-755FD08A2404}"/>
              </a:ext>
            </a:extLst>
          </p:cNvPr>
          <p:cNvSpPr txBox="1">
            <a:spLocks/>
          </p:cNvSpPr>
          <p:nvPr userDrawn="1"/>
        </p:nvSpPr>
        <p:spPr>
          <a:xfrm>
            <a:off x="8595078" y="633314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9.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4.emf"/><Relationship Id="rId5" Type="http://schemas.openxmlformats.org/officeDocument/2006/relationships/oleObject" Target="../embeddings/oleObject5.bin"/><Relationship Id="rId4" Type="http://schemas.openxmlformats.org/officeDocument/2006/relationships/image" Target="../media/image13.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5.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6.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9.xml"/><Relationship Id="rId5" Type="http://schemas.openxmlformats.org/officeDocument/2006/relationships/image" Target="../media/image16.emf"/><Relationship Id="rId4" Type="http://schemas.openxmlformats.org/officeDocument/2006/relationships/oleObject" Target="../embeddings/oleObject9.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17.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19.emf"/><Relationship Id="rId5" Type="http://schemas.openxmlformats.org/officeDocument/2006/relationships/oleObject" Target="../embeddings/oleObject12.bin"/><Relationship Id="rId4" Type="http://schemas.openxmlformats.org/officeDocument/2006/relationships/image" Target="../media/image18.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8.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0.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image" Target="../media/image20.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4.xml"/><Relationship Id="rId1" Type="http://schemas.openxmlformats.org/officeDocument/2006/relationships/slideLayout" Target="../slideLayouts/slideLayout9.xml"/><Relationship Id="rId6" Type="http://schemas.openxmlformats.org/officeDocument/2006/relationships/oleObject" Target="../embeddings/oleObject20.bin"/><Relationship Id="rId5" Type="http://schemas.openxmlformats.org/officeDocument/2006/relationships/oleObject" Target="../embeddings/oleObject19.bin"/><Relationship Id="rId4" Type="http://schemas.openxmlformats.org/officeDocument/2006/relationships/image" Target="../media/image20.emf"/></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16.emf"/><Relationship Id="rId5" Type="http://schemas.openxmlformats.org/officeDocument/2006/relationships/oleObject" Target="../embeddings/oleObject8.bin"/><Relationship Id="rId4" Type="http://schemas.openxmlformats.org/officeDocument/2006/relationships/image" Target="../media/image22.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Microsoft_Excel_97-2003_Worksheet.xls"/><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24.emf"/><Relationship Id="rId5" Type="http://schemas.openxmlformats.org/officeDocument/2006/relationships/oleObject" Target="../embeddings/Microsoft_Excel_97-2003_Worksheet1.xls"/><Relationship Id="rId4" Type="http://schemas.openxmlformats.org/officeDocument/2006/relationships/image" Target="../media/image23.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Microsoft_Excel_97-2003_Worksheet2.xls"/><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23.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Microsoft_Excel_97-2003_Worksheet3.xls"/><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image" Target="../media/image16.emf"/><Relationship Id="rId5" Type="http://schemas.openxmlformats.org/officeDocument/2006/relationships/oleObject" Target="../embeddings/oleObject9.bin"/><Relationship Id="rId4" Type="http://schemas.openxmlformats.org/officeDocument/2006/relationships/image" Target="../media/image25.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Microsoft_Excel_97-2003_Worksheet4.xls"/><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image" Target="../media/image26.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Microsoft_Excel_97-2003_Worksheet5.xls"/><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26.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image" Target="../media/image26.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Microsoft_Excel_97-2003_Worksheet6.xls"/><Relationship Id="rId2" Type="http://schemas.openxmlformats.org/officeDocument/2006/relationships/notesSlide" Target="../notesSlides/notesSlide41.xml"/><Relationship Id="rId1" Type="http://schemas.openxmlformats.org/officeDocument/2006/relationships/slideLayout" Target="../slideLayouts/slideLayout9.xml"/><Relationship Id="rId4" Type="http://schemas.openxmlformats.org/officeDocument/2006/relationships/image" Target="../media/image27.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Microsoft_Excel_97-2003_Worksheet7.xls"/><Relationship Id="rId2" Type="http://schemas.openxmlformats.org/officeDocument/2006/relationships/notesSlide" Target="../notesSlides/notesSlide42.xml"/><Relationship Id="rId1" Type="http://schemas.openxmlformats.org/officeDocument/2006/relationships/slideLayout" Target="../slideLayouts/slideLayout9.xml"/><Relationship Id="rId4" Type="http://schemas.openxmlformats.org/officeDocument/2006/relationships/image" Target="../media/image27.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Microsoft_Excel_97-2003_Worksheet8.xls"/><Relationship Id="rId2" Type="http://schemas.openxmlformats.org/officeDocument/2006/relationships/notesSlide" Target="../notesSlides/notesSlide43.xml"/><Relationship Id="rId1" Type="http://schemas.openxmlformats.org/officeDocument/2006/relationships/slideLayout" Target="../slideLayouts/slideLayout9.xml"/><Relationship Id="rId6" Type="http://schemas.openxmlformats.org/officeDocument/2006/relationships/image" Target="../media/image26.emf"/><Relationship Id="rId5" Type="http://schemas.openxmlformats.org/officeDocument/2006/relationships/oleObject" Target="../embeddings/Microsoft_Excel_97-2003_Worksheet9.xls"/><Relationship Id="rId4" Type="http://schemas.openxmlformats.org/officeDocument/2006/relationships/image" Target="../media/image27.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Microsoft_Excel_97-2003_Worksheet10.xls"/><Relationship Id="rId2" Type="http://schemas.openxmlformats.org/officeDocument/2006/relationships/notesSlide" Target="../notesSlides/notesSlide44.xml"/><Relationship Id="rId1" Type="http://schemas.openxmlformats.org/officeDocument/2006/relationships/slideLayout" Target="../slideLayouts/slideLayout9.xml"/><Relationship Id="rId6" Type="http://schemas.openxmlformats.org/officeDocument/2006/relationships/image" Target="../media/image26.emf"/><Relationship Id="rId5" Type="http://schemas.openxmlformats.org/officeDocument/2006/relationships/oleObject" Target="../embeddings/Microsoft_Excel_97-2003_Worksheet11.xls"/><Relationship Id="rId4" Type="http://schemas.openxmlformats.org/officeDocument/2006/relationships/image" Target="../media/image27.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Microsoft_Excel_97-2003_Worksheet12.xl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2"/>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Sales &amp; Operations Planning</a:t>
            </a:r>
          </a:p>
        </p:txBody>
      </p:sp>
      <p:sp>
        <p:nvSpPr>
          <p:cNvPr id="2" name="Subtitle 2">
            <a:extLst>
              <a:ext uri="{FF2B5EF4-FFF2-40B4-BE49-F238E27FC236}">
                <a16:creationId xmlns:a16="http://schemas.microsoft.com/office/drawing/2014/main" id="{EDDFCB8E-50DB-9E20-EE16-7DD24F1FD356}"/>
              </a:ext>
            </a:extLst>
          </p:cNvPr>
          <p:cNvSpPr txBox="1">
            <a:spLocks/>
          </p:cNvSpPr>
          <p:nvPr/>
        </p:nvSpPr>
        <p:spPr>
          <a:xfrm>
            <a:off x="1524000" y="4953466"/>
            <a:ext cx="9144000" cy="4021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Matching Consensus Demand Planning To Manufacturing Capabilities Program Overview, Implementation &amp; Training Module</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S&amp;OP Defined:  </a:t>
            </a:r>
            <a:br>
              <a:rPr lang="en-US" sz="3600" dirty="0"/>
            </a:br>
            <a:r>
              <a:rPr lang="en-US" sz="3600" dirty="0"/>
              <a:t>Integrated, “One Plan” Driving Entire Enterprise</a:t>
            </a:r>
          </a:p>
        </p:txBody>
      </p:sp>
      <p:grpSp>
        <p:nvGrpSpPr>
          <p:cNvPr id="26" name="Group 25">
            <a:extLst>
              <a:ext uri="{FF2B5EF4-FFF2-40B4-BE49-F238E27FC236}">
                <a16:creationId xmlns:a16="http://schemas.microsoft.com/office/drawing/2014/main" id="{EE63121B-BFC7-3C8B-B330-5CF2B030C885}"/>
              </a:ext>
            </a:extLst>
          </p:cNvPr>
          <p:cNvGrpSpPr/>
          <p:nvPr/>
        </p:nvGrpSpPr>
        <p:grpSpPr>
          <a:xfrm>
            <a:off x="1173750" y="1913860"/>
            <a:ext cx="9844501" cy="4391247"/>
            <a:chOff x="458448" y="1707658"/>
            <a:chExt cx="8332788" cy="4615355"/>
          </a:xfrm>
        </p:grpSpPr>
        <p:sp>
          <p:nvSpPr>
            <p:cNvPr id="3" name="Rectangle 24">
              <a:extLst>
                <a:ext uri="{FF2B5EF4-FFF2-40B4-BE49-F238E27FC236}">
                  <a16:creationId xmlns:a16="http://schemas.microsoft.com/office/drawing/2014/main" id="{1A6A59ED-92C0-D268-8F17-408FE0312243}"/>
                </a:ext>
              </a:extLst>
            </p:cNvPr>
            <p:cNvSpPr>
              <a:spLocks noChangeArrowheads="1"/>
            </p:cNvSpPr>
            <p:nvPr/>
          </p:nvSpPr>
          <p:spPr bwMode="auto">
            <a:xfrm>
              <a:off x="458448" y="1709245"/>
              <a:ext cx="3778250" cy="333533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 name="Rectangle 5">
              <a:extLst>
                <a:ext uri="{FF2B5EF4-FFF2-40B4-BE49-F238E27FC236}">
                  <a16:creationId xmlns:a16="http://schemas.microsoft.com/office/drawing/2014/main" id="{1F30E45B-1F6D-5C6C-EA7A-F1B0AD4977EB}"/>
                </a:ext>
              </a:extLst>
            </p:cNvPr>
            <p:cNvSpPr>
              <a:spLocks noChangeArrowheads="1"/>
            </p:cNvSpPr>
            <p:nvPr/>
          </p:nvSpPr>
          <p:spPr bwMode="auto">
            <a:xfrm>
              <a:off x="1700880" y="5408613"/>
              <a:ext cx="6422018" cy="914400"/>
            </a:xfrm>
            <a:prstGeom prst="rect">
              <a:avLst/>
            </a:prstGeom>
            <a:solidFill>
              <a:schemeClr val="accent5"/>
            </a:solidFill>
            <a:ln>
              <a:solidFill>
                <a:schemeClr val="tx1"/>
              </a:solidFill>
            </a:ln>
          </p:spPr>
          <p:txBody>
            <a:bodyPr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spcBef>
                  <a:spcPct val="0"/>
                </a:spcBef>
                <a:buClrTx/>
                <a:buSzTx/>
                <a:buFontTx/>
                <a:buNone/>
              </a:pPr>
              <a:r>
                <a:rPr lang="en-US" altLang="en-US" dirty="0">
                  <a:solidFill>
                    <a:schemeClr val="bg1"/>
                  </a:solidFill>
                  <a:latin typeface="+mn-lt"/>
                </a:rPr>
                <a:t>A  disciplined, methodical process designed to synchronize supply &amp; demand in order to provide superior customer service.</a:t>
              </a:r>
            </a:p>
          </p:txBody>
        </p:sp>
        <p:sp>
          <p:nvSpPr>
            <p:cNvPr id="5" name="Text Box 7">
              <a:extLst>
                <a:ext uri="{FF2B5EF4-FFF2-40B4-BE49-F238E27FC236}">
                  <a16:creationId xmlns:a16="http://schemas.microsoft.com/office/drawing/2014/main" id="{C438B75D-CCE2-E999-C99D-E0F3E7C3C96A}"/>
                </a:ext>
              </a:extLst>
            </p:cNvPr>
            <p:cNvSpPr txBox="1">
              <a:spLocks noChangeArrowheads="1"/>
            </p:cNvSpPr>
            <p:nvPr/>
          </p:nvSpPr>
          <p:spPr bwMode="auto">
            <a:xfrm>
              <a:off x="682286" y="2169619"/>
              <a:ext cx="3533775" cy="7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buClrTx/>
                <a:buSzTx/>
                <a:buFontTx/>
                <a:buNone/>
              </a:pPr>
              <a:r>
                <a:rPr lang="en-US" altLang="en-US" sz="1400" dirty="0">
                  <a:latin typeface="+mn-lt"/>
                </a:rPr>
                <a:t>S&amp;OP is an integrated process that consolidates all areas of the business into a single, Integrated set of operations plans</a:t>
              </a:r>
            </a:p>
          </p:txBody>
        </p:sp>
        <p:sp>
          <p:nvSpPr>
            <p:cNvPr id="6" name="Rectangle 12">
              <a:extLst>
                <a:ext uri="{FF2B5EF4-FFF2-40B4-BE49-F238E27FC236}">
                  <a16:creationId xmlns:a16="http://schemas.microsoft.com/office/drawing/2014/main" id="{DFD6DF6C-EA99-E59B-5352-539AA12BD5FF}"/>
                </a:ext>
              </a:extLst>
            </p:cNvPr>
            <p:cNvSpPr>
              <a:spLocks noChangeArrowheads="1"/>
            </p:cNvSpPr>
            <p:nvPr/>
          </p:nvSpPr>
          <p:spPr bwMode="auto">
            <a:xfrm>
              <a:off x="637836" y="2033095"/>
              <a:ext cx="3421062" cy="1128713"/>
            </a:xfrm>
            <a:prstGeom prst="rect">
              <a:avLst/>
            </a:prstGeom>
            <a:noFill/>
            <a:ln w="1905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 name="Text Box 13">
              <a:extLst>
                <a:ext uri="{FF2B5EF4-FFF2-40B4-BE49-F238E27FC236}">
                  <a16:creationId xmlns:a16="http://schemas.microsoft.com/office/drawing/2014/main" id="{C6AC99D4-A390-64EC-C022-6E186EB3738F}"/>
                </a:ext>
              </a:extLst>
            </p:cNvPr>
            <p:cNvSpPr txBox="1">
              <a:spLocks noChangeArrowheads="1"/>
            </p:cNvSpPr>
            <p:nvPr/>
          </p:nvSpPr>
          <p:spPr bwMode="auto">
            <a:xfrm>
              <a:off x="810874" y="1877520"/>
              <a:ext cx="1455738" cy="3040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dirty="0">
                  <a:latin typeface="+mn-lt"/>
                </a:rPr>
                <a:t>“</a:t>
              </a:r>
              <a:r>
                <a:rPr lang="en-US" altLang="ja-JP" dirty="0">
                  <a:latin typeface="+mn-lt"/>
                </a:rPr>
                <a:t>The Definition</a:t>
              </a:r>
              <a:r>
                <a:rPr lang="ja-JP" altLang="en-US" dirty="0">
                  <a:latin typeface="+mn-lt"/>
                </a:rPr>
                <a:t>”</a:t>
              </a:r>
              <a:endParaRPr lang="en-US" altLang="en-US" dirty="0">
                <a:latin typeface="+mn-lt"/>
              </a:endParaRPr>
            </a:p>
          </p:txBody>
        </p:sp>
        <p:sp>
          <p:nvSpPr>
            <p:cNvPr id="8" name="Rectangle 8">
              <a:extLst>
                <a:ext uri="{FF2B5EF4-FFF2-40B4-BE49-F238E27FC236}">
                  <a16:creationId xmlns:a16="http://schemas.microsoft.com/office/drawing/2014/main" id="{C1BB6BA0-1366-0383-8CC3-9A9A7318DD60}"/>
                </a:ext>
              </a:extLst>
            </p:cNvPr>
            <p:cNvSpPr>
              <a:spLocks noChangeArrowheads="1"/>
            </p:cNvSpPr>
            <p:nvPr/>
          </p:nvSpPr>
          <p:spPr bwMode="auto">
            <a:xfrm>
              <a:off x="628311" y="4344495"/>
              <a:ext cx="727075" cy="309563"/>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Buy</a:t>
              </a:r>
            </a:p>
          </p:txBody>
        </p:sp>
        <p:sp>
          <p:nvSpPr>
            <p:cNvPr id="9" name="Rectangle 9">
              <a:extLst>
                <a:ext uri="{FF2B5EF4-FFF2-40B4-BE49-F238E27FC236}">
                  <a16:creationId xmlns:a16="http://schemas.microsoft.com/office/drawing/2014/main" id="{8EB19964-281E-C354-961E-03B23374D1AE}"/>
                </a:ext>
              </a:extLst>
            </p:cNvPr>
            <p:cNvSpPr>
              <a:spLocks noChangeArrowheads="1"/>
            </p:cNvSpPr>
            <p:nvPr/>
          </p:nvSpPr>
          <p:spPr bwMode="auto">
            <a:xfrm>
              <a:off x="1537948" y="4344495"/>
              <a:ext cx="728663" cy="309563"/>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Move</a:t>
              </a:r>
            </a:p>
          </p:txBody>
        </p:sp>
        <p:sp>
          <p:nvSpPr>
            <p:cNvPr id="10" name="Rectangle 10">
              <a:extLst>
                <a:ext uri="{FF2B5EF4-FFF2-40B4-BE49-F238E27FC236}">
                  <a16:creationId xmlns:a16="http://schemas.microsoft.com/office/drawing/2014/main" id="{B99ADC19-AA25-D1AC-0473-E48CC7BCC7C3}"/>
                </a:ext>
              </a:extLst>
            </p:cNvPr>
            <p:cNvSpPr>
              <a:spLocks noChangeArrowheads="1"/>
            </p:cNvSpPr>
            <p:nvPr/>
          </p:nvSpPr>
          <p:spPr bwMode="auto">
            <a:xfrm>
              <a:off x="2430123" y="4344495"/>
              <a:ext cx="728663" cy="309563"/>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Make</a:t>
              </a:r>
            </a:p>
          </p:txBody>
        </p:sp>
        <p:sp>
          <p:nvSpPr>
            <p:cNvPr id="11" name="Rectangle 11">
              <a:extLst>
                <a:ext uri="{FF2B5EF4-FFF2-40B4-BE49-F238E27FC236}">
                  <a16:creationId xmlns:a16="http://schemas.microsoft.com/office/drawing/2014/main" id="{895D0EE6-30BE-3F0D-99F1-93AC6AD1C311}"/>
                </a:ext>
              </a:extLst>
            </p:cNvPr>
            <p:cNvSpPr>
              <a:spLocks noChangeArrowheads="1"/>
            </p:cNvSpPr>
            <p:nvPr/>
          </p:nvSpPr>
          <p:spPr bwMode="auto">
            <a:xfrm>
              <a:off x="3333411" y="4344495"/>
              <a:ext cx="727075" cy="309563"/>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Sell</a:t>
              </a:r>
            </a:p>
          </p:txBody>
        </p:sp>
        <p:sp>
          <p:nvSpPr>
            <p:cNvPr id="12" name="Rectangle 18">
              <a:extLst>
                <a:ext uri="{FF2B5EF4-FFF2-40B4-BE49-F238E27FC236}">
                  <a16:creationId xmlns:a16="http://schemas.microsoft.com/office/drawing/2014/main" id="{25190784-47D7-C69D-0AB4-19FDA5810DAE}"/>
                </a:ext>
              </a:extLst>
            </p:cNvPr>
            <p:cNvSpPr>
              <a:spLocks noChangeArrowheads="1"/>
            </p:cNvSpPr>
            <p:nvPr/>
          </p:nvSpPr>
          <p:spPr bwMode="auto">
            <a:xfrm>
              <a:off x="641011" y="3550745"/>
              <a:ext cx="3419475" cy="309563"/>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200" dirty="0">
                  <a:solidFill>
                    <a:schemeClr val="bg1"/>
                  </a:solidFill>
                  <a:latin typeface="+mn-lt"/>
                </a:rPr>
                <a:t>“</a:t>
              </a:r>
              <a:r>
                <a:rPr lang="en-US" altLang="ja-JP" sz="1200" dirty="0">
                  <a:solidFill>
                    <a:schemeClr val="bg1"/>
                  </a:solidFill>
                  <a:latin typeface="+mn-lt"/>
                </a:rPr>
                <a:t>One Plan</a:t>
              </a:r>
              <a:r>
                <a:rPr lang="ja-JP" altLang="en-US" sz="1200" dirty="0">
                  <a:solidFill>
                    <a:schemeClr val="bg1"/>
                  </a:solidFill>
                  <a:latin typeface="+mn-lt"/>
                </a:rPr>
                <a:t>”</a:t>
              </a:r>
              <a:r>
                <a:rPr lang="en-US" altLang="ja-JP" sz="1200" dirty="0">
                  <a:solidFill>
                    <a:schemeClr val="bg1"/>
                  </a:solidFill>
                  <a:latin typeface="+mn-lt"/>
                </a:rPr>
                <a:t> Driving The Enterprise</a:t>
              </a:r>
              <a:endParaRPr lang="en-US" altLang="en-US" sz="1200" dirty="0">
                <a:solidFill>
                  <a:schemeClr val="bg1"/>
                </a:solidFill>
                <a:latin typeface="+mn-lt"/>
              </a:endParaRPr>
            </a:p>
          </p:txBody>
        </p:sp>
        <p:cxnSp>
          <p:nvCxnSpPr>
            <p:cNvPr id="13" name="AutoShape 20">
              <a:extLst>
                <a:ext uri="{FF2B5EF4-FFF2-40B4-BE49-F238E27FC236}">
                  <a16:creationId xmlns:a16="http://schemas.microsoft.com/office/drawing/2014/main" id="{29967BE5-7254-3324-0946-E0F3FD37BB74}"/>
                </a:ext>
              </a:extLst>
            </p:cNvPr>
            <p:cNvCxnSpPr>
              <a:cxnSpLocks noChangeShapeType="1"/>
              <a:stCxn id="12" idx="2"/>
              <a:endCxn id="9" idx="0"/>
            </p:cNvCxnSpPr>
            <p:nvPr/>
          </p:nvCxnSpPr>
          <p:spPr bwMode="auto">
            <a:xfrm rot="5400000">
              <a:off x="1884817" y="3878564"/>
              <a:ext cx="484187" cy="447675"/>
            </a:xfrm>
            <a:prstGeom prst="bentConnector3">
              <a:avLst>
                <a:gd name="adj1" fmla="val 4983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4" name="AutoShape 21">
              <a:extLst>
                <a:ext uri="{FF2B5EF4-FFF2-40B4-BE49-F238E27FC236}">
                  <a16:creationId xmlns:a16="http://schemas.microsoft.com/office/drawing/2014/main" id="{B8CAA1E3-A384-DCDC-258F-7ACE052A51AB}"/>
                </a:ext>
              </a:extLst>
            </p:cNvPr>
            <p:cNvCxnSpPr>
              <a:cxnSpLocks noChangeShapeType="1"/>
              <a:stCxn id="12" idx="2"/>
              <a:endCxn id="10" idx="0"/>
            </p:cNvCxnSpPr>
            <p:nvPr/>
          </p:nvCxnSpPr>
          <p:spPr bwMode="auto">
            <a:xfrm rot="16200000" flipH="1">
              <a:off x="2330904" y="3880152"/>
              <a:ext cx="484187" cy="444500"/>
            </a:xfrm>
            <a:prstGeom prst="bentConnector3">
              <a:avLst>
                <a:gd name="adj1" fmla="val 4983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5" name="AutoShape 22">
              <a:extLst>
                <a:ext uri="{FF2B5EF4-FFF2-40B4-BE49-F238E27FC236}">
                  <a16:creationId xmlns:a16="http://schemas.microsoft.com/office/drawing/2014/main" id="{0FE7E9B6-D679-DCCA-9F93-972D058CDB68}"/>
                </a:ext>
              </a:extLst>
            </p:cNvPr>
            <p:cNvCxnSpPr>
              <a:cxnSpLocks noChangeShapeType="1"/>
              <a:stCxn id="12" idx="2"/>
              <a:endCxn id="11" idx="0"/>
            </p:cNvCxnSpPr>
            <p:nvPr/>
          </p:nvCxnSpPr>
          <p:spPr bwMode="auto">
            <a:xfrm rot="16200000" flipH="1">
              <a:off x="2781754" y="3429302"/>
              <a:ext cx="484187" cy="1346200"/>
            </a:xfrm>
            <a:prstGeom prst="bentConnector3">
              <a:avLst>
                <a:gd name="adj1" fmla="val 4983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 name="AutoShape 26">
              <a:extLst>
                <a:ext uri="{FF2B5EF4-FFF2-40B4-BE49-F238E27FC236}">
                  <a16:creationId xmlns:a16="http://schemas.microsoft.com/office/drawing/2014/main" id="{0B70F8B0-3A7B-4085-8C18-86C1CB33487F}"/>
                </a:ext>
              </a:extLst>
            </p:cNvPr>
            <p:cNvCxnSpPr>
              <a:cxnSpLocks noChangeShapeType="1"/>
              <a:stCxn id="12" idx="2"/>
              <a:endCxn id="8" idx="0"/>
            </p:cNvCxnSpPr>
            <p:nvPr/>
          </p:nvCxnSpPr>
          <p:spPr bwMode="auto">
            <a:xfrm rot="5400000">
              <a:off x="1429204" y="3422952"/>
              <a:ext cx="484187" cy="1358900"/>
            </a:xfrm>
            <a:prstGeom prst="bentConnector3">
              <a:avLst>
                <a:gd name="adj1" fmla="val 4983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7" name="Line 27">
              <a:extLst>
                <a:ext uri="{FF2B5EF4-FFF2-40B4-BE49-F238E27FC236}">
                  <a16:creationId xmlns:a16="http://schemas.microsoft.com/office/drawing/2014/main" id="{D1BD2C82-5484-4209-12A8-14D9C6220A09}"/>
                </a:ext>
              </a:extLst>
            </p:cNvPr>
            <p:cNvSpPr>
              <a:spLocks noChangeShapeType="1"/>
            </p:cNvSpPr>
            <p:nvPr/>
          </p:nvSpPr>
          <p:spPr bwMode="auto">
            <a:xfrm>
              <a:off x="4400211" y="1709245"/>
              <a:ext cx="9525" cy="3335338"/>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28">
              <a:extLst>
                <a:ext uri="{FF2B5EF4-FFF2-40B4-BE49-F238E27FC236}">
                  <a16:creationId xmlns:a16="http://schemas.microsoft.com/office/drawing/2014/main" id="{ED47D530-B9FC-EB6B-A364-6789D0B53075}"/>
                </a:ext>
              </a:extLst>
            </p:cNvPr>
            <p:cNvSpPr>
              <a:spLocks noChangeArrowheads="1"/>
            </p:cNvSpPr>
            <p:nvPr/>
          </p:nvSpPr>
          <p:spPr bwMode="auto">
            <a:xfrm>
              <a:off x="4566898" y="1707658"/>
              <a:ext cx="2008188" cy="5349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Demand Planning</a:t>
              </a:r>
            </a:p>
            <a:p>
              <a:pPr algn="ctr">
                <a:lnSpc>
                  <a:spcPct val="80000"/>
                </a:lnSpc>
                <a:buClrTx/>
                <a:buSzTx/>
                <a:buFontTx/>
                <a:buNone/>
              </a:pPr>
              <a:r>
                <a:rPr lang="en-US" altLang="en-US" sz="1100">
                  <a:solidFill>
                    <a:schemeClr val="bg1"/>
                  </a:solidFill>
                  <a:latin typeface="+mn-lt"/>
                </a:rPr>
                <a:t>How much does the </a:t>
              </a:r>
            </a:p>
            <a:p>
              <a:pPr algn="ctr">
                <a:lnSpc>
                  <a:spcPct val="80000"/>
                </a:lnSpc>
                <a:buClrTx/>
                <a:buSzTx/>
                <a:buFontTx/>
                <a:buNone/>
              </a:pPr>
              <a:r>
                <a:rPr lang="en-US" altLang="en-US" sz="1100">
                  <a:solidFill>
                    <a:schemeClr val="bg1"/>
                  </a:solidFill>
                  <a:latin typeface="+mn-lt"/>
                </a:rPr>
                <a:t>Customer Need?</a:t>
              </a:r>
            </a:p>
          </p:txBody>
        </p:sp>
        <p:sp>
          <p:nvSpPr>
            <p:cNvPr id="19" name="Rectangle 29">
              <a:extLst>
                <a:ext uri="{FF2B5EF4-FFF2-40B4-BE49-F238E27FC236}">
                  <a16:creationId xmlns:a16="http://schemas.microsoft.com/office/drawing/2014/main" id="{CA6E65EA-3505-9D07-0B3B-EF1D8E886A5D}"/>
                </a:ext>
              </a:extLst>
            </p:cNvPr>
            <p:cNvSpPr>
              <a:spLocks noChangeArrowheads="1"/>
            </p:cNvSpPr>
            <p:nvPr/>
          </p:nvSpPr>
          <p:spPr bwMode="auto">
            <a:xfrm>
              <a:off x="6783048" y="1707658"/>
              <a:ext cx="2008188" cy="5349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Planning</a:t>
              </a:r>
            </a:p>
            <a:p>
              <a:pPr algn="ctr">
                <a:lnSpc>
                  <a:spcPct val="80000"/>
                </a:lnSpc>
                <a:buClrTx/>
                <a:buSzTx/>
                <a:buFontTx/>
                <a:buNone/>
              </a:pPr>
              <a:r>
                <a:rPr lang="en-US" altLang="en-US" sz="1100">
                  <a:solidFill>
                    <a:schemeClr val="bg1"/>
                  </a:solidFill>
                  <a:latin typeface="+mn-lt"/>
                </a:rPr>
                <a:t>How will we produce, fulfill</a:t>
              </a:r>
            </a:p>
            <a:p>
              <a:pPr algn="ctr">
                <a:lnSpc>
                  <a:spcPct val="80000"/>
                </a:lnSpc>
                <a:buClrTx/>
                <a:buSzTx/>
                <a:buFontTx/>
                <a:buNone/>
              </a:pPr>
              <a:r>
                <a:rPr lang="en-US" altLang="en-US" sz="1100">
                  <a:solidFill>
                    <a:schemeClr val="bg1"/>
                  </a:solidFill>
                  <a:latin typeface="+mn-lt"/>
                </a:rPr>
                <a:t>And deliver the product?</a:t>
              </a:r>
            </a:p>
          </p:txBody>
        </p:sp>
        <p:sp>
          <p:nvSpPr>
            <p:cNvPr id="20" name="Freeform 30">
              <a:extLst>
                <a:ext uri="{FF2B5EF4-FFF2-40B4-BE49-F238E27FC236}">
                  <a16:creationId xmlns:a16="http://schemas.microsoft.com/office/drawing/2014/main" id="{AE264E51-FEE4-BBC5-3821-116031415E27}"/>
                </a:ext>
              </a:extLst>
            </p:cNvPr>
            <p:cNvSpPr>
              <a:spLocks/>
            </p:cNvSpPr>
            <p:nvPr/>
          </p:nvSpPr>
          <p:spPr bwMode="auto">
            <a:xfrm>
              <a:off x="5503523" y="2806208"/>
              <a:ext cx="2349500" cy="1257300"/>
            </a:xfrm>
            <a:custGeom>
              <a:avLst/>
              <a:gdLst>
                <a:gd name="T0" fmla="*/ 0 w 1398"/>
                <a:gd name="T1" fmla="*/ 0 h 618"/>
                <a:gd name="T2" fmla="*/ 1559106688 w 1398"/>
                <a:gd name="T3" fmla="*/ 1589396061 h 618"/>
                <a:gd name="T4" fmla="*/ 1559106688 w 1398"/>
                <a:gd name="T5" fmla="*/ 2147483646 h 618"/>
                <a:gd name="T6" fmla="*/ 2147483646 w 1398"/>
                <a:gd name="T7" fmla="*/ 2147483646 h 618"/>
                <a:gd name="T8" fmla="*/ 2147483646 w 1398"/>
                <a:gd name="T9" fmla="*/ 1589396061 h 618"/>
                <a:gd name="T10" fmla="*/ 2147483646 w 1398"/>
                <a:gd name="T11" fmla="*/ 24834727 h 6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8" h="618">
                  <a:moveTo>
                    <a:pt x="0" y="0"/>
                  </a:moveTo>
                  <a:lnTo>
                    <a:pt x="552" y="384"/>
                  </a:lnTo>
                  <a:lnTo>
                    <a:pt x="552" y="618"/>
                  </a:lnTo>
                  <a:lnTo>
                    <a:pt x="816" y="618"/>
                  </a:lnTo>
                  <a:lnTo>
                    <a:pt x="816" y="384"/>
                  </a:lnTo>
                  <a:lnTo>
                    <a:pt x="1398" y="6"/>
                  </a:lnTo>
                </a:path>
              </a:pathLst>
            </a:custGeom>
            <a:solidFill>
              <a:srgbClr val="808080"/>
            </a:solidFill>
            <a:ln w="22225" cap="flat" cmpd="sng">
              <a:solidFill>
                <a:srgbClr val="808080"/>
              </a:solidFill>
              <a:prstDash val="solid"/>
              <a:round/>
              <a:headEnd type="none" w="sm" len="sm"/>
              <a:tailEnd type="none" w="sm" len="sm"/>
            </a:ln>
          </p:spPr>
          <p:txBody>
            <a:bodyPr wrap="none" anchor="ctr"/>
            <a:lstStyle/>
            <a:p>
              <a:endParaRPr lang="en-US"/>
            </a:p>
          </p:txBody>
        </p:sp>
        <p:sp>
          <p:nvSpPr>
            <p:cNvPr id="21" name="Oval 31">
              <a:extLst>
                <a:ext uri="{FF2B5EF4-FFF2-40B4-BE49-F238E27FC236}">
                  <a16:creationId xmlns:a16="http://schemas.microsoft.com/office/drawing/2014/main" id="{AF6E3DED-1D71-53D5-A7FA-C5C10EA72256}"/>
                </a:ext>
              </a:extLst>
            </p:cNvPr>
            <p:cNvSpPr>
              <a:spLocks noChangeArrowheads="1"/>
            </p:cNvSpPr>
            <p:nvPr/>
          </p:nvSpPr>
          <p:spPr bwMode="auto">
            <a:xfrm>
              <a:off x="5513048" y="2683970"/>
              <a:ext cx="2339975" cy="244475"/>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cxnSp>
          <p:nvCxnSpPr>
            <p:cNvPr id="22" name="AutoShape 33">
              <a:extLst>
                <a:ext uri="{FF2B5EF4-FFF2-40B4-BE49-F238E27FC236}">
                  <a16:creationId xmlns:a16="http://schemas.microsoft.com/office/drawing/2014/main" id="{E9F24B3F-A137-9F3A-EBEA-DE7BA1505164}"/>
                </a:ext>
              </a:extLst>
            </p:cNvPr>
            <p:cNvCxnSpPr>
              <a:cxnSpLocks noChangeShapeType="1"/>
              <a:stCxn id="18" idx="2"/>
              <a:endCxn id="21" idx="0"/>
            </p:cNvCxnSpPr>
            <p:nvPr/>
          </p:nvCxnSpPr>
          <p:spPr bwMode="auto">
            <a:xfrm rot="16200000" flipH="1">
              <a:off x="5906748" y="1907683"/>
              <a:ext cx="441325" cy="111125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34">
              <a:extLst>
                <a:ext uri="{FF2B5EF4-FFF2-40B4-BE49-F238E27FC236}">
                  <a16:creationId xmlns:a16="http://schemas.microsoft.com/office/drawing/2014/main" id="{9FFF288C-CF69-295E-8F08-7D2AA03EF3A5}"/>
                </a:ext>
              </a:extLst>
            </p:cNvPr>
            <p:cNvCxnSpPr>
              <a:cxnSpLocks noChangeShapeType="1"/>
              <a:stCxn id="19" idx="2"/>
              <a:endCxn id="21" idx="0"/>
            </p:cNvCxnSpPr>
            <p:nvPr/>
          </p:nvCxnSpPr>
          <p:spPr bwMode="auto">
            <a:xfrm rot="5400000">
              <a:off x="7014823" y="1910858"/>
              <a:ext cx="441325" cy="110490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 name="Rectangle 35">
              <a:extLst>
                <a:ext uri="{FF2B5EF4-FFF2-40B4-BE49-F238E27FC236}">
                  <a16:creationId xmlns:a16="http://schemas.microsoft.com/office/drawing/2014/main" id="{6A5FC2F9-DB86-F549-F69A-0A7F5C3E2BBC}"/>
                </a:ext>
              </a:extLst>
            </p:cNvPr>
            <p:cNvSpPr>
              <a:spLocks noChangeArrowheads="1"/>
            </p:cNvSpPr>
            <p:nvPr/>
          </p:nvSpPr>
          <p:spPr bwMode="auto">
            <a:xfrm>
              <a:off x="5236823" y="4246070"/>
              <a:ext cx="2886075" cy="320675"/>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Sales &amp; Operations Planning</a:t>
              </a:r>
            </a:p>
          </p:txBody>
        </p:sp>
        <p:sp>
          <p:nvSpPr>
            <p:cNvPr id="25" name="Text Box 36">
              <a:extLst>
                <a:ext uri="{FF2B5EF4-FFF2-40B4-BE49-F238E27FC236}">
                  <a16:creationId xmlns:a16="http://schemas.microsoft.com/office/drawing/2014/main" id="{BC4A0026-5EB7-DDC1-6E79-F0CEB28AFF73}"/>
                </a:ext>
              </a:extLst>
            </p:cNvPr>
            <p:cNvSpPr txBox="1">
              <a:spLocks noChangeArrowheads="1"/>
            </p:cNvSpPr>
            <p:nvPr/>
          </p:nvSpPr>
          <p:spPr bwMode="auto">
            <a:xfrm>
              <a:off x="5302926" y="4593733"/>
              <a:ext cx="2637982" cy="50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buClrTx/>
                <a:buSzTx/>
                <a:buFontTx/>
                <a:buNone/>
              </a:pPr>
              <a:r>
                <a:rPr lang="ja-JP" altLang="en-US" sz="1200" i="1" dirty="0">
                  <a:solidFill>
                    <a:schemeClr val="tx2"/>
                  </a:solidFill>
                  <a:latin typeface="+mn-lt"/>
                </a:rPr>
                <a:t>“</a:t>
              </a:r>
              <a:r>
                <a:rPr lang="en-US" altLang="ja-JP" sz="1200" i="1" dirty="0">
                  <a:solidFill>
                    <a:schemeClr val="tx2"/>
                  </a:solidFill>
                  <a:latin typeface="+mn-lt"/>
                </a:rPr>
                <a:t>The Complete Balance of Customer Needs</a:t>
              </a:r>
            </a:p>
            <a:p>
              <a:pPr algn="ctr">
                <a:lnSpc>
                  <a:spcPct val="95000"/>
                </a:lnSpc>
                <a:buClrTx/>
                <a:buSzTx/>
                <a:buFontTx/>
                <a:buNone/>
              </a:pPr>
              <a:r>
                <a:rPr lang="en-US" altLang="en-US" sz="1200" i="1" dirty="0">
                  <a:solidFill>
                    <a:schemeClr val="tx2"/>
                  </a:solidFill>
                  <a:latin typeface="+mn-lt"/>
                </a:rPr>
                <a:t>With Our Supply Capabilities</a:t>
              </a:r>
              <a:r>
                <a:rPr lang="ja-JP" altLang="en-US" sz="1200" i="1" dirty="0">
                  <a:solidFill>
                    <a:schemeClr val="tx2"/>
                  </a:solidFill>
                  <a:latin typeface="+mn-lt"/>
                </a:rPr>
                <a:t>”</a:t>
              </a:r>
              <a:endParaRPr lang="en-US" altLang="en-US" sz="1200" i="1" dirty="0">
                <a:solidFill>
                  <a:schemeClr val="tx2"/>
                </a:solidFill>
                <a:latin typeface="+mn-lt"/>
              </a:endParaRPr>
            </a:p>
          </p:txBody>
        </p:sp>
      </p:grpSp>
    </p:spTree>
    <p:extLst>
      <p:ext uri="{BB962C8B-B14F-4D97-AF65-F5344CB8AC3E}">
        <p14:creationId xmlns:p14="http://schemas.microsoft.com/office/powerpoint/2010/main" val="250108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SIOP Defined: </a:t>
            </a:r>
            <a:br>
              <a:rPr lang="en-US" sz="3600" dirty="0"/>
            </a:br>
            <a:r>
              <a:rPr lang="en-US" sz="3600" dirty="0"/>
              <a:t>Integrated, “One Plan” Driving Entire Enterprise</a:t>
            </a:r>
          </a:p>
        </p:txBody>
      </p:sp>
      <p:grpSp>
        <p:nvGrpSpPr>
          <p:cNvPr id="30" name="Group 29">
            <a:extLst>
              <a:ext uri="{FF2B5EF4-FFF2-40B4-BE49-F238E27FC236}">
                <a16:creationId xmlns:a16="http://schemas.microsoft.com/office/drawing/2014/main" id="{9EECEA2C-B6EB-2301-4711-F628DA67DB5C}"/>
              </a:ext>
            </a:extLst>
          </p:cNvPr>
          <p:cNvGrpSpPr/>
          <p:nvPr/>
        </p:nvGrpSpPr>
        <p:grpSpPr>
          <a:xfrm>
            <a:off x="445452" y="1915370"/>
            <a:ext cx="11207209" cy="4389737"/>
            <a:chOff x="445452" y="1915370"/>
            <a:chExt cx="11207209" cy="4389737"/>
          </a:xfrm>
        </p:grpSpPr>
        <p:grpSp>
          <p:nvGrpSpPr>
            <p:cNvPr id="26" name="Group 25">
              <a:extLst>
                <a:ext uri="{FF2B5EF4-FFF2-40B4-BE49-F238E27FC236}">
                  <a16:creationId xmlns:a16="http://schemas.microsoft.com/office/drawing/2014/main" id="{EE63121B-BFC7-3C8B-B330-5CF2B030C885}"/>
                </a:ext>
              </a:extLst>
            </p:cNvPr>
            <p:cNvGrpSpPr/>
            <p:nvPr/>
          </p:nvGrpSpPr>
          <p:grpSpPr>
            <a:xfrm>
              <a:off x="445452" y="1915370"/>
              <a:ext cx="9783213" cy="4389737"/>
              <a:chOff x="-158013" y="1709245"/>
              <a:chExt cx="8280911" cy="4613768"/>
            </a:xfrm>
          </p:grpSpPr>
          <p:sp>
            <p:nvSpPr>
              <p:cNvPr id="4" name="Rectangle 5">
                <a:extLst>
                  <a:ext uri="{FF2B5EF4-FFF2-40B4-BE49-F238E27FC236}">
                    <a16:creationId xmlns:a16="http://schemas.microsoft.com/office/drawing/2014/main" id="{1F30E45B-1F6D-5C6C-EA7A-F1B0AD4977EB}"/>
                  </a:ext>
                </a:extLst>
              </p:cNvPr>
              <p:cNvSpPr>
                <a:spLocks noChangeArrowheads="1"/>
              </p:cNvSpPr>
              <p:nvPr/>
            </p:nvSpPr>
            <p:spPr bwMode="auto">
              <a:xfrm>
                <a:off x="1700880" y="5408613"/>
                <a:ext cx="6422018" cy="914400"/>
              </a:xfrm>
              <a:prstGeom prst="rect">
                <a:avLst/>
              </a:prstGeom>
              <a:solidFill>
                <a:schemeClr val="accent5"/>
              </a:solidFill>
              <a:ln>
                <a:solidFill>
                  <a:schemeClr val="tx1"/>
                </a:solidFill>
              </a:ln>
            </p:spPr>
            <p:txBody>
              <a:bodyPr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spcBef>
                    <a:spcPct val="0"/>
                  </a:spcBef>
                  <a:buClrTx/>
                  <a:buSzTx/>
                  <a:buFontTx/>
                  <a:buNone/>
                </a:pPr>
                <a:r>
                  <a:rPr lang="en-US" altLang="en-US" dirty="0">
                    <a:solidFill>
                      <a:schemeClr val="bg1"/>
                    </a:solidFill>
                    <a:latin typeface="+mn-lt"/>
                  </a:rPr>
                  <a:t>S&amp;OP must become a standard monthly process through which the resources of the enterprise are evaluated against changes in the marketplace.</a:t>
                </a:r>
              </a:p>
            </p:txBody>
          </p:sp>
          <p:sp>
            <p:nvSpPr>
              <p:cNvPr id="17" name="Line 27">
                <a:extLst>
                  <a:ext uri="{FF2B5EF4-FFF2-40B4-BE49-F238E27FC236}">
                    <a16:creationId xmlns:a16="http://schemas.microsoft.com/office/drawing/2014/main" id="{D1BD2C82-5484-4209-12A8-14D9C6220A09}"/>
                  </a:ext>
                </a:extLst>
              </p:cNvPr>
              <p:cNvSpPr>
                <a:spLocks noChangeShapeType="1"/>
              </p:cNvSpPr>
              <p:nvPr/>
            </p:nvSpPr>
            <p:spPr bwMode="auto">
              <a:xfrm>
                <a:off x="4400211" y="1709245"/>
                <a:ext cx="9525" cy="3335338"/>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28">
                <a:extLst>
                  <a:ext uri="{FF2B5EF4-FFF2-40B4-BE49-F238E27FC236}">
                    <a16:creationId xmlns:a16="http://schemas.microsoft.com/office/drawing/2014/main" id="{ED47D530-B9FC-EB6B-A364-6789D0B53075}"/>
                  </a:ext>
                </a:extLst>
              </p:cNvPr>
              <p:cNvSpPr>
                <a:spLocks noChangeArrowheads="1"/>
              </p:cNvSpPr>
              <p:nvPr/>
            </p:nvSpPr>
            <p:spPr bwMode="auto">
              <a:xfrm>
                <a:off x="-158013" y="1745499"/>
                <a:ext cx="2008188" cy="5349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Demand Planning</a:t>
                </a:r>
              </a:p>
              <a:p>
                <a:pPr algn="ctr">
                  <a:lnSpc>
                    <a:spcPct val="80000"/>
                  </a:lnSpc>
                  <a:buClrTx/>
                  <a:buSzTx/>
                  <a:buFontTx/>
                  <a:buNone/>
                </a:pPr>
                <a:r>
                  <a:rPr lang="en-US" altLang="en-US" sz="1100">
                    <a:solidFill>
                      <a:schemeClr val="bg1"/>
                    </a:solidFill>
                    <a:latin typeface="+mn-lt"/>
                  </a:rPr>
                  <a:t>How much does the </a:t>
                </a:r>
              </a:p>
              <a:p>
                <a:pPr algn="ctr">
                  <a:lnSpc>
                    <a:spcPct val="80000"/>
                  </a:lnSpc>
                  <a:buClrTx/>
                  <a:buSzTx/>
                  <a:buFontTx/>
                  <a:buNone/>
                </a:pPr>
                <a:r>
                  <a:rPr lang="en-US" altLang="en-US" sz="1100">
                    <a:solidFill>
                      <a:schemeClr val="bg1"/>
                    </a:solidFill>
                    <a:latin typeface="+mn-lt"/>
                  </a:rPr>
                  <a:t>Customer Need?</a:t>
                </a:r>
              </a:p>
            </p:txBody>
          </p:sp>
          <p:sp>
            <p:nvSpPr>
              <p:cNvPr id="19" name="Rectangle 29">
                <a:extLst>
                  <a:ext uri="{FF2B5EF4-FFF2-40B4-BE49-F238E27FC236}">
                    <a16:creationId xmlns:a16="http://schemas.microsoft.com/office/drawing/2014/main" id="{CA6E65EA-3505-9D07-0B3B-EF1D8E886A5D}"/>
                  </a:ext>
                </a:extLst>
              </p:cNvPr>
              <p:cNvSpPr>
                <a:spLocks noChangeArrowheads="1"/>
              </p:cNvSpPr>
              <p:nvPr/>
            </p:nvSpPr>
            <p:spPr bwMode="auto">
              <a:xfrm>
                <a:off x="2058137" y="1745499"/>
                <a:ext cx="2008188" cy="5349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Planning</a:t>
                </a:r>
              </a:p>
              <a:p>
                <a:pPr algn="ctr">
                  <a:lnSpc>
                    <a:spcPct val="80000"/>
                  </a:lnSpc>
                  <a:buClrTx/>
                  <a:buSzTx/>
                  <a:buFontTx/>
                  <a:buNone/>
                </a:pPr>
                <a:r>
                  <a:rPr lang="en-US" altLang="en-US" sz="1100">
                    <a:solidFill>
                      <a:schemeClr val="bg1"/>
                    </a:solidFill>
                    <a:latin typeface="+mn-lt"/>
                  </a:rPr>
                  <a:t>How will we produce, fulfill</a:t>
                </a:r>
              </a:p>
              <a:p>
                <a:pPr algn="ctr">
                  <a:lnSpc>
                    <a:spcPct val="80000"/>
                  </a:lnSpc>
                  <a:buClrTx/>
                  <a:buSzTx/>
                  <a:buFontTx/>
                  <a:buNone/>
                </a:pPr>
                <a:r>
                  <a:rPr lang="en-US" altLang="en-US" sz="1100">
                    <a:solidFill>
                      <a:schemeClr val="bg1"/>
                    </a:solidFill>
                    <a:latin typeface="+mn-lt"/>
                  </a:rPr>
                  <a:t>And deliver the product?</a:t>
                </a:r>
              </a:p>
            </p:txBody>
          </p:sp>
          <p:sp>
            <p:nvSpPr>
              <p:cNvPr id="20" name="Freeform 30">
                <a:extLst>
                  <a:ext uri="{FF2B5EF4-FFF2-40B4-BE49-F238E27FC236}">
                    <a16:creationId xmlns:a16="http://schemas.microsoft.com/office/drawing/2014/main" id="{AE264E51-FEE4-BBC5-3821-116031415E27}"/>
                  </a:ext>
                </a:extLst>
              </p:cNvPr>
              <p:cNvSpPr>
                <a:spLocks/>
              </p:cNvSpPr>
              <p:nvPr/>
            </p:nvSpPr>
            <p:spPr bwMode="auto">
              <a:xfrm>
                <a:off x="778612" y="2844050"/>
                <a:ext cx="2349500" cy="1257300"/>
              </a:xfrm>
              <a:custGeom>
                <a:avLst/>
                <a:gdLst>
                  <a:gd name="T0" fmla="*/ 0 w 1398"/>
                  <a:gd name="T1" fmla="*/ 0 h 618"/>
                  <a:gd name="T2" fmla="*/ 1559106688 w 1398"/>
                  <a:gd name="T3" fmla="*/ 1589396061 h 618"/>
                  <a:gd name="T4" fmla="*/ 1559106688 w 1398"/>
                  <a:gd name="T5" fmla="*/ 2147483646 h 618"/>
                  <a:gd name="T6" fmla="*/ 2147483646 w 1398"/>
                  <a:gd name="T7" fmla="*/ 2147483646 h 618"/>
                  <a:gd name="T8" fmla="*/ 2147483646 w 1398"/>
                  <a:gd name="T9" fmla="*/ 1589396061 h 618"/>
                  <a:gd name="T10" fmla="*/ 2147483646 w 1398"/>
                  <a:gd name="T11" fmla="*/ 24834727 h 6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8" h="618">
                    <a:moveTo>
                      <a:pt x="0" y="0"/>
                    </a:moveTo>
                    <a:lnTo>
                      <a:pt x="552" y="384"/>
                    </a:lnTo>
                    <a:lnTo>
                      <a:pt x="552" y="618"/>
                    </a:lnTo>
                    <a:lnTo>
                      <a:pt x="816" y="618"/>
                    </a:lnTo>
                    <a:lnTo>
                      <a:pt x="816" y="384"/>
                    </a:lnTo>
                    <a:lnTo>
                      <a:pt x="1398" y="6"/>
                    </a:lnTo>
                  </a:path>
                </a:pathLst>
              </a:custGeom>
              <a:solidFill>
                <a:srgbClr val="808080"/>
              </a:solidFill>
              <a:ln w="22225" cap="flat" cmpd="sng">
                <a:solidFill>
                  <a:srgbClr val="808080"/>
                </a:solidFill>
                <a:prstDash val="solid"/>
                <a:round/>
                <a:headEnd type="none" w="sm" len="sm"/>
                <a:tailEnd type="none" w="sm" len="sm"/>
              </a:ln>
            </p:spPr>
            <p:txBody>
              <a:bodyPr wrap="none" anchor="ctr"/>
              <a:lstStyle/>
              <a:p>
                <a:endParaRPr lang="en-US"/>
              </a:p>
            </p:txBody>
          </p:sp>
          <p:sp>
            <p:nvSpPr>
              <p:cNvPr id="21" name="Oval 31">
                <a:extLst>
                  <a:ext uri="{FF2B5EF4-FFF2-40B4-BE49-F238E27FC236}">
                    <a16:creationId xmlns:a16="http://schemas.microsoft.com/office/drawing/2014/main" id="{AF6E3DED-1D71-53D5-A7FA-C5C10EA72256}"/>
                  </a:ext>
                </a:extLst>
              </p:cNvPr>
              <p:cNvSpPr>
                <a:spLocks noChangeArrowheads="1"/>
              </p:cNvSpPr>
              <p:nvPr/>
            </p:nvSpPr>
            <p:spPr bwMode="auto">
              <a:xfrm>
                <a:off x="788137" y="2721811"/>
                <a:ext cx="2339975" cy="244475"/>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cxnSp>
            <p:nvCxnSpPr>
              <p:cNvPr id="22" name="AutoShape 33">
                <a:extLst>
                  <a:ext uri="{FF2B5EF4-FFF2-40B4-BE49-F238E27FC236}">
                    <a16:creationId xmlns:a16="http://schemas.microsoft.com/office/drawing/2014/main" id="{E9F24B3F-A137-9F3A-EBEA-DE7BA1505164}"/>
                  </a:ext>
                </a:extLst>
              </p:cNvPr>
              <p:cNvCxnSpPr>
                <a:cxnSpLocks noChangeShapeType="1"/>
                <a:stCxn id="18" idx="2"/>
                <a:endCxn id="21" idx="0"/>
              </p:cNvCxnSpPr>
              <p:nvPr/>
            </p:nvCxnSpPr>
            <p:spPr bwMode="auto">
              <a:xfrm rot="16200000" flipH="1">
                <a:off x="1181836" y="1945525"/>
                <a:ext cx="441325" cy="111125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34">
                <a:extLst>
                  <a:ext uri="{FF2B5EF4-FFF2-40B4-BE49-F238E27FC236}">
                    <a16:creationId xmlns:a16="http://schemas.microsoft.com/office/drawing/2014/main" id="{9FFF288C-CF69-295E-8F08-7D2AA03EF3A5}"/>
                  </a:ext>
                </a:extLst>
              </p:cNvPr>
              <p:cNvCxnSpPr>
                <a:cxnSpLocks noChangeShapeType="1"/>
                <a:stCxn id="19" idx="2"/>
                <a:endCxn id="21" idx="0"/>
              </p:cNvCxnSpPr>
              <p:nvPr/>
            </p:nvCxnSpPr>
            <p:spPr bwMode="auto">
              <a:xfrm rot="5400000">
                <a:off x="2289912" y="1948700"/>
                <a:ext cx="441325" cy="110490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 name="Rectangle 35">
                <a:extLst>
                  <a:ext uri="{FF2B5EF4-FFF2-40B4-BE49-F238E27FC236}">
                    <a16:creationId xmlns:a16="http://schemas.microsoft.com/office/drawing/2014/main" id="{6A5FC2F9-DB86-F549-F69A-0A7F5C3E2BBC}"/>
                  </a:ext>
                </a:extLst>
              </p:cNvPr>
              <p:cNvSpPr>
                <a:spLocks noChangeArrowheads="1"/>
              </p:cNvSpPr>
              <p:nvPr/>
            </p:nvSpPr>
            <p:spPr bwMode="auto">
              <a:xfrm>
                <a:off x="511912" y="4283911"/>
                <a:ext cx="2886075" cy="320675"/>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Sales &amp; Operations Planning</a:t>
                </a:r>
              </a:p>
            </p:txBody>
          </p:sp>
          <p:sp>
            <p:nvSpPr>
              <p:cNvPr id="25" name="Text Box 36">
                <a:extLst>
                  <a:ext uri="{FF2B5EF4-FFF2-40B4-BE49-F238E27FC236}">
                    <a16:creationId xmlns:a16="http://schemas.microsoft.com/office/drawing/2014/main" id="{BC4A0026-5EB7-DDC1-6E79-F0CEB28AFF73}"/>
                  </a:ext>
                </a:extLst>
              </p:cNvPr>
              <p:cNvSpPr txBox="1">
                <a:spLocks noChangeArrowheads="1"/>
              </p:cNvSpPr>
              <p:nvPr/>
            </p:nvSpPr>
            <p:spPr bwMode="auto">
              <a:xfrm>
                <a:off x="578015" y="4631575"/>
                <a:ext cx="2637982" cy="50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buClrTx/>
                  <a:buSzTx/>
                  <a:buFontTx/>
                  <a:buNone/>
                </a:pPr>
                <a:r>
                  <a:rPr lang="ja-JP" altLang="en-US" sz="1200" i="1" dirty="0">
                    <a:solidFill>
                      <a:schemeClr val="tx2"/>
                    </a:solidFill>
                    <a:latin typeface="+mn-lt"/>
                  </a:rPr>
                  <a:t>“</a:t>
                </a:r>
                <a:r>
                  <a:rPr lang="en-US" altLang="ja-JP" sz="1200" i="1" dirty="0">
                    <a:solidFill>
                      <a:schemeClr val="tx2"/>
                    </a:solidFill>
                    <a:latin typeface="+mn-lt"/>
                  </a:rPr>
                  <a:t>The Complete Balance of Customer Needs</a:t>
                </a:r>
              </a:p>
              <a:p>
                <a:pPr algn="ctr">
                  <a:lnSpc>
                    <a:spcPct val="95000"/>
                  </a:lnSpc>
                  <a:buClrTx/>
                  <a:buSzTx/>
                  <a:buFontTx/>
                  <a:buNone/>
                </a:pPr>
                <a:r>
                  <a:rPr lang="en-US" altLang="en-US" sz="1200" i="1" dirty="0">
                    <a:solidFill>
                      <a:schemeClr val="tx2"/>
                    </a:solidFill>
                    <a:latin typeface="+mn-lt"/>
                  </a:rPr>
                  <a:t>With Our Supply Capabilities</a:t>
                </a:r>
                <a:r>
                  <a:rPr lang="ja-JP" altLang="en-US" sz="1200" i="1" dirty="0">
                    <a:solidFill>
                      <a:schemeClr val="tx2"/>
                    </a:solidFill>
                    <a:latin typeface="+mn-lt"/>
                  </a:rPr>
                  <a:t>”</a:t>
                </a:r>
                <a:endParaRPr lang="en-US" altLang="en-US" sz="1200" i="1" dirty="0">
                  <a:solidFill>
                    <a:schemeClr val="tx2"/>
                  </a:solidFill>
                  <a:latin typeface="+mn-lt"/>
                </a:endParaRPr>
              </a:p>
            </p:txBody>
          </p:sp>
        </p:grpSp>
        <p:sp>
          <p:nvSpPr>
            <p:cNvPr id="27" name="Rectangle 16">
              <a:extLst>
                <a:ext uri="{FF2B5EF4-FFF2-40B4-BE49-F238E27FC236}">
                  <a16:creationId xmlns:a16="http://schemas.microsoft.com/office/drawing/2014/main" id="{D6B53A03-10F7-FDC6-14F6-4598F68A5B18}"/>
                </a:ext>
              </a:extLst>
            </p:cNvPr>
            <p:cNvSpPr>
              <a:spLocks noChangeArrowheads="1"/>
            </p:cNvSpPr>
            <p:nvPr/>
          </p:nvSpPr>
          <p:spPr bwMode="auto">
            <a:xfrm>
              <a:off x="6236330" y="1915370"/>
              <a:ext cx="5416331"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45000"/>
                </a:spcBef>
                <a:buClr>
                  <a:schemeClr val="tx1"/>
                </a:buClr>
                <a:buSzTx/>
                <a:buFont typeface="Arial" panose="020B0604020202020204" pitchFamily="34" charset="0"/>
                <a:buChar char="•"/>
              </a:pPr>
              <a:r>
                <a:rPr lang="en-US" altLang="en-US" sz="1200" dirty="0">
                  <a:latin typeface="+mn-lt"/>
                </a:rPr>
                <a:t>Is a MONTHLY process ensuring that all aspects of the company are aligned , focused and engaged in meeting business priorities</a:t>
              </a:r>
            </a:p>
            <a:p>
              <a:pPr eaLnBrk="1" hangingPunct="1">
                <a:spcBef>
                  <a:spcPct val="45000"/>
                </a:spcBef>
                <a:buClr>
                  <a:schemeClr val="tx1"/>
                </a:buClr>
                <a:buSzTx/>
                <a:buFont typeface="Arial" panose="020B0604020202020204" pitchFamily="34" charset="0"/>
                <a:buChar char="•"/>
              </a:pPr>
              <a:r>
                <a:rPr lang="en-US" altLang="en-US" sz="1200" dirty="0">
                  <a:latin typeface="+mn-lt"/>
                </a:rPr>
                <a:t>Manages continuous change by matching the required internal resources to the challenges faced </a:t>
              </a:r>
              <a:r>
                <a:rPr lang="ja-JP" altLang="en-US" sz="1200" dirty="0">
                  <a:latin typeface="+mn-lt"/>
                </a:rPr>
                <a:t>“</a:t>
              </a:r>
              <a:r>
                <a:rPr lang="en-US" altLang="ja-JP" sz="1200" dirty="0">
                  <a:latin typeface="+mn-lt"/>
                </a:rPr>
                <a:t>this month</a:t>
              </a:r>
              <a:r>
                <a:rPr lang="ja-JP" altLang="en-US" sz="1200" dirty="0">
                  <a:latin typeface="+mn-lt"/>
                </a:rPr>
                <a:t>”</a:t>
              </a:r>
              <a:r>
                <a:rPr lang="en-US" altLang="ja-JP" sz="1200" dirty="0">
                  <a:latin typeface="+mn-lt"/>
                </a:rPr>
                <a:t> in the marketplace</a:t>
              </a:r>
            </a:p>
            <a:p>
              <a:pPr eaLnBrk="1" hangingPunct="1">
                <a:spcBef>
                  <a:spcPct val="45000"/>
                </a:spcBef>
                <a:buClr>
                  <a:schemeClr val="tx1"/>
                </a:buClr>
                <a:buSzTx/>
                <a:buFont typeface="Arial" panose="020B0604020202020204" pitchFamily="34" charset="0"/>
                <a:buChar char="•"/>
              </a:pPr>
              <a:r>
                <a:rPr lang="en-US" altLang="en-US" sz="1200" dirty="0">
                  <a:latin typeface="+mn-lt"/>
                </a:rPr>
                <a:t>Owned by a prominent individual; fosters a cross-functional environment to maximize the value each function brings to the supply &amp; demand matching process</a:t>
              </a:r>
            </a:p>
            <a:p>
              <a:pPr eaLnBrk="1" hangingPunct="1">
                <a:spcBef>
                  <a:spcPct val="45000"/>
                </a:spcBef>
                <a:buClr>
                  <a:schemeClr val="tx1"/>
                </a:buClr>
                <a:buSzTx/>
                <a:buFont typeface="Arial" panose="020B0604020202020204" pitchFamily="34" charset="0"/>
                <a:buChar char="•"/>
              </a:pPr>
              <a:r>
                <a:rPr lang="en-US" altLang="en-US" sz="1200" dirty="0">
                  <a:latin typeface="+mn-lt"/>
                </a:rPr>
                <a:t>Addresses critical resource requirements across the enterprise in order to match current demand or make alternative plans if internal resources are insufficient</a:t>
              </a:r>
            </a:p>
            <a:p>
              <a:pPr eaLnBrk="1" hangingPunct="1">
                <a:spcBef>
                  <a:spcPct val="45000"/>
                </a:spcBef>
                <a:buClr>
                  <a:schemeClr val="tx1"/>
                </a:buClr>
                <a:buSzTx/>
                <a:buFont typeface="Arial" panose="020B0604020202020204" pitchFamily="34" charset="0"/>
                <a:buChar char="•"/>
              </a:pPr>
              <a:r>
                <a:rPr lang="en-US" altLang="en-US" sz="1200" dirty="0">
                  <a:latin typeface="+mn-lt"/>
                </a:rPr>
                <a:t>Provides senior management with business control – simple, disciplined process to govern and provide superior customer service</a:t>
              </a:r>
            </a:p>
          </p:txBody>
        </p:sp>
        <p:sp>
          <p:nvSpPr>
            <p:cNvPr id="28" name="Rectangle 17">
              <a:extLst>
                <a:ext uri="{FF2B5EF4-FFF2-40B4-BE49-F238E27FC236}">
                  <a16:creationId xmlns:a16="http://schemas.microsoft.com/office/drawing/2014/main" id="{4B167BAE-1C38-1E43-3C28-9E9E07DCED3A}"/>
                </a:ext>
              </a:extLst>
            </p:cNvPr>
            <p:cNvSpPr>
              <a:spLocks noChangeArrowheads="1"/>
            </p:cNvSpPr>
            <p:nvPr/>
          </p:nvSpPr>
          <p:spPr bwMode="auto">
            <a:xfrm>
              <a:off x="6655981" y="4664797"/>
              <a:ext cx="4996680" cy="344487"/>
            </a:xfrm>
            <a:prstGeom prst="rect">
              <a:avLst/>
            </a:prstGeom>
            <a:solidFill>
              <a:schemeClr val="accent4"/>
            </a:solidFill>
            <a:ln>
              <a:solidFill>
                <a:schemeClr val="tx1"/>
              </a:solid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0000"/>
                </a:spcBef>
                <a:buClrTx/>
                <a:buSzTx/>
                <a:buFontTx/>
                <a:buNone/>
              </a:pPr>
              <a:r>
                <a:rPr lang="en-US" altLang="en-US" sz="1200">
                  <a:solidFill>
                    <a:schemeClr val="bg1"/>
                  </a:solidFill>
                </a:rPr>
                <a:t>Simple, Disciplined, Continuous</a:t>
              </a:r>
            </a:p>
          </p:txBody>
        </p:sp>
        <p:sp>
          <p:nvSpPr>
            <p:cNvPr id="29" name="Line 18">
              <a:extLst>
                <a:ext uri="{FF2B5EF4-FFF2-40B4-BE49-F238E27FC236}">
                  <a16:creationId xmlns:a16="http://schemas.microsoft.com/office/drawing/2014/main" id="{A36F9A89-61C6-A00A-148E-B101F7CA2808}"/>
                </a:ext>
              </a:extLst>
            </p:cNvPr>
            <p:cNvSpPr>
              <a:spLocks noChangeShapeType="1"/>
            </p:cNvSpPr>
            <p:nvPr/>
          </p:nvSpPr>
          <p:spPr bwMode="auto">
            <a:xfrm>
              <a:off x="6671272" y="4609234"/>
              <a:ext cx="4960973" cy="0"/>
            </a:xfrm>
            <a:prstGeom prst="line">
              <a:avLst/>
            </a:prstGeom>
            <a:noFill/>
            <a:ln w="28575"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2864225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Sales &amp; Operations Planning:  </a:t>
            </a:r>
            <a:br>
              <a:rPr lang="en-US" sz="3600" dirty="0"/>
            </a:br>
            <a:r>
              <a:rPr lang="en-US" sz="3600" dirty="0"/>
              <a:t>Synchronizing Supply &amp; Demand</a:t>
            </a:r>
          </a:p>
        </p:txBody>
      </p:sp>
      <p:grpSp>
        <p:nvGrpSpPr>
          <p:cNvPr id="30" name="Group 29">
            <a:extLst>
              <a:ext uri="{FF2B5EF4-FFF2-40B4-BE49-F238E27FC236}">
                <a16:creationId xmlns:a16="http://schemas.microsoft.com/office/drawing/2014/main" id="{9EECEA2C-B6EB-2301-4711-F628DA67DB5C}"/>
              </a:ext>
            </a:extLst>
          </p:cNvPr>
          <p:cNvGrpSpPr/>
          <p:nvPr/>
        </p:nvGrpSpPr>
        <p:grpSpPr>
          <a:xfrm>
            <a:off x="445452" y="1915370"/>
            <a:ext cx="11207209" cy="4291342"/>
            <a:chOff x="445452" y="1915370"/>
            <a:chExt cx="11207209" cy="4291342"/>
          </a:xfrm>
        </p:grpSpPr>
        <p:grpSp>
          <p:nvGrpSpPr>
            <p:cNvPr id="26" name="Group 25">
              <a:extLst>
                <a:ext uri="{FF2B5EF4-FFF2-40B4-BE49-F238E27FC236}">
                  <a16:creationId xmlns:a16="http://schemas.microsoft.com/office/drawing/2014/main" id="{EE63121B-BFC7-3C8B-B330-5CF2B030C885}"/>
                </a:ext>
              </a:extLst>
            </p:cNvPr>
            <p:cNvGrpSpPr/>
            <p:nvPr/>
          </p:nvGrpSpPr>
          <p:grpSpPr>
            <a:xfrm>
              <a:off x="445452" y="1915370"/>
              <a:ext cx="5396419" cy="3173384"/>
              <a:chOff x="-158013" y="1709245"/>
              <a:chExt cx="4567749" cy="3335338"/>
            </a:xfrm>
          </p:grpSpPr>
          <p:sp>
            <p:nvSpPr>
              <p:cNvPr id="17" name="Line 27">
                <a:extLst>
                  <a:ext uri="{FF2B5EF4-FFF2-40B4-BE49-F238E27FC236}">
                    <a16:creationId xmlns:a16="http://schemas.microsoft.com/office/drawing/2014/main" id="{D1BD2C82-5484-4209-12A8-14D9C6220A09}"/>
                  </a:ext>
                </a:extLst>
              </p:cNvPr>
              <p:cNvSpPr>
                <a:spLocks noChangeShapeType="1"/>
              </p:cNvSpPr>
              <p:nvPr/>
            </p:nvSpPr>
            <p:spPr bwMode="auto">
              <a:xfrm>
                <a:off x="4400211" y="1709245"/>
                <a:ext cx="9525" cy="3335338"/>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28">
                <a:extLst>
                  <a:ext uri="{FF2B5EF4-FFF2-40B4-BE49-F238E27FC236}">
                    <a16:creationId xmlns:a16="http://schemas.microsoft.com/office/drawing/2014/main" id="{ED47D530-B9FC-EB6B-A364-6789D0B53075}"/>
                  </a:ext>
                </a:extLst>
              </p:cNvPr>
              <p:cNvSpPr>
                <a:spLocks noChangeArrowheads="1"/>
              </p:cNvSpPr>
              <p:nvPr/>
            </p:nvSpPr>
            <p:spPr bwMode="auto">
              <a:xfrm>
                <a:off x="-158013" y="1745499"/>
                <a:ext cx="2008188" cy="5349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Demand Planning:</a:t>
                </a:r>
              </a:p>
              <a:p>
                <a:pPr algn="ctr">
                  <a:lnSpc>
                    <a:spcPct val="80000"/>
                  </a:lnSpc>
                  <a:buClrTx/>
                  <a:buSzTx/>
                  <a:buFontTx/>
                  <a:buNone/>
                </a:pPr>
                <a:r>
                  <a:rPr lang="en-US" altLang="en-US" sz="1100" dirty="0">
                    <a:solidFill>
                      <a:schemeClr val="bg1"/>
                    </a:solidFill>
                    <a:latin typeface="+mn-lt"/>
                  </a:rPr>
                  <a:t>“Understanding Customer Pull”</a:t>
                </a:r>
              </a:p>
            </p:txBody>
          </p:sp>
          <p:sp>
            <p:nvSpPr>
              <p:cNvPr id="19" name="Rectangle 29">
                <a:extLst>
                  <a:ext uri="{FF2B5EF4-FFF2-40B4-BE49-F238E27FC236}">
                    <a16:creationId xmlns:a16="http://schemas.microsoft.com/office/drawing/2014/main" id="{CA6E65EA-3505-9D07-0B3B-EF1D8E886A5D}"/>
                  </a:ext>
                </a:extLst>
              </p:cNvPr>
              <p:cNvSpPr>
                <a:spLocks noChangeArrowheads="1"/>
              </p:cNvSpPr>
              <p:nvPr/>
            </p:nvSpPr>
            <p:spPr bwMode="auto">
              <a:xfrm>
                <a:off x="2058137" y="1745499"/>
                <a:ext cx="2008188" cy="5349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Supply Planning:</a:t>
                </a:r>
              </a:p>
              <a:p>
                <a:pPr algn="ctr">
                  <a:lnSpc>
                    <a:spcPct val="80000"/>
                  </a:lnSpc>
                  <a:buClrTx/>
                  <a:buSzTx/>
                  <a:buFontTx/>
                  <a:buNone/>
                </a:pPr>
                <a:r>
                  <a:rPr lang="en-US" altLang="en-US" sz="1100" dirty="0">
                    <a:solidFill>
                      <a:schemeClr val="bg1"/>
                    </a:solidFill>
                    <a:latin typeface="+mn-lt"/>
                  </a:rPr>
                  <a:t>“Translating Pull to Product”</a:t>
                </a:r>
              </a:p>
            </p:txBody>
          </p:sp>
          <p:cxnSp>
            <p:nvCxnSpPr>
              <p:cNvPr id="22" name="AutoShape 33">
                <a:extLst>
                  <a:ext uri="{FF2B5EF4-FFF2-40B4-BE49-F238E27FC236}">
                    <a16:creationId xmlns:a16="http://schemas.microsoft.com/office/drawing/2014/main" id="{E9F24B3F-A137-9F3A-EBEA-DE7BA1505164}"/>
                  </a:ext>
                </a:extLst>
              </p:cNvPr>
              <p:cNvCxnSpPr>
                <a:cxnSpLocks noChangeShapeType="1"/>
                <a:stCxn id="18" idx="2"/>
              </p:cNvCxnSpPr>
              <p:nvPr/>
            </p:nvCxnSpPr>
            <p:spPr bwMode="auto">
              <a:xfrm rot="16200000" flipH="1">
                <a:off x="1181836" y="1945525"/>
                <a:ext cx="441325" cy="111125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34">
                <a:extLst>
                  <a:ext uri="{FF2B5EF4-FFF2-40B4-BE49-F238E27FC236}">
                    <a16:creationId xmlns:a16="http://schemas.microsoft.com/office/drawing/2014/main" id="{9FFF288C-CF69-295E-8F08-7D2AA03EF3A5}"/>
                  </a:ext>
                </a:extLst>
              </p:cNvPr>
              <p:cNvCxnSpPr>
                <a:cxnSpLocks noChangeShapeType="1"/>
                <a:stCxn id="19" idx="2"/>
                <a:endCxn id="3" idx="0"/>
              </p:cNvCxnSpPr>
              <p:nvPr/>
            </p:nvCxnSpPr>
            <p:spPr bwMode="auto">
              <a:xfrm rot="5400000">
                <a:off x="2287713" y="1947724"/>
                <a:ext cx="441754" cy="110728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
          <p:nvSpPr>
            <p:cNvPr id="27" name="Rectangle 16">
              <a:extLst>
                <a:ext uri="{FF2B5EF4-FFF2-40B4-BE49-F238E27FC236}">
                  <a16:creationId xmlns:a16="http://schemas.microsoft.com/office/drawing/2014/main" id="{D6B53A03-10F7-FDC6-14F6-4598F68A5B18}"/>
                </a:ext>
              </a:extLst>
            </p:cNvPr>
            <p:cNvSpPr>
              <a:spLocks noChangeArrowheads="1"/>
            </p:cNvSpPr>
            <p:nvPr/>
          </p:nvSpPr>
          <p:spPr bwMode="auto">
            <a:xfrm>
              <a:off x="6236330" y="1915370"/>
              <a:ext cx="5416331"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45000"/>
                </a:spcBef>
                <a:buClr>
                  <a:schemeClr val="tx1"/>
                </a:buClr>
                <a:buSzTx/>
                <a:buFont typeface="Arial" panose="020B0604020202020204" pitchFamily="34" charset="0"/>
                <a:buChar char="•"/>
              </a:pPr>
              <a:r>
                <a:rPr lang="en-US" altLang="en-US" sz="1400" dirty="0">
                  <a:latin typeface="+mn-lt"/>
                </a:rPr>
                <a:t>Develop and deploy cross-functional team that develops “one plan” to synchronize supply chain against customer pull</a:t>
              </a:r>
            </a:p>
            <a:p>
              <a:pPr eaLnBrk="1" hangingPunct="1">
                <a:spcBef>
                  <a:spcPct val="45000"/>
                </a:spcBef>
                <a:buClr>
                  <a:schemeClr val="tx1"/>
                </a:buClr>
                <a:buSzTx/>
                <a:buFont typeface="Arial" panose="020B0604020202020204" pitchFamily="34" charset="0"/>
                <a:buChar char="•"/>
              </a:pPr>
              <a:r>
                <a:rPr lang="en-US" altLang="en-US" sz="1400" dirty="0">
                  <a:latin typeface="+mn-lt"/>
                </a:rPr>
                <a:t>Weekly, monthly &amp; quarterly S&amp;OP planning continually matches supply, demand and Acuity resources</a:t>
              </a:r>
            </a:p>
            <a:p>
              <a:pPr eaLnBrk="1" hangingPunct="1">
                <a:spcBef>
                  <a:spcPct val="45000"/>
                </a:spcBef>
                <a:buClr>
                  <a:schemeClr val="tx1"/>
                </a:buClr>
                <a:buSzTx/>
                <a:buFont typeface="Arial" panose="020B0604020202020204" pitchFamily="34" charset="0"/>
                <a:buChar char="•"/>
              </a:pPr>
              <a:r>
                <a:rPr lang="en-US" altLang="en-US" sz="1400" dirty="0">
                  <a:latin typeface="+mn-lt"/>
                </a:rPr>
                <a:t>Provides Structure:  Stabilizes environment, enables total information dissemination and builds universal production plan</a:t>
              </a:r>
            </a:p>
            <a:p>
              <a:pPr eaLnBrk="1" hangingPunct="1">
                <a:spcBef>
                  <a:spcPct val="45000"/>
                </a:spcBef>
                <a:buClr>
                  <a:schemeClr val="tx1"/>
                </a:buClr>
                <a:buSzTx/>
                <a:buFont typeface="Arial" panose="020B0604020202020204" pitchFamily="34" charset="0"/>
                <a:buChar char="•"/>
              </a:pPr>
              <a:r>
                <a:rPr lang="en-US" altLang="en-US" sz="1400" dirty="0">
                  <a:latin typeface="+mn-lt"/>
                </a:rPr>
                <a:t>Drives Improvement:   Permits effective product segmentation, integrates metrics with scheduling and automates data collection</a:t>
              </a:r>
            </a:p>
            <a:p>
              <a:pPr eaLnBrk="1" hangingPunct="1">
                <a:spcBef>
                  <a:spcPct val="45000"/>
                </a:spcBef>
                <a:buClr>
                  <a:schemeClr val="tx1"/>
                </a:buClr>
                <a:buSzTx/>
                <a:buFont typeface="Arial" panose="020B0604020202020204" pitchFamily="34" charset="0"/>
                <a:buChar char="•"/>
              </a:pPr>
              <a:r>
                <a:rPr lang="en-US" altLang="en-US" sz="1400" dirty="0">
                  <a:latin typeface="+mn-lt"/>
                </a:rPr>
                <a:t>Enhances Performance:  Exception-driven, links S&amp;OP plan to profitability/customer satisfaction and improves resource allocation</a:t>
              </a:r>
            </a:p>
            <a:p>
              <a:pPr eaLnBrk="1" hangingPunct="1">
                <a:spcBef>
                  <a:spcPct val="45000"/>
                </a:spcBef>
                <a:buClr>
                  <a:schemeClr val="tx1"/>
                </a:buClr>
                <a:buSzTx/>
                <a:buFont typeface="Arial" panose="020B0604020202020204" pitchFamily="34" charset="0"/>
                <a:buChar char="•"/>
              </a:pPr>
              <a:r>
                <a:rPr lang="en-US" altLang="en-US" sz="1400" dirty="0">
                  <a:latin typeface="+mn-lt"/>
                </a:rPr>
                <a:t>Complete alignment of supply, demand, lifecycle management and business strategy</a:t>
              </a:r>
            </a:p>
          </p:txBody>
        </p:sp>
        <p:sp>
          <p:nvSpPr>
            <p:cNvPr id="28" name="Rectangle 17">
              <a:extLst>
                <a:ext uri="{FF2B5EF4-FFF2-40B4-BE49-F238E27FC236}">
                  <a16:creationId xmlns:a16="http://schemas.microsoft.com/office/drawing/2014/main" id="{4B167BAE-1C38-1E43-3C28-9E9E07DCED3A}"/>
                </a:ext>
              </a:extLst>
            </p:cNvPr>
            <p:cNvSpPr>
              <a:spLocks noChangeArrowheads="1"/>
            </p:cNvSpPr>
            <p:nvPr/>
          </p:nvSpPr>
          <p:spPr bwMode="auto">
            <a:xfrm>
              <a:off x="6655981" y="5862225"/>
              <a:ext cx="4996680" cy="344487"/>
            </a:xfrm>
            <a:prstGeom prst="rect">
              <a:avLst/>
            </a:prstGeom>
            <a:solidFill>
              <a:schemeClr val="accent4"/>
            </a:solidFill>
            <a:ln>
              <a:solidFill>
                <a:schemeClr val="tx1"/>
              </a:solid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0000"/>
                </a:spcBef>
                <a:buClrTx/>
                <a:buSzTx/>
                <a:buFontTx/>
                <a:buNone/>
              </a:pPr>
              <a:r>
                <a:rPr lang="en-US" altLang="en-US" sz="1200" dirty="0">
                  <a:solidFill>
                    <a:schemeClr val="bg1"/>
                  </a:solidFill>
                  <a:latin typeface="+mn-lt"/>
                </a:rPr>
                <a:t>Improvement Gateway:  “One Plan” Capability Drives Cost Reductions</a:t>
              </a:r>
            </a:p>
          </p:txBody>
        </p:sp>
        <p:sp>
          <p:nvSpPr>
            <p:cNvPr id="29" name="Line 18">
              <a:extLst>
                <a:ext uri="{FF2B5EF4-FFF2-40B4-BE49-F238E27FC236}">
                  <a16:creationId xmlns:a16="http://schemas.microsoft.com/office/drawing/2014/main" id="{A36F9A89-61C6-A00A-148E-B101F7CA2808}"/>
                </a:ext>
              </a:extLst>
            </p:cNvPr>
            <p:cNvSpPr>
              <a:spLocks noChangeShapeType="1"/>
            </p:cNvSpPr>
            <p:nvPr/>
          </p:nvSpPr>
          <p:spPr bwMode="auto">
            <a:xfrm>
              <a:off x="6691688" y="5697440"/>
              <a:ext cx="4960973" cy="0"/>
            </a:xfrm>
            <a:prstGeom prst="line">
              <a:avLst/>
            </a:prstGeom>
            <a:noFill/>
            <a:ln w="28575"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3" name="Rectangle 7">
            <a:extLst>
              <a:ext uri="{FF2B5EF4-FFF2-40B4-BE49-F238E27FC236}">
                <a16:creationId xmlns:a16="http://schemas.microsoft.com/office/drawing/2014/main" id="{05B2A2E9-6BC0-DAFF-45CC-F9B508A9C8B1}"/>
              </a:ext>
            </a:extLst>
          </p:cNvPr>
          <p:cNvSpPr>
            <a:spLocks noChangeArrowheads="1"/>
          </p:cNvSpPr>
          <p:nvPr/>
        </p:nvSpPr>
        <p:spPr bwMode="auto">
          <a:xfrm>
            <a:off x="1351863" y="2879178"/>
            <a:ext cx="3179762" cy="325437"/>
          </a:xfrm>
          <a:prstGeom prst="rect">
            <a:avLst/>
          </a:prstGeom>
          <a:solidFill>
            <a:schemeClr val="tx2"/>
          </a:solidFill>
          <a:ln w="12700" cap="sq">
            <a:solidFill>
              <a:schemeClr val="tx1"/>
            </a:solidFill>
            <a:miter lim="800000"/>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dirty="0">
                <a:solidFill>
                  <a:schemeClr val="bg1"/>
                </a:solidFill>
                <a:latin typeface="+mn-lt"/>
              </a:rPr>
              <a:t>Sales &amp; Operations Planning:</a:t>
            </a:r>
          </a:p>
          <a:p>
            <a:pPr algn="ctr">
              <a:lnSpc>
                <a:spcPct val="80000"/>
              </a:lnSpc>
              <a:spcBef>
                <a:spcPct val="15000"/>
              </a:spcBef>
              <a:buClrTx/>
              <a:buSzTx/>
              <a:buFontTx/>
              <a:buNone/>
            </a:pPr>
            <a:r>
              <a:rPr lang="ja-JP" altLang="en-US" sz="1000" dirty="0">
                <a:solidFill>
                  <a:schemeClr val="bg1"/>
                </a:solidFill>
                <a:latin typeface="+mn-lt"/>
              </a:rPr>
              <a:t>“</a:t>
            </a:r>
            <a:r>
              <a:rPr lang="en-US" altLang="ja-JP" sz="1000" dirty="0">
                <a:solidFill>
                  <a:schemeClr val="bg1"/>
                </a:solidFill>
                <a:latin typeface="+mn-lt"/>
              </a:rPr>
              <a:t>Customer Pull </a:t>
            </a:r>
            <a:r>
              <a:rPr lang="en-US" altLang="ja-JP" sz="1000" u="sng" dirty="0">
                <a:solidFill>
                  <a:schemeClr val="bg1"/>
                </a:solidFill>
                <a:latin typeface="+mn-lt"/>
              </a:rPr>
              <a:t>Balanced</a:t>
            </a:r>
            <a:r>
              <a:rPr lang="en-US" altLang="ja-JP" sz="1000" dirty="0">
                <a:solidFill>
                  <a:schemeClr val="bg1"/>
                </a:solidFill>
                <a:latin typeface="+mn-lt"/>
              </a:rPr>
              <a:t> with Supply Capabilities</a:t>
            </a:r>
            <a:r>
              <a:rPr lang="ja-JP" altLang="en-US" sz="1000" dirty="0">
                <a:solidFill>
                  <a:schemeClr val="bg1"/>
                </a:solidFill>
                <a:latin typeface="+mn-lt"/>
              </a:rPr>
              <a:t>”</a:t>
            </a:r>
            <a:endParaRPr lang="en-US" altLang="en-US" sz="1000" dirty="0">
              <a:solidFill>
                <a:schemeClr val="bg1"/>
              </a:solidFill>
              <a:latin typeface="+mn-lt"/>
            </a:endParaRPr>
          </a:p>
        </p:txBody>
      </p:sp>
      <p:grpSp>
        <p:nvGrpSpPr>
          <p:cNvPr id="7" name="Group 10">
            <a:extLst>
              <a:ext uri="{FF2B5EF4-FFF2-40B4-BE49-F238E27FC236}">
                <a16:creationId xmlns:a16="http://schemas.microsoft.com/office/drawing/2014/main" id="{5B900406-0DBF-7C0C-E50E-80AC1FAA221C}"/>
              </a:ext>
            </a:extLst>
          </p:cNvPr>
          <p:cNvGrpSpPr>
            <a:grpSpLocks/>
          </p:cNvGrpSpPr>
          <p:nvPr/>
        </p:nvGrpSpPr>
        <p:grpSpPr bwMode="auto">
          <a:xfrm>
            <a:off x="838200" y="3386997"/>
            <a:ext cx="4271963" cy="2141538"/>
            <a:chOff x="575" y="2416"/>
            <a:chExt cx="2831" cy="1349"/>
          </a:xfrm>
        </p:grpSpPr>
        <p:sp>
          <p:nvSpPr>
            <p:cNvPr id="8" name="AutoShape 11">
              <a:extLst>
                <a:ext uri="{FF2B5EF4-FFF2-40B4-BE49-F238E27FC236}">
                  <a16:creationId xmlns:a16="http://schemas.microsoft.com/office/drawing/2014/main" id="{8D4FA438-8877-7B40-E922-975B6BFCB2D8}"/>
                </a:ext>
              </a:extLst>
            </p:cNvPr>
            <p:cNvSpPr>
              <a:spLocks noChangeArrowheads="1"/>
            </p:cNvSpPr>
            <p:nvPr/>
          </p:nvSpPr>
          <p:spPr bwMode="auto">
            <a:xfrm>
              <a:off x="852" y="2834"/>
              <a:ext cx="2228" cy="439"/>
            </a:xfrm>
            <a:prstGeom prst="rightArrow">
              <a:avLst>
                <a:gd name="adj1" fmla="val 75009"/>
                <a:gd name="adj2" fmla="val 32049"/>
              </a:avLst>
            </a:prstGeom>
            <a:solidFill>
              <a:schemeClr val="tx1"/>
            </a:solidFill>
            <a:ln w="9525">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0000"/>
                </a:lnSpc>
                <a:spcBef>
                  <a:spcPct val="50000"/>
                </a:spcBef>
                <a:buClrTx/>
                <a:buSzTx/>
                <a:buFontTx/>
                <a:buNone/>
              </a:pPr>
              <a:endParaRPr lang="en-US" altLang="en-US" sz="1400">
                <a:latin typeface="+mn-lt"/>
              </a:endParaRPr>
            </a:p>
          </p:txBody>
        </p:sp>
        <p:sp>
          <p:nvSpPr>
            <p:cNvPr id="9" name="Rectangle 12">
              <a:extLst>
                <a:ext uri="{FF2B5EF4-FFF2-40B4-BE49-F238E27FC236}">
                  <a16:creationId xmlns:a16="http://schemas.microsoft.com/office/drawing/2014/main" id="{712CA51F-076F-21C7-AAE0-3968DD3BAD25}"/>
                </a:ext>
              </a:extLst>
            </p:cNvPr>
            <p:cNvSpPr>
              <a:spLocks noChangeArrowheads="1"/>
            </p:cNvSpPr>
            <p:nvPr/>
          </p:nvSpPr>
          <p:spPr bwMode="auto">
            <a:xfrm rot="-5400000">
              <a:off x="618" y="2947"/>
              <a:ext cx="866" cy="202"/>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dirty="0">
                  <a:solidFill>
                    <a:schemeClr val="bg1"/>
                  </a:solidFill>
                  <a:latin typeface="+mn-lt"/>
                </a:rPr>
                <a:t>Sales/ Marketing</a:t>
              </a:r>
            </a:p>
          </p:txBody>
        </p:sp>
        <p:sp>
          <p:nvSpPr>
            <p:cNvPr id="10" name="Rectangle 13">
              <a:extLst>
                <a:ext uri="{FF2B5EF4-FFF2-40B4-BE49-F238E27FC236}">
                  <a16:creationId xmlns:a16="http://schemas.microsoft.com/office/drawing/2014/main" id="{1C62FCB6-D6F7-650C-5F11-EBE0E22A4960}"/>
                </a:ext>
              </a:extLst>
            </p:cNvPr>
            <p:cNvSpPr>
              <a:spLocks noChangeArrowheads="1"/>
            </p:cNvSpPr>
            <p:nvPr/>
          </p:nvSpPr>
          <p:spPr bwMode="auto">
            <a:xfrm rot="-5400000">
              <a:off x="1125" y="2947"/>
              <a:ext cx="866" cy="202"/>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solidFill>
                    <a:schemeClr val="bg1"/>
                  </a:solidFill>
                  <a:latin typeface="+mn-lt"/>
                </a:rPr>
                <a:t>Logistics</a:t>
              </a:r>
            </a:p>
          </p:txBody>
        </p:sp>
        <p:sp>
          <p:nvSpPr>
            <p:cNvPr id="11" name="Rectangle 14">
              <a:extLst>
                <a:ext uri="{FF2B5EF4-FFF2-40B4-BE49-F238E27FC236}">
                  <a16:creationId xmlns:a16="http://schemas.microsoft.com/office/drawing/2014/main" id="{D52153F8-D2FD-86AC-1BEE-EA839F3335A3}"/>
                </a:ext>
              </a:extLst>
            </p:cNvPr>
            <p:cNvSpPr>
              <a:spLocks noChangeArrowheads="1"/>
            </p:cNvSpPr>
            <p:nvPr/>
          </p:nvSpPr>
          <p:spPr bwMode="auto">
            <a:xfrm rot="-5400000">
              <a:off x="1379" y="2947"/>
              <a:ext cx="866" cy="202"/>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solidFill>
                    <a:schemeClr val="bg1"/>
                  </a:solidFill>
                  <a:latin typeface="+mn-lt"/>
                </a:rPr>
                <a:t>Manufacturing</a:t>
              </a:r>
            </a:p>
          </p:txBody>
        </p:sp>
        <p:sp>
          <p:nvSpPr>
            <p:cNvPr id="12" name="Rectangle 15">
              <a:extLst>
                <a:ext uri="{FF2B5EF4-FFF2-40B4-BE49-F238E27FC236}">
                  <a16:creationId xmlns:a16="http://schemas.microsoft.com/office/drawing/2014/main" id="{250E66FA-A1C6-D96B-F21E-B16CD5B5A3FC}"/>
                </a:ext>
              </a:extLst>
            </p:cNvPr>
            <p:cNvSpPr>
              <a:spLocks noChangeArrowheads="1"/>
            </p:cNvSpPr>
            <p:nvPr/>
          </p:nvSpPr>
          <p:spPr bwMode="auto">
            <a:xfrm rot="-5400000">
              <a:off x="1629" y="2946"/>
              <a:ext cx="866" cy="203"/>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solidFill>
                    <a:schemeClr val="bg1"/>
                  </a:solidFill>
                  <a:latin typeface="+mn-lt"/>
                </a:rPr>
                <a:t>Customer Service</a:t>
              </a:r>
            </a:p>
          </p:txBody>
        </p:sp>
        <p:grpSp>
          <p:nvGrpSpPr>
            <p:cNvPr id="13" name="Group 16">
              <a:extLst>
                <a:ext uri="{FF2B5EF4-FFF2-40B4-BE49-F238E27FC236}">
                  <a16:creationId xmlns:a16="http://schemas.microsoft.com/office/drawing/2014/main" id="{5F25AE25-8828-4E6A-D6A5-0449ED65F03D}"/>
                </a:ext>
              </a:extLst>
            </p:cNvPr>
            <p:cNvGrpSpPr>
              <a:grpSpLocks/>
            </p:cNvGrpSpPr>
            <p:nvPr/>
          </p:nvGrpSpPr>
          <p:grpSpPr bwMode="auto">
            <a:xfrm>
              <a:off x="2246" y="2511"/>
              <a:ext cx="641" cy="1094"/>
              <a:chOff x="1445" y="1837"/>
              <a:chExt cx="641" cy="1216"/>
            </a:xfrm>
          </p:grpSpPr>
          <p:sp>
            <p:nvSpPr>
              <p:cNvPr id="34" name="Rectangle 17">
                <a:extLst>
                  <a:ext uri="{FF2B5EF4-FFF2-40B4-BE49-F238E27FC236}">
                    <a16:creationId xmlns:a16="http://schemas.microsoft.com/office/drawing/2014/main" id="{82E346C1-04E7-B152-DCFC-E02ED99558B0}"/>
                  </a:ext>
                </a:extLst>
              </p:cNvPr>
              <p:cNvSpPr>
                <a:spLocks noChangeArrowheads="1"/>
              </p:cNvSpPr>
              <p:nvPr/>
            </p:nvSpPr>
            <p:spPr bwMode="auto">
              <a:xfrm>
                <a:off x="1445" y="1837"/>
                <a:ext cx="645" cy="1216"/>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5" name="Rectangle 18">
                <a:extLst>
                  <a:ext uri="{FF2B5EF4-FFF2-40B4-BE49-F238E27FC236}">
                    <a16:creationId xmlns:a16="http://schemas.microsoft.com/office/drawing/2014/main" id="{4D7133A8-7667-F46A-F826-5DD50A95831A}"/>
                  </a:ext>
                </a:extLst>
              </p:cNvPr>
              <p:cNvSpPr>
                <a:spLocks noChangeArrowheads="1"/>
              </p:cNvSpPr>
              <p:nvPr/>
            </p:nvSpPr>
            <p:spPr bwMode="auto">
              <a:xfrm>
                <a:off x="1468" y="1869"/>
                <a:ext cx="588" cy="242"/>
              </a:xfrm>
              <a:prstGeom prst="rect">
                <a:avLst/>
              </a:prstGeom>
              <a:solidFill>
                <a:schemeClr val="bg1"/>
              </a:solidFill>
              <a:ln w="12700">
                <a:solidFill>
                  <a:schemeClr val="tx1"/>
                </a:solidFill>
                <a:miter lim="800000"/>
                <a:headEnd/>
                <a:tailEnd/>
              </a:ln>
            </p:spPr>
            <p:txBody>
              <a:bodyPr lIns="46038" tIns="46038" rIns="46038"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latin typeface="+mn-lt"/>
                  </a:rPr>
                  <a:t>Sales Plan</a:t>
                </a:r>
              </a:p>
            </p:txBody>
          </p:sp>
          <p:sp>
            <p:nvSpPr>
              <p:cNvPr id="36" name="Rectangle 19">
                <a:extLst>
                  <a:ext uri="{FF2B5EF4-FFF2-40B4-BE49-F238E27FC236}">
                    <a16:creationId xmlns:a16="http://schemas.microsoft.com/office/drawing/2014/main" id="{5653800C-3F5A-9E47-6D9D-A325E014825F}"/>
                  </a:ext>
                </a:extLst>
              </p:cNvPr>
              <p:cNvSpPr>
                <a:spLocks noChangeArrowheads="1"/>
              </p:cNvSpPr>
              <p:nvPr/>
            </p:nvSpPr>
            <p:spPr bwMode="auto">
              <a:xfrm>
                <a:off x="1468" y="2172"/>
                <a:ext cx="588" cy="242"/>
              </a:xfrm>
              <a:prstGeom prst="rect">
                <a:avLst/>
              </a:prstGeom>
              <a:solidFill>
                <a:schemeClr val="bg1"/>
              </a:solidFill>
              <a:ln w="12700">
                <a:solidFill>
                  <a:schemeClr val="tx1"/>
                </a:solidFill>
                <a:miter lim="800000"/>
                <a:headEnd/>
                <a:tailEnd/>
              </a:ln>
            </p:spPr>
            <p:txBody>
              <a:bodyPr lIns="46038" tIns="46038" rIns="46038"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latin typeface="+mn-lt"/>
                  </a:rPr>
                  <a:t>Financial Plan</a:t>
                </a:r>
              </a:p>
            </p:txBody>
          </p:sp>
          <p:sp>
            <p:nvSpPr>
              <p:cNvPr id="37" name="Rectangle 20">
                <a:extLst>
                  <a:ext uri="{FF2B5EF4-FFF2-40B4-BE49-F238E27FC236}">
                    <a16:creationId xmlns:a16="http://schemas.microsoft.com/office/drawing/2014/main" id="{9F8EFD6B-A3B2-4B28-E294-0E4B504D2E94}"/>
                  </a:ext>
                </a:extLst>
              </p:cNvPr>
              <p:cNvSpPr>
                <a:spLocks noChangeArrowheads="1"/>
              </p:cNvSpPr>
              <p:nvPr/>
            </p:nvSpPr>
            <p:spPr bwMode="auto">
              <a:xfrm>
                <a:off x="1468" y="2475"/>
                <a:ext cx="588" cy="242"/>
              </a:xfrm>
              <a:prstGeom prst="rect">
                <a:avLst/>
              </a:prstGeom>
              <a:solidFill>
                <a:schemeClr val="bg1"/>
              </a:solidFill>
              <a:ln w="12700">
                <a:solidFill>
                  <a:schemeClr val="tx1"/>
                </a:solidFill>
                <a:miter lim="800000"/>
                <a:headEnd/>
                <a:tailEnd/>
              </a:ln>
            </p:spPr>
            <p:txBody>
              <a:bodyPr lIns="46038" tIns="46038" rIns="46038"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latin typeface="+mn-lt"/>
                  </a:rPr>
                  <a:t>Product Roadmap</a:t>
                </a:r>
              </a:p>
            </p:txBody>
          </p:sp>
          <p:sp>
            <p:nvSpPr>
              <p:cNvPr id="38" name="Rectangle 21">
                <a:extLst>
                  <a:ext uri="{FF2B5EF4-FFF2-40B4-BE49-F238E27FC236}">
                    <a16:creationId xmlns:a16="http://schemas.microsoft.com/office/drawing/2014/main" id="{266486B3-2885-6409-DD34-45393C76E859}"/>
                  </a:ext>
                </a:extLst>
              </p:cNvPr>
              <p:cNvSpPr>
                <a:spLocks noChangeArrowheads="1"/>
              </p:cNvSpPr>
              <p:nvPr/>
            </p:nvSpPr>
            <p:spPr bwMode="auto">
              <a:xfrm>
                <a:off x="1468" y="2778"/>
                <a:ext cx="588" cy="240"/>
              </a:xfrm>
              <a:prstGeom prst="rect">
                <a:avLst/>
              </a:prstGeom>
              <a:solidFill>
                <a:schemeClr val="bg1"/>
              </a:solidFill>
              <a:ln w="12700">
                <a:solidFill>
                  <a:schemeClr val="tx1"/>
                </a:solidFill>
                <a:miter lim="800000"/>
                <a:headEnd/>
                <a:tailEnd/>
              </a:ln>
            </p:spPr>
            <p:txBody>
              <a:bodyPr lIns="46038" tIns="46038" rIns="46038"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dirty="0">
                    <a:latin typeface="+mn-lt"/>
                  </a:rPr>
                  <a:t>Production Plan</a:t>
                </a:r>
              </a:p>
            </p:txBody>
          </p:sp>
        </p:grpSp>
        <p:sp>
          <p:nvSpPr>
            <p:cNvPr id="14" name="Rectangle 22">
              <a:extLst>
                <a:ext uri="{FF2B5EF4-FFF2-40B4-BE49-F238E27FC236}">
                  <a16:creationId xmlns:a16="http://schemas.microsoft.com/office/drawing/2014/main" id="{2E5A4472-235E-C348-5F13-B65EB212B804}"/>
                </a:ext>
              </a:extLst>
            </p:cNvPr>
            <p:cNvSpPr>
              <a:spLocks noChangeArrowheads="1"/>
            </p:cNvSpPr>
            <p:nvPr/>
          </p:nvSpPr>
          <p:spPr bwMode="auto">
            <a:xfrm rot="-5400000">
              <a:off x="871" y="2947"/>
              <a:ext cx="866" cy="202"/>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50000"/>
                </a:spcBef>
                <a:buClrTx/>
                <a:buSzTx/>
                <a:buFontTx/>
                <a:buNone/>
              </a:pPr>
              <a:r>
                <a:rPr lang="en-US" altLang="en-US" sz="1000">
                  <a:solidFill>
                    <a:schemeClr val="bg1"/>
                  </a:solidFill>
                  <a:latin typeface="+mn-lt"/>
                </a:rPr>
                <a:t>Finance</a:t>
              </a:r>
            </a:p>
          </p:txBody>
        </p:sp>
        <p:sp>
          <p:nvSpPr>
            <p:cNvPr id="15" name="Rectangle 23">
              <a:extLst>
                <a:ext uri="{FF2B5EF4-FFF2-40B4-BE49-F238E27FC236}">
                  <a16:creationId xmlns:a16="http://schemas.microsoft.com/office/drawing/2014/main" id="{A2A53CB8-2573-1845-D062-70DFE63DC9B6}"/>
                </a:ext>
              </a:extLst>
            </p:cNvPr>
            <p:cNvSpPr>
              <a:spLocks noChangeArrowheads="1"/>
            </p:cNvSpPr>
            <p:nvPr/>
          </p:nvSpPr>
          <p:spPr bwMode="auto">
            <a:xfrm>
              <a:off x="575" y="2416"/>
              <a:ext cx="2831" cy="1349"/>
            </a:xfrm>
            <a:prstGeom prst="rect">
              <a:avLst/>
            </a:prstGeom>
            <a:noFill/>
            <a:ln w="19050">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6" name="Text Box 24">
              <a:extLst>
                <a:ext uri="{FF2B5EF4-FFF2-40B4-BE49-F238E27FC236}">
                  <a16:creationId xmlns:a16="http://schemas.microsoft.com/office/drawing/2014/main" id="{9530E300-E27D-E867-DADA-F2C0150EB107}"/>
                </a:ext>
              </a:extLst>
            </p:cNvPr>
            <p:cNvSpPr txBox="1">
              <a:spLocks noChangeArrowheads="1"/>
            </p:cNvSpPr>
            <p:nvPr/>
          </p:nvSpPr>
          <p:spPr bwMode="auto">
            <a:xfrm>
              <a:off x="1112" y="2437"/>
              <a:ext cx="88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i="1" dirty="0">
                  <a:latin typeface="+mn-lt"/>
                </a:rPr>
                <a:t>Pull of the Customer</a:t>
              </a:r>
            </a:p>
          </p:txBody>
        </p:sp>
        <p:cxnSp>
          <p:nvCxnSpPr>
            <p:cNvPr id="31" name="AutoShape 25">
              <a:extLst>
                <a:ext uri="{FF2B5EF4-FFF2-40B4-BE49-F238E27FC236}">
                  <a16:creationId xmlns:a16="http://schemas.microsoft.com/office/drawing/2014/main" id="{47A067F2-8603-0A4F-1AC3-95C61B7F88E9}"/>
                </a:ext>
              </a:extLst>
            </p:cNvPr>
            <p:cNvCxnSpPr>
              <a:cxnSpLocks noChangeShapeType="1"/>
              <a:stCxn id="16" idx="1"/>
              <a:endCxn id="8" idx="1"/>
            </p:cNvCxnSpPr>
            <p:nvPr/>
          </p:nvCxnSpPr>
          <p:spPr bwMode="auto">
            <a:xfrm rot="10800000" flipV="1">
              <a:off x="852" y="2515"/>
              <a:ext cx="260" cy="539"/>
            </a:xfrm>
            <a:prstGeom prst="bentConnector3">
              <a:avLst>
                <a:gd name="adj1" fmla="val 158266"/>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sp>
          <p:nvSpPr>
            <p:cNvPr id="32" name="Text Box 26">
              <a:extLst>
                <a:ext uri="{FF2B5EF4-FFF2-40B4-BE49-F238E27FC236}">
                  <a16:creationId xmlns:a16="http://schemas.microsoft.com/office/drawing/2014/main" id="{5C3FC40B-9FE2-DFE4-0BE6-EFA995C94950}"/>
                </a:ext>
              </a:extLst>
            </p:cNvPr>
            <p:cNvSpPr txBox="1">
              <a:spLocks noChangeArrowheads="1"/>
            </p:cNvSpPr>
            <p:nvPr/>
          </p:nvSpPr>
          <p:spPr bwMode="auto">
            <a:xfrm>
              <a:off x="887" y="3587"/>
              <a:ext cx="136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i="1" dirty="0">
                  <a:latin typeface="+mn-lt"/>
                </a:rPr>
                <a:t>Synchronized </a:t>
              </a:r>
              <a:r>
                <a:rPr lang="ja-JP" altLang="en-US" sz="1000" i="1" dirty="0">
                  <a:latin typeface="+mn-lt"/>
                </a:rPr>
                <a:t>“</a:t>
              </a:r>
              <a:r>
                <a:rPr lang="en-US" altLang="ja-JP" sz="1000" i="1" dirty="0">
                  <a:latin typeface="+mn-lt"/>
                </a:rPr>
                <a:t>One Plan</a:t>
              </a:r>
              <a:r>
                <a:rPr lang="ja-JP" altLang="en-US" sz="1000" i="1" dirty="0">
                  <a:latin typeface="+mn-lt"/>
                </a:rPr>
                <a:t>”</a:t>
              </a:r>
              <a:r>
                <a:rPr lang="en-US" altLang="ja-JP" sz="1000" i="1" dirty="0">
                  <a:latin typeface="+mn-lt"/>
                </a:rPr>
                <a:t> Delivery</a:t>
              </a:r>
              <a:endParaRPr lang="en-US" altLang="en-US" sz="1000" i="1" dirty="0">
                <a:latin typeface="+mn-lt"/>
              </a:endParaRPr>
            </a:p>
          </p:txBody>
        </p:sp>
        <p:cxnSp>
          <p:nvCxnSpPr>
            <p:cNvPr id="33" name="AutoShape 27">
              <a:extLst>
                <a:ext uri="{FF2B5EF4-FFF2-40B4-BE49-F238E27FC236}">
                  <a16:creationId xmlns:a16="http://schemas.microsoft.com/office/drawing/2014/main" id="{6EA7FCF6-BFB8-C03E-F603-95AE53FDFC8E}"/>
                </a:ext>
              </a:extLst>
            </p:cNvPr>
            <p:cNvCxnSpPr>
              <a:cxnSpLocks noChangeShapeType="1"/>
              <a:stCxn id="8" idx="3"/>
              <a:endCxn id="32" idx="3"/>
            </p:cNvCxnSpPr>
            <p:nvPr/>
          </p:nvCxnSpPr>
          <p:spPr bwMode="auto">
            <a:xfrm flipH="1">
              <a:off x="2255" y="3054"/>
              <a:ext cx="825" cy="611"/>
            </a:xfrm>
            <a:prstGeom prst="bentConnector3">
              <a:avLst>
                <a:gd name="adj1" fmla="val -18363"/>
              </a:avLst>
            </a:prstGeom>
            <a:noFill/>
            <a:ln w="12700" cap="sq">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grpSp>
      <p:sp>
        <p:nvSpPr>
          <p:cNvPr id="39" name="Text Box 32">
            <a:extLst>
              <a:ext uri="{FF2B5EF4-FFF2-40B4-BE49-F238E27FC236}">
                <a16:creationId xmlns:a16="http://schemas.microsoft.com/office/drawing/2014/main" id="{BC61E4C1-327E-CE9F-4E35-6D110EAFA05C}"/>
              </a:ext>
            </a:extLst>
          </p:cNvPr>
          <p:cNvSpPr txBox="1">
            <a:spLocks noChangeArrowheads="1"/>
          </p:cNvSpPr>
          <p:nvPr/>
        </p:nvSpPr>
        <p:spPr bwMode="auto">
          <a:xfrm>
            <a:off x="713741" y="5566635"/>
            <a:ext cx="453040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400" i="1" dirty="0">
                <a:solidFill>
                  <a:schemeClr val="accent1"/>
                </a:solidFill>
                <a:latin typeface="+mn-lt"/>
              </a:rPr>
              <a:t>New Metrics, New Team, Deep Analytics, Common Data</a:t>
            </a:r>
          </a:p>
        </p:txBody>
      </p:sp>
    </p:spTree>
    <p:extLst>
      <p:ext uri="{BB962C8B-B14F-4D97-AF65-F5344CB8AC3E}">
        <p14:creationId xmlns:p14="http://schemas.microsoft.com/office/powerpoint/2010/main" val="3642520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Supply-Demand Matching:  </a:t>
            </a:r>
            <a:br>
              <a:rPr lang="en-US" sz="3600" dirty="0"/>
            </a:br>
            <a:r>
              <a:rPr lang="en-US" sz="3600" dirty="0"/>
              <a:t>Optimizing All Drivers, Not One Over The Other</a:t>
            </a:r>
          </a:p>
        </p:txBody>
      </p:sp>
      <p:grpSp>
        <p:nvGrpSpPr>
          <p:cNvPr id="22" name="Group 21">
            <a:extLst>
              <a:ext uri="{FF2B5EF4-FFF2-40B4-BE49-F238E27FC236}">
                <a16:creationId xmlns:a16="http://schemas.microsoft.com/office/drawing/2014/main" id="{4795FB5C-0B14-E2D8-E027-E77B80471FF6}"/>
              </a:ext>
            </a:extLst>
          </p:cNvPr>
          <p:cNvGrpSpPr/>
          <p:nvPr/>
        </p:nvGrpSpPr>
        <p:grpSpPr>
          <a:xfrm>
            <a:off x="1760679" y="1760592"/>
            <a:ext cx="8675855" cy="4543721"/>
            <a:chOff x="733557" y="1760592"/>
            <a:chExt cx="8005763" cy="4543721"/>
          </a:xfrm>
        </p:grpSpPr>
        <p:sp>
          <p:nvSpPr>
            <p:cNvPr id="3" name="Rectangle 55">
              <a:extLst>
                <a:ext uri="{FF2B5EF4-FFF2-40B4-BE49-F238E27FC236}">
                  <a16:creationId xmlns:a16="http://schemas.microsoft.com/office/drawing/2014/main" id="{88BDBAE3-7166-B153-FC9B-70A0B39EF56C}"/>
                </a:ext>
              </a:extLst>
            </p:cNvPr>
            <p:cNvSpPr>
              <a:spLocks noChangeArrowheads="1"/>
            </p:cNvSpPr>
            <p:nvPr/>
          </p:nvSpPr>
          <p:spPr bwMode="auto">
            <a:xfrm>
              <a:off x="4970595" y="1760592"/>
              <a:ext cx="3687762" cy="3683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800" dirty="0">
                  <a:solidFill>
                    <a:schemeClr val="bg1"/>
                  </a:solidFill>
                  <a:latin typeface="+mn-lt"/>
                </a:rPr>
                <a:t>Service Levels</a:t>
              </a:r>
            </a:p>
          </p:txBody>
        </p:sp>
        <p:sp>
          <p:nvSpPr>
            <p:cNvPr id="4" name="Rectangle 56">
              <a:extLst>
                <a:ext uri="{FF2B5EF4-FFF2-40B4-BE49-F238E27FC236}">
                  <a16:creationId xmlns:a16="http://schemas.microsoft.com/office/drawing/2014/main" id="{DCCD1DCF-512D-3EC9-C579-BDBF9E5EC130}"/>
                </a:ext>
              </a:extLst>
            </p:cNvPr>
            <p:cNvSpPr>
              <a:spLocks noChangeArrowheads="1"/>
            </p:cNvSpPr>
            <p:nvPr/>
          </p:nvSpPr>
          <p:spPr bwMode="auto">
            <a:xfrm>
              <a:off x="4970595" y="3189342"/>
              <a:ext cx="3687762" cy="3683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800">
                  <a:solidFill>
                    <a:schemeClr val="bg1"/>
                  </a:solidFill>
                  <a:latin typeface="+mn-lt"/>
                </a:rPr>
                <a:t>Inventory</a:t>
              </a:r>
            </a:p>
          </p:txBody>
        </p:sp>
        <p:sp>
          <p:nvSpPr>
            <p:cNvPr id="5" name="Rectangle 57">
              <a:extLst>
                <a:ext uri="{FF2B5EF4-FFF2-40B4-BE49-F238E27FC236}">
                  <a16:creationId xmlns:a16="http://schemas.microsoft.com/office/drawing/2014/main" id="{64552DBC-2282-FBED-6BCC-C4E6E06F3916}"/>
                </a:ext>
              </a:extLst>
            </p:cNvPr>
            <p:cNvSpPr>
              <a:spLocks noChangeArrowheads="1"/>
            </p:cNvSpPr>
            <p:nvPr/>
          </p:nvSpPr>
          <p:spPr bwMode="auto">
            <a:xfrm>
              <a:off x="4970595" y="4543480"/>
              <a:ext cx="3687762" cy="3683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800">
                  <a:solidFill>
                    <a:schemeClr val="bg1"/>
                  </a:solidFill>
                  <a:latin typeface="+mn-lt"/>
                </a:rPr>
                <a:t>Financial Cost</a:t>
              </a:r>
            </a:p>
          </p:txBody>
        </p:sp>
        <p:sp>
          <p:nvSpPr>
            <p:cNvPr id="6" name="Rectangle 58">
              <a:extLst>
                <a:ext uri="{FF2B5EF4-FFF2-40B4-BE49-F238E27FC236}">
                  <a16:creationId xmlns:a16="http://schemas.microsoft.com/office/drawing/2014/main" id="{CE9FB0BC-C9DB-FFE9-C66C-CBF4789CC659}"/>
                </a:ext>
              </a:extLst>
            </p:cNvPr>
            <p:cNvSpPr>
              <a:spLocks noChangeArrowheads="1"/>
            </p:cNvSpPr>
            <p:nvPr/>
          </p:nvSpPr>
          <p:spPr bwMode="auto">
            <a:xfrm>
              <a:off x="4881695" y="2184455"/>
              <a:ext cx="3816350" cy="978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
                  <a:schemeClr val="tx1"/>
                </a:buClr>
                <a:buSzPct val="90000"/>
                <a:buFont typeface="Arial" panose="020B0604020202020204" pitchFamily="34" charset="0"/>
                <a:buChar char="•"/>
              </a:pPr>
              <a:r>
                <a:rPr lang="en-US" altLang="en-US" sz="1200" dirty="0">
                  <a:latin typeface="+mn-lt"/>
                </a:rPr>
                <a:t>What are the national service levels? By Customer?</a:t>
              </a:r>
            </a:p>
            <a:p>
              <a:pPr>
                <a:spcBef>
                  <a:spcPct val="30000"/>
                </a:spcBef>
                <a:buClr>
                  <a:schemeClr val="tx1"/>
                </a:buClr>
                <a:buSzPct val="90000"/>
                <a:buFont typeface="Arial" panose="020B0604020202020204" pitchFamily="34" charset="0"/>
                <a:buChar char="•"/>
              </a:pPr>
              <a:r>
                <a:rPr lang="en-US" altLang="en-US" sz="1200" dirty="0">
                  <a:latin typeface="+mn-lt"/>
                </a:rPr>
                <a:t>What are the current attainment levels?</a:t>
              </a:r>
            </a:p>
            <a:p>
              <a:pPr>
                <a:spcBef>
                  <a:spcPct val="30000"/>
                </a:spcBef>
                <a:buClr>
                  <a:schemeClr val="tx1"/>
                </a:buClr>
                <a:buSzPct val="90000"/>
                <a:buFont typeface="Arial" panose="020B0604020202020204" pitchFamily="34" charset="0"/>
                <a:buChar char="•"/>
              </a:pPr>
              <a:r>
                <a:rPr lang="en-US" altLang="en-US" sz="1200" dirty="0">
                  <a:latin typeface="+mn-lt"/>
                </a:rPr>
                <a:t>How often evaluated?</a:t>
              </a:r>
            </a:p>
            <a:p>
              <a:pPr>
                <a:spcBef>
                  <a:spcPct val="30000"/>
                </a:spcBef>
                <a:buClr>
                  <a:schemeClr val="tx1"/>
                </a:buClr>
                <a:buSzPct val="90000"/>
                <a:buFont typeface="Arial" panose="020B0604020202020204" pitchFamily="34" charset="0"/>
                <a:buChar char="•"/>
              </a:pPr>
              <a:r>
                <a:rPr lang="en-US" altLang="en-US" sz="1200" dirty="0">
                  <a:latin typeface="+mn-lt"/>
                </a:rPr>
                <a:t>Corporate objectives achieved by service levels?</a:t>
              </a:r>
              <a:endParaRPr lang="en-US" altLang="en-US" sz="1200" b="0" dirty="0">
                <a:latin typeface="+mn-lt"/>
              </a:endParaRPr>
            </a:p>
          </p:txBody>
        </p:sp>
        <p:sp>
          <p:nvSpPr>
            <p:cNvPr id="7" name="Rectangle 59">
              <a:extLst>
                <a:ext uri="{FF2B5EF4-FFF2-40B4-BE49-F238E27FC236}">
                  <a16:creationId xmlns:a16="http://schemas.microsoft.com/office/drawing/2014/main" id="{E1BF231C-5358-E167-F2E7-59A55E665155}"/>
                </a:ext>
              </a:extLst>
            </p:cNvPr>
            <p:cNvSpPr>
              <a:spLocks noChangeArrowheads="1"/>
            </p:cNvSpPr>
            <p:nvPr/>
          </p:nvSpPr>
          <p:spPr bwMode="auto">
            <a:xfrm>
              <a:off x="4889632" y="3590980"/>
              <a:ext cx="3841750" cy="7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
                  <a:schemeClr val="tx1"/>
                </a:buClr>
                <a:buSzPct val="90000"/>
                <a:buFont typeface="Arial" panose="020B0604020202020204" pitchFamily="34" charset="0"/>
                <a:buChar char="•"/>
              </a:pPr>
              <a:r>
                <a:rPr lang="en-US" altLang="en-US" sz="1200">
                  <a:latin typeface="+mn-lt"/>
                </a:rPr>
                <a:t>Current raw materials inventories</a:t>
              </a:r>
            </a:p>
            <a:p>
              <a:pPr>
                <a:spcBef>
                  <a:spcPct val="30000"/>
                </a:spcBef>
                <a:buClr>
                  <a:schemeClr val="tx1"/>
                </a:buClr>
                <a:buSzPct val="90000"/>
                <a:buFont typeface="Arial" panose="020B0604020202020204" pitchFamily="34" charset="0"/>
                <a:buChar char="•"/>
              </a:pPr>
              <a:r>
                <a:rPr lang="en-US" altLang="en-US" sz="1200">
                  <a:latin typeface="+mn-lt"/>
                </a:rPr>
                <a:t>Current finished goods inventories</a:t>
              </a:r>
            </a:p>
            <a:p>
              <a:pPr>
                <a:spcBef>
                  <a:spcPct val="30000"/>
                </a:spcBef>
                <a:buClr>
                  <a:schemeClr val="tx1"/>
                </a:buClr>
                <a:buSzPct val="90000"/>
                <a:buFont typeface="Arial" panose="020B0604020202020204" pitchFamily="34" charset="0"/>
                <a:buChar char="•"/>
              </a:pPr>
              <a:r>
                <a:rPr lang="en-US" altLang="en-US" sz="1200">
                  <a:latin typeface="+mn-lt"/>
                </a:rPr>
                <a:t>In-field deployment of inventory (distribution centers)</a:t>
              </a:r>
              <a:endParaRPr lang="en-US" altLang="en-US" sz="1200" b="0">
                <a:latin typeface="+mn-lt"/>
              </a:endParaRPr>
            </a:p>
          </p:txBody>
        </p:sp>
        <p:sp>
          <p:nvSpPr>
            <p:cNvPr id="8" name="Rectangle 60">
              <a:extLst>
                <a:ext uri="{FF2B5EF4-FFF2-40B4-BE49-F238E27FC236}">
                  <a16:creationId xmlns:a16="http://schemas.microsoft.com/office/drawing/2014/main" id="{68E29820-0385-95BA-DB77-CE3E8321DE28}"/>
                </a:ext>
              </a:extLst>
            </p:cNvPr>
            <p:cNvSpPr>
              <a:spLocks noChangeArrowheads="1"/>
            </p:cNvSpPr>
            <p:nvPr/>
          </p:nvSpPr>
          <p:spPr bwMode="auto">
            <a:xfrm>
              <a:off x="4897570" y="4921305"/>
              <a:ext cx="3841750" cy="7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
                  <a:schemeClr val="tx1"/>
                </a:buClr>
                <a:buSzPct val="90000"/>
                <a:buFont typeface="Arial" panose="020B0604020202020204" pitchFamily="34" charset="0"/>
                <a:buChar char="•"/>
              </a:pPr>
              <a:r>
                <a:rPr lang="en-US" altLang="en-US" sz="1200">
                  <a:latin typeface="+mn-lt"/>
                </a:rPr>
                <a:t>Manufacturing costs &amp; outsource production costs</a:t>
              </a:r>
            </a:p>
            <a:p>
              <a:pPr>
                <a:spcBef>
                  <a:spcPct val="30000"/>
                </a:spcBef>
                <a:buClr>
                  <a:schemeClr val="tx1"/>
                </a:buClr>
                <a:buSzPct val="90000"/>
                <a:buFont typeface="Arial" panose="020B0604020202020204" pitchFamily="34" charset="0"/>
                <a:buChar char="•"/>
              </a:pPr>
              <a:r>
                <a:rPr lang="en-US" altLang="en-US" sz="1200">
                  <a:latin typeface="+mn-lt"/>
                </a:rPr>
                <a:t>Raw materials procurement costs</a:t>
              </a:r>
            </a:p>
            <a:p>
              <a:pPr>
                <a:spcBef>
                  <a:spcPct val="30000"/>
                </a:spcBef>
                <a:buClr>
                  <a:schemeClr val="tx1"/>
                </a:buClr>
                <a:buSzPct val="90000"/>
                <a:buFont typeface="Arial" panose="020B0604020202020204" pitchFamily="34" charset="0"/>
                <a:buChar char="•"/>
              </a:pPr>
              <a:r>
                <a:rPr lang="en-US" altLang="en-US" sz="1200">
                  <a:latin typeface="+mn-lt"/>
                </a:rPr>
                <a:t>Transportation and materials handling costs</a:t>
              </a:r>
              <a:endParaRPr lang="en-US" altLang="en-US" sz="1200" b="0">
                <a:latin typeface="+mn-lt"/>
              </a:endParaRPr>
            </a:p>
          </p:txBody>
        </p:sp>
        <p:sp>
          <p:nvSpPr>
            <p:cNvPr id="9" name="Oval 61">
              <a:extLst>
                <a:ext uri="{FF2B5EF4-FFF2-40B4-BE49-F238E27FC236}">
                  <a16:creationId xmlns:a16="http://schemas.microsoft.com/office/drawing/2014/main" id="{D789BE5E-C9EA-9F2E-B8D1-8D8B29276454}"/>
                </a:ext>
              </a:extLst>
            </p:cNvPr>
            <p:cNvSpPr>
              <a:spLocks noChangeArrowheads="1"/>
            </p:cNvSpPr>
            <p:nvPr/>
          </p:nvSpPr>
          <p:spPr bwMode="auto">
            <a:xfrm>
              <a:off x="733557" y="3902130"/>
              <a:ext cx="901700" cy="857250"/>
            </a:xfrm>
            <a:prstGeom prst="ellipse">
              <a:avLst/>
            </a:prstGeom>
            <a:solidFill>
              <a:schemeClr val="accent5"/>
            </a:solidFill>
            <a:ln w="12700">
              <a:solidFill>
                <a:schemeClr val="tx1"/>
              </a:solidFill>
              <a:round/>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400" dirty="0">
                  <a:solidFill>
                    <a:schemeClr val="bg1"/>
                  </a:solidFill>
                  <a:latin typeface="+mn-lt"/>
                </a:rPr>
                <a:t>Inventory</a:t>
              </a:r>
            </a:p>
          </p:txBody>
        </p:sp>
        <p:sp>
          <p:nvSpPr>
            <p:cNvPr id="10" name="Oval 62">
              <a:extLst>
                <a:ext uri="{FF2B5EF4-FFF2-40B4-BE49-F238E27FC236}">
                  <a16:creationId xmlns:a16="http://schemas.microsoft.com/office/drawing/2014/main" id="{0BC5DE41-A24F-04B1-5137-D6E398A76711}"/>
                </a:ext>
              </a:extLst>
            </p:cNvPr>
            <p:cNvSpPr>
              <a:spLocks noChangeArrowheads="1"/>
            </p:cNvSpPr>
            <p:nvPr/>
          </p:nvSpPr>
          <p:spPr bwMode="auto">
            <a:xfrm>
              <a:off x="1995620" y="1768530"/>
              <a:ext cx="901700" cy="857250"/>
            </a:xfrm>
            <a:prstGeom prst="ellipse">
              <a:avLst/>
            </a:prstGeom>
            <a:solidFill>
              <a:schemeClr val="tx2"/>
            </a:solidFill>
            <a:ln w="12700">
              <a:solidFill>
                <a:schemeClr val="tx1"/>
              </a:solidFill>
              <a:round/>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400" dirty="0">
                  <a:solidFill>
                    <a:schemeClr val="bg1"/>
                  </a:solidFill>
                  <a:latin typeface="+mn-lt"/>
                </a:rPr>
                <a:t>Service</a:t>
              </a:r>
            </a:p>
          </p:txBody>
        </p:sp>
        <p:sp>
          <p:nvSpPr>
            <p:cNvPr id="11" name="Oval 63">
              <a:extLst>
                <a:ext uri="{FF2B5EF4-FFF2-40B4-BE49-F238E27FC236}">
                  <a16:creationId xmlns:a16="http://schemas.microsoft.com/office/drawing/2014/main" id="{AEB86DAE-53AE-6F57-266E-E4EE6B8EF475}"/>
                </a:ext>
              </a:extLst>
            </p:cNvPr>
            <p:cNvSpPr>
              <a:spLocks noChangeArrowheads="1"/>
            </p:cNvSpPr>
            <p:nvPr/>
          </p:nvSpPr>
          <p:spPr bwMode="auto">
            <a:xfrm>
              <a:off x="3248157" y="3902130"/>
              <a:ext cx="901700" cy="857250"/>
            </a:xfrm>
            <a:prstGeom prst="ellipse">
              <a:avLst/>
            </a:prstGeom>
            <a:solidFill>
              <a:schemeClr val="accent4"/>
            </a:solidFill>
            <a:ln w="12700">
              <a:solidFill>
                <a:schemeClr val="tx1"/>
              </a:solidFill>
              <a:round/>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400">
                  <a:solidFill>
                    <a:schemeClr val="bg1"/>
                  </a:solidFill>
                  <a:latin typeface="+mn-lt"/>
                </a:rPr>
                <a:t>Cost</a:t>
              </a:r>
            </a:p>
          </p:txBody>
        </p:sp>
        <p:sp>
          <p:nvSpPr>
            <p:cNvPr id="12" name="Rectangle 64">
              <a:extLst>
                <a:ext uri="{FF2B5EF4-FFF2-40B4-BE49-F238E27FC236}">
                  <a16:creationId xmlns:a16="http://schemas.microsoft.com/office/drawing/2014/main" id="{E58863E2-02F7-7760-40A5-E73F1E70C3D9}"/>
                </a:ext>
              </a:extLst>
            </p:cNvPr>
            <p:cNvSpPr>
              <a:spLocks noChangeArrowheads="1"/>
            </p:cNvSpPr>
            <p:nvPr/>
          </p:nvSpPr>
          <p:spPr bwMode="auto">
            <a:xfrm>
              <a:off x="1805120" y="4389492"/>
              <a:ext cx="131352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a:latin typeface="+mn-lt"/>
                </a:rPr>
                <a:t>$$$ Economics</a:t>
              </a:r>
            </a:p>
          </p:txBody>
        </p:sp>
        <p:sp>
          <p:nvSpPr>
            <p:cNvPr id="13" name="Rectangle 65">
              <a:extLst>
                <a:ext uri="{FF2B5EF4-FFF2-40B4-BE49-F238E27FC236}">
                  <a16:creationId xmlns:a16="http://schemas.microsoft.com/office/drawing/2014/main" id="{F48BFACA-CE7F-5193-1E7A-8F3F3E078E7A}"/>
                </a:ext>
              </a:extLst>
            </p:cNvPr>
            <p:cNvSpPr>
              <a:spLocks noChangeArrowheads="1"/>
            </p:cNvSpPr>
            <p:nvPr/>
          </p:nvSpPr>
          <p:spPr bwMode="auto">
            <a:xfrm>
              <a:off x="966920" y="3160767"/>
              <a:ext cx="899349"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latin typeface="+mn-lt"/>
                </a:rPr>
                <a:t>Variability</a:t>
              </a:r>
            </a:p>
          </p:txBody>
        </p:sp>
        <p:sp>
          <p:nvSpPr>
            <p:cNvPr id="14" name="Rectangle 66">
              <a:extLst>
                <a:ext uri="{FF2B5EF4-FFF2-40B4-BE49-F238E27FC236}">
                  <a16:creationId xmlns:a16="http://schemas.microsoft.com/office/drawing/2014/main" id="{34DCE6F8-6B55-6574-1A00-C55C9D531160}"/>
                </a:ext>
              </a:extLst>
            </p:cNvPr>
            <p:cNvSpPr>
              <a:spLocks noChangeArrowheads="1"/>
            </p:cNvSpPr>
            <p:nvPr/>
          </p:nvSpPr>
          <p:spPr bwMode="auto">
            <a:xfrm>
              <a:off x="3003682" y="3162355"/>
              <a:ext cx="542865"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a:latin typeface="+mn-lt"/>
                </a:rPr>
                <a:t>Time</a:t>
              </a:r>
            </a:p>
          </p:txBody>
        </p:sp>
        <p:cxnSp>
          <p:nvCxnSpPr>
            <p:cNvPr id="15" name="AutoShape 67">
              <a:extLst>
                <a:ext uri="{FF2B5EF4-FFF2-40B4-BE49-F238E27FC236}">
                  <a16:creationId xmlns:a16="http://schemas.microsoft.com/office/drawing/2014/main" id="{7B0214EB-C13F-000F-ABAE-4EDD9E0BF584}"/>
                </a:ext>
              </a:extLst>
            </p:cNvPr>
            <p:cNvCxnSpPr>
              <a:cxnSpLocks noChangeShapeType="1"/>
              <a:stCxn id="10" idx="4"/>
              <a:endCxn id="9" idx="7"/>
            </p:cNvCxnSpPr>
            <p:nvPr/>
          </p:nvCxnSpPr>
          <p:spPr bwMode="auto">
            <a:xfrm flipH="1">
              <a:off x="1503495" y="2625780"/>
              <a:ext cx="942975" cy="1401762"/>
            </a:xfrm>
            <a:prstGeom prst="straightConnector1">
              <a:avLst/>
            </a:prstGeom>
            <a:noFill/>
            <a:ln w="12700"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6" name="AutoShape 68">
              <a:extLst>
                <a:ext uri="{FF2B5EF4-FFF2-40B4-BE49-F238E27FC236}">
                  <a16:creationId xmlns:a16="http://schemas.microsoft.com/office/drawing/2014/main" id="{02B9DE58-5CBD-EAD6-E8C2-2AED285E93E6}"/>
                </a:ext>
              </a:extLst>
            </p:cNvPr>
            <p:cNvCxnSpPr>
              <a:cxnSpLocks noChangeShapeType="1"/>
              <a:stCxn id="10" idx="4"/>
              <a:endCxn id="11" idx="1"/>
            </p:cNvCxnSpPr>
            <p:nvPr/>
          </p:nvCxnSpPr>
          <p:spPr bwMode="auto">
            <a:xfrm>
              <a:off x="2446470" y="2625780"/>
              <a:ext cx="933450" cy="1401762"/>
            </a:xfrm>
            <a:prstGeom prst="straightConnector1">
              <a:avLst/>
            </a:prstGeom>
            <a:noFill/>
            <a:ln w="12700"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7" name="AutoShape 69">
              <a:extLst>
                <a:ext uri="{FF2B5EF4-FFF2-40B4-BE49-F238E27FC236}">
                  <a16:creationId xmlns:a16="http://schemas.microsoft.com/office/drawing/2014/main" id="{17B5C04F-7442-F79B-A52D-AA9BD30DCF0C}"/>
                </a:ext>
              </a:extLst>
            </p:cNvPr>
            <p:cNvCxnSpPr>
              <a:cxnSpLocks noChangeShapeType="1"/>
              <a:stCxn id="9" idx="6"/>
              <a:endCxn id="11" idx="2"/>
            </p:cNvCxnSpPr>
            <p:nvPr/>
          </p:nvCxnSpPr>
          <p:spPr bwMode="auto">
            <a:xfrm>
              <a:off x="1635257" y="4330755"/>
              <a:ext cx="1612900" cy="0"/>
            </a:xfrm>
            <a:prstGeom prst="straightConnector1">
              <a:avLst/>
            </a:prstGeom>
            <a:noFill/>
            <a:ln w="12700"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18" name="AutoShape 71">
              <a:extLst>
                <a:ext uri="{FF2B5EF4-FFF2-40B4-BE49-F238E27FC236}">
                  <a16:creationId xmlns:a16="http://schemas.microsoft.com/office/drawing/2014/main" id="{4480A151-962B-E5D7-C82B-4483613F451D}"/>
                </a:ext>
              </a:extLst>
            </p:cNvPr>
            <p:cNvSpPr>
              <a:spLocks/>
            </p:cNvSpPr>
            <p:nvPr/>
          </p:nvSpPr>
          <p:spPr bwMode="auto">
            <a:xfrm rot="5400000">
              <a:off x="2272639" y="3191723"/>
              <a:ext cx="355600" cy="3402013"/>
            </a:xfrm>
            <a:prstGeom prst="rightBrace">
              <a:avLst>
                <a:gd name="adj1" fmla="val 79725"/>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9" name="Text Box 72">
              <a:extLst>
                <a:ext uri="{FF2B5EF4-FFF2-40B4-BE49-F238E27FC236}">
                  <a16:creationId xmlns:a16="http://schemas.microsoft.com/office/drawing/2014/main" id="{9B439F52-2AB7-EE55-AF60-1300C7D4CED9}"/>
                </a:ext>
              </a:extLst>
            </p:cNvPr>
            <p:cNvSpPr txBox="1">
              <a:spLocks noChangeArrowheads="1"/>
            </p:cNvSpPr>
            <p:nvPr/>
          </p:nvSpPr>
          <p:spPr bwMode="auto">
            <a:xfrm>
              <a:off x="751004" y="5061393"/>
              <a:ext cx="3446815" cy="42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dirty="0">
                  <a:latin typeface="+mn-lt"/>
                </a:rPr>
                <a:t>S&amp;OP Links The Fundamental Business Drivers;</a:t>
              </a:r>
            </a:p>
            <a:p>
              <a:pPr algn="ctr">
                <a:lnSpc>
                  <a:spcPct val="80000"/>
                </a:lnSpc>
                <a:buClrTx/>
                <a:buSzTx/>
                <a:buFontTx/>
                <a:buNone/>
              </a:pPr>
              <a:r>
                <a:rPr lang="en-US" altLang="en-US" sz="1200" i="1" dirty="0">
                  <a:latin typeface="+mn-lt"/>
                </a:rPr>
                <a:t>Optimizes All Without Sacrificing One Over The Other</a:t>
              </a:r>
            </a:p>
          </p:txBody>
        </p:sp>
        <p:sp>
          <p:nvSpPr>
            <p:cNvPr id="20" name="AutoShape 73">
              <a:extLst>
                <a:ext uri="{FF2B5EF4-FFF2-40B4-BE49-F238E27FC236}">
                  <a16:creationId xmlns:a16="http://schemas.microsoft.com/office/drawing/2014/main" id="{3C33D3B2-EC15-8FC9-7DF9-62326EEF62E2}"/>
                </a:ext>
              </a:extLst>
            </p:cNvPr>
            <p:cNvSpPr>
              <a:spLocks noChangeArrowheads="1"/>
            </p:cNvSpPr>
            <p:nvPr/>
          </p:nvSpPr>
          <p:spPr bwMode="auto">
            <a:xfrm>
              <a:off x="4438782" y="2109842"/>
              <a:ext cx="285750" cy="2554288"/>
            </a:xfrm>
            <a:prstGeom prst="rightArrow">
              <a:avLst>
                <a:gd name="adj1" fmla="val 72278"/>
                <a:gd name="adj2" fmla="val 71667"/>
              </a:avLst>
            </a:prstGeom>
            <a:solidFill>
              <a:schemeClr val="accent4"/>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1" name="Rectangle 74">
              <a:extLst>
                <a:ext uri="{FF2B5EF4-FFF2-40B4-BE49-F238E27FC236}">
                  <a16:creationId xmlns:a16="http://schemas.microsoft.com/office/drawing/2014/main" id="{25E8BDFD-BCE2-940B-7517-C24C7179855F}"/>
                </a:ext>
              </a:extLst>
            </p:cNvPr>
            <p:cNvSpPr>
              <a:spLocks noChangeArrowheads="1"/>
            </p:cNvSpPr>
            <p:nvPr/>
          </p:nvSpPr>
          <p:spPr bwMode="auto">
            <a:xfrm>
              <a:off x="1248359" y="5643266"/>
              <a:ext cx="7266671" cy="661047"/>
            </a:xfrm>
            <a:prstGeom prst="rect">
              <a:avLst/>
            </a:prstGeom>
            <a:solidFill>
              <a:schemeClr val="bg2"/>
            </a:solidFill>
            <a:ln>
              <a:solidFill>
                <a:schemeClr val="tx1"/>
              </a:solidFill>
            </a:ln>
          </p:spPr>
          <p:txBody>
            <a:bodyPr lIns="92075" tIns="46038" rIns="92075" bIns="46038" anchor="ctr"/>
            <a:lstStyle/>
            <a:p>
              <a:pPr algn="ctr" eaLnBrk="1" hangingPunct="1"/>
              <a:r>
                <a:rPr lang="en-US" altLang="en-US" sz="1600" dirty="0">
                  <a:solidFill>
                    <a:schemeClr val="tx1"/>
                  </a:solidFill>
                </a:rPr>
                <a:t>Designed to maintain (and promote) balance across key business to achieve key corporate goals and objectives.</a:t>
              </a:r>
            </a:p>
          </p:txBody>
        </p:sp>
      </p:grpSp>
    </p:spTree>
    <p:extLst>
      <p:ext uri="{BB962C8B-B14F-4D97-AF65-F5344CB8AC3E}">
        <p14:creationId xmlns:p14="http://schemas.microsoft.com/office/powerpoint/2010/main" val="89595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De-Coupling Demand And Supply:  Understanding the S&amp;OP Hierarchy</a:t>
            </a:r>
          </a:p>
        </p:txBody>
      </p:sp>
      <p:grpSp>
        <p:nvGrpSpPr>
          <p:cNvPr id="17" name="Group 16">
            <a:extLst>
              <a:ext uri="{FF2B5EF4-FFF2-40B4-BE49-F238E27FC236}">
                <a16:creationId xmlns:a16="http://schemas.microsoft.com/office/drawing/2014/main" id="{8EAA52C1-6C49-0CFF-7777-795DE86E4DC2}"/>
              </a:ext>
            </a:extLst>
          </p:cNvPr>
          <p:cNvGrpSpPr/>
          <p:nvPr/>
        </p:nvGrpSpPr>
        <p:grpSpPr>
          <a:xfrm>
            <a:off x="838200" y="1828799"/>
            <a:ext cx="10974571" cy="4340225"/>
            <a:chOff x="527182" y="1657351"/>
            <a:chExt cx="8578854" cy="4511674"/>
          </a:xfrm>
        </p:grpSpPr>
        <p:sp>
          <p:nvSpPr>
            <p:cNvPr id="3" name="Rectangle 2">
              <a:extLst>
                <a:ext uri="{FF2B5EF4-FFF2-40B4-BE49-F238E27FC236}">
                  <a16:creationId xmlns:a16="http://schemas.microsoft.com/office/drawing/2014/main" id="{FC2D77A2-4132-11F7-6AAF-64B66A52866C}"/>
                </a:ext>
              </a:extLst>
            </p:cNvPr>
            <p:cNvSpPr>
              <a:spLocks noChangeArrowheads="1"/>
            </p:cNvSpPr>
            <p:nvPr/>
          </p:nvSpPr>
          <p:spPr bwMode="auto">
            <a:xfrm>
              <a:off x="843064" y="5254625"/>
              <a:ext cx="7457872" cy="914400"/>
            </a:xfrm>
            <a:prstGeom prst="rect">
              <a:avLst/>
            </a:prstGeom>
            <a:solidFill>
              <a:schemeClr val="bg2"/>
            </a:solidFill>
            <a:ln>
              <a:solidFill>
                <a:schemeClr val="tx1"/>
              </a:solidFill>
            </a:ln>
          </p:spPr>
          <p:txBody>
            <a:bodyPr lIns="92075" tIns="46038" rIns="92075" bIns="46038" anchor="ctr"/>
            <a:lstStyle/>
            <a:p>
              <a:pPr algn="ctr" eaLnBrk="1" hangingPunct="1"/>
              <a:r>
                <a:rPr lang="en-US" altLang="en-US" sz="1600" dirty="0">
                  <a:solidFill>
                    <a:schemeClr val="tx1"/>
                  </a:solidFill>
                </a:rPr>
                <a:t>The primary goal of S&amp;OP is to </a:t>
              </a:r>
              <a:r>
                <a:rPr lang="ja-JP" altLang="en-US" sz="1600" dirty="0">
                  <a:solidFill>
                    <a:schemeClr val="tx1"/>
                  </a:solidFill>
                </a:rPr>
                <a:t>“</a:t>
              </a:r>
              <a:r>
                <a:rPr lang="en-US" altLang="ja-JP" sz="1600" dirty="0">
                  <a:solidFill>
                    <a:schemeClr val="tx1"/>
                  </a:solidFill>
                </a:rPr>
                <a:t>de-couple</a:t>
              </a:r>
              <a:r>
                <a:rPr lang="ja-JP" altLang="en-US" sz="1600" dirty="0">
                  <a:solidFill>
                    <a:schemeClr val="tx1"/>
                  </a:solidFill>
                </a:rPr>
                <a:t>”</a:t>
              </a:r>
              <a:r>
                <a:rPr lang="en-US" altLang="ja-JP" sz="1600" dirty="0">
                  <a:solidFill>
                    <a:schemeClr val="tx1"/>
                  </a:solidFill>
                </a:rPr>
                <a:t> supply from demand in order to evaluate each separately (and accurately) and then bring them together in the real world to align resources to customer demand.</a:t>
              </a:r>
              <a:endParaRPr lang="en-US" altLang="en-US" sz="1600" dirty="0">
                <a:solidFill>
                  <a:schemeClr val="tx1"/>
                </a:solidFill>
              </a:endParaRPr>
            </a:p>
          </p:txBody>
        </p:sp>
        <p:sp>
          <p:nvSpPr>
            <p:cNvPr id="4" name="Oval 3">
              <a:extLst>
                <a:ext uri="{FF2B5EF4-FFF2-40B4-BE49-F238E27FC236}">
                  <a16:creationId xmlns:a16="http://schemas.microsoft.com/office/drawing/2014/main" id="{90F165A2-46BD-12D1-E441-733285F9B6DE}"/>
                </a:ext>
              </a:extLst>
            </p:cNvPr>
            <p:cNvSpPr>
              <a:spLocks noChangeArrowheads="1"/>
            </p:cNvSpPr>
            <p:nvPr/>
          </p:nvSpPr>
          <p:spPr bwMode="auto">
            <a:xfrm>
              <a:off x="655770" y="2132013"/>
              <a:ext cx="3325812" cy="427038"/>
            </a:xfrm>
            <a:prstGeom prst="ellipse">
              <a:avLst/>
            </a:prstGeom>
            <a:solidFill>
              <a:schemeClr val="bg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latin typeface="+mn-lt"/>
                </a:rPr>
                <a:t>Demand Forces</a:t>
              </a:r>
            </a:p>
          </p:txBody>
        </p:sp>
        <p:sp>
          <p:nvSpPr>
            <p:cNvPr id="5" name="Oval 4">
              <a:extLst>
                <a:ext uri="{FF2B5EF4-FFF2-40B4-BE49-F238E27FC236}">
                  <a16:creationId xmlns:a16="http://schemas.microsoft.com/office/drawing/2014/main" id="{A300FE96-80FB-7152-AF76-754957CE5425}"/>
                </a:ext>
              </a:extLst>
            </p:cNvPr>
            <p:cNvSpPr>
              <a:spLocks noChangeArrowheads="1"/>
            </p:cNvSpPr>
            <p:nvPr/>
          </p:nvSpPr>
          <p:spPr bwMode="auto">
            <a:xfrm>
              <a:off x="651007" y="2879726"/>
              <a:ext cx="3325813" cy="427037"/>
            </a:xfrm>
            <a:prstGeom prst="ellipse">
              <a:avLst/>
            </a:prstGeom>
            <a:solidFill>
              <a:schemeClr val="bg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latin typeface="+mn-lt"/>
                </a:rPr>
                <a:t>Supply Forces</a:t>
              </a:r>
            </a:p>
          </p:txBody>
        </p:sp>
        <p:sp>
          <p:nvSpPr>
            <p:cNvPr id="6" name="Oval 5">
              <a:extLst>
                <a:ext uri="{FF2B5EF4-FFF2-40B4-BE49-F238E27FC236}">
                  <a16:creationId xmlns:a16="http://schemas.microsoft.com/office/drawing/2014/main" id="{305C705A-EF75-8C52-35FC-D3441A64248D}"/>
                </a:ext>
              </a:extLst>
            </p:cNvPr>
            <p:cNvSpPr>
              <a:spLocks noChangeArrowheads="1"/>
            </p:cNvSpPr>
            <p:nvPr/>
          </p:nvSpPr>
          <p:spPr bwMode="auto">
            <a:xfrm>
              <a:off x="651007" y="3663951"/>
              <a:ext cx="3325813" cy="427037"/>
            </a:xfrm>
            <a:prstGeom prst="ellipse">
              <a:avLst/>
            </a:prstGeom>
            <a:solidFill>
              <a:schemeClr val="accent3"/>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Production Volumes</a:t>
              </a:r>
            </a:p>
          </p:txBody>
        </p:sp>
        <p:sp>
          <p:nvSpPr>
            <p:cNvPr id="7" name="Oval 6">
              <a:extLst>
                <a:ext uri="{FF2B5EF4-FFF2-40B4-BE49-F238E27FC236}">
                  <a16:creationId xmlns:a16="http://schemas.microsoft.com/office/drawing/2014/main" id="{FC2B05DD-749E-1CC5-C0EB-3D9F0407EC73}"/>
                </a:ext>
              </a:extLst>
            </p:cNvPr>
            <p:cNvSpPr>
              <a:spLocks noChangeArrowheads="1"/>
            </p:cNvSpPr>
            <p:nvPr/>
          </p:nvSpPr>
          <p:spPr bwMode="auto">
            <a:xfrm>
              <a:off x="651007" y="4400551"/>
              <a:ext cx="3325813" cy="427037"/>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Production Mix</a:t>
              </a:r>
            </a:p>
          </p:txBody>
        </p:sp>
        <p:cxnSp>
          <p:nvCxnSpPr>
            <p:cNvPr id="8" name="AutoShape 7">
              <a:extLst>
                <a:ext uri="{FF2B5EF4-FFF2-40B4-BE49-F238E27FC236}">
                  <a16:creationId xmlns:a16="http://schemas.microsoft.com/office/drawing/2014/main" id="{C9C355EC-E102-8058-BE3C-B94F502DF5D5}"/>
                </a:ext>
              </a:extLst>
            </p:cNvPr>
            <p:cNvCxnSpPr>
              <a:cxnSpLocks noChangeShapeType="1"/>
              <a:stCxn id="4" idx="4"/>
              <a:endCxn id="5" idx="0"/>
            </p:cNvCxnSpPr>
            <p:nvPr/>
          </p:nvCxnSpPr>
          <p:spPr bwMode="auto">
            <a:xfrm flipH="1">
              <a:off x="2314707" y="2559051"/>
              <a:ext cx="4763" cy="3206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C6619E63-009F-F5C9-8167-9FB4A17485D1}"/>
                </a:ext>
              </a:extLst>
            </p:cNvPr>
            <p:cNvCxnSpPr>
              <a:cxnSpLocks noChangeShapeType="1"/>
              <a:stCxn id="5" idx="4"/>
              <a:endCxn id="6" idx="0"/>
            </p:cNvCxnSpPr>
            <p:nvPr/>
          </p:nvCxnSpPr>
          <p:spPr bwMode="auto">
            <a:xfrm>
              <a:off x="2314707" y="3306763"/>
              <a:ext cx="0" cy="35718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 name="AutoShape 10">
              <a:extLst>
                <a:ext uri="{FF2B5EF4-FFF2-40B4-BE49-F238E27FC236}">
                  <a16:creationId xmlns:a16="http://schemas.microsoft.com/office/drawing/2014/main" id="{F122D01D-DF69-C65E-96B8-E1D648FBD858}"/>
                </a:ext>
              </a:extLst>
            </p:cNvPr>
            <p:cNvCxnSpPr>
              <a:cxnSpLocks noChangeShapeType="1"/>
              <a:stCxn id="6" idx="4"/>
              <a:endCxn id="7" idx="0"/>
            </p:cNvCxnSpPr>
            <p:nvPr/>
          </p:nvCxnSpPr>
          <p:spPr bwMode="auto">
            <a:xfrm>
              <a:off x="2314707" y="4090988"/>
              <a:ext cx="0" cy="30956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 name="Rectangle 11">
              <a:extLst>
                <a:ext uri="{FF2B5EF4-FFF2-40B4-BE49-F238E27FC236}">
                  <a16:creationId xmlns:a16="http://schemas.microsoft.com/office/drawing/2014/main" id="{F5FB2F9E-0F46-89D7-C425-0539DD8EE43F}"/>
                </a:ext>
              </a:extLst>
            </p:cNvPr>
            <p:cNvSpPr>
              <a:spLocks noChangeArrowheads="1"/>
            </p:cNvSpPr>
            <p:nvPr/>
          </p:nvSpPr>
          <p:spPr bwMode="auto">
            <a:xfrm>
              <a:off x="4646745" y="1711326"/>
              <a:ext cx="4459291" cy="289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
                  <a:srgbClr val="0000FF"/>
                </a:buClr>
                <a:buFont typeface="Arial" panose="020B0604020202020204" pitchFamily="34" charset="0"/>
                <a:buChar char="•"/>
              </a:pPr>
              <a:r>
                <a:rPr lang="en-US" altLang="en-US" sz="1400" dirty="0">
                  <a:latin typeface="+mn-lt"/>
                </a:rPr>
                <a:t>Typically, the combined analysis of supply and demand rapidly leads to compromises and illogical choices</a:t>
              </a:r>
            </a:p>
            <a:p>
              <a:pPr>
                <a:spcBef>
                  <a:spcPct val="40000"/>
                </a:spcBef>
                <a:buClr>
                  <a:srgbClr val="0000FF"/>
                </a:buClr>
                <a:buFont typeface="Arial" panose="020B0604020202020204" pitchFamily="34" charset="0"/>
                <a:buChar char="•"/>
              </a:pPr>
              <a:r>
                <a:rPr lang="en-US" altLang="en-US" sz="1400" dirty="0">
                  <a:latin typeface="+mn-lt"/>
                </a:rPr>
                <a:t>Demand (external view) and supply (internal view) should be assessed separately in order to confirm true capabilities and true wants</a:t>
              </a:r>
            </a:p>
            <a:p>
              <a:pPr>
                <a:spcBef>
                  <a:spcPct val="40000"/>
                </a:spcBef>
                <a:buClrTx/>
                <a:buSzPct val="90000"/>
                <a:buFont typeface="Arial" panose="020B0604020202020204" pitchFamily="34" charset="0"/>
                <a:buChar char="•"/>
              </a:pPr>
              <a:r>
                <a:rPr lang="en-US" altLang="en-US" sz="1400" dirty="0">
                  <a:latin typeface="+mn-lt"/>
                </a:rPr>
                <a:t>Once the separate analysis are complete, supply and demand can be assembled to build the optimal solution for the enterprise</a:t>
              </a:r>
            </a:p>
            <a:p>
              <a:pPr>
                <a:spcBef>
                  <a:spcPct val="40000"/>
                </a:spcBef>
                <a:buClr>
                  <a:srgbClr val="0000FF"/>
                </a:buClr>
                <a:buFont typeface="Arial" panose="020B0604020202020204" pitchFamily="34" charset="0"/>
                <a:buChar char="•"/>
              </a:pPr>
              <a:r>
                <a:rPr lang="en-US" altLang="en-US" sz="1400" dirty="0">
                  <a:latin typeface="+mn-lt"/>
                </a:rPr>
                <a:t>Organization frequently confuse </a:t>
              </a:r>
              <a:r>
                <a:rPr lang="ja-JP" altLang="en-US" sz="1400" dirty="0">
                  <a:latin typeface="+mn-lt"/>
                </a:rPr>
                <a:t>“</a:t>
              </a:r>
              <a:r>
                <a:rPr lang="en-US" altLang="ja-JP" sz="1400" dirty="0">
                  <a:latin typeface="+mn-lt"/>
                </a:rPr>
                <a:t>volume</a:t>
              </a:r>
              <a:r>
                <a:rPr lang="ja-JP" altLang="en-US" sz="1400" dirty="0">
                  <a:latin typeface="+mn-lt"/>
                </a:rPr>
                <a:t>”</a:t>
              </a:r>
              <a:r>
                <a:rPr lang="en-US" altLang="ja-JP" sz="1400" dirty="0">
                  <a:latin typeface="+mn-lt"/>
                </a:rPr>
                <a:t> and </a:t>
              </a:r>
              <a:r>
                <a:rPr lang="ja-JP" altLang="en-US" sz="1400" dirty="0">
                  <a:latin typeface="+mn-lt"/>
                </a:rPr>
                <a:t>“</a:t>
              </a:r>
              <a:r>
                <a:rPr lang="en-US" altLang="ja-JP" sz="1400" dirty="0">
                  <a:latin typeface="+mn-lt"/>
                </a:rPr>
                <a:t>mix;</a:t>
              </a:r>
              <a:r>
                <a:rPr lang="ja-JP" altLang="en-US" sz="1400" dirty="0">
                  <a:latin typeface="+mn-lt"/>
                </a:rPr>
                <a:t>”</a:t>
              </a:r>
              <a:r>
                <a:rPr lang="en-US" altLang="ja-JP" sz="1400" dirty="0">
                  <a:latin typeface="+mn-lt"/>
                </a:rPr>
                <a:t> most jump right to questions of mix</a:t>
              </a:r>
            </a:p>
            <a:p>
              <a:pPr>
                <a:spcBef>
                  <a:spcPct val="40000"/>
                </a:spcBef>
                <a:buClr>
                  <a:srgbClr val="0000FF"/>
                </a:buClr>
                <a:buFont typeface="Arial" panose="020B0604020202020204" pitchFamily="34" charset="0"/>
                <a:buChar char="•"/>
              </a:pPr>
              <a:r>
                <a:rPr lang="en-US" altLang="en-US" sz="1400" dirty="0">
                  <a:latin typeface="+mn-lt"/>
                </a:rPr>
                <a:t>As is the case with supply and demand, volume and mix are separate analysis within S&amp;OP and required individualized attention</a:t>
              </a:r>
              <a:endParaRPr lang="en-US" altLang="en-US" sz="1400" b="0" dirty="0">
                <a:latin typeface="+mn-lt"/>
              </a:endParaRPr>
            </a:p>
          </p:txBody>
        </p:sp>
        <p:sp>
          <p:nvSpPr>
            <p:cNvPr id="12" name="Line 12">
              <a:extLst>
                <a:ext uri="{FF2B5EF4-FFF2-40B4-BE49-F238E27FC236}">
                  <a16:creationId xmlns:a16="http://schemas.microsoft.com/office/drawing/2014/main" id="{9BE396EF-2C00-9B3C-521B-FE3F012080F6}"/>
                </a:ext>
              </a:extLst>
            </p:cNvPr>
            <p:cNvSpPr>
              <a:spLocks noChangeShapeType="1"/>
            </p:cNvSpPr>
            <p:nvPr/>
          </p:nvSpPr>
          <p:spPr bwMode="auto">
            <a:xfrm>
              <a:off x="4981707" y="4668838"/>
              <a:ext cx="3721100" cy="0"/>
            </a:xfrm>
            <a:prstGeom prst="line">
              <a:avLst/>
            </a:prstGeom>
            <a:noFill/>
            <a:ln w="38100" cap="sq">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13">
              <a:extLst>
                <a:ext uri="{FF2B5EF4-FFF2-40B4-BE49-F238E27FC236}">
                  <a16:creationId xmlns:a16="http://schemas.microsoft.com/office/drawing/2014/main" id="{366456A7-E6D5-6F98-A56A-EACBD895BB42}"/>
                </a:ext>
              </a:extLst>
            </p:cNvPr>
            <p:cNvSpPr>
              <a:spLocks noChangeArrowheads="1"/>
            </p:cNvSpPr>
            <p:nvPr/>
          </p:nvSpPr>
          <p:spPr bwMode="auto">
            <a:xfrm>
              <a:off x="4970595" y="4746626"/>
              <a:ext cx="3756025" cy="330200"/>
            </a:xfrm>
            <a:prstGeom prst="rect">
              <a:avLst/>
            </a:prstGeom>
            <a:solidFill>
              <a:schemeClr val="accent4"/>
            </a:solidFill>
            <a:ln w="12700" cap="sq">
              <a:solidFill>
                <a:schemeClr val="accent4"/>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S&amp;OP Goal:  Distinct Analysis; Optimal Solutions</a:t>
              </a:r>
            </a:p>
          </p:txBody>
        </p:sp>
        <p:sp>
          <p:nvSpPr>
            <p:cNvPr id="14" name="Rectangle 15">
              <a:extLst>
                <a:ext uri="{FF2B5EF4-FFF2-40B4-BE49-F238E27FC236}">
                  <a16:creationId xmlns:a16="http://schemas.microsoft.com/office/drawing/2014/main" id="{7A274246-9D6C-61CA-81B2-46F385F7C376}"/>
                </a:ext>
              </a:extLst>
            </p:cNvPr>
            <p:cNvSpPr>
              <a:spLocks noChangeArrowheads="1"/>
            </p:cNvSpPr>
            <p:nvPr/>
          </p:nvSpPr>
          <p:spPr bwMode="auto">
            <a:xfrm>
              <a:off x="527182" y="1793876"/>
              <a:ext cx="3598863" cy="32861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5" name="Text Box 16">
              <a:extLst>
                <a:ext uri="{FF2B5EF4-FFF2-40B4-BE49-F238E27FC236}">
                  <a16:creationId xmlns:a16="http://schemas.microsoft.com/office/drawing/2014/main" id="{231049F0-D4BA-E676-36B4-30F39008854C}"/>
                </a:ext>
              </a:extLst>
            </p:cNvPr>
            <p:cNvSpPr txBox="1">
              <a:spLocks noChangeArrowheads="1"/>
            </p:cNvSpPr>
            <p:nvPr/>
          </p:nvSpPr>
          <p:spPr bwMode="auto">
            <a:xfrm>
              <a:off x="834048" y="1657351"/>
              <a:ext cx="1730836" cy="2770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latin typeface="+mn-lt"/>
                </a:rPr>
                <a:t>S&amp;OP Analysis Hierarchy</a:t>
              </a:r>
            </a:p>
          </p:txBody>
        </p:sp>
        <p:sp>
          <p:nvSpPr>
            <p:cNvPr id="16" name="AutoShape 17">
              <a:extLst>
                <a:ext uri="{FF2B5EF4-FFF2-40B4-BE49-F238E27FC236}">
                  <a16:creationId xmlns:a16="http://schemas.microsoft.com/office/drawing/2014/main" id="{6113E39F-7787-79B2-8B3D-8ACAE577195D}"/>
                </a:ext>
              </a:extLst>
            </p:cNvPr>
            <p:cNvSpPr>
              <a:spLocks noChangeArrowheads="1"/>
            </p:cNvSpPr>
            <p:nvPr/>
          </p:nvSpPr>
          <p:spPr bwMode="auto">
            <a:xfrm>
              <a:off x="4302257" y="2106613"/>
              <a:ext cx="273050" cy="2374900"/>
            </a:xfrm>
            <a:prstGeom prst="rightArrow">
              <a:avLst>
                <a:gd name="adj1" fmla="val 66222"/>
                <a:gd name="adj2" fmla="val 67620"/>
              </a:avLst>
            </a:prstGeom>
            <a:solidFill>
              <a:schemeClr val="accent4"/>
            </a:solidFill>
            <a:ln w="19050" cap="sq">
              <a:solidFill>
                <a:schemeClr val="accent4"/>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Tree>
    <p:extLst>
      <p:ext uri="{BB962C8B-B14F-4D97-AF65-F5344CB8AC3E}">
        <p14:creationId xmlns:p14="http://schemas.microsoft.com/office/powerpoint/2010/main" val="3126878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S&amp;OP Timing Schematic: </a:t>
            </a:r>
            <a:br>
              <a:rPr lang="en-US" sz="3600" dirty="0"/>
            </a:br>
            <a:r>
              <a:rPr lang="en-US" sz="3600" dirty="0"/>
              <a:t>Clear, Predictable Path For Roadmap Creation</a:t>
            </a:r>
          </a:p>
        </p:txBody>
      </p:sp>
      <p:grpSp>
        <p:nvGrpSpPr>
          <p:cNvPr id="28" name="Group 27">
            <a:extLst>
              <a:ext uri="{FF2B5EF4-FFF2-40B4-BE49-F238E27FC236}">
                <a16:creationId xmlns:a16="http://schemas.microsoft.com/office/drawing/2014/main" id="{216EF54F-84D5-C050-3115-8BD927C8B399}"/>
              </a:ext>
            </a:extLst>
          </p:cNvPr>
          <p:cNvGrpSpPr/>
          <p:nvPr/>
        </p:nvGrpSpPr>
        <p:grpSpPr>
          <a:xfrm>
            <a:off x="1788716" y="1814513"/>
            <a:ext cx="8614568" cy="4529137"/>
            <a:chOff x="189183" y="1567367"/>
            <a:chExt cx="8408987" cy="4315313"/>
          </a:xfrm>
        </p:grpSpPr>
        <p:sp>
          <p:nvSpPr>
            <p:cNvPr id="3" name="Rectangle 39">
              <a:extLst>
                <a:ext uri="{FF2B5EF4-FFF2-40B4-BE49-F238E27FC236}">
                  <a16:creationId xmlns:a16="http://schemas.microsoft.com/office/drawing/2014/main" id="{6250D2C1-7BD9-6FCC-C759-0198ED57603E}"/>
                </a:ext>
              </a:extLst>
            </p:cNvPr>
            <p:cNvSpPr>
              <a:spLocks noChangeArrowheads="1"/>
            </p:cNvSpPr>
            <p:nvPr/>
          </p:nvSpPr>
          <p:spPr bwMode="auto">
            <a:xfrm>
              <a:off x="236808" y="2808792"/>
              <a:ext cx="8361362" cy="96043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 name="Rectangle 5">
              <a:extLst>
                <a:ext uri="{FF2B5EF4-FFF2-40B4-BE49-F238E27FC236}">
                  <a16:creationId xmlns:a16="http://schemas.microsoft.com/office/drawing/2014/main" id="{C409B12A-C9B6-D68D-3A01-10B5D05600EF}"/>
                </a:ext>
              </a:extLst>
            </p:cNvPr>
            <p:cNvSpPr>
              <a:spLocks noChangeArrowheads="1"/>
            </p:cNvSpPr>
            <p:nvPr/>
          </p:nvSpPr>
          <p:spPr bwMode="auto">
            <a:xfrm>
              <a:off x="3010170" y="2845304"/>
              <a:ext cx="1692275"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marL="103188" indent="-1031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000">
                  <a:latin typeface="+mn-lt"/>
                </a:rPr>
                <a:t> 	Critically evaluate available production resources to determine the optimal mix to meet forecasted demand</a:t>
              </a:r>
            </a:p>
          </p:txBody>
        </p:sp>
        <p:sp>
          <p:nvSpPr>
            <p:cNvPr id="5" name="Rectangle 6">
              <a:extLst>
                <a:ext uri="{FF2B5EF4-FFF2-40B4-BE49-F238E27FC236}">
                  <a16:creationId xmlns:a16="http://schemas.microsoft.com/office/drawing/2014/main" id="{B59E0D41-386F-773C-4BC2-6F969763615C}"/>
                </a:ext>
              </a:extLst>
            </p:cNvPr>
            <p:cNvSpPr>
              <a:spLocks noChangeArrowheads="1"/>
            </p:cNvSpPr>
            <p:nvPr/>
          </p:nvSpPr>
          <p:spPr bwMode="auto">
            <a:xfrm>
              <a:off x="201883" y="2807204"/>
              <a:ext cx="1177925" cy="268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200">
                  <a:latin typeface="+mn-lt"/>
                </a:rPr>
                <a:t>Goal</a:t>
              </a:r>
            </a:p>
          </p:txBody>
        </p:sp>
        <p:sp>
          <p:nvSpPr>
            <p:cNvPr id="6" name="Rectangle 7">
              <a:extLst>
                <a:ext uri="{FF2B5EF4-FFF2-40B4-BE49-F238E27FC236}">
                  <a16:creationId xmlns:a16="http://schemas.microsoft.com/office/drawing/2014/main" id="{ABECF124-E9A7-302A-BFA0-B656B8888F44}"/>
                </a:ext>
              </a:extLst>
            </p:cNvPr>
            <p:cNvSpPr>
              <a:spLocks noChangeArrowheads="1"/>
            </p:cNvSpPr>
            <p:nvPr/>
          </p:nvSpPr>
          <p:spPr bwMode="auto">
            <a:xfrm>
              <a:off x="1165495" y="2845304"/>
              <a:ext cx="16637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1275" tIns="41275" rIns="41275" bIns="41275">
              <a:spAutoFit/>
            </a:bodyPr>
            <a:lstStyle>
              <a:lvl1pPr marL="153988" indent="-1539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000" dirty="0">
                  <a:latin typeface="+mn-lt"/>
                </a:rPr>
                <a:t> 	Create the most accurate demand plan based on field inputs, historical analysis and consensus agreement</a:t>
              </a:r>
            </a:p>
          </p:txBody>
        </p:sp>
        <p:sp>
          <p:nvSpPr>
            <p:cNvPr id="7" name="Rectangle 8">
              <a:extLst>
                <a:ext uri="{FF2B5EF4-FFF2-40B4-BE49-F238E27FC236}">
                  <a16:creationId xmlns:a16="http://schemas.microsoft.com/office/drawing/2014/main" id="{D2158548-ABAB-2281-C130-515C8DAA4A3F}"/>
                </a:ext>
              </a:extLst>
            </p:cNvPr>
            <p:cNvSpPr>
              <a:spLocks noChangeArrowheads="1"/>
            </p:cNvSpPr>
            <p:nvPr/>
          </p:nvSpPr>
          <p:spPr bwMode="auto">
            <a:xfrm>
              <a:off x="4921520" y="2845304"/>
              <a:ext cx="1795463"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marL="103188" indent="-1031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000">
                  <a:latin typeface="+mn-lt"/>
                </a:rPr>
                <a:t> 	Review recommended plan, make any necessary changes, resolve conflicts and approve the path forward</a:t>
              </a:r>
            </a:p>
          </p:txBody>
        </p:sp>
        <p:sp>
          <p:nvSpPr>
            <p:cNvPr id="8" name="Rectangle 9">
              <a:extLst>
                <a:ext uri="{FF2B5EF4-FFF2-40B4-BE49-F238E27FC236}">
                  <a16:creationId xmlns:a16="http://schemas.microsoft.com/office/drawing/2014/main" id="{C4131CB6-9A77-BA8A-A9F0-3616F64E9E5E}"/>
                </a:ext>
              </a:extLst>
            </p:cNvPr>
            <p:cNvSpPr>
              <a:spLocks noChangeArrowheads="1"/>
            </p:cNvSpPr>
            <p:nvPr/>
          </p:nvSpPr>
          <p:spPr bwMode="auto">
            <a:xfrm>
              <a:off x="6885258" y="2845304"/>
              <a:ext cx="1635125"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000">
                  <a:latin typeface="+mn-lt"/>
                </a:rPr>
                <a:t>To prepare end item production schedules that meet the monthly production plan by product family</a:t>
              </a:r>
            </a:p>
          </p:txBody>
        </p:sp>
        <p:sp>
          <p:nvSpPr>
            <p:cNvPr id="9" name="Rectangle 10">
              <a:extLst>
                <a:ext uri="{FF2B5EF4-FFF2-40B4-BE49-F238E27FC236}">
                  <a16:creationId xmlns:a16="http://schemas.microsoft.com/office/drawing/2014/main" id="{9540E5FC-8881-5245-4AF7-54B3AEE67EEA}"/>
                </a:ext>
              </a:extLst>
            </p:cNvPr>
            <p:cNvSpPr>
              <a:spLocks noChangeArrowheads="1"/>
            </p:cNvSpPr>
            <p:nvPr/>
          </p:nvSpPr>
          <p:spPr bwMode="auto">
            <a:xfrm>
              <a:off x="189183" y="3788279"/>
              <a:ext cx="1177925" cy="268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200">
                  <a:latin typeface="+mn-lt"/>
                </a:rPr>
                <a:t>Objectives</a:t>
              </a:r>
            </a:p>
          </p:txBody>
        </p:sp>
        <p:sp>
          <p:nvSpPr>
            <p:cNvPr id="10" name="AutoShape 13">
              <a:extLst>
                <a:ext uri="{FF2B5EF4-FFF2-40B4-BE49-F238E27FC236}">
                  <a16:creationId xmlns:a16="http://schemas.microsoft.com/office/drawing/2014/main" id="{1F5C261D-2FA3-47DF-62C4-0AACA58569B5}"/>
                </a:ext>
              </a:extLst>
            </p:cNvPr>
            <p:cNvSpPr>
              <a:spLocks noChangeArrowheads="1"/>
            </p:cNvSpPr>
            <p:nvPr/>
          </p:nvSpPr>
          <p:spPr bwMode="auto">
            <a:xfrm>
              <a:off x="1340120" y="1927729"/>
              <a:ext cx="1577975" cy="708025"/>
            </a:xfrm>
            <a:prstGeom prst="parallelogram">
              <a:avLst>
                <a:gd name="adj" fmla="val 44574"/>
              </a:avLst>
            </a:prstGeom>
            <a:solidFill>
              <a:schemeClr val="bg2"/>
            </a:solidFill>
            <a:ln w="12700">
              <a:solidFill>
                <a:schemeClr val="tx1"/>
              </a:solidFill>
              <a:miter lim="800000"/>
              <a:headEnd/>
              <a:tailEnd/>
            </a:ln>
          </p:spPr>
          <p:txBody>
            <a:bodyPr wrap="none" lIns="63500" tIns="31750" rIns="63500" bIns="31750" anchor="ctr"/>
            <a:lstStyle>
              <a:lvl1pPr defTabSz="5556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5556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5556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100" dirty="0">
                  <a:latin typeface="+mn-lt"/>
                </a:rPr>
                <a:t>Consensus</a:t>
              </a:r>
            </a:p>
            <a:p>
              <a:pPr algn="ctr">
                <a:spcBef>
                  <a:spcPct val="0"/>
                </a:spcBef>
                <a:buClrTx/>
                <a:buSzTx/>
                <a:buFontTx/>
                <a:buNone/>
              </a:pPr>
              <a:r>
                <a:rPr lang="en-US" altLang="en-US" sz="1100" dirty="0">
                  <a:latin typeface="+mn-lt"/>
                </a:rPr>
                <a:t>Demand</a:t>
              </a:r>
            </a:p>
            <a:p>
              <a:pPr algn="ctr">
                <a:spcBef>
                  <a:spcPct val="0"/>
                </a:spcBef>
                <a:buClrTx/>
                <a:buSzTx/>
                <a:buFontTx/>
                <a:buNone/>
              </a:pPr>
              <a:r>
                <a:rPr lang="en-US" altLang="en-US" sz="1100" dirty="0">
                  <a:latin typeface="+mn-lt"/>
                </a:rPr>
                <a:t>Forecast</a:t>
              </a:r>
            </a:p>
          </p:txBody>
        </p:sp>
        <p:sp>
          <p:nvSpPr>
            <p:cNvPr id="11" name="AutoShape 15">
              <a:extLst>
                <a:ext uri="{FF2B5EF4-FFF2-40B4-BE49-F238E27FC236}">
                  <a16:creationId xmlns:a16="http://schemas.microsoft.com/office/drawing/2014/main" id="{365388A0-4E8C-11D3-A5A5-C1FC40B11C7D}"/>
                </a:ext>
              </a:extLst>
            </p:cNvPr>
            <p:cNvSpPr>
              <a:spLocks noChangeArrowheads="1"/>
            </p:cNvSpPr>
            <p:nvPr/>
          </p:nvSpPr>
          <p:spPr bwMode="auto">
            <a:xfrm>
              <a:off x="5112020" y="1927729"/>
              <a:ext cx="1577975" cy="708025"/>
            </a:xfrm>
            <a:prstGeom prst="parallelogram">
              <a:avLst>
                <a:gd name="adj" fmla="val 44574"/>
              </a:avLst>
            </a:prstGeom>
            <a:solidFill>
              <a:schemeClr val="accent5"/>
            </a:solidFill>
            <a:ln w="12700">
              <a:solidFill>
                <a:schemeClr val="tx1"/>
              </a:solidFill>
              <a:miter lim="800000"/>
              <a:headEnd/>
              <a:tailEnd/>
            </a:ln>
          </p:spPr>
          <p:txBody>
            <a:bodyPr wrap="none" lIns="63500" tIns="31750" rIns="63500" bIns="31750" anchor="ctr"/>
            <a:lstStyle>
              <a:lvl1pPr defTabSz="5556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5556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5556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100">
                  <a:solidFill>
                    <a:schemeClr val="bg1"/>
                  </a:solidFill>
                  <a:latin typeface="+mn-lt"/>
                </a:rPr>
                <a:t>Executive </a:t>
              </a:r>
            </a:p>
            <a:p>
              <a:pPr algn="ctr">
                <a:spcBef>
                  <a:spcPct val="0"/>
                </a:spcBef>
                <a:buClrTx/>
                <a:buSzTx/>
                <a:buFontTx/>
                <a:buNone/>
              </a:pPr>
              <a:r>
                <a:rPr lang="en-US" altLang="en-US" sz="1100">
                  <a:solidFill>
                    <a:schemeClr val="bg1"/>
                  </a:solidFill>
                  <a:latin typeface="+mn-lt"/>
                </a:rPr>
                <a:t>S&amp;OP</a:t>
              </a:r>
            </a:p>
            <a:p>
              <a:pPr algn="ctr">
                <a:spcBef>
                  <a:spcPct val="0"/>
                </a:spcBef>
                <a:buClrTx/>
                <a:buSzTx/>
                <a:buFontTx/>
                <a:buNone/>
              </a:pPr>
              <a:r>
                <a:rPr lang="en-US" altLang="en-US" sz="1100">
                  <a:solidFill>
                    <a:schemeClr val="bg1"/>
                  </a:solidFill>
                  <a:latin typeface="+mn-lt"/>
                </a:rPr>
                <a:t>Meeting</a:t>
              </a:r>
            </a:p>
          </p:txBody>
        </p:sp>
        <p:sp>
          <p:nvSpPr>
            <p:cNvPr id="12" name="AutoShape 16">
              <a:extLst>
                <a:ext uri="{FF2B5EF4-FFF2-40B4-BE49-F238E27FC236}">
                  <a16:creationId xmlns:a16="http://schemas.microsoft.com/office/drawing/2014/main" id="{220F273E-CFFC-56DE-B773-776BECB7DB75}"/>
                </a:ext>
              </a:extLst>
            </p:cNvPr>
            <p:cNvSpPr>
              <a:spLocks noChangeArrowheads="1"/>
            </p:cNvSpPr>
            <p:nvPr/>
          </p:nvSpPr>
          <p:spPr bwMode="auto">
            <a:xfrm>
              <a:off x="6985270" y="1927729"/>
              <a:ext cx="1577975" cy="708025"/>
            </a:xfrm>
            <a:prstGeom prst="parallelogram">
              <a:avLst>
                <a:gd name="adj" fmla="val 44574"/>
              </a:avLst>
            </a:prstGeom>
            <a:solidFill>
              <a:schemeClr val="accent4"/>
            </a:solidFill>
            <a:ln w="12700">
              <a:solidFill>
                <a:schemeClr val="tx1"/>
              </a:solidFill>
              <a:miter lim="800000"/>
              <a:headEnd/>
              <a:tailEnd/>
            </a:ln>
          </p:spPr>
          <p:txBody>
            <a:bodyPr wrap="none" lIns="63500" tIns="31750" rIns="63500" bIns="31750" anchor="ctr"/>
            <a:lstStyle>
              <a:lvl1pPr defTabSz="5556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5556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5556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100">
                  <a:solidFill>
                    <a:schemeClr val="bg1"/>
                  </a:solidFill>
                  <a:latin typeface="+mn-lt"/>
                </a:rPr>
                <a:t>Master</a:t>
              </a:r>
            </a:p>
            <a:p>
              <a:pPr algn="ctr">
                <a:spcBef>
                  <a:spcPct val="0"/>
                </a:spcBef>
                <a:buClrTx/>
                <a:buSzTx/>
                <a:buFontTx/>
                <a:buNone/>
              </a:pPr>
              <a:r>
                <a:rPr lang="en-US" altLang="en-US" sz="1100">
                  <a:solidFill>
                    <a:schemeClr val="bg1"/>
                  </a:solidFill>
                  <a:latin typeface="+mn-lt"/>
                </a:rPr>
                <a:t>Production</a:t>
              </a:r>
            </a:p>
            <a:p>
              <a:pPr algn="ctr">
                <a:spcBef>
                  <a:spcPct val="0"/>
                </a:spcBef>
                <a:buClrTx/>
                <a:buSzTx/>
                <a:buFontTx/>
                <a:buNone/>
              </a:pPr>
              <a:r>
                <a:rPr lang="en-US" altLang="en-US" sz="1100">
                  <a:solidFill>
                    <a:schemeClr val="bg1"/>
                  </a:solidFill>
                  <a:latin typeface="+mn-lt"/>
                </a:rPr>
                <a:t>Scheduling</a:t>
              </a:r>
            </a:p>
          </p:txBody>
        </p:sp>
        <p:sp>
          <p:nvSpPr>
            <p:cNvPr id="13" name="Rectangle 28">
              <a:extLst>
                <a:ext uri="{FF2B5EF4-FFF2-40B4-BE49-F238E27FC236}">
                  <a16:creationId xmlns:a16="http://schemas.microsoft.com/office/drawing/2014/main" id="{D8B27FA9-B6D0-14A5-CD19-DCEEB2B53FA3}"/>
                </a:ext>
              </a:extLst>
            </p:cNvPr>
            <p:cNvSpPr>
              <a:spLocks noChangeArrowheads="1"/>
            </p:cNvSpPr>
            <p:nvPr/>
          </p:nvSpPr>
          <p:spPr bwMode="auto">
            <a:xfrm>
              <a:off x="1255983" y="3829554"/>
              <a:ext cx="1692275" cy="196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marL="153988" indent="-1539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000" dirty="0">
                  <a:latin typeface="+mn-lt"/>
                </a:rPr>
                <a:t>Gather latest market activity from field</a:t>
              </a:r>
            </a:p>
            <a:p>
              <a:pPr>
                <a:spcBef>
                  <a:spcPct val="45000"/>
                </a:spcBef>
                <a:buClrTx/>
                <a:buSzPct val="90000"/>
                <a:buFont typeface="Arial" panose="020B0604020202020204" pitchFamily="34" charset="0"/>
                <a:buChar char="•"/>
              </a:pPr>
              <a:r>
                <a:rPr lang="en-US" altLang="en-US" sz="1000" dirty="0">
                  <a:latin typeface="+mn-lt"/>
                </a:rPr>
                <a:t>Update system generated forecasts</a:t>
              </a:r>
            </a:p>
            <a:p>
              <a:pPr>
                <a:spcBef>
                  <a:spcPct val="45000"/>
                </a:spcBef>
                <a:buClrTx/>
                <a:buSzPct val="90000"/>
                <a:buFont typeface="Arial" panose="020B0604020202020204" pitchFamily="34" charset="0"/>
                <a:buChar char="•"/>
              </a:pPr>
              <a:r>
                <a:rPr lang="en-US" altLang="en-US" sz="1000" dirty="0">
                  <a:latin typeface="+mn-lt"/>
                </a:rPr>
                <a:t>Review and apply judgments</a:t>
              </a:r>
            </a:p>
            <a:p>
              <a:pPr>
                <a:spcBef>
                  <a:spcPct val="45000"/>
                </a:spcBef>
                <a:buClrTx/>
                <a:buSzPct val="90000"/>
                <a:buFont typeface="Arial" panose="020B0604020202020204" pitchFamily="34" charset="0"/>
                <a:buChar char="•"/>
              </a:pPr>
              <a:r>
                <a:rPr lang="en-US" altLang="en-US" sz="1000" dirty="0">
                  <a:latin typeface="+mn-lt"/>
                </a:rPr>
                <a:t>Review predicted results</a:t>
              </a:r>
            </a:p>
            <a:p>
              <a:pPr>
                <a:spcBef>
                  <a:spcPct val="45000"/>
                </a:spcBef>
                <a:buClrTx/>
                <a:buSzPct val="90000"/>
                <a:buFont typeface="Arial" panose="020B0604020202020204" pitchFamily="34" charset="0"/>
                <a:buChar char="•"/>
              </a:pPr>
              <a:r>
                <a:rPr lang="en-US" altLang="en-US" sz="1000" dirty="0">
                  <a:latin typeface="+mn-lt"/>
                </a:rPr>
                <a:t>Adjust for strategy</a:t>
              </a:r>
            </a:p>
            <a:p>
              <a:pPr>
                <a:spcBef>
                  <a:spcPct val="45000"/>
                </a:spcBef>
                <a:buClrTx/>
                <a:buSzPct val="90000"/>
                <a:buFont typeface="Arial" panose="020B0604020202020204" pitchFamily="34" charset="0"/>
                <a:buChar char="•"/>
              </a:pPr>
              <a:r>
                <a:rPr lang="en-US" altLang="en-US" sz="1000" dirty="0">
                  <a:latin typeface="+mn-lt"/>
                </a:rPr>
                <a:t>Reach forecast consensus</a:t>
              </a:r>
            </a:p>
          </p:txBody>
        </p:sp>
        <p:sp>
          <p:nvSpPr>
            <p:cNvPr id="14" name="Rectangle 29">
              <a:extLst>
                <a:ext uri="{FF2B5EF4-FFF2-40B4-BE49-F238E27FC236}">
                  <a16:creationId xmlns:a16="http://schemas.microsoft.com/office/drawing/2014/main" id="{975C2CB8-7F55-6385-2FEC-35AC26DC5F2B}"/>
                </a:ext>
              </a:extLst>
            </p:cNvPr>
            <p:cNvSpPr>
              <a:spLocks noChangeArrowheads="1"/>
            </p:cNvSpPr>
            <p:nvPr/>
          </p:nvSpPr>
          <p:spPr bwMode="auto">
            <a:xfrm>
              <a:off x="3038745" y="3829554"/>
              <a:ext cx="1692275" cy="205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marL="153988" indent="-1539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000">
                  <a:latin typeface="+mn-lt"/>
                </a:rPr>
                <a:t>Review historical performance</a:t>
              </a:r>
            </a:p>
            <a:p>
              <a:pPr>
                <a:spcBef>
                  <a:spcPct val="45000"/>
                </a:spcBef>
                <a:buClrTx/>
                <a:buSzPct val="90000"/>
                <a:buFont typeface="Arial" panose="020B0604020202020204" pitchFamily="34" charset="0"/>
                <a:buChar char="•"/>
              </a:pPr>
              <a:r>
                <a:rPr lang="en-US" altLang="en-US" sz="1000">
                  <a:latin typeface="+mn-lt"/>
                </a:rPr>
                <a:t>Update production plans</a:t>
              </a:r>
            </a:p>
            <a:p>
              <a:pPr>
                <a:spcBef>
                  <a:spcPct val="45000"/>
                </a:spcBef>
                <a:buClrTx/>
                <a:buSzPct val="90000"/>
                <a:buFont typeface="Arial" panose="020B0604020202020204" pitchFamily="34" charset="0"/>
                <a:buChar char="•"/>
              </a:pPr>
              <a:r>
                <a:rPr lang="en-US" altLang="en-US" sz="1000">
                  <a:latin typeface="+mn-lt"/>
                </a:rPr>
                <a:t>Review critical resource constraints</a:t>
              </a:r>
            </a:p>
            <a:p>
              <a:pPr>
                <a:spcBef>
                  <a:spcPct val="45000"/>
                </a:spcBef>
                <a:buClrTx/>
                <a:buSzPct val="90000"/>
                <a:buFont typeface="Arial" panose="020B0604020202020204" pitchFamily="34" charset="0"/>
                <a:buChar char="•"/>
              </a:pPr>
              <a:r>
                <a:rPr lang="en-US" altLang="en-US" sz="1000">
                  <a:latin typeface="+mn-lt"/>
                </a:rPr>
                <a:t>Make resource decisions</a:t>
              </a:r>
            </a:p>
            <a:p>
              <a:pPr>
                <a:spcBef>
                  <a:spcPct val="45000"/>
                </a:spcBef>
                <a:buClrTx/>
                <a:buSzPct val="90000"/>
                <a:buFont typeface="Arial" panose="020B0604020202020204" pitchFamily="34" charset="0"/>
                <a:buChar char="•"/>
              </a:pPr>
              <a:r>
                <a:rPr lang="en-US" altLang="en-US" sz="1000">
                  <a:latin typeface="+mn-lt"/>
                </a:rPr>
                <a:t>Assess decision impacts and prepare for executive meeting</a:t>
              </a:r>
            </a:p>
          </p:txBody>
        </p:sp>
        <p:sp>
          <p:nvSpPr>
            <p:cNvPr id="15" name="Rectangle 30">
              <a:extLst>
                <a:ext uri="{FF2B5EF4-FFF2-40B4-BE49-F238E27FC236}">
                  <a16:creationId xmlns:a16="http://schemas.microsoft.com/office/drawing/2014/main" id="{83673D87-28F0-233B-CE21-C79F9CB8BB11}"/>
                </a:ext>
              </a:extLst>
            </p:cNvPr>
            <p:cNvSpPr>
              <a:spLocks noChangeArrowheads="1"/>
            </p:cNvSpPr>
            <p:nvPr/>
          </p:nvSpPr>
          <p:spPr bwMode="auto">
            <a:xfrm>
              <a:off x="4911995" y="3829554"/>
              <a:ext cx="1692275" cy="1683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marL="153988" indent="-1539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60000"/>
                </a:spcBef>
                <a:buClrTx/>
                <a:buSzPct val="90000"/>
                <a:buFont typeface="Arial" panose="020B0604020202020204" pitchFamily="34" charset="0"/>
                <a:buChar char="•"/>
              </a:pPr>
              <a:r>
                <a:rPr lang="en-US" altLang="en-US" sz="1000">
                  <a:latin typeface="+mn-lt"/>
                </a:rPr>
                <a:t>Review recent performance</a:t>
              </a:r>
            </a:p>
            <a:p>
              <a:pPr>
                <a:spcBef>
                  <a:spcPct val="60000"/>
                </a:spcBef>
                <a:buClrTx/>
                <a:buSzPct val="90000"/>
                <a:buFont typeface="Arial" panose="020B0604020202020204" pitchFamily="34" charset="0"/>
                <a:buChar char="•"/>
              </a:pPr>
              <a:r>
                <a:rPr lang="en-US" altLang="en-US" sz="1000">
                  <a:latin typeface="+mn-lt"/>
                </a:rPr>
                <a:t>Settle undecided issues</a:t>
              </a:r>
            </a:p>
            <a:p>
              <a:pPr>
                <a:spcBef>
                  <a:spcPct val="60000"/>
                </a:spcBef>
                <a:buClrTx/>
                <a:buSzPct val="90000"/>
                <a:buFont typeface="Arial" panose="020B0604020202020204" pitchFamily="34" charset="0"/>
                <a:buChar char="•"/>
              </a:pPr>
              <a:r>
                <a:rPr lang="en-US" altLang="en-US" sz="1000">
                  <a:latin typeface="+mn-lt"/>
                </a:rPr>
                <a:t>Review impact statement</a:t>
              </a:r>
            </a:p>
            <a:p>
              <a:pPr>
                <a:spcBef>
                  <a:spcPct val="60000"/>
                </a:spcBef>
                <a:buClrTx/>
                <a:buSzPct val="90000"/>
                <a:buFont typeface="Arial" panose="020B0604020202020204" pitchFamily="34" charset="0"/>
                <a:buChar char="•"/>
              </a:pPr>
              <a:r>
                <a:rPr lang="en-US" altLang="en-US" sz="1000">
                  <a:latin typeface="+mn-lt"/>
                </a:rPr>
                <a:t>Approve current months S&amp;OP roadmap</a:t>
              </a:r>
            </a:p>
            <a:p>
              <a:pPr>
                <a:spcBef>
                  <a:spcPct val="60000"/>
                </a:spcBef>
                <a:buClrTx/>
                <a:buSzPct val="90000"/>
                <a:buFont typeface="Arial" panose="020B0604020202020204" pitchFamily="34" charset="0"/>
                <a:buChar char="•"/>
              </a:pPr>
              <a:r>
                <a:rPr lang="en-US" altLang="en-US" sz="1000">
                  <a:latin typeface="+mn-lt"/>
                </a:rPr>
                <a:t>Move to production</a:t>
              </a:r>
            </a:p>
          </p:txBody>
        </p:sp>
        <p:sp>
          <p:nvSpPr>
            <p:cNvPr id="16" name="Rectangle 31">
              <a:extLst>
                <a:ext uri="{FF2B5EF4-FFF2-40B4-BE49-F238E27FC236}">
                  <a16:creationId xmlns:a16="http://schemas.microsoft.com/office/drawing/2014/main" id="{F47FF5AB-9652-0691-48CC-B91C6141F008}"/>
                </a:ext>
              </a:extLst>
            </p:cNvPr>
            <p:cNvSpPr>
              <a:spLocks noChangeArrowheads="1"/>
            </p:cNvSpPr>
            <p:nvPr/>
          </p:nvSpPr>
          <p:spPr bwMode="auto">
            <a:xfrm>
              <a:off x="6745558" y="3829554"/>
              <a:ext cx="1692275"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0" tIns="41275" rIns="82550" bIns="41275">
              <a:spAutoFit/>
            </a:bodyPr>
            <a:lstStyle>
              <a:lvl1pPr marL="153988" indent="-153988" defTabSz="73977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3977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3977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3977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3977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60000"/>
                </a:spcBef>
                <a:buClrTx/>
                <a:buSzPct val="90000"/>
                <a:buFont typeface="Arial" panose="020B0604020202020204" pitchFamily="34" charset="0"/>
                <a:buChar char="•"/>
              </a:pPr>
              <a:r>
                <a:rPr lang="en-US" altLang="en-US" sz="1000" dirty="0">
                  <a:latin typeface="+mn-lt"/>
                </a:rPr>
                <a:t>Load most current forecast</a:t>
              </a:r>
            </a:p>
            <a:p>
              <a:pPr>
                <a:spcBef>
                  <a:spcPct val="60000"/>
                </a:spcBef>
                <a:buClrTx/>
                <a:buSzPct val="90000"/>
                <a:buFont typeface="Arial" panose="020B0604020202020204" pitchFamily="34" charset="0"/>
                <a:buChar char="•"/>
              </a:pPr>
              <a:r>
                <a:rPr lang="en-US" altLang="en-US" sz="1000" dirty="0">
                  <a:latin typeface="+mn-lt"/>
                </a:rPr>
                <a:t>Execute MPS program</a:t>
              </a:r>
            </a:p>
            <a:p>
              <a:pPr>
                <a:spcBef>
                  <a:spcPct val="60000"/>
                </a:spcBef>
                <a:buClrTx/>
                <a:buSzPct val="90000"/>
                <a:buFont typeface="Arial" panose="020B0604020202020204" pitchFamily="34" charset="0"/>
                <a:buChar char="•"/>
              </a:pPr>
              <a:r>
                <a:rPr lang="en-US" altLang="en-US" sz="1000" dirty="0">
                  <a:latin typeface="+mn-lt"/>
                </a:rPr>
                <a:t>Address exception messages</a:t>
              </a:r>
            </a:p>
            <a:p>
              <a:pPr>
                <a:spcBef>
                  <a:spcPct val="60000"/>
                </a:spcBef>
                <a:buClrTx/>
                <a:buSzPct val="90000"/>
                <a:buFont typeface="Arial" panose="020B0604020202020204" pitchFamily="34" charset="0"/>
                <a:buChar char="•"/>
              </a:pPr>
              <a:r>
                <a:rPr lang="en-US" altLang="en-US" sz="1000" dirty="0">
                  <a:latin typeface="+mn-lt"/>
                </a:rPr>
                <a:t>Identify / Resolve / Communicate schedule changes</a:t>
              </a:r>
            </a:p>
            <a:p>
              <a:pPr>
                <a:spcBef>
                  <a:spcPct val="60000"/>
                </a:spcBef>
                <a:buClrTx/>
                <a:buSzPct val="90000"/>
                <a:buFont typeface="Arial" panose="020B0604020202020204" pitchFamily="34" charset="0"/>
                <a:buChar char="•"/>
              </a:pPr>
              <a:r>
                <a:rPr lang="en-US" altLang="en-US" sz="1000" dirty="0">
                  <a:latin typeface="+mn-lt"/>
                </a:rPr>
                <a:t>Firm up MPS at time fence</a:t>
              </a:r>
            </a:p>
          </p:txBody>
        </p:sp>
        <p:sp>
          <p:nvSpPr>
            <p:cNvPr id="17" name="AutoShape 32">
              <a:extLst>
                <a:ext uri="{FF2B5EF4-FFF2-40B4-BE49-F238E27FC236}">
                  <a16:creationId xmlns:a16="http://schemas.microsoft.com/office/drawing/2014/main" id="{ABA80119-933F-6666-04D9-D79D31A981FB}"/>
                </a:ext>
              </a:extLst>
            </p:cNvPr>
            <p:cNvSpPr>
              <a:spLocks noChangeArrowheads="1"/>
            </p:cNvSpPr>
            <p:nvPr/>
          </p:nvSpPr>
          <p:spPr bwMode="auto">
            <a:xfrm>
              <a:off x="3194320" y="1927729"/>
              <a:ext cx="1577975" cy="708025"/>
            </a:xfrm>
            <a:prstGeom prst="parallelogram">
              <a:avLst>
                <a:gd name="adj" fmla="val 44574"/>
              </a:avLst>
            </a:prstGeom>
            <a:solidFill>
              <a:schemeClr val="accent3"/>
            </a:solidFill>
            <a:ln w="12700">
              <a:solidFill>
                <a:schemeClr val="tx1"/>
              </a:solidFill>
              <a:miter lim="800000"/>
              <a:headEnd/>
              <a:tailEnd/>
            </a:ln>
          </p:spPr>
          <p:txBody>
            <a:bodyPr wrap="none" lIns="63500" tIns="31750" rIns="63500" bIns="31750" anchor="ctr"/>
            <a:lstStyle>
              <a:lvl1pPr defTabSz="5556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5556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5556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5556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5556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100">
                  <a:solidFill>
                    <a:schemeClr val="bg1"/>
                  </a:solidFill>
                  <a:latin typeface="+mn-lt"/>
                </a:rPr>
                <a:t>Consensus</a:t>
              </a:r>
            </a:p>
            <a:p>
              <a:pPr algn="ctr">
                <a:spcBef>
                  <a:spcPct val="0"/>
                </a:spcBef>
                <a:buClrTx/>
                <a:buSzTx/>
                <a:buFontTx/>
                <a:buNone/>
              </a:pPr>
              <a:r>
                <a:rPr lang="en-US" altLang="en-US" sz="1100">
                  <a:solidFill>
                    <a:schemeClr val="bg1"/>
                  </a:solidFill>
                  <a:latin typeface="+mn-lt"/>
                </a:rPr>
                <a:t>Supply</a:t>
              </a:r>
            </a:p>
            <a:p>
              <a:pPr algn="ctr">
                <a:spcBef>
                  <a:spcPct val="0"/>
                </a:spcBef>
                <a:buClrTx/>
                <a:buSzTx/>
                <a:buFontTx/>
                <a:buNone/>
              </a:pPr>
              <a:r>
                <a:rPr lang="en-US" altLang="en-US" sz="1100">
                  <a:solidFill>
                    <a:schemeClr val="bg1"/>
                  </a:solidFill>
                  <a:latin typeface="+mn-lt"/>
                </a:rPr>
                <a:t>Planning</a:t>
              </a:r>
            </a:p>
          </p:txBody>
        </p:sp>
        <p:sp>
          <p:nvSpPr>
            <p:cNvPr id="18" name="Line 33">
              <a:extLst>
                <a:ext uri="{FF2B5EF4-FFF2-40B4-BE49-F238E27FC236}">
                  <a16:creationId xmlns:a16="http://schemas.microsoft.com/office/drawing/2014/main" id="{93221F55-4FD5-0F2E-230F-F6543B8B770F}"/>
                </a:ext>
              </a:extLst>
            </p:cNvPr>
            <p:cNvSpPr>
              <a:spLocks noChangeShapeType="1"/>
            </p:cNvSpPr>
            <p:nvPr/>
          </p:nvSpPr>
          <p:spPr bwMode="auto">
            <a:xfrm>
              <a:off x="262208" y="2807204"/>
              <a:ext cx="8321675" cy="0"/>
            </a:xfrm>
            <a:prstGeom prst="line">
              <a:avLst/>
            </a:prstGeom>
            <a:noFill/>
            <a:ln w="38100" cap="sq">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34">
              <a:extLst>
                <a:ext uri="{FF2B5EF4-FFF2-40B4-BE49-F238E27FC236}">
                  <a16:creationId xmlns:a16="http://schemas.microsoft.com/office/drawing/2014/main" id="{B9719218-F02E-D862-D0A4-585A166958B8}"/>
                </a:ext>
              </a:extLst>
            </p:cNvPr>
            <p:cNvSpPr>
              <a:spLocks noChangeShapeType="1"/>
            </p:cNvSpPr>
            <p:nvPr/>
          </p:nvSpPr>
          <p:spPr bwMode="auto">
            <a:xfrm>
              <a:off x="260620" y="3777167"/>
              <a:ext cx="8321675" cy="0"/>
            </a:xfrm>
            <a:prstGeom prst="line">
              <a:avLst/>
            </a:prstGeom>
            <a:noFill/>
            <a:ln w="38100" cap="sq">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cxnSp>
          <p:nvCxnSpPr>
            <p:cNvPr id="20" name="AutoShape 35">
              <a:extLst>
                <a:ext uri="{FF2B5EF4-FFF2-40B4-BE49-F238E27FC236}">
                  <a16:creationId xmlns:a16="http://schemas.microsoft.com/office/drawing/2014/main" id="{6EDA7F53-DB85-772D-F202-C5F60EAC0031}"/>
                </a:ext>
              </a:extLst>
            </p:cNvPr>
            <p:cNvCxnSpPr>
              <a:cxnSpLocks noChangeShapeType="1"/>
              <a:stCxn id="10" idx="2"/>
              <a:endCxn id="17" idx="5"/>
            </p:cNvCxnSpPr>
            <p:nvPr/>
          </p:nvCxnSpPr>
          <p:spPr bwMode="auto">
            <a:xfrm>
              <a:off x="2760933" y="2281742"/>
              <a:ext cx="59055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36">
              <a:extLst>
                <a:ext uri="{FF2B5EF4-FFF2-40B4-BE49-F238E27FC236}">
                  <a16:creationId xmlns:a16="http://schemas.microsoft.com/office/drawing/2014/main" id="{78EE2092-682E-AF14-998E-F8E0CD705FF4}"/>
                </a:ext>
              </a:extLst>
            </p:cNvPr>
            <p:cNvCxnSpPr>
              <a:cxnSpLocks noChangeShapeType="1"/>
              <a:stCxn id="17" idx="2"/>
              <a:endCxn id="11" idx="5"/>
            </p:cNvCxnSpPr>
            <p:nvPr/>
          </p:nvCxnSpPr>
          <p:spPr bwMode="auto">
            <a:xfrm>
              <a:off x="4615133" y="2281742"/>
              <a:ext cx="65405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37">
              <a:extLst>
                <a:ext uri="{FF2B5EF4-FFF2-40B4-BE49-F238E27FC236}">
                  <a16:creationId xmlns:a16="http://schemas.microsoft.com/office/drawing/2014/main" id="{303F29DB-65EC-9AE7-4278-4660483A6B3A}"/>
                </a:ext>
              </a:extLst>
            </p:cNvPr>
            <p:cNvCxnSpPr>
              <a:cxnSpLocks noChangeShapeType="1"/>
              <a:stCxn id="11" idx="2"/>
              <a:endCxn id="12" idx="5"/>
            </p:cNvCxnSpPr>
            <p:nvPr/>
          </p:nvCxnSpPr>
          <p:spPr bwMode="auto">
            <a:xfrm>
              <a:off x="6532833" y="2281742"/>
              <a:ext cx="6096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 name="Line 41">
              <a:extLst>
                <a:ext uri="{FF2B5EF4-FFF2-40B4-BE49-F238E27FC236}">
                  <a16:creationId xmlns:a16="http://schemas.microsoft.com/office/drawing/2014/main" id="{0CDFB4BB-999E-D079-974D-08DD3AF4CCAB}"/>
                </a:ext>
              </a:extLst>
            </p:cNvPr>
            <p:cNvSpPr>
              <a:spLocks noChangeShapeType="1"/>
            </p:cNvSpPr>
            <p:nvPr/>
          </p:nvSpPr>
          <p:spPr bwMode="auto">
            <a:xfrm>
              <a:off x="1654445" y="1683254"/>
              <a:ext cx="6913563" cy="0"/>
            </a:xfrm>
            <a:prstGeom prst="line">
              <a:avLst/>
            </a:prstGeom>
            <a:noFill/>
            <a:ln w="38100"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Text Box 42">
              <a:extLst>
                <a:ext uri="{FF2B5EF4-FFF2-40B4-BE49-F238E27FC236}">
                  <a16:creationId xmlns:a16="http://schemas.microsoft.com/office/drawing/2014/main" id="{1DA7CC50-0591-FBB0-3557-7EBD518CB3E1}"/>
                </a:ext>
              </a:extLst>
            </p:cNvPr>
            <p:cNvSpPr txBox="1">
              <a:spLocks noChangeArrowheads="1"/>
            </p:cNvSpPr>
            <p:nvPr/>
          </p:nvSpPr>
          <p:spPr bwMode="auto">
            <a:xfrm>
              <a:off x="1944023" y="1567367"/>
              <a:ext cx="652743"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Day 10</a:t>
              </a:r>
            </a:p>
          </p:txBody>
        </p:sp>
        <p:sp>
          <p:nvSpPr>
            <p:cNvPr id="25" name="Text Box 43">
              <a:extLst>
                <a:ext uri="{FF2B5EF4-FFF2-40B4-BE49-F238E27FC236}">
                  <a16:creationId xmlns:a16="http://schemas.microsoft.com/office/drawing/2014/main" id="{6CFE848E-2886-BABD-A606-9A80C52E1068}"/>
                </a:ext>
              </a:extLst>
            </p:cNvPr>
            <p:cNvSpPr txBox="1">
              <a:spLocks noChangeArrowheads="1"/>
            </p:cNvSpPr>
            <p:nvPr/>
          </p:nvSpPr>
          <p:spPr bwMode="auto">
            <a:xfrm>
              <a:off x="3842673" y="1567367"/>
              <a:ext cx="652743"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Day 15</a:t>
              </a:r>
            </a:p>
          </p:txBody>
        </p:sp>
        <p:sp>
          <p:nvSpPr>
            <p:cNvPr id="26" name="Text Box 44">
              <a:extLst>
                <a:ext uri="{FF2B5EF4-FFF2-40B4-BE49-F238E27FC236}">
                  <a16:creationId xmlns:a16="http://schemas.microsoft.com/office/drawing/2014/main" id="{2E10A25B-9D74-5274-EFE5-42BD6009AA5B}"/>
                </a:ext>
              </a:extLst>
            </p:cNvPr>
            <p:cNvSpPr txBox="1">
              <a:spLocks noChangeArrowheads="1"/>
            </p:cNvSpPr>
            <p:nvPr/>
          </p:nvSpPr>
          <p:spPr bwMode="auto">
            <a:xfrm>
              <a:off x="5733386" y="1567367"/>
              <a:ext cx="652743"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Day 22</a:t>
              </a:r>
            </a:p>
          </p:txBody>
        </p:sp>
        <p:sp>
          <p:nvSpPr>
            <p:cNvPr id="27" name="Text Box 45">
              <a:extLst>
                <a:ext uri="{FF2B5EF4-FFF2-40B4-BE49-F238E27FC236}">
                  <a16:creationId xmlns:a16="http://schemas.microsoft.com/office/drawing/2014/main" id="{D6A6FD5E-F5A9-0B38-D827-F112866DFE8C}"/>
                </a:ext>
              </a:extLst>
            </p:cNvPr>
            <p:cNvSpPr txBox="1">
              <a:spLocks noChangeArrowheads="1"/>
            </p:cNvSpPr>
            <p:nvPr/>
          </p:nvSpPr>
          <p:spPr bwMode="auto">
            <a:xfrm>
              <a:off x="7579648" y="1567367"/>
              <a:ext cx="652743"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Day 28</a:t>
              </a:r>
            </a:p>
          </p:txBody>
        </p:sp>
      </p:grpSp>
    </p:spTree>
    <p:extLst>
      <p:ext uri="{BB962C8B-B14F-4D97-AF65-F5344CB8AC3E}">
        <p14:creationId xmlns:p14="http://schemas.microsoft.com/office/powerpoint/2010/main" val="3664605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S&amp;OP Summary:  </a:t>
            </a:r>
            <a:br>
              <a:rPr lang="en-US" sz="2800" dirty="0"/>
            </a:br>
            <a:r>
              <a:rPr lang="en-US" sz="2800" dirty="0"/>
              <a:t>Integrated, Disciplined Process To Meet Customer Needs</a:t>
            </a:r>
          </a:p>
        </p:txBody>
      </p:sp>
      <p:grpSp>
        <p:nvGrpSpPr>
          <p:cNvPr id="26" name="Group 25">
            <a:extLst>
              <a:ext uri="{FF2B5EF4-FFF2-40B4-BE49-F238E27FC236}">
                <a16:creationId xmlns:a16="http://schemas.microsoft.com/office/drawing/2014/main" id="{2BC6B51A-41F1-4A6E-C881-8094BE18FABC}"/>
              </a:ext>
            </a:extLst>
          </p:cNvPr>
          <p:cNvGrpSpPr/>
          <p:nvPr/>
        </p:nvGrpSpPr>
        <p:grpSpPr>
          <a:xfrm>
            <a:off x="1561306" y="2078616"/>
            <a:ext cx="9069388" cy="4098347"/>
            <a:chOff x="284162" y="1793536"/>
            <a:chExt cx="8594725" cy="3857386"/>
          </a:xfrm>
        </p:grpSpPr>
        <p:sp>
          <p:nvSpPr>
            <p:cNvPr id="3" name="Oval 26">
              <a:extLst>
                <a:ext uri="{FF2B5EF4-FFF2-40B4-BE49-F238E27FC236}">
                  <a16:creationId xmlns:a16="http://schemas.microsoft.com/office/drawing/2014/main" id="{BF6C8670-7E0F-FBB5-170D-0BBF69F76706}"/>
                </a:ext>
              </a:extLst>
            </p:cNvPr>
            <p:cNvSpPr>
              <a:spLocks noChangeArrowheads="1"/>
            </p:cNvSpPr>
            <p:nvPr/>
          </p:nvSpPr>
          <p:spPr bwMode="auto">
            <a:xfrm>
              <a:off x="1995487" y="2552361"/>
              <a:ext cx="5154613" cy="2616200"/>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 name="Rectangle 6">
              <a:extLst>
                <a:ext uri="{FF2B5EF4-FFF2-40B4-BE49-F238E27FC236}">
                  <a16:creationId xmlns:a16="http://schemas.microsoft.com/office/drawing/2014/main" id="{73744392-92DC-4DC0-A038-5E8FD634EF7F}"/>
                </a:ext>
              </a:extLst>
            </p:cNvPr>
            <p:cNvSpPr>
              <a:spLocks noChangeArrowheads="1"/>
            </p:cNvSpPr>
            <p:nvPr/>
          </p:nvSpPr>
          <p:spPr bwMode="auto">
            <a:xfrm>
              <a:off x="1185862" y="3093698"/>
              <a:ext cx="1968500" cy="28575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Analysis</a:t>
              </a:r>
            </a:p>
          </p:txBody>
        </p:sp>
        <p:sp>
          <p:nvSpPr>
            <p:cNvPr id="5" name="Rectangle 7">
              <a:extLst>
                <a:ext uri="{FF2B5EF4-FFF2-40B4-BE49-F238E27FC236}">
                  <a16:creationId xmlns:a16="http://schemas.microsoft.com/office/drawing/2014/main" id="{EC566E0B-3B94-7E83-4E48-0B15FBA72CB9}"/>
                </a:ext>
              </a:extLst>
            </p:cNvPr>
            <p:cNvSpPr>
              <a:spLocks noChangeArrowheads="1"/>
            </p:cNvSpPr>
            <p:nvPr/>
          </p:nvSpPr>
          <p:spPr bwMode="auto">
            <a:xfrm>
              <a:off x="1185862" y="3374686"/>
              <a:ext cx="1968500" cy="113982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 name="Rectangle 8">
              <a:extLst>
                <a:ext uri="{FF2B5EF4-FFF2-40B4-BE49-F238E27FC236}">
                  <a16:creationId xmlns:a16="http://schemas.microsoft.com/office/drawing/2014/main" id="{994AFB44-DBE0-F91B-243B-C5A66F0327EC}"/>
                </a:ext>
              </a:extLst>
            </p:cNvPr>
            <p:cNvSpPr>
              <a:spLocks noChangeArrowheads="1"/>
            </p:cNvSpPr>
            <p:nvPr/>
          </p:nvSpPr>
          <p:spPr bwMode="auto">
            <a:xfrm>
              <a:off x="1182688" y="3393736"/>
              <a:ext cx="1993900" cy="1047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5000"/>
                </a:spcBef>
                <a:buClrTx/>
                <a:buSzPct val="90000"/>
                <a:buFont typeface="Arial" panose="020B0604020202020204" pitchFamily="34" charset="0"/>
                <a:buChar char="•"/>
              </a:pPr>
              <a:r>
                <a:rPr lang="en-US" altLang="en-US" sz="1000" dirty="0">
                  <a:latin typeface="+mn-lt"/>
                </a:rPr>
                <a:t>Assess demand plan </a:t>
              </a:r>
            </a:p>
            <a:p>
              <a:pPr>
                <a:spcBef>
                  <a:spcPct val="25000"/>
                </a:spcBef>
                <a:buClrTx/>
                <a:buSzPct val="90000"/>
                <a:buFont typeface="Arial" panose="020B0604020202020204" pitchFamily="34" charset="0"/>
                <a:buChar char="•"/>
              </a:pPr>
              <a:r>
                <a:rPr lang="en-US" altLang="en-US" sz="1000" dirty="0">
                  <a:latin typeface="+mn-lt"/>
                </a:rPr>
                <a:t>Evaluate constraints</a:t>
              </a:r>
            </a:p>
            <a:p>
              <a:pPr>
                <a:spcBef>
                  <a:spcPct val="25000"/>
                </a:spcBef>
                <a:buClrTx/>
                <a:buSzPct val="90000"/>
                <a:buFont typeface="Arial" panose="020B0604020202020204" pitchFamily="34" charset="0"/>
                <a:buChar char="•"/>
              </a:pPr>
              <a:r>
                <a:rPr lang="en-US" altLang="en-US" sz="1000" dirty="0">
                  <a:latin typeface="+mn-lt"/>
                </a:rPr>
                <a:t>Agreement on available capacity</a:t>
              </a:r>
            </a:p>
            <a:p>
              <a:pPr>
                <a:spcBef>
                  <a:spcPct val="25000"/>
                </a:spcBef>
                <a:buClrTx/>
                <a:buSzPct val="90000"/>
                <a:buFont typeface="Arial" panose="020B0604020202020204" pitchFamily="34" charset="0"/>
                <a:buChar char="•"/>
              </a:pPr>
              <a:r>
                <a:rPr lang="en-US" altLang="en-US" sz="1000" dirty="0">
                  <a:latin typeface="+mn-lt"/>
                </a:rPr>
                <a:t>Consensus agreement on constraints &amp; solutions</a:t>
              </a:r>
              <a:endParaRPr lang="en-US" altLang="en-US" sz="1000" b="0" dirty="0">
                <a:latin typeface="+mn-lt"/>
              </a:endParaRPr>
            </a:p>
          </p:txBody>
        </p:sp>
        <p:sp>
          <p:nvSpPr>
            <p:cNvPr id="7" name="Rectangle 9">
              <a:extLst>
                <a:ext uri="{FF2B5EF4-FFF2-40B4-BE49-F238E27FC236}">
                  <a16:creationId xmlns:a16="http://schemas.microsoft.com/office/drawing/2014/main" id="{04662DE3-0C23-29E4-4730-B6B42E2B8933}"/>
                </a:ext>
              </a:extLst>
            </p:cNvPr>
            <p:cNvSpPr>
              <a:spLocks noChangeArrowheads="1"/>
            </p:cNvSpPr>
            <p:nvPr/>
          </p:nvSpPr>
          <p:spPr bwMode="auto">
            <a:xfrm>
              <a:off x="5995987" y="3092111"/>
              <a:ext cx="1968500" cy="28575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Demand Analysis</a:t>
              </a:r>
            </a:p>
          </p:txBody>
        </p:sp>
        <p:sp>
          <p:nvSpPr>
            <p:cNvPr id="8" name="Rectangle 10">
              <a:extLst>
                <a:ext uri="{FF2B5EF4-FFF2-40B4-BE49-F238E27FC236}">
                  <a16:creationId xmlns:a16="http://schemas.microsoft.com/office/drawing/2014/main" id="{E4A39D26-E4E9-0BDE-EF07-1C0551156DE3}"/>
                </a:ext>
              </a:extLst>
            </p:cNvPr>
            <p:cNvSpPr>
              <a:spLocks noChangeArrowheads="1"/>
            </p:cNvSpPr>
            <p:nvPr/>
          </p:nvSpPr>
          <p:spPr bwMode="auto">
            <a:xfrm>
              <a:off x="5995987" y="3373098"/>
              <a:ext cx="1968500" cy="1149350"/>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9" name="Rectangle 11">
              <a:extLst>
                <a:ext uri="{FF2B5EF4-FFF2-40B4-BE49-F238E27FC236}">
                  <a16:creationId xmlns:a16="http://schemas.microsoft.com/office/drawing/2014/main" id="{C3E3FEE5-F49F-80BB-0106-B5160B7A238E}"/>
                </a:ext>
              </a:extLst>
            </p:cNvPr>
            <p:cNvSpPr>
              <a:spLocks noChangeArrowheads="1"/>
            </p:cNvSpPr>
            <p:nvPr/>
          </p:nvSpPr>
          <p:spPr bwMode="auto">
            <a:xfrm>
              <a:off x="5973762" y="3404848"/>
              <a:ext cx="2060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dirty="0">
                  <a:latin typeface="+mn-lt"/>
                </a:rPr>
                <a:t>Consensus next-month demand plan</a:t>
              </a:r>
            </a:p>
            <a:p>
              <a:pPr>
                <a:spcBef>
                  <a:spcPct val="30000"/>
                </a:spcBef>
                <a:buClrTx/>
                <a:buSzPct val="90000"/>
                <a:buFont typeface="Arial" panose="020B0604020202020204" pitchFamily="34" charset="0"/>
                <a:buChar char="•"/>
              </a:pPr>
              <a:r>
                <a:rPr lang="en-US" altLang="en-US" sz="1000" dirty="0">
                  <a:latin typeface="+mn-lt"/>
                </a:rPr>
                <a:t>Agreement on Demand assumptions</a:t>
              </a:r>
            </a:p>
            <a:p>
              <a:pPr>
                <a:spcBef>
                  <a:spcPct val="30000"/>
                </a:spcBef>
                <a:buClrTx/>
                <a:buSzPct val="90000"/>
                <a:buFont typeface="Arial" panose="020B0604020202020204" pitchFamily="34" charset="0"/>
                <a:buChar char="•"/>
              </a:pPr>
              <a:r>
                <a:rPr lang="en-US" altLang="en-US" sz="1000" dirty="0">
                  <a:latin typeface="+mn-lt"/>
                </a:rPr>
                <a:t>Review forecast changes and rationale</a:t>
              </a:r>
              <a:endParaRPr lang="en-US" altLang="en-US" sz="1000" b="0" dirty="0">
                <a:latin typeface="+mn-lt"/>
              </a:endParaRPr>
            </a:p>
          </p:txBody>
        </p:sp>
        <p:sp>
          <p:nvSpPr>
            <p:cNvPr id="10" name="Rectangle 12">
              <a:extLst>
                <a:ext uri="{FF2B5EF4-FFF2-40B4-BE49-F238E27FC236}">
                  <a16:creationId xmlns:a16="http://schemas.microsoft.com/office/drawing/2014/main" id="{F807E3E5-AFD6-3077-BD13-977E8438B870}"/>
                </a:ext>
              </a:extLst>
            </p:cNvPr>
            <p:cNvSpPr>
              <a:spLocks noChangeArrowheads="1"/>
            </p:cNvSpPr>
            <p:nvPr/>
          </p:nvSpPr>
          <p:spPr bwMode="auto">
            <a:xfrm>
              <a:off x="3587750" y="1793536"/>
              <a:ext cx="1968500" cy="28575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Management Sign-Off</a:t>
              </a:r>
            </a:p>
          </p:txBody>
        </p:sp>
        <p:sp>
          <p:nvSpPr>
            <p:cNvPr id="11" name="Rectangle 13">
              <a:extLst>
                <a:ext uri="{FF2B5EF4-FFF2-40B4-BE49-F238E27FC236}">
                  <a16:creationId xmlns:a16="http://schemas.microsoft.com/office/drawing/2014/main" id="{0FC669D8-96C2-EFB4-038F-1560E0801AFC}"/>
                </a:ext>
              </a:extLst>
            </p:cNvPr>
            <p:cNvSpPr>
              <a:spLocks noChangeArrowheads="1"/>
            </p:cNvSpPr>
            <p:nvPr/>
          </p:nvSpPr>
          <p:spPr bwMode="auto">
            <a:xfrm>
              <a:off x="3587750" y="2074523"/>
              <a:ext cx="1968500" cy="113982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2" name="Rectangle 14">
              <a:extLst>
                <a:ext uri="{FF2B5EF4-FFF2-40B4-BE49-F238E27FC236}">
                  <a16:creationId xmlns:a16="http://schemas.microsoft.com/office/drawing/2014/main" id="{566E9C39-ED26-CCB9-1AC8-EFC0DF08D92C}"/>
                </a:ext>
              </a:extLst>
            </p:cNvPr>
            <p:cNvSpPr>
              <a:spLocks noChangeArrowheads="1"/>
            </p:cNvSpPr>
            <p:nvPr/>
          </p:nvSpPr>
          <p:spPr bwMode="auto">
            <a:xfrm>
              <a:off x="3584575" y="2080873"/>
              <a:ext cx="2014537" cy="95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25000"/>
                </a:spcBef>
                <a:buClrTx/>
                <a:buSzPct val="90000"/>
                <a:buFont typeface="Arial" panose="020B0604020202020204" pitchFamily="34" charset="0"/>
                <a:buChar char="•"/>
              </a:pPr>
              <a:r>
                <a:rPr lang="en-US" altLang="en-US" sz="1000" dirty="0">
                  <a:latin typeface="+mn-lt"/>
                </a:rPr>
                <a:t>Review performance metrics</a:t>
              </a:r>
            </a:p>
            <a:p>
              <a:pPr>
                <a:spcBef>
                  <a:spcPct val="25000"/>
                </a:spcBef>
                <a:buClrTx/>
                <a:buSzPct val="90000"/>
                <a:buFont typeface="Arial" panose="020B0604020202020204" pitchFamily="34" charset="0"/>
                <a:buChar char="•"/>
              </a:pPr>
              <a:r>
                <a:rPr lang="en-US" altLang="en-US" sz="1000" dirty="0">
                  <a:latin typeface="+mn-lt"/>
                </a:rPr>
                <a:t>Assist where no consensus was reached</a:t>
              </a:r>
            </a:p>
            <a:p>
              <a:pPr>
                <a:spcBef>
                  <a:spcPct val="25000"/>
                </a:spcBef>
                <a:buClrTx/>
                <a:buSzPct val="90000"/>
                <a:buFont typeface="Arial" panose="020B0604020202020204" pitchFamily="34" charset="0"/>
                <a:buChar char="•"/>
              </a:pPr>
              <a:r>
                <a:rPr lang="en-US" altLang="en-US" sz="1000" dirty="0">
                  <a:latin typeface="+mn-lt"/>
                </a:rPr>
                <a:t>Understand tradeoffs</a:t>
              </a:r>
            </a:p>
            <a:p>
              <a:pPr>
                <a:spcBef>
                  <a:spcPct val="25000"/>
                </a:spcBef>
                <a:buClrTx/>
                <a:buSzPct val="90000"/>
                <a:buFont typeface="Arial" panose="020B0604020202020204" pitchFamily="34" charset="0"/>
                <a:buChar char="•"/>
              </a:pPr>
              <a:r>
                <a:rPr lang="en-US" altLang="en-US" sz="1000" dirty="0">
                  <a:latin typeface="+mn-lt"/>
                </a:rPr>
                <a:t>Sign off on agreed plan</a:t>
              </a:r>
              <a:endParaRPr lang="en-US" altLang="en-US" sz="1000" b="0" dirty="0">
                <a:latin typeface="+mn-lt"/>
              </a:endParaRPr>
            </a:p>
          </p:txBody>
        </p:sp>
        <p:sp>
          <p:nvSpPr>
            <p:cNvPr id="13" name="Rectangle 15">
              <a:extLst>
                <a:ext uri="{FF2B5EF4-FFF2-40B4-BE49-F238E27FC236}">
                  <a16:creationId xmlns:a16="http://schemas.microsoft.com/office/drawing/2014/main" id="{80DDD117-46A8-C4EF-F22B-9A2855DEEF67}"/>
                </a:ext>
              </a:extLst>
            </p:cNvPr>
            <p:cNvSpPr>
              <a:spLocks noChangeArrowheads="1"/>
            </p:cNvSpPr>
            <p:nvPr/>
          </p:nvSpPr>
          <p:spPr bwMode="auto">
            <a:xfrm>
              <a:off x="3590925" y="4330361"/>
              <a:ext cx="1968500" cy="28575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New Products Analysis</a:t>
              </a:r>
            </a:p>
          </p:txBody>
        </p:sp>
        <p:sp>
          <p:nvSpPr>
            <p:cNvPr id="14" name="Rectangle 16">
              <a:extLst>
                <a:ext uri="{FF2B5EF4-FFF2-40B4-BE49-F238E27FC236}">
                  <a16:creationId xmlns:a16="http://schemas.microsoft.com/office/drawing/2014/main" id="{30D20494-3864-BFF2-E14F-9DB089DBAF64}"/>
                </a:ext>
              </a:extLst>
            </p:cNvPr>
            <p:cNvSpPr>
              <a:spLocks noChangeArrowheads="1"/>
            </p:cNvSpPr>
            <p:nvPr/>
          </p:nvSpPr>
          <p:spPr bwMode="auto">
            <a:xfrm>
              <a:off x="3590925" y="4611348"/>
              <a:ext cx="1968500" cy="102711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5" name="Rectangle 17">
              <a:extLst>
                <a:ext uri="{FF2B5EF4-FFF2-40B4-BE49-F238E27FC236}">
                  <a16:creationId xmlns:a16="http://schemas.microsoft.com/office/drawing/2014/main" id="{E210EF73-6642-C18D-10F5-9FD9BD0B7851}"/>
                </a:ext>
              </a:extLst>
            </p:cNvPr>
            <p:cNvSpPr>
              <a:spLocks noChangeArrowheads="1"/>
            </p:cNvSpPr>
            <p:nvPr/>
          </p:nvSpPr>
          <p:spPr bwMode="auto">
            <a:xfrm>
              <a:off x="3568700" y="4592298"/>
              <a:ext cx="1993900" cy="105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buClrTx/>
                <a:buSzPct val="90000"/>
                <a:buFont typeface="Arial" panose="020B0604020202020204" pitchFamily="34" charset="0"/>
                <a:buChar char="•"/>
              </a:pPr>
              <a:r>
                <a:rPr lang="en-US" altLang="en-US" sz="1000" dirty="0">
                  <a:latin typeface="+mn-lt"/>
                </a:rPr>
                <a:t>Review status of current crop of projects</a:t>
              </a:r>
            </a:p>
            <a:p>
              <a:pPr>
                <a:buClrTx/>
                <a:buSzPct val="90000"/>
                <a:buFont typeface="Arial" panose="020B0604020202020204" pitchFamily="34" charset="0"/>
                <a:buChar char="•"/>
              </a:pPr>
              <a:r>
                <a:rPr lang="en-US" altLang="en-US" sz="1000" dirty="0">
                  <a:latin typeface="+mn-lt"/>
                </a:rPr>
                <a:t>Understand which products require capacity</a:t>
              </a:r>
            </a:p>
            <a:p>
              <a:pPr>
                <a:buClrTx/>
                <a:buSzPct val="90000"/>
                <a:buFont typeface="Arial" panose="020B0604020202020204" pitchFamily="34" charset="0"/>
                <a:buChar char="•"/>
              </a:pPr>
              <a:r>
                <a:rPr lang="en-US" altLang="en-US" sz="1000" dirty="0">
                  <a:latin typeface="+mn-lt"/>
                </a:rPr>
                <a:t>Build in raw materials and capacity needs</a:t>
              </a:r>
              <a:endParaRPr lang="en-US" altLang="en-US" sz="1000" b="0" dirty="0">
                <a:latin typeface="+mn-lt"/>
              </a:endParaRPr>
            </a:p>
          </p:txBody>
        </p:sp>
        <p:sp>
          <p:nvSpPr>
            <p:cNvPr id="16" name="Text Box 27">
              <a:extLst>
                <a:ext uri="{FF2B5EF4-FFF2-40B4-BE49-F238E27FC236}">
                  <a16:creationId xmlns:a16="http://schemas.microsoft.com/office/drawing/2014/main" id="{B48519B8-AA0B-2FD5-0E45-2EC1AB868FAF}"/>
                </a:ext>
              </a:extLst>
            </p:cNvPr>
            <p:cNvSpPr txBox="1">
              <a:spLocks noChangeArrowheads="1"/>
            </p:cNvSpPr>
            <p:nvPr/>
          </p:nvSpPr>
          <p:spPr bwMode="auto">
            <a:xfrm>
              <a:off x="3572038" y="3263561"/>
              <a:ext cx="1903085"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a:solidFill>
                    <a:schemeClr val="bg1"/>
                  </a:solidFill>
                  <a:latin typeface="+mn-lt"/>
                </a:rPr>
                <a:t>-- Integrated Plan --</a:t>
              </a:r>
            </a:p>
          </p:txBody>
        </p:sp>
        <p:sp>
          <p:nvSpPr>
            <p:cNvPr id="17" name="Text Box 28">
              <a:extLst>
                <a:ext uri="{FF2B5EF4-FFF2-40B4-BE49-F238E27FC236}">
                  <a16:creationId xmlns:a16="http://schemas.microsoft.com/office/drawing/2014/main" id="{E0F2ABDD-7964-32FB-4F01-DA8C0F07460C}"/>
                </a:ext>
              </a:extLst>
            </p:cNvPr>
            <p:cNvSpPr txBox="1">
              <a:spLocks noChangeArrowheads="1"/>
            </p:cNvSpPr>
            <p:nvPr/>
          </p:nvSpPr>
          <p:spPr bwMode="auto">
            <a:xfrm>
              <a:off x="3340787" y="3546136"/>
              <a:ext cx="245131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25000"/>
                </a:spcBef>
                <a:buClrTx/>
                <a:buSzTx/>
                <a:buFontTx/>
                <a:buNone/>
              </a:pPr>
              <a:r>
                <a:rPr lang="en-US" altLang="en-US" sz="1200">
                  <a:solidFill>
                    <a:schemeClr val="bg1"/>
                  </a:solidFill>
                  <a:latin typeface="+mn-lt"/>
                </a:rPr>
                <a:t>Supply Matched To Demand</a:t>
              </a:r>
            </a:p>
            <a:p>
              <a:pPr algn="ctr">
                <a:lnSpc>
                  <a:spcPct val="90000"/>
                </a:lnSpc>
                <a:spcBef>
                  <a:spcPct val="25000"/>
                </a:spcBef>
                <a:buClrTx/>
                <a:buSzTx/>
                <a:buFontTx/>
                <a:buNone/>
              </a:pPr>
              <a:r>
                <a:rPr lang="en-US" altLang="en-US" sz="1200">
                  <a:solidFill>
                    <a:schemeClr val="bg1"/>
                  </a:solidFill>
                  <a:latin typeface="+mn-lt"/>
                </a:rPr>
                <a:t>Constraints Known &amp; Understood</a:t>
              </a:r>
            </a:p>
            <a:p>
              <a:pPr algn="ctr">
                <a:lnSpc>
                  <a:spcPct val="90000"/>
                </a:lnSpc>
                <a:spcBef>
                  <a:spcPct val="25000"/>
                </a:spcBef>
                <a:buClrTx/>
                <a:buSzTx/>
                <a:buFontTx/>
                <a:buNone/>
              </a:pPr>
              <a:r>
                <a:rPr lang="en-US" altLang="en-US" sz="1200">
                  <a:solidFill>
                    <a:schemeClr val="bg1"/>
                  </a:solidFill>
                  <a:latin typeface="+mn-lt"/>
                </a:rPr>
                <a:t>Link To Business Objectives</a:t>
              </a:r>
            </a:p>
          </p:txBody>
        </p:sp>
        <p:sp>
          <p:nvSpPr>
            <p:cNvPr id="18" name="Rectangle 31">
              <a:extLst>
                <a:ext uri="{FF2B5EF4-FFF2-40B4-BE49-F238E27FC236}">
                  <a16:creationId xmlns:a16="http://schemas.microsoft.com/office/drawing/2014/main" id="{64FBB4F7-6094-F7CC-CDBE-ADB1FB05AFFA}"/>
                </a:ext>
              </a:extLst>
            </p:cNvPr>
            <p:cNvSpPr>
              <a:spLocks noChangeArrowheads="1"/>
            </p:cNvSpPr>
            <p:nvPr/>
          </p:nvSpPr>
          <p:spPr bwMode="auto">
            <a:xfrm>
              <a:off x="284162" y="4717711"/>
              <a:ext cx="1465263" cy="363537"/>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Supply Constraints</a:t>
              </a:r>
            </a:p>
          </p:txBody>
        </p:sp>
        <p:cxnSp>
          <p:nvCxnSpPr>
            <p:cNvPr id="19" name="AutoShape 32">
              <a:extLst>
                <a:ext uri="{FF2B5EF4-FFF2-40B4-BE49-F238E27FC236}">
                  <a16:creationId xmlns:a16="http://schemas.microsoft.com/office/drawing/2014/main" id="{23A1FA91-AEA8-C3DA-57E0-599CA5BF9F31}"/>
                </a:ext>
              </a:extLst>
            </p:cNvPr>
            <p:cNvCxnSpPr>
              <a:cxnSpLocks noChangeShapeType="1"/>
            </p:cNvCxnSpPr>
            <p:nvPr/>
          </p:nvCxnSpPr>
          <p:spPr bwMode="auto">
            <a:xfrm rot="16200000" flipH="1">
              <a:off x="577056" y="3211967"/>
              <a:ext cx="1046162" cy="165100"/>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0" name="AutoShape 33">
              <a:extLst>
                <a:ext uri="{FF2B5EF4-FFF2-40B4-BE49-F238E27FC236}">
                  <a16:creationId xmlns:a16="http://schemas.microsoft.com/office/drawing/2014/main" id="{B0632C11-B21B-73B8-8F5A-413E29B3ED01}"/>
                </a:ext>
              </a:extLst>
            </p:cNvPr>
            <p:cNvCxnSpPr>
              <a:cxnSpLocks noChangeShapeType="1"/>
              <a:stCxn id="18" idx="0"/>
              <a:endCxn id="6" idx="1"/>
            </p:cNvCxnSpPr>
            <p:nvPr/>
          </p:nvCxnSpPr>
          <p:spPr bwMode="auto">
            <a:xfrm rot="5400000" flipH="1" flipV="1">
              <a:off x="699522" y="4234546"/>
              <a:ext cx="800437" cy="165894"/>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1" name="Rectangle 30">
              <a:extLst>
                <a:ext uri="{FF2B5EF4-FFF2-40B4-BE49-F238E27FC236}">
                  <a16:creationId xmlns:a16="http://schemas.microsoft.com/office/drawing/2014/main" id="{1995D451-B7AD-98EA-8536-94F79EEFC9FE}"/>
                </a:ext>
              </a:extLst>
            </p:cNvPr>
            <p:cNvSpPr>
              <a:spLocks noChangeArrowheads="1"/>
            </p:cNvSpPr>
            <p:nvPr/>
          </p:nvSpPr>
          <p:spPr bwMode="auto">
            <a:xfrm>
              <a:off x="284162" y="2534898"/>
              <a:ext cx="1465263" cy="363538"/>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Physical Assets</a:t>
              </a:r>
            </a:p>
          </p:txBody>
        </p:sp>
        <p:sp>
          <p:nvSpPr>
            <p:cNvPr id="22" name="Rectangle 34">
              <a:extLst>
                <a:ext uri="{FF2B5EF4-FFF2-40B4-BE49-F238E27FC236}">
                  <a16:creationId xmlns:a16="http://schemas.microsoft.com/office/drawing/2014/main" id="{FA038558-6A69-18B3-D21B-F2D297094E99}"/>
                </a:ext>
              </a:extLst>
            </p:cNvPr>
            <p:cNvSpPr>
              <a:spLocks noChangeArrowheads="1"/>
            </p:cNvSpPr>
            <p:nvPr/>
          </p:nvSpPr>
          <p:spPr bwMode="auto">
            <a:xfrm>
              <a:off x="7413625" y="4720886"/>
              <a:ext cx="1465262" cy="363537"/>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Customer Forecasts</a:t>
              </a:r>
            </a:p>
          </p:txBody>
        </p:sp>
        <p:cxnSp>
          <p:nvCxnSpPr>
            <p:cNvPr id="23" name="AutoShape 37">
              <a:extLst>
                <a:ext uri="{FF2B5EF4-FFF2-40B4-BE49-F238E27FC236}">
                  <a16:creationId xmlns:a16="http://schemas.microsoft.com/office/drawing/2014/main" id="{A7A24A33-17D2-43DB-08A0-863FECA8D42B}"/>
                </a:ext>
              </a:extLst>
            </p:cNvPr>
            <p:cNvCxnSpPr>
              <a:cxnSpLocks noChangeShapeType="1"/>
            </p:cNvCxnSpPr>
            <p:nvPr/>
          </p:nvCxnSpPr>
          <p:spPr bwMode="auto">
            <a:xfrm rot="5400000">
              <a:off x="7532688" y="3206410"/>
              <a:ext cx="1046162" cy="182563"/>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 name="AutoShape 38">
              <a:extLst>
                <a:ext uri="{FF2B5EF4-FFF2-40B4-BE49-F238E27FC236}">
                  <a16:creationId xmlns:a16="http://schemas.microsoft.com/office/drawing/2014/main" id="{92510617-EC7E-009E-0D3C-E3507B412D5F}"/>
                </a:ext>
              </a:extLst>
            </p:cNvPr>
            <p:cNvCxnSpPr>
              <a:cxnSpLocks noChangeShapeType="1"/>
              <a:stCxn id="22" idx="0"/>
              <a:endCxn id="8" idx="3"/>
            </p:cNvCxnSpPr>
            <p:nvPr/>
          </p:nvCxnSpPr>
          <p:spPr bwMode="auto">
            <a:xfrm rot="5400000" flipH="1">
              <a:off x="7669212" y="4243048"/>
              <a:ext cx="773113" cy="182563"/>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5" name="Rectangle 35">
              <a:extLst>
                <a:ext uri="{FF2B5EF4-FFF2-40B4-BE49-F238E27FC236}">
                  <a16:creationId xmlns:a16="http://schemas.microsoft.com/office/drawing/2014/main" id="{31DC5F79-F317-687E-ED32-640224B96053}"/>
                </a:ext>
              </a:extLst>
            </p:cNvPr>
            <p:cNvSpPr>
              <a:spLocks noChangeArrowheads="1"/>
            </p:cNvSpPr>
            <p:nvPr/>
          </p:nvSpPr>
          <p:spPr bwMode="auto">
            <a:xfrm>
              <a:off x="7413625" y="2538073"/>
              <a:ext cx="1465262" cy="363538"/>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Market Forecasts</a:t>
              </a:r>
            </a:p>
          </p:txBody>
        </p:sp>
      </p:grpSp>
    </p:spTree>
    <p:extLst>
      <p:ext uri="{BB962C8B-B14F-4D97-AF65-F5344CB8AC3E}">
        <p14:creationId xmlns:p14="http://schemas.microsoft.com/office/powerpoint/2010/main" val="580645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S&amp;OP Flexibility Model:  </a:t>
            </a:r>
            <a:br>
              <a:rPr lang="en-US" sz="3600" dirty="0"/>
            </a:br>
            <a:r>
              <a:rPr lang="en-US" sz="3600" dirty="0"/>
              <a:t>Utilization Across Different Operating Platforms</a:t>
            </a:r>
          </a:p>
        </p:txBody>
      </p:sp>
      <p:grpSp>
        <p:nvGrpSpPr>
          <p:cNvPr id="54" name="Group 53">
            <a:extLst>
              <a:ext uri="{FF2B5EF4-FFF2-40B4-BE49-F238E27FC236}">
                <a16:creationId xmlns:a16="http://schemas.microsoft.com/office/drawing/2014/main" id="{55DF4C55-E392-9875-5918-0B5897C81D35}"/>
              </a:ext>
            </a:extLst>
          </p:cNvPr>
          <p:cNvGrpSpPr/>
          <p:nvPr/>
        </p:nvGrpSpPr>
        <p:grpSpPr>
          <a:xfrm>
            <a:off x="724700" y="1782761"/>
            <a:ext cx="10162375" cy="4380029"/>
            <a:chOff x="724700" y="1782762"/>
            <a:chExt cx="7966075" cy="3770313"/>
          </a:xfrm>
        </p:grpSpPr>
        <p:grpSp>
          <p:nvGrpSpPr>
            <p:cNvPr id="3" name="Group 16">
              <a:extLst>
                <a:ext uri="{FF2B5EF4-FFF2-40B4-BE49-F238E27FC236}">
                  <a16:creationId xmlns:a16="http://schemas.microsoft.com/office/drawing/2014/main" id="{DCB7077C-F4AB-A29C-40C5-24831054BA71}"/>
                </a:ext>
              </a:extLst>
            </p:cNvPr>
            <p:cNvGrpSpPr>
              <a:grpSpLocks/>
            </p:cNvGrpSpPr>
            <p:nvPr/>
          </p:nvGrpSpPr>
          <p:grpSpPr bwMode="auto">
            <a:xfrm>
              <a:off x="845350" y="1978025"/>
              <a:ext cx="4459287" cy="822325"/>
              <a:chOff x="454" y="1725"/>
              <a:chExt cx="2809" cy="669"/>
            </a:xfrm>
          </p:grpSpPr>
          <p:sp>
            <p:nvSpPr>
              <p:cNvPr id="4" name="Rectangle 6">
                <a:extLst>
                  <a:ext uri="{FF2B5EF4-FFF2-40B4-BE49-F238E27FC236}">
                    <a16:creationId xmlns:a16="http://schemas.microsoft.com/office/drawing/2014/main" id="{A277FE7C-24DD-4007-8871-2DE4A82C2AD3}"/>
                  </a:ext>
                </a:extLst>
              </p:cNvPr>
              <p:cNvSpPr>
                <a:spLocks noChangeArrowheads="1"/>
              </p:cNvSpPr>
              <p:nvPr/>
            </p:nvSpPr>
            <p:spPr bwMode="auto">
              <a:xfrm>
                <a:off x="454" y="2018"/>
                <a:ext cx="703" cy="26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dirty="0">
                    <a:solidFill>
                      <a:schemeClr val="bg1"/>
                    </a:solidFill>
                    <a:latin typeface="+mn-lt"/>
                  </a:rPr>
                  <a:t>Demand</a:t>
                </a:r>
              </a:p>
              <a:p>
                <a:pPr algn="ctr">
                  <a:lnSpc>
                    <a:spcPct val="80000"/>
                  </a:lnSpc>
                  <a:buClrTx/>
                  <a:buSzTx/>
                  <a:buFontTx/>
                  <a:buNone/>
                </a:pPr>
                <a:r>
                  <a:rPr lang="en-US" altLang="en-US" sz="900" dirty="0">
                    <a:solidFill>
                      <a:schemeClr val="bg1"/>
                    </a:solidFill>
                    <a:latin typeface="+mn-lt"/>
                  </a:rPr>
                  <a:t>Forecast</a:t>
                </a:r>
              </a:p>
            </p:txBody>
          </p:sp>
          <p:sp>
            <p:nvSpPr>
              <p:cNvPr id="5" name="Rectangle 7">
                <a:extLst>
                  <a:ext uri="{FF2B5EF4-FFF2-40B4-BE49-F238E27FC236}">
                    <a16:creationId xmlns:a16="http://schemas.microsoft.com/office/drawing/2014/main" id="{755A8177-24F6-E482-C9D6-E187F92C8918}"/>
                  </a:ext>
                </a:extLst>
              </p:cNvPr>
              <p:cNvSpPr>
                <a:spLocks noChangeArrowheads="1"/>
              </p:cNvSpPr>
              <p:nvPr/>
            </p:nvSpPr>
            <p:spPr bwMode="auto">
              <a:xfrm>
                <a:off x="1229" y="2018"/>
                <a:ext cx="703" cy="26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Build</a:t>
                </a:r>
              </a:p>
              <a:p>
                <a:pPr algn="ctr">
                  <a:lnSpc>
                    <a:spcPct val="80000"/>
                  </a:lnSpc>
                  <a:buClrTx/>
                  <a:buSzTx/>
                  <a:buFontTx/>
                  <a:buNone/>
                </a:pPr>
                <a:r>
                  <a:rPr lang="en-US" altLang="en-US" sz="900">
                    <a:solidFill>
                      <a:schemeClr val="bg1"/>
                    </a:solidFill>
                    <a:latin typeface="+mn-lt"/>
                  </a:rPr>
                  <a:t>Products</a:t>
                </a:r>
              </a:p>
            </p:txBody>
          </p:sp>
          <p:sp>
            <p:nvSpPr>
              <p:cNvPr id="6" name="Rectangle 8">
                <a:extLst>
                  <a:ext uri="{FF2B5EF4-FFF2-40B4-BE49-F238E27FC236}">
                    <a16:creationId xmlns:a16="http://schemas.microsoft.com/office/drawing/2014/main" id="{413E92EC-E8CE-B244-498A-05462458CF29}"/>
                  </a:ext>
                </a:extLst>
              </p:cNvPr>
              <p:cNvSpPr>
                <a:spLocks noChangeArrowheads="1"/>
              </p:cNvSpPr>
              <p:nvPr/>
            </p:nvSpPr>
            <p:spPr bwMode="auto">
              <a:xfrm>
                <a:off x="2006" y="2018"/>
                <a:ext cx="703" cy="26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Add Products</a:t>
                </a:r>
              </a:p>
              <a:p>
                <a:pPr algn="ctr">
                  <a:lnSpc>
                    <a:spcPct val="80000"/>
                  </a:lnSpc>
                  <a:buClrTx/>
                  <a:buSzTx/>
                  <a:buFontTx/>
                  <a:buNone/>
                </a:pPr>
                <a:r>
                  <a:rPr lang="en-US" altLang="en-US" sz="900">
                    <a:solidFill>
                      <a:schemeClr val="bg1"/>
                    </a:solidFill>
                    <a:latin typeface="+mn-lt"/>
                  </a:rPr>
                  <a:t>To Inventory</a:t>
                </a:r>
              </a:p>
            </p:txBody>
          </p:sp>
          <p:sp>
            <p:nvSpPr>
              <p:cNvPr id="7" name="Oval 9">
                <a:extLst>
                  <a:ext uri="{FF2B5EF4-FFF2-40B4-BE49-F238E27FC236}">
                    <a16:creationId xmlns:a16="http://schemas.microsoft.com/office/drawing/2014/main" id="{AC426544-63E4-5749-8879-E9291C28B651}"/>
                  </a:ext>
                </a:extLst>
              </p:cNvPr>
              <p:cNvSpPr>
                <a:spLocks noChangeArrowheads="1"/>
              </p:cNvSpPr>
              <p:nvPr/>
            </p:nvSpPr>
            <p:spPr bwMode="auto">
              <a:xfrm>
                <a:off x="1981" y="1730"/>
                <a:ext cx="756" cy="16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Actual Order</a:t>
                </a:r>
              </a:p>
            </p:txBody>
          </p:sp>
          <p:cxnSp>
            <p:nvCxnSpPr>
              <p:cNvPr id="8" name="AutoShape 10">
                <a:extLst>
                  <a:ext uri="{FF2B5EF4-FFF2-40B4-BE49-F238E27FC236}">
                    <a16:creationId xmlns:a16="http://schemas.microsoft.com/office/drawing/2014/main" id="{BC53A915-B9D2-E36A-4631-6587F42DAFD7}"/>
                  </a:ext>
                </a:extLst>
              </p:cNvPr>
              <p:cNvCxnSpPr>
                <a:cxnSpLocks noChangeShapeType="1"/>
                <a:stCxn id="4" idx="0"/>
                <a:endCxn id="5" idx="0"/>
              </p:cNvCxnSpPr>
              <p:nvPr/>
            </p:nvCxnSpPr>
            <p:spPr bwMode="auto">
              <a:xfrm rot="5400000" flipV="1">
                <a:off x="1193" y="1631"/>
                <a:ext cx="1" cy="775"/>
              </a:xfrm>
              <a:prstGeom prst="curvedConnector3">
                <a:avLst>
                  <a:gd name="adj1" fmla="val -1440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 name="AutoShape 11">
                <a:extLst>
                  <a:ext uri="{FF2B5EF4-FFF2-40B4-BE49-F238E27FC236}">
                    <a16:creationId xmlns:a16="http://schemas.microsoft.com/office/drawing/2014/main" id="{4690A2BF-0CBF-E5B2-1FEE-3CD75E5AA4AD}"/>
                  </a:ext>
                </a:extLst>
              </p:cNvPr>
              <p:cNvCxnSpPr>
                <a:cxnSpLocks noChangeShapeType="1"/>
              </p:cNvCxnSpPr>
              <p:nvPr/>
            </p:nvCxnSpPr>
            <p:spPr bwMode="auto">
              <a:xfrm rot="16200000" flipH="1">
                <a:off x="1927" y="1891"/>
                <a:ext cx="1" cy="777"/>
              </a:xfrm>
              <a:prstGeom prst="curvedConnector3">
                <a:avLst>
                  <a:gd name="adj1" fmla="val 1440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 name="AutoShape 12">
                <a:extLst>
                  <a:ext uri="{FF2B5EF4-FFF2-40B4-BE49-F238E27FC236}">
                    <a16:creationId xmlns:a16="http://schemas.microsoft.com/office/drawing/2014/main" id="{0681DBA6-5DE1-A400-3228-4459F78E65B9}"/>
                  </a:ext>
                </a:extLst>
              </p:cNvPr>
              <p:cNvCxnSpPr>
                <a:cxnSpLocks noChangeShapeType="1"/>
                <a:stCxn id="7" idx="4"/>
                <a:endCxn id="6" idx="0"/>
              </p:cNvCxnSpPr>
              <p:nvPr/>
            </p:nvCxnSpPr>
            <p:spPr bwMode="auto">
              <a:xfrm flipH="1">
                <a:off x="2358" y="1895"/>
                <a:ext cx="1" cy="12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 name="Line 13">
                <a:extLst>
                  <a:ext uri="{FF2B5EF4-FFF2-40B4-BE49-F238E27FC236}">
                    <a16:creationId xmlns:a16="http://schemas.microsoft.com/office/drawing/2014/main" id="{20A1D197-C514-B650-1AAB-1F7BAB9D7EA7}"/>
                  </a:ext>
                </a:extLst>
              </p:cNvPr>
              <p:cNvSpPr>
                <a:spLocks noChangeShapeType="1"/>
              </p:cNvSpPr>
              <p:nvPr/>
            </p:nvSpPr>
            <p:spPr bwMode="auto">
              <a:xfrm>
                <a:off x="2790" y="1725"/>
                <a:ext cx="0" cy="66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Rectangle 14">
                <a:extLst>
                  <a:ext uri="{FF2B5EF4-FFF2-40B4-BE49-F238E27FC236}">
                    <a16:creationId xmlns:a16="http://schemas.microsoft.com/office/drawing/2014/main" id="{67B0010C-44A0-E73F-C996-700E623F9784}"/>
                  </a:ext>
                </a:extLst>
              </p:cNvPr>
              <p:cNvSpPr>
                <a:spLocks noChangeArrowheads="1"/>
              </p:cNvSpPr>
              <p:nvPr/>
            </p:nvSpPr>
            <p:spPr bwMode="auto">
              <a:xfrm>
                <a:off x="2867" y="2018"/>
                <a:ext cx="396" cy="26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Ship</a:t>
                </a:r>
              </a:p>
              <a:p>
                <a:pPr algn="ctr">
                  <a:lnSpc>
                    <a:spcPct val="80000"/>
                  </a:lnSpc>
                  <a:buClrTx/>
                  <a:buSzTx/>
                  <a:buFontTx/>
                  <a:buNone/>
                </a:pPr>
                <a:r>
                  <a:rPr lang="en-US" altLang="en-US" sz="900">
                    <a:solidFill>
                      <a:schemeClr val="bg1"/>
                    </a:solidFill>
                    <a:latin typeface="+mn-lt"/>
                  </a:rPr>
                  <a:t>Products</a:t>
                </a:r>
              </a:p>
            </p:txBody>
          </p:sp>
          <p:cxnSp>
            <p:nvCxnSpPr>
              <p:cNvPr id="13" name="AutoShape 15">
                <a:extLst>
                  <a:ext uri="{FF2B5EF4-FFF2-40B4-BE49-F238E27FC236}">
                    <a16:creationId xmlns:a16="http://schemas.microsoft.com/office/drawing/2014/main" id="{4FB43E61-A678-1E9D-BADC-0FBE958F7491}"/>
                  </a:ext>
                </a:extLst>
              </p:cNvPr>
              <p:cNvCxnSpPr>
                <a:cxnSpLocks noChangeShapeType="1"/>
              </p:cNvCxnSpPr>
              <p:nvPr/>
            </p:nvCxnSpPr>
            <p:spPr bwMode="auto">
              <a:xfrm rot="16200000" flipH="1">
                <a:off x="2781" y="1926"/>
                <a:ext cx="1" cy="707"/>
              </a:xfrm>
              <a:prstGeom prst="curvedConnector3">
                <a:avLst>
                  <a:gd name="adj1" fmla="val 1440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14" name="Group 54">
              <a:extLst>
                <a:ext uri="{FF2B5EF4-FFF2-40B4-BE49-F238E27FC236}">
                  <a16:creationId xmlns:a16="http://schemas.microsoft.com/office/drawing/2014/main" id="{86DD679B-0112-9FF1-0205-5A3D4FD74EA3}"/>
                </a:ext>
              </a:extLst>
            </p:cNvPr>
            <p:cNvGrpSpPr>
              <a:grpSpLocks/>
            </p:cNvGrpSpPr>
            <p:nvPr/>
          </p:nvGrpSpPr>
          <p:grpSpPr bwMode="auto">
            <a:xfrm>
              <a:off x="850112" y="3308350"/>
              <a:ext cx="4459288" cy="831850"/>
              <a:chOff x="457" y="2145"/>
              <a:chExt cx="2809" cy="669"/>
            </a:xfrm>
          </p:grpSpPr>
          <p:sp>
            <p:nvSpPr>
              <p:cNvPr id="15" name="Rectangle 18">
                <a:extLst>
                  <a:ext uri="{FF2B5EF4-FFF2-40B4-BE49-F238E27FC236}">
                    <a16:creationId xmlns:a16="http://schemas.microsoft.com/office/drawing/2014/main" id="{6C21F16A-9BDB-A1AF-0973-8B57D3B887EA}"/>
                  </a:ext>
                </a:extLst>
              </p:cNvPr>
              <p:cNvSpPr>
                <a:spLocks noChangeArrowheads="1"/>
              </p:cNvSpPr>
              <p:nvPr/>
            </p:nvSpPr>
            <p:spPr bwMode="auto">
              <a:xfrm>
                <a:off x="457" y="2437"/>
                <a:ext cx="703" cy="26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Demand</a:t>
                </a:r>
              </a:p>
              <a:p>
                <a:pPr algn="ctr">
                  <a:lnSpc>
                    <a:spcPct val="80000"/>
                  </a:lnSpc>
                  <a:buClrTx/>
                  <a:buSzTx/>
                  <a:buFontTx/>
                  <a:buNone/>
                </a:pPr>
                <a:r>
                  <a:rPr lang="en-US" altLang="en-US" sz="900">
                    <a:solidFill>
                      <a:schemeClr val="bg1"/>
                    </a:solidFill>
                    <a:latin typeface="+mn-lt"/>
                  </a:rPr>
                  <a:t>Forecast</a:t>
                </a:r>
              </a:p>
            </p:txBody>
          </p:sp>
          <p:sp>
            <p:nvSpPr>
              <p:cNvPr id="16" name="Rectangle 20">
                <a:extLst>
                  <a:ext uri="{FF2B5EF4-FFF2-40B4-BE49-F238E27FC236}">
                    <a16:creationId xmlns:a16="http://schemas.microsoft.com/office/drawing/2014/main" id="{73A32E50-7B94-31D2-E956-C8FCE35FACD3}"/>
                  </a:ext>
                </a:extLst>
              </p:cNvPr>
              <p:cNvSpPr>
                <a:spLocks noChangeArrowheads="1"/>
              </p:cNvSpPr>
              <p:nvPr/>
            </p:nvSpPr>
            <p:spPr bwMode="auto">
              <a:xfrm>
                <a:off x="2009" y="2437"/>
                <a:ext cx="703" cy="26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Build</a:t>
                </a:r>
              </a:p>
              <a:p>
                <a:pPr algn="ctr">
                  <a:lnSpc>
                    <a:spcPct val="80000"/>
                  </a:lnSpc>
                  <a:buClrTx/>
                  <a:buSzTx/>
                  <a:buFontTx/>
                  <a:buNone/>
                </a:pPr>
                <a:r>
                  <a:rPr lang="en-US" altLang="en-US" sz="900">
                    <a:solidFill>
                      <a:schemeClr val="bg1"/>
                    </a:solidFill>
                    <a:latin typeface="+mn-lt"/>
                  </a:rPr>
                  <a:t>Products</a:t>
                </a:r>
              </a:p>
            </p:txBody>
          </p:sp>
          <p:sp>
            <p:nvSpPr>
              <p:cNvPr id="17" name="Oval 21">
                <a:extLst>
                  <a:ext uri="{FF2B5EF4-FFF2-40B4-BE49-F238E27FC236}">
                    <a16:creationId xmlns:a16="http://schemas.microsoft.com/office/drawing/2014/main" id="{69EC150D-AA4D-0836-FE5B-904701B5F005}"/>
                  </a:ext>
                </a:extLst>
              </p:cNvPr>
              <p:cNvSpPr>
                <a:spLocks noChangeArrowheads="1"/>
              </p:cNvSpPr>
              <p:nvPr/>
            </p:nvSpPr>
            <p:spPr bwMode="auto">
              <a:xfrm>
                <a:off x="1272" y="2486"/>
                <a:ext cx="614" cy="16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Actual Order</a:t>
                </a:r>
              </a:p>
            </p:txBody>
          </p:sp>
          <p:sp>
            <p:nvSpPr>
              <p:cNvPr id="18" name="Line 25">
                <a:extLst>
                  <a:ext uri="{FF2B5EF4-FFF2-40B4-BE49-F238E27FC236}">
                    <a16:creationId xmlns:a16="http://schemas.microsoft.com/office/drawing/2014/main" id="{B61AD5E3-CE41-901C-F980-820E6749AA1A}"/>
                  </a:ext>
                </a:extLst>
              </p:cNvPr>
              <p:cNvSpPr>
                <a:spLocks noChangeShapeType="1"/>
              </p:cNvSpPr>
              <p:nvPr/>
            </p:nvSpPr>
            <p:spPr bwMode="auto">
              <a:xfrm>
                <a:off x="2793" y="2145"/>
                <a:ext cx="0" cy="669"/>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Rectangle 26">
                <a:extLst>
                  <a:ext uri="{FF2B5EF4-FFF2-40B4-BE49-F238E27FC236}">
                    <a16:creationId xmlns:a16="http://schemas.microsoft.com/office/drawing/2014/main" id="{C8A7FF10-3D5F-61EA-3F06-E80C8C2D358B}"/>
                  </a:ext>
                </a:extLst>
              </p:cNvPr>
              <p:cNvSpPr>
                <a:spLocks noChangeArrowheads="1"/>
              </p:cNvSpPr>
              <p:nvPr/>
            </p:nvSpPr>
            <p:spPr bwMode="auto">
              <a:xfrm>
                <a:off x="2870" y="2437"/>
                <a:ext cx="396" cy="26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Ship</a:t>
                </a:r>
              </a:p>
              <a:p>
                <a:pPr algn="ctr">
                  <a:lnSpc>
                    <a:spcPct val="80000"/>
                  </a:lnSpc>
                  <a:buClrTx/>
                  <a:buSzTx/>
                  <a:buFontTx/>
                  <a:buNone/>
                </a:pPr>
                <a:r>
                  <a:rPr lang="en-US" altLang="en-US" sz="900">
                    <a:solidFill>
                      <a:schemeClr val="bg1"/>
                    </a:solidFill>
                    <a:latin typeface="+mn-lt"/>
                  </a:rPr>
                  <a:t>Products</a:t>
                </a:r>
              </a:p>
            </p:txBody>
          </p:sp>
          <p:cxnSp>
            <p:nvCxnSpPr>
              <p:cNvPr id="20" name="AutoShape 28">
                <a:extLst>
                  <a:ext uri="{FF2B5EF4-FFF2-40B4-BE49-F238E27FC236}">
                    <a16:creationId xmlns:a16="http://schemas.microsoft.com/office/drawing/2014/main" id="{B86683E4-065D-9B2A-DCDC-BE2C2B14DC9F}"/>
                  </a:ext>
                </a:extLst>
              </p:cNvPr>
              <p:cNvCxnSpPr>
                <a:cxnSpLocks noChangeShapeType="1"/>
                <a:stCxn id="15" idx="3"/>
                <a:endCxn id="17" idx="2"/>
              </p:cNvCxnSpPr>
              <p:nvPr/>
            </p:nvCxnSpPr>
            <p:spPr bwMode="auto">
              <a:xfrm>
                <a:off x="1160" y="2569"/>
                <a:ext cx="112"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29">
                <a:extLst>
                  <a:ext uri="{FF2B5EF4-FFF2-40B4-BE49-F238E27FC236}">
                    <a16:creationId xmlns:a16="http://schemas.microsoft.com/office/drawing/2014/main" id="{88913A4D-07BA-D5EC-5379-953760E06F32}"/>
                  </a:ext>
                </a:extLst>
              </p:cNvPr>
              <p:cNvCxnSpPr>
                <a:cxnSpLocks noChangeShapeType="1"/>
                <a:stCxn id="17" idx="6"/>
                <a:endCxn id="16" idx="1"/>
              </p:cNvCxnSpPr>
              <p:nvPr/>
            </p:nvCxnSpPr>
            <p:spPr bwMode="auto">
              <a:xfrm>
                <a:off x="1886" y="2569"/>
                <a:ext cx="123"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30">
                <a:extLst>
                  <a:ext uri="{FF2B5EF4-FFF2-40B4-BE49-F238E27FC236}">
                    <a16:creationId xmlns:a16="http://schemas.microsoft.com/office/drawing/2014/main" id="{AB50B2F8-BBE1-B77C-501A-303D3D7B1BCC}"/>
                  </a:ext>
                </a:extLst>
              </p:cNvPr>
              <p:cNvCxnSpPr>
                <a:cxnSpLocks noChangeShapeType="1"/>
              </p:cNvCxnSpPr>
              <p:nvPr/>
            </p:nvCxnSpPr>
            <p:spPr bwMode="auto">
              <a:xfrm rot="5400000" flipV="1">
                <a:off x="2707" y="2085"/>
                <a:ext cx="1" cy="707"/>
              </a:xfrm>
              <a:prstGeom prst="curvedConnector3">
                <a:avLst>
                  <a:gd name="adj1" fmla="val -1440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23" name="Rectangle 19">
              <a:extLst>
                <a:ext uri="{FF2B5EF4-FFF2-40B4-BE49-F238E27FC236}">
                  <a16:creationId xmlns:a16="http://schemas.microsoft.com/office/drawing/2014/main" id="{0F7F8936-2D97-7915-A519-2FCD2C295BCE}"/>
                </a:ext>
              </a:extLst>
            </p:cNvPr>
            <p:cNvSpPr>
              <a:spLocks noChangeArrowheads="1"/>
            </p:cNvSpPr>
            <p:nvPr/>
          </p:nvSpPr>
          <p:spPr bwMode="auto">
            <a:xfrm>
              <a:off x="3782225" y="4725987"/>
              <a:ext cx="674687" cy="160338"/>
            </a:xfrm>
            <a:prstGeom prst="rect">
              <a:avLst/>
            </a:prstGeom>
            <a:solidFill>
              <a:schemeClr val="accent5"/>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Product A</a:t>
              </a:r>
            </a:p>
          </p:txBody>
        </p:sp>
        <p:sp>
          <p:nvSpPr>
            <p:cNvPr id="24" name="Rectangle 33">
              <a:extLst>
                <a:ext uri="{FF2B5EF4-FFF2-40B4-BE49-F238E27FC236}">
                  <a16:creationId xmlns:a16="http://schemas.microsoft.com/office/drawing/2014/main" id="{5DBCBE7D-2BAE-2420-7EDA-E9FC146EACE3}"/>
                </a:ext>
              </a:extLst>
            </p:cNvPr>
            <p:cNvSpPr>
              <a:spLocks noChangeArrowheads="1"/>
            </p:cNvSpPr>
            <p:nvPr/>
          </p:nvSpPr>
          <p:spPr bwMode="auto">
            <a:xfrm>
              <a:off x="1758162" y="4881562"/>
              <a:ext cx="819150" cy="3127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Generic</a:t>
              </a:r>
            </a:p>
            <a:p>
              <a:pPr algn="ctr">
                <a:lnSpc>
                  <a:spcPct val="80000"/>
                </a:lnSpc>
                <a:buClrTx/>
                <a:buSzTx/>
                <a:buFontTx/>
                <a:buNone/>
              </a:pPr>
              <a:r>
                <a:rPr lang="en-US" altLang="en-US" sz="900">
                  <a:solidFill>
                    <a:schemeClr val="bg1"/>
                  </a:solidFill>
                  <a:latin typeface="+mn-lt"/>
                </a:rPr>
                <a:t>Production</a:t>
              </a:r>
            </a:p>
          </p:txBody>
        </p:sp>
        <p:sp>
          <p:nvSpPr>
            <p:cNvPr id="25" name="Oval 35">
              <a:extLst>
                <a:ext uri="{FF2B5EF4-FFF2-40B4-BE49-F238E27FC236}">
                  <a16:creationId xmlns:a16="http://schemas.microsoft.com/office/drawing/2014/main" id="{0CDB4DE9-C4B8-179F-2468-1569EB1674EB}"/>
                </a:ext>
              </a:extLst>
            </p:cNvPr>
            <p:cNvSpPr>
              <a:spLocks noChangeArrowheads="1"/>
            </p:cNvSpPr>
            <p:nvPr/>
          </p:nvSpPr>
          <p:spPr bwMode="auto">
            <a:xfrm>
              <a:off x="2488412" y="4548187"/>
              <a:ext cx="1200150" cy="196850"/>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Actual Orders</a:t>
              </a:r>
            </a:p>
          </p:txBody>
        </p:sp>
        <p:sp>
          <p:nvSpPr>
            <p:cNvPr id="26" name="Line 39">
              <a:extLst>
                <a:ext uri="{FF2B5EF4-FFF2-40B4-BE49-F238E27FC236}">
                  <a16:creationId xmlns:a16="http://schemas.microsoft.com/office/drawing/2014/main" id="{1D5753AD-2D36-0631-F346-CBC21FE40992}"/>
                </a:ext>
              </a:extLst>
            </p:cNvPr>
            <p:cNvSpPr>
              <a:spLocks noChangeShapeType="1"/>
            </p:cNvSpPr>
            <p:nvPr/>
          </p:nvSpPr>
          <p:spPr bwMode="auto">
            <a:xfrm>
              <a:off x="4552162" y="4706937"/>
              <a:ext cx="0" cy="80010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Rectangle 40">
              <a:extLst>
                <a:ext uri="{FF2B5EF4-FFF2-40B4-BE49-F238E27FC236}">
                  <a16:creationId xmlns:a16="http://schemas.microsoft.com/office/drawing/2014/main" id="{CA40A1AD-E70A-20E4-1D27-5C88AD1F2133}"/>
                </a:ext>
              </a:extLst>
            </p:cNvPr>
            <p:cNvSpPr>
              <a:spLocks noChangeArrowheads="1"/>
            </p:cNvSpPr>
            <p:nvPr/>
          </p:nvSpPr>
          <p:spPr bwMode="auto">
            <a:xfrm>
              <a:off x="4669637" y="4881562"/>
              <a:ext cx="628650" cy="3127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Ship</a:t>
              </a:r>
            </a:p>
            <a:p>
              <a:pPr algn="ctr">
                <a:lnSpc>
                  <a:spcPct val="80000"/>
                </a:lnSpc>
                <a:buClrTx/>
                <a:buSzTx/>
                <a:buFontTx/>
                <a:buNone/>
              </a:pPr>
              <a:r>
                <a:rPr lang="en-US" altLang="en-US" sz="900">
                  <a:solidFill>
                    <a:schemeClr val="bg1"/>
                  </a:solidFill>
                  <a:latin typeface="+mn-lt"/>
                </a:rPr>
                <a:t>Products</a:t>
              </a:r>
            </a:p>
          </p:txBody>
        </p:sp>
        <p:sp>
          <p:nvSpPr>
            <p:cNvPr id="28" name="Rectangle 43">
              <a:extLst>
                <a:ext uri="{FF2B5EF4-FFF2-40B4-BE49-F238E27FC236}">
                  <a16:creationId xmlns:a16="http://schemas.microsoft.com/office/drawing/2014/main" id="{F6E49B3D-DA4A-03E3-D9F8-AA1CAA54182B}"/>
                </a:ext>
              </a:extLst>
            </p:cNvPr>
            <p:cNvSpPr>
              <a:spLocks noChangeArrowheads="1"/>
            </p:cNvSpPr>
            <p:nvPr/>
          </p:nvSpPr>
          <p:spPr bwMode="auto">
            <a:xfrm>
              <a:off x="3782225" y="4957762"/>
              <a:ext cx="674687" cy="160338"/>
            </a:xfrm>
            <a:prstGeom prst="rect">
              <a:avLst/>
            </a:prstGeom>
            <a:solidFill>
              <a:schemeClr val="accent5"/>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Product B</a:t>
              </a:r>
            </a:p>
          </p:txBody>
        </p:sp>
        <p:sp>
          <p:nvSpPr>
            <p:cNvPr id="29" name="Rectangle 44">
              <a:extLst>
                <a:ext uri="{FF2B5EF4-FFF2-40B4-BE49-F238E27FC236}">
                  <a16:creationId xmlns:a16="http://schemas.microsoft.com/office/drawing/2014/main" id="{25A897E6-0623-964F-CA2F-57200A80C022}"/>
                </a:ext>
              </a:extLst>
            </p:cNvPr>
            <p:cNvSpPr>
              <a:spLocks noChangeArrowheads="1"/>
            </p:cNvSpPr>
            <p:nvPr/>
          </p:nvSpPr>
          <p:spPr bwMode="auto">
            <a:xfrm>
              <a:off x="3782225" y="5194300"/>
              <a:ext cx="674687" cy="160337"/>
            </a:xfrm>
            <a:prstGeom prst="rect">
              <a:avLst/>
            </a:prstGeom>
            <a:solidFill>
              <a:schemeClr val="accent5"/>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Product C</a:t>
              </a:r>
            </a:p>
          </p:txBody>
        </p:sp>
        <p:sp>
          <p:nvSpPr>
            <p:cNvPr id="30" name="Rectangle 45">
              <a:extLst>
                <a:ext uri="{FF2B5EF4-FFF2-40B4-BE49-F238E27FC236}">
                  <a16:creationId xmlns:a16="http://schemas.microsoft.com/office/drawing/2014/main" id="{EB6D9C72-6AF1-EF45-C385-7D640193B23E}"/>
                </a:ext>
              </a:extLst>
            </p:cNvPr>
            <p:cNvSpPr>
              <a:spLocks noChangeArrowheads="1"/>
            </p:cNvSpPr>
            <p:nvPr/>
          </p:nvSpPr>
          <p:spPr bwMode="auto">
            <a:xfrm>
              <a:off x="2677325" y="4881562"/>
              <a:ext cx="819150" cy="3127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Generic</a:t>
              </a:r>
            </a:p>
            <a:p>
              <a:pPr algn="ctr">
                <a:lnSpc>
                  <a:spcPct val="80000"/>
                </a:lnSpc>
                <a:buClrTx/>
                <a:buSzTx/>
                <a:buFontTx/>
                <a:buNone/>
              </a:pPr>
              <a:r>
                <a:rPr lang="en-US" altLang="en-US" sz="900">
                  <a:solidFill>
                    <a:schemeClr val="bg1"/>
                  </a:solidFill>
                  <a:latin typeface="+mn-lt"/>
                </a:rPr>
                <a:t>Inventory</a:t>
              </a:r>
            </a:p>
          </p:txBody>
        </p:sp>
        <p:cxnSp>
          <p:nvCxnSpPr>
            <p:cNvPr id="31" name="AutoShape 46">
              <a:extLst>
                <a:ext uri="{FF2B5EF4-FFF2-40B4-BE49-F238E27FC236}">
                  <a16:creationId xmlns:a16="http://schemas.microsoft.com/office/drawing/2014/main" id="{6C25CA57-F87E-E3B8-EEB5-118FEE29EEDE}"/>
                </a:ext>
              </a:extLst>
            </p:cNvPr>
            <p:cNvCxnSpPr>
              <a:cxnSpLocks noChangeShapeType="1"/>
              <a:stCxn id="25" idx="4"/>
              <a:endCxn id="30" idx="0"/>
            </p:cNvCxnSpPr>
            <p:nvPr/>
          </p:nvCxnSpPr>
          <p:spPr bwMode="auto">
            <a:xfrm flipH="1">
              <a:off x="3086900" y="4745037"/>
              <a:ext cx="1587" cy="13652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47">
              <a:extLst>
                <a:ext uri="{FF2B5EF4-FFF2-40B4-BE49-F238E27FC236}">
                  <a16:creationId xmlns:a16="http://schemas.microsoft.com/office/drawing/2014/main" id="{5EA80341-DB26-52DD-8471-B9DCD5E216A3}"/>
                </a:ext>
              </a:extLst>
            </p:cNvPr>
            <p:cNvSpPr>
              <a:spLocks noChangeArrowheads="1"/>
            </p:cNvSpPr>
            <p:nvPr/>
          </p:nvSpPr>
          <p:spPr bwMode="auto">
            <a:xfrm>
              <a:off x="843762" y="4881562"/>
              <a:ext cx="819150" cy="3127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Demand</a:t>
              </a:r>
            </a:p>
            <a:p>
              <a:pPr algn="ctr">
                <a:lnSpc>
                  <a:spcPct val="80000"/>
                </a:lnSpc>
                <a:buClrTx/>
                <a:buSzTx/>
                <a:buFontTx/>
                <a:buNone/>
              </a:pPr>
              <a:r>
                <a:rPr lang="en-US" altLang="en-US" sz="900">
                  <a:solidFill>
                    <a:schemeClr val="bg1"/>
                  </a:solidFill>
                  <a:latin typeface="+mn-lt"/>
                </a:rPr>
                <a:t>Forecast</a:t>
              </a:r>
            </a:p>
          </p:txBody>
        </p:sp>
        <p:cxnSp>
          <p:nvCxnSpPr>
            <p:cNvPr id="33" name="AutoShape 48">
              <a:extLst>
                <a:ext uri="{FF2B5EF4-FFF2-40B4-BE49-F238E27FC236}">
                  <a16:creationId xmlns:a16="http://schemas.microsoft.com/office/drawing/2014/main" id="{16893FFB-2749-4416-7D09-BE911E348F10}"/>
                </a:ext>
              </a:extLst>
            </p:cNvPr>
            <p:cNvCxnSpPr>
              <a:cxnSpLocks noChangeShapeType="1"/>
              <a:stCxn id="30" idx="3"/>
              <a:endCxn id="23" idx="1"/>
            </p:cNvCxnSpPr>
            <p:nvPr/>
          </p:nvCxnSpPr>
          <p:spPr bwMode="auto">
            <a:xfrm flipV="1">
              <a:off x="3496475" y="4805362"/>
              <a:ext cx="285750" cy="233363"/>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4" name="AutoShape 49">
              <a:extLst>
                <a:ext uri="{FF2B5EF4-FFF2-40B4-BE49-F238E27FC236}">
                  <a16:creationId xmlns:a16="http://schemas.microsoft.com/office/drawing/2014/main" id="{B10932E4-D43A-2E02-7B77-ED4F9E9D4C2E}"/>
                </a:ext>
              </a:extLst>
            </p:cNvPr>
            <p:cNvCxnSpPr>
              <a:cxnSpLocks noChangeShapeType="1"/>
              <a:stCxn id="30" idx="3"/>
              <a:endCxn id="29" idx="1"/>
            </p:cNvCxnSpPr>
            <p:nvPr/>
          </p:nvCxnSpPr>
          <p:spPr bwMode="auto">
            <a:xfrm>
              <a:off x="3496475" y="5038725"/>
              <a:ext cx="285750" cy="23495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5" name="AutoShape 50">
              <a:extLst>
                <a:ext uri="{FF2B5EF4-FFF2-40B4-BE49-F238E27FC236}">
                  <a16:creationId xmlns:a16="http://schemas.microsoft.com/office/drawing/2014/main" id="{133F14A7-4DB5-1F92-DFBA-5D12655CBAF8}"/>
                </a:ext>
              </a:extLst>
            </p:cNvPr>
            <p:cNvCxnSpPr>
              <a:cxnSpLocks noChangeShapeType="1"/>
              <a:stCxn id="30" idx="3"/>
              <a:endCxn id="28" idx="1"/>
            </p:cNvCxnSpPr>
            <p:nvPr/>
          </p:nvCxnSpPr>
          <p:spPr bwMode="auto">
            <a:xfrm flipV="1">
              <a:off x="3496475" y="5038725"/>
              <a:ext cx="285750" cy="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6" name="AutoShape 51">
              <a:extLst>
                <a:ext uri="{FF2B5EF4-FFF2-40B4-BE49-F238E27FC236}">
                  <a16:creationId xmlns:a16="http://schemas.microsoft.com/office/drawing/2014/main" id="{09EEEFDB-0C55-F430-AEF7-4AD3879B574C}"/>
                </a:ext>
              </a:extLst>
            </p:cNvPr>
            <p:cNvCxnSpPr>
              <a:cxnSpLocks noChangeShapeType="1"/>
              <a:stCxn id="32" idx="0"/>
              <a:endCxn id="24" idx="0"/>
            </p:cNvCxnSpPr>
            <p:nvPr/>
          </p:nvCxnSpPr>
          <p:spPr bwMode="auto">
            <a:xfrm rot="5400000" flipV="1">
              <a:off x="1709743" y="4425156"/>
              <a:ext cx="1588" cy="914400"/>
            </a:xfrm>
            <a:prstGeom prst="curvedConnector3">
              <a:avLst>
                <a:gd name="adj1" fmla="val -1440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52">
              <a:extLst>
                <a:ext uri="{FF2B5EF4-FFF2-40B4-BE49-F238E27FC236}">
                  <a16:creationId xmlns:a16="http://schemas.microsoft.com/office/drawing/2014/main" id="{ED470A21-87B5-1A86-9D0B-0AF0AEB62A4E}"/>
                </a:ext>
              </a:extLst>
            </p:cNvPr>
            <p:cNvCxnSpPr>
              <a:cxnSpLocks noChangeShapeType="1"/>
              <a:stCxn id="24" idx="2"/>
              <a:endCxn id="30" idx="2"/>
            </p:cNvCxnSpPr>
            <p:nvPr/>
          </p:nvCxnSpPr>
          <p:spPr bwMode="auto">
            <a:xfrm rot="16200000" flipH="1">
              <a:off x="2626525" y="4735512"/>
              <a:ext cx="1587" cy="919163"/>
            </a:xfrm>
            <a:prstGeom prst="curvedConnector3">
              <a:avLst>
                <a:gd name="adj1" fmla="val 1440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8" name="Text Box 53">
              <a:extLst>
                <a:ext uri="{FF2B5EF4-FFF2-40B4-BE49-F238E27FC236}">
                  <a16:creationId xmlns:a16="http://schemas.microsoft.com/office/drawing/2014/main" id="{4E3BF70B-0771-2BAB-0ADA-B12DA8AC4995}"/>
                </a:ext>
              </a:extLst>
            </p:cNvPr>
            <p:cNvSpPr txBox="1">
              <a:spLocks noChangeArrowheads="1"/>
            </p:cNvSpPr>
            <p:nvPr/>
          </p:nvSpPr>
          <p:spPr bwMode="auto">
            <a:xfrm>
              <a:off x="3796274" y="5360987"/>
              <a:ext cx="632301" cy="17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i="1" dirty="0">
                  <a:latin typeface="+mn-lt"/>
                </a:rPr>
                <a:t>Differentiate</a:t>
              </a:r>
            </a:p>
          </p:txBody>
        </p:sp>
        <p:sp>
          <p:nvSpPr>
            <p:cNvPr id="39" name="Rectangle 56">
              <a:extLst>
                <a:ext uri="{FF2B5EF4-FFF2-40B4-BE49-F238E27FC236}">
                  <a16:creationId xmlns:a16="http://schemas.microsoft.com/office/drawing/2014/main" id="{DE4EBFFA-1B2D-AAB6-12A6-0B59F2C6CE39}"/>
                </a:ext>
              </a:extLst>
            </p:cNvPr>
            <p:cNvSpPr>
              <a:spLocks noChangeArrowheads="1"/>
            </p:cNvSpPr>
            <p:nvPr/>
          </p:nvSpPr>
          <p:spPr bwMode="auto">
            <a:xfrm>
              <a:off x="724700" y="1908175"/>
              <a:ext cx="4702175" cy="1060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0" name="Rectangle 57">
              <a:extLst>
                <a:ext uri="{FF2B5EF4-FFF2-40B4-BE49-F238E27FC236}">
                  <a16:creationId xmlns:a16="http://schemas.microsoft.com/office/drawing/2014/main" id="{94A4254E-3164-78CC-3B3B-729F30CF2B8E}"/>
                </a:ext>
              </a:extLst>
            </p:cNvPr>
            <p:cNvSpPr>
              <a:spLocks noChangeArrowheads="1"/>
            </p:cNvSpPr>
            <p:nvPr/>
          </p:nvSpPr>
          <p:spPr bwMode="auto">
            <a:xfrm>
              <a:off x="724700" y="3201987"/>
              <a:ext cx="4702175" cy="1060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1" name="Rectangle 58">
              <a:extLst>
                <a:ext uri="{FF2B5EF4-FFF2-40B4-BE49-F238E27FC236}">
                  <a16:creationId xmlns:a16="http://schemas.microsoft.com/office/drawing/2014/main" id="{F7CE9183-4A43-4A82-D16C-3DAF05CD6771}"/>
                </a:ext>
              </a:extLst>
            </p:cNvPr>
            <p:cNvSpPr>
              <a:spLocks noChangeArrowheads="1"/>
            </p:cNvSpPr>
            <p:nvPr/>
          </p:nvSpPr>
          <p:spPr bwMode="auto">
            <a:xfrm>
              <a:off x="724700" y="4489450"/>
              <a:ext cx="4702175" cy="1060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2" name="Text Box 60">
              <a:extLst>
                <a:ext uri="{FF2B5EF4-FFF2-40B4-BE49-F238E27FC236}">
                  <a16:creationId xmlns:a16="http://schemas.microsoft.com/office/drawing/2014/main" id="{7B8C02DE-AF7B-94C7-6D22-06881B06D3C6}"/>
                </a:ext>
              </a:extLst>
            </p:cNvPr>
            <p:cNvSpPr txBox="1">
              <a:spLocks noChangeArrowheads="1"/>
            </p:cNvSpPr>
            <p:nvPr/>
          </p:nvSpPr>
          <p:spPr bwMode="auto">
            <a:xfrm>
              <a:off x="900440" y="1782762"/>
              <a:ext cx="988399" cy="2079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rgbClr val="000066"/>
                  </a:solidFill>
                  <a:latin typeface="+mn-lt"/>
                </a:rPr>
                <a:t>Make-To-Stock</a:t>
              </a:r>
            </a:p>
          </p:txBody>
        </p:sp>
        <p:sp>
          <p:nvSpPr>
            <p:cNvPr id="43" name="Text Box 61">
              <a:extLst>
                <a:ext uri="{FF2B5EF4-FFF2-40B4-BE49-F238E27FC236}">
                  <a16:creationId xmlns:a16="http://schemas.microsoft.com/office/drawing/2014/main" id="{354E4FED-7875-256C-AB85-37EDE41D7720}"/>
                </a:ext>
              </a:extLst>
            </p:cNvPr>
            <p:cNvSpPr txBox="1">
              <a:spLocks noChangeArrowheads="1"/>
            </p:cNvSpPr>
            <p:nvPr/>
          </p:nvSpPr>
          <p:spPr bwMode="auto">
            <a:xfrm>
              <a:off x="901288" y="3087687"/>
              <a:ext cx="987551" cy="2079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rgbClr val="000066"/>
                  </a:solidFill>
                  <a:latin typeface="+mn-lt"/>
                </a:rPr>
                <a:t>Make-To-Order</a:t>
              </a:r>
            </a:p>
          </p:txBody>
        </p:sp>
        <p:sp>
          <p:nvSpPr>
            <p:cNvPr id="44" name="Text Box 62">
              <a:extLst>
                <a:ext uri="{FF2B5EF4-FFF2-40B4-BE49-F238E27FC236}">
                  <a16:creationId xmlns:a16="http://schemas.microsoft.com/office/drawing/2014/main" id="{A5762DC9-DC68-2A50-5716-863737018585}"/>
                </a:ext>
              </a:extLst>
            </p:cNvPr>
            <p:cNvSpPr txBox="1">
              <a:spLocks noChangeArrowheads="1"/>
            </p:cNvSpPr>
            <p:nvPr/>
          </p:nvSpPr>
          <p:spPr bwMode="auto">
            <a:xfrm>
              <a:off x="927674" y="4378325"/>
              <a:ext cx="1147989" cy="3351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rgbClr val="000066"/>
                  </a:solidFill>
                  <a:latin typeface="+mn-lt"/>
                </a:rPr>
                <a:t>Configure-To-Order</a:t>
              </a:r>
            </a:p>
          </p:txBody>
        </p:sp>
        <p:sp>
          <p:nvSpPr>
            <p:cNvPr id="45" name="Rectangle 64">
              <a:extLst>
                <a:ext uri="{FF2B5EF4-FFF2-40B4-BE49-F238E27FC236}">
                  <a16:creationId xmlns:a16="http://schemas.microsoft.com/office/drawing/2014/main" id="{41EA039E-1F40-6CD1-EB84-C38BDE7B863D}"/>
                </a:ext>
              </a:extLst>
            </p:cNvPr>
            <p:cNvSpPr>
              <a:spLocks noChangeArrowheads="1"/>
            </p:cNvSpPr>
            <p:nvPr/>
          </p:nvSpPr>
          <p:spPr bwMode="auto">
            <a:xfrm>
              <a:off x="6057112" y="1916112"/>
              <a:ext cx="2601913" cy="1060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6" name="Rectangle 65">
              <a:extLst>
                <a:ext uri="{FF2B5EF4-FFF2-40B4-BE49-F238E27FC236}">
                  <a16:creationId xmlns:a16="http://schemas.microsoft.com/office/drawing/2014/main" id="{C685D2A4-165A-37A6-4BB4-EC2E08EAC2BA}"/>
                </a:ext>
              </a:extLst>
            </p:cNvPr>
            <p:cNvSpPr>
              <a:spLocks noChangeArrowheads="1"/>
            </p:cNvSpPr>
            <p:nvPr/>
          </p:nvSpPr>
          <p:spPr bwMode="auto">
            <a:xfrm>
              <a:off x="6063462" y="3208337"/>
              <a:ext cx="2601913" cy="1060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7" name="Rectangle 66">
              <a:extLst>
                <a:ext uri="{FF2B5EF4-FFF2-40B4-BE49-F238E27FC236}">
                  <a16:creationId xmlns:a16="http://schemas.microsoft.com/office/drawing/2014/main" id="{6A7D9301-73B3-3894-8ABB-597C8037C5CA}"/>
                </a:ext>
              </a:extLst>
            </p:cNvPr>
            <p:cNvSpPr>
              <a:spLocks noChangeArrowheads="1"/>
            </p:cNvSpPr>
            <p:nvPr/>
          </p:nvSpPr>
          <p:spPr bwMode="auto">
            <a:xfrm>
              <a:off x="6063462" y="4492625"/>
              <a:ext cx="2601913" cy="1060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8" name="Rectangle 67">
              <a:extLst>
                <a:ext uri="{FF2B5EF4-FFF2-40B4-BE49-F238E27FC236}">
                  <a16:creationId xmlns:a16="http://schemas.microsoft.com/office/drawing/2014/main" id="{771B3DF3-3869-2499-3D50-C1C1ED8112EE}"/>
                </a:ext>
              </a:extLst>
            </p:cNvPr>
            <p:cNvSpPr>
              <a:spLocks noChangeArrowheads="1"/>
            </p:cNvSpPr>
            <p:nvPr/>
          </p:nvSpPr>
          <p:spPr bwMode="auto">
            <a:xfrm>
              <a:off x="6063462" y="1920875"/>
              <a:ext cx="2624138" cy="826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200" dirty="0">
                  <a:latin typeface="+mn-lt"/>
                </a:rPr>
                <a:t>Product made to a specific inventory level</a:t>
              </a:r>
            </a:p>
            <a:p>
              <a:pPr>
                <a:spcBef>
                  <a:spcPct val="40000"/>
                </a:spcBef>
                <a:buClrTx/>
                <a:buSzPct val="90000"/>
                <a:buFont typeface="Arial" panose="020B0604020202020204" pitchFamily="34" charset="0"/>
                <a:buChar char="•"/>
              </a:pPr>
              <a:r>
                <a:rPr lang="en-US" altLang="en-US" sz="1200" dirty="0">
                  <a:latin typeface="+mn-lt"/>
                </a:rPr>
                <a:t>Good shipped from inventory as physical orders received</a:t>
              </a:r>
            </a:p>
            <a:p>
              <a:pPr>
                <a:spcBef>
                  <a:spcPct val="40000"/>
                </a:spcBef>
                <a:buClrTx/>
                <a:buSzPct val="90000"/>
                <a:buFont typeface="Arial" panose="020B0604020202020204" pitchFamily="34" charset="0"/>
                <a:buChar char="•"/>
              </a:pPr>
              <a:r>
                <a:rPr lang="en-US" altLang="en-US" sz="1200" dirty="0">
                  <a:latin typeface="+mn-lt"/>
                </a:rPr>
                <a:t>Most Basic S&amp;OP platform</a:t>
              </a:r>
              <a:endParaRPr lang="en-US" altLang="en-US" sz="1200" b="0" dirty="0">
                <a:latin typeface="+mn-lt"/>
              </a:endParaRPr>
            </a:p>
          </p:txBody>
        </p:sp>
        <p:sp>
          <p:nvSpPr>
            <p:cNvPr id="49" name="Rectangle 68">
              <a:extLst>
                <a:ext uri="{FF2B5EF4-FFF2-40B4-BE49-F238E27FC236}">
                  <a16:creationId xmlns:a16="http://schemas.microsoft.com/office/drawing/2014/main" id="{94394B7B-D13F-3C06-07B0-1EB5CF51648E}"/>
                </a:ext>
              </a:extLst>
            </p:cNvPr>
            <p:cNvSpPr>
              <a:spLocks noChangeArrowheads="1"/>
            </p:cNvSpPr>
            <p:nvPr/>
          </p:nvSpPr>
          <p:spPr bwMode="auto">
            <a:xfrm>
              <a:off x="6063462" y="3203575"/>
              <a:ext cx="2624138" cy="98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200">
                  <a:latin typeface="+mn-lt"/>
                </a:rPr>
                <a:t>Product made only after physical order received</a:t>
              </a:r>
            </a:p>
            <a:p>
              <a:pPr>
                <a:spcBef>
                  <a:spcPct val="40000"/>
                </a:spcBef>
                <a:buClrTx/>
                <a:buSzPct val="90000"/>
                <a:buFont typeface="Arial" panose="020B0604020202020204" pitchFamily="34" charset="0"/>
                <a:buChar char="•"/>
              </a:pPr>
              <a:r>
                <a:rPr lang="en-US" altLang="en-US" sz="1200">
                  <a:latin typeface="+mn-lt"/>
                </a:rPr>
                <a:t>Essentially </a:t>
              </a:r>
              <a:r>
                <a:rPr lang="ja-JP" altLang="en-US" sz="1200">
                  <a:latin typeface="+mn-lt"/>
                </a:rPr>
                <a:t>“</a:t>
              </a:r>
              <a:r>
                <a:rPr lang="en-US" altLang="ja-JP" sz="1200">
                  <a:latin typeface="+mn-lt"/>
                </a:rPr>
                <a:t>no inventory</a:t>
              </a:r>
              <a:r>
                <a:rPr lang="ja-JP" altLang="en-US" sz="1200">
                  <a:latin typeface="+mn-lt"/>
                </a:rPr>
                <a:t>”</a:t>
              </a:r>
              <a:r>
                <a:rPr lang="en-US" altLang="ja-JP" sz="1200">
                  <a:latin typeface="+mn-lt"/>
                </a:rPr>
                <a:t> model</a:t>
              </a:r>
            </a:p>
            <a:p>
              <a:pPr>
                <a:spcBef>
                  <a:spcPct val="40000"/>
                </a:spcBef>
                <a:buClrTx/>
                <a:buSzPct val="90000"/>
                <a:buFont typeface="Arial" panose="020B0604020202020204" pitchFamily="34" charset="0"/>
                <a:buChar char="•"/>
              </a:pPr>
              <a:r>
                <a:rPr lang="en-US" altLang="en-US" sz="1200">
                  <a:latin typeface="+mn-lt"/>
                </a:rPr>
                <a:t>Inventory replaced with backlog on S&amp;OP documents</a:t>
              </a:r>
              <a:endParaRPr lang="en-US" altLang="en-US" sz="1200" b="0">
                <a:latin typeface="+mn-lt"/>
              </a:endParaRPr>
            </a:p>
          </p:txBody>
        </p:sp>
        <p:sp>
          <p:nvSpPr>
            <p:cNvPr id="50" name="Rectangle 69">
              <a:extLst>
                <a:ext uri="{FF2B5EF4-FFF2-40B4-BE49-F238E27FC236}">
                  <a16:creationId xmlns:a16="http://schemas.microsoft.com/office/drawing/2014/main" id="{4DDB961A-6549-BD81-133D-0A257ECB55BA}"/>
                </a:ext>
              </a:extLst>
            </p:cNvPr>
            <p:cNvSpPr>
              <a:spLocks noChangeArrowheads="1"/>
            </p:cNvSpPr>
            <p:nvPr/>
          </p:nvSpPr>
          <p:spPr bwMode="auto">
            <a:xfrm>
              <a:off x="6066637" y="4492625"/>
              <a:ext cx="2624138" cy="98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200">
                  <a:latin typeface="+mn-lt"/>
                </a:rPr>
                <a:t>Most complex S&amp;OP set-up</a:t>
              </a:r>
            </a:p>
            <a:p>
              <a:pPr>
                <a:spcBef>
                  <a:spcPct val="40000"/>
                </a:spcBef>
                <a:buClrTx/>
                <a:buSzPct val="90000"/>
                <a:buFont typeface="Arial" panose="020B0604020202020204" pitchFamily="34" charset="0"/>
                <a:buChar char="•"/>
              </a:pPr>
              <a:r>
                <a:rPr lang="en-US" altLang="en-US" sz="1200">
                  <a:latin typeface="+mn-lt"/>
                </a:rPr>
                <a:t>Postponement delays high-cost value adds until orders received</a:t>
              </a:r>
            </a:p>
            <a:p>
              <a:pPr>
                <a:spcBef>
                  <a:spcPct val="40000"/>
                </a:spcBef>
                <a:buClrTx/>
                <a:buSzPct val="90000"/>
                <a:buFont typeface="Arial" panose="020B0604020202020204" pitchFamily="34" charset="0"/>
                <a:buChar char="•"/>
              </a:pPr>
              <a:r>
                <a:rPr lang="ja-JP" altLang="en-US" sz="1200">
                  <a:latin typeface="+mn-lt"/>
                </a:rPr>
                <a:t>“</a:t>
              </a:r>
              <a:r>
                <a:rPr lang="en-US" altLang="ja-JP" sz="1200">
                  <a:latin typeface="+mn-lt"/>
                </a:rPr>
                <a:t>Inventory</a:t>
              </a:r>
              <a:r>
                <a:rPr lang="ja-JP" altLang="en-US" sz="1200">
                  <a:latin typeface="+mn-lt"/>
                </a:rPr>
                <a:t>”</a:t>
              </a:r>
              <a:r>
                <a:rPr lang="en-US" altLang="ja-JP" sz="1200">
                  <a:latin typeface="+mn-lt"/>
                </a:rPr>
                <a:t> replaced with </a:t>
              </a:r>
              <a:r>
                <a:rPr lang="ja-JP" altLang="en-US" sz="1200">
                  <a:latin typeface="+mn-lt"/>
                </a:rPr>
                <a:t>“</a:t>
              </a:r>
              <a:r>
                <a:rPr lang="en-US" altLang="ja-JP" sz="1200">
                  <a:latin typeface="+mn-lt"/>
                </a:rPr>
                <a:t>module inventory</a:t>
              </a:r>
              <a:r>
                <a:rPr lang="ja-JP" altLang="en-US" sz="1200">
                  <a:latin typeface="+mn-lt"/>
                </a:rPr>
                <a:t>”</a:t>
              </a:r>
              <a:endParaRPr lang="en-US" altLang="en-US" sz="1200" b="0">
                <a:latin typeface="+mn-lt"/>
              </a:endParaRPr>
            </a:p>
          </p:txBody>
        </p:sp>
        <p:sp>
          <p:nvSpPr>
            <p:cNvPr id="51" name="AutoShape 70">
              <a:extLst>
                <a:ext uri="{FF2B5EF4-FFF2-40B4-BE49-F238E27FC236}">
                  <a16:creationId xmlns:a16="http://schemas.microsoft.com/office/drawing/2014/main" id="{456DFE88-56B3-00BD-1A0C-982DE2645649}"/>
                </a:ext>
              </a:extLst>
            </p:cNvPr>
            <p:cNvSpPr>
              <a:spLocks noChangeArrowheads="1"/>
            </p:cNvSpPr>
            <p:nvPr/>
          </p:nvSpPr>
          <p:spPr bwMode="auto">
            <a:xfrm>
              <a:off x="5639600" y="1990725"/>
              <a:ext cx="212725" cy="954087"/>
            </a:xfrm>
            <a:prstGeom prst="rightArrow">
              <a:avLst>
                <a:gd name="adj1" fmla="val 59880"/>
                <a:gd name="adj2" fmla="val 58208"/>
              </a:avLst>
            </a:prstGeom>
            <a:solidFill>
              <a:schemeClr val="accent4"/>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2" name="AutoShape 71">
              <a:extLst>
                <a:ext uri="{FF2B5EF4-FFF2-40B4-BE49-F238E27FC236}">
                  <a16:creationId xmlns:a16="http://schemas.microsoft.com/office/drawing/2014/main" id="{83067314-0420-7373-5797-8FE4A8893DC4}"/>
                </a:ext>
              </a:extLst>
            </p:cNvPr>
            <p:cNvSpPr>
              <a:spLocks noChangeArrowheads="1"/>
            </p:cNvSpPr>
            <p:nvPr/>
          </p:nvSpPr>
          <p:spPr bwMode="auto">
            <a:xfrm>
              <a:off x="5653887" y="3249612"/>
              <a:ext cx="212725" cy="954088"/>
            </a:xfrm>
            <a:prstGeom prst="rightArrow">
              <a:avLst>
                <a:gd name="adj1" fmla="val 59880"/>
                <a:gd name="adj2" fmla="val 58208"/>
              </a:avLst>
            </a:prstGeom>
            <a:solidFill>
              <a:schemeClr val="accent4"/>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3" name="AutoShape 72">
              <a:extLst>
                <a:ext uri="{FF2B5EF4-FFF2-40B4-BE49-F238E27FC236}">
                  <a16:creationId xmlns:a16="http://schemas.microsoft.com/office/drawing/2014/main" id="{D92CD8AE-93D4-11C2-8F9A-C45284C2CB14}"/>
                </a:ext>
              </a:extLst>
            </p:cNvPr>
            <p:cNvSpPr>
              <a:spLocks noChangeArrowheads="1"/>
            </p:cNvSpPr>
            <p:nvPr/>
          </p:nvSpPr>
          <p:spPr bwMode="auto">
            <a:xfrm>
              <a:off x="5653887" y="4518025"/>
              <a:ext cx="212725" cy="954087"/>
            </a:xfrm>
            <a:prstGeom prst="rightArrow">
              <a:avLst>
                <a:gd name="adj1" fmla="val 59880"/>
                <a:gd name="adj2" fmla="val 58208"/>
              </a:avLst>
            </a:prstGeom>
            <a:solidFill>
              <a:schemeClr val="accent4"/>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Tree>
    <p:extLst>
      <p:ext uri="{BB962C8B-B14F-4D97-AF65-F5344CB8AC3E}">
        <p14:creationId xmlns:p14="http://schemas.microsoft.com/office/powerpoint/2010/main" val="1397901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S&amp;OP Program Deliverables:  </a:t>
            </a:r>
            <a:br>
              <a:rPr lang="en-US" dirty="0"/>
            </a:br>
            <a:r>
              <a:rPr lang="en-US" dirty="0"/>
              <a:t>Turnkey S&amp;OP Process For Roll-Out</a:t>
            </a:r>
          </a:p>
        </p:txBody>
      </p:sp>
      <p:grpSp>
        <p:nvGrpSpPr>
          <p:cNvPr id="480" name="Group 479">
            <a:extLst>
              <a:ext uri="{FF2B5EF4-FFF2-40B4-BE49-F238E27FC236}">
                <a16:creationId xmlns:a16="http://schemas.microsoft.com/office/drawing/2014/main" id="{0DCCEED1-EA1A-B58F-899B-6E2DA43083D3}"/>
              </a:ext>
            </a:extLst>
          </p:cNvPr>
          <p:cNvGrpSpPr/>
          <p:nvPr/>
        </p:nvGrpSpPr>
        <p:grpSpPr>
          <a:xfrm>
            <a:off x="874811" y="1940318"/>
            <a:ext cx="10558955" cy="4800724"/>
            <a:chOff x="646113" y="1940318"/>
            <a:chExt cx="8483600" cy="4384675"/>
          </a:xfrm>
        </p:grpSpPr>
        <p:sp>
          <p:nvSpPr>
            <p:cNvPr id="241" name="Oval 4">
              <a:extLst>
                <a:ext uri="{FF2B5EF4-FFF2-40B4-BE49-F238E27FC236}">
                  <a16:creationId xmlns:a16="http://schemas.microsoft.com/office/drawing/2014/main" id="{BE837060-DE7F-26F3-1DD3-201A296DC5D9}"/>
                </a:ext>
              </a:extLst>
            </p:cNvPr>
            <p:cNvSpPr>
              <a:spLocks noChangeArrowheads="1"/>
            </p:cNvSpPr>
            <p:nvPr/>
          </p:nvSpPr>
          <p:spPr bwMode="auto">
            <a:xfrm rot="16200000">
              <a:off x="-384968" y="3554011"/>
              <a:ext cx="3016250" cy="665163"/>
            </a:xfrm>
            <a:prstGeom prst="ellipse">
              <a:avLst/>
            </a:prstGeom>
            <a:solidFill>
              <a:schemeClr val="bg2"/>
            </a:solidFill>
            <a:ln w="12700" cap="sq">
              <a:solidFill>
                <a:schemeClr val="tx1"/>
              </a:solidFill>
              <a:round/>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42" name="Rectangle 5">
              <a:extLst>
                <a:ext uri="{FF2B5EF4-FFF2-40B4-BE49-F238E27FC236}">
                  <a16:creationId xmlns:a16="http://schemas.microsoft.com/office/drawing/2014/main" id="{2225B68D-8476-4D58-A70E-1DCBB498900E}"/>
                </a:ext>
              </a:extLst>
            </p:cNvPr>
            <p:cNvSpPr>
              <a:spLocks noChangeArrowheads="1"/>
            </p:cNvSpPr>
            <p:nvPr/>
          </p:nvSpPr>
          <p:spPr bwMode="auto">
            <a:xfrm>
              <a:off x="4506913" y="3053155"/>
              <a:ext cx="1719262" cy="8524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43" name="Rectangle 6">
              <a:extLst>
                <a:ext uri="{FF2B5EF4-FFF2-40B4-BE49-F238E27FC236}">
                  <a16:creationId xmlns:a16="http://schemas.microsoft.com/office/drawing/2014/main" id="{DCD30D12-8763-BEEF-8A44-930CAF0E99EF}"/>
                </a:ext>
              </a:extLst>
            </p:cNvPr>
            <p:cNvSpPr>
              <a:spLocks noChangeArrowheads="1"/>
            </p:cNvSpPr>
            <p:nvPr/>
          </p:nvSpPr>
          <p:spPr bwMode="auto">
            <a:xfrm>
              <a:off x="6465888" y="3053155"/>
              <a:ext cx="1719262" cy="8524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244" name="Group 7">
              <a:extLst>
                <a:ext uri="{FF2B5EF4-FFF2-40B4-BE49-F238E27FC236}">
                  <a16:creationId xmlns:a16="http://schemas.microsoft.com/office/drawing/2014/main" id="{8BC7831D-8FCF-5D71-812B-09194AB833BC}"/>
                </a:ext>
              </a:extLst>
            </p:cNvPr>
            <p:cNvGrpSpPr>
              <a:grpSpLocks/>
            </p:cNvGrpSpPr>
            <p:nvPr/>
          </p:nvGrpSpPr>
          <p:grpSpPr bwMode="auto">
            <a:xfrm>
              <a:off x="4652963" y="2245118"/>
              <a:ext cx="1433512" cy="536575"/>
              <a:chOff x="2135" y="1502"/>
              <a:chExt cx="1122" cy="368"/>
            </a:xfrm>
          </p:grpSpPr>
          <p:sp>
            <p:nvSpPr>
              <p:cNvPr id="245" name="Rectangle 8">
                <a:extLst>
                  <a:ext uri="{FF2B5EF4-FFF2-40B4-BE49-F238E27FC236}">
                    <a16:creationId xmlns:a16="http://schemas.microsoft.com/office/drawing/2014/main" id="{638FC0B1-B9D0-2897-4901-4F8AD78822B0}"/>
                  </a:ext>
                </a:extLst>
              </p:cNvPr>
              <p:cNvSpPr>
                <a:spLocks noChangeArrowheads="1"/>
              </p:cNvSpPr>
              <p:nvPr/>
            </p:nvSpPr>
            <p:spPr bwMode="auto">
              <a:xfrm>
                <a:off x="2135" y="1502"/>
                <a:ext cx="1122" cy="36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pic>
            <p:nvPicPr>
              <p:cNvPr id="246" name="Picture 9">
                <a:extLst>
                  <a:ext uri="{FF2B5EF4-FFF2-40B4-BE49-F238E27FC236}">
                    <a16:creationId xmlns:a16="http://schemas.microsoft.com/office/drawing/2014/main" id="{446261EC-9253-D681-FBBA-1E8F5C9BD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8484"/>
              <a:stretch>
                <a:fillRect/>
              </a:stretch>
            </p:blipFill>
            <p:spPr bwMode="auto">
              <a:xfrm>
                <a:off x="2191" y="1513"/>
                <a:ext cx="100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7" name="Group 10">
              <a:extLst>
                <a:ext uri="{FF2B5EF4-FFF2-40B4-BE49-F238E27FC236}">
                  <a16:creationId xmlns:a16="http://schemas.microsoft.com/office/drawing/2014/main" id="{7C67419A-326A-8A01-1EDD-46711BCDB3F9}"/>
                </a:ext>
              </a:extLst>
            </p:cNvPr>
            <p:cNvGrpSpPr>
              <a:grpSpLocks/>
            </p:cNvGrpSpPr>
            <p:nvPr/>
          </p:nvGrpSpPr>
          <p:grpSpPr bwMode="auto">
            <a:xfrm>
              <a:off x="4652963" y="4170755"/>
              <a:ext cx="1433512" cy="538163"/>
              <a:chOff x="2128" y="2780"/>
              <a:chExt cx="1122" cy="368"/>
            </a:xfrm>
          </p:grpSpPr>
          <p:sp>
            <p:nvSpPr>
              <p:cNvPr id="248" name="Rectangle 11">
                <a:extLst>
                  <a:ext uri="{FF2B5EF4-FFF2-40B4-BE49-F238E27FC236}">
                    <a16:creationId xmlns:a16="http://schemas.microsoft.com/office/drawing/2014/main" id="{C1717D6B-B239-05E3-ADD5-E9F3CC10D152}"/>
                  </a:ext>
                </a:extLst>
              </p:cNvPr>
              <p:cNvSpPr>
                <a:spLocks noChangeArrowheads="1"/>
              </p:cNvSpPr>
              <p:nvPr/>
            </p:nvSpPr>
            <p:spPr bwMode="auto">
              <a:xfrm>
                <a:off x="2128" y="2780"/>
                <a:ext cx="1122" cy="36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pic>
            <p:nvPicPr>
              <p:cNvPr id="249" name="Picture 12">
                <a:extLst>
                  <a:ext uri="{FF2B5EF4-FFF2-40B4-BE49-F238E27FC236}">
                    <a16:creationId xmlns:a16="http://schemas.microsoft.com/office/drawing/2014/main" id="{9557BBB8-B91C-1228-A4D4-0F3CDC990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8484"/>
              <a:stretch>
                <a:fillRect/>
              </a:stretch>
            </p:blipFill>
            <p:spPr bwMode="auto">
              <a:xfrm>
                <a:off x="2189" y="2792"/>
                <a:ext cx="100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0" name="Group 13">
              <a:extLst>
                <a:ext uri="{FF2B5EF4-FFF2-40B4-BE49-F238E27FC236}">
                  <a16:creationId xmlns:a16="http://schemas.microsoft.com/office/drawing/2014/main" id="{61425B4D-F6D8-B461-F166-E84EA1CB8B87}"/>
                </a:ext>
              </a:extLst>
            </p:cNvPr>
            <p:cNvGrpSpPr>
              <a:grpSpLocks/>
            </p:cNvGrpSpPr>
            <p:nvPr/>
          </p:nvGrpSpPr>
          <p:grpSpPr bwMode="auto">
            <a:xfrm>
              <a:off x="2587625" y="3053155"/>
              <a:ext cx="1717675" cy="852488"/>
              <a:chOff x="579" y="2035"/>
              <a:chExt cx="1347" cy="584"/>
            </a:xfrm>
          </p:grpSpPr>
          <p:sp>
            <p:nvSpPr>
              <p:cNvPr id="251" name="Rectangle 14">
                <a:extLst>
                  <a:ext uri="{FF2B5EF4-FFF2-40B4-BE49-F238E27FC236}">
                    <a16:creationId xmlns:a16="http://schemas.microsoft.com/office/drawing/2014/main" id="{DB107470-669E-AAAA-F098-31473DC5C9FA}"/>
                  </a:ext>
                </a:extLst>
              </p:cNvPr>
              <p:cNvSpPr>
                <a:spLocks noChangeArrowheads="1"/>
              </p:cNvSpPr>
              <p:nvPr/>
            </p:nvSpPr>
            <p:spPr bwMode="auto">
              <a:xfrm>
                <a:off x="579" y="2035"/>
                <a:ext cx="1347" cy="584"/>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252" name="Group 15">
                <a:extLst>
                  <a:ext uri="{FF2B5EF4-FFF2-40B4-BE49-F238E27FC236}">
                    <a16:creationId xmlns:a16="http://schemas.microsoft.com/office/drawing/2014/main" id="{A3EAC4B4-F246-D013-80EA-305E38EDBB4B}"/>
                  </a:ext>
                </a:extLst>
              </p:cNvPr>
              <p:cNvGrpSpPr>
                <a:grpSpLocks/>
              </p:cNvGrpSpPr>
              <p:nvPr/>
            </p:nvGrpSpPr>
            <p:grpSpPr bwMode="auto">
              <a:xfrm>
                <a:off x="625" y="2070"/>
                <a:ext cx="1267" cy="511"/>
                <a:chOff x="35" y="1030"/>
                <a:chExt cx="1409" cy="871"/>
              </a:xfrm>
            </p:grpSpPr>
            <p:pic>
              <p:nvPicPr>
                <p:cNvPr id="253" name="Picture 16">
                  <a:extLst>
                    <a:ext uri="{FF2B5EF4-FFF2-40B4-BE49-F238E27FC236}">
                      <a16:creationId xmlns:a16="http://schemas.microsoft.com/office/drawing/2014/main" id="{6B2546E9-6EE4-9B70-4C88-532514CA63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 y="1030"/>
                  <a:ext cx="1408"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 name="Picture 17">
                  <a:extLst>
                    <a:ext uri="{FF2B5EF4-FFF2-40B4-BE49-F238E27FC236}">
                      <a16:creationId xmlns:a16="http://schemas.microsoft.com/office/drawing/2014/main" id="{3227394B-0AAA-30C1-E8AC-6F89632DB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 y="1560"/>
                  <a:ext cx="66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5" name="Picture 18">
                  <a:extLst>
                    <a:ext uri="{FF2B5EF4-FFF2-40B4-BE49-F238E27FC236}">
                      <a16:creationId xmlns:a16="http://schemas.microsoft.com/office/drawing/2014/main" id="{BC882B5B-DE4C-D456-D983-3B6D7820E5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 y="1556"/>
                  <a:ext cx="720"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256" name="Picture 19">
              <a:extLst>
                <a:ext uri="{FF2B5EF4-FFF2-40B4-BE49-F238E27FC236}">
                  <a16:creationId xmlns:a16="http://schemas.microsoft.com/office/drawing/2014/main" id="{96A3400F-91DD-4272-1485-1404C00E5D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7875" y="3111893"/>
              <a:ext cx="15875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7" name="Group 20">
              <a:extLst>
                <a:ext uri="{FF2B5EF4-FFF2-40B4-BE49-F238E27FC236}">
                  <a16:creationId xmlns:a16="http://schemas.microsoft.com/office/drawing/2014/main" id="{219DC1DF-9B19-4066-BD3A-3E4F8FD20CBD}"/>
                </a:ext>
              </a:extLst>
            </p:cNvPr>
            <p:cNvGrpSpPr>
              <a:grpSpLocks/>
            </p:cNvGrpSpPr>
            <p:nvPr/>
          </p:nvGrpSpPr>
          <p:grpSpPr bwMode="auto">
            <a:xfrm>
              <a:off x="6507822" y="3081732"/>
              <a:ext cx="1629979" cy="722563"/>
              <a:chOff x="3712" y="2833"/>
              <a:chExt cx="1276" cy="494"/>
            </a:xfrm>
          </p:grpSpPr>
          <p:sp>
            <p:nvSpPr>
              <p:cNvPr id="258" name="Rectangle 21">
                <a:extLst>
                  <a:ext uri="{FF2B5EF4-FFF2-40B4-BE49-F238E27FC236}">
                    <a16:creationId xmlns:a16="http://schemas.microsoft.com/office/drawing/2014/main" id="{0BB305BF-1986-8B64-8797-7EC6B886A373}"/>
                  </a:ext>
                </a:extLst>
              </p:cNvPr>
              <p:cNvSpPr>
                <a:spLocks noChangeArrowheads="1"/>
              </p:cNvSpPr>
              <p:nvPr/>
            </p:nvSpPr>
            <p:spPr bwMode="auto">
              <a:xfrm>
                <a:off x="3717" y="2864"/>
                <a:ext cx="3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Inv </a:t>
                </a:r>
                <a:endParaRPr lang="en-US" altLang="en-US" sz="900" b="0">
                  <a:solidFill>
                    <a:srgbClr val="FF0000"/>
                  </a:solidFill>
                  <a:latin typeface="+mn-lt"/>
                </a:endParaRPr>
              </a:p>
            </p:txBody>
          </p:sp>
          <p:sp>
            <p:nvSpPr>
              <p:cNvPr id="259" name="Rectangle 22">
                <a:extLst>
                  <a:ext uri="{FF2B5EF4-FFF2-40B4-BE49-F238E27FC236}">
                    <a16:creationId xmlns:a16="http://schemas.microsoft.com/office/drawing/2014/main" id="{2BF5DE53-02C4-8ED6-3AA6-04151F2D313B}"/>
                  </a:ext>
                </a:extLst>
              </p:cNvPr>
              <p:cNvSpPr>
                <a:spLocks noChangeArrowheads="1"/>
              </p:cNvSpPr>
              <p:nvPr/>
            </p:nvSpPr>
            <p:spPr bwMode="auto">
              <a:xfrm>
                <a:off x="3716" y="2890"/>
                <a:ext cx="34"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60" name="Rectangle 23">
                <a:extLst>
                  <a:ext uri="{FF2B5EF4-FFF2-40B4-BE49-F238E27FC236}">
                    <a16:creationId xmlns:a16="http://schemas.microsoft.com/office/drawing/2014/main" id="{F9B4D3D9-EC24-AD9D-98C6-E5D371C90B10}"/>
                  </a:ext>
                </a:extLst>
              </p:cNvPr>
              <p:cNvSpPr>
                <a:spLocks noChangeArrowheads="1"/>
              </p:cNvSpPr>
              <p:nvPr/>
            </p:nvSpPr>
            <p:spPr bwMode="auto">
              <a:xfrm>
                <a:off x="3719" y="2897"/>
                <a:ext cx="34"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Cls</a:t>
                </a:r>
                <a:endParaRPr lang="en-US" altLang="en-US" sz="900" b="0">
                  <a:solidFill>
                    <a:srgbClr val="FF0000"/>
                  </a:solidFill>
                  <a:latin typeface="+mn-lt"/>
                </a:endParaRPr>
              </a:p>
            </p:txBody>
          </p:sp>
          <p:sp>
            <p:nvSpPr>
              <p:cNvPr id="261" name="Rectangle 24">
                <a:extLst>
                  <a:ext uri="{FF2B5EF4-FFF2-40B4-BE49-F238E27FC236}">
                    <a16:creationId xmlns:a16="http://schemas.microsoft.com/office/drawing/2014/main" id="{BA8EE5F1-4C49-C858-F1C3-990F347AFCFC}"/>
                  </a:ext>
                </a:extLst>
              </p:cNvPr>
              <p:cNvSpPr>
                <a:spLocks noChangeArrowheads="1"/>
              </p:cNvSpPr>
              <p:nvPr/>
            </p:nvSpPr>
            <p:spPr bwMode="auto">
              <a:xfrm>
                <a:off x="3715" y="2922"/>
                <a:ext cx="30"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62" name="Rectangle 25">
                <a:extLst>
                  <a:ext uri="{FF2B5EF4-FFF2-40B4-BE49-F238E27FC236}">
                    <a16:creationId xmlns:a16="http://schemas.microsoft.com/office/drawing/2014/main" id="{2FBEEA77-15B9-CDE2-DE4C-A1D665F924E9}"/>
                  </a:ext>
                </a:extLst>
              </p:cNvPr>
              <p:cNvSpPr>
                <a:spLocks noChangeArrowheads="1"/>
              </p:cNvSpPr>
              <p:nvPr/>
            </p:nvSpPr>
            <p:spPr bwMode="auto">
              <a:xfrm>
                <a:off x="3760" y="2897"/>
                <a:ext cx="8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Lyd Qty</a:t>
                </a:r>
                <a:endParaRPr lang="en-US" altLang="en-US" sz="900" b="0">
                  <a:solidFill>
                    <a:srgbClr val="FF0000"/>
                  </a:solidFill>
                  <a:latin typeface="+mn-lt"/>
                </a:endParaRPr>
              </a:p>
            </p:txBody>
          </p:sp>
          <p:sp>
            <p:nvSpPr>
              <p:cNvPr id="263" name="Rectangle 26">
                <a:extLst>
                  <a:ext uri="{FF2B5EF4-FFF2-40B4-BE49-F238E27FC236}">
                    <a16:creationId xmlns:a16="http://schemas.microsoft.com/office/drawing/2014/main" id="{C6DED383-9CBA-5FA5-DD15-ED0C0D0E13F2}"/>
                  </a:ext>
                </a:extLst>
              </p:cNvPr>
              <p:cNvSpPr>
                <a:spLocks noChangeArrowheads="1"/>
              </p:cNvSpPr>
              <p:nvPr/>
            </p:nvSpPr>
            <p:spPr bwMode="auto">
              <a:xfrm>
                <a:off x="3758" y="2922"/>
                <a:ext cx="7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64" name="Rectangle 27">
                <a:extLst>
                  <a:ext uri="{FF2B5EF4-FFF2-40B4-BE49-F238E27FC236}">
                    <a16:creationId xmlns:a16="http://schemas.microsoft.com/office/drawing/2014/main" id="{BC4CE82B-63DE-D0ED-2930-CBEFA7D5A44C}"/>
                  </a:ext>
                </a:extLst>
              </p:cNvPr>
              <p:cNvSpPr>
                <a:spLocks noChangeArrowheads="1"/>
              </p:cNvSpPr>
              <p:nvPr/>
            </p:nvSpPr>
            <p:spPr bwMode="auto">
              <a:xfrm>
                <a:off x="3844" y="2897"/>
                <a:ext cx="7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Ytd Qty</a:t>
                </a:r>
                <a:endParaRPr lang="en-US" altLang="en-US" sz="900" b="0">
                  <a:solidFill>
                    <a:srgbClr val="FF0000"/>
                  </a:solidFill>
                  <a:latin typeface="+mn-lt"/>
                </a:endParaRPr>
              </a:p>
            </p:txBody>
          </p:sp>
          <p:sp>
            <p:nvSpPr>
              <p:cNvPr id="265" name="Rectangle 28">
                <a:extLst>
                  <a:ext uri="{FF2B5EF4-FFF2-40B4-BE49-F238E27FC236}">
                    <a16:creationId xmlns:a16="http://schemas.microsoft.com/office/drawing/2014/main" id="{5DFD9F80-F95D-E13A-E011-B81CE9016DFA}"/>
                  </a:ext>
                </a:extLst>
              </p:cNvPr>
              <p:cNvSpPr>
                <a:spLocks noChangeArrowheads="1"/>
              </p:cNvSpPr>
              <p:nvPr/>
            </p:nvSpPr>
            <p:spPr bwMode="auto">
              <a:xfrm>
                <a:off x="3843" y="2922"/>
                <a:ext cx="6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66" name="Rectangle 29">
                <a:extLst>
                  <a:ext uri="{FF2B5EF4-FFF2-40B4-BE49-F238E27FC236}">
                    <a16:creationId xmlns:a16="http://schemas.microsoft.com/office/drawing/2014/main" id="{A8155CEB-7691-0872-BF1F-BACEDCDA2906}"/>
                  </a:ext>
                </a:extLst>
              </p:cNvPr>
              <p:cNvSpPr>
                <a:spLocks noChangeArrowheads="1"/>
              </p:cNvSpPr>
              <p:nvPr/>
            </p:nvSpPr>
            <p:spPr bwMode="auto">
              <a:xfrm>
                <a:off x="3933" y="2864"/>
                <a:ext cx="8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Lyd Ytd </a:t>
                </a:r>
                <a:endParaRPr lang="en-US" altLang="en-US" sz="900" b="0">
                  <a:solidFill>
                    <a:srgbClr val="FF0000"/>
                  </a:solidFill>
                  <a:latin typeface="+mn-lt"/>
                </a:endParaRPr>
              </a:p>
            </p:txBody>
          </p:sp>
          <p:sp>
            <p:nvSpPr>
              <p:cNvPr id="267" name="Rectangle 30">
                <a:extLst>
                  <a:ext uri="{FF2B5EF4-FFF2-40B4-BE49-F238E27FC236}">
                    <a16:creationId xmlns:a16="http://schemas.microsoft.com/office/drawing/2014/main" id="{45CBDF5E-E8D4-0F9C-F636-BACBFF03259D}"/>
                  </a:ext>
                </a:extLst>
              </p:cNvPr>
              <p:cNvSpPr>
                <a:spLocks noChangeArrowheads="1"/>
              </p:cNvSpPr>
              <p:nvPr/>
            </p:nvSpPr>
            <p:spPr bwMode="auto">
              <a:xfrm>
                <a:off x="3933" y="2890"/>
                <a:ext cx="76"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68" name="Rectangle 31">
                <a:extLst>
                  <a:ext uri="{FF2B5EF4-FFF2-40B4-BE49-F238E27FC236}">
                    <a16:creationId xmlns:a16="http://schemas.microsoft.com/office/drawing/2014/main" id="{D89ED81F-904D-9010-4C15-A23C2872660C}"/>
                  </a:ext>
                </a:extLst>
              </p:cNvPr>
              <p:cNvSpPr>
                <a:spLocks noChangeArrowheads="1"/>
              </p:cNvSpPr>
              <p:nvPr/>
            </p:nvSpPr>
            <p:spPr bwMode="auto">
              <a:xfrm>
                <a:off x="3954" y="2897"/>
                <a:ext cx="3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Qty</a:t>
                </a:r>
                <a:endParaRPr lang="en-US" altLang="en-US" sz="900" b="0">
                  <a:solidFill>
                    <a:srgbClr val="FF0000"/>
                  </a:solidFill>
                  <a:latin typeface="+mn-lt"/>
                </a:endParaRPr>
              </a:p>
            </p:txBody>
          </p:sp>
          <p:sp>
            <p:nvSpPr>
              <p:cNvPr id="269" name="Rectangle 32">
                <a:extLst>
                  <a:ext uri="{FF2B5EF4-FFF2-40B4-BE49-F238E27FC236}">
                    <a16:creationId xmlns:a16="http://schemas.microsoft.com/office/drawing/2014/main" id="{27E39C71-E031-8F79-0188-6A00DAC8ABEA}"/>
                  </a:ext>
                </a:extLst>
              </p:cNvPr>
              <p:cNvSpPr>
                <a:spLocks noChangeArrowheads="1"/>
              </p:cNvSpPr>
              <p:nvPr/>
            </p:nvSpPr>
            <p:spPr bwMode="auto">
              <a:xfrm>
                <a:off x="3952" y="2922"/>
                <a:ext cx="3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70" name="Rectangle 33">
                <a:extLst>
                  <a:ext uri="{FF2B5EF4-FFF2-40B4-BE49-F238E27FC236}">
                    <a16:creationId xmlns:a16="http://schemas.microsoft.com/office/drawing/2014/main" id="{485853E1-9E98-2277-7A69-ABBCB2EE9A8F}"/>
                  </a:ext>
                </a:extLst>
              </p:cNvPr>
              <p:cNvSpPr>
                <a:spLocks noChangeArrowheads="1"/>
              </p:cNvSpPr>
              <p:nvPr/>
            </p:nvSpPr>
            <p:spPr bwMode="auto">
              <a:xfrm>
                <a:off x="4071" y="2897"/>
                <a:ext cx="44"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Part</a:t>
                </a:r>
                <a:endParaRPr lang="en-US" altLang="en-US" sz="900" b="0">
                  <a:solidFill>
                    <a:srgbClr val="FF0000"/>
                  </a:solidFill>
                  <a:latin typeface="+mn-lt"/>
                </a:endParaRPr>
              </a:p>
            </p:txBody>
          </p:sp>
          <p:sp>
            <p:nvSpPr>
              <p:cNvPr id="271" name="Rectangle 34">
                <a:extLst>
                  <a:ext uri="{FF2B5EF4-FFF2-40B4-BE49-F238E27FC236}">
                    <a16:creationId xmlns:a16="http://schemas.microsoft.com/office/drawing/2014/main" id="{500E11AE-C43B-854E-6A64-15F01FAD23D5}"/>
                  </a:ext>
                </a:extLst>
              </p:cNvPr>
              <p:cNvSpPr>
                <a:spLocks noChangeArrowheads="1"/>
              </p:cNvSpPr>
              <p:nvPr/>
            </p:nvSpPr>
            <p:spPr bwMode="auto">
              <a:xfrm>
                <a:off x="4069" y="2922"/>
                <a:ext cx="38"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72" name="Rectangle 35">
                <a:extLst>
                  <a:ext uri="{FF2B5EF4-FFF2-40B4-BE49-F238E27FC236}">
                    <a16:creationId xmlns:a16="http://schemas.microsoft.com/office/drawing/2014/main" id="{D0FBB02F-9976-273C-46C5-5086954FAD47}"/>
                  </a:ext>
                </a:extLst>
              </p:cNvPr>
              <p:cNvSpPr>
                <a:spLocks noChangeArrowheads="1"/>
              </p:cNvSpPr>
              <p:nvPr/>
            </p:nvSpPr>
            <p:spPr bwMode="auto">
              <a:xfrm>
                <a:off x="4171" y="2897"/>
                <a:ext cx="7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PO Bal</a:t>
                </a:r>
                <a:endParaRPr lang="en-US" altLang="en-US" sz="900" b="0">
                  <a:solidFill>
                    <a:srgbClr val="FF0000"/>
                  </a:solidFill>
                  <a:latin typeface="+mn-lt"/>
                </a:endParaRPr>
              </a:p>
            </p:txBody>
          </p:sp>
          <p:sp>
            <p:nvSpPr>
              <p:cNvPr id="273" name="Rectangle 36">
                <a:extLst>
                  <a:ext uri="{FF2B5EF4-FFF2-40B4-BE49-F238E27FC236}">
                    <a16:creationId xmlns:a16="http://schemas.microsoft.com/office/drawing/2014/main" id="{855E1BFC-2AD5-49E7-4952-7EE259BD8C7A}"/>
                  </a:ext>
                </a:extLst>
              </p:cNvPr>
              <p:cNvSpPr>
                <a:spLocks noChangeArrowheads="1"/>
              </p:cNvSpPr>
              <p:nvPr/>
            </p:nvSpPr>
            <p:spPr bwMode="auto">
              <a:xfrm>
                <a:off x="4170" y="2922"/>
                <a:ext cx="64"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74" name="Rectangle 37">
                <a:extLst>
                  <a:ext uri="{FF2B5EF4-FFF2-40B4-BE49-F238E27FC236}">
                    <a16:creationId xmlns:a16="http://schemas.microsoft.com/office/drawing/2014/main" id="{046B5F5E-E479-FE5F-67D6-70C53DD56682}"/>
                  </a:ext>
                </a:extLst>
              </p:cNvPr>
              <p:cNvSpPr>
                <a:spLocks noChangeArrowheads="1"/>
              </p:cNvSpPr>
              <p:nvPr/>
            </p:nvSpPr>
            <p:spPr bwMode="auto">
              <a:xfrm>
                <a:off x="4254" y="2897"/>
                <a:ext cx="7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Vendor</a:t>
                </a:r>
                <a:endParaRPr lang="en-US" altLang="en-US" sz="900" b="0">
                  <a:solidFill>
                    <a:srgbClr val="FF0000"/>
                  </a:solidFill>
                  <a:latin typeface="+mn-lt"/>
                </a:endParaRPr>
              </a:p>
            </p:txBody>
          </p:sp>
          <p:sp>
            <p:nvSpPr>
              <p:cNvPr id="275" name="Rectangle 38">
                <a:extLst>
                  <a:ext uri="{FF2B5EF4-FFF2-40B4-BE49-F238E27FC236}">
                    <a16:creationId xmlns:a16="http://schemas.microsoft.com/office/drawing/2014/main" id="{30DB940E-CE02-37B1-B806-0E718E58C563}"/>
                  </a:ext>
                </a:extLst>
              </p:cNvPr>
              <p:cNvSpPr>
                <a:spLocks noChangeArrowheads="1"/>
              </p:cNvSpPr>
              <p:nvPr/>
            </p:nvSpPr>
            <p:spPr bwMode="auto">
              <a:xfrm>
                <a:off x="4254" y="2922"/>
                <a:ext cx="6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76" name="Rectangle 39">
                <a:extLst>
                  <a:ext uri="{FF2B5EF4-FFF2-40B4-BE49-F238E27FC236}">
                    <a16:creationId xmlns:a16="http://schemas.microsoft.com/office/drawing/2014/main" id="{428B24C9-41D3-3922-6320-103F355E247B}"/>
                  </a:ext>
                </a:extLst>
              </p:cNvPr>
              <p:cNvSpPr>
                <a:spLocks noChangeArrowheads="1"/>
              </p:cNvSpPr>
              <p:nvPr/>
            </p:nvSpPr>
            <p:spPr bwMode="auto">
              <a:xfrm>
                <a:off x="4345" y="2897"/>
                <a:ext cx="4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ABC</a:t>
                </a:r>
                <a:endParaRPr lang="en-US" altLang="en-US" sz="900" b="0">
                  <a:solidFill>
                    <a:srgbClr val="FF0000"/>
                  </a:solidFill>
                  <a:latin typeface="+mn-lt"/>
                </a:endParaRPr>
              </a:p>
            </p:txBody>
          </p:sp>
          <p:sp>
            <p:nvSpPr>
              <p:cNvPr id="277" name="Rectangle 40">
                <a:extLst>
                  <a:ext uri="{FF2B5EF4-FFF2-40B4-BE49-F238E27FC236}">
                    <a16:creationId xmlns:a16="http://schemas.microsoft.com/office/drawing/2014/main" id="{B59AF1FF-FBEC-59AB-C2E9-A65608A80F6A}"/>
                  </a:ext>
                </a:extLst>
              </p:cNvPr>
              <p:cNvSpPr>
                <a:spLocks noChangeArrowheads="1"/>
              </p:cNvSpPr>
              <p:nvPr/>
            </p:nvSpPr>
            <p:spPr bwMode="auto">
              <a:xfrm>
                <a:off x="4342" y="2922"/>
                <a:ext cx="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78" name="Rectangle 41">
                <a:extLst>
                  <a:ext uri="{FF2B5EF4-FFF2-40B4-BE49-F238E27FC236}">
                    <a16:creationId xmlns:a16="http://schemas.microsoft.com/office/drawing/2014/main" id="{822967A6-A49B-ADD4-7CB6-0AD292E4BC02}"/>
                  </a:ext>
                </a:extLst>
              </p:cNvPr>
              <p:cNvSpPr>
                <a:spLocks noChangeArrowheads="1"/>
              </p:cNvSpPr>
              <p:nvPr/>
            </p:nvSpPr>
            <p:spPr bwMode="auto">
              <a:xfrm>
                <a:off x="4404" y="2897"/>
                <a:ext cx="9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Std Cost</a:t>
                </a:r>
                <a:endParaRPr lang="en-US" altLang="en-US" sz="900" b="0">
                  <a:solidFill>
                    <a:srgbClr val="FF0000"/>
                  </a:solidFill>
                  <a:latin typeface="+mn-lt"/>
                </a:endParaRPr>
              </a:p>
            </p:txBody>
          </p:sp>
          <p:sp>
            <p:nvSpPr>
              <p:cNvPr id="279" name="Rectangle 42">
                <a:extLst>
                  <a:ext uri="{FF2B5EF4-FFF2-40B4-BE49-F238E27FC236}">
                    <a16:creationId xmlns:a16="http://schemas.microsoft.com/office/drawing/2014/main" id="{20187C2D-743E-367D-A4E8-3CF660FE0AEE}"/>
                  </a:ext>
                </a:extLst>
              </p:cNvPr>
              <p:cNvSpPr>
                <a:spLocks noChangeArrowheads="1"/>
              </p:cNvSpPr>
              <p:nvPr/>
            </p:nvSpPr>
            <p:spPr bwMode="auto">
              <a:xfrm>
                <a:off x="4404" y="2922"/>
                <a:ext cx="80"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80" name="Rectangle 43">
                <a:extLst>
                  <a:ext uri="{FF2B5EF4-FFF2-40B4-BE49-F238E27FC236}">
                    <a16:creationId xmlns:a16="http://schemas.microsoft.com/office/drawing/2014/main" id="{D70C109B-474E-9952-982B-D8DBCFCFC292}"/>
                  </a:ext>
                </a:extLst>
              </p:cNvPr>
              <p:cNvSpPr>
                <a:spLocks noChangeArrowheads="1"/>
              </p:cNvSpPr>
              <p:nvPr/>
            </p:nvSpPr>
            <p:spPr bwMode="auto">
              <a:xfrm>
                <a:off x="4512" y="2833"/>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Daily </a:t>
                </a:r>
                <a:endParaRPr lang="en-US" altLang="en-US" sz="900" b="0">
                  <a:solidFill>
                    <a:srgbClr val="FF0000"/>
                  </a:solidFill>
                  <a:latin typeface="+mn-lt"/>
                </a:endParaRPr>
              </a:p>
            </p:txBody>
          </p:sp>
          <p:sp>
            <p:nvSpPr>
              <p:cNvPr id="281" name="Rectangle 44">
                <a:extLst>
                  <a:ext uri="{FF2B5EF4-FFF2-40B4-BE49-F238E27FC236}">
                    <a16:creationId xmlns:a16="http://schemas.microsoft.com/office/drawing/2014/main" id="{65EC661A-926B-616A-4881-1977973FDC9F}"/>
                  </a:ext>
                </a:extLst>
              </p:cNvPr>
              <p:cNvSpPr>
                <a:spLocks noChangeArrowheads="1"/>
              </p:cNvSpPr>
              <p:nvPr/>
            </p:nvSpPr>
            <p:spPr bwMode="auto">
              <a:xfrm>
                <a:off x="4512" y="2858"/>
                <a:ext cx="5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82" name="Rectangle 45">
                <a:extLst>
                  <a:ext uri="{FF2B5EF4-FFF2-40B4-BE49-F238E27FC236}">
                    <a16:creationId xmlns:a16="http://schemas.microsoft.com/office/drawing/2014/main" id="{FFE6503E-A74F-38F0-E156-0FD3A9E194DC}"/>
                  </a:ext>
                </a:extLst>
              </p:cNvPr>
              <p:cNvSpPr>
                <a:spLocks noChangeArrowheads="1"/>
              </p:cNvSpPr>
              <p:nvPr/>
            </p:nvSpPr>
            <p:spPr bwMode="auto">
              <a:xfrm>
                <a:off x="4520" y="2864"/>
                <a:ext cx="4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Ave </a:t>
                </a:r>
                <a:endParaRPr lang="en-US" altLang="en-US" sz="900" b="0">
                  <a:solidFill>
                    <a:srgbClr val="FF0000"/>
                  </a:solidFill>
                  <a:latin typeface="+mn-lt"/>
                </a:endParaRPr>
              </a:p>
            </p:txBody>
          </p:sp>
          <p:sp>
            <p:nvSpPr>
              <p:cNvPr id="283" name="Rectangle 46">
                <a:extLst>
                  <a:ext uri="{FF2B5EF4-FFF2-40B4-BE49-F238E27FC236}">
                    <a16:creationId xmlns:a16="http://schemas.microsoft.com/office/drawing/2014/main" id="{9F24C8D7-466F-70D1-757F-B6BCC5B841A1}"/>
                  </a:ext>
                </a:extLst>
              </p:cNvPr>
              <p:cNvSpPr>
                <a:spLocks noChangeArrowheads="1"/>
              </p:cNvSpPr>
              <p:nvPr/>
            </p:nvSpPr>
            <p:spPr bwMode="auto">
              <a:xfrm>
                <a:off x="4518" y="2890"/>
                <a:ext cx="40"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84" name="Rectangle 47">
                <a:extLst>
                  <a:ext uri="{FF2B5EF4-FFF2-40B4-BE49-F238E27FC236}">
                    <a16:creationId xmlns:a16="http://schemas.microsoft.com/office/drawing/2014/main" id="{93F585C9-C947-B668-57A4-490FBBF41B70}"/>
                  </a:ext>
                </a:extLst>
              </p:cNvPr>
              <p:cNvSpPr>
                <a:spLocks noChangeArrowheads="1"/>
              </p:cNvSpPr>
              <p:nvPr/>
            </p:nvSpPr>
            <p:spPr bwMode="auto">
              <a:xfrm>
                <a:off x="4508" y="2897"/>
                <a:ext cx="6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Usage</a:t>
                </a:r>
                <a:endParaRPr lang="en-US" altLang="en-US" sz="900" b="0">
                  <a:solidFill>
                    <a:srgbClr val="FF0000"/>
                  </a:solidFill>
                  <a:latin typeface="+mn-lt"/>
                </a:endParaRPr>
              </a:p>
            </p:txBody>
          </p:sp>
          <p:sp>
            <p:nvSpPr>
              <p:cNvPr id="285" name="Rectangle 48">
                <a:extLst>
                  <a:ext uri="{FF2B5EF4-FFF2-40B4-BE49-F238E27FC236}">
                    <a16:creationId xmlns:a16="http://schemas.microsoft.com/office/drawing/2014/main" id="{1A5D9642-6C97-B36F-0BC7-BD55E6B034C0}"/>
                  </a:ext>
                </a:extLst>
              </p:cNvPr>
              <p:cNvSpPr>
                <a:spLocks noChangeArrowheads="1"/>
              </p:cNvSpPr>
              <p:nvPr/>
            </p:nvSpPr>
            <p:spPr bwMode="auto">
              <a:xfrm>
                <a:off x="4506" y="2922"/>
                <a:ext cx="58"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86" name="Rectangle 49">
                <a:extLst>
                  <a:ext uri="{FF2B5EF4-FFF2-40B4-BE49-F238E27FC236}">
                    <a16:creationId xmlns:a16="http://schemas.microsoft.com/office/drawing/2014/main" id="{3809E8B1-5ED2-94FC-36DB-218296D914AD}"/>
                  </a:ext>
                </a:extLst>
              </p:cNvPr>
              <p:cNvSpPr>
                <a:spLocks noChangeArrowheads="1"/>
              </p:cNvSpPr>
              <p:nvPr/>
            </p:nvSpPr>
            <p:spPr bwMode="auto">
              <a:xfrm>
                <a:off x="4597" y="2864"/>
                <a:ext cx="3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On </a:t>
                </a:r>
                <a:endParaRPr lang="en-US" altLang="en-US" sz="900" b="0">
                  <a:solidFill>
                    <a:srgbClr val="FF0000"/>
                  </a:solidFill>
                  <a:latin typeface="+mn-lt"/>
                </a:endParaRPr>
              </a:p>
            </p:txBody>
          </p:sp>
          <p:sp>
            <p:nvSpPr>
              <p:cNvPr id="287" name="Rectangle 50">
                <a:extLst>
                  <a:ext uri="{FF2B5EF4-FFF2-40B4-BE49-F238E27FC236}">
                    <a16:creationId xmlns:a16="http://schemas.microsoft.com/office/drawing/2014/main" id="{F03841B6-DA42-7406-3E6F-3CE31EEA5941}"/>
                  </a:ext>
                </a:extLst>
              </p:cNvPr>
              <p:cNvSpPr>
                <a:spLocks noChangeArrowheads="1"/>
              </p:cNvSpPr>
              <p:nvPr/>
            </p:nvSpPr>
            <p:spPr bwMode="auto">
              <a:xfrm>
                <a:off x="4594" y="2890"/>
                <a:ext cx="3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88" name="Rectangle 51">
                <a:extLst>
                  <a:ext uri="{FF2B5EF4-FFF2-40B4-BE49-F238E27FC236}">
                    <a16:creationId xmlns:a16="http://schemas.microsoft.com/office/drawing/2014/main" id="{970A4635-E556-D4DE-AE5B-61BAF8A50F11}"/>
                  </a:ext>
                </a:extLst>
              </p:cNvPr>
              <p:cNvSpPr>
                <a:spLocks noChangeArrowheads="1"/>
              </p:cNvSpPr>
              <p:nvPr/>
            </p:nvSpPr>
            <p:spPr bwMode="auto">
              <a:xfrm>
                <a:off x="4584" y="2897"/>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Hand</a:t>
                </a:r>
                <a:endParaRPr lang="en-US" altLang="en-US" sz="900" b="0">
                  <a:solidFill>
                    <a:srgbClr val="FF0000"/>
                  </a:solidFill>
                  <a:latin typeface="+mn-lt"/>
                </a:endParaRPr>
              </a:p>
            </p:txBody>
          </p:sp>
          <p:sp>
            <p:nvSpPr>
              <p:cNvPr id="289" name="Rectangle 52">
                <a:extLst>
                  <a:ext uri="{FF2B5EF4-FFF2-40B4-BE49-F238E27FC236}">
                    <a16:creationId xmlns:a16="http://schemas.microsoft.com/office/drawing/2014/main" id="{9282DBC2-AC39-3137-EB76-2A830E7E294C}"/>
                  </a:ext>
                </a:extLst>
              </p:cNvPr>
              <p:cNvSpPr>
                <a:spLocks noChangeArrowheads="1"/>
              </p:cNvSpPr>
              <p:nvPr/>
            </p:nvSpPr>
            <p:spPr bwMode="auto">
              <a:xfrm>
                <a:off x="4583" y="2922"/>
                <a:ext cx="4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0" name="Rectangle 53">
                <a:extLst>
                  <a:ext uri="{FF2B5EF4-FFF2-40B4-BE49-F238E27FC236}">
                    <a16:creationId xmlns:a16="http://schemas.microsoft.com/office/drawing/2014/main" id="{F1695C53-EA60-E500-EEA4-CC0F456B82AA}"/>
                  </a:ext>
                </a:extLst>
              </p:cNvPr>
              <p:cNvSpPr>
                <a:spLocks noChangeArrowheads="1"/>
              </p:cNvSpPr>
              <p:nvPr/>
            </p:nvSpPr>
            <p:spPr bwMode="auto">
              <a:xfrm>
                <a:off x="4677" y="2864"/>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Days </a:t>
                </a:r>
                <a:endParaRPr lang="en-US" altLang="en-US" sz="900" b="0">
                  <a:solidFill>
                    <a:srgbClr val="FF0000"/>
                  </a:solidFill>
                  <a:latin typeface="+mn-lt"/>
                </a:endParaRPr>
              </a:p>
            </p:txBody>
          </p:sp>
          <p:sp>
            <p:nvSpPr>
              <p:cNvPr id="291" name="Rectangle 54">
                <a:extLst>
                  <a:ext uri="{FF2B5EF4-FFF2-40B4-BE49-F238E27FC236}">
                    <a16:creationId xmlns:a16="http://schemas.microsoft.com/office/drawing/2014/main" id="{C1077E9E-47CF-46F9-A046-21E2EDCD3AF1}"/>
                  </a:ext>
                </a:extLst>
              </p:cNvPr>
              <p:cNvSpPr>
                <a:spLocks noChangeArrowheads="1"/>
              </p:cNvSpPr>
              <p:nvPr/>
            </p:nvSpPr>
            <p:spPr bwMode="auto">
              <a:xfrm>
                <a:off x="4674" y="2890"/>
                <a:ext cx="51"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2" name="Rectangle 55">
                <a:extLst>
                  <a:ext uri="{FF2B5EF4-FFF2-40B4-BE49-F238E27FC236}">
                    <a16:creationId xmlns:a16="http://schemas.microsoft.com/office/drawing/2014/main" id="{09838AD2-28BF-4A41-7413-86CA7B0F5D71}"/>
                  </a:ext>
                </a:extLst>
              </p:cNvPr>
              <p:cNvSpPr>
                <a:spLocks noChangeArrowheads="1"/>
              </p:cNvSpPr>
              <p:nvPr/>
            </p:nvSpPr>
            <p:spPr bwMode="auto">
              <a:xfrm>
                <a:off x="4652" y="2897"/>
                <a:ext cx="100"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Inventory</a:t>
                </a:r>
                <a:endParaRPr lang="en-US" altLang="en-US" sz="900" b="0">
                  <a:solidFill>
                    <a:srgbClr val="FF0000"/>
                  </a:solidFill>
                  <a:latin typeface="+mn-lt"/>
                </a:endParaRPr>
              </a:p>
            </p:txBody>
          </p:sp>
          <p:sp>
            <p:nvSpPr>
              <p:cNvPr id="293" name="Rectangle 56">
                <a:extLst>
                  <a:ext uri="{FF2B5EF4-FFF2-40B4-BE49-F238E27FC236}">
                    <a16:creationId xmlns:a16="http://schemas.microsoft.com/office/drawing/2014/main" id="{83AAA9D4-A789-97A1-9121-0D2B7300D18C}"/>
                  </a:ext>
                </a:extLst>
              </p:cNvPr>
              <p:cNvSpPr>
                <a:spLocks noChangeArrowheads="1"/>
              </p:cNvSpPr>
              <p:nvPr/>
            </p:nvSpPr>
            <p:spPr bwMode="auto">
              <a:xfrm>
                <a:off x="4653" y="2922"/>
                <a:ext cx="88"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4" name="Rectangle 57">
                <a:extLst>
                  <a:ext uri="{FF2B5EF4-FFF2-40B4-BE49-F238E27FC236}">
                    <a16:creationId xmlns:a16="http://schemas.microsoft.com/office/drawing/2014/main" id="{435236D1-B7C6-6731-B620-47D00AA58FAD}"/>
                  </a:ext>
                </a:extLst>
              </p:cNvPr>
              <p:cNvSpPr>
                <a:spLocks noChangeArrowheads="1"/>
              </p:cNvSpPr>
              <p:nvPr/>
            </p:nvSpPr>
            <p:spPr bwMode="auto">
              <a:xfrm>
                <a:off x="4766" y="2897"/>
                <a:ext cx="4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A-03</a:t>
                </a:r>
                <a:endParaRPr lang="en-US" altLang="en-US" sz="900" b="0">
                  <a:solidFill>
                    <a:srgbClr val="FF0000"/>
                  </a:solidFill>
                  <a:latin typeface="+mn-lt"/>
                </a:endParaRPr>
              </a:p>
            </p:txBody>
          </p:sp>
          <p:sp>
            <p:nvSpPr>
              <p:cNvPr id="295" name="Rectangle 58">
                <a:extLst>
                  <a:ext uri="{FF2B5EF4-FFF2-40B4-BE49-F238E27FC236}">
                    <a16:creationId xmlns:a16="http://schemas.microsoft.com/office/drawing/2014/main" id="{ADE209E8-ED25-145A-6C62-7C4D6C477A0C}"/>
                  </a:ext>
                </a:extLst>
              </p:cNvPr>
              <p:cNvSpPr>
                <a:spLocks noChangeArrowheads="1"/>
              </p:cNvSpPr>
              <p:nvPr/>
            </p:nvSpPr>
            <p:spPr bwMode="auto">
              <a:xfrm>
                <a:off x="4763" y="2922"/>
                <a:ext cx="4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6" name="Rectangle 59">
                <a:extLst>
                  <a:ext uri="{FF2B5EF4-FFF2-40B4-BE49-F238E27FC236}">
                    <a16:creationId xmlns:a16="http://schemas.microsoft.com/office/drawing/2014/main" id="{E11742DD-BE33-B2D2-4404-D7BE29FA5F27}"/>
                  </a:ext>
                </a:extLst>
              </p:cNvPr>
              <p:cNvSpPr>
                <a:spLocks noChangeArrowheads="1"/>
              </p:cNvSpPr>
              <p:nvPr/>
            </p:nvSpPr>
            <p:spPr bwMode="auto">
              <a:xfrm>
                <a:off x="4822" y="2897"/>
                <a:ext cx="54"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M-03</a:t>
                </a:r>
                <a:endParaRPr lang="en-US" altLang="en-US" sz="900" b="0">
                  <a:solidFill>
                    <a:srgbClr val="FF0000"/>
                  </a:solidFill>
                  <a:latin typeface="+mn-lt"/>
                </a:endParaRPr>
              </a:p>
            </p:txBody>
          </p:sp>
          <p:sp>
            <p:nvSpPr>
              <p:cNvPr id="297" name="Rectangle 60">
                <a:extLst>
                  <a:ext uri="{FF2B5EF4-FFF2-40B4-BE49-F238E27FC236}">
                    <a16:creationId xmlns:a16="http://schemas.microsoft.com/office/drawing/2014/main" id="{5B917237-86F4-E0A1-6642-EABAEA21578E}"/>
                  </a:ext>
                </a:extLst>
              </p:cNvPr>
              <p:cNvSpPr>
                <a:spLocks noChangeArrowheads="1"/>
              </p:cNvSpPr>
              <p:nvPr/>
            </p:nvSpPr>
            <p:spPr bwMode="auto">
              <a:xfrm>
                <a:off x="4822" y="2922"/>
                <a:ext cx="45"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8" name="Rectangle 61">
                <a:extLst>
                  <a:ext uri="{FF2B5EF4-FFF2-40B4-BE49-F238E27FC236}">
                    <a16:creationId xmlns:a16="http://schemas.microsoft.com/office/drawing/2014/main" id="{774C7C97-0201-09FB-C2F6-3AE611595F12}"/>
                  </a:ext>
                </a:extLst>
              </p:cNvPr>
              <p:cNvSpPr>
                <a:spLocks noChangeArrowheads="1"/>
              </p:cNvSpPr>
              <p:nvPr/>
            </p:nvSpPr>
            <p:spPr bwMode="auto">
              <a:xfrm>
                <a:off x="4886" y="2897"/>
                <a:ext cx="4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J-03</a:t>
                </a:r>
                <a:endParaRPr lang="en-US" altLang="en-US" sz="900" b="0">
                  <a:solidFill>
                    <a:srgbClr val="FF0000"/>
                  </a:solidFill>
                  <a:latin typeface="+mn-lt"/>
                </a:endParaRPr>
              </a:p>
            </p:txBody>
          </p:sp>
          <p:sp>
            <p:nvSpPr>
              <p:cNvPr id="299" name="Rectangle 62">
                <a:extLst>
                  <a:ext uri="{FF2B5EF4-FFF2-40B4-BE49-F238E27FC236}">
                    <a16:creationId xmlns:a16="http://schemas.microsoft.com/office/drawing/2014/main" id="{9769D6FB-7B82-766F-DC24-B04E39886D47}"/>
                  </a:ext>
                </a:extLst>
              </p:cNvPr>
              <p:cNvSpPr>
                <a:spLocks noChangeArrowheads="1"/>
              </p:cNvSpPr>
              <p:nvPr/>
            </p:nvSpPr>
            <p:spPr bwMode="auto">
              <a:xfrm>
                <a:off x="4884" y="2922"/>
                <a:ext cx="3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00" name="Rectangle 63">
                <a:extLst>
                  <a:ext uri="{FF2B5EF4-FFF2-40B4-BE49-F238E27FC236}">
                    <a16:creationId xmlns:a16="http://schemas.microsoft.com/office/drawing/2014/main" id="{157588EB-E574-214A-847D-8910E37C9B8D}"/>
                  </a:ext>
                </a:extLst>
              </p:cNvPr>
              <p:cNvSpPr>
                <a:spLocks noChangeArrowheads="1"/>
              </p:cNvSpPr>
              <p:nvPr/>
            </p:nvSpPr>
            <p:spPr bwMode="auto">
              <a:xfrm>
                <a:off x="4942" y="2897"/>
                <a:ext cx="4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a:solidFill>
                      <a:srgbClr val="000000"/>
                    </a:solidFill>
                    <a:latin typeface="+mn-lt"/>
                  </a:rPr>
                  <a:t>J-03</a:t>
                </a:r>
                <a:endParaRPr lang="en-US" altLang="en-US" sz="900" b="0">
                  <a:solidFill>
                    <a:srgbClr val="FF0000"/>
                  </a:solidFill>
                  <a:latin typeface="+mn-lt"/>
                </a:endParaRPr>
              </a:p>
            </p:txBody>
          </p:sp>
          <p:sp>
            <p:nvSpPr>
              <p:cNvPr id="301" name="Rectangle 64">
                <a:extLst>
                  <a:ext uri="{FF2B5EF4-FFF2-40B4-BE49-F238E27FC236}">
                    <a16:creationId xmlns:a16="http://schemas.microsoft.com/office/drawing/2014/main" id="{99687E4C-B069-25CD-E1A3-20168B718935}"/>
                  </a:ext>
                </a:extLst>
              </p:cNvPr>
              <p:cNvSpPr>
                <a:spLocks noChangeArrowheads="1"/>
              </p:cNvSpPr>
              <p:nvPr/>
            </p:nvSpPr>
            <p:spPr bwMode="auto">
              <a:xfrm>
                <a:off x="4940" y="2922"/>
                <a:ext cx="3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02" name="Rectangle 65">
                <a:extLst>
                  <a:ext uri="{FF2B5EF4-FFF2-40B4-BE49-F238E27FC236}">
                    <a16:creationId xmlns:a16="http://schemas.microsoft.com/office/drawing/2014/main" id="{D4F2F2EE-868F-0E3A-9A2B-5E8FB8D870B8}"/>
                  </a:ext>
                </a:extLst>
              </p:cNvPr>
              <p:cNvSpPr>
                <a:spLocks noChangeArrowheads="1"/>
              </p:cNvSpPr>
              <p:nvPr/>
            </p:nvSpPr>
            <p:spPr bwMode="auto">
              <a:xfrm>
                <a:off x="3712" y="2926"/>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03" name="Rectangle 66">
                <a:extLst>
                  <a:ext uri="{FF2B5EF4-FFF2-40B4-BE49-F238E27FC236}">
                    <a16:creationId xmlns:a16="http://schemas.microsoft.com/office/drawing/2014/main" id="{4C26C979-E9B7-ACC4-F304-E02E075C5334}"/>
                  </a:ext>
                </a:extLst>
              </p:cNvPr>
              <p:cNvSpPr>
                <a:spLocks noChangeArrowheads="1"/>
              </p:cNvSpPr>
              <p:nvPr/>
            </p:nvSpPr>
            <p:spPr bwMode="auto">
              <a:xfrm>
                <a:off x="3758" y="2926"/>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3,787</a:t>
                </a:r>
                <a:endParaRPr lang="en-US" altLang="en-US" sz="900" b="0">
                  <a:solidFill>
                    <a:srgbClr val="FF0000"/>
                  </a:solidFill>
                  <a:latin typeface="+mn-lt"/>
                </a:endParaRPr>
              </a:p>
            </p:txBody>
          </p:sp>
          <p:sp>
            <p:nvSpPr>
              <p:cNvPr id="304" name="Rectangle 67">
                <a:extLst>
                  <a:ext uri="{FF2B5EF4-FFF2-40B4-BE49-F238E27FC236}">
                    <a16:creationId xmlns:a16="http://schemas.microsoft.com/office/drawing/2014/main" id="{8E2C66AC-97F7-6FBE-73DB-D558890C5FC4}"/>
                  </a:ext>
                </a:extLst>
              </p:cNvPr>
              <p:cNvSpPr>
                <a:spLocks noChangeArrowheads="1"/>
              </p:cNvSpPr>
              <p:nvPr/>
            </p:nvSpPr>
            <p:spPr bwMode="auto">
              <a:xfrm>
                <a:off x="3837" y="2926"/>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824</a:t>
                </a:r>
                <a:endParaRPr lang="en-US" altLang="en-US" sz="900" b="0">
                  <a:solidFill>
                    <a:srgbClr val="FF0000"/>
                  </a:solidFill>
                  <a:latin typeface="+mn-lt"/>
                </a:endParaRPr>
              </a:p>
            </p:txBody>
          </p:sp>
          <p:sp>
            <p:nvSpPr>
              <p:cNvPr id="305" name="Rectangle 68">
                <a:extLst>
                  <a:ext uri="{FF2B5EF4-FFF2-40B4-BE49-F238E27FC236}">
                    <a16:creationId xmlns:a16="http://schemas.microsoft.com/office/drawing/2014/main" id="{DF41E02B-AFF7-9ECA-1F80-D37CDA80D8AC}"/>
                  </a:ext>
                </a:extLst>
              </p:cNvPr>
              <p:cNvSpPr>
                <a:spLocks noChangeArrowheads="1"/>
              </p:cNvSpPr>
              <p:nvPr/>
            </p:nvSpPr>
            <p:spPr bwMode="auto">
              <a:xfrm>
                <a:off x="3926" y="2926"/>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4,611</a:t>
                </a:r>
                <a:endParaRPr lang="en-US" altLang="en-US" sz="900" b="0">
                  <a:solidFill>
                    <a:srgbClr val="FF0000"/>
                  </a:solidFill>
                  <a:latin typeface="+mn-lt"/>
                </a:endParaRPr>
              </a:p>
            </p:txBody>
          </p:sp>
          <p:sp>
            <p:nvSpPr>
              <p:cNvPr id="306" name="Rectangle 69">
                <a:extLst>
                  <a:ext uri="{FF2B5EF4-FFF2-40B4-BE49-F238E27FC236}">
                    <a16:creationId xmlns:a16="http://schemas.microsoft.com/office/drawing/2014/main" id="{83E0F1E7-BBAA-2EB2-FC31-E8CF64D5AD25}"/>
                  </a:ext>
                </a:extLst>
              </p:cNvPr>
              <p:cNvSpPr>
                <a:spLocks noChangeArrowheads="1"/>
              </p:cNvSpPr>
              <p:nvPr/>
            </p:nvSpPr>
            <p:spPr bwMode="auto">
              <a:xfrm>
                <a:off x="4019" y="2926"/>
                <a:ext cx="4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C-04</a:t>
                </a:r>
                <a:endParaRPr lang="en-US" altLang="en-US" sz="900" b="0">
                  <a:solidFill>
                    <a:srgbClr val="FF0000"/>
                  </a:solidFill>
                  <a:latin typeface="+mn-lt"/>
                </a:endParaRPr>
              </a:p>
            </p:txBody>
          </p:sp>
          <p:sp>
            <p:nvSpPr>
              <p:cNvPr id="307" name="Rectangle 70">
                <a:extLst>
                  <a:ext uri="{FF2B5EF4-FFF2-40B4-BE49-F238E27FC236}">
                    <a16:creationId xmlns:a16="http://schemas.microsoft.com/office/drawing/2014/main" id="{692F5415-C6C6-42EC-CB16-3F627F0A367F}"/>
                  </a:ext>
                </a:extLst>
              </p:cNvPr>
              <p:cNvSpPr>
                <a:spLocks noChangeArrowheads="1"/>
              </p:cNvSpPr>
              <p:nvPr/>
            </p:nvSpPr>
            <p:spPr bwMode="auto">
              <a:xfrm>
                <a:off x="4166" y="2926"/>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3,743</a:t>
                </a:r>
                <a:endParaRPr lang="en-US" altLang="en-US" sz="900" b="0">
                  <a:solidFill>
                    <a:srgbClr val="FF0000"/>
                  </a:solidFill>
                  <a:latin typeface="+mn-lt"/>
                </a:endParaRPr>
              </a:p>
            </p:txBody>
          </p:sp>
          <p:sp>
            <p:nvSpPr>
              <p:cNvPr id="308" name="Rectangle 71">
                <a:extLst>
                  <a:ext uri="{FF2B5EF4-FFF2-40B4-BE49-F238E27FC236}">
                    <a16:creationId xmlns:a16="http://schemas.microsoft.com/office/drawing/2014/main" id="{FEE39D5D-EB65-88D2-A279-F033AFB45992}"/>
                  </a:ext>
                </a:extLst>
              </p:cNvPr>
              <p:cNvSpPr>
                <a:spLocks noChangeArrowheads="1"/>
              </p:cNvSpPr>
              <p:nvPr/>
            </p:nvSpPr>
            <p:spPr bwMode="auto">
              <a:xfrm>
                <a:off x="4244" y="2926"/>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09" name="Rectangle 72">
                <a:extLst>
                  <a:ext uri="{FF2B5EF4-FFF2-40B4-BE49-F238E27FC236}">
                    <a16:creationId xmlns:a16="http://schemas.microsoft.com/office/drawing/2014/main" id="{6BA787C6-FD14-8917-2CEC-6CEE6B00EB25}"/>
                  </a:ext>
                </a:extLst>
              </p:cNvPr>
              <p:cNvSpPr>
                <a:spLocks noChangeArrowheads="1"/>
              </p:cNvSpPr>
              <p:nvPr/>
            </p:nvSpPr>
            <p:spPr bwMode="auto">
              <a:xfrm>
                <a:off x="4341" y="2926"/>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10" name="Rectangle 73">
                <a:extLst>
                  <a:ext uri="{FF2B5EF4-FFF2-40B4-BE49-F238E27FC236}">
                    <a16:creationId xmlns:a16="http://schemas.microsoft.com/office/drawing/2014/main" id="{8E874EEB-CF1A-BA47-1F2D-BF7274CB0288}"/>
                  </a:ext>
                </a:extLst>
              </p:cNvPr>
              <p:cNvSpPr>
                <a:spLocks noChangeArrowheads="1"/>
              </p:cNvSpPr>
              <p:nvPr/>
            </p:nvSpPr>
            <p:spPr bwMode="auto">
              <a:xfrm>
                <a:off x="4395" y="2926"/>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$1.48</a:t>
                </a:r>
                <a:endParaRPr lang="en-US" altLang="en-US" sz="900" b="0">
                  <a:solidFill>
                    <a:srgbClr val="FF0000"/>
                  </a:solidFill>
                  <a:latin typeface="+mn-lt"/>
                </a:endParaRPr>
              </a:p>
            </p:txBody>
          </p:sp>
          <p:sp>
            <p:nvSpPr>
              <p:cNvPr id="311" name="Rectangle 74">
                <a:extLst>
                  <a:ext uri="{FF2B5EF4-FFF2-40B4-BE49-F238E27FC236}">
                    <a16:creationId xmlns:a16="http://schemas.microsoft.com/office/drawing/2014/main" id="{6FAE414F-7DE4-D3E1-43C1-386D13613982}"/>
                  </a:ext>
                </a:extLst>
              </p:cNvPr>
              <p:cNvSpPr>
                <a:spLocks noChangeArrowheads="1"/>
              </p:cNvSpPr>
              <p:nvPr/>
            </p:nvSpPr>
            <p:spPr bwMode="auto">
              <a:xfrm>
                <a:off x="4502" y="2926"/>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a:t>
                </a:r>
                <a:endParaRPr lang="en-US" altLang="en-US" sz="900" b="0">
                  <a:solidFill>
                    <a:srgbClr val="FF0000"/>
                  </a:solidFill>
                  <a:latin typeface="+mn-lt"/>
                </a:endParaRPr>
              </a:p>
            </p:txBody>
          </p:sp>
          <p:sp>
            <p:nvSpPr>
              <p:cNvPr id="312" name="Rectangle 75">
                <a:extLst>
                  <a:ext uri="{FF2B5EF4-FFF2-40B4-BE49-F238E27FC236}">
                    <a16:creationId xmlns:a16="http://schemas.microsoft.com/office/drawing/2014/main" id="{C4C50151-2995-9B0C-E0C5-61F2E4A6FC52}"/>
                  </a:ext>
                </a:extLst>
              </p:cNvPr>
              <p:cNvSpPr>
                <a:spLocks noChangeArrowheads="1"/>
              </p:cNvSpPr>
              <p:nvPr/>
            </p:nvSpPr>
            <p:spPr bwMode="auto">
              <a:xfrm>
                <a:off x="4579" y="2926"/>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206</a:t>
                </a:r>
                <a:endParaRPr lang="en-US" altLang="en-US" sz="900" b="0">
                  <a:solidFill>
                    <a:srgbClr val="FF0000"/>
                  </a:solidFill>
                  <a:latin typeface="+mn-lt"/>
                </a:endParaRPr>
              </a:p>
            </p:txBody>
          </p:sp>
          <p:sp>
            <p:nvSpPr>
              <p:cNvPr id="313" name="Rectangle 76">
                <a:extLst>
                  <a:ext uri="{FF2B5EF4-FFF2-40B4-BE49-F238E27FC236}">
                    <a16:creationId xmlns:a16="http://schemas.microsoft.com/office/drawing/2014/main" id="{A7656744-3978-B80D-CFC0-7666E0D24DAB}"/>
                  </a:ext>
                </a:extLst>
              </p:cNvPr>
              <p:cNvSpPr>
                <a:spLocks noChangeArrowheads="1"/>
              </p:cNvSpPr>
              <p:nvPr/>
            </p:nvSpPr>
            <p:spPr bwMode="auto">
              <a:xfrm>
                <a:off x="4645" y="2926"/>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34.33</a:t>
                </a:r>
                <a:endParaRPr lang="en-US" altLang="en-US" sz="900" b="0">
                  <a:solidFill>
                    <a:srgbClr val="FF0000"/>
                  </a:solidFill>
                  <a:latin typeface="+mn-lt"/>
                </a:endParaRPr>
              </a:p>
            </p:txBody>
          </p:sp>
          <p:sp>
            <p:nvSpPr>
              <p:cNvPr id="314" name="Rectangle 77">
                <a:extLst>
                  <a:ext uri="{FF2B5EF4-FFF2-40B4-BE49-F238E27FC236}">
                    <a16:creationId xmlns:a16="http://schemas.microsoft.com/office/drawing/2014/main" id="{A294A52F-1CEE-D90C-B09E-7E0AF231A0E4}"/>
                  </a:ext>
                </a:extLst>
              </p:cNvPr>
              <p:cNvSpPr>
                <a:spLocks noChangeArrowheads="1"/>
              </p:cNvSpPr>
              <p:nvPr/>
            </p:nvSpPr>
            <p:spPr bwMode="auto">
              <a:xfrm>
                <a:off x="3712" y="2955"/>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15" name="Rectangle 78">
                <a:extLst>
                  <a:ext uri="{FF2B5EF4-FFF2-40B4-BE49-F238E27FC236}">
                    <a16:creationId xmlns:a16="http://schemas.microsoft.com/office/drawing/2014/main" id="{EA900A02-6B8D-5DBA-2028-4E8CDAC10EF0}"/>
                  </a:ext>
                </a:extLst>
              </p:cNvPr>
              <p:cNvSpPr>
                <a:spLocks noChangeArrowheads="1"/>
              </p:cNvSpPr>
              <p:nvPr/>
            </p:nvSpPr>
            <p:spPr bwMode="auto">
              <a:xfrm>
                <a:off x="3758" y="2955"/>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644</a:t>
                </a:r>
                <a:endParaRPr lang="en-US" altLang="en-US" sz="900" b="0">
                  <a:solidFill>
                    <a:srgbClr val="FF0000"/>
                  </a:solidFill>
                  <a:latin typeface="+mn-lt"/>
                </a:endParaRPr>
              </a:p>
            </p:txBody>
          </p:sp>
          <p:sp>
            <p:nvSpPr>
              <p:cNvPr id="316" name="Rectangle 79">
                <a:extLst>
                  <a:ext uri="{FF2B5EF4-FFF2-40B4-BE49-F238E27FC236}">
                    <a16:creationId xmlns:a16="http://schemas.microsoft.com/office/drawing/2014/main" id="{B798C0A5-7E90-9DBE-E425-107A7E9F1C54}"/>
                  </a:ext>
                </a:extLst>
              </p:cNvPr>
              <p:cNvSpPr>
                <a:spLocks noChangeArrowheads="1"/>
              </p:cNvSpPr>
              <p:nvPr/>
            </p:nvSpPr>
            <p:spPr bwMode="auto">
              <a:xfrm>
                <a:off x="3839" y="2955"/>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a:t>
                </a:r>
                <a:endParaRPr lang="en-US" altLang="en-US" sz="900" b="0">
                  <a:solidFill>
                    <a:srgbClr val="FF0000"/>
                  </a:solidFill>
                  <a:latin typeface="+mn-lt"/>
                </a:endParaRPr>
              </a:p>
            </p:txBody>
          </p:sp>
          <p:sp>
            <p:nvSpPr>
              <p:cNvPr id="317" name="Rectangle 80">
                <a:extLst>
                  <a:ext uri="{FF2B5EF4-FFF2-40B4-BE49-F238E27FC236}">
                    <a16:creationId xmlns:a16="http://schemas.microsoft.com/office/drawing/2014/main" id="{5097D5EA-38EF-2065-DDDD-CB0606533E89}"/>
                  </a:ext>
                </a:extLst>
              </p:cNvPr>
              <p:cNvSpPr>
                <a:spLocks noChangeArrowheads="1"/>
              </p:cNvSpPr>
              <p:nvPr/>
            </p:nvSpPr>
            <p:spPr bwMode="auto">
              <a:xfrm>
                <a:off x="3926" y="2955"/>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644</a:t>
                </a:r>
                <a:endParaRPr lang="en-US" altLang="en-US" sz="900" b="0">
                  <a:solidFill>
                    <a:srgbClr val="FF0000"/>
                  </a:solidFill>
                  <a:latin typeface="+mn-lt"/>
                </a:endParaRPr>
              </a:p>
            </p:txBody>
          </p:sp>
          <p:sp>
            <p:nvSpPr>
              <p:cNvPr id="318" name="Rectangle 81">
                <a:extLst>
                  <a:ext uri="{FF2B5EF4-FFF2-40B4-BE49-F238E27FC236}">
                    <a16:creationId xmlns:a16="http://schemas.microsoft.com/office/drawing/2014/main" id="{3DB1AB51-A754-E05A-4F63-6CCAFDA42CD8}"/>
                  </a:ext>
                </a:extLst>
              </p:cNvPr>
              <p:cNvSpPr>
                <a:spLocks noChangeArrowheads="1"/>
              </p:cNvSpPr>
              <p:nvPr/>
            </p:nvSpPr>
            <p:spPr bwMode="auto">
              <a:xfrm>
                <a:off x="4015" y="2955"/>
                <a:ext cx="10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C-04-0CP</a:t>
                </a:r>
                <a:endParaRPr lang="en-US" altLang="en-US" sz="900" b="0">
                  <a:solidFill>
                    <a:srgbClr val="FF0000"/>
                  </a:solidFill>
                  <a:latin typeface="+mn-lt"/>
                </a:endParaRPr>
              </a:p>
            </p:txBody>
          </p:sp>
          <p:sp>
            <p:nvSpPr>
              <p:cNvPr id="319" name="Rectangle 82">
                <a:extLst>
                  <a:ext uri="{FF2B5EF4-FFF2-40B4-BE49-F238E27FC236}">
                    <a16:creationId xmlns:a16="http://schemas.microsoft.com/office/drawing/2014/main" id="{A2382408-DD5E-466F-6E26-1D56A7A654D2}"/>
                  </a:ext>
                </a:extLst>
              </p:cNvPr>
              <p:cNvSpPr>
                <a:spLocks noChangeArrowheads="1"/>
              </p:cNvSpPr>
              <p:nvPr/>
            </p:nvSpPr>
            <p:spPr bwMode="auto">
              <a:xfrm>
                <a:off x="4166" y="2955"/>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250</a:t>
                </a:r>
                <a:endParaRPr lang="en-US" altLang="en-US" sz="900" b="0">
                  <a:solidFill>
                    <a:srgbClr val="FF0000"/>
                  </a:solidFill>
                  <a:latin typeface="+mn-lt"/>
                </a:endParaRPr>
              </a:p>
            </p:txBody>
          </p:sp>
          <p:sp>
            <p:nvSpPr>
              <p:cNvPr id="320" name="Rectangle 83">
                <a:extLst>
                  <a:ext uri="{FF2B5EF4-FFF2-40B4-BE49-F238E27FC236}">
                    <a16:creationId xmlns:a16="http://schemas.microsoft.com/office/drawing/2014/main" id="{CD748F96-604F-F87D-8E9E-1ABE77D7F341}"/>
                  </a:ext>
                </a:extLst>
              </p:cNvPr>
              <p:cNvSpPr>
                <a:spLocks noChangeArrowheads="1"/>
              </p:cNvSpPr>
              <p:nvPr/>
            </p:nvSpPr>
            <p:spPr bwMode="auto">
              <a:xfrm>
                <a:off x="4244" y="2955"/>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21" name="Rectangle 84">
                <a:extLst>
                  <a:ext uri="{FF2B5EF4-FFF2-40B4-BE49-F238E27FC236}">
                    <a16:creationId xmlns:a16="http://schemas.microsoft.com/office/drawing/2014/main" id="{28B8DAAA-3325-6F1D-C45C-BFEB13E8ADE0}"/>
                  </a:ext>
                </a:extLst>
              </p:cNvPr>
              <p:cNvSpPr>
                <a:spLocks noChangeArrowheads="1"/>
              </p:cNvSpPr>
              <p:nvPr/>
            </p:nvSpPr>
            <p:spPr bwMode="auto">
              <a:xfrm>
                <a:off x="4341" y="2955"/>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22" name="Rectangle 85">
                <a:extLst>
                  <a:ext uri="{FF2B5EF4-FFF2-40B4-BE49-F238E27FC236}">
                    <a16:creationId xmlns:a16="http://schemas.microsoft.com/office/drawing/2014/main" id="{42F4655D-5B56-0C11-EBA0-AA901B760627}"/>
                  </a:ext>
                </a:extLst>
              </p:cNvPr>
              <p:cNvSpPr>
                <a:spLocks noChangeArrowheads="1"/>
              </p:cNvSpPr>
              <p:nvPr/>
            </p:nvSpPr>
            <p:spPr bwMode="auto">
              <a:xfrm>
                <a:off x="4395" y="2955"/>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$1.32</a:t>
                </a:r>
                <a:endParaRPr lang="en-US" altLang="en-US" sz="900" b="0">
                  <a:solidFill>
                    <a:srgbClr val="FF0000"/>
                  </a:solidFill>
                  <a:latin typeface="+mn-lt"/>
                </a:endParaRPr>
              </a:p>
            </p:txBody>
          </p:sp>
          <p:sp>
            <p:nvSpPr>
              <p:cNvPr id="323" name="Rectangle 86">
                <a:extLst>
                  <a:ext uri="{FF2B5EF4-FFF2-40B4-BE49-F238E27FC236}">
                    <a16:creationId xmlns:a16="http://schemas.microsoft.com/office/drawing/2014/main" id="{8CFE4D91-8F21-1054-5C0B-1B7678C90F05}"/>
                  </a:ext>
                </a:extLst>
              </p:cNvPr>
              <p:cNvSpPr>
                <a:spLocks noChangeArrowheads="1"/>
              </p:cNvSpPr>
              <p:nvPr/>
            </p:nvSpPr>
            <p:spPr bwMode="auto">
              <a:xfrm>
                <a:off x="4502" y="2955"/>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a:t>
                </a:r>
                <a:endParaRPr lang="en-US" altLang="en-US" sz="900" b="0">
                  <a:solidFill>
                    <a:srgbClr val="FF0000"/>
                  </a:solidFill>
                  <a:latin typeface="+mn-lt"/>
                </a:endParaRPr>
              </a:p>
            </p:txBody>
          </p:sp>
          <p:sp>
            <p:nvSpPr>
              <p:cNvPr id="324" name="Rectangle 87">
                <a:extLst>
                  <a:ext uri="{FF2B5EF4-FFF2-40B4-BE49-F238E27FC236}">
                    <a16:creationId xmlns:a16="http://schemas.microsoft.com/office/drawing/2014/main" id="{96DF7978-9272-37AB-105B-6EC2DAE935CD}"/>
                  </a:ext>
                </a:extLst>
              </p:cNvPr>
              <p:cNvSpPr>
                <a:spLocks noChangeArrowheads="1"/>
              </p:cNvSpPr>
              <p:nvPr/>
            </p:nvSpPr>
            <p:spPr bwMode="auto">
              <a:xfrm>
                <a:off x="4579" y="2955"/>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200</a:t>
                </a:r>
                <a:endParaRPr lang="en-US" altLang="en-US" sz="900" b="0">
                  <a:solidFill>
                    <a:srgbClr val="FF0000"/>
                  </a:solidFill>
                  <a:latin typeface="+mn-lt"/>
                </a:endParaRPr>
              </a:p>
            </p:txBody>
          </p:sp>
          <p:sp>
            <p:nvSpPr>
              <p:cNvPr id="325" name="Rectangle 88">
                <a:extLst>
                  <a:ext uri="{FF2B5EF4-FFF2-40B4-BE49-F238E27FC236}">
                    <a16:creationId xmlns:a16="http://schemas.microsoft.com/office/drawing/2014/main" id="{20689926-E367-A072-AF12-027C0C5E915B}"/>
                  </a:ext>
                </a:extLst>
              </p:cNvPr>
              <p:cNvSpPr>
                <a:spLocks noChangeArrowheads="1"/>
              </p:cNvSpPr>
              <p:nvPr/>
            </p:nvSpPr>
            <p:spPr bwMode="auto">
              <a:xfrm>
                <a:off x="4646" y="2955"/>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a:t>
                </a:r>
                <a:endParaRPr lang="en-US" altLang="en-US" sz="900" b="0">
                  <a:solidFill>
                    <a:srgbClr val="FF0000"/>
                  </a:solidFill>
                  <a:latin typeface="+mn-lt"/>
                </a:endParaRPr>
              </a:p>
            </p:txBody>
          </p:sp>
          <p:sp>
            <p:nvSpPr>
              <p:cNvPr id="326" name="Rectangle 89">
                <a:extLst>
                  <a:ext uri="{FF2B5EF4-FFF2-40B4-BE49-F238E27FC236}">
                    <a16:creationId xmlns:a16="http://schemas.microsoft.com/office/drawing/2014/main" id="{8CB4F884-7778-DD98-F8E9-C77EB0D06C3E}"/>
                  </a:ext>
                </a:extLst>
              </p:cNvPr>
              <p:cNvSpPr>
                <a:spLocks noChangeArrowheads="1"/>
              </p:cNvSpPr>
              <p:nvPr/>
            </p:nvSpPr>
            <p:spPr bwMode="auto">
              <a:xfrm>
                <a:off x="3712" y="2984"/>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27" name="Rectangle 90">
                <a:extLst>
                  <a:ext uri="{FF2B5EF4-FFF2-40B4-BE49-F238E27FC236}">
                    <a16:creationId xmlns:a16="http://schemas.microsoft.com/office/drawing/2014/main" id="{DC660D83-638A-719A-FE9A-52470B82038F}"/>
                  </a:ext>
                </a:extLst>
              </p:cNvPr>
              <p:cNvSpPr>
                <a:spLocks noChangeArrowheads="1"/>
              </p:cNvSpPr>
              <p:nvPr/>
            </p:nvSpPr>
            <p:spPr bwMode="auto">
              <a:xfrm>
                <a:off x="3756" y="2984"/>
                <a:ext cx="7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14,330</a:t>
                </a:r>
                <a:endParaRPr lang="en-US" altLang="en-US" sz="900" b="0">
                  <a:solidFill>
                    <a:srgbClr val="FF0000"/>
                  </a:solidFill>
                  <a:latin typeface="+mn-lt"/>
                </a:endParaRPr>
              </a:p>
            </p:txBody>
          </p:sp>
          <p:sp>
            <p:nvSpPr>
              <p:cNvPr id="328" name="Rectangle 91">
                <a:extLst>
                  <a:ext uri="{FF2B5EF4-FFF2-40B4-BE49-F238E27FC236}">
                    <a16:creationId xmlns:a16="http://schemas.microsoft.com/office/drawing/2014/main" id="{14DA9333-0488-3261-B8E8-949949617331}"/>
                  </a:ext>
                </a:extLst>
              </p:cNvPr>
              <p:cNvSpPr>
                <a:spLocks noChangeArrowheads="1"/>
              </p:cNvSpPr>
              <p:nvPr/>
            </p:nvSpPr>
            <p:spPr bwMode="auto">
              <a:xfrm>
                <a:off x="3836" y="2984"/>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5,178</a:t>
                </a:r>
                <a:endParaRPr lang="en-US" altLang="en-US" sz="900" b="0">
                  <a:solidFill>
                    <a:srgbClr val="FF0000"/>
                  </a:solidFill>
                  <a:latin typeface="+mn-lt"/>
                </a:endParaRPr>
              </a:p>
            </p:txBody>
          </p:sp>
          <p:sp>
            <p:nvSpPr>
              <p:cNvPr id="329" name="Rectangle 92">
                <a:extLst>
                  <a:ext uri="{FF2B5EF4-FFF2-40B4-BE49-F238E27FC236}">
                    <a16:creationId xmlns:a16="http://schemas.microsoft.com/office/drawing/2014/main" id="{013E6136-F87C-DC63-2AB3-640ACBEC6B3B}"/>
                  </a:ext>
                </a:extLst>
              </p:cNvPr>
              <p:cNvSpPr>
                <a:spLocks noChangeArrowheads="1"/>
              </p:cNvSpPr>
              <p:nvPr/>
            </p:nvSpPr>
            <p:spPr bwMode="auto">
              <a:xfrm>
                <a:off x="3924" y="2984"/>
                <a:ext cx="7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19,508</a:t>
                </a:r>
                <a:endParaRPr lang="en-US" altLang="en-US" sz="900" b="0">
                  <a:solidFill>
                    <a:srgbClr val="FF0000"/>
                  </a:solidFill>
                  <a:latin typeface="+mn-lt"/>
                </a:endParaRPr>
              </a:p>
            </p:txBody>
          </p:sp>
          <p:sp>
            <p:nvSpPr>
              <p:cNvPr id="330" name="Rectangle 93">
                <a:extLst>
                  <a:ext uri="{FF2B5EF4-FFF2-40B4-BE49-F238E27FC236}">
                    <a16:creationId xmlns:a16="http://schemas.microsoft.com/office/drawing/2014/main" id="{D055DFF6-D416-F25B-3CA9-263EC6A05A56}"/>
                  </a:ext>
                </a:extLst>
              </p:cNvPr>
              <p:cNvSpPr>
                <a:spLocks noChangeArrowheads="1"/>
              </p:cNvSpPr>
              <p:nvPr/>
            </p:nvSpPr>
            <p:spPr bwMode="auto">
              <a:xfrm>
                <a:off x="4019" y="2984"/>
                <a:ext cx="4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C-05</a:t>
                </a:r>
                <a:endParaRPr lang="en-US" altLang="en-US" sz="900" b="0">
                  <a:solidFill>
                    <a:srgbClr val="FF0000"/>
                  </a:solidFill>
                  <a:latin typeface="+mn-lt"/>
                </a:endParaRPr>
              </a:p>
            </p:txBody>
          </p:sp>
          <p:sp>
            <p:nvSpPr>
              <p:cNvPr id="331" name="Rectangle 94">
                <a:extLst>
                  <a:ext uri="{FF2B5EF4-FFF2-40B4-BE49-F238E27FC236}">
                    <a16:creationId xmlns:a16="http://schemas.microsoft.com/office/drawing/2014/main" id="{CF05DBA4-4E79-DBDF-FF7C-3439D941A26C}"/>
                  </a:ext>
                </a:extLst>
              </p:cNvPr>
              <p:cNvSpPr>
                <a:spLocks noChangeArrowheads="1"/>
              </p:cNvSpPr>
              <p:nvPr/>
            </p:nvSpPr>
            <p:spPr bwMode="auto">
              <a:xfrm>
                <a:off x="4166" y="2984"/>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6,077</a:t>
                </a:r>
                <a:endParaRPr lang="en-US" altLang="en-US" sz="900" b="0">
                  <a:solidFill>
                    <a:srgbClr val="FF0000"/>
                  </a:solidFill>
                  <a:latin typeface="+mn-lt"/>
                </a:endParaRPr>
              </a:p>
            </p:txBody>
          </p:sp>
          <p:sp>
            <p:nvSpPr>
              <p:cNvPr id="332" name="Rectangle 95">
                <a:extLst>
                  <a:ext uri="{FF2B5EF4-FFF2-40B4-BE49-F238E27FC236}">
                    <a16:creationId xmlns:a16="http://schemas.microsoft.com/office/drawing/2014/main" id="{99C2F088-4DF3-87E2-95C9-C2DAE79E27B3}"/>
                  </a:ext>
                </a:extLst>
              </p:cNvPr>
              <p:cNvSpPr>
                <a:spLocks noChangeArrowheads="1"/>
              </p:cNvSpPr>
              <p:nvPr/>
            </p:nvSpPr>
            <p:spPr bwMode="auto">
              <a:xfrm>
                <a:off x="4244" y="2984"/>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33" name="Rectangle 96">
                <a:extLst>
                  <a:ext uri="{FF2B5EF4-FFF2-40B4-BE49-F238E27FC236}">
                    <a16:creationId xmlns:a16="http://schemas.microsoft.com/office/drawing/2014/main" id="{953910EC-1824-AF36-149F-68ADE2D82F02}"/>
                  </a:ext>
                </a:extLst>
              </p:cNvPr>
              <p:cNvSpPr>
                <a:spLocks noChangeArrowheads="1"/>
              </p:cNvSpPr>
              <p:nvPr/>
            </p:nvSpPr>
            <p:spPr bwMode="auto">
              <a:xfrm>
                <a:off x="4341" y="2984"/>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34" name="Rectangle 97">
                <a:extLst>
                  <a:ext uri="{FF2B5EF4-FFF2-40B4-BE49-F238E27FC236}">
                    <a16:creationId xmlns:a16="http://schemas.microsoft.com/office/drawing/2014/main" id="{8C34B2CC-5B8F-4ADB-5E62-E94AC9FACBA0}"/>
                  </a:ext>
                </a:extLst>
              </p:cNvPr>
              <p:cNvSpPr>
                <a:spLocks noChangeArrowheads="1"/>
              </p:cNvSpPr>
              <p:nvPr/>
            </p:nvSpPr>
            <p:spPr bwMode="auto">
              <a:xfrm>
                <a:off x="4395" y="2984"/>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$1.23</a:t>
                </a:r>
                <a:endParaRPr lang="en-US" altLang="en-US" sz="900" b="0">
                  <a:solidFill>
                    <a:srgbClr val="FF0000"/>
                  </a:solidFill>
                  <a:latin typeface="+mn-lt"/>
                </a:endParaRPr>
              </a:p>
            </p:txBody>
          </p:sp>
          <p:sp>
            <p:nvSpPr>
              <p:cNvPr id="335" name="Rectangle 98">
                <a:extLst>
                  <a:ext uri="{FF2B5EF4-FFF2-40B4-BE49-F238E27FC236}">
                    <a16:creationId xmlns:a16="http://schemas.microsoft.com/office/drawing/2014/main" id="{64883E55-4AA2-2C01-B86C-D06D9721B483}"/>
                  </a:ext>
                </a:extLst>
              </p:cNvPr>
              <p:cNvSpPr>
                <a:spLocks noChangeArrowheads="1"/>
              </p:cNvSpPr>
              <p:nvPr/>
            </p:nvSpPr>
            <p:spPr bwMode="auto">
              <a:xfrm>
                <a:off x="4501" y="2984"/>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33</a:t>
                </a:r>
                <a:endParaRPr lang="en-US" altLang="en-US" sz="900" b="0">
                  <a:solidFill>
                    <a:srgbClr val="FF0000"/>
                  </a:solidFill>
                  <a:latin typeface="+mn-lt"/>
                </a:endParaRPr>
              </a:p>
            </p:txBody>
          </p:sp>
          <p:sp>
            <p:nvSpPr>
              <p:cNvPr id="336" name="Rectangle 99">
                <a:extLst>
                  <a:ext uri="{FF2B5EF4-FFF2-40B4-BE49-F238E27FC236}">
                    <a16:creationId xmlns:a16="http://schemas.microsoft.com/office/drawing/2014/main" id="{FA061C43-699D-EAF9-229C-4592D4BA5981}"/>
                  </a:ext>
                </a:extLst>
              </p:cNvPr>
              <p:cNvSpPr>
                <a:spLocks noChangeArrowheads="1"/>
              </p:cNvSpPr>
              <p:nvPr/>
            </p:nvSpPr>
            <p:spPr bwMode="auto">
              <a:xfrm>
                <a:off x="4579" y="2984"/>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330</a:t>
                </a:r>
                <a:endParaRPr lang="en-US" altLang="en-US" sz="900" b="0">
                  <a:solidFill>
                    <a:srgbClr val="FF0000"/>
                  </a:solidFill>
                  <a:latin typeface="+mn-lt"/>
                </a:endParaRPr>
              </a:p>
            </p:txBody>
          </p:sp>
          <p:sp>
            <p:nvSpPr>
              <p:cNvPr id="337" name="Rectangle 100">
                <a:extLst>
                  <a:ext uri="{FF2B5EF4-FFF2-40B4-BE49-F238E27FC236}">
                    <a16:creationId xmlns:a16="http://schemas.microsoft.com/office/drawing/2014/main" id="{6EB2D374-F20F-B1E6-D5D4-4D52EB5BFC05}"/>
                  </a:ext>
                </a:extLst>
              </p:cNvPr>
              <p:cNvSpPr>
                <a:spLocks noChangeArrowheads="1"/>
              </p:cNvSpPr>
              <p:nvPr/>
            </p:nvSpPr>
            <p:spPr bwMode="auto">
              <a:xfrm>
                <a:off x="4647" y="2984"/>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a:t>
                </a:r>
                <a:endParaRPr lang="en-US" altLang="en-US" sz="900" b="0">
                  <a:solidFill>
                    <a:srgbClr val="FF0000"/>
                  </a:solidFill>
                  <a:latin typeface="+mn-lt"/>
                </a:endParaRPr>
              </a:p>
            </p:txBody>
          </p:sp>
          <p:sp>
            <p:nvSpPr>
              <p:cNvPr id="338" name="Rectangle 101">
                <a:extLst>
                  <a:ext uri="{FF2B5EF4-FFF2-40B4-BE49-F238E27FC236}">
                    <a16:creationId xmlns:a16="http://schemas.microsoft.com/office/drawing/2014/main" id="{732E70AB-B2F5-03BA-313B-39EBF957892A}"/>
                  </a:ext>
                </a:extLst>
              </p:cNvPr>
              <p:cNvSpPr>
                <a:spLocks noChangeArrowheads="1"/>
              </p:cNvSpPr>
              <p:nvPr/>
            </p:nvSpPr>
            <p:spPr bwMode="auto">
              <a:xfrm>
                <a:off x="3712" y="3012"/>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39" name="Rectangle 102">
                <a:extLst>
                  <a:ext uri="{FF2B5EF4-FFF2-40B4-BE49-F238E27FC236}">
                    <a16:creationId xmlns:a16="http://schemas.microsoft.com/office/drawing/2014/main" id="{92D9A617-95FE-F10B-0F15-985028B64BC1}"/>
                  </a:ext>
                </a:extLst>
              </p:cNvPr>
              <p:cNvSpPr>
                <a:spLocks noChangeArrowheads="1"/>
              </p:cNvSpPr>
              <p:nvPr/>
            </p:nvSpPr>
            <p:spPr bwMode="auto">
              <a:xfrm>
                <a:off x="3758" y="3012"/>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3,406</a:t>
                </a:r>
                <a:endParaRPr lang="en-US" altLang="en-US" sz="900" b="0">
                  <a:solidFill>
                    <a:srgbClr val="FF0000"/>
                  </a:solidFill>
                  <a:latin typeface="+mn-lt"/>
                </a:endParaRPr>
              </a:p>
            </p:txBody>
          </p:sp>
          <p:sp>
            <p:nvSpPr>
              <p:cNvPr id="340" name="Rectangle 103">
                <a:extLst>
                  <a:ext uri="{FF2B5EF4-FFF2-40B4-BE49-F238E27FC236}">
                    <a16:creationId xmlns:a16="http://schemas.microsoft.com/office/drawing/2014/main" id="{6657BC13-191F-D0DD-FD6B-0E70BD2C11BD}"/>
                  </a:ext>
                </a:extLst>
              </p:cNvPr>
              <p:cNvSpPr>
                <a:spLocks noChangeArrowheads="1"/>
              </p:cNvSpPr>
              <p:nvPr/>
            </p:nvSpPr>
            <p:spPr bwMode="auto">
              <a:xfrm>
                <a:off x="3837" y="3012"/>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690</a:t>
                </a:r>
                <a:endParaRPr lang="en-US" altLang="en-US" sz="900" b="0">
                  <a:solidFill>
                    <a:srgbClr val="FF0000"/>
                  </a:solidFill>
                  <a:latin typeface="+mn-lt"/>
                </a:endParaRPr>
              </a:p>
            </p:txBody>
          </p:sp>
          <p:sp>
            <p:nvSpPr>
              <p:cNvPr id="341" name="Rectangle 104">
                <a:extLst>
                  <a:ext uri="{FF2B5EF4-FFF2-40B4-BE49-F238E27FC236}">
                    <a16:creationId xmlns:a16="http://schemas.microsoft.com/office/drawing/2014/main" id="{7A278E86-F78F-5C0A-BBCE-F46489421CC2}"/>
                  </a:ext>
                </a:extLst>
              </p:cNvPr>
              <p:cNvSpPr>
                <a:spLocks noChangeArrowheads="1"/>
              </p:cNvSpPr>
              <p:nvPr/>
            </p:nvSpPr>
            <p:spPr bwMode="auto">
              <a:xfrm>
                <a:off x="3926" y="3012"/>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4,096</a:t>
                </a:r>
                <a:endParaRPr lang="en-US" altLang="en-US" sz="900" b="0">
                  <a:solidFill>
                    <a:srgbClr val="FF0000"/>
                  </a:solidFill>
                  <a:latin typeface="+mn-lt"/>
                </a:endParaRPr>
              </a:p>
            </p:txBody>
          </p:sp>
          <p:sp>
            <p:nvSpPr>
              <p:cNvPr id="342" name="Rectangle 105">
                <a:extLst>
                  <a:ext uri="{FF2B5EF4-FFF2-40B4-BE49-F238E27FC236}">
                    <a16:creationId xmlns:a16="http://schemas.microsoft.com/office/drawing/2014/main" id="{FF535BB9-458B-5B87-3BAE-20A042A57CAF}"/>
                  </a:ext>
                </a:extLst>
              </p:cNvPr>
              <p:cNvSpPr>
                <a:spLocks noChangeArrowheads="1"/>
              </p:cNvSpPr>
              <p:nvPr/>
            </p:nvSpPr>
            <p:spPr bwMode="auto">
              <a:xfrm>
                <a:off x="4015" y="3012"/>
                <a:ext cx="10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C-05-0CP</a:t>
                </a:r>
                <a:endParaRPr lang="en-US" altLang="en-US" sz="900" b="0">
                  <a:solidFill>
                    <a:srgbClr val="FF0000"/>
                  </a:solidFill>
                  <a:latin typeface="+mn-lt"/>
                </a:endParaRPr>
              </a:p>
            </p:txBody>
          </p:sp>
          <p:sp>
            <p:nvSpPr>
              <p:cNvPr id="343" name="Rectangle 106">
                <a:extLst>
                  <a:ext uri="{FF2B5EF4-FFF2-40B4-BE49-F238E27FC236}">
                    <a16:creationId xmlns:a16="http://schemas.microsoft.com/office/drawing/2014/main" id="{E5A8B259-6DEF-728F-DF5B-62DBEF928C28}"/>
                  </a:ext>
                </a:extLst>
              </p:cNvPr>
              <p:cNvSpPr>
                <a:spLocks noChangeArrowheads="1"/>
              </p:cNvSpPr>
              <p:nvPr/>
            </p:nvSpPr>
            <p:spPr bwMode="auto">
              <a:xfrm>
                <a:off x="4166" y="3012"/>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967</a:t>
                </a:r>
                <a:endParaRPr lang="en-US" altLang="en-US" sz="900" b="0">
                  <a:solidFill>
                    <a:srgbClr val="FF0000"/>
                  </a:solidFill>
                  <a:latin typeface="+mn-lt"/>
                </a:endParaRPr>
              </a:p>
            </p:txBody>
          </p:sp>
          <p:sp>
            <p:nvSpPr>
              <p:cNvPr id="344" name="Rectangle 107">
                <a:extLst>
                  <a:ext uri="{FF2B5EF4-FFF2-40B4-BE49-F238E27FC236}">
                    <a16:creationId xmlns:a16="http://schemas.microsoft.com/office/drawing/2014/main" id="{3D739F35-7BE2-D375-A268-EB6ECBF9CAFF}"/>
                  </a:ext>
                </a:extLst>
              </p:cNvPr>
              <p:cNvSpPr>
                <a:spLocks noChangeArrowheads="1"/>
              </p:cNvSpPr>
              <p:nvPr/>
            </p:nvSpPr>
            <p:spPr bwMode="auto">
              <a:xfrm>
                <a:off x="4244" y="3012"/>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45" name="Rectangle 108">
                <a:extLst>
                  <a:ext uri="{FF2B5EF4-FFF2-40B4-BE49-F238E27FC236}">
                    <a16:creationId xmlns:a16="http://schemas.microsoft.com/office/drawing/2014/main" id="{D18AFE9C-6CF9-F434-E934-445579679C32}"/>
                  </a:ext>
                </a:extLst>
              </p:cNvPr>
              <p:cNvSpPr>
                <a:spLocks noChangeArrowheads="1"/>
              </p:cNvSpPr>
              <p:nvPr/>
            </p:nvSpPr>
            <p:spPr bwMode="auto">
              <a:xfrm>
                <a:off x="4341" y="3012"/>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46" name="Rectangle 109">
                <a:extLst>
                  <a:ext uri="{FF2B5EF4-FFF2-40B4-BE49-F238E27FC236}">
                    <a16:creationId xmlns:a16="http://schemas.microsoft.com/office/drawing/2014/main" id="{CAF8488D-A775-A1D8-752A-8492FBF2D7E7}"/>
                  </a:ext>
                </a:extLst>
              </p:cNvPr>
              <p:cNvSpPr>
                <a:spLocks noChangeArrowheads="1"/>
              </p:cNvSpPr>
              <p:nvPr/>
            </p:nvSpPr>
            <p:spPr bwMode="auto">
              <a:xfrm>
                <a:off x="4395" y="3012"/>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$0.96</a:t>
                </a:r>
                <a:endParaRPr lang="en-US" altLang="en-US" sz="900" b="0">
                  <a:solidFill>
                    <a:srgbClr val="FF0000"/>
                  </a:solidFill>
                  <a:latin typeface="+mn-lt"/>
                </a:endParaRPr>
              </a:p>
            </p:txBody>
          </p:sp>
          <p:sp>
            <p:nvSpPr>
              <p:cNvPr id="347" name="Rectangle 110">
                <a:extLst>
                  <a:ext uri="{FF2B5EF4-FFF2-40B4-BE49-F238E27FC236}">
                    <a16:creationId xmlns:a16="http://schemas.microsoft.com/office/drawing/2014/main" id="{0286CD12-04D9-67C9-46D1-2B15C67F6045}"/>
                  </a:ext>
                </a:extLst>
              </p:cNvPr>
              <p:cNvSpPr>
                <a:spLocks noChangeArrowheads="1"/>
              </p:cNvSpPr>
              <p:nvPr/>
            </p:nvSpPr>
            <p:spPr bwMode="auto">
              <a:xfrm>
                <a:off x="4502" y="3012"/>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a:t>
                </a:r>
                <a:endParaRPr lang="en-US" altLang="en-US" sz="900" b="0">
                  <a:solidFill>
                    <a:srgbClr val="FF0000"/>
                  </a:solidFill>
                  <a:latin typeface="+mn-lt"/>
                </a:endParaRPr>
              </a:p>
            </p:txBody>
          </p:sp>
          <p:sp>
            <p:nvSpPr>
              <p:cNvPr id="348" name="Rectangle 111">
                <a:extLst>
                  <a:ext uri="{FF2B5EF4-FFF2-40B4-BE49-F238E27FC236}">
                    <a16:creationId xmlns:a16="http://schemas.microsoft.com/office/drawing/2014/main" id="{1D50CEE9-AD19-4BE3-975F-7A97B0780666}"/>
                  </a:ext>
                </a:extLst>
              </p:cNvPr>
              <p:cNvSpPr>
                <a:spLocks noChangeArrowheads="1"/>
              </p:cNvSpPr>
              <p:nvPr/>
            </p:nvSpPr>
            <p:spPr bwMode="auto">
              <a:xfrm>
                <a:off x="4579" y="3012"/>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354</a:t>
                </a:r>
                <a:endParaRPr lang="en-US" altLang="en-US" sz="900" b="0">
                  <a:solidFill>
                    <a:srgbClr val="FF0000"/>
                  </a:solidFill>
                  <a:latin typeface="+mn-lt"/>
                </a:endParaRPr>
              </a:p>
            </p:txBody>
          </p:sp>
          <p:sp>
            <p:nvSpPr>
              <p:cNvPr id="349" name="Rectangle 112">
                <a:extLst>
                  <a:ext uri="{FF2B5EF4-FFF2-40B4-BE49-F238E27FC236}">
                    <a16:creationId xmlns:a16="http://schemas.microsoft.com/office/drawing/2014/main" id="{6E4BFA5C-BFAB-E4D1-1B3E-195A16DDA12B}"/>
                  </a:ext>
                </a:extLst>
              </p:cNvPr>
              <p:cNvSpPr>
                <a:spLocks noChangeArrowheads="1"/>
              </p:cNvSpPr>
              <p:nvPr/>
            </p:nvSpPr>
            <p:spPr bwMode="auto">
              <a:xfrm>
                <a:off x="4645" y="3012"/>
                <a:ext cx="45"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88.5</a:t>
                </a:r>
                <a:endParaRPr lang="en-US" altLang="en-US" sz="900" b="0">
                  <a:solidFill>
                    <a:srgbClr val="FF0000"/>
                  </a:solidFill>
                  <a:latin typeface="+mn-lt"/>
                </a:endParaRPr>
              </a:p>
            </p:txBody>
          </p:sp>
          <p:sp>
            <p:nvSpPr>
              <p:cNvPr id="350" name="Rectangle 113">
                <a:extLst>
                  <a:ext uri="{FF2B5EF4-FFF2-40B4-BE49-F238E27FC236}">
                    <a16:creationId xmlns:a16="http://schemas.microsoft.com/office/drawing/2014/main" id="{7534884D-8D6B-30AA-BC51-54A503E1ECA2}"/>
                  </a:ext>
                </a:extLst>
              </p:cNvPr>
              <p:cNvSpPr>
                <a:spLocks noChangeArrowheads="1"/>
              </p:cNvSpPr>
              <p:nvPr/>
            </p:nvSpPr>
            <p:spPr bwMode="auto">
              <a:xfrm>
                <a:off x="4936" y="3012"/>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100</a:t>
                </a:r>
                <a:endParaRPr lang="en-US" altLang="en-US" sz="900" b="0">
                  <a:solidFill>
                    <a:srgbClr val="FF0000"/>
                  </a:solidFill>
                  <a:latin typeface="+mn-lt"/>
                </a:endParaRPr>
              </a:p>
            </p:txBody>
          </p:sp>
          <p:sp>
            <p:nvSpPr>
              <p:cNvPr id="351" name="Rectangle 114">
                <a:extLst>
                  <a:ext uri="{FF2B5EF4-FFF2-40B4-BE49-F238E27FC236}">
                    <a16:creationId xmlns:a16="http://schemas.microsoft.com/office/drawing/2014/main" id="{A793AA6D-B3A1-EBE2-8E17-EE93055FFD5B}"/>
                  </a:ext>
                </a:extLst>
              </p:cNvPr>
              <p:cNvSpPr>
                <a:spLocks noChangeArrowheads="1"/>
              </p:cNvSpPr>
              <p:nvPr/>
            </p:nvSpPr>
            <p:spPr bwMode="auto">
              <a:xfrm>
                <a:off x="3712" y="3041"/>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52" name="Rectangle 115">
                <a:extLst>
                  <a:ext uri="{FF2B5EF4-FFF2-40B4-BE49-F238E27FC236}">
                    <a16:creationId xmlns:a16="http://schemas.microsoft.com/office/drawing/2014/main" id="{DBA87C65-6997-EE62-6EEB-A081E45EB90F}"/>
                  </a:ext>
                </a:extLst>
              </p:cNvPr>
              <p:cNvSpPr>
                <a:spLocks noChangeArrowheads="1"/>
              </p:cNvSpPr>
              <p:nvPr/>
            </p:nvSpPr>
            <p:spPr bwMode="auto">
              <a:xfrm>
                <a:off x="3758" y="3041"/>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709</a:t>
                </a:r>
                <a:endParaRPr lang="en-US" altLang="en-US" sz="900" b="0">
                  <a:solidFill>
                    <a:srgbClr val="FF0000"/>
                  </a:solidFill>
                  <a:latin typeface="+mn-lt"/>
                </a:endParaRPr>
              </a:p>
            </p:txBody>
          </p:sp>
          <p:sp>
            <p:nvSpPr>
              <p:cNvPr id="353" name="Rectangle 116">
                <a:extLst>
                  <a:ext uri="{FF2B5EF4-FFF2-40B4-BE49-F238E27FC236}">
                    <a16:creationId xmlns:a16="http://schemas.microsoft.com/office/drawing/2014/main" id="{DD9B9F75-D283-D54A-2EE7-1D6B3FDB9160}"/>
                  </a:ext>
                </a:extLst>
              </p:cNvPr>
              <p:cNvSpPr>
                <a:spLocks noChangeArrowheads="1"/>
              </p:cNvSpPr>
              <p:nvPr/>
            </p:nvSpPr>
            <p:spPr bwMode="auto">
              <a:xfrm>
                <a:off x="3837" y="3041"/>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487</a:t>
                </a:r>
                <a:endParaRPr lang="en-US" altLang="en-US" sz="900" b="0">
                  <a:solidFill>
                    <a:srgbClr val="FF0000"/>
                  </a:solidFill>
                  <a:latin typeface="+mn-lt"/>
                </a:endParaRPr>
              </a:p>
            </p:txBody>
          </p:sp>
          <p:sp>
            <p:nvSpPr>
              <p:cNvPr id="354" name="Rectangle 117">
                <a:extLst>
                  <a:ext uri="{FF2B5EF4-FFF2-40B4-BE49-F238E27FC236}">
                    <a16:creationId xmlns:a16="http://schemas.microsoft.com/office/drawing/2014/main" id="{F460FFE5-96A6-2C66-8CB8-5AE1538A68A5}"/>
                  </a:ext>
                </a:extLst>
              </p:cNvPr>
              <p:cNvSpPr>
                <a:spLocks noChangeArrowheads="1"/>
              </p:cNvSpPr>
              <p:nvPr/>
            </p:nvSpPr>
            <p:spPr bwMode="auto">
              <a:xfrm>
                <a:off x="3926" y="3041"/>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1,196</a:t>
                </a:r>
                <a:endParaRPr lang="en-US" altLang="en-US" sz="900" b="0">
                  <a:solidFill>
                    <a:srgbClr val="FF0000"/>
                  </a:solidFill>
                  <a:latin typeface="+mn-lt"/>
                </a:endParaRPr>
              </a:p>
            </p:txBody>
          </p:sp>
          <p:sp>
            <p:nvSpPr>
              <p:cNvPr id="355" name="Rectangle 118">
                <a:extLst>
                  <a:ext uri="{FF2B5EF4-FFF2-40B4-BE49-F238E27FC236}">
                    <a16:creationId xmlns:a16="http://schemas.microsoft.com/office/drawing/2014/main" id="{E62A774E-8027-4618-6159-9F638ED41CFC}"/>
                  </a:ext>
                </a:extLst>
              </p:cNvPr>
              <p:cNvSpPr>
                <a:spLocks noChangeArrowheads="1"/>
              </p:cNvSpPr>
              <p:nvPr/>
            </p:nvSpPr>
            <p:spPr bwMode="auto">
              <a:xfrm>
                <a:off x="4017" y="3041"/>
                <a:ext cx="6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CL-04</a:t>
                </a:r>
                <a:endParaRPr lang="en-US" altLang="en-US" sz="900" b="0">
                  <a:solidFill>
                    <a:srgbClr val="FF0000"/>
                  </a:solidFill>
                  <a:latin typeface="+mn-lt"/>
                </a:endParaRPr>
              </a:p>
            </p:txBody>
          </p:sp>
          <p:sp>
            <p:nvSpPr>
              <p:cNvPr id="356" name="Rectangle 119">
                <a:extLst>
                  <a:ext uri="{FF2B5EF4-FFF2-40B4-BE49-F238E27FC236}">
                    <a16:creationId xmlns:a16="http://schemas.microsoft.com/office/drawing/2014/main" id="{9730A6DB-12B9-CE88-A38F-5FBF88EF8CDD}"/>
                  </a:ext>
                </a:extLst>
              </p:cNvPr>
              <p:cNvSpPr>
                <a:spLocks noChangeArrowheads="1"/>
              </p:cNvSpPr>
              <p:nvPr/>
            </p:nvSpPr>
            <p:spPr bwMode="auto">
              <a:xfrm>
                <a:off x="4244" y="3041"/>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57" name="Rectangle 120">
                <a:extLst>
                  <a:ext uri="{FF2B5EF4-FFF2-40B4-BE49-F238E27FC236}">
                    <a16:creationId xmlns:a16="http://schemas.microsoft.com/office/drawing/2014/main" id="{9B6021F7-7687-1D3A-A966-2DDF41687E72}"/>
                  </a:ext>
                </a:extLst>
              </p:cNvPr>
              <p:cNvSpPr>
                <a:spLocks noChangeArrowheads="1"/>
              </p:cNvSpPr>
              <p:nvPr/>
            </p:nvSpPr>
            <p:spPr bwMode="auto">
              <a:xfrm>
                <a:off x="4341" y="3041"/>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58" name="Rectangle 121">
                <a:extLst>
                  <a:ext uri="{FF2B5EF4-FFF2-40B4-BE49-F238E27FC236}">
                    <a16:creationId xmlns:a16="http://schemas.microsoft.com/office/drawing/2014/main" id="{29957CD1-63C5-EC14-05F5-F0313B977267}"/>
                  </a:ext>
                </a:extLst>
              </p:cNvPr>
              <p:cNvSpPr>
                <a:spLocks noChangeArrowheads="1"/>
              </p:cNvSpPr>
              <p:nvPr/>
            </p:nvSpPr>
            <p:spPr bwMode="auto">
              <a:xfrm>
                <a:off x="4395" y="3041"/>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$1.39</a:t>
                </a:r>
                <a:endParaRPr lang="en-US" altLang="en-US" sz="900" b="0">
                  <a:solidFill>
                    <a:srgbClr val="FF0000"/>
                  </a:solidFill>
                  <a:latin typeface="+mn-lt"/>
                </a:endParaRPr>
              </a:p>
            </p:txBody>
          </p:sp>
          <p:sp>
            <p:nvSpPr>
              <p:cNvPr id="359" name="Rectangle 122">
                <a:extLst>
                  <a:ext uri="{FF2B5EF4-FFF2-40B4-BE49-F238E27FC236}">
                    <a16:creationId xmlns:a16="http://schemas.microsoft.com/office/drawing/2014/main" id="{BD3FCF30-61C0-32A1-6D23-303C094E71BE}"/>
                  </a:ext>
                </a:extLst>
              </p:cNvPr>
              <p:cNvSpPr>
                <a:spLocks noChangeArrowheads="1"/>
              </p:cNvSpPr>
              <p:nvPr/>
            </p:nvSpPr>
            <p:spPr bwMode="auto">
              <a:xfrm>
                <a:off x="4502" y="3041"/>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a:t>
                </a:r>
                <a:endParaRPr lang="en-US" altLang="en-US" sz="900" b="0">
                  <a:solidFill>
                    <a:srgbClr val="FF0000"/>
                  </a:solidFill>
                  <a:latin typeface="+mn-lt"/>
                </a:endParaRPr>
              </a:p>
            </p:txBody>
          </p:sp>
          <p:sp>
            <p:nvSpPr>
              <p:cNvPr id="360" name="Rectangle 123">
                <a:extLst>
                  <a:ext uri="{FF2B5EF4-FFF2-40B4-BE49-F238E27FC236}">
                    <a16:creationId xmlns:a16="http://schemas.microsoft.com/office/drawing/2014/main" id="{E73CBA80-E196-0D3A-0BAD-7965BB1D558A}"/>
                  </a:ext>
                </a:extLst>
              </p:cNvPr>
              <p:cNvSpPr>
                <a:spLocks noChangeArrowheads="1"/>
              </p:cNvSpPr>
              <p:nvPr/>
            </p:nvSpPr>
            <p:spPr bwMode="auto">
              <a:xfrm>
                <a:off x="3712" y="3069"/>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61" name="Rectangle 124">
                <a:extLst>
                  <a:ext uri="{FF2B5EF4-FFF2-40B4-BE49-F238E27FC236}">
                    <a16:creationId xmlns:a16="http://schemas.microsoft.com/office/drawing/2014/main" id="{A949BD91-0BF7-3E75-CEF6-102673A1123B}"/>
                  </a:ext>
                </a:extLst>
              </p:cNvPr>
              <p:cNvSpPr>
                <a:spLocks noChangeArrowheads="1"/>
              </p:cNvSpPr>
              <p:nvPr/>
            </p:nvSpPr>
            <p:spPr bwMode="auto">
              <a:xfrm>
                <a:off x="3758" y="3069"/>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3,688</a:t>
                </a:r>
                <a:endParaRPr lang="en-US" altLang="en-US" sz="900" b="0">
                  <a:solidFill>
                    <a:srgbClr val="FF0000"/>
                  </a:solidFill>
                  <a:latin typeface="+mn-lt"/>
                </a:endParaRPr>
              </a:p>
            </p:txBody>
          </p:sp>
          <p:sp>
            <p:nvSpPr>
              <p:cNvPr id="362" name="Rectangle 125">
                <a:extLst>
                  <a:ext uri="{FF2B5EF4-FFF2-40B4-BE49-F238E27FC236}">
                    <a16:creationId xmlns:a16="http://schemas.microsoft.com/office/drawing/2014/main" id="{C00A59A1-DD67-93DB-624B-B3050D6AC938}"/>
                  </a:ext>
                </a:extLst>
              </p:cNvPr>
              <p:cNvSpPr>
                <a:spLocks noChangeArrowheads="1"/>
              </p:cNvSpPr>
              <p:nvPr/>
            </p:nvSpPr>
            <p:spPr bwMode="auto">
              <a:xfrm>
                <a:off x="3836" y="3069"/>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1,305</a:t>
                </a:r>
                <a:endParaRPr lang="en-US" altLang="en-US" sz="900" b="0">
                  <a:solidFill>
                    <a:srgbClr val="FF0000"/>
                  </a:solidFill>
                  <a:latin typeface="+mn-lt"/>
                </a:endParaRPr>
              </a:p>
            </p:txBody>
          </p:sp>
          <p:sp>
            <p:nvSpPr>
              <p:cNvPr id="363" name="Rectangle 126">
                <a:extLst>
                  <a:ext uri="{FF2B5EF4-FFF2-40B4-BE49-F238E27FC236}">
                    <a16:creationId xmlns:a16="http://schemas.microsoft.com/office/drawing/2014/main" id="{4D01425B-67F3-5A0B-F6ED-E451FBBDBBD7}"/>
                  </a:ext>
                </a:extLst>
              </p:cNvPr>
              <p:cNvSpPr>
                <a:spLocks noChangeArrowheads="1"/>
              </p:cNvSpPr>
              <p:nvPr/>
            </p:nvSpPr>
            <p:spPr bwMode="auto">
              <a:xfrm>
                <a:off x="3926" y="3069"/>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4,993</a:t>
                </a:r>
                <a:endParaRPr lang="en-US" altLang="en-US" sz="900" b="0">
                  <a:solidFill>
                    <a:srgbClr val="FF0000"/>
                  </a:solidFill>
                  <a:latin typeface="+mn-lt"/>
                </a:endParaRPr>
              </a:p>
            </p:txBody>
          </p:sp>
          <p:sp>
            <p:nvSpPr>
              <p:cNvPr id="364" name="Rectangle 127">
                <a:extLst>
                  <a:ext uri="{FF2B5EF4-FFF2-40B4-BE49-F238E27FC236}">
                    <a16:creationId xmlns:a16="http://schemas.microsoft.com/office/drawing/2014/main" id="{201369E7-AC90-F8D4-38F5-8FF7DE022891}"/>
                  </a:ext>
                </a:extLst>
              </p:cNvPr>
              <p:cNvSpPr>
                <a:spLocks noChangeArrowheads="1"/>
              </p:cNvSpPr>
              <p:nvPr/>
            </p:nvSpPr>
            <p:spPr bwMode="auto">
              <a:xfrm>
                <a:off x="4017" y="3069"/>
                <a:ext cx="6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CL-05</a:t>
                </a:r>
                <a:endParaRPr lang="en-US" altLang="en-US" sz="900" b="0">
                  <a:solidFill>
                    <a:srgbClr val="FF0000"/>
                  </a:solidFill>
                  <a:latin typeface="+mn-lt"/>
                </a:endParaRPr>
              </a:p>
            </p:txBody>
          </p:sp>
          <p:sp>
            <p:nvSpPr>
              <p:cNvPr id="365" name="Rectangle 128">
                <a:extLst>
                  <a:ext uri="{FF2B5EF4-FFF2-40B4-BE49-F238E27FC236}">
                    <a16:creationId xmlns:a16="http://schemas.microsoft.com/office/drawing/2014/main" id="{FCDDEB89-01D6-F9D5-5641-B40473D023EE}"/>
                  </a:ext>
                </a:extLst>
              </p:cNvPr>
              <p:cNvSpPr>
                <a:spLocks noChangeArrowheads="1"/>
              </p:cNvSpPr>
              <p:nvPr/>
            </p:nvSpPr>
            <p:spPr bwMode="auto">
              <a:xfrm>
                <a:off x="4166" y="3069"/>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7,100</a:t>
                </a:r>
                <a:endParaRPr lang="en-US" altLang="en-US" sz="900" b="0">
                  <a:solidFill>
                    <a:srgbClr val="FF0000"/>
                  </a:solidFill>
                  <a:latin typeface="+mn-lt"/>
                </a:endParaRPr>
              </a:p>
            </p:txBody>
          </p:sp>
          <p:sp>
            <p:nvSpPr>
              <p:cNvPr id="366" name="Rectangle 129">
                <a:extLst>
                  <a:ext uri="{FF2B5EF4-FFF2-40B4-BE49-F238E27FC236}">
                    <a16:creationId xmlns:a16="http://schemas.microsoft.com/office/drawing/2014/main" id="{BB4C7E4B-CC5F-3C42-3EC6-89E9A3ABA9A5}"/>
                  </a:ext>
                </a:extLst>
              </p:cNvPr>
              <p:cNvSpPr>
                <a:spLocks noChangeArrowheads="1"/>
              </p:cNvSpPr>
              <p:nvPr/>
            </p:nvSpPr>
            <p:spPr bwMode="auto">
              <a:xfrm>
                <a:off x="4244" y="3069"/>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67" name="Rectangle 130">
                <a:extLst>
                  <a:ext uri="{FF2B5EF4-FFF2-40B4-BE49-F238E27FC236}">
                    <a16:creationId xmlns:a16="http://schemas.microsoft.com/office/drawing/2014/main" id="{690647C8-17A4-0B75-3418-649F56D6B2DC}"/>
                  </a:ext>
                </a:extLst>
              </p:cNvPr>
              <p:cNvSpPr>
                <a:spLocks noChangeArrowheads="1"/>
              </p:cNvSpPr>
              <p:nvPr/>
            </p:nvSpPr>
            <p:spPr bwMode="auto">
              <a:xfrm>
                <a:off x="4341" y="3069"/>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68" name="Rectangle 131">
                <a:extLst>
                  <a:ext uri="{FF2B5EF4-FFF2-40B4-BE49-F238E27FC236}">
                    <a16:creationId xmlns:a16="http://schemas.microsoft.com/office/drawing/2014/main" id="{F8E506F2-7B8E-6C75-C488-883CD936868D}"/>
                  </a:ext>
                </a:extLst>
              </p:cNvPr>
              <p:cNvSpPr>
                <a:spLocks noChangeArrowheads="1"/>
              </p:cNvSpPr>
              <p:nvPr/>
            </p:nvSpPr>
            <p:spPr bwMode="auto">
              <a:xfrm>
                <a:off x="4395" y="3069"/>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$1.30</a:t>
                </a:r>
                <a:endParaRPr lang="en-US" altLang="en-US" sz="900" b="0">
                  <a:solidFill>
                    <a:srgbClr val="FF0000"/>
                  </a:solidFill>
                  <a:latin typeface="+mn-lt"/>
                </a:endParaRPr>
              </a:p>
            </p:txBody>
          </p:sp>
          <p:sp>
            <p:nvSpPr>
              <p:cNvPr id="369" name="Rectangle 132">
                <a:extLst>
                  <a:ext uri="{FF2B5EF4-FFF2-40B4-BE49-F238E27FC236}">
                    <a16:creationId xmlns:a16="http://schemas.microsoft.com/office/drawing/2014/main" id="{544E2055-65A7-78F8-32D1-60B6368A5683}"/>
                  </a:ext>
                </a:extLst>
              </p:cNvPr>
              <p:cNvSpPr>
                <a:spLocks noChangeArrowheads="1"/>
              </p:cNvSpPr>
              <p:nvPr/>
            </p:nvSpPr>
            <p:spPr bwMode="auto">
              <a:xfrm>
                <a:off x="4501" y="3069"/>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18</a:t>
                </a:r>
                <a:endParaRPr lang="en-US" altLang="en-US" sz="900" b="0">
                  <a:solidFill>
                    <a:srgbClr val="FF0000"/>
                  </a:solidFill>
                  <a:latin typeface="+mn-lt"/>
                </a:endParaRPr>
              </a:p>
            </p:txBody>
          </p:sp>
          <p:sp>
            <p:nvSpPr>
              <p:cNvPr id="370" name="Rectangle 133">
                <a:extLst>
                  <a:ext uri="{FF2B5EF4-FFF2-40B4-BE49-F238E27FC236}">
                    <a16:creationId xmlns:a16="http://schemas.microsoft.com/office/drawing/2014/main" id="{2479AC32-19BD-162F-37B7-546E038CBC21}"/>
                  </a:ext>
                </a:extLst>
              </p:cNvPr>
              <p:cNvSpPr>
                <a:spLocks noChangeArrowheads="1"/>
              </p:cNvSpPr>
              <p:nvPr/>
            </p:nvSpPr>
            <p:spPr bwMode="auto">
              <a:xfrm>
                <a:off x="3712" y="3098"/>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71" name="Rectangle 134">
                <a:extLst>
                  <a:ext uri="{FF2B5EF4-FFF2-40B4-BE49-F238E27FC236}">
                    <a16:creationId xmlns:a16="http://schemas.microsoft.com/office/drawing/2014/main" id="{EBA4099D-47A5-B4F2-F81A-37641288D6ED}"/>
                  </a:ext>
                </a:extLst>
              </p:cNvPr>
              <p:cNvSpPr>
                <a:spLocks noChangeArrowheads="1"/>
              </p:cNvSpPr>
              <p:nvPr/>
            </p:nvSpPr>
            <p:spPr bwMode="auto">
              <a:xfrm>
                <a:off x="3758" y="3098"/>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3,458</a:t>
                </a:r>
                <a:endParaRPr lang="en-US" altLang="en-US" sz="900" b="0">
                  <a:solidFill>
                    <a:srgbClr val="FF0000"/>
                  </a:solidFill>
                  <a:latin typeface="+mn-lt"/>
                </a:endParaRPr>
              </a:p>
            </p:txBody>
          </p:sp>
          <p:sp>
            <p:nvSpPr>
              <p:cNvPr id="372" name="Rectangle 135">
                <a:extLst>
                  <a:ext uri="{FF2B5EF4-FFF2-40B4-BE49-F238E27FC236}">
                    <a16:creationId xmlns:a16="http://schemas.microsoft.com/office/drawing/2014/main" id="{C8A07EC8-C0A2-83D0-70B2-6B6EC9DA6E51}"/>
                  </a:ext>
                </a:extLst>
              </p:cNvPr>
              <p:cNvSpPr>
                <a:spLocks noChangeArrowheads="1"/>
              </p:cNvSpPr>
              <p:nvPr/>
            </p:nvSpPr>
            <p:spPr bwMode="auto">
              <a:xfrm>
                <a:off x="3836" y="3098"/>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1,678</a:t>
                </a:r>
                <a:endParaRPr lang="en-US" altLang="en-US" sz="900" b="0">
                  <a:solidFill>
                    <a:srgbClr val="FF0000"/>
                  </a:solidFill>
                  <a:latin typeface="+mn-lt"/>
                </a:endParaRPr>
              </a:p>
            </p:txBody>
          </p:sp>
          <p:sp>
            <p:nvSpPr>
              <p:cNvPr id="373" name="Rectangle 136">
                <a:extLst>
                  <a:ext uri="{FF2B5EF4-FFF2-40B4-BE49-F238E27FC236}">
                    <a16:creationId xmlns:a16="http://schemas.microsoft.com/office/drawing/2014/main" id="{1B68A0D2-0052-598A-490B-785A2EFD4557}"/>
                  </a:ext>
                </a:extLst>
              </p:cNvPr>
              <p:cNvSpPr>
                <a:spLocks noChangeArrowheads="1"/>
              </p:cNvSpPr>
              <p:nvPr/>
            </p:nvSpPr>
            <p:spPr bwMode="auto">
              <a:xfrm>
                <a:off x="3926" y="3098"/>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5,136</a:t>
                </a:r>
                <a:endParaRPr lang="en-US" altLang="en-US" sz="900" b="0">
                  <a:solidFill>
                    <a:srgbClr val="FF0000"/>
                  </a:solidFill>
                  <a:latin typeface="+mn-lt"/>
                </a:endParaRPr>
              </a:p>
            </p:txBody>
          </p:sp>
          <p:sp>
            <p:nvSpPr>
              <p:cNvPr id="374" name="Rectangle 137">
                <a:extLst>
                  <a:ext uri="{FF2B5EF4-FFF2-40B4-BE49-F238E27FC236}">
                    <a16:creationId xmlns:a16="http://schemas.microsoft.com/office/drawing/2014/main" id="{593C69AF-0270-6406-3BE5-48A29A56B624}"/>
                  </a:ext>
                </a:extLst>
              </p:cNvPr>
              <p:cNvSpPr>
                <a:spLocks noChangeArrowheads="1"/>
              </p:cNvSpPr>
              <p:nvPr/>
            </p:nvSpPr>
            <p:spPr bwMode="auto">
              <a:xfrm>
                <a:off x="4017" y="3098"/>
                <a:ext cx="7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FC2-03</a:t>
                </a:r>
                <a:endParaRPr lang="en-US" altLang="en-US" sz="900" b="0">
                  <a:solidFill>
                    <a:srgbClr val="FF0000"/>
                  </a:solidFill>
                  <a:latin typeface="+mn-lt"/>
                </a:endParaRPr>
              </a:p>
            </p:txBody>
          </p:sp>
          <p:sp>
            <p:nvSpPr>
              <p:cNvPr id="375" name="Rectangle 138">
                <a:extLst>
                  <a:ext uri="{FF2B5EF4-FFF2-40B4-BE49-F238E27FC236}">
                    <a16:creationId xmlns:a16="http://schemas.microsoft.com/office/drawing/2014/main" id="{776CF920-09E0-8F0D-2546-4C8BB7454C1C}"/>
                  </a:ext>
                </a:extLst>
              </p:cNvPr>
              <p:cNvSpPr>
                <a:spLocks noChangeArrowheads="1"/>
              </p:cNvSpPr>
              <p:nvPr/>
            </p:nvSpPr>
            <p:spPr bwMode="auto">
              <a:xfrm>
                <a:off x="4166" y="3098"/>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4,552</a:t>
                </a:r>
                <a:endParaRPr lang="en-US" altLang="en-US" sz="900" b="0">
                  <a:solidFill>
                    <a:srgbClr val="FF0000"/>
                  </a:solidFill>
                  <a:latin typeface="+mn-lt"/>
                </a:endParaRPr>
              </a:p>
            </p:txBody>
          </p:sp>
          <p:sp>
            <p:nvSpPr>
              <p:cNvPr id="376" name="Rectangle 139">
                <a:extLst>
                  <a:ext uri="{FF2B5EF4-FFF2-40B4-BE49-F238E27FC236}">
                    <a16:creationId xmlns:a16="http://schemas.microsoft.com/office/drawing/2014/main" id="{8FA53E64-3E30-1D50-CE71-E1D98599DCCD}"/>
                  </a:ext>
                </a:extLst>
              </p:cNvPr>
              <p:cNvSpPr>
                <a:spLocks noChangeArrowheads="1"/>
              </p:cNvSpPr>
              <p:nvPr/>
            </p:nvSpPr>
            <p:spPr bwMode="auto">
              <a:xfrm>
                <a:off x="4244" y="3098"/>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77" name="Rectangle 140">
                <a:extLst>
                  <a:ext uri="{FF2B5EF4-FFF2-40B4-BE49-F238E27FC236}">
                    <a16:creationId xmlns:a16="http://schemas.microsoft.com/office/drawing/2014/main" id="{5CABD067-9BA2-1955-49CE-7D7CB87EE385}"/>
                  </a:ext>
                </a:extLst>
              </p:cNvPr>
              <p:cNvSpPr>
                <a:spLocks noChangeArrowheads="1"/>
              </p:cNvSpPr>
              <p:nvPr/>
            </p:nvSpPr>
            <p:spPr bwMode="auto">
              <a:xfrm>
                <a:off x="4341" y="3098"/>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78" name="Rectangle 141">
                <a:extLst>
                  <a:ext uri="{FF2B5EF4-FFF2-40B4-BE49-F238E27FC236}">
                    <a16:creationId xmlns:a16="http://schemas.microsoft.com/office/drawing/2014/main" id="{81509D26-3C5A-53DB-CD50-4CC7D482B609}"/>
                  </a:ext>
                </a:extLst>
              </p:cNvPr>
              <p:cNvSpPr>
                <a:spLocks noChangeArrowheads="1"/>
              </p:cNvSpPr>
              <p:nvPr/>
            </p:nvSpPr>
            <p:spPr bwMode="auto">
              <a:xfrm>
                <a:off x="4395" y="3098"/>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$0.80</a:t>
                </a:r>
                <a:endParaRPr lang="en-US" altLang="en-US" sz="900" b="0">
                  <a:solidFill>
                    <a:srgbClr val="FF0000"/>
                  </a:solidFill>
                  <a:latin typeface="+mn-lt"/>
                </a:endParaRPr>
              </a:p>
            </p:txBody>
          </p:sp>
          <p:sp>
            <p:nvSpPr>
              <p:cNvPr id="379" name="Rectangle 142">
                <a:extLst>
                  <a:ext uri="{FF2B5EF4-FFF2-40B4-BE49-F238E27FC236}">
                    <a16:creationId xmlns:a16="http://schemas.microsoft.com/office/drawing/2014/main" id="{8B352D23-2287-8B91-4036-F207D58FDDAD}"/>
                  </a:ext>
                </a:extLst>
              </p:cNvPr>
              <p:cNvSpPr>
                <a:spLocks noChangeArrowheads="1"/>
              </p:cNvSpPr>
              <p:nvPr/>
            </p:nvSpPr>
            <p:spPr bwMode="auto">
              <a:xfrm>
                <a:off x="4501" y="3098"/>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a:t>
                </a:r>
                <a:endParaRPr lang="en-US" altLang="en-US" sz="900" b="0">
                  <a:solidFill>
                    <a:srgbClr val="FF0000"/>
                  </a:solidFill>
                  <a:latin typeface="+mn-lt"/>
                </a:endParaRPr>
              </a:p>
            </p:txBody>
          </p:sp>
          <p:sp>
            <p:nvSpPr>
              <p:cNvPr id="380" name="Rectangle 143">
                <a:extLst>
                  <a:ext uri="{FF2B5EF4-FFF2-40B4-BE49-F238E27FC236}">
                    <a16:creationId xmlns:a16="http://schemas.microsoft.com/office/drawing/2014/main" id="{72D5C53F-DB29-DF29-798D-2E93291AF2E3}"/>
                  </a:ext>
                </a:extLst>
              </p:cNvPr>
              <p:cNvSpPr>
                <a:spLocks noChangeArrowheads="1"/>
              </p:cNvSpPr>
              <p:nvPr/>
            </p:nvSpPr>
            <p:spPr bwMode="auto">
              <a:xfrm>
                <a:off x="4580" y="3098"/>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1,360</a:t>
                </a:r>
                <a:endParaRPr lang="en-US" altLang="en-US" sz="900" b="0">
                  <a:solidFill>
                    <a:srgbClr val="FF0000"/>
                  </a:solidFill>
                  <a:latin typeface="+mn-lt"/>
                </a:endParaRPr>
              </a:p>
            </p:txBody>
          </p:sp>
          <p:sp>
            <p:nvSpPr>
              <p:cNvPr id="381" name="Rectangle 144">
                <a:extLst>
                  <a:ext uri="{FF2B5EF4-FFF2-40B4-BE49-F238E27FC236}">
                    <a16:creationId xmlns:a16="http://schemas.microsoft.com/office/drawing/2014/main" id="{85DD9B69-0A26-57BB-CF6B-5F327F1C0C76}"/>
                  </a:ext>
                </a:extLst>
              </p:cNvPr>
              <p:cNvSpPr>
                <a:spLocks noChangeArrowheads="1"/>
              </p:cNvSpPr>
              <p:nvPr/>
            </p:nvSpPr>
            <p:spPr bwMode="auto">
              <a:xfrm>
                <a:off x="4645" y="3098"/>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136</a:t>
                </a:r>
                <a:endParaRPr lang="en-US" altLang="en-US" sz="900" b="0">
                  <a:solidFill>
                    <a:srgbClr val="FF0000"/>
                  </a:solidFill>
                  <a:latin typeface="+mn-lt"/>
                </a:endParaRPr>
              </a:p>
            </p:txBody>
          </p:sp>
          <p:sp>
            <p:nvSpPr>
              <p:cNvPr id="382" name="Rectangle 145">
                <a:extLst>
                  <a:ext uri="{FF2B5EF4-FFF2-40B4-BE49-F238E27FC236}">
                    <a16:creationId xmlns:a16="http://schemas.microsoft.com/office/drawing/2014/main" id="{D13B1566-9AB2-C4C9-76EE-4F44F7F597D6}"/>
                  </a:ext>
                </a:extLst>
              </p:cNvPr>
              <p:cNvSpPr>
                <a:spLocks noChangeArrowheads="1"/>
              </p:cNvSpPr>
              <p:nvPr/>
            </p:nvSpPr>
            <p:spPr bwMode="auto">
              <a:xfrm>
                <a:off x="3712" y="3127"/>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83" name="Rectangle 146">
                <a:extLst>
                  <a:ext uri="{FF2B5EF4-FFF2-40B4-BE49-F238E27FC236}">
                    <a16:creationId xmlns:a16="http://schemas.microsoft.com/office/drawing/2014/main" id="{6379F7C9-D1BF-FD18-FF5E-BD941D402775}"/>
                  </a:ext>
                </a:extLst>
              </p:cNvPr>
              <p:cNvSpPr>
                <a:spLocks noChangeArrowheads="1"/>
              </p:cNvSpPr>
              <p:nvPr/>
            </p:nvSpPr>
            <p:spPr bwMode="auto">
              <a:xfrm>
                <a:off x="3758" y="3127"/>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1,362</a:t>
                </a:r>
                <a:endParaRPr lang="en-US" altLang="en-US" sz="900" b="0">
                  <a:solidFill>
                    <a:srgbClr val="FF0000"/>
                  </a:solidFill>
                  <a:latin typeface="+mn-lt"/>
                </a:endParaRPr>
              </a:p>
            </p:txBody>
          </p:sp>
          <p:sp>
            <p:nvSpPr>
              <p:cNvPr id="384" name="Rectangle 147">
                <a:extLst>
                  <a:ext uri="{FF2B5EF4-FFF2-40B4-BE49-F238E27FC236}">
                    <a16:creationId xmlns:a16="http://schemas.microsoft.com/office/drawing/2014/main" id="{E8FBD422-040A-C138-1A21-0E9ED4D9BDFE}"/>
                  </a:ext>
                </a:extLst>
              </p:cNvPr>
              <p:cNvSpPr>
                <a:spLocks noChangeArrowheads="1"/>
              </p:cNvSpPr>
              <p:nvPr/>
            </p:nvSpPr>
            <p:spPr bwMode="auto">
              <a:xfrm>
                <a:off x="3839" y="3127"/>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52</a:t>
                </a:r>
                <a:endParaRPr lang="en-US" altLang="en-US" sz="900" b="0">
                  <a:solidFill>
                    <a:srgbClr val="FF0000"/>
                  </a:solidFill>
                  <a:latin typeface="+mn-lt"/>
                </a:endParaRPr>
              </a:p>
            </p:txBody>
          </p:sp>
          <p:sp>
            <p:nvSpPr>
              <p:cNvPr id="385" name="Rectangle 148">
                <a:extLst>
                  <a:ext uri="{FF2B5EF4-FFF2-40B4-BE49-F238E27FC236}">
                    <a16:creationId xmlns:a16="http://schemas.microsoft.com/office/drawing/2014/main" id="{74B2AC04-AC8E-21AD-6C0D-3D7D69FA5465}"/>
                  </a:ext>
                </a:extLst>
              </p:cNvPr>
              <p:cNvSpPr>
                <a:spLocks noChangeArrowheads="1"/>
              </p:cNvSpPr>
              <p:nvPr/>
            </p:nvSpPr>
            <p:spPr bwMode="auto">
              <a:xfrm>
                <a:off x="3926" y="3127"/>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1,414</a:t>
                </a:r>
                <a:endParaRPr lang="en-US" altLang="en-US" sz="900" b="0">
                  <a:solidFill>
                    <a:srgbClr val="FF0000"/>
                  </a:solidFill>
                  <a:latin typeface="+mn-lt"/>
                </a:endParaRPr>
              </a:p>
            </p:txBody>
          </p:sp>
          <p:sp>
            <p:nvSpPr>
              <p:cNvPr id="386" name="Rectangle 149">
                <a:extLst>
                  <a:ext uri="{FF2B5EF4-FFF2-40B4-BE49-F238E27FC236}">
                    <a16:creationId xmlns:a16="http://schemas.microsoft.com/office/drawing/2014/main" id="{080EFBD1-4368-B335-1E9E-6A7276CBE45B}"/>
                  </a:ext>
                </a:extLst>
              </p:cNvPr>
              <p:cNvSpPr>
                <a:spLocks noChangeArrowheads="1"/>
              </p:cNvSpPr>
              <p:nvPr/>
            </p:nvSpPr>
            <p:spPr bwMode="auto">
              <a:xfrm>
                <a:off x="4014" y="3127"/>
                <a:ext cx="12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FC2-03-0CP</a:t>
                </a:r>
                <a:endParaRPr lang="en-US" altLang="en-US" sz="900" b="0">
                  <a:solidFill>
                    <a:srgbClr val="FF0000"/>
                  </a:solidFill>
                  <a:latin typeface="+mn-lt"/>
                </a:endParaRPr>
              </a:p>
            </p:txBody>
          </p:sp>
          <p:sp>
            <p:nvSpPr>
              <p:cNvPr id="387" name="Rectangle 150">
                <a:extLst>
                  <a:ext uri="{FF2B5EF4-FFF2-40B4-BE49-F238E27FC236}">
                    <a16:creationId xmlns:a16="http://schemas.microsoft.com/office/drawing/2014/main" id="{A0FBEC09-6AAA-0B88-1EFD-F056E5F9772E}"/>
                  </a:ext>
                </a:extLst>
              </p:cNvPr>
              <p:cNvSpPr>
                <a:spLocks noChangeArrowheads="1"/>
              </p:cNvSpPr>
              <p:nvPr/>
            </p:nvSpPr>
            <p:spPr bwMode="auto">
              <a:xfrm>
                <a:off x="4166" y="3127"/>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480</a:t>
                </a:r>
                <a:endParaRPr lang="en-US" altLang="en-US" sz="900" b="0">
                  <a:solidFill>
                    <a:srgbClr val="FF0000"/>
                  </a:solidFill>
                  <a:latin typeface="+mn-lt"/>
                </a:endParaRPr>
              </a:p>
            </p:txBody>
          </p:sp>
          <p:sp>
            <p:nvSpPr>
              <p:cNvPr id="388" name="Rectangle 151">
                <a:extLst>
                  <a:ext uri="{FF2B5EF4-FFF2-40B4-BE49-F238E27FC236}">
                    <a16:creationId xmlns:a16="http://schemas.microsoft.com/office/drawing/2014/main" id="{DA31FADB-9D88-535F-7873-5EDD5C6ED6EA}"/>
                  </a:ext>
                </a:extLst>
              </p:cNvPr>
              <p:cNvSpPr>
                <a:spLocks noChangeArrowheads="1"/>
              </p:cNvSpPr>
              <p:nvPr/>
            </p:nvSpPr>
            <p:spPr bwMode="auto">
              <a:xfrm>
                <a:off x="4244" y="3127"/>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389" name="Rectangle 152">
                <a:extLst>
                  <a:ext uri="{FF2B5EF4-FFF2-40B4-BE49-F238E27FC236}">
                    <a16:creationId xmlns:a16="http://schemas.microsoft.com/office/drawing/2014/main" id="{7A1923C2-43A9-D2CC-18FA-DE4BB143C568}"/>
                  </a:ext>
                </a:extLst>
              </p:cNvPr>
              <p:cNvSpPr>
                <a:spLocks noChangeArrowheads="1"/>
              </p:cNvSpPr>
              <p:nvPr/>
            </p:nvSpPr>
            <p:spPr bwMode="auto">
              <a:xfrm>
                <a:off x="4341" y="3127"/>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390" name="Rectangle 153">
                <a:extLst>
                  <a:ext uri="{FF2B5EF4-FFF2-40B4-BE49-F238E27FC236}">
                    <a16:creationId xmlns:a16="http://schemas.microsoft.com/office/drawing/2014/main" id="{8B42A80C-FFD3-549A-84F0-2C62A12684D2}"/>
                  </a:ext>
                </a:extLst>
              </p:cNvPr>
              <p:cNvSpPr>
                <a:spLocks noChangeArrowheads="1"/>
              </p:cNvSpPr>
              <p:nvPr/>
            </p:nvSpPr>
            <p:spPr bwMode="auto">
              <a:xfrm>
                <a:off x="4395" y="3127"/>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$0.59</a:t>
                </a:r>
                <a:endParaRPr lang="en-US" altLang="en-US" sz="900" b="0">
                  <a:solidFill>
                    <a:srgbClr val="FF0000"/>
                  </a:solidFill>
                  <a:latin typeface="+mn-lt"/>
                </a:endParaRPr>
              </a:p>
            </p:txBody>
          </p:sp>
          <p:sp>
            <p:nvSpPr>
              <p:cNvPr id="391" name="Rectangle 154">
                <a:extLst>
                  <a:ext uri="{FF2B5EF4-FFF2-40B4-BE49-F238E27FC236}">
                    <a16:creationId xmlns:a16="http://schemas.microsoft.com/office/drawing/2014/main" id="{90C269C3-0A37-CD34-630B-26AEA672F450}"/>
                  </a:ext>
                </a:extLst>
              </p:cNvPr>
              <p:cNvSpPr>
                <a:spLocks noChangeArrowheads="1"/>
              </p:cNvSpPr>
              <p:nvPr/>
            </p:nvSpPr>
            <p:spPr bwMode="auto">
              <a:xfrm>
                <a:off x="4502" y="3127"/>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a:t>
                </a:r>
                <a:endParaRPr lang="en-US" altLang="en-US" sz="900" b="0">
                  <a:solidFill>
                    <a:srgbClr val="FF0000"/>
                  </a:solidFill>
                  <a:latin typeface="+mn-lt"/>
                </a:endParaRPr>
              </a:p>
            </p:txBody>
          </p:sp>
          <p:sp>
            <p:nvSpPr>
              <p:cNvPr id="392" name="Rectangle 155">
                <a:extLst>
                  <a:ext uri="{FF2B5EF4-FFF2-40B4-BE49-F238E27FC236}">
                    <a16:creationId xmlns:a16="http://schemas.microsoft.com/office/drawing/2014/main" id="{5DD6A09C-D59F-B258-2660-AC5DD4E09BBC}"/>
                  </a:ext>
                </a:extLst>
              </p:cNvPr>
              <p:cNvSpPr>
                <a:spLocks noChangeArrowheads="1"/>
              </p:cNvSpPr>
              <p:nvPr/>
            </p:nvSpPr>
            <p:spPr bwMode="auto">
              <a:xfrm>
                <a:off x="4581" y="3127"/>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48</a:t>
                </a:r>
                <a:endParaRPr lang="en-US" altLang="en-US" sz="900" b="0">
                  <a:solidFill>
                    <a:srgbClr val="FF0000"/>
                  </a:solidFill>
                  <a:latin typeface="+mn-lt"/>
                </a:endParaRPr>
              </a:p>
            </p:txBody>
          </p:sp>
          <p:sp>
            <p:nvSpPr>
              <p:cNvPr id="393" name="Rectangle 156">
                <a:extLst>
                  <a:ext uri="{FF2B5EF4-FFF2-40B4-BE49-F238E27FC236}">
                    <a16:creationId xmlns:a16="http://schemas.microsoft.com/office/drawing/2014/main" id="{F32ADBB4-DA24-3017-E167-40A4067753F9}"/>
                  </a:ext>
                </a:extLst>
              </p:cNvPr>
              <p:cNvSpPr>
                <a:spLocks noChangeArrowheads="1"/>
              </p:cNvSpPr>
              <p:nvPr/>
            </p:nvSpPr>
            <p:spPr bwMode="auto">
              <a:xfrm>
                <a:off x="4647" y="3127"/>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48</a:t>
                </a:r>
                <a:endParaRPr lang="en-US" altLang="en-US" sz="900" b="0">
                  <a:solidFill>
                    <a:srgbClr val="FF0000"/>
                  </a:solidFill>
                  <a:latin typeface="+mn-lt"/>
                </a:endParaRPr>
              </a:p>
            </p:txBody>
          </p:sp>
          <p:sp>
            <p:nvSpPr>
              <p:cNvPr id="394" name="Rectangle 157">
                <a:extLst>
                  <a:ext uri="{FF2B5EF4-FFF2-40B4-BE49-F238E27FC236}">
                    <a16:creationId xmlns:a16="http://schemas.microsoft.com/office/drawing/2014/main" id="{971FEE93-F7AE-A2A6-0309-2D2964969E0A}"/>
                  </a:ext>
                </a:extLst>
              </p:cNvPr>
              <p:cNvSpPr>
                <a:spLocks noChangeArrowheads="1"/>
              </p:cNvSpPr>
              <p:nvPr/>
            </p:nvSpPr>
            <p:spPr bwMode="auto">
              <a:xfrm>
                <a:off x="3712" y="3155"/>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395" name="Rectangle 158">
                <a:extLst>
                  <a:ext uri="{FF2B5EF4-FFF2-40B4-BE49-F238E27FC236}">
                    <a16:creationId xmlns:a16="http://schemas.microsoft.com/office/drawing/2014/main" id="{08061C2F-F578-75AF-88D7-258D1C97210F}"/>
                  </a:ext>
                </a:extLst>
              </p:cNvPr>
              <p:cNvSpPr>
                <a:spLocks noChangeArrowheads="1"/>
              </p:cNvSpPr>
              <p:nvPr/>
            </p:nvSpPr>
            <p:spPr bwMode="auto">
              <a:xfrm>
                <a:off x="3758" y="3155"/>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5,657</a:t>
                </a:r>
                <a:endParaRPr lang="en-US" altLang="en-US" sz="900" b="0">
                  <a:solidFill>
                    <a:srgbClr val="FF0000"/>
                  </a:solidFill>
                  <a:latin typeface="+mn-lt"/>
                </a:endParaRPr>
              </a:p>
            </p:txBody>
          </p:sp>
          <p:sp>
            <p:nvSpPr>
              <p:cNvPr id="396" name="Rectangle 159">
                <a:extLst>
                  <a:ext uri="{FF2B5EF4-FFF2-40B4-BE49-F238E27FC236}">
                    <a16:creationId xmlns:a16="http://schemas.microsoft.com/office/drawing/2014/main" id="{9DBDDBF0-31B7-5AC3-2BB8-9823E3FEE989}"/>
                  </a:ext>
                </a:extLst>
              </p:cNvPr>
              <p:cNvSpPr>
                <a:spLocks noChangeArrowheads="1"/>
              </p:cNvSpPr>
              <p:nvPr/>
            </p:nvSpPr>
            <p:spPr bwMode="auto">
              <a:xfrm>
                <a:off x="3836" y="3155"/>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1,395</a:t>
                </a:r>
                <a:endParaRPr lang="en-US" altLang="en-US" sz="900" b="0">
                  <a:solidFill>
                    <a:srgbClr val="FF0000"/>
                  </a:solidFill>
                  <a:latin typeface="+mn-lt"/>
                </a:endParaRPr>
              </a:p>
            </p:txBody>
          </p:sp>
          <p:sp>
            <p:nvSpPr>
              <p:cNvPr id="397" name="Rectangle 160">
                <a:extLst>
                  <a:ext uri="{FF2B5EF4-FFF2-40B4-BE49-F238E27FC236}">
                    <a16:creationId xmlns:a16="http://schemas.microsoft.com/office/drawing/2014/main" id="{9BFF50B2-E89A-CAAF-D419-7405EFD98324}"/>
                  </a:ext>
                </a:extLst>
              </p:cNvPr>
              <p:cNvSpPr>
                <a:spLocks noChangeArrowheads="1"/>
              </p:cNvSpPr>
              <p:nvPr/>
            </p:nvSpPr>
            <p:spPr bwMode="auto">
              <a:xfrm>
                <a:off x="3926" y="3155"/>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7,052</a:t>
                </a:r>
                <a:endParaRPr lang="en-US" altLang="en-US" sz="900" b="0">
                  <a:solidFill>
                    <a:srgbClr val="FF0000"/>
                  </a:solidFill>
                  <a:latin typeface="+mn-lt"/>
                </a:endParaRPr>
              </a:p>
            </p:txBody>
          </p:sp>
          <p:sp>
            <p:nvSpPr>
              <p:cNvPr id="398" name="Rectangle 161">
                <a:extLst>
                  <a:ext uri="{FF2B5EF4-FFF2-40B4-BE49-F238E27FC236}">
                    <a16:creationId xmlns:a16="http://schemas.microsoft.com/office/drawing/2014/main" id="{AE0D7EA1-CFBC-9625-8EF3-42E13A004B11}"/>
                  </a:ext>
                </a:extLst>
              </p:cNvPr>
              <p:cNvSpPr>
                <a:spLocks noChangeArrowheads="1"/>
              </p:cNvSpPr>
              <p:nvPr/>
            </p:nvSpPr>
            <p:spPr bwMode="auto">
              <a:xfrm>
                <a:off x="4017" y="3155"/>
                <a:ext cx="7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FC2-04</a:t>
                </a:r>
                <a:endParaRPr lang="en-US" altLang="en-US" sz="900" b="0">
                  <a:solidFill>
                    <a:srgbClr val="FF0000"/>
                  </a:solidFill>
                  <a:latin typeface="+mn-lt"/>
                </a:endParaRPr>
              </a:p>
            </p:txBody>
          </p:sp>
          <p:sp>
            <p:nvSpPr>
              <p:cNvPr id="399" name="Rectangle 162">
                <a:extLst>
                  <a:ext uri="{FF2B5EF4-FFF2-40B4-BE49-F238E27FC236}">
                    <a16:creationId xmlns:a16="http://schemas.microsoft.com/office/drawing/2014/main" id="{71AF3F2C-BF63-64F6-6E0B-74694BC5540D}"/>
                  </a:ext>
                </a:extLst>
              </p:cNvPr>
              <p:cNvSpPr>
                <a:spLocks noChangeArrowheads="1"/>
              </p:cNvSpPr>
              <p:nvPr/>
            </p:nvSpPr>
            <p:spPr bwMode="auto">
              <a:xfrm>
                <a:off x="4244" y="3155"/>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400" name="Rectangle 163">
                <a:extLst>
                  <a:ext uri="{FF2B5EF4-FFF2-40B4-BE49-F238E27FC236}">
                    <a16:creationId xmlns:a16="http://schemas.microsoft.com/office/drawing/2014/main" id="{B45C624E-8FF4-AD0F-14AB-BE1078F76866}"/>
                  </a:ext>
                </a:extLst>
              </p:cNvPr>
              <p:cNvSpPr>
                <a:spLocks noChangeArrowheads="1"/>
              </p:cNvSpPr>
              <p:nvPr/>
            </p:nvSpPr>
            <p:spPr bwMode="auto">
              <a:xfrm>
                <a:off x="4341" y="3155"/>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401" name="Rectangle 164">
                <a:extLst>
                  <a:ext uri="{FF2B5EF4-FFF2-40B4-BE49-F238E27FC236}">
                    <a16:creationId xmlns:a16="http://schemas.microsoft.com/office/drawing/2014/main" id="{8606D10D-AEB9-AE9B-85A1-871312541046}"/>
                  </a:ext>
                </a:extLst>
              </p:cNvPr>
              <p:cNvSpPr>
                <a:spLocks noChangeArrowheads="1"/>
              </p:cNvSpPr>
              <p:nvPr/>
            </p:nvSpPr>
            <p:spPr bwMode="auto">
              <a:xfrm>
                <a:off x="4395" y="3155"/>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$1.10</a:t>
                </a:r>
                <a:endParaRPr lang="en-US" altLang="en-US" sz="900" b="0">
                  <a:solidFill>
                    <a:srgbClr val="FF0000"/>
                  </a:solidFill>
                  <a:latin typeface="+mn-lt"/>
                </a:endParaRPr>
              </a:p>
            </p:txBody>
          </p:sp>
          <p:sp>
            <p:nvSpPr>
              <p:cNvPr id="402" name="Rectangle 165">
                <a:extLst>
                  <a:ext uri="{FF2B5EF4-FFF2-40B4-BE49-F238E27FC236}">
                    <a16:creationId xmlns:a16="http://schemas.microsoft.com/office/drawing/2014/main" id="{6676959A-AD19-556B-0A7A-A3C17B05E3D8}"/>
                  </a:ext>
                </a:extLst>
              </p:cNvPr>
              <p:cNvSpPr>
                <a:spLocks noChangeArrowheads="1"/>
              </p:cNvSpPr>
              <p:nvPr/>
            </p:nvSpPr>
            <p:spPr bwMode="auto">
              <a:xfrm>
                <a:off x="4501" y="3155"/>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a:t>
                </a:r>
                <a:endParaRPr lang="en-US" altLang="en-US" sz="900" b="0">
                  <a:solidFill>
                    <a:srgbClr val="FF0000"/>
                  </a:solidFill>
                  <a:latin typeface="+mn-lt"/>
                </a:endParaRPr>
              </a:p>
            </p:txBody>
          </p:sp>
          <p:sp>
            <p:nvSpPr>
              <p:cNvPr id="403" name="Rectangle 166">
                <a:extLst>
                  <a:ext uri="{FF2B5EF4-FFF2-40B4-BE49-F238E27FC236}">
                    <a16:creationId xmlns:a16="http://schemas.microsoft.com/office/drawing/2014/main" id="{D05C642B-77D9-1B4C-FD6A-298D709AC672}"/>
                  </a:ext>
                </a:extLst>
              </p:cNvPr>
              <p:cNvSpPr>
                <a:spLocks noChangeArrowheads="1"/>
              </p:cNvSpPr>
              <p:nvPr/>
            </p:nvSpPr>
            <p:spPr bwMode="auto">
              <a:xfrm>
                <a:off x="4579" y="3155"/>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830</a:t>
                </a:r>
                <a:endParaRPr lang="en-US" altLang="en-US" sz="900" b="0">
                  <a:solidFill>
                    <a:srgbClr val="FF0000"/>
                  </a:solidFill>
                  <a:latin typeface="+mn-lt"/>
                </a:endParaRPr>
              </a:p>
            </p:txBody>
          </p:sp>
          <p:sp>
            <p:nvSpPr>
              <p:cNvPr id="404" name="Rectangle 167">
                <a:extLst>
                  <a:ext uri="{FF2B5EF4-FFF2-40B4-BE49-F238E27FC236}">
                    <a16:creationId xmlns:a16="http://schemas.microsoft.com/office/drawing/2014/main" id="{C02B29FD-B460-43F1-60F1-2B2C9E02523E}"/>
                  </a:ext>
                </a:extLst>
              </p:cNvPr>
              <p:cNvSpPr>
                <a:spLocks noChangeArrowheads="1"/>
              </p:cNvSpPr>
              <p:nvPr/>
            </p:nvSpPr>
            <p:spPr bwMode="auto">
              <a:xfrm>
                <a:off x="4647" y="3155"/>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83</a:t>
                </a:r>
                <a:endParaRPr lang="en-US" altLang="en-US" sz="900" b="0">
                  <a:solidFill>
                    <a:srgbClr val="FF0000"/>
                  </a:solidFill>
                  <a:latin typeface="+mn-lt"/>
                </a:endParaRPr>
              </a:p>
            </p:txBody>
          </p:sp>
          <p:sp>
            <p:nvSpPr>
              <p:cNvPr id="405" name="Rectangle 168">
                <a:extLst>
                  <a:ext uri="{FF2B5EF4-FFF2-40B4-BE49-F238E27FC236}">
                    <a16:creationId xmlns:a16="http://schemas.microsoft.com/office/drawing/2014/main" id="{B2B5EBFC-D58F-2F30-E05E-8FFC96F08CBB}"/>
                  </a:ext>
                </a:extLst>
              </p:cNvPr>
              <p:cNvSpPr>
                <a:spLocks noChangeArrowheads="1"/>
              </p:cNvSpPr>
              <p:nvPr/>
            </p:nvSpPr>
            <p:spPr bwMode="auto">
              <a:xfrm>
                <a:off x="3712" y="3184"/>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406" name="Rectangle 169">
                <a:extLst>
                  <a:ext uri="{FF2B5EF4-FFF2-40B4-BE49-F238E27FC236}">
                    <a16:creationId xmlns:a16="http://schemas.microsoft.com/office/drawing/2014/main" id="{FD37FDFF-2D93-A1EF-F77D-65259C090860}"/>
                  </a:ext>
                </a:extLst>
              </p:cNvPr>
              <p:cNvSpPr>
                <a:spLocks noChangeArrowheads="1"/>
              </p:cNvSpPr>
              <p:nvPr/>
            </p:nvSpPr>
            <p:spPr bwMode="auto">
              <a:xfrm>
                <a:off x="3758" y="3184"/>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3,548</a:t>
                </a:r>
                <a:endParaRPr lang="en-US" altLang="en-US" sz="900" b="0">
                  <a:solidFill>
                    <a:srgbClr val="FF0000"/>
                  </a:solidFill>
                  <a:latin typeface="+mn-lt"/>
                </a:endParaRPr>
              </a:p>
            </p:txBody>
          </p:sp>
          <p:sp>
            <p:nvSpPr>
              <p:cNvPr id="407" name="Rectangle 170">
                <a:extLst>
                  <a:ext uri="{FF2B5EF4-FFF2-40B4-BE49-F238E27FC236}">
                    <a16:creationId xmlns:a16="http://schemas.microsoft.com/office/drawing/2014/main" id="{FAFF3E4A-301A-7F49-4D67-74CA55991E42}"/>
                  </a:ext>
                </a:extLst>
              </p:cNvPr>
              <p:cNvSpPr>
                <a:spLocks noChangeArrowheads="1"/>
              </p:cNvSpPr>
              <p:nvPr/>
            </p:nvSpPr>
            <p:spPr bwMode="auto">
              <a:xfrm>
                <a:off x="3837" y="3184"/>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850</a:t>
                </a:r>
                <a:endParaRPr lang="en-US" altLang="en-US" sz="900" b="0">
                  <a:solidFill>
                    <a:srgbClr val="FF0000"/>
                  </a:solidFill>
                  <a:latin typeface="+mn-lt"/>
                </a:endParaRPr>
              </a:p>
            </p:txBody>
          </p:sp>
          <p:sp>
            <p:nvSpPr>
              <p:cNvPr id="408" name="Rectangle 171">
                <a:extLst>
                  <a:ext uri="{FF2B5EF4-FFF2-40B4-BE49-F238E27FC236}">
                    <a16:creationId xmlns:a16="http://schemas.microsoft.com/office/drawing/2014/main" id="{F7D3A5CE-F333-F4E4-C76E-BA5445D84255}"/>
                  </a:ext>
                </a:extLst>
              </p:cNvPr>
              <p:cNvSpPr>
                <a:spLocks noChangeArrowheads="1"/>
              </p:cNvSpPr>
              <p:nvPr/>
            </p:nvSpPr>
            <p:spPr bwMode="auto">
              <a:xfrm>
                <a:off x="3926" y="3184"/>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4,398</a:t>
                </a:r>
                <a:endParaRPr lang="en-US" altLang="en-US" sz="900" b="0">
                  <a:solidFill>
                    <a:srgbClr val="FF0000"/>
                  </a:solidFill>
                  <a:latin typeface="+mn-lt"/>
                </a:endParaRPr>
              </a:p>
            </p:txBody>
          </p:sp>
          <p:sp>
            <p:nvSpPr>
              <p:cNvPr id="409" name="Rectangle 172">
                <a:extLst>
                  <a:ext uri="{FF2B5EF4-FFF2-40B4-BE49-F238E27FC236}">
                    <a16:creationId xmlns:a16="http://schemas.microsoft.com/office/drawing/2014/main" id="{DEF251A1-D343-2B42-3B19-2BD8632AAC14}"/>
                  </a:ext>
                </a:extLst>
              </p:cNvPr>
              <p:cNvSpPr>
                <a:spLocks noChangeArrowheads="1"/>
              </p:cNvSpPr>
              <p:nvPr/>
            </p:nvSpPr>
            <p:spPr bwMode="auto">
              <a:xfrm>
                <a:off x="4014" y="3184"/>
                <a:ext cx="12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FC2-04-0CP</a:t>
                </a:r>
                <a:endParaRPr lang="en-US" altLang="en-US" sz="900" b="0">
                  <a:solidFill>
                    <a:srgbClr val="FF0000"/>
                  </a:solidFill>
                  <a:latin typeface="+mn-lt"/>
                </a:endParaRPr>
              </a:p>
            </p:txBody>
          </p:sp>
          <p:sp>
            <p:nvSpPr>
              <p:cNvPr id="410" name="Rectangle 173">
                <a:extLst>
                  <a:ext uri="{FF2B5EF4-FFF2-40B4-BE49-F238E27FC236}">
                    <a16:creationId xmlns:a16="http://schemas.microsoft.com/office/drawing/2014/main" id="{4B5C7391-2951-58BA-76B9-8F6436CB8EFB}"/>
                  </a:ext>
                </a:extLst>
              </p:cNvPr>
              <p:cNvSpPr>
                <a:spLocks noChangeArrowheads="1"/>
              </p:cNvSpPr>
              <p:nvPr/>
            </p:nvSpPr>
            <p:spPr bwMode="auto">
              <a:xfrm>
                <a:off x="4166" y="3184"/>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2,911</a:t>
                </a:r>
                <a:endParaRPr lang="en-US" altLang="en-US" sz="900" b="0">
                  <a:solidFill>
                    <a:srgbClr val="FF0000"/>
                  </a:solidFill>
                  <a:latin typeface="+mn-lt"/>
                </a:endParaRPr>
              </a:p>
            </p:txBody>
          </p:sp>
          <p:sp>
            <p:nvSpPr>
              <p:cNvPr id="411" name="Rectangle 174">
                <a:extLst>
                  <a:ext uri="{FF2B5EF4-FFF2-40B4-BE49-F238E27FC236}">
                    <a16:creationId xmlns:a16="http://schemas.microsoft.com/office/drawing/2014/main" id="{372DB3CE-4D0F-30E7-2C44-D09128AFD052}"/>
                  </a:ext>
                </a:extLst>
              </p:cNvPr>
              <p:cNvSpPr>
                <a:spLocks noChangeArrowheads="1"/>
              </p:cNvSpPr>
              <p:nvPr/>
            </p:nvSpPr>
            <p:spPr bwMode="auto">
              <a:xfrm>
                <a:off x="4244" y="3184"/>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412" name="Rectangle 175">
                <a:extLst>
                  <a:ext uri="{FF2B5EF4-FFF2-40B4-BE49-F238E27FC236}">
                    <a16:creationId xmlns:a16="http://schemas.microsoft.com/office/drawing/2014/main" id="{9CBEB7C9-76B5-8451-02D9-068A7A616D4A}"/>
                  </a:ext>
                </a:extLst>
              </p:cNvPr>
              <p:cNvSpPr>
                <a:spLocks noChangeArrowheads="1"/>
              </p:cNvSpPr>
              <p:nvPr/>
            </p:nvSpPr>
            <p:spPr bwMode="auto">
              <a:xfrm>
                <a:off x="4341" y="3184"/>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413" name="Rectangle 176">
                <a:extLst>
                  <a:ext uri="{FF2B5EF4-FFF2-40B4-BE49-F238E27FC236}">
                    <a16:creationId xmlns:a16="http://schemas.microsoft.com/office/drawing/2014/main" id="{788F201D-51F9-2046-5072-7F846A413F67}"/>
                  </a:ext>
                </a:extLst>
              </p:cNvPr>
              <p:cNvSpPr>
                <a:spLocks noChangeArrowheads="1"/>
              </p:cNvSpPr>
              <p:nvPr/>
            </p:nvSpPr>
            <p:spPr bwMode="auto">
              <a:xfrm>
                <a:off x="4395" y="3184"/>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$0.68</a:t>
                </a:r>
                <a:endParaRPr lang="en-US" altLang="en-US" sz="900" b="0">
                  <a:solidFill>
                    <a:srgbClr val="FF0000"/>
                  </a:solidFill>
                  <a:latin typeface="+mn-lt"/>
                </a:endParaRPr>
              </a:p>
            </p:txBody>
          </p:sp>
          <p:sp>
            <p:nvSpPr>
              <p:cNvPr id="414" name="Rectangle 177">
                <a:extLst>
                  <a:ext uri="{FF2B5EF4-FFF2-40B4-BE49-F238E27FC236}">
                    <a16:creationId xmlns:a16="http://schemas.microsoft.com/office/drawing/2014/main" id="{339BAFC9-3BC3-DA41-CF06-E19F463F538C}"/>
                  </a:ext>
                </a:extLst>
              </p:cNvPr>
              <p:cNvSpPr>
                <a:spLocks noChangeArrowheads="1"/>
              </p:cNvSpPr>
              <p:nvPr/>
            </p:nvSpPr>
            <p:spPr bwMode="auto">
              <a:xfrm>
                <a:off x="4502" y="3184"/>
                <a:ext cx="13"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3</a:t>
                </a:r>
                <a:endParaRPr lang="en-US" altLang="en-US" sz="900" b="0">
                  <a:solidFill>
                    <a:srgbClr val="FF0000"/>
                  </a:solidFill>
                  <a:latin typeface="+mn-lt"/>
                </a:endParaRPr>
              </a:p>
            </p:txBody>
          </p:sp>
          <p:sp>
            <p:nvSpPr>
              <p:cNvPr id="415" name="Rectangle 178">
                <a:extLst>
                  <a:ext uri="{FF2B5EF4-FFF2-40B4-BE49-F238E27FC236}">
                    <a16:creationId xmlns:a16="http://schemas.microsoft.com/office/drawing/2014/main" id="{272A9565-6F85-DF9A-397A-6111F15878B4}"/>
                  </a:ext>
                </a:extLst>
              </p:cNvPr>
              <p:cNvSpPr>
                <a:spLocks noChangeArrowheads="1"/>
              </p:cNvSpPr>
              <p:nvPr/>
            </p:nvSpPr>
            <p:spPr bwMode="auto">
              <a:xfrm>
                <a:off x="4579" y="3184"/>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600</a:t>
                </a:r>
                <a:endParaRPr lang="en-US" altLang="en-US" sz="900" b="0">
                  <a:solidFill>
                    <a:srgbClr val="FF0000"/>
                  </a:solidFill>
                  <a:latin typeface="+mn-lt"/>
                </a:endParaRPr>
              </a:p>
            </p:txBody>
          </p:sp>
          <p:sp>
            <p:nvSpPr>
              <p:cNvPr id="416" name="Rectangle 179">
                <a:extLst>
                  <a:ext uri="{FF2B5EF4-FFF2-40B4-BE49-F238E27FC236}">
                    <a16:creationId xmlns:a16="http://schemas.microsoft.com/office/drawing/2014/main" id="{D46DCD76-735E-DF12-6687-2CBE453D7F07}"/>
                  </a:ext>
                </a:extLst>
              </p:cNvPr>
              <p:cNvSpPr>
                <a:spLocks noChangeArrowheads="1"/>
              </p:cNvSpPr>
              <p:nvPr/>
            </p:nvSpPr>
            <p:spPr bwMode="auto">
              <a:xfrm>
                <a:off x="4645" y="3184"/>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200</a:t>
                </a:r>
                <a:endParaRPr lang="en-US" altLang="en-US" sz="900" b="0">
                  <a:solidFill>
                    <a:srgbClr val="FF0000"/>
                  </a:solidFill>
                  <a:latin typeface="+mn-lt"/>
                </a:endParaRPr>
              </a:p>
            </p:txBody>
          </p:sp>
          <p:sp>
            <p:nvSpPr>
              <p:cNvPr id="417" name="Rectangle 180">
                <a:extLst>
                  <a:ext uri="{FF2B5EF4-FFF2-40B4-BE49-F238E27FC236}">
                    <a16:creationId xmlns:a16="http://schemas.microsoft.com/office/drawing/2014/main" id="{FFA88B30-D7C9-5D53-5B1F-4F4C640EC5E7}"/>
                  </a:ext>
                </a:extLst>
              </p:cNvPr>
              <p:cNvSpPr>
                <a:spLocks noChangeArrowheads="1"/>
              </p:cNvSpPr>
              <p:nvPr/>
            </p:nvSpPr>
            <p:spPr bwMode="auto">
              <a:xfrm>
                <a:off x="3712" y="3212"/>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418" name="Rectangle 181">
                <a:extLst>
                  <a:ext uri="{FF2B5EF4-FFF2-40B4-BE49-F238E27FC236}">
                    <a16:creationId xmlns:a16="http://schemas.microsoft.com/office/drawing/2014/main" id="{80E2ED15-AA0B-5663-00E2-D05B2511BEC9}"/>
                  </a:ext>
                </a:extLst>
              </p:cNvPr>
              <p:cNvSpPr>
                <a:spLocks noChangeArrowheads="1"/>
              </p:cNvSpPr>
              <p:nvPr/>
            </p:nvSpPr>
            <p:spPr bwMode="auto">
              <a:xfrm>
                <a:off x="3756" y="3212"/>
                <a:ext cx="7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19,760</a:t>
                </a:r>
                <a:endParaRPr lang="en-US" altLang="en-US" sz="900" b="0">
                  <a:solidFill>
                    <a:srgbClr val="FF0000"/>
                  </a:solidFill>
                  <a:latin typeface="+mn-lt"/>
                </a:endParaRPr>
              </a:p>
            </p:txBody>
          </p:sp>
          <p:sp>
            <p:nvSpPr>
              <p:cNvPr id="419" name="Rectangle 182">
                <a:extLst>
                  <a:ext uri="{FF2B5EF4-FFF2-40B4-BE49-F238E27FC236}">
                    <a16:creationId xmlns:a16="http://schemas.microsoft.com/office/drawing/2014/main" id="{9D8EF343-07B0-F98F-827A-ED3E34BFDCC0}"/>
                  </a:ext>
                </a:extLst>
              </p:cNvPr>
              <p:cNvSpPr>
                <a:spLocks noChangeArrowheads="1"/>
              </p:cNvSpPr>
              <p:nvPr/>
            </p:nvSpPr>
            <p:spPr bwMode="auto">
              <a:xfrm>
                <a:off x="3836" y="3212"/>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5,057</a:t>
                </a:r>
                <a:endParaRPr lang="en-US" altLang="en-US" sz="900" b="0">
                  <a:solidFill>
                    <a:srgbClr val="FF0000"/>
                  </a:solidFill>
                  <a:latin typeface="+mn-lt"/>
                </a:endParaRPr>
              </a:p>
            </p:txBody>
          </p:sp>
          <p:sp>
            <p:nvSpPr>
              <p:cNvPr id="420" name="Rectangle 183">
                <a:extLst>
                  <a:ext uri="{FF2B5EF4-FFF2-40B4-BE49-F238E27FC236}">
                    <a16:creationId xmlns:a16="http://schemas.microsoft.com/office/drawing/2014/main" id="{1D23E0D5-EA77-2D2E-7BE2-DC28105158CC}"/>
                  </a:ext>
                </a:extLst>
              </p:cNvPr>
              <p:cNvSpPr>
                <a:spLocks noChangeArrowheads="1"/>
              </p:cNvSpPr>
              <p:nvPr/>
            </p:nvSpPr>
            <p:spPr bwMode="auto">
              <a:xfrm>
                <a:off x="3924" y="3212"/>
                <a:ext cx="7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24,817</a:t>
                </a:r>
                <a:endParaRPr lang="en-US" altLang="en-US" sz="900" b="0">
                  <a:solidFill>
                    <a:srgbClr val="FF0000"/>
                  </a:solidFill>
                  <a:latin typeface="+mn-lt"/>
                </a:endParaRPr>
              </a:p>
            </p:txBody>
          </p:sp>
          <p:sp>
            <p:nvSpPr>
              <p:cNvPr id="421" name="Rectangle 184">
                <a:extLst>
                  <a:ext uri="{FF2B5EF4-FFF2-40B4-BE49-F238E27FC236}">
                    <a16:creationId xmlns:a16="http://schemas.microsoft.com/office/drawing/2014/main" id="{BACF1182-0A50-495A-5639-A027F0842F03}"/>
                  </a:ext>
                </a:extLst>
              </p:cNvPr>
              <p:cNvSpPr>
                <a:spLocks noChangeArrowheads="1"/>
              </p:cNvSpPr>
              <p:nvPr/>
            </p:nvSpPr>
            <p:spPr bwMode="auto">
              <a:xfrm>
                <a:off x="4017" y="3212"/>
                <a:ext cx="7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FC2-05</a:t>
                </a:r>
                <a:endParaRPr lang="en-US" altLang="en-US" sz="900" b="0">
                  <a:solidFill>
                    <a:srgbClr val="FF0000"/>
                  </a:solidFill>
                  <a:latin typeface="+mn-lt"/>
                </a:endParaRPr>
              </a:p>
            </p:txBody>
          </p:sp>
          <p:sp>
            <p:nvSpPr>
              <p:cNvPr id="422" name="Rectangle 185">
                <a:extLst>
                  <a:ext uri="{FF2B5EF4-FFF2-40B4-BE49-F238E27FC236}">
                    <a16:creationId xmlns:a16="http://schemas.microsoft.com/office/drawing/2014/main" id="{BCBB76D0-572E-E569-F56F-3106B42D9240}"/>
                  </a:ext>
                </a:extLst>
              </p:cNvPr>
              <p:cNvSpPr>
                <a:spLocks noChangeArrowheads="1"/>
              </p:cNvSpPr>
              <p:nvPr/>
            </p:nvSpPr>
            <p:spPr bwMode="auto">
              <a:xfrm>
                <a:off x="4166" y="3212"/>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7,432</a:t>
                </a:r>
                <a:endParaRPr lang="en-US" altLang="en-US" sz="900" b="0">
                  <a:solidFill>
                    <a:srgbClr val="FF0000"/>
                  </a:solidFill>
                  <a:latin typeface="+mn-lt"/>
                </a:endParaRPr>
              </a:p>
            </p:txBody>
          </p:sp>
          <p:sp>
            <p:nvSpPr>
              <p:cNvPr id="423" name="Rectangle 186">
                <a:extLst>
                  <a:ext uri="{FF2B5EF4-FFF2-40B4-BE49-F238E27FC236}">
                    <a16:creationId xmlns:a16="http://schemas.microsoft.com/office/drawing/2014/main" id="{343D62ED-DB31-7EB8-9486-B42D5E4B993E}"/>
                  </a:ext>
                </a:extLst>
              </p:cNvPr>
              <p:cNvSpPr>
                <a:spLocks noChangeArrowheads="1"/>
              </p:cNvSpPr>
              <p:nvPr/>
            </p:nvSpPr>
            <p:spPr bwMode="auto">
              <a:xfrm>
                <a:off x="4244" y="3212"/>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424" name="Rectangle 187">
                <a:extLst>
                  <a:ext uri="{FF2B5EF4-FFF2-40B4-BE49-F238E27FC236}">
                    <a16:creationId xmlns:a16="http://schemas.microsoft.com/office/drawing/2014/main" id="{4EF0251B-6CEB-159C-3843-41D88C161A15}"/>
                  </a:ext>
                </a:extLst>
              </p:cNvPr>
              <p:cNvSpPr>
                <a:spLocks noChangeArrowheads="1"/>
              </p:cNvSpPr>
              <p:nvPr/>
            </p:nvSpPr>
            <p:spPr bwMode="auto">
              <a:xfrm>
                <a:off x="4341" y="3212"/>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425" name="Rectangle 188">
                <a:extLst>
                  <a:ext uri="{FF2B5EF4-FFF2-40B4-BE49-F238E27FC236}">
                    <a16:creationId xmlns:a16="http://schemas.microsoft.com/office/drawing/2014/main" id="{D47673CA-BC2B-F41A-834D-154DA60E6418}"/>
                  </a:ext>
                </a:extLst>
              </p:cNvPr>
              <p:cNvSpPr>
                <a:spLocks noChangeArrowheads="1"/>
              </p:cNvSpPr>
              <p:nvPr/>
            </p:nvSpPr>
            <p:spPr bwMode="auto">
              <a:xfrm>
                <a:off x="4395" y="3212"/>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$1.18</a:t>
                </a:r>
                <a:endParaRPr lang="en-US" altLang="en-US" sz="900" b="0">
                  <a:solidFill>
                    <a:srgbClr val="FF0000"/>
                  </a:solidFill>
                  <a:latin typeface="+mn-lt"/>
                </a:endParaRPr>
              </a:p>
            </p:txBody>
          </p:sp>
          <p:sp>
            <p:nvSpPr>
              <p:cNvPr id="426" name="Rectangle 189">
                <a:extLst>
                  <a:ext uri="{FF2B5EF4-FFF2-40B4-BE49-F238E27FC236}">
                    <a16:creationId xmlns:a16="http://schemas.microsoft.com/office/drawing/2014/main" id="{CD36A16E-D45D-7C81-CBF6-EB8AD95267E0}"/>
                  </a:ext>
                </a:extLst>
              </p:cNvPr>
              <p:cNvSpPr>
                <a:spLocks noChangeArrowheads="1"/>
              </p:cNvSpPr>
              <p:nvPr/>
            </p:nvSpPr>
            <p:spPr bwMode="auto">
              <a:xfrm>
                <a:off x="4501" y="3212"/>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45</a:t>
                </a:r>
                <a:endParaRPr lang="en-US" altLang="en-US" sz="900" b="0">
                  <a:solidFill>
                    <a:srgbClr val="FF0000"/>
                  </a:solidFill>
                  <a:latin typeface="+mn-lt"/>
                </a:endParaRPr>
              </a:p>
            </p:txBody>
          </p:sp>
          <p:sp>
            <p:nvSpPr>
              <p:cNvPr id="427" name="Rectangle 190">
                <a:extLst>
                  <a:ext uri="{FF2B5EF4-FFF2-40B4-BE49-F238E27FC236}">
                    <a16:creationId xmlns:a16="http://schemas.microsoft.com/office/drawing/2014/main" id="{925BF078-BFB5-6D55-DA43-ABEDA3B8A28C}"/>
                  </a:ext>
                </a:extLst>
              </p:cNvPr>
              <p:cNvSpPr>
                <a:spLocks noChangeArrowheads="1"/>
              </p:cNvSpPr>
              <p:nvPr/>
            </p:nvSpPr>
            <p:spPr bwMode="auto">
              <a:xfrm>
                <a:off x="4580" y="3212"/>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7,807</a:t>
                </a:r>
                <a:endParaRPr lang="en-US" altLang="en-US" sz="900" b="0">
                  <a:solidFill>
                    <a:srgbClr val="FF0000"/>
                  </a:solidFill>
                  <a:latin typeface="+mn-lt"/>
                </a:endParaRPr>
              </a:p>
            </p:txBody>
          </p:sp>
          <p:sp>
            <p:nvSpPr>
              <p:cNvPr id="428" name="Rectangle 191">
                <a:extLst>
                  <a:ext uri="{FF2B5EF4-FFF2-40B4-BE49-F238E27FC236}">
                    <a16:creationId xmlns:a16="http://schemas.microsoft.com/office/drawing/2014/main" id="{7D09D7F8-CFA4-0D6D-6607-A6DA76775874}"/>
                  </a:ext>
                </a:extLst>
              </p:cNvPr>
              <p:cNvSpPr>
                <a:spLocks noChangeArrowheads="1"/>
              </p:cNvSpPr>
              <p:nvPr/>
            </p:nvSpPr>
            <p:spPr bwMode="auto">
              <a:xfrm>
                <a:off x="4643" y="3212"/>
                <a:ext cx="72"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173.49</a:t>
                </a:r>
                <a:endParaRPr lang="en-US" altLang="en-US" sz="900" b="0">
                  <a:solidFill>
                    <a:srgbClr val="FF0000"/>
                  </a:solidFill>
                  <a:latin typeface="+mn-lt"/>
                </a:endParaRPr>
              </a:p>
            </p:txBody>
          </p:sp>
          <p:sp>
            <p:nvSpPr>
              <p:cNvPr id="429" name="Rectangle 192">
                <a:extLst>
                  <a:ext uri="{FF2B5EF4-FFF2-40B4-BE49-F238E27FC236}">
                    <a16:creationId xmlns:a16="http://schemas.microsoft.com/office/drawing/2014/main" id="{DB8B3C3B-0C0F-A5C4-6812-ECFBC6B1C2D7}"/>
                  </a:ext>
                </a:extLst>
              </p:cNvPr>
              <p:cNvSpPr>
                <a:spLocks noChangeArrowheads="1"/>
              </p:cNvSpPr>
              <p:nvPr/>
            </p:nvSpPr>
            <p:spPr bwMode="auto">
              <a:xfrm>
                <a:off x="4880" y="3212"/>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138</a:t>
                </a:r>
                <a:endParaRPr lang="en-US" altLang="en-US" sz="900" b="0">
                  <a:solidFill>
                    <a:srgbClr val="FF0000"/>
                  </a:solidFill>
                  <a:latin typeface="+mn-lt"/>
                </a:endParaRPr>
              </a:p>
            </p:txBody>
          </p:sp>
          <p:sp>
            <p:nvSpPr>
              <p:cNvPr id="430" name="Rectangle 193">
                <a:extLst>
                  <a:ext uri="{FF2B5EF4-FFF2-40B4-BE49-F238E27FC236}">
                    <a16:creationId xmlns:a16="http://schemas.microsoft.com/office/drawing/2014/main" id="{F5033364-ECFA-9E00-44FD-FADAB2A37495}"/>
                  </a:ext>
                </a:extLst>
              </p:cNvPr>
              <p:cNvSpPr>
                <a:spLocks noChangeArrowheads="1"/>
              </p:cNvSpPr>
              <p:nvPr/>
            </p:nvSpPr>
            <p:spPr bwMode="auto">
              <a:xfrm>
                <a:off x="4936" y="3212"/>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675</a:t>
                </a:r>
                <a:endParaRPr lang="en-US" altLang="en-US" sz="900" b="0">
                  <a:solidFill>
                    <a:srgbClr val="FF0000"/>
                  </a:solidFill>
                  <a:latin typeface="+mn-lt"/>
                </a:endParaRPr>
              </a:p>
            </p:txBody>
          </p:sp>
          <p:sp>
            <p:nvSpPr>
              <p:cNvPr id="431" name="Rectangle 194">
                <a:extLst>
                  <a:ext uri="{FF2B5EF4-FFF2-40B4-BE49-F238E27FC236}">
                    <a16:creationId xmlns:a16="http://schemas.microsoft.com/office/drawing/2014/main" id="{3497B97E-904F-3305-94FA-6F6294CA98FB}"/>
                  </a:ext>
                </a:extLst>
              </p:cNvPr>
              <p:cNvSpPr>
                <a:spLocks noChangeArrowheads="1"/>
              </p:cNvSpPr>
              <p:nvPr/>
            </p:nvSpPr>
            <p:spPr bwMode="auto">
              <a:xfrm>
                <a:off x="3712" y="3241"/>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432" name="Rectangle 195">
                <a:extLst>
                  <a:ext uri="{FF2B5EF4-FFF2-40B4-BE49-F238E27FC236}">
                    <a16:creationId xmlns:a16="http://schemas.microsoft.com/office/drawing/2014/main" id="{7EFA2494-C2D2-25CF-33DB-3D4C6238A86B}"/>
                  </a:ext>
                </a:extLst>
              </p:cNvPr>
              <p:cNvSpPr>
                <a:spLocks noChangeArrowheads="1"/>
              </p:cNvSpPr>
              <p:nvPr/>
            </p:nvSpPr>
            <p:spPr bwMode="auto">
              <a:xfrm>
                <a:off x="3758" y="3241"/>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9,508</a:t>
                </a:r>
                <a:endParaRPr lang="en-US" altLang="en-US" sz="900" b="0">
                  <a:solidFill>
                    <a:srgbClr val="FF0000"/>
                  </a:solidFill>
                  <a:latin typeface="+mn-lt"/>
                </a:endParaRPr>
              </a:p>
            </p:txBody>
          </p:sp>
          <p:sp>
            <p:nvSpPr>
              <p:cNvPr id="433" name="Rectangle 196">
                <a:extLst>
                  <a:ext uri="{FF2B5EF4-FFF2-40B4-BE49-F238E27FC236}">
                    <a16:creationId xmlns:a16="http://schemas.microsoft.com/office/drawing/2014/main" id="{465085D1-255C-BD86-B887-032FA751796C}"/>
                  </a:ext>
                </a:extLst>
              </p:cNvPr>
              <p:cNvSpPr>
                <a:spLocks noChangeArrowheads="1"/>
              </p:cNvSpPr>
              <p:nvPr/>
            </p:nvSpPr>
            <p:spPr bwMode="auto">
              <a:xfrm>
                <a:off x="3836" y="3241"/>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1,006</a:t>
                </a:r>
                <a:endParaRPr lang="en-US" altLang="en-US" sz="900" b="0">
                  <a:solidFill>
                    <a:srgbClr val="FF0000"/>
                  </a:solidFill>
                  <a:latin typeface="+mn-lt"/>
                </a:endParaRPr>
              </a:p>
            </p:txBody>
          </p:sp>
          <p:sp>
            <p:nvSpPr>
              <p:cNvPr id="434" name="Rectangle 197">
                <a:extLst>
                  <a:ext uri="{FF2B5EF4-FFF2-40B4-BE49-F238E27FC236}">
                    <a16:creationId xmlns:a16="http://schemas.microsoft.com/office/drawing/2014/main" id="{45F85F70-6A6A-ED02-78E6-1AA8A0B17187}"/>
                  </a:ext>
                </a:extLst>
              </p:cNvPr>
              <p:cNvSpPr>
                <a:spLocks noChangeArrowheads="1"/>
              </p:cNvSpPr>
              <p:nvPr/>
            </p:nvSpPr>
            <p:spPr bwMode="auto">
              <a:xfrm>
                <a:off x="3924" y="3241"/>
                <a:ext cx="71"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10,514</a:t>
                </a:r>
                <a:endParaRPr lang="en-US" altLang="en-US" sz="900" b="0">
                  <a:solidFill>
                    <a:srgbClr val="FF0000"/>
                  </a:solidFill>
                  <a:latin typeface="+mn-lt"/>
                </a:endParaRPr>
              </a:p>
            </p:txBody>
          </p:sp>
          <p:sp>
            <p:nvSpPr>
              <p:cNvPr id="435" name="Rectangle 198">
                <a:extLst>
                  <a:ext uri="{FF2B5EF4-FFF2-40B4-BE49-F238E27FC236}">
                    <a16:creationId xmlns:a16="http://schemas.microsoft.com/office/drawing/2014/main" id="{62B99C88-6D75-2D8C-70C9-446653835DCD}"/>
                  </a:ext>
                </a:extLst>
              </p:cNvPr>
              <p:cNvSpPr>
                <a:spLocks noChangeArrowheads="1"/>
              </p:cNvSpPr>
              <p:nvPr/>
            </p:nvSpPr>
            <p:spPr bwMode="auto">
              <a:xfrm>
                <a:off x="4014" y="3241"/>
                <a:ext cx="12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FC2-05-0CP</a:t>
                </a:r>
                <a:endParaRPr lang="en-US" altLang="en-US" sz="900" b="0">
                  <a:solidFill>
                    <a:srgbClr val="FF0000"/>
                  </a:solidFill>
                  <a:latin typeface="+mn-lt"/>
                </a:endParaRPr>
              </a:p>
            </p:txBody>
          </p:sp>
          <p:sp>
            <p:nvSpPr>
              <p:cNvPr id="436" name="Rectangle 199">
                <a:extLst>
                  <a:ext uri="{FF2B5EF4-FFF2-40B4-BE49-F238E27FC236}">
                    <a16:creationId xmlns:a16="http://schemas.microsoft.com/office/drawing/2014/main" id="{F676DE78-F419-70A1-F4AC-0D94161343D1}"/>
                  </a:ext>
                </a:extLst>
              </p:cNvPr>
              <p:cNvSpPr>
                <a:spLocks noChangeArrowheads="1"/>
              </p:cNvSpPr>
              <p:nvPr/>
            </p:nvSpPr>
            <p:spPr bwMode="auto">
              <a:xfrm>
                <a:off x="4166" y="3241"/>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4,078</a:t>
                </a:r>
                <a:endParaRPr lang="en-US" altLang="en-US" sz="900" b="0">
                  <a:solidFill>
                    <a:srgbClr val="FF0000"/>
                  </a:solidFill>
                  <a:latin typeface="+mn-lt"/>
                </a:endParaRPr>
              </a:p>
            </p:txBody>
          </p:sp>
          <p:sp>
            <p:nvSpPr>
              <p:cNvPr id="437" name="Rectangle 200">
                <a:extLst>
                  <a:ext uri="{FF2B5EF4-FFF2-40B4-BE49-F238E27FC236}">
                    <a16:creationId xmlns:a16="http://schemas.microsoft.com/office/drawing/2014/main" id="{0D3E2895-61A0-EA6D-64AC-B008D482D683}"/>
                  </a:ext>
                </a:extLst>
              </p:cNvPr>
              <p:cNvSpPr>
                <a:spLocks noChangeArrowheads="1"/>
              </p:cNvSpPr>
              <p:nvPr/>
            </p:nvSpPr>
            <p:spPr bwMode="auto">
              <a:xfrm>
                <a:off x="4244" y="3241"/>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438" name="Rectangle 201">
                <a:extLst>
                  <a:ext uri="{FF2B5EF4-FFF2-40B4-BE49-F238E27FC236}">
                    <a16:creationId xmlns:a16="http://schemas.microsoft.com/office/drawing/2014/main" id="{B7D037C5-6DD7-5323-0AB9-3530A6510E66}"/>
                  </a:ext>
                </a:extLst>
              </p:cNvPr>
              <p:cNvSpPr>
                <a:spLocks noChangeArrowheads="1"/>
              </p:cNvSpPr>
              <p:nvPr/>
            </p:nvSpPr>
            <p:spPr bwMode="auto">
              <a:xfrm>
                <a:off x="4341" y="3241"/>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439" name="Rectangle 202">
                <a:extLst>
                  <a:ext uri="{FF2B5EF4-FFF2-40B4-BE49-F238E27FC236}">
                    <a16:creationId xmlns:a16="http://schemas.microsoft.com/office/drawing/2014/main" id="{024165F5-1BC2-252E-8A77-6E9D8BDF905D}"/>
                  </a:ext>
                </a:extLst>
              </p:cNvPr>
              <p:cNvSpPr>
                <a:spLocks noChangeArrowheads="1"/>
              </p:cNvSpPr>
              <p:nvPr/>
            </p:nvSpPr>
            <p:spPr bwMode="auto">
              <a:xfrm>
                <a:off x="4395" y="3241"/>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$0.72</a:t>
                </a:r>
                <a:endParaRPr lang="en-US" altLang="en-US" sz="900" b="0">
                  <a:solidFill>
                    <a:srgbClr val="FF0000"/>
                  </a:solidFill>
                  <a:latin typeface="+mn-lt"/>
                </a:endParaRPr>
              </a:p>
            </p:txBody>
          </p:sp>
          <p:sp>
            <p:nvSpPr>
              <p:cNvPr id="440" name="Rectangle 203">
                <a:extLst>
                  <a:ext uri="{FF2B5EF4-FFF2-40B4-BE49-F238E27FC236}">
                    <a16:creationId xmlns:a16="http://schemas.microsoft.com/office/drawing/2014/main" id="{23CB033A-6BCC-932D-2B39-4BB63890D40F}"/>
                  </a:ext>
                </a:extLst>
              </p:cNvPr>
              <p:cNvSpPr>
                <a:spLocks noChangeArrowheads="1"/>
              </p:cNvSpPr>
              <p:nvPr/>
            </p:nvSpPr>
            <p:spPr bwMode="auto">
              <a:xfrm>
                <a:off x="4501" y="3241"/>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10</a:t>
                </a:r>
                <a:endParaRPr lang="en-US" altLang="en-US" sz="900" b="0">
                  <a:solidFill>
                    <a:srgbClr val="FF0000"/>
                  </a:solidFill>
                  <a:latin typeface="+mn-lt"/>
                </a:endParaRPr>
              </a:p>
            </p:txBody>
          </p:sp>
          <p:sp>
            <p:nvSpPr>
              <p:cNvPr id="441" name="Rectangle 204">
                <a:extLst>
                  <a:ext uri="{FF2B5EF4-FFF2-40B4-BE49-F238E27FC236}">
                    <a16:creationId xmlns:a16="http://schemas.microsoft.com/office/drawing/2014/main" id="{AF4ABA96-A9C2-A0A2-C6A7-B5F92D58EE6F}"/>
                  </a:ext>
                </a:extLst>
              </p:cNvPr>
              <p:cNvSpPr>
                <a:spLocks noChangeArrowheads="1"/>
              </p:cNvSpPr>
              <p:nvPr/>
            </p:nvSpPr>
            <p:spPr bwMode="auto">
              <a:xfrm>
                <a:off x="4579" y="3241"/>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841</a:t>
                </a:r>
                <a:endParaRPr lang="en-US" altLang="en-US" sz="900" b="0">
                  <a:solidFill>
                    <a:srgbClr val="FF0000"/>
                  </a:solidFill>
                  <a:latin typeface="+mn-lt"/>
                </a:endParaRPr>
              </a:p>
            </p:txBody>
          </p:sp>
          <p:sp>
            <p:nvSpPr>
              <p:cNvPr id="442" name="Rectangle 205">
                <a:extLst>
                  <a:ext uri="{FF2B5EF4-FFF2-40B4-BE49-F238E27FC236}">
                    <a16:creationId xmlns:a16="http://schemas.microsoft.com/office/drawing/2014/main" id="{E6EC9A0C-60C5-8928-B079-994C0FF8258E}"/>
                  </a:ext>
                </a:extLst>
              </p:cNvPr>
              <p:cNvSpPr>
                <a:spLocks noChangeArrowheads="1"/>
              </p:cNvSpPr>
              <p:nvPr/>
            </p:nvSpPr>
            <p:spPr bwMode="auto">
              <a:xfrm>
                <a:off x="4645" y="3241"/>
                <a:ext cx="45"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84.1</a:t>
                </a:r>
                <a:endParaRPr lang="en-US" altLang="en-US" sz="900" b="0">
                  <a:solidFill>
                    <a:srgbClr val="FF0000"/>
                  </a:solidFill>
                  <a:latin typeface="+mn-lt"/>
                </a:endParaRPr>
              </a:p>
            </p:txBody>
          </p:sp>
          <p:sp>
            <p:nvSpPr>
              <p:cNvPr id="443" name="Rectangle 206">
                <a:extLst>
                  <a:ext uri="{FF2B5EF4-FFF2-40B4-BE49-F238E27FC236}">
                    <a16:creationId xmlns:a16="http://schemas.microsoft.com/office/drawing/2014/main" id="{A1F21471-C426-DC35-4831-4B442CF603AC}"/>
                  </a:ext>
                </a:extLst>
              </p:cNvPr>
              <p:cNvSpPr>
                <a:spLocks noChangeArrowheads="1"/>
              </p:cNvSpPr>
              <p:nvPr/>
            </p:nvSpPr>
            <p:spPr bwMode="auto">
              <a:xfrm>
                <a:off x="3712" y="3270"/>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444" name="Rectangle 207">
                <a:extLst>
                  <a:ext uri="{FF2B5EF4-FFF2-40B4-BE49-F238E27FC236}">
                    <a16:creationId xmlns:a16="http://schemas.microsoft.com/office/drawing/2014/main" id="{5CFF235A-D15C-57C5-42C0-5B5DA6D5803A}"/>
                  </a:ext>
                </a:extLst>
              </p:cNvPr>
              <p:cNvSpPr>
                <a:spLocks noChangeArrowheads="1"/>
              </p:cNvSpPr>
              <p:nvPr/>
            </p:nvSpPr>
            <p:spPr bwMode="auto">
              <a:xfrm>
                <a:off x="3758" y="3270"/>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7,872</a:t>
                </a:r>
                <a:endParaRPr lang="en-US" altLang="en-US" sz="900" b="0">
                  <a:solidFill>
                    <a:srgbClr val="FF0000"/>
                  </a:solidFill>
                  <a:latin typeface="+mn-lt"/>
                </a:endParaRPr>
              </a:p>
            </p:txBody>
          </p:sp>
          <p:sp>
            <p:nvSpPr>
              <p:cNvPr id="445" name="Rectangle 208">
                <a:extLst>
                  <a:ext uri="{FF2B5EF4-FFF2-40B4-BE49-F238E27FC236}">
                    <a16:creationId xmlns:a16="http://schemas.microsoft.com/office/drawing/2014/main" id="{423BD9B3-E0AD-AECC-5235-33E79264EED1}"/>
                  </a:ext>
                </a:extLst>
              </p:cNvPr>
              <p:cNvSpPr>
                <a:spLocks noChangeArrowheads="1"/>
              </p:cNvSpPr>
              <p:nvPr/>
            </p:nvSpPr>
            <p:spPr bwMode="auto">
              <a:xfrm>
                <a:off x="3836" y="3270"/>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1,530</a:t>
                </a:r>
                <a:endParaRPr lang="en-US" altLang="en-US" sz="900" b="0">
                  <a:solidFill>
                    <a:srgbClr val="FF0000"/>
                  </a:solidFill>
                  <a:latin typeface="+mn-lt"/>
                </a:endParaRPr>
              </a:p>
            </p:txBody>
          </p:sp>
          <p:sp>
            <p:nvSpPr>
              <p:cNvPr id="446" name="Rectangle 209">
                <a:extLst>
                  <a:ext uri="{FF2B5EF4-FFF2-40B4-BE49-F238E27FC236}">
                    <a16:creationId xmlns:a16="http://schemas.microsoft.com/office/drawing/2014/main" id="{129823C5-B453-DA88-652C-DA012D51AFB5}"/>
                  </a:ext>
                </a:extLst>
              </p:cNvPr>
              <p:cNvSpPr>
                <a:spLocks noChangeArrowheads="1"/>
              </p:cNvSpPr>
              <p:nvPr/>
            </p:nvSpPr>
            <p:spPr bwMode="auto">
              <a:xfrm>
                <a:off x="3926" y="3270"/>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9,402</a:t>
                </a:r>
                <a:endParaRPr lang="en-US" altLang="en-US" sz="900" b="0">
                  <a:solidFill>
                    <a:srgbClr val="FF0000"/>
                  </a:solidFill>
                  <a:latin typeface="+mn-lt"/>
                </a:endParaRPr>
              </a:p>
            </p:txBody>
          </p:sp>
          <p:sp>
            <p:nvSpPr>
              <p:cNvPr id="447" name="Rectangle 210">
                <a:extLst>
                  <a:ext uri="{FF2B5EF4-FFF2-40B4-BE49-F238E27FC236}">
                    <a16:creationId xmlns:a16="http://schemas.microsoft.com/office/drawing/2014/main" id="{951F257E-3C0D-688C-F32E-F555DF871E02}"/>
                  </a:ext>
                </a:extLst>
              </p:cNvPr>
              <p:cNvSpPr>
                <a:spLocks noChangeArrowheads="1"/>
              </p:cNvSpPr>
              <p:nvPr/>
            </p:nvSpPr>
            <p:spPr bwMode="auto">
              <a:xfrm>
                <a:off x="4017" y="3270"/>
                <a:ext cx="7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FC2-06</a:t>
                </a:r>
                <a:endParaRPr lang="en-US" altLang="en-US" sz="900" b="0">
                  <a:solidFill>
                    <a:srgbClr val="FF0000"/>
                  </a:solidFill>
                  <a:latin typeface="+mn-lt"/>
                </a:endParaRPr>
              </a:p>
            </p:txBody>
          </p:sp>
          <p:sp>
            <p:nvSpPr>
              <p:cNvPr id="448" name="Rectangle 211">
                <a:extLst>
                  <a:ext uri="{FF2B5EF4-FFF2-40B4-BE49-F238E27FC236}">
                    <a16:creationId xmlns:a16="http://schemas.microsoft.com/office/drawing/2014/main" id="{F888C3CF-5443-6C7B-08D0-08A5A26259E4}"/>
                  </a:ext>
                </a:extLst>
              </p:cNvPr>
              <p:cNvSpPr>
                <a:spLocks noChangeArrowheads="1"/>
              </p:cNvSpPr>
              <p:nvPr/>
            </p:nvSpPr>
            <p:spPr bwMode="auto">
              <a:xfrm>
                <a:off x="4166" y="3270"/>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4,261</a:t>
                </a:r>
                <a:endParaRPr lang="en-US" altLang="en-US" sz="900" b="0">
                  <a:solidFill>
                    <a:srgbClr val="FF0000"/>
                  </a:solidFill>
                  <a:latin typeface="+mn-lt"/>
                </a:endParaRPr>
              </a:p>
            </p:txBody>
          </p:sp>
          <p:sp>
            <p:nvSpPr>
              <p:cNvPr id="449" name="Rectangle 212">
                <a:extLst>
                  <a:ext uri="{FF2B5EF4-FFF2-40B4-BE49-F238E27FC236}">
                    <a16:creationId xmlns:a16="http://schemas.microsoft.com/office/drawing/2014/main" id="{C30D6A85-B1B5-EB5E-3866-C45E3DEAFF52}"/>
                  </a:ext>
                </a:extLst>
              </p:cNvPr>
              <p:cNvSpPr>
                <a:spLocks noChangeArrowheads="1"/>
              </p:cNvSpPr>
              <p:nvPr/>
            </p:nvSpPr>
            <p:spPr bwMode="auto">
              <a:xfrm>
                <a:off x="4244" y="3270"/>
                <a:ext cx="6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94254</a:t>
                </a:r>
                <a:endParaRPr lang="en-US" altLang="en-US" sz="900" b="0">
                  <a:solidFill>
                    <a:srgbClr val="FF0000"/>
                  </a:solidFill>
                  <a:latin typeface="+mn-lt"/>
                </a:endParaRPr>
              </a:p>
            </p:txBody>
          </p:sp>
          <p:sp>
            <p:nvSpPr>
              <p:cNvPr id="450" name="Rectangle 213">
                <a:extLst>
                  <a:ext uri="{FF2B5EF4-FFF2-40B4-BE49-F238E27FC236}">
                    <a16:creationId xmlns:a16="http://schemas.microsoft.com/office/drawing/2014/main" id="{DA4BB974-AC29-32B3-FABD-9FA098C308A1}"/>
                  </a:ext>
                </a:extLst>
              </p:cNvPr>
              <p:cNvSpPr>
                <a:spLocks noChangeArrowheads="1"/>
              </p:cNvSpPr>
              <p:nvPr/>
            </p:nvSpPr>
            <p:spPr bwMode="auto">
              <a:xfrm>
                <a:off x="4341" y="3270"/>
                <a:ext cx="1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C</a:t>
                </a:r>
                <a:endParaRPr lang="en-US" altLang="en-US" sz="900" b="0">
                  <a:solidFill>
                    <a:srgbClr val="FF0000"/>
                  </a:solidFill>
                  <a:latin typeface="+mn-lt"/>
                </a:endParaRPr>
              </a:p>
            </p:txBody>
          </p:sp>
          <p:sp>
            <p:nvSpPr>
              <p:cNvPr id="451" name="Rectangle 214">
                <a:extLst>
                  <a:ext uri="{FF2B5EF4-FFF2-40B4-BE49-F238E27FC236}">
                    <a16:creationId xmlns:a16="http://schemas.microsoft.com/office/drawing/2014/main" id="{8B20B11B-E2A4-90D3-CD6B-00FAB1657380}"/>
                  </a:ext>
                </a:extLst>
              </p:cNvPr>
              <p:cNvSpPr>
                <a:spLocks noChangeArrowheads="1"/>
              </p:cNvSpPr>
              <p:nvPr/>
            </p:nvSpPr>
            <p:spPr bwMode="auto">
              <a:xfrm>
                <a:off x="4395" y="3270"/>
                <a:ext cx="58"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$1.10</a:t>
                </a:r>
                <a:endParaRPr lang="en-US" altLang="en-US" sz="900" b="0">
                  <a:solidFill>
                    <a:srgbClr val="FF0000"/>
                  </a:solidFill>
                  <a:latin typeface="+mn-lt"/>
                </a:endParaRPr>
              </a:p>
            </p:txBody>
          </p:sp>
          <p:sp>
            <p:nvSpPr>
              <p:cNvPr id="452" name="Rectangle 215">
                <a:extLst>
                  <a:ext uri="{FF2B5EF4-FFF2-40B4-BE49-F238E27FC236}">
                    <a16:creationId xmlns:a16="http://schemas.microsoft.com/office/drawing/2014/main" id="{ABFB467B-B0FD-68F4-8ADD-2B9F2A913923}"/>
                  </a:ext>
                </a:extLst>
              </p:cNvPr>
              <p:cNvSpPr>
                <a:spLocks noChangeArrowheads="1"/>
              </p:cNvSpPr>
              <p:nvPr/>
            </p:nvSpPr>
            <p:spPr bwMode="auto">
              <a:xfrm>
                <a:off x="4501" y="3270"/>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11</a:t>
                </a:r>
                <a:endParaRPr lang="en-US" altLang="en-US" sz="900" b="0">
                  <a:solidFill>
                    <a:srgbClr val="FF0000"/>
                  </a:solidFill>
                  <a:latin typeface="+mn-lt"/>
                </a:endParaRPr>
              </a:p>
            </p:txBody>
          </p:sp>
          <p:sp>
            <p:nvSpPr>
              <p:cNvPr id="453" name="Rectangle 216">
                <a:extLst>
                  <a:ext uri="{FF2B5EF4-FFF2-40B4-BE49-F238E27FC236}">
                    <a16:creationId xmlns:a16="http://schemas.microsoft.com/office/drawing/2014/main" id="{8F822144-8F1D-6EF7-AD58-8725BF3C9A28}"/>
                  </a:ext>
                </a:extLst>
              </p:cNvPr>
              <p:cNvSpPr>
                <a:spLocks noChangeArrowheads="1"/>
              </p:cNvSpPr>
              <p:nvPr/>
            </p:nvSpPr>
            <p:spPr bwMode="auto">
              <a:xfrm>
                <a:off x="4580" y="3270"/>
                <a:ext cx="57"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1,331</a:t>
                </a:r>
                <a:endParaRPr lang="en-US" altLang="en-US" sz="900" b="0">
                  <a:solidFill>
                    <a:srgbClr val="FF0000"/>
                  </a:solidFill>
                  <a:latin typeface="+mn-lt"/>
                </a:endParaRPr>
              </a:p>
            </p:txBody>
          </p:sp>
          <p:sp>
            <p:nvSpPr>
              <p:cNvPr id="454" name="Rectangle 217">
                <a:extLst>
                  <a:ext uri="{FF2B5EF4-FFF2-40B4-BE49-F238E27FC236}">
                    <a16:creationId xmlns:a16="http://schemas.microsoft.com/office/drawing/2014/main" id="{7756B937-9752-00A4-425E-3CDD7ED74E15}"/>
                  </a:ext>
                </a:extLst>
              </p:cNvPr>
              <p:cNvSpPr>
                <a:spLocks noChangeArrowheads="1"/>
              </p:cNvSpPr>
              <p:nvPr/>
            </p:nvSpPr>
            <p:spPr bwMode="auto">
              <a:xfrm>
                <a:off x="4645" y="3270"/>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121</a:t>
                </a:r>
                <a:endParaRPr lang="en-US" altLang="en-US" sz="900" b="0">
                  <a:solidFill>
                    <a:srgbClr val="FF0000"/>
                  </a:solidFill>
                  <a:latin typeface="+mn-lt"/>
                </a:endParaRPr>
              </a:p>
            </p:txBody>
          </p:sp>
          <p:sp>
            <p:nvSpPr>
              <p:cNvPr id="455" name="Rectangle 218">
                <a:extLst>
                  <a:ext uri="{FF2B5EF4-FFF2-40B4-BE49-F238E27FC236}">
                    <a16:creationId xmlns:a16="http://schemas.microsoft.com/office/drawing/2014/main" id="{F812370C-6B7F-4662-DE2C-DC4B3D76642C}"/>
                  </a:ext>
                </a:extLst>
              </p:cNvPr>
              <p:cNvSpPr>
                <a:spLocks noChangeArrowheads="1"/>
              </p:cNvSpPr>
              <p:nvPr/>
            </p:nvSpPr>
            <p:spPr bwMode="auto">
              <a:xfrm>
                <a:off x="3712" y="3298"/>
                <a:ext cx="26"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50</a:t>
                </a:r>
                <a:endParaRPr lang="en-US" altLang="en-US" sz="900" b="0">
                  <a:solidFill>
                    <a:srgbClr val="FF0000"/>
                  </a:solidFill>
                  <a:latin typeface="+mn-lt"/>
                </a:endParaRPr>
              </a:p>
            </p:txBody>
          </p:sp>
          <p:sp>
            <p:nvSpPr>
              <p:cNvPr id="456" name="Rectangle 219">
                <a:extLst>
                  <a:ext uri="{FF2B5EF4-FFF2-40B4-BE49-F238E27FC236}">
                    <a16:creationId xmlns:a16="http://schemas.microsoft.com/office/drawing/2014/main" id="{02379174-1E23-A3D5-0F6E-59E8122CBA46}"/>
                  </a:ext>
                </a:extLst>
              </p:cNvPr>
              <p:cNvSpPr>
                <a:spLocks noChangeArrowheads="1"/>
              </p:cNvSpPr>
              <p:nvPr/>
            </p:nvSpPr>
            <p:spPr bwMode="auto">
              <a:xfrm>
                <a:off x="3758" y="3298"/>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873</a:t>
                </a:r>
                <a:endParaRPr lang="en-US" altLang="en-US" sz="900" b="0">
                  <a:solidFill>
                    <a:srgbClr val="FF0000"/>
                  </a:solidFill>
                  <a:latin typeface="+mn-lt"/>
                </a:endParaRPr>
              </a:p>
            </p:txBody>
          </p:sp>
          <p:sp>
            <p:nvSpPr>
              <p:cNvPr id="457" name="Rectangle 220">
                <a:extLst>
                  <a:ext uri="{FF2B5EF4-FFF2-40B4-BE49-F238E27FC236}">
                    <a16:creationId xmlns:a16="http://schemas.microsoft.com/office/drawing/2014/main" id="{C8A522B8-E5AE-6A11-7287-0EC19817D87F}"/>
                  </a:ext>
                </a:extLst>
              </p:cNvPr>
              <p:cNvSpPr>
                <a:spLocks noChangeArrowheads="1"/>
              </p:cNvSpPr>
              <p:nvPr/>
            </p:nvSpPr>
            <p:spPr bwMode="auto">
              <a:xfrm>
                <a:off x="3836" y="3298"/>
                <a:ext cx="39" cy="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300" b="0">
                    <a:solidFill>
                      <a:srgbClr val="000000"/>
                    </a:solidFill>
                    <a:latin typeface="+mn-lt"/>
                  </a:rPr>
                  <a:t>515</a:t>
                </a:r>
                <a:endParaRPr lang="en-US" altLang="en-US" sz="900" b="0">
                  <a:solidFill>
                    <a:srgbClr val="FF0000"/>
                  </a:solidFill>
                  <a:latin typeface="+mn-lt"/>
                </a:endParaRPr>
              </a:p>
            </p:txBody>
          </p:sp>
        </p:grpSp>
        <p:cxnSp>
          <p:nvCxnSpPr>
            <p:cNvPr id="458" name="AutoShape 221">
              <a:extLst>
                <a:ext uri="{FF2B5EF4-FFF2-40B4-BE49-F238E27FC236}">
                  <a16:creationId xmlns:a16="http://schemas.microsoft.com/office/drawing/2014/main" id="{417A51BF-A416-B975-E6AF-00FB4B99E26D}"/>
                </a:ext>
              </a:extLst>
            </p:cNvPr>
            <p:cNvCxnSpPr>
              <a:cxnSpLocks noChangeShapeType="1"/>
              <a:stCxn id="246" idx="2"/>
              <a:endCxn id="242" idx="0"/>
            </p:cNvCxnSpPr>
            <p:nvPr/>
          </p:nvCxnSpPr>
          <p:spPr bwMode="auto">
            <a:xfrm>
              <a:off x="5365750" y="2762643"/>
              <a:ext cx="1588" cy="290512"/>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459" name="AutoShape 222">
              <a:extLst>
                <a:ext uri="{FF2B5EF4-FFF2-40B4-BE49-F238E27FC236}">
                  <a16:creationId xmlns:a16="http://schemas.microsoft.com/office/drawing/2014/main" id="{075B6412-1672-4E29-5504-E17AF247A01D}"/>
                </a:ext>
              </a:extLst>
            </p:cNvPr>
            <p:cNvCxnSpPr>
              <a:cxnSpLocks noChangeShapeType="1"/>
              <a:stCxn id="248" idx="0"/>
              <a:endCxn id="242" idx="2"/>
            </p:cNvCxnSpPr>
            <p:nvPr/>
          </p:nvCxnSpPr>
          <p:spPr bwMode="auto">
            <a:xfrm flipH="1" flipV="1">
              <a:off x="5367338" y="3905643"/>
              <a:ext cx="3175" cy="265112"/>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460" name="AutoShape 223">
              <a:extLst>
                <a:ext uri="{FF2B5EF4-FFF2-40B4-BE49-F238E27FC236}">
                  <a16:creationId xmlns:a16="http://schemas.microsoft.com/office/drawing/2014/main" id="{3D8D9DCD-ECB0-7F0D-EF05-7245F52258A9}"/>
                </a:ext>
              </a:extLst>
            </p:cNvPr>
            <p:cNvCxnSpPr>
              <a:cxnSpLocks noChangeShapeType="1"/>
              <a:stCxn id="251" idx="3"/>
              <a:endCxn id="242" idx="1"/>
            </p:cNvCxnSpPr>
            <p:nvPr/>
          </p:nvCxnSpPr>
          <p:spPr bwMode="auto">
            <a:xfrm>
              <a:off x="4305300" y="3480193"/>
              <a:ext cx="201613"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461" name="AutoShape 224">
              <a:extLst>
                <a:ext uri="{FF2B5EF4-FFF2-40B4-BE49-F238E27FC236}">
                  <a16:creationId xmlns:a16="http://schemas.microsoft.com/office/drawing/2014/main" id="{27288210-7A90-E69F-B94E-3C37D3A8F9FD}"/>
                </a:ext>
              </a:extLst>
            </p:cNvPr>
            <p:cNvCxnSpPr>
              <a:cxnSpLocks noChangeShapeType="1"/>
              <a:stCxn id="243" idx="1"/>
              <a:endCxn id="242" idx="3"/>
            </p:cNvCxnSpPr>
            <p:nvPr/>
          </p:nvCxnSpPr>
          <p:spPr bwMode="auto">
            <a:xfrm flipH="1">
              <a:off x="6226175" y="3480193"/>
              <a:ext cx="239713" cy="0"/>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cxnSp>
          <p:nvCxnSpPr>
            <p:cNvPr id="462" name="AutoShape 225">
              <a:extLst>
                <a:ext uri="{FF2B5EF4-FFF2-40B4-BE49-F238E27FC236}">
                  <a16:creationId xmlns:a16="http://schemas.microsoft.com/office/drawing/2014/main" id="{E4C21BEA-3311-0580-774E-26F2119DB531}"/>
                </a:ext>
              </a:extLst>
            </p:cNvPr>
            <p:cNvCxnSpPr>
              <a:cxnSpLocks noChangeShapeType="1"/>
              <a:stCxn id="245" idx="1"/>
              <a:endCxn id="251" idx="0"/>
            </p:cNvCxnSpPr>
            <p:nvPr/>
          </p:nvCxnSpPr>
          <p:spPr bwMode="auto">
            <a:xfrm rot="10800000" flipV="1">
              <a:off x="3446463" y="2513405"/>
              <a:ext cx="1206500" cy="539750"/>
            </a:xfrm>
            <a:prstGeom prst="curvedConnector2">
              <a:avLst/>
            </a:prstGeom>
            <a:noFill/>
            <a:ln w="12700" cap="sq">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463" name="AutoShape 226">
              <a:extLst>
                <a:ext uri="{FF2B5EF4-FFF2-40B4-BE49-F238E27FC236}">
                  <a16:creationId xmlns:a16="http://schemas.microsoft.com/office/drawing/2014/main" id="{F9ADEE04-5BD5-FDC0-0893-5DBC6BEF9121}"/>
                </a:ext>
              </a:extLst>
            </p:cNvPr>
            <p:cNvCxnSpPr>
              <a:cxnSpLocks noChangeShapeType="1"/>
              <a:stCxn id="251" idx="2"/>
              <a:endCxn id="248" idx="1"/>
            </p:cNvCxnSpPr>
            <p:nvPr/>
          </p:nvCxnSpPr>
          <p:spPr bwMode="auto">
            <a:xfrm rot="16200000" flipH="1">
              <a:off x="3782219" y="3569887"/>
              <a:ext cx="534987" cy="1206500"/>
            </a:xfrm>
            <a:prstGeom prst="curvedConnector2">
              <a:avLst/>
            </a:prstGeom>
            <a:noFill/>
            <a:ln w="12700" cap="sq">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464" name="AutoShape 227">
              <a:extLst>
                <a:ext uri="{FF2B5EF4-FFF2-40B4-BE49-F238E27FC236}">
                  <a16:creationId xmlns:a16="http://schemas.microsoft.com/office/drawing/2014/main" id="{617125F0-42C4-A35C-924C-5BB7D011D46E}"/>
                </a:ext>
              </a:extLst>
            </p:cNvPr>
            <p:cNvCxnSpPr>
              <a:cxnSpLocks noChangeShapeType="1"/>
              <a:stCxn id="248" idx="3"/>
              <a:endCxn id="243" idx="2"/>
            </p:cNvCxnSpPr>
            <p:nvPr/>
          </p:nvCxnSpPr>
          <p:spPr bwMode="auto">
            <a:xfrm flipV="1">
              <a:off x="6086475" y="3905643"/>
              <a:ext cx="1239838" cy="534987"/>
            </a:xfrm>
            <a:prstGeom prst="curvedConnector2">
              <a:avLst/>
            </a:prstGeom>
            <a:noFill/>
            <a:ln w="12700" cap="sq">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465" name="AutoShape 228">
              <a:extLst>
                <a:ext uri="{FF2B5EF4-FFF2-40B4-BE49-F238E27FC236}">
                  <a16:creationId xmlns:a16="http://schemas.microsoft.com/office/drawing/2014/main" id="{96C17DAC-23B7-2E8F-2760-A21042B43D1B}"/>
                </a:ext>
              </a:extLst>
            </p:cNvPr>
            <p:cNvCxnSpPr>
              <a:cxnSpLocks noChangeShapeType="1"/>
              <a:stCxn id="243" idx="0"/>
              <a:endCxn id="245" idx="3"/>
            </p:cNvCxnSpPr>
            <p:nvPr/>
          </p:nvCxnSpPr>
          <p:spPr bwMode="auto">
            <a:xfrm rot="5400000" flipH="1">
              <a:off x="6436519" y="2163361"/>
              <a:ext cx="539750" cy="1239838"/>
            </a:xfrm>
            <a:prstGeom prst="curvedConnector2">
              <a:avLst/>
            </a:prstGeom>
            <a:noFill/>
            <a:ln w="12700" cap="sq">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466" name="Text Box 229">
              <a:extLst>
                <a:ext uri="{FF2B5EF4-FFF2-40B4-BE49-F238E27FC236}">
                  <a16:creationId xmlns:a16="http://schemas.microsoft.com/office/drawing/2014/main" id="{3058DD13-3FC4-63C0-69CB-CF9390BECF82}"/>
                </a:ext>
              </a:extLst>
            </p:cNvPr>
            <p:cNvSpPr txBox="1">
              <a:spLocks noChangeArrowheads="1"/>
            </p:cNvSpPr>
            <p:nvPr/>
          </p:nvSpPr>
          <p:spPr bwMode="auto">
            <a:xfrm>
              <a:off x="4620462" y="1940318"/>
              <a:ext cx="1503276" cy="25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200">
                  <a:latin typeface="+mn-lt"/>
                </a:rPr>
                <a:t>Demand Plan &amp; Forecast</a:t>
              </a:r>
            </a:p>
          </p:txBody>
        </p:sp>
        <p:sp>
          <p:nvSpPr>
            <p:cNvPr id="467" name="Text Box 230">
              <a:extLst>
                <a:ext uri="{FF2B5EF4-FFF2-40B4-BE49-F238E27FC236}">
                  <a16:creationId xmlns:a16="http://schemas.microsoft.com/office/drawing/2014/main" id="{98988573-E7FA-E609-D2A7-A221E1EF8F9D}"/>
                </a:ext>
              </a:extLst>
            </p:cNvPr>
            <p:cNvSpPr txBox="1">
              <a:spLocks noChangeArrowheads="1"/>
            </p:cNvSpPr>
            <p:nvPr/>
          </p:nvSpPr>
          <p:spPr bwMode="auto">
            <a:xfrm>
              <a:off x="4539741" y="4721618"/>
              <a:ext cx="1696466" cy="25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200">
                  <a:latin typeface="+mn-lt"/>
                </a:rPr>
                <a:t>Production Capabilities Plan</a:t>
              </a:r>
            </a:p>
          </p:txBody>
        </p:sp>
        <p:sp>
          <p:nvSpPr>
            <p:cNvPr id="468" name="Text Box 231">
              <a:extLst>
                <a:ext uri="{FF2B5EF4-FFF2-40B4-BE49-F238E27FC236}">
                  <a16:creationId xmlns:a16="http://schemas.microsoft.com/office/drawing/2014/main" id="{2BE4D523-2B47-403E-E4FA-175A2679F66D}"/>
                </a:ext>
              </a:extLst>
            </p:cNvPr>
            <p:cNvSpPr txBox="1">
              <a:spLocks noChangeArrowheads="1"/>
            </p:cNvSpPr>
            <p:nvPr/>
          </p:nvSpPr>
          <p:spPr bwMode="auto">
            <a:xfrm>
              <a:off x="7302500" y="3899293"/>
              <a:ext cx="1085986" cy="47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Tx/>
                <a:buFontTx/>
                <a:buNone/>
              </a:pPr>
              <a:r>
                <a:rPr lang="en-US" altLang="en-US" sz="1200">
                  <a:latin typeface="+mn-lt"/>
                </a:rPr>
                <a:t>Supplier Demand</a:t>
              </a:r>
            </a:p>
            <a:p>
              <a:pPr>
                <a:spcBef>
                  <a:spcPct val="30000"/>
                </a:spcBef>
                <a:buClrTx/>
                <a:buSzTx/>
                <a:buFontTx/>
                <a:buNone/>
              </a:pPr>
              <a:r>
                <a:rPr lang="en-US" altLang="en-US" sz="1200">
                  <a:latin typeface="+mn-lt"/>
                </a:rPr>
                <a:t>Plan</a:t>
              </a:r>
            </a:p>
          </p:txBody>
        </p:sp>
        <p:sp>
          <p:nvSpPr>
            <p:cNvPr id="469" name="Text Box 232">
              <a:extLst>
                <a:ext uri="{FF2B5EF4-FFF2-40B4-BE49-F238E27FC236}">
                  <a16:creationId xmlns:a16="http://schemas.microsoft.com/office/drawing/2014/main" id="{F27A2CD2-77A9-375C-0C21-999FE8413762}"/>
                </a:ext>
              </a:extLst>
            </p:cNvPr>
            <p:cNvSpPr txBox="1">
              <a:spLocks noChangeArrowheads="1"/>
            </p:cNvSpPr>
            <p:nvPr/>
          </p:nvSpPr>
          <p:spPr bwMode="auto">
            <a:xfrm>
              <a:off x="2287812" y="3913580"/>
              <a:ext cx="1128488" cy="47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200" dirty="0">
                  <a:latin typeface="+mn-lt"/>
                </a:rPr>
                <a:t>S&amp;OP Executive</a:t>
              </a:r>
            </a:p>
            <a:p>
              <a:pPr algn="ctr">
                <a:spcBef>
                  <a:spcPct val="30000"/>
                </a:spcBef>
                <a:buClrTx/>
                <a:buSzTx/>
                <a:buFontTx/>
                <a:buNone/>
              </a:pPr>
              <a:r>
                <a:rPr lang="en-US" altLang="en-US" sz="1200" dirty="0">
                  <a:latin typeface="+mn-lt"/>
                </a:rPr>
                <a:t>Meeting Structure</a:t>
              </a:r>
            </a:p>
          </p:txBody>
        </p:sp>
        <p:sp>
          <p:nvSpPr>
            <p:cNvPr id="470" name="Text Box 233">
              <a:extLst>
                <a:ext uri="{FF2B5EF4-FFF2-40B4-BE49-F238E27FC236}">
                  <a16:creationId xmlns:a16="http://schemas.microsoft.com/office/drawing/2014/main" id="{7DF6CCCB-3CCC-0196-21BF-6EBDB10F099A}"/>
                </a:ext>
              </a:extLst>
            </p:cNvPr>
            <p:cNvSpPr txBox="1">
              <a:spLocks noChangeArrowheads="1"/>
            </p:cNvSpPr>
            <p:nvPr/>
          </p:nvSpPr>
          <p:spPr bwMode="auto">
            <a:xfrm>
              <a:off x="5684520" y="3902468"/>
              <a:ext cx="1030605" cy="25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30000"/>
                </a:spcBef>
                <a:buClrTx/>
                <a:buSzTx/>
                <a:buFontTx/>
                <a:buNone/>
              </a:pPr>
              <a:r>
                <a:rPr lang="en-US" altLang="en-US" sz="1200">
                  <a:latin typeface="+mn-lt"/>
                </a:rPr>
                <a:t>S&amp;OP Plan Final</a:t>
              </a:r>
            </a:p>
          </p:txBody>
        </p:sp>
        <p:sp>
          <p:nvSpPr>
            <p:cNvPr id="471" name="Rectangle 234">
              <a:extLst>
                <a:ext uri="{FF2B5EF4-FFF2-40B4-BE49-F238E27FC236}">
                  <a16:creationId xmlns:a16="http://schemas.microsoft.com/office/drawing/2014/main" id="{31AF2C96-6233-EBDD-D445-851E52280BB6}"/>
                </a:ext>
              </a:extLst>
            </p:cNvPr>
            <p:cNvSpPr>
              <a:spLocks noChangeArrowheads="1"/>
            </p:cNvSpPr>
            <p:nvPr/>
          </p:nvSpPr>
          <p:spPr bwMode="auto">
            <a:xfrm>
              <a:off x="646113" y="2719780"/>
              <a:ext cx="950912" cy="498475"/>
            </a:xfrm>
            <a:prstGeom prst="rect">
              <a:avLst/>
            </a:prstGeom>
            <a:solidFill>
              <a:schemeClr val="accent4"/>
            </a:solidFill>
            <a:ln w="12700" cap="sq">
              <a:solidFill>
                <a:schemeClr val="tx1"/>
              </a:solidFill>
              <a:miter lim="800000"/>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a:solidFill>
                    <a:schemeClr val="bg1"/>
                  </a:solidFill>
                  <a:latin typeface="+mn-lt"/>
                </a:rPr>
                <a:t>Pilot</a:t>
              </a:r>
            </a:p>
            <a:p>
              <a:pPr algn="ctr">
                <a:spcBef>
                  <a:spcPct val="30000"/>
                </a:spcBef>
                <a:buClrTx/>
                <a:buSzTx/>
                <a:buFontTx/>
                <a:buNone/>
              </a:pPr>
              <a:r>
                <a:rPr lang="en-US" altLang="en-US" sz="1000">
                  <a:solidFill>
                    <a:schemeClr val="bg1"/>
                  </a:solidFill>
                  <a:latin typeface="+mn-lt"/>
                </a:rPr>
                <a:t>Families</a:t>
              </a:r>
            </a:p>
          </p:txBody>
        </p:sp>
        <p:sp>
          <p:nvSpPr>
            <p:cNvPr id="472" name="Rectangle 235">
              <a:extLst>
                <a:ext uri="{FF2B5EF4-FFF2-40B4-BE49-F238E27FC236}">
                  <a16:creationId xmlns:a16="http://schemas.microsoft.com/office/drawing/2014/main" id="{8E54FE42-736A-6C9E-07F5-71986625304B}"/>
                </a:ext>
              </a:extLst>
            </p:cNvPr>
            <p:cNvSpPr>
              <a:spLocks noChangeArrowheads="1"/>
            </p:cNvSpPr>
            <p:nvPr/>
          </p:nvSpPr>
          <p:spPr bwMode="auto">
            <a:xfrm>
              <a:off x="646113" y="3346843"/>
              <a:ext cx="950912" cy="498475"/>
            </a:xfrm>
            <a:prstGeom prst="rect">
              <a:avLst/>
            </a:prstGeom>
            <a:solidFill>
              <a:schemeClr val="accent4"/>
            </a:solidFill>
            <a:ln w="12700" cap="sq">
              <a:solidFill>
                <a:schemeClr val="tx1"/>
              </a:solidFill>
              <a:miter lim="800000"/>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a:solidFill>
                    <a:schemeClr val="bg1"/>
                  </a:solidFill>
                  <a:latin typeface="+mn-lt"/>
                </a:rPr>
                <a:t>Family</a:t>
              </a:r>
            </a:p>
            <a:p>
              <a:pPr algn="ctr">
                <a:spcBef>
                  <a:spcPct val="30000"/>
                </a:spcBef>
                <a:buClrTx/>
                <a:buSzTx/>
                <a:buFontTx/>
                <a:buNone/>
              </a:pPr>
              <a:r>
                <a:rPr lang="en-US" altLang="en-US" sz="1000">
                  <a:solidFill>
                    <a:schemeClr val="bg1"/>
                  </a:solidFill>
                  <a:latin typeface="+mn-lt"/>
                </a:rPr>
                <a:t>Phase Plan</a:t>
              </a:r>
            </a:p>
          </p:txBody>
        </p:sp>
        <p:sp>
          <p:nvSpPr>
            <p:cNvPr id="473" name="Rectangle 236">
              <a:extLst>
                <a:ext uri="{FF2B5EF4-FFF2-40B4-BE49-F238E27FC236}">
                  <a16:creationId xmlns:a16="http://schemas.microsoft.com/office/drawing/2014/main" id="{1858215F-7DC4-FC12-4224-7D251E3032F7}"/>
                </a:ext>
              </a:extLst>
            </p:cNvPr>
            <p:cNvSpPr>
              <a:spLocks noChangeArrowheads="1"/>
            </p:cNvSpPr>
            <p:nvPr/>
          </p:nvSpPr>
          <p:spPr bwMode="auto">
            <a:xfrm>
              <a:off x="646113" y="3975493"/>
              <a:ext cx="950912" cy="498475"/>
            </a:xfrm>
            <a:prstGeom prst="rect">
              <a:avLst/>
            </a:prstGeom>
            <a:solidFill>
              <a:schemeClr val="accent4"/>
            </a:solidFill>
            <a:ln w="12700" cap="sq">
              <a:solidFill>
                <a:schemeClr val="tx1"/>
              </a:solidFill>
              <a:miter lim="800000"/>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a:solidFill>
                    <a:schemeClr val="bg1"/>
                  </a:solidFill>
                  <a:latin typeface="+mn-lt"/>
                </a:rPr>
                <a:t>S&amp;OP</a:t>
              </a:r>
            </a:p>
            <a:p>
              <a:pPr algn="ctr">
                <a:spcBef>
                  <a:spcPct val="30000"/>
                </a:spcBef>
                <a:buClrTx/>
                <a:buSzTx/>
                <a:buFontTx/>
                <a:buNone/>
              </a:pPr>
              <a:r>
                <a:rPr lang="en-US" altLang="en-US" sz="1000">
                  <a:solidFill>
                    <a:schemeClr val="bg1"/>
                  </a:solidFill>
                  <a:latin typeface="+mn-lt"/>
                </a:rPr>
                <a:t>Spreadsheet</a:t>
              </a:r>
            </a:p>
          </p:txBody>
        </p:sp>
        <p:sp>
          <p:nvSpPr>
            <p:cNvPr id="474" name="Rectangle 237">
              <a:extLst>
                <a:ext uri="{FF2B5EF4-FFF2-40B4-BE49-F238E27FC236}">
                  <a16:creationId xmlns:a16="http://schemas.microsoft.com/office/drawing/2014/main" id="{82B88DC7-7482-46E0-2F0E-6EC945D12B68}"/>
                </a:ext>
              </a:extLst>
            </p:cNvPr>
            <p:cNvSpPr>
              <a:spLocks noChangeArrowheads="1"/>
            </p:cNvSpPr>
            <p:nvPr/>
          </p:nvSpPr>
          <p:spPr bwMode="auto">
            <a:xfrm>
              <a:off x="646113" y="4602555"/>
              <a:ext cx="950912" cy="498475"/>
            </a:xfrm>
            <a:prstGeom prst="rect">
              <a:avLst/>
            </a:prstGeom>
            <a:solidFill>
              <a:schemeClr val="accent4"/>
            </a:solidFill>
            <a:ln w="12700" cap="sq">
              <a:solidFill>
                <a:schemeClr val="tx1"/>
              </a:solidFill>
              <a:miter lim="800000"/>
              <a:headEnd type="none" w="sm" len="sm"/>
              <a:tailEnd type="none" w="sm" len="sm"/>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a:solidFill>
                    <a:schemeClr val="bg1"/>
                  </a:solidFill>
                  <a:latin typeface="+mn-lt"/>
                </a:rPr>
                <a:t>Defined</a:t>
              </a:r>
            </a:p>
            <a:p>
              <a:pPr algn="ctr">
                <a:spcBef>
                  <a:spcPct val="30000"/>
                </a:spcBef>
                <a:buClrTx/>
                <a:buSzTx/>
                <a:buFontTx/>
                <a:buNone/>
              </a:pPr>
              <a:r>
                <a:rPr lang="en-US" altLang="en-US" sz="1000">
                  <a:solidFill>
                    <a:schemeClr val="bg1"/>
                  </a:solidFill>
                  <a:latin typeface="+mn-lt"/>
                </a:rPr>
                <a:t>Roles</a:t>
              </a:r>
            </a:p>
          </p:txBody>
        </p:sp>
        <p:sp>
          <p:nvSpPr>
            <p:cNvPr id="475" name="Text Box 238">
              <a:extLst>
                <a:ext uri="{FF2B5EF4-FFF2-40B4-BE49-F238E27FC236}">
                  <a16:creationId xmlns:a16="http://schemas.microsoft.com/office/drawing/2014/main" id="{9247B0C8-9D40-38D3-57D5-3C4F3AC5900B}"/>
                </a:ext>
              </a:extLst>
            </p:cNvPr>
            <p:cNvSpPr txBox="1">
              <a:spLocks noChangeArrowheads="1"/>
            </p:cNvSpPr>
            <p:nvPr/>
          </p:nvSpPr>
          <p:spPr bwMode="auto">
            <a:xfrm>
              <a:off x="693352" y="2122880"/>
              <a:ext cx="858021" cy="224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30000"/>
                </a:spcBef>
                <a:buClrTx/>
                <a:buSzTx/>
                <a:buFontTx/>
                <a:buNone/>
              </a:pPr>
              <a:r>
                <a:rPr lang="en-US" altLang="en-US" sz="1000">
                  <a:latin typeface="+mn-lt"/>
                </a:rPr>
                <a:t>S&amp;OP Playbook</a:t>
              </a:r>
            </a:p>
          </p:txBody>
        </p:sp>
        <p:sp>
          <p:nvSpPr>
            <p:cNvPr id="476" name="Freeform 239">
              <a:extLst>
                <a:ext uri="{FF2B5EF4-FFF2-40B4-BE49-F238E27FC236}">
                  <a16:creationId xmlns:a16="http://schemas.microsoft.com/office/drawing/2014/main" id="{131744DA-20CF-5EB5-01AB-3AF2269E806E}"/>
                </a:ext>
              </a:extLst>
            </p:cNvPr>
            <p:cNvSpPr>
              <a:spLocks/>
            </p:cNvSpPr>
            <p:nvPr/>
          </p:nvSpPr>
          <p:spPr bwMode="auto">
            <a:xfrm>
              <a:off x="1120775" y="2564205"/>
              <a:ext cx="3517900" cy="582613"/>
            </a:xfrm>
            <a:custGeom>
              <a:avLst/>
              <a:gdLst>
                <a:gd name="T0" fmla="*/ 0 w 2012"/>
                <a:gd name="T1" fmla="*/ 0 h 367"/>
                <a:gd name="T2" fmla="*/ 2147483646 w 2012"/>
                <a:gd name="T3" fmla="*/ 0 h 367"/>
                <a:gd name="T4" fmla="*/ 2147483646 w 2012"/>
                <a:gd name="T5" fmla="*/ 924898931 h 367"/>
                <a:gd name="T6" fmla="*/ 0 60000 65536"/>
                <a:gd name="T7" fmla="*/ 0 60000 65536"/>
                <a:gd name="T8" fmla="*/ 0 60000 65536"/>
              </a:gdLst>
              <a:ahLst/>
              <a:cxnLst>
                <a:cxn ang="T6">
                  <a:pos x="T0" y="T1"/>
                </a:cxn>
                <a:cxn ang="T7">
                  <a:pos x="T2" y="T3"/>
                </a:cxn>
                <a:cxn ang="T8">
                  <a:pos x="T4" y="T5"/>
                </a:cxn>
              </a:cxnLst>
              <a:rect l="0" t="0" r="r" b="b"/>
              <a:pathLst>
                <a:path w="2012" h="367">
                  <a:moveTo>
                    <a:pt x="0" y="0"/>
                  </a:moveTo>
                  <a:lnTo>
                    <a:pt x="1256" y="0"/>
                  </a:lnTo>
                  <a:lnTo>
                    <a:pt x="2012" y="367"/>
                  </a:lnTo>
                </a:path>
              </a:pathLst>
            </a:custGeom>
            <a:noFill/>
            <a:ln w="19050" cap="flat" cmpd="sng">
              <a:solidFill>
                <a:schemeClr val="tx1"/>
              </a:solidFill>
              <a:prstDash val="sysDot"/>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477" name="Rectangle 242">
              <a:extLst>
                <a:ext uri="{FF2B5EF4-FFF2-40B4-BE49-F238E27FC236}">
                  <a16:creationId xmlns:a16="http://schemas.microsoft.com/office/drawing/2014/main" id="{C9FB714D-B47B-171C-BCF0-1892F1442C84}"/>
                </a:ext>
              </a:extLst>
            </p:cNvPr>
            <p:cNvSpPr>
              <a:spLocks noChangeArrowheads="1"/>
            </p:cNvSpPr>
            <p:nvPr/>
          </p:nvSpPr>
          <p:spPr bwMode="auto">
            <a:xfrm>
              <a:off x="1982788" y="5113730"/>
              <a:ext cx="6781800" cy="785813"/>
            </a:xfrm>
            <a:prstGeom prst="rect">
              <a:avLst/>
            </a:prstGeom>
            <a:noFill/>
            <a:ln w="19050">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78" name="Rectangle 243">
              <a:extLst>
                <a:ext uri="{FF2B5EF4-FFF2-40B4-BE49-F238E27FC236}">
                  <a16:creationId xmlns:a16="http://schemas.microsoft.com/office/drawing/2014/main" id="{452DA226-781C-871B-826A-4E77DC549925}"/>
                </a:ext>
              </a:extLst>
            </p:cNvPr>
            <p:cNvSpPr>
              <a:spLocks noChangeArrowheads="1"/>
            </p:cNvSpPr>
            <p:nvPr/>
          </p:nvSpPr>
          <p:spPr bwMode="auto">
            <a:xfrm>
              <a:off x="1998663" y="5115318"/>
              <a:ext cx="389890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95000"/>
                </a:lnSpc>
                <a:buClrTx/>
                <a:buSzPct val="90000"/>
                <a:buFont typeface="Arial" panose="020B0604020202020204" pitchFamily="34" charset="0"/>
                <a:buChar char="•"/>
              </a:pPr>
              <a:r>
                <a:rPr lang="en-US" altLang="en-US" sz="1200" dirty="0">
                  <a:latin typeface="+mn-lt"/>
                </a:rPr>
                <a:t>S&amp;OP supply-demand matching spreadsheet</a:t>
              </a:r>
            </a:p>
            <a:p>
              <a:pPr>
                <a:lnSpc>
                  <a:spcPct val="95000"/>
                </a:lnSpc>
                <a:buClrTx/>
                <a:buSzPct val="90000"/>
                <a:buFont typeface="Arial" panose="020B0604020202020204" pitchFamily="34" charset="0"/>
                <a:buChar char="•"/>
              </a:pPr>
              <a:r>
                <a:rPr lang="en-US" altLang="en-US" sz="1200" dirty="0">
                  <a:latin typeface="+mn-lt"/>
                </a:rPr>
                <a:t>Rough-cut capacity planning spreadsheet</a:t>
              </a:r>
            </a:p>
            <a:p>
              <a:pPr>
                <a:lnSpc>
                  <a:spcPct val="95000"/>
                </a:lnSpc>
                <a:buClrTx/>
                <a:buSzPct val="90000"/>
                <a:buFont typeface="Arial" panose="020B0604020202020204" pitchFamily="34" charset="0"/>
                <a:buChar char="•"/>
              </a:pPr>
              <a:r>
                <a:rPr lang="en-US" altLang="en-US" sz="1200" dirty="0">
                  <a:latin typeface="+mn-lt"/>
                </a:rPr>
                <a:t>Forecast generation and review process</a:t>
              </a:r>
            </a:p>
            <a:p>
              <a:pPr>
                <a:lnSpc>
                  <a:spcPct val="95000"/>
                </a:lnSpc>
                <a:buClrTx/>
                <a:buSzPct val="90000"/>
                <a:buFont typeface="Arial" panose="020B0604020202020204" pitchFamily="34" charset="0"/>
                <a:buChar char="•"/>
              </a:pPr>
              <a:r>
                <a:rPr lang="en-US" altLang="en-US" sz="1200" dirty="0">
                  <a:latin typeface="+mn-lt"/>
                </a:rPr>
                <a:t>Documented S&amp;OP policies and procedures</a:t>
              </a:r>
            </a:p>
          </p:txBody>
        </p:sp>
        <p:sp>
          <p:nvSpPr>
            <p:cNvPr id="479" name="Rectangle 244">
              <a:extLst>
                <a:ext uri="{FF2B5EF4-FFF2-40B4-BE49-F238E27FC236}">
                  <a16:creationId xmlns:a16="http://schemas.microsoft.com/office/drawing/2014/main" id="{9EE966AE-04B4-BF0E-200A-207ADEA98707}"/>
                </a:ext>
              </a:extLst>
            </p:cNvPr>
            <p:cNvSpPr>
              <a:spLocks noChangeArrowheads="1"/>
            </p:cNvSpPr>
            <p:nvPr/>
          </p:nvSpPr>
          <p:spPr bwMode="auto">
            <a:xfrm>
              <a:off x="5230813" y="5115318"/>
              <a:ext cx="389890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95000"/>
                </a:lnSpc>
                <a:buClrTx/>
                <a:buSzPct val="90000"/>
                <a:buFont typeface="Arial" panose="020B0604020202020204" pitchFamily="34" charset="0"/>
                <a:buChar char="•"/>
              </a:pPr>
              <a:r>
                <a:rPr lang="en-US" altLang="en-US" sz="1200">
                  <a:latin typeface="+mn-lt"/>
                </a:rPr>
                <a:t>Executive review and go-forward decision criteria</a:t>
              </a:r>
            </a:p>
            <a:p>
              <a:pPr>
                <a:lnSpc>
                  <a:spcPct val="95000"/>
                </a:lnSpc>
                <a:buClrTx/>
                <a:buSzPct val="90000"/>
                <a:buFont typeface="Arial" panose="020B0604020202020204" pitchFamily="34" charset="0"/>
                <a:buChar char="•"/>
              </a:pPr>
              <a:r>
                <a:rPr lang="en-US" altLang="en-US" sz="1200">
                  <a:latin typeface="+mn-lt"/>
                </a:rPr>
                <a:t>Complete-cycle S&amp;OP process on pilot family</a:t>
              </a:r>
            </a:p>
            <a:p>
              <a:pPr>
                <a:lnSpc>
                  <a:spcPct val="95000"/>
                </a:lnSpc>
                <a:buClrTx/>
                <a:buSzPct val="90000"/>
                <a:buFont typeface="Arial" panose="020B0604020202020204" pitchFamily="34" charset="0"/>
                <a:buChar char="•"/>
              </a:pPr>
              <a:r>
                <a:rPr lang="en-US" altLang="en-US" sz="1200">
                  <a:latin typeface="+mn-lt"/>
                </a:rPr>
                <a:t>Detailed roll-out schedule for remaining families</a:t>
              </a:r>
            </a:p>
            <a:p>
              <a:pPr>
                <a:lnSpc>
                  <a:spcPct val="95000"/>
                </a:lnSpc>
                <a:buClrTx/>
                <a:buSzPct val="90000"/>
                <a:buFont typeface="Arial" panose="020B0604020202020204" pitchFamily="34" charset="0"/>
                <a:buChar char="•"/>
              </a:pPr>
              <a:r>
                <a:rPr lang="en-US" altLang="en-US" sz="1200">
                  <a:latin typeface="+mn-lt"/>
                </a:rPr>
                <a:t>Boot camp training delivery to team members</a:t>
              </a:r>
            </a:p>
            <a:p>
              <a:pPr>
                <a:lnSpc>
                  <a:spcPct val="95000"/>
                </a:lnSpc>
                <a:buClrTx/>
                <a:buSzPct val="90000"/>
                <a:buFont typeface="Arial" panose="020B0604020202020204" pitchFamily="34" charset="0"/>
                <a:buChar char="•"/>
              </a:pPr>
              <a:endParaRPr lang="en-US" altLang="en-US" sz="1200">
                <a:latin typeface="+mn-lt"/>
              </a:endParaRPr>
            </a:p>
          </p:txBody>
        </p:sp>
      </p:grpSp>
    </p:spTree>
    <p:extLst>
      <p:ext uri="{BB962C8B-B14F-4D97-AF65-F5344CB8AC3E}">
        <p14:creationId xmlns:p14="http://schemas.microsoft.com/office/powerpoint/2010/main" val="1602215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Monthly Cycle Schematic: </a:t>
            </a:r>
            <a:br>
              <a:rPr lang="en-US" dirty="0"/>
            </a:br>
            <a:r>
              <a:rPr lang="en-US" dirty="0"/>
              <a:t>Complete Cycle To Monthly S&amp;OP Success </a:t>
            </a:r>
          </a:p>
        </p:txBody>
      </p:sp>
      <p:grpSp>
        <p:nvGrpSpPr>
          <p:cNvPr id="29" name="Group 28">
            <a:extLst>
              <a:ext uri="{FF2B5EF4-FFF2-40B4-BE49-F238E27FC236}">
                <a16:creationId xmlns:a16="http://schemas.microsoft.com/office/drawing/2014/main" id="{8BF8F827-3CBA-DBDA-8DF6-98E2D544BE85}"/>
              </a:ext>
            </a:extLst>
          </p:cNvPr>
          <p:cNvGrpSpPr/>
          <p:nvPr/>
        </p:nvGrpSpPr>
        <p:grpSpPr>
          <a:xfrm>
            <a:off x="1031116" y="1870709"/>
            <a:ext cx="9866646" cy="4302670"/>
            <a:chOff x="584550" y="1679324"/>
            <a:chExt cx="8191500" cy="3813175"/>
          </a:xfrm>
        </p:grpSpPr>
        <p:sp>
          <p:nvSpPr>
            <p:cNvPr id="3" name="Rectangle 2">
              <a:extLst>
                <a:ext uri="{FF2B5EF4-FFF2-40B4-BE49-F238E27FC236}">
                  <a16:creationId xmlns:a16="http://schemas.microsoft.com/office/drawing/2014/main" id="{6B0FC21B-9E51-5B86-B00E-88C76FD529A4}"/>
                </a:ext>
              </a:extLst>
            </p:cNvPr>
            <p:cNvSpPr>
              <a:spLocks noChangeArrowheads="1"/>
            </p:cNvSpPr>
            <p:nvPr/>
          </p:nvSpPr>
          <p:spPr bwMode="auto">
            <a:xfrm>
              <a:off x="708375" y="2341311"/>
              <a:ext cx="1449388"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Data Assembly</a:t>
              </a:r>
            </a:p>
            <a:p>
              <a:pPr algn="ctr">
                <a:lnSpc>
                  <a:spcPct val="80000"/>
                </a:lnSpc>
                <a:buClrTx/>
                <a:buSzTx/>
                <a:buFontTx/>
                <a:buNone/>
              </a:pPr>
              <a:r>
                <a:rPr lang="en-US" altLang="en-US" sz="1100">
                  <a:solidFill>
                    <a:schemeClr val="bg1"/>
                  </a:solidFill>
                  <a:latin typeface="+mn-lt"/>
                </a:rPr>
                <a:t>Day 5</a:t>
              </a:r>
            </a:p>
          </p:txBody>
        </p:sp>
        <p:sp>
          <p:nvSpPr>
            <p:cNvPr id="4" name="Rectangle 3">
              <a:extLst>
                <a:ext uri="{FF2B5EF4-FFF2-40B4-BE49-F238E27FC236}">
                  <a16:creationId xmlns:a16="http://schemas.microsoft.com/office/drawing/2014/main" id="{D995268E-9CCF-CD89-53D6-D3309ABECEB4}"/>
                </a:ext>
              </a:extLst>
            </p:cNvPr>
            <p:cNvSpPr>
              <a:spLocks noChangeArrowheads="1"/>
            </p:cNvSpPr>
            <p:nvPr/>
          </p:nvSpPr>
          <p:spPr bwMode="auto">
            <a:xfrm>
              <a:off x="2354613" y="2341311"/>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Demand Planning</a:t>
              </a:r>
            </a:p>
            <a:p>
              <a:pPr algn="ctr">
                <a:lnSpc>
                  <a:spcPct val="80000"/>
                </a:lnSpc>
                <a:buClrTx/>
                <a:buSzTx/>
                <a:buFontTx/>
                <a:buNone/>
              </a:pPr>
              <a:r>
                <a:rPr lang="en-US" altLang="en-US" sz="1100">
                  <a:solidFill>
                    <a:schemeClr val="bg1"/>
                  </a:solidFill>
                  <a:latin typeface="+mn-lt"/>
                </a:rPr>
                <a:t>Day 10</a:t>
              </a:r>
            </a:p>
          </p:txBody>
        </p:sp>
        <p:sp>
          <p:nvSpPr>
            <p:cNvPr id="5" name="Rectangle 4">
              <a:extLst>
                <a:ext uri="{FF2B5EF4-FFF2-40B4-BE49-F238E27FC236}">
                  <a16:creationId xmlns:a16="http://schemas.microsoft.com/office/drawing/2014/main" id="{D6AAC8BA-604B-B21A-C84C-0F8FC3D21956}"/>
                </a:ext>
              </a:extLst>
            </p:cNvPr>
            <p:cNvSpPr>
              <a:spLocks noChangeArrowheads="1"/>
            </p:cNvSpPr>
            <p:nvPr/>
          </p:nvSpPr>
          <p:spPr bwMode="auto">
            <a:xfrm>
              <a:off x="3994500" y="2341311"/>
              <a:ext cx="1449388"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Planning</a:t>
              </a:r>
            </a:p>
            <a:p>
              <a:pPr algn="ctr">
                <a:lnSpc>
                  <a:spcPct val="80000"/>
                </a:lnSpc>
                <a:buClrTx/>
                <a:buSzTx/>
                <a:buFontTx/>
                <a:buNone/>
              </a:pPr>
              <a:r>
                <a:rPr lang="en-US" altLang="en-US" sz="1100">
                  <a:solidFill>
                    <a:schemeClr val="bg1"/>
                  </a:solidFill>
                  <a:latin typeface="+mn-lt"/>
                </a:rPr>
                <a:t>Day 15</a:t>
              </a:r>
            </a:p>
          </p:txBody>
        </p:sp>
        <p:sp>
          <p:nvSpPr>
            <p:cNvPr id="6" name="Rectangle 5">
              <a:extLst>
                <a:ext uri="{FF2B5EF4-FFF2-40B4-BE49-F238E27FC236}">
                  <a16:creationId xmlns:a16="http://schemas.microsoft.com/office/drawing/2014/main" id="{9CEF9AE9-390F-2633-010E-7720169BF034}"/>
                </a:ext>
              </a:extLst>
            </p:cNvPr>
            <p:cNvSpPr>
              <a:spLocks noChangeArrowheads="1"/>
            </p:cNvSpPr>
            <p:nvPr/>
          </p:nvSpPr>
          <p:spPr bwMode="auto">
            <a:xfrm>
              <a:off x="5640738" y="2341311"/>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Pre-S&amp;OP Meeting</a:t>
              </a:r>
            </a:p>
            <a:p>
              <a:pPr algn="ctr">
                <a:lnSpc>
                  <a:spcPct val="80000"/>
                </a:lnSpc>
                <a:buClrTx/>
                <a:buSzTx/>
                <a:buFontTx/>
                <a:buNone/>
              </a:pPr>
              <a:r>
                <a:rPr lang="en-US" altLang="en-US" sz="1100">
                  <a:solidFill>
                    <a:schemeClr val="bg1"/>
                  </a:solidFill>
                  <a:latin typeface="+mn-lt"/>
                </a:rPr>
                <a:t>Day 20</a:t>
              </a:r>
            </a:p>
          </p:txBody>
        </p:sp>
        <p:sp>
          <p:nvSpPr>
            <p:cNvPr id="7" name="Rectangle 6">
              <a:extLst>
                <a:ext uri="{FF2B5EF4-FFF2-40B4-BE49-F238E27FC236}">
                  <a16:creationId xmlns:a16="http://schemas.microsoft.com/office/drawing/2014/main" id="{274360A6-D1EF-9982-7D69-B7B624889B37}"/>
                </a:ext>
              </a:extLst>
            </p:cNvPr>
            <p:cNvSpPr>
              <a:spLocks noChangeArrowheads="1"/>
            </p:cNvSpPr>
            <p:nvPr/>
          </p:nvSpPr>
          <p:spPr bwMode="auto">
            <a:xfrm>
              <a:off x="7294913" y="2341311"/>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Exec S&amp;OP Meeting</a:t>
              </a:r>
            </a:p>
            <a:p>
              <a:pPr algn="ctr">
                <a:lnSpc>
                  <a:spcPct val="80000"/>
                </a:lnSpc>
                <a:buClrTx/>
                <a:buSzTx/>
                <a:buFontTx/>
                <a:buNone/>
              </a:pPr>
              <a:r>
                <a:rPr lang="en-US" altLang="en-US" sz="1100">
                  <a:solidFill>
                    <a:schemeClr val="bg1"/>
                  </a:solidFill>
                  <a:latin typeface="+mn-lt"/>
                </a:rPr>
                <a:t>Day 22</a:t>
              </a:r>
            </a:p>
          </p:txBody>
        </p:sp>
        <p:sp>
          <p:nvSpPr>
            <p:cNvPr id="8" name="Oval 9">
              <a:extLst>
                <a:ext uri="{FF2B5EF4-FFF2-40B4-BE49-F238E27FC236}">
                  <a16:creationId xmlns:a16="http://schemas.microsoft.com/office/drawing/2014/main" id="{7C9611C3-87FD-5B02-8BBB-2148450B7757}"/>
                </a:ext>
              </a:extLst>
            </p:cNvPr>
            <p:cNvSpPr>
              <a:spLocks noChangeArrowheads="1"/>
            </p:cNvSpPr>
            <p:nvPr/>
          </p:nvSpPr>
          <p:spPr bwMode="auto">
            <a:xfrm>
              <a:off x="584550" y="1679324"/>
              <a:ext cx="1706563" cy="28098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a:solidFill>
                    <a:schemeClr val="bg1"/>
                  </a:solidFill>
                  <a:latin typeface="+mn-lt"/>
                </a:rPr>
                <a:t>Last-Month Results </a:t>
              </a:r>
            </a:p>
          </p:txBody>
        </p:sp>
        <p:cxnSp>
          <p:nvCxnSpPr>
            <p:cNvPr id="9" name="AutoShape 11">
              <a:extLst>
                <a:ext uri="{FF2B5EF4-FFF2-40B4-BE49-F238E27FC236}">
                  <a16:creationId xmlns:a16="http://schemas.microsoft.com/office/drawing/2014/main" id="{C1A6DB2B-858C-4EE1-56BF-F43595193386}"/>
                </a:ext>
              </a:extLst>
            </p:cNvPr>
            <p:cNvCxnSpPr>
              <a:cxnSpLocks noChangeShapeType="1"/>
              <a:stCxn id="8" idx="2"/>
              <a:endCxn id="3" idx="1"/>
            </p:cNvCxnSpPr>
            <p:nvPr/>
          </p:nvCxnSpPr>
          <p:spPr bwMode="auto">
            <a:xfrm rot="10800000" flipH="1" flipV="1">
              <a:off x="584550" y="1820611"/>
              <a:ext cx="123825" cy="733425"/>
            </a:xfrm>
            <a:prstGeom prst="bentConnector3">
              <a:avLst>
                <a:gd name="adj1" fmla="val -184616"/>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0" name="Line 18">
              <a:extLst>
                <a:ext uri="{FF2B5EF4-FFF2-40B4-BE49-F238E27FC236}">
                  <a16:creationId xmlns:a16="http://schemas.microsoft.com/office/drawing/2014/main" id="{B984A781-B61F-C18F-A4F0-5C2DF340A255}"/>
                </a:ext>
              </a:extLst>
            </p:cNvPr>
            <p:cNvSpPr>
              <a:spLocks noChangeShapeType="1"/>
            </p:cNvSpPr>
            <p:nvPr/>
          </p:nvSpPr>
          <p:spPr bwMode="auto">
            <a:xfrm flipV="1">
              <a:off x="1276700" y="2150811"/>
              <a:ext cx="6813550"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Text Box 19">
              <a:extLst>
                <a:ext uri="{FF2B5EF4-FFF2-40B4-BE49-F238E27FC236}">
                  <a16:creationId xmlns:a16="http://schemas.microsoft.com/office/drawing/2014/main" id="{854AFFF2-88DC-9C68-8463-BF4B2391F1B2}"/>
                </a:ext>
              </a:extLst>
            </p:cNvPr>
            <p:cNvSpPr txBox="1">
              <a:spLocks noChangeArrowheads="1"/>
            </p:cNvSpPr>
            <p:nvPr/>
          </p:nvSpPr>
          <p:spPr bwMode="auto">
            <a:xfrm>
              <a:off x="709500" y="2044449"/>
              <a:ext cx="466063" cy="214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0</a:t>
              </a:r>
            </a:p>
          </p:txBody>
        </p:sp>
        <p:sp>
          <p:nvSpPr>
            <p:cNvPr id="12" name="Text Box 20">
              <a:extLst>
                <a:ext uri="{FF2B5EF4-FFF2-40B4-BE49-F238E27FC236}">
                  <a16:creationId xmlns:a16="http://schemas.microsoft.com/office/drawing/2014/main" id="{66E699DA-6550-78EA-0C7D-B802973F4F79}"/>
                </a:ext>
              </a:extLst>
            </p:cNvPr>
            <p:cNvSpPr txBox="1">
              <a:spLocks noChangeArrowheads="1"/>
            </p:cNvSpPr>
            <p:nvPr/>
          </p:nvSpPr>
          <p:spPr bwMode="auto">
            <a:xfrm>
              <a:off x="8198189" y="2044449"/>
              <a:ext cx="536598" cy="214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30</a:t>
              </a:r>
            </a:p>
          </p:txBody>
        </p:sp>
        <p:sp>
          <p:nvSpPr>
            <p:cNvPr id="13" name="Rectangle 29">
              <a:extLst>
                <a:ext uri="{FF2B5EF4-FFF2-40B4-BE49-F238E27FC236}">
                  <a16:creationId xmlns:a16="http://schemas.microsoft.com/office/drawing/2014/main" id="{5751361F-6B03-EAB3-9084-5B3C9520C2AF}"/>
                </a:ext>
              </a:extLst>
            </p:cNvPr>
            <p:cNvSpPr>
              <a:spLocks noChangeArrowheads="1"/>
            </p:cNvSpPr>
            <p:nvPr/>
          </p:nvSpPr>
          <p:spPr bwMode="auto">
            <a:xfrm>
              <a:off x="697263" y="4825749"/>
              <a:ext cx="8045450" cy="658812"/>
            </a:xfrm>
            <a:prstGeom prst="rect">
              <a:avLst/>
            </a:prstGeom>
            <a:solidFill>
              <a:schemeClr val="bg2"/>
            </a:solidFill>
            <a:ln w="1270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14" name="Group 16">
              <a:extLst>
                <a:ext uri="{FF2B5EF4-FFF2-40B4-BE49-F238E27FC236}">
                  <a16:creationId xmlns:a16="http://schemas.microsoft.com/office/drawing/2014/main" id="{EFC8CA6B-1B88-75FB-92B6-9680C9C122B6}"/>
                </a:ext>
              </a:extLst>
            </p:cNvPr>
            <p:cNvGrpSpPr>
              <a:grpSpLocks/>
            </p:cNvGrpSpPr>
            <p:nvPr/>
          </p:nvGrpSpPr>
          <p:grpSpPr bwMode="auto">
            <a:xfrm>
              <a:off x="2253013" y="2341311"/>
              <a:ext cx="4937125" cy="3151188"/>
              <a:chOff x="1437" y="1895"/>
              <a:chExt cx="3110" cy="1968"/>
            </a:xfrm>
          </p:grpSpPr>
          <p:sp>
            <p:nvSpPr>
              <p:cNvPr id="15" name="Line 12">
                <a:extLst>
                  <a:ext uri="{FF2B5EF4-FFF2-40B4-BE49-F238E27FC236}">
                    <a16:creationId xmlns:a16="http://schemas.microsoft.com/office/drawing/2014/main" id="{CFD90FF3-895A-A8A0-6607-3E173028481C}"/>
                  </a:ext>
                </a:extLst>
              </p:cNvPr>
              <p:cNvSpPr>
                <a:spLocks noChangeShapeType="1"/>
              </p:cNvSpPr>
              <p:nvPr/>
            </p:nvSpPr>
            <p:spPr bwMode="auto">
              <a:xfrm>
                <a:off x="1437" y="1895"/>
                <a:ext cx="0" cy="196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3">
                <a:extLst>
                  <a:ext uri="{FF2B5EF4-FFF2-40B4-BE49-F238E27FC236}">
                    <a16:creationId xmlns:a16="http://schemas.microsoft.com/office/drawing/2014/main" id="{3F5D2F81-E3BC-1C32-B517-F666FBBC9D91}"/>
                  </a:ext>
                </a:extLst>
              </p:cNvPr>
              <p:cNvSpPr>
                <a:spLocks noChangeShapeType="1"/>
              </p:cNvSpPr>
              <p:nvPr/>
            </p:nvSpPr>
            <p:spPr bwMode="auto">
              <a:xfrm>
                <a:off x="2475" y="1895"/>
                <a:ext cx="0" cy="196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4">
                <a:extLst>
                  <a:ext uri="{FF2B5EF4-FFF2-40B4-BE49-F238E27FC236}">
                    <a16:creationId xmlns:a16="http://schemas.microsoft.com/office/drawing/2014/main" id="{836FDA2A-7680-087B-1C01-A3161811E269}"/>
                  </a:ext>
                </a:extLst>
              </p:cNvPr>
              <p:cNvSpPr>
                <a:spLocks noChangeShapeType="1"/>
              </p:cNvSpPr>
              <p:nvPr/>
            </p:nvSpPr>
            <p:spPr bwMode="auto">
              <a:xfrm>
                <a:off x="3507" y="1895"/>
                <a:ext cx="0" cy="196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5">
                <a:extLst>
                  <a:ext uri="{FF2B5EF4-FFF2-40B4-BE49-F238E27FC236}">
                    <a16:creationId xmlns:a16="http://schemas.microsoft.com/office/drawing/2014/main" id="{6B97F3B9-611A-1536-0959-59FF7DA78D5F}"/>
                  </a:ext>
                </a:extLst>
              </p:cNvPr>
              <p:cNvSpPr>
                <a:spLocks noChangeShapeType="1"/>
              </p:cNvSpPr>
              <p:nvPr/>
            </p:nvSpPr>
            <p:spPr bwMode="auto">
              <a:xfrm>
                <a:off x="4547" y="1895"/>
                <a:ext cx="0" cy="196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9" name="AutoShape 22">
              <a:extLst>
                <a:ext uri="{FF2B5EF4-FFF2-40B4-BE49-F238E27FC236}">
                  <a16:creationId xmlns:a16="http://schemas.microsoft.com/office/drawing/2014/main" id="{5B3CB709-D631-D188-8395-FDAAB7DEE109}"/>
                </a:ext>
              </a:extLst>
            </p:cNvPr>
            <p:cNvSpPr>
              <a:spLocks noChangeArrowheads="1"/>
            </p:cNvSpPr>
            <p:nvPr/>
          </p:nvSpPr>
          <p:spPr bwMode="auto">
            <a:xfrm>
              <a:off x="719488" y="2847724"/>
              <a:ext cx="2430462" cy="301625"/>
            </a:xfrm>
            <a:prstGeom prst="homePlate">
              <a:avLst>
                <a:gd name="adj" fmla="val 87368"/>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a:solidFill>
                    <a:schemeClr val="bg1"/>
                  </a:solidFill>
                  <a:latin typeface="+mn-lt"/>
                </a:rPr>
                <a:t>Review Past-Month Results</a:t>
              </a:r>
            </a:p>
            <a:p>
              <a:pPr algn="ctr">
                <a:lnSpc>
                  <a:spcPct val="80000"/>
                </a:lnSpc>
                <a:spcBef>
                  <a:spcPct val="15000"/>
                </a:spcBef>
                <a:buClrTx/>
                <a:buSzTx/>
                <a:buFontTx/>
                <a:buNone/>
              </a:pPr>
              <a:r>
                <a:rPr lang="en-US" altLang="en-US" sz="1000" i="1">
                  <a:solidFill>
                    <a:schemeClr val="bg1"/>
                  </a:solidFill>
                  <a:latin typeface="+mn-lt"/>
                </a:rPr>
                <a:t>&amp; Forecast Accuracy</a:t>
              </a:r>
            </a:p>
          </p:txBody>
        </p:sp>
        <p:sp>
          <p:nvSpPr>
            <p:cNvPr id="20" name="AutoShape 23">
              <a:extLst>
                <a:ext uri="{FF2B5EF4-FFF2-40B4-BE49-F238E27FC236}">
                  <a16:creationId xmlns:a16="http://schemas.microsoft.com/office/drawing/2014/main" id="{0A753F40-CC88-A0AB-B294-1A85EF695C67}"/>
                </a:ext>
              </a:extLst>
            </p:cNvPr>
            <p:cNvSpPr>
              <a:spLocks noChangeArrowheads="1"/>
            </p:cNvSpPr>
            <p:nvPr/>
          </p:nvSpPr>
          <p:spPr bwMode="auto">
            <a:xfrm>
              <a:off x="1718025" y="3246186"/>
              <a:ext cx="2084388" cy="301625"/>
            </a:xfrm>
            <a:prstGeom prst="homePlate">
              <a:avLst>
                <a:gd name="adj" fmla="val 74928"/>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a:solidFill>
                    <a:schemeClr val="bg1"/>
                  </a:solidFill>
                  <a:latin typeface="+mn-lt"/>
                </a:rPr>
                <a:t>Build Consensus Forecast</a:t>
              </a:r>
            </a:p>
            <a:p>
              <a:pPr algn="ctr">
                <a:lnSpc>
                  <a:spcPct val="80000"/>
                </a:lnSpc>
                <a:spcBef>
                  <a:spcPct val="15000"/>
                </a:spcBef>
                <a:buClrTx/>
                <a:buSzTx/>
                <a:buFontTx/>
                <a:buNone/>
              </a:pPr>
              <a:r>
                <a:rPr lang="en-US" altLang="en-US" sz="1000" i="1">
                  <a:solidFill>
                    <a:schemeClr val="bg1"/>
                  </a:solidFill>
                  <a:latin typeface="+mn-lt"/>
                </a:rPr>
                <a:t>For Next-Month Production</a:t>
              </a:r>
            </a:p>
          </p:txBody>
        </p:sp>
        <p:sp>
          <p:nvSpPr>
            <p:cNvPr id="21" name="AutoShape 24">
              <a:extLst>
                <a:ext uri="{FF2B5EF4-FFF2-40B4-BE49-F238E27FC236}">
                  <a16:creationId xmlns:a16="http://schemas.microsoft.com/office/drawing/2014/main" id="{5CC25F3A-4010-D3F0-0D6B-1FCC9D500539}"/>
                </a:ext>
              </a:extLst>
            </p:cNvPr>
            <p:cNvSpPr>
              <a:spLocks noChangeArrowheads="1"/>
            </p:cNvSpPr>
            <p:nvPr/>
          </p:nvSpPr>
          <p:spPr bwMode="auto">
            <a:xfrm>
              <a:off x="3367438" y="3647824"/>
              <a:ext cx="2074862" cy="301625"/>
            </a:xfrm>
            <a:prstGeom prst="homePlate">
              <a:avLst>
                <a:gd name="adj" fmla="val 74586"/>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a:solidFill>
                    <a:schemeClr val="bg1"/>
                  </a:solidFill>
                  <a:latin typeface="+mn-lt"/>
                </a:rPr>
                <a:t>Available Capacity Analysis</a:t>
              </a:r>
            </a:p>
            <a:p>
              <a:pPr algn="ctr">
                <a:lnSpc>
                  <a:spcPct val="80000"/>
                </a:lnSpc>
                <a:spcBef>
                  <a:spcPct val="15000"/>
                </a:spcBef>
                <a:buClrTx/>
                <a:buSzTx/>
                <a:buFontTx/>
                <a:buNone/>
              </a:pPr>
              <a:r>
                <a:rPr lang="en-US" altLang="en-US" sz="1000" i="1">
                  <a:solidFill>
                    <a:schemeClr val="bg1"/>
                  </a:solidFill>
                  <a:latin typeface="+mn-lt"/>
                </a:rPr>
                <a:t>Mismatch Identification</a:t>
              </a:r>
            </a:p>
          </p:txBody>
        </p:sp>
        <p:sp>
          <p:nvSpPr>
            <p:cNvPr id="22" name="AutoShape 25">
              <a:extLst>
                <a:ext uri="{FF2B5EF4-FFF2-40B4-BE49-F238E27FC236}">
                  <a16:creationId xmlns:a16="http://schemas.microsoft.com/office/drawing/2014/main" id="{0594138D-2B4C-75C0-EA5E-6CBE7B977E3E}"/>
                </a:ext>
              </a:extLst>
            </p:cNvPr>
            <p:cNvSpPr>
              <a:spLocks noChangeArrowheads="1"/>
            </p:cNvSpPr>
            <p:nvPr/>
          </p:nvSpPr>
          <p:spPr bwMode="auto">
            <a:xfrm>
              <a:off x="5432775" y="4049461"/>
              <a:ext cx="1660525" cy="301625"/>
            </a:xfrm>
            <a:prstGeom prst="homePlate">
              <a:avLst>
                <a:gd name="adj" fmla="val 59691"/>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a:solidFill>
                    <a:schemeClr val="bg1"/>
                  </a:solidFill>
                  <a:latin typeface="+mn-lt"/>
                </a:rPr>
                <a:t>Supply-Demand</a:t>
              </a:r>
            </a:p>
            <a:p>
              <a:pPr algn="ctr">
                <a:lnSpc>
                  <a:spcPct val="80000"/>
                </a:lnSpc>
                <a:spcBef>
                  <a:spcPct val="15000"/>
                </a:spcBef>
                <a:buClrTx/>
                <a:buSzTx/>
                <a:buFontTx/>
                <a:buNone/>
              </a:pPr>
              <a:r>
                <a:rPr lang="en-US" altLang="en-US" sz="1000" i="1">
                  <a:solidFill>
                    <a:schemeClr val="bg1"/>
                  </a:solidFill>
                  <a:latin typeface="+mn-lt"/>
                </a:rPr>
                <a:t>Confirmation</a:t>
              </a:r>
            </a:p>
          </p:txBody>
        </p:sp>
        <p:sp>
          <p:nvSpPr>
            <p:cNvPr id="23" name="AutoShape 26">
              <a:extLst>
                <a:ext uri="{FF2B5EF4-FFF2-40B4-BE49-F238E27FC236}">
                  <a16:creationId xmlns:a16="http://schemas.microsoft.com/office/drawing/2014/main" id="{E4FB9D1B-5298-E85E-A4A7-E0DD4C099C38}"/>
                </a:ext>
              </a:extLst>
            </p:cNvPr>
            <p:cNvSpPr>
              <a:spLocks noChangeArrowheads="1"/>
            </p:cNvSpPr>
            <p:nvPr/>
          </p:nvSpPr>
          <p:spPr bwMode="auto">
            <a:xfrm>
              <a:off x="7082188" y="4447924"/>
              <a:ext cx="1660525" cy="301625"/>
            </a:xfrm>
            <a:prstGeom prst="homePlate">
              <a:avLst>
                <a:gd name="adj" fmla="val 59691"/>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a:solidFill>
                    <a:schemeClr val="bg1"/>
                  </a:solidFill>
                  <a:latin typeface="+mn-lt"/>
                </a:rPr>
                <a:t>Finalize Next-Month</a:t>
              </a:r>
            </a:p>
            <a:p>
              <a:pPr algn="ctr">
                <a:lnSpc>
                  <a:spcPct val="80000"/>
                </a:lnSpc>
                <a:spcBef>
                  <a:spcPct val="15000"/>
                </a:spcBef>
                <a:buClrTx/>
                <a:buSzTx/>
                <a:buFontTx/>
                <a:buNone/>
              </a:pPr>
              <a:r>
                <a:rPr lang="en-US" altLang="en-US" sz="1000" i="1">
                  <a:solidFill>
                    <a:schemeClr val="bg1"/>
                  </a:solidFill>
                  <a:latin typeface="+mn-lt"/>
                </a:rPr>
                <a:t>S&amp;OP Roadmap</a:t>
              </a:r>
            </a:p>
          </p:txBody>
        </p:sp>
        <p:sp>
          <p:nvSpPr>
            <p:cNvPr id="24" name="Rectangle 30">
              <a:extLst>
                <a:ext uri="{FF2B5EF4-FFF2-40B4-BE49-F238E27FC236}">
                  <a16:creationId xmlns:a16="http://schemas.microsoft.com/office/drawing/2014/main" id="{3D7CEA4B-1532-6AA2-9104-016FCE51AA76}"/>
                </a:ext>
              </a:extLst>
            </p:cNvPr>
            <p:cNvSpPr>
              <a:spLocks noChangeArrowheads="1"/>
            </p:cNvSpPr>
            <p:nvPr/>
          </p:nvSpPr>
          <p:spPr bwMode="auto">
            <a:xfrm>
              <a:off x="682975" y="4806699"/>
              <a:ext cx="1493838" cy="47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000" dirty="0">
                  <a:latin typeface="+mn-lt"/>
                </a:rPr>
                <a:t>All inputs for forecast  generation and demand analysis</a:t>
              </a:r>
              <a:endParaRPr lang="en-US" altLang="en-US" sz="1000" b="0" dirty="0">
                <a:latin typeface="+mn-lt"/>
              </a:endParaRPr>
            </a:p>
          </p:txBody>
        </p:sp>
        <p:sp>
          <p:nvSpPr>
            <p:cNvPr id="25" name="Rectangle 31">
              <a:extLst>
                <a:ext uri="{FF2B5EF4-FFF2-40B4-BE49-F238E27FC236}">
                  <a16:creationId xmlns:a16="http://schemas.microsoft.com/office/drawing/2014/main" id="{1F2C58DD-3E26-CF09-7967-ED83F8FD8809}"/>
                </a:ext>
              </a:extLst>
            </p:cNvPr>
            <p:cNvSpPr>
              <a:spLocks noChangeArrowheads="1"/>
            </p:cNvSpPr>
            <p:nvPr/>
          </p:nvSpPr>
          <p:spPr bwMode="auto">
            <a:xfrm>
              <a:off x="2240313" y="4801936"/>
              <a:ext cx="1595437" cy="47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000">
                  <a:latin typeface="+mn-lt"/>
                </a:rPr>
                <a:t>Consensus forecast based on current demand &amp; error rate analysis</a:t>
              </a:r>
              <a:endParaRPr lang="en-US" altLang="en-US" sz="1000" b="0">
                <a:latin typeface="+mn-lt"/>
              </a:endParaRPr>
            </a:p>
          </p:txBody>
        </p:sp>
        <p:sp>
          <p:nvSpPr>
            <p:cNvPr id="26" name="Rectangle 32">
              <a:extLst>
                <a:ext uri="{FF2B5EF4-FFF2-40B4-BE49-F238E27FC236}">
                  <a16:creationId xmlns:a16="http://schemas.microsoft.com/office/drawing/2014/main" id="{50F4B0E2-F08C-B5B8-B4AB-D26D7847B62D}"/>
                </a:ext>
              </a:extLst>
            </p:cNvPr>
            <p:cNvSpPr>
              <a:spLocks noChangeArrowheads="1"/>
            </p:cNvSpPr>
            <p:nvPr/>
          </p:nvSpPr>
          <p:spPr bwMode="auto">
            <a:xfrm>
              <a:off x="3902425" y="4813049"/>
              <a:ext cx="1593850" cy="47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000">
                  <a:latin typeface="+mn-lt"/>
                </a:rPr>
                <a:t>Confirmed capacity constraints and capacity error code identification</a:t>
              </a:r>
              <a:endParaRPr lang="en-US" altLang="en-US" sz="1000" b="0">
                <a:latin typeface="+mn-lt"/>
              </a:endParaRPr>
            </a:p>
          </p:txBody>
        </p:sp>
        <p:sp>
          <p:nvSpPr>
            <p:cNvPr id="27" name="Rectangle 33">
              <a:extLst>
                <a:ext uri="{FF2B5EF4-FFF2-40B4-BE49-F238E27FC236}">
                  <a16:creationId xmlns:a16="http://schemas.microsoft.com/office/drawing/2014/main" id="{D1CBC4A9-69B2-2249-D29F-5D720374F14F}"/>
                </a:ext>
              </a:extLst>
            </p:cNvPr>
            <p:cNvSpPr>
              <a:spLocks noChangeArrowheads="1"/>
            </p:cNvSpPr>
            <p:nvPr/>
          </p:nvSpPr>
          <p:spPr bwMode="auto">
            <a:xfrm>
              <a:off x="5526438" y="4813049"/>
              <a:ext cx="1593850" cy="47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000">
                  <a:latin typeface="+mn-lt"/>
                </a:rPr>
                <a:t>Supply-Demand match with contingency plan where required</a:t>
              </a:r>
              <a:endParaRPr lang="en-US" altLang="en-US" sz="1000" b="0">
                <a:latin typeface="+mn-lt"/>
              </a:endParaRPr>
            </a:p>
          </p:txBody>
        </p:sp>
        <p:sp>
          <p:nvSpPr>
            <p:cNvPr id="28" name="Rectangle 34">
              <a:extLst>
                <a:ext uri="{FF2B5EF4-FFF2-40B4-BE49-F238E27FC236}">
                  <a16:creationId xmlns:a16="http://schemas.microsoft.com/office/drawing/2014/main" id="{63050EDD-1D3F-AB4B-9E64-7AC31BA1EC5C}"/>
                </a:ext>
              </a:extLst>
            </p:cNvPr>
            <p:cNvSpPr>
              <a:spLocks noChangeArrowheads="1"/>
            </p:cNvSpPr>
            <p:nvPr/>
          </p:nvSpPr>
          <p:spPr bwMode="auto">
            <a:xfrm>
              <a:off x="7182200" y="4813049"/>
              <a:ext cx="1593850" cy="47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000">
                  <a:latin typeface="+mn-lt"/>
                </a:rPr>
                <a:t>Business case creation outlining S&amp;OP plan and key trade-offs</a:t>
              </a:r>
              <a:endParaRPr lang="en-US" altLang="en-US" sz="1000" b="0">
                <a:latin typeface="+mn-lt"/>
              </a:endParaRPr>
            </a:p>
          </p:txBody>
        </p:sp>
      </p:grpSp>
    </p:spTree>
    <p:extLst>
      <p:ext uri="{BB962C8B-B14F-4D97-AF65-F5344CB8AC3E}">
        <p14:creationId xmlns:p14="http://schemas.microsoft.com/office/powerpoint/2010/main" val="3710430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Demand Planning 1:  </a:t>
            </a:r>
            <a:br>
              <a:rPr lang="en-US" dirty="0"/>
            </a:br>
            <a:r>
              <a:rPr lang="en-US" dirty="0"/>
              <a:t>What Did The Last-Month Cycle Tell Us?</a:t>
            </a:r>
          </a:p>
        </p:txBody>
      </p:sp>
      <p:grpSp>
        <p:nvGrpSpPr>
          <p:cNvPr id="41" name="Group 40">
            <a:extLst>
              <a:ext uri="{FF2B5EF4-FFF2-40B4-BE49-F238E27FC236}">
                <a16:creationId xmlns:a16="http://schemas.microsoft.com/office/drawing/2014/main" id="{D31AC294-BB7F-8EC8-C7A9-C01F8AFD9155}"/>
              </a:ext>
            </a:extLst>
          </p:cNvPr>
          <p:cNvGrpSpPr/>
          <p:nvPr/>
        </p:nvGrpSpPr>
        <p:grpSpPr>
          <a:xfrm>
            <a:off x="891363" y="1796902"/>
            <a:ext cx="10409274" cy="4526294"/>
            <a:chOff x="723287" y="1722438"/>
            <a:chExt cx="8205103" cy="4675186"/>
          </a:xfrm>
        </p:grpSpPr>
        <p:sp>
          <p:nvSpPr>
            <p:cNvPr id="3" name="Rectangle 2">
              <a:extLst>
                <a:ext uri="{FF2B5EF4-FFF2-40B4-BE49-F238E27FC236}">
                  <a16:creationId xmlns:a16="http://schemas.microsoft.com/office/drawing/2014/main" id="{62330674-E564-D99E-DCAD-61DA44EE055D}"/>
                </a:ext>
              </a:extLst>
            </p:cNvPr>
            <p:cNvSpPr>
              <a:spLocks noChangeArrowheads="1"/>
            </p:cNvSpPr>
            <p:nvPr/>
          </p:nvSpPr>
          <p:spPr bwMode="auto">
            <a:xfrm>
              <a:off x="847112" y="2384425"/>
              <a:ext cx="1449388"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Data Assembly</a:t>
              </a:r>
            </a:p>
            <a:p>
              <a:pPr algn="ctr">
                <a:lnSpc>
                  <a:spcPct val="80000"/>
                </a:lnSpc>
                <a:buClrTx/>
                <a:buSzTx/>
                <a:buFontTx/>
                <a:buNone/>
              </a:pPr>
              <a:r>
                <a:rPr lang="en-US" altLang="en-US" sz="1100" dirty="0">
                  <a:solidFill>
                    <a:schemeClr val="bg1"/>
                  </a:solidFill>
                  <a:latin typeface="+mn-lt"/>
                </a:rPr>
                <a:t>Day 3</a:t>
              </a:r>
            </a:p>
          </p:txBody>
        </p:sp>
        <p:sp>
          <p:nvSpPr>
            <p:cNvPr id="4" name="Rectangle 3">
              <a:extLst>
                <a:ext uri="{FF2B5EF4-FFF2-40B4-BE49-F238E27FC236}">
                  <a16:creationId xmlns:a16="http://schemas.microsoft.com/office/drawing/2014/main" id="{BB7A7DE5-F509-3F91-2596-67453EDF2D85}"/>
                </a:ext>
              </a:extLst>
            </p:cNvPr>
            <p:cNvSpPr>
              <a:spLocks noChangeArrowheads="1"/>
            </p:cNvSpPr>
            <p:nvPr/>
          </p:nvSpPr>
          <p:spPr bwMode="auto">
            <a:xfrm>
              <a:off x="2493350" y="2384425"/>
              <a:ext cx="1449387" cy="423863"/>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Demand Planning</a:t>
              </a:r>
            </a:p>
            <a:p>
              <a:pPr algn="ctr">
                <a:lnSpc>
                  <a:spcPct val="80000"/>
                </a:lnSpc>
                <a:buClrTx/>
                <a:buSzTx/>
                <a:buFontTx/>
                <a:buNone/>
              </a:pPr>
              <a:r>
                <a:rPr lang="en-US" altLang="en-US" sz="1100" dirty="0">
                  <a:solidFill>
                    <a:schemeClr val="bg1"/>
                  </a:solidFill>
                  <a:latin typeface="+mn-lt"/>
                </a:rPr>
                <a:t>Day 10</a:t>
              </a:r>
            </a:p>
          </p:txBody>
        </p:sp>
        <p:sp>
          <p:nvSpPr>
            <p:cNvPr id="5" name="Rectangle 4">
              <a:extLst>
                <a:ext uri="{FF2B5EF4-FFF2-40B4-BE49-F238E27FC236}">
                  <a16:creationId xmlns:a16="http://schemas.microsoft.com/office/drawing/2014/main" id="{6AF372E3-5BFE-02DD-976C-342295FBCA55}"/>
                </a:ext>
              </a:extLst>
            </p:cNvPr>
            <p:cNvSpPr>
              <a:spLocks noChangeArrowheads="1"/>
            </p:cNvSpPr>
            <p:nvPr/>
          </p:nvSpPr>
          <p:spPr bwMode="auto">
            <a:xfrm>
              <a:off x="4133237" y="2384425"/>
              <a:ext cx="1449388"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Planning</a:t>
              </a:r>
            </a:p>
            <a:p>
              <a:pPr algn="ctr">
                <a:lnSpc>
                  <a:spcPct val="80000"/>
                </a:lnSpc>
                <a:buClrTx/>
                <a:buSzTx/>
                <a:buFontTx/>
                <a:buNone/>
              </a:pPr>
              <a:r>
                <a:rPr lang="en-US" altLang="en-US" sz="1100">
                  <a:solidFill>
                    <a:schemeClr val="bg1"/>
                  </a:solidFill>
                  <a:latin typeface="+mn-lt"/>
                </a:rPr>
                <a:t>Day 15</a:t>
              </a:r>
            </a:p>
          </p:txBody>
        </p:sp>
        <p:sp>
          <p:nvSpPr>
            <p:cNvPr id="6" name="Rectangle 5">
              <a:extLst>
                <a:ext uri="{FF2B5EF4-FFF2-40B4-BE49-F238E27FC236}">
                  <a16:creationId xmlns:a16="http://schemas.microsoft.com/office/drawing/2014/main" id="{2460EAFF-C23D-AA9F-4B36-D81739B1FE64}"/>
                </a:ext>
              </a:extLst>
            </p:cNvPr>
            <p:cNvSpPr>
              <a:spLocks noChangeArrowheads="1"/>
            </p:cNvSpPr>
            <p:nvPr/>
          </p:nvSpPr>
          <p:spPr bwMode="auto">
            <a:xfrm>
              <a:off x="5779475" y="2384425"/>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Pre-S&amp;OP Meeting</a:t>
              </a:r>
            </a:p>
            <a:p>
              <a:pPr algn="ctr">
                <a:lnSpc>
                  <a:spcPct val="80000"/>
                </a:lnSpc>
                <a:buClrTx/>
                <a:buSzTx/>
                <a:buFontTx/>
                <a:buNone/>
              </a:pPr>
              <a:r>
                <a:rPr lang="en-US" altLang="en-US" sz="1100">
                  <a:solidFill>
                    <a:schemeClr val="bg1"/>
                  </a:solidFill>
                  <a:latin typeface="+mn-lt"/>
                </a:rPr>
                <a:t>Day 20</a:t>
              </a:r>
            </a:p>
          </p:txBody>
        </p:sp>
        <p:sp>
          <p:nvSpPr>
            <p:cNvPr id="7" name="Rectangle 6">
              <a:extLst>
                <a:ext uri="{FF2B5EF4-FFF2-40B4-BE49-F238E27FC236}">
                  <a16:creationId xmlns:a16="http://schemas.microsoft.com/office/drawing/2014/main" id="{5B87E6B7-65E3-DF70-40B5-DBA2538CCD2A}"/>
                </a:ext>
              </a:extLst>
            </p:cNvPr>
            <p:cNvSpPr>
              <a:spLocks noChangeArrowheads="1"/>
            </p:cNvSpPr>
            <p:nvPr/>
          </p:nvSpPr>
          <p:spPr bwMode="auto">
            <a:xfrm>
              <a:off x="7433650" y="2384425"/>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Exec S&amp;OP Meeting</a:t>
              </a:r>
            </a:p>
            <a:p>
              <a:pPr algn="ctr">
                <a:lnSpc>
                  <a:spcPct val="80000"/>
                </a:lnSpc>
                <a:buClrTx/>
                <a:buSzTx/>
                <a:buFontTx/>
                <a:buNone/>
              </a:pPr>
              <a:r>
                <a:rPr lang="en-US" altLang="en-US" sz="1100">
                  <a:solidFill>
                    <a:schemeClr val="bg1"/>
                  </a:solidFill>
                  <a:latin typeface="+mn-lt"/>
                </a:rPr>
                <a:t>Day 22</a:t>
              </a:r>
            </a:p>
          </p:txBody>
        </p:sp>
        <p:sp>
          <p:nvSpPr>
            <p:cNvPr id="8" name="Oval 7">
              <a:extLst>
                <a:ext uri="{FF2B5EF4-FFF2-40B4-BE49-F238E27FC236}">
                  <a16:creationId xmlns:a16="http://schemas.microsoft.com/office/drawing/2014/main" id="{23AE619D-6319-3CB3-2A69-B4B17A426F71}"/>
                </a:ext>
              </a:extLst>
            </p:cNvPr>
            <p:cNvSpPr>
              <a:spLocks noChangeArrowheads="1"/>
            </p:cNvSpPr>
            <p:nvPr/>
          </p:nvSpPr>
          <p:spPr bwMode="auto">
            <a:xfrm>
              <a:off x="723287" y="1722438"/>
              <a:ext cx="1706563" cy="28098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dirty="0">
                  <a:solidFill>
                    <a:schemeClr val="bg1"/>
                  </a:solidFill>
                  <a:latin typeface="+mn-lt"/>
                </a:rPr>
                <a:t>Last-Month Results </a:t>
              </a:r>
            </a:p>
          </p:txBody>
        </p:sp>
        <p:cxnSp>
          <p:nvCxnSpPr>
            <p:cNvPr id="9" name="AutoShape 8">
              <a:extLst>
                <a:ext uri="{FF2B5EF4-FFF2-40B4-BE49-F238E27FC236}">
                  <a16:creationId xmlns:a16="http://schemas.microsoft.com/office/drawing/2014/main" id="{C5122E32-76B1-E151-AD10-FFA80AC5032A}"/>
                </a:ext>
              </a:extLst>
            </p:cNvPr>
            <p:cNvCxnSpPr>
              <a:cxnSpLocks noChangeShapeType="1"/>
              <a:stCxn id="8" idx="2"/>
              <a:endCxn id="3" idx="1"/>
            </p:cNvCxnSpPr>
            <p:nvPr/>
          </p:nvCxnSpPr>
          <p:spPr bwMode="auto">
            <a:xfrm rot="10800000" flipH="1" flipV="1">
              <a:off x="723287" y="1863725"/>
              <a:ext cx="123825" cy="733425"/>
            </a:xfrm>
            <a:prstGeom prst="bentConnector3">
              <a:avLst>
                <a:gd name="adj1" fmla="val -184616"/>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0" name="Line 9">
              <a:extLst>
                <a:ext uri="{FF2B5EF4-FFF2-40B4-BE49-F238E27FC236}">
                  <a16:creationId xmlns:a16="http://schemas.microsoft.com/office/drawing/2014/main" id="{EF0FB57D-5337-8CCA-E26C-FDCC18C31F5F}"/>
                </a:ext>
              </a:extLst>
            </p:cNvPr>
            <p:cNvSpPr>
              <a:spLocks noChangeShapeType="1"/>
            </p:cNvSpPr>
            <p:nvPr/>
          </p:nvSpPr>
          <p:spPr bwMode="auto">
            <a:xfrm flipV="1">
              <a:off x="1415437" y="2193925"/>
              <a:ext cx="6813550"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Text Box 10">
              <a:extLst>
                <a:ext uri="{FF2B5EF4-FFF2-40B4-BE49-F238E27FC236}">
                  <a16:creationId xmlns:a16="http://schemas.microsoft.com/office/drawing/2014/main" id="{783623B6-F32D-6D88-7844-23743A1FC443}"/>
                </a:ext>
              </a:extLst>
            </p:cNvPr>
            <p:cNvSpPr txBox="1">
              <a:spLocks noChangeArrowheads="1"/>
            </p:cNvSpPr>
            <p:nvPr/>
          </p:nvSpPr>
          <p:spPr bwMode="auto">
            <a:xfrm>
              <a:off x="800582" y="2087563"/>
              <a:ext cx="561372"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0</a:t>
              </a:r>
            </a:p>
          </p:txBody>
        </p:sp>
        <p:sp>
          <p:nvSpPr>
            <p:cNvPr id="12" name="Text Box 11">
              <a:extLst>
                <a:ext uri="{FF2B5EF4-FFF2-40B4-BE49-F238E27FC236}">
                  <a16:creationId xmlns:a16="http://schemas.microsoft.com/office/drawing/2014/main" id="{DED6C8D1-A593-C6BB-FE35-6FC61C3D82C9}"/>
                </a:ext>
              </a:extLst>
            </p:cNvPr>
            <p:cNvSpPr txBox="1">
              <a:spLocks noChangeArrowheads="1"/>
            </p:cNvSpPr>
            <p:nvPr/>
          </p:nvSpPr>
          <p:spPr bwMode="auto">
            <a:xfrm>
              <a:off x="8282059" y="2087563"/>
              <a:ext cx="646331"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30</a:t>
              </a:r>
            </a:p>
          </p:txBody>
        </p:sp>
        <p:sp>
          <p:nvSpPr>
            <p:cNvPr id="13" name="Line 12">
              <a:extLst>
                <a:ext uri="{FF2B5EF4-FFF2-40B4-BE49-F238E27FC236}">
                  <a16:creationId xmlns:a16="http://schemas.microsoft.com/office/drawing/2014/main" id="{969CFC29-ACD0-CBF4-2F32-6D36610CB674}"/>
                </a:ext>
              </a:extLst>
            </p:cNvPr>
            <p:cNvSpPr>
              <a:spLocks noChangeShapeType="1"/>
            </p:cNvSpPr>
            <p:nvPr/>
          </p:nvSpPr>
          <p:spPr bwMode="auto">
            <a:xfrm>
              <a:off x="853462" y="2970213"/>
              <a:ext cx="8032750"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25">
              <a:extLst>
                <a:ext uri="{FF2B5EF4-FFF2-40B4-BE49-F238E27FC236}">
                  <a16:creationId xmlns:a16="http://schemas.microsoft.com/office/drawing/2014/main" id="{2703C428-7875-4CE0-6BFF-C4FF78E88F29}"/>
                </a:ext>
              </a:extLst>
            </p:cNvPr>
            <p:cNvSpPr>
              <a:spLocks noChangeArrowheads="1"/>
            </p:cNvSpPr>
            <p:nvPr/>
          </p:nvSpPr>
          <p:spPr bwMode="auto">
            <a:xfrm>
              <a:off x="1207300" y="5753100"/>
              <a:ext cx="7545715" cy="644524"/>
            </a:xfrm>
            <a:prstGeom prst="rect">
              <a:avLst/>
            </a:prstGeom>
            <a:solidFill>
              <a:schemeClr val="bg2"/>
            </a:solidFill>
            <a:ln>
              <a:solidFill>
                <a:schemeClr val="tx1"/>
              </a:solidFill>
            </a:ln>
          </p:spPr>
          <p:txBody>
            <a:bodyPr lIns="92075" tIns="46038" rIns="92075" bIns="46038" anchor="ctr"/>
            <a:lstStyle/>
            <a:p>
              <a:pPr algn="ctr" eaLnBrk="1" hangingPunct="1"/>
              <a:r>
                <a:rPr lang="en-US" altLang="en-US" sz="1600" dirty="0">
                  <a:solidFill>
                    <a:schemeClr val="tx1"/>
                  </a:solidFill>
                </a:rPr>
                <a:t>Team members must critically evaluate </a:t>
              </a:r>
              <a:r>
                <a:rPr lang="ja-JP" altLang="en-US" sz="1600" dirty="0">
                  <a:solidFill>
                    <a:schemeClr val="tx1"/>
                  </a:solidFill>
                </a:rPr>
                <a:t>“</a:t>
              </a:r>
              <a:r>
                <a:rPr lang="en-US" altLang="ja-JP" sz="1600" dirty="0">
                  <a:solidFill>
                    <a:schemeClr val="tx1"/>
                  </a:solidFill>
                </a:rPr>
                <a:t>how we did</a:t>
              </a:r>
              <a:r>
                <a:rPr lang="ja-JP" altLang="en-US" sz="1600" dirty="0">
                  <a:solidFill>
                    <a:schemeClr val="tx1"/>
                  </a:solidFill>
                </a:rPr>
                <a:t>”</a:t>
              </a:r>
              <a:r>
                <a:rPr lang="en-US" altLang="ja-JP" sz="1600" dirty="0">
                  <a:solidFill>
                    <a:schemeClr val="tx1"/>
                  </a:solidFill>
                </a:rPr>
                <a:t> in order to understand error rates and their impact on the next planning cycle.</a:t>
              </a:r>
              <a:endParaRPr lang="en-US" altLang="en-US" sz="1600" dirty="0">
                <a:solidFill>
                  <a:schemeClr val="tx1"/>
                </a:solidFill>
              </a:endParaRPr>
            </a:p>
          </p:txBody>
        </p:sp>
        <p:sp>
          <p:nvSpPr>
            <p:cNvPr id="15" name="Rectangle 26">
              <a:extLst>
                <a:ext uri="{FF2B5EF4-FFF2-40B4-BE49-F238E27FC236}">
                  <a16:creationId xmlns:a16="http://schemas.microsoft.com/office/drawing/2014/main" id="{0D77A8CB-41C6-5827-423D-633C5DA74823}"/>
                </a:ext>
              </a:extLst>
            </p:cNvPr>
            <p:cNvSpPr>
              <a:spLocks noChangeArrowheads="1"/>
            </p:cNvSpPr>
            <p:nvPr/>
          </p:nvSpPr>
          <p:spPr bwMode="auto">
            <a:xfrm>
              <a:off x="1059837" y="3986213"/>
              <a:ext cx="830263" cy="56197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Last-Month</a:t>
              </a:r>
            </a:p>
            <a:p>
              <a:pPr algn="ctr">
                <a:lnSpc>
                  <a:spcPct val="80000"/>
                </a:lnSpc>
                <a:buClrTx/>
                <a:buSzTx/>
                <a:buFontTx/>
                <a:buNone/>
              </a:pPr>
              <a:r>
                <a:rPr lang="en-US" altLang="en-US" sz="1000">
                  <a:latin typeface="+mn-lt"/>
                </a:rPr>
                <a:t>Forecast</a:t>
              </a:r>
            </a:p>
          </p:txBody>
        </p:sp>
        <p:sp>
          <p:nvSpPr>
            <p:cNvPr id="16" name="Rectangle 29">
              <a:extLst>
                <a:ext uri="{FF2B5EF4-FFF2-40B4-BE49-F238E27FC236}">
                  <a16:creationId xmlns:a16="http://schemas.microsoft.com/office/drawing/2014/main" id="{4A411C41-A055-37F8-BAAD-FED080262F0E}"/>
                </a:ext>
              </a:extLst>
            </p:cNvPr>
            <p:cNvSpPr>
              <a:spLocks noChangeArrowheads="1"/>
            </p:cNvSpPr>
            <p:nvPr/>
          </p:nvSpPr>
          <p:spPr bwMode="auto">
            <a:xfrm>
              <a:off x="5036525" y="3986213"/>
              <a:ext cx="830262" cy="56197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New</a:t>
              </a:r>
            </a:p>
            <a:p>
              <a:pPr algn="ctr">
                <a:lnSpc>
                  <a:spcPct val="80000"/>
                </a:lnSpc>
                <a:buClrTx/>
                <a:buSzTx/>
                <a:buFontTx/>
                <a:buNone/>
              </a:pPr>
              <a:r>
                <a:rPr lang="en-US" altLang="en-US" sz="1000">
                  <a:latin typeface="+mn-lt"/>
                </a:rPr>
                <a:t>Product</a:t>
              </a:r>
            </a:p>
            <a:p>
              <a:pPr algn="ctr">
                <a:lnSpc>
                  <a:spcPct val="80000"/>
                </a:lnSpc>
                <a:buClrTx/>
                <a:buSzTx/>
                <a:buFontTx/>
                <a:buNone/>
              </a:pPr>
              <a:r>
                <a:rPr lang="en-US" altLang="en-US" sz="1000">
                  <a:latin typeface="+mn-lt"/>
                </a:rPr>
                <a:t>Inputs</a:t>
              </a:r>
            </a:p>
          </p:txBody>
        </p:sp>
        <p:sp>
          <p:nvSpPr>
            <p:cNvPr id="17" name="Oval 31">
              <a:extLst>
                <a:ext uri="{FF2B5EF4-FFF2-40B4-BE49-F238E27FC236}">
                  <a16:creationId xmlns:a16="http://schemas.microsoft.com/office/drawing/2014/main" id="{C8C556EE-9163-421B-38BA-4B97233EDDA0}"/>
                </a:ext>
              </a:extLst>
            </p:cNvPr>
            <p:cNvSpPr>
              <a:spLocks noChangeArrowheads="1"/>
            </p:cNvSpPr>
            <p:nvPr/>
          </p:nvSpPr>
          <p:spPr bwMode="auto">
            <a:xfrm>
              <a:off x="3325200" y="4083050"/>
              <a:ext cx="361950" cy="361950"/>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8" name="Rectangle 32">
              <a:extLst>
                <a:ext uri="{FF2B5EF4-FFF2-40B4-BE49-F238E27FC236}">
                  <a16:creationId xmlns:a16="http://schemas.microsoft.com/office/drawing/2014/main" id="{D377B0C1-2F24-4BA8-57F2-1281528AFCB6}"/>
                </a:ext>
              </a:extLst>
            </p:cNvPr>
            <p:cNvSpPr>
              <a:spLocks noChangeArrowheads="1"/>
            </p:cNvSpPr>
            <p:nvPr/>
          </p:nvSpPr>
          <p:spPr bwMode="auto">
            <a:xfrm>
              <a:off x="3096600" y="4802188"/>
              <a:ext cx="830262" cy="563562"/>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Error Rate</a:t>
              </a:r>
            </a:p>
            <a:p>
              <a:pPr algn="ctr">
                <a:lnSpc>
                  <a:spcPct val="80000"/>
                </a:lnSpc>
                <a:buClrTx/>
                <a:buSzTx/>
                <a:buFontTx/>
                <a:buNone/>
              </a:pPr>
              <a:r>
                <a:rPr lang="en-US" altLang="en-US" sz="1000">
                  <a:latin typeface="+mn-lt"/>
                </a:rPr>
                <a:t>Analysis</a:t>
              </a:r>
            </a:p>
          </p:txBody>
        </p:sp>
        <p:sp>
          <p:nvSpPr>
            <p:cNvPr id="19" name="Rectangle 33">
              <a:extLst>
                <a:ext uri="{FF2B5EF4-FFF2-40B4-BE49-F238E27FC236}">
                  <a16:creationId xmlns:a16="http://schemas.microsoft.com/office/drawing/2014/main" id="{B8BE7768-873D-8A04-8C86-6DE2C9638715}"/>
                </a:ext>
              </a:extLst>
            </p:cNvPr>
            <p:cNvSpPr>
              <a:spLocks noChangeArrowheads="1"/>
            </p:cNvSpPr>
            <p:nvPr/>
          </p:nvSpPr>
          <p:spPr bwMode="auto">
            <a:xfrm>
              <a:off x="3095012" y="3136900"/>
              <a:ext cx="830263" cy="56356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New</a:t>
              </a:r>
            </a:p>
            <a:p>
              <a:pPr algn="ctr">
                <a:lnSpc>
                  <a:spcPct val="80000"/>
                </a:lnSpc>
                <a:buClrTx/>
                <a:buSzTx/>
                <a:buFontTx/>
                <a:buNone/>
              </a:pPr>
              <a:r>
                <a:rPr lang="en-US" altLang="en-US" sz="1000">
                  <a:latin typeface="+mn-lt"/>
                </a:rPr>
                <a:t>Statistical</a:t>
              </a:r>
            </a:p>
            <a:p>
              <a:pPr algn="ctr">
                <a:lnSpc>
                  <a:spcPct val="80000"/>
                </a:lnSpc>
                <a:buClrTx/>
                <a:buSzTx/>
                <a:buFontTx/>
                <a:buNone/>
              </a:pPr>
              <a:r>
                <a:rPr lang="en-US" altLang="en-US" sz="1000">
                  <a:latin typeface="+mn-lt"/>
                </a:rPr>
                <a:t>Forecast</a:t>
              </a:r>
            </a:p>
          </p:txBody>
        </p:sp>
        <p:sp>
          <p:nvSpPr>
            <p:cNvPr id="20" name="Rectangle 36">
              <a:extLst>
                <a:ext uri="{FF2B5EF4-FFF2-40B4-BE49-F238E27FC236}">
                  <a16:creationId xmlns:a16="http://schemas.microsoft.com/office/drawing/2014/main" id="{C1E84180-2527-CABE-D924-B3F46088E7E4}"/>
                </a:ext>
              </a:extLst>
            </p:cNvPr>
            <p:cNvSpPr>
              <a:spLocks noChangeArrowheads="1"/>
            </p:cNvSpPr>
            <p:nvPr/>
          </p:nvSpPr>
          <p:spPr bwMode="auto">
            <a:xfrm>
              <a:off x="2245700" y="4067175"/>
              <a:ext cx="830262" cy="5635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Last-Month</a:t>
              </a:r>
            </a:p>
            <a:p>
              <a:pPr algn="ctr">
                <a:lnSpc>
                  <a:spcPct val="80000"/>
                </a:lnSpc>
                <a:buClrTx/>
                <a:buSzTx/>
                <a:buFontTx/>
                <a:buNone/>
              </a:pPr>
              <a:r>
                <a:rPr lang="en-US" altLang="en-US" sz="1000">
                  <a:solidFill>
                    <a:schemeClr val="bg1"/>
                  </a:solidFill>
                  <a:latin typeface="+mn-lt"/>
                </a:rPr>
                <a:t>Actuals</a:t>
              </a:r>
            </a:p>
          </p:txBody>
        </p:sp>
        <p:sp>
          <p:nvSpPr>
            <p:cNvPr id="21" name="Rectangle 27">
              <a:extLst>
                <a:ext uri="{FF2B5EF4-FFF2-40B4-BE49-F238E27FC236}">
                  <a16:creationId xmlns:a16="http://schemas.microsoft.com/office/drawing/2014/main" id="{FE00876A-4B83-47CE-94FF-E5E9002A2E95}"/>
                </a:ext>
              </a:extLst>
            </p:cNvPr>
            <p:cNvSpPr>
              <a:spLocks noChangeArrowheads="1"/>
            </p:cNvSpPr>
            <p:nvPr/>
          </p:nvSpPr>
          <p:spPr bwMode="auto">
            <a:xfrm>
              <a:off x="2163150" y="3986213"/>
              <a:ext cx="830262" cy="56197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Last-Month</a:t>
              </a:r>
            </a:p>
            <a:p>
              <a:pPr algn="ctr">
                <a:lnSpc>
                  <a:spcPct val="80000"/>
                </a:lnSpc>
                <a:buClrTx/>
                <a:buSzTx/>
                <a:buFontTx/>
                <a:buNone/>
              </a:pPr>
              <a:r>
                <a:rPr lang="en-US" altLang="en-US" sz="1000">
                  <a:latin typeface="+mn-lt"/>
                </a:rPr>
                <a:t>Actuals</a:t>
              </a:r>
            </a:p>
          </p:txBody>
        </p:sp>
        <p:sp>
          <p:nvSpPr>
            <p:cNvPr id="22" name="Rectangle 37">
              <a:extLst>
                <a:ext uri="{FF2B5EF4-FFF2-40B4-BE49-F238E27FC236}">
                  <a16:creationId xmlns:a16="http://schemas.microsoft.com/office/drawing/2014/main" id="{FC6A01B4-0A46-6AFD-8903-3B34B0091276}"/>
                </a:ext>
              </a:extLst>
            </p:cNvPr>
            <p:cNvSpPr>
              <a:spLocks noChangeArrowheads="1"/>
            </p:cNvSpPr>
            <p:nvPr/>
          </p:nvSpPr>
          <p:spPr bwMode="auto">
            <a:xfrm>
              <a:off x="4028462" y="4067175"/>
              <a:ext cx="828675" cy="5635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EAEAEA"/>
                  </a:solidFill>
                  <a:latin typeface="+mn-lt"/>
                </a:rPr>
                <a:t>Next-Month</a:t>
              </a:r>
            </a:p>
            <a:p>
              <a:pPr algn="ctr">
                <a:lnSpc>
                  <a:spcPct val="80000"/>
                </a:lnSpc>
                <a:buClrTx/>
                <a:buSzTx/>
                <a:buFontTx/>
                <a:buNone/>
              </a:pPr>
              <a:r>
                <a:rPr lang="en-US" altLang="en-US" sz="1000">
                  <a:solidFill>
                    <a:srgbClr val="EAEAEA"/>
                  </a:solidFill>
                  <a:latin typeface="+mn-lt"/>
                </a:rPr>
                <a:t>Adjustments</a:t>
              </a:r>
            </a:p>
          </p:txBody>
        </p:sp>
        <p:sp>
          <p:nvSpPr>
            <p:cNvPr id="23" name="Rectangle 28">
              <a:extLst>
                <a:ext uri="{FF2B5EF4-FFF2-40B4-BE49-F238E27FC236}">
                  <a16:creationId xmlns:a16="http://schemas.microsoft.com/office/drawing/2014/main" id="{83CDF25B-9742-F2DB-E106-3B47EA1EF6B1}"/>
                </a:ext>
              </a:extLst>
            </p:cNvPr>
            <p:cNvSpPr>
              <a:spLocks noChangeArrowheads="1"/>
            </p:cNvSpPr>
            <p:nvPr/>
          </p:nvSpPr>
          <p:spPr bwMode="auto">
            <a:xfrm>
              <a:off x="3945912" y="3986213"/>
              <a:ext cx="828675" cy="56197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Next-Month</a:t>
              </a:r>
            </a:p>
            <a:p>
              <a:pPr algn="ctr">
                <a:lnSpc>
                  <a:spcPct val="80000"/>
                </a:lnSpc>
                <a:buClrTx/>
                <a:buSzTx/>
                <a:buFontTx/>
                <a:buNone/>
              </a:pPr>
              <a:r>
                <a:rPr lang="en-US" altLang="en-US" sz="1000">
                  <a:latin typeface="+mn-lt"/>
                </a:rPr>
                <a:t>Adjustments</a:t>
              </a:r>
            </a:p>
          </p:txBody>
        </p:sp>
        <p:sp>
          <p:nvSpPr>
            <p:cNvPr id="24" name="Rectangle 39">
              <a:extLst>
                <a:ext uri="{FF2B5EF4-FFF2-40B4-BE49-F238E27FC236}">
                  <a16:creationId xmlns:a16="http://schemas.microsoft.com/office/drawing/2014/main" id="{90AAEC8B-F238-BA83-5721-975D19B85540}"/>
                </a:ext>
              </a:extLst>
            </p:cNvPr>
            <p:cNvSpPr>
              <a:spLocks noChangeArrowheads="1"/>
            </p:cNvSpPr>
            <p:nvPr/>
          </p:nvSpPr>
          <p:spPr bwMode="auto">
            <a:xfrm>
              <a:off x="6277950" y="4159250"/>
              <a:ext cx="828675" cy="5635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 </a:t>
              </a:r>
            </a:p>
          </p:txBody>
        </p:sp>
        <p:sp>
          <p:nvSpPr>
            <p:cNvPr id="25" name="Rectangle 38">
              <a:extLst>
                <a:ext uri="{FF2B5EF4-FFF2-40B4-BE49-F238E27FC236}">
                  <a16:creationId xmlns:a16="http://schemas.microsoft.com/office/drawing/2014/main" id="{BD54924A-7860-477D-AD49-09659D9907A0}"/>
                </a:ext>
              </a:extLst>
            </p:cNvPr>
            <p:cNvSpPr>
              <a:spLocks noChangeArrowheads="1"/>
            </p:cNvSpPr>
            <p:nvPr/>
          </p:nvSpPr>
          <p:spPr bwMode="auto">
            <a:xfrm>
              <a:off x="6203337" y="4067175"/>
              <a:ext cx="830263" cy="5635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 </a:t>
              </a:r>
            </a:p>
          </p:txBody>
        </p:sp>
        <p:sp>
          <p:nvSpPr>
            <p:cNvPr id="26" name="Rectangle 30">
              <a:extLst>
                <a:ext uri="{FF2B5EF4-FFF2-40B4-BE49-F238E27FC236}">
                  <a16:creationId xmlns:a16="http://schemas.microsoft.com/office/drawing/2014/main" id="{E52C10D1-CD8E-AFFD-D82A-781696337445}"/>
                </a:ext>
              </a:extLst>
            </p:cNvPr>
            <p:cNvSpPr>
              <a:spLocks noChangeArrowheads="1"/>
            </p:cNvSpPr>
            <p:nvPr/>
          </p:nvSpPr>
          <p:spPr bwMode="auto">
            <a:xfrm>
              <a:off x="6130312" y="3986213"/>
              <a:ext cx="830263" cy="561975"/>
            </a:xfrm>
            <a:prstGeom prst="rect">
              <a:avLst/>
            </a:prstGeom>
            <a:solidFill>
              <a:schemeClr val="accent5"/>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Consensus</a:t>
              </a:r>
            </a:p>
            <a:p>
              <a:pPr algn="ctr">
                <a:lnSpc>
                  <a:spcPct val="80000"/>
                </a:lnSpc>
                <a:buClrTx/>
                <a:buSzTx/>
                <a:buFontTx/>
                <a:buNone/>
              </a:pPr>
              <a:r>
                <a:rPr lang="en-US" altLang="en-US" sz="1000">
                  <a:solidFill>
                    <a:schemeClr val="bg1"/>
                  </a:solidFill>
                  <a:latin typeface="+mn-lt"/>
                </a:rPr>
                <a:t>Management</a:t>
              </a:r>
            </a:p>
            <a:p>
              <a:pPr algn="ctr">
                <a:lnSpc>
                  <a:spcPct val="80000"/>
                </a:lnSpc>
                <a:buClrTx/>
                <a:buSzTx/>
                <a:buFontTx/>
                <a:buNone/>
              </a:pPr>
              <a:r>
                <a:rPr lang="en-US" altLang="en-US" sz="1000">
                  <a:solidFill>
                    <a:schemeClr val="bg1"/>
                  </a:solidFill>
                  <a:latin typeface="+mn-lt"/>
                </a:rPr>
                <a:t>Forecast(s)</a:t>
              </a:r>
            </a:p>
          </p:txBody>
        </p:sp>
        <p:cxnSp>
          <p:nvCxnSpPr>
            <p:cNvPr id="27" name="AutoShape 40">
              <a:extLst>
                <a:ext uri="{FF2B5EF4-FFF2-40B4-BE49-F238E27FC236}">
                  <a16:creationId xmlns:a16="http://schemas.microsoft.com/office/drawing/2014/main" id="{BC56193F-891F-93DC-BA19-0D18B4C1915A}"/>
                </a:ext>
              </a:extLst>
            </p:cNvPr>
            <p:cNvCxnSpPr>
              <a:cxnSpLocks noChangeShapeType="1"/>
              <a:stCxn id="19" idx="2"/>
              <a:endCxn id="17" idx="0"/>
            </p:cNvCxnSpPr>
            <p:nvPr/>
          </p:nvCxnSpPr>
          <p:spPr bwMode="auto">
            <a:xfrm flipH="1">
              <a:off x="3507762" y="3700463"/>
              <a:ext cx="1588" cy="38258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41">
              <a:extLst>
                <a:ext uri="{FF2B5EF4-FFF2-40B4-BE49-F238E27FC236}">
                  <a16:creationId xmlns:a16="http://schemas.microsoft.com/office/drawing/2014/main" id="{127539B0-86E6-86D4-03BB-E85864736017}"/>
                </a:ext>
              </a:extLst>
            </p:cNvPr>
            <p:cNvCxnSpPr>
              <a:cxnSpLocks noChangeShapeType="1"/>
              <a:stCxn id="18" idx="0"/>
              <a:endCxn id="17" idx="4"/>
            </p:cNvCxnSpPr>
            <p:nvPr/>
          </p:nvCxnSpPr>
          <p:spPr bwMode="auto">
            <a:xfrm flipH="1" flipV="1">
              <a:off x="3507762" y="4445000"/>
              <a:ext cx="3175" cy="35718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42">
              <a:extLst>
                <a:ext uri="{FF2B5EF4-FFF2-40B4-BE49-F238E27FC236}">
                  <a16:creationId xmlns:a16="http://schemas.microsoft.com/office/drawing/2014/main" id="{62AEF9DC-1828-6072-7318-DAA97F5CEDF5}"/>
                </a:ext>
              </a:extLst>
            </p:cNvPr>
            <p:cNvCxnSpPr>
              <a:cxnSpLocks noChangeShapeType="1"/>
              <a:stCxn id="15" idx="3"/>
              <a:endCxn id="21" idx="1"/>
            </p:cNvCxnSpPr>
            <p:nvPr/>
          </p:nvCxnSpPr>
          <p:spPr bwMode="auto">
            <a:xfrm>
              <a:off x="1890100" y="4268788"/>
              <a:ext cx="27305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AutoShape 43">
              <a:extLst>
                <a:ext uri="{FF2B5EF4-FFF2-40B4-BE49-F238E27FC236}">
                  <a16:creationId xmlns:a16="http://schemas.microsoft.com/office/drawing/2014/main" id="{75373EB3-5982-C456-75BA-151F69690F51}"/>
                </a:ext>
              </a:extLst>
            </p:cNvPr>
            <p:cNvCxnSpPr>
              <a:cxnSpLocks noChangeShapeType="1"/>
              <a:stCxn id="21" idx="3"/>
              <a:endCxn id="17" idx="2"/>
            </p:cNvCxnSpPr>
            <p:nvPr/>
          </p:nvCxnSpPr>
          <p:spPr bwMode="auto">
            <a:xfrm flipV="1">
              <a:off x="2993412" y="4265613"/>
              <a:ext cx="331788"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 name="AutoShape 44">
              <a:extLst>
                <a:ext uri="{FF2B5EF4-FFF2-40B4-BE49-F238E27FC236}">
                  <a16:creationId xmlns:a16="http://schemas.microsoft.com/office/drawing/2014/main" id="{B739FF2C-1CA6-F373-9CC1-77D1245F3DCB}"/>
                </a:ext>
              </a:extLst>
            </p:cNvPr>
            <p:cNvCxnSpPr>
              <a:cxnSpLocks noChangeShapeType="1"/>
              <a:stCxn id="17" idx="6"/>
              <a:endCxn id="23" idx="1"/>
            </p:cNvCxnSpPr>
            <p:nvPr/>
          </p:nvCxnSpPr>
          <p:spPr bwMode="auto">
            <a:xfrm>
              <a:off x="3687150" y="4265613"/>
              <a:ext cx="258762"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 name="AutoShape 45">
              <a:extLst>
                <a:ext uri="{FF2B5EF4-FFF2-40B4-BE49-F238E27FC236}">
                  <a16:creationId xmlns:a16="http://schemas.microsoft.com/office/drawing/2014/main" id="{24F72936-3D04-8B8B-74B9-403C30F19DB9}"/>
                </a:ext>
              </a:extLst>
            </p:cNvPr>
            <p:cNvCxnSpPr>
              <a:cxnSpLocks noChangeShapeType="1"/>
              <a:stCxn id="23" idx="3"/>
              <a:endCxn id="16" idx="1"/>
            </p:cNvCxnSpPr>
            <p:nvPr/>
          </p:nvCxnSpPr>
          <p:spPr bwMode="auto">
            <a:xfrm>
              <a:off x="4774587" y="4268788"/>
              <a:ext cx="26193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 name="AutoShape 46">
              <a:extLst>
                <a:ext uri="{FF2B5EF4-FFF2-40B4-BE49-F238E27FC236}">
                  <a16:creationId xmlns:a16="http://schemas.microsoft.com/office/drawing/2014/main" id="{CAD65ECB-FEFD-B051-97CD-E77B0E4CCFEA}"/>
                </a:ext>
              </a:extLst>
            </p:cNvPr>
            <p:cNvCxnSpPr>
              <a:cxnSpLocks noChangeShapeType="1"/>
              <a:stCxn id="16" idx="3"/>
              <a:endCxn id="26" idx="1"/>
            </p:cNvCxnSpPr>
            <p:nvPr/>
          </p:nvCxnSpPr>
          <p:spPr bwMode="auto">
            <a:xfrm>
              <a:off x="5866787" y="4268788"/>
              <a:ext cx="263525"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 name="Oval 49">
              <a:extLst>
                <a:ext uri="{FF2B5EF4-FFF2-40B4-BE49-F238E27FC236}">
                  <a16:creationId xmlns:a16="http://schemas.microsoft.com/office/drawing/2014/main" id="{44C40675-A3DA-A078-057B-98191CF92B6E}"/>
                </a:ext>
              </a:extLst>
            </p:cNvPr>
            <p:cNvSpPr>
              <a:spLocks noChangeArrowheads="1"/>
            </p:cNvSpPr>
            <p:nvPr/>
          </p:nvSpPr>
          <p:spPr bwMode="auto">
            <a:xfrm>
              <a:off x="4915875" y="3203575"/>
              <a:ext cx="2314575" cy="382588"/>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a:solidFill>
                    <a:schemeClr val="bg1"/>
                  </a:solidFill>
                  <a:latin typeface="+mn-lt"/>
                </a:rPr>
                <a:t>Required Discipline:</a:t>
              </a:r>
            </a:p>
            <a:p>
              <a:pPr algn="ctr">
                <a:lnSpc>
                  <a:spcPct val="80000"/>
                </a:lnSpc>
                <a:buClrTx/>
                <a:buSzTx/>
                <a:buFontTx/>
                <a:buNone/>
              </a:pPr>
              <a:r>
                <a:rPr lang="en-US" altLang="en-US" sz="1000" i="1">
                  <a:solidFill>
                    <a:schemeClr val="bg1"/>
                  </a:solidFill>
                  <a:latin typeface="+mn-lt"/>
                </a:rPr>
                <a:t>Evaluating Error Rates</a:t>
              </a:r>
            </a:p>
          </p:txBody>
        </p:sp>
        <p:sp>
          <p:nvSpPr>
            <p:cNvPr id="35" name="Freeform 51">
              <a:extLst>
                <a:ext uri="{FF2B5EF4-FFF2-40B4-BE49-F238E27FC236}">
                  <a16:creationId xmlns:a16="http://schemas.microsoft.com/office/drawing/2014/main" id="{3580FB79-5B66-8344-908B-6D37C8A8AD48}"/>
                </a:ext>
              </a:extLst>
            </p:cNvPr>
            <p:cNvSpPr>
              <a:spLocks/>
            </p:cNvSpPr>
            <p:nvPr/>
          </p:nvSpPr>
          <p:spPr bwMode="auto">
            <a:xfrm>
              <a:off x="3610950" y="3448050"/>
              <a:ext cx="1266825" cy="668338"/>
            </a:xfrm>
            <a:custGeom>
              <a:avLst/>
              <a:gdLst>
                <a:gd name="T0" fmla="*/ 0 w 934"/>
                <a:gd name="T1" fmla="*/ 1008297251 h 443"/>
                <a:gd name="T2" fmla="*/ 1021016191 w 934"/>
                <a:gd name="T3" fmla="*/ 0 h 443"/>
                <a:gd name="T4" fmla="*/ 1718250086 w 934"/>
                <a:gd name="T5" fmla="*/ 0 h 443"/>
                <a:gd name="T6" fmla="*/ 0 60000 65536"/>
                <a:gd name="T7" fmla="*/ 0 60000 65536"/>
                <a:gd name="T8" fmla="*/ 0 60000 65536"/>
              </a:gdLst>
              <a:ahLst/>
              <a:cxnLst>
                <a:cxn ang="T6">
                  <a:pos x="T0" y="T1"/>
                </a:cxn>
                <a:cxn ang="T7">
                  <a:pos x="T2" y="T3"/>
                </a:cxn>
                <a:cxn ang="T8">
                  <a:pos x="T4" y="T5"/>
                </a:cxn>
              </a:cxnLst>
              <a:rect l="0" t="0" r="r" b="b"/>
              <a:pathLst>
                <a:path w="934" h="443">
                  <a:moveTo>
                    <a:pt x="0" y="443"/>
                  </a:moveTo>
                  <a:lnTo>
                    <a:pt x="555" y="0"/>
                  </a:lnTo>
                  <a:lnTo>
                    <a:pt x="934" y="0"/>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cxnSp>
          <p:nvCxnSpPr>
            <p:cNvPr id="36" name="AutoShape 53">
              <a:extLst>
                <a:ext uri="{FF2B5EF4-FFF2-40B4-BE49-F238E27FC236}">
                  <a16:creationId xmlns:a16="http://schemas.microsoft.com/office/drawing/2014/main" id="{61A1120F-AFCF-EDC7-ABB3-8EAEE2245EB0}"/>
                </a:ext>
              </a:extLst>
            </p:cNvPr>
            <p:cNvCxnSpPr>
              <a:cxnSpLocks noChangeShapeType="1"/>
              <a:stCxn id="26" idx="3"/>
              <a:endCxn id="15" idx="1"/>
            </p:cNvCxnSpPr>
            <p:nvPr/>
          </p:nvCxnSpPr>
          <p:spPr bwMode="auto">
            <a:xfrm flipH="1">
              <a:off x="1059837" y="4267200"/>
              <a:ext cx="5900738" cy="1588"/>
            </a:xfrm>
            <a:prstGeom prst="bentConnector5">
              <a:avLst>
                <a:gd name="adj1" fmla="val -3310"/>
                <a:gd name="adj2" fmla="val 78200000"/>
                <a:gd name="adj3" fmla="val 103310"/>
              </a:avLst>
            </a:prstGeom>
            <a:noFill/>
            <a:ln w="12700">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cxnSp>
        <p:sp>
          <p:nvSpPr>
            <p:cNvPr id="37" name="Text Box 48">
              <a:extLst>
                <a:ext uri="{FF2B5EF4-FFF2-40B4-BE49-F238E27FC236}">
                  <a16:creationId xmlns:a16="http://schemas.microsoft.com/office/drawing/2014/main" id="{F032B905-EDFC-62E6-E1A2-C8C278AFE9B9}"/>
                </a:ext>
              </a:extLst>
            </p:cNvPr>
            <p:cNvSpPr txBox="1">
              <a:spLocks noChangeArrowheads="1"/>
            </p:cNvSpPr>
            <p:nvPr/>
          </p:nvSpPr>
          <p:spPr bwMode="auto">
            <a:xfrm>
              <a:off x="4690657" y="5389563"/>
              <a:ext cx="1729961" cy="229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dirty="0">
                  <a:latin typeface="+mn-lt"/>
                </a:rPr>
                <a:t>Actual Production Output</a:t>
              </a:r>
            </a:p>
          </p:txBody>
        </p:sp>
        <p:sp>
          <p:nvSpPr>
            <p:cNvPr id="38" name="Rectangle 56">
              <a:extLst>
                <a:ext uri="{FF2B5EF4-FFF2-40B4-BE49-F238E27FC236}">
                  <a16:creationId xmlns:a16="http://schemas.microsoft.com/office/drawing/2014/main" id="{CF828722-0DE5-5A56-74F6-7868391C0766}"/>
                </a:ext>
              </a:extLst>
            </p:cNvPr>
            <p:cNvSpPr>
              <a:spLocks noChangeArrowheads="1"/>
            </p:cNvSpPr>
            <p:nvPr/>
          </p:nvSpPr>
          <p:spPr bwMode="auto">
            <a:xfrm>
              <a:off x="7351100" y="3105150"/>
              <a:ext cx="1522412" cy="1681564"/>
            </a:xfrm>
            <a:prstGeom prst="rect">
              <a:avLst/>
            </a:prstGeom>
            <a:solidFill>
              <a:schemeClr val="bg2"/>
            </a:solidFill>
            <a:ln w="19050">
              <a:solidFill>
                <a:schemeClr val="tx1"/>
              </a:solidFill>
              <a:prstDash val="sysDot"/>
              <a:miter lim="800000"/>
              <a:headEnd/>
              <a:tailEnd/>
            </a:ln>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5000"/>
                </a:spcBef>
                <a:buClrTx/>
                <a:buSzPct val="90000"/>
                <a:buFont typeface="Arial" panose="020B0604020202020204" pitchFamily="34" charset="0"/>
                <a:buChar char="•"/>
              </a:pPr>
              <a:r>
                <a:rPr lang="en-US" altLang="en-US" sz="1000" dirty="0">
                  <a:latin typeface="+mn-lt"/>
                </a:rPr>
                <a:t>Existing customer mix</a:t>
              </a:r>
            </a:p>
            <a:p>
              <a:pPr>
                <a:spcBef>
                  <a:spcPct val="35000"/>
                </a:spcBef>
                <a:buClrTx/>
                <a:buSzPct val="90000"/>
                <a:buFont typeface="Arial" panose="020B0604020202020204" pitchFamily="34" charset="0"/>
                <a:buChar char="•"/>
              </a:pPr>
              <a:r>
                <a:rPr lang="en-US" altLang="en-US" sz="1000" dirty="0">
                  <a:latin typeface="+mn-lt"/>
                </a:rPr>
                <a:t>Potential new customers</a:t>
              </a:r>
            </a:p>
            <a:p>
              <a:pPr>
                <a:spcBef>
                  <a:spcPct val="35000"/>
                </a:spcBef>
                <a:buClrTx/>
                <a:buSzPct val="90000"/>
                <a:buFont typeface="Arial" panose="020B0604020202020204" pitchFamily="34" charset="0"/>
                <a:buChar char="•"/>
              </a:pPr>
              <a:r>
                <a:rPr lang="en-US" altLang="en-US" sz="1000" dirty="0">
                  <a:latin typeface="+mn-lt"/>
                </a:rPr>
                <a:t>New products or reengineered products</a:t>
              </a:r>
            </a:p>
            <a:p>
              <a:pPr>
                <a:spcBef>
                  <a:spcPct val="35000"/>
                </a:spcBef>
                <a:buClrTx/>
                <a:buSzPct val="90000"/>
                <a:buFont typeface="Arial" panose="020B0604020202020204" pitchFamily="34" charset="0"/>
                <a:buChar char="•"/>
              </a:pPr>
              <a:r>
                <a:rPr lang="en-US" altLang="en-US" sz="1000" dirty="0">
                  <a:latin typeface="+mn-lt"/>
                </a:rPr>
                <a:t>Price changes</a:t>
              </a:r>
            </a:p>
            <a:p>
              <a:pPr>
                <a:spcBef>
                  <a:spcPct val="35000"/>
                </a:spcBef>
                <a:buClrTx/>
                <a:buSzPct val="90000"/>
                <a:buFont typeface="Arial" panose="020B0604020202020204" pitchFamily="34" charset="0"/>
                <a:buChar char="•"/>
              </a:pPr>
              <a:r>
                <a:rPr lang="en-US" altLang="en-US" sz="1000" dirty="0">
                  <a:latin typeface="+mn-lt"/>
                </a:rPr>
                <a:t>Marketplace conditions</a:t>
              </a:r>
            </a:p>
            <a:p>
              <a:pPr>
                <a:spcBef>
                  <a:spcPct val="35000"/>
                </a:spcBef>
                <a:buClrTx/>
                <a:buSzPct val="90000"/>
                <a:buFont typeface="Arial" panose="020B0604020202020204" pitchFamily="34" charset="0"/>
                <a:buChar char="•"/>
              </a:pPr>
              <a:r>
                <a:rPr lang="en-US" altLang="en-US" sz="1000" dirty="0">
                  <a:latin typeface="+mn-lt"/>
                </a:rPr>
                <a:t>Seasonal promotions</a:t>
              </a:r>
            </a:p>
            <a:p>
              <a:pPr>
                <a:spcBef>
                  <a:spcPct val="35000"/>
                </a:spcBef>
                <a:buClrTx/>
                <a:buSzPct val="90000"/>
                <a:buFont typeface="Arial" panose="020B0604020202020204" pitchFamily="34" charset="0"/>
                <a:buChar char="•"/>
              </a:pPr>
              <a:r>
                <a:rPr lang="en-US" altLang="en-US" sz="1000" dirty="0">
                  <a:latin typeface="+mn-lt"/>
                </a:rPr>
                <a:t>Industry factors</a:t>
              </a:r>
            </a:p>
          </p:txBody>
        </p:sp>
        <p:sp>
          <p:nvSpPr>
            <p:cNvPr id="39" name="Freeform 57">
              <a:extLst>
                <a:ext uri="{FF2B5EF4-FFF2-40B4-BE49-F238E27FC236}">
                  <a16:creationId xmlns:a16="http://schemas.microsoft.com/office/drawing/2014/main" id="{6173CB5B-E46C-4310-677E-CE5D2ED73FF6}"/>
                </a:ext>
              </a:extLst>
            </p:cNvPr>
            <p:cNvSpPr>
              <a:spLocks/>
            </p:cNvSpPr>
            <p:nvPr/>
          </p:nvSpPr>
          <p:spPr bwMode="auto">
            <a:xfrm>
              <a:off x="5452450" y="3787775"/>
              <a:ext cx="1895475" cy="177800"/>
            </a:xfrm>
            <a:custGeom>
              <a:avLst/>
              <a:gdLst>
                <a:gd name="T0" fmla="*/ 0 w 1194"/>
                <a:gd name="T1" fmla="*/ 282257500 h 112"/>
                <a:gd name="T2" fmla="*/ 0 w 1194"/>
                <a:gd name="T3" fmla="*/ 0 h 112"/>
                <a:gd name="T4" fmla="*/ 2147483646 w 1194"/>
                <a:gd name="T5" fmla="*/ 0 h 112"/>
                <a:gd name="T6" fmla="*/ 0 60000 65536"/>
                <a:gd name="T7" fmla="*/ 0 60000 65536"/>
                <a:gd name="T8" fmla="*/ 0 60000 65536"/>
              </a:gdLst>
              <a:ahLst/>
              <a:cxnLst>
                <a:cxn ang="T6">
                  <a:pos x="T0" y="T1"/>
                </a:cxn>
                <a:cxn ang="T7">
                  <a:pos x="T2" y="T3"/>
                </a:cxn>
                <a:cxn ang="T8">
                  <a:pos x="T4" y="T5"/>
                </a:cxn>
              </a:cxnLst>
              <a:rect l="0" t="0" r="r" b="b"/>
              <a:pathLst>
                <a:path w="1194" h="112">
                  <a:moveTo>
                    <a:pt x="0" y="112"/>
                  </a:moveTo>
                  <a:lnTo>
                    <a:pt x="0" y="0"/>
                  </a:lnTo>
                  <a:lnTo>
                    <a:pt x="1194" y="0"/>
                  </a:lnTo>
                </a:path>
              </a:pathLst>
            </a:custGeom>
            <a:noFill/>
            <a:ln w="12700" cap="sq" cmpd="sng">
              <a:solidFill>
                <a:schemeClr val="tx1"/>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Text Box 58">
              <a:extLst>
                <a:ext uri="{FF2B5EF4-FFF2-40B4-BE49-F238E27FC236}">
                  <a16:creationId xmlns:a16="http://schemas.microsoft.com/office/drawing/2014/main" id="{BA3DBFE1-F72C-DA7A-7B74-927AAD22D959}"/>
                </a:ext>
              </a:extLst>
            </p:cNvPr>
            <p:cNvSpPr txBox="1">
              <a:spLocks noChangeArrowheads="1"/>
            </p:cNvSpPr>
            <p:nvPr/>
          </p:nvSpPr>
          <p:spPr bwMode="auto">
            <a:xfrm>
              <a:off x="6252102" y="4792663"/>
              <a:ext cx="747020" cy="54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000" i="1">
                  <a:latin typeface="+mn-lt"/>
                </a:rPr>
                <a:t>“</a:t>
              </a:r>
              <a:r>
                <a:rPr lang="en-US" altLang="ja-JP" sz="1000" i="1">
                  <a:latin typeface="+mn-lt"/>
                </a:rPr>
                <a:t>First Pass</a:t>
              </a:r>
            </a:p>
            <a:p>
              <a:pPr algn="ctr">
                <a:lnSpc>
                  <a:spcPct val="80000"/>
                </a:lnSpc>
                <a:buClrTx/>
                <a:buSzTx/>
                <a:buFontTx/>
                <a:buNone/>
              </a:pPr>
              <a:r>
                <a:rPr lang="en-US" altLang="en-US" sz="1000" i="1">
                  <a:latin typeface="+mn-lt"/>
                </a:rPr>
                <a:t>S&amp;OP </a:t>
              </a:r>
            </a:p>
            <a:p>
              <a:pPr algn="ctr">
                <a:lnSpc>
                  <a:spcPct val="80000"/>
                </a:lnSpc>
                <a:buClrTx/>
                <a:buSzTx/>
                <a:buFontTx/>
                <a:buNone/>
              </a:pPr>
              <a:r>
                <a:rPr lang="en-US" altLang="en-US" sz="1000" i="1">
                  <a:latin typeface="+mn-lt"/>
                </a:rPr>
                <a:t>Spreadsheet</a:t>
              </a:r>
              <a:r>
                <a:rPr lang="ja-JP" altLang="en-US" sz="1000" i="1">
                  <a:latin typeface="+mn-lt"/>
                </a:rPr>
                <a:t>”</a:t>
              </a:r>
              <a:endParaRPr lang="en-US" altLang="en-US" sz="1000" i="1">
                <a:latin typeface="+mn-lt"/>
              </a:endParaRPr>
            </a:p>
          </p:txBody>
        </p:sp>
      </p:grpSp>
    </p:spTree>
    <p:extLst>
      <p:ext uri="{BB962C8B-B14F-4D97-AF65-F5344CB8AC3E}">
        <p14:creationId xmlns:p14="http://schemas.microsoft.com/office/powerpoint/2010/main" val="3335064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Demand Planning 2:  </a:t>
            </a:r>
            <a:br>
              <a:rPr lang="en-US" dirty="0"/>
            </a:br>
            <a:r>
              <a:rPr lang="en-US" sz="4000" dirty="0"/>
              <a:t>Statistical Forecasts To Management Forecasts</a:t>
            </a:r>
            <a:endParaRPr lang="en-US" dirty="0"/>
          </a:p>
        </p:txBody>
      </p:sp>
      <p:grpSp>
        <p:nvGrpSpPr>
          <p:cNvPr id="43" name="Group 42">
            <a:extLst>
              <a:ext uri="{FF2B5EF4-FFF2-40B4-BE49-F238E27FC236}">
                <a16:creationId xmlns:a16="http://schemas.microsoft.com/office/drawing/2014/main" id="{28C17536-94F6-2AF5-2195-91295BAE7A6F}"/>
              </a:ext>
            </a:extLst>
          </p:cNvPr>
          <p:cNvGrpSpPr/>
          <p:nvPr/>
        </p:nvGrpSpPr>
        <p:grpSpPr>
          <a:xfrm>
            <a:off x="953977" y="1838892"/>
            <a:ext cx="10167679" cy="4440170"/>
            <a:chOff x="635000" y="1594343"/>
            <a:chExt cx="8205103" cy="4022725"/>
          </a:xfrm>
        </p:grpSpPr>
        <p:sp>
          <p:nvSpPr>
            <p:cNvPr id="3" name="Rectangle 28">
              <a:extLst>
                <a:ext uri="{FF2B5EF4-FFF2-40B4-BE49-F238E27FC236}">
                  <a16:creationId xmlns:a16="http://schemas.microsoft.com/office/drawing/2014/main" id="{B1C168E3-2848-263D-CB8E-A4C90C00710C}"/>
                </a:ext>
              </a:extLst>
            </p:cNvPr>
            <p:cNvSpPr>
              <a:spLocks noChangeArrowheads="1"/>
            </p:cNvSpPr>
            <p:nvPr/>
          </p:nvSpPr>
          <p:spPr bwMode="auto">
            <a:xfrm>
              <a:off x="758825" y="3000868"/>
              <a:ext cx="4148138" cy="1393825"/>
            </a:xfrm>
            <a:prstGeom prst="rect">
              <a:avLst/>
            </a:prstGeom>
            <a:solidFill>
              <a:srgbClr val="EAEAEA"/>
            </a:solidFill>
            <a:ln w="1270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4" name="Group 29">
              <a:extLst>
                <a:ext uri="{FF2B5EF4-FFF2-40B4-BE49-F238E27FC236}">
                  <a16:creationId xmlns:a16="http://schemas.microsoft.com/office/drawing/2014/main" id="{82427D85-93E0-1876-EAF6-A1507F03ED2F}"/>
                </a:ext>
              </a:extLst>
            </p:cNvPr>
            <p:cNvGrpSpPr>
              <a:grpSpLocks/>
            </p:cNvGrpSpPr>
            <p:nvPr/>
          </p:nvGrpSpPr>
          <p:grpSpPr bwMode="auto">
            <a:xfrm>
              <a:off x="1104900" y="3086591"/>
              <a:ext cx="3609975" cy="1257299"/>
              <a:chOff x="710" y="2463"/>
              <a:chExt cx="2274" cy="792"/>
            </a:xfrm>
          </p:grpSpPr>
          <p:sp>
            <p:nvSpPr>
              <p:cNvPr id="5" name="Rectangle 3">
                <a:extLst>
                  <a:ext uri="{FF2B5EF4-FFF2-40B4-BE49-F238E27FC236}">
                    <a16:creationId xmlns:a16="http://schemas.microsoft.com/office/drawing/2014/main" id="{185C41B5-1F7D-DBAC-48CF-C7BE9325149D}"/>
                  </a:ext>
                </a:extLst>
              </p:cNvPr>
              <p:cNvSpPr>
                <a:spLocks noChangeArrowheads="1"/>
              </p:cNvSpPr>
              <p:nvPr/>
            </p:nvSpPr>
            <p:spPr bwMode="auto">
              <a:xfrm>
                <a:off x="710" y="2731"/>
                <a:ext cx="306" cy="177"/>
              </a:xfrm>
              <a:prstGeom prst="rect">
                <a:avLst/>
              </a:prstGeom>
              <a:solidFill>
                <a:srgbClr val="5F5F5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dirty="0">
                    <a:solidFill>
                      <a:schemeClr val="bg1"/>
                    </a:solidFill>
                    <a:latin typeface="+mn-lt"/>
                  </a:rPr>
                  <a:t>Last-Month</a:t>
                </a:r>
              </a:p>
              <a:p>
                <a:pPr algn="ctr">
                  <a:lnSpc>
                    <a:spcPct val="80000"/>
                  </a:lnSpc>
                  <a:buClrTx/>
                  <a:buSzTx/>
                  <a:buFontTx/>
                  <a:buNone/>
                </a:pPr>
                <a:r>
                  <a:rPr lang="en-US" altLang="en-US" sz="500" dirty="0">
                    <a:solidFill>
                      <a:schemeClr val="bg1"/>
                    </a:solidFill>
                    <a:latin typeface="+mn-lt"/>
                  </a:rPr>
                  <a:t>Forecast</a:t>
                </a:r>
              </a:p>
            </p:txBody>
          </p:sp>
          <p:sp>
            <p:nvSpPr>
              <p:cNvPr id="6" name="Rectangle 4">
                <a:extLst>
                  <a:ext uri="{FF2B5EF4-FFF2-40B4-BE49-F238E27FC236}">
                    <a16:creationId xmlns:a16="http://schemas.microsoft.com/office/drawing/2014/main" id="{BD120E24-ECA0-A122-55C6-120CE1DAEC89}"/>
                  </a:ext>
                </a:extLst>
              </p:cNvPr>
              <p:cNvSpPr>
                <a:spLocks noChangeArrowheads="1"/>
              </p:cNvSpPr>
              <p:nvPr/>
            </p:nvSpPr>
            <p:spPr bwMode="auto">
              <a:xfrm>
                <a:off x="2176" y="2731"/>
                <a:ext cx="305" cy="177"/>
              </a:xfrm>
              <a:prstGeom prst="rect">
                <a:avLst/>
              </a:prstGeom>
              <a:solidFill>
                <a:srgbClr val="5F5F5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New</a:t>
                </a:r>
              </a:p>
              <a:p>
                <a:pPr algn="ctr">
                  <a:lnSpc>
                    <a:spcPct val="80000"/>
                  </a:lnSpc>
                  <a:buClrTx/>
                  <a:buSzTx/>
                  <a:buFontTx/>
                  <a:buNone/>
                </a:pPr>
                <a:r>
                  <a:rPr lang="en-US" altLang="en-US" sz="500">
                    <a:solidFill>
                      <a:schemeClr val="bg1"/>
                    </a:solidFill>
                    <a:latin typeface="+mn-lt"/>
                  </a:rPr>
                  <a:t>Product</a:t>
                </a:r>
              </a:p>
              <a:p>
                <a:pPr algn="ctr">
                  <a:lnSpc>
                    <a:spcPct val="80000"/>
                  </a:lnSpc>
                  <a:buClrTx/>
                  <a:buSzTx/>
                  <a:buFontTx/>
                  <a:buNone/>
                </a:pPr>
                <a:r>
                  <a:rPr lang="en-US" altLang="en-US" sz="500">
                    <a:solidFill>
                      <a:schemeClr val="bg1"/>
                    </a:solidFill>
                    <a:latin typeface="+mn-lt"/>
                  </a:rPr>
                  <a:t>Inputs</a:t>
                </a:r>
              </a:p>
            </p:txBody>
          </p:sp>
          <p:sp>
            <p:nvSpPr>
              <p:cNvPr id="7" name="Oval 5">
                <a:extLst>
                  <a:ext uri="{FF2B5EF4-FFF2-40B4-BE49-F238E27FC236}">
                    <a16:creationId xmlns:a16="http://schemas.microsoft.com/office/drawing/2014/main" id="{C0A8079D-2E86-01BD-BE3E-53F2DB379E2D}"/>
                  </a:ext>
                </a:extLst>
              </p:cNvPr>
              <p:cNvSpPr>
                <a:spLocks noChangeArrowheads="1"/>
              </p:cNvSpPr>
              <p:nvPr/>
            </p:nvSpPr>
            <p:spPr bwMode="auto">
              <a:xfrm>
                <a:off x="1545" y="2762"/>
                <a:ext cx="133" cy="114"/>
              </a:xfrm>
              <a:prstGeom prst="ellipse">
                <a:avLst/>
              </a:prstGeom>
              <a:solidFill>
                <a:srgbClr val="000066"/>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Rectangle 6">
                <a:extLst>
                  <a:ext uri="{FF2B5EF4-FFF2-40B4-BE49-F238E27FC236}">
                    <a16:creationId xmlns:a16="http://schemas.microsoft.com/office/drawing/2014/main" id="{DC2D1C98-C2F1-244F-BC1E-4D291A6184EF}"/>
                  </a:ext>
                </a:extLst>
              </p:cNvPr>
              <p:cNvSpPr>
                <a:spLocks noChangeArrowheads="1"/>
              </p:cNvSpPr>
              <p:nvPr/>
            </p:nvSpPr>
            <p:spPr bwMode="auto">
              <a:xfrm>
                <a:off x="1461" y="2988"/>
                <a:ext cx="305" cy="178"/>
              </a:xfrm>
              <a:prstGeom prst="rect">
                <a:avLst/>
              </a:prstGeom>
              <a:solidFill>
                <a:srgbClr val="5F5F5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Error Rate</a:t>
                </a:r>
              </a:p>
              <a:p>
                <a:pPr algn="ctr">
                  <a:lnSpc>
                    <a:spcPct val="80000"/>
                  </a:lnSpc>
                  <a:buClrTx/>
                  <a:buSzTx/>
                  <a:buFontTx/>
                  <a:buNone/>
                </a:pPr>
                <a:r>
                  <a:rPr lang="en-US" altLang="en-US" sz="500">
                    <a:solidFill>
                      <a:schemeClr val="bg1"/>
                    </a:solidFill>
                    <a:latin typeface="+mn-lt"/>
                  </a:rPr>
                  <a:t>Analysis</a:t>
                </a:r>
              </a:p>
            </p:txBody>
          </p:sp>
          <p:sp>
            <p:nvSpPr>
              <p:cNvPr id="9" name="Rectangle 7">
                <a:extLst>
                  <a:ext uri="{FF2B5EF4-FFF2-40B4-BE49-F238E27FC236}">
                    <a16:creationId xmlns:a16="http://schemas.microsoft.com/office/drawing/2014/main" id="{7BE1CCD8-DAF6-EB60-AFF3-4EC7C2358AA3}"/>
                  </a:ext>
                </a:extLst>
              </p:cNvPr>
              <p:cNvSpPr>
                <a:spLocks noChangeArrowheads="1"/>
              </p:cNvSpPr>
              <p:nvPr/>
            </p:nvSpPr>
            <p:spPr bwMode="auto">
              <a:xfrm>
                <a:off x="1460" y="2463"/>
                <a:ext cx="306" cy="178"/>
              </a:xfrm>
              <a:prstGeom prst="rect">
                <a:avLst/>
              </a:prstGeom>
              <a:solidFill>
                <a:srgbClr val="5F5F5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New</a:t>
                </a:r>
              </a:p>
              <a:p>
                <a:pPr algn="ctr">
                  <a:lnSpc>
                    <a:spcPct val="80000"/>
                  </a:lnSpc>
                  <a:buClrTx/>
                  <a:buSzTx/>
                  <a:buFontTx/>
                  <a:buNone/>
                </a:pPr>
                <a:r>
                  <a:rPr lang="en-US" altLang="en-US" sz="500">
                    <a:solidFill>
                      <a:schemeClr val="bg1"/>
                    </a:solidFill>
                    <a:latin typeface="+mn-lt"/>
                  </a:rPr>
                  <a:t>Statistical</a:t>
                </a:r>
              </a:p>
              <a:p>
                <a:pPr algn="ctr">
                  <a:lnSpc>
                    <a:spcPct val="80000"/>
                  </a:lnSpc>
                  <a:buClrTx/>
                  <a:buSzTx/>
                  <a:buFontTx/>
                  <a:buNone/>
                </a:pPr>
                <a:r>
                  <a:rPr lang="en-US" altLang="en-US" sz="500">
                    <a:solidFill>
                      <a:schemeClr val="bg1"/>
                    </a:solidFill>
                    <a:latin typeface="+mn-lt"/>
                  </a:rPr>
                  <a:t>Forecast</a:t>
                </a:r>
              </a:p>
            </p:txBody>
          </p:sp>
          <p:sp>
            <p:nvSpPr>
              <p:cNvPr id="10" name="Rectangle 8">
                <a:extLst>
                  <a:ext uri="{FF2B5EF4-FFF2-40B4-BE49-F238E27FC236}">
                    <a16:creationId xmlns:a16="http://schemas.microsoft.com/office/drawing/2014/main" id="{46B19A5F-14FF-0F98-4333-6D196AA04944}"/>
                  </a:ext>
                </a:extLst>
              </p:cNvPr>
              <p:cNvSpPr>
                <a:spLocks noChangeArrowheads="1"/>
              </p:cNvSpPr>
              <p:nvPr/>
            </p:nvSpPr>
            <p:spPr bwMode="auto">
              <a:xfrm>
                <a:off x="1147" y="2757"/>
                <a:ext cx="306" cy="177"/>
              </a:xfrm>
              <a:prstGeom prst="rect">
                <a:avLst/>
              </a:prstGeom>
              <a:solidFill>
                <a:srgbClr val="EAEAEA"/>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Last-Month</a:t>
                </a:r>
              </a:p>
              <a:p>
                <a:pPr algn="ctr">
                  <a:lnSpc>
                    <a:spcPct val="80000"/>
                  </a:lnSpc>
                  <a:buClrTx/>
                  <a:buSzTx/>
                  <a:buFontTx/>
                  <a:buNone/>
                </a:pPr>
                <a:r>
                  <a:rPr lang="en-US" altLang="en-US" sz="500">
                    <a:solidFill>
                      <a:schemeClr val="bg1"/>
                    </a:solidFill>
                    <a:latin typeface="+mn-lt"/>
                  </a:rPr>
                  <a:t>Actuals</a:t>
                </a:r>
              </a:p>
            </p:txBody>
          </p:sp>
          <p:sp>
            <p:nvSpPr>
              <p:cNvPr id="11" name="Rectangle 9">
                <a:extLst>
                  <a:ext uri="{FF2B5EF4-FFF2-40B4-BE49-F238E27FC236}">
                    <a16:creationId xmlns:a16="http://schemas.microsoft.com/office/drawing/2014/main" id="{5BAFD871-1CCC-8E63-9B2D-442FB0C14975}"/>
                  </a:ext>
                </a:extLst>
              </p:cNvPr>
              <p:cNvSpPr>
                <a:spLocks noChangeArrowheads="1"/>
              </p:cNvSpPr>
              <p:nvPr/>
            </p:nvSpPr>
            <p:spPr bwMode="auto">
              <a:xfrm>
                <a:off x="1117" y="2731"/>
                <a:ext cx="306" cy="177"/>
              </a:xfrm>
              <a:prstGeom prst="rect">
                <a:avLst/>
              </a:prstGeom>
              <a:solidFill>
                <a:srgbClr val="5F5F5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Last-Month</a:t>
                </a:r>
              </a:p>
              <a:p>
                <a:pPr algn="ctr">
                  <a:lnSpc>
                    <a:spcPct val="80000"/>
                  </a:lnSpc>
                  <a:buClrTx/>
                  <a:buSzTx/>
                  <a:buFontTx/>
                  <a:buNone/>
                </a:pPr>
                <a:r>
                  <a:rPr lang="en-US" altLang="en-US" sz="500">
                    <a:solidFill>
                      <a:schemeClr val="bg1"/>
                    </a:solidFill>
                    <a:latin typeface="+mn-lt"/>
                  </a:rPr>
                  <a:t>Actuals</a:t>
                </a:r>
              </a:p>
            </p:txBody>
          </p:sp>
          <p:sp>
            <p:nvSpPr>
              <p:cNvPr id="12" name="Rectangle 10">
                <a:extLst>
                  <a:ext uri="{FF2B5EF4-FFF2-40B4-BE49-F238E27FC236}">
                    <a16:creationId xmlns:a16="http://schemas.microsoft.com/office/drawing/2014/main" id="{40C84256-85D4-C093-0BE0-C82089E204D0}"/>
                  </a:ext>
                </a:extLst>
              </p:cNvPr>
              <p:cNvSpPr>
                <a:spLocks noChangeArrowheads="1"/>
              </p:cNvSpPr>
              <p:nvPr/>
            </p:nvSpPr>
            <p:spPr bwMode="auto">
              <a:xfrm>
                <a:off x="1804" y="2757"/>
                <a:ext cx="306" cy="177"/>
              </a:xfrm>
              <a:prstGeom prst="rect">
                <a:avLst/>
              </a:prstGeom>
              <a:solidFill>
                <a:srgbClr val="EAEAEA"/>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rgbClr val="EAEAEA"/>
                    </a:solidFill>
                    <a:latin typeface="+mn-lt"/>
                  </a:rPr>
                  <a:t>Next-Month</a:t>
                </a:r>
              </a:p>
              <a:p>
                <a:pPr algn="ctr">
                  <a:lnSpc>
                    <a:spcPct val="80000"/>
                  </a:lnSpc>
                  <a:buClrTx/>
                  <a:buSzTx/>
                  <a:buFontTx/>
                  <a:buNone/>
                </a:pPr>
                <a:r>
                  <a:rPr lang="en-US" altLang="en-US" sz="500">
                    <a:solidFill>
                      <a:srgbClr val="EAEAEA"/>
                    </a:solidFill>
                    <a:latin typeface="+mn-lt"/>
                  </a:rPr>
                  <a:t>Adjustments</a:t>
                </a:r>
              </a:p>
            </p:txBody>
          </p:sp>
          <p:sp>
            <p:nvSpPr>
              <p:cNvPr id="13" name="Rectangle 11">
                <a:extLst>
                  <a:ext uri="{FF2B5EF4-FFF2-40B4-BE49-F238E27FC236}">
                    <a16:creationId xmlns:a16="http://schemas.microsoft.com/office/drawing/2014/main" id="{42907D63-98DD-C59F-BB53-E356D156EE05}"/>
                  </a:ext>
                </a:extLst>
              </p:cNvPr>
              <p:cNvSpPr>
                <a:spLocks noChangeArrowheads="1"/>
              </p:cNvSpPr>
              <p:nvPr/>
            </p:nvSpPr>
            <p:spPr bwMode="auto">
              <a:xfrm>
                <a:off x="1773" y="2731"/>
                <a:ext cx="306" cy="177"/>
              </a:xfrm>
              <a:prstGeom prst="rect">
                <a:avLst/>
              </a:prstGeom>
              <a:solidFill>
                <a:srgbClr val="5F5F5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Next-Month</a:t>
                </a:r>
              </a:p>
              <a:p>
                <a:pPr algn="ctr">
                  <a:lnSpc>
                    <a:spcPct val="80000"/>
                  </a:lnSpc>
                  <a:buClrTx/>
                  <a:buSzTx/>
                  <a:buFontTx/>
                  <a:buNone/>
                </a:pPr>
                <a:r>
                  <a:rPr lang="en-US" altLang="en-US" sz="500">
                    <a:solidFill>
                      <a:schemeClr val="bg1"/>
                    </a:solidFill>
                    <a:latin typeface="+mn-lt"/>
                  </a:rPr>
                  <a:t>Adjustments</a:t>
                </a:r>
              </a:p>
            </p:txBody>
          </p:sp>
          <p:sp>
            <p:nvSpPr>
              <p:cNvPr id="14" name="Rectangle 12">
                <a:extLst>
                  <a:ext uri="{FF2B5EF4-FFF2-40B4-BE49-F238E27FC236}">
                    <a16:creationId xmlns:a16="http://schemas.microsoft.com/office/drawing/2014/main" id="{AEDEF89C-CCCC-CF89-56CC-4EB6730D53FF}"/>
                  </a:ext>
                </a:extLst>
              </p:cNvPr>
              <p:cNvSpPr>
                <a:spLocks noChangeArrowheads="1"/>
              </p:cNvSpPr>
              <p:nvPr/>
            </p:nvSpPr>
            <p:spPr bwMode="auto">
              <a:xfrm>
                <a:off x="2633" y="2786"/>
                <a:ext cx="306" cy="177"/>
              </a:xfrm>
              <a:prstGeom prst="rect">
                <a:avLst/>
              </a:prstGeom>
              <a:solidFill>
                <a:srgbClr val="EAEAEA"/>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 </a:t>
                </a:r>
              </a:p>
            </p:txBody>
          </p:sp>
          <p:sp>
            <p:nvSpPr>
              <p:cNvPr id="15" name="Rectangle 13">
                <a:extLst>
                  <a:ext uri="{FF2B5EF4-FFF2-40B4-BE49-F238E27FC236}">
                    <a16:creationId xmlns:a16="http://schemas.microsoft.com/office/drawing/2014/main" id="{CF227A80-AF0E-A146-1D0C-B9AD0852E8FB}"/>
                  </a:ext>
                </a:extLst>
              </p:cNvPr>
              <p:cNvSpPr>
                <a:spLocks noChangeArrowheads="1"/>
              </p:cNvSpPr>
              <p:nvPr/>
            </p:nvSpPr>
            <p:spPr bwMode="auto">
              <a:xfrm>
                <a:off x="2606" y="2757"/>
                <a:ext cx="306" cy="177"/>
              </a:xfrm>
              <a:prstGeom prst="rect">
                <a:avLst/>
              </a:prstGeom>
              <a:solidFill>
                <a:srgbClr val="EAEAEA"/>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 </a:t>
                </a:r>
              </a:p>
            </p:txBody>
          </p:sp>
          <p:sp>
            <p:nvSpPr>
              <p:cNvPr id="16" name="Rectangle 14">
                <a:extLst>
                  <a:ext uri="{FF2B5EF4-FFF2-40B4-BE49-F238E27FC236}">
                    <a16:creationId xmlns:a16="http://schemas.microsoft.com/office/drawing/2014/main" id="{2081D4B2-DD76-1A7B-DF34-EEEF182E9FE5}"/>
                  </a:ext>
                </a:extLst>
              </p:cNvPr>
              <p:cNvSpPr>
                <a:spLocks noChangeArrowheads="1"/>
              </p:cNvSpPr>
              <p:nvPr/>
            </p:nvSpPr>
            <p:spPr bwMode="auto">
              <a:xfrm>
                <a:off x="2579" y="2731"/>
                <a:ext cx="306" cy="177"/>
              </a:xfrm>
              <a:prstGeom prst="rect">
                <a:avLst/>
              </a:prstGeom>
              <a:solidFill>
                <a:schemeClr val="accent5"/>
              </a:solidFill>
              <a:ln w="12700" cap="sq">
                <a:solidFill>
                  <a:schemeClr val="accent5"/>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dirty="0">
                    <a:solidFill>
                      <a:schemeClr val="bg1"/>
                    </a:solidFill>
                    <a:latin typeface="+mn-lt"/>
                  </a:rPr>
                  <a:t>Consensus</a:t>
                </a:r>
              </a:p>
              <a:p>
                <a:pPr algn="ctr">
                  <a:lnSpc>
                    <a:spcPct val="80000"/>
                  </a:lnSpc>
                  <a:buClrTx/>
                  <a:buSzTx/>
                  <a:buFontTx/>
                  <a:buNone/>
                </a:pPr>
                <a:r>
                  <a:rPr lang="en-US" altLang="en-US" sz="500" dirty="0">
                    <a:solidFill>
                      <a:schemeClr val="bg1"/>
                    </a:solidFill>
                    <a:latin typeface="+mn-lt"/>
                  </a:rPr>
                  <a:t>Management</a:t>
                </a:r>
              </a:p>
              <a:p>
                <a:pPr algn="ctr">
                  <a:lnSpc>
                    <a:spcPct val="80000"/>
                  </a:lnSpc>
                  <a:buClrTx/>
                  <a:buSzTx/>
                  <a:buFontTx/>
                  <a:buNone/>
                </a:pPr>
                <a:r>
                  <a:rPr lang="en-US" altLang="en-US" sz="500" dirty="0">
                    <a:solidFill>
                      <a:schemeClr val="bg1"/>
                    </a:solidFill>
                    <a:latin typeface="+mn-lt"/>
                  </a:rPr>
                  <a:t>Forecast(s)</a:t>
                </a:r>
              </a:p>
            </p:txBody>
          </p:sp>
          <p:cxnSp>
            <p:nvCxnSpPr>
              <p:cNvPr id="17" name="AutoShape 15">
                <a:extLst>
                  <a:ext uri="{FF2B5EF4-FFF2-40B4-BE49-F238E27FC236}">
                    <a16:creationId xmlns:a16="http://schemas.microsoft.com/office/drawing/2014/main" id="{5B0E2FC3-22FA-FBFF-3CE2-1A1A5DFC8859}"/>
                  </a:ext>
                </a:extLst>
              </p:cNvPr>
              <p:cNvCxnSpPr>
                <a:cxnSpLocks noChangeShapeType="1"/>
                <a:stCxn id="9" idx="2"/>
                <a:endCxn id="7" idx="0"/>
              </p:cNvCxnSpPr>
              <p:nvPr/>
            </p:nvCxnSpPr>
            <p:spPr bwMode="auto">
              <a:xfrm flipH="1">
                <a:off x="1612" y="2641"/>
                <a:ext cx="1" cy="121"/>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6">
                <a:extLst>
                  <a:ext uri="{FF2B5EF4-FFF2-40B4-BE49-F238E27FC236}">
                    <a16:creationId xmlns:a16="http://schemas.microsoft.com/office/drawing/2014/main" id="{5A79CC18-436E-0FB0-7780-431EFD123781}"/>
                  </a:ext>
                </a:extLst>
              </p:cNvPr>
              <p:cNvCxnSpPr>
                <a:cxnSpLocks noChangeShapeType="1"/>
                <a:stCxn id="8" idx="0"/>
                <a:endCxn id="7" idx="4"/>
              </p:cNvCxnSpPr>
              <p:nvPr/>
            </p:nvCxnSpPr>
            <p:spPr bwMode="auto">
              <a:xfrm flipH="1" flipV="1">
                <a:off x="1612" y="2876"/>
                <a:ext cx="1" cy="11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7">
                <a:extLst>
                  <a:ext uri="{FF2B5EF4-FFF2-40B4-BE49-F238E27FC236}">
                    <a16:creationId xmlns:a16="http://schemas.microsoft.com/office/drawing/2014/main" id="{E7C603D1-3DDA-AC96-A9BC-04EA95340F69}"/>
                  </a:ext>
                </a:extLst>
              </p:cNvPr>
              <p:cNvCxnSpPr>
                <a:cxnSpLocks noChangeShapeType="1"/>
                <a:stCxn id="5" idx="3"/>
                <a:endCxn id="11" idx="1"/>
              </p:cNvCxnSpPr>
              <p:nvPr/>
            </p:nvCxnSpPr>
            <p:spPr bwMode="auto">
              <a:xfrm>
                <a:off x="1016" y="2820"/>
                <a:ext cx="101"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8">
                <a:extLst>
                  <a:ext uri="{FF2B5EF4-FFF2-40B4-BE49-F238E27FC236}">
                    <a16:creationId xmlns:a16="http://schemas.microsoft.com/office/drawing/2014/main" id="{FF9C473A-6474-0C01-A98B-748AAEB8B61C}"/>
                  </a:ext>
                </a:extLst>
              </p:cNvPr>
              <p:cNvCxnSpPr>
                <a:cxnSpLocks noChangeShapeType="1"/>
                <a:stCxn id="11" idx="3"/>
                <a:endCxn id="7" idx="2"/>
              </p:cNvCxnSpPr>
              <p:nvPr/>
            </p:nvCxnSpPr>
            <p:spPr bwMode="auto">
              <a:xfrm flipV="1">
                <a:off x="1423" y="2819"/>
                <a:ext cx="122" cy="1"/>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19">
                <a:extLst>
                  <a:ext uri="{FF2B5EF4-FFF2-40B4-BE49-F238E27FC236}">
                    <a16:creationId xmlns:a16="http://schemas.microsoft.com/office/drawing/2014/main" id="{879C0D9E-F778-016F-4661-CEC84A4DD185}"/>
                  </a:ext>
                </a:extLst>
              </p:cNvPr>
              <p:cNvCxnSpPr>
                <a:cxnSpLocks noChangeShapeType="1"/>
                <a:stCxn id="7" idx="6"/>
                <a:endCxn id="13" idx="1"/>
              </p:cNvCxnSpPr>
              <p:nvPr/>
            </p:nvCxnSpPr>
            <p:spPr bwMode="auto">
              <a:xfrm>
                <a:off x="1678" y="2819"/>
                <a:ext cx="95" cy="1"/>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0">
                <a:extLst>
                  <a:ext uri="{FF2B5EF4-FFF2-40B4-BE49-F238E27FC236}">
                    <a16:creationId xmlns:a16="http://schemas.microsoft.com/office/drawing/2014/main" id="{0BE35745-F188-1428-7E06-4985AE0E4DB7}"/>
                  </a:ext>
                </a:extLst>
              </p:cNvPr>
              <p:cNvCxnSpPr>
                <a:cxnSpLocks noChangeShapeType="1"/>
                <a:stCxn id="13" idx="3"/>
                <a:endCxn id="6" idx="1"/>
              </p:cNvCxnSpPr>
              <p:nvPr/>
            </p:nvCxnSpPr>
            <p:spPr bwMode="auto">
              <a:xfrm>
                <a:off x="2079" y="2820"/>
                <a:ext cx="97"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1">
                <a:extLst>
                  <a:ext uri="{FF2B5EF4-FFF2-40B4-BE49-F238E27FC236}">
                    <a16:creationId xmlns:a16="http://schemas.microsoft.com/office/drawing/2014/main" id="{46EB5B1E-C5A2-D59D-AEF6-957FC713C565}"/>
                  </a:ext>
                </a:extLst>
              </p:cNvPr>
              <p:cNvCxnSpPr>
                <a:cxnSpLocks noChangeShapeType="1"/>
                <a:stCxn id="6" idx="3"/>
                <a:endCxn id="16" idx="1"/>
              </p:cNvCxnSpPr>
              <p:nvPr/>
            </p:nvCxnSpPr>
            <p:spPr bwMode="auto">
              <a:xfrm>
                <a:off x="2481" y="2820"/>
                <a:ext cx="9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 name="Oval 22">
                <a:extLst>
                  <a:ext uri="{FF2B5EF4-FFF2-40B4-BE49-F238E27FC236}">
                    <a16:creationId xmlns:a16="http://schemas.microsoft.com/office/drawing/2014/main" id="{F0D1EF5F-2DC8-01CE-B38F-6251ED00799C}"/>
                  </a:ext>
                </a:extLst>
              </p:cNvPr>
              <p:cNvSpPr>
                <a:spLocks noChangeArrowheads="1"/>
              </p:cNvSpPr>
              <p:nvPr/>
            </p:nvSpPr>
            <p:spPr bwMode="auto">
              <a:xfrm>
                <a:off x="2131" y="2505"/>
                <a:ext cx="853" cy="100"/>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a:solidFill>
                      <a:schemeClr val="bg1"/>
                    </a:solidFill>
                    <a:latin typeface="+mn-lt"/>
                  </a:rPr>
                  <a:t>Required Discipline:</a:t>
                </a:r>
              </a:p>
              <a:p>
                <a:pPr algn="ctr">
                  <a:lnSpc>
                    <a:spcPct val="80000"/>
                  </a:lnSpc>
                  <a:buClrTx/>
                  <a:buSzTx/>
                  <a:buFontTx/>
                  <a:buNone/>
                </a:pPr>
                <a:r>
                  <a:rPr lang="en-US" altLang="en-US" sz="500" i="1">
                    <a:solidFill>
                      <a:schemeClr val="bg1"/>
                    </a:solidFill>
                    <a:latin typeface="+mn-lt"/>
                  </a:rPr>
                  <a:t>Evaluating Error Rates</a:t>
                </a:r>
              </a:p>
            </p:txBody>
          </p:sp>
          <p:sp>
            <p:nvSpPr>
              <p:cNvPr id="25" name="Freeform 23">
                <a:extLst>
                  <a:ext uri="{FF2B5EF4-FFF2-40B4-BE49-F238E27FC236}">
                    <a16:creationId xmlns:a16="http://schemas.microsoft.com/office/drawing/2014/main" id="{92B94586-C184-3B68-7C9A-28EADFE6578F}"/>
                  </a:ext>
                </a:extLst>
              </p:cNvPr>
              <p:cNvSpPr>
                <a:spLocks/>
              </p:cNvSpPr>
              <p:nvPr/>
            </p:nvSpPr>
            <p:spPr bwMode="auto">
              <a:xfrm>
                <a:off x="1650" y="2561"/>
                <a:ext cx="467" cy="211"/>
              </a:xfrm>
              <a:custGeom>
                <a:avLst/>
                <a:gdLst>
                  <a:gd name="T0" fmla="*/ 0 w 934"/>
                  <a:gd name="T1" fmla="*/ 100 h 443"/>
                  <a:gd name="T2" fmla="*/ 139 w 934"/>
                  <a:gd name="T3" fmla="*/ 0 h 443"/>
                  <a:gd name="T4" fmla="*/ 234 w 934"/>
                  <a:gd name="T5" fmla="*/ 0 h 443"/>
                  <a:gd name="T6" fmla="*/ 0 60000 65536"/>
                  <a:gd name="T7" fmla="*/ 0 60000 65536"/>
                  <a:gd name="T8" fmla="*/ 0 60000 65536"/>
                </a:gdLst>
                <a:ahLst/>
                <a:cxnLst>
                  <a:cxn ang="T6">
                    <a:pos x="T0" y="T1"/>
                  </a:cxn>
                  <a:cxn ang="T7">
                    <a:pos x="T2" y="T3"/>
                  </a:cxn>
                  <a:cxn ang="T8">
                    <a:pos x="T4" y="T5"/>
                  </a:cxn>
                </a:cxnLst>
                <a:rect l="0" t="0" r="r" b="b"/>
                <a:pathLst>
                  <a:path w="934" h="443">
                    <a:moveTo>
                      <a:pt x="0" y="443"/>
                    </a:moveTo>
                    <a:lnTo>
                      <a:pt x="555" y="0"/>
                    </a:lnTo>
                    <a:lnTo>
                      <a:pt x="934" y="0"/>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cxnSp>
            <p:nvCxnSpPr>
              <p:cNvPr id="26" name="AutoShape 26">
                <a:extLst>
                  <a:ext uri="{FF2B5EF4-FFF2-40B4-BE49-F238E27FC236}">
                    <a16:creationId xmlns:a16="http://schemas.microsoft.com/office/drawing/2014/main" id="{5C290E5E-681F-01C4-D910-1288C32F6B05}"/>
                  </a:ext>
                </a:extLst>
              </p:cNvPr>
              <p:cNvCxnSpPr>
                <a:cxnSpLocks noChangeShapeType="1"/>
                <a:stCxn id="16" idx="3"/>
                <a:endCxn id="5" idx="1"/>
              </p:cNvCxnSpPr>
              <p:nvPr/>
            </p:nvCxnSpPr>
            <p:spPr bwMode="auto">
              <a:xfrm flipH="1">
                <a:off x="710" y="2820"/>
                <a:ext cx="2175" cy="1"/>
              </a:xfrm>
              <a:prstGeom prst="bentConnector5">
                <a:avLst>
                  <a:gd name="adj1" fmla="val -6620"/>
                  <a:gd name="adj2" fmla="val 38800000"/>
                  <a:gd name="adj3" fmla="val 106620"/>
                </a:avLst>
              </a:prstGeom>
              <a:noFill/>
              <a:ln w="12700">
                <a:solidFill>
                  <a:schemeClr val="tx1"/>
                </a:solidFill>
                <a:prstDash val="sysDot"/>
                <a:miter lim="800000"/>
                <a:headEnd type="triangle" w="med" len="med"/>
                <a:tailEnd type="triangle" w="med" len="med"/>
              </a:ln>
              <a:extLst>
                <a:ext uri="{909E8E84-426E-40DD-AFC4-6F175D3DCCD1}">
                  <a14:hiddenFill xmlns:a14="http://schemas.microsoft.com/office/drawing/2010/main">
                    <a:noFill/>
                  </a14:hiddenFill>
                </a:ext>
              </a:extLst>
            </p:spPr>
          </p:cxnSp>
          <p:sp>
            <p:nvSpPr>
              <p:cNvPr id="27" name="Text Box 25">
                <a:extLst>
                  <a:ext uri="{FF2B5EF4-FFF2-40B4-BE49-F238E27FC236}">
                    <a16:creationId xmlns:a16="http://schemas.microsoft.com/office/drawing/2014/main" id="{379FBD78-F6F7-918E-3083-A63FD5EDE1D6}"/>
                  </a:ext>
                </a:extLst>
              </p:cNvPr>
              <p:cNvSpPr txBox="1">
                <a:spLocks noChangeArrowheads="1"/>
              </p:cNvSpPr>
              <p:nvPr/>
            </p:nvSpPr>
            <p:spPr bwMode="auto">
              <a:xfrm>
                <a:off x="2084" y="3158"/>
                <a:ext cx="565" cy="97"/>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a:latin typeface="+mn-lt"/>
                  </a:rPr>
                  <a:t>Actual Production Output</a:t>
                </a:r>
              </a:p>
            </p:txBody>
          </p:sp>
        </p:grpSp>
        <p:sp>
          <p:nvSpPr>
            <p:cNvPr id="28" name="Rectangle 30">
              <a:extLst>
                <a:ext uri="{FF2B5EF4-FFF2-40B4-BE49-F238E27FC236}">
                  <a16:creationId xmlns:a16="http://schemas.microsoft.com/office/drawing/2014/main" id="{26555612-8E20-FE81-A407-572C0CD4B608}"/>
                </a:ext>
              </a:extLst>
            </p:cNvPr>
            <p:cNvSpPr>
              <a:spLocks noChangeArrowheads="1"/>
            </p:cNvSpPr>
            <p:nvPr/>
          </p:nvSpPr>
          <p:spPr bwMode="auto">
            <a:xfrm>
              <a:off x="765175" y="4502643"/>
              <a:ext cx="4148138" cy="1114425"/>
            </a:xfrm>
            <a:prstGeom prst="rect">
              <a:avLst/>
            </a:prstGeom>
            <a:solidFill>
              <a:srgbClr val="EAEAEA"/>
            </a:solidFill>
            <a:ln w="1270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 name="Rectangle 31">
              <a:extLst>
                <a:ext uri="{FF2B5EF4-FFF2-40B4-BE49-F238E27FC236}">
                  <a16:creationId xmlns:a16="http://schemas.microsoft.com/office/drawing/2014/main" id="{5D1D5CC0-AB65-03D6-98CF-7053D4AC5E22}"/>
                </a:ext>
              </a:extLst>
            </p:cNvPr>
            <p:cNvSpPr>
              <a:spLocks noChangeArrowheads="1"/>
            </p:cNvSpPr>
            <p:nvPr/>
          </p:nvSpPr>
          <p:spPr bwMode="auto">
            <a:xfrm>
              <a:off x="758825" y="2256330"/>
              <a:ext cx="1449388"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Data Assembly</a:t>
              </a:r>
            </a:p>
            <a:p>
              <a:pPr algn="ctr">
                <a:lnSpc>
                  <a:spcPct val="80000"/>
                </a:lnSpc>
                <a:buClrTx/>
                <a:buSzTx/>
                <a:buFontTx/>
                <a:buNone/>
              </a:pPr>
              <a:r>
                <a:rPr lang="en-US" altLang="en-US" sz="1100" dirty="0">
                  <a:solidFill>
                    <a:schemeClr val="bg1"/>
                  </a:solidFill>
                  <a:latin typeface="+mn-lt"/>
                </a:rPr>
                <a:t>Day 3</a:t>
              </a:r>
            </a:p>
          </p:txBody>
        </p:sp>
        <p:sp>
          <p:nvSpPr>
            <p:cNvPr id="30" name="Rectangle 32">
              <a:extLst>
                <a:ext uri="{FF2B5EF4-FFF2-40B4-BE49-F238E27FC236}">
                  <a16:creationId xmlns:a16="http://schemas.microsoft.com/office/drawing/2014/main" id="{2CA15164-6B73-AFB0-1B71-11445BCDA4D6}"/>
                </a:ext>
              </a:extLst>
            </p:cNvPr>
            <p:cNvSpPr>
              <a:spLocks noChangeArrowheads="1"/>
            </p:cNvSpPr>
            <p:nvPr/>
          </p:nvSpPr>
          <p:spPr bwMode="auto">
            <a:xfrm>
              <a:off x="2405063" y="2256330"/>
              <a:ext cx="1449387" cy="423863"/>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Demand Planning</a:t>
              </a:r>
            </a:p>
            <a:p>
              <a:pPr algn="ctr">
                <a:lnSpc>
                  <a:spcPct val="80000"/>
                </a:lnSpc>
                <a:buClrTx/>
                <a:buSzTx/>
                <a:buFontTx/>
                <a:buNone/>
              </a:pPr>
              <a:r>
                <a:rPr lang="en-US" altLang="en-US" sz="1100" dirty="0">
                  <a:solidFill>
                    <a:schemeClr val="bg1"/>
                  </a:solidFill>
                  <a:latin typeface="+mn-lt"/>
                </a:rPr>
                <a:t>Day 10</a:t>
              </a:r>
            </a:p>
          </p:txBody>
        </p:sp>
        <p:sp>
          <p:nvSpPr>
            <p:cNvPr id="31" name="Rectangle 33">
              <a:extLst>
                <a:ext uri="{FF2B5EF4-FFF2-40B4-BE49-F238E27FC236}">
                  <a16:creationId xmlns:a16="http://schemas.microsoft.com/office/drawing/2014/main" id="{1E72C856-9BFB-A8A0-0172-5950DFFB779D}"/>
                </a:ext>
              </a:extLst>
            </p:cNvPr>
            <p:cNvSpPr>
              <a:spLocks noChangeArrowheads="1"/>
            </p:cNvSpPr>
            <p:nvPr/>
          </p:nvSpPr>
          <p:spPr bwMode="auto">
            <a:xfrm>
              <a:off x="4044950" y="2256330"/>
              <a:ext cx="1449388"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Supply Planning</a:t>
              </a:r>
            </a:p>
            <a:p>
              <a:pPr algn="ctr">
                <a:lnSpc>
                  <a:spcPct val="80000"/>
                </a:lnSpc>
                <a:buClrTx/>
                <a:buSzTx/>
                <a:buFontTx/>
                <a:buNone/>
              </a:pPr>
              <a:r>
                <a:rPr lang="en-US" altLang="en-US" sz="1100" dirty="0">
                  <a:solidFill>
                    <a:schemeClr val="bg1"/>
                  </a:solidFill>
                  <a:latin typeface="+mn-lt"/>
                </a:rPr>
                <a:t>Day 15</a:t>
              </a:r>
            </a:p>
          </p:txBody>
        </p:sp>
        <p:sp>
          <p:nvSpPr>
            <p:cNvPr id="32" name="Rectangle 34">
              <a:extLst>
                <a:ext uri="{FF2B5EF4-FFF2-40B4-BE49-F238E27FC236}">
                  <a16:creationId xmlns:a16="http://schemas.microsoft.com/office/drawing/2014/main" id="{52CC7B95-0099-C79A-548E-E4CCD557F63A}"/>
                </a:ext>
              </a:extLst>
            </p:cNvPr>
            <p:cNvSpPr>
              <a:spLocks noChangeArrowheads="1"/>
            </p:cNvSpPr>
            <p:nvPr/>
          </p:nvSpPr>
          <p:spPr bwMode="auto">
            <a:xfrm>
              <a:off x="5691188" y="2256330"/>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Pre-S&amp;OP Meeting</a:t>
              </a:r>
            </a:p>
            <a:p>
              <a:pPr algn="ctr">
                <a:lnSpc>
                  <a:spcPct val="80000"/>
                </a:lnSpc>
                <a:buClrTx/>
                <a:buSzTx/>
                <a:buFontTx/>
                <a:buNone/>
              </a:pPr>
              <a:r>
                <a:rPr lang="en-US" altLang="en-US" sz="1100">
                  <a:solidFill>
                    <a:schemeClr val="bg1"/>
                  </a:solidFill>
                  <a:latin typeface="+mn-lt"/>
                </a:rPr>
                <a:t>Day 20</a:t>
              </a:r>
            </a:p>
          </p:txBody>
        </p:sp>
        <p:sp>
          <p:nvSpPr>
            <p:cNvPr id="33" name="Rectangle 35">
              <a:extLst>
                <a:ext uri="{FF2B5EF4-FFF2-40B4-BE49-F238E27FC236}">
                  <a16:creationId xmlns:a16="http://schemas.microsoft.com/office/drawing/2014/main" id="{A2D94A94-6720-855F-5C4B-4DEB501B1317}"/>
                </a:ext>
              </a:extLst>
            </p:cNvPr>
            <p:cNvSpPr>
              <a:spLocks noChangeArrowheads="1"/>
            </p:cNvSpPr>
            <p:nvPr/>
          </p:nvSpPr>
          <p:spPr bwMode="auto">
            <a:xfrm>
              <a:off x="7345363" y="2256330"/>
              <a:ext cx="1449387" cy="423863"/>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Exec S&amp;OP Meeting</a:t>
              </a:r>
            </a:p>
            <a:p>
              <a:pPr algn="ctr">
                <a:lnSpc>
                  <a:spcPct val="80000"/>
                </a:lnSpc>
                <a:buClrTx/>
                <a:buSzTx/>
                <a:buFontTx/>
                <a:buNone/>
              </a:pPr>
              <a:r>
                <a:rPr lang="en-US" altLang="en-US" sz="1100">
                  <a:solidFill>
                    <a:schemeClr val="bg1"/>
                  </a:solidFill>
                  <a:latin typeface="+mn-lt"/>
                </a:rPr>
                <a:t>Day 22</a:t>
              </a:r>
            </a:p>
          </p:txBody>
        </p:sp>
        <p:sp>
          <p:nvSpPr>
            <p:cNvPr id="34" name="Oval 36">
              <a:extLst>
                <a:ext uri="{FF2B5EF4-FFF2-40B4-BE49-F238E27FC236}">
                  <a16:creationId xmlns:a16="http://schemas.microsoft.com/office/drawing/2014/main" id="{15610384-B956-4EA1-5B19-2548C469030E}"/>
                </a:ext>
              </a:extLst>
            </p:cNvPr>
            <p:cNvSpPr>
              <a:spLocks noChangeArrowheads="1"/>
            </p:cNvSpPr>
            <p:nvPr/>
          </p:nvSpPr>
          <p:spPr bwMode="auto">
            <a:xfrm>
              <a:off x="635000" y="1594343"/>
              <a:ext cx="1706563" cy="28098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dirty="0">
                  <a:solidFill>
                    <a:schemeClr val="bg1"/>
                  </a:solidFill>
                  <a:latin typeface="+mn-lt"/>
                </a:rPr>
                <a:t>Last-Month Results </a:t>
              </a:r>
            </a:p>
          </p:txBody>
        </p:sp>
        <p:cxnSp>
          <p:nvCxnSpPr>
            <p:cNvPr id="35" name="AutoShape 37">
              <a:extLst>
                <a:ext uri="{FF2B5EF4-FFF2-40B4-BE49-F238E27FC236}">
                  <a16:creationId xmlns:a16="http://schemas.microsoft.com/office/drawing/2014/main" id="{6576572F-E437-C35F-D794-B1F48D22B90F}"/>
                </a:ext>
              </a:extLst>
            </p:cNvPr>
            <p:cNvCxnSpPr>
              <a:cxnSpLocks noChangeShapeType="1"/>
              <a:stCxn id="34" idx="2"/>
              <a:endCxn id="29" idx="1"/>
            </p:cNvCxnSpPr>
            <p:nvPr/>
          </p:nvCxnSpPr>
          <p:spPr bwMode="auto">
            <a:xfrm rot="10800000" flipH="1" flipV="1">
              <a:off x="635000" y="1735630"/>
              <a:ext cx="123825" cy="733425"/>
            </a:xfrm>
            <a:prstGeom prst="bentConnector3">
              <a:avLst>
                <a:gd name="adj1" fmla="val -184616"/>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6" name="Line 38">
              <a:extLst>
                <a:ext uri="{FF2B5EF4-FFF2-40B4-BE49-F238E27FC236}">
                  <a16:creationId xmlns:a16="http://schemas.microsoft.com/office/drawing/2014/main" id="{772865AF-28C0-57A1-EC60-92738F1DC5D1}"/>
                </a:ext>
              </a:extLst>
            </p:cNvPr>
            <p:cNvSpPr>
              <a:spLocks noChangeShapeType="1"/>
            </p:cNvSpPr>
            <p:nvPr/>
          </p:nvSpPr>
          <p:spPr bwMode="auto">
            <a:xfrm flipV="1">
              <a:off x="1327150" y="2065830"/>
              <a:ext cx="6813550"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 name="Text Box 39">
              <a:extLst>
                <a:ext uri="{FF2B5EF4-FFF2-40B4-BE49-F238E27FC236}">
                  <a16:creationId xmlns:a16="http://schemas.microsoft.com/office/drawing/2014/main" id="{3147B629-6535-E464-809E-5D9EF8F41BA3}"/>
                </a:ext>
              </a:extLst>
            </p:cNvPr>
            <p:cNvSpPr txBox="1">
              <a:spLocks noChangeArrowheads="1"/>
            </p:cNvSpPr>
            <p:nvPr/>
          </p:nvSpPr>
          <p:spPr bwMode="auto">
            <a:xfrm>
              <a:off x="712295" y="1959468"/>
              <a:ext cx="561372"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0</a:t>
              </a:r>
            </a:p>
          </p:txBody>
        </p:sp>
        <p:sp>
          <p:nvSpPr>
            <p:cNvPr id="38" name="Text Box 40">
              <a:extLst>
                <a:ext uri="{FF2B5EF4-FFF2-40B4-BE49-F238E27FC236}">
                  <a16:creationId xmlns:a16="http://schemas.microsoft.com/office/drawing/2014/main" id="{05D1FCE2-680B-D9B7-9453-56F0270A5EBD}"/>
                </a:ext>
              </a:extLst>
            </p:cNvPr>
            <p:cNvSpPr txBox="1">
              <a:spLocks noChangeArrowheads="1"/>
            </p:cNvSpPr>
            <p:nvPr/>
          </p:nvSpPr>
          <p:spPr bwMode="auto">
            <a:xfrm>
              <a:off x="8193772" y="1959468"/>
              <a:ext cx="646331"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30</a:t>
              </a:r>
            </a:p>
          </p:txBody>
        </p:sp>
        <p:sp>
          <p:nvSpPr>
            <p:cNvPr id="39" name="Line 41">
              <a:extLst>
                <a:ext uri="{FF2B5EF4-FFF2-40B4-BE49-F238E27FC236}">
                  <a16:creationId xmlns:a16="http://schemas.microsoft.com/office/drawing/2014/main" id="{FE3F3186-F68F-36FD-5CFD-59A1403243EC}"/>
                </a:ext>
              </a:extLst>
            </p:cNvPr>
            <p:cNvSpPr>
              <a:spLocks noChangeShapeType="1"/>
            </p:cNvSpPr>
            <p:nvPr/>
          </p:nvSpPr>
          <p:spPr bwMode="auto">
            <a:xfrm>
              <a:off x="765175" y="2842118"/>
              <a:ext cx="8032750"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Rectangle 42">
              <a:extLst>
                <a:ext uri="{FF2B5EF4-FFF2-40B4-BE49-F238E27FC236}">
                  <a16:creationId xmlns:a16="http://schemas.microsoft.com/office/drawing/2014/main" id="{A23F8905-B462-414E-A274-993CE6C781FE}"/>
                </a:ext>
              </a:extLst>
            </p:cNvPr>
            <p:cNvSpPr>
              <a:spLocks noChangeArrowheads="1"/>
            </p:cNvSpPr>
            <p:nvPr/>
          </p:nvSpPr>
          <p:spPr bwMode="auto">
            <a:xfrm>
              <a:off x="754063" y="4528043"/>
              <a:ext cx="4176712" cy="956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100" dirty="0">
                  <a:latin typeface="+mn-lt"/>
                </a:rPr>
                <a:t>Forecast error analysis must become an institutional discipline for effective S&amp;OP management</a:t>
              </a:r>
            </a:p>
            <a:p>
              <a:pPr>
                <a:spcBef>
                  <a:spcPct val="40000"/>
                </a:spcBef>
                <a:buClrTx/>
                <a:buSzPct val="90000"/>
                <a:buFont typeface="Arial" panose="020B0604020202020204" pitchFamily="34" charset="0"/>
                <a:buChar char="•"/>
              </a:pPr>
              <a:r>
                <a:rPr lang="en-US" altLang="en-US" sz="1100" dirty="0">
                  <a:latin typeface="+mn-lt"/>
                </a:rPr>
                <a:t>Depending on the outcome, error rate analysis may have a significant impact on the next-month S&amp;OP cycle</a:t>
              </a:r>
            </a:p>
            <a:p>
              <a:pPr>
                <a:spcBef>
                  <a:spcPct val="40000"/>
                </a:spcBef>
                <a:buClrTx/>
                <a:buSzPct val="90000"/>
                <a:buFont typeface="Arial" panose="020B0604020202020204" pitchFamily="34" charset="0"/>
                <a:buChar char="•"/>
              </a:pPr>
              <a:r>
                <a:rPr lang="en-US" altLang="en-US" sz="1100" dirty="0">
                  <a:latin typeface="+mn-lt"/>
                </a:rPr>
                <a:t>Error rate analysis key to </a:t>
              </a:r>
              <a:r>
                <a:rPr lang="ja-JP" altLang="en-US" sz="1100" dirty="0">
                  <a:latin typeface="+mn-lt"/>
                </a:rPr>
                <a:t>“</a:t>
              </a:r>
              <a:r>
                <a:rPr lang="en-US" altLang="ja-JP" sz="1100" dirty="0">
                  <a:latin typeface="+mn-lt"/>
                </a:rPr>
                <a:t>operationalize</a:t>
              </a:r>
              <a:r>
                <a:rPr lang="ja-JP" altLang="en-US" sz="1100" dirty="0">
                  <a:latin typeface="+mn-lt"/>
                </a:rPr>
                <a:t>”</a:t>
              </a:r>
              <a:r>
                <a:rPr lang="en-US" altLang="ja-JP" sz="1100" dirty="0">
                  <a:latin typeface="+mn-lt"/>
                </a:rPr>
                <a:t> statistics</a:t>
              </a:r>
              <a:endParaRPr lang="en-US" altLang="en-US" sz="1100" b="0" dirty="0">
                <a:latin typeface="+mn-lt"/>
              </a:endParaRPr>
            </a:p>
          </p:txBody>
        </p:sp>
        <p:sp>
          <p:nvSpPr>
            <p:cNvPr id="41" name="Rectangle 44">
              <a:extLst>
                <a:ext uri="{FF2B5EF4-FFF2-40B4-BE49-F238E27FC236}">
                  <a16:creationId xmlns:a16="http://schemas.microsoft.com/office/drawing/2014/main" id="{096E0373-EBC2-5C80-1BB1-FD4EA4F6B237}"/>
                </a:ext>
              </a:extLst>
            </p:cNvPr>
            <p:cNvSpPr>
              <a:spLocks noChangeArrowheads="1"/>
            </p:cNvSpPr>
            <p:nvPr/>
          </p:nvSpPr>
          <p:spPr bwMode="auto">
            <a:xfrm>
              <a:off x="5103813" y="3000868"/>
              <a:ext cx="3690937" cy="331787"/>
            </a:xfrm>
            <a:prstGeom prst="rect">
              <a:avLst/>
            </a:prstGeom>
            <a:solidFill>
              <a:srgbClr val="0000F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Critical Factors</a:t>
              </a:r>
            </a:p>
          </p:txBody>
        </p:sp>
        <p:sp>
          <p:nvSpPr>
            <p:cNvPr id="42" name="Rectangle 46">
              <a:extLst>
                <a:ext uri="{FF2B5EF4-FFF2-40B4-BE49-F238E27FC236}">
                  <a16:creationId xmlns:a16="http://schemas.microsoft.com/office/drawing/2014/main" id="{59981B45-F9C1-E48A-D39B-178D32338475}"/>
                </a:ext>
              </a:extLst>
            </p:cNvPr>
            <p:cNvSpPr>
              <a:spLocks noChangeArrowheads="1"/>
            </p:cNvSpPr>
            <p:nvPr/>
          </p:nvSpPr>
          <p:spPr bwMode="auto">
            <a:xfrm>
              <a:off x="5018088" y="3332655"/>
              <a:ext cx="3763962" cy="2141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5000"/>
                </a:spcBef>
                <a:buClrTx/>
                <a:buSzPct val="90000"/>
                <a:buFont typeface="Arial" panose="020B0604020202020204" pitchFamily="34" charset="0"/>
                <a:buChar char="•"/>
              </a:pPr>
              <a:r>
                <a:rPr lang="en-US" altLang="en-US" sz="1200" dirty="0">
                  <a:latin typeface="+mn-lt"/>
                </a:rPr>
                <a:t>Job is to transform a </a:t>
              </a:r>
              <a:r>
                <a:rPr lang="ja-JP" altLang="en-US" sz="1200" dirty="0">
                  <a:latin typeface="+mn-lt"/>
                </a:rPr>
                <a:t>“</a:t>
              </a:r>
              <a:r>
                <a:rPr lang="en-US" altLang="ja-JP" sz="1200" dirty="0">
                  <a:latin typeface="+mn-lt"/>
                </a:rPr>
                <a:t>statistical</a:t>
              </a:r>
              <a:r>
                <a:rPr lang="ja-JP" altLang="en-US" sz="1200" dirty="0">
                  <a:latin typeface="+mn-lt"/>
                </a:rPr>
                <a:t>”</a:t>
              </a:r>
              <a:r>
                <a:rPr lang="en-US" altLang="ja-JP" sz="1200" dirty="0">
                  <a:latin typeface="+mn-lt"/>
                </a:rPr>
                <a:t> forecast into a </a:t>
              </a:r>
              <a:r>
                <a:rPr lang="ja-JP" altLang="en-US" sz="1200" dirty="0">
                  <a:latin typeface="+mn-lt"/>
                </a:rPr>
                <a:t>“</a:t>
              </a:r>
              <a:r>
                <a:rPr lang="en-US" altLang="ja-JP" sz="1200" dirty="0">
                  <a:latin typeface="+mn-lt"/>
                </a:rPr>
                <a:t>management</a:t>
              </a:r>
              <a:r>
                <a:rPr lang="ja-JP" altLang="en-US" sz="1200" dirty="0">
                  <a:latin typeface="+mn-lt"/>
                </a:rPr>
                <a:t>”</a:t>
              </a:r>
              <a:r>
                <a:rPr lang="en-US" altLang="ja-JP" sz="1200" dirty="0">
                  <a:latin typeface="+mn-lt"/>
                </a:rPr>
                <a:t> forecast through key input analysis and error rate evaluation</a:t>
              </a:r>
            </a:p>
            <a:p>
              <a:pPr>
                <a:spcBef>
                  <a:spcPct val="35000"/>
                </a:spcBef>
                <a:buClrTx/>
                <a:buSzPct val="90000"/>
                <a:buFont typeface="Arial" panose="020B0604020202020204" pitchFamily="34" charset="0"/>
                <a:buChar char="•"/>
              </a:pPr>
              <a:r>
                <a:rPr lang="en-US" altLang="en-US" sz="1200" dirty="0">
                  <a:latin typeface="+mn-lt"/>
                </a:rPr>
                <a:t>All assumptions should be clearly documented for inclusion in the business case</a:t>
              </a:r>
            </a:p>
            <a:p>
              <a:pPr>
                <a:spcBef>
                  <a:spcPct val="35000"/>
                </a:spcBef>
                <a:buClrTx/>
                <a:buSzPct val="90000"/>
                <a:buFont typeface="Arial" panose="020B0604020202020204" pitchFamily="34" charset="0"/>
                <a:buChar char="•"/>
              </a:pPr>
              <a:r>
                <a:rPr lang="en-US" altLang="en-US" sz="1200" dirty="0">
                  <a:latin typeface="+mn-lt"/>
                </a:rPr>
                <a:t>New product development must be included; what new or re-designed products are being released?</a:t>
              </a:r>
            </a:p>
            <a:p>
              <a:pPr>
                <a:spcBef>
                  <a:spcPct val="35000"/>
                </a:spcBef>
                <a:buClrTx/>
                <a:buSzPct val="90000"/>
                <a:buFont typeface="Arial" panose="020B0604020202020204" pitchFamily="34" charset="0"/>
                <a:buChar char="•"/>
              </a:pPr>
              <a:r>
                <a:rPr lang="en-US" altLang="en-US" sz="1200" dirty="0">
                  <a:latin typeface="+mn-lt"/>
                </a:rPr>
                <a:t>Once units are forecasted, sales and marketing must then translate them into dollar levels</a:t>
              </a:r>
            </a:p>
            <a:p>
              <a:pPr>
                <a:spcBef>
                  <a:spcPct val="35000"/>
                </a:spcBef>
                <a:buClrTx/>
                <a:buSzPct val="90000"/>
                <a:buFont typeface="Arial" panose="020B0604020202020204" pitchFamily="34" charset="0"/>
                <a:buChar char="•"/>
              </a:pPr>
              <a:r>
                <a:rPr lang="en-US" altLang="en-US" sz="1200" dirty="0">
                  <a:latin typeface="+mn-lt"/>
                </a:rPr>
                <a:t>Senior sales management must be in the loop here; they effectively </a:t>
              </a:r>
              <a:r>
                <a:rPr lang="ja-JP" altLang="en-US" sz="1200" dirty="0">
                  <a:latin typeface="+mn-lt"/>
                </a:rPr>
                <a:t>“</a:t>
              </a:r>
              <a:r>
                <a:rPr lang="en-US" altLang="ja-JP" sz="1200" dirty="0">
                  <a:latin typeface="+mn-lt"/>
                </a:rPr>
                <a:t>sign off</a:t>
              </a:r>
              <a:r>
                <a:rPr lang="ja-JP" altLang="en-US" sz="1200" dirty="0">
                  <a:latin typeface="+mn-lt"/>
                </a:rPr>
                <a:t>”</a:t>
              </a:r>
              <a:r>
                <a:rPr lang="en-US" altLang="ja-JP" sz="1200" dirty="0">
                  <a:latin typeface="+mn-lt"/>
                </a:rPr>
                <a:t> on the management forecast</a:t>
              </a:r>
              <a:endParaRPr lang="en-US" altLang="en-US" sz="1200" b="0" dirty="0">
                <a:latin typeface="+mn-lt"/>
              </a:endParaRPr>
            </a:p>
          </p:txBody>
        </p:sp>
      </p:grpSp>
    </p:spTree>
    <p:extLst>
      <p:ext uri="{BB962C8B-B14F-4D97-AF65-F5344CB8AC3E}">
        <p14:creationId xmlns:p14="http://schemas.microsoft.com/office/powerpoint/2010/main" val="2553996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Sales &amp; Operations Planning</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4" name="Group 3">
            <a:extLst>
              <a:ext uri="{FF2B5EF4-FFF2-40B4-BE49-F238E27FC236}">
                <a16:creationId xmlns:a16="http://schemas.microsoft.com/office/drawing/2014/main" id="{A5A7BE22-3046-98FE-3590-0CF93F031334}"/>
              </a:ext>
            </a:extLst>
          </p:cNvPr>
          <p:cNvGrpSpPr/>
          <p:nvPr/>
        </p:nvGrpSpPr>
        <p:grpSpPr>
          <a:xfrm>
            <a:off x="346078" y="2088152"/>
            <a:ext cx="11499845" cy="3825318"/>
            <a:chOff x="626577" y="2088152"/>
            <a:chExt cx="11499845" cy="3825318"/>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626577" y="2088152"/>
              <a:ext cx="11499844"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Introduction To The Sales &amp; Operations Planning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626577" y="2762636"/>
              <a:ext cx="1149984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S&amp;OP Logic Flow &amp; Application In Different Operating Environments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626577" y="4111604"/>
              <a:ext cx="1149984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Demand Planning:  Fundamentals of Consensus Demand Development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626577" y="4786088"/>
              <a:ext cx="11499844"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Supply Planning:  Overview of Resource Management &amp; Allocation</a:t>
              </a:r>
            </a:p>
          </p:txBody>
        </p:sp>
        <p:sp>
          <p:nvSpPr>
            <p:cNvPr id="2" name="Rectangle 1">
              <a:extLst>
                <a:ext uri="{FF2B5EF4-FFF2-40B4-BE49-F238E27FC236}">
                  <a16:creationId xmlns:a16="http://schemas.microsoft.com/office/drawing/2014/main" id="{CA4F2232-D00F-E416-701C-36763AFA0245}"/>
                </a:ext>
              </a:extLst>
            </p:cNvPr>
            <p:cNvSpPr>
              <a:spLocks/>
            </p:cNvSpPr>
            <p:nvPr/>
          </p:nvSpPr>
          <p:spPr>
            <a:xfrm>
              <a:off x="626577" y="3437120"/>
              <a:ext cx="1149984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S&amp;OP Monthly Development Process &amp; Execution Review</a:t>
              </a:r>
            </a:p>
          </p:txBody>
        </p:sp>
        <p:sp>
          <p:nvSpPr>
            <p:cNvPr id="3" name="Rectangle 2">
              <a:extLst>
                <a:ext uri="{FF2B5EF4-FFF2-40B4-BE49-F238E27FC236}">
                  <a16:creationId xmlns:a16="http://schemas.microsoft.com/office/drawing/2014/main" id="{129D5696-C589-3CA1-AB67-66652559804B}"/>
                </a:ext>
              </a:extLst>
            </p:cNvPr>
            <p:cNvSpPr>
              <a:spLocks/>
            </p:cNvSpPr>
            <p:nvPr/>
          </p:nvSpPr>
          <p:spPr>
            <a:xfrm>
              <a:off x="626577" y="5460572"/>
              <a:ext cx="11499844"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S&amp;OP Spreadsheet Development, Responsibilities &amp; Best Practices</a:t>
              </a:r>
            </a:p>
          </p:txBody>
        </p:sp>
      </p:grpSp>
    </p:spTree>
    <p:extLst>
      <p:ext uri="{BB962C8B-B14F-4D97-AF65-F5344CB8AC3E}">
        <p14:creationId xmlns:p14="http://schemas.microsoft.com/office/powerpoint/2010/main" val="2293603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Introduction:  </a:t>
            </a:r>
            <a:br>
              <a:rPr lang="en-US" dirty="0"/>
            </a:br>
            <a:r>
              <a:rPr lang="en-US" dirty="0"/>
              <a:t>Matching Resources To Demand</a:t>
            </a:r>
          </a:p>
        </p:txBody>
      </p:sp>
      <p:grpSp>
        <p:nvGrpSpPr>
          <p:cNvPr id="63" name="Group 62">
            <a:extLst>
              <a:ext uri="{FF2B5EF4-FFF2-40B4-BE49-F238E27FC236}">
                <a16:creationId xmlns:a16="http://schemas.microsoft.com/office/drawing/2014/main" id="{8DBA6953-D01D-E989-5C05-3D1980586D39}"/>
              </a:ext>
            </a:extLst>
          </p:cNvPr>
          <p:cNvGrpSpPr/>
          <p:nvPr/>
        </p:nvGrpSpPr>
        <p:grpSpPr>
          <a:xfrm>
            <a:off x="590545" y="1870075"/>
            <a:ext cx="10892617" cy="4477562"/>
            <a:chOff x="590548" y="1870075"/>
            <a:chExt cx="8108952" cy="4584700"/>
          </a:xfrm>
        </p:grpSpPr>
        <p:sp>
          <p:nvSpPr>
            <p:cNvPr id="33" name="Rectangle 35">
              <a:extLst>
                <a:ext uri="{FF2B5EF4-FFF2-40B4-BE49-F238E27FC236}">
                  <a16:creationId xmlns:a16="http://schemas.microsoft.com/office/drawing/2014/main" id="{B5E3B797-43EA-A45D-8889-2ACC82C518D8}"/>
                </a:ext>
              </a:extLst>
            </p:cNvPr>
            <p:cNvSpPr>
              <a:spLocks noChangeArrowheads="1"/>
            </p:cNvSpPr>
            <p:nvPr/>
          </p:nvSpPr>
          <p:spPr bwMode="auto">
            <a:xfrm>
              <a:off x="4981575" y="2644775"/>
              <a:ext cx="2808288" cy="225107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4" name="Rectangle 34">
              <a:extLst>
                <a:ext uri="{FF2B5EF4-FFF2-40B4-BE49-F238E27FC236}">
                  <a16:creationId xmlns:a16="http://schemas.microsoft.com/office/drawing/2014/main" id="{8753A562-4EE9-8ACC-D85D-B1998F1BDFA4}"/>
                </a:ext>
              </a:extLst>
            </p:cNvPr>
            <p:cNvSpPr>
              <a:spLocks noChangeArrowheads="1"/>
            </p:cNvSpPr>
            <p:nvPr/>
          </p:nvSpPr>
          <p:spPr bwMode="auto">
            <a:xfrm>
              <a:off x="3557588" y="3830638"/>
              <a:ext cx="4241800" cy="20796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5" name="Line 4">
              <a:extLst>
                <a:ext uri="{FF2B5EF4-FFF2-40B4-BE49-F238E27FC236}">
                  <a16:creationId xmlns:a16="http://schemas.microsoft.com/office/drawing/2014/main" id="{3A7232A2-6242-0B8C-B01D-DCEDB7BFBF2D}"/>
                </a:ext>
              </a:extLst>
            </p:cNvPr>
            <p:cNvSpPr>
              <a:spLocks noChangeShapeType="1"/>
            </p:cNvSpPr>
            <p:nvPr/>
          </p:nvSpPr>
          <p:spPr bwMode="auto">
            <a:xfrm>
              <a:off x="593725" y="3214688"/>
              <a:ext cx="8085138" cy="0"/>
            </a:xfrm>
            <a:prstGeom prst="line">
              <a:avLst/>
            </a:prstGeom>
            <a:noFill/>
            <a:ln w="19050">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6" name="Line 5">
              <a:extLst>
                <a:ext uri="{FF2B5EF4-FFF2-40B4-BE49-F238E27FC236}">
                  <a16:creationId xmlns:a16="http://schemas.microsoft.com/office/drawing/2014/main" id="{FEDCCA23-D678-7840-ECB9-59EA9EA37581}"/>
                </a:ext>
              </a:extLst>
            </p:cNvPr>
            <p:cNvSpPr>
              <a:spLocks noChangeShapeType="1"/>
            </p:cNvSpPr>
            <p:nvPr/>
          </p:nvSpPr>
          <p:spPr bwMode="auto">
            <a:xfrm>
              <a:off x="593725" y="4000500"/>
              <a:ext cx="8085138" cy="0"/>
            </a:xfrm>
            <a:prstGeom prst="line">
              <a:avLst/>
            </a:prstGeom>
            <a:noFill/>
            <a:ln w="28575">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 name="Line 6">
              <a:extLst>
                <a:ext uri="{FF2B5EF4-FFF2-40B4-BE49-F238E27FC236}">
                  <a16:creationId xmlns:a16="http://schemas.microsoft.com/office/drawing/2014/main" id="{5B940FB2-AD1E-B40F-FA59-2EC316E90414}"/>
                </a:ext>
              </a:extLst>
            </p:cNvPr>
            <p:cNvSpPr>
              <a:spLocks noChangeShapeType="1"/>
            </p:cNvSpPr>
            <p:nvPr/>
          </p:nvSpPr>
          <p:spPr bwMode="auto">
            <a:xfrm>
              <a:off x="593725" y="4892675"/>
              <a:ext cx="8085138" cy="0"/>
            </a:xfrm>
            <a:prstGeom prst="line">
              <a:avLst/>
            </a:prstGeom>
            <a:noFill/>
            <a:ln w="19050">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 name="Line 7">
              <a:extLst>
                <a:ext uri="{FF2B5EF4-FFF2-40B4-BE49-F238E27FC236}">
                  <a16:creationId xmlns:a16="http://schemas.microsoft.com/office/drawing/2014/main" id="{A3A6C788-5551-488E-FF47-3F32D1030566}"/>
                </a:ext>
              </a:extLst>
            </p:cNvPr>
            <p:cNvSpPr>
              <a:spLocks noChangeShapeType="1"/>
            </p:cNvSpPr>
            <p:nvPr/>
          </p:nvSpPr>
          <p:spPr bwMode="auto">
            <a:xfrm>
              <a:off x="593725" y="5761038"/>
              <a:ext cx="8085138" cy="0"/>
            </a:xfrm>
            <a:prstGeom prst="line">
              <a:avLst/>
            </a:prstGeom>
            <a:noFill/>
            <a:ln w="19050">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 name="Rectangle 8">
              <a:extLst>
                <a:ext uri="{FF2B5EF4-FFF2-40B4-BE49-F238E27FC236}">
                  <a16:creationId xmlns:a16="http://schemas.microsoft.com/office/drawing/2014/main" id="{16EE8D82-C39C-D120-9EBC-8F44A64FFFA4}"/>
                </a:ext>
              </a:extLst>
            </p:cNvPr>
            <p:cNvSpPr>
              <a:spLocks noChangeArrowheads="1"/>
            </p:cNvSpPr>
            <p:nvPr/>
          </p:nvSpPr>
          <p:spPr bwMode="auto">
            <a:xfrm>
              <a:off x="1196949" y="2619375"/>
              <a:ext cx="987450" cy="44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1100" dirty="0">
                  <a:latin typeface="+mn-lt"/>
                </a:rPr>
                <a:t>Marketing Team</a:t>
              </a:r>
            </a:p>
            <a:p>
              <a:pPr algn="r">
                <a:spcBef>
                  <a:spcPct val="0"/>
                </a:spcBef>
                <a:buClrTx/>
                <a:buSzTx/>
                <a:buFontTx/>
                <a:buNone/>
              </a:pPr>
              <a:r>
                <a:rPr lang="en-US" altLang="en-US" sz="1100" dirty="0">
                  <a:latin typeface="+mn-lt"/>
                </a:rPr>
                <a:t>Members</a:t>
              </a:r>
            </a:p>
          </p:txBody>
        </p:sp>
        <p:sp>
          <p:nvSpPr>
            <p:cNvPr id="40" name="Rectangle 9">
              <a:extLst>
                <a:ext uri="{FF2B5EF4-FFF2-40B4-BE49-F238E27FC236}">
                  <a16:creationId xmlns:a16="http://schemas.microsoft.com/office/drawing/2014/main" id="{210F15CE-7DAF-2588-34BF-724C654F518B}"/>
                </a:ext>
              </a:extLst>
            </p:cNvPr>
            <p:cNvSpPr>
              <a:spLocks noChangeArrowheads="1"/>
            </p:cNvSpPr>
            <p:nvPr/>
          </p:nvSpPr>
          <p:spPr bwMode="auto">
            <a:xfrm>
              <a:off x="1222150" y="3397250"/>
              <a:ext cx="957488" cy="44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1100">
                  <a:latin typeface="+mn-lt"/>
                </a:rPr>
                <a:t>Supply Chain</a:t>
              </a:r>
            </a:p>
            <a:p>
              <a:pPr algn="r">
                <a:spcBef>
                  <a:spcPct val="0"/>
                </a:spcBef>
                <a:buClrTx/>
                <a:buSzTx/>
                <a:buFontTx/>
                <a:buNone/>
              </a:pPr>
              <a:r>
                <a:rPr lang="en-US" altLang="en-US" sz="1100">
                  <a:latin typeface="+mn-lt"/>
                </a:rPr>
                <a:t>Team Members</a:t>
              </a:r>
            </a:p>
          </p:txBody>
        </p:sp>
        <p:sp>
          <p:nvSpPr>
            <p:cNvPr id="41" name="Rectangle 10">
              <a:extLst>
                <a:ext uri="{FF2B5EF4-FFF2-40B4-BE49-F238E27FC236}">
                  <a16:creationId xmlns:a16="http://schemas.microsoft.com/office/drawing/2014/main" id="{80E10854-0480-7DB6-B9EA-6A16AF71C6A3}"/>
                </a:ext>
              </a:extLst>
            </p:cNvPr>
            <p:cNvSpPr>
              <a:spLocks noChangeArrowheads="1"/>
            </p:cNvSpPr>
            <p:nvPr/>
          </p:nvSpPr>
          <p:spPr bwMode="auto">
            <a:xfrm>
              <a:off x="2187575" y="4268788"/>
              <a:ext cx="1622425" cy="44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1100">
                  <a:latin typeface="+mn-lt"/>
                </a:rPr>
                <a:t>Production Planning</a:t>
              </a:r>
            </a:p>
            <a:p>
              <a:pPr algn="r">
                <a:spcBef>
                  <a:spcPct val="0"/>
                </a:spcBef>
                <a:buClrTx/>
                <a:buSzTx/>
                <a:buFontTx/>
                <a:buNone/>
              </a:pPr>
              <a:r>
                <a:rPr lang="en-US" altLang="en-US" sz="1100">
                  <a:latin typeface="+mn-lt"/>
                </a:rPr>
                <a:t>Team Members</a:t>
              </a:r>
            </a:p>
          </p:txBody>
        </p:sp>
        <p:sp>
          <p:nvSpPr>
            <p:cNvPr id="42" name="Rectangle 11">
              <a:extLst>
                <a:ext uri="{FF2B5EF4-FFF2-40B4-BE49-F238E27FC236}">
                  <a16:creationId xmlns:a16="http://schemas.microsoft.com/office/drawing/2014/main" id="{59897F2E-B2A4-A260-3D36-0699956261A9}"/>
                </a:ext>
              </a:extLst>
            </p:cNvPr>
            <p:cNvSpPr>
              <a:spLocks noChangeArrowheads="1"/>
            </p:cNvSpPr>
            <p:nvPr/>
          </p:nvSpPr>
          <p:spPr bwMode="auto">
            <a:xfrm>
              <a:off x="3270250" y="5116513"/>
              <a:ext cx="1793875" cy="44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1100">
                  <a:latin typeface="+mn-lt"/>
                </a:rPr>
                <a:t>Production Scheduling</a:t>
              </a:r>
            </a:p>
            <a:p>
              <a:pPr algn="r">
                <a:spcBef>
                  <a:spcPct val="0"/>
                </a:spcBef>
                <a:buClrTx/>
                <a:buSzTx/>
                <a:buFontTx/>
                <a:buNone/>
              </a:pPr>
              <a:r>
                <a:rPr lang="en-US" altLang="en-US" sz="1100">
                  <a:latin typeface="+mn-lt"/>
                </a:rPr>
                <a:t>Team Members</a:t>
              </a:r>
            </a:p>
          </p:txBody>
        </p:sp>
        <p:sp>
          <p:nvSpPr>
            <p:cNvPr id="43" name="Rectangle 12">
              <a:extLst>
                <a:ext uri="{FF2B5EF4-FFF2-40B4-BE49-F238E27FC236}">
                  <a16:creationId xmlns:a16="http://schemas.microsoft.com/office/drawing/2014/main" id="{FA4E0E84-F724-2C48-C3DC-18CCC7C8F01E}"/>
                </a:ext>
              </a:extLst>
            </p:cNvPr>
            <p:cNvSpPr>
              <a:spLocks noChangeArrowheads="1"/>
            </p:cNvSpPr>
            <p:nvPr/>
          </p:nvSpPr>
          <p:spPr bwMode="auto">
            <a:xfrm>
              <a:off x="3830638" y="4079875"/>
              <a:ext cx="1163637" cy="755650"/>
            </a:xfrm>
            <a:prstGeom prst="rect">
              <a:avLst/>
            </a:prstGeom>
            <a:solidFill>
              <a:schemeClr val="tx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Receive Net</a:t>
              </a:r>
            </a:p>
            <a:p>
              <a:pPr algn="ctr">
                <a:lnSpc>
                  <a:spcPct val="80000"/>
                </a:lnSpc>
                <a:buClrTx/>
                <a:buSzTx/>
                <a:buFontTx/>
                <a:buNone/>
              </a:pPr>
              <a:r>
                <a:rPr lang="en-US" altLang="en-US" sz="1000">
                  <a:solidFill>
                    <a:schemeClr val="bg1"/>
                  </a:solidFill>
                  <a:latin typeface="+mn-lt"/>
                </a:rPr>
                <a:t>Requirements </a:t>
              </a:r>
            </a:p>
            <a:p>
              <a:pPr algn="ctr">
                <a:lnSpc>
                  <a:spcPct val="80000"/>
                </a:lnSpc>
                <a:buClrTx/>
                <a:buSzTx/>
                <a:buFontTx/>
                <a:buNone/>
              </a:pPr>
              <a:r>
                <a:rPr lang="en-US" altLang="en-US" sz="1000">
                  <a:solidFill>
                    <a:schemeClr val="bg1"/>
                  </a:solidFill>
                  <a:latin typeface="+mn-lt"/>
                </a:rPr>
                <a:t>From</a:t>
              </a:r>
            </a:p>
            <a:p>
              <a:pPr algn="ctr">
                <a:lnSpc>
                  <a:spcPct val="80000"/>
                </a:lnSpc>
                <a:buClrTx/>
                <a:buSzTx/>
                <a:buFontTx/>
                <a:buNone/>
              </a:pPr>
              <a:r>
                <a:rPr lang="en-US" altLang="en-US" sz="1000">
                  <a:solidFill>
                    <a:schemeClr val="bg1"/>
                  </a:solidFill>
                  <a:latin typeface="+mn-lt"/>
                </a:rPr>
                <a:t>Supply Chain</a:t>
              </a:r>
            </a:p>
          </p:txBody>
        </p:sp>
        <p:sp>
          <p:nvSpPr>
            <p:cNvPr id="44" name="Rectangle 13">
              <a:extLst>
                <a:ext uri="{FF2B5EF4-FFF2-40B4-BE49-F238E27FC236}">
                  <a16:creationId xmlns:a16="http://schemas.microsoft.com/office/drawing/2014/main" id="{396748C6-86EA-6174-EC62-1571434B7F0A}"/>
                </a:ext>
              </a:extLst>
            </p:cNvPr>
            <p:cNvSpPr>
              <a:spLocks noChangeArrowheads="1"/>
            </p:cNvSpPr>
            <p:nvPr/>
          </p:nvSpPr>
          <p:spPr bwMode="auto">
            <a:xfrm>
              <a:off x="2154238" y="3295650"/>
              <a:ext cx="1163637" cy="606425"/>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000066"/>
                  </a:solidFill>
                  <a:latin typeface="+mn-lt"/>
                </a:rPr>
                <a:t>Collect Market</a:t>
              </a:r>
            </a:p>
            <a:p>
              <a:pPr algn="ctr">
                <a:lnSpc>
                  <a:spcPct val="80000"/>
                </a:lnSpc>
                <a:buClrTx/>
                <a:buSzTx/>
                <a:buFontTx/>
                <a:buNone/>
              </a:pPr>
              <a:r>
                <a:rPr lang="en-US" altLang="en-US" sz="1000">
                  <a:solidFill>
                    <a:srgbClr val="000066"/>
                  </a:solidFill>
                  <a:latin typeface="+mn-lt"/>
                </a:rPr>
                <a:t>Forecast(s) From</a:t>
              </a:r>
            </a:p>
            <a:p>
              <a:pPr algn="ctr">
                <a:lnSpc>
                  <a:spcPct val="80000"/>
                </a:lnSpc>
                <a:buClrTx/>
                <a:buSzTx/>
                <a:buFontTx/>
                <a:buNone/>
              </a:pPr>
              <a:r>
                <a:rPr lang="en-US" altLang="en-US" sz="1000">
                  <a:solidFill>
                    <a:srgbClr val="000066"/>
                  </a:solidFill>
                  <a:latin typeface="+mn-lt"/>
                </a:rPr>
                <a:t>Various Markets</a:t>
              </a:r>
            </a:p>
          </p:txBody>
        </p:sp>
        <p:sp>
          <p:nvSpPr>
            <p:cNvPr id="45" name="Rectangle 14">
              <a:extLst>
                <a:ext uri="{FF2B5EF4-FFF2-40B4-BE49-F238E27FC236}">
                  <a16:creationId xmlns:a16="http://schemas.microsoft.com/office/drawing/2014/main" id="{CBC5C782-2D13-F74A-96FB-CBC44BEB2678}"/>
                </a:ext>
              </a:extLst>
            </p:cNvPr>
            <p:cNvSpPr>
              <a:spLocks noChangeArrowheads="1"/>
            </p:cNvSpPr>
            <p:nvPr/>
          </p:nvSpPr>
          <p:spPr bwMode="auto">
            <a:xfrm>
              <a:off x="5267325" y="4081463"/>
              <a:ext cx="1025525" cy="1568450"/>
            </a:xfrm>
            <a:prstGeom prst="rect">
              <a:avLst/>
            </a:prstGeom>
            <a:solidFill>
              <a:schemeClr val="tx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Develop Initial</a:t>
              </a:r>
            </a:p>
            <a:p>
              <a:pPr algn="ctr">
                <a:lnSpc>
                  <a:spcPct val="80000"/>
                </a:lnSpc>
                <a:buClrTx/>
                <a:buSzTx/>
                <a:buFontTx/>
                <a:buNone/>
              </a:pPr>
              <a:r>
                <a:rPr lang="en-US" altLang="en-US" sz="1000">
                  <a:solidFill>
                    <a:schemeClr val="bg1"/>
                  </a:solidFill>
                  <a:latin typeface="+mn-lt"/>
                </a:rPr>
                <a:t>Production</a:t>
              </a:r>
            </a:p>
            <a:p>
              <a:pPr algn="ctr">
                <a:lnSpc>
                  <a:spcPct val="80000"/>
                </a:lnSpc>
                <a:buClrTx/>
                <a:buSzTx/>
                <a:buFontTx/>
                <a:buNone/>
              </a:pPr>
              <a:r>
                <a:rPr lang="en-US" altLang="en-US" sz="1000">
                  <a:solidFill>
                    <a:schemeClr val="bg1"/>
                  </a:solidFill>
                  <a:latin typeface="+mn-lt"/>
                </a:rPr>
                <a:t>Plan Based on</a:t>
              </a:r>
            </a:p>
            <a:p>
              <a:pPr algn="ctr">
                <a:lnSpc>
                  <a:spcPct val="80000"/>
                </a:lnSpc>
                <a:buClrTx/>
                <a:buSzTx/>
                <a:buFontTx/>
                <a:buNone/>
              </a:pPr>
              <a:r>
                <a:rPr lang="en-US" altLang="en-US" sz="1000">
                  <a:solidFill>
                    <a:schemeClr val="bg1"/>
                  </a:solidFill>
                  <a:latin typeface="+mn-lt"/>
                </a:rPr>
                <a:t>Net</a:t>
              </a:r>
            </a:p>
            <a:p>
              <a:pPr algn="ctr">
                <a:lnSpc>
                  <a:spcPct val="80000"/>
                </a:lnSpc>
                <a:buClrTx/>
                <a:buSzTx/>
                <a:buFontTx/>
                <a:buNone/>
              </a:pPr>
              <a:r>
                <a:rPr lang="en-US" altLang="en-US" sz="1000">
                  <a:solidFill>
                    <a:schemeClr val="bg1"/>
                  </a:solidFill>
                  <a:latin typeface="+mn-lt"/>
                </a:rPr>
                <a:t>Requirements</a:t>
              </a:r>
            </a:p>
            <a:p>
              <a:pPr algn="ctr">
                <a:lnSpc>
                  <a:spcPct val="80000"/>
                </a:lnSpc>
                <a:buClrTx/>
                <a:buSzTx/>
                <a:buFontTx/>
                <a:buNone/>
              </a:pPr>
              <a:r>
                <a:rPr lang="en-US" altLang="en-US" sz="1000">
                  <a:solidFill>
                    <a:schemeClr val="bg1"/>
                  </a:solidFill>
                  <a:latin typeface="+mn-lt"/>
                </a:rPr>
                <a:t>&amp; Available</a:t>
              </a:r>
            </a:p>
            <a:p>
              <a:pPr algn="ctr">
                <a:lnSpc>
                  <a:spcPct val="80000"/>
                </a:lnSpc>
                <a:buClrTx/>
                <a:buSzTx/>
                <a:buFontTx/>
                <a:buNone/>
              </a:pPr>
              <a:r>
                <a:rPr lang="en-US" altLang="en-US" sz="1000">
                  <a:solidFill>
                    <a:schemeClr val="bg1"/>
                  </a:solidFill>
                  <a:latin typeface="+mn-lt"/>
                </a:rPr>
                <a:t>Capacity</a:t>
              </a:r>
            </a:p>
          </p:txBody>
        </p:sp>
        <p:sp>
          <p:nvSpPr>
            <p:cNvPr id="46" name="Rectangle 15">
              <a:extLst>
                <a:ext uri="{FF2B5EF4-FFF2-40B4-BE49-F238E27FC236}">
                  <a16:creationId xmlns:a16="http://schemas.microsoft.com/office/drawing/2014/main" id="{2DACCF47-D0F8-D8AE-93D0-F85C14E0A5EC}"/>
                </a:ext>
              </a:extLst>
            </p:cNvPr>
            <p:cNvSpPr>
              <a:spLocks noChangeArrowheads="1"/>
            </p:cNvSpPr>
            <p:nvPr/>
          </p:nvSpPr>
          <p:spPr bwMode="auto">
            <a:xfrm>
              <a:off x="6434138" y="2709863"/>
              <a:ext cx="1109662" cy="2970212"/>
            </a:xfrm>
            <a:prstGeom prst="rect">
              <a:avLst/>
            </a:prstGeom>
            <a:solidFill>
              <a:schemeClr val="tx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S&amp;OP Team</a:t>
              </a:r>
            </a:p>
            <a:p>
              <a:pPr algn="ctr">
                <a:lnSpc>
                  <a:spcPct val="80000"/>
                </a:lnSpc>
                <a:buClrTx/>
                <a:buSzTx/>
                <a:buFontTx/>
                <a:buNone/>
              </a:pPr>
              <a:r>
                <a:rPr lang="en-US" altLang="en-US" sz="1000">
                  <a:solidFill>
                    <a:schemeClr val="bg1"/>
                  </a:solidFill>
                  <a:latin typeface="+mn-lt"/>
                </a:rPr>
                <a:t>Sign-Off</a:t>
              </a:r>
            </a:p>
            <a:p>
              <a:pPr algn="ctr">
                <a:lnSpc>
                  <a:spcPct val="80000"/>
                </a:lnSpc>
                <a:buClrTx/>
                <a:buSzTx/>
                <a:buFontTx/>
                <a:buNone/>
              </a:pPr>
              <a:r>
                <a:rPr lang="en-US" altLang="en-US" sz="1000">
                  <a:solidFill>
                    <a:schemeClr val="bg1"/>
                  </a:solidFill>
                  <a:latin typeface="+mn-lt"/>
                </a:rPr>
                <a:t>Including</a:t>
              </a:r>
            </a:p>
            <a:p>
              <a:pPr algn="ctr">
                <a:lnSpc>
                  <a:spcPct val="80000"/>
                </a:lnSpc>
                <a:buClrTx/>
                <a:buSzTx/>
                <a:buFontTx/>
                <a:buNone/>
              </a:pPr>
              <a:r>
                <a:rPr lang="en-US" altLang="en-US" sz="1000">
                  <a:solidFill>
                    <a:schemeClr val="bg1"/>
                  </a:solidFill>
                  <a:latin typeface="+mn-lt"/>
                </a:rPr>
                <a:t>Procurement</a:t>
              </a:r>
            </a:p>
            <a:p>
              <a:pPr algn="ctr">
                <a:lnSpc>
                  <a:spcPct val="80000"/>
                </a:lnSpc>
                <a:buClrTx/>
                <a:buSzTx/>
                <a:buFontTx/>
                <a:buNone/>
              </a:pPr>
              <a:r>
                <a:rPr lang="en-US" altLang="en-US" sz="1000">
                  <a:solidFill>
                    <a:schemeClr val="bg1"/>
                  </a:solidFill>
                  <a:latin typeface="+mn-lt"/>
                </a:rPr>
                <a:t>&amp; Sourcing</a:t>
              </a:r>
            </a:p>
            <a:p>
              <a:pPr algn="ctr">
                <a:lnSpc>
                  <a:spcPct val="80000"/>
                </a:lnSpc>
                <a:buClrTx/>
                <a:buSzTx/>
                <a:buFontTx/>
                <a:buNone/>
              </a:pPr>
              <a:r>
                <a:rPr lang="en-US" altLang="en-US" sz="1000">
                  <a:solidFill>
                    <a:schemeClr val="bg1"/>
                  </a:solidFill>
                  <a:latin typeface="+mn-lt"/>
                </a:rPr>
                <a:t>Requirements</a:t>
              </a:r>
            </a:p>
          </p:txBody>
        </p:sp>
        <p:sp>
          <p:nvSpPr>
            <p:cNvPr id="47" name="Rectangle 16">
              <a:extLst>
                <a:ext uri="{FF2B5EF4-FFF2-40B4-BE49-F238E27FC236}">
                  <a16:creationId xmlns:a16="http://schemas.microsoft.com/office/drawing/2014/main" id="{A92F44AA-261A-0E8B-2852-589781AB422B}"/>
                </a:ext>
              </a:extLst>
            </p:cNvPr>
            <p:cNvSpPr>
              <a:spLocks noChangeArrowheads="1"/>
            </p:cNvSpPr>
            <p:nvPr/>
          </p:nvSpPr>
          <p:spPr bwMode="auto">
            <a:xfrm>
              <a:off x="2154238" y="2476500"/>
              <a:ext cx="1163637" cy="658813"/>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000066"/>
                  </a:solidFill>
                  <a:latin typeface="+mn-lt"/>
                </a:rPr>
                <a:t>Generate Product</a:t>
              </a:r>
            </a:p>
            <a:p>
              <a:pPr algn="ctr">
                <a:lnSpc>
                  <a:spcPct val="80000"/>
                </a:lnSpc>
                <a:buClrTx/>
                <a:buSzTx/>
                <a:buFontTx/>
                <a:buNone/>
              </a:pPr>
              <a:r>
                <a:rPr lang="en-US" altLang="en-US" sz="1000">
                  <a:solidFill>
                    <a:srgbClr val="000066"/>
                  </a:solidFill>
                  <a:latin typeface="+mn-lt"/>
                </a:rPr>
                <a:t>Or Family Sales</a:t>
              </a:r>
            </a:p>
            <a:p>
              <a:pPr algn="ctr">
                <a:lnSpc>
                  <a:spcPct val="80000"/>
                </a:lnSpc>
                <a:buClrTx/>
                <a:buSzTx/>
                <a:buFontTx/>
                <a:buNone/>
              </a:pPr>
              <a:r>
                <a:rPr lang="en-US" altLang="en-US" sz="1000">
                  <a:solidFill>
                    <a:srgbClr val="000066"/>
                  </a:solidFill>
                  <a:latin typeface="+mn-lt"/>
                </a:rPr>
                <a:t>Forecast(s)</a:t>
              </a:r>
            </a:p>
          </p:txBody>
        </p:sp>
        <p:sp>
          <p:nvSpPr>
            <p:cNvPr id="48" name="Rectangle 17">
              <a:extLst>
                <a:ext uri="{FF2B5EF4-FFF2-40B4-BE49-F238E27FC236}">
                  <a16:creationId xmlns:a16="http://schemas.microsoft.com/office/drawing/2014/main" id="{AAEFB44E-9FD3-251B-9B88-4C232CBF625A}"/>
                </a:ext>
              </a:extLst>
            </p:cNvPr>
            <p:cNvSpPr>
              <a:spLocks noChangeArrowheads="1"/>
            </p:cNvSpPr>
            <p:nvPr/>
          </p:nvSpPr>
          <p:spPr bwMode="auto">
            <a:xfrm>
              <a:off x="3830638" y="3295650"/>
              <a:ext cx="1163637" cy="606425"/>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000066"/>
                  </a:solidFill>
                  <a:latin typeface="+mn-lt"/>
                </a:rPr>
                <a:t>Develop Demand</a:t>
              </a:r>
            </a:p>
            <a:p>
              <a:pPr algn="ctr">
                <a:lnSpc>
                  <a:spcPct val="80000"/>
                </a:lnSpc>
                <a:buClrTx/>
                <a:buSzTx/>
                <a:buFontTx/>
                <a:buNone/>
              </a:pPr>
              <a:r>
                <a:rPr lang="en-US" altLang="en-US" sz="1000">
                  <a:solidFill>
                    <a:srgbClr val="000066"/>
                  </a:solidFill>
                  <a:latin typeface="+mn-lt"/>
                </a:rPr>
                <a:t>Plan &amp; Inventory</a:t>
              </a:r>
            </a:p>
            <a:p>
              <a:pPr algn="ctr">
                <a:lnSpc>
                  <a:spcPct val="80000"/>
                </a:lnSpc>
                <a:buClrTx/>
                <a:buSzTx/>
                <a:buFontTx/>
                <a:buNone/>
              </a:pPr>
              <a:r>
                <a:rPr lang="en-US" altLang="en-US" sz="1000">
                  <a:solidFill>
                    <a:srgbClr val="000066"/>
                  </a:solidFill>
                  <a:latin typeface="+mn-lt"/>
                </a:rPr>
                <a:t>Requirements</a:t>
              </a:r>
            </a:p>
          </p:txBody>
        </p:sp>
        <p:sp>
          <p:nvSpPr>
            <p:cNvPr id="49" name="Rectangle 18">
              <a:extLst>
                <a:ext uri="{FF2B5EF4-FFF2-40B4-BE49-F238E27FC236}">
                  <a16:creationId xmlns:a16="http://schemas.microsoft.com/office/drawing/2014/main" id="{9AE7AF88-B4BB-287F-907E-A70F2558C563}"/>
                </a:ext>
              </a:extLst>
            </p:cNvPr>
            <p:cNvSpPr>
              <a:spLocks noChangeArrowheads="1"/>
            </p:cNvSpPr>
            <p:nvPr/>
          </p:nvSpPr>
          <p:spPr bwMode="auto">
            <a:xfrm>
              <a:off x="7726363" y="4922838"/>
              <a:ext cx="973137" cy="755650"/>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000066"/>
                  </a:solidFill>
                  <a:latin typeface="+mn-lt"/>
                </a:rPr>
                <a:t>Initial</a:t>
              </a:r>
            </a:p>
            <a:p>
              <a:pPr algn="ctr">
                <a:lnSpc>
                  <a:spcPct val="80000"/>
                </a:lnSpc>
                <a:buClrTx/>
                <a:buSzTx/>
                <a:buFontTx/>
                <a:buNone/>
              </a:pPr>
              <a:r>
                <a:rPr lang="en-US" altLang="en-US" sz="1000">
                  <a:solidFill>
                    <a:srgbClr val="000066"/>
                  </a:solidFill>
                  <a:latin typeface="+mn-lt"/>
                </a:rPr>
                <a:t>Supply &amp;</a:t>
              </a:r>
            </a:p>
            <a:p>
              <a:pPr algn="ctr">
                <a:lnSpc>
                  <a:spcPct val="80000"/>
                </a:lnSpc>
                <a:buClrTx/>
                <a:buSzTx/>
                <a:buFontTx/>
                <a:buNone/>
              </a:pPr>
              <a:r>
                <a:rPr lang="en-US" altLang="en-US" sz="1000">
                  <a:solidFill>
                    <a:srgbClr val="000066"/>
                  </a:solidFill>
                  <a:latin typeface="+mn-lt"/>
                </a:rPr>
                <a:t>Demand Plan</a:t>
              </a:r>
            </a:p>
          </p:txBody>
        </p:sp>
        <p:sp>
          <p:nvSpPr>
            <p:cNvPr id="50" name="Line 19">
              <a:extLst>
                <a:ext uri="{FF2B5EF4-FFF2-40B4-BE49-F238E27FC236}">
                  <a16:creationId xmlns:a16="http://schemas.microsoft.com/office/drawing/2014/main" id="{9A66E2D8-F49C-4836-F0BF-2E3D856AB76F}"/>
                </a:ext>
              </a:extLst>
            </p:cNvPr>
            <p:cNvSpPr>
              <a:spLocks noChangeShapeType="1"/>
            </p:cNvSpPr>
            <p:nvPr/>
          </p:nvSpPr>
          <p:spPr bwMode="auto">
            <a:xfrm>
              <a:off x="5133975" y="2468563"/>
              <a:ext cx="0" cy="3986212"/>
            </a:xfrm>
            <a:prstGeom prst="line">
              <a:avLst/>
            </a:prstGeom>
            <a:noFill/>
            <a:ln w="57150">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1" name="Rectangle 20">
              <a:extLst>
                <a:ext uri="{FF2B5EF4-FFF2-40B4-BE49-F238E27FC236}">
                  <a16:creationId xmlns:a16="http://schemas.microsoft.com/office/drawing/2014/main" id="{9D2AA133-4D55-D834-A7E2-903BADB5A51E}"/>
                </a:ext>
              </a:extLst>
            </p:cNvPr>
            <p:cNvSpPr>
              <a:spLocks noChangeArrowheads="1"/>
            </p:cNvSpPr>
            <p:nvPr/>
          </p:nvSpPr>
          <p:spPr bwMode="auto">
            <a:xfrm>
              <a:off x="4867653" y="6053138"/>
              <a:ext cx="526293" cy="2842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200" i="1" dirty="0">
                  <a:latin typeface="+mn-lt"/>
                </a:rPr>
                <a:t>Day 10</a:t>
              </a:r>
            </a:p>
          </p:txBody>
        </p:sp>
        <p:sp>
          <p:nvSpPr>
            <p:cNvPr id="52" name="Line 21">
              <a:extLst>
                <a:ext uri="{FF2B5EF4-FFF2-40B4-BE49-F238E27FC236}">
                  <a16:creationId xmlns:a16="http://schemas.microsoft.com/office/drawing/2014/main" id="{7D577564-011C-82DC-3FCB-DFCDAA967DE2}"/>
                </a:ext>
              </a:extLst>
            </p:cNvPr>
            <p:cNvSpPr>
              <a:spLocks noChangeShapeType="1"/>
            </p:cNvSpPr>
            <p:nvPr/>
          </p:nvSpPr>
          <p:spPr bwMode="auto">
            <a:xfrm>
              <a:off x="7634288" y="2468563"/>
              <a:ext cx="0" cy="3986212"/>
            </a:xfrm>
            <a:prstGeom prst="line">
              <a:avLst/>
            </a:prstGeom>
            <a:noFill/>
            <a:ln w="57150">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3" name="Rectangle 22">
              <a:extLst>
                <a:ext uri="{FF2B5EF4-FFF2-40B4-BE49-F238E27FC236}">
                  <a16:creationId xmlns:a16="http://schemas.microsoft.com/office/drawing/2014/main" id="{BE138293-A33C-C720-19D2-1805AF249910}"/>
                </a:ext>
              </a:extLst>
            </p:cNvPr>
            <p:cNvSpPr>
              <a:spLocks noChangeArrowheads="1"/>
            </p:cNvSpPr>
            <p:nvPr/>
          </p:nvSpPr>
          <p:spPr bwMode="auto">
            <a:xfrm>
              <a:off x="7375904" y="6053138"/>
              <a:ext cx="526293" cy="2842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200" i="1">
                  <a:latin typeface="+mn-lt"/>
                </a:rPr>
                <a:t>Day 15</a:t>
              </a:r>
            </a:p>
          </p:txBody>
        </p:sp>
        <p:cxnSp>
          <p:nvCxnSpPr>
            <p:cNvPr id="54" name="AutoShape 23">
              <a:extLst>
                <a:ext uri="{FF2B5EF4-FFF2-40B4-BE49-F238E27FC236}">
                  <a16:creationId xmlns:a16="http://schemas.microsoft.com/office/drawing/2014/main" id="{6413CBAF-A475-CF91-9BA4-05B27F67AC78}"/>
                </a:ext>
              </a:extLst>
            </p:cNvPr>
            <p:cNvCxnSpPr>
              <a:cxnSpLocks noChangeShapeType="1"/>
              <a:stCxn id="47" idx="2"/>
              <a:endCxn id="44" idx="0"/>
            </p:cNvCxnSpPr>
            <p:nvPr/>
          </p:nvCxnSpPr>
          <p:spPr bwMode="auto">
            <a:xfrm>
              <a:off x="2736850" y="3135313"/>
              <a:ext cx="0" cy="16033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AutoShape 24">
              <a:extLst>
                <a:ext uri="{FF2B5EF4-FFF2-40B4-BE49-F238E27FC236}">
                  <a16:creationId xmlns:a16="http://schemas.microsoft.com/office/drawing/2014/main" id="{36F5CDAB-B25C-553F-3DD8-5E996C50BA99}"/>
                </a:ext>
              </a:extLst>
            </p:cNvPr>
            <p:cNvCxnSpPr>
              <a:cxnSpLocks noChangeShapeType="1"/>
              <a:stCxn id="44" idx="3"/>
              <a:endCxn id="48" idx="1"/>
            </p:cNvCxnSpPr>
            <p:nvPr/>
          </p:nvCxnSpPr>
          <p:spPr bwMode="auto">
            <a:xfrm>
              <a:off x="3317875" y="3598863"/>
              <a:ext cx="512763"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6" name="AutoShape 25">
              <a:extLst>
                <a:ext uri="{FF2B5EF4-FFF2-40B4-BE49-F238E27FC236}">
                  <a16:creationId xmlns:a16="http://schemas.microsoft.com/office/drawing/2014/main" id="{051D5D01-2725-5700-64C0-AA5180DB067D}"/>
                </a:ext>
              </a:extLst>
            </p:cNvPr>
            <p:cNvCxnSpPr>
              <a:cxnSpLocks noChangeShapeType="1"/>
              <a:stCxn id="48" idx="2"/>
              <a:endCxn id="43" idx="0"/>
            </p:cNvCxnSpPr>
            <p:nvPr/>
          </p:nvCxnSpPr>
          <p:spPr bwMode="auto">
            <a:xfrm>
              <a:off x="4413250" y="3902075"/>
              <a:ext cx="0" cy="17780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7" name="Rectangle 26">
              <a:extLst>
                <a:ext uri="{FF2B5EF4-FFF2-40B4-BE49-F238E27FC236}">
                  <a16:creationId xmlns:a16="http://schemas.microsoft.com/office/drawing/2014/main" id="{D078EF91-0B6F-8951-51FD-0D8262B585DE}"/>
                </a:ext>
              </a:extLst>
            </p:cNvPr>
            <p:cNvSpPr>
              <a:spLocks noChangeArrowheads="1"/>
            </p:cNvSpPr>
            <p:nvPr/>
          </p:nvSpPr>
          <p:spPr bwMode="auto">
            <a:xfrm rot="16200000">
              <a:off x="22226" y="3054350"/>
              <a:ext cx="1422400" cy="282575"/>
            </a:xfrm>
            <a:prstGeom prst="rect">
              <a:avLst/>
            </a:prstGeom>
            <a:solidFill>
              <a:schemeClr val="tx2"/>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SALES</a:t>
              </a:r>
            </a:p>
          </p:txBody>
        </p:sp>
        <p:sp>
          <p:nvSpPr>
            <p:cNvPr id="58" name="Rectangle 27">
              <a:extLst>
                <a:ext uri="{FF2B5EF4-FFF2-40B4-BE49-F238E27FC236}">
                  <a16:creationId xmlns:a16="http://schemas.microsoft.com/office/drawing/2014/main" id="{48D710DE-E0D3-E495-F7DE-1AEF94EF99D2}"/>
                </a:ext>
              </a:extLst>
            </p:cNvPr>
            <p:cNvSpPr>
              <a:spLocks noChangeArrowheads="1"/>
            </p:cNvSpPr>
            <p:nvPr/>
          </p:nvSpPr>
          <p:spPr bwMode="auto">
            <a:xfrm rot="16200000">
              <a:off x="-142875" y="4827588"/>
              <a:ext cx="1749425" cy="282575"/>
            </a:xfrm>
            <a:prstGeom prst="rect">
              <a:avLst/>
            </a:prstGeom>
            <a:solidFill>
              <a:schemeClr val="tx2"/>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OPERATIONS</a:t>
              </a:r>
            </a:p>
          </p:txBody>
        </p:sp>
        <p:sp>
          <p:nvSpPr>
            <p:cNvPr id="59" name="Line 28">
              <a:extLst>
                <a:ext uri="{FF2B5EF4-FFF2-40B4-BE49-F238E27FC236}">
                  <a16:creationId xmlns:a16="http://schemas.microsoft.com/office/drawing/2014/main" id="{7A72FC2C-EED3-FB84-7AE8-2587EED61022}"/>
                </a:ext>
              </a:extLst>
            </p:cNvPr>
            <p:cNvSpPr>
              <a:spLocks noChangeShapeType="1"/>
            </p:cNvSpPr>
            <p:nvPr/>
          </p:nvSpPr>
          <p:spPr bwMode="auto">
            <a:xfrm>
              <a:off x="4994275" y="4460875"/>
              <a:ext cx="277813"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29">
              <a:extLst>
                <a:ext uri="{FF2B5EF4-FFF2-40B4-BE49-F238E27FC236}">
                  <a16:creationId xmlns:a16="http://schemas.microsoft.com/office/drawing/2014/main" id="{78955450-16E2-3772-43C5-0A9F2340B268}"/>
                </a:ext>
              </a:extLst>
            </p:cNvPr>
            <p:cNvSpPr>
              <a:spLocks noChangeShapeType="1"/>
            </p:cNvSpPr>
            <p:nvPr/>
          </p:nvSpPr>
          <p:spPr bwMode="auto">
            <a:xfrm>
              <a:off x="6289675" y="4745038"/>
              <a:ext cx="152400" cy="0"/>
            </a:xfrm>
            <a:prstGeom prst="line">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61" name="AutoShape 30">
              <a:extLst>
                <a:ext uri="{FF2B5EF4-FFF2-40B4-BE49-F238E27FC236}">
                  <a16:creationId xmlns:a16="http://schemas.microsoft.com/office/drawing/2014/main" id="{EFDE984B-C2E9-132F-1B2B-0DC1D06F0392}"/>
                </a:ext>
              </a:extLst>
            </p:cNvPr>
            <p:cNvCxnSpPr>
              <a:cxnSpLocks noChangeShapeType="1"/>
              <a:stCxn id="46" idx="3"/>
              <a:endCxn id="49" idx="0"/>
            </p:cNvCxnSpPr>
            <p:nvPr/>
          </p:nvCxnSpPr>
          <p:spPr bwMode="auto">
            <a:xfrm>
              <a:off x="7543800" y="4195763"/>
              <a:ext cx="669925" cy="727075"/>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2" name="Rectangle 31">
              <a:extLst>
                <a:ext uri="{FF2B5EF4-FFF2-40B4-BE49-F238E27FC236}">
                  <a16:creationId xmlns:a16="http://schemas.microsoft.com/office/drawing/2014/main" id="{7F4A02A1-3D35-1BB2-6F74-12F3CE0B24AF}"/>
                </a:ext>
              </a:extLst>
            </p:cNvPr>
            <p:cNvSpPr>
              <a:spLocks noChangeArrowheads="1"/>
            </p:cNvSpPr>
            <p:nvPr/>
          </p:nvSpPr>
          <p:spPr bwMode="auto">
            <a:xfrm>
              <a:off x="590548" y="1870075"/>
              <a:ext cx="8088315" cy="85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dirty="0">
                  <a:solidFill>
                    <a:srgbClr val="000000"/>
                  </a:solidFill>
                  <a:latin typeface="+mn-lt"/>
                </a:rPr>
                <a:t>With the first-pass S&amp;OP spreadsheet complete (demand plan), supply team members are now tasked with the responsibility to evaluate available resources and build the most appropriate production plan to meet that demand.</a:t>
              </a:r>
            </a:p>
          </p:txBody>
        </p:sp>
      </p:grpSp>
    </p:spTree>
    <p:extLst>
      <p:ext uri="{BB962C8B-B14F-4D97-AF65-F5344CB8AC3E}">
        <p14:creationId xmlns:p14="http://schemas.microsoft.com/office/powerpoint/2010/main" val="732878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Introduction:  </a:t>
            </a:r>
            <a:br>
              <a:rPr lang="en-US" dirty="0"/>
            </a:br>
            <a:r>
              <a:rPr lang="en-US" dirty="0"/>
              <a:t>Existing Resources To Meet Supply</a:t>
            </a:r>
          </a:p>
        </p:txBody>
      </p:sp>
      <p:grpSp>
        <p:nvGrpSpPr>
          <p:cNvPr id="21" name="Group 20">
            <a:extLst>
              <a:ext uri="{FF2B5EF4-FFF2-40B4-BE49-F238E27FC236}">
                <a16:creationId xmlns:a16="http://schemas.microsoft.com/office/drawing/2014/main" id="{51B13BA2-37F3-0629-43BC-08EC89E8F486}"/>
              </a:ext>
            </a:extLst>
          </p:cNvPr>
          <p:cNvGrpSpPr/>
          <p:nvPr/>
        </p:nvGrpSpPr>
        <p:grpSpPr>
          <a:xfrm>
            <a:off x="495957" y="1885884"/>
            <a:ext cx="10763922" cy="4291079"/>
            <a:chOff x="495957" y="1885884"/>
            <a:chExt cx="8221663" cy="3535363"/>
          </a:xfrm>
        </p:grpSpPr>
        <p:sp>
          <p:nvSpPr>
            <p:cNvPr id="3" name="AutoShape 7">
              <a:extLst>
                <a:ext uri="{FF2B5EF4-FFF2-40B4-BE49-F238E27FC236}">
                  <a16:creationId xmlns:a16="http://schemas.microsoft.com/office/drawing/2014/main" id="{2302DC53-DAE7-E791-4F37-E4E0DBF20EAB}"/>
                </a:ext>
              </a:extLst>
            </p:cNvPr>
            <p:cNvSpPr>
              <a:spLocks noChangeArrowheads="1"/>
            </p:cNvSpPr>
            <p:nvPr/>
          </p:nvSpPr>
          <p:spPr bwMode="auto">
            <a:xfrm>
              <a:off x="3910670" y="2438334"/>
              <a:ext cx="2020887" cy="490538"/>
            </a:xfrm>
            <a:prstGeom prst="homePlate">
              <a:avLst>
                <a:gd name="adj" fmla="val 39481"/>
              </a:avLst>
            </a:prstGeom>
            <a:solidFill>
              <a:schemeClr val="accent4"/>
            </a:solidFill>
            <a:ln w="28575" cap="sq">
              <a:solidFill>
                <a:schemeClr val="bg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       Distribution &amp;</a:t>
              </a:r>
            </a:p>
            <a:p>
              <a:pPr algn="ctr">
                <a:lnSpc>
                  <a:spcPct val="80000"/>
                </a:lnSpc>
                <a:buClrTx/>
                <a:buSzTx/>
                <a:buFontTx/>
                <a:buNone/>
              </a:pPr>
              <a:r>
                <a:rPr lang="en-US" altLang="en-US" sz="1200" dirty="0">
                  <a:solidFill>
                    <a:schemeClr val="bg1"/>
                  </a:solidFill>
                  <a:latin typeface="+mn-lt"/>
                </a:rPr>
                <a:t>       Logistics</a:t>
              </a:r>
            </a:p>
          </p:txBody>
        </p:sp>
        <p:sp>
          <p:nvSpPr>
            <p:cNvPr id="4" name="AutoShape 8">
              <a:extLst>
                <a:ext uri="{FF2B5EF4-FFF2-40B4-BE49-F238E27FC236}">
                  <a16:creationId xmlns:a16="http://schemas.microsoft.com/office/drawing/2014/main" id="{8945A5EC-0ABF-6EDC-F187-D2F23FBEB4DB}"/>
                </a:ext>
              </a:extLst>
            </p:cNvPr>
            <p:cNvSpPr>
              <a:spLocks noChangeArrowheads="1"/>
            </p:cNvSpPr>
            <p:nvPr/>
          </p:nvSpPr>
          <p:spPr bwMode="auto">
            <a:xfrm flipH="1">
              <a:off x="6214132" y="2438334"/>
              <a:ext cx="2292350" cy="490538"/>
            </a:xfrm>
            <a:prstGeom prst="homePlate">
              <a:avLst>
                <a:gd name="adj" fmla="val 49198"/>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 Forecasted Demand</a:t>
              </a:r>
            </a:p>
          </p:txBody>
        </p:sp>
        <p:sp>
          <p:nvSpPr>
            <p:cNvPr id="5" name="AutoShape 9">
              <a:extLst>
                <a:ext uri="{FF2B5EF4-FFF2-40B4-BE49-F238E27FC236}">
                  <a16:creationId xmlns:a16="http://schemas.microsoft.com/office/drawing/2014/main" id="{998F2EEE-5E16-C593-7087-D7C3B7C47971}"/>
                </a:ext>
              </a:extLst>
            </p:cNvPr>
            <p:cNvSpPr>
              <a:spLocks noChangeArrowheads="1"/>
            </p:cNvSpPr>
            <p:nvPr/>
          </p:nvSpPr>
          <p:spPr bwMode="auto">
            <a:xfrm>
              <a:off x="2227920" y="2438334"/>
              <a:ext cx="2020887" cy="490538"/>
            </a:xfrm>
            <a:prstGeom prst="homePlate">
              <a:avLst>
                <a:gd name="adj" fmla="val 39481"/>
              </a:avLst>
            </a:prstGeom>
            <a:solidFill>
              <a:schemeClr val="accent5"/>
            </a:solidFill>
            <a:ln w="28575" cap="sq">
              <a:solidFill>
                <a:schemeClr val="bg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        Manufacturing</a:t>
              </a:r>
            </a:p>
            <a:p>
              <a:pPr algn="ctr">
                <a:lnSpc>
                  <a:spcPct val="80000"/>
                </a:lnSpc>
                <a:buClrTx/>
                <a:buSzTx/>
                <a:buFontTx/>
                <a:buNone/>
              </a:pPr>
              <a:r>
                <a:rPr lang="en-US" altLang="en-US" sz="1200">
                  <a:solidFill>
                    <a:schemeClr val="bg1"/>
                  </a:solidFill>
                  <a:latin typeface="+mn-lt"/>
                </a:rPr>
                <a:t>        Resources</a:t>
              </a:r>
            </a:p>
          </p:txBody>
        </p:sp>
        <p:sp>
          <p:nvSpPr>
            <p:cNvPr id="6" name="AutoShape 10">
              <a:extLst>
                <a:ext uri="{FF2B5EF4-FFF2-40B4-BE49-F238E27FC236}">
                  <a16:creationId xmlns:a16="http://schemas.microsoft.com/office/drawing/2014/main" id="{F5229368-54C2-4989-96ED-E3FA5E2B27D3}"/>
                </a:ext>
              </a:extLst>
            </p:cNvPr>
            <p:cNvSpPr>
              <a:spLocks noChangeArrowheads="1"/>
            </p:cNvSpPr>
            <p:nvPr/>
          </p:nvSpPr>
          <p:spPr bwMode="auto">
            <a:xfrm>
              <a:off x="551520" y="2438334"/>
              <a:ext cx="2020887" cy="490538"/>
            </a:xfrm>
            <a:prstGeom prst="homePlate">
              <a:avLst>
                <a:gd name="adj" fmla="val 43372"/>
              </a:avLst>
            </a:prstGeom>
            <a:solidFill>
              <a:schemeClr val="accent4"/>
            </a:solidFill>
            <a:ln w="28575" cap="sq">
              <a:solidFill>
                <a:schemeClr val="bg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Raw Materials</a:t>
              </a:r>
            </a:p>
          </p:txBody>
        </p:sp>
        <p:sp>
          <p:nvSpPr>
            <p:cNvPr id="7" name="Line 12">
              <a:extLst>
                <a:ext uri="{FF2B5EF4-FFF2-40B4-BE49-F238E27FC236}">
                  <a16:creationId xmlns:a16="http://schemas.microsoft.com/office/drawing/2014/main" id="{A8063260-054D-DAD3-61CD-6E67E85EB193}"/>
                </a:ext>
              </a:extLst>
            </p:cNvPr>
            <p:cNvSpPr>
              <a:spLocks noChangeShapeType="1"/>
            </p:cNvSpPr>
            <p:nvPr/>
          </p:nvSpPr>
          <p:spPr bwMode="auto">
            <a:xfrm>
              <a:off x="2393020" y="2317684"/>
              <a:ext cx="1682750" cy="0"/>
            </a:xfrm>
            <a:prstGeom prst="line">
              <a:avLst/>
            </a:prstGeom>
            <a:noFill/>
            <a:ln w="38100"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Text Box 13">
              <a:extLst>
                <a:ext uri="{FF2B5EF4-FFF2-40B4-BE49-F238E27FC236}">
                  <a16:creationId xmlns:a16="http://schemas.microsoft.com/office/drawing/2014/main" id="{583B69DA-040C-2E22-17D8-EBF8F32B81EB}"/>
                </a:ext>
              </a:extLst>
            </p:cNvPr>
            <p:cNvSpPr txBox="1">
              <a:spLocks noChangeArrowheads="1"/>
            </p:cNvSpPr>
            <p:nvPr/>
          </p:nvSpPr>
          <p:spPr bwMode="auto">
            <a:xfrm>
              <a:off x="2804057" y="2209734"/>
              <a:ext cx="878141" cy="2195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i="1">
                  <a:latin typeface="+mn-lt"/>
                </a:rPr>
                <a:t>S&amp;OP Focus</a:t>
              </a:r>
            </a:p>
          </p:txBody>
        </p:sp>
        <p:sp>
          <p:nvSpPr>
            <p:cNvPr id="9" name="Line 14">
              <a:extLst>
                <a:ext uri="{FF2B5EF4-FFF2-40B4-BE49-F238E27FC236}">
                  <a16:creationId xmlns:a16="http://schemas.microsoft.com/office/drawing/2014/main" id="{F7CA914C-3ED2-168A-2BEA-6955F03F4DAF}"/>
                </a:ext>
              </a:extLst>
            </p:cNvPr>
            <p:cNvSpPr>
              <a:spLocks noChangeShapeType="1"/>
            </p:cNvSpPr>
            <p:nvPr/>
          </p:nvSpPr>
          <p:spPr bwMode="auto">
            <a:xfrm flipH="1">
              <a:off x="1905657" y="2070034"/>
              <a:ext cx="4008438" cy="4763"/>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5">
              <a:extLst>
                <a:ext uri="{FF2B5EF4-FFF2-40B4-BE49-F238E27FC236}">
                  <a16:creationId xmlns:a16="http://schemas.microsoft.com/office/drawing/2014/main" id="{BA1327CD-A213-8BCD-E7CE-F739E7F6665F}"/>
                </a:ext>
              </a:extLst>
            </p:cNvPr>
            <p:cNvSpPr>
              <a:spLocks noChangeShapeType="1"/>
            </p:cNvSpPr>
            <p:nvPr/>
          </p:nvSpPr>
          <p:spPr bwMode="auto">
            <a:xfrm>
              <a:off x="6218895" y="2070034"/>
              <a:ext cx="1304925" cy="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Text Box 16">
              <a:extLst>
                <a:ext uri="{FF2B5EF4-FFF2-40B4-BE49-F238E27FC236}">
                  <a16:creationId xmlns:a16="http://schemas.microsoft.com/office/drawing/2014/main" id="{E8B312F7-A781-0F33-98D6-F9ED66F7F7A2}"/>
                </a:ext>
              </a:extLst>
            </p:cNvPr>
            <p:cNvSpPr txBox="1">
              <a:spLocks noChangeArrowheads="1"/>
            </p:cNvSpPr>
            <p:nvPr/>
          </p:nvSpPr>
          <p:spPr bwMode="auto">
            <a:xfrm>
              <a:off x="7482545" y="1885884"/>
              <a:ext cx="661422" cy="39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r>
                <a:rPr lang="en-US" altLang="en-US" sz="1400" i="1">
                  <a:latin typeface="+mn-lt"/>
                </a:rPr>
                <a:t>Demand</a:t>
              </a:r>
            </a:p>
            <a:p>
              <a:pPr>
                <a:lnSpc>
                  <a:spcPct val="80000"/>
                </a:lnSpc>
                <a:buClrTx/>
                <a:buSzTx/>
                <a:buFontTx/>
                <a:buNone/>
              </a:pPr>
              <a:r>
                <a:rPr lang="en-US" altLang="en-US" sz="1400" i="1">
                  <a:latin typeface="+mn-lt"/>
                </a:rPr>
                <a:t>Planning</a:t>
              </a:r>
            </a:p>
          </p:txBody>
        </p:sp>
        <p:sp>
          <p:nvSpPr>
            <p:cNvPr id="12" name="Text Box 17">
              <a:extLst>
                <a:ext uri="{FF2B5EF4-FFF2-40B4-BE49-F238E27FC236}">
                  <a16:creationId xmlns:a16="http://schemas.microsoft.com/office/drawing/2014/main" id="{A2B1678A-0B9C-4C64-3A4E-5DA6FE3B1001}"/>
                </a:ext>
              </a:extLst>
            </p:cNvPr>
            <p:cNvSpPr txBox="1">
              <a:spLocks noChangeArrowheads="1"/>
            </p:cNvSpPr>
            <p:nvPr/>
          </p:nvSpPr>
          <p:spPr bwMode="auto">
            <a:xfrm>
              <a:off x="1253759" y="1889059"/>
              <a:ext cx="661422" cy="39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buClrTx/>
                <a:buSzTx/>
                <a:buFontTx/>
                <a:buNone/>
              </a:pPr>
              <a:r>
                <a:rPr lang="en-US" altLang="en-US" sz="1400" i="1" dirty="0">
                  <a:latin typeface="+mn-lt"/>
                </a:rPr>
                <a:t>Supply</a:t>
              </a:r>
            </a:p>
            <a:p>
              <a:pPr algn="r">
                <a:lnSpc>
                  <a:spcPct val="80000"/>
                </a:lnSpc>
                <a:buClrTx/>
                <a:buSzTx/>
                <a:buFontTx/>
                <a:buNone/>
              </a:pPr>
              <a:r>
                <a:rPr lang="en-US" altLang="en-US" sz="1400" i="1" dirty="0">
                  <a:latin typeface="+mn-lt"/>
                </a:rPr>
                <a:t>Planning</a:t>
              </a:r>
            </a:p>
          </p:txBody>
        </p:sp>
        <p:sp>
          <p:nvSpPr>
            <p:cNvPr id="13" name="Rectangle 18">
              <a:extLst>
                <a:ext uri="{FF2B5EF4-FFF2-40B4-BE49-F238E27FC236}">
                  <a16:creationId xmlns:a16="http://schemas.microsoft.com/office/drawing/2014/main" id="{D1549B8B-9BDE-B783-90A6-843667956EFC}"/>
                </a:ext>
              </a:extLst>
            </p:cNvPr>
            <p:cNvSpPr>
              <a:spLocks noChangeArrowheads="1"/>
            </p:cNvSpPr>
            <p:nvPr/>
          </p:nvSpPr>
          <p:spPr bwMode="auto">
            <a:xfrm>
              <a:off x="6393520" y="2936809"/>
              <a:ext cx="2324100" cy="6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dirty="0">
                  <a:latin typeface="+mn-lt"/>
                </a:rPr>
                <a:t>One-plan Consensus-driven snapshot of next month customer requirements</a:t>
              </a:r>
              <a:endParaRPr lang="en-US" altLang="en-US" b="0" dirty="0">
                <a:latin typeface="+mn-lt"/>
              </a:endParaRPr>
            </a:p>
          </p:txBody>
        </p:sp>
        <p:sp>
          <p:nvSpPr>
            <p:cNvPr id="14" name="Rectangle 19">
              <a:extLst>
                <a:ext uri="{FF2B5EF4-FFF2-40B4-BE49-F238E27FC236}">
                  <a16:creationId xmlns:a16="http://schemas.microsoft.com/office/drawing/2014/main" id="{B1D569BE-8CB0-ED20-337A-51D8B7EA9CE6}"/>
                </a:ext>
              </a:extLst>
            </p:cNvPr>
            <p:cNvSpPr>
              <a:spLocks noChangeArrowheads="1"/>
            </p:cNvSpPr>
            <p:nvPr/>
          </p:nvSpPr>
          <p:spPr bwMode="auto">
            <a:xfrm>
              <a:off x="495957" y="2935222"/>
              <a:ext cx="5307013" cy="150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dirty="0">
                  <a:latin typeface="+mn-lt"/>
                </a:rPr>
                <a:t>Unbiased, realistic appraisal of the production horsepower that can be brought to bear to meet next-month demand</a:t>
              </a:r>
            </a:p>
            <a:p>
              <a:pPr>
                <a:spcBef>
                  <a:spcPct val="55000"/>
                </a:spcBef>
                <a:buClrTx/>
                <a:buSzPct val="90000"/>
                <a:buFont typeface="Arial" panose="020B0604020202020204" pitchFamily="34" charset="0"/>
                <a:buChar char="•"/>
              </a:pPr>
              <a:r>
                <a:rPr lang="en-US" altLang="en-US" dirty="0">
                  <a:latin typeface="+mn-lt"/>
                </a:rPr>
                <a:t>Documented understanding of theoretical capabilities, demonstrated capabilities and existing constraints (e.g. maintenance issues, etc.)</a:t>
              </a:r>
            </a:p>
            <a:p>
              <a:pPr>
                <a:spcBef>
                  <a:spcPct val="55000"/>
                </a:spcBef>
                <a:buClrTx/>
                <a:buSzPct val="90000"/>
                <a:buFont typeface="Arial" panose="020B0604020202020204" pitchFamily="34" charset="0"/>
                <a:buChar char="•"/>
              </a:pPr>
              <a:r>
                <a:rPr lang="en-US" altLang="en-US" dirty="0">
                  <a:latin typeface="+mn-lt"/>
                </a:rPr>
                <a:t>Consensus plan development of </a:t>
              </a:r>
              <a:r>
                <a:rPr lang="ja-JP" altLang="en-US" dirty="0">
                  <a:latin typeface="+mn-lt"/>
                </a:rPr>
                <a:t>“</a:t>
              </a:r>
              <a:r>
                <a:rPr lang="en-US" altLang="ja-JP" dirty="0">
                  <a:latin typeface="+mn-lt"/>
                </a:rPr>
                <a:t>doing what we can with what we have</a:t>
              </a:r>
              <a:r>
                <a:rPr lang="ja-JP" altLang="en-US" dirty="0">
                  <a:latin typeface="+mn-lt"/>
                </a:rPr>
                <a:t>”</a:t>
              </a:r>
              <a:r>
                <a:rPr lang="en-US" altLang="ja-JP" dirty="0">
                  <a:latin typeface="+mn-lt"/>
                </a:rPr>
                <a:t> leading to </a:t>
              </a:r>
              <a:r>
                <a:rPr lang="ja-JP" altLang="en-US" dirty="0">
                  <a:latin typeface="+mn-lt"/>
                </a:rPr>
                <a:t>“</a:t>
              </a:r>
              <a:r>
                <a:rPr lang="en-US" altLang="ja-JP" dirty="0">
                  <a:latin typeface="+mn-lt"/>
                </a:rPr>
                <a:t>maximizing ALL that we have</a:t>
              </a:r>
              <a:r>
                <a:rPr lang="ja-JP" altLang="en-US" dirty="0">
                  <a:latin typeface="+mn-lt"/>
                </a:rPr>
                <a:t>”</a:t>
              </a:r>
              <a:endParaRPr lang="en-US" altLang="en-US" b="0" dirty="0">
                <a:latin typeface="+mn-lt"/>
              </a:endParaRPr>
            </a:p>
          </p:txBody>
        </p:sp>
        <p:grpSp>
          <p:nvGrpSpPr>
            <p:cNvPr id="15" name="Group 25">
              <a:extLst>
                <a:ext uri="{FF2B5EF4-FFF2-40B4-BE49-F238E27FC236}">
                  <a16:creationId xmlns:a16="http://schemas.microsoft.com/office/drawing/2014/main" id="{23313054-3A84-CB76-ABDA-EC795DA86636}"/>
                </a:ext>
              </a:extLst>
            </p:cNvPr>
            <p:cNvGrpSpPr>
              <a:grpSpLocks/>
            </p:cNvGrpSpPr>
            <p:nvPr/>
          </p:nvGrpSpPr>
          <p:grpSpPr bwMode="auto">
            <a:xfrm>
              <a:off x="1043645" y="4659247"/>
              <a:ext cx="6932612" cy="762000"/>
              <a:chOff x="717" y="3109"/>
              <a:chExt cx="4367" cy="659"/>
            </a:xfrm>
          </p:grpSpPr>
          <p:sp>
            <p:nvSpPr>
              <p:cNvPr id="16" name="Rectangle 24">
                <a:extLst>
                  <a:ext uri="{FF2B5EF4-FFF2-40B4-BE49-F238E27FC236}">
                    <a16:creationId xmlns:a16="http://schemas.microsoft.com/office/drawing/2014/main" id="{25DFF35C-0981-B84E-75AC-05FB9607BE30}"/>
                  </a:ext>
                </a:extLst>
              </p:cNvPr>
              <p:cNvSpPr>
                <a:spLocks noChangeArrowheads="1"/>
              </p:cNvSpPr>
              <p:nvPr/>
            </p:nvSpPr>
            <p:spPr bwMode="auto">
              <a:xfrm>
                <a:off x="717" y="3109"/>
                <a:ext cx="4367" cy="659"/>
              </a:xfrm>
              <a:prstGeom prst="rect">
                <a:avLst/>
              </a:prstGeom>
              <a:solidFill>
                <a:srgbClr val="EAEAEA"/>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Oval 21">
                <a:extLst>
                  <a:ext uri="{FF2B5EF4-FFF2-40B4-BE49-F238E27FC236}">
                    <a16:creationId xmlns:a16="http://schemas.microsoft.com/office/drawing/2014/main" id="{67BEBBD6-0F8F-722D-4D1D-EB0D28DA8D6E}"/>
                  </a:ext>
                </a:extLst>
              </p:cNvPr>
              <p:cNvSpPr>
                <a:spLocks noChangeArrowheads="1"/>
              </p:cNvSpPr>
              <p:nvPr/>
            </p:nvSpPr>
            <p:spPr bwMode="auto">
              <a:xfrm>
                <a:off x="786" y="3179"/>
                <a:ext cx="2050" cy="233"/>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Meets Demand</a:t>
                </a:r>
              </a:p>
            </p:txBody>
          </p:sp>
          <p:sp>
            <p:nvSpPr>
              <p:cNvPr id="18" name="Oval 22">
                <a:extLst>
                  <a:ext uri="{FF2B5EF4-FFF2-40B4-BE49-F238E27FC236}">
                    <a16:creationId xmlns:a16="http://schemas.microsoft.com/office/drawing/2014/main" id="{E6C3889C-7033-83CD-3728-D7AA2AD2851B}"/>
                  </a:ext>
                </a:extLst>
              </p:cNvPr>
              <p:cNvSpPr>
                <a:spLocks noChangeArrowheads="1"/>
              </p:cNvSpPr>
              <p:nvPr/>
            </p:nvSpPr>
            <p:spPr bwMode="auto">
              <a:xfrm>
                <a:off x="2964" y="3179"/>
                <a:ext cx="2050" cy="233"/>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Supply Augmented To Meet Demand</a:t>
                </a:r>
              </a:p>
            </p:txBody>
          </p:sp>
          <p:sp>
            <p:nvSpPr>
              <p:cNvPr id="19" name="Oval 23">
                <a:extLst>
                  <a:ext uri="{FF2B5EF4-FFF2-40B4-BE49-F238E27FC236}">
                    <a16:creationId xmlns:a16="http://schemas.microsoft.com/office/drawing/2014/main" id="{7A398BC2-D16C-49F3-80FB-EAFEE4E649BC}"/>
                  </a:ext>
                </a:extLst>
              </p:cNvPr>
              <p:cNvSpPr>
                <a:spLocks noChangeArrowheads="1"/>
              </p:cNvSpPr>
              <p:nvPr/>
            </p:nvSpPr>
            <p:spPr bwMode="auto">
              <a:xfrm>
                <a:off x="1875" y="3471"/>
                <a:ext cx="2050" cy="232"/>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Supply Cannot Meet Demand</a:t>
                </a:r>
              </a:p>
            </p:txBody>
          </p:sp>
        </p:grpSp>
        <p:sp>
          <p:nvSpPr>
            <p:cNvPr id="20" name="Line 26">
              <a:extLst>
                <a:ext uri="{FF2B5EF4-FFF2-40B4-BE49-F238E27FC236}">
                  <a16:creationId xmlns:a16="http://schemas.microsoft.com/office/drawing/2014/main" id="{889403DB-AB01-E571-2298-4075F748E3C4}"/>
                </a:ext>
              </a:extLst>
            </p:cNvPr>
            <p:cNvSpPr>
              <a:spLocks noChangeShapeType="1"/>
            </p:cNvSpPr>
            <p:nvPr/>
          </p:nvSpPr>
          <p:spPr bwMode="auto">
            <a:xfrm>
              <a:off x="6068082" y="2049397"/>
              <a:ext cx="0" cy="2517775"/>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844150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Commencement:  </a:t>
            </a:r>
            <a:br>
              <a:rPr lang="en-US" dirty="0"/>
            </a:br>
            <a:r>
              <a:rPr lang="en-US" dirty="0"/>
              <a:t>Last-Month Results, Next-Month Match</a:t>
            </a:r>
          </a:p>
        </p:txBody>
      </p:sp>
      <p:grpSp>
        <p:nvGrpSpPr>
          <p:cNvPr id="56" name="Group 55">
            <a:extLst>
              <a:ext uri="{FF2B5EF4-FFF2-40B4-BE49-F238E27FC236}">
                <a16:creationId xmlns:a16="http://schemas.microsoft.com/office/drawing/2014/main" id="{ABBCA3F8-9B89-F77B-F535-47450EA67279}"/>
              </a:ext>
            </a:extLst>
          </p:cNvPr>
          <p:cNvGrpSpPr/>
          <p:nvPr/>
        </p:nvGrpSpPr>
        <p:grpSpPr>
          <a:xfrm>
            <a:off x="447674" y="1756191"/>
            <a:ext cx="11024855" cy="4420772"/>
            <a:chOff x="447675" y="1756191"/>
            <a:chExt cx="8361362" cy="4049713"/>
          </a:xfrm>
        </p:grpSpPr>
        <p:grpSp>
          <p:nvGrpSpPr>
            <p:cNvPr id="3" name="Group 38">
              <a:extLst>
                <a:ext uri="{FF2B5EF4-FFF2-40B4-BE49-F238E27FC236}">
                  <a16:creationId xmlns:a16="http://schemas.microsoft.com/office/drawing/2014/main" id="{91BB71D4-A925-76CE-82EC-B00268E15EF3}"/>
                </a:ext>
              </a:extLst>
            </p:cNvPr>
            <p:cNvGrpSpPr>
              <a:grpSpLocks/>
            </p:cNvGrpSpPr>
            <p:nvPr/>
          </p:nvGrpSpPr>
          <p:grpSpPr bwMode="auto">
            <a:xfrm>
              <a:off x="447675" y="1784766"/>
              <a:ext cx="3421062" cy="1751013"/>
              <a:chOff x="323" y="1471"/>
              <a:chExt cx="2155" cy="1103"/>
            </a:xfrm>
          </p:grpSpPr>
          <p:sp>
            <p:nvSpPr>
              <p:cNvPr id="4" name="Rectangle 5">
                <a:extLst>
                  <a:ext uri="{FF2B5EF4-FFF2-40B4-BE49-F238E27FC236}">
                    <a16:creationId xmlns:a16="http://schemas.microsoft.com/office/drawing/2014/main" id="{E8923980-C5C4-297D-E189-D99AC2ED701E}"/>
                  </a:ext>
                </a:extLst>
              </p:cNvPr>
              <p:cNvSpPr>
                <a:spLocks noChangeArrowheads="1"/>
              </p:cNvSpPr>
              <p:nvPr/>
            </p:nvSpPr>
            <p:spPr bwMode="auto">
              <a:xfrm>
                <a:off x="323" y="1471"/>
                <a:ext cx="2155" cy="1103"/>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 name="Line 6">
                <a:extLst>
                  <a:ext uri="{FF2B5EF4-FFF2-40B4-BE49-F238E27FC236}">
                    <a16:creationId xmlns:a16="http://schemas.microsoft.com/office/drawing/2014/main" id="{FC33FF7E-92F0-184F-51DB-1B2790D2F5EF}"/>
                  </a:ext>
                </a:extLst>
              </p:cNvPr>
              <p:cNvSpPr>
                <a:spLocks noChangeShapeType="1"/>
              </p:cNvSpPr>
              <p:nvPr/>
            </p:nvSpPr>
            <p:spPr bwMode="auto">
              <a:xfrm>
                <a:off x="385" y="1711"/>
                <a:ext cx="2038" cy="0"/>
              </a:xfrm>
              <a:prstGeom prst="line">
                <a:avLst/>
              </a:prstGeom>
              <a:noFill/>
              <a:ln w="9525">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 name="Line 7">
                <a:extLst>
                  <a:ext uri="{FF2B5EF4-FFF2-40B4-BE49-F238E27FC236}">
                    <a16:creationId xmlns:a16="http://schemas.microsoft.com/office/drawing/2014/main" id="{2F7F78F0-8544-089B-5EA6-52BB05500DDC}"/>
                  </a:ext>
                </a:extLst>
              </p:cNvPr>
              <p:cNvSpPr>
                <a:spLocks noChangeShapeType="1"/>
              </p:cNvSpPr>
              <p:nvPr/>
            </p:nvSpPr>
            <p:spPr bwMode="auto">
              <a:xfrm>
                <a:off x="385" y="1908"/>
                <a:ext cx="2038" cy="0"/>
              </a:xfrm>
              <a:prstGeom prst="line">
                <a:avLst/>
              </a:prstGeom>
              <a:noFill/>
              <a:ln w="9525">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 name="Line 8">
                <a:extLst>
                  <a:ext uri="{FF2B5EF4-FFF2-40B4-BE49-F238E27FC236}">
                    <a16:creationId xmlns:a16="http://schemas.microsoft.com/office/drawing/2014/main" id="{EFAFD04C-FE5B-533B-7B4C-BF72ED897AA2}"/>
                  </a:ext>
                </a:extLst>
              </p:cNvPr>
              <p:cNvSpPr>
                <a:spLocks noChangeShapeType="1"/>
              </p:cNvSpPr>
              <p:nvPr/>
            </p:nvSpPr>
            <p:spPr bwMode="auto">
              <a:xfrm>
                <a:off x="385" y="2132"/>
                <a:ext cx="2038" cy="0"/>
              </a:xfrm>
              <a:prstGeom prst="line">
                <a:avLst/>
              </a:prstGeom>
              <a:noFill/>
              <a:ln w="9525">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8" name="Line 9">
                <a:extLst>
                  <a:ext uri="{FF2B5EF4-FFF2-40B4-BE49-F238E27FC236}">
                    <a16:creationId xmlns:a16="http://schemas.microsoft.com/office/drawing/2014/main" id="{B7F6A3D3-8BCA-7B43-B79B-7A6D3C07CF71}"/>
                  </a:ext>
                </a:extLst>
              </p:cNvPr>
              <p:cNvSpPr>
                <a:spLocks noChangeShapeType="1"/>
              </p:cNvSpPr>
              <p:nvPr/>
            </p:nvSpPr>
            <p:spPr bwMode="auto">
              <a:xfrm>
                <a:off x="385" y="2351"/>
                <a:ext cx="2038" cy="0"/>
              </a:xfrm>
              <a:prstGeom prst="line">
                <a:avLst/>
              </a:prstGeom>
              <a:noFill/>
              <a:ln w="9525">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 name="Rectangle 10">
                <a:extLst>
                  <a:ext uri="{FF2B5EF4-FFF2-40B4-BE49-F238E27FC236}">
                    <a16:creationId xmlns:a16="http://schemas.microsoft.com/office/drawing/2014/main" id="{E0918981-64D8-2EAB-CEB5-460438CC2ED5}"/>
                  </a:ext>
                </a:extLst>
              </p:cNvPr>
              <p:cNvSpPr>
                <a:spLocks noChangeArrowheads="1"/>
              </p:cNvSpPr>
              <p:nvPr/>
            </p:nvSpPr>
            <p:spPr bwMode="auto">
              <a:xfrm>
                <a:off x="538" y="1543"/>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400">
                    <a:latin typeface="+mn-lt"/>
                  </a:rPr>
                  <a:t>Demand Team</a:t>
                </a:r>
              </a:p>
              <a:p>
                <a:pPr algn="r">
                  <a:spcBef>
                    <a:spcPct val="0"/>
                  </a:spcBef>
                  <a:buClrTx/>
                  <a:buSzTx/>
                  <a:buFontTx/>
                  <a:buNone/>
                </a:pPr>
                <a:r>
                  <a:rPr lang="en-US" altLang="en-US" sz="400">
                    <a:latin typeface="+mn-lt"/>
                  </a:rPr>
                  <a:t>Members</a:t>
                </a:r>
              </a:p>
            </p:txBody>
          </p:sp>
          <p:sp>
            <p:nvSpPr>
              <p:cNvPr id="10" name="Rectangle 11">
                <a:extLst>
                  <a:ext uri="{FF2B5EF4-FFF2-40B4-BE49-F238E27FC236}">
                    <a16:creationId xmlns:a16="http://schemas.microsoft.com/office/drawing/2014/main" id="{454EB97E-2B3D-E865-0AF8-0316EF968213}"/>
                  </a:ext>
                </a:extLst>
              </p:cNvPr>
              <p:cNvSpPr>
                <a:spLocks noChangeArrowheads="1"/>
              </p:cNvSpPr>
              <p:nvPr/>
            </p:nvSpPr>
            <p:spPr bwMode="auto">
              <a:xfrm>
                <a:off x="537" y="1738"/>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400">
                    <a:latin typeface="+mn-lt"/>
                  </a:rPr>
                  <a:t>Demand Team</a:t>
                </a:r>
              </a:p>
              <a:p>
                <a:pPr algn="r">
                  <a:spcBef>
                    <a:spcPct val="0"/>
                  </a:spcBef>
                  <a:buClrTx/>
                  <a:buSzTx/>
                  <a:buFontTx/>
                  <a:buNone/>
                </a:pPr>
                <a:r>
                  <a:rPr lang="en-US" altLang="en-US" sz="400">
                    <a:latin typeface="+mn-lt"/>
                  </a:rPr>
                  <a:t>Members</a:t>
                </a:r>
              </a:p>
            </p:txBody>
          </p:sp>
          <p:sp>
            <p:nvSpPr>
              <p:cNvPr id="11" name="Rectangle 12">
                <a:extLst>
                  <a:ext uri="{FF2B5EF4-FFF2-40B4-BE49-F238E27FC236}">
                    <a16:creationId xmlns:a16="http://schemas.microsoft.com/office/drawing/2014/main" id="{88F5999E-8913-31D2-6C03-06BCFCD273C9}"/>
                  </a:ext>
                </a:extLst>
              </p:cNvPr>
              <p:cNvSpPr>
                <a:spLocks noChangeArrowheads="1"/>
              </p:cNvSpPr>
              <p:nvPr/>
            </p:nvSpPr>
            <p:spPr bwMode="auto">
              <a:xfrm>
                <a:off x="787" y="1940"/>
                <a:ext cx="4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400">
                    <a:latin typeface="+mn-lt"/>
                  </a:rPr>
                  <a:t>Production Planning</a:t>
                </a:r>
              </a:p>
              <a:p>
                <a:pPr algn="r">
                  <a:spcBef>
                    <a:spcPct val="0"/>
                  </a:spcBef>
                  <a:buClrTx/>
                  <a:buSzTx/>
                  <a:buFontTx/>
                  <a:buNone/>
                </a:pPr>
                <a:r>
                  <a:rPr lang="en-US" altLang="en-US" sz="400">
                    <a:latin typeface="+mn-lt"/>
                  </a:rPr>
                  <a:t>Team Members</a:t>
                </a:r>
              </a:p>
            </p:txBody>
          </p:sp>
          <p:sp>
            <p:nvSpPr>
              <p:cNvPr id="12" name="Rectangle 13">
                <a:extLst>
                  <a:ext uri="{FF2B5EF4-FFF2-40B4-BE49-F238E27FC236}">
                    <a16:creationId xmlns:a16="http://schemas.microsoft.com/office/drawing/2014/main" id="{21396EDC-9196-E294-AFE6-25CDA9CEF5EF}"/>
                  </a:ext>
                </a:extLst>
              </p:cNvPr>
              <p:cNvSpPr>
                <a:spLocks noChangeArrowheads="1"/>
              </p:cNvSpPr>
              <p:nvPr/>
            </p:nvSpPr>
            <p:spPr bwMode="auto">
              <a:xfrm>
                <a:off x="1059" y="2153"/>
                <a:ext cx="45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spcBef>
                    <a:spcPct val="0"/>
                  </a:spcBef>
                  <a:buClrTx/>
                  <a:buSzTx/>
                  <a:buFontTx/>
                  <a:buNone/>
                </a:pPr>
                <a:r>
                  <a:rPr lang="en-US" altLang="en-US" sz="400">
                    <a:latin typeface="+mn-lt"/>
                  </a:rPr>
                  <a:t>Production Scheduling</a:t>
                </a:r>
              </a:p>
              <a:p>
                <a:pPr algn="r">
                  <a:spcBef>
                    <a:spcPct val="0"/>
                  </a:spcBef>
                  <a:buClrTx/>
                  <a:buSzTx/>
                  <a:buFontTx/>
                  <a:buNone/>
                </a:pPr>
                <a:r>
                  <a:rPr lang="en-US" altLang="en-US" sz="400">
                    <a:latin typeface="+mn-lt"/>
                  </a:rPr>
                  <a:t>Team Members</a:t>
                </a:r>
              </a:p>
            </p:txBody>
          </p:sp>
          <p:sp>
            <p:nvSpPr>
              <p:cNvPr id="13" name="Rectangle 14">
                <a:extLst>
                  <a:ext uri="{FF2B5EF4-FFF2-40B4-BE49-F238E27FC236}">
                    <a16:creationId xmlns:a16="http://schemas.microsoft.com/office/drawing/2014/main" id="{CA989DAF-AAB1-0968-D7C2-C3A5E9874BA1}"/>
                  </a:ext>
                </a:extLst>
              </p:cNvPr>
              <p:cNvSpPr>
                <a:spLocks noChangeArrowheads="1"/>
              </p:cNvSpPr>
              <p:nvPr/>
            </p:nvSpPr>
            <p:spPr bwMode="auto">
              <a:xfrm>
                <a:off x="1201" y="1928"/>
                <a:ext cx="293" cy="190"/>
              </a:xfrm>
              <a:prstGeom prst="rect">
                <a:avLst/>
              </a:prstGeom>
              <a:solidFill>
                <a:schemeClr val="tx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chemeClr val="bg1"/>
                    </a:solidFill>
                    <a:latin typeface="+mn-lt"/>
                  </a:rPr>
                  <a:t>Receive Net</a:t>
                </a:r>
              </a:p>
              <a:p>
                <a:pPr algn="ctr">
                  <a:lnSpc>
                    <a:spcPct val="80000"/>
                  </a:lnSpc>
                  <a:buClrTx/>
                  <a:buSzTx/>
                  <a:buFontTx/>
                  <a:buNone/>
                </a:pPr>
                <a:r>
                  <a:rPr lang="en-US" altLang="en-US" sz="400">
                    <a:solidFill>
                      <a:schemeClr val="bg1"/>
                    </a:solidFill>
                    <a:latin typeface="+mn-lt"/>
                  </a:rPr>
                  <a:t>Requirements </a:t>
                </a:r>
              </a:p>
              <a:p>
                <a:pPr algn="ctr">
                  <a:lnSpc>
                    <a:spcPct val="80000"/>
                  </a:lnSpc>
                  <a:buClrTx/>
                  <a:buSzTx/>
                  <a:buFontTx/>
                  <a:buNone/>
                </a:pPr>
                <a:r>
                  <a:rPr lang="en-US" altLang="en-US" sz="400">
                    <a:solidFill>
                      <a:schemeClr val="bg1"/>
                    </a:solidFill>
                    <a:latin typeface="+mn-lt"/>
                  </a:rPr>
                  <a:t>From</a:t>
                </a:r>
              </a:p>
              <a:p>
                <a:pPr algn="ctr">
                  <a:lnSpc>
                    <a:spcPct val="80000"/>
                  </a:lnSpc>
                  <a:buClrTx/>
                  <a:buSzTx/>
                  <a:buFontTx/>
                  <a:buNone/>
                </a:pPr>
                <a:r>
                  <a:rPr lang="en-US" altLang="en-US" sz="400">
                    <a:solidFill>
                      <a:schemeClr val="bg1"/>
                    </a:solidFill>
                    <a:latin typeface="+mn-lt"/>
                  </a:rPr>
                  <a:t>Demand Team</a:t>
                </a:r>
              </a:p>
            </p:txBody>
          </p:sp>
          <p:sp>
            <p:nvSpPr>
              <p:cNvPr id="14" name="Rectangle 15">
                <a:extLst>
                  <a:ext uri="{FF2B5EF4-FFF2-40B4-BE49-F238E27FC236}">
                    <a16:creationId xmlns:a16="http://schemas.microsoft.com/office/drawing/2014/main" id="{8AD81E6B-544E-3AF0-34DF-D656CDA9FC2A}"/>
                  </a:ext>
                </a:extLst>
              </p:cNvPr>
              <p:cNvSpPr>
                <a:spLocks noChangeArrowheads="1"/>
              </p:cNvSpPr>
              <p:nvPr/>
            </p:nvSpPr>
            <p:spPr bwMode="auto">
              <a:xfrm>
                <a:off x="778" y="1731"/>
                <a:ext cx="293" cy="152"/>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rgbClr val="000066"/>
                    </a:solidFill>
                    <a:latin typeface="+mn-lt"/>
                  </a:rPr>
                  <a:t>Collect Market</a:t>
                </a:r>
              </a:p>
              <a:p>
                <a:pPr algn="ctr">
                  <a:lnSpc>
                    <a:spcPct val="80000"/>
                  </a:lnSpc>
                  <a:buClrTx/>
                  <a:buSzTx/>
                  <a:buFontTx/>
                  <a:buNone/>
                </a:pPr>
                <a:r>
                  <a:rPr lang="en-US" altLang="en-US" sz="400">
                    <a:solidFill>
                      <a:srgbClr val="000066"/>
                    </a:solidFill>
                    <a:latin typeface="+mn-lt"/>
                  </a:rPr>
                  <a:t>Forecast(s) From</a:t>
                </a:r>
              </a:p>
              <a:p>
                <a:pPr algn="ctr">
                  <a:lnSpc>
                    <a:spcPct val="80000"/>
                  </a:lnSpc>
                  <a:buClrTx/>
                  <a:buSzTx/>
                  <a:buFontTx/>
                  <a:buNone/>
                </a:pPr>
                <a:r>
                  <a:rPr lang="en-US" altLang="en-US" sz="400">
                    <a:solidFill>
                      <a:srgbClr val="000066"/>
                    </a:solidFill>
                    <a:latin typeface="+mn-lt"/>
                  </a:rPr>
                  <a:t>Various Markets</a:t>
                </a:r>
              </a:p>
            </p:txBody>
          </p:sp>
          <p:sp>
            <p:nvSpPr>
              <p:cNvPr id="15" name="Rectangle 16">
                <a:extLst>
                  <a:ext uri="{FF2B5EF4-FFF2-40B4-BE49-F238E27FC236}">
                    <a16:creationId xmlns:a16="http://schemas.microsoft.com/office/drawing/2014/main" id="{FCA138A4-B2BB-268E-7DDE-95117D397A9D}"/>
                  </a:ext>
                </a:extLst>
              </p:cNvPr>
              <p:cNvSpPr>
                <a:spLocks noChangeArrowheads="1"/>
              </p:cNvSpPr>
              <p:nvPr/>
            </p:nvSpPr>
            <p:spPr bwMode="auto">
              <a:xfrm>
                <a:off x="1563" y="1928"/>
                <a:ext cx="258" cy="395"/>
              </a:xfrm>
              <a:prstGeom prst="rect">
                <a:avLst/>
              </a:prstGeom>
              <a:solidFill>
                <a:schemeClr val="tx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chemeClr val="bg1"/>
                    </a:solidFill>
                    <a:latin typeface="+mn-lt"/>
                  </a:rPr>
                  <a:t>Develop Initial</a:t>
                </a:r>
              </a:p>
              <a:p>
                <a:pPr algn="ctr">
                  <a:lnSpc>
                    <a:spcPct val="80000"/>
                  </a:lnSpc>
                  <a:buClrTx/>
                  <a:buSzTx/>
                  <a:buFontTx/>
                  <a:buNone/>
                </a:pPr>
                <a:r>
                  <a:rPr lang="en-US" altLang="en-US" sz="400">
                    <a:solidFill>
                      <a:schemeClr val="bg1"/>
                    </a:solidFill>
                    <a:latin typeface="+mn-lt"/>
                  </a:rPr>
                  <a:t>Production</a:t>
                </a:r>
              </a:p>
              <a:p>
                <a:pPr algn="ctr">
                  <a:lnSpc>
                    <a:spcPct val="80000"/>
                  </a:lnSpc>
                  <a:buClrTx/>
                  <a:buSzTx/>
                  <a:buFontTx/>
                  <a:buNone/>
                </a:pPr>
                <a:r>
                  <a:rPr lang="en-US" altLang="en-US" sz="400">
                    <a:solidFill>
                      <a:schemeClr val="bg1"/>
                    </a:solidFill>
                    <a:latin typeface="+mn-lt"/>
                  </a:rPr>
                  <a:t>Plan Based on</a:t>
                </a:r>
              </a:p>
              <a:p>
                <a:pPr algn="ctr">
                  <a:lnSpc>
                    <a:spcPct val="80000"/>
                  </a:lnSpc>
                  <a:buClrTx/>
                  <a:buSzTx/>
                  <a:buFontTx/>
                  <a:buNone/>
                </a:pPr>
                <a:r>
                  <a:rPr lang="en-US" altLang="en-US" sz="400">
                    <a:solidFill>
                      <a:schemeClr val="bg1"/>
                    </a:solidFill>
                    <a:latin typeface="+mn-lt"/>
                  </a:rPr>
                  <a:t>Net</a:t>
                </a:r>
              </a:p>
              <a:p>
                <a:pPr algn="ctr">
                  <a:lnSpc>
                    <a:spcPct val="80000"/>
                  </a:lnSpc>
                  <a:buClrTx/>
                  <a:buSzTx/>
                  <a:buFontTx/>
                  <a:buNone/>
                </a:pPr>
                <a:r>
                  <a:rPr lang="en-US" altLang="en-US" sz="400">
                    <a:solidFill>
                      <a:schemeClr val="bg1"/>
                    </a:solidFill>
                    <a:latin typeface="+mn-lt"/>
                  </a:rPr>
                  <a:t>Requirements</a:t>
                </a:r>
              </a:p>
              <a:p>
                <a:pPr algn="ctr">
                  <a:lnSpc>
                    <a:spcPct val="80000"/>
                  </a:lnSpc>
                  <a:buClrTx/>
                  <a:buSzTx/>
                  <a:buFontTx/>
                  <a:buNone/>
                </a:pPr>
                <a:r>
                  <a:rPr lang="en-US" altLang="en-US" sz="400">
                    <a:solidFill>
                      <a:schemeClr val="bg1"/>
                    </a:solidFill>
                    <a:latin typeface="+mn-lt"/>
                  </a:rPr>
                  <a:t>&amp; Available</a:t>
                </a:r>
              </a:p>
              <a:p>
                <a:pPr algn="ctr">
                  <a:lnSpc>
                    <a:spcPct val="80000"/>
                  </a:lnSpc>
                  <a:buClrTx/>
                  <a:buSzTx/>
                  <a:buFontTx/>
                  <a:buNone/>
                </a:pPr>
                <a:r>
                  <a:rPr lang="en-US" altLang="en-US" sz="400">
                    <a:solidFill>
                      <a:schemeClr val="bg1"/>
                    </a:solidFill>
                    <a:latin typeface="+mn-lt"/>
                  </a:rPr>
                  <a:t>Capacity</a:t>
                </a:r>
              </a:p>
            </p:txBody>
          </p:sp>
          <p:sp>
            <p:nvSpPr>
              <p:cNvPr id="16" name="Rectangle 17">
                <a:extLst>
                  <a:ext uri="{FF2B5EF4-FFF2-40B4-BE49-F238E27FC236}">
                    <a16:creationId xmlns:a16="http://schemas.microsoft.com/office/drawing/2014/main" id="{5B8015AD-B3D5-A9CE-11EA-D77D3AF26BA6}"/>
                  </a:ext>
                </a:extLst>
              </p:cNvPr>
              <p:cNvSpPr>
                <a:spLocks noChangeArrowheads="1"/>
              </p:cNvSpPr>
              <p:nvPr/>
            </p:nvSpPr>
            <p:spPr bwMode="auto">
              <a:xfrm>
                <a:off x="1857" y="1584"/>
                <a:ext cx="280" cy="746"/>
              </a:xfrm>
              <a:prstGeom prst="rect">
                <a:avLst/>
              </a:prstGeom>
              <a:solidFill>
                <a:schemeClr val="tx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chemeClr val="bg1"/>
                    </a:solidFill>
                    <a:latin typeface="+mn-lt"/>
                  </a:rPr>
                  <a:t>S&amp;OP Team</a:t>
                </a:r>
              </a:p>
              <a:p>
                <a:pPr algn="ctr">
                  <a:lnSpc>
                    <a:spcPct val="80000"/>
                  </a:lnSpc>
                  <a:buClrTx/>
                  <a:buSzTx/>
                  <a:buFontTx/>
                  <a:buNone/>
                </a:pPr>
                <a:r>
                  <a:rPr lang="en-US" altLang="en-US" sz="400">
                    <a:solidFill>
                      <a:schemeClr val="bg1"/>
                    </a:solidFill>
                    <a:latin typeface="+mn-lt"/>
                  </a:rPr>
                  <a:t>Sign-Off</a:t>
                </a:r>
              </a:p>
              <a:p>
                <a:pPr algn="ctr">
                  <a:lnSpc>
                    <a:spcPct val="80000"/>
                  </a:lnSpc>
                  <a:buClrTx/>
                  <a:buSzTx/>
                  <a:buFontTx/>
                  <a:buNone/>
                </a:pPr>
                <a:r>
                  <a:rPr lang="en-US" altLang="en-US" sz="400">
                    <a:solidFill>
                      <a:schemeClr val="bg1"/>
                    </a:solidFill>
                    <a:latin typeface="+mn-lt"/>
                  </a:rPr>
                  <a:t>Including</a:t>
                </a:r>
              </a:p>
              <a:p>
                <a:pPr algn="ctr">
                  <a:lnSpc>
                    <a:spcPct val="80000"/>
                  </a:lnSpc>
                  <a:buClrTx/>
                  <a:buSzTx/>
                  <a:buFontTx/>
                  <a:buNone/>
                </a:pPr>
                <a:r>
                  <a:rPr lang="en-US" altLang="en-US" sz="400">
                    <a:solidFill>
                      <a:schemeClr val="bg1"/>
                    </a:solidFill>
                    <a:latin typeface="+mn-lt"/>
                  </a:rPr>
                  <a:t>Procurement</a:t>
                </a:r>
              </a:p>
              <a:p>
                <a:pPr algn="ctr">
                  <a:lnSpc>
                    <a:spcPct val="80000"/>
                  </a:lnSpc>
                  <a:buClrTx/>
                  <a:buSzTx/>
                  <a:buFontTx/>
                  <a:buNone/>
                </a:pPr>
                <a:r>
                  <a:rPr lang="en-US" altLang="en-US" sz="400">
                    <a:solidFill>
                      <a:schemeClr val="bg1"/>
                    </a:solidFill>
                    <a:latin typeface="+mn-lt"/>
                  </a:rPr>
                  <a:t>&amp; Sourcing</a:t>
                </a:r>
              </a:p>
              <a:p>
                <a:pPr algn="ctr">
                  <a:lnSpc>
                    <a:spcPct val="80000"/>
                  </a:lnSpc>
                  <a:buClrTx/>
                  <a:buSzTx/>
                  <a:buFontTx/>
                  <a:buNone/>
                </a:pPr>
                <a:r>
                  <a:rPr lang="en-US" altLang="en-US" sz="400">
                    <a:solidFill>
                      <a:schemeClr val="bg1"/>
                    </a:solidFill>
                    <a:latin typeface="+mn-lt"/>
                  </a:rPr>
                  <a:t>Requirements</a:t>
                </a:r>
              </a:p>
            </p:txBody>
          </p:sp>
          <p:sp>
            <p:nvSpPr>
              <p:cNvPr id="17" name="Rectangle 18">
                <a:extLst>
                  <a:ext uri="{FF2B5EF4-FFF2-40B4-BE49-F238E27FC236}">
                    <a16:creationId xmlns:a16="http://schemas.microsoft.com/office/drawing/2014/main" id="{93AF904D-083B-1E93-E252-240BCFAF6C26}"/>
                  </a:ext>
                </a:extLst>
              </p:cNvPr>
              <p:cNvSpPr>
                <a:spLocks noChangeArrowheads="1"/>
              </p:cNvSpPr>
              <p:nvPr/>
            </p:nvSpPr>
            <p:spPr bwMode="auto">
              <a:xfrm>
                <a:off x="778" y="1525"/>
                <a:ext cx="293" cy="166"/>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rgbClr val="000066"/>
                    </a:solidFill>
                    <a:latin typeface="+mn-lt"/>
                  </a:rPr>
                  <a:t>Generate Product</a:t>
                </a:r>
              </a:p>
              <a:p>
                <a:pPr algn="ctr">
                  <a:lnSpc>
                    <a:spcPct val="80000"/>
                  </a:lnSpc>
                  <a:buClrTx/>
                  <a:buSzTx/>
                  <a:buFontTx/>
                  <a:buNone/>
                </a:pPr>
                <a:r>
                  <a:rPr lang="en-US" altLang="en-US" sz="400">
                    <a:solidFill>
                      <a:srgbClr val="000066"/>
                    </a:solidFill>
                    <a:latin typeface="+mn-lt"/>
                  </a:rPr>
                  <a:t>Or Family Sales</a:t>
                </a:r>
              </a:p>
              <a:p>
                <a:pPr algn="ctr">
                  <a:lnSpc>
                    <a:spcPct val="80000"/>
                  </a:lnSpc>
                  <a:buClrTx/>
                  <a:buSzTx/>
                  <a:buFontTx/>
                  <a:buNone/>
                </a:pPr>
                <a:r>
                  <a:rPr lang="en-US" altLang="en-US" sz="400">
                    <a:solidFill>
                      <a:srgbClr val="000066"/>
                    </a:solidFill>
                    <a:latin typeface="+mn-lt"/>
                  </a:rPr>
                  <a:t>Forecast(s)</a:t>
                </a:r>
              </a:p>
            </p:txBody>
          </p:sp>
          <p:sp>
            <p:nvSpPr>
              <p:cNvPr id="18" name="Rectangle 19">
                <a:extLst>
                  <a:ext uri="{FF2B5EF4-FFF2-40B4-BE49-F238E27FC236}">
                    <a16:creationId xmlns:a16="http://schemas.microsoft.com/office/drawing/2014/main" id="{8BCA68A3-792A-5044-A88E-94EC8543E095}"/>
                  </a:ext>
                </a:extLst>
              </p:cNvPr>
              <p:cNvSpPr>
                <a:spLocks noChangeArrowheads="1"/>
              </p:cNvSpPr>
              <p:nvPr/>
            </p:nvSpPr>
            <p:spPr bwMode="auto">
              <a:xfrm>
                <a:off x="1201" y="1731"/>
                <a:ext cx="293" cy="152"/>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rgbClr val="000066"/>
                    </a:solidFill>
                    <a:latin typeface="+mn-lt"/>
                  </a:rPr>
                  <a:t>Develop Demand</a:t>
                </a:r>
              </a:p>
              <a:p>
                <a:pPr algn="ctr">
                  <a:lnSpc>
                    <a:spcPct val="80000"/>
                  </a:lnSpc>
                  <a:buClrTx/>
                  <a:buSzTx/>
                  <a:buFontTx/>
                  <a:buNone/>
                </a:pPr>
                <a:r>
                  <a:rPr lang="en-US" altLang="en-US" sz="400">
                    <a:solidFill>
                      <a:srgbClr val="000066"/>
                    </a:solidFill>
                    <a:latin typeface="+mn-lt"/>
                  </a:rPr>
                  <a:t>Plan &amp; Inventory</a:t>
                </a:r>
              </a:p>
              <a:p>
                <a:pPr algn="ctr">
                  <a:lnSpc>
                    <a:spcPct val="80000"/>
                  </a:lnSpc>
                  <a:buClrTx/>
                  <a:buSzTx/>
                  <a:buFontTx/>
                  <a:buNone/>
                </a:pPr>
                <a:r>
                  <a:rPr lang="en-US" altLang="en-US" sz="400">
                    <a:solidFill>
                      <a:srgbClr val="000066"/>
                    </a:solidFill>
                    <a:latin typeface="+mn-lt"/>
                  </a:rPr>
                  <a:t>Requirements</a:t>
                </a:r>
              </a:p>
            </p:txBody>
          </p:sp>
          <p:sp>
            <p:nvSpPr>
              <p:cNvPr id="19" name="Rectangle 20">
                <a:extLst>
                  <a:ext uri="{FF2B5EF4-FFF2-40B4-BE49-F238E27FC236}">
                    <a16:creationId xmlns:a16="http://schemas.microsoft.com/office/drawing/2014/main" id="{DB1D3558-9DF7-7399-76A7-BA355ED12BA6}"/>
                  </a:ext>
                </a:extLst>
              </p:cNvPr>
              <p:cNvSpPr>
                <a:spLocks noChangeArrowheads="1"/>
              </p:cNvSpPr>
              <p:nvPr/>
            </p:nvSpPr>
            <p:spPr bwMode="auto">
              <a:xfrm>
                <a:off x="2183" y="2140"/>
                <a:ext cx="245" cy="190"/>
              </a:xfrm>
              <a:prstGeom prst="rect">
                <a:avLst/>
              </a:prstGeom>
              <a:solidFill>
                <a:schemeClr val="accent2"/>
              </a:solidFill>
              <a:ln w="12700">
                <a:solidFill>
                  <a:schemeClr val="tx2"/>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rgbClr val="000066"/>
                    </a:solidFill>
                    <a:latin typeface="+mn-lt"/>
                  </a:rPr>
                  <a:t>Initial</a:t>
                </a:r>
              </a:p>
              <a:p>
                <a:pPr algn="ctr">
                  <a:lnSpc>
                    <a:spcPct val="80000"/>
                  </a:lnSpc>
                  <a:buClrTx/>
                  <a:buSzTx/>
                  <a:buFontTx/>
                  <a:buNone/>
                </a:pPr>
                <a:r>
                  <a:rPr lang="en-US" altLang="en-US" sz="400">
                    <a:solidFill>
                      <a:srgbClr val="000066"/>
                    </a:solidFill>
                    <a:latin typeface="+mn-lt"/>
                  </a:rPr>
                  <a:t>Supply &amp;</a:t>
                </a:r>
              </a:p>
              <a:p>
                <a:pPr algn="ctr">
                  <a:lnSpc>
                    <a:spcPct val="80000"/>
                  </a:lnSpc>
                  <a:buClrTx/>
                  <a:buSzTx/>
                  <a:buFontTx/>
                  <a:buNone/>
                </a:pPr>
                <a:r>
                  <a:rPr lang="en-US" altLang="en-US" sz="400">
                    <a:solidFill>
                      <a:srgbClr val="000066"/>
                    </a:solidFill>
                    <a:latin typeface="+mn-lt"/>
                  </a:rPr>
                  <a:t>Demand Plan</a:t>
                </a:r>
              </a:p>
            </p:txBody>
          </p:sp>
          <p:sp>
            <p:nvSpPr>
              <p:cNvPr id="20" name="Line 21">
                <a:extLst>
                  <a:ext uri="{FF2B5EF4-FFF2-40B4-BE49-F238E27FC236}">
                    <a16:creationId xmlns:a16="http://schemas.microsoft.com/office/drawing/2014/main" id="{4A795145-9D55-1513-CE80-734AD282B3DA}"/>
                  </a:ext>
                </a:extLst>
              </p:cNvPr>
              <p:cNvSpPr>
                <a:spLocks noChangeShapeType="1"/>
              </p:cNvSpPr>
              <p:nvPr/>
            </p:nvSpPr>
            <p:spPr bwMode="auto">
              <a:xfrm>
                <a:off x="1529" y="1523"/>
                <a:ext cx="0" cy="1002"/>
              </a:xfrm>
              <a:prstGeom prst="line">
                <a:avLst/>
              </a:prstGeom>
              <a:noFill/>
              <a:ln w="9525">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1" name="Rectangle 22">
                <a:extLst>
                  <a:ext uri="{FF2B5EF4-FFF2-40B4-BE49-F238E27FC236}">
                    <a16:creationId xmlns:a16="http://schemas.microsoft.com/office/drawing/2014/main" id="{2807F291-6D4F-EB35-537B-1B394FFB7E4A}"/>
                  </a:ext>
                </a:extLst>
              </p:cNvPr>
              <p:cNvSpPr>
                <a:spLocks noChangeArrowheads="1"/>
              </p:cNvSpPr>
              <p:nvPr/>
            </p:nvSpPr>
            <p:spPr bwMode="auto">
              <a:xfrm>
                <a:off x="1447" y="2395"/>
                <a:ext cx="163" cy="8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400" i="1">
                    <a:latin typeface="+mn-lt"/>
                  </a:rPr>
                  <a:t>Day 10</a:t>
                </a:r>
              </a:p>
            </p:txBody>
          </p:sp>
          <p:sp>
            <p:nvSpPr>
              <p:cNvPr id="22" name="Line 23">
                <a:extLst>
                  <a:ext uri="{FF2B5EF4-FFF2-40B4-BE49-F238E27FC236}">
                    <a16:creationId xmlns:a16="http://schemas.microsoft.com/office/drawing/2014/main" id="{0AA24CB4-8ADE-7887-BD8E-7A7FAA28E240}"/>
                  </a:ext>
                </a:extLst>
              </p:cNvPr>
              <p:cNvSpPr>
                <a:spLocks noChangeShapeType="1"/>
              </p:cNvSpPr>
              <p:nvPr/>
            </p:nvSpPr>
            <p:spPr bwMode="auto">
              <a:xfrm>
                <a:off x="2159" y="1523"/>
                <a:ext cx="0" cy="1002"/>
              </a:xfrm>
              <a:prstGeom prst="line">
                <a:avLst/>
              </a:prstGeom>
              <a:noFill/>
              <a:ln w="9525">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3" name="Rectangle 24">
                <a:extLst>
                  <a:ext uri="{FF2B5EF4-FFF2-40B4-BE49-F238E27FC236}">
                    <a16:creationId xmlns:a16="http://schemas.microsoft.com/office/drawing/2014/main" id="{D4D9995C-7894-86F7-4695-F4C2198CD0E0}"/>
                  </a:ext>
                </a:extLst>
              </p:cNvPr>
              <p:cNvSpPr>
                <a:spLocks noChangeArrowheads="1"/>
              </p:cNvSpPr>
              <p:nvPr/>
            </p:nvSpPr>
            <p:spPr bwMode="auto">
              <a:xfrm>
                <a:off x="2079" y="2395"/>
                <a:ext cx="163" cy="8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400" i="1">
                    <a:latin typeface="+mn-lt"/>
                  </a:rPr>
                  <a:t>Day 15</a:t>
                </a:r>
              </a:p>
            </p:txBody>
          </p:sp>
          <p:cxnSp>
            <p:nvCxnSpPr>
              <p:cNvPr id="24" name="AutoShape 25">
                <a:extLst>
                  <a:ext uri="{FF2B5EF4-FFF2-40B4-BE49-F238E27FC236}">
                    <a16:creationId xmlns:a16="http://schemas.microsoft.com/office/drawing/2014/main" id="{0F3C049D-7805-F929-FD44-BBF0E5B6CE7C}"/>
                  </a:ext>
                </a:extLst>
              </p:cNvPr>
              <p:cNvCxnSpPr>
                <a:cxnSpLocks noChangeShapeType="1"/>
                <a:stCxn id="17" idx="2"/>
                <a:endCxn id="14" idx="0"/>
              </p:cNvCxnSpPr>
              <p:nvPr/>
            </p:nvCxnSpPr>
            <p:spPr bwMode="auto">
              <a:xfrm>
                <a:off x="925" y="1691"/>
                <a:ext cx="0" cy="40"/>
              </a:xfrm>
              <a:prstGeom prst="straightConnector1">
                <a:avLst/>
              </a:prstGeom>
              <a:noFill/>
              <a:ln w="6350" cap="sq">
                <a:solidFill>
                  <a:schemeClr val="tx1"/>
                </a:solidFill>
                <a:round/>
                <a:headEnd/>
                <a:tailEnd type="triangle" w="sm" len="sm"/>
              </a:ln>
              <a:extLst>
                <a:ext uri="{909E8E84-426E-40DD-AFC4-6F175D3DCCD1}">
                  <a14:hiddenFill xmlns:a14="http://schemas.microsoft.com/office/drawing/2010/main">
                    <a:noFill/>
                  </a14:hiddenFill>
                </a:ext>
              </a:extLst>
            </p:spPr>
          </p:cxnSp>
          <p:cxnSp>
            <p:nvCxnSpPr>
              <p:cNvPr id="25" name="AutoShape 26">
                <a:extLst>
                  <a:ext uri="{FF2B5EF4-FFF2-40B4-BE49-F238E27FC236}">
                    <a16:creationId xmlns:a16="http://schemas.microsoft.com/office/drawing/2014/main" id="{FB554227-D0A6-2D8E-6008-11AD789DC0A9}"/>
                  </a:ext>
                </a:extLst>
              </p:cNvPr>
              <p:cNvCxnSpPr>
                <a:cxnSpLocks noChangeShapeType="1"/>
                <a:stCxn id="14" idx="3"/>
                <a:endCxn id="18" idx="1"/>
              </p:cNvCxnSpPr>
              <p:nvPr/>
            </p:nvCxnSpPr>
            <p:spPr bwMode="auto">
              <a:xfrm>
                <a:off x="1071" y="1807"/>
                <a:ext cx="130" cy="0"/>
              </a:xfrm>
              <a:prstGeom prst="straightConnector1">
                <a:avLst/>
              </a:prstGeom>
              <a:noFill/>
              <a:ln w="6350" cap="sq">
                <a:solidFill>
                  <a:schemeClr val="tx1"/>
                </a:solidFill>
                <a:round/>
                <a:headEnd/>
                <a:tailEnd type="triangle" w="sm" len="sm"/>
              </a:ln>
              <a:extLst>
                <a:ext uri="{909E8E84-426E-40DD-AFC4-6F175D3DCCD1}">
                  <a14:hiddenFill xmlns:a14="http://schemas.microsoft.com/office/drawing/2010/main">
                    <a:noFill/>
                  </a14:hiddenFill>
                </a:ext>
              </a:extLst>
            </p:spPr>
          </p:cxnSp>
          <p:cxnSp>
            <p:nvCxnSpPr>
              <p:cNvPr id="26" name="AutoShape 27">
                <a:extLst>
                  <a:ext uri="{FF2B5EF4-FFF2-40B4-BE49-F238E27FC236}">
                    <a16:creationId xmlns:a16="http://schemas.microsoft.com/office/drawing/2014/main" id="{97C30BFA-F86E-1012-FA95-FA4E73B1DF48}"/>
                  </a:ext>
                </a:extLst>
              </p:cNvPr>
              <p:cNvCxnSpPr>
                <a:cxnSpLocks noChangeShapeType="1"/>
                <a:stCxn id="18" idx="2"/>
                <a:endCxn id="13" idx="0"/>
              </p:cNvCxnSpPr>
              <p:nvPr/>
            </p:nvCxnSpPr>
            <p:spPr bwMode="auto">
              <a:xfrm>
                <a:off x="1348" y="1883"/>
                <a:ext cx="0" cy="45"/>
              </a:xfrm>
              <a:prstGeom prst="straightConnector1">
                <a:avLst/>
              </a:prstGeom>
              <a:noFill/>
              <a:ln w="6350" cap="sq">
                <a:solidFill>
                  <a:schemeClr val="tx1"/>
                </a:solidFill>
                <a:round/>
                <a:headEnd/>
                <a:tailEnd type="triangle" w="sm" len="sm"/>
              </a:ln>
              <a:extLst>
                <a:ext uri="{909E8E84-426E-40DD-AFC4-6F175D3DCCD1}">
                  <a14:hiddenFill xmlns:a14="http://schemas.microsoft.com/office/drawing/2010/main">
                    <a:noFill/>
                  </a14:hiddenFill>
                </a:ext>
              </a:extLst>
            </p:spPr>
          </p:cxnSp>
          <p:sp>
            <p:nvSpPr>
              <p:cNvPr id="27" name="Rectangle 28">
                <a:extLst>
                  <a:ext uri="{FF2B5EF4-FFF2-40B4-BE49-F238E27FC236}">
                    <a16:creationId xmlns:a16="http://schemas.microsoft.com/office/drawing/2014/main" id="{948408AB-85AD-15E8-5E82-44D85D943314}"/>
                  </a:ext>
                </a:extLst>
              </p:cNvPr>
              <p:cNvSpPr>
                <a:spLocks noChangeArrowheads="1"/>
              </p:cNvSpPr>
              <p:nvPr/>
            </p:nvSpPr>
            <p:spPr bwMode="auto">
              <a:xfrm rot="-5400000">
                <a:off x="241" y="1670"/>
                <a:ext cx="358" cy="72"/>
              </a:xfrm>
              <a:prstGeom prst="rect">
                <a:avLst/>
              </a:prstGeom>
              <a:solidFill>
                <a:schemeClr val="tx2"/>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dirty="0">
                    <a:solidFill>
                      <a:schemeClr val="bg1"/>
                    </a:solidFill>
                    <a:latin typeface="+mn-lt"/>
                  </a:rPr>
                  <a:t>SALES</a:t>
                </a:r>
              </a:p>
            </p:txBody>
          </p:sp>
          <p:sp>
            <p:nvSpPr>
              <p:cNvPr id="28" name="Rectangle 29">
                <a:extLst>
                  <a:ext uri="{FF2B5EF4-FFF2-40B4-BE49-F238E27FC236}">
                    <a16:creationId xmlns:a16="http://schemas.microsoft.com/office/drawing/2014/main" id="{79D1B8B9-0BA3-8A0A-A50D-728C5D009610}"/>
                  </a:ext>
                </a:extLst>
              </p:cNvPr>
              <p:cNvSpPr>
                <a:spLocks noChangeArrowheads="1"/>
              </p:cNvSpPr>
              <p:nvPr/>
            </p:nvSpPr>
            <p:spPr bwMode="auto">
              <a:xfrm rot="-5400000">
                <a:off x="200" y="2116"/>
                <a:ext cx="439" cy="71"/>
              </a:xfrm>
              <a:prstGeom prst="rect">
                <a:avLst/>
              </a:prstGeom>
              <a:solidFill>
                <a:schemeClr val="tx2"/>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400">
                    <a:solidFill>
                      <a:schemeClr val="bg1"/>
                    </a:solidFill>
                    <a:latin typeface="+mn-lt"/>
                  </a:rPr>
                  <a:t>OPERATIONS</a:t>
                </a:r>
              </a:p>
            </p:txBody>
          </p:sp>
          <p:sp>
            <p:nvSpPr>
              <p:cNvPr id="29" name="Line 30">
                <a:extLst>
                  <a:ext uri="{FF2B5EF4-FFF2-40B4-BE49-F238E27FC236}">
                    <a16:creationId xmlns:a16="http://schemas.microsoft.com/office/drawing/2014/main" id="{FC0E1E89-F4CC-2485-BDF3-7BBF90140CEF}"/>
                  </a:ext>
                </a:extLst>
              </p:cNvPr>
              <p:cNvSpPr>
                <a:spLocks noChangeShapeType="1"/>
              </p:cNvSpPr>
              <p:nvPr/>
            </p:nvSpPr>
            <p:spPr bwMode="auto">
              <a:xfrm>
                <a:off x="1494" y="2024"/>
                <a:ext cx="70" cy="0"/>
              </a:xfrm>
              <a:prstGeom prst="line">
                <a:avLst/>
              </a:prstGeom>
              <a:noFill/>
              <a:ln w="6350" cap="sq">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1">
                <a:extLst>
                  <a:ext uri="{FF2B5EF4-FFF2-40B4-BE49-F238E27FC236}">
                    <a16:creationId xmlns:a16="http://schemas.microsoft.com/office/drawing/2014/main" id="{A5CA4D54-16E5-320D-0A2C-76B464BC807D}"/>
                  </a:ext>
                </a:extLst>
              </p:cNvPr>
              <p:cNvSpPr>
                <a:spLocks noChangeShapeType="1"/>
              </p:cNvSpPr>
              <p:nvPr/>
            </p:nvSpPr>
            <p:spPr bwMode="auto">
              <a:xfrm>
                <a:off x="1821" y="2095"/>
                <a:ext cx="38" cy="0"/>
              </a:xfrm>
              <a:prstGeom prst="line">
                <a:avLst/>
              </a:prstGeom>
              <a:noFill/>
              <a:ln w="6350" cap="sq">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p>
            </p:txBody>
          </p:sp>
          <p:cxnSp>
            <p:nvCxnSpPr>
              <p:cNvPr id="31" name="AutoShape 32">
                <a:extLst>
                  <a:ext uri="{FF2B5EF4-FFF2-40B4-BE49-F238E27FC236}">
                    <a16:creationId xmlns:a16="http://schemas.microsoft.com/office/drawing/2014/main" id="{754A5DCA-A16D-0014-695D-E894208E9E4C}"/>
                  </a:ext>
                </a:extLst>
              </p:cNvPr>
              <p:cNvCxnSpPr>
                <a:cxnSpLocks noChangeShapeType="1"/>
                <a:stCxn id="16" idx="3"/>
                <a:endCxn id="19" idx="0"/>
              </p:cNvCxnSpPr>
              <p:nvPr/>
            </p:nvCxnSpPr>
            <p:spPr bwMode="auto">
              <a:xfrm>
                <a:off x="2137" y="1957"/>
                <a:ext cx="169" cy="183"/>
              </a:xfrm>
              <a:prstGeom prst="bentConnector2">
                <a:avLst/>
              </a:prstGeom>
              <a:noFill/>
              <a:ln w="6350" cap="sq">
                <a:solidFill>
                  <a:schemeClr val="tx1"/>
                </a:solidFill>
                <a:miter lim="800000"/>
                <a:headEnd/>
                <a:tailEnd type="triangle" w="sm" len="sm"/>
              </a:ln>
              <a:extLst>
                <a:ext uri="{909E8E84-426E-40DD-AFC4-6F175D3DCCD1}">
                  <a14:hiddenFill xmlns:a14="http://schemas.microsoft.com/office/drawing/2010/main">
                    <a:noFill/>
                  </a14:hiddenFill>
                </a:ext>
              </a:extLst>
            </p:spPr>
          </p:cxnSp>
        </p:grpSp>
        <p:sp>
          <p:nvSpPr>
            <p:cNvPr id="32" name="Line 33">
              <a:extLst>
                <a:ext uri="{FF2B5EF4-FFF2-40B4-BE49-F238E27FC236}">
                  <a16:creationId xmlns:a16="http://schemas.microsoft.com/office/drawing/2014/main" id="{9848C6FB-F2C6-27B0-B5A3-742EF361A4FF}"/>
                </a:ext>
              </a:extLst>
            </p:cNvPr>
            <p:cNvSpPr>
              <a:spLocks noChangeShapeType="1"/>
            </p:cNvSpPr>
            <p:nvPr/>
          </p:nvSpPr>
          <p:spPr bwMode="auto">
            <a:xfrm>
              <a:off x="447675" y="3632616"/>
              <a:ext cx="8270875"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Rectangle 34">
              <a:extLst>
                <a:ext uri="{FF2B5EF4-FFF2-40B4-BE49-F238E27FC236}">
                  <a16:creationId xmlns:a16="http://schemas.microsoft.com/office/drawing/2014/main" id="{20BC2AA4-AC66-DC76-FE32-EA551188863E}"/>
                </a:ext>
              </a:extLst>
            </p:cNvPr>
            <p:cNvSpPr>
              <a:spLocks noChangeArrowheads="1"/>
            </p:cNvSpPr>
            <p:nvPr/>
          </p:nvSpPr>
          <p:spPr bwMode="auto">
            <a:xfrm>
              <a:off x="4295775" y="1756191"/>
              <a:ext cx="4513262" cy="1674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0000"/>
                </a:spcBef>
                <a:buClrTx/>
                <a:buSzPct val="90000"/>
                <a:buFont typeface="Arial" panose="020B0604020202020204" pitchFamily="34" charset="0"/>
                <a:buChar char="•"/>
              </a:pPr>
              <a:r>
                <a:rPr lang="en-US" altLang="en-US" sz="1200" dirty="0">
                  <a:latin typeface="+mn-lt"/>
                </a:rPr>
                <a:t>Demand planning team members submit first-pass </a:t>
              </a:r>
              <a:r>
                <a:rPr lang="ja-JP" altLang="en-US" sz="1200" dirty="0">
                  <a:latin typeface="+mn-lt"/>
                </a:rPr>
                <a:t>“</a:t>
              </a:r>
              <a:r>
                <a:rPr lang="en-US" altLang="ja-JP" sz="1200" dirty="0">
                  <a:latin typeface="+mn-lt"/>
                </a:rPr>
                <a:t>net requirements</a:t>
              </a:r>
              <a:r>
                <a:rPr lang="ja-JP" altLang="en-US" sz="1200" dirty="0">
                  <a:latin typeface="+mn-lt"/>
                </a:rPr>
                <a:t>”</a:t>
              </a:r>
              <a:r>
                <a:rPr lang="en-US" altLang="ja-JP" sz="1200" dirty="0">
                  <a:latin typeface="+mn-lt"/>
                </a:rPr>
                <a:t> spreadsheet to supply planning team members</a:t>
              </a:r>
            </a:p>
            <a:p>
              <a:pPr>
                <a:spcBef>
                  <a:spcPct val="50000"/>
                </a:spcBef>
                <a:buClrTx/>
                <a:buSzPct val="90000"/>
                <a:buFont typeface="Arial" panose="020B0604020202020204" pitchFamily="34" charset="0"/>
                <a:buChar char="•"/>
              </a:pPr>
              <a:r>
                <a:rPr lang="en-US" altLang="en-US" sz="1200" dirty="0">
                  <a:latin typeface="+mn-lt"/>
                </a:rPr>
                <a:t>Supply planning team evaluates net requirements and begins process of matching net requirements to available (or potentially available) supply resources</a:t>
              </a:r>
            </a:p>
            <a:p>
              <a:pPr>
                <a:spcBef>
                  <a:spcPct val="50000"/>
                </a:spcBef>
                <a:buClrTx/>
                <a:buSzPct val="90000"/>
                <a:buFont typeface="Arial" panose="020B0604020202020204" pitchFamily="34" charset="0"/>
                <a:buChar char="•"/>
              </a:pPr>
              <a:r>
                <a:rPr lang="en-US" altLang="en-US" sz="1200" dirty="0">
                  <a:latin typeface="+mn-lt"/>
                </a:rPr>
                <a:t>Production contingency planning begins including staffing scenarios, extra shifts, overtime, outsourcing, etc.</a:t>
              </a:r>
            </a:p>
            <a:p>
              <a:pPr>
                <a:spcBef>
                  <a:spcPct val="50000"/>
                </a:spcBef>
                <a:buClrTx/>
                <a:buSzPct val="90000"/>
                <a:buFont typeface="Arial" panose="020B0604020202020204" pitchFamily="34" charset="0"/>
                <a:buChar char="•"/>
              </a:pPr>
              <a:r>
                <a:rPr lang="en-US" altLang="en-US" sz="1200" dirty="0">
                  <a:latin typeface="+mn-lt"/>
                </a:rPr>
                <a:t>Supply team members develop the consensus supply plan and then prepare for the final supply-demand match</a:t>
              </a:r>
              <a:endParaRPr lang="en-US" altLang="en-US" sz="1200" b="0" dirty="0">
                <a:latin typeface="+mn-lt"/>
              </a:endParaRPr>
            </a:p>
          </p:txBody>
        </p:sp>
        <p:sp>
          <p:nvSpPr>
            <p:cNvPr id="34" name="AutoShape 35">
              <a:extLst>
                <a:ext uri="{FF2B5EF4-FFF2-40B4-BE49-F238E27FC236}">
                  <a16:creationId xmlns:a16="http://schemas.microsoft.com/office/drawing/2014/main" id="{47F621AF-55E6-EC1B-8752-A56C03E0FDAE}"/>
                </a:ext>
              </a:extLst>
            </p:cNvPr>
            <p:cNvSpPr>
              <a:spLocks noChangeArrowheads="1"/>
            </p:cNvSpPr>
            <p:nvPr/>
          </p:nvSpPr>
          <p:spPr bwMode="auto">
            <a:xfrm>
              <a:off x="4010025" y="1926054"/>
              <a:ext cx="220662" cy="1420812"/>
            </a:xfrm>
            <a:prstGeom prst="rightArrow">
              <a:avLst>
                <a:gd name="adj1" fmla="val 72435"/>
                <a:gd name="adj2" fmla="val 73125"/>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5" name="Rectangle 39">
              <a:extLst>
                <a:ext uri="{FF2B5EF4-FFF2-40B4-BE49-F238E27FC236}">
                  <a16:creationId xmlns:a16="http://schemas.microsoft.com/office/drawing/2014/main" id="{91A8D55D-E399-ADC2-6C29-31B922AFEFE4}"/>
                </a:ext>
              </a:extLst>
            </p:cNvPr>
            <p:cNvSpPr>
              <a:spLocks noChangeArrowheads="1"/>
            </p:cNvSpPr>
            <p:nvPr/>
          </p:nvSpPr>
          <p:spPr bwMode="auto">
            <a:xfrm>
              <a:off x="2198687" y="4661316"/>
              <a:ext cx="1030288" cy="6635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Next-Month</a:t>
              </a:r>
            </a:p>
            <a:p>
              <a:pPr algn="ctr">
                <a:lnSpc>
                  <a:spcPct val="80000"/>
                </a:lnSpc>
                <a:buClrTx/>
                <a:buSzTx/>
                <a:buFontTx/>
                <a:buNone/>
              </a:pPr>
              <a:r>
                <a:rPr lang="en-US" altLang="en-US" sz="1000">
                  <a:solidFill>
                    <a:schemeClr val="bg1"/>
                  </a:solidFill>
                  <a:latin typeface="+mn-lt"/>
                </a:rPr>
                <a:t>Maintenance</a:t>
              </a:r>
            </a:p>
            <a:p>
              <a:pPr algn="ctr">
                <a:lnSpc>
                  <a:spcPct val="80000"/>
                </a:lnSpc>
                <a:buClrTx/>
                <a:buSzTx/>
                <a:buFontTx/>
                <a:buNone/>
              </a:pPr>
              <a:r>
                <a:rPr lang="en-US" altLang="en-US" sz="1000">
                  <a:solidFill>
                    <a:schemeClr val="bg1"/>
                  </a:solidFill>
                  <a:latin typeface="+mn-lt"/>
                </a:rPr>
                <a:t>Scheduling</a:t>
              </a:r>
            </a:p>
          </p:txBody>
        </p:sp>
        <p:sp>
          <p:nvSpPr>
            <p:cNvPr id="36" name="Rectangle 40">
              <a:extLst>
                <a:ext uri="{FF2B5EF4-FFF2-40B4-BE49-F238E27FC236}">
                  <a16:creationId xmlns:a16="http://schemas.microsoft.com/office/drawing/2014/main" id="{921AC883-C1D3-3BEB-3636-4708ED6122D7}"/>
                </a:ext>
              </a:extLst>
            </p:cNvPr>
            <p:cNvSpPr>
              <a:spLocks noChangeArrowheads="1"/>
            </p:cNvSpPr>
            <p:nvPr/>
          </p:nvSpPr>
          <p:spPr bwMode="auto">
            <a:xfrm>
              <a:off x="3498850" y="4664491"/>
              <a:ext cx="1030287" cy="6635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On-Hand</a:t>
              </a:r>
            </a:p>
            <a:p>
              <a:pPr algn="ctr">
                <a:lnSpc>
                  <a:spcPct val="80000"/>
                </a:lnSpc>
                <a:buClrTx/>
                <a:buSzTx/>
                <a:buFontTx/>
                <a:buNone/>
              </a:pPr>
              <a:r>
                <a:rPr lang="en-US" altLang="en-US" sz="1000">
                  <a:solidFill>
                    <a:schemeClr val="bg1"/>
                  </a:solidFill>
                  <a:latin typeface="+mn-lt"/>
                </a:rPr>
                <a:t>Inventory</a:t>
              </a:r>
            </a:p>
            <a:p>
              <a:pPr algn="ctr">
                <a:lnSpc>
                  <a:spcPct val="80000"/>
                </a:lnSpc>
                <a:buClrTx/>
                <a:buSzTx/>
                <a:buFontTx/>
                <a:buNone/>
              </a:pPr>
              <a:r>
                <a:rPr lang="en-US" altLang="en-US" sz="1000">
                  <a:solidFill>
                    <a:schemeClr val="bg1"/>
                  </a:solidFill>
                  <a:latin typeface="+mn-lt"/>
                </a:rPr>
                <a:t>Analysis</a:t>
              </a:r>
            </a:p>
          </p:txBody>
        </p:sp>
        <p:sp>
          <p:nvSpPr>
            <p:cNvPr id="37" name="Rectangle 41">
              <a:extLst>
                <a:ext uri="{FF2B5EF4-FFF2-40B4-BE49-F238E27FC236}">
                  <a16:creationId xmlns:a16="http://schemas.microsoft.com/office/drawing/2014/main" id="{4DE853D7-C612-2998-2968-FFF520E7FD7C}"/>
                </a:ext>
              </a:extLst>
            </p:cNvPr>
            <p:cNvSpPr>
              <a:spLocks noChangeArrowheads="1"/>
            </p:cNvSpPr>
            <p:nvPr/>
          </p:nvSpPr>
          <p:spPr bwMode="auto">
            <a:xfrm>
              <a:off x="4784725" y="4664491"/>
              <a:ext cx="1030287" cy="6635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Rough-Cut</a:t>
              </a:r>
            </a:p>
            <a:p>
              <a:pPr algn="ctr">
                <a:lnSpc>
                  <a:spcPct val="80000"/>
                </a:lnSpc>
                <a:buClrTx/>
                <a:buSzTx/>
                <a:buFontTx/>
                <a:buNone/>
              </a:pPr>
              <a:r>
                <a:rPr lang="en-US" altLang="en-US" sz="1000">
                  <a:solidFill>
                    <a:schemeClr val="bg1"/>
                  </a:solidFill>
                  <a:latin typeface="+mn-lt"/>
                </a:rPr>
                <a:t>Capacity</a:t>
              </a:r>
            </a:p>
            <a:p>
              <a:pPr algn="ctr">
                <a:lnSpc>
                  <a:spcPct val="80000"/>
                </a:lnSpc>
                <a:buClrTx/>
                <a:buSzTx/>
                <a:buFontTx/>
                <a:buNone/>
              </a:pPr>
              <a:r>
                <a:rPr lang="en-US" altLang="en-US" sz="1000">
                  <a:solidFill>
                    <a:schemeClr val="bg1"/>
                  </a:solidFill>
                  <a:latin typeface="+mn-lt"/>
                </a:rPr>
                <a:t>Analysis</a:t>
              </a:r>
            </a:p>
          </p:txBody>
        </p:sp>
        <p:sp>
          <p:nvSpPr>
            <p:cNvPr id="38" name="Rectangle 42">
              <a:extLst>
                <a:ext uri="{FF2B5EF4-FFF2-40B4-BE49-F238E27FC236}">
                  <a16:creationId xmlns:a16="http://schemas.microsoft.com/office/drawing/2014/main" id="{C63A7137-2855-1222-F2AB-3AE50DD0A171}"/>
                </a:ext>
              </a:extLst>
            </p:cNvPr>
            <p:cNvSpPr>
              <a:spLocks noChangeArrowheads="1"/>
            </p:cNvSpPr>
            <p:nvPr/>
          </p:nvSpPr>
          <p:spPr bwMode="auto">
            <a:xfrm>
              <a:off x="6069012" y="4664491"/>
              <a:ext cx="1030288" cy="6635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Error Code</a:t>
              </a:r>
            </a:p>
            <a:p>
              <a:pPr algn="ctr">
                <a:lnSpc>
                  <a:spcPct val="80000"/>
                </a:lnSpc>
                <a:buClrTx/>
                <a:buSzTx/>
                <a:buFontTx/>
                <a:buNone/>
              </a:pPr>
              <a:r>
                <a:rPr lang="en-US" altLang="en-US" sz="1000">
                  <a:solidFill>
                    <a:schemeClr val="bg1"/>
                  </a:solidFill>
                  <a:latin typeface="+mn-lt"/>
                </a:rPr>
                <a:t>Evaluation</a:t>
              </a:r>
            </a:p>
          </p:txBody>
        </p:sp>
        <p:sp>
          <p:nvSpPr>
            <p:cNvPr id="39" name="AutoShape 43">
              <a:extLst>
                <a:ext uri="{FF2B5EF4-FFF2-40B4-BE49-F238E27FC236}">
                  <a16:creationId xmlns:a16="http://schemas.microsoft.com/office/drawing/2014/main" id="{BE00FA86-8012-A4DA-149F-B4356B27834D}"/>
                </a:ext>
              </a:extLst>
            </p:cNvPr>
            <p:cNvSpPr>
              <a:spLocks noChangeArrowheads="1"/>
            </p:cNvSpPr>
            <p:nvPr/>
          </p:nvSpPr>
          <p:spPr bwMode="auto">
            <a:xfrm>
              <a:off x="757237" y="4664491"/>
              <a:ext cx="1243013" cy="663575"/>
            </a:xfrm>
            <a:prstGeom prst="triangle">
              <a:avLst>
                <a:gd name="adj" fmla="val 50000"/>
              </a:avLst>
            </a:prstGeom>
            <a:solidFill>
              <a:schemeClr val="tx2"/>
            </a:solidFill>
            <a:ln w="12700" cap="sq">
              <a:solidFill>
                <a:schemeClr val="tx1"/>
              </a:solidFill>
              <a:miter lim="800000"/>
              <a:headEnd/>
              <a:tailEnd/>
            </a:ln>
          </p:spPr>
          <p:txBody>
            <a:bodyPr wrap="none" anchor="b"/>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Actual</a:t>
              </a:r>
            </a:p>
            <a:p>
              <a:pPr algn="ctr">
                <a:lnSpc>
                  <a:spcPct val="80000"/>
                </a:lnSpc>
                <a:buClrTx/>
                <a:buSzTx/>
                <a:buFontTx/>
                <a:buNone/>
              </a:pPr>
              <a:r>
                <a:rPr lang="en-US" altLang="en-US" sz="1000" dirty="0">
                  <a:solidFill>
                    <a:schemeClr val="bg1"/>
                  </a:solidFill>
                  <a:latin typeface="+mn-lt"/>
                </a:rPr>
                <a:t>Capacity</a:t>
              </a:r>
            </a:p>
            <a:p>
              <a:pPr algn="ctr">
                <a:lnSpc>
                  <a:spcPct val="80000"/>
                </a:lnSpc>
                <a:buClrTx/>
                <a:buSzTx/>
                <a:buFontTx/>
                <a:buNone/>
              </a:pPr>
              <a:r>
                <a:rPr lang="en-US" altLang="en-US" sz="1000" dirty="0">
                  <a:solidFill>
                    <a:schemeClr val="bg1"/>
                  </a:solidFill>
                  <a:latin typeface="+mn-lt"/>
                </a:rPr>
                <a:t>Used</a:t>
              </a:r>
            </a:p>
          </p:txBody>
        </p:sp>
        <p:cxnSp>
          <p:nvCxnSpPr>
            <p:cNvPr id="40" name="AutoShape 44">
              <a:extLst>
                <a:ext uri="{FF2B5EF4-FFF2-40B4-BE49-F238E27FC236}">
                  <a16:creationId xmlns:a16="http://schemas.microsoft.com/office/drawing/2014/main" id="{23009332-E624-9EA4-B9FF-43FBDDD5915E}"/>
                </a:ext>
              </a:extLst>
            </p:cNvPr>
            <p:cNvCxnSpPr>
              <a:cxnSpLocks noChangeShapeType="1"/>
              <a:stCxn id="39" idx="5"/>
              <a:endCxn id="35" idx="1"/>
            </p:cNvCxnSpPr>
            <p:nvPr/>
          </p:nvCxnSpPr>
          <p:spPr bwMode="auto">
            <a:xfrm flipV="1">
              <a:off x="1690687" y="4993104"/>
              <a:ext cx="508000"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45">
              <a:extLst>
                <a:ext uri="{FF2B5EF4-FFF2-40B4-BE49-F238E27FC236}">
                  <a16:creationId xmlns:a16="http://schemas.microsoft.com/office/drawing/2014/main" id="{DE1FDFD4-7D7C-724C-C374-FDC91F3E9F86}"/>
                </a:ext>
              </a:extLst>
            </p:cNvPr>
            <p:cNvCxnSpPr>
              <a:cxnSpLocks noChangeShapeType="1"/>
              <a:stCxn id="35" idx="3"/>
              <a:endCxn id="36" idx="1"/>
            </p:cNvCxnSpPr>
            <p:nvPr/>
          </p:nvCxnSpPr>
          <p:spPr bwMode="auto">
            <a:xfrm>
              <a:off x="3228975" y="4993104"/>
              <a:ext cx="269875"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46">
              <a:extLst>
                <a:ext uri="{FF2B5EF4-FFF2-40B4-BE49-F238E27FC236}">
                  <a16:creationId xmlns:a16="http://schemas.microsoft.com/office/drawing/2014/main" id="{6A3C2391-E4AD-A4EB-EA58-5B68313F7F65}"/>
                </a:ext>
              </a:extLst>
            </p:cNvPr>
            <p:cNvCxnSpPr>
              <a:cxnSpLocks noChangeShapeType="1"/>
              <a:stCxn id="36" idx="3"/>
              <a:endCxn id="37" idx="1"/>
            </p:cNvCxnSpPr>
            <p:nvPr/>
          </p:nvCxnSpPr>
          <p:spPr bwMode="auto">
            <a:xfrm>
              <a:off x="4529137" y="4996279"/>
              <a:ext cx="25558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AutoShape 47">
              <a:extLst>
                <a:ext uri="{FF2B5EF4-FFF2-40B4-BE49-F238E27FC236}">
                  <a16:creationId xmlns:a16="http://schemas.microsoft.com/office/drawing/2014/main" id="{92AFFEFE-46E4-6BD9-3A1F-7A2D990CCECC}"/>
                </a:ext>
              </a:extLst>
            </p:cNvPr>
            <p:cNvCxnSpPr>
              <a:cxnSpLocks noChangeShapeType="1"/>
              <a:stCxn id="37" idx="3"/>
              <a:endCxn id="38" idx="1"/>
            </p:cNvCxnSpPr>
            <p:nvPr/>
          </p:nvCxnSpPr>
          <p:spPr bwMode="auto">
            <a:xfrm>
              <a:off x="5815012" y="4996279"/>
              <a:ext cx="2540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 name="AutoShape 48">
              <a:extLst>
                <a:ext uri="{FF2B5EF4-FFF2-40B4-BE49-F238E27FC236}">
                  <a16:creationId xmlns:a16="http://schemas.microsoft.com/office/drawing/2014/main" id="{6674160E-6481-28D2-A673-F2D7B7E8E84A}"/>
                </a:ext>
              </a:extLst>
            </p:cNvPr>
            <p:cNvCxnSpPr>
              <a:cxnSpLocks noChangeShapeType="1"/>
              <a:stCxn id="38" idx="3"/>
              <a:endCxn id="46" idx="1"/>
            </p:cNvCxnSpPr>
            <p:nvPr/>
          </p:nvCxnSpPr>
          <p:spPr bwMode="auto">
            <a:xfrm>
              <a:off x="7099300" y="4996279"/>
              <a:ext cx="274637"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5" name="Rectangle 49">
              <a:extLst>
                <a:ext uri="{FF2B5EF4-FFF2-40B4-BE49-F238E27FC236}">
                  <a16:creationId xmlns:a16="http://schemas.microsoft.com/office/drawing/2014/main" id="{8D014075-0143-1B19-5F92-55C2797A24BB}"/>
                </a:ext>
              </a:extLst>
            </p:cNvPr>
            <p:cNvSpPr>
              <a:spLocks noChangeArrowheads="1"/>
            </p:cNvSpPr>
            <p:nvPr/>
          </p:nvSpPr>
          <p:spPr bwMode="auto">
            <a:xfrm>
              <a:off x="7481887" y="4770854"/>
              <a:ext cx="1030288" cy="66357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 </a:t>
              </a:r>
            </a:p>
          </p:txBody>
        </p:sp>
        <p:sp>
          <p:nvSpPr>
            <p:cNvPr id="46" name="Rectangle 50">
              <a:extLst>
                <a:ext uri="{FF2B5EF4-FFF2-40B4-BE49-F238E27FC236}">
                  <a16:creationId xmlns:a16="http://schemas.microsoft.com/office/drawing/2014/main" id="{A1065E7E-2FB5-FCE2-C9A6-B7DCD6FE1D3C}"/>
                </a:ext>
              </a:extLst>
            </p:cNvPr>
            <p:cNvSpPr>
              <a:spLocks noChangeArrowheads="1"/>
            </p:cNvSpPr>
            <p:nvPr/>
          </p:nvSpPr>
          <p:spPr bwMode="auto">
            <a:xfrm>
              <a:off x="7373937" y="4664491"/>
              <a:ext cx="1030288" cy="663575"/>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Second-Pass</a:t>
              </a:r>
            </a:p>
            <a:p>
              <a:pPr algn="ctr">
                <a:lnSpc>
                  <a:spcPct val="80000"/>
                </a:lnSpc>
                <a:buClrTx/>
                <a:buSzTx/>
                <a:buFontTx/>
                <a:buNone/>
              </a:pPr>
              <a:r>
                <a:rPr lang="en-US" altLang="en-US" sz="1000" dirty="0">
                  <a:solidFill>
                    <a:schemeClr val="bg1"/>
                  </a:solidFill>
                  <a:latin typeface="+mn-lt"/>
                </a:rPr>
                <a:t>Spreadsheet</a:t>
              </a:r>
            </a:p>
            <a:p>
              <a:pPr algn="ctr">
                <a:lnSpc>
                  <a:spcPct val="80000"/>
                </a:lnSpc>
                <a:buClrTx/>
                <a:buSzTx/>
                <a:buFontTx/>
                <a:buNone/>
              </a:pPr>
              <a:r>
                <a:rPr lang="ja-JP" altLang="en-US" sz="1000" dirty="0">
                  <a:solidFill>
                    <a:schemeClr val="bg1"/>
                  </a:solidFill>
                  <a:latin typeface="+mn-lt"/>
                </a:rPr>
                <a:t>“</a:t>
              </a:r>
              <a:r>
                <a:rPr lang="en-US" altLang="ja-JP" sz="1000" dirty="0">
                  <a:solidFill>
                    <a:schemeClr val="bg1"/>
                  </a:solidFill>
                  <a:latin typeface="+mn-lt"/>
                </a:rPr>
                <a:t>Capacity Plan</a:t>
              </a:r>
              <a:r>
                <a:rPr lang="ja-JP" altLang="en-US" sz="1000" dirty="0">
                  <a:solidFill>
                    <a:schemeClr val="bg1"/>
                  </a:solidFill>
                  <a:latin typeface="+mn-lt"/>
                </a:rPr>
                <a:t>”</a:t>
              </a:r>
              <a:endParaRPr lang="en-US" altLang="en-US" sz="1000" dirty="0">
                <a:solidFill>
                  <a:schemeClr val="bg1"/>
                </a:solidFill>
                <a:latin typeface="+mn-lt"/>
              </a:endParaRPr>
            </a:p>
          </p:txBody>
        </p:sp>
        <p:sp>
          <p:nvSpPr>
            <p:cNvPr id="47" name="Rectangle 51">
              <a:extLst>
                <a:ext uri="{FF2B5EF4-FFF2-40B4-BE49-F238E27FC236}">
                  <a16:creationId xmlns:a16="http://schemas.microsoft.com/office/drawing/2014/main" id="{D35FBB06-018F-7404-EFC3-9A561367B39D}"/>
                </a:ext>
              </a:extLst>
            </p:cNvPr>
            <p:cNvSpPr>
              <a:spLocks noChangeArrowheads="1"/>
            </p:cNvSpPr>
            <p:nvPr/>
          </p:nvSpPr>
          <p:spPr bwMode="auto">
            <a:xfrm>
              <a:off x="4784725" y="3926304"/>
              <a:ext cx="1030287" cy="5286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Critical </a:t>
              </a:r>
            </a:p>
            <a:p>
              <a:pPr algn="ctr">
                <a:lnSpc>
                  <a:spcPct val="80000"/>
                </a:lnSpc>
                <a:buClrTx/>
                <a:buSzTx/>
                <a:buFontTx/>
                <a:buNone/>
              </a:pPr>
              <a:r>
                <a:rPr lang="en-US" altLang="en-US" sz="1000">
                  <a:solidFill>
                    <a:schemeClr val="bg1"/>
                  </a:solidFill>
                  <a:latin typeface="+mn-lt"/>
                </a:rPr>
                <a:t>Resource</a:t>
              </a:r>
            </a:p>
            <a:p>
              <a:pPr algn="ctr">
                <a:lnSpc>
                  <a:spcPct val="80000"/>
                </a:lnSpc>
                <a:buClrTx/>
                <a:buSzTx/>
                <a:buFontTx/>
                <a:buNone/>
              </a:pPr>
              <a:r>
                <a:rPr lang="en-US" altLang="en-US" sz="1000">
                  <a:solidFill>
                    <a:schemeClr val="bg1"/>
                  </a:solidFill>
                  <a:latin typeface="+mn-lt"/>
                </a:rPr>
                <a:t>Evaluation</a:t>
              </a:r>
            </a:p>
          </p:txBody>
        </p:sp>
        <p:cxnSp>
          <p:nvCxnSpPr>
            <p:cNvPr id="48" name="AutoShape 52">
              <a:extLst>
                <a:ext uri="{FF2B5EF4-FFF2-40B4-BE49-F238E27FC236}">
                  <a16:creationId xmlns:a16="http://schemas.microsoft.com/office/drawing/2014/main" id="{E815227B-AA46-8407-0950-4012C72B0821}"/>
                </a:ext>
              </a:extLst>
            </p:cNvPr>
            <p:cNvCxnSpPr>
              <a:cxnSpLocks noChangeShapeType="1"/>
              <a:stCxn id="47" idx="2"/>
              <a:endCxn id="37" idx="0"/>
            </p:cNvCxnSpPr>
            <p:nvPr/>
          </p:nvCxnSpPr>
          <p:spPr bwMode="auto">
            <a:xfrm>
              <a:off x="5300662" y="4454941"/>
              <a:ext cx="0" cy="2095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9" name="Rectangle 53">
              <a:extLst>
                <a:ext uri="{FF2B5EF4-FFF2-40B4-BE49-F238E27FC236}">
                  <a16:creationId xmlns:a16="http://schemas.microsoft.com/office/drawing/2014/main" id="{79ECF4AE-3529-A896-5201-25D4B3892462}"/>
                </a:ext>
              </a:extLst>
            </p:cNvPr>
            <p:cNvSpPr>
              <a:spLocks noChangeArrowheads="1"/>
            </p:cNvSpPr>
            <p:nvPr/>
          </p:nvSpPr>
          <p:spPr bwMode="auto">
            <a:xfrm>
              <a:off x="471487" y="3756441"/>
              <a:ext cx="1816100" cy="2667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Last-Month Actual Results</a:t>
              </a:r>
            </a:p>
          </p:txBody>
        </p:sp>
        <p:sp>
          <p:nvSpPr>
            <p:cNvPr id="50" name="Rectangle 54">
              <a:extLst>
                <a:ext uri="{FF2B5EF4-FFF2-40B4-BE49-F238E27FC236}">
                  <a16:creationId xmlns:a16="http://schemas.microsoft.com/office/drawing/2014/main" id="{ACDABE26-6D0C-6E81-7F48-78E9F87C05DF}"/>
                </a:ext>
              </a:extLst>
            </p:cNvPr>
            <p:cNvSpPr>
              <a:spLocks noChangeArrowheads="1"/>
            </p:cNvSpPr>
            <p:nvPr/>
          </p:nvSpPr>
          <p:spPr bwMode="auto">
            <a:xfrm>
              <a:off x="471487" y="4215229"/>
              <a:ext cx="1816100" cy="266700"/>
            </a:xfrm>
            <a:prstGeom prst="rect">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Performance Metrics Review</a:t>
              </a:r>
            </a:p>
          </p:txBody>
        </p:sp>
        <p:cxnSp>
          <p:nvCxnSpPr>
            <p:cNvPr id="51" name="AutoShape 55">
              <a:extLst>
                <a:ext uri="{FF2B5EF4-FFF2-40B4-BE49-F238E27FC236}">
                  <a16:creationId xmlns:a16="http://schemas.microsoft.com/office/drawing/2014/main" id="{5FEC2054-D612-AD37-FCD6-2AF8F5A8A5B3}"/>
                </a:ext>
              </a:extLst>
            </p:cNvPr>
            <p:cNvCxnSpPr>
              <a:cxnSpLocks noChangeShapeType="1"/>
              <a:stCxn id="49" idx="2"/>
              <a:endCxn id="50" idx="0"/>
            </p:cNvCxnSpPr>
            <p:nvPr/>
          </p:nvCxnSpPr>
          <p:spPr bwMode="auto">
            <a:xfrm>
              <a:off x="1379537" y="4023141"/>
              <a:ext cx="0" cy="19208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2" name="AutoShape 56">
              <a:extLst>
                <a:ext uri="{FF2B5EF4-FFF2-40B4-BE49-F238E27FC236}">
                  <a16:creationId xmlns:a16="http://schemas.microsoft.com/office/drawing/2014/main" id="{BC4DB877-8F8B-08C8-10C5-009E2B18EDC2}"/>
                </a:ext>
              </a:extLst>
            </p:cNvPr>
            <p:cNvCxnSpPr>
              <a:cxnSpLocks noChangeShapeType="1"/>
              <a:stCxn id="50" idx="2"/>
              <a:endCxn id="39" idx="0"/>
            </p:cNvCxnSpPr>
            <p:nvPr/>
          </p:nvCxnSpPr>
          <p:spPr bwMode="auto">
            <a:xfrm>
              <a:off x="1379537" y="4481929"/>
              <a:ext cx="0" cy="18256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3" name="Rectangle 57">
              <a:extLst>
                <a:ext uri="{FF2B5EF4-FFF2-40B4-BE49-F238E27FC236}">
                  <a16:creationId xmlns:a16="http://schemas.microsoft.com/office/drawing/2014/main" id="{87F611AE-043E-3DF5-FE96-57113F4C3BD5}"/>
                </a:ext>
              </a:extLst>
            </p:cNvPr>
            <p:cNvSpPr>
              <a:spLocks noChangeArrowheads="1"/>
            </p:cNvSpPr>
            <p:nvPr/>
          </p:nvSpPr>
          <p:spPr bwMode="auto">
            <a:xfrm>
              <a:off x="4029075" y="5542379"/>
              <a:ext cx="2546350" cy="2635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Required Inventory Position</a:t>
              </a:r>
            </a:p>
          </p:txBody>
        </p:sp>
        <p:cxnSp>
          <p:nvCxnSpPr>
            <p:cNvPr id="54" name="AutoShape 58">
              <a:extLst>
                <a:ext uri="{FF2B5EF4-FFF2-40B4-BE49-F238E27FC236}">
                  <a16:creationId xmlns:a16="http://schemas.microsoft.com/office/drawing/2014/main" id="{EB5F3102-DA04-BCC2-B954-D28F3A239BDB}"/>
                </a:ext>
              </a:extLst>
            </p:cNvPr>
            <p:cNvCxnSpPr>
              <a:cxnSpLocks noChangeShapeType="1"/>
              <a:stCxn id="53" idx="0"/>
              <a:endCxn id="37" idx="2"/>
            </p:cNvCxnSpPr>
            <p:nvPr/>
          </p:nvCxnSpPr>
          <p:spPr bwMode="auto">
            <a:xfrm flipH="1" flipV="1">
              <a:off x="5300662" y="5328066"/>
              <a:ext cx="1588" cy="21431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5" name="Rectangle 59">
              <a:extLst>
                <a:ext uri="{FF2B5EF4-FFF2-40B4-BE49-F238E27FC236}">
                  <a16:creationId xmlns:a16="http://schemas.microsoft.com/office/drawing/2014/main" id="{110650C9-FA74-F65F-E8E9-5B58EDBC204E}"/>
                </a:ext>
              </a:extLst>
            </p:cNvPr>
            <p:cNvSpPr>
              <a:spLocks noChangeArrowheads="1"/>
            </p:cNvSpPr>
            <p:nvPr/>
          </p:nvSpPr>
          <p:spPr bwMode="auto">
            <a:xfrm>
              <a:off x="5969000" y="3856454"/>
              <a:ext cx="2398712" cy="693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5000"/>
                </a:spcBef>
                <a:buClrTx/>
                <a:buSzPct val="90000"/>
                <a:buFont typeface="Arial" panose="020B0604020202020204" pitchFamily="34" charset="0"/>
                <a:buChar char="•"/>
              </a:pPr>
              <a:r>
                <a:rPr lang="en-US" altLang="en-US" sz="1200" dirty="0">
                  <a:latin typeface="+mn-lt"/>
                </a:rPr>
                <a:t>Available Production Capacity</a:t>
              </a:r>
            </a:p>
            <a:p>
              <a:pPr>
                <a:spcBef>
                  <a:spcPct val="35000"/>
                </a:spcBef>
                <a:buClrTx/>
                <a:buSzPct val="90000"/>
                <a:buFont typeface="Arial" panose="020B0604020202020204" pitchFamily="34" charset="0"/>
                <a:buChar char="•"/>
              </a:pPr>
              <a:r>
                <a:rPr lang="en-US" altLang="en-US" sz="1200" dirty="0">
                  <a:latin typeface="+mn-lt"/>
                </a:rPr>
                <a:t>Possible Shortage Solutions</a:t>
              </a:r>
            </a:p>
            <a:p>
              <a:pPr>
                <a:spcBef>
                  <a:spcPct val="35000"/>
                </a:spcBef>
                <a:buClrTx/>
                <a:buSzPct val="90000"/>
                <a:buFont typeface="Arial" panose="020B0604020202020204" pitchFamily="34" charset="0"/>
                <a:buChar char="•"/>
              </a:pPr>
              <a:r>
                <a:rPr lang="en-US" altLang="en-US" sz="1200" dirty="0">
                  <a:latin typeface="+mn-lt"/>
                </a:rPr>
                <a:t>Worst-Case Planning Scenarios</a:t>
              </a:r>
              <a:endParaRPr lang="en-US" altLang="en-US" sz="1200" b="0" dirty="0">
                <a:latin typeface="+mn-lt"/>
              </a:endParaRPr>
            </a:p>
          </p:txBody>
        </p:sp>
      </p:grpSp>
    </p:spTree>
    <p:extLst>
      <p:ext uri="{BB962C8B-B14F-4D97-AF65-F5344CB8AC3E}">
        <p14:creationId xmlns:p14="http://schemas.microsoft.com/office/powerpoint/2010/main" val="1218987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Commencement:  </a:t>
            </a:r>
            <a:br>
              <a:rPr lang="en-US" dirty="0"/>
            </a:br>
            <a:r>
              <a:rPr lang="en-US" dirty="0"/>
              <a:t>Demand Against Available Resources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10370722" y="2564473"/>
            <a:ext cx="1721362" cy="2678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Beginning with last-month operations results and next-month “known” capacity constraints, the supply team must begin to construct the most realistic capacity plan to be matched against demand.</a:t>
            </a:r>
          </a:p>
        </p:txBody>
      </p:sp>
      <p:grpSp>
        <p:nvGrpSpPr>
          <p:cNvPr id="28" name="Group 51">
            <a:extLst>
              <a:ext uri="{FF2B5EF4-FFF2-40B4-BE49-F238E27FC236}">
                <a16:creationId xmlns:a16="http://schemas.microsoft.com/office/drawing/2014/main" id="{8D2F9BDF-362D-A9F4-9E37-D9724E8F7FF1}"/>
              </a:ext>
            </a:extLst>
          </p:cNvPr>
          <p:cNvGrpSpPr>
            <a:grpSpLocks/>
          </p:cNvGrpSpPr>
          <p:nvPr/>
        </p:nvGrpSpPr>
        <p:grpSpPr bwMode="auto">
          <a:xfrm>
            <a:off x="8420088" y="5628516"/>
            <a:ext cx="2933712" cy="650333"/>
            <a:chOff x="676" y="3874"/>
            <a:chExt cx="1500" cy="392"/>
          </a:xfrm>
        </p:grpSpPr>
        <p:sp>
          <p:nvSpPr>
            <p:cNvPr id="29" name="Line 35">
              <a:extLst>
                <a:ext uri="{FF2B5EF4-FFF2-40B4-BE49-F238E27FC236}">
                  <a16:creationId xmlns:a16="http://schemas.microsoft.com/office/drawing/2014/main" id="{0B2C0A89-DFCB-B41D-8A26-5A044A34F6CA}"/>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6">
              <a:extLst>
                <a:ext uri="{FF2B5EF4-FFF2-40B4-BE49-F238E27FC236}">
                  <a16:creationId xmlns:a16="http://schemas.microsoft.com/office/drawing/2014/main" id="{B1A374F2-617E-4D0B-C445-4AF709F7291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7">
              <a:extLst>
                <a:ext uri="{FF2B5EF4-FFF2-40B4-BE49-F238E27FC236}">
                  <a16:creationId xmlns:a16="http://schemas.microsoft.com/office/drawing/2014/main" id="{CFD813E6-7F26-F6C0-D84D-143AD027DA5D}"/>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38">
              <a:extLst>
                <a:ext uri="{FF2B5EF4-FFF2-40B4-BE49-F238E27FC236}">
                  <a16:creationId xmlns:a16="http://schemas.microsoft.com/office/drawing/2014/main" id="{7B66EE40-8D6F-C0ED-DA28-A2240468A4B2}"/>
                </a:ext>
              </a:extLst>
            </p:cNvPr>
            <p:cNvSpPr>
              <a:spLocks noChangeArrowheads="1"/>
            </p:cNvSpPr>
            <p:nvPr/>
          </p:nvSpPr>
          <p:spPr bwMode="auto">
            <a:xfrm>
              <a:off x="1003" y="4044"/>
              <a:ext cx="194"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Next-Month</a:t>
              </a:r>
            </a:p>
            <a:p>
              <a:pPr algn="ctr">
                <a:lnSpc>
                  <a:spcPct val="80000"/>
                </a:lnSpc>
                <a:buClrTx/>
                <a:buSzTx/>
                <a:buFontTx/>
                <a:buNone/>
              </a:pPr>
              <a:r>
                <a:rPr lang="en-US" altLang="en-US" sz="200" dirty="0">
                  <a:solidFill>
                    <a:schemeClr val="bg1"/>
                  </a:solidFill>
                  <a:latin typeface="+mn-lt"/>
                </a:rPr>
                <a:t>Maintenance</a:t>
              </a:r>
            </a:p>
            <a:p>
              <a:pPr algn="ctr">
                <a:lnSpc>
                  <a:spcPct val="80000"/>
                </a:lnSpc>
                <a:buClrTx/>
                <a:buSzTx/>
                <a:buFontTx/>
                <a:buNone/>
              </a:pPr>
              <a:r>
                <a:rPr lang="en-US" altLang="en-US" sz="200" dirty="0">
                  <a:solidFill>
                    <a:schemeClr val="bg1"/>
                  </a:solidFill>
                  <a:latin typeface="+mn-lt"/>
                </a:rPr>
                <a:t>Scheduling</a:t>
              </a:r>
            </a:p>
          </p:txBody>
        </p:sp>
        <p:sp>
          <p:nvSpPr>
            <p:cNvPr id="33" name="Rectangle 39">
              <a:extLst>
                <a:ext uri="{FF2B5EF4-FFF2-40B4-BE49-F238E27FC236}">
                  <a16:creationId xmlns:a16="http://schemas.microsoft.com/office/drawing/2014/main" id="{45FF9491-4B38-D760-54DB-1050B378828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34" name="Rectangle 40">
              <a:extLst>
                <a:ext uri="{FF2B5EF4-FFF2-40B4-BE49-F238E27FC236}">
                  <a16:creationId xmlns:a16="http://schemas.microsoft.com/office/drawing/2014/main" id="{5A64336F-7983-38CE-3FDD-8542144E8760}"/>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35" name="Rectangle 41">
              <a:extLst>
                <a:ext uri="{FF2B5EF4-FFF2-40B4-BE49-F238E27FC236}">
                  <a16:creationId xmlns:a16="http://schemas.microsoft.com/office/drawing/2014/main" id="{D1CB1192-FC83-DA5E-564C-68F868894C0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36" name="AutoShape 42">
              <a:extLst>
                <a:ext uri="{FF2B5EF4-FFF2-40B4-BE49-F238E27FC236}">
                  <a16:creationId xmlns:a16="http://schemas.microsoft.com/office/drawing/2014/main" id="{EB32BD7B-DC09-F477-DC0E-5AF914C71B10}"/>
                </a:ext>
              </a:extLst>
            </p:cNvPr>
            <p:cNvSpPr>
              <a:spLocks noChangeArrowheads="1"/>
            </p:cNvSpPr>
            <p:nvPr/>
          </p:nvSpPr>
          <p:spPr bwMode="auto">
            <a:xfrm>
              <a:off x="730" y="4045"/>
              <a:ext cx="235" cy="125"/>
            </a:xfrm>
            <a:prstGeom prst="triangle">
              <a:avLst>
                <a:gd name="adj" fmla="val 50000"/>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Actual</a:t>
              </a:r>
            </a:p>
            <a:p>
              <a:pPr algn="ctr">
                <a:lnSpc>
                  <a:spcPct val="80000"/>
                </a:lnSpc>
                <a:buClrTx/>
                <a:buSzTx/>
                <a:buFontTx/>
                <a:buNone/>
              </a:pPr>
              <a:r>
                <a:rPr lang="en-US" altLang="en-US" sz="200">
                  <a:solidFill>
                    <a:schemeClr val="bg1"/>
                  </a:solidFill>
                  <a:latin typeface="+mn-lt"/>
                </a:rPr>
                <a:t>Capacity</a:t>
              </a:r>
            </a:p>
            <a:p>
              <a:pPr algn="ctr">
                <a:lnSpc>
                  <a:spcPct val="80000"/>
                </a:lnSpc>
                <a:buClrTx/>
                <a:buSzTx/>
                <a:buFontTx/>
                <a:buNone/>
              </a:pPr>
              <a:r>
                <a:rPr lang="en-US" altLang="en-US" sz="200">
                  <a:solidFill>
                    <a:schemeClr val="bg1"/>
                  </a:solidFill>
                  <a:latin typeface="+mn-lt"/>
                </a:rPr>
                <a:t>Used</a:t>
              </a:r>
            </a:p>
          </p:txBody>
        </p:sp>
        <p:sp>
          <p:nvSpPr>
            <p:cNvPr id="37" name="Rectangle 43">
              <a:extLst>
                <a:ext uri="{FF2B5EF4-FFF2-40B4-BE49-F238E27FC236}">
                  <a16:creationId xmlns:a16="http://schemas.microsoft.com/office/drawing/2014/main" id="{C617E6C3-B208-359E-0732-BD9FE970B391}"/>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Second-Pass</a:t>
              </a:r>
            </a:p>
            <a:p>
              <a:pPr algn="ctr">
                <a:lnSpc>
                  <a:spcPct val="80000"/>
                </a:lnSpc>
                <a:buClrTx/>
                <a:buSzTx/>
                <a:buFontTx/>
                <a:buNone/>
              </a:pPr>
              <a:r>
                <a:rPr lang="en-US" altLang="en-US" sz="200">
                  <a:solidFill>
                    <a:srgbClr val="000066"/>
                  </a:solidFill>
                  <a:latin typeface="+mn-lt"/>
                </a:rPr>
                <a:t>Spreadsheet</a:t>
              </a:r>
            </a:p>
            <a:p>
              <a:pPr algn="ctr">
                <a:lnSpc>
                  <a:spcPct val="80000"/>
                </a:lnSpc>
                <a:buClrTx/>
                <a:buSzTx/>
                <a:buFontTx/>
                <a:buNone/>
              </a:pPr>
              <a:r>
                <a:rPr lang="ja-JP" altLang="en-US" sz="200">
                  <a:solidFill>
                    <a:srgbClr val="000066"/>
                  </a:solidFill>
                  <a:latin typeface="+mn-lt"/>
                </a:rPr>
                <a:t>“</a:t>
              </a:r>
              <a:r>
                <a:rPr lang="en-US" altLang="ja-JP" sz="200">
                  <a:solidFill>
                    <a:srgbClr val="000066"/>
                  </a:solidFill>
                  <a:latin typeface="+mn-lt"/>
                </a:rPr>
                <a:t>Capacity Plan</a:t>
              </a:r>
              <a:r>
                <a:rPr lang="ja-JP" altLang="en-US" sz="200">
                  <a:solidFill>
                    <a:srgbClr val="000066"/>
                  </a:solidFill>
                  <a:latin typeface="+mn-lt"/>
                </a:rPr>
                <a:t>”</a:t>
              </a:r>
              <a:endParaRPr lang="en-US" altLang="en-US" sz="200">
                <a:solidFill>
                  <a:srgbClr val="000066"/>
                </a:solidFill>
                <a:latin typeface="+mn-lt"/>
              </a:endParaRPr>
            </a:p>
          </p:txBody>
        </p:sp>
        <p:sp>
          <p:nvSpPr>
            <p:cNvPr id="38" name="Rectangle 44">
              <a:extLst>
                <a:ext uri="{FF2B5EF4-FFF2-40B4-BE49-F238E27FC236}">
                  <a16:creationId xmlns:a16="http://schemas.microsoft.com/office/drawing/2014/main" id="{F65058DA-0B2C-D574-8457-BF709C60ECB4}"/>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39" name="Rectangle 45">
              <a:extLst>
                <a:ext uri="{FF2B5EF4-FFF2-40B4-BE49-F238E27FC236}">
                  <a16:creationId xmlns:a16="http://schemas.microsoft.com/office/drawing/2014/main" id="{06E8C80F-CEC4-44A7-D796-2EAEAAA4A32C}"/>
                </a:ext>
              </a:extLst>
            </p:cNvPr>
            <p:cNvSpPr>
              <a:spLocks noChangeArrowheads="1"/>
            </p:cNvSpPr>
            <p:nvPr/>
          </p:nvSpPr>
          <p:spPr bwMode="auto">
            <a:xfrm>
              <a:off x="676" y="3874"/>
              <a:ext cx="343" cy="5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Last-Month Actual Results</a:t>
              </a:r>
            </a:p>
          </p:txBody>
        </p:sp>
        <p:sp>
          <p:nvSpPr>
            <p:cNvPr id="40" name="Rectangle 46">
              <a:extLst>
                <a:ext uri="{FF2B5EF4-FFF2-40B4-BE49-F238E27FC236}">
                  <a16:creationId xmlns:a16="http://schemas.microsoft.com/office/drawing/2014/main" id="{DB91ACD0-F908-9DCB-81E8-D710A3BF1463}"/>
                </a:ext>
              </a:extLst>
            </p:cNvPr>
            <p:cNvSpPr>
              <a:spLocks noChangeArrowheads="1"/>
            </p:cNvSpPr>
            <p:nvPr/>
          </p:nvSpPr>
          <p:spPr bwMode="auto">
            <a:xfrm>
              <a:off x="676" y="3960"/>
              <a:ext cx="343" cy="51"/>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Performance Metrics Review</a:t>
              </a:r>
            </a:p>
          </p:txBody>
        </p:sp>
        <p:sp>
          <p:nvSpPr>
            <p:cNvPr id="41" name="Rectangle 47">
              <a:extLst>
                <a:ext uri="{FF2B5EF4-FFF2-40B4-BE49-F238E27FC236}">
                  <a16:creationId xmlns:a16="http://schemas.microsoft.com/office/drawing/2014/main" id="{18744A2E-9D47-03C9-71D5-2F5B933D8CAD}"/>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grpSp>
        <p:nvGrpSpPr>
          <p:cNvPr id="47" name="Group 46">
            <a:extLst>
              <a:ext uri="{FF2B5EF4-FFF2-40B4-BE49-F238E27FC236}">
                <a16:creationId xmlns:a16="http://schemas.microsoft.com/office/drawing/2014/main" id="{F78D3DD9-F892-1AA1-F81D-75A2B9D551FC}"/>
              </a:ext>
            </a:extLst>
          </p:cNvPr>
          <p:cNvGrpSpPr/>
          <p:nvPr/>
        </p:nvGrpSpPr>
        <p:grpSpPr>
          <a:xfrm>
            <a:off x="586210" y="2009553"/>
            <a:ext cx="9517829" cy="4052359"/>
            <a:chOff x="586210" y="2339396"/>
            <a:chExt cx="9913992" cy="3722516"/>
          </a:xfrm>
        </p:grpSpPr>
        <p:sp>
          <p:nvSpPr>
            <p:cNvPr id="4" name="Rectangle 6">
              <a:extLst>
                <a:ext uri="{FF2B5EF4-FFF2-40B4-BE49-F238E27FC236}">
                  <a16:creationId xmlns:a16="http://schemas.microsoft.com/office/drawing/2014/main" id="{7CA3249B-722E-E84C-2C0B-B9DF2CA0B225}"/>
                </a:ext>
              </a:extLst>
            </p:cNvPr>
            <p:cNvSpPr>
              <a:spLocks noChangeArrowheads="1"/>
            </p:cNvSpPr>
            <p:nvPr/>
          </p:nvSpPr>
          <p:spPr bwMode="auto">
            <a:xfrm>
              <a:off x="775923" y="2543148"/>
              <a:ext cx="1441430" cy="1445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endParaRPr lang="en-US" altLang="en-US" sz="1000">
                <a:solidFill>
                  <a:schemeClr val="bg1"/>
                </a:solidFill>
                <a:latin typeface="+mn-lt"/>
              </a:endParaRPr>
            </a:p>
          </p:txBody>
        </p:sp>
        <p:sp>
          <p:nvSpPr>
            <p:cNvPr id="5" name="Rectangle 5">
              <a:extLst>
                <a:ext uri="{FF2B5EF4-FFF2-40B4-BE49-F238E27FC236}">
                  <a16:creationId xmlns:a16="http://schemas.microsoft.com/office/drawing/2014/main" id="{E3B2790E-0EFF-3342-F11F-736DA64C5D30}"/>
                </a:ext>
              </a:extLst>
            </p:cNvPr>
            <p:cNvSpPr>
              <a:spLocks noChangeArrowheads="1"/>
            </p:cNvSpPr>
            <p:nvPr/>
          </p:nvSpPr>
          <p:spPr bwMode="auto">
            <a:xfrm>
              <a:off x="588167" y="2383883"/>
              <a:ext cx="1441430" cy="1445000"/>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latin typeface="+mn-lt"/>
                </a:rPr>
                <a:t>Last-Month</a:t>
              </a:r>
            </a:p>
            <a:p>
              <a:pPr algn="ctr">
                <a:lnSpc>
                  <a:spcPct val="80000"/>
                </a:lnSpc>
                <a:buClrTx/>
                <a:buSzTx/>
                <a:buFontTx/>
                <a:buNone/>
              </a:pPr>
              <a:r>
                <a:rPr lang="en-US" altLang="en-US" sz="1000" i="1" dirty="0">
                  <a:latin typeface="+mn-lt"/>
                </a:rPr>
                <a:t>Operating</a:t>
              </a:r>
            </a:p>
            <a:p>
              <a:pPr algn="ctr">
                <a:lnSpc>
                  <a:spcPct val="80000"/>
                </a:lnSpc>
                <a:buClrTx/>
                <a:buSzTx/>
                <a:buFontTx/>
                <a:buNone/>
              </a:pPr>
              <a:r>
                <a:rPr lang="en-US" altLang="en-US" sz="1000" i="1" dirty="0">
                  <a:latin typeface="+mn-lt"/>
                </a:rPr>
                <a:t>Results</a:t>
              </a:r>
            </a:p>
            <a:p>
              <a:pPr algn="ctr">
                <a:lnSpc>
                  <a:spcPct val="80000"/>
                </a:lnSpc>
                <a:buClrTx/>
                <a:buSzTx/>
                <a:buFontTx/>
                <a:buNone/>
              </a:pPr>
              <a:endParaRPr lang="en-US" altLang="en-US" sz="1000" i="1" dirty="0">
                <a:latin typeface="+mn-lt"/>
              </a:endParaRPr>
            </a:p>
            <a:p>
              <a:pPr algn="ctr">
                <a:lnSpc>
                  <a:spcPct val="80000"/>
                </a:lnSpc>
                <a:buClrTx/>
                <a:buSzTx/>
                <a:buFontTx/>
                <a:buNone/>
              </a:pPr>
              <a:endParaRPr lang="en-US" altLang="en-US" sz="1000" dirty="0">
                <a:latin typeface="+mn-lt"/>
              </a:endParaRPr>
            </a:p>
            <a:p>
              <a:pPr algn="ctr">
                <a:lnSpc>
                  <a:spcPct val="80000"/>
                </a:lnSpc>
                <a:buClrTx/>
                <a:buSzTx/>
                <a:buFontTx/>
                <a:buNone/>
              </a:pPr>
              <a:endParaRPr lang="en-US" altLang="en-US" sz="1000" dirty="0">
                <a:latin typeface="+mn-lt"/>
              </a:endParaRPr>
            </a:p>
            <a:p>
              <a:pPr algn="ctr">
                <a:lnSpc>
                  <a:spcPct val="80000"/>
                </a:lnSpc>
                <a:buClrTx/>
                <a:buSzTx/>
                <a:buFontTx/>
                <a:buNone/>
              </a:pPr>
              <a:endParaRPr lang="en-US" altLang="en-US" sz="1000" dirty="0">
                <a:latin typeface="+mn-lt"/>
              </a:endParaRPr>
            </a:p>
            <a:p>
              <a:pPr algn="ctr">
                <a:lnSpc>
                  <a:spcPct val="80000"/>
                </a:lnSpc>
                <a:buClrTx/>
                <a:buSzTx/>
                <a:buFontTx/>
                <a:buNone/>
              </a:pPr>
              <a:endParaRPr lang="en-US" altLang="en-US" sz="1000" dirty="0">
                <a:latin typeface="+mn-lt"/>
              </a:endParaRPr>
            </a:p>
          </p:txBody>
        </p:sp>
        <p:sp>
          <p:nvSpPr>
            <p:cNvPr id="6" name="Text Box 8">
              <a:extLst>
                <a:ext uri="{FF2B5EF4-FFF2-40B4-BE49-F238E27FC236}">
                  <a16:creationId xmlns:a16="http://schemas.microsoft.com/office/drawing/2014/main" id="{BBE6A549-7123-C80F-3523-DECCD15FFA44}"/>
                </a:ext>
              </a:extLst>
            </p:cNvPr>
            <p:cNvSpPr txBox="1">
              <a:spLocks noChangeArrowheads="1"/>
            </p:cNvSpPr>
            <p:nvPr/>
          </p:nvSpPr>
          <p:spPr bwMode="auto">
            <a:xfrm>
              <a:off x="586210" y="2966196"/>
              <a:ext cx="1135966" cy="8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Char char="•"/>
              </a:pPr>
              <a:r>
                <a:rPr lang="en-US" altLang="en-US" sz="1000">
                  <a:latin typeface="+mn-lt"/>
                </a:rPr>
                <a:t> Throughput</a:t>
              </a:r>
            </a:p>
            <a:p>
              <a:pPr>
                <a:lnSpc>
                  <a:spcPct val="80000"/>
                </a:lnSpc>
                <a:buClrTx/>
                <a:buSzTx/>
                <a:buFontTx/>
                <a:buChar char="•"/>
              </a:pPr>
              <a:r>
                <a:rPr lang="en-US" altLang="en-US" sz="1000">
                  <a:latin typeface="+mn-lt"/>
                </a:rPr>
                <a:t> Downtime</a:t>
              </a:r>
            </a:p>
            <a:p>
              <a:pPr>
                <a:lnSpc>
                  <a:spcPct val="80000"/>
                </a:lnSpc>
                <a:buClrTx/>
                <a:buSzTx/>
                <a:buFontTx/>
                <a:buChar char="•"/>
              </a:pPr>
              <a:r>
                <a:rPr lang="en-US" altLang="en-US" sz="1000">
                  <a:latin typeface="+mn-lt"/>
                </a:rPr>
                <a:t> Scrap</a:t>
              </a:r>
            </a:p>
            <a:p>
              <a:pPr>
                <a:lnSpc>
                  <a:spcPct val="80000"/>
                </a:lnSpc>
                <a:buClrTx/>
                <a:buSzTx/>
                <a:buFontTx/>
                <a:buChar char="•"/>
              </a:pPr>
              <a:r>
                <a:rPr lang="en-US" altLang="en-US" sz="1000">
                  <a:latin typeface="+mn-lt"/>
                </a:rPr>
                <a:t> OSCOT</a:t>
              </a:r>
            </a:p>
            <a:p>
              <a:pPr>
                <a:lnSpc>
                  <a:spcPct val="80000"/>
                </a:lnSpc>
                <a:buClrTx/>
                <a:buSzTx/>
                <a:buFontTx/>
                <a:buChar char="•"/>
              </a:pPr>
              <a:r>
                <a:rPr lang="en-US" altLang="en-US" sz="1000">
                  <a:latin typeface="+mn-lt"/>
                </a:rPr>
                <a:t> Overtime</a:t>
              </a:r>
            </a:p>
          </p:txBody>
        </p:sp>
        <p:sp>
          <p:nvSpPr>
            <p:cNvPr id="7" name="Rectangle 9">
              <a:extLst>
                <a:ext uri="{FF2B5EF4-FFF2-40B4-BE49-F238E27FC236}">
                  <a16:creationId xmlns:a16="http://schemas.microsoft.com/office/drawing/2014/main" id="{E40D366A-FB22-860E-E17C-388EC1F34EBC}"/>
                </a:ext>
              </a:extLst>
            </p:cNvPr>
            <p:cNvSpPr>
              <a:spLocks noChangeArrowheads="1"/>
            </p:cNvSpPr>
            <p:nvPr/>
          </p:nvSpPr>
          <p:spPr bwMode="auto">
            <a:xfrm>
              <a:off x="785703" y="4344834"/>
              <a:ext cx="1441431" cy="1445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endParaRPr lang="en-US" altLang="en-US" sz="1000">
                <a:solidFill>
                  <a:schemeClr val="bg1"/>
                </a:solidFill>
                <a:latin typeface="+mn-lt"/>
              </a:endParaRPr>
            </a:p>
          </p:txBody>
        </p:sp>
        <p:sp>
          <p:nvSpPr>
            <p:cNvPr id="8" name="Rectangle 10">
              <a:extLst>
                <a:ext uri="{FF2B5EF4-FFF2-40B4-BE49-F238E27FC236}">
                  <a16:creationId xmlns:a16="http://schemas.microsoft.com/office/drawing/2014/main" id="{CB1657F1-E1C5-BD2D-C8A9-9796AD45EA11}"/>
                </a:ext>
              </a:extLst>
            </p:cNvPr>
            <p:cNvSpPr>
              <a:spLocks noChangeArrowheads="1"/>
            </p:cNvSpPr>
            <p:nvPr/>
          </p:nvSpPr>
          <p:spPr bwMode="auto">
            <a:xfrm>
              <a:off x="597945" y="4185569"/>
              <a:ext cx="1441431" cy="1445000"/>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a:latin typeface="+mn-lt"/>
                </a:rPr>
                <a:t>Next-Month</a:t>
              </a:r>
            </a:p>
            <a:p>
              <a:pPr algn="ctr">
                <a:lnSpc>
                  <a:spcPct val="80000"/>
                </a:lnSpc>
                <a:buClrTx/>
                <a:buSzTx/>
                <a:buFontTx/>
                <a:buNone/>
              </a:pPr>
              <a:r>
                <a:rPr lang="en-US" altLang="en-US" sz="1000" i="1">
                  <a:latin typeface="+mn-lt"/>
                </a:rPr>
                <a:t>Maintenance</a:t>
              </a:r>
            </a:p>
            <a:p>
              <a:pPr algn="ctr">
                <a:lnSpc>
                  <a:spcPct val="80000"/>
                </a:lnSpc>
                <a:buClrTx/>
                <a:buSzTx/>
                <a:buFontTx/>
                <a:buNone/>
              </a:pPr>
              <a:r>
                <a:rPr lang="en-US" altLang="en-US" sz="1000" i="1">
                  <a:latin typeface="+mn-lt"/>
                </a:rPr>
                <a:t>Schedule</a:t>
              </a:r>
            </a:p>
            <a:p>
              <a:pPr algn="ctr">
                <a:lnSpc>
                  <a:spcPct val="80000"/>
                </a:lnSpc>
                <a:buClrTx/>
                <a:buSzTx/>
                <a:buFontTx/>
                <a:buNone/>
              </a:pPr>
              <a:endParaRPr lang="en-US" altLang="en-US" sz="1000" i="1">
                <a:latin typeface="+mn-lt"/>
              </a:endParaRPr>
            </a:p>
            <a:p>
              <a:pPr algn="ctr">
                <a:lnSpc>
                  <a:spcPct val="80000"/>
                </a:lnSpc>
                <a:buClrTx/>
                <a:buSzTx/>
                <a:buFontTx/>
                <a:buNone/>
              </a:pPr>
              <a:endParaRPr lang="en-US" altLang="en-US" sz="1000">
                <a:latin typeface="+mn-lt"/>
              </a:endParaRPr>
            </a:p>
            <a:p>
              <a:pPr algn="ctr">
                <a:lnSpc>
                  <a:spcPct val="80000"/>
                </a:lnSpc>
                <a:buClrTx/>
                <a:buSzTx/>
                <a:buFontTx/>
                <a:buNone/>
              </a:pPr>
              <a:endParaRPr lang="en-US" altLang="en-US" sz="1000">
                <a:latin typeface="+mn-lt"/>
              </a:endParaRPr>
            </a:p>
            <a:p>
              <a:pPr algn="ctr">
                <a:lnSpc>
                  <a:spcPct val="80000"/>
                </a:lnSpc>
                <a:buClrTx/>
                <a:buSzTx/>
                <a:buFontTx/>
                <a:buNone/>
              </a:pPr>
              <a:endParaRPr lang="en-US" altLang="en-US" sz="1000">
                <a:latin typeface="+mn-lt"/>
              </a:endParaRPr>
            </a:p>
            <a:p>
              <a:pPr algn="ctr">
                <a:lnSpc>
                  <a:spcPct val="80000"/>
                </a:lnSpc>
                <a:buClrTx/>
                <a:buSzTx/>
                <a:buFontTx/>
                <a:buNone/>
              </a:pPr>
              <a:endParaRPr lang="en-US" altLang="en-US" sz="1000">
                <a:latin typeface="+mn-lt"/>
              </a:endParaRPr>
            </a:p>
          </p:txBody>
        </p:sp>
        <p:sp>
          <p:nvSpPr>
            <p:cNvPr id="9" name="Text Box 11">
              <a:extLst>
                <a:ext uri="{FF2B5EF4-FFF2-40B4-BE49-F238E27FC236}">
                  <a16:creationId xmlns:a16="http://schemas.microsoft.com/office/drawing/2014/main" id="{EC51CE5A-1405-63AC-50F1-16E3B3E60A6B}"/>
                </a:ext>
              </a:extLst>
            </p:cNvPr>
            <p:cNvSpPr txBox="1">
              <a:spLocks noChangeArrowheads="1"/>
            </p:cNvSpPr>
            <p:nvPr/>
          </p:nvSpPr>
          <p:spPr bwMode="auto">
            <a:xfrm>
              <a:off x="595989" y="4767883"/>
              <a:ext cx="1309759" cy="8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Char char="•"/>
              </a:pPr>
              <a:r>
                <a:rPr lang="en-US" altLang="en-US" sz="1000">
                  <a:latin typeface="+mn-lt"/>
                </a:rPr>
                <a:t> Planned Mtc</a:t>
              </a:r>
            </a:p>
            <a:p>
              <a:pPr>
                <a:lnSpc>
                  <a:spcPct val="80000"/>
                </a:lnSpc>
                <a:buClrTx/>
                <a:buSzTx/>
                <a:buFontTx/>
                <a:buChar char="•"/>
              </a:pPr>
              <a:r>
                <a:rPr lang="en-US" altLang="en-US" sz="1000">
                  <a:latin typeface="+mn-lt"/>
                </a:rPr>
                <a:t> Routine PM</a:t>
              </a:r>
              <a:r>
                <a:rPr lang="ja-JP" altLang="en-US" sz="1000">
                  <a:latin typeface="+mn-lt"/>
                </a:rPr>
                <a:t>’</a:t>
              </a:r>
              <a:r>
                <a:rPr lang="en-US" altLang="ja-JP" sz="1000">
                  <a:latin typeface="+mn-lt"/>
                </a:rPr>
                <a:t>s</a:t>
              </a:r>
            </a:p>
            <a:p>
              <a:pPr>
                <a:lnSpc>
                  <a:spcPct val="80000"/>
                </a:lnSpc>
                <a:buClrTx/>
                <a:buSzTx/>
                <a:buFontTx/>
                <a:buChar char="•"/>
              </a:pPr>
              <a:r>
                <a:rPr lang="en-US" altLang="en-US" sz="1000">
                  <a:latin typeface="+mn-lt"/>
                </a:rPr>
                <a:t> Downtime</a:t>
              </a:r>
            </a:p>
            <a:p>
              <a:pPr>
                <a:lnSpc>
                  <a:spcPct val="80000"/>
                </a:lnSpc>
                <a:buClrTx/>
                <a:buSzTx/>
                <a:buFontTx/>
                <a:buChar char="•"/>
              </a:pPr>
              <a:r>
                <a:rPr lang="en-US" altLang="en-US" sz="1000">
                  <a:latin typeface="+mn-lt"/>
                </a:rPr>
                <a:t> Timing</a:t>
              </a:r>
            </a:p>
            <a:p>
              <a:pPr>
                <a:lnSpc>
                  <a:spcPct val="80000"/>
                </a:lnSpc>
                <a:buClrTx/>
                <a:buSzTx/>
                <a:buFontTx/>
                <a:buChar char="•"/>
              </a:pPr>
              <a:r>
                <a:rPr lang="en-US" altLang="en-US" sz="1000">
                  <a:latin typeface="+mn-lt"/>
                </a:rPr>
                <a:t> Capacity Loss</a:t>
              </a:r>
            </a:p>
          </p:txBody>
        </p:sp>
        <p:sp>
          <p:nvSpPr>
            <p:cNvPr id="10" name="Rectangle 12">
              <a:extLst>
                <a:ext uri="{FF2B5EF4-FFF2-40B4-BE49-F238E27FC236}">
                  <a16:creationId xmlns:a16="http://schemas.microsoft.com/office/drawing/2014/main" id="{C144885A-F49B-3232-1275-C5E9A492A41C}"/>
                </a:ext>
              </a:extLst>
            </p:cNvPr>
            <p:cNvSpPr>
              <a:spLocks noChangeArrowheads="1"/>
            </p:cNvSpPr>
            <p:nvPr/>
          </p:nvSpPr>
          <p:spPr bwMode="auto">
            <a:xfrm>
              <a:off x="5491376" y="3528601"/>
              <a:ext cx="1292790" cy="920752"/>
            </a:xfrm>
            <a:prstGeom prst="rect">
              <a:avLst/>
            </a:prstGeom>
            <a:solidFill>
              <a:schemeClr val="accent5"/>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Maintenance</a:t>
              </a:r>
            </a:p>
            <a:p>
              <a:pPr algn="ctr">
                <a:lnSpc>
                  <a:spcPct val="80000"/>
                </a:lnSpc>
                <a:buClrTx/>
                <a:buSzTx/>
                <a:buFontTx/>
                <a:buNone/>
              </a:pPr>
              <a:r>
                <a:rPr lang="en-US" altLang="en-US" sz="1000" dirty="0">
                  <a:solidFill>
                    <a:schemeClr val="bg1"/>
                  </a:solidFill>
                  <a:latin typeface="+mn-lt"/>
                </a:rPr>
                <a:t>Capacity</a:t>
              </a:r>
            </a:p>
            <a:p>
              <a:pPr algn="ctr">
                <a:lnSpc>
                  <a:spcPct val="80000"/>
                </a:lnSpc>
                <a:buClrTx/>
                <a:buSzTx/>
                <a:buFontTx/>
                <a:buNone/>
              </a:pPr>
              <a:r>
                <a:rPr lang="en-US" altLang="en-US" sz="1000" dirty="0">
                  <a:solidFill>
                    <a:schemeClr val="bg1"/>
                  </a:solidFill>
                  <a:latin typeface="+mn-lt"/>
                </a:rPr>
                <a:t>Lost</a:t>
              </a:r>
            </a:p>
          </p:txBody>
        </p:sp>
        <p:sp>
          <p:nvSpPr>
            <p:cNvPr id="11" name="Rectangle 13">
              <a:extLst>
                <a:ext uri="{FF2B5EF4-FFF2-40B4-BE49-F238E27FC236}">
                  <a16:creationId xmlns:a16="http://schemas.microsoft.com/office/drawing/2014/main" id="{345AE1CD-24CE-3939-2AD8-05CC01633567}"/>
                </a:ext>
              </a:extLst>
            </p:cNvPr>
            <p:cNvSpPr>
              <a:spLocks noChangeArrowheads="1"/>
            </p:cNvSpPr>
            <p:nvPr/>
          </p:nvSpPr>
          <p:spPr bwMode="auto">
            <a:xfrm>
              <a:off x="3783956" y="2926380"/>
              <a:ext cx="1292789" cy="9207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Last-Month</a:t>
              </a:r>
            </a:p>
            <a:p>
              <a:pPr algn="ctr">
                <a:lnSpc>
                  <a:spcPct val="80000"/>
                </a:lnSpc>
                <a:buClrTx/>
                <a:buSzTx/>
                <a:buFontTx/>
                <a:buNone/>
              </a:pPr>
              <a:r>
                <a:rPr lang="en-US" altLang="en-US" sz="1000">
                  <a:solidFill>
                    <a:schemeClr val="bg1"/>
                  </a:solidFill>
                  <a:latin typeface="+mn-lt"/>
                </a:rPr>
                <a:t>Actual</a:t>
              </a:r>
            </a:p>
            <a:p>
              <a:pPr algn="ctr">
                <a:lnSpc>
                  <a:spcPct val="80000"/>
                </a:lnSpc>
                <a:buClrTx/>
                <a:buSzTx/>
                <a:buFontTx/>
                <a:buNone/>
              </a:pPr>
              <a:r>
                <a:rPr lang="en-US" altLang="en-US" sz="1000">
                  <a:solidFill>
                    <a:schemeClr val="bg1"/>
                  </a:solidFill>
                  <a:latin typeface="+mn-lt"/>
                </a:rPr>
                <a:t>Capacity</a:t>
              </a:r>
            </a:p>
            <a:p>
              <a:pPr algn="ctr">
                <a:lnSpc>
                  <a:spcPct val="80000"/>
                </a:lnSpc>
                <a:buClrTx/>
                <a:buSzTx/>
                <a:buFontTx/>
                <a:buNone/>
              </a:pPr>
              <a:r>
                <a:rPr lang="en-US" altLang="en-US" sz="1000">
                  <a:solidFill>
                    <a:schemeClr val="bg1"/>
                  </a:solidFill>
                  <a:latin typeface="+mn-lt"/>
                </a:rPr>
                <a:t>Used</a:t>
              </a:r>
            </a:p>
          </p:txBody>
        </p:sp>
        <p:sp>
          <p:nvSpPr>
            <p:cNvPr id="12" name="Rectangle 14">
              <a:extLst>
                <a:ext uri="{FF2B5EF4-FFF2-40B4-BE49-F238E27FC236}">
                  <a16:creationId xmlns:a16="http://schemas.microsoft.com/office/drawing/2014/main" id="{886DE2B6-2C6F-A677-F789-6FF8A3A6F70F}"/>
                </a:ext>
              </a:extLst>
            </p:cNvPr>
            <p:cNvSpPr>
              <a:spLocks noChangeArrowheads="1"/>
            </p:cNvSpPr>
            <p:nvPr/>
          </p:nvSpPr>
          <p:spPr bwMode="auto">
            <a:xfrm>
              <a:off x="3780045" y="4145753"/>
              <a:ext cx="1292789" cy="92075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Planned</a:t>
              </a:r>
            </a:p>
            <a:p>
              <a:pPr algn="ctr">
                <a:lnSpc>
                  <a:spcPct val="80000"/>
                </a:lnSpc>
                <a:buClrTx/>
                <a:buSzTx/>
                <a:buFontTx/>
                <a:buNone/>
              </a:pPr>
              <a:r>
                <a:rPr lang="en-US" altLang="en-US" sz="1000">
                  <a:solidFill>
                    <a:schemeClr val="bg1"/>
                  </a:solidFill>
                  <a:latin typeface="+mn-lt"/>
                </a:rPr>
                <a:t>Output Vs.</a:t>
              </a:r>
            </a:p>
            <a:p>
              <a:pPr algn="ctr">
                <a:lnSpc>
                  <a:spcPct val="80000"/>
                </a:lnSpc>
                <a:buClrTx/>
                <a:buSzTx/>
                <a:buFontTx/>
                <a:buNone/>
              </a:pPr>
              <a:r>
                <a:rPr lang="en-US" altLang="en-US" sz="1000">
                  <a:solidFill>
                    <a:schemeClr val="bg1"/>
                  </a:solidFill>
                  <a:latin typeface="+mn-lt"/>
                </a:rPr>
                <a:t>Actual</a:t>
              </a:r>
            </a:p>
            <a:p>
              <a:pPr algn="ctr">
                <a:lnSpc>
                  <a:spcPct val="80000"/>
                </a:lnSpc>
                <a:buClrTx/>
                <a:buSzTx/>
                <a:buFontTx/>
                <a:buNone/>
              </a:pPr>
              <a:r>
                <a:rPr lang="en-US" altLang="en-US" sz="1000">
                  <a:solidFill>
                    <a:schemeClr val="bg1"/>
                  </a:solidFill>
                  <a:latin typeface="+mn-lt"/>
                </a:rPr>
                <a:t>Output</a:t>
              </a:r>
            </a:p>
          </p:txBody>
        </p:sp>
        <p:sp>
          <p:nvSpPr>
            <p:cNvPr id="13" name="Rectangle 17">
              <a:extLst>
                <a:ext uri="{FF2B5EF4-FFF2-40B4-BE49-F238E27FC236}">
                  <a16:creationId xmlns:a16="http://schemas.microsoft.com/office/drawing/2014/main" id="{2CA43B16-03AD-9757-85B2-65EE63B06677}"/>
                </a:ext>
              </a:extLst>
            </p:cNvPr>
            <p:cNvSpPr>
              <a:spLocks noChangeArrowheads="1"/>
            </p:cNvSpPr>
            <p:nvPr/>
          </p:nvSpPr>
          <p:spPr bwMode="auto">
            <a:xfrm>
              <a:off x="2813876" y="2931356"/>
              <a:ext cx="492863" cy="2120217"/>
            </a:xfrm>
            <a:prstGeom prst="rect">
              <a:avLst/>
            </a:prstGeom>
            <a:solidFill>
              <a:schemeClr val="tx2"/>
            </a:solidFill>
            <a:ln w="12700" cap="sq">
              <a:solidFill>
                <a:schemeClr val="tx1"/>
              </a:solidFill>
              <a:miter lim="800000"/>
              <a:headEnd/>
              <a:tailEnd/>
            </a:ln>
          </p:spPr>
          <p:txBody>
            <a:bodyPr rot="10800000" vert="eaVert"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Last-Month Results Analysis</a:t>
              </a:r>
            </a:p>
          </p:txBody>
        </p:sp>
        <p:cxnSp>
          <p:nvCxnSpPr>
            <p:cNvPr id="14" name="AutoShape 18">
              <a:extLst>
                <a:ext uri="{FF2B5EF4-FFF2-40B4-BE49-F238E27FC236}">
                  <a16:creationId xmlns:a16="http://schemas.microsoft.com/office/drawing/2014/main" id="{88178E08-CA94-1B42-49FF-3770D50DEFAE}"/>
                </a:ext>
              </a:extLst>
            </p:cNvPr>
            <p:cNvCxnSpPr>
              <a:cxnSpLocks noChangeShapeType="1"/>
              <a:stCxn id="8" idx="3"/>
              <a:endCxn id="13" idx="1"/>
            </p:cNvCxnSpPr>
            <p:nvPr/>
          </p:nvCxnSpPr>
          <p:spPr bwMode="auto">
            <a:xfrm flipV="1">
              <a:off x="2039376" y="3991465"/>
              <a:ext cx="774500" cy="917433"/>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5" name="AutoShape 19">
              <a:extLst>
                <a:ext uri="{FF2B5EF4-FFF2-40B4-BE49-F238E27FC236}">
                  <a16:creationId xmlns:a16="http://schemas.microsoft.com/office/drawing/2014/main" id="{3402F0A6-AE13-251D-BD52-62877975DEC2}"/>
                </a:ext>
              </a:extLst>
            </p:cNvPr>
            <p:cNvCxnSpPr>
              <a:cxnSpLocks noChangeShapeType="1"/>
              <a:stCxn id="5" idx="3"/>
              <a:endCxn id="13" idx="1"/>
            </p:cNvCxnSpPr>
            <p:nvPr/>
          </p:nvCxnSpPr>
          <p:spPr bwMode="auto">
            <a:xfrm>
              <a:off x="2029597" y="3107212"/>
              <a:ext cx="784279" cy="884254"/>
            </a:xfrm>
            <a:prstGeom prst="bentConnector3">
              <a:avLst>
                <a:gd name="adj1" fmla="val 4987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 name="AutoShape 20">
              <a:extLst>
                <a:ext uri="{FF2B5EF4-FFF2-40B4-BE49-F238E27FC236}">
                  <a16:creationId xmlns:a16="http://schemas.microsoft.com/office/drawing/2014/main" id="{E7A9BE5B-DCA4-F078-DED5-33225D04E6FE}"/>
                </a:ext>
              </a:extLst>
            </p:cNvPr>
            <p:cNvCxnSpPr>
              <a:cxnSpLocks noChangeShapeType="1"/>
              <a:stCxn id="13" idx="3"/>
              <a:endCxn id="11" idx="1"/>
            </p:cNvCxnSpPr>
            <p:nvPr/>
          </p:nvCxnSpPr>
          <p:spPr bwMode="auto">
            <a:xfrm flipV="1">
              <a:off x="3306739" y="3387585"/>
              <a:ext cx="477217" cy="60388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7" name="AutoShape 21">
              <a:extLst>
                <a:ext uri="{FF2B5EF4-FFF2-40B4-BE49-F238E27FC236}">
                  <a16:creationId xmlns:a16="http://schemas.microsoft.com/office/drawing/2014/main" id="{127A7D15-FE16-F3DD-201B-CB700038737B}"/>
                </a:ext>
              </a:extLst>
            </p:cNvPr>
            <p:cNvCxnSpPr>
              <a:cxnSpLocks noChangeShapeType="1"/>
              <a:stCxn id="13" idx="3"/>
              <a:endCxn id="12" idx="1"/>
            </p:cNvCxnSpPr>
            <p:nvPr/>
          </p:nvCxnSpPr>
          <p:spPr bwMode="auto">
            <a:xfrm>
              <a:off x="3306739" y="3991465"/>
              <a:ext cx="473306" cy="615493"/>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8" name="AutoShape 22">
              <a:extLst>
                <a:ext uri="{FF2B5EF4-FFF2-40B4-BE49-F238E27FC236}">
                  <a16:creationId xmlns:a16="http://schemas.microsoft.com/office/drawing/2014/main" id="{3B615125-BDC7-3EC7-4961-BB188EC5D369}"/>
                </a:ext>
              </a:extLst>
            </p:cNvPr>
            <p:cNvCxnSpPr>
              <a:cxnSpLocks noChangeShapeType="1"/>
              <a:stCxn id="11" idx="3"/>
              <a:endCxn id="10" idx="1"/>
            </p:cNvCxnSpPr>
            <p:nvPr/>
          </p:nvCxnSpPr>
          <p:spPr bwMode="auto">
            <a:xfrm>
              <a:off x="5076745" y="3387585"/>
              <a:ext cx="402897" cy="602221"/>
            </a:xfrm>
            <a:prstGeom prst="bentConnector3">
              <a:avLst>
                <a:gd name="adj1" fmla="val 5097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9" name="AutoShape 23">
              <a:extLst>
                <a:ext uri="{FF2B5EF4-FFF2-40B4-BE49-F238E27FC236}">
                  <a16:creationId xmlns:a16="http://schemas.microsoft.com/office/drawing/2014/main" id="{6B84FA03-C720-0601-F9E9-D7A2CCDAB2BC}"/>
                </a:ext>
              </a:extLst>
            </p:cNvPr>
            <p:cNvCxnSpPr>
              <a:cxnSpLocks noChangeShapeType="1"/>
              <a:stCxn id="12" idx="3"/>
              <a:endCxn id="10" idx="1"/>
            </p:cNvCxnSpPr>
            <p:nvPr/>
          </p:nvCxnSpPr>
          <p:spPr bwMode="auto">
            <a:xfrm flipV="1">
              <a:off x="5072834" y="3989806"/>
              <a:ext cx="406808" cy="617152"/>
            </a:xfrm>
            <a:prstGeom prst="bentConnector3">
              <a:avLst>
                <a:gd name="adj1" fmla="val 50963"/>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0" name="AutoShape 24">
              <a:extLst>
                <a:ext uri="{FF2B5EF4-FFF2-40B4-BE49-F238E27FC236}">
                  <a16:creationId xmlns:a16="http://schemas.microsoft.com/office/drawing/2014/main" id="{DA832CFB-DCF3-216D-3EAF-9F69D146F3F8}"/>
                </a:ext>
              </a:extLst>
            </p:cNvPr>
            <p:cNvSpPr>
              <a:spLocks/>
            </p:cNvSpPr>
            <p:nvPr/>
          </p:nvSpPr>
          <p:spPr bwMode="auto">
            <a:xfrm rot="5400000">
              <a:off x="3807141" y="4138358"/>
              <a:ext cx="291986" cy="2251135"/>
            </a:xfrm>
            <a:prstGeom prst="rightBrace">
              <a:avLst>
                <a:gd name="adj1" fmla="val 54498"/>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1" name="Rectangle 25">
              <a:extLst>
                <a:ext uri="{FF2B5EF4-FFF2-40B4-BE49-F238E27FC236}">
                  <a16:creationId xmlns:a16="http://schemas.microsoft.com/office/drawing/2014/main" id="{B8A23697-0AB7-B1F1-27E0-D5FC3D6A9FD2}"/>
                </a:ext>
              </a:extLst>
            </p:cNvPr>
            <p:cNvSpPr>
              <a:spLocks noChangeArrowheads="1"/>
            </p:cNvSpPr>
            <p:nvPr/>
          </p:nvSpPr>
          <p:spPr bwMode="auto">
            <a:xfrm>
              <a:off x="2362084" y="5423192"/>
              <a:ext cx="3311184" cy="63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0000"/>
                </a:lnSpc>
                <a:spcBef>
                  <a:spcPct val="25000"/>
                </a:spcBef>
                <a:buClrTx/>
                <a:buSzPct val="90000"/>
                <a:buFont typeface="Arial" panose="020B0604020202020204" pitchFamily="34" charset="0"/>
                <a:buChar char="•"/>
              </a:pPr>
              <a:r>
                <a:rPr lang="en-US" altLang="en-US" sz="1100" dirty="0">
                  <a:latin typeface="+mn-lt"/>
                </a:rPr>
                <a:t>Last-month actuals analysis</a:t>
              </a:r>
            </a:p>
            <a:p>
              <a:pPr>
                <a:lnSpc>
                  <a:spcPct val="90000"/>
                </a:lnSpc>
                <a:spcBef>
                  <a:spcPct val="25000"/>
                </a:spcBef>
                <a:buClrTx/>
                <a:buSzPct val="90000"/>
                <a:buFont typeface="Arial" panose="020B0604020202020204" pitchFamily="34" charset="0"/>
                <a:buChar char="•"/>
              </a:pPr>
              <a:r>
                <a:rPr lang="en-US" altLang="en-US" sz="1100" dirty="0">
                  <a:latin typeface="+mn-lt"/>
                </a:rPr>
                <a:t>Capacity not used or misused</a:t>
              </a:r>
            </a:p>
            <a:p>
              <a:pPr>
                <a:lnSpc>
                  <a:spcPct val="90000"/>
                </a:lnSpc>
                <a:spcBef>
                  <a:spcPct val="25000"/>
                </a:spcBef>
                <a:buClrTx/>
                <a:buSzPct val="90000"/>
                <a:buFont typeface="Arial" panose="020B0604020202020204" pitchFamily="34" charset="0"/>
                <a:buChar char="•"/>
              </a:pPr>
              <a:r>
                <a:rPr lang="en-US" altLang="en-US" sz="1100" dirty="0">
                  <a:latin typeface="+mn-lt"/>
                </a:rPr>
                <a:t>Available capacity for next month</a:t>
              </a:r>
              <a:endParaRPr lang="en-US" altLang="en-US" sz="1100" b="0" dirty="0">
                <a:latin typeface="+mn-lt"/>
              </a:endParaRPr>
            </a:p>
          </p:txBody>
        </p:sp>
        <p:sp>
          <p:nvSpPr>
            <p:cNvPr id="22" name="Rectangle 26">
              <a:extLst>
                <a:ext uri="{FF2B5EF4-FFF2-40B4-BE49-F238E27FC236}">
                  <a16:creationId xmlns:a16="http://schemas.microsoft.com/office/drawing/2014/main" id="{0A04E007-DF37-CB48-FF3B-3460FC28CB45}"/>
                </a:ext>
              </a:extLst>
            </p:cNvPr>
            <p:cNvSpPr>
              <a:spLocks noChangeArrowheads="1"/>
            </p:cNvSpPr>
            <p:nvPr/>
          </p:nvSpPr>
          <p:spPr bwMode="auto">
            <a:xfrm>
              <a:off x="7355262" y="4626866"/>
              <a:ext cx="3144940" cy="52424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100">
                  <a:solidFill>
                    <a:schemeClr val="bg1"/>
                  </a:solidFill>
                  <a:latin typeface="+mn-lt"/>
                </a:rPr>
                <a:t>“</a:t>
              </a:r>
              <a:r>
                <a:rPr lang="en-US" altLang="ja-JP" sz="1100">
                  <a:solidFill>
                    <a:schemeClr val="bg1"/>
                  </a:solidFill>
                  <a:latin typeface="+mn-lt"/>
                </a:rPr>
                <a:t>Next Month</a:t>
              </a:r>
              <a:r>
                <a:rPr lang="ja-JP" altLang="en-US" sz="1100">
                  <a:solidFill>
                    <a:schemeClr val="bg1"/>
                  </a:solidFill>
                  <a:latin typeface="+mn-lt"/>
                </a:rPr>
                <a:t>”</a:t>
              </a:r>
              <a:endParaRPr lang="en-US" altLang="ja-JP" sz="1100">
                <a:solidFill>
                  <a:schemeClr val="bg1"/>
                </a:solidFill>
                <a:latin typeface="+mn-lt"/>
              </a:endParaRPr>
            </a:p>
            <a:p>
              <a:pPr algn="ctr">
                <a:lnSpc>
                  <a:spcPct val="80000"/>
                </a:lnSpc>
                <a:buClrTx/>
                <a:buSzTx/>
                <a:buFontTx/>
                <a:buNone/>
              </a:pPr>
              <a:r>
                <a:rPr lang="en-US" altLang="en-US" sz="1100">
                  <a:solidFill>
                    <a:schemeClr val="bg1"/>
                  </a:solidFill>
                  <a:latin typeface="+mn-lt"/>
                </a:rPr>
                <a:t>Actual Available Capacity</a:t>
              </a:r>
            </a:p>
          </p:txBody>
        </p:sp>
        <p:sp>
          <p:nvSpPr>
            <p:cNvPr id="23" name="Rectangle 27">
              <a:extLst>
                <a:ext uri="{FF2B5EF4-FFF2-40B4-BE49-F238E27FC236}">
                  <a16:creationId xmlns:a16="http://schemas.microsoft.com/office/drawing/2014/main" id="{D63E8D38-6103-26A9-CAA4-48B73D9B0193}"/>
                </a:ext>
              </a:extLst>
            </p:cNvPr>
            <p:cNvSpPr>
              <a:spLocks noChangeArrowheads="1"/>
            </p:cNvSpPr>
            <p:nvPr/>
          </p:nvSpPr>
          <p:spPr bwMode="auto">
            <a:xfrm>
              <a:off x="7355262" y="2793659"/>
              <a:ext cx="3144940" cy="52424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100" dirty="0">
                  <a:solidFill>
                    <a:schemeClr val="bg1"/>
                  </a:solidFill>
                  <a:latin typeface="+mn-lt"/>
                </a:rPr>
                <a:t>“</a:t>
              </a:r>
              <a:r>
                <a:rPr lang="en-US" altLang="ja-JP" sz="1100" dirty="0">
                  <a:solidFill>
                    <a:schemeClr val="bg1"/>
                  </a:solidFill>
                  <a:latin typeface="+mn-lt"/>
                </a:rPr>
                <a:t>Last-Month</a:t>
              </a:r>
              <a:r>
                <a:rPr lang="ja-JP" altLang="en-US" sz="1100" dirty="0">
                  <a:solidFill>
                    <a:schemeClr val="bg1"/>
                  </a:solidFill>
                  <a:latin typeface="+mn-lt"/>
                </a:rPr>
                <a:t>”</a:t>
              </a:r>
              <a:r>
                <a:rPr lang="en-US" altLang="ja-JP" sz="1100" dirty="0">
                  <a:solidFill>
                    <a:schemeClr val="bg1"/>
                  </a:solidFill>
                  <a:latin typeface="+mn-lt"/>
                </a:rPr>
                <a:t> Incorrect</a:t>
              </a:r>
            </a:p>
            <a:p>
              <a:pPr algn="ctr">
                <a:lnSpc>
                  <a:spcPct val="80000"/>
                </a:lnSpc>
                <a:buClrTx/>
                <a:buSzTx/>
                <a:buFontTx/>
                <a:buNone/>
              </a:pPr>
              <a:r>
                <a:rPr lang="en-US" altLang="en-US" sz="1100" dirty="0">
                  <a:solidFill>
                    <a:schemeClr val="bg1"/>
                  </a:solidFill>
                  <a:latin typeface="+mn-lt"/>
                </a:rPr>
                <a:t>Capacity Availability Assumptions</a:t>
              </a:r>
            </a:p>
          </p:txBody>
        </p:sp>
        <p:sp>
          <p:nvSpPr>
            <p:cNvPr id="24" name="Rectangle 28">
              <a:extLst>
                <a:ext uri="{FF2B5EF4-FFF2-40B4-BE49-F238E27FC236}">
                  <a16:creationId xmlns:a16="http://schemas.microsoft.com/office/drawing/2014/main" id="{C9554FC3-509D-4608-EB3B-095859D1633A}"/>
                </a:ext>
              </a:extLst>
            </p:cNvPr>
            <p:cNvSpPr>
              <a:spLocks noChangeArrowheads="1"/>
            </p:cNvSpPr>
            <p:nvPr/>
          </p:nvSpPr>
          <p:spPr bwMode="auto">
            <a:xfrm>
              <a:off x="7355262" y="3726023"/>
              <a:ext cx="3144940" cy="52424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100">
                  <a:solidFill>
                    <a:schemeClr val="bg1"/>
                  </a:solidFill>
                  <a:latin typeface="+mn-lt"/>
                </a:rPr>
                <a:t>“</a:t>
              </a:r>
              <a:r>
                <a:rPr lang="en-US" altLang="ja-JP" sz="1100">
                  <a:solidFill>
                    <a:schemeClr val="bg1"/>
                  </a:solidFill>
                  <a:latin typeface="+mn-lt"/>
                </a:rPr>
                <a:t>Next-Month</a:t>
              </a:r>
              <a:r>
                <a:rPr lang="ja-JP" altLang="en-US" sz="1100">
                  <a:solidFill>
                    <a:schemeClr val="bg1"/>
                  </a:solidFill>
                  <a:latin typeface="+mn-lt"/>
                </a:rPr>
                <a:t>”</a:t>
              </a:r>
              <a:r>
                <a:rPr lang="en-US" altLang="ja-JP" sz="1100">
                  <a:solidFill>
                    <a:schemeClr val="bg1"/>
                  </a:solidFill>
                  <a:latin typeface="+mn-lt"/>
                </a:rPr>
                <a:t> Confirmed</a:t>
              </a:r>
            </a:p>
            <a:p>
              <a:pPr algn="ctr">
                <a:lnSpc>
                  <a:spcPct val="80000"/>
                </a:lnSpc>
                <a:buClrTx/>
                <a:buSzTx/>
                <a:buFontTx/>
                <a:buNone/>
              </a:pPr>
              <a:r>
                <a:rPr lang="en-US" altLang="en-US" sz="1100">
                  <a:solidFill>
                    <a:schemeClr val="bg1"/>
                  </a:solidFill>
                  <a:latin typeface="+mn-lt"/>
                </a:rPr>
                <a:t>Capacity Reductions &amp; Limitations</a:t>
              </a:r>
            </a:p>
          </p:txBody>
        </p:sp>
        <p:cxnSp>
          <p:nvCxnSpPr>
            <p:cNvPr id="25" name="AutoShape 29">
              <a:extLst>
                <a:ext uri="{FF2B5EF4-FFF2-40B4-BE49-F238E27FC236}">
                  <a16:creationId xmlns:a16="http://schemas.microsoft.com/office/drawing/2014/main" id="{6FDFAC0B-C07C-BB24-5225-53515C31F820}"/>
                </a:ext>
              </a:extLst>
            </p:cNvPr>
            <p:cNvCxnSpPr>
              <a:cxnSpLocks noChangeShapeType="1"/>
              <a:stCxn id="10" idx="3"/>
              <a:endCxn id="23" idx="1"/>
            </p:cNvCxnSpPr>
            <p:nvPr/>
          </p:nvCxnSpPr>
          <p:spPr bwMode="auto">
            <a:xfrm flipV="1">
              <a:off x="6795902" y="3055783"/>
              <a:ext cx="559362" cy="934023"/>
            </a:xfrm>
            <a:prstGeom prst="bentConnector3">
              <a:avLst>
                <a:gd name="adj1" fmla="val 4860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6" name="AutoShape 30">
              <a:extLst>
                <a:ext uri="{FF2B5EF4-FFF2-40B4-BE49-F238E27FC236}">
                  <a16:creationId xmlns:a16="http://schemas.microsoft.com/office/drawing/2014/main" id="{E81E6C2D-42FD-F106-5D28-CD72EDA1DEA8}"/>
                </a:ext>
              </a:extLst>
            </p:cNvPr>
            <p:cNvCxnSpPr>
              <a:cxnSpLocks noChangeShapeType="1"/>
              <a:stCxn id="10" idx="3"/>
              <a:endCxn id="22" idx="1"/>
            </p:cNvCxnSpPr>
            <p:nvPr/>
          </p:nvCxnSpPr>
          <p:spPr bwMode="auto">
            <a:xfrm>
              <a:off x="6795902" y="3989806"/>
              <a:ext cx="559362" cy="899184"/>
            </a:xfrm>
            <a:prstGeom prst="bentConnector3">
              <a:avLst>
                <a:gd name="adj1" fmla="val 4860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7" name="AutoShape 31">
              <a:extLst>
                <a:ext uri="{FF2B5EF4-FFF2-40B4-BE49-F238E27FC236}">
                  <a16:creationId xmlns:a16="http://schemas.microsoft.com/office/drawing/2014/main" id="{F75CB56C-9954-9379-30CB-21C04853994D}"/>
                </a:ext>
              </a:extLst>
            </p:cNvPr>
            <p:cNvCxnSpPr>
              <a:cxnSpLocks noChangeShapeType="1"/>
              <a:stCxn id="10" idx="3"/>
              <a:endCxn id="24" idx="1"/>
            </p:cNvCxnSpPr>
            <p:nvPr/>
          </p:nvCxnSpPr>
          <p:spPr bwMode="auto">
            <a:xfrm flipV="1">
              <a:off x="6795902" y="3988147"/>
              <a:ext cx="559362" cy="1658"/>
            </a:xfrm>
            <a:prstGeom prst="bentConnector3">
              <a:avLst>
                <a:gd name="adj1" fmla="val 4860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2" name="Freeform 50">
              <a:extLst>
                <a:ext uri="{FF2B5EF4-FFF2-40B4-BE49-F238E27FC236}">
                  <a16:creationId xmlns:a16="http://schemas.microsoft.com/office/drawing/2014/main" id="{4BD6EF76-3139-85A4-E219-23D30CF5D4AD}"/>
                </a:ext>
              </a:extLst>
            </p:cNvPr>
            <p:cNvSpPr>
              <a:spLocks/>
            </p:cNvSpPr>
            <p:nvPr/>
          </p:nvSpPr>
          <p:spPr bwMode="auto">
            <a:xfrm>
              <a:off x="2041331" y="2456879"/>
              <a:ext cx="6884445" cy="305258"/>
            </a:xfrm>
            <a:custGeom>
              <a:avLst/>
              <a:gdLst>
                <a:gd name="T0" fmla="*/ 2147483646 w 3520"/>
                <a:gd name="T1" fmla="*/ 463708750 h 184"/>
                <a:gd name="T2" fmla="*/ 2147483646 w 3520"/>
                <a:gd name="T3" fmla="*/ 0 h 184"/>
                <a:gd name="T4" fmla="*/ 0 w 3520"/>
                <a:gd name="T5" fmla="*/ 0 h 184"/>
                <a:gd name="T6" fmla="*/ 0 60000 65536"/>
                <a:gd name="T7" fmla="*/ 0 60000 65536"/>
                <a:gd name="T8" fmla="*/ 0 60000 65536"/>
              </a:gdLst>
              <a:ahLst/>
              <a:cxnLst>
                <a:cxn ang="T6">
                  <a:pos x="T0" y="T1"/>
                </a:cxn>
                <a:cxn ang="T7">
                  <a:pos x="T2" y="T3"/>
                </a:cxn>
                <a:cxn ang="T8">
                  <a:pos x="T4" y="T5"/>
                </a:cxn>
              </a:cxnLst>
              <a:rect l="0" t="0" r="r" b="b"/>
              <a:pathLst>
                <a:path w="3520" h="184">
                  <a:moveTo>
                    <a:pt x="3520" y="184"/>
                  </a:moveTo>
                  <a:lnTo>
                    <a:pt x="3520" y="0"/>
                  </a:lnTo>
                  <a:lnTo>
                    <a:pt x="0" y="0"/>
                  </a:lnTo>
                </a:path>
              </a:pathLst>
            </a:custGeom>
            <a:noFill/>
            <a:ln w="19050" cap="flat" cmpd="sng">
              <a:solidFill>
                <a:schemeClr val="tx1"/>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Text Box 33">
              <a:extLst>
                <a:ext uri="{FF2B5EF4-FFF2-40B4-BE49-F238E27FC236}">
                  <a16:creationId xmlns:a16="http://schemas.microsoft.com/office/drawing/2014/main" id="{75AD0D3B-F6D6-8251-B69E-D6952BA0E52D}"/>
                </a:ext>
              </a:extLst>
            </p:cNvPr>
            <p:cNvSpPr txBox="1">
              <a:spLocks noChangeArrowheads="1"/>
            </p:cNvSpPr>
            <p:nvPr/>
          </p:nvSpPr>
          <p:spPr bwMode="auto">
            <a:xfrm>
              <a:off x="3270109" y="2339396"/>
              <a:ext cx="4419066"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dirty="0">
                  <a:latin typeface="+mn-lt"/>
                </a:rPr>
                <a:t>Analysis &amp; Feedback Loop:  Continuous Improvement Required</a:t>
              </a:r>
            </a:p>
          </p:txBody>
        </p:sp>
      </p:grpSp>
    </p:spTree>
    <p:extLst>
      <p:ext uri="{BB962C8B-B14F-4D97-AF65-F5344CB8AC3E}">
        <p14:creationId xmlns:p14="http://schemas.microsoft.com/office/powerpoint/2010/main" val="2039415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&amp; Metrics Review:  Consolidated Scorecard Necessary</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059637" y="2772907"/>
            <a:ext cx="2644504"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As an integral component of the demand planning process, S&amp;OP pilot members should, if it does not already exist, aggregate all basic operational metrics into a simple balanced scorecard in order to properly evaluate capacity constraints.</a:t>
            </a:r>
          </a:p>
        </p:txBody>
      </p:sp>
      <p:grpSp>
        <p:nvGrpSpPr>
          <p:cNvPr id="28" name="Group 51">
            <a:extLst>
              <a:ext uri="{FF2B5EF4-FFF2-40B4-BE49-F238E27FC236}">
                <a16:creationId xmlns:a16="http://schemas.microsoft.com/office/drawing/2014/main" id="{8D2F9BDF-362D-A9F4-9E37-D9724E8F7FF1}"/>
              </a:ext>
            </a:extLst>
          </p:cNvPr>
          <p:cNvGrpSpPr>
            <a:grpSpLocks/>
          </p:cNvGrpSpPr>
          <p:nvPr/>
        </p:nvGrpSpPr>
        <p:grpSpPr bwMode="auto">
          <a:xfrm>
            <a:off x="8420088" y="5628516"/>
            <a:ext cx="2933712" cy="650333"/>
            <a:chOff x="676" y="3874"/>
            <a:chExt cx="1500" cy="392"/>
          </a:xfrm>
        </p:grpSpPr>
        <p:sp>
          <p:nvSpPr>
            <p:cNvPr id="29" name="Line 35">
              <a:extLst>
                <a:ext uri="{FF2B5EF4-FFF2-40B4-BE49-F238E27FC236}">
                  <a16:creationId xmlns:a16="http://schemas.microsoft.com/office/drawing/2014/main" id="{0B2C0A89-DFCB-B41D-8A26-5A044A34F6CA}"/>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6">
              <a:extLst>
                <a:ext uri="{FF2B5EF4-FFF2-40B4-BE49-F238E27FC236}">
                  <a16:creationId xmlns:a16="http://schemas.microsoft.com/office/drawing/2014/main" id="{B1A374F2-617E-4D0B-C445-4AF709F7291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7">
              <a:extLst>
                <a:ext uri="{FF2B5EF4-FFF2-40B4-BE49-F238E27FC236}">
                  <a16:creationId xmlns:a16="http://schemas.microsoft.com/office/drawing/2014/main" id="{CFD813E6-7F26-F6C0-D84D-143AD027DA5D}"/>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38">
              <a:extLst>
                <a:ext uri="{FF2B5EF4-FFF2-40B4-BE49-F238E27FC236}">
                  <a16:creationId xmlns:a16="http://schemas.microsoft.com/office/drawing/2014/main" id="{7B66EE40-8D6F-C0ED-DA28-A2240468A4B2}"/>
                </a:ext>
              </a:extLst>
            </p:cNvPr>
            <p:cNvSpPr>
              <a:spLocks noChangeArrowheads="1"/>
            </p:cNvSpPr>
            <p:nvPr/>
          </p:nvSpPr>
          <p:spPr bwMode="auto">
            <a:xfrm>
              <a:off x="1003" y="4044"/>
              <a:ext cx="194"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Next-Month</a:t>
              </a:r>
            </a:p>
            <a:p>
              <a:pPr algn="ctr">
                <a:lnSpc>
                  <a:spcPct val="80000"/>
                </a:lnSpc>
                <a:buClrTx/>
                <a:buSzTx/>
                <a:buFontTx/>
                <a:buNone/>
              </a:pPr>
              <a:r>
                <a:rPr lang="en-US" altLang="en-US" sz="200" dirty="0">
                  <a:solidFill>
                    <a:schemeClr val="bg1"/>
                  </a:solidFill>
                  <a:latin typeface="+mn-lt"/>
                </a:rPr>
                <a:t>Maintenance</a:t>
              </a:r>
            </a:p>
            <a:p>
              <a:pPr algn="ctr">
                <a:lnSpc>
                  <a:spcPct val="80000"/>
                </a:lnSpc>
                <a:buClrTx/>
                <a:buSzTx/>
                <a:buFontTx/>
                <a:buNone/>
              </a:pPr>
              <a:r>
                <a:rPr lang="en-US" altLang="en-US" sz="200" dirty="0">
                  <a:solidFill>
                    <a:schemeClr val="bg1"/>
                  </a:solidFill>
                  <a:latin typeface="+mn-lt"/>
                </a:rPr>
                <a:t>Scheduling</a:t>
              </a:r>
            </a:p>
          </p:txBody>
        </p:sp>
        <p:sp>
          <p:nvSpPr>
            <p:cNvPr id="33" name="Rectangle 39">
              <a:extLst>
                <a:ext uri="{FF2B5EF4-FFF2-40B4-BE49-F238E27FC236}">
                  <a16:creationId xmlns:a16="http://schemas.microsoft.com/office/drawing/2014/main" id="{45FF9491-4B38-D760-54DB-1050B378828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34" name="Rectangle 40">
              <a:extLst>
                <a:ext uri="{FF2B5EF4-FFF2-40B4-BE49-F238E27FC236}">
                  <a16:creationId xmlns:a16="http://schemas.microsoft.com/office/drawing/2014/main" id="{5A64336F-7983-38CE-3FDD-8542144E8760}"/>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35" name="Rectangle 41">
              <a:extLst>
                <a:ext uri="{FF2B5EF4-FFF2-40B4-BE49-F238E27FC236}">
                  <a16:creationId xmlns:a16="http://schemas.microsoft.com/office/drawing/2014/main" id="{D1CB1192-FC83-DA5E-564C-68F868894C0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36" name="AutoShape 42">
              <a:extLst>
                <a:ext uri="{FF2B5EF4-FFF2-40B4-BE49-F238E27FC236}">
                  <a16:creationId xmlns:a16="http://schemas.microsoft.com/office/drawing/2014/main" id="{EB32BD7B-DC09-F477-DC0E-5AF914C71B10}"/>
                </a:ext>
              </a:extLst>
            </p:cNvPr>
            <p:cNvSpPr>
              <a:spLocks noChangeArrowheads="1"/>
            </p:cNvSpPr>
            <p:nvPr/>
          </p:nvSpPr>
          <p:spPr bwMode="auto">
            <a:xfrm>
              <a:off x="730" y="4045"/>
              <a:ext cx="235" cy="125"/>
            </a:xfrm>
            <a:prstGeom prst="triangle">
              <a:avLst>
                <a:gd name="adj" fmla="val 50000"/>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Actual</a:t>
              </a:r>
            </a:p>
            <a:p>
              <a:pPr algn="ctr">
                <a:lnSpc>
                  <a:spcPct val="80000"/>
                </a:lnSpc>
                <a:buClrTx/>
                <a:buSzTx/>
                <a:buFontTx/>
                <a:buNone/>
              </a:pPr>
              <a:r>
                <a:rPr lang="en-US" altLang="en-US" sz="200">
                  <a:solidFill>
                    <a:schemeClr val="bg1"/>
                  </a:solidFill>
                  <a:latin typeface="+mn-lt"/>
                </a:rPr>
                <a:t>Capacity</a:t>
              </a:r>
            </a:p>
            <a:p>
              <a:pPr algn="ctr">
                <a:lnSpc>
                  <a:spcPct val="80000"/>
                </a:lnSpc>
                <a:buClrTx/>
                <a:buSzTx/>
                <a:buFontTx/>
                <a:buNone/>
              </a:pPr>
              <a:r>
                <a:rPr lang="en-US" altLang="en-US" sz="200">
                  <a:solidFill>
                    <a:schemeClr val="bg1"/>
                  </a:solidFill>
                  <a:latin typeface="+mn-lt"/>
                </a:rPr>
                <a:t>Used</a:t>
              </a:r>
            </a:p>
          </p:txBody>
        </p:sp>
        <p:sp>
          <p:nvSpPr>
            <p:cNvPr id="37" name="Rectangle 43">
              <a:extLst>
                <a:ext uri="{FF2B5EF4-FFF2-40B4-BE49-F238E27FC236}">
                  <a16:creationId xmlns:a16="http://schemas.microsoft.com/office/drawing/2014/main" id="{C617E6C3-B208-359E-0732-BD9FE970B391}"/>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Second-Pass</a:t>
              </a:r>
            </a:p>
            <a:p>
              <a:pPr algn="ctr">
                <a:lnSpc>
                  <a:spcPct val="80000"/>
                </a:lnSpc>
                <a:buClrTx/>
                <a:buSzTx/>
                <a:buFontTx/>
                <a:buNone/>
              </a:pPr>
              <a:r>
                <a:rPr lang="en-US" altLang="en-US" sz="200">
                  <a:solidFill>
                    <a:srgbClr val="000066"/>
                  </a:solidFill>
                  <a:latin typeface="+mn-lt"/>
                </a:rPr>
                <a:t>Spreadsheet</a:t>
              </a:r>
            </a:p>
            <a:p>
              <a:pPr algn="ctr">
                <a:lnSpc>
                  <a:spcPct val="80000"/>
                </a:lnSpc>
                <a:buClrTx/>
                <a:buSzTx/>
                <a:buFontTx/>
                <a:buNone/>
              </a:pPr>
              <a:r>
                <a:rPr lang="ja-JP" altLang="en-US" sz="200">
                  <a:solidFill>
                    <a:srgbClr val="000066"/>
                  </a:solidFill>
                  <a:latin typeface="+mn-lt"/>
                </a:rPr>
                <a:t>“</a:t>
              </a:r>
              <a:r>
                <a:rPr lang="en-US" altLang="ja-JP" sz="200">
                  <a:solidFill>
                    <a:srgbClr val="000066"/>
                  </a:solidFill>
                  <a:latin typeface="+mn-lt"/>
                </a:rPr>
                <a:t>Capacity Plan</a:t>
              </a:r>
              <a:r>
                <a:rPr lang="ja-JP" altLang="en-US" sz="200">
                  <a:solidFill>
                    <a:srgbClr val="000066"/>
                  </a:solidFill>
                  <a:latin typeface="+mn-lt"/>
                </a:rPr>
                <a:t>”</a:t>
              </a:r>
              <a:endParaRPr lang="en-US" altLang="en-US" sz="200">
                <a:solidFill>
                  <a:srgbClr val="000066"/>
                </a:solidFill>
                <a:latin typeface="+mn-lt"/>
              </a:endParaRPr>
            </a:p>
          </p:txBody>
        </p:sp>
        <p:sp>
          <p:nvSpPr>
            <p:cNvPr id="38" name="Rectangle 44">
              <a:extLst>
                <a:ext uri="{FF2B5EF4-FFF2-40B4-BE49-F238E27FC236}">
                  <a16:creationId xmlns:a16="http://schemas.microsoft.com/office/drawing/2014/main" id="{F65058DA-0B2C-D574-8457-BF709C60ECB4}"/>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39" name="Rectangle 45">
              <a:extLst>
                <a:ext uri="{FF2B5EF4-FFF2-40B4-BE49-F238E27FC236}">
                  <a16:creationId xmlns:a16="http://schemas.microsoft.com/office/drawing/2014/main" id="{06E8C80F-CEC4-44A7-D796-2EAEAAA4A32C}"/>
                </a:ext>
              </a:extLst>
            </p:cNvPr>
            <p:cNvSpPr>
              <a:spLocks noChangeArrowheads="1"/>
            </p:cNvSpPr>
            <p:nvPr/>
          </p:nvSpPr>
          <p:spPr bwMode="auto">
            <a:xfrm>
              <a:off x="676" y="3874"/>
              <a:ext cx="343" cy="5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Last-Month Actual Results</a:t>
              </a:r>
            </a:p>
          </p:txBody>
        </p:sp>
        <p:sp>
          <p:nvSpPr>
            <p:cNvPr id="40" name="Rectangle 46">
              <a:extLst>
                <a:ext uri="{FF2B5EF4-FFF2-40B4-BE49-F238E27FC236}">
                  <a16:creationId xmlns:a16="http://schemas.microsoft.com/office/drawing/2014/main" id="{DB91ACD0-F908-9DCB-81E8-D710A3BF1463}"/>
                </a:ext>
              </a:extLst>
            </p:cNvPr>
            <p:cNvSpPr>
              <a:spLocks noChangeArrowheads="1"/>
            </p:cNvSpPr>
            <p:nvPr/>
          </p:nvSpPr>
          <p:spPr bwMode="auto">
            <a:xfrm>
              <a:off x="676" y="3960"/>
              <a:ext cx="343" cy="51"/>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Performance Metrics Review</a:t>
              </a:r>
            </a:p>
          </p:txBody>
        </p:sp>
        <p:sp>
          <p:nvSpPr>
            <p:cNvPr id="41" name="Rectangle 47">
              <a:extLst>
                <a:ext uri="{FF2B5EF4-FFF2-40B4-BE49-F238E27FC236}">
                  <a16:creationId xmlns:a16="http://schemas.microsoft.com/office/drawing/2014/main" id="{18744A2E-9D47-03C9-71D5-2F5B933D8CAD}"/>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grpSp>
        <p:nvGrpSpPr>
          <p:cNvPr id="56" name="Group 55">
            <a:extLst>
              <a:ext uri="{FF2B5EF4-FFF2-40B4-BE49-F238E27FC236}">
                <a16:creationId xmlns:a16="http://schemas.microsoft.com/office/drawing/2014/main" id="{FB6D0E02-DDFE-DA43-7F62-1131235F0294}"/>
              </a:ext>
            </a:extLst>
          </p:cNvPr>
          <p:cNvGrpSpPr/>
          <p:nvPr/>
        </p:nvGrpSpPr>
        <p:grpSpPr>
          <a:xfrm>
            <a:off x="526405" y="2225676"/>
            <a:ext cx="8113712" cy="3962399"/>
            <a:chOff x="569913" y="2087563"/>
            <a:chExt cx="8113712" cy="3962399"/>
          </a:xfrm>
        </p:grpSpPr>
        <p:graphicFrame>
          <p:nvGraphicFramePr>
            <p:cNvPr id="44" name="Object 365">
              <a:extLst>
                <a:ext uri="{FF2B5EF4-FFF2-40B4-BE49-F238E27FC236}">
                  <a16:creationId xmlns:a16="http://schemas.microsoft.com/office/drawing/2014/main" id="{F19B1DAE-0743-74DF-43DC-8C6B334372E5}"/>
                </a:ext>
              </a:extLst>
            </p:cNvPr>
            <p:cNvGraphicFramePr>
              <a:graphicFrameLocks noChangeAspect="1"/>
            </p:cNvGraphicFramePr>
            <p:nvPr>
              <p:extLst>
                <p:ext uri="{D42A27DB-BD31-4B8C-83A1-F6EECF244321}">
                  <p14:modId xmlns:p14="http://schemas.microsoft.com/office/powerpoint/2010/main" val="1378450843"/>
                </p:ext>
              </p:extLst>
            </p:nvPr>
          </p:nvGraphicFramePr>
          <p:xfrm>
            <a:off x="672158" y="2390775"/>
            <a:ext cx="2933700" cy="3659187"/>
          </p:xfrm>
          <a:graphic>
            <a:graphicData uri="http://schemas.openxmlformats.org/presentationml/2006/ole">
              <mc:AlternateContent xmlns:mc="http://schemas.openxmlformats.org/markup-compatibility/2006">
                <mc:Choice xmlns:v="urn:schemas-microsoft-com:vml" Requires="v">
                  <p:oleObj name="Worksheet" r:id="rId3" imgW="3219622" imgH="4010132" progId="Excel.Sheet.8">
                    <p:embed/>
                  </p:oleObj>
                </mc:Choice>
                <mc:Fallback>
                  <p:oleObj name="Worksheet" r:id="rId3" imgW="3219622" imgH="4010132" progId="Excel.Sheet.8">
                    <p:embed/>
                    <p:pic>
                      <p:nvPicPr>
                        <p:cNvPr id="25603" name="Object 365">
                          <a:extLst>
                            <a:ext uri="{FF2B5EF4-FFF2-40B4-BE49-F238E27FC236}">
                              <a16:creationId xmlns:a16="http://schemas.microsoft.com/office/drawing/2014/main" id="{BB747A2D-A550-426C-A82A-42A7436D790F}"/>
                            </a:ext>
                          </a:extLst>
                        </p:cNvPr>
                        <p:cNvPicPr>
                          <a:picLocks noChangeAspect="1" noChangeArrowheads="1"/>
                        </p:cNvPicPr>
                        <p:nvPr/>
                      </p:nvPicPr>
                      <p:blipFill>
                        <a:blip r:embed="rId4"/>
                        <a:srcRect/>
                        <a:stretch>
                          <a:fillRect/>
                        </a:stretch>
                      </p:blipFill>
                      <p:spPr bwMode="auto">
                        <a:xfrm>
                          <a:off x="672158" y="2390775"/>
                          <a:ext cx="2933700" cy="3659187"/>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5" name="Rectangle 368">
              <a:extLst>
                <a:ext uri="{FF2B5EF4-FFF2-40B4-BE49-F238E27FC236}">
                  <a16:creationId xmlns:a16="http://schemas.microsoft.com/office/drawing/2014/main" id="{AE149042-EC71-4604-54CE-69343217E1D6}"/>
                </a:ext>
              </a:extLst>
            </p:cNvPr>
            <p:cNvSpPr>
              <a:spLocks noChangeArrowheads="1"/>
            </p:cNvSpPr>
            <p:nvPr/>
          </p:nvSpPr>
          <p:spPr bwMode="auto">
            <a:xfrm>
              <a:off x="569913" y="2225675"/>
              <a:ext cx="3267075" cy="38131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7" name="Text Box 369">
              <a:extLst>
                <a:ext uri="{FF2B5EF4-FFF2-40B4-BE49-F238E27FC236}">
                  <a16:creationId xmlns:a16="http://schemas.microsoft.com/office/drawing/2014/main" id="{F3A790C8-987A-C6E6-DE18-9FBE3DD3D95C}"/>
                </a:ext>
              </a:extLst>
            </p:cNvPr>
            <p:cNvSpPr txBox="1">
              <a:spLocks noChangeArrowheads="1"/>
            </p:cNvSpPr>
            <p:nvPr/>
          </p:nvSpPr>
          <p:spPr bwMode="auto">
            <a:xfrm>
              <a:off x="814227" y="2087563"/>
              <a:ext cx="1641795"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Sample Scorecard</a:t>
              </a:r>
            </a:p>
          </p:txBody>
        </p:sp>
        <p:sp>
          <p:nvSpPr>
            <p:cNvPr id="48" name="Rectangle 370">
              <a:extLst>
                <a:ext uri="{FF2B5EF4-FFF2-40B4-BE49-F238E27FC236}">
                  <a16:creationId xmlns:a16="http://schemas.microsoft.com/office/drawing/2014/main" id="{1D7DE62A-F240-01B8-DAB7-5F59418BDF2A}"/>
                </a:ext>
              </a:extLst>
            </p:cNvPr>
            <p:cNvSpPr>
              <a:spLocks noChangeArrowheads="1"/>
            </p:cNvSpPr>
            <p:nvPr/>
          </p:nvSpPr>
          <p:spPr bwMode="auto">
            <a:xfrm>
              <a:off x="4360863" y="2343150"/>
              <a:ext cx="4322762"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spcBef>
                  <a:spcPct val="50000"/>
                </a:spcBef>
                <a:buClrTx/>
                <a:buSzPct val="90000"/>
                <a:buFont typeface="Arial" panose="020B0604020202020204" pitchFamily="34" charset="0"/>
                <a:buChar char="•"/>
              </a:pPr>
              <a:r>
                <a:rPr lang="en-US" altLang="en-US" sz="1100" dirty="0">
                  <a:latin typeface="+mn-lt"/>
                </a:rPr>
                <a:t>Demand planning team members will have to be in a position to quickly evaluate last-month results</a:t>
              </a:r>
            </a:p>
            <a:p>
              <a:pPr>
                <a:lnSpc>
                  <a:spcPct val="95000"/>
                </a:lnSpc>
                <a:spcBef>
                  <a:spcPct val="50000"/>
                </a:spcBef>
                <a:buClrTx/>
                <a:buSzPct val="90000"/>
                <a:buFont typeface="Arial" panose="020B0604020202020204" pitchFamily="34" charset="0"/>
                <a:buChar char="•"/>
              </a:pPr>
              <a:r>
                <a:rPr lang="en-US" altLang="en-US" sz="1100" dirty="0">
                  <a:latin typeface="+mn-lt"/>
                </a:rPr>
                <a:t>Feedback cycle requires a critical assessment of last-month results to determine if supply assumptions were accurate (and if not, by how much)</a:t>
              </a:r>
            </a:p>
            <a:p>
              <a:pPr>
                <a:lnSpc>
                  <a:spcPct val="95000"/>
                </a:lnSpc>
                <a:spcBef>
                  <a:spcPct val="50000"/>
                </a:spcBef>
                <a:buClrTx/>
                <a:buSzPct val="90000"/>
                <a:buFont typeface="Arial" panose="020B0604020202020204" pitchFamily="34" charset="0"/>
                <a:buChar char="•"/>
              </a:pPr>
              <a:r>
                <a:rPr lang="en-US" altLang="en-US" sz="1100" dirty="0">
                  <a:latin typeface="+mn-lt"/>
                </a:rPr>
                <a:t>Basic metrics should focus on uptime, throughput, downtime, OSCOT, scrap, and supplier performance</a:t>
              </a:r>
            </a:p>
            <a:p>
              <a:pPr>
                <a:lnSpc>
                  <a:spcPct val="95000"/>
                </a:lnSpc>
                <a:spcBef>
                  <a:spcPct val="50000"/>
                </a:spcBef>
                <a:buClrTx/>
                <a:buSzPct val="90000"/>
                <a:buFont typeface="Arial" panose="020B0604020202020204" pitchFamily="34" charset="0"/>
                <a:buChar char="•"/>
              </a:pPr>
              <a:r>
                <a:rPr lang="en-US" altLang="en-US" sz="1100" dirty="0">
                  <a:latin typeface="+mn-lt"/>
                </a:rPr>
                <a:t>Demand team members must determine if last-month performance deficiencies will be repeated next month,</a:t>
              </a:r>
              <a:endParaRPr lang="en-US" altLang="en-US" sz="1100" b="0" dirty="0">
                <a:latin typeface="+mn-lt"/>
              </a:endParaRPr>
            </a:p>
          </p:txBody>
        </p:sp>
        <p:sp>
          <p:nvSpPr>
            <p:cNvPr id="49" name="Rectangle 371">
              <a:extLst>
                <a:ext uri="{FF2B5EF4-FFF2-40B4-BE49-F238E27FC236}">
                  <a16:creationId xmlns:a16="http://schemas.microsoft.com/office/drawing/2014/main" id="{FA5B897B-B733-F24E-1D9F-BD5DF6346255}"/>
                </a:ext>
              </a:extLst>
            </p:cNvPr>
            <p:cNvSpPr>
              <a:spLocks noChangeArrowheads="1"/>
            </p:cNvSpPr>
            <p:nvPr/>
          </p:nvSpPr>
          <p:spPr bwMode="auto">
            <a:xfrm>
              <a:off x="4337050" y="2220913"/>
              <a:ext cx="4316413" cy="196691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0" name="Rectangle 372">
              <a:extLst>
                <a:ext uri="{FF2B5EF4-FFF2-40B4-BE49-F238E27FC236}">
                  <a16:creationId xmlns:a16="http://schemas.microsoft.com/office/drawing/2014/main" id="{1B13B92F-7AB9-73A3-CBB7-8E4EA9C498D0}"/>
                </a:ext>
              </a:extLst>
            </p:cNvPr>
            <p:cNvSpPr>
              <a:spLocks noChangeArrowheads="1"/>
            </p:cNvSpPr>
            <p:nvPr/>
          </p:nvSpPr>
          <p:spPr bwMode="auto">
            <a:xfrm>
              <a:off x="4356100" y="4548188"/>
              <a:ext cx="424497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0000"/>
                </a:spcBef>
                <a:buClrTx/>
                <a:buSzPct val="90000"/>
                <a:buFont typeface="Arial" panose="020B0604020202020204" pitchFamily="34" charset="0"/>
                <a:buChar char="•"/>
              </a:pPr>
              <a:r>
                <a:rPr lang="en-US" altLang="en-US" sz="1100" dirty="0">
                  <a:latin typeface="+mn-lt"/>
                </a:rPr>
                <a:t>Team must have a thorough understanding of next-month maintenance requirements</a:t>
              </a:r>
            </a:p>
            <a:p>
              <a:pPr>
                <a:spcBef>
                  <a:spcPct val="50000"/>
                </a:spcBef>
                <a:buClrTx/>
                <a:buSzPct val="90000"/>
                <a:buFont typeface="Arial" panose="020B0604020202020204" pitchFamily="34" charset="0"/>
                <a:buChar char="•"/>
              </a:pPr>
              <a:r>
                <a:rPr lang="en-US" altLang="en-US" sz="1100" dirty="0">
                  <a:latin typeface="+mn-lt"/>
                </a:rPr>
                <a:t>What preventive maintenance procedures are required, and what maintenance is optional (if demand warrants)</a:t>
              </a:r>
            </a:p>
            <a:p>
              <a:pPr>
                <a:spcBef>
                  <a:spcPct val="50000"/>
                </a:spcBef>
                <a:buClrTx/>
                <a:buSzPct val="90000"/>
                <a:buFont typeface="Arial" panose="020B0604020202020204" pitchFamily="34" charset="0"/>
                <a:buChar char="•"/>
              </a:pPr>
              <a:r>
                <a:rPr lang="en-US" altLang="en-US" sz="1100" dirty="0">
                  <a:latin typeface="+mn-lt"/>
                </a:rPr>
                <a:t>Required maintenance should be considered mandatory in order to match supply to an accurate depiction of available capacity</a:t>
              </a:r>
              <a:endParaRPr lang="en-US" altLang="en-US" sz="1100" b="0" dirty="0">
                <a:latin typeface="+mn-lt"/>
              </a:endParaRPr>
            </a:p>
          </p:txBody>
        </p:sp>
        <p:sp>
          <p:nvSpPr>
            <p:cNvPr id="51" name="Rectangle 373">
              <a:extLst>
                <a:ext uri="{FF2B5EF4-FFF2-40B4-BE49-F238E27FC236}">
                  <a16:creationId xmlns:a16="http://schemas.microsoft.com/office/drawing/2014/main" id="{6FD002AC-FC8C-F6A2-4A83-D57F5D6378AC}"/>
                </a:ext>
              </a:extLst>
            </p:cNvPr>
            <p:cNvSpPr>
              <a:spLocks noChangeArrowheads="1"/>
            </p:cNvSpPr>
            <p:nvPr/>
          </p:nvSpPr>
          <p:spPr bwMode="auto">
            <a:xfrm>
              <a:off x="4332288" y="4437063"/>
              <a:ext cx="4316412" cy="1574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2" name="Text Box 374">
              <a:extLst>
                <a:ext uri="{FF2B5EF4-FFF2-40B4-BE49-F238E27FC236}">
                  <a16:creationId xmlns:a16="http://schemas.microsoft.com/office/drawing/2014/main" id="{6B6CDA25-0674-FBA7-91CE-6F4C10251F90}"/>
                </a:ext>
              </a:extLst>
            </p:cNvPr>
            <p:cNvSpPr txBox="1">
              <a:spLocks noChangeArrowheads="1"/>
            </p:cNvSpPr>
            <p:nvPr/>
          </p:nvSpPr>
          <p:spPr bwMode="auto">
            <a:xfrm>
              <a:off x="4618353" y="2089150"/>
              <a:ext cx="1707519"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Last-Month Review</a:t>
              </a:r>
            </a:p>
          </p:txBody>
        </p:sp>
        <p:sp>
          <p:nvSpPr>
            <p:cNvPr id="53" name="Text Box 375">
              <a:extLst>
                <a:ext uri="{FF2B5EF4-FFF2-40B4-BE49-F238E27FC236}">
                  <a16:creationId xmlns:a16="http://schemas.microsoft.com/office/drawing/2014/main" id="{AEDBDB6D-7C8F-D863-5EA2-DD219F8293BD}"/>
                </a:ext>
              </a:extLst>
            </p:cNvPr>
            <p:cNvSpPr txBox="1">
              <a:spLocks noChangeArrowheads="1"/>
            </p:cNvSpPr>
            <p:nvPr/>
          </p:nvSpPr>
          <p:spPr bwMode="auto">
            <a:xfrm>
              <a:off x="4635285" y="4294188"/>
              <a:ext cx="2473754"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Maintenance Considerations</a:t>
              </a:r>
            </a:p>
          </p:txBody>
        </p:sp>
        <p:cxnSp>
          <p:nvCxnSpPr>
            <p:cNvPr id="54" name="AutoShape 376">
              <a:extLst>
                <a:ext uri="{FF2B5EF4-FFF2-40B4-BE49-F238E27FC236}">
                  <a16:creationId xmlns:a16="http://schemas.microsoft.com/office/drawing/2014/main" id="{D65A79CB-0136-27B8-8107-8C1F17ACF08F}"/>
                </a:ext>
              </a:extLst>
            </p:cNvPr>
            <p:cNvCxnSpPr>
              <a:cxnSpLocks noChangeShapeType="1"/>
              <a:stCxn id="45" idx="3"/>
              <a:endCxn id="49" idx="1"/>
            </p:cNvCxnSpPr>
            <p:nvPr/>
          </p:nvCxnSpPr>
          <p:spPr bwMode="auto">
            <a:xfrm flipV="1">
              <a:off x="3846513" y="3205163"/>
              <a:ext cx="481012" cy="927100"/>
            </a:xfrm>
            <a:prstGeom prst="bentConnector3">
              <a:avLst>
                <a:gd name="adj1" fmla="val 49833"/>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5" name="AutoShape 377">
              <a:extLst>
                <a:ext uri="{FF2B5EF4-FFF2-40B4-BE49-F238E27FC236}">
                  <a16:creationId xmlns:a16="http://schemas.microsoft.com/office/drawing/2014/main" id="{48A3BAB4-07CF-2FD8-51B8-28E678A6A815}"/>
                </a:ext>
              </a:extLst>
            </p:cNvPr>
            <p:cNvCxnSpPr>
              <a:cxnSpLocks noChangeShapeType="1"/>
              <a:stCxn id="45" idx="3"/>
              <a:endCxn id="51" idx="1"/>
            </p:cNvCxnSpPr>
            <p:nvPr/>
          </p:nvCxnSpPr>
          <p:spPr bwMode="auto">
            <a:xfrm>
              <a:off x="3846513" y="4132263"/>
              <a:ext cx="476250" cy="1092200"/>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353227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&amp; Metrics Review:  </a:t>
            </a:r>
            <a:br>
              <a:rPr lang="en-US" dirty="0"/>
            </a:br>
            <a:r>
              <a:rPr lang="en-US" dirty="0"/>
              <a:t>Building The Scorecard Feeders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8754531" y="2452252"/>
            <a:ext cx="2980903"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In order to build the most accurate and timely performance scorecard, demand team members should thoroughly process-map all “feeds” into the scorecard in order to properly assign responsibilities and development requirements.</a:t>
            </a:r>
          </a:p>
        </p:txBody>
      </p:sp>
      <p:grpSp>
        <p:nvGrpSpPr>
          <p:cNvPr id="28" name="Group 51">
            <a:extLst>
              <a:ext uri="{FF2B5EF4-FFF2-40B4-BE49-F238E27FC236}">
                <a16:creationId xmlns:a16="http://schemas.microsoft.com/office/drawing/2014/main" id="{8D2F9BDF-362D-A9F4-9E37-D9724E8F7FF1}"/>
              </a:ext>
            </a:extLst>
          </p:cNvPr>
          <p:cNvGrpSpPr>
            <a:grpSpLocks/>
          </p:cNvGrpSpPr>
          <p:nvPr/>
        </p:nvGrpSpPr>
        <p:grpSpPr bwMode="auto">
          <a:xfrm>
            <a:off x="8420088" y="5628516"/>
            <a:ext cx="2933712" cy="650333"/>
            <a:chOff x="676" y="3874"/>
            <a:chExt cx="1500" cy="392"/>
          </a:xfrm>
        </p:grpSpPr>
        <p:sp>
          <p:nvSpPr>
            <p:cNvPr id="29" name="Line 35">
              <a:extLst>
                <a:ext uri="{FF2B5EF4-FFF2-40B4-BE49-F238E27FC236}">
                  <a16:creationId xmlns:a16="http://schemas.microsoft.com/office/drawing/2014/main" id="{0B2C0A89-DFCB-B41D-8A26-5A044A34F6CA}"/>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6">
              <a:extLst>
                <a:ext uri="{FF2B5EF4-FFF2-40B4-BE49-F238E27FC236}">
                  <a16:creationId xmlns:a16="http://schemas.microsoft.com/office/drawing/2014/main" id="{B1A374F2-617E-4D0B-C445-4AF709F7291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7">
              <a:extLst>
                <a:ext uri="{FF2B5EF4-FFF2-40B4-BE49-F238E27FC236}">
                  <a16:creationId xmlns:a16="http://schemas.microsoft.com/office/drawing/2014/main" id="{CFD813E6-7F26-F6C0-D84D-143AD027DA5D}"/>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38">
              <a:extLst>
                <a:ext uri="{FF2B5EF4-FFF2-40B4-BE49-F238E27FC236}">
                  <a16:creationId xmlns:a16="http://schemas.microsoft.com/office/drawing/2014/main" id="{7B66EE40-8D6F-C0ED-DA28-A2240468A4B2}"/>
                </a:ext>
              </a:extLst>
            </p:cNvPr>
            <p:cNvSpPr>
              <a:spLocks noChangeArrowheads="1"/>
            </p:cNvSpPr>
            <p:nvPr/>
          </p:nvSpPr>
          <p:spPr bwMode="auto">
            <a:xfrm>
              <a:off x="1003" y="4044"/>
              <a:ext cx="194"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Next-Month</a:t>
              </a:r>
            </a:p>
            <a:p>
              <a:pPr algn="ctr">
                <a:lnSpc>
                  <a:spcPct val="80000"/>
                </a:lnSpc>
                <a:buClrTx/>
                <a:buSzTx/>
                <a:buFontTx/>
                <a:buNone/>
              </a:pPr>
              <a:r>
                <a:rPr lang="en-US" altLang="en-US" sz="200" dirty="0">
                  <a:solidFill>
                    <a:schemeClr val="bg1"/>
                  </a:solidFill>
                  <a:latin typeface="+mn-lt"/>
                </a:rPr>
                <a:t>Maintenance</a:t>
              </a:r>
            </a:p>
            <a:p>
              <a:pPr algn="ctr">
                <a:lnSpc>
                  <a:spcPct val="80000"/>
                </a:lnSpc>
                <a:buClrTx/>
                <a:buSzTx/>
                <a:buFontTx/>
                <a:buNone/>
              </a:pPr>
              <a:r>
                <a:rPr lang="en-US" altLang="en-US" sz="200" dirty="0">
                  <a:solidFill>
                    <a:schemeClr val="bg1"/>
                  </a:solidFill>
                  <a:latin typeface="+mn-lt"/>
                </a:rPr>
                <a:t>Scheduling</a:t>
              </a:r>
            </a:p>
          </p:txBody>
        </p:sp>
        <p:sp>
          <p:nvSpPr>
            <p:cNvPr id="33" name="Rectangle 39">
              <a:extLst>
                <a:ext uri="{FF2B5EF4-FFF2-40B4-BE49-F238E27FC236}">
                  <a16:creationId xmlns:a16="http://schemas.microsoft.com/office/drawing/2014/main" id="{45FF9491-4B38-D760-54DB-1050B378828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34" name="Rectangle 40">
              <a:extLst>
                <a:ext uri="{FF2B5EF4-FFF2-40B4-BE49-F238E27FC236}">
                  <a16:creationId xmlns:a16="http://schemas.microsoft.com/office/drawing/2014/main" id="{5A64336F-7983-38CE-3FDD-8542144E8760}"/>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35" name="Rectangle 41">
              <a:extLst>
                <a:ext uri="{FF2B5EF4-FFF2-40B4-BE49-F238E27FC236}">
                  <a16:creationId xmlns:a16="http://schemas.microsoft.com/office/drawing/2014/main" id="{D1CB1192-FC83-DA5E-564C-68F868894C0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36" name="AutoShape 42">
              <a:extLst>
                <a:ext uri="{FF2B5EF4-FFF2-40B4-BE49-F238E27FC236}">
                  <a16:creationId xmlns:a16="http://schemas.microsoft.com/office/drawing/2014/main" id="{EB32BD7B-DC09-F477-DC0E-5AF914C71B10}"/>
                </a:ext>
              </a:extLst>
            </p:cNvPr>
            <p:cNvSpPr>
              <a:spLocks noChangeArrowheads="1"/>
            </p:cNvSpPr>
            <p:nvPr/>
          </p:nvSpPr>
          <p:spPr bwMode="auto">
            <a:xfrm>
              <a:off x="730" y="4045"/>
              <a:ext cx="235" cy="125"/>
            </a:xfrm>
            <a:prstGeom prst="triangle">
              <a:avLst>
                <a:gd name="adj" fmla="val 50000"/>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Actual</a:t>
              </a:r>
            </a:p>
            <a:p>
              <a:pPr algn="ctr">
                <a:lnSpc>
                  <a:spcPct val="80000"/>
                </a:lnSpc>
                <a:buClrTx/>
                <a:buSzTx/>
                <a:buFontTx/>
                <a:buNone/>
              </a:pPr>
              <a:r>
                <a:rPr lang="en-US" altLang="en-US" sz="200">
                  <a:solidFill>
                    <a:schemeClr val="bg1"/>
                  </a:solidFill>
                  <a:latin typeface="+mn-lt"/>
                </a:rPr>
                <a:t>Capacity</a:t>
              </a:r>
            </a:p>
            <a:p>
              <a:pPr algn="ctr">
                <a:lnSpc>
                  <a:spcPct val="80000"/>
                </a:lnSpc>
                <a:buClrTx/>
                <a:buSzTx/>
                <a:buFontTx/>
                <a:buNone/>
              </a:pPr>
              <a:r>
                <a:rPr lang="en-US" altLang="en-US" sz="200">
                  <a:solidFill>
                    <a:schemeClr val="bg1"/>
                  </a:solidFill>
                  <a:latin typeface="+mn-lt"/>
                </a:rPr>
                <a:t>Used</a:t>
              </a:r>
            </a:p>
          </p:txBody>
        </p:sp>
        <p:sp>
          <p:nvSpPr>
            <p:cNvPr id="37" name="Rectangle 43">
              <a:extLst>
                <a:ext uri="{FF2B5EF4-FFF2-40B4-BE49-F238E27FC236}">
                  <a16:creationId xmlns:a16="http://schemas.microsoft.com/office/drawing/2014/main" id="{C617E6C3-B208-359E-0732-BD9FE970B391}"/>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Second-Pass</a:t>
              </a:r>
            </a:p>
            <a:p>
              <a:pPr algn="ctr">
                <a:lnSpc>
                  <a:spcPct val="80000"/>
                </a:lnSpc>
                <a:buClrTx/>
                <a:buSzTx/>
                <a:buFontTx/>
                <a:buNone/>
              </a:pPr>
              <a:r>
                <a:rPr lang="en-US" altLang="en-US" sz="200">
                  <a:solidFill>
                    <a:srgbClr val="000066"/>
                  </a:solidFill>
                  <a:latin typeface="+mn-lt"/>
                </a:rPr>
                <a:t>Spreadsheet</a:t>
              </a:r>
            </a:p>
            <a:p>
              <a:pPr algn="ctr">
                <a:lnSpc>
                  <a:spcPct val="80000"/>
                </a:lnSpc>
                <a:buClrTx/>
                <a:buSzTx/>
                <a:buFontTx/>
                <a:buNone/>
              </a:pPr>
              <a:r>
                <a:rPr lang="ja-JP" altLang="en-US" sz="200">
                  <a:solidFill>
                    <a:srgbClr val="000066"/>
                  </a:solidFill>
                  <a:latin typeface="+mn-lt"/>
                </a:rPr>
                <a:t>“</a:t>
              </a:r>
              <a:r>
                <a:rPr lang="en-US" altLang="ja-JP" sz="200">
                  <a:solidFill>
                    <a:srgbClr val="000066"/>
                  </a:solidFill>
                  <a:latin typeface="+mn-lt"/>
                </a:rPr>
                <a:t>Capacity Plan</a:t>
              </a:r>
              <a:r>
                <a:rPr lang="ja-JP" altLang="en-US" sz="200">
                  <a:solidFill>
                    <a:srgbClr val="000066"/>
                  </a:solidFill>
                  <a:latin typeface="+mn-lt"/>
                </a:rPr>
                <a:t>”</a:t>
              </a:r>
              <a:endParaRPr lang="en-US" altLang="en-US" sz="200">
                <a:solidFill>
                  <a:srgbClr val="000066"/>
                </a:solidFill>
                <a:latin typeface="+mn-lt"/>
              </a:endParaRPr>
            </a:p>
          </p:txBody>
        </p:sp>
        <p:sp>
          <p:nvSpPr>
            <p:cNvPr id="38" name="Rectangle 44">
              <a:extLst>
                <a:ext uri="{FF2B5EF4-FFF2-40B4-BE49-F238E27FC236}">
                  <a16:creationId xmlns:a16="http://schemas.microsoft.com/office/drawing/2014/main" id="{F65058DA-0B2C-D574-8457-BF709C60ECB4}"/>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39" name="Rectangle 45">
              <a:extLst>
                <a:ext uri="{FF2B5EF4-FFF2-40B4-BE49-F238E27FC236}">
                  <a16:creationId xmlns:a16="http://schemas.microsoft.com/office/drawing/2014/main" id="{06E8C80F-CEC4-44A7-D796-2EAEAAA4A32C}"/>
                </a:ext>
              </a:extLst>
            </p:cNvPr>
            <p:cNvSpPr>
              <a:spLocks noChangeArrowheads="1"/>
            </p:cNvSpPr>
            <p:nvPr/>
          </p:nvSpPr>
          <p:spPr bwMode="auto">
            <a:xfrm>
              <a:off x="676" y="3874"/>
              <a:ext cx="343" cy="5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Last-Month Actual Results</a:t>
              </a:r>
            </a:p>
          </p:txBody>
        </p:sp>
        <p:sp>
          <p:nvSpPr>
            <p:cNvPr id="40" name="Rectangle 46">
              <a:extLst>
                <a:ext uri="{FF2B5EF4-FFF2-40B4-BE49-F238E27FC236}">
                  <a16:creationId xmlns:a16="http://schemas.microsoft.com/office/drawing/2014/main" id="{DB91ACD0-F908-9DCB-81E8-D710A3BF1463}"/>
                </a:ext>
              </a:extLst>
            </p:cNvPr>
            <p:cNvSpPr>
              <a:spLocks noChangeArrowheads="1"/>
            </p:cNvSpPr>
            <p:nvPr/>
          </p:nvSpPr>
          <p:spPr bwMode="auto">
            <a:xfrm>
              <a:off x="676" y="3960"/>
              <a:ext cx="343" cy="51"/>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Performance Metrics Review</a:t>
              </a:r>
            </a:p>
          </p:txBody>
        </p:sp>
        <p:sp>
          <p:nvSpPr>
            <p:cNvPr id="41" name="Rectangle 47">
              <a:extLst>
                <a:ext uri="{FF2B5EF4-FFF2-40B4-BE49-F238E27FC236}">
                  <a16:creationId xmlns:a16="http://schemas.microsoft.com/office/drawing/2014/main" id="{18744A2E-9D47-03C9-71D5-2F5B933D8CAD}"/>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grpSp>
        <p:nvGrpSpPr>
          <p:cNvPr id="27" name="Group 26">
            <a:extLst>
              <a:ext uri="{FF2B5EF4-FFF2-40B4-BE49-F238E27FC236}">
                <a16:creationId xmlns:a16="http://schemas.microsoft.com/office/drawing/2014/main" id="{2BAFF3CE-7A63-83F3-3ED1-0E138FD67B58}"/>
              </a:ext>
            </a:extLst>
          </p:cNvPr>
          <p:cNvGrpSpPr/>
          <p:nvPr/>
        </p:nvGrpSpPr>
        <p:grpSpPr>
          <a:xfrm>
            <a:off x="763588" y="2217738"/>
            <a:ext cx="7643812" cy="3824287"/>
            <a:chOff x="763588" y="2217738"/>
            <a:chExt cx="7643812" cy="3824287"/>
          </a:xfrm>
        </p:grpSpPr>
        <p:sp>
          <p:nvSpPr>
            <p:cNvPr id="4" name="Rectangle 26">
              <a:extLst>
                <a:ext uri="{FF2B5EF4-FFF2-40B4-BE49-F238E27FC236}">
                  <a16:creationId xmlns:a16="http://schemas.microsoft.com/office/drawing/2014/main" id="{104F08D7-33AA-9FBD-F72E-3CC5BA4885D1}"/>
                </a:ext>
              </a:extLst>
            </p:cNvPr>
            <p:cNvSpPr>
              <a:spLocks noChangeArrowheads="1"/>
            </p:cNvSpPr>
            <p:nvPr/>
          </p:nvSpPr>
          <p:spPr bwMode="auto">
            <a:xfrm>
              <a:off x="6734175" y="2373313"/>
              <a:ext cx="1673225" cy="2967037"/>
            </a:xfrm>
            <a:prstGeom prst="rect">
              <a:avLst/>
            </a:prstGeom>
            <a:solidFill>
              <a:srgbClr val="DDDDDD"/>
            </a:solidFill>
            <a:ln w="19050" cap="rnd">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 name="Rectangle 7">
              <a:extLst>
                <a:ext uri="{FF2B5EF4-FFF2-40B4-BE49-F238E27FC236}">
                  <a16:creationId xmlns:a16="http://schemas.microsoft.com/office/drawing/2014/main" id="{42C80F89-E519-70A1-CFAB-30498A4EC2B0}"/>
                </a:ext>
              </a:extLst>
            </p:cNvPr>
            <p:cNvSpPr>
              <a:spLocks noChangeArrowheads="1"/>
            </p:cNvSpPr>
            <p:nvPr/>
          </p:nvSpPr>
          <p:spPr bwMode="auto">
            <a:xfrm>
              <a:off x="3178175" y="2217738"/>
              <a:ext cx="2876550" cy="3278187"/>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aphicFrame>
          <p:nvGraphicFramePr>
            <p:cNvPr id="6" name="Object 4">
              <a:extLst>
                <a:ext uri="{FF2B5EF4-FFF2-40B4-BE49-F238E27FC236}">
                  <a16:creationId xmlns:a16="http://schemas.microsoft.com/office/drawing/2014/main" id="{FA8F2BDB-7723-9413-74F8-D7322901A3D7}"/>
                </a:ext>
              </a:extLst>
            </p:cNvPr>
            <p:cNvGraphicFramePr>
              <a:graphicFrameLocks noChangeAspect="1"/>
            </p:cNvGraphicFramePr>
            <p:nvPr>
              <p:extLst>
                <p:ext uri="{D42A27DB-BD31-4B8C-83A1-F6EECF244321}">
                  <p14:modId xmlns:p14="http://schemas.microsoft.com/office/powerpoint/2010/main" val="2787566602"/>
                </p:ext>
              </p:extLst>
            </p:nvPr>
          </p:nvGraphicFramePr>
          <p:xfrm>
            <a:off x="3267075" y="2290763"/>
            <a:ext cx="2576513" cy="3214687"/>
          </p:xfrm>
          <a:graphic>
            <a:graphicData uri="http://schemas.openxmlformats.org/presentationml/2006/ole">
              <mc:AlternateContent xmlns:mc="http://schemas.openxmlformats.org/markup-compatibility/2006">
                <mc:Choice xmlns:v="urn:schemas-microsoft-com:vml" Requires="v">
                  <p:oleObj name="Worksheet" r:id="rId3" imgW="3219622" imgH="4010132" progId="Excel.Sheet.8">
                    <p:embed/>
                  </p:oleObj>
                </mc:Choice>
                <mc:Fallback>
                  <p:oleObj name="Worksheet" r:id="rId3" imgW="3219622" imgH="4010132" progId="Excel.Sheet.8">
                    <p:embed/>
                    <p:pic>
                      <p:nvPicPr>
                        <p:cNvPr id="26629" name="Object 4">
                          <a:extLst>
                            <a:ext uri="{FF2B5EF4-FFF2-40B4-BE49-F238E27FC236}">
                              <a16:creationId xmlns:a16="http://schemas.microsoft.com/office/drawing/2014/main" id="{E5509874-391B-4F66-96D7-CDB9B30280F2}"/>
                            </a:ext>
                          </a:extLst>
                        </p:cNvPr>
                        <p:cNvPicPr>
                          <a:picLocks noChangeAspect="1" noChangeArrowheads="1"/>
                        </p:cNvPicPr>
                        <p:nvPr/>
                      </p:nvPicPr>
                      <p:blipFill>
                        <a:blip r:embed="rId4"/>
                        <a:srcRect/>
                        <a:stretch>
                          <a:fillRect/>
                        </a:stretch>
                      </p:blipFill>
                      <p:spPr bwMode="auto">
                        <a:xfrm>
                          <a:off x="3267075" y="2290763"/>
                          <a:ext cx="2576513" cy="3214687"/>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Rectangle 8">
              <a:extLst>
                <a:ext uri="{FF2B5EF4-FFF2-40B4-BE49-F238E27FC236}">
                  <a16:creationId xmlns:a16="http://schemas.microsoft.com/office/drawing/2014/main" id="{993229E5-DDAE-C48D-ACC5-9DAB03F57CD2}"/>
                </a:ext>
              </a:extLst>
            </p:cNvPr>
            <p:cNvSpPr>
              <a:spLocks noChangeArrowheads="1"/>
            </p:cNvSpPr>
            <p:nvPr/>
          </p:nvSpPr>
          <p:spPr bwMode="auto">
            <a:xfrm>
              <a:off x="763588" y="2417763"/>
              <a:ext cx="1784350" cy="4016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Procurement &amp;</a:t>
              </a:r>
            </a:p>
            <a:p>
              <a:pPr algn="ctr">
                <a:lnSpc>
                  <a:spcPct val="80000"/>
                </a:lnSpc>
                <a:buClrTx/>
                <a:buSzTx/>
                <a:buFontTx/>
                <a:buNone/>
              </a:pPr>
              <a:r>
                <a:rPr lang="en-US" altLang="en-US" sz="1100">
                  <a:solidFill>
                    <a:schemeClr val="bg1"/>
                  </a:solidFill>
                  <a:latin typeface="+mn-lt"/>
                </a:rPr>
                <a:t>Sourcing</a:t>
              </a:r>
            </a:p>
          </p:txBody>
        </p:sp>
        <p:sp>
          <p:nvSpPr>
            <p:cNvPr id="8" name="Rectangle 9">
              <a:extLst>
                <a:ext uri="{FF2B5EF4-FFF2-40B4-BE49-F238E27FC236}">
                  <a16:creationId xmlns:a16="http://schemas.microsoft.com/office/drawing/2014/main" id="{59418597-B6A8-9E94-7129-E98714231C82}"/>
                </a:ext>
              </a:extLst>
            </p:cNvPr>
            <p:cNvSpPr>
              <a:spLocks noChangeArrowheads="1"/>
            </p:cNvSpPr>
            <p:nvPr/>
          </p:nvSpPr>
          <p:spPr bwMode="auto">
            <a:xfrm>
              <a:off x="763588" y="3038475"/>
              <a:ext cx="1784350" cy="4016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Customer Service </a:t>
              </a:r>
            </a:p>
          </p:txBody>
        </p:sp>
        <p:sp>
          <p:nvSpPr>
            <p:cNvPr id="9" name="Rectangle 10">
              <a:extLst>
                <a:ext uri="{FF2B5EF4-FFF2-40B4-BE49-F238E27FC236}">
                  <a16:creationId xmlns:a16="http://schemas.microsoft.com/office/drawing/2014/main" id="{CFAB5310-DF5D-354A-0A4B-3F38F45B14B3}"/>
                </a:ext>
              </a:extLst>
            </p:cNvPr>
            <p:cNvSpPr>
              <a:spLocks noChangeArrowheads="1"/>
            </p:cNvSpPr>
            <p:nvPr/>
          </p:nvSpPr>
          <p:spPr bwMode="auto">
            <a:xfrm>
              <a:off x="763588" y="3651250"/>
              <a:ext cx="1784350" cy="4016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Plant Engineering</a:t>
              </a:r>
            </a:p>
            <a:p>
              <a:pPr algn="ctr">
                <a:lnSpc>
                  <a:spcPct val="80000"/>
                </a:lnSpc>
                <a:buClrTx/>
                <a:buSzTx/>
                <a:buFontTx/>
                <a:buNone/>
              </a:pPr>
              <a:r>
                <a:rPr lang="en-US" altLang="en-US" sz="1100">
                  <a:solidFill>
                    <a:schemeClr val="bg1"/>
                  </a:solidFill>
                  <a:latin typeface="+mn-lt"/>
                </a:rPr>
                <a:t>&amp; Maintenance</a:t>
              </a:r>
            </a:p>
          </p:txBody>
        </p:sp>
        <p:sp>
          <p:nvSpPr>
            <p:cNvPr id="10" name="Rectangle 11">
              <a:extLst>
                <a:ext uri="{FF2B5EF4-FFF2-40B4-BE49-F238E27FC236}">
                  <a16:creationId xmlns:a16="http://schemas.microsoft.com/office/drawing/2014/main" id="{4D3A767F-9123-58B0-F934-F9B0C6054EB7}"/>
                </a:ext>
              </a:extLst>
            </p:cNvPr>
            <p:cNvSpPr>
              <a:spLocks noChangeArrowheads="1"/>
            </p:cNvSpPr>
            <p:nvPr/>
          </p:nvSpPr>
          <p:spPr bwMode="auto">
            <a:xfrm>
              <a:off x="763588" y="4287838"/>
              <a:ext cx="1784350" cy="4016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Production Scheduling</a:t>
              </a:r>
            </a:p>
          </p:txBody>
        </p:sp>
        <p:sp>
          <p:nvSpPr>
            <p:cNvPr id="11" name="Rectangle 12">
              <a:extLst>
                <a:ext uri="{FF2B5EF4-FFF2-40B4-BE49-F238E27FC236}">
                  <a16:creationId xmlns:a16="http://schemas.microsoft.com/office/drawing/2014/main" id="{FA95A5DC-CD8E-8EA1-8042-15951D1AFE16}"/>
                </a:ext>
              </a:extLst>
            </p:cNvPr>
            <p:cNvSpPr>
              <a:spLocks noChangeArrowheads="1"/>
            </p:cNvSpPr>
            <p:nvPr/>
          </p:nvSpPr>
          <p:spPr bwMode="auto">
            <a:xfrm>
              <a:off x="763588" y="4900613"/>
              <a:ext cx="1784350" cy="4016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Manufacturing</a:t>
              </a:r>
            </a:p>
            <a:p>
              <a:pPr algn="ctr">
                <a:lnSpc>
                  <a:spcPct val="80000"/>
                </a:lnSpc>
                <a:buClrTx/>
                <a:buSzTx/>
                <a:buFontTx/>
                <a:buNone/>
              </a:pPr>
              <a:r>
                <a:rPr lang="en-US" altLang="en-US" sz="1100">
                  <a:solidFill>
                    <a:schemeClr val="bg1"/>
                  </a:solidFill>
                  <a:latin typeface="+mn-lt"/>
                </a:rPr>
                <a:t>Operations</a:t>
              </a:r>
            </a:p>
          </p:txBody>
        </p:sp>
        <p:cxnSp>
          <p:nvCxnSpPr>
            <p:cNvPr id="12" name="AutoShape 13">
              <a:extLst>
                <a:ext uri="{FF2B5EF4-FFF2-40B4-BE49-F238E27FC236}">
                  <a16:creationId xmlns:a16="http://schemas.microsoft.com/office/drawing/2014/main" id="{457609E2-0C9E-3267-B6C4-724D56A49B4C}"/>
                </a:ext>
              </a:extLst>
            </p:cNvPr>
            <p:cNvCxnSpPr>
              <a:cxnSpLocks noChangeShapeType="1"/>
              <a:stCxn id="7" idx="3"/>
              <a:endCxn id="5" idx="1"/>
            </p:cNvCxnSpPr>
            <p:nvPr/>
          </p:nvCxnSpPr>
          <p:spPr bwMode="auto">
            <a:xfrm>
              <a:off x="2547938" y="2619375"/>
              <a:ext cx="620712" cy="1238250"/>
            </a:xfrm>
            <a:prstGeom prst="bentConnector3">
              <a:avLst>
                <a:gd name="adj1" fmla="val 50639"/>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 name="AutoShape 15">
              <a:extLst>
                <a:ext uri="{FF2B5EF4-FFF2-40B4-BE49-F238E27FC236}">
                  <a16:creationId xmlns:a16="http://schemas.microsoft.com/office/drawing/2014/main" id="{42343668-EDDD-F224-D280-B415EA155068}"/>
                </a:ext>
              </a:extLst>
            </p:cNvPr>
            <p:cNvCxnSpPr>
              <a:cxnSpLocks noChangeShapeType="1"/>
              <a:stCxn id="11" idx="3"/>
              <a:endCxn id="5" idx="1"/>
            </p:cNvCxnSpPr>
            <p:nvPr/>
          </p:nvCxnSpPr>
          <p:spPr bwMode="auto">
            <a:xfrm flipV="1">
              <a:off x="2547938" y="3857625"/>
              <a:ext cx="620712" cy="1244600"/>
            </a:xfrm>
            <a:prstGeom prst="bentConnector3">
              <a:avLst>
                <a:gd name="adj1" fmla="val 50639"/>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4" name="AutoShape 16">
              <a:extLst>
                <a:ext uri="{FF2B5EF4-FFF2-40B4-BE49-F238E27FC236}">
                  <a16:creationId xmlns:a16="http://schemas.microsoft.com/office/drawing/2014/main" id="{E319386B-6957-005D-70A7-560B11545C4F}"/>
                </a:ext>
              </a:extLst>
            </p:cNvPr>
            <p:cNvCxnSpPr>
              <a:cxnSpLocks noChangeShapeType="1"/>
              <a:stCxn id="10" idx="3"/>
              <a:endCxn id="5" idx="1"/>
            </p:cNvCxnSpPr>
            <p:nvPr/>
          </p:nvCxnSpPr>
          <p:spPr bwMode="auto">
            <a:xfrm flipV="1">
              <a:off x="2547938" y="3857625"/>
              <a:ext cx="620712" cy="631825"/>
            </a:xfrm>
            <a:prstGeom prst="bentConnector3">
              <a:avLst>
                <a:gd name="adj1" fmla="val 50639"/>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5" name="AutoShape 17">
              <a:extLst>
                <a:ext uri="{FF2B5EF4-FFF2-40B4-BE49-F238E27FC236}">
                  <a16:creationId xmlns:a16="http://schemas.microsoft.com/office/drawing/2014/main" id="{9D9A20EF-D1F5-4DFC-92ED-496CD674911A}"/>
                </a:ext>
              </a:extLst>
            </p:cNvPr>
            <p:cNvCxnSpPr>
              <a:cxnSpLocks noChangeShapeType="1"/>
              <a:stCxn id="8" idx="3"/>
              <a:endCxn id="5" idx="1"/>
            </p:cNvCxnSpPr>
            <p:nvPr/>
          </p:nvCxnSpPr>
          <p:spPr bwMode="auto">
            <a:xfrm>
              <a:off x="2547938" y="3240088"/>
              <a:ext cx="620712" cy="617537"/>
            </a:xfrm>
            <a:prstGeom prst="bentConnector3">
              <a:avLst>
                <a:gd name="adj1" fmla="val 50639"/>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 name="AutoShape 18">
              <a:extLst>
                <a:ext uri="{FF2B5EF4-FFF2-40B4-BE49-F238E27FC236}">
                  <a16:creationId xmlns:a16="http://schemas.microsoft.com/office/drawing/2014/main" id="{D5A29D5E-0B05-8D30-4FB6-3B1832773E4C}"/>
                </a:ext>
              </a:extLst>
            </p:cNvPr>
            <p:cNvCxnSpPr>
              <a:cxnSpLocks noChangeShapeType="1"/>
              <a:stCxn id="9" idx="3"/>
              <a:endCxn id="5" idx="1"/>
            </p:cNvCxnSpPr>
            <p:nvPr/>
          </p:nvCxnSpPr>
          <p:spPr bwMode="auto">
            <a:xfrm>
              <a:off x="2547938" y="3852863"/>
              <a:ext cx="620712" cy="4762"/>
            </a:xfrm>
            <a:prstGeom prst="bentConnector3">
              <a:avLst>
                <a:gd name="adj1" fmla="val 50639"/>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7" name="Rectangle 19">
              <a:extLst>
                <a:ext uri="{FF2B5EF4-FFF2-40B4-BE49-F238E27FC236}">
                  <a16:creationId xmlns:a16="http://schemas.microsoft.com/office/drawing/2014/main" id="{16A57468-90C8-004B-010E-35ECFC8DBAD5}"/>
                </a:ext>
              </a:extLst>
            </p:cNvPr>
            <p:cNvSpPr>
              <a:spLocks noChangeArrowheads="1"/>
            </p:cNvSpPr>
            <p:nvPr/>
          </p:nvSpPr>
          <p:spPr bwMode="auto">
            <a:xfrm>
              <a:off x="6818313" y="2451100"/>
              <a:ext cx="1493837" cy="468313"/>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Departmental</a:t>
              </a:r>
            </a:p>
            <a:p>
              <a:pPr algn="ctr">
                <a:lnSpc>
                  <a:spcPct val="80000"/>
                </a:lnSpc>
                <a:buClrTx/>
                <a:buSzTx/>
                <a:buFontTx/>
                <a:buNone/>
              </a:pPr>
              <a:r>
                <a:rPr lang="en-US" altLang="en-US" sz="1100">
                  <a:solidFill>
                    <a:schemeClr val="bg1"/>
                  </a:solidFill>
                  <a:latin typeface="+mn-lt"/>
                </a:rPr>
                <a:t>Responsibility</a:t>
              </a:r>
            </a:p>
          </p:txBody>
        </p:sp>
        <p:sp>
          <p:nvSpPr>
            <p:cNvPr id="18" name="Rectangle 20">
              <a:extLst>
                <a:ext uri="{FF2B5EF4-FFF2-40B4-BE49-F238E27FC236}">
                  <a16:creationId xmlns:a16="http://schemas.microsoft.com/office/drawing/2014/main" id="{367F4DF8-9AE3-E13B-30E3-B9A7B71B1116}"/>
                </a:ext>
              </a:extLst>
            </p:cNvPr>
            <p:cNvSpPr>
              <a:spLocks noChangeArrowheads="1"/>
            </p:cNvSpPr>
            <p:nvPr/>
          </p:nvSpPr>
          <p:spPr bwMode="auto">
            <a:xfrm>
              <a:off x="6818313" y="3227388"/>
              <a:ext cx="1493837" cy="468312"/>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Data Format</a:t>
              </a:r>
            </a:p>
            <a:p>
              <a:pPr algn="ctr">
                <a:lnSpc>
                  <a:spcPct val="80000"/>
                </a:lnSpc>
                <a:buClrTx/>
                <a:buSzTx/>
                <a:buFontTx/>
                <a:buNone/>
              </a:pPr>
              <a:r>
                <a:rPr lang="en-US" altLang="en-US" sz="1100">
                  <a:solidFill>
                    <a:schemeClr val="bg1"/>
                  </a:solidFill>
                  <a:latin typeface="+mn-lt"/>
                </a:rPr>
                <a:t>Requirements</a:t>
              </a:r>
            </a:p>
          </p:txBody>
        </p:sp>
        <p:sp>
          <p:nvSpPr>
            <p:cNvPr id="19" name="Rectangle 21">
              <a:extLst>
                <a:ext uri="{FF2B5EF4-FFF2-40B4-BE49-F238E27FC236}">
                  <a16:creationId xmlns:a16="http://schemas.microsoft.com/office/drawing/2014/main" id="{3520A689-44B8-356A-81DC-71EB15D8CEDB}"/>
                </a:ext>
              </a:extLst>
            </p:cNvPr>
            <p:cNvSpPr>
              <a:spLocks noChangeArrowheads="1"/>
            </p:cNvSpPr>
            <p:nvPr/>
          </p:nvSpPr>
          <p:spPr bwMode="auto">
            <a:xfrm>
              <a:off x="6818313" y="4003675"/>
              <a:ext cx="1493837" cy="468313"/>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Data Submission</a:t>
              </a:r>
            </a:p>
            <a:p>
              <a:pPr algn="ctr">
                <a:lnSpc>
                  <a:spcPct val="80000"/>
                </a:lnSpc>
                <a:buClrTx/>
                <a:buSzTx/>
                <a:buFontTx/>
                <a:buNone/>
              </a:pPr>
              <a:r>
                <a:rPr lang="en-US" altLang="en-US" sz="1100">
                  <a:solidFill>
                    <a:schemeClr val="bg1"/>
                  </a:solidFill>
                  <a:latin typeface="+mn-lt"/>
                </a:rPr>
                <a:t>Timing</a:t>
              </a:r>
            </a:p>
          </p:txBody>
        </p:sp>
        <p:sp>
          <p:nvSpPr>
            <p:cNvPr id="20" name="Rectangle 22">
              <a:extLst>
                <a:ext uri="{FF2B5EF4-FFF2-40B4-BE49-F238E27FC236}">
                  <a16:creationId xmlns:a16="http://schemas.microsoft.com/office/drawing/2014/main" id="{A43E80BD-373A-3710-0893-C2C9CF808190}"/>
                </a:ext>
              </a:extLst>
            </p:cNvPr>
            <p:cNvSpPr>
              <a:spLocks noChangeArrowheads="1"/>
            </p:cNvSpPr>
            <p:nvPr/>
          </p:nvSpPr>
          <p:spPr bwMode="auto">
            <a:xfrm>
              <a:off x="6818313" y="4784725"/>
              <a:ext cx="1493837" cy="468313"/>
            </a:xfrm>
            <a:prstGeom prst="rect">
              <a:avLst/>
            </a:prstGeom>
            <a:solidFill>
              <a:schemeClr val="accent5"/>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Load Into</a:t>
              </a:r>
            </a:p>
            <a:p>
              <a:pPr algn="ctr">
                <a:lnSpc>
                  <a:spcPct val="80000"/>
                </a:lnSpc>
                <a:buClrTx/>
                <a:buSzTx/>
                <a:buFontTx/>
                <a:buNone/>
              </a:pPr>
              <a:r>
                <a:rPr lang="en-US" altLang="en-US" sz="1100">
                  <a:solidFill>
                    <a:schemeClr val="bg1"/>
                  </a:solidFill>
                  <a:latin typeface="+mn-lt"/>
                </a:rPr>
                <a:t>Scorecard</a:t>
              </a:r>
            </a:p>
          </p:txBody>
        </p:sp>
        <p:cxnSp>
          <p:nvCxnSpPr>
            <p:cNvPr id="21" name="AutoShape 23">
              <a:extLst>
                <a:ext uri="{FF2B5EF4-FFF2-40B4-BE49-F238E27FC236}">
                  <a16:creationId xmlns:a16="http://schemas.microsoft.com/office/drawing/2014/main" id="{3ACE662B-95E2-4E46-7F75-1F40D8D1D771}"/>
                </a:ext>
              </a:extLst>
            </p:cNvPr>
            <p:cNvCxnSpPr>
              <a:cxnSpLocks noChangeShapeType="1"/>
              <a:stCxn id="17" idx="2"/>
              <a:endCxn id="18" idx="0"/>
            </p:cNvCxnSpPr>
            <p:nvPr/>
          </p:nvCxnSpPr>
          <p:spPr bwMode="auto">
            <a:xfrm>
              <a:off x="7566025" y="2919413"/>
              <a:ext cx="0" cy="3079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4">
              <a:extLst>
                <a:ext uri="{FF2B5EF4-FFF2-40B4-BE49-F238E27FC236}">
                  <a16:creationId xmlns:a16="http://schemas.microsoft.com/office/drawing/2014/main" id="{B1FC50DE-1521-FFD5-BD56-7BFC255A5285}"/>
                </a:ext>
              </a:extLst>
            </p:cNvPr>
            <p:cNvCxnSpPr>
              <a:cxnSpLocks noChangeShapeType="1"/>
              <a:stCxn id="18" idx="2"/>
              <a:endCxn id="19" idx="0"/>
            </p:cNvCxnSpPr>
            <p:nvPr/>
          </p:nvCxnSpPr>
          <p:spPr bwMode="auto">
            <a:xfrm>
              <a:off x="7566025" y="3695700"/>
              <a:ext cx="0" cy="3079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5">
              <a:extLst>
                <a:ext uri="{FF2B5EF4-FFF2-40B4-BE49-F238E27FC236}">
                  <a16:creationId xmlns:a16="http://schemas.microsoft.com/office/drawing/2014/main" id="{C670A345-AE54-C7A1-15C0-F0FBC4832DB2}"/>
                </a:ext>
              </a:extLst>
            </p:cNvPr>
            <p:cNvCxnSpPr>
              <a:cxnSpLocks noChangeShapeType="1"/>
              <a:stCxn id="19" idx="2"/>
              <a:endCxn id="20" idx="0"/>
            </p:cNvCxnSpPr>
            <p:nvPr/>
          </p:nvCxnSpPr>
          <p:spPr bwMode="auto">
            <a:xfrm>
              <a:off x="7566025" y="4471988"/>
              <a:ext cx="0" cy="31273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7">
              <a:extLst>
                <a:ext uri="{FF2B5EF4-FFF2-40B4-BE49-F238E27FC236}">
                  <a16:creationId xmlns:a16="http://schemas.microsoft.com/office/drawing/2014/main" id="{CDA24BF5-585C-0CE7-2E47-A49FE4ADFF83}"/>
                </a:ext>
              </a:extLst>
            </p:cNvPr>
            <p:cNvCxnSpPr>
              <a:cxnSpLocks noChangeShapeType="1"/>
              <a:stCxn id="4" idx="1"/>
              <a:endCxn id="5" idx="3"/>
            </p:cNvCxnSpPr>
            <p:nvPr/>
          </p:nvCxnSpPr>
          <p:spPr bwMode="auto">
            <a:xfrm flipH="1">
              <a:off x="6064250" y="3857625"/>
              <a:ext cx="660400" cy="0"/>
            </a:xfrm>
            <a:prstGeom prst="straightConnector1">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Oval 29">
              <a:extLst>
                <a:ext uri="{FF2B5EF4-FFF2-40B4-BE49-F238E27FC236}">
                  <a16:creationId xmlns:a16="http://schemas.microsoft.com/office/drawing/2014/main" id="{3C917F30-E2E8-13E7-CF11-2794CC2C9B3B}"/>
                </a:ext>
              </a:extLst>
            </p:cNvPr>
            <p:cNvSpPr>
              <a:spLocks noChangeArrowheads="1"/>
            </p:cNvSpPr>
            <p:nvPr/>
          </p:nvSpPr>
          <p:spPr bwMode="auto">
            <a:xfrm>
              <a:off x="2376488" y="5729288"/>
              <a:ext cx="4483100" cy="312737"/>
            </a:xfrm>
            <a:prstGeom prst="ellipse">
              <a:avLst/>
            </a:prstGeom>
            <a:solidFill>
              <a:schemeClr val="accent1"/>
            </a:solidFill>
            <a:ln w="12700" cap="sq">
              <a:solidFill>
                <a:srgbClr val="800000"/>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Last-Month Actuals &amp; Assumptions Review Process</a:t>
              </a:r>
            </a:p>
          </p:txBody>
        </p:sp>
        <p:cxnSp>
          <p:nvCxnSpPr>
            <p:cNvPr id="26" name="AutoShape 30">
              <a:extLst>
                <a:ext uri="{FF2B5EF4-FFF2-40B4-BE49-F238E27FC236}">
                  <a16:creationId xmlns:a16="http://schemas.microsoft.com/office/drawing/2014/main" id="{55A03CA7-B504-9394-220F-D8ED882CF478}"/>
                </a:ext>
              </a:extLst>
            </p:cNvPr>
            <p:cNvCxnSpPr>
              <a:cxnSpLocks noChangeShapeType="1"/>
              <a:stCxn id="5" idx="2"/>
              <a:endCxn id="25" idx="0"/>
            </p:cNvCxnSpPr>
            <p:nvPr/>
          </p:nvCxnSpPr>
          <p:spPr bwMode="auto">
            <a:xfrm>
              <a:off x="4616450" y="5505450"/>
              <a:ext cx="1588" cy="2238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511080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Last-Month Demand Plan Analysis:  </a:t>
            </a:r>
            <a:br>
              <a:rPr lang="en-US" dirty="0"/>
            </a:br>
            <a:r>
              <a:rPr lang="en-US" dirty="0"/>
              <a:t>Confirm Next-Month Impacts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456567" y="1733550"/>
            <a:ext cx="11278867"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Before the pilot team members can build the next-month supply plan, last-month performance actuals must be critically evaluated in order to determine if key issues exist that may reduce available supply capacity.</a:t>
            </a:r>
          </a:p>
        </p:txBody>
      </p:sp>
      <p:grpSp>
        <p:nvGrpSpPr>
          <p:cNvPr id="28" name="Group 51">
            <a:extLst>
              <a:ext uri="{FF2B5EF4-FFF2-40B4-BE49-F238E27FC236}">
                <a16:creationId xmlns:a16="http://schemas.microsoft.com/office/drawing/2014/main" id="{8D2F9BDF-362D-A9F4-9E37-D9724E8F7FF1}"/>
              </a:ext>
            </a:extLst>
          </p:cNvPr>
          <p:cNvGrpSpPr>
            <a:grpSpLocks/>
          </p:cNvGrpSpPr>
          <p:nvPr/>
        </p:nvGrpSpPr>
        <p:grpSpPr bwMode="auto">
          <a:xfrm>
            <a:off x="8420088" y="5628516"/>
            <a:ext cx="2933712" cy="650333"/>
            <a:chOff x="676" y="3874"/>
            <a:chExt cx="1500" cy="392"/>
          </a:xfrm>
        </p:grpSpPr>
        <p:sp>
          <p:nvSpPr>
            <p:cNvPr id="29" name="Line 35">
              <a:extLst>
                <a:ext uri="{FF2B5EF4-FFF2-40B4-BE49-F238E27FC236}">
                  <a16:creationId xmlns:a16="http://schemas.microsoft.com/office/drawing/2014/main" id="{0B2C0A89-DFCB-B41D-8A26-5A044A34F6CA}"/>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6">
              <a:extLst>
                <a:ext uri="{FF2B5EF4-FFF2-40B4-BE49-F238E27FC236}">
                  <a16:creationId xmlns:a16="http://schemas.microsoft.com/office/drawing/2014/main" id="{B1A374F2-617E-4D0B-C445-4AF709F7291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7">
              <a:extLst>
                <a:ext uri="{FF2B5EF4-FFF2-40B4-BE49-F238E27FC236}">
                  <a16:creationId xmlns:a16="http://schemas.microsoft.com/office/drawing/2014/main" id="{CFD813E6-7F26-F6C0-D84D-143AD027DA5D}"/>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38">
              <a:extLst>
                <a:ext uri="{FF2B5EF4-FFF2-40B4-BE49-F238E27FC236}">
                  <a16:creationId xmlns:a16="http://schemas.microsoft.com/office/drawing/2014/main" id="{7B66EE40-8D6F-C0ED-DA28-A2240468A4B2}"/>
                </a:ext>
              </a:extLst>
            </p:cNvPr>
            <p:cNvSpPr>
              <a:spLocks noChangeArrowheads="1"/>
            </p:cNvSpPr>
            <p:nvPr/>
          </p:nvSpPr>
          <p:spPr bwMode="auto">
            <a:xfrm>
              <a:off x="1003" y="4044"/>
              <a:ext cx="194"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Next-Month</a:t>
              </a:r>
            </a:p>
            <a:p>
              <a:pPr algn="ctr">
                <a:lnSpc>
                  <a:spcPct val="80000"/>
                </a:lnSpc>
                <a:buClrTx/>
                <a:buSzTx/>
                <a:buFontTx/>
                <a:buNone/>
              </a:pPr>
              <a:r>
                <a:rPr lang="en-US" altLang="en-US" sz="200" dirty="0">
                  <a:solidFill>
                    <a:schemeClr val="bg1"/>
                  </a:solidFill>
                  <a:latin typeface="+mn-lt"/>
                </a:rPr>
                <a:t>Maintenance</a:t>
              </a:r>
            </a:p>
            <a:p>
              <a:pPr algn="ctr">
                <a:lnSpc>
                  <a:spcPct val="80000"/>
                </a:lnSpc>
                <a:buClrTx/>
                <a:buSzTx/>
                <a:buFontTx/>
                <a:buNone/>
              </a:pPr>
              <a:r>
                <a:rPr lang="en-US" altLang="en-US" sz="200" dirty="0">
                  <a:solidFill>
                    <a:schemeClr val="bg1"/>
                  </a:solidFill>
                  <a:latin typeface="+mn-lt"/>
                </a:rPr>
                <a:t>Scheduling</a:t>
              </a:r>
            </a:p>
          </p:txBody>
        </p:sp>
        <p:sp>
          <p:nvSpPr>
            <p:cNvPr id="33" name="Rectangle 39">
              <a:extLst>
                <a:ext uri="{FF2B5EF4-FFF2-40B4-BE49-F238E27FC236}">
                  <a16:creationId xmlns:a16="http://schemas.microsoft.com/office/drawing/2014/main" id="{45FF9491-4B38-D760-54DB-1050B378828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34" name="Rectangle 40">
              <a:extLst>
                <a:ext uri="{FF2B5EF4-FFF2-40B4-BE49-F238E27FC236}">
                  <a16:creationId xmlns:a16="http://schemas.microsoft.com/office/drawing/2014/main" id="{5A64336F-7983-38CE-3FDD-8542144E8760}"/>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35" name="Rectangle 41">
              <a:extLst>
                <a:ext uri="{FF2B5EF4-FFF2-40B4-BE49-F238E27FC236}">
                  <a16:creationId xmlns:a16="http://schemas.microsoft.com/office/drawing/2014/main" id="{D1CB1192-FC83-DA5E-564C-68F868894C0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36" name="AutoShape 42">
              <a:extLst>
                <a:ext uri="{FF2B5EF4-FFF2-40B4-BE49-F238E27FC236}">
                  <a16:creationId xmlns:a16="http://schemas.microsoft.com/office/drawing/2014/main" id="{EB32BD7B-DC09-F477-DC0E-5AF914C71B10}"/>
                </a:ext>
              </a:extLst>
            </p:cNvPr>
            <p:cNvSpPr>
              <a:spLocks noChangeArrowheads="1"/>
            </p:cNvSpPr>
            <p:nvPr/>
          </p:nvSpPr>
          <p:spPr bwMode="auto">
            <a:xfrm>
              <a:off x="730" y="4045"/>
              <a:ext cx="235" cy="125"/>
            </a:xfrm>
            <a:prstGeom prst="triangle">
              <a:avLst>
                <a:gd name="adj" fmla="val 50000"/>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Actual</a:t>
              </a:r>
            </a:p>
            <a:p>
              <a:pPr algn="ctr">
                <a:lnSpc>
                  <a:spcPct val="80000"/>
                </a:lnSpc>
                <a:buClrTx/>
                <a:buSzTx/>
                <a:buFontTx/>
                <a:buNone/>
              </a:pPr>
              <a:r>
                <a:rPr lang="en-US" altLang="en-US" sz="200">
                  <a:solidFill>
                    <a:schemeClr val="bg1"/>
                  </a:solidFill>
                  <a:latin typeface="+mn-lt"/>
                </a:rPr>
                <a:t>Capacity</a:t>
              </a:r>
            </a:p>
            <a:p>
              <a:pPr algn="ctr">
                <a:lnSpc>
                  <a:spcPct val="80000"/>
                </a:lnSpc>
                <a:buClrTx/>
                <a:buSzTx/>
                <a:buFontTx/>
                <a:buNone/>
              </a:pPr>
              <a:r>
                <a:rPr lang="en-US" altLang="en-US" sz="200">
                  <a:solidFill>
                    <a:schemeClr val="bg1"/>
                  </a:solidFill>
                  <a:latin typeface="+mn-lt"/>
                </a:rPr>
                <a:t>Used</a:t>
              </a:r>
            </a:p>
          </p:txBody>
        </p:sp>
        <p:sp>
          <p:nvSpPr>
            <p:cNvPr id="37" name="Rectangle 43">
              <a:extLst>
                <a:ext uri="{FF2B5EF4-FFF2-40B4-BE49-F238E27FC236}">
                  <a16:creationId xmlns:a16="http://schemas.microsoft.com/office/drawing/2014/main" id="{C617E6C3-B208-359E-0732-BD9FE970B391}"/>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Second-Pass</a:t>
              </a:r>
            </a:p>
            <a:p>
              <a:pPr algn="ctr">
                <a:lnSpc>
                  <a:spcPct val="80000"/>
                </a:lnSpc>
                <a:buClrTx/>
                <a:buSzTx/>
                <a:buFontTx/>
                <a:buNone/>
              </a:pPr>
              <a:r>
                <a:rPr lang="en-US" altLang="en-US" sz="200">
                  <a:solidFill>
                    <a:srgbClr val="000066"/>
                  </a:solidFill>
                  <a:latin typeface="+mn-lt"/>
                </a:rPr>
                <a:t>Spreadsheet</a:t>
              </a:r>
            </a:p>
            <a:p>
              <a:pPr algn="ctr">
                <a:lnSpc>
                  <a:spcPct val="80000"/>
                </a:lnSpc>
                <a:buClrTx/>
                <a:buSzTx/>
                <a:buFontTx/>
                <a:buNone/>
              </a:pPr>
              <a:r>
                <a:rPr lang="ja-JP" altLang="en-US" sz="200">
                  <a:solidFill>
                    <a:srgbClr val="000066"/>
                  </a:solidFill>
                  <a:latin typeface="+mn-lt"/>
                </a:rPr>
                <a:t>“</a:t>
              </a:r>
              <a:r>
                <a:rPr lang="en-US" altLang="ja-JP" sz="200">
                  <a:solidFill>
                    <a:srgbClr val="000066"/>
                  </a:solidFill>
                  <a:latin typeface="+mn-lt"/>
                </a:rPr>
                <a:t>Capacity Plan</a:t>
              </a:r>
              <a:r>
                <a:rPr lang="ja-JP" altLang="en-US" sz="200">
                  <a:solidFill>
                    <a:srgbClr val="000066"/>
                  </a:solidFill>
                  <a:latin typeface="+mn-lt"/>
                </a:rPr>
                <a:t>”</a:t>
              </a:r>
              <a:endParaRPr lang="en-US" altLang="en-US" sz="200">
                <a:solidFill>
                  <a:srgbClr val="000066"/>
                </a:solidFill>
                <a:latin typeface="+mn-lt"/>
              </a:endParaRPr>
            </a:p>
          </p:txBody>
        </p:sp>
        <p:sp>
          <p:nvSpPr>
            <p:cNvPr id="38" name="Rectangle 44">
              <a:extLst>
                <a:ext uri="{FF2B5EF4-FFF2-40B4-BE49-F238E27FC236}">
                  <a16:creationId xmlns:a16="http://schemas.microsoft.com/office/drawing/2014/main" id="{F65058DA-0B2C-D574-8457-BF709C60ECB4}"/>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39" name="Rectangle 45">
              <a:extLst>
                <a:ext uri="{FF2B5EF4-FFF2-40B4-BE49-F238E27FC236}">
                  <a16:creationId xmlns:a16="http://schemas.microsoft.com/office/drawing/2014/main" id="{06E8C80F-CEC4-44A7-D796-2EAEAAA4A32C}"/>
                </a:ext>
              </a:extLst>
            </p:cNvPr>
            <p:cNvSpPr>
              <a:spLocks noChangeArrowheads="1"/>
            </p:cNvSpPr>
            <p:nvPr/>
          </p:nvSpPr>
          <p:spPr bwMode="auto">
            <a:xfrm>
              <a:off x="676" y="3874"/>
              <a:ext cx="343" cy="5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Last-Month Actual Results</a:t>
              </a:r>
            </a:p>
          </p:txBody>
        </p:sp>
        <p:sp>
          <p:nvSpPr>
            <p:cNvPr id="40" name="Rectangle 46">
              <a:extLst>
                <a:ext uri="{FF2B5EF4-FFF2-40B4-BE49-F238E27FC236}">
                  <a16:creationId xmlns:a16="http://schemas.microsoft.com/office/drawing/2014/main" id="{DB91ACD0-F908-9DCB-81E8-D710A3BF1463}"/>
                </a:ext>
              </a:extLst>
            </p:cNvPr>
            <p:cNvSpPr>
              <a:spLocks noChangeArrowheads="1"/>
            </p:cNvSpPr>
            <p:nvPr/>
          </p:nvSpPr>
          <p:spPr bwMode="auto">
            <a:xfrm>
              <a:off x="676" y="3960"/>
              <a:ext cx="343" cy="51"/>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chemeClr val="bg1"/>
                  </a:solidFill>
                  <a:latin typeface="+mn-lt"/>
                </a:rPr>
                <a:t>Performance Metrics Review</a:t>
              </a:r>
            </a:p>
          </p:txBody>
        </p:sp>
        <p:sp>
          <p:nvSpPr>
            <p:cNvPr id="41" name="Rectangle 47">
              <a:extLst>
                <a:ext uri="{FF2B5EF4-FFF2-40B4-BE49-F238E27FC236}">
                  <a16:creationId xmlns:a16="http://schemas.microsoft.com/office/drawing/2014/main" id="{18744A2E-9D47-03C9-71D5-2F5B933D8CAD}"/>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grpSp>
        <p:nvGrpSpPr>
          <p:cNvPr id="62" name="Group 61">
            <a:extLst>
              <a:ext uri="{FF2B5EF4-FFF2-40B4-BE49-F238E27FC236}">
                <a16:creationId xmlns:a16="http://schemas.microsoft.com/office/drawing/2014/main" id="{BDCF3278-C0C6-8A58-D68D-B902CC34AB47}"/>
              </a:ext>
            </a:extLst>
          </p:cNvPr>
          <p:cNvGrpSpPr/>
          <p:nvPr/>
        </p:nvGrpSpPr>
        <p:grpSpPr>
          <a:xfrm>
            <a:off x="576742" y="2464467"/>
            <a:ext cx="9885034" cy="3869607"/>
            <a:chOff x="712788" y="2459037"/>
            <a:chExt cx="7518756" cy="3940855"/>
          </a:xfrm>
        </p:grpSpPr>
        <p:graphicFrame>
          <p:nvGraphicFramePr>
            <p:cNvPr id="42" name="Object 4">
              <a:extLst>
                <a:ext uri="{FF2B5EF4-FFF2-40B4-BE49-F238E27FC236}">
                  <a16:creationId xmlns:a16="http://schemas.microsoft.com/office/drawing/2014/main" id="{2626EEAA-2E05-C4B4-6BA2-39703D7B050A}"/>
                </a:ext>
              </a:extLst>
            </p:cNvPr>
            <p:cNvGraphicFramePr>
              <a:graphicFrameLocks noChangeAspect="1"/>
            </p:cNvGraphicFramePr>
            <p:nvPr>
              <p:extLst>
                <p:ext uri="{D42A27DB-BD31-4B8C-83A1-F6EECF244321}">
                  <p14:modId xmlns:p14="http://schemas.microsoft.com/office/powerpoint/2010/main" val="2525280363"/>
                </p:ext>
              </p:extLst>
            </p:nvPr>
          </p:nvGraphicFramePr>
          <p:xfrm>
            <a:off x="2623871" y="2624881"/>
            <a:ext cx="2576772" cy="3212441"/>
          </p:xfrm>
          <a:graphic>
            <a:graphicData uri="http://schemas.openxmlformats.org/presentationml/2006/ole">
              <mc:AlternateContent xmlns:mc="http://schemas.openxmlformats.org/markup-compatibility/2006">
                <mc:Choice xmlns:v="urn:schemas-microsoft-com:vml" Requires="v">
                  <p:oleObj name="Worksheet" r:id="rId3" imgW="3219622" imgH="4010132" progId="Excel.Sheet.8">
                    <p:embed/>
                  </p:oleObj>
                </mc:Choice>
                <mc:Fallback>
                  <p:oleObj name="Worksheet" r:id="rId3" imgW="3219622" imgH="4010132" progId="Excel.Sheet.8">
                    <p:embed/>
                    <p:pic>
                      <p:nvPicPr>
                        <p:cNvPr id="27651" name="Object 4">
                          <a:extLst>
                            <a:ext uri="{FF2B5EF4-FFF2-40B4-BE49-F238E27FC236}">
                              <a16:creationId xmlns:a16="http://schemas.microsoft.com/office/drawing/2014/main" id="{52891D38-612C-48DC-86B7-940650F4E9AD}"/>
                            </a:ext>
                          </a:extLst>
                        </p:cNvPr>
                        <p:cNvPicPr>
                          <a:picLocks noChangeAspect="1" noChangeArrowheads="1"/>
                        </p:cNvPicPr>
                        <p:nvPr/>
                      </p:nvPicPr>
                      <p:blipFill>
                        <a:blip r:embed="rId4"/>
                        <a:srcRect/>
                        <a:stretch>
                          <a:fillRect/>
                        </a:stretch>
                      </p:blipFill>
                      <p:spPr bwMode="auto">
                        <a:xfrm>
                          <a:off x="2623871" y="2624881"/>
                          <a:ext cx="2576772" cy="3212441"/>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3" name="Rectangle 5">
              <a:extLst>
                <a:ext uri="{FF2B5EF4-FFF2-40B4-BE49-F238E27FC236}">
                  <a16:creationId xmlns:a16="http://schemas.microsoft.com/office/drawing/2014/main" id="{8B293219-853B-48F4-A933-FEC3539512ED}"/>
                </a:ext>
              </a:extLst>
            </p:cNvPr>
            <p:cNvSpPr>
              <a:spLocks noChangeArrowheads="1"/>
            </p:cNvSpPr>
            <p:nvPr/>
          </p:nvSpPr>
          <p:spPr bwMode="auto">
            <a:xfrm>
              <a:off x="3913545" y="2556077"/>
              <a:ext cx="683578" cy="2554287"/>
            </a:xfrm>
            <a:prstGeom prst="rect">
              <a:avLst/>
            </a:prstGeom>
            <a:gradFill rotWithShape="1">
              <a:gsLst>
                <a:gs pos="0">
                  <a:schemeClr val="accent1">
                    <a:alpha val="19000"/>
                  </a:schemeClr>
                </a:gs>
                <a:gs pos="100000">
                  <a:schemeClr val="tx1">
                    <a:alpha val="19000"/>
                  </a:schemeClr>
                </a:gs>
              </a:gsLst>
              <a:lin ang="5400000" scaled="1"/>
            </a:gradFill>
            <a:ln w="12700" cap="sq">
              <a:solidFill>
                <a:srgbClr val="5F5F5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4" name="Rectangle 6">
              <a:extLst>
                <a:ext uri="{FF2B5EF4-FFF2-40B4-BE49-F238E27FC236}">
                  <a16:creationId xmlns:a16="http://schemas.microsoft.com/office/drawing/2014/main" id="{4581FF3E-4FA3-979E-8A5C-8BCF5FF305CB}"/>
                </a:ext>
              </a:extLst>
            </p:cNvPr>
            <p:cNvSpPr>
              <a:spLocks noChangeArrowheads="1"/>
            </p:cNvSpPr>
            <p:nvPr/>
          </p:nvSpPr>
          <p:spPr bwMode="auto">
            <a:xfrm>
              <a:off x="4601903" y="3198220"/>
              <a:ext cx="604824" cy="635000"/>
            </a:xfrm>
            <a:prstGeom prst="rect">
              <a:avLst/>
            </a:prstGeom>
            <a:gradFill rotWithShape="1">
              <a:gsLst>
                <a:gs pos="0">
                  <a:schemeClr val="accent5">
                    <a:alpha val="18000"/>
                  </a:schemeClr>
                </a:gs>
                <a:gs pos="100000">
                  <a:schemeClr val="tx1">
                    <a:alpha val="19000"/>
                  </a:schemeClr>
                </a:gs>
              </a:gsLst>
              <a:lin ang="5400000" scaled="1"/>
            </a:gra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5" name="Rectangle 8">
              <a:extLst>
                <a:ext uri="{FF2B5EF4-FFF2-40B4-BE49-F238E27FC236}">
                  <a16:creationId xmlns:a16="http://schemas.microsoft.com/office/drawing/2014/main" id="{6F5CBEA1-26A6-F292-2BA5-ADBA1EC45466}"/>
                </a:ext>
              </a:extLst>
            </p:cNvPr>
            <p:cNvSpPr>
              <a:spLocks noChangeArrowheads="1"/>
            </p:cNvSpPr>
            <p:nvPr/>
          </p:nvSpPr>
          <p:spPr bwMode="auto">
            <a:xfrm>
              <a:off x="712788" y="3913188"/>
              <a:ext cx="1754725" cy="1793875"/>
            </a:xfrm>
            <a:prstGeom prst="rect">
              <a:avLst/>
            </a:prstGeom>
            <a:solidFill>
              <a:schemeClr val="bg2"/>
            </a:solidFill>
            <a:ln w="19050">
              <a:solidFill>
                <a:srgbClr val="5F5F5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6" name="Rectangle 7">
              <a:extLst>
                <a:ext uri="{FF2B5EF4-FFF2-40B4-BE49-F238E27FC236}">
                  <a16:creationId xmlns:a16="http://schemas.microsoft.com/office/drawing/2014/main" id="{63F72C0A-6010-6CC4-937B-8B78B0FB3E1B}"/>
                </a:ext>
              </a:extLst>
            </p:cNvPr>
            <p:cNvSpPr>
              <a:spLocks noChangeArrowheads="1"/>
            </p:cNvSpPr>
            <p:nvPr/>
          </p:nvSpPr>
          <p:spPr bwMode="auto">
            <a:xfrm>
              <a:off x="719138" y="3951288"/>
              <a:ext cx="1754725" cy="15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100" dirty="0">
                  <a:latin typeface="+mn-lt"/>
                </a:rPr>
                <a:t>Demand plan inputs</a:t>
              </a:r>
            </a:p>
            <a:p>
              <a:pPr>
                <a:spcBef>
                  <a:spcPct val="30000"/>
                </a:spcBef>
                <a:buClrTx/>
                <a:buSzPct val="90000"/>
                <a:buFont typeface="Arial" panose="020B0604020202020204" pitchFamily="34" charset="0"/>
                <a:buChar char="•"/>
              </a:pPr>
              <a:r>
                <a:rPr lang="en-US" altLang="en-US" sz="1100" dirty="0">
                  <a:latin typeface="+mn-lt"/>
                </a:rPr>
                <a:t>Maintenance requests</a:t>
              </a:r>
            </a:p>
            <a:p>
              <a:pPr>
                <a:spcBef>
                  <a:spcPct val="30000"/>
                </a:spcBef>
                <a:buClrTx/>
                <a:buSzPct val="90000"/>
                <a:buFont typeface="Arial" panose="020B0604020202020204" pitchFamily="34" charset="0"/>
                <a:buChar char="•"/>
              </a:pPr>
              <a:r>
                <a:rPr lang="en-US" altLang="en-US" sz="1100" dirty="0">
                  <a:latin typeface="+mn-lt"/>
                </a:rPr>
                <a:t>Customer order requirements</a:t>
              </a:r>
            </a:p>
            <a:p>
              <a:pPr>
                <a:spcBef>
                  <a:spcPct val="30000"/>
                </a:spcBef>
                <a:buClrTx/>
                <a:buSzPct val="90000"/>
                <a:buFont typeface="Arial" panose="020B0604020202020204" pitchFamily="34" charset="0"/>
                <a:buChar char="•"/>
              </a:pPr>
              <a:r>
                <a:rPr lang="en-US" altLang="en-US" sz="1100" dirty="0">
                  <a:latin typeface="+mn-lt"/>
                </a:rPr>
                <a:t>Staffing availability</a:t>
              </a:r>
            </a:p>
            <a:p>
              <a:pPr>
                <a:spcBef>
                  <a:spcPct val="30000"/>
                </a:spcBef>
                <a:buClrTx/>
                <a:buSzPct val="90000"/>
                <a:buFont typeface="Arial" panose="020B0604020202020204" pitchFamily="34" charset="0"/>
                <a:buChar char="•"/>
              </a:pPr>
              <a:r>
                <a:rPr lang="en-US" altLang="en-US" sz="1100" dirty="0">
                  <a:latin typeface="+mn-lt"/>
                </a:rPr>
                <a:t>Runtime averages</a:t>
              </a:r>
            </a:p>
            <a:p>
              <a:pPr>
                <a:spcBef>
                  <a:spcPct val="30000"/>
                </a:spcBef>
                <a:buClrTx/>
                <a:buSzPct val="90000"/>
                <a:buFont typeface="Arial" panose="020B0604020202020204" pitchFamily="34" charset="0"/>
                <a:buChar char="•"/>
              </a:pPr>
              <a:r>
                <a:rPr lang="en-US" altLang="en-US" sz="1100" dirty="0">
                  <a:latin typeface="+mn-lt"/>
                </a:rPr>
                <a:t>Production mix</a:t>
              </a:r>
            </a:p>
            <a:p>
              <a:pPr>
                <a:spcBef>
                  <a:spcPct val="30000"/>
                </a:spcBef>
                <a:buClrTx/>
                <a:buSzPct val="90000"/>
                <a:buFont typeface="Arial" panose="020B0604020202020204" pitchFamily="34" charset="0"/>
                <a:buChar char="•"/>
              </a:pPr>
              <a:r>
                <a:rPr lang="en-US" altLang="en-US" sz="1100" dirty="0">
                  <a:latin typeface="+mn-lt"/>
                </a:rPr>
                <a:t>Supplier capabilities</a:t>
              </a:r>
              <a:endParaRPr lang="en-US" altLang="en-US" sz="1100" b="0" dirty="0">
                <a:latin typeface="+mn-lt"/>
              </a:endParaRPr>
            </a:p>
          </p:txBody>
        </p:sp>
        <p:sp>
          <p:nvSpPr>
            <p:cNvPr id="47" name="Rectangle 10">
              <a:extLst>
                <a:ext uri="{FF2B5EF4-FFF2-40B4-BE49-F238E27FC236}">
                  <a16:creationId xmlns:a16="http://schemas.microsoft.com/office/drawing/2014/main" id="{6D74CC6A-802F-AD72-13E0-A266946AFB16}"/>
                </a:ext>
              </a:extLst>
            </p:cNvPr>
            <p:cNvSpPr>
              <a:spLocks noChangeArrowheads="1"/>
            </p:cNvSpPr>
            <p:nvPr/>
          </p:nvSpPr>
          <p:spPr bwMode="auto">
            <a:xfrm>
              <a:off x="712788" y="2459038"/>
              <a:ext cx="1754725" cy="1292224"/>
            </a:xfrm>
            <a:prstGeom prst="rect">
              <a:avLst/>
            </a:prstGeom>
            <a:solidFill>
              <a:schemeClr val="bg2"/>
            </a:solidFill>
            <a:ln w="19050">
              <a:solidFill>
                <a:srgbClr val="5F5F5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8" name="Rectangle 9">
              <a:extLst>
                <a:ext uri="{FF2B5EF4-FFF2-40B4-BE49-F238E27FC236}">
                  <a16:creationId xmlns:a16="http://schemas.microsoft.com/office/drawing/2014/main" id="{B2C1CEBE-FF55-FD94-154B-5B828A05FB17}"/>
                </a:ext>
              </a:extLst>
            </p:cNvPr>
            <p:cNvSpPr>
              <a:spLocks noChangeArrowheads="1"/>
            </p:cNvSpPr>
            <p:nvPr/>
          </p:nvSpPr>
          <p:spPr bwMode="auto">
            <a:xfrm>
              <a:off x="712788" y="2465388"/>
              <a:ext cx="1905000" cy="919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100" dirty="0">
                  <a:latin typeface="+mn-lt"/>
                </a:rPr>
                <a:t>Was analysis accurate?</a:t>
              </a:r>
            </a:p>
            <a:p>
              <a:pPr>
                <a:spcBef>
                  <a:spcPct val="30000"/>
                </a:spcBef>
                <a:buClrTx/>
                <a:buSzPct val="90000"/>
                <a:buFont typeface="Arial" panose="020B0604020202020204" pitchFamily="34" charset="0"/>
                <a:buChar char="•"/>
              </a:pPr>
              <a:r>
                <a:rPr lang="en-US" altLang="en-US" sz="1100" dirty="0">
                  <a:latin typeface="+mn-lt"/>
                </a:rPr>
                <a:t>Control chart noise?</a:t>
              </a:r>
            </a:p>
            <a:p>
              <a:pPr>
                <a:spcBef>
                  <a:spcPct val="30000"/>
                </a:spcBef>
                <a:buClrTx/>
                <a:buSzPct val="90000"/>
                <a:buFont typeface="Arial" panose="020B0604020202020204" pitchFamily="34" charset="0"/>
                <a:buChar char="•"/>
              </a:pPr>
              <a:r>
                <a:rPr lang="en-US" altLang="en-US" sz="1100" dirty="0">
                  <a:latin typeface="+mn-lt"/>
                </a:rPr>
                <a:t>Trending identified?</a:t>
              </a:r>
            </a:p>
            <a:p>
              <a:pPr>
                <a:spcBef>
                  <a:spcPct val="30000"/>
                </a:spcBef>
                <a:buClrTx/>
                <a:buSzPct val="90000"/>
                <a:buFont typeface="Arial" panose="020B0604020202020204" pitchFamily="34" charset="0"/>
                <a:buChar char="•"/>
              </a:pPr>
              <a:r>
                <a:rPr lang="en-US" altLang="en-US" sz="1100" dirty="0">
                  <a:latin typeface="+mn-lt"/>
                </a:rPr>
                <a:t>Misunderstood capabilities?</a:t>
              </a:r>
              <a:endParaRPr lang="en-US" altLang="en-US" sz="1100" b="0" dirty="0">
                <a:latin typeface="+mn-lt"/>
              </a:endParaRPr>
            </a:p>
          </p:txBody>
        </p:sp>
        <p:cxnSp>
          <p:nvCxnSpPr>
            <p:cNvPr id="49" name="AutoShape 13">
              <a:extLst>
                <a:ext uri="{FF2B5EF4-FFF2-40B4-BE49-F238E27FC236}">
                  <a16:creationId xmlns:a16="http://schemas.microsoft.com/office/drawing/2014/main" id="{E1B46966-3FAC-34EA-788F-6CEE83D62306}"/>
                </a:ext>
              </a:extLst>
            </p:cNvPr>
            <p:cNvCxnSpPr>
              <a:cxnSpLocks noChangeShapeType="1"/>
              <a:stCxn id="47" idx="0"/>
              <a:endCxn id="43" idx="0"/>
            </p:cNvCxnSpPr>
            <p:nvPr/>
          </p:nvCxnSpPr>
          <p:spPr bwMode="auto">
            <a:xfrm rot="16200000" flipH="1">
              <a:off x="2874222" y="1174965"/>
              <a:ext cx="97039" cy="2665184"/>
            </a:xfrm>
            <a:prstGeom prst="bentConnector3">
              <a:avLst>
                <a:gd name="adj1" fmla="val -239912"/>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0" name="AutoShape 14">
              <a:extLst>
                <a:ext uri="{FF2B5EF4-FFF2-40B4-BE49-F238E27FC236}">
                  <a16:creationId xmlns:a16="http://schemas.microsoft.com/office/drawing/2014/main" id="{B688B831-29B4-682A-8EF9-5412889AB146}"/>
                </a:ext>
              </a:extLst>
            </p:cNvPr>
            <p:cNvCxnSpPr>
              <a:cxnSpLocks noChangeShapeType="1"/>
              <a:stCxn id="46" idx="1"/>
              <a:endCxn id="47" idx="1"/>
            </p:cNvCxnSpPr>
            <p:nvPr/>
          </p:nvCxnSpPr>
          <p:spPr bwMode="auto">
            <a:xfrm rot="10800000">
              <a:off x="712788" y="3105151"/>
              <a:ext cx="6350" cy="1642219"/>
            </a:xfrm>
            <a:prstGeom prst="bentConnector3">
              <a:avLst>
                <a:gd name="adj1" fmla="val 283838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1" name="Rectangle 15">
              <a:extLst>
                <a:ext uri="{FF2B5EF4-FFF2-40B4-BE49-F238E27FC236}">
                  <a16:creationId xmlns:a16="http://schemas.microsoft.com/office/drawing/2014/main" id="{92EB45E5-9F43-C9A1-87AF-45402BF5A921}"/>
                </a:ext>
              </a:extLst>
            </p:cNvPr>
            <p:cNvSpPr>
              <a:spLocks noChangeArrowheads="1"/>
            </p:cNvSpPr>
            <p:nvPr/>
          </p:nvSpPr>
          <p:spPr bwMode="auto">
            <a:xfrm>
              <a:off x="5861050" y="2668724"/>
              <a:ext cx="2320049" cy="109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100" dirty="0">
                  <a:latin typeface="+mn-lt"/>
                </a:rPr>
                <a:t>Unforeseen events?</a:t>
              </a:r>
            </a:p>
            <a:p>
              <a:pPr>
                <a:spcBef>
                  <a:spcPct val="30000"/>
                </a:spcBef>
                <a:buClrTx/>
                <a:buSzPct val="90000"/>
                <a:buFont typeface="Arial" panose="020B0604020202020204" pitchFamily="34" charset="0"/>
                <a:buChar char="•"/>
              </a:pPr>
              <a:r>
                <a:rPr lang="en-US" altLang="en-US" sz="1100" dirty="0">
                  <a:latin typeface="+mn-lt"/>
                </a:rPr>
                <a:t>Improvement over last month?</a:t>
              </a:r>
            </a:p>
            <a:p>
              <a:pPr>
                <a:spcBef>
                  <a:spcPct val="30000"/>
                </a:spcBef>
                <a:buClrTx/>
                <a:buSzPct val="90000"/>
                <a:buFont typeface="Arial" panose="020B0604020202020204" pitchFamily="34" charset="0"/>
                <a:buChar char="•"/>
              </a:pPr>
              <a:r>
                <a:rPr lang="en-US" altLang="en-US" sz="1100" dirty="0">
                  <a:latin typeface="+mn-lt"/>
                </a:rPr>
                <a:t>Decline over last month?</a:t>
              </a:r>
            </a:p>
            <a:p>
              <a:pPr>
                <a:spcBef>
                  <a:spcPct val="30000"/>
                </a:spcBef>
                <a:buClrTx/>
                <a:buSzPct val="90000"/>
                <a:buFont typeface="Arial" panose="020B0604020202020204" pitchFamily="34" charset="0"/>
                <a:buChar char="•"/>
              </a:pPr>
              <a:r>
                <a:rPr lang="en-US" altLang="en-US" sz="1100" dirty="0">
                  <a:latin typeface="+mn-lt"/>
                </a:rPr>
                <a:t>Track record of unsustainable performance levels?</a:t>
              </a:r>
              <a:endParaRPr lang="en-US" altLang="en-US" sz="1100" b="0" dirty="0">
                <a:latin typeface="+mn-lt"/>
              </a:endParaRPr>
            </a:p>
          </p:txBody>
        </p:sp>
        <p:sp>
          <p:nvSpPr>
            <p:cNvPr id="52" name="Rectangle 16">
              <a:extLst>
                <a:ext uri="{FF2B5EF4-FFF2-40B4-BE49-F238E27FC236}">
                  <a16:creationId xmlns:a16="http://schemas.microsoft.com/office/drawing/2014/main" id="{3594BE43-D343-E5B8-23CF-3F32B19AB904}"/>
                </a:ext>
              </a:extLst>
            </p:cNvPr>
            <p:cNvSpPr>
              <a:spLocks noChangeArrowheads="1"/>
            </p:cNvSpPr>
            <p:nvPr/>
          </p:nvSpPr>
          <p:spPr bwMode="auto">
            <a:xfrm>
              <a:off x="5861050" y="4257505"/>
              <a:ext cx="2175748" cy="114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100" dirty="0">
                  <a:latin typeface="+mn-lt"/>
                </a:rPr>
                <a:t>Long-term trend analysis</a:t>
              </a:r>
            </a:p>
            <a:p>
              <a:pPr>
                <a:spcBef>
                  <a:spcPct val="30000"/>
                </a:spcBef>
                <a:buClrTx/>
                <a:buSzPct val="90000"/>
                <a:buFont typeface="Arial" panose="020B0604020202020204" pitchFamily="34" charset="0"/>
                <a:buChar char="•"/>
              </a:pPr>
              <a:r>
                <a:rPr lang="en-US" altLang="en-US" sz="1100" dirty="0">
                  <a:latin typeface="+mn-lt"/>
                </a:rPr>
                <a:t>Next-month limiting factors</a:t>
              </a:r>
            </a:p>
            <a:p>
              <a:pPr>
                <a:spcBef>
                  <a:spcPct val="30000"/>
                </a:spcBef>
                <a:buClrTx/>
                <a:buSzPct val="90000"/>
                <a:buFont typeface="Arial" panose="020B0604020202020204" pitchFamily="34" charset="0"/>
                <a:buChar char="•"/>
              </a:pPr>
              <a:r>
                <a:rPr lang="en-US" altLang="en-US" sz="1100" dirty="0">
                  <a:latin typeface="+mn-lt"/>
                </a:rPr>
                <a:t>Key shop-floor execution problems</a:t>
              </a:r>
            </a:p>
            <a:p>
              <a:pPr>
                <a:spcBef>
                  <a:spcPct val="30000"/>
                </a:spcBef>
                <a:buClrTx/>
                <a:buSzPct val="90000"/>
                <a:buFont typeface="Arial" panose="020B0604020202020204" pitchFamily="34" charset="0"/>
                <a:buChar char="•"/>
              </a:pPr>
              <a:r>
                <a:rPr lang="en-US" altLang="en-US" sz="1100" dirty="0">
                  <a:latin typeface="+mn-lt"/>
                </a:rPr>
                <a:t>Training or quality issues</a:t>
              </a:r>
            </a:p>
            <a:p>
              <a:pPr>
                <a:spcBef>
                  <a:spcPct val="30000"/>
                </a:spcBef>
                <a:buClrTx/>
                <a:buSzPct val="90000"/>
                <a:buFont typeface="Arial" panose="020B0604020202020204" pitchFamily="34" charset="0"/>
                <a:buChar char="•"/>
              </a:pPr>
              <a:r>
                <a:rPr lang="en-US" altLang="en-US" sz="1100" dirty="0">
                  <a:latin typeface="+mn-lt"/>
                </a:rPr>
                <a:t>Decline in overall available capacity?</a:t>
              </a:r>
              <a:endParaRPr lang="en-US" altLang="en-US" sz="1100" b="0" dirty="0">
                <a:latin typeface="+mn-lt"/>
              </a:endParaRPr>
            </a:p>
          </p:txBody>
        </p:sp>
        <p:sp>
          <p:nvSpPr>
            <p:cNvPr id="53" name="Rectangle 17">
              <a:extLst>
                <a:ext uri="{FF2B5EF4-FFF2-40B4-BE49-F238E27FC236}">
                  <a16:creationId xmlns:a16="http://schemas.microsoft.com/office/drawing/2014/main" id="{55A3C77B-FCCE-2851-D34D-69F15979683A}"/>
                </a:ext>
              </a:extLst>
            </p:cNvPr>
            <p:cNvSpPr>
              <a:spLocks noChangeArrowheads="1"/>
            </p:cNvSpPr>
            <p:nvPr/>
          </p:nvSpPr>
          <p:spPr bwMode="auto">
            <a:xfrm>
              <a:off x="5812194" y="2555760"/>
              <a:ext cx="2419350" cy="119221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4" name="Rectangle 18">
              <a:extLst>
                <a:ext uri="{FF2B5EF4-FFF2-40B4-BE49-F238E27FC236}">
                  <a16:creationId xmlns:a16="http://schemas.microsoft.com/office/drawing/2014/main" id="{3BABC77B-86A5-B69A-88CC-9463306252E8}"/>
                </a:ext>
              </a:extLst>
            </p:cNvPr>
            <p:cNvSpPr>
              <a:spLocks noChangeArrowheads="1"/>
            </p:cNvSpPr>
            <p:nvPr/>
          </p:nvSpPr>
          <p:spPr bwMode="auto">
            <a:xfrm>
              <a:off x="5812194" y="4068647"/>
              <a:ext cx="2419350" cy="16160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5" name="Text Box 19">
              <a:extLst>
                <a:ext uri="{FF2B5EF4-FFF2-40B4-BE49-F238E27FC236}">
                  <a16:creationId xmlns:a16="http://schemas.microsoft.com/office/drawing/2014/main" id="{44A4C71F-A67C-0DF9-F660-A9603F7F001F}"/>
                </a:ext>
              </a:extLst>
            </p:cNvPr>
            <p:cNvSpPr txBox="1">
              <a:spLocks noChangeArrowheads="1"/>
            </p:cNvSpPr>
            <p:nvPr/>
          </p:nvSpPr>
          <p:spPr bwMode="auto">
            <a:xfrm>
              <a:off x="6462567" y="2465388"/>
              <a:ext cx="1051388" cy="2471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latin typeface="+mn-lt"/>
                </a:rPr>
                <a:t>Analysis Results</a:t>
              </a:r>
            </a:p>
          </p:txBody>
        </p:sp>
        <p:sp>
          <p:nvSpPr>
            <p:cNvPr id="56" name="Text Box 20">
              <a:extLst>
                <a:ext uri="{FF2B5EF4-FFF2-40B4-BE49-F238E27FC236}">
                  <a16:creationId xmlns:a16="http://schemas.microsoft.com/office/drawing/2014/main" id="{50D05170-77F6-C4CF-027F-2C8EF140EA95}"/>
                </a:ext>
              </a:extLst>
            </p:cNvPr>
            <p:cNvSpPr txBox="1">
              <a:spLocks noChangeArrowheads="1"/>
            </p:cNvSpPr>
            <p:nvPr/>
          </p:nvSpPr>
          <p:spPr bwMode="auto">
            <a:xfrm>
              <a:off x="6334952" y="3955210"/>
              <a:ext cx="1306615" cy="24605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latin typeface="+mn-lt"/>
                </a:rPr>
                <a:t>Next-Month Impacts</a:t>
              </a:r>
            </a:p>
          </p:txBody>
        </p:sp>
        <p:cxnSp>
          <p:nvCxnSpPr>
            <p:cNvPr id="57" name="AutoShape 21">
              <a:extLst>
                <a:ext uri="{FF2B5EF4-FFF2-40B4-BE49-F238E27FC236}">
                  <a16:creationId xmlns:a16="http://schemas.microsoft.com/office/drawing/2014/main" id="{46893ACB-3ED8-4BAE-7DC4-66D19EF13D86}"/>
                </a:ext>
              </a:extLst>
            </p:cNvPr>
            <p:cNvCxnSpPr>
              <a:cxnSpLocks noChangeShapeType="1"/>
              <a:stCxn id="44" idx="3"/>
              <a:endCxn id="53" idx="1"/>
            </p:cNvCxnSpPr>
            <p:nvPr/>
          </p:nvCxnSpPr>
          <p:spPr bwMode="auto">
            <a:xfrm flipV="1">
              <a:off x="5206727" y="3151866"/>
              <a:ext cx="605467" cy="363854"/>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8" name="AutoShape 22">
              <a:extLst>
                <a:ext uri="{FF2B5EF4-FFF2-40B4-BE49-F238E27FC236}">
                  <a16:creationId xmlns:a16="http://schemas.microsoft.com/office/drawing/2014/main" id="{95834346-8FD3-D104-766B-01F4FA94C823}"/>
                </a:ext>
              </a:extLst>
            </p:cNvPr>
            <p:cNvCxnSpPr>
              <a:cxnSpLocks noChangeShapeType="1"/>
              <a:stCxn id="44" idx="3"/>
              <a:endCxn id="54" idx="1"/>
            </p:cNvCxnSpPr>
            <p:nvPr/>
          </p:nvCxnSpPr>
          <p:spPr bwMode="auto">
            <a:xfrm>
              <a:off x="5206727" y="3515720"/>
              <a:ext cx="605467" cy="1360964"/>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9" name="Oval 24">
              <a:extLst>
                <a:ext uri="{FF2B5EF4-FFF2-40B4-BE49-F238E27FC236}">
                  <a16:creationId xmlns:a16="http://schemas.microsoft.com/office/drawing/2014/main" id="{A592DACB-82F7-0171-3EDA-475273507D54}"/>
                </a:ext>
              </a:extLst>
            </p:cNvPr>
            <p:cNvSpPr>
              <a:spLocks noChangeArrowheads="1"/>
            </p:cNvSpPr>
            <p:nvPr/>
          </p:nvSpPr>
          <p:spPr bwMode="auto">
            <a:xfrm>
              <a:off x="2167122" y="6071280"/>
              <a:ext cx="4203700" cy="328612"/>
            </a:xfrm>
            <a:prstGeom prst="ellipse">
              <a:avLst/>
            </a:prstGeom>
            <a:solidFill>
              <a:schemeClr val="accent1"/>
            </a:solidFill>
            <a:ln w="12700" cap="sq">
              <a:solidFill>
                <a:srgbClr val="800000"/>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Next-Month Planning:  </a:t>
              </a:r>
              <a:r>
                <a:rPr lang="ja-JP" altLang="en-US" sz="1200" dirty="0">
                  <a:solidFill>
                    <a:schemeClr val="bg1"/>
                  </a:solidFill>
                  <a:latin typeface="+mn-lt"/>
                </a:rPr>
                <a:t>“</a:t>
              </a:r>
              <a:r>
                <a:rPr lang="en-US" altLang="ja-JP" sz="1200" dirty="0">
                  <a:solidFill>
                    <a:schemeClr val="bg1"/>
                  </a:solidFill>
                  <a:latin typeface="+mn-lt"/>
                </a:rPr>
                <a:t>Increased Accuracy</a:t>
              </a:r>
              <a:r>
                <a:rPr lang="ja-JP" altLang="en-US" sz="1200" dirty="0">
                  <a:solidFill>
                    <a:schemeClr val="bg1"/>
                  </a:solidFill>
                  <a:latin typeface="+mn-lt"/>
                </a:rPr>
                <a:t>”</a:t>
              </a:r>
              <a:endParaRPr lang="en-US" altLang="en-US" sz="1200" dirty="0">
                <a:solidFill>
                  <a:schemeClr val="bg1"/>
                </a:solidFill>
                <a:latin typeface="+mn-lt"/>
              </a:endParaRPr>
            </a:p>
          </p:txBody>
        </p:sp>
        <p:cxnSp>
          <p:nvCxnSpPr>
            <p:cNvPr id="60" name="AutoShape 27">
              <a:extLst>
                <a:ext uri="{FF2B5EF4-FFF2-40B4-BE49-F238E27FC236}">
                  <a16:creationId xmlns:a16="http://schemas.microsoft.com/office/drawing/2014/main" id="{835668B2-1B10-38C4-C505-38184BA523D9}"/>
                </a:ext>
              </a:extLst>
            </p:cNvPr>
            <p:cNvCxnSpPr>
              <a:cxnSpLocks noChangeShapeType="1"/>
              <a:endCxn id="59" idx="0"/>
            </p:cNvCxnSpPr>
            <p:nvPr/>
          </p:nvCxnSpPr>
          <p:spPr bwMode="auto">
            <a:xfrm rot="16200000" flipH="1">
              <a:off x="3340286" y="5142592"/>
              <a:ext cx="298450" cy="1558925"/>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 name="AutoShape 28">
              <a:extLst>
                <a:ext uri="{FF2B5EF4-FFF2-40B4-BE49-F238E27FC236}">
                  <a16:creationId xmlns:a16="http://schemas.microsoft.com/office/drawing/2014/main" id="{0C930502-1B05-9199-487C-7E8EA19DA682}"/>
                </a:ext>
              </a:extLst>
            </p:cNvPr>
            <p:cNvCxnSpPr>
              <a:cxnSpLocks noChangeShapeType="1"/>
              <a:stCxn id="54" idx="2"/>
              <a:endCxn id="59" idx="0"/>
            </p:cNvCxnSpPr>
            <p:nvPr/>
          </p:nvCxnSpPr>
          <p:spPr bwMode="auto">
            <a:xfrm rot="5400000">
              <a:off x="5452142" y="4501553"/>
              <a:ext cx="386559" cy="2752897"/>
            </a:xfrm>
            <a:prstGeom prst="bentConnector3">
              <a:avLst>
                <a:gd name="adj1" fmla="val 50000"/>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165121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On-Hand Inventory Analysis:  </a:t>
            </a:r>
            <a:br>
              <a:rPr lang="en-US" dirty="0"/>
            </a:br>
            <a:r>
              <a:rPr lang="en-US" dirty="0"/>
              <a:t>Sufficient, Deficient, or Excessive?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17069" y="2435933"/>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Along with the last-month performance review analysis, supply planning team members must also critically evaluate the organization’s inventory position to determine if customer service issues are looming.</a:t>
            </a:r>
          </a:p>
        </p:txBody>
      </p:sp>
      <p:grpSp>
        <p:nvGrpSpPr>
          <p:cNvPr id="18" name="Group 17">
            <a:extLst>
              <a:ext uri="{FF2B5EF4-FFF2-40B4-BE49-F238E27FC236}">
                <a16:creationId xmlns:a16="http://schemas.microsoft.com/office/drawing/2014/main" id="{FF0EE52D-FE02-47C5-70E4-A6FB3C3D105A}"/>
              </a:ext>
            </a:extLst>
          </p:cNvPr>
          <p:cNvGrpSpPr/>
          <p:nvPr/>
        </p:nvGrpSpPr>
        <p:grpSpPr>
          <a:xfrm>
            <a:off x="237717" y="2217790"/>
            <a:ext cx="8258175" cy="3796446"/>
            <a:chOff x="361950" y="2222500"/>
            <a:chExt cx="8258175" cy="3796446"/>
          </a:xfrm>
        </p:grpSpPr>
        <p:graphicFrame>
          <p:nvGraphicFramePr>
            <p:cNvPr id="4" name="Object 9">
              <a:extLst>
                <a:ext uri="{FF2B5EF4-FFF2-40B4-BE49-F238E27FC236}">
                  <a16:creationId xmlns:a16="http://schemas.microsoft.com/office/drawing/2014/main" id="{941581D8-640C-0561-2C03-4DCC7D64BA4A}"/>
                </a:ext>
              </a:extLst>
            </p:cNvPr>
            <p:cNvGraphicFramePr>
              <a:graphicFrameLocks noChangeAspect="1"/>
            </p:cNvGraphicFramePr>
            <p:nvPr>
              <p:extLst>
                <p:ext uri="{D42A27DB-BD31-4B8C-83A1-F6EECF244321}">
                  <p14:modId xmlns:p14="http://schemas.microsoft.com/office/powerpoint/2010/main" val="2359087081"/>
                </p:ext>
              </p:extLst>
            </p:nvPr>
          </p:nvGraphicFramePr>
          <p:xfrm>
            <a:off x="1849438" y="2222500"/>
            <a:ext cx="6111875" cy="1870075"/>
          </p:xfrm>
          <a:graphic>
            <a:graphicData uri="http://schemas.openxmlformats.org/presentationml/2006/ole">
              <mc:AlternateContent xmlns:mc="http://schemas.openxmlformats.org/markup-compatibility/2006">
                <mc:Choice xmlns:v="urn:schemas-microsoft-com:vml" Requires="v">
                  <p:oleObj name="Worksheet" r:id="rId3" imgW="7210287" imgH="2209907" progId="Excel.Sheet.8">
                    <p:embed/>
                  </p:oleObj>
                </mc:Choice>
                <mc:Fallback>
                  <p:oleObj name="Worksheet" r:id="rId3" imgW="7210287" imgH="2209907" progId="Excel.Sheet.8">
                    <p:embed/>
                    <p:pic>
                      <p:nvPicPr>
                        <p:cNvPr id="28675" name="Object 9">
                          <a:extLst>
                            <a:ext uri="{FF2B5EF4-FFF2-40B4-BE49-F238E27FC236}">
                              <a16:creationId xmlns:a16="http://schemas.microsoft.com/office/drawing/2014/main" id="{5442511F-C401-40FE-A0CF-B68FE7CCE8A0}"/>
                            </a:ext>
                          </a:extLst>
                        </p:cNvPr>
                        <p:cNvPicPr>
                          <a:picLocks noChangeAspect="1" noChangeArrowheads="1"/>
                        </p:cNvPicPr>
                        <p:nvPr/>
                      </p:nvPicPr>
                      <p:blipFill>
                        <a:blip r:embed="rId4"/>
                        <a:srcRect/>
                        <a:stretch>
                          <a:fillRect/>
                        </a:stretch>
                      </p:blipFill>
                      <p:spPr bwMode="auto">
                        <a:xfrm>
                          <a:off x="1849438" y="2222500"/>
                          <a:ext cx="6111875" cy="1870075"/>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 name="Object 11">
              <a:extLst>
                <a:ext uri="{FF2B5EF4-FFF2-40B4-BE49-F238E27FC236}">
                  <a16:creationId xmlns:a16="http://schemas.microsoft.com/office/drawing/2014/main" id="{97574652-7560-4AFE-0995-8FEF228B9AF3}"/>
                </a:ext>
              </a:extLst>
            </p:cNvPr>
            <p:cNvGraphicFramePr>
              <a:graphicFrameLocks noChangeAspect="1"/>
            </p:cNvGraphicFramePr>
            <p:nvPr>
              <p:extLst>
                <p:ext uri="{D42A27DB-BD31-4B8C-83A1-F6EECF244321}">
                  <p14:modId xmlns:p14="http://schemas.microsoft.com/office/powerpoint/2010/main" val="2891130661"/>
                </p:ext>
              </p:extLst>
            </p:nvPr>
          </p:nvGraphicFramePr>
          <p:xfrm>
            <a:off x="2082800" y="2514600"/>
            <a:ext cx="6145213" cy="1882775"/>
          </p:xfrm>
          <a:graphic>
            <a:graphicData uri="http://schemas.openxmlformats.org/presentationml/2006/ole">
              <mc:AlternateContent xmlns:mc="http://schemas.openxmlformats.org/markup-compatibility/2006">
                <mc:Choice xmlns:v="urn:schemas-microsoft-com:vml" Requires="v">
                  <p:oleObj name="Worksheet" r:id="rId5" imgW="7210287" imgH="2209907" progId="Excel.Sheet.8">
                    <p:embed/>
                  </p:oleObj>
                </mc:Choice>
                <mc:Fallback>
                  <p:oleObj name="Worksheet" r:id="rId5" imgW="7210287" imgH="2209907" progId="Excel.Sheet.8">
                    <p:embed/>
                    <p:pic>
                      <p:nvPicPr>
                        <p:cNvPr id="28676" name="Object 11">
                          <a:extLst>
                            <a:ext uri="{FF2B5EF4-FFF2-40B4-BE49-F238E27FC236}">
                              <a16:creationId xmlns:a16="http://schemas.microsoft.com/office/drawing/2014/main" id="{88EEE33B-10F5-40ED-ACBE-BEB2B1478353}"/>
                            </a:ext>
                          </a:extLst>
                        </p:cNvPr>
                        <p:cNvPicPr>
                          <a:picLocks noChangeAspect="1" noChangeArrowheads="1"/>
                        </p:cNvPicPr>
                        <p:nvPr/>
                      </p:nvPicPr>
                      <p:blipFill>
                        <a:blip r:embed="rId6"/>
                        <a:srcRect/>
                        <a:stretch>
                          <a:fillRect/>
                        </a:stretch>
                      </p:blipFill>
                      <p:spPr bwMode="auto">
                        <a:xfrm>
                          <a:off x="2082800" y="2514600"/>
                          <a:ext cx="6145213" cy="1882775"/>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Rectangle 14">
              <a:extLst>
                <a:ext uri="{FF2B5EF4-FFF2-40B4-BE49-F238E27FC236}">
                  <a16:creationId xmlns:a16="http://schemas.microsoft.com/office/drawing/2014/main" id="{74C4FD56-6099-ADEB-E39B-E87A5FADB7CE}"/>
                </a:ext>
              </a:extLst>
            </p:cNvPr>
            <p:cNvSpPr>
              <a:spLocks noChangeArrowheads="1"/>
            </p:cNvSpPr>
            <p:nvPr/>
          </p:nvSpPr>
          <p:spPr bwMode="auto">
            <a:xfrm>
              <a:off x="379413" y="2232025"/>
              <a:ext cx="1058862" cy="1806575"/>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latin typeface="+mn-lt"/>
                </a:rPr>
                <a:t>Previous</a:t>
              </a:r>
            </a:p>
            <a:p>
              <a:pPr algn="ctr">
                <a:lnSpc>
                  <a:spcPct val="80000"/>
                </a:lnSpc>
                <a:buClrTx/>
                <a:buSzTx/>
                <a:buFontTx/>
                <a:buNone/>
              </a:pPr>
              <a:r>
                <a:rPr lang="en-US" altLang="en-US" sz="1100" dirty="0">
                  <a:latin typeface="+mn-lt"/>
                </a:rPr>
                <a:t>Month</a:t>
              </a:r>
            </a:p>
            <a:p>
              <a:pPr algn="ctr">
                <a:lnSpc>
                  <a:spcPct val="80000"/>
                </a:lnSpc>
                <a:buClrTx/>
                <a:buSzTx/>
                <a:buFontTx/>
                <a:buNone/>
              </a:pPr>
              <a:r>
                <a:rPr lang="en-US" altLang="en-US" sz="1100" dirty="0">
                  <a:latin typeface="+mn-lt"/>
                </a:rPr>
                <a:t>Actuals</a:t>
              </a:r>
            </a:p>
            <a:p>
              <a:pPr algn="ctr">
                <a:lnSpc>
                  <a:spcPct val="80000"/>
                </a:lnSpc>
                <a:buClrTx/>
                <a:buSzTx/>
                <a:buFontTx/>
                <a:buNone/>
              </a:pPr>
              <a:endParaRPr lang="en-US" altLang="en-US" sz="1100" dirty="0">
                <a:latin typeface="+mn-lt"/>
              </a:endParaRPr>
            </a:p>
            <a:p>
              <a:pPr algn="ctr">
                <a:lnSpc>
                  <a:spcPct val="80000"/>
                </a:lnSpc>
                <a:buClrTx/>
                <a:buSzTx/>
                <a:buFontTx/>
                <a:buNone/>
              </a:pPr>
              <a:endParaRPr lang="en-US" altLang="en-US" sz="1100" dirty="0">
                <a:latin typeface="+mn-lt"/>
              </a:endParaRPr>
            </a:p>
            <a:p>
              <a:pPr algn="ctr">
                <a:lnSpc>
                  <a:spcPct val="80000"/>
                </a:lnSpc>
                <a:buClrTx/>
                <a:buSzTx/>
                <a:buFontTx/>
                <a:buNone/>
              </a:pPr>
              <a:endParaRPr lang="en-US" altLang="en-US" sz="1100" dirty="0">
                <a:latin typeface="+mn-lt"/>
              </a:endParaRPr>
            </a:p>
            <a:p>
              <a:pPr algn="ctr">
                <a:lnSpc>
                  <a:spcPct val="80000"/>
                </a:lnSpc>
                <a:buClrTx/>
                <a:buSzTx/>
                <a:buFontTx/>
                <a:buNone/>
              </a:pPr>
              <a:endParaRPr lang="en-US" altLang="en-US" sz="1100" dirty="0">
                <a:latin typeface="+mn-lt"/>
              </a:endParaRPr>
            </a:p>
            <a:p>
              <a:pPr algn="ctr">
                <a:lnSpc>
                  <a:spcPct val="80000"/>
                </a:lnSpc>
                <a:buClrTx/>
                <a:buSzTx/>
                <a:buFontTx/>
                <a:buNone/>
              </a:pPr>
              <a:endParaRPr lang="en-US" altLang="en-US" sz="1100" dirty="0">
                <a:latin typeface="+mn-lt"/>
              </a:endParaRPr>
            </a:p>
            <a:p>
              <a:pPr algn="ctr">
                <a:lnSpc>
                  <a:spcPct val="80000"/>
                </a:lnSpc>
                <a:buClrTx/>
                <a:buSzTx/>
                <a:buFontTx/>
                <a:buNone/>
              </a:pPr>
              <a:endParaRPr lang="en-US" altLang="en-US" sz="1100" dirty="0">
                <a:latin typeface="+mn-lt"/>
              </a:endParaRPr>
            </a:p>
            <a:p>
              <a:pPr algn="ctr">
                <a:lnSpc>
                  <a:spcPct val="80000"/>
                </a:lnSpc>
                <a:buClrTx/>
                <a:buSzTx/>
                <a:buFontTx/>
                <a:buNone/>
              </a:pPr>
              <a:endParaRPr lang="en-US" altLang="en-US" sz="1100" dirty="0">
                <a:latin typeface="+mn-lt"/>
              </a:endParaRPr>
            </a:p>
          </p:txBody>
        </p:sp>
        <p:sp>
          <p:nvSpPr>
            <p:cNvPr id="7" name="Rectangle 15">
              <a:extLst>
                <a:ext uri="{FF2B5EF4-FFF2-40B4-BE49-F238E27FC236}">
                  <a16:creationId xmlns:a16="http://schemas.microsoft.com/office/drawing/2014/main" id="{D19CD169-BA33-565C-BCE9-F6B602DDDFD7}"/>
                </a:ext>
              </a:extLst>
            </p:cNvPr>
            <p:cNvSpPr>
              <a:spLocks noChangeArrowheads="1"/>
            </p:cNvSpPr>
            <p:nvPr/>
          </p:nvSpPr>
          <p:spPr bwMode="auto">
            <a:xfrm>
              <a:off x="361950" y="2865438"/>
              <a:ext cx="1144588"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dirty="0">
                  <a:latin typeface="+mn-lt"/>
                </a:rPr>
                <a:t>Output</a:t>
              </a:r>
            </a:p>
            <a:p>
              <a:pPr>
                <a:spcBef>
                  <a:spcPct val="30000"/>
                </a:spcBef>
                <a:buClrTx/>
                <a:buSzPct val="90000"/>
                <a:buFont typeface="Arial" panose="020B0604020202020204" pitchFamily="34" charset="0"/>
                <a:buChar char="•"/>
              </a:pPr>
              <a:r>
                <a:rPr lang="en-US" altLang="en-US" sz="1000" dirty="0">
                  <a:latin typeface="+mn-lt"/>
                </a:rPr>
                <a:t>Returns</a:t>
              </a:r>
            </a:p>
            <a:p>
              <a:pPr>
                <a:spcBef>
                  <a:spcPct val="30000"/>
                </a:spcBef>
                <a:buClrTx/>
                <a:buSzPct val="90000"/>
                <a:buFont typeface="Arial" panose="020B0604020202020204" pitchFamily="34" charset="0"/>
                <a:buChar char="•"/>
              </a:pPr>
              <a:r>
                <a:rPr lang="en-US" altLang="en-US" sz="1000" dirty="0">
                  <a:latin typeface="+mn-lt"/>
                </a:rPr>
                <a:t>Inventory On-Hand</a:t>
              </a:r>
            </a:p>
            <a:p>
              <a:pPr>
                <a:spcBef>
                  <a:spcPct val="30000"/>
                </a:spcBef>
                <a:buClrTx/>
                <a:buSzPct val="90000"/>
                <a:buFont typeface="Arial" panose="020B0604020202020204" pitchFamily="34" charset="0"/>
                <a:buChar char="•"/>
              </a:pPr>
              <a:r>
                <a:rPr lang="en-US" altLang="en-US" sz="1000" dirty="0">
                  <a:latin typeface="+mn-lt"/>
                </a:rPr>
                <a:t>Trending</a:t>
              </a:r>
            </a:p>
            <a:p>
              <a:pPr>
                <a:spcBef>
                  <a:spcPct val="30000"/>
                </a:spcBef>
                <a:buClrTx/>
                <a:buSzPct val="90000"/>
                <a:buFont typeface="Arial" panose="020B0604020202020204" pitchFamily="34" charset="0"/>
                <a:buChar char="•"/>
              </a:pPr>
              <a:r>
                <a:rPr lang="en-US" altLang="en-US" sz="1000" dirty="0">
                  <a:latin typeface="+mn-lt"/>
                </a:rPr>
                <a:t>Min-Levels</a:t>
              </a:r>
              <a:endParaRPr lang="en-US" altLang="en-US" sz="1000" b="0" dirty="0">
                <a:latin typeface="+mn-lt"/>
              </a:endParaRPr>
            </a:p>
          </p:txBody>
        </p:sp>
        <p:sp>
          <p:nvSpPr>
            <p:cNvPr id="8" name="Rectangle 16">
              <a:extLst>
                <a:ext uri="{FF2B5EF4-FFF2-40B4-BE49-F238E27FC236}">
                  <a16:creationId xmlns:a16="http://schemas.microsoft.com/office/drawing/2014/main" id="{23971ECD-0DBD-5C9A-0770-3E48B114DC70}"/>
                </a:ext>
              </a:extLst>
            </p:cNvPr>
            <p:cNvSpPr>
              <a:spLocks noChangeArrowheads="1"/>
            </p:cNvSpPr>
            <p:nvPr/>
          </p:nvSpPr>
          <p:spPr bwMode="auto">
            <a:xfrm>
              <a:off x="2095500" y="4662488"/>
              <a:ext cx="2967038" cy="3127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Last-Month Actuals Analysis</a:t>
              </a:r>
            </a:p>
          </p:txBody>
        </p:sp>
        <p:sp>
          <p:nvSpPr>
            <p:cNvPr id="9" name="Rectangle 17">
              <a:extLst>
                <a:ext uri="{FF2B5EF4-FFF2-40B4-BE49-F238E27FC236}">
                  <a16:creationId xmlns:a16="http://schemas.microsoft.com/office/drawing/2014/main" id="{AD060171-BC6F-852E-2C72-FAA90430ABF1}"/>
                </a:ext>
              </a:extLst>
            </p:cNvPr>
            <p:cNvSpPr>
              <a:spLocks noChangeArrowheads="1"/>
            </p:cNvSpPr>
            <p:nvPr/>
          </p:nvSpPr>
          <p:spPr bwMode="auto">
            <a:xfrm>
              <a:off x="5575300" y="4662488"/>
              <a:ext cx="2967038" cy="3127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Next-Month Ramifications</a:t>
              </a:r>
            </a:p>
          </p:txBody>
        </p:sp>
        <p:sp>
          <p:nvSpPr>
            <p:cNvPr id="10" name="Rectangle 18">
              <a:extLst>
                <a:ext uri="{FF2B5EF4-FFF2-40B4-BE49-F238E27FC236}">
                  <a16:creationId xmlns:a16="http://schemas.microsoft.com/office/drawing/2014/main" id="{2690EC9C-6A22-9B3F-93E7-760A13075D3E}"/>
                </a:ext>
              </a:extLst>
            </p:cNvPr>
            <p:cNvSpPr>
              <a:spLocks noChangeArrowheads="1"/>
            </p:cNvSpPr>
            <p:nvPr/>
          </p:nvSpPr>
          <p:spPr bwMode="auto">
            <a:xfrm>
              <a:off x="7283450" y="3306763"/>
              <a:ext cx="1303338" cy="257175"/>
            </a:xfrm>
            <a:prstGeom prst="rect">
              <a:avLst/>
            </a:prstGeom>
            <a:gradFill rotWithShape="1">
              <a:gsLst>
                <a:gs pos="0">
                  <a:srgbClr val="EE3228">
                    <a:alpha val="18824"/>
                  </a:srgbClr>
                </a:gs>
                <a:gs pos="100000">
                  <a:schemeClr val="tx1">
                    <a:alpha val="18000"/>
                  </a:schemeClr>
                </a:gs>
              </a:gsLst>
              <a:lin ang="5400000" scaled="1"/>
            </a:gra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1" name="Text Box 19">
              <a:extLst>
                <a:ext uri="{FF2B5EF4-FFF2-40B4-BE49-F238E27FC236}">
                  <a16:creationId xmlns:a16="http://schemas.microsoft.com/office/drawing/2014/main" id="{F84B0A73-C0D0-41E8-B455-D07A8CD06E61}"/>
                </a:ext>
              </a:extLst>
            </p:cNvPr>
            <p:cNvSpPr txBox="1">
              <a:spLocks noChangeArrowheads="1"/>
            </p:cNvSpPr>
            <p:nvPr/>
          </p:nvSpPr>
          <p:spPr bwMode="auto">
            <a:xfrm>
              <a:off x="4419649" y="3833813"/>
              <a:ext cx="3239990"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dirty="0">
                  <a:latin typeface="+mn-lt"/>
                </a:rPr>
                <a:t>Over-Build?  Under-Build?  Supplier Problems?</a:t>
              </a:r>
            </a:p>
          </p:txBody>
        </p:sp>
        <p:sp>
          <p:nvSpPr>
            <p:cNvPr id="12" name="Rectangle 20">
              <a:extLst>
                <a:ext uri="{FF2B5EF4-FFF2-40B4-BE49-F238E27FC236}">
                  <a16:creationId xmlns:a16="http://schemas.microsoft.com/office/drawing/2014/main" id="{92DC3199-1545-2F36-F349-16B18EFE635F}"/>
                </a:ext>
              </a:extLst>
            </p:cNvPr>
            <p:cNvSpPr>
              <a:spLocks noChangeArrowheads="1"/>
            </p:cNvSpPr>
            <p:nvPr/>
          </p:nvSpPr>
          <p:spPr bwMode="auto">
            <a:xfrm>
              <a:off x="1997075" y="4991100"/>
              <a:ext cx="3128963" cy="1027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spcBef>
                  <a:spcPct val="25000"/>
                </a:spcBef>
                <a:buClrTx/>
                <a:buSzPct val="90000"/>
                <a:buFont typeface="Arial" panose="020B0604020202020204" pitchFamily="34" charset="0"/>
                <a:buChar char="•"/>
              </a:pPr>
              <a:r>
                <a:rPr lang="en-US" altLang="en-US" sz="1000" dirty="0">
                  <a:latin typeface="+mn-lt"/>
                </a:rPr>
                <a:t>Was the inventory plan sound and did it meet service requirements?</a:t>
              </a:r>
            </a:p>
            <a:p>
              <a:pPr>
                <a:lnSpc>
                  <a:spcPct val="95000"/>
                </a:lnSpc>
                <a:spcBef>
                  <a:spcPct val="25000"/>
                </a:spcBef>
                <a:buClrTx/>
                <a:buSzPct val="90000"/>
                <a:buFont typeface="Arial" panose="020B0604020202020204" pitchFamily="34" charset="0"/>
                <a:buChar char="•"/>
              </a:pPr>
              <a:r>
                <a:rPr lang="en-US" altLang="en-US" sz="1000" dirty="0">
                  <a:latin typeface="+mn-lt"/>
                </a:rPr>
                <a:t>What trends are identified – Growing inventory? Shrinking?</a:t>
              </a:r>
            </a:p>
            <a:p>
              <a:pPr>
                <a:lnSpc>
                  <a:spcPct val="95000"/>
                </a:lnSpc>
                <a:spcBef>
                  <a:spcPct val="25000"/>
                </a:spcBef>
                <a:buClrTx/>
                <a:buSzPct val="90000"/>
                <a:buFont typeface="Arial" panose="020B0604020202020204" pitchFamily="34" charset="0"/>
                <a:buChar char="•"/>
              </a:pPr>
              <a:r>
                <a:rPr lang="en-US" altLang="en-US" sz="1000" dirty="0">
                  <a:latin typeface="+mn-lt"/>
                </a:rPr>
                <a:t>Root cause analysis – Supplier issues? Min-Max levels incorrect?</a:t>
              </a:r>
              <a:endParaRPr lang="en-US" altLang="en-US" sz="1000" b="0" dirty="0">
                <a:latin typeface="+mn-lt"/>
              </a:endParaRPr>
            </a:p>
          </p:txBody>
        </p:sp>
        <p:sp>
          <p:nvSpPr>
            <p:cNvPr id="13" name="Rectangle 21">
              <a:extLst>
                <a:ext uri="{FF2B5EF4-FFF2-40B4-BE49-F238E27FC236}">
                  <a16:creationId xmlns:a16="http://schemas.microsoft.com/office/drawing/2014/main" id="{9EDB5015-33B9-4212-DD5C-836FC41212EC}"/>
                </a:ext>
              </a:extLst>
            </p:cNvPr>
            <p:cNvSpPr>
              <a:spLocks noChangeArrowheads="1"/>
            </p:cNvSpPr>
            <p:nvPr/>
          </p:nvSpPr>
          <p:spPr bwMode="auto">
            <a:xfrm>
              <a:off x="5491163" y="4986338"/>
              <a:ext cx="3128962" cy="1027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spcBef>
                  <a:spcPct val="25000"/>
                </a:spcBef>
                <a:buClrTx/>
                <a:buSzPct val="90000"/>
                <a:buFont typeface="Arial" panose="020B0604020202020204" pitchFamily="34" charset="0"/>
                <a:buChar char="•"/>
              </a:pPr>
              <a:r>
                <a:rPr lang="en-US" altLang="en-US" sz="1000">
                  <a:latin typeface="+mn-lt"/>
                </a:rPr>
                <a:t>Does the production need to be increased to build up inventory levels?</a:t>
              </a:r>
            </a:p>
            <a:p>
              <a:pPr>
                <a:lnSpc>
                  <a:spcPct val="95000"/>
                </a:lnSpc>
                <a:spcBef>
                  <a:spcPct val="25000"/>
                </a:spcBef>
                <a:buClrTx/>
                <a:buSzPct val="90000"/>
                <a:buFont typeface="Arial" panose="020B0604020202020204" pitchFamily="34" charset="0"/>
                <a:buChar char="•"/>
              </a:pPr>
              <a:r>
                <a:rPr lang="en-US" altLang="en-US" sz="1000">
                  <a:latin typeface="+mn-lt"/>
                </a:rPr>
                <a:t>Decrease build plan to draw down inventory levels?</a:t>
              </a:r>
            </a:p>
            <a:p>
              <a:pPr>
                <a:lnSpc>
                  <a:spcPct val="95000"/>
                </a:lnSpc>
                <a:spcBef>
                  <a:spcPct val="25000"/>
                </a:spcBef>
                <a:buClrTx/>
                <a:buSzPct val="90000"/>
                <a:buFont typeface="Arial" panose="020B0604020202020204" pitchFamily="34" charset="0"/>
                <a:buChar char="•"/>
              </a:pPr>
              <a:r>
                <a:rPr lang="en-US" altLang="en-US" sz="1000">
                  <a:latin typeface="+mn-lt"/>
                </a:rPr>
                <a:t>Adjust incoming supplier shipments to fine-tune build plan?</a:t>
              </a:r>
              <a:endParaRPr lang="en-US" altLang="en-US" sz="1000" b="0">
                <a:latin typeface="+mn-lt"/>
              </a:endParaRPr>
            </a:p>
          </p:txBody>
        </p:sp>
        <p:cxnSp>
          <p:nvCxnSpPr>
            <p:cNvPr id="14" name="AutoShape 22">
              <a:extLst>
                <a:ext uri="{FF2B5EF4-FFF2-40B4-BE49-F238E27FC236}">
                  <a16:creationId xmlns:a16="http://schemas.microsoft.com/office/drawing/2014/main" id="{310A1927-1F39-0F9A-8B0D-A3373993E324}"/>
                </a:ext>
              </a:extLst>
            </p:cNvPr>
            <p:cNvCxnSpPr>
              <a:cxnSpLocks noChangeShapeType="1"/>
              <a:stCxn id="6" idx="3"/>
            </p:cNvCxnSpPr>
            <p:nvPr/>
          </p:nvCxnSpPr>
          <p:spPr bwMode="auto">
            <a:xfrm>
              <a:off x="1447800" y="3135313"/>
              <a:ext cx="401638" cy="1587"/>
            </a:xfrm>
            <a:prstGeom prst="straightConnector1">
              <a:avLst/>
            </a:prstGeom>
            <a:noFill/>
            <a:ln w="1905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23">
              <a:extLst>
                <a:ext uri="{FF2B5EF4-FFF2-40B4-BE49-F238E27FC236}">
                  <a16:creationId xmlns:a16="http://schemas.microsoft.com/office/drawing/2014/main" id="{EFB33803-5AB5-DA02-4BBD-C8A51D16B0BC}"/>
                </a:ext>
              </a:extLst>
            </p:cNvPr>
            <p:cNvCxnSpPr>
              <a:cxnSpLocks noChangeShapeType="1"/>
              <a:endCxn id="8" idx="0"/>
            </p:cNvCxnSpPr>
            <p:nvPr/>
          </p:nvCxnSpPr>
          <p:spPr bwMode="auto">
            <a:xfrm rot="5400000">
              <a:off x="4292600" y="3640138"/>
              <a:ext cx="309563" cy="1735137"/>
            </a:xfrm>
            <a:prstGeom prst="bentConnector3">
              <a:avLst>
                <a:gd name="adj1" fmla="val 49745"/>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 name="AutoShape 24">
              <a:extLst>
                <a:ext uri="{FF2B5EF4-FFF2-40B4-BE49-F238E27FC236}">
                  <a16:creationId xmlns:a16="http://schemas.microsoft.com/office/drawing/2014/main" id="{71FEE3DC-825B-CFB7-6E36-F9D9F784D242}"/>
                </a:ext>
              </a:extLst>
            </p:cNvPr>
            <p:cNvCxnSpPr>
              <a:cxnSpLocks noChangeShapeType="1"/>
              <a:endCxn id="9" idx="0"/>
            </p:cNvCxnSpPr>
            <p:nvPr/>
          </p:nvCxnSpPr>
          <p:spPr bwMode="auto">
            <a:xfrm rot="16200000" flipH="1">
              <a:off x="6032500" y="3635375"/>
              <a:ext cx="309563" cy="1744663"/>
            </a:xfrm>
            <a:prstGeom prst="bentConnector3">
              <a:avLst>
                <a:gd name="adj1" fmla="val 49745"/>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7" name="AutoShape 25">
              <a:extLst>
                <a:ext uri="{FF2B5EF4-FFF2-40B4-BE49-F238E27FC236}">
                  <a16:creationId xmlns:a16="http://schemas.microsoft.com/office/drawing/2014/main" id="{FAEAEF76-2EF3-CC0E-085C-60340801E99A}"/>
                </a:ext>
              </a:extLst>
            </p:cNvPr>
            <p:cNvCxnSpPr>
              <a:cxnSpLocks noChangeShapeType="1"/>
              <a:stCxn id="10" idx="3"/>
              <a:endCxn id="9" idx="3"/>
            </p:cNvCxnSpPr>
            <p:nvPr/>
          </p:nvCxnSpPr>
          <p:spPr bwMode="auto">
            <a:xfrm flipH="1">
              <a:off x="8542338" y="3435350"/>
              <a:ext cx="44450" cy="1384300"/>
            </a:xfrm>
            <a:prstGeom prst="bentConnector3">
              <a:avLst>
                <a:gd name="adj1" fmla="val -514287"/>
              </a:avLst>
            </a:prstGeom>
            <a:noFill/>
            <a:ln w="12700">
              <a:solidFill>
                <a:schemeClr val="tx1"/>
              </a:solidFill>
              <a:prstDash val="sysDot"/>
              <a:miter lim="800000"/>
              <a:headEnd type="triangle" w="med" len="med"/>
              <a:tailEnd type="triangle" w="med" len="med"/>
            </a:ln>
            <a:extLst>
              <a:ext uri="{909E8E84-426E-40DD-AFC4-6F175D3DCCD1}">
                <a14:hiddenFill xmlns:a14="http://schemas.microsoft.com/office/drawing/2010/main">
                  <a:noFill/>
                </a14:hiddenFill>
              </a:ext>
            </a:extLst>
          </p:spPr>
        </p:cxnSp>
      </p:grpSp>
      <p:grpSp>
        <p:nvGrpSpPr>
          <p:cNvPr id="19" name="Group 51">
            <a:extLst>
              <a:ext uri="{FF2B5EF4-FFF2-40B4-BE49-F238E27FC236}">
                <a16:creationId xmlns:a16="http://schemas.microsoft.com/office/drawing/2014/main" id="{8B05A0A3-86CB-B066-FC83-525446464DD7}"/>
              </a:ext>
            </a:extLst>
          </p:cNvPr>
          <p:cNvGrpSpPr>
            <a:grpSpLocks/>
          </p:cNvGrpSpPr>
          <p:nvPr/>
        </p:nvGrpSpPr>
        <p:grpSpPr bwMode="auto">
          <a:xfrm>
            <a:off x="8420088" y="5628516"/>
            <a:ext cx="2933712" cy="650333"/>
            <a:chOff x="676" y="3874"/>
            <a:chExt cx="1500" cy="392"/>
          </a:xfrm>
        </p:grpSpPr>
        <p:sp>
          <p:nvSpPr>
            <p:cNvPr id="20" name="Line 35">
              <a:extLst>
                <a:ext uri="{FF2B5EF4-FFF2-40B4-BE49-F238E27FC236}">
                  <a16:creationId xmlns:a16="http://schemas.microsoft.com/office/drawing/2014/main" id="{99BB6988-0F47-41A1-81A3-3E845684FE97}"/>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36">
              <a:extLst>
                <a:ext uri="{FF2B5EF4-FFF2-40B4-BE49-F238E27FC236}">
                  <a16:creationId xmlns:a16="http://schemas.microsoft.com/office/drawing/2014/main" id="{798EE173-C2F3-4779-2750-2F97DCA69ADF}"/>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37">
              <a:extLst>
                <a:ext uri="{FF2B5EF4-FFF2-40B4-BE49-F238E27FC236}">
                  <a16:creationId xmlns:a16="http://schemas.microsoft.com/office/drawing/2014/main" id="{2232D774-7CB5-0B94-99CC-BCA01F7C64EA}"/>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Rectangle 38">
              <a:extLst>
                <a:ext uri="{FF2B5EF4-FFF2-40B4-BE49-F238E27FC236}">
                  <a16:creationId xmlns:a16="http://schemas.microsoft.com/office/drawing/2014/main" id="{542B6B2F-D3B5-861E-0647-D73226A54079}"/>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24" name="Rectangle 39">
              <a:extLst>
                <a:ext uri="{FF2B5EF4-FFF2-40B4-BE49-F238E27FC236}">
                  <a16:creationId xmlns:a16="http://schemas.microsoft.com/office/drawing/2014/main" id="{1F2FEAE7-51B5-873A-A969-538BB32A5306}"/>
                </a:ext>
              </a:extLst>
            </p:cNvPr>
            <p:cNvSpPr>
              <a:spLocks noChangeArrowheads="1"/>
            </p:cNvSpPr>
            <p:nvPr/>
          </p:nvSpPr>
          <p:spPr bwMode="auto">
            <a:xfrm>
              <a:off x="1248"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a:solidFill>
                    <a:schemeClr val="bg1"/>
                  </a:solidFill>
                </a:rPr>
                <a:t>On-Hand</a:t>
              </a:r>
            </a:p>
            <a:p>
              <a:pPr algn="ctr">
                <a:lnSpc>
                  <a:spcPct val="80000"/>
                </a:lnSpc>
                <a:buClrTx/>
                <a:buSzTx/>
                <a:buNone/>
              </a:pPr>
              <a:r>
                <a:rPr lang="en-US" altLang="en-US" sz="200">
                  <a:solidFill>
                    <a:schemeClr val="bg1"/>
                  </a:solidFill>
                </a:rPr>
                <a:t>Inventory</a:t>
              </a:r>
            </a:p>
            <a:p>
              <a:pPr algn="ctr">
                <a:lnSpc>
                  <a:spcPct val="80000"/>
                </a:lnSpc>
                <a:buClrTx/>
                <a:buSzTx/>
                <a:buNone/>
              </a:pPr>
              <a:r>
                <a:rPr lang="en-US" altLang="en-US" sz="200">
                  <a:solidFill>
                    <a:schemeClr val="bg1"/>
                  </a:solidFill>
                </a:rPr>
                <a:t>Analysis</a:t>
              </a:r>
            </a:p>
          </p:txBody>
        </p:sp>
        <p:sp>
          <p:nvSpPr>
            <p:cNvPr id="25" name="Rectangle 40">
              <a:extLst>
                <a:ext uri="{FF2B5EF4-FFF2-40B4-BE49-F238E27FC236}">
                  <a16:creationId xmlns:a16="http://schemas.microsoft.com/office/drawing/2014/main" id="{4EA33321-9FB5-FAB9-6317-F3F916D6C006}"/>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Rough-Cut</a:t>
              </a:r>
            </a:p>
            <a:p>
              <a:pPr algn="ctr">
                <a:lnSpc>
                  <a:spcPct val="80000"/>
                </a:lnSpc>
                <a:buClrTx/>
                <a:buSzTx/>
                <a:buNone/>
              </a:pPr>
              <a:r>
                <a:rPr lang="en-US" altLang="en-US" sz="200" dirty="0">
                  <a:solidFill>
                    <a:srgbClr val="000066"/>
                  </a:solidFill>
                </a:rPr>
                <a:t>Capacity</a:t>
              </a:r>
            </a:p>
            <a:p>
              <a:pPr algn="ctr">
                <a:lnSpc>
                  <a:spcPct val="80000"/>
                </a:lnSpc>
                <a:buClrTx/>
                <a:buSzTx/>
                <a:buNone/>
              </a:pPr>
              <a:r>
                <a:rPr lang="en-US" altLang="en-US" sz="200" dirty="0">
                  <a:solidFill>
                    <a:srgbClr val="000066"/>
                  </a:solidFill>
                </a:rPr>
                <a:t>Analysis</a:t>
              </a:r>
            </a:p>
          </p:txBody>
        </p:sp>
        <p:sp>
          <p:nvSpPr>
            <p:cNvPr id="26" name="Rectangle 41">
              <a:extLst>
                <a:ext uri="{FF2B5EF4-FFF2-40B4-BE49-F238E27FC236}">
                  <a16:creationId xmlns:a16="http://schemas.microsoft.com/office/drawing/2014/main" id="{B6B6165A-F016-7DC4-4EB6-DE03187C1E51}"/>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27" name="AutoShape 42">
              <a:extLst>
                <a:ext uri="{FF2B5EF4-FFF2-40B4-BE49-F238E27FC236}">
                  <a16:creationId xmlns:a16="http://schemas.microsoft.com/office/drawing/2014/main" id="{07AE153D-83DD-6F60-1FB5-138DC489CCB4}"/>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42" name="Rectangle 43">
              <a:extLst>
                <a:ext uri="{FF2B5EF4-FFF2-40B4-BE49-F238E27FC236}">
                  <a16:creationId xmlns:a16="http://schemas.microsoft.com/office/drawing/2014/main" id="{AA8E2A92-0EDE-E737-A0F7-E63F4AB1CC02}"/>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43" name="Rectangle 44">
              <a:extLst>
                <a:ext uri="{FF2B5EF4-FFF2-40B4-BE49-F238E27FC236}">
                  <a16:creationId xmlns:a16="http://schemas.microsoft.com/office/drawing/2014/main" id="{69ADF748-41ED-6D1D-605A-9423566F0F4F}"/>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Critical </a:t>
              </a:r>
            </a:p>
            <a:p>
              <a:pPr algn="ctr">
                <a:lnSpc>
                  <a:spcPct val="80000"/>
                </a:lnSpc>
                <a:buClrTx/>
                <a:buSzTx/>
                <a:buNone/>
              </a:pPr>
              <a:r>
                <a:rPr lang="en-US" altLang="en-US" sz="200" dirty="0">
                  <a:solidFill>
                    <a:srgbClr val="000066"/>
                  </a:solidFill>
                </a:rPr>
                <a:t>Resource</a:t>
              </a:r>
            </a:p>
            <a:p>
              <a:pPr algn="ctr">
                <a:lnSpc>
                  <a:spcPct val="80000"/>
                </a:lnSpc>
                <a:buClrTx/>
                <a:buSzTx/>
                <a:buNone/>
              </a:pPr>
              <a:r>
                <a:rPr lang="en-US" altLang="en-US" sz="200" dirty="0">
                  <a:solidFill>
                    <a:srgbClr val="000066"/>
                  </a:solidFill>
                </a:rPr>
                <a:t>Evaluation</a:t>
              </a:r>
            </a:p>
          </p:txBody>
        </p:sp>
        <p:sp>
          <p:nvSpPr>
            <p:cNvPr id="44" name="Rectangle 45">
              <a:extLst>
                <a:ext uri="{FF2B5EF4-FFF2-40B4-BE49-F238E27FC236}">
                  <a16:creationId xmlns:a16="http://schemas.microsoft.com/office/drawing/2014/main" id="{B1AD424B-3884-CB15-99FB-1758AB64EBA4}"/>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45" name="Rectangle 46">
              <a:extLst>
                <a:ext uri="{FF2B5EF4-FFF2-40B4-BE49-F238E27FC236}">
                  <a16:creationId xmlns:a16="http://schemas.microsoft.com/office/drawing/2014/main" id="{0C5AC3A0-0F3F-2874-DD5C-C8483441ED28}"/>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46" name="Rectangle 47">
              <a:extLst>
                <a:ext uri="{FF2B5EF4-FFF2-40B4-BE49-F238E27FC236}">
                  <a16:creationId xmlns:a16="http://schemas.microsoft.com/office/drawing/2014/main" id="{90866551-BA17-BE10-1600-107A5995C1B9}"/>
                </a:ext>
              </a:extLst>
            </p:cNvPr>
            <p:cNvSpPr>
              <a:spLocks noChangeArrowheads="1"/>
            </p:cNvSpPr>
            <p:nvPr/>
          </p:nvSpPr>
          <p:spPr bwMode="auto">
            <a:xfrm>
              <a:off x="1349" y="4216"/>
              <a:ext cx="481" cy="5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Required Inventory Position</a:t>
              </a:r>
            </a:p>
          </p:txBody>
        </p:sp>
      </p:grpSp>
    </p:spTree>
    <p:extLst>
      <p:ext uri="{BB962C8B-B14F-4D97-AF65-F5344CB8AC3E}">
        <p14:creationId xmlns:p14="http://schemas.microsoft.com/office/powerpoint/2010/main" val="3265447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On-Hand Inventory Analysis:  </a:t>
            </a:r>
            <a:br>
              <a:rPr lang="en-US" dirty="0"/>
            </a:br>
            <a:r>
              <a:rPr lang="en-US" dirty="0"/>
              <a:t>Continuous Requirements Analysis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As an integral part of the on-hand inventory analysis, team members should continuously evaluate service and min-max requirements to promote continuous improvement and tighter linkages between supply and demand.</a:t>
            </a:r>
          </a:p>
        </p:txBody>
      </p:sp>
      <p:grpSp>
        <p:nvGrpSpPr>
          <p:cNvPr id="59" name="Group 58">
            <a:extLst>
              <a:ext uri="{FF2B5EF4-FFF2-40B4-BE49-F238E27FC236}">
                <a16:creationId xmlns:a16="http://schemas.microsoft.com/office/drawing/2014/main" id="{9646FAFA-2F1B-730B-E66E-D2B43D40B805}"/>
              </a:ext>
            </a:extLst>
          </p:cNvPr>
          <p:cNvGrpSpPr/>
          <p:nvPr/>
        </p:nvGrpSpPr>
        <p:grpSpPr>
          <a:xfrm>
            <a:off x="389702" y="2213718"/>
            <a:ext cx="8439150" cy="3449637"/>
            <a:chOff x="457200" y="2513013"/>
            <a:chExt cx="8439150" cy="3449637"/>
          </a:xfrm>
        </p:grpSpPr>
        <p:sp>
          <p:nvSpPr>
            <p:cNvPr id="19" name="Rectangle 10">
              <a:extLst>
                <a:ext uri="{FF2B5EF4-FFF2-40B4-BE49-F238E27FC236}">
                  <a16:creationId xmlns:a16="http://schemas.microsoft.com/office/drawing/2014/main" id="{DDEE7206-2FF8-FE9F-81AC-45CD6A369891}"/>
                </a:ext>
              </a:extLst>
            </p:cNvPr>
            <p:cNvSpPr>
              <a:spLocks noChangeArrowheads="1"/>
            </p:cNvSpPr>
            <p:nvPr/>
          </p:nvSpPr>
          <p:spPr bwMode="auto">
            <a:xfrm>
              <a:off x="468313" y="2522538"/>
              <a:ext cx="2095500" cy="1438275"/>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0" name="Rectangle 7">
              <a:extLst>
                <a:ext uri="{FF2B5EF4-FFF2-40B4-BE49-F238E27FC236}">
                  <a16:creationId xmlns:a16="http://schemas.microsoft.com/office/drawing/2014/main" id="{C4390B3D-C1F4-6782-A80F-592E127DA995}"/>
                </a:ext>
              </a:extLst>
            </p:cNvPr>
            <p:cNvSpPr>
              <a:spLocks noChangeArrowheads="1"/>
            </p:cNvSpPr>
            <p:nvPr/>
          </p:nvSpPr>
          <p:spPr bwMode="auto">
            <a:xfrm>
              <a:off x="2754313" y="2522538"/>
              <a:ext cx="4727575" cy="1427162"/>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aphicFrame>
          <p:nvGraphicFramePr>
            <p:cNvPr id="21" name="Object 6">
              <a:extLst>
                <a:ext uri="{FF2B5EF4-FFF2-40B4-BE49-F238E27FC236}">
                  <a16:creationId xmlns:a16="http://schemas.microsoft.com/office/drawing/2014/main" id="{88F68034-7B33-1F6B-9828-F42C0FD13152}"/>
                </a:ext>
              </a:extLst>
            </p:cNvPr>
            <p:cNvGraphicFramePr>
              <a:graphicFrameLocks noChangeAspect="1"/>
            </p:cNvGraphicFramePr>
            <p:nvPr>
              <p:extLst>
                <p:ext uri="{D42A27DB-BD31-4B8C-83A1-F6EECF244321}">
                  <p14:modId xmlns:p14="http://schemas.microsoft.com/office/powerpoint/2010/main" val="1966258195"/>
                </p:ext>
              </p:extLst>
            </p:nvPr>
          </p:nvGraphicFramePr>
          <p:xfrm>
            <a:off x="2844036" y="2588470"/>
            <a:ext cx="4338637" cy="1327150"/>
          </p:xfrm>
          <a:graphic>
            <a:graphicData uri="http://schemas.openxmlformats.org/presentationml/2006/ole">
              <mc:AlternateContent xmlns:mc="http://schemas.openxmlformats.org/markup-compatibility/2006">
                <mc:Choice xmlns:v="urn:schemas-microsoft-com:vml" Requires="v">
                  <p:oleObj name="Worksheet" r:id="rId3" imgW="7210287" imgH="2209907" progId="Excel.Sheet.8">
                    <p:embed/>
                  </p:oleObj>
                </mc:Choice>
                <mc:Fallback>
                  <p:oleObj name="Worksheet" r:id="rId3" imgW="7210287" imgH="2209907" progId="Excel.Sheet.8">
                    <p:embed/>
                    <p:pic>
                      <p:nvPicPr>
                        <p:cNvPr id="29703" name="Object 6">
                          <a:extLst>
                            <a:ext uri="{FF2B5EF4-FFF2-40B4-BE49-F238E27FC236}">
                              <a16:creationId xmlns:a16="http://schemas.microsoft.com/office/drawing/2014/main" id="{DC81A287-D281-464C-B686-ABEA46A8E402}"/>
                            </a:ext>
                          </a:extLst>
                        </p:cNvPr>
                        <p:cNvPicPr>
                          <a:picLocks noChangeAspect="1" noChangeArrowheads="1"/>
                        </p:cNvPicPr>
                        <p:nvPr/>
                      </p:nvPicPr>
                      <p:blipFill>
                        <a:blip r:embed="rId4"/>
                        <a:srcRect/>
                        <a:stretch>
                          <a:fillRect/>
                        </a:stretch>
                      </p:blipFill>
                      <p:spPr bwMode="auto">
                        <a:xfrm>
                          <a:off x="2844036" y="2588470"/>
                          <a:ext cx="4338637" cy="132715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2" name="Rectangle 8">
              <a:extLst>
                <a:ext uri="{FF2B5EF4-FFF2-40B4-BE49-F238E27FC236}">
                  <a16:creationId xmlns:a16="http://schemas.microsoft.com/office/drawing/2014/main" id="{DD744180-FFF3-EE3A-8ABE-D2B450AB71DE}"/>
                </a:ext>
              </a:extLst>
            </p:cNvPr>
            <p:cNvSpPr>
              <a:spLocks noChangeArrowheads="1"/>
            </p:cNvSpPr>
            <p:nvPr/>
          </p:nvSpPr>
          <p:spPr bwMode="auto">
            <a:xfrm>
              <a:off x="579438" y="2622550"/>
              <a:ext cx="1884362" cy="234950"/>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Service Requirements</a:t>
              </a:r>
            </a:p>
          </p:txBody>
        </p:sp>
        <p:sp>
          <p:nvSpPr>
            <p:cNvPr id="23" name="Rectangle 9">
              <a:extLst>
                <a:ext uri="{FF2B5EF4-FFF2-40B4-BE49-F238E27FC236}">
                  <a16:creationId xmlns:a16="http://schemas.microsoft.com/office/drawing/2014/main" id="{0CC267DC-47B4-F511-2B0A-9B0BB07FCB93}"/>
                </a:ext>
              </a:extLst>
            </p:cNvPr>
            <p:cNvSpPr>
              <a:spLocks noChangeArrowheads="1"/>
            </p:cNvSpPr>
            <p:nvPr/>
          </p:nvSpPr>
          <p:spPr bwMode="auto">
            <a:xfrm>
              <a:off x="501650" y="2906713"/>
              <a:ext cx="199072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dirty="0">
                  <a:latin typeface="+mn-lt"/>
                </a:rPr>
                <a:t>OSCOT</a:t>
              </a:r>
            </a:p>
            <a:p>
              <a:pPr>
                <a:spcBef>
                  <a:spcPct val="30000"/>
                </a:spcBef>
                <a:buClrTx/>
                <a:buSzPct val="90000"/>
                <a:buFont typeface="Arial" panose="020B0604020202020204" pitchFamily="34" charset="0"/>
                <a:buChar char="•"/>
              </a:pPr>
              <a:r>
                <a:rPr lang="en-US" altLang="en-US" sz="1000" dirty="0">
                  <a:latin typeface="+mn-lt"/>
                </a:rPr>
                <a:t>Max Stock out Levels</a:t>
              </a:r>
            </a:p>
            <a:p>
              <a:pPr>
                <a:spcBef>
                  <a:spcPct val="30000"/>
                </a:spcBef>
                <a:buClrTx/>
                <a:buSzPct val="90000"/>
                <a:buFont typeface="Arial" panose="020B0604020202020204" pitchFamily="34" charset="0"/>
                <a:buChar char="•"/>
              </a:pPr>
              <a:r>
                <a:rPr lang="en-US" altLang="en-US" sz="1000" dirty="0">
                  <a:latin typeface="+mn-lt"/>
                </a:rPr>
                <a:t>Contractual Guarantees</a:t>
              </a:r>
            </a:p>
            <a:p>
              <a:pPr>
                <a:spcBef>
                  <a:spcPct val="30000"/>
                </a:spcBef>
                <a:buClrTx/>
                <a:buSzPct val="90000"/>
                <a:buFont typeface="Arial" panose="020B0604020202020204" pitchFamily="34" charset="0"/>
                <a:buChar char="•"/>
              </a:pPr>
              <a:r>
                <a:rPr lang="en-US" altLang="en-US" sz="1000" dirty="0">
                  <a:latin typeface="+mn-lt"/>
                </a:rPr>
                <a:t>DC-Level Deployments</a:t>
              </a:r>
            </a:p>
            <a:p>
              <a:pPr>
                <a:spcBef>
                  <a:spcPct val="30000"/>
                </a:spcBef>
                <a:buClrTx/>
                <a:buSzPct val="90000"/>
                <a:buFont typeface="Arial" panose="020B0604020202020204" pitchFamily="34" charset="0"/>
                <a:buChar char="•"/>
              </a:pPr>
              <a:r>
                <a:rPr lang="en-US" altLang="en-US" sz="1000" dirty="0">
                  <a:latin typeface="+mn-lt"/>
                </a:rPr>
                <a:t>Production Lead Times</a:t>
              </a:r>
              <a:endParaRPr lang="en-US" altLang="en-US" sz="1000" b="0" dirty="0">
                <a:latin typeface="+mn-lt"/>
              </a:endParaRPr>
            </a:p>
          </p:txBody>
        </p:sp>
        <p:cxnSp>
          <p:nvCxnSpPr>
            <p:cNvPr id="24" name="AutoShape 11">
              <a:extLst>
                <a:ext uri="{FF2B5EF4-FFF2-40B4-BE49-F238E27FC236}">
                  <a16:creationId xmlns:a16="http://schemas.microsoft.com/office/drawing/2014/main" id="{C1072D16-2EA2-8FCD-A007-544629862E28}"/>
                </a:ext>
              </a:extLst>
            </p:cNvPr>
            <p:cNvCxnSpPr>
              <a:cxnSpLocks noChangeShapeType="1"/>
              <a:stCxn id="19" idx="0"/>
              <a:endCxn id="20" idx="0"/>
            </p:cNvCxnSpPr>
            <p:nvPr/>
          </p:nvCxnSpPr>
          <p:spPr bwMode="auto">
            <a:xfrm rot="5400000" flipV="1">
              <a:off x="3316288" y="712788"/>
              <a:ext cx="1587" cy="3602037"/>
            </a:xfrm>
            <a:prstGeom prst="bentConnector3">
              <a:avLst>
                <a:gd name="adj1" fmla="val -1380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5" name="Rectangle 12">
              <a:extLst>
                <a:ext uri="{FF2B5EF4-FFF2-40B4-BE49-F238E27FC236}">
                  <a16:creationId xmlns:a16="http://schemas.microsoft.com/office/drawing/2014/main" id="{D8DA598F-0E63-FB0B-F406-7F47261C176D}"/>
                </a:ext>
              </a:extLst>
            </p:cNvPr>
            <p:cNvSpPr>
              <a:spLocks noChangeArrowheads="1"/>
            </p:cNvSpPr>
            <p:nvPr/>
          </p:nvSpPr>
          <p:spPr bwMode="auto">
            <a:xfrm>
              <a:off x="7726363" y="2668588"/>
              <a:ext cx="1169987" cy="4968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Min-Max</a:t>
              </a:r>
              <a:r>
                <a:rPr lang="ja-JP" altLang="en-US" sz="1100">
                  <a:solidFill>
                    <a:schemeClr val="bg1"/>
                  </a:solidFill>
                  <a:latin typeface="+mn-lt"/>
                </a:rPr>
                <a:t>’</a:t>
              </a:r>
              <a:r>
                <a:rPr lang="en-US" altLang="ja-JP" sz="1100">
                  <a:solidFill>
                    <a:schemeClr val="bg1"/>
                  </a:solidFill>
                  <a:latin typeface="+mn-lt"/>
                </a:rPr>
                <a:t>s</a:t>
              </a:r>
            </a:p>
            <a:p>
              <a:pPr algn="ctr">
                <a:lnSpc>
                  <a:spcPct val="80000"/>
                </a:lnSpc>
                <a:buClrTx/>
                <a:buSzTx/>
                <a:buFontTx/>
                <a:buNone/>
              </a:pPr>
              <a:r>
                <a:rPr lang="en-US" altLang="en-US" sz="1100">
                  <a:solidFill>
                    <a:schemeClr val="bg1"/>
                  </a:solidFill>
                  <a:latin typeface="+mn-lt"/>
                </a:rPr>
                <a:t>Correct?</a:t>
              </a:r>
            </a:p>
          </p:txBody>
        </p:sp>
        <p:sp>
          <p:nvSpPr>
            <p:cNvPr id="26" name="Rectangle 13">
              <a:extLst>
                <a:ext uri="{FF2B5EF4-FFF2-40B4-BE49-F238E27FC236}">
                  <a16:creationId xmlns:a16="http://schemas.microsoft.com/office/drawing/2014/main" id="{C559C6A2-5520-C005-700E-8706E625579C}"/>
                </a:ext>
              </a:extLst>
            </p:cNvPr>
            <p:cNvSpPr>
              <a:spLocks noChangeArrowheads="1"/>
            </p:cNvSpPr>
            <p:nvPr/>
          </p:nvSpPr>
          <p:spPr bwMode="auto">
            <a:xfrm>
              <a:off x="7726363" y="3311525"/>
              <a:ext cx="1169987" cy="49688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Service Levels</a:t>
              </a:r>
            </a:p>
            <a:p>
              <a:pPr algn="ctr">
                <a:lnSpc>
                  <a:spcPct val="80000"/>
                </a:lnSpc>
                <a:buClrTx/>
                <a:buSzTx/>
                <a:buFontTx/>
                <a:buNone/>
              </a:pPr>
              <a:r>
                <a:rPr lang="en-US" altLang="en-US" sz="1100">
                  <a:solidFill>
                    <a:schemeClr val="bg1"/>
                  </a:solidFill>
                  <a:latin typeface="+mn-lt"/>
                </a:rPr>
                <a:t>Accurate?</a:t>
              </a:r>
            </a:p>
          </p:txBody>
        </p:sp>
        <p:cxnSp>
          <p:nvCxnSpPr>
            <p:cNvPr id="27" name="AutoShape 14">
              <a:extLst>
                <a:ext uri="{FF2B5EF4-FFF2-40B4-BE49-F238E27FC236}">
                  <a16:creationId xmlns:a16="http://schemas.microsoft.com/office/drawing/2014/main" id="{28EBCFA2-0571-D74F-037A-AE93DF46B118}"/>
                </a:ext>
              </a:extLst>
            </p:cNvPr>
            <p:cNvCxnSpPr>
              <a:cxnSpLocks noChangeShapeType="1"/>
              <a:stCxn id="20" idx="3"/>
              <a:endCxn id="25" idx="1"/>
            </p:cNvCxnSpPr>
            <p:nvPr/>
          </p:nvCxnSpPr>
          <p:spPr bwMode="auto">
            <a:xfrm flipV="1">
              <a:off x="7491413" y="2917825"/>
              <a:ext cx="234950" cy="319088"/>
            </a:xfrm>
            <a:prstGeom prst="bentConnector3">
              <a:avLst>
                <a:gd name="adj1" fmla="val 4797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2" name="AutoShape 15">
              <a:extLst>
                <a:ext uri="{FF2B5EF4-FFF2-40B4-BE49-F238E27FC236}">
                  <a16:creationId xmlns:a16="http://schemas.microsoft.com/office/drawing/2014/main" id="{0CE2A374-AC11-4109-96B0-6C2237A13FAA}"/>
                </a:ext>
              </a:extLst>
            </p:cNvPr>
            <p:cNvCxnSpPr>
              <a:cxnSpLocks noChangeShapeType="1"/>
              <a:stCxn id="20" idx="3"/>
              <a:endCxn id="26" idx="1"/>
            </p:cNvCxnSpPr>
            <p:nvPr/>
          </p:nvCxnSpPr>
          <p:spPr bwMode="auto">
            <a:xfrm>
              <a:off x="7491413" y="3236913"/>
              <a:ext cx="234950" cy="323850"/>
            </a:xfrm>
            <a:prstGeom prst="bentConnector3">
              <a:avLst>
                <a:gd name="adj1" fmla="val 4797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Rectangle 16">
              <a:extLst>
                <a:ext uri="{FF2B5EF4-FFF2-40B4-BE49-F238E27FC236}">
                  <a16:creationId xmlns:a16="http://schemas.microsoft.com/office/drawing/2014/main" id="{3D936A66-7AFF-E3EB-59DB-AC8B72F2B8F2}"/>
                </a:ext>
              </a:extLst>
            </p:cNvPr>
            <p:cNvSpPr>
              <a:spLocks noChangeArrowheads="1"/>
            </p:cNvSpPr>
            <p:nvPr/>
          </p:nvSpPr>
          <p:spPr bwMode="auto">
            <a:xfrm>
              <a:off x="457200" y="4249738"/>
              <a:ext cx="7035800" cy="1712912"/>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latin typeface="+mn-lt"/>
              </a:endParaRPr>
            </a:p>
          </p:txBody>
        </p:sp>
        <p:sp>
          <p:nvSpPr>
            <p:cNvPr id="44" name="Rectangle 17">
              <a:extLst>
                <a:ext uri="{FF2B5EF4-FFF2-40B4-BE49-F238E27FC236}">
                  <a16:creationId xmlns:a16="http://schemas.microsoft.com/office/drawing/2014/main" id="{265DB5BE-6CB3-481F-3962-6CF2C47826B2}"/>
                </a:ext>
              </a:extLst>
            </p:cNvPr>
            <p:cNvSpPr>
              <a:spLocks noChangeArrowheads="1"/>
            </p:cNvSpPr>
            <p:nvPr/>
          </p:nvSpPr>
          <p:spPr bwMode="auto">
            <a:xfrm>
              <a:off x="579438" y="4402138"/>
              <a:ext cx="1139825" cy="590550"/>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latin typeface="+mn-lt"/>
                </a:rPr>
                <a:t>Min-Max</a:t>
              </a:r>
            </a:p>
            <a:p>
              <a:pPr algn="ctr">
                <a:lnSpc>
                  <a:spcPct val="80000"/>
                </a:lnSpc>
                <a:buClrTx/>
                <a:buSzTx/>
                <a:buFontTx/>
                <a:buNone/>
              </a:pPr>
              <a:r>
                <a:rPr lang="en-US" altLang="en-US" sz="1000" dirty="0">
                  <a:latin typeface="+mn-lt"/>
                </a:rPr>
                <a:t>Adjustments</a:t>
              </a:r>
            </a:p>
          </p:txBody>
        </p:sp>
        <p:sp>
          <p:nvSpPr>
            <p:cNvPr id="45" name="Rectangle 18">
              <a:extLst>
                <a:ext uri="{FF2B5EF4-FFF2-40B4-BE49-F238E27FC236}">
                  <a16:creationId xmlns:a16="http://schemas.microsoft.com/office/drawing/2014/main" id="{78F90100-40A3-7865-52C8-21E0F3E7C806}"/>
                </a:ext>
              </a:extLst>
            </p:cNvPr>
            <p:cNvSpPr>
              <a:spLocks noChangeArrowheads="1"/>
            </p:cNvSpPr>
            <p:nvPr/>
          </p:nvSpPr>
          <p:spPr bwMode="auto">
            <a:xfrm>
              <a:off x="1993900" y="4402138"/>
              <a:ext cx="1138238" cy="590550"/>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latin typeface="+mn-lt"/>
                </a:rPr>
                <a:t>Service Level</a:t>
              </a:r>
            </a:p>
            <a:p>
              <a:pPr algn="ctr">
                <a:lnSpc>
                  <a:spcPct val="80000"/>
                </a:lnSpc>
                <a:buClrTx/>
                <a:buSzTx/>
                <a:buFontTx/>
                <a:buNone/>
              </a:pPr>
              <a:r>
                <a:rPr lang="en-US" altLang="en-US" sz="1000" dirty="0">
                  <a:latin typeface="+mn-lt"/>
                </a:rPr>
                <a:t>Adjustments</a:t>
              </a:r>
            </a:p>
          </p:txBody>
        </p:sp>
        <p:sp>
          <p:nvSpPr>
            <p:cNvPr id="46" name="Rectangle 19">
              <a:extLst>
                <a:ext uri="{FF2B5EF4-FFF2-40B4-BE49-F238E27FC236}">
                  <a16:creationId xmlns:a16="http://schemas.microsoft.com/office/drawing/2014/main" id="{36783FFB-C982-4EEB-23C3-E0A4DD6D0F2B}"/>
                </a:ext>
              </a:extLst>
            </p:cNvPr>
            <p:cNvSpPr>
              <a:spLocks noChangeArrowheads="1"/>
            </p:cNvSpPr>
            <p:nvPr/>
          </p:nvSpPr>
          <p:spPr bwMode="auto">
            <a:xfrm>
              <a:off x="3411538" y="4402138"/>
              <a:ext cx="1138237" cy="590550"/>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Supplier</a:t>
              </a:r>
            </a:p>
            <a:p>
              <a:pPr algn="ctr">
                <a:lnSpc>
                  <a:spcPct val="80000"/>
                </a:lnSpc>
                <a:buClrTx/>
                <a:buSzTx/>
                <a:buFontTx/>
                <a:buNone/>
              </a:pPr>
              <a:r>
                <a:rPr lang="en-US" altLang="en-US" sz="1000">
                  <a:latin typeface="+mn-lt"/>
                </a:rPr>
                <a:t>Problem ID</a:t>
              </a:r>
            </a:p>
          </p:txBody>
        </p:sp>
        <p:sp>
          <p:nvSpPr>
            <p:cNvPr id="47" name="Rectangle 20">
              <a:extLst>
                <a:ext uri="{FF2B5EF4-FFF2-40B4-BE49-F238E27FC236}">
                  <a16:creationId xmlns:a16="http://schemas.microsoft.com/office/drawing/2014/main" id="{5085C2C8-71A7-0EE0-4896-E317B31DB5A5}"/>
                </a:ext>
              </a:extLst>
            </p:cNvPr>
            <p:cNvSpPr>
              <a:spLocks noChangeArrowheads="1"/>
            </p:cNvSpPr>
            <p:nvPr/>
          </p:nvSpPr>
          <p:spPr bwMode="auto">
            <a:xfrm>
              <a:off x="4830763" y="4402138"/>
              <a:ext cx="1138237" cy="590550"/>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Supplier</a:t>
              </a:r>
            </a:p>
            <a:p>
              <a:pPr algn="ctr">
                <a:lnSpc>
                  <a:spcPct val="80000"/>
                </a:lnSpc>
                <a:buClrTx/>
                <a:buSzTx/>
                <a:buFontTx/>
                <a:buNone/>
              </a:pPr>
              <a:r>
                <a:rPr lang="en-US" altLang="en-US" sz="1000">
                  <a:latin typeface="+mn-lt"/>
                </a:rPr>
                <a:t>Course</a:t>
              </a:r>
            </a:p>
            <a:p>
              <a:pPr algn="ctr">
                <a:lnSpc>
                  <a:spcPct val="80000"/>
                </a:lnSpc>
                <a:buClrTx/>
                <a:buSzTx/>
                <a:buFontTx/>
                <a:buNone/>
              </a:pPr>
              <a:r>
                <a:rPr lang="en-US" altLang="en-US" sz="1000">
                  <a:latin typeface="+mn-lt"/>
                </a:rPr>
                <a:t>Corrections</a:t>
              </a:r>
            </a:p>
          </p:txBody>
        </p:sp>
        <p:sp>
          <p:nvSpPr>
            <p:cNvPr id="48" name="Rectangle 21">
              <a:extLst>
                <a:ext uri="{FF2B5EF4-FFF2-40B4-BE49-F238E27FC236}">
                  <a16:creationId xmlns:a16="http://schemas.microsoft.com/office/drawing/2014/main" id="{E6192CE2-90E4-53FA-67F9-F5FF3668C83B}"/>
                </a:ext>
              </a:extLst>
            </p:cNvPr>
            <p:cNvSpPr>
              <a:spLocks noChangeArrowheads="1"/>
            </p:cNvSpPr>
            <p:nvPr/>
          </p:nvSpPr>
          <p:spPr bwMode="auto">
            <a:xfrm>
              <a:off x="6242050" y="4402138"/>
              <a:ext cx="1139825" cy="590550"/>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Confirmed</a:t>
              </a:r>
            </a:p>
            <a:p>
              <a:pPr algn="ctr">
                <a:lnSpc>
                  <a:spcPct val="80000"/>
                </a:lnSpc>
                <a:buClrTx/>
                <a:buSzTx/>
                <a:buFontTx/>
                <a:buNone/>
              </a:pPr>
              <a:r>
                <a:rPr lang="en-US" altLang="en-US" sz="1000">
                  <a:solidFill>
                    <a:schemeClr val="bg1"/>
                  </a:solidFill>
                  <a:latin typeface="+mn-lt"/>
                </a:rPr>
                <a:t>Next-Month</a:t>
              </a:r>
            </a:p>
            <a:p>
              <a:pPr algn="ctr">
                <a:lnSpc>
                  <a:spcPct val="80000"/>
                </a:lnSpc>
                <a:buClrTx/>
                <a:buSzTx/>
                <a:buFontTx/>
                <a:buNone/>
              </a:pPr>
              <a:r>
                <a:rPr lang="en-US" altLang="en-US" sz="1000">
                  <a:solidFill>
                    <a:schemeClr val="bg1"/>
                  </a:solidFill>
                  <a:latin typeface="+mn-lt"/>
                </a:rPr>
                <a:t>Impacts</a:t>
              </a:r>
            </a:p>
          </p:txBody>
        </p:sp>
        <p:cxnSp>
          <p:nvCxnSpPr>
            <p:cNvPr id="49" name="AutoShape 23">
              <a:extLst>
                <a:ext uri="{FF2B5EF4-FFF2-40B4-BE49-F238E27FC236}">
                  <a16:creationId xmlns:a16="http://schemas.microsoft.com/office/drawing/2014/main" id="{56DA5F56-BF2F-F79B-6556-46E6D8580D91}"/>
                </a:ext>
              </a:extLst>
            </p:cNvPr>
            <p:cNvCxnSpPr>
              <a:cxnSpLocks noChangeShapeType="1"/>
              <a:stCxn id="44" idx="3"/>
              <a:endCxn id="45" idx="1"/>
            </p:cNvCxnSpPr>
            <p:nvPr/>
          </p:nvCxnSpPr>
          <p:spPr bwMode="auto">
            <a:xfrm>
              <a:off x="1719263" y="4697413"/>
              <a:ext cx="274637"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 name="AutoShape 24">
              <a:extLst>
                <a:ext uri="{FF2B5EF4-FFF2-40B4-BE49-F238E27FC236}">
                  <a16:creationId xmlns:a16="http://schemas.microsoft.com/office/drawing/2014/main" id="{B554B943-825A-292A-8717-D970C0A6F49B}"/>
                </a:ext>
              </a:extLst>
            </p:cNvPr>
            <p:cNvCxnSpPr>
              <a:cxnSpLocks noChangeShapeType="1"/>
              <a:stCxn id="45" idx="3"/>
              <a:endCxn id="46" idx="1"/>
            </p:cNvCxnSpPr>
            <p:nvPr/>
          </p:nvCxnSpPr>
          <p:spPr bwMode="auto">
            <a:xfrm>
              <a:off x="3132138" y="4697413"/>
              <a:ext cx="2794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 name="AutoShape 25">
              <a:extLst>
                <a:ext uri="{FF2B5EF4-FFF2-40B4-BE49-F238E27FC236}">
                  <a16:creationId xmlns:a16="http://schemas.microsoft.com/office/drawing/2014/main" id="{0B89902C-79B0-333B-C395-85F2FE8888F9}"/>
                </a:ext>
              </a:extLst>
            </p:cNvPr>
            <p:cNvCxnSpPr>
              <a:cxnSpLocks noChangeShapeType="1"/>
              <a:stCxn id="46" idx="3"/>
              <a:endCxn id="47" idx="1"/>
            </p:cNvCxnSpPr>
            <p:nvPr/>
          </p:nvCxnSpPr>
          <p:spPr bwMode="auto">
            <a:xfrm>
              <a:off x="4549775" y="4697413"/>
              <a:ext cx="28098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2" name="AutoShape 26">
              <a:extLst>
                <a:ext uri="{FF2B5EF4-FFF2-40B4-BE49-F238E27FC236}">
                  <a16:creationId xmlns:a16="http://schemas.microsoft.com/office/drawing/2014/main" id="{006067F8-56DE-33B3-C10C-7ACA0D15AF59}"/>
                </a:ext>
              </a:extLst>
            </p:cNvPr>
            <p:cNvCxnSpPr>
              <a:cxnSpLocks noChangeShapeType="1"/>
              <a:stCxn id="47" idx="3"/>
              <a:endCxn id="48" idx="1"/>
            </p:cNvCxnSpPr>
            <p:nvPr/>
          </p:nvCxnSpPr>
          <p:spPr bwMode="auto">
            <a:xfrm>
              <a:off x="5969000" y="4697413"/>
              <a:ext cx="27305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3" name="AutoShape 27">
              <a:extLst>
                <a:ext uri="{FF2B5EF4-FFF2-40B4-BE49-F238E27FC236}">
                  <a16:creationId xmlns:a16="http://schemas.microsoft.com/office/drawing/2014/main" id="{E4974727-6D83-34D8-EDD0-1F3B72FF5265}"/>
                </a:ext>
              </a:extLst>
            </p:cNvPr>
            <p:cNvSpPr>
              <a:spLocks/>
            </p:cNvSpPr>
            <p:nvPr/>
          </p:nvSpPr>
          <p:spPr bwMode="auto">
            <a:xfrm rot="5400000">
              <a:off x="1736725" y="3884613"/>
              <a:ext cx="244475" cy="2546350"/>
            </a:xfrm>
            <a:prstGeom prst="rightBrace">
              <a:avLst>
                <a:gd name="adj1" fmla="val 86797"/>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4" name="Rectangle 28">
              <a:extLst>
                <a:ext uri="{FF2B5EF4-FFF2-40B4-BE49-F238E27FC236}">
                  <a16:creationId xmlns:a16="http://schemas.microsoft.com/office/drawing/2014/main" id="{F6A3BEF4-C580-DCE3-F462-6E533151C3AC}"/>
                </a:ext>
              </a:extLst>
            </p:cNvPr>
            <p:cNvSpPr>
              <a:spLocks noChangeArrowheads="1"/>
            </p:cNvSpPr>
            <p:nvPr/>
          </p:nvSpPr>
          <p:spPr bwMode="auto">
            <a:xfrm>
              <a:off x="500063" y="5286375"/>
              <a:ext cx="29162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a:latin typeface="+mn-lt"/>
                </a:rPr>
                <a:t>Continuous review of inventory stocks</a:t>
              </a:r>
            </a:p>
            <a:p>
              <a:pPr>
                <a:spcBef>
                  <a:spcPct val="30000"/>
                </a:spcBef>
                <a:buClrTx/>
                <a:buSzPct val="90000"/>
                <a:buFont typeface="Arial" panose="020B0604020202020204" pitchFamily="34" charset="0"/>
                <a:buChar char="•"/>
              </a:pPr>
              <a:r>
                <a:rPr lang="en-US" altLang="en-US" sz="1000">
                  <a:latin typeface="+mn-lt"/>
                </a:rPr>
                <a:t>Control chart analysis – Are we ready to increase service to the next level?</a:t>
              </a:r>
              <a:endParaRPr lang="en-US" altLang="en-US" sz="1000" b="0">
                <a:latin typeface="+mn-lt"/>
              </a:endParaRPr>
            </a:p>
          </p:txBody>
        </p:sp>
        <p:sp>
          <p:nvSpPr>
            <p:cNvPr id="55" name="AutoShape 29">
              <a:extLst>
                <a:ext uri="{FF2B5EF4-FFF2-40B4-BE49-F238E27FC236}">
                  <a16:creationId xmlns:a16="http://schemas.microsoft.com/office/drawing/2014/main" id="{48DEE01D-E6A4-9453-5020-07D588FB9D32}"/>
                </a:ext>
              </a:extLst>
            </p:cNvPr>
            <p:cNvSpPr>
              <a:spLocks/>
            </p:cNvSpPr>
            <p:nvPr/>
          </p:nvSpPr>
          <p:spPr bwMode="auto">
            <a:xfrm rot="5400000">
              <a:off x="4567237" y="3881438"/>
              <a:ext cx="244475" cy="2546350"/>
            </a:xfrm>
            <a:prstGeom prst="rightBrace">
              <a:avLst>
                <a:gd name="adj1" fmla="val 86797"/>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6" name="Rectangle 30">
              <a:extLst>
                <a:ext uri="{FF2B5EF4-FFF2-40B4-BE49-F238E27FC236}">
                  <a16:creationId xmlns:a16="http://schemas.microsoft.com/office/drawing/2014/main" id="{6C427F73-3591-9824-CCB2-59C3B6F65E44}"/>
                </a:ext>
              </a:extLst>
            </p:cNvPr>
            <p:cNvSpPr>
              <a:spLocks noChangeArrowheads="1"/>
            </p:cNvSpPr>
            <p:nvPr/>
          </p:nvSpPr>
          <p:spPr bwMode="auto">
            <a:xfrm>
              <a:off x="3330575" y="5283200"/>
              <a:ext cx="3338513" cy="427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a:latin typeface="+mn-lt"/>
                </a:rPr>
                <a:t>Are suppliers living up to contractual expectations?</a:t>
              </a:r>
            </a:p>
            <a:p>
              <a:pPr>
                <a:spcBef>
                  <a:spcPct val="30000"/>
                </a:spcBef>
                <a:buClrTx/>
                <a:buSzPct val="90000"/>
                <a:buFont typeface="Arial" panose="020B0604020202020204" pitchFamily="34" charset="0"/>
                <a:buChar char="•"/>
              </a:pPr>
              <a:r>
                <a:rPr lang="en-US" altLang="en-US" sz="1000">
                  <a:latin typeface="+mn-lt"/>
                </a:rPr>
                <a:t>Should suppliers be placed on a watch list?</a:t>
              </a:r>
              <a:endParaRPr lang="en-US" altLang="en-US" sz="1000" b="0">
                <a:latin typeface="+mn-lt"/>
              </a:endParaRPr>
            </a:p>
          </p:txBody>
        </p:sp>
        <p:cxnSp>
          <p:nvCxnSpPr>
            <p:cNvPr id="57" name="AutoShape 31">
              <a:extLst>
                <a:ext uri="{FF2B5EF4-FFF2-40B4-BE49-F238E27FC236}">
                  <a16:creationId xmlns:a16="http://schemas.microsoft.com/office/drawing/2014/main" id="{781B4884-B543-998D-D452-96974980CA34}"/>
                </a:ext>
              </a:extLst>
            </p:cNvPr>
            <p:cNvCxnSpPr>
              <a:cxnSpLocks noChangeShapeType="1"/>
              <a:stCxn id="19" idx="2"/>
              <a:endCxn id="43" idx="0"/>
            </p:cNvCxnSpPr>
            <p:nvPr/>
          </p:nvCxnSpPr>
          <p:spPr bwMode="auto">
            <a:xfrm rot="16200000" flipH="1">
              <a:off x="2610644" y="2875757"/>
              <a:ext cx="269875" cy="2459037"/>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8" name="AutoShape 32">
              <a:extLst>
                <a:ext uri="{FF2B5EF4-FFF2-40B4-BE49-F238E27FC236}">
                  <a16:creationId xmlns:a16="http://schemas.microsoft.com/office/drawing/2014/main" id="{B0144D29-AC78-5B6B-5118-7170D76D348A}"/>
                </a:ext>
              </a:extLst>
            </p:cNvPr>
            <p:cNvCxnSpPr>
              <a:cxnSpLocks noChangeShapeType="1"/>
              <a:stCxn id="20" idx="2"/>
              <a:endCxn id="43" idx="0"/>
            </p:cNvCxnSpPr>
            <p:nvPr/>
          </p:nvCxnSpPr>
          <p:spPr bwMode="auto">
            <a:xfrm rot="5400000">
              <a:off x="4406106" y="3528219"/>
              <a:ext cx="280988" cy="1143000"/>
            </a:xfrm>
            <a:prstGeom prst="bentConnector3">
              <a:avLst>
                <a:gd name="adj1" fmla="val 4971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4" name="Group 51">
            <a:extLst>
              <a:ext uri="{FF2B5EF4-FFF2-40B4-BE49-F238E27FC236}">
                <a16:creationId xmlns:a16="http://schemas.microsoft.com/office/drawing/2014/main" id="{D06D1E44-6597-86AE-3226-0BCB29A6132F}"/>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3910537A-A4E2-B207-7D75-920684744680}"/>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ADFFF24D-9C80-CB0B-E23C-2BC64085EF2C}"/>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B3F0212C-84A5-DCCE-FA6F-E4AD52A4CAFF}"/>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1FDFADB1-57AF-3A07-9DA1-A0DA9220EC6F}"/>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9" name="Rectangle 39">
              <a:extLst>
                <a:ext uri="{FF2B5EF4-FFF2-40B4-BE49-F238E27FC236}">
                  <a16:creationId xmlns:a16="http://schemas.microsoft.com/office/drawing/2014/main" id="{6495F38D-5729-5366-398C-611554E88850}"/>
                </a:ext>
              </a:extLst>
            </p:cNvPr>
            <p:cNvSpPr>
              <a:spLocks noChangeArrowheads="1"/>
            </p:cNvSpPr>
            <p:nvPr/>
          </p:nvSpPr>
          <p:spPr bwMode="auto">
            <a:xfrm>
              <a:off x="1248"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a:solidFill>
                    <a:schemeClr val="bg1"/>
                  </a:solidFill>
                </a:rPr>
                <a:t>On-Hand</a:t>
              </a:r>
            </a:p>
            <a:p>
              <a:pPr algn="ctr">
                <a:lnSpc>
                  <a:spcPct val="80000"/>
                </a:lnSpc>
                <a:buClrTx/>
                <a:buSzTx/>
                <a:buNone/>
              </a:pPr>
              <a:r>
                <a:rPr lang="en-US" altLang="en-US" sz="200">
                  <a:solidFill>
                    <a:schemeClr val="bg1"/>
                  </a:solidFill>
                </a:rPr>
                <a:t>Inventory</a:t>
              </a:r>
            </a:p>
            <a:p>
              <a:pPr algn="ctr">
                <a:lnSpc>
                  <a:spcPct val="80000"/>
                </a:lnSpc>
                <a:buClrTx/>
                <a:buSzTx/>
                <a:buNone/>
              </a:pPr>
              <a:r>
                <a:rPr lang="en-US" altLang="en-US" sz="200">
                  <a:solidFill>
                    <a:schemeClr val="bg1"/>
                  </a:solidFill>
                </a:rPr>
                <a:t>Analysis</a:t>
              </a:r>
            </a:p>
          </p:txBody>
        </p:sp>
        <p:sp>
          <p:nvSpPr>
            <p:cNvPr id="10" name="Rectangle 40">
              <a:extLst>
                <a:ext uri="{FF2B5EF4-FFF2-40B4-BE49-F238E27FC236}">
                  <a16:creationId xmlns:a16="http://schemas.microsoft.com/office/drawing/2014/main" id="{55B9F4D5-EC01-D195-F1A3-566B3AD70354}"/>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Rough-Cut</a:t>
              </a:r>
            </a:p>
            <a:p>
              <a:pPr algn="ctr">
                <a:lnSpc>
                  <a:spcPct val="80000"/>
                </a:lnSpc>
                <a:buClrTx/>
                <a:buSzTx/>
                <a:buNone/>
              </a:pPr>
              <a:r>
                <a:rPr lang="en-US" altLang="en-US" sz="200" dirty="0">
                  <a:solidFill>
                    <a:srgbClr val="000066"/>
                  </a:solidFill>
                </a:rPr>
                <a:t>Capacity</a:t>
              </a:r>
            </a:p>
            <a:p>
              <a:pPr algn="ctr">
                <a:lnSpc>
                  <a:spcPct val="80000"/>
                </a:lnSpc>
                <a:buClrTx/>
                <a:buSzTx/>
                <a:buNone/>
              </a:pPr>
              <a:r>
                <a:rPr lang="en-US" altLang="en-US" sz="200" dirty="0">
                  <a:solidFill>
                    <a:srgbClr val="000066"/>
                  </a:solidFill>
                </a:rPr>
                <a:t>Analysis</a:t>
              </a:r>
            </a:p>
          </p:txBody>
        </p:sp>
        <p:sp>
          <p:nvSpPr>
            <p:cNvPr id="11" name="Rectangle 41">
              <a:extLst>
                <a:ext uri="{FF2B5EF4-FFF2-40B4-BE49-F238E27FC236}">
                  <a16:creationId xmlns:a16="http://schemas.microsoft.com/office/drawing/2014/main" id="{4A772922-6F9E-00F7-3C68-9F5B5D44DE7B}"/>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2" name="AutoShape 42">
              <a:extLst>
                <a:ext uri="{FF2B5EF4-FFF2-40B4-BE49-F238E27FC236}">
                  <a16:creationId xmlns:a16="http://schemas.microsoft.com/office/drawing/2014/main" id="{1F4F43D1-4D63-DB0C-8C68-CCA975E54F61}"/>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13" name="Rectangle 43">
              <a:extLst>
                <a:ext uri="{FF2B5EF4-FFF2-40B4-BE49-F238E27FC236}">
                  <a16:creationId xmlns:a16="http://schemas.microsoft.com/office/drawing/2014/main" id="{F69E20A6-D2B3-A88D-924C-B3CDDDBED634}"/>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14" name="Rectangle 44">
              <a:extLst>
                <a:ext uri="{FF2B5EF4-FFF2-40B4-BE49-F238E27FC236}">
                  <a16:creationId xmlns:a16="http://schemas.microsoft.com/office/drawing/2014/main" id="{004638FA-476B-EF0A-E465-3389CC6A09D4}"/>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Critical </a:t>
              </a:r>
            </a:p>
            <a:p>
              <a:pPr algn="ctr">
                <a:lnSpc>
                  <a:spcPct val="80000"/>
                </a:lnSpc>
                <a:buClrTx/>
                <a:buSzTx/>
                <a:buNone/>
              </a:pPr>
              <a:r>
                <a:rPr lang="en-US" altLang="en-US" sz="200" dirty="0">
                  <a:solidFill>
                    <a:srgbClr val="000066"/>
                  </a:solidFill>
                </a:rPr>
                <a:t>Resource</a:t>
              </a:r>
            </a:p>
            <a:p>
              <a:pPr algn="ctr">
                <a:lnSpc>
                  <a:spcPct val="80000"/>
                </a:lnSpc>
                <a:buClrTx/>
                <a:buSzTx/>
                <a:buNone/>
              </a:pPr>
              <a:r>
                <a:rPr lang="en-US" altLang="en-US" sz="200" dirty="0">
                  <a:solidFill>
                    <a:srgbClr val="000066"/>
                  </a:solidFill>
                </a:rPr>
                <a:t>Evaluation</a:t>
              </a:r>
            </a:p>
          </p:txBody>
        </p:sp>
        <p:sp>
          <p:nvSpPr>
            <p:cNvPr id="15" name="Rectangle 45">
              <a:extLst>
                <a:ext uri="{FF2B5EF4-FFF2-40B4-BE49-F238E27FC236}">
                  <a16:creationId xmlns:a16="http://schemas.microsoft.com/office/drawing/2014/main" id="{26F0FF83-D954-9937-FBF1-5F02EFBF7328}"/>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16" name="Rectangle 46">
              <a:extLst>
                <a:ext uri="{FF2B5EF4-FFF2-40B4-BE49-F238E27FC236}">
                  <a16:creationId xmlns:a16="http://schemas.microsoft.com/office/drawing/2014/main" id="{C2AA392D-9763-747F-D057-C7927B6CB2A3}"/>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17" name="Rectangle 47">
              <a:extLst>
                <a:ext uri="{FF2B5EF4-FFF2-40B4-BE49-F238E27FC236}">
                  <a16:creationId xmlns:a16="http://schemas.microsoft.com/office/drawing/2014/main" id="{2423286D-2575-CF5E-A5FA-E429415B62E2}"/>
                </a:ext>
              </a:extLst>
            </p:cNvPr>
            <p:cNvSpPr>
              <a:spLocks noChangeArrowheads="1"/>
            </p:cNvSpPr>
            <p:nvPr/>
          </p:nvSpPr>
          <p:spPr bwMode="auto">
            <a:xfrm>
              <a:off x="1349" y="4216"/>
              <a:ext cx="481" cy="5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Required Inventory Position</a:t>
              </a:r>
            </a:p>
          </p:txBody>
        </p:sp>
      </p:grpSp>
    </p:spTree>
    <p:extLst>
      <p:ext uri="{BB962C8B-B14F-4D97-AF65-F5344CB8AC3E}">
        <p14:creationId xmlns:p14="http://schemas.microsoft.com/office/powerpoint/2010/main" val="3752976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Demand Inputs:  </a:t>
            </a:r>
            <a:br>
              <a:rPr lang="en-US" dirty="0"/>
            </a:br>
            <a:r>
              <a:rPr lang="en-US" dirty="0"/>
              <a:t>Commencing The Supply Planning Analysis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With the last-month actual results, maintenance and inventory planning analysis complete, the supply teams can then begin assessing the “first pass” S&amp;OP spreadsheet from sales to match available capacity to consensus demand.</a:t>
            </a:r>
          </a:p>
        </p:txBody>
      </p:sp>
      <p:grpSp>
        <p:nvGrpSpPr>
          <p:cNvPr id="14" name="Group 13">
            <a:extLst>
              <a:ext uri="{FF2B5EF4-FFF2-40B4-BE49-F238E27FC236}">
                <a16:creationId xmlns:a16="http://schemas.microsoft.com/office/drawing/2014/main" id="{95972030-5E33-DE39-2B9B-55AF143FB732}"/>
              </a:ext>
            </a:extLst>
          </p:cNvPr>
          <p:cNvGrpSpPr/>
          <p:nvPr/>
        </p:nvGrpSpPr>
        <p:grpSpPr>
          <a:xfrm>
            <a:off x="390525" y="2097088"/>
            <a:ext cx="8653463" cy="3862387"/>
            <a:chOff x="390525" y="2097088"/>
            <a:chExt cx="8653463" cy="3862387"/>
          </a:xfrm>
        </p:grpSpPr>
        <p:grpSp>
          <p:nvGrpSpPr>
            <p:cNvPr id="4" name="Group 4">
              <a:extLst>
                <a:ext uri="{FF2B5EF4-FFF2-40B4-BE49-F238E27FC236}">
                  <a16:creationId xmlns:a16="http://schemas.microsoft.com/office/drawing/2014/main" id="{09594C9B-5FAC-BD80-C349-DF09D9BE54E1}"/>
                </a:ext>
              </a:extLst>
            </p:cNvPr>
            <p:cNvGrpSpPr>
              <a:grpSpLocks/>
            </p:cNvGrpSpPr>
            <p:nvPr/>
          </p:nvGrpSpPr>
          <p:grpSpPr bwMode="auto">
            <a:xfrm>
              <a:off x="476250" y="2403475"/>
              <a:ext cx="4973638" cy="2784475"/>
              <a:chOff x="2423" y="1598"/>
              <a:chExt cx="3133" cy="1754"/>
            </a:xfrm>
          </p:grpSpPr>
          <p:graphicFrame>
            <p:nvGraphicFramePr>
              <p:cNvPr id="5" name="Object 5">
                <a:extLst>
                  <a:ext uri="{FF2B5EF4-FFF2-40B4-BE49-F238E27FC236}">
                    <a16:creationId xmlns:a16="http://schemas.microsoft.com/office/drawing/2014/main" id="{30F3DC44-2007-89D5-5520-880BC96428AD}"/>
                  </a:ext>
                </a:extLst>
              </p:cNvPr>
              <p:cNvGraphicFramePr>
                <a:graphicFrameLocks noChangeAspect="1"/>
              </p:cNvGraphicFramePr>
              <p:nvPr>
                <p:extLst>
                  <p:ext uri="{D42A27DB-BD31-4B8C-83A1-F6EECF244321}">
                    <p14:modId xmlns:p14="http://schemas.microsoft.com/office/powerpoint/2010/main" val="3312535642"/>
                  </p:ext>
                </p:extLst>
              </p:nvPr>
            </p:nvGraphicFramePr>
            <p:xfrm>
              <a:off x="2455" y="1598"/>
              <a:ext cx="2911" cy="1754"/>
            </p:xfrm>
            <a:graphic>
              <a:graphicData uri="http://schemas.openxmlformats.org/presentationml/2006/ole">
                <mc:AlternateContent xmlns:mc="http://schemas.openxmlformats.org/markup-compatibility/2006">
                  <mc:Choice xmlns:v="urn:schemas-microsoft-com:vml" Requires="v">
                    <p:oleObj name="Worksheet" r:id="rId3" imgW="5924378" imgH="3572035" progId="Excel.Sheet.8">
                      <p:embed/>
                    </p:oleObj>
                  </mc:Choice>
                  <mc:Fallback>
                    <p:oleObj name="Worksheet" r:id="rId3" imgW="5924378" imgH="3572035" progId="Excel.Sheet.8">
                      <p:embed/>
                      <p:pic>
                        <p:nvPicPr>
                          <p:cNvPr id="30747" name="Object 5">
                            <a:extLst>
                              <a:ext uri="{FF2B5EF4-FFF2-40B4-BE49-F238E27FC236}">
                                <a16:creationId xmlns:a16="http://schemas.microsoft.com/office/drawing/2014/main" id="{8B356446-77E5-4ECA-8F20-5D3FBE0039CD}"/>
                              </a:ext>
                            </a:extLst>
                          </p:cNvPr>
                          <p:cNvPicPr>
                            <a:picLocks noChangeAspect="1" noChangeArrowheads="1"/>
                          </p:cNvPicPr>
                          <p:nvPr/>
                        </p:nvPicPr>
                        <p:blipFill>
                          <a:blip r:embed="rId4"/>
                          <a:srcRect/>
                          <a:stretch>
                            <a:fillRect/>
                          </a:stretch>
                        </p:blipFill>
                        <p:spPr bwMode="auto">
                          <a:xfrm>
                            <a:off x="2455" y="1598"/>
                            <a:ext cx="2911" cy="1754"/>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Rectangle 6">
                <a:extLst>
                  <a:ext uri="{FF2B5EF4-FFF2-40B4-BE49-F238E27FC236}">
                    <a16:creationId xmlns:a16="http://schemas.microsoft.com/office/drawing/2014/main" id="{AEC0EC4C-A471-D570-024D-7E30EAC542A1}"/>
                  </a:ext>
                </a:extLst>
              </p:cNvPr>
              <p:cNvSpPr>
                <a:spLocks noChangeArrowheads="1"/>
              </p:cNvSpPr>
              <p:nvPr/>
            </p:nvSpPr>
            <p:spPr bwMode="auto">
              <a:xfrm>
                <a:off x="2423" y="1605"/>
                <a:ext cx="3133" cy="17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7" name="AutoShape 7">
              <a:extLst>
                <a:ext uri="{FF2B5EF4-FFF2-40B4-BE49-F238E27FC236}">
                  <a16:creationId xmlns:a16="http://schemas.microsoft.com/office/drawing/2014/main" id="{8FD92096-648E-7CA7-6C7B-BB999D2F952E}"/>
                </a:ext>
              </a:extLst>
            </p:cNvPr>
            <p:cNvSpPr>
              <a:spLocks/>
            </p:cNvSpPr>
            <p:nvPr/>
          </p:nvSpPr>
          <p:spPr bwMode="auto">
            <a:xfrm rot="5400000">
              <a:off x="1875632" y="3913981"/>
              <a:ext cx="273050" cy="2884487"/>
            </a:xfrm>
            <a:prstGeom prst="rightBrace">
              <a:avLst>
                <a:gd name="adj1" fmla="val 88033"/>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Text Box 8">
              <a:extLst>
                <a:ext uri="{FF2B5EF4-FFF2-40B4-BE49-F238E27FC236}">
                  <a16:creationId xmlns:a16="http://schemas.microsoft.com/office/drawing/2014/main" id="{B3128E00-ACA6-B3A0-3483-A5DFA1219BB4}"/>
                </a:ext>
              </a:extLst>
            </p:cNvPr>
            <p:cNvSpPr txBox="1">
              <a:spLocks noChangeArrowheads="1"/>
            </p:cNvSpPr>
            <p:nvPr/>
          </p:nvSpPr>
          <p:spPr bwMode="auto">
            <a:xfrm>
              <a:off x="1174404" y="5495925"/>
              <a:ext cx="168026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100" i="1" dirty="0">
                  <a:latin typeface="+mn-lt"/>
                </a:rPr>
                <a:t>Rolling Period Forecasts</a:t>
              </a:r>
            </a:p>
            <a:p>
              <a:pPr algn="ctr">
                <a:lnSpc>
                  <a:spcPct val="90000"/>
                </a:lnSpc>
                <a:buClrTx/>
                <a:buSzTx/>
                <a:buFontTx/>
                <a:buNone/>
              </a:pPr>
              <a:r>
                <a:rPr lang="en-US" altLang="en-US" sz="1100" i="1" dirty="0">
                  <a:latin typeface="+mn-lt"/>
                </a:rPr>
                <a:t>Updated As Required</a:t>
              </a:r>
            </a:p>
          </p:txBody>
        </p:sp>
        <p:sp>
          <p:nvSpPr>
            <p:cNvPr id="9" name="Oval 9">
              <a:extLst>
                <a:ext uri="{FF2B5EF4-FFF2-40B4-BE49-F238E27FC236}">
                  <a16:creationId xmlns:a16="http://schemas.microsoft.com/office/drawing/2014/main" id="{0D13D386-87B7-14B6-728C-61E5FF42FC78}"/>
                </a:ext>
              </a:extLst>
            </p:cNvPr>
            <p:cNvSpPr>
              <a:spLocks noChangeArrowheads="1"/>
            </p:cNvSpPr>
            <p:nvPr/>
          </p:nvSpPr>
          <p:spPr bwMode="auto">
            <a:xfrm>
              <a:off x="3559175" y="5408613"/>
              <a:ext cx="1706563" cy="401637"/>
            </a:xfrm>
            <a:prstGeom prst="ellipse">
              <a:avLst/>
            </a:prstGeom>
            <a:solidFill>
              <a:schemeClr val="accent1"/>
            </a:solidFill>
            <a:ln w="12700" cap="sq">
              <a:solidFill>
                <a:srgbClr val="800000"/>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Next-Month</a:t>
              </a:r>
            </a:p>
            <a:p>
              <a:pPr algn="ctr">
                <a:lnSpc>
                  <a:spcPct val="80000"/>
                </a:lnSpc>
                <a:buClrTx/>
                <a:buSzTx/>
                <a:buFontTx/>
                <a:buNone/>
              </a:pPr>
              <a:r>
                <a:rPr lang="en-US" altLang="en-US" sz="1000" dirty="0">
                  <a:solidFill>
                    <a:schemeClr val="bg1"/>
                  </a:solidFill>
                  <a:latin typeface="+mn-lt"/>
                </a:rPr>
                <a:t>Consensus Plan</a:t>
              </a:r>
            </a:p>
          </p:txBody>
        </p:sp>
        <p:sp>
          <p:nvSpPr>
            <p:cNvPr id="10" name="Line 10">
              <a:extLst>
                <a:ext uri="{FF2B5EF4-FFF2-40B4-BE49-F238E27FC236}">
                  <a16:creationId xmlns:a16="http://schemas.microsoft.com/office/drawing/2014/main" id="{D137AA1B-712F-5888-3D12-6A8A4BD94851}"/>
                </a:ext>
              </a:extLst>
            </p:cNvPr>
            <p:cNvSpPr>
              <a:spLocks noChangeShapeType="1"/>
            </p:cNvSpPr>
            <p:nvPr/>
          </p:nvSpPr>
          <p:spPr bwMode="auto">
            <a:xfrm flipV="1">
              <a:off x="4413250" y="3646488"/>
              <a:ext cx="0" cy="1751012"/>
            </a:xfrm>
            <a:prstGeom prst="line">
              <a:avLst/>
            </a:prstGeom>
            <a:noFill/>
            <a:ln w="28575">
              <a:solidFill>
                <a:srgbClr val="000066"/>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Rectangle 13">
              <a:extLst>
                <a:ext uri="{FF2B5EF4-FFF2-40B4-BE49-F238E27FC236}">
                  <a16:creationId xmlns:a16="http://schemas.microsoft.com/office/drawing/2014/main" id="{E505FBB9-684D-1402-5A96-067B2CBBD563}"/>
                </a:ext>
              </a:extLst>
            </p:cNvPr>
            <p:cNvSpPr>
              <a:spLocks noChangeArrowheads="1"/>
            </p:cNvSpPr>
            <p:nvPr/>
          </p:nvSpPr>
          <p:spPr bwMode="auto">
            <a:xfrm>
              <a:off x="5730875" y="2114550"/>
              <a:ext cx="3313113" cy="339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520700" indent="-174625"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0000"/>
                </a:spcBef>
                <a:buClrTx/>
                <a:buSzPct val="90000"/>
                <a:buFont typeface="Arial" panose="020B0604020202020204" pitchFamily="34" charset="0"/>
                <a:buChar char="•"/>
              </a:pPr>
              <a:r>
                <a:rPr lang="en-US" altLang="en-US" sz="1200" dirty="0">
                  <a:latin typeface="+mn-lt"/>
                </a:rPr>
                <a:t>Demand planning team passes first-pass spreadsheet to supply team</a:t>
              </a:r>
            </a:p>
            <a:p>
              <a:pPr>
                <a:spcBef>
                  <a:spcPct val="50000"/>
                </a:spcBef>
                <a:buClrTx/>
                <a:buSzPct val="90000"/>
                <a:buFont typeface="Arial" panose="020B0604020202020204" pitchFamily="34" charset="0"/>
                <a:buChar char="•"/>
              </a:pPr>
              <a:r>
                <a:rPr lang="en-US" altLang="en-US" sz="1200" dirty="0">
                  <a:latin typeface="+mn-lt"/>
                </a:rPr>
                <a:t>Supply team evaluates the consensus demand figure(s) for the given product, family or multiple products</a:t>
              </a:r>
            </a:p>
            <a:p>
              <a:pPr>
                <a:spcBef>
                  <a:spcPct val="50000"/>
                </a:spcBef>
                <a:buClrTx/>
                <a:buSzPct val="90000"/>
                <a:buFont typeface="Arial" panose="020B0604020202020204" pitchFamily="34" charset="0"/>
                <a:buChar char="•"/>
              </a:pPr>
              <a:r>
                <a:rPr lang="en-US" altLang="en-US" sz="1200" dirty="0">
                  <a:latin typeface="+mn-lt"/>
                </a:rPr>
                <a:t>Team should conduct an initial review to confirm if there are significant changes:</a:t>
              </a:r>
            </a:p>
            <a:p>
              <a:pPr lvl="1">
                <a:spcBef>
                  <a:spcPct val="50000"/>
                </a:spcBef>
                <a:buClrTx/>
                <a:buSzPct val="90000"/>
                <a:buFont typeface="Wingdings" panose="05000000000000000000" pitchFamily="2" charset="2"/>
                <a:buChar char="ü"/>
              </a:pPr>
              <a:r>
                <a:rPr lang="en-US" altLang="en-US" sz="1200" dirty="0">
                  <a:latin typeface="+mn-lt"/>
                </a:rPr>
                <a:t>Significantly increased demand</a:t>
              </a:r>
            </a:p>
            <a:p>
              <a:pPr lvl="1">
                <a:spcBef>
                  <a:spcPct val="50000"/>
                </a:spcBef>
                <a:buClrTx/>
                <a:buSzPct val="90000"/>
                <a:buFont typeface="Wingdings" panose="05000000000000000000" pitchFamily="2" charset="2"/>
                <a:buChar char="ü"/>
              </a:pPr>
              <a:r>
                <a:rPr lang="en-US" altLang="en-US" sz="1200" dirty="0">
                  <a:latin typeface="+mn-lt"/>
                </a:rPr>
                <a:t>Substantial demand reduction</a:t>
              </a:r>
            </a:p>
            <a:p>
              <a:pPr>
                <a:spcBef>
                  <a:spcPct val="50000"/>
                </a:spcBef>
                <a:buClrTx/>
                <a:buSzPct val="90000"/>
                <a:buFont typeface="Arial" panose="020B0604020202020204" pitchFamily="34" charset="0"/>
                <a:buChar char="•"/>
              </a:pPr>
              <a:r>
                <a:rPr lang="en-US" altLang="en-US" sz="1200" dirty="0">
                  <a:latin typeface="+mn-lt"/>
                </a:rPr>
                <a:t>Extraordinary demand should be verified by the supply team to avoid planning to an incorrectly transmitted number</a:t>
              </a:r>
            </a:p>
            <a:p>
              <a:pPr>
                <a:spcBef>
                  <a:spcPct val="50000"/>
                </a:spcBef>
                <a:buClrTx/>
                <a:buSzPct val="90000"/>
                <a:buFont typeface="Arial" panose="020B0604020202020204" pitchFamily="34" charset="0"/>
                <a:buChar char="•"/>
              </a:pPr>
              <a:r>
                <a:rPr lang="en-US" altLang="en-US" sz="1200" dirty="0">
                  <a:latin typeface="+mn-lt"/>
                </a:rPr>
                <a:t>Team should also evaluate changes made based on last-month </a:t>
              </a:r>
              <a:r>
                <a:rPr lang="ja-JP" altLang="en-US" sz="1200" dirty="0">
                  <a:latin typeface="+mn-lt"/>
                </a:rPr>
                <a:t>“</a:t>
              </a:r>
              <a:r>
                <a:rPr lang="en-US" altLang="ja-JP" sz="1200" dirty="0">
                  <a:latin typeface="+mn-lt"/>
                </a:rPr>
                <a:t>lessons learned</a:t>
              </a:r>
              <a:r>
                <a:rPr lang="ja-JP" altLang="en-US" sz="1200" dirty="0">
                  <a:latin typeface="+mn-lt"/>
                </a:rPr>
                <a:t>”</a:t>
              </a:r>
              <a:r>
                <a:rPr lang="en-US" altLang="ja-JP" sz="1200" dirty="0">
                  <a:latin typeface="+mn-lt"/>
                </a:rPr>
                <a:t> on forecast accuracy</a:t>
              </a:r>
              <a:endParaRPr lang="en-US" altLang="en-US" sz="1200" dirty="0">
                <a:latin typeface="+mn-lt"/>
              </a:endParaRPr>
            </a:p>
          </p:txBody>
        </p:sp>
        <p:sp>
          <p:nvSpPr>
            <p:cNvPr id="12" name="Rectangle 14">
              <a:extLst>
                <a:ext uri="{FF2B5EF4-FFF2-40B4-BE49-F238E27FC236}">
                  <a16:creationId xmlns:a16="http://schemas.microsoft.com/office/drawing/2014/main" id="{7DEFCD06-6108-5FED-C74C-62215C7681ED}"/>
                </a:ext>
              </a:extLst>
            </p:cNvPr>
            <p:cNvSpPr>
              <a:spLocks noChangeArrowheads="1"/>
            </p:cNvSpPr>
            <p:nvPr/>
          </p:nvSpPr>
          <p:spPr bwMode="auto">
            <a:xfrm>
              <a:off x="390525" y="2228850"/>
              <a:ext cx="5151438" cy="37306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3" name="Text Box 15">
              <a:extLst>
                <a:ext uri="{FF2B5EF4-FFF2-40B4-BE49-F238E27FC236}">
                  <a16:creationId xmlns:a16="http://schemas.microsoft.com/office/drawing/2014/main" id="{1D13F7CC-CE2D-CB17-86DC-16C283311F7C}"/>
                </a:ext>
              </a:extLst>
            </p:cNvPr>
            <p:cNvSpPr txBox="1">
              <a:spLocks noChangeArrowheads="1"/>
            </p:cNvSpPr>
            <p:nvPr/>
          </p:nvSpPr>
          <p:spPr bwMode="auto">
            <a:xfrm>
              <a:off x="750378" y="2097088"/>
              <a:ext cx="2534668"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First-Pass S&amp;OP Spreadsheet</a:t>
              </a:r>
            </a:p>
          </p:txBody>
        </p:sp>
      </p:grpSp>
      <p:grpSp>
        <p:nvGrpSpPr>
          <p:cNvPr id="15" name="Group 51">
            <a:extLst>
              <a:ext uri="{FF2B5EF4-FFF2-40B4-BE49-F238E27FC236}">
                <a16:creationId xmlns:a16="http://schemas.microsoft.com/office/drawing/2014/main" id="{AEA78698-8E87-305E-99C2-8D7841743EE9}"/>
              </a:ext>
            </a:extLst>
          </p:cNvPr>
          <p:cNvGrpSpPr>
            <a:grpSpLocks/>
          </p:cNvGrpSpPr>
          <p:nvPr/>
        </p:nvGrpSpPr>
        <p:grpSpPr bwMode="auto">
          <a:xfrm>
            <a:off x="8420088" y="5628516"/>
            <a:ext cx="2933712" cy="650333"/>
            <a:chOff x="676" y="3874"/>
            <a:chExt cx="1500" cy="392"/>
          </a:xfrm>
        </p:grpSpPr>
        <p:sp>
          <p:nvSpPr>
            <p:cNvPr id="16" name="Line 35">
              <a:extLst>
                <a:ext uri="{FF2B5EF4-FFF2-40B4-BE49-F238E27FC236}">
                  <a16:creationId xmlns:a16="http://schemas.microsoft.com/office/drawing/2014/main" id="{F9508E7A-237D-46E8-CED9-1EDAE4327ADD}"/>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36">
              <a:extLst>
                <a:ext uri="{FF2B5EF4-FFF2-40B4-BE49-F238E27FC236}">
                  <a16:creationId xmlns:a16="http://schemas.microsoft.com/office/drawing/2014/main" id="{CBDA2BF6-2C83-FFB9-4EA1-ED8A6EB6900D}"/>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37">
              <a:extLst>
                <a:ext uri="{FF2B5EF4-FFF2-40B4-BE49-F238E27FC236}">
                  <a16:creationId xmlns:a16="http://schemas.microsoft.com/office/drawing/2014/main" id="{870335FA-D87E-B8D7-5B07-683B6538EAD8}"/>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Rectangle 38">
              <a:extLst>
                <a:ext uri="{FF2B5EF4-FFF2-40B4-BE49-F238E27FC236}">
                  <a16:creationId xmlns:a16="http://schemas.microsoft.com/office/drawing/2014/main" id="{43407000-96F2-2C30-4866-82AB25D743FC}"/>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20" name="Rectangle 39">
              <a:extLst>
                <a:ext uri="{FF2B5EF4-FFF2-40B4-BE49-F238E27FC236}">
                  <a16:creationId xmlns:a16="http://schemas.microsoft.com/office/drawing/2014/main" id="{FC32B7CF-4A89-8E7E-E843-E2B2A7D5CFE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21" name="Rectangle 40">
              <a:extLst>
                <a:ext uri="{FF2B5EF4-FFF2-40B4-BE49-F238E27FC236}">
                  <a16:creationId xmlns:a16="http://schemas.microsoft.com/office/drawing/2014/main" id="{CC547AD9-9EF0-494E-66A9-6D4D87AA0492}"/>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22" name="Rectangle 41">
              <a:extLst>
                <a:ext uri="{FF2B5EF4-FFF2-40B4-BE49-F238E27FC236}">
                  <a16:creationId xmlns:a16="http://schemas.microsoft.com/office/drawing/2014/main" id="{8B8F0437-9E01-97A7-3E10-FCF6B00FEE12}"/>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23" name="AutoShape 42">
              <a:extLst>
                <a:ext uri="{FF2B5EF4-FFF2-40B4-BE49-F238E27FC236}">
                  <a16:creationId xmlns:a16="http://schemas.microsoft.com/office/drawing/2014/main" id="{3A14A280-0DF2-B32A-6146-4D652485E7E7}"/>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4" name="Rectangle 43">
              <a:extLst>
                <a:ext uri="{FF2B5EF4-FFF2-40B4-BE49-F238E27FC236}">
                  <a16:creationId xmlns:a16="http://schemas.microsoft.com/office/drawing/2014/main" id="{B0FE62A0-0343-24B6-FF1D-F41E447064CB}"/>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5" name="Rectangle 44">
              <a:extLst>
                <a:ext uri="{FF2B5EF4-FFF2-40B4-BE49-F238E27FC236}">
                  <a16:creationId xmlns:a16="http://schemas.microsoft.com/office/drawing/2014/main" id="{4DB72B25-7639-135A-272E-7E29BC2C7219}"/>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6" name="Rectangle 45">
              <a:extLst>
                <a:ext uri="{FF2B5EF4-FFF2-40B4-BE49-F238E27FC236}">
                  <a16:creationId xmlns:a16="http://schemas.microsoft.com/office/drawing/2014/main" id="{85DBB1DD-3F9B-3187-0782-D64BD5A7828D}"/>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7" name="Rectangle 46">
              <a:extLst>
                <a:ext uri="{FF2B5EF4-FFF2-40B4-BE49-F238E27FC236}">
                  <a16:creationId xmlns:a16="http://schemas.microsoft.com/office/drawing/2014/main" id="{3AD501A3-E6BE-1EE6-6DF2-0441FE34AB4C}"/>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42" name="Rectangle 47">
              <a:extLst>
                <a:ext uri="{FF2B5EF4-FFF2-40B4-BE49-F238E27FC236}">
                  <a16:creationId xmlns:a16="http://schemas.microsoft.com/office/drawing/2014/main" id="{4658C112-4ECB-CBFA-CD1A-8C4691D638DC}"/>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584733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Supply Planning Pathway:  </a:t>
            </a:r>
            <a:br>
              <a:rPr lang="en-US" dirty="0"/>
            </a:br>
            <a:r>
              <a:rPr lang="en-US" dirty="0"/>
              <a:t>Matching Specific Resources To Products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As the first step, supply team members (based on their operating environment) begin the planning process by matching the demand plan to the resource “buckets” that will be required to build the required products.</a:t>
            </a:r>
          </a:p>
        </p:txBody>
      </p:sp>
      <p:grpSp>
        <p:nvGrpSpPr>
          <p:cNvPr id="4" name="Group 4">
            <a:extLst>
              <a:ext uri="{FF2B5EF4-FFF2-40B4-BE49-F238E27FC236}">
                <a16:creationId xmlns:a16="http://schemas.microsoft.com/office/drawing/2014/main" id="{09594C9B-5FAC-BD80-C349-DF09D9BE54E1}"/>
              </a:ext>
            </a:extLst>
          </p:cNvPr>
          <p:cNvGrpSpPr>
            <a:grpSpLocks/>
          </p:cNvGrpSpPr>
          <p:nvPr/>
        </p:nvGrpSpPr>
        <p:grpSpPr bwMode="auto">
          <a:xfrm>
            <a:off x="498060" y="1981699"/>
            <a:ext cx="4973638" cy="2784475"/>
            <a:chOff x="2423" y="1598"/>
            <a:chExt cx="3133" cy="1754"/>
          </a:xfrm>
        </p:grpSpPr>
        <p:graphicFrame>
          <p:nvGraphicFramePr>
            <p:cNvPr id="5" name="Object 5">
              <a:extLst>
                <a:ext uri="{FF2B5EF4-FFF2-40B4-BE49-F238E27FC236}">
                  <a16:creationId xmlns:a16="http://schemas.microsoft.com/office/drawing/2014/main" id="{30F3DC44-2007-89D5-5520-880BC96428AD}"/>
                </a:ext>
              </a:extLst>
            </p:cNvPr>
            <p:cNvGraphicFramePr>
              <a:graphicFrameLocks noChangeAspect="1"/>
            </p:cNvGraphicFramePr>
            <p:nvPr>
              <p:extLst>
                <p:ext uri="{D42A27DB-BD31-4B8C-83A1-F6EECF244321}">
                  <p14:modId xmlns:p14="http://schemas.microsoft.com/office/powerpoint/2010/main" val="3047982303"/>
                </p:ext>
              </p:extLst>
            </p:nvPr>
          </p:nvGraphicFramePr>
          <p:xfrm>
            <a:off x="2455" y="1598"/>
            <a:ext cx="3030" cy="1754"/>
          </p:xfrm>
          <a:graphic>
            <a:graphicData uri="http://schemas.openxmlformats.org/presentationml/2006/ole">
              <mc:AlternateContent xmlns:mc="http://schemas.openxmlformats.org/markup-compatibility/2006">
                <mc:Choice xmlns:v="urn:schemas-microsoft-com:vml" Requires="v">
                  <p:oleObj name="Worksheet" r:id="rId3" imgW="5924378" imgH="3572035" progId="Excel.Sheet.8">
                    <p:embed/>
                  </p:oleObj>
                </mc:Choice>
                <mc:Fallback>
                  <p:oleObj name="Worksheet" r:id="rId3" imgW="5924378" imgH="3572035" progId="Excel.Sheet.8">
                    <p:embed/>
                    <p:pic>
                      <p:nvPicPr>
                        <p:cNvPr id="5" name="Object 5">
                          <a:extLst>
                            <a:ext uri="{FF2B5EF4-FFF2-40B4-BE49-F238E27FC236}">
                              <a16:creationId xmlns:a16="http://schemas.microsoft.com/office/drawing/2014/main" id="{30F3DC44-2007-89D5-5520-880BC96428AD}"/>
                            </a:ext>
                          </a:extLst>
                        </p:cNvPr>
                        <p:cNvPicPr>
                          <a:picLocks noChangeAspect="1" noChangeArrowheads="1"/>
                        </p:cNvPicPr>
                        <p:nvPr/>
                      </p:nvPicPr>
                      <p:blipFill>
                        <a:blip r:embed="rId4"/>
                        <a:srcRect/>
                        <a:stretch>
                          <a:fillRect/>
                        </a:stretch>
                      </p:blipFill>
                      <p:spPr bwMode="auto">
                        <a:xfrm>
                          <a:off x="2455" y="1598"/>
                          <a:ext cx="3030" cy="1754"/>
                        </a:xfrm>
                        <a:prstGeom prst="rect">
                          <a:avLst/>
                        </a:prstGeom>
                        <a:noFill/>
                        <a:ln>
                          <a:noFill/>
                        </a:ln>
                        <a:effectLst/>
                      </p:spPr>
                    </p:pic>
                  </p:oleObj>
                </mc:Fallback>
              </mc:AlternateContent>
            </a:graphicData>
          </a:graphic>
        </p:graphicFrame>
        <p:sp>
          <p:nvSpPr>
            <p:cNvPr id="6" name="Rectangle 6">
              <a:extLst>
                <a:ext uri="{FF2B5EF4-FFF2-40B4-BE49-F238E27FC236}">
                  <a16:creationId xmlns:a16="http://schemas.microsoft.com/office/drawing/2014/main" id="{AEC0EC4C-A471-D570-024D-7E30EAC542A1}"/>
                </a:ext>
              </a:extLst>
            </p:cNvPr>
            <p:cNvSpPr>
              <a:spLocks noChangeArrowheads="1"/>
            </p:cNvSpPr>
            <p:nvPr/>
          </p:nvSpPr>
          <p:spPr bwMode="auto">
            <a:xfrm>
              <a:off x="2423" y="1605"/>
              <a:ext cx="3133" cy="17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7" name="AutoShape 7">
            <a:extLst>
              <a:ext uri="{FF2B5EF4-FFF2-40B4-BE49-F238E27FC236}">
                <a16:creationId xmlns:a16="http://schemas.microsoft.com/office/drawing/2014/main" id="{8FD92096-648E-7CA7-6C7B-BB999D2F952E}"/>
              </a:ext>
            </a:extLst>
          </p:cNvPr>
          <p:cNvSpPr>
            <a:spLocks/>
          </p:cNvSpPr>
          <p:nvPr/>
        </p:nvSpPr>
        <p:spPr bwMode="auto">
          <a:xfrm rot="5400000">
            <a:off x="2765806" y="2623841"/>
            <a:ext cx="273050" cy="4621215"/>
          </a:xfrm>
          <a:prstGeom prst="rightBrace">
            <a:avLst>
              <a:gd name="adj1" fmla="val 88033"/>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Text Box 8">
            <a:extLst>
              <a:ext uri="{FF2B5EF4-FFF2-40B4-BE49-F238E27FC236}">
                <a16:creationId xmlns:a16="http://schemas.microsoft.com/office/drawing/2014/main" id="{B3128E00-ACA6-B3A0-3483-A5DFA1219BB4}"/>
              </a:ext>
            </a:extLst>
          </p:cNvPr>
          <p:cNvSpPr txBox="1">
            <a:spLocks noChangeArrowheads="1"/>
          </p:cNvSpPr>
          <p:nvPr/>
        </p:nvSpPr>
        <p:spPr bwMode="auto">
          <a:xfrm>
            <a:off x="591723" y="5074149"/>
            <a:ext cx="4695533" cy="73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171450" indent="-171450">
              <a:lnSpc>
                <a:spcPct val="90000"/>
              </a:lnSpc>
              <a:buClrTx/>
              <a:buSzTx/>
              <a:buFont typeface="Arial" panose="020B0604020202020204" pitchFamily="34" charset="0"/>
              <a:buChar char="•"/>
            </a:pPr>
            <a:r>
              <a:rPr lang="en-US" altLang="en-US" sz="1100" dirty="0">
                <a:latin typeface="+mn-lt"/>
              </a:rPr>
              <a:t>The demand plan will identify the products and number of products required</a:t>
            </a:r>
          </a:p>
          <a:p>
            <a:pPr marL="171450" indent="-171450">
              <a:lnSpc>
                <a:spcPct val="90000"/>
              </a:lnSpc>
              <a:buClrTx/>
              <a:buSzTx/>
              <a:buFont typeface="Arial" panose="020B0604020202020204" pitchFamily="34" charset="0"/>
              <a:buChar char="•"/>
            </a:pPr>
            <a:r>
              <a:rPr lang="en-US" altLang="en-US" sz="1100" dirty="0">
                <a:latin typeface="+mn-lt"/>
              </a:rPr>
              <a:t>This in turn indicates to the supply team which resources will be called into play for the next-month roadmap</a:t>
            </a:r>
          </a:p>
        </p:txBody>
      </p:sp>
      <p:sp>
        <p:nvSpPr>
          <p:cNvPr id="15" name="Rectangle 25">
            <a:extLst>
              <a:ext uri="{FF2B5EF4-FFF2-40B4-BE49-F238E27FC236}">
                <a16:creationId xmlns:a16="http://schemas.microsoft.com/office/drawing/2014/main" id="{8B582289-4132-242B-E1B2-D9512B88E349}"/>
              </a:ext>
            </a:extLst>
          </p:cNvPr>
          <p:cNvSpPr>
            <a:spLocks noChangeArrowheads="1"/>
          </p:cNvSpPr>
          <p:nvPr/>
        </p:nvSpPr>
        <p:spPr bwMode="auto">
          <a:xfrm>
            <a:off x="5953998" y="1937249"/>
            <a:ext cx="3089275" cy="3609975"/>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6" name="Rectangle 7">
            <a:extLst>
              <a:ext uri="{FF2B5EF4-FFF2-40B4-BE49-F238E27FC236}">
                <a16:creationId xmlns:a16="http://schemas.microsoft.com/office/drawing/2014/main" id="{AD10CDA0-78F2-AD1E-54DF-52998502F7A5}"/>
              </a:ext>
            </a:extLst>
          </p:cNvPr>
          <p:cNvSpPr>
            <a:spLocks noChangeArrowheads="1"/>
          </p:cNvSpPr>
          <p:nvPr/>
        </p:nvSpPr>
        <p:spPr bwMode="auto">
          <a:xfrm>
            <a:off x="6244510" y="2199187"/>
            <a:ext cx="2643188" cy="390525"/>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latin typeface="+mn-lt"/>
              </a:rPr>
              <a:t>Aligned Resources Analysis</a:t>
            </a:r>
          </a:p>
        </p:txBody>
      </p:sp>
      <p:sp>
        <p:nvSpPr>
          <p:cNvPr id="17" name="Rectangle 8">
            <a:extLst>
              <a:ext uri="{FF2B5EF4-FFF2-40B4-BE49-F238E27FC236}">
                <a16:creationId xmlns:a16="http://schemas.microsoft.com/office/drawing/2014/main" id="{2E4188C6-EDB4-C86D-A3A6-F5CEF0F98DC3}"/>
              </a:ext>
            </a:extLst>
          </p:cNvPr>
          <p:cNvSpPr>
            <a:spLocks noChangeArrowheads="1"/>
          </p:cNvSpPr>
          <p:nvPr/>
        </p:nvSpPr>
        <p:spPr bwMode="auto">
          <a:xfrm>
            <a:off x="6244510" y="2905624"/>
            <a:ext cx="2643188" cy="390525"/>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latin typeface="+mn-lt"/>
              </a:rPr>
              <a:t>Non-Aligned Resources</a:t>
            </a:r>
          </a:p>
          <a:p>
            <a:pPr algn="ctr">
              <a:lnSpc>
                <a:spcPct val="80000"/>
              </a:lnSpc>
              <a:buClrTx/>
              <a:buSzTx/>
              <a:buFontTx/>
              <a:buNone/>
            </a:pPr>
            <a:r>
              <a:rPr lang="en-US" altLang="en-US" sz="1200" dirty="0">
                <a:latin typeface="+mn-lt"/>
              </a:rPr>
              <a:t>Analysis</a:t>
            </a:r>
          </a:p>
        </p:txBody>
      </p:sp>
      <p:sp>
        <p:nvSpPr>
          <p:cNvPr id="18" name="Rectangle 9">
            <a:extLst>
              <a:ext uri="{FF2B5EF4-FFF2-40B4-BE49-F238E27FC236}">
                <a16:creationId xmlns:a16="http://schemas.microsoft.com/office/drawing/2014/main" id="{469458EA-89A5-3324-8C33-A386FFF3E890}"/>
              </a:ext>
            </a:extLst>
          </p:cNvPr>
          <p:cNvSpPr>
            <a:spLocks noChangeArrowheads="1"/>
          </p:cNvSpPr>
          <p:nvPr/>
        </p:nvSpPr>
        <p:spPr bwMode="auto">
          <a:xfrm>
            <a:off x="6244510" y="3626349"/>
            <a:ext cx="2643188" cy="390525"/>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Capacity Constraints</a:t>
            </a:r>
          </a:p>
        </p:txBody>
      </p:sp>
      <p:sp>
        <p:nvSpPr>
          <p:cNvPr id="19" name="Rectangle 10">
            <a:extLst>
              <a:ext uri="{FF2B5EF4-FFF2-40B4-BE49-F238E27FC236}">
                <a16:creationId xmlns:a16="http://schemas.microsoft.com/office/drawing/2014/main" id="{90822FCF-2864-D3ED-EB32-4B2AAFE95A1C}"/>
              </a:ext>
            </a:extLst>
          </p:cNvPr>
          <p:cNvSpPr>
            <a:spLocks noChangeArrowheads="1"/>
          </p:cNvSpPr>
          <p:nvPr/>
        </p:nvSpPr>
        <p:spPr bwMode="auto">
          <a:xfrm>
            <a:off x="6244510" y="4356599"/>
            <a:ext cx="2643188" cy="390525"/>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Confirm Net Capacity</a:t>
            </a:r>
          </a:p>
        </p:txBody>
      </p:sp>
      <p:cxnSp>
        <p:nvCxnSpPr>
          <p:cNvPr id="20" name="AutoShape 11">
            <a:extLst>
              <a:ext uri="{FF2B5EF4-FFF2-40B4-BE49-F238E27FC236}">
                <a16:creationId xmlns:a16="http://schemas.microsoft.com/office/drawing/2014/main" id="{D1A7DEA2-AB4A-8293-5E13-97A0068A97C8}"/>
              </a:ext>
            </a:extLst>
          </p:cNvPr>
          <p:cNvCxnSpPr>
            <a:cxnSpLocks noChangeShapeType="1"/>
            <a:stCxn id="16" idx="2"/>
            <a:endCxn id="17" idx="0"/>
          </p:cNvCxnSpPr>
          <p:nvPr/>
        </p:nvCxnSpPr>
        <p:spPr bwMode="auto">
          <a:xfrm>
            <a:off x="7566898" y="2589712"/>
            <a:ext cx="0" cy="31591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12">
            <a:extLst>
              <a:ext uri="{FF2B5EF4-FFF2-40B4-BE49-F238E27FC236}">
                <a16:creationId xmlns:a16="http://schemas.microsoft.com/office/drawing/2014/main" id="{44903F88-3A52-0B9F-4B05-82FD906A9FA7}"/>
              </a:ext>
            </a:extLst>
          </p:cNvPr>
          <p:cNvCxnSpPr>
            <a:cxnSpLocks noChangeShapeType="1"/>
            <a:stCxn id="17" idx="2"/>
            <a:endCxn id="18" idx="0"/>
          </p:cNvCxnSpPr>
          <p:nvPr/>
        </p:nvCxnSpPr>
        <p:spPr bwMode="auto">
          <a:xfrm>
            <a:off x="7566898" y="3296149"/>
            <a:ext cx="0" cy="33020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13">
            <a:extLst>
              <a:ext uri="{FF2B5EF4-FFF2-40B4-BE49-F238E27FC236}">
                <a16:creationId xmlns:a16="http://schemas.microsoft.com/office/drawing/2014/main" id="{403FFF03-854E-780F-F5A1-F50522809588}"/>
              </a:ext>
            </a:extLst>
          </p:cNvPr>
          <p:cNvCxnSpPr>
            <a:cxnSpLocks noChangeShapeType="1"/>
            <a:stCxn id="18" idx="2"/>
            <a:endCxn id="19" idx="0"/>
          </p:cNvCxnSpPr>
          <p:nvPr/>
        </p:nvCxnSpPr>
        <p:spPr bwMode="auto">
          <a:xfrm>
            <a:off x="7566898" y="4016874"/>
            <a:ext cx="0" cy="33972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 name="Rectangle 14">
            <a:extLst>
              <a:ext uri="{FF2B5EF4-FFF2-40B4-BE49-F238E27FC236}">
                <a16:creationId xmlns:a16="http://schemas.microsoft.com/office/drawing/2014/main" id="{1280EA25-CE48-4E76-FB39-7E20FF6A4B17}"/>
              </a:ext>
            </a:extLst>
          </p:cNvPr>
          <p:cNvSpPr>
            <a:spLocks noChangeArrowheads="1"/>
          </p:cNvSpPr>
          <p:nvPr/>
        </p:nvSpPr>
        <p:spPr bwMode="auto">
          <a:xfrm>
            <a:off x="6244510" y="5051924"/>
            <a:ext cx="2643188" cy="392113"/>
          </a:xfrm>
          <a:prstGeom prst="rect">
            <a:avLst/>
          </a:prstGeom>
          <a:solidFill>
            <a:schemeClr val="accent5"/>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Match Supply &amp; Demand</a:t>
            </a:r>
          </a:p>
        </p:txBody>
      </p:sp>
      <p:cxnSp>
        <p:nvCxnSpPr>
          <p:cNvPr id="24" name="AutoShape 15">
            <a:extLst>
              <a:ext uri="{FF2B5EF4-FFF2-40B4-BE49-F238E27FC236}">
                <a16:creationId xmlns:a16="http://schemas.microsoft.com/office/drawing/2014/main" id="{302ED34B-D1EB-6F9F-B1BE-D91105BDA239}"/>
              </a:ext>
            </a:extLst>
          </p:cNvPr>
          <p:cNvCxnSpPr>
            <a:cxnSpLocks noChangeShapeType="1"/>
            <a:stCxn id="19" idx="2"/>
            <a:endCxn id="23" idx="0"/>
          </p:cNvCxnSpPr>
          <p:nvPr/>
        </p:nvCxnSpPr>
        <p:spPr bwMode="auto">
          <a:xfrm>
            <a:off x="7566898" y="4747124"/>
            <a:ext cx="0" cy="30480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Text Box 21">
            <a:extLst>
              <a:ext uri="{FF2B5EF4-FFF2-40B4-BE49-F238E27FC236}">
                <a16:creationId xmlns:a16="http://schemas.microsoft.com/office/drawing/2014/main" id="{83AEA4D5-DC7E-9AC5-3A80-F4CA064C95E5}"/>
              </a:ext>
            </a:extLst>
          </p:cNvPr>
          <p:cNvSpPr txBox="1">
            <a:spLocks noChangeArrowheads="1"/>
          </p:cNvSpPr>
          <p:nvPr/>
        </p:nvSpPr>
        <p:spPr bwMode="auto">
          <a:xfrm>
            <a:off x="7850436" y="2646862"/>
            <a:ext cx="588623" cy="229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a:latin typeface="+mn-lt"/>
              </a:rPr>
              <a:t>-- OR --</a:t>
            </a:r>
          </a:p>
        </p:txBody>
      </p:sp>
      <p:sp>
        <p:nvSpPr>
          <p:cNvPr id="26" name="Text Box 22">
            <a:extLst>
              <a:ext uri="{FF2B5EF4-FFF2-40B4-BE49-F238E27FC236}">
                <a16:creationId xmlns:a16="http://schemas.microsoft.com/office/drawing/2014/main" id="{421179F4-085D-5F30-3348-DB372B2A2F59}"/>
              </a:ext>
            </a:extLst>
          </p:cNvPr>
          <p:cNvSpPr txBox="1">
            <a:spLocks noChangeArrowheads="1"/>
          </p:cNvSpPr>
          <p:nvPr/>
        </p:nvSpPr>
        <p:spPr bwMode="auto">
          <a:xfrm>
            <a:off x="7644562" y="3373937"/>
            <a:ext cx="1141658" cy="229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a:latin typeface="+mn-lt"/>
              </a:rPr>
              <a:t>-- Factoring In --</a:t>
            </a:r>
          </a:p>
        </p:txBody>
      </p:sp>
      <p:sp>
        <p:nvSpPr>
          <p:cNvPr id="27" name="Text Box 23">
            <a:extLst>
              <a:ext uri="{FF2B5EF4-FFF2-40B4-BE49-F238E27FC236}">
                <a16:creationId xmlns:a16="http://schemas.microsoft.com/office/drawing/2014/main" id="{A4C297A3-165E-3FAF-78A8-A5A5440578DD}"/>
              </a:ext>
            </a:extLst>
          </p:cNvPr>
          <p:cNvSpPr txBox="1">
            <a:spLocks noChangeArrowheads="1"/>
          </p:cNvSpPr>
          <p:nvPr/>
        </p:nvSpPr>
        <p:spPr bwMode="auto">
          <a:xfrm>
            <a:off x="7799720" y="4102599"/>
            <a:ext cx="899605" cy="229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a:latin typeface="+mn-lt"/>
              </a:rPr>
              <a:t>-- Yielding --</a:t>
            </a:r>
          </a:p>
        </p:txBody>
      </p:sp>
      <p:sp>
        <p:nvSpPr>
          <p:cNvPr id="42" name="Text Box 24">
            <a:extLst>
              <a:ext uri="{FF2B5EF4-FFF2-40B4-BE49-F238E27FC236}">
                <a16:creationId xmlns:a16="http://schemas.microsoft.com/office/drawing/2014/main" id="{74F1BE3C-EBAC-27DB-88F1-DB30F8A41F32}"/>
              </a:ext>
            </a:extLst>
          </p:cNvPr>
          <p:cNvSpPr txBox="1">
            <a:spLocks noChangeArrowheads="1"/>
          </p:cNvSpPr>
          <p:nvPr/>
        </p:nvSpPr>
        <p:spPr bwMode="auto">
          <a:xfrm>
            <a:off x="7645201" y="4801099"/>
            <a:ext cx="1173718" cy="229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a:latin typeface="+mn-lt"/>
              </a:rPr>
              <a:t>-- Allowing For --</a:t>
            </a:r>
          </a:p>
        </p:txBody>
      </p:sp>
      <p:sp>
        <p:nvSpPr>
          <p:cNvPr id="43" name="AutoShape 26">
            <a:extLst>
              <a:ext uri="{FF2B5EF4-FFF2-40B4-BE49-F238E27FC236}">
                <a16:creationId xmlns:a16="http://schemas.microsoft.com/office/drawing/2014/main" id="{24E5EF56-4386-3DE9-4ADE-418D793F7E47}"/>
              </a:ext>
            </a:extLst>
          </p:cNvPr>
          <p:cNvSpPr>
            <a:spLocks noChangeArrowheads="1"/>
          </p:cNvSpPr>
          <p:nvPr/>
        </p:nvSpPr>
        <p:spPr bwMode="auto">
          <a:xfrm>
            <a:off x="5565060" y="2337299"/>
            <a:ext cx="220663" cy="1766888"/>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4" name="Oval 16">
            <a:extLst>
              <a:ext uri="{FF2B5EF4-FFF2-40B4-BE49-F238E27FC236}">
                <a16:creationId xmlns:a16="http://schemas.microsoft.com/office/drawing/2014/main" id="{B7034BC0-1987-1AAE-AEAC-7947D34A01C3}"/>
              </a:ext>
            </a:extLst>
          </p:cNvPr>
          <p:cNvSpPr>
            <a:spLocks noChangeArrowheads="1"/>
          </p:cNvSpPr>
          <p:nvPr/>
        </p:nvSpPr>
        <p:spPr bwMode="auto">
          <a:xfrm>
            <a:off x="6082585" y="2043612"/>
            <a:ext cx="323850" cy="290512"/>
          </a:xfrm>
          <a:prstGeom prst="ellipse">
            <a:avLst/>
          </a:prstGeom>
          <a:solidFill>
            <a:schemeClr val="accent4"/>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1</a:t>
            </a:r>
          </a:p>
        </p:txBody>
      </p:sp>
      <p:sp>
        <p:nvSpPr>
          <p:cNvPr id="45" name="Oval 17">
            <a:extLst>
              <a:ext uri="{FF2B5EF4-FFF2-40B4-BE49-F238E27FC236}">
                <a16:creationId xmlns:a16="http://schemas.microsoft.com/office/drawing/2014/main" id="{47FF6AB8-FFE6-A64B-73D3-549D02B5591F}"/>
              </a:ext>
            </a:extLst>
          </p:cNvPr>
          <p:cNvSpPr>
            <a:spLocks noChangeArrowheads="1"/>
          </p:cNvSpPr>
          <p:nvPr/>
        </p:nvSpPr>
        <p:spPr bwMode="auto">
          <a:xfrm>
            <a:off x="6082585" y="2761162"/>
            <a:ext cx="323850" cy="290512"/>
          </a:xfrm>
          <a:prstGeom prst="ellipse">
            <a:avLst/>
          </a:prstGeom>
          <a:solidFill>
            <a:schemeClr val="accent4"/>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46" name="Oval 18">
            <a:extLst>
              <a:ext uri="{FF2B5EF4-FFF2-40B4-BE49-F238E27FC236}">
                <a16:creationId xmlns:a16="http://schemas.microsoft.com/office/drawing/2014/main" id="{8B40D8E0-CB11-28AA-6388-120007863800}"/>
              </a:ext>
            </a:extLst>
          </p:cNvPr>
          <p:cNvSpPr>
            <a:spLocks noChangeArrowheads="1"/>
          </p:cNvSpPr>
          <p:nvPr/>
        </p:nvSpPr>
        <p:spPr bwMode="auto">
          <a:xfrm>
            <a:off x="6082585" y="3486649"/>
            <a:ext cx="323850" cy="290513"/>
          </a:xfrm>
          <a:prstGeom prst="ellipse">
            <a:avLst/>
          </a:prstGeom>
          <a:solidFill>
            <a:schemeClr val="accent4"/>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47" name="Oval 19">
            <a:extLst>
              <a:ext uri="{FF2B5EF4-FFF2-40B4-BE49-F238E27FC236}">
                <a16:creationId xmlns:a16="http://schemas.microsoft.com/office/drawing/2014/main" id="{C764EA9E-0445-C2AF-3814-46AD4696D2A5}"/>
              </a:ext>
            </a:extLst>
          </p:cNvPr>
          <p:cNvSpPr>
            <a:spLocks noChangeArrowheads="1"/>
          </p:cNvSpPr>
          <p:nvPr/>
        </p:nvSpPr>
        <p:spPr bwMode="auto">
          <a:xfrm>
            <a:off x="6082585" y="4210549"/>
            <a:ext cx="323850" cy="290513"/>
          </a:xfrm>
          <a:prstGeom prst="ellipse">
            <a:avLst/>
          </a:prstGeom>
          <a:solidFill>
            <a:schemeClr val="accent4"/>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4</a:t>
            </a:r>
          </a:p>
        </p:txBody>
      </p:sp>
      <p:sp>
        <p:nvSpPr>
          <p:cNvPr id="48" name="Oval 20">
            <a:extLst>
              <a:ext uri="{FF2B5EF4-FFF2-40B4-BE49-F238E27FC236}">
                <a16:creationId xmlns:a16="http://schemas.microsoft.com/office/drawing/2014/main" id="{B50AE43D-791F-E3DF-FE98-A7EDD315A634}"/>
              </a:ext>
            </a:extLst>
          </p:cNvPr>
          <p:cNvSpPr>
            <a:spLocks noChangeArrowheads="1"/>
          </p:cNvSpPr>
          <p:nvPr/>
        </p:nvSpPr>
        <p:spPr bwMode="auto">
          <a:xfrm>
            <a:off x="6082585" y="4901112"/>
            <a:ext cx="323850" cy="290512"/>
          </a:xfrm>
          <a:prstGeom prst="ellipse">
            <a:avLst/>
          </a:prstGeom>
          <a:solidFill>
            <a:schemeClr val="accent4"/>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5</a:t>
            </a:r>
          </a:p>
        </p:txBody>
      </p:sp>
      <p:grpSp>
        <p:nvGrpSpPr>
          <p:cNvPr id="9" name="Group 51">
            <a:extLst>
              <a:ext uri="{FF2B5EF4-FFF2-40B4-BE49-F238E27FC236}">
                <a16:creationId xmlns:a16="http://schemas.microsoft.com/office/drawing/2014/main" id="{5A57BA6B-AFB3-E1BA-0842-22F781B107E5}"/>
              </a:ext>
            </a:extLst>
          </p:cNvPr>
          <p:cNvGrpSpPr>
            <a:grpSpLocks/>
          </p:cNvGrpSpPr>
          <p:nvPr/>
        </p:nvGrpSpPr>
        <p:grpSpPr bwMode="auto">
          <a:xfrm>
            <a:off x="8420088" y="5628516"/>
            <a:ext cx="2933712" cy="650333"/>
            <a:chOff x="676" y="3874"/>
            <a:chExt cx="1500" cy="392"/>
          </a:xfrm>
        </p:grpSpPr>
        <p:sp>
          <p:nvSpPr>
            <p:cNvPr id="10" name="Line 35">
              <a:extLst>
                <a:ext uri="{FF2B5EF4-FFF2-40B4-BE49-F238E27FC236}">
                  <a16:creationId xmlns:a16="http://schemas.microsoft.com/office/drawing/2014/main" id="{98D96B0E-C29F-303F-6AA0-6DD18B5ADDFE}"/>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36">
              <a:extLst>
                <a:ext uri="{FF2B5EF4-FFF2-40B4-BE49-F238E27FC236}">
                  <a16:creationId xmlns:a16="http://schemas.microsoft.com/office/drawing/2014/main" id="{DE2E565A-EBCF-37E8-72AD-E304795523A8}"/>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7">
              <a:extLst>
                <a:ext uri="{FF2B5EF4-FFF2-40B4-BE49-F238E27FC236}">
                  <a16:creationId xmlns:a16="http://schemas.microsoft.com/office/drawing/2014/main" id="{2709B5E0-1008-A774-B640-1AF16D20576B}"/>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38">
              <a:extLst>
                <a:ext uri="{FF2B5EF4-FFF2-40B4-BE49-F238E27FC236}">
                  <a16:creationId xmlns:a16="http://schemas.microsoft.com/office/drawing/2014/main" id="{8D0BD767-2F1F-D271-E03F-6A0ADB156ADC}"/>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4" name="Rectangle 39">
              <a:extLst>
                <a:ext uri="{FF2B5EF4-FFF2-40B4-BE49-F238E27FC236}">
                  <a16:creationId xmlns:a16="http://schemas.microsoft.com/office/drawing/2014/main" id="{F80F5A46-C67E-9815-3D06-36B7F4EFB8C0}"/>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49" name="Rectangle 40">
              <a:extLst>
                <a:ext uri="{FF2B5EF4-FFF2-40B4-BE49-F238E27FC236}">
                  <a16:creationId xmlns:a16="http://schemas.microsoft.com/office/drawing/2014/main" id="{619FB73D-2945-D7F2-A529-E487577F00B3}"/>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50" name="Rectangle 41">
              <a:extLst>
                <a:ext uri="{FF2B5EF4-FFF2-40B4-BE49-F238E27FC236}">
                  <a16:creationId xmlns:a16="http://schemas.microsoft.com/office/drawing/2014/main" id="{E03C7C3B-B3B7-BF09-AF6E-C23A35FDA3B9}"/>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51" name="AutoShape 42">
              <a:extLst>
                <a:ext uri="{FF2B5EF4-FFF2-40B4-BE49-F238E27FC236}">
                  <a16:creationId xmlns:a16="http://schemas.microsoft.com/office/drawing/2014/main" id="{874ADC02-B117-21D2-FBA3-F81E1E24E0B3}"/>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52" name="Rectangle 43">
              <a:extLst>
                <a:ext uri="{FF2B5EF4-FFF2-40B4-BE49-F238E27FC236}">
                  <a16:creationId xmlns:a16="http://schemas.microsoft.com/office/drawing/2014/main" id="{AC9133B0-AB29-AD5B-A705-18045C1C2FB3}"/>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53" name="Rectangle 44">
              <a:extLst>
                <a:ext uri="{FF2B5EF4-FFF2-40B4-BE49-F238E27FC236}">
                  <a16:creationId xmlns:a16="http://schemas.microsoft.com/office/drawing/2014/main" id="{5A09E484-37FA-70A5-FAD3-6FD07AD806EC}"/>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54" name="Rectangle 45">
              <a:extLst>
                <a:ext uri="{FF2B5EF4-FFF2-40B4-BE49-F238E27FC236}">
                  <a16:creationId xmlns:a16="http://schemas.microsoft.com/office/drawing/2014/main" id="{8FB62556-4DBF-FFE3-0C34-8B1768ABBFEC}"/>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55" name="Rectangle 46">
              <a:extLst>
                <a:ext uri="{FF2B5EF4-FFF2-40B4-BE49-F238E27FC236}">
                  <a16:creationId xmlns:a16="http://schemas.microsoft.com/office/drawing/2014/main" id="{C5019E8A-58C3-6E61-5997-2E444E7611B8}"/>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56" name="Rectangle 47">
              <a:extLst>
                <a:ext uri="{FF2B5EF4-FFF2-40B4-BE49-F238E27FC236}">
                  <a16:creationId xmlns:a16="http://schemas.microsoft.com/office/drawing/2014/main" id="{0AD58823-555D-DB01-8B8F-B7431A72674F}"/>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1765243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Demand Planning First Step:  </a:t>
            </a:r>
            <a:br>
              <a:rPr lang="en-US" dirty="0"/>
            </a:br>
            <a:r>
              <a:rPr lang="en-US" dirty="0"/>
              <a:t>Defining The Operating Environment</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With a detailed focus on production capabilities, the S&amp;OP pilot team must first confirm the type of operating environment that exists – Aligned resources or “unaligned” resources.</a:t>
            </a:r>
          </a:p>
        </p:txBody>
      </p:sp>
      <p:grpSp>
        <p:nvGrpSpPr>
          <p:cNvPr id="82" name="Group 81">
            <a:extLst>
              <a:ext uri="{FF2B5EF4-FFF2-40B4-BE49-F238E27FC236}">
                <a16:creationId xmlns:a16="http://schemas.microsoft.com/office/drawing/2014/main" id="{11A9AA7C-BF35-1FA3-083B-4C63A99EC1D5}"/>
              </a:ext>
            </a:extLst>
          </p:cNvPr>
          <p:cNvGrpSpPr/>
          <p:nvPr/>
        </p:nvGrpSpPr>
        <p:grpSpPr>
          <a:xfrm>
            <a:off x="434393" y="2010786"/>
            <a:ext cx="8269288" cy="4062498"/>
            <a:chOff x="622300" y="2273300"/>
            <a:chExt cx="8269288" cy="4062498"/>
          </a:xfrm>
        </p:grpSpPr>
        <p:grpSp>
          <p:nvGrpSpPr>
            <p:cNvPr id="9" name="Group 41">
              <a:extLst>
                <a:ext uri="{FF2B5EF4-FFF2-40B4-BE49-F238E27FC236}">
                  <a16:creationId xmlns:a16="http://schemas.microsoft.com/office/drawing/2014/main" id="{4599CE3A-A4E4-720F-6979-025BC68CF8AD}"/>
                </a:ext>
              </a:extLst>
            </p:cNvPr>
            <p:cNvGrpSpPr>
              <a:grpSpLocks/>
            </p:cNvGrpSpPr>
            <p:nvPr/>
          </p:nvGrpSpPr>
          <p:grpSpPr bwMode="auto">
            <a:xfrm>
              <a:off x="706438" y="2716213"/>
              <a:ext cx="3221037" cy="2160587"/>
              <a:chOff x="369" y="1507"/>
              <a:chExt cx="2029" cy="1645"/>
            </a:xfrm>
          </p:grpSpPr>
          <p:sp>
            <p:nvSpPr>
              <p:cNvPr id="10" name="Rectangle 37">
                <a:extLst>
                  <a:ext uri="{FF2B5EF4-FFF2-40B4-BE49-F238E27FC236}">
                    <a16:creationId xmlns:a16="http://schemas.microsoft.com/office/drawing/2014/main" id="{79C922E2-ADF7-7593-75B1-7417C5C3143E}"/>
                  </a:ext>
                </a:extLst>
              </p:cNvPr>
              <p:cNvSpPr>
                <a:spLocks noChangeArrowheads="1"/>
              </p:cNvSpPr>
              <p:nvPr/>
            </p:nvSpPr>
            <p:spPr bwMode="auto">
              <a:xfrm>
                <a:off x="369" y="1507"/>
                <a:ext cx="2029" cy="1645"/>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1" name="Rectangle 7">
                <a:extLst>
                  <a:ext uri="{FF2B5EF4-FFF2-40B4-BE49-F238E27FC236}">
                    <a16:creationId xmlns:a16="http://schemas.microsoft.com/office/drawing/2014/main" id="{068C0B6E-63ED-66C6-6B19-4D7A9817B1C5}"/>
                  </a:ext>
                </a:extLst>
              </p:cNvPr>
              <p:cNvSpPr>
                <a:spLocks noChangeArrowheads="1"/>
              </p:cNvSpPr>
              <p:nvPr/>
            </p:nvSpPr>
            <p:spPr bwMode="auto">
              <a:xfrm>
                <a:off x="491" y="1607"/>
                <a:ext cx="514" cy="388"/>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buClrTx/>
                  <a:buSzTx/>
                  <a:buFontTx/>
                  <a:buNone/>
                </a:pPr>
                <a:r>
                  <a:rPr lang="en-US" altLang="en-US" sz="1000">
                    <a:solidFill>
                      <a:schemeClr val="bg1"/>
                    </a:solidFill>
                    <a:latin typeface="+mn-lt"/>
                  </a:rPr>
                  <a:t>Product</a:t>
                </a:r>
              </a:p>
              <a:p>
                <a:pPr algn="ctr">
                  <a:buClrTx/>
                  <a:buSzTx/>
                  <a:buFontTx/>
                  <a:buNone/>
                </a:pPr>
                <a:r>
                  <a:rPr lang="en-US" altLang="en-US" sz="1000">
                    <a:solidFill>
                      <a:schemeClr val="bg1"/>
                    </a:solidFill>
                    <a:latin typeface="+mn-lt"/>
                  </a:rPr>
                  <a:t>A</a:t>
                </a:r>
              </a:p>
            </p:txBody>
          </p:sp>
          <p:sp>
            <p:nvSpPr>
              <p:cNvPr id="12" name="Rectangle 9">
                <a:extLst>
                  <a:ext uri="{FF2B5EF4-FFF2-40B4-BE49-F238E27FC236}">
                    <a16:creationId xmlns:a16="http://schemas.microsoft.com/office/drawing/2014/main" id="{B9FEEDB2-01DA-ABBD-BA19-2019B9938E4C}"/>
                  </a:ext>
                </a:extLst>
              </p:cNvPr>
              <p:cNvSpPr>
                <a:spLocks noChangeArrowheads="1"/>
              </p:cNvSpPr>
              <p:nvPr/>
            </p:nvSpPr>
            <p:spPr bwMode="auto">
              <a:xfrm>
                <a:off x="1134" y="1607"/>
                <a:ext cx="514" cy="388"/>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buClrTx/>
                  <a:buSzTx/>
                  <a:buFontTx/>
                  <a:buNone/>
                </a:pPr>
                <a:r>
                  <a:rPr lang="en-US" altLang="en-US" sz="1000">
                    <a:solidFill>
                      <a:schemeClr val="bg1"/>
                    </a:solidFill>
                    <a:latin typeface="+mn-lt"/>
                  </a:rPr>
                  <a:t>Product</a:t>
                </a:r>
              </a:p>
              <a:p>
                <a:pPr algn="ctr">
                  <a:buClrTx/>
                  <a:buSzTx/>
                  <a:buFontTx/>
                  <a:buNone/>
                </a:pPr>
                <a:r>
                  <a:rPr lang="en-US" altLang="en-US" sz="1000">
                    <a:solidFill>
                      <a:schemeClr val="bg1"/>
                    </a:solidFill>
                    <a:latin typeface="+mn-lt"/>
                  </a:rPr>
                  <a:t>B</a:t>
                </a:r>
              </a:p>
            </p:txBody>
          </p:sp>
          <p:sp>
            <p:nvSpPr>
              <p:cNvPr id="13" name="Rectangle 10">
                <a:extLst>
                  <a:ext uri="{FF2B5EF4-FFF2-40B4-BE49-F238E27FC236}">
                    <a16:creationId xmlns:a16="http://schemas.microsoft.com/office/drawing/2014/main" id="{F2AEB8D2-9287-BEDD-B583-6F6381D8C112}"/>
                  </a:ext>
                </a:extLst>
              </p:cNvPr>
              <p:cNvSpPr>
                <a:spLocks noChangeArrowheads="1"/>
              </p:cNvSpPr>
              <p:nvPr/>
            </p:nvSpPr>
            <p:spPr bwMode="auto">
              <a:xfrm>
                <a:off x="1776" y="1607"/>
                <a:ext cx="514" cy="388"/>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buClrTx/>
                  <a:buSzTx/>
                  <a:buFontTx/>
                  <a:buNone/>
                </a:pPr>
                <a:r>
                  <a:rPr lang="en-US" altLang="en-US" sz="1000">
                    <a:solidFill>
                      <a:schemeClr val="bg1"/>
                    </a:solidFill>
                    <a:latin typeface="+mn-lt"/>
                  </a:rPr>
                  <a:t>Product </a:t>
                </a:r>
              </a:p>
              <a:p>
                <a:pPr algn="ctr">
                  <a:buClrTx/>
                  <a:buSzTx/>
                  <a:buFontTx/>
                  <a:buNone/>
                </a:pPr>
                <a:r>
                  <a:rPr lang="en-US" altLang="en-US" sz="1000">
                    <a:solidFill>
                      <a:schemeClr val="bg1"/>
                    </a:solidFill>
                    <a:latin typeface="+mn-lt"/>
                  </a:rPr>
                  <a:t>C</a:t>
                </a:r>
              </a:p>
            </p:txBody>
          </p:sp>
          <p:sp>
            <p:nvSpPr>
              <p:cNvPr id="14" name="Rectangle 11">
                <a:extLst>
                  <a:ext uri="{FF2B5EF4-FFF2-40B4-BE49-F238E27FC236}">
                    <a16:creationId xmlns:a16="http://schemas.microsoft.com/office/drawing/2014/main" id="{36BC0120-FAC6-3883-3386-649B6ECC4565}"/>
                  </a:ext>
                </a:extLst>
              </p:cNvPr>
              <p:cNvSpPr>
                <a:spLocks noChangeArrowheads="1"/>
              </p:cNvSpPr>
              <p:nvPr/>
            </p:nvSpPr>
            <p:spPr bwMode="auto">
              <a:xfrm>
                <a:off x="491" y="2310"/>
                <a:ext cx="514" cy="724"/>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buClrTx/>
                  <a:buSzTx/>
                  <a:buFontTx/>
                  <a:buNone/>
                </a:pPr>
                <a:r>
                  <a:rPr lang="en-US" altLang="en-US" sz="1000">
                    <a:solidFill>
                      <a:schemeClr val="bg1"/>
                    </a:solidFill>
                    <a:latin typeface="+mn-lt"/>
                  </a:rPr>
                  <a:t>Production</a:t>
                </a:r>
              </a:p>
              <a:p>
                <a:pPr algn="ctr">
                  <a:buClrTx/>
                  <a:buSzTx/>
                  <a:buFontTx/>
                  <a:buNone/>
                </a:pPr>
                <a:r>
                  <a:rPr lang="en-US" altLang="en-US" sz="1000">
                    <a:solidFill>
                      <a:schemeClr val="bg1"/>
                    </a:solidFill>
                    <a:latin typeface="+mn-lt"/>
                  </a:rPr>
                  <a:t>Resource</a:t>
                </a:r>
              </a:p>
              <a:p>
                <a:pPr algn="ctr">
                  <a:buClrTx/>
                  <a:buSzTx/>
                  <a:buFontTx/>
                  <a:buNone/>
                </a:pPr>
                <a:r>
                  <a:rPr lang="en-US" altLang="en-US" sz="1000">
                    <a:solidFill>
                      <a:schemeClr val="bg1"/>
                    </a:solidFill>
                    <a:latin typeface="+mn-lt"/>
                  </a:rPr>
                  <a:t>1</a:t>
                </a:r>
              </a:p>
            </p:txBody>
          </p:sp>
          <p:sp>
            <p:nvSpPr>
              <p:cNvPr id="49" name="Rectangle 12">
                <a:extLst>
                  <a:ext uri="{FF2B5EF4-FFF2-40B4-BE49-F238E27FC236}">
                    <a16:creationId xmlns:a16="http://schemas.microsoft.com/office/drawing/2014/main" id="{A2B3CF2A-5A68-9172-EA4C-B5020C8C30EE}"/>
                  </a:ext>
                </a:extLst>
              </p:cNvPr>
              <p:cNvSpPr>
                <a:spLocks noChangeArrowheads="1"/>
              </p:cNvSpPr>
              <p:nvPr/>
            </p:nvSpPr>
            <p:spPr bwMode="auto">
              <a:xfrm>
                <a:off x="1134" y="2310"/>
                <a:ext cx="514" cy="724"/>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buClrTx/>
                  <a:buSzTx/>
                  <a:buFontTx/>
                  <a:buNone/>
                </a:pPr>
                <a:r>
                  <a:rPr lang="en-US" altLang="en-US" sz="1000">
                    <a:solidFill>
                      <a:schemeClr val="bg1"/>
                    </a:solidFill>
                    <a:latin typeface="+mn-lt"/>
                  </a:rPr>
                  <a:t>Production</a:t>
                </a:r>
              </a:p>
              <a:p>
                <a:pPr algn="ctr">
                  <a:buClrTx/>
                  <a:buSzTx/>
                  <a:buFontTx/>
                  <a:buNone/>
                </a:pPr>
                <a:r>
                  <a:rPr lang="en-US" altLang="en-US" sz="1000">
                    <a:solidFill>
                      <a:schemeClr val="bg1"/>
                    </a:solidFill>
                    <a:latin typeface="+mn-lt"/>
                  </a:rPr>
                  <a:t>Resource</a:t>
                </a:r>
              </a:p>
              <a:p>
                <a:pPr algn="ctr">
                  <a:buClrTx/>
                  <a:buSzTx/>
                  <a:buFontTx/>
                  <a:buNone/>
                </a:pPr>
                <a:r>
                  <a:rPr lang="en-US" altLang="en-US" sz="1000">
                    <a:solidFill>
                      <a:schemeClr val="bg1"/>
                    </a:solidFill>
                    <a:latin typeface="+mn-lt"/>
                  </a:rPr>
                  <a:t>2</a:t>
                </a:r>
              </a:p>
            </p:txBody>
          </p:sp>
          <p:sp>
            <p:nvSpPr>
              <p:cNvPr id="50" name="Rectangle 13">
                <a:extLst>
                  <a:ext uri="{FF2B5EF4-FFF2-40B4-BE49-F238E27FC236}">
                    <a16:creationId xmlns:a16="http://schemas.microsoft.com/office/drawing/2014/main" id="{7300D849-CD43-75A3-91CE-B44436926D5D}"/>
                  </a:ext>
                </a:extLst>
              </p:cNvPr>
              <p:cNvSpPr>
                <a:spLocks noChangeArrowheads="1"/>
              </p:cNvSpPr>
              <p:nvPr/>
            </p:nvSpPr>
            <p:spPr bwMode="auto">
              <a:xfrm>
                <a:off x="1776" y="2310"/>
                <a:ext cx="514" cy="724"/>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buClrTx/>
                  <a:buSzTx/>
                  <a:buFontTx/>
                  <a:buNone/>
                </a:pPr>
                <a:r>
                  <a:rPr lang="en-US" altLang="en-US" sz="1000">
                    <a:solidFill>
                      <a:schemeClr val="bg1"/>
                    </a:solidFill>
                    <a:latin typeface="+mn-lt"/>
                  </a:rPr>
                  <a:t>Production</a:t>
                </a:r>
              </a:p>
              <a:p>
                <a:pPr algn="ctr">
                  <a:buClrTx/>
                  <a:buSzTx/>
                  <a:buFontTx/>
                  <a:buNone/>
                </a:pPr>
                <a:r>
                  <a:rPr lang="en-US" altLang="en-US" sz="1000">
                    <a:solidFill>
                      <a:schemeClr val="bg1"/>
                    </a:solidFill>
                    <a:latin typeface="+mn-lt"/>
                  </a:rPr>
                  <a:t>Resource </a:t>
                </a:r>
              </a:p>
              <a:p>
                <a:pPr algn="ctr">
                  <a:buClrTx/>
                  <a:buSzTx/>
                  <a:buFontTx/>
                  <a:buNone/>
                </a:pPr>
                <a:r>
                  <a:rPr lang="en-US" altLang="en-US" sz="1000">
                    <a:solidFill>
                      <a:schemeClr val="bg1"/>
                    </a:solidFill>
                    <a:latin typeface="+mn-lt"/>
                  </a:rPr>
                  <a:t>3</a:t>
                </a:r>
              </a:p>
            </p:txBody>
          </p:sp>
          <p:cxnSp>
            <p:nvCxnSpPr>
              <p:cNvPr id="51" name="AutoShape 14">
                <a:extLst>
                  <a:ext uri="{FF2B5EF4-FFF2-40B4-BE49-F238E27FC236}">
                    <a16:creationId xmlns:a16="http://schemas.microsoft.com/office/drawing/2014/main" id="{9A3BD652-7A01-0546-9A4F-E469FE5AD20F}"/>
                  </a:ext>
                </a:extLst>
              </p:cNvPr>
              <p:cNvCxnSpPr>
                <a:cxnSpLocks noChangeShapeType="1"/>
                <a:stCxn id="14" idx="0"/>
                <a:endCxn id="11" idx="2"/>
              </p:cNvCxnSpPr>
              <p:nvPr/>
            </p:nvCxnSpPr>
            <p:spPr bwMode="auto">
              <a:xfrm flipV="1">
                <a:off x="748" y="1995"/>
                <a:ext cx="0" cy="314"/>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2" name="AutoShape 15">
                <a:extLst>
                  <a:ext uri="{FF2B5EF4-FFF2-40B4-BE49-F238E27FC236}">
                    <a16:creationId xmlns:a16="http://schemas.microsoft.com/office/drawing/2014/main" id="{69F20880-4F3F-C2C5-C595-89B58463E1A7}"/>
                  </a:ext>
                </a:extLst>
              </p:cNvPr>
              <p:cNvCxnSpPr>
                <a:cxnSpLocks noChangeShapeType="1"/>
                <a:stCxn id="49" idx="0"/>
                <a:endCxn id="12" idx="2"/>
              </p:cNvCxnSpPr>
              <p:nvPr/>
            </p:nvCxnSpPr>
            <p:spPr bwMode="auto">
              <a:xfrm flipV="1">
                <a:off x="1391" y="1995"/>
                <a:ext cx="0" cy="314"/>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 name="AutoShape 16">
                <a:extLst>
                  <a:ext uri="{FF2B5EF4-FFF2-40B4-BE49-F238E27FC236}">
                    <a16:creationId xmlns:a16="http://schemas.microsoft.com/office/drawing/2014/main" id="{9FC440BB-993A-1342-113D-614EC3EB7B9D}"/>
                  </a:ext>
                </a:extLst>
              </p:cNvPr>
              <p:cNvCxnSpPr>
                <a:cxnSpLocks noChangeShapeType="1"/>
              </p:cNvCxnSpPr>
              <p:nvPr/>
            </p:nvCxnSpPr>
            <p:spPr bwMode="auto">
              <a:xfrm flipV="1">
                <a:off x="2038" y="1984"/>
                <a:ext cx="0" cy="31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54" name="Group 49">
              <a:extLst>
                <a:ext uri="{FF2B5EF4-FFF2-40B4-BE49-F238E27FC236}">
                  <a16:creationId xmlns:a16="http://schemas.microsoft.com/office/drawing/2014/main" id="{D10B3FA9-26A9-D391-A997-4596F5F62280}"/>
                </a:ext>
              </a:extLst>
            </p:cNvPr>
            <p:cNvGrpSpPr>
              <a:grpSpLocks/>
            </p:cNvGrpSpPr>
            <p:nvPr/>
          </p:nvGrpSpPr>
          <p:grpSpPr bwMode="auto">
            <a:xfrm>
              <a:off x="4705350" y="2716213"/>
              <a:ext cx="3897313" cy="2486025"/>
              <a:chOff x="2944" y="1623"/>
              <a:chExt cx="2455" cy="1699"/>
            </a:xfrm>
          </p:grpSpPr>
          <p:sp>
            <p:nvSpPr>
              <p:cNvPr id="55" name="Rectangle 38">
                <a:extLst>
                  <a:ext uri="{FF2B5EF4-FFF2-40B4-BE49-F238E27FC236}">
                    <a16:creationId xmlns:a16="http://schemas.microsoft.com/office/drawing/2014/main" id="{34EE1852-7977-FAB4-8B37-B20E95869176}"/>
                  </a:ext>
                </a:extLst>
              </p:cNvPr>
              <p:cNvSpPr>
                <a:spLocks noChangeArrowheads="1"/>
              </p:cNvSpPr>
              <p:nvPr/>
            </p:nvSpPr>
            <p:spPr bwMode="auto">
              <a:xfrm>
                <a:off x="2944" y="1623"/>
                <a:ext cx="2455" cy="1699"/>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cxnSp>
            <p:nvCxnSpPr>
              <p:cNvPr id="56" name="AutoShape 35">
                <a:extLst>
                  <a:ext uri="{FF2B5EF4-FFF2-40B4-BE49-F238E27FC236}">
                    <a16:creationId xmlns:a16="http://schemas.microsoft.com/office/drawing/2014/main" id="{6381F7EA-842E-76AF-35B8-2B9C582B7559}"/>
                  </a:ext>
                </a:extLst>
              </p:cNvPr>
              <p:cNvCxnSpPr>
                <a:cxnSpLocks noChangeShapeType="1"/>
              </p:cNvCxnSpPr>
              <p:nvPr/>
            </p:nvCxnSpPr>
            <p:spPr bwMode="auto">
              <a:xfrm rot="5400000" flipH="1" flipV="1">
                <a:off x="3701" y="1702"/>
                <a:ext cx="1187" cy="1543"/>
              </a:xfrm>
              <a:prstGeom prst="bentConnector4">
                <a:avLst>
                  <a:gd name="adj1" fmla="val -10037"/>
                  <a:gd name="adj2" fmla="val 11509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7" name="Rectangle 17">
                <a:extLst>
                  <a:ext uri="{FF2B5EF4-FFF2-40B4-BE49-F238E27FC236}">
                    <a16:creationId xmlns:a16="http://schemas.microsoft.com/office/drawing/2014/main" id="{5F3F8BA2-AB27-3860-7948-700873CE266E}"/>
                  </a:ext>
                </a:extLst>
              </p:cNvPr>
              <p:cNvSpPr>
                <a:spLocks noChangeArrowheads="1"/>
              </p:cNvSpPr>
              <p:nvPr/>
            </p:nvSpPr>
            <p:spPr bwMode="auto">
              <a:xfrm>
                <a:off x="3267" y="1779"/>
                <a:ext cx="514" cy="321"/>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1000">
                    <a:solidFill>
                      <a:schemeClr val="bg1"/>
                    </a:solidFill>
                    <a:latin typeface="+mn-lt"/>
                  </a:rPr>
                  <a:t>Product</a:t>
                </a:r>
              </a:p>
              <a:p>
                <a:pPr algn="ctr">
                  <a:lnSpc>
                    <a:spcPct val="85000"/>
                  </a:lnSpc>
                  <a:buClrTx/>
                  <a:buSzTx/>
                  <a:buFontTx/>
                  <a:buNone/>
                </a:pPr>
                <a:r>
                  <a:rPr lang="en-US" altLang="en-US" sz="1000">
                    <a:solidFill>
                      <a:schemeClr val="bg1"/>
                    </a:solidFill>
                    <a:latin typeface="+mn-lt"/>
                  </a:rPr>
                  <a:t>D</a:t>
                </a:r>
              </a:p>
            </p:txBody>
          </p:sp>
          <p:sp>
            <p:nvSpPr>
              <p:cNvPr id="58" name="Rectangle 18">
                <a:extLst>
                  <a:ext uri="{FF2B5EF4-FFF2-40B4-BE49-F238E27FC236}">
                    <a16:creationId xmlns:a16="http://schemas.microsoft.com/office/drawing/2014/main" id="{0DFD8CBC-83BD-6CEE-9062-25D5358EB815}"/>
                  </a:ext>
                </a:extLst>
              </p:cNvPr>
              <p:cNvSpPr>
                <a:spLocks noChangeArrowheads="1"/>
              </p:cNvSpPr>
              <p:nvPr/>
            </p:nvSpPr>
            <p:spPr bwMode="auto">
              <a:xfrm>
                <a:off x="3910" y="1779"/>
                <a:ext cx="514" cy="321"/>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1000">
                    <a:solidFill>
                      <a:schemeClr val="bg1"/>
                    </a:solidFill>
                    <a:latin typeface="+mn-lt"/>
                  </a:rPr>
                  <a:t>Product</a:t>
                </a:r>
              </a:p>
              <a:p>
                <a:pPr algn="ctr">
                  <a:lnSpc>
                    <a:spcPct val="85000"/>
                  </a:lnSpc>
                  <a:buClrTx/>
                  <a:buSzTx/>
                  <a:buFontTx/>
                  <a:buNone/>
                </a:pPr>
                <a:r>
                  <a:rPr lang="en-US" altLang="en-US" sz="1000">
                    <a:solidFill>
                      <a:schemeClr val="bg1"/>
                    </a:solidFill>
                    <a:latin typeface="+mn-lt"/>
                  </a:rPr>
                  <a:t>E</a:t>
                </a:r>
              </a:p>
            </p:txBody>
          </p:sp>
          <p:sp>
            <p:nvSpPr>
              <p:cNvPr id="59" name="Rectangle 19">
                <a:extLst>
                  <a:ext uri="{FF2B5EF4-FFF2-40B4-BE49-F238E27FC236}">
                    <a16:creationId xmlns:a16="http://schemas.microsoft.com/office/drawing/2014/main" id="{84A93107-5D70-66E6-3926-D64264740276}"/>
                  </a:ext>
                </a:extLst>
              </p:cNvPr>
              <p:cNvSpPr>
                <a:spLocks noChangeArrowheads="1"/>
              </p:cNvSpPr>
              <p:nvPr/>
            </p:nvSpPr>
            <p:spPr bwMode="auto">
              <a:xfrm>
                <a:off x="4552" y="1779"/>
                <a:ext cx="514" cy="321"/>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1000">
                    <a:solidFill>
                      <a:schemeClr val="bg1"/>
                    </a:solidFill>
                    <a:latin typeface="+mn-lt"/>
                  </a:rPr>
                  <a:t>Product </a:t>
                </a:r>
              </a:p>
              <a:p>
                <a:pPr algn="ctr">
                  <a:lnSpc>
                    <a:spcPct val="85000"/>
                  </a:lnSpc>
                  <a:buClrTx/>
                  <a:buSzTx/>
                  <a:buFontTx/>
                  <a:buNone/>
                </a:pPr>
                <a:r>
                  <a:rPr lang="en-US" altLang="en-US" sz="1000">
                    <a:solidFill>
                      <a:schemeClr val="bg1"/>
                    </a:solidFill>
                    <a:latin typeface="+mn-lt"/>
                  </a:rPr>
                  <a:t>F</a:t>
                </a:r>
              </a:p>
            </p:txBody>
          </p:sp>
          <p:sp>
            <p:nvSpPr>
              <p:cNvPr id="60" name="Rectangle 20">
                <a:extLst>
                  <a:ext uri="{FF2B5EF4-FFF2-40B4-BE49-F238E27FC236}">
                    <a16:creationId xmlns:a16="http://schemas.microsoft.com/office/drawing/2014/main" id="{19CC2943-98B9-9FD3-009C-04A3FB3C3F2D}"/>
                  </a:ext>
                </a:extLst>
              </p:cNvPr>
              <p:cNvSpPr>
                <a:spLocks noChangeArrowheads="1"/>
              </p:cNvSpPr>
              <p:nvPr/>
            </p:nvSpPr>
            <p:spPr bwMode="auto">
              <a:xfrm>
                <a:off x="3295" y="2323"/>
                <a:ext cx="456" cy="33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900">
                    <a:solidFill>
                      <a:schemeClr val="bg1"/>
                    </a:solidFill>
                    <a:latin typeface="+mn-lt"/>
                  </a:rPr>
                  <a:t>Production</a:t>
                </a:r>
              </a:p>
              <a:p>
                <a:pPr algn="ctr">
                  <a:lnSpc>
                    <a:spcPct val="85000"/>
                  </a:lnSpc>
                  <a:buClrTx/>
                  <a:buSzTx/>
                  <a:buFontTx/>
                  <a:buNone/>
                </a:pPr>
                <a:r>
                  <a:rPr lang="en-US" altLang="en-US" sz="900">
                    <a:solidFill>
                      <a:schemeClr val="bg1"/>
                    </a:solidFill>
                    <a:latin typeface="+mn-lt"/>
                  </a:rPr>
                  <a:t>Resource</a:t>
                </a:r>
              </a:p>
              <a:p>
                <a:pPr algn="ctr">
                  <a:lnSpc>
                    <a:spcPct val="85000"/>
                  </a:lnSpc>
                  <a:buClrTx/>
                  <a:buSzTx/>
                  <a:buFontTx/>
                  <a:buNone/>
                </a:pPr>
                <a:r>
                  <a:rPr lang="en-US" altLang="en-US" sz="900">
                    <a:solidFill>
                      <a:schemeClr val="bg1"/>
                    </a:solidFill>
                    <a:latin typeface="+mn-lt"/>
                  </a:rPr>
                  <a:t>1</a:t>
                </a:r>
              </a:p>
            </p:txBody>
          </p:sp>
          <p:sp>
            <p:nvSpPr>
              <p:cNvPr id="61" name="Rectangle 21">
                <a:extLst>
                  <a:ext uri="{FF2B5EF4-FFF2-40B4-BE49-F238E27FC236}">
                    <a16:creationId xmlns:a16="http://schemas.microsoft.com/office/drawing/2014/main" id="{1442A6AB-1FC5-056A-77E8-67901B510385}"/>
                  </a:ext>
                </a:extLst>
              </p:cNvPr>
              <p:cNvSpPr>
                <a:spLocks noChangeArrowheads="1"/>
              </p:cNvSpPr>
              <p:nvPr/>
            </p:nvSpPr>
            <p:spPr bwMode="auto">
              <a:xfrm>
                <a:off x="3938" y="2323"/>
                <a:ext cx="456" cy="33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900" dirty="0">
                    <a:solidFill>
                      <a:schemeClr val="bg1"/>
                    </a:solidFill>
                    <a:latin typeface="+mn-lt"/>
                  </a:rPr>
                  <a:t>Production</a:t>
                </a:r>
              </a:p>
              <a:p>
                <a:pPr algn="ctr">
                  <a:lnSpc>
                    <a:spcPct val="85000"/>
                  </a:lnSpc>
                  <a:buClrTx/>
                  <a:buSzTx/>
                  <a:buFontTx/>
                  <a:buNone/>
                </a:pPr>
                <a:r>
                  <a:rPr lang="en-US" altLang="en-US" sz="900" dirty="0">
                    <a:solidFill>
                      <a:schemeClr val="bg1"/>
                    </a:solidFill>
                    <a:latin typeface="+mn-lt"/>
                  </a:rPr>
                  <a:t>Resource</a:t>
                </a:r>
              </a:p>
              <a:p>
                <a:pPr algn="ctr">
                  <a:lnSpc>
                    <a:spcPct val="85000"/>
                  </a:lnSpc>
                  <a:buClrTx/>
                  <a:buSzTx/>
                  <a:buFontTx/>
                  <a:buNone/>
                </a:pPr>
                <a:r>
                  <a:rPr lang="en-US" altLang="en-US" sz="900" dirty="0">
                    <a:solidFill>
                      <a:schemeClr val="bg1"/>
                    </a:solidFill>
                    <a:latin typeface="+mn-lt"/>
                  </a:rPr>
                  <a:t>2</a:t>
                </a:r>
              </a:p>
            </p:txBody>
          </p:sp>
          <p:sp>
            <p:nvSpPr>
              <p:cNvPr id="62" name="Rectangle 22">
                <a:extLst>
                  <a:ext uri="{FF2B5EF4-FFF2-40B4-BE49-F238E27FC236}">
                    <a16:creationId xmlns:a16="http://schemas.microsoft.com/office/drawing/2014/main" id="{723900AC-4D58-F5D7-FF1A-3EEB2FF7331B}"/>
                  </a:ext>
                </a:extLst>
              </p:cNvPr>
              <p:cNvSpPr>
                <a:spLocks noChangeArrowheads="1"/>
              </p:cNvSpPr>
              <p:nvPr/>
            </p:nvSpPr>
            <p:spPr bwMode="auto">
              <a:xfrm>
                <a:off x="4580" y="2323"/>
                <a:ext cx="456" cy="33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900">
                    <a:solidFill>
                      <a:schemeClr val="bg1"/>
                    </a:solidFill>
                    <a:latin typeface="+mn-lt"/>
                  </a:rPr>
                  <a:t>Production</a:t>
                </a:r>
              </a:p>
              <a:p>
                <a:pPr algn="ctr">
                  <a:lnSpc>
                    <a:spcPct val="85000"/>
                  </a:lnSpc>
                  <a:buClrTx/>
                  <a:buSzTx/>
                  <a:buFontTx/>
                  <a:buNone/>
                </a:pPr>
                <a:r>
                  <a:rPr lang="en-US" altLang="en-US" sz="900">
                    <a:solidFill>
                      <a:schemeClr val="bg1"/>
                    </a:solidFill>
                    <a:latin typeface="+mn-lt"/>
                  </a:rPr>
                  <a:t>Resource </a:t>
                </a:r>
              </a:p>
              <a:p>
                <a:pPr algn="ctr">
                  <a:lnSpc>
                    <a:spcPct val="85000"/>
                  </a:lnSpc>
                  <a:buClrTx/>
                  <a:buSzTx/>
                  <a:buFontTx/>
                  <a:buNone/>
                </a:pPr>
                <a:r>
                  <a:rPr lang="en-US" altLang="en-US" sz="900">
                    <a:solidFill>
                      <a:schemeClr val="bg1"/>
                    </a:solidFill>
                    <a:latin typeface="+mn-lt"/>
                  </a:rPr>
                  <a:t>3</a:t>
                </a:r>
              </a:p>
            </p:txBody>
          </p:sp>
          <p:sp>
            <p:nvSpPr>
              <p:cNvPr id="63" name="Rectangle 23">
                <a:extLst>
                  <a:ext uri="{FF2B5EF4-FFF2-40B4-BE49-F238E27FC236}">
                    <a16:creationId xmlns:a16="http://schemas.microsoft.com/office/drawing/2014/main" id="{5740A4D9-2604-1788-66EB-4E338F90A9D5}"/>
                  </a:ext>
                </a:extLst>
              </p:cNvPr>
              <p:cNvSpPr>
                <a:spLocks noChangeArrowheads="1"/>
              </p:cNvSpPr>
              <p:nvPr/>
            </p:nvSpPr>
            <p:spPr bwMode="auto">
              <a:xfrm>
                <a:off x="3295" y="2789"/>
                <a:ext cx="456" cy="334"/>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900">
                    <a:solidFill>
                      <a:schemeClr val="bg1"/>
                    </a:solidFill>
                    <a:latin typeface="+mn-lt"/>
                  </a:rPr>
                  <a:t>Production</a:t>
                </a:r>
              </a:p>
              <a:p>
                <a:pPr algn="ctr">
                  <a:lnSpc>
                    <a:spcPct val="85000"/>
                  </a:lnSpc>
                  <a:buClrTx/>
                  <a:buSzTx/>
                  <a:buFontTx/>
                  <a:buNone/>
                </a:pPr>
                <a:r>
                  <a:rPr lang="en-US" altLang="en-US" sz="900">
                    <a:solidFill>
                      <a:schemeClr val="bg1"/>
                    </a:solidFill>
                    <a:latin typeface="+mn-lt"/>
                  </a:rPr>
                  <a:t>Resource</a:t>
                </a:r>
              </a:p>
              <a:p>
                <a:pPr algn="ctr">
                  <a:lnSpc>
                    <a:spcPct val="85000"/>
                  </a:lnSpc>
                  <a:buClrTx/>
                  <a:buSzTx/>
                  <a:buFontTx/>
                  <a:buNone/>
                </a:pPr>
                <a:r>
                  <a:rPr lang="en-US" altLang="en-US" sz="900">
                    <a:solidFill>
                      <a:schemeClr val="bg1"/>
                    </a:solidFill>
                    <a:latin typeface="+mn-lt"/>
                  </a:rPr>
                  <a:t>4</a:t>
                </a:r>
              </a:p>
            </p:txBody>
          </p:sp>
          <p:sp>
            <p:nvSpPr>
              <p:cNvPr id="64" name="Rectangle 24">
                <a:extLst>
                  <a:ext uri="{FF2B5EF4-FFF2-40B4-BE49-F238E27FC236}">
                    <a16:creationId xmlns:a16="http://schemas.microsoft.com/office/drawing/2014/main" id="{3C3110C8-5A03-9C5D-8478-477143DFD00F}"/>
                  </a:ext>
                </a:extLst>
              </p:cNvPr>
              <p:cNvSpPr>
                <a:spLocks noChangeArrowheads="1"/>
              </p:cNvSpPr>
              <p:nvPr/>
            </p:nvSpPr>
            <p:spPr bwMode="auto">
              <a:xfrm>
                <a:off x="3938" y="2789"/>
                <a:ext cx="456" cy="334"/>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900">
                    <a:solidFill>
                      <a:schemeClr val="bg1"/>
                    </a:solidFill>
                    <a:latin typeface="+mn-lt"/>
                  </a:rPr>
                  <a:t>Production</a:t>
                </a:r>
              </a:p>
              <a:p>
                <a:pPr algn="ctr">
                  <a:lnSpc>
                    <a:spcPct val="85000"/>
                  </a:lnSpc>
                  <a:buClrTx/>
                  <a:buSzTx/>
                  <a:buFontTx/>
                  <a:buNone/>
                </a:pPr>
                <a:r>
                  <a:rPr lang="en-US" altLang="en-US" sz="900">
                    <a:solidFill>
                      <a:schemeClr val="bg1"/>
                    </a:solidFill>
                    <a:latin typeface="+mn-lt"/>
                  </a:rPr>
                  <a:t>Resource</a:t>
                </a:r>
              </a:p>
              <a:p>
                <a:pPr algn="ctr">
                  <a:lnSpc>
                    <a:spcPct val="85000"/>
                  </a:lnSpc>
                  <a:buClrTx/>
                  <a:buSzTx/>
                  <a:buFontTx/>
                  <a:buNone/>
                </a:pPr>
                <a:r>
                  <a:rPr lang="en-US" altLang="en-US" sz="900">
                    <a:solidFill>
                      <a:schemeClr val="bg1"/>
                    </a:solidFill>
                    <a:latin typeface="+mn-lt"/>
                  </a:rPr>
                  <a:t>5</a:t>
                </a:r>
              </a:p>
            </p:txBody>
          </p:sp>
          <p:sp>
            <p:nvSpPr>
              <p:cNvPr id="65" name="Rectangle 25">
                <a:extLst>
                  <a:ext uri="{FF2B5EF4-FFF2-40B4-BE49-F238E27FC236}">
                    <a16:creationId xmlns:a16="http://schemas.microsoft.com/office/drawing/2014/main" id="{23AB6274-34CD-EE90-24D6-7AEBE4596D40}"/>
                  </a:ext>
                </a:extLst>
              </p:cNvPr>
              <p:cNvSpPr>
                <a:spLocks noChangeArrowheads="1"/>
              </p:cNvSpPr>
              <p:nvPr/>
            </p:nvSpPr>
            <p:spPr bwMode="auto">
              <a:xfrm>
                <a:off x="4580" y="2789"/>
                <a:ext cx="456" cy="334"/>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5000"/>
                  </a:lnSpc>
                  <a:buClrTx/>
                  <a:buSzTx/>
                  <a:buFontTx/>
                  <a:buNone/>
                </a:pPr>
                <a:r>
                  <a:rPr lang="en-US" altLang="en-US" sz="900">
                    <a:solidFill>
                      <a:schemeClr val="bg1"/>
                    </a:solidFill>
                    <a:latin typeface="+mn-lt"/>
                  </a:rPr>
                  <a:t>Production</a:t>
                </a:r>
              </a:p>
              <a:p>
                <a:pPr algn="ctr">
                  <a:lnSpc>
                    <a:spcPct val="85000"/>
                  </a:lnSpc>
                  <a:buClrTx/>
                  <a:buSzTx/>
                  <a:buFontTx/>
                  <a:buNone/>
                </a:pPr>
                <a:r>
                  <a:rPr lang="en-US" altLang="en-US" sz="900">
                    <a:solidFill>
                      <a:schemeClr val="bg1"/>
                    </a:solidFill>
                    <a:latin typeface="+mn-lt"/>
                  </a:rPr>
                  <a:t>Resource </a:t>
                </a:r>
              </a:p>
              <a:p>
                <a:pPr algn="ctr">
                  <a:lnSpc>
                    <a:spcPct val="85000"/>
                  </a:lnSpc>
                  <a:buClrTx/>
                  <a:buSzTx/>
                  <a:buFontTx/>
                  <a:buNone/>
                </a:pPr>
                <a:r>
                  <a:rPr lang="en-US" altLang="en-US" sz="900">
                    <a:solidFill>
                      <a:schemeClr val="bg1"/>
                    </a:solidFill>
                    <a:latin typeface="+mn-lt"/>
                  </a:rPr>
                  <a:t>6</a:t>
                </a:r>
              </a:p>
            </p:txBody>
          </p:sp>
          <p:cxnSp>
            <p:nvCxnSpPr>
              <p:cNvPr id="66" name="AutoShape 26">
                <a:extLst>
                  <a:ext uri="{FF2B5EF4-FFF2-40B4-BE49-F238E27FC236}">
                    <a16:creationId xmlns:a16="http://schemas.microsoft.com/office/drawing/2014/main" id="{9AB2A128-8A45-2901-263A-9203052E07DD}"/>
                  </a:ext>
                </a:extLst>
              </p:cNvPr>
              <p:cNvCxnSpPr>
                <a:cxnSpLocks noChangeShapeType="1"/>
                <a:stCxn id="60" idx="0"/>
                <a:endCxn id="57" idx="2"/>
              </p:cNvCxnSpPr>
              <p:nvPr/>
            </p:nvCxnSpPr>
            <p:spPr bwMode="auto">
              <a:xfrm flipV="1">
                <a:off x="3523" y="2100"/>
                <a:ext cx="1" cy="219"/>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7" name="AutoShape 27">
                <a:extLst>
                  <a:ext uri="{FF2B5EF4-FFF2-40B4-BE49-F238E27FC236}">
                    <a16:creationId xmlns:a16="http://schemas.microsoft.com/office/drawing/2014/main" id="{F5A51B67-FEA2-2E94-BEF3-8BD5388AD140}"/>
                  </a:ext>
                </a:extLst>
              </p:cNvPr>
              <p:cNvCxnSpPr>
                <a:cxnSpLocks noChangeShapeType="1"/>
                <a:stCxn id="60" idx="0"/>
                <a:endCxn id="58" idx="2"/>
              </p:cNvCxnSpPr>
              <p:nvPr/>
            </p:nvCxnSpPr>
            <p:spPr bwMode="auto">
              <a:xfrm rot="-5400000">
                <a:off x="3735" y="1890"/>
                <a:ext cx="219" cy="644"/>
              </a:xfrm>
              <a:prstGeom prst="bentConnector3">
                <a:avLst>
                  <a:gd name="adj1" fmla="val 4981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8" name="AutoShape 28">
                <a:extLst>
                  <a:ext uri="{FF2B5EF4-FFF2-40B4-BE49-F238E27FC236}">
                    <a16:creationId xmlns:a16="http://schemas.microsoft.com/office/drawing/2014/main" id="{F4495732-7110-1D62-3678-34BE3F8D3689}"/>
                  </a:ext>
                </a:extLst>
              </p:cNvPr>
              <p:cNvCxnSpPr>
                <a:cxnSpLocks noChangeShapeType="1"/>
                <a:stCxn id="63" idx="3"/>
                <a:endCxn id="58" idx="1"/>
              </p:cNvCxnSpPr>
              <p:nvPr/>
            </p:nvCxnSpPr>
            <p:spPr bwMode="auto">
              <a:xfrm flipV="1">
                <a:off x="3751" y="1940"/>
                <a:ext cx="159" cy="1018"/>
              </a:xfrm>
              <a:prstGeom prst="bentConnector3">
                <a:avLst>
                  <a:gd name="adj1" fmla="val 4968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9" name="AutoShape 29">
                <a:extLst>
                  <a:ext uri="{FF2B5EF4-FFF2-40B4-BE49-F238E27FC236}">
                    <a16:creationId xmlns:a16="http://schemas.microsoft.com/office/drawing/2014/main" id="{776A348E-FEA3-1E9C-2B8B-6AC8F8D2B26E}"/>
                  </a:ext>
                </a:extLst>
              </p:cNvPr>
              <p:cNvCxnSpPr>
                <a:cxnSpLocks noChangeShapeType="1"/>
                <a:stCxn id="65" idx="3"/>
                <a:endCxn id="59" idx="3"/>
              </p:cNvCxnSpPr>
              <p:nvPr/>
            </p:nvCxnSpPr>
            <p:spPr bwMode="auto">
              <a:xfrm flipV="1">
                <a:off x="5036" y="1940"/>
                <a:ext cx="30" cy="1018"/>
              </a:xfrm>
              <a:prstGeom prst="bentConnector3">
                <a:avLst>
                  <a:gd name="adj1" fmla="val 58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0" name="AutoShape 31">
                <a:extLst>
                  <a:ext uri="{FF2B5EF4-FFF2-40B4-BE49-F238E27FC236}">
                    <a16:creationId xmlns:a16="http://schemas.microsoft.com/office/drawing/2014/main" id="{16C670CE-14BB-DF4B-2D1C-5D31D3D32FCE}"/>
                  </a:ext>
                </a:extLst>
              </p:cNvPr>
              <p:cNvCxnSpPr>
                <a:cxnSpLocks noChangeShapeType="1"/>
                <a:stCxn id="64" idx="3"/>
                <a:endCxn id="58" idx="3"/>
              </p:cNvCxnSpPr>
              <p:nvPr/>
            </p:nvCxnSpPr>
            <p:spPr bwMode="auto">
              <a:xfrm flipV="1">
                <a:off x="4394" y="1940"/>
                <a:ext cx="30" cy="1018"/>
              </a:xfrm>
              <a:prstGeom prst="bentConnector3">
                <a:avLst>
                  <a:gd name="adj1" fmla="val 34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71" name="AutoShape 32">
                <a:extLst>
                  <a:ext uri="{FF2B5EF4-FFF2-40B4-BE49-F238E27FC236}">
                    <a16:creationId xmlns:a16="http://schemas.microsoft.com/office/drawing/2014/main" id="{1B5F1749-F793-ED9A-0308-6FB04DA36277}"/>
                  </a:ext>
                </a:extLst>
              </p:cNvPr>
              <p:cNvCxnSpPr>
                <a:cxnSpLocks noChangeShapeType="1"/>
                <a:stCxn id="61" idx="0"/>
                <a:endCxn id="59" idx="2"/>
              </p:cNvCxnSpPr>
              <p:nvPr/>
            </p:nvCxnSpPr>
            <p:spPr bwMode="auto">
              <a:xfrm rot="-5400000">
                <a:off x="4375" y="1891"/>
                <a:ext cx="220" cy="643"/>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 name="AutoShape 33">
                <a:extLst>
                  <a:ext uri="{FF2B5EF4-FFF2-40B4-BE49-F238E27FC236}">
                    <a16:creationId xmlns:a16="http://schemas.microsoft.com/office/drawing/2014/main" id="{A9985E8C-D2C7-4BC1-9F51-0756D23D808A}"/>
                  </a:ext>
                </a:extLst>
              </p:cNvPr>
              <p:cNvCxnSpPr>
                <a:cxnSpLocks noChangeShapeType="1"/>
                <a:stCxn id="62" idx="0"/>
                <a:endCxn id="58" idx="2"/>
              </p:cNvCxnSpPr>
              <p:nvPr/>
            </p:nvCxnSpPr>
            <p:spPr bwMode="auto">
              <a:xfrm rot="5400000" flipH="1">
                <a:off x="4375" y="1892"/>
                <a:ext cx="220" cy="641"/>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3" name="AutoShape 34">
                <a:extLst>
                  <a:ext uri="{FF2B5EF4-FFF2-40B4-BE49-F238E27FC236}">
                    <a16:creationId xmlns:a16="http://schemas.microsoft.com/office/drawing/2014/main" id="{90BB48C5-43C8-9E6B-E3CD-531F97D4FECC}"/>
                  </a:ext>
                </a:extLst>
              </p:cNvPr>
              <p:cNvCxnSpPr>
                <a:cxnSpLocks noChangeShapeType="1"/>
                <a:stCxn id="60" idx="1"/>
                <a:endCxn id="57" idx="1"/>
              </p:cNvCxnSpPr>
              <p:nvPr/>
            </p:nvCxnSpPr>
            <p:spPr bwMode="auto">
              <a:xfrm rot="10800000">
                <a:off x="3267" y="1940"/>
                <a:ext cx="28" cy="552"/>
              </a:xfrm>
              <a:prstGeom prst="bentConnector3">
                <a:avLst>
                  <a:gd name="adj1" fmla="val 61428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4" name="AutoShape 36">
                <a:extLst>
                  <a:ext uri="{FF2B5EF4-FFF2-40B4-BE49-F238E27FC236}">
                    <a16:creationId xmlns:a16="http://schemas.microsoft.com/office/drawing/2014/main" id="{B43F4F4C-64E3-8AFF-CA5E-49832852C36D}"/>
                  </a:ext>
                </a:extLst>
              </p:cNvPr>
              <p:cNvCxnSpPr>
                <a:cxnSpLocks noChangeShapeType="1"/>
                <a:stCxn id="64" idx="2"/>
                <a:endCxn id="57" idx="0"/>
              </p:cNvCxnSpPr>
              <p:nvPr/>
            </p:nvCxnSpPr>
            <p:spPr bwMode="auto">
              <a:xfrm rot="16200000" flipV="1">
                <a:off x="3173" y="2130"/>
                <a:ext cx="1344" cy="642"/>
              </a:xfrm>
              <a:prstGeom prst="bentConnector5">
                <a:avLst>
                  <a:gd name="adj1" fmla="val -8838"/>
                  <a:gd name="adj2" fmla="val 174921"/>
                  <a:gd name="adj3" fmla="val 10595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
          <p:nvSpPr>
            <p:cNvPr id="75" name="Oval 42">
              <a:extLst>
                <a:ext uri="{FF2B5EF4-FFF2-40B4-BE49-F238E27FC236}">
                  <a16:creationId xmlns:a16="http://schemas.microsoft.com/office/drawing/2014/main" id="{390F5089-4A54-ED17-01FC-57C2288C97E3}"/>
                </a:ext>
              </a:extLst>
            </p:cNvPr>
            <p:cNvSpPr>
              <a:spLocks noChangeArrowheads="1"/>
            </p:cNvSpPr>
            <p:nvPr/>
          </p:nvSpPr>
          <p:spPr bwMode="auto">
            <a:xfrm>
              <a:off x="793750" y="2273300"/>
              <a:ext cx="336550" cy="309563"/>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1</a:t>
              </a:r>
            </a:p>
          </p:txBody>
        </p:sp>
        <p:sp>
          <p:nvSpPr>
            <p:cNvPr id="76" name="Oval 43">
              <a:extLst>
                <a:ext uri="{FF2B5EF4-FFF2-40B4-BE49-F238E27FC236}">
                  <a16:creationId xmlns:a16="http://schemas.microsoft.com/office/drawing/2014/main" id="{619892A1-155D-114B-35F2-04DCD47AF23B}"/>
                </a:ext>
              </a:extLst>
            </p:cNvPr>
            <p:cNvSpPr>
              <a:spLocks noChangeArrowheads="1"/>
            </p:cNvSpPr>
            <p:nvPr/>
          </p:nvSpPr>
          <p:spPr bwMode="auto">
            <a:xfrm>
              <a:off x="4991100" y="2278063"/>
              <a:ext cx="336550" cy="309562"/>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77" name="Text Box 44">
              <a:extLst>
                <a:ext uri="{FF2B5EF4-FFF2-40B4-BE49-F238E27FC236}">
                  <a16:creationId xmlns:a16="http://schemas.microsoft.com/office/drawing/2014/main" id="{B35DB9FE-2F6D-ABCE-1547-4DF0F8891E72}"/>
                </a:ext>
              </a:extLst>
            </p:cNvPr>
            <p:cNvSpPr txBox="1">
              <a:spLocks noChangeArrowheads="1"/>
            </p:cNvSpPr>
            <p:nvPr/>
          </p:nvSpPr>
          <p:spPr bwMode="auto">
            <a:xfrm>
              <a:off x="1187239" y="2317750"/>
              <a:ext cx="2637260"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Aligned Production Resources</a:t>
              </a:r>
            </a:p>
          </p:txBody>
        </p:sp>
        <p:sp>
          <p:nvSpPr>
            <p:cNvPr id="78" name="Text Box 45">
              <a:extLst>
                <a:ext uri="{FF2B5EF4-FFF2-40B4-BE49-F238E27FC236}">
                  <a16:creationId xmlns:a16="http://schemas.microsoft.com/office/drawing/2014/main" id="{6A9B3CF4-94F0-AA5C-B83E-040681F6392A}"/>
                </a:ext>
              </a:extLst>
            </p:cNvPr>
            <p:cNvSpPr txBox="1">
              <a:spLocks noChangeArrowheads="1"/>
            </p:cNvSpPr>
            <p:nvPr/>
          </p:nvSpPr>
          <p:spPr bwMode="auto">
            <a:xfrm>
              <a:off x="5421743" y="2309813"/>
              <a:ext cx="2832828"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Unaligned Production Resources</a:t>
              </a:r>
            </a:p>
          </p:txBody>
        </p:sp>
        <p:sp>
          <p:nvSpPr>
            <p:cNvPr id="79" name="Rectangle 47">
              <a:extLst>
                <a:ext uri="{FF2B5EF4-FFF2-40B4-BE49-F238E27FC236}">
                  <a16:creationId xmlns:a16="http://schemas.microsoft.com/office/drawing/2014/main" id="{CB44A20E-AA55-ACE7-50ED-C58F24A57179}"/>
                </a:ext>
              </a:extLst>
            </p:cNvPr>
            <p:cNvSpPr>
              <a:spLocks noChangeArrowheads="1"/>
            </p:cNvSpPr>
            <p:nvPr/>
          </p:nvSpPr>
          <p:spPr bwMode="auto">
            <a:xfrm>
              <a:off x="622300" y="4919663"/>
              <a:ext cx="3511550" cy="91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200">
                  <a:latin typeface="+mn-lt"/>
                </a:rPr>
                <a:t>One-for-one relationship between resource and specific product (or product family)</a:t>
              </a:r>
            </a:p>
            <a:p>
              <a:pPr>
                <a:spcBef>
                  <a:spcPct val="55000"/>
                </a:spcBef>
                <a:buClrTx/>
                <a:buSzPct val="90000"/>
                <a:buFont typeface="Arial" panose="020B0604020202020204" pitchFamily="34" charset="0"/>
                <a:buChar char="•"/>
              </a:pPr>
              <a:r>
                <a:rPr lang="en-US" altLang="en-US" sz="1200">
                  <a:latin typeface="+mn-lt"/>
                </a:rPr>
                <a:t>Individual product or product family uses </a:t>
              </a:r>
              <a:r>
                <a:rPr lang="ja-JP" altLang="en-US" sz="1200">
                  <a:latin typeface="+mn-lt"/>
                </a:rPr>
                <a:t>“</a:t>
              </a:r>
              <a:r>
                <a:rPr lang="en-US" altLang="ja-JP" sz="1200">
                  <a:latin typeface="+mn-lt"/>
                </a:rPr>
                <a:t>all</a:t>
              </a:r>
              <a:r>
                <a:rPr lang="ja-JP" altLang="en-US" sz="1200">
                  <a:latin typeface="+mn-lt"/>
                </a:rPr>
                <a:t>”</a:t>
              </a:r>
              <a:r>
                <a:rPr lang="en-US" altLang="ja-JP" sz="1200">
                  <a:latin typeface="+mn-lt"/>
                </a:rPr>
                <a:t> of the dedicated production resource</a:t>
              </a:r>
              <a:endParaRPr lang="en-US" altLang="en-US" sz="1200" b="0">
                <a:latin typeface="+mn-lt"/>
              </a:endParaRPr>
            </a:p>
          </p:txBody>
        </p:sp>
        <p:sp>
          <p:nvSpPr>
            <p:cNvPr id="80" name="Rectangle 48">
              <a:extLst>
                <a:ext uri="{FF2B5EF4-FFF2-40B4-BE49-F238E27FC236}">
                  <a16:creationId xmlns:a16="http://schemas.microsoft.com/office/drawing/2014/main" id="{CF67C515-6D48-7429-E2C2-4850C56C50A1}"/>
                </a:ext>
              </a:extLst>
            </p:cNvPr>
            <p:cNvSpPr>
              <a:spLocks noChangeArrowheads="1"/>
            </p:cNvSpPr>
            <p:nvPr/>
          </p:nvSpPr>
          <p:spPr bwMode="auto">
            <a:xfrm>
              <a:off x="4610100" y="5237163"/>
              <a:ext cx="4281488" cy="109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200" dirty="0">
                  <a:latin typeface="+mn-lt"/>
                </a:rPr>
                <a:t>Production resources are used to support multiple products or product families</a:t>
              </a:r>
            </a:p>
            <a:p>
              <a:pPr>
                <a:spcBef>
                  <a:spcPct val="55000"/>
                </a:spcBef>
                <a:buClrTx/>
                <a:buSzPct val="90000"/>
                <a:buFont typeface="Arial" panose="020B0604020202020204" pitchFamily="34" charset="0"/>
                <a:buChar char="•"/>
              </a:pPr>
              <a:r>
                <a:rPr lang="en-US" altLang="en-US" sz="1200" dirty="0">
                  <a:latin typeface="+mn-lt"/>
                </a:rPr>
                <a:t>One-for-one resource-product match does not exist; demand planning must isolate best method to match capacity across many resources to a specific product</a:t>
              </a:r>
              <a:endParaRPr lang="en-US" altLang="en-US" sz="1200" b="0" dirty="0">
                <a:latin typeface="+mn-lt"/>
              </a:endParaRPr>
            </a:p>
          </p:txBody>
        </p:sp>
        <p:sp>
          <p:nvSpPr>
            <p:cNvPr id="81" name="Line 50">
              <a:extLst>
                <a:ext uri="{FF2B5EF4-FFF2-40B4-BE49-F238E27FC236}">
                  <a16:creationId xmlns:a16="http://schemas.microsoft.com/office/drawing/2014/main" id="{88DEF093-F550-712D-4870-B6ED180CAC4A}"/>
                </a:ext>
              </a:extLst>
            </p:cNvPr>
            <p:cNvSpPr>
              <a:spLocks noChangeShapeType="1"/>
            </p:cNvSpPr>
            <p:nvPr/>
          </p:nvSpPr>
          <p:spPr bwMode="auto">
            <a:xfrm>
              <a:off x="4325938" y="2711450"/>
              <a:ext cx="0" cy="360997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51">
            <a:extLst>
              <a:ext uri="{FF2B5EF4-FFF2-40B4-BE49-F238E27FC236}">
                <a16:creationId xmlns:a16="http://schemas.microsoft.com/office/drawing/2014/main" id="{964CD706-BDE6-CDA4-E16D-BBC5FF1DB8D2}"/>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0711653F-D537-D46F-C2BB-AEDA0B3EF269}"/>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180081D8-37C8-7E3D-744D-C184F4A469C6}"/>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CAF48FAE-E674-A51D-9A41-BA8065CD50C4}"/>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99FAACA7-6853-817E-3574-F3B7470121FA}"/>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5" name="Rectangle 39">
              <a:extLst>
                <a:ext uri="{FF2B5EF4-FFF2-40B4-BE49-F238E27FC236}">
                  <a16:creationId xmlns:a16="http://schemas.microsoft.com/office/drawing/2014/main" id="{DEB10938-AFDE-78A4-6E6D-1A78A6FF9E2F}"/>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6" name="Rectangle 40">
              <a:extLst>
                <a:ext uri="{FF2B5EF4-FFF2-40B4-BE49-F238E27FC236}">
                  <a16:creationId xmlns:a16="http://schemas.microsoft.com/office/drawing/2014/main" id="{8DAA8734-9D2D-1A53-3111-89FDFBC0DE07}"/>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7" name="Rectangle 41">
              <a:extLst>
                <a:ext uri="{FF2B5EF4-FFF2-40B4-BE49-F238E27FC236}">
                  <a16:creationId xmlns:a16="http://schemas.microsoft.com/office/drawing/2014/main" id="{E43EB94D-CE9A-C7CE-E3F3-9097DB221623}"/>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8" name="AutoShape 42">
              <a:extLst>
                <a:ext uri="{FF2B5EF4-FFF2-40B4-BE49-F238E27FC236}">
                  <a16:creationId xmlns:a16="http://schemas.microsoft.com/office/drawing/2014/main" id="{3A3AFE78-5466-39ED-A2C2-D62261C1BACD}"/>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19" name="Rectangle 43">
              <a:extLst>
                <a:ext uri="{FF2B5EF4-FFF2-40B4-BE49-F238E27FC236}">
                  <a16:creationId xmlns:a16="http://schemas.microsoft.com/office/drawing/2014/main" id="{D1EBB019-66C7-76E8-B5F9-75CFCFF1F0C4}"/>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0" name="Rectangle 44">
              <a:extLst>
                <a:ext uri="{FF2B5EF4-FFF2-40B4-BE49-F238E27FC236}">
                  <a16:creationId xmlns:a16="http://schemas.microsoft.com/office/drawing/2014/main" id="{882C50AC-99C0-AD17-B172-DA7717114866}"/>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1" name="Rectangle 45">
              <a:extLst>
                <a:ext uri="{FF2B5EF4-FFF2-40B4-BE49-F238E27FC236}">
                  <a16:creationId xmlns:a16="http://schemas.microsoft.com/office/drawing/2014/main" id="{C8D12100-9230-45EC-44A9-B3F3351D4B85}"/>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2" name="Rectangle 46">
              <a:extLst>
                <a:ext uri="{FF2B5EF4-FFF2-40B4-BE49-F238E27FC236}">
                  <a16:creationId xmlns:a16="http://schemas.microsoft.com/office/drawing/2014/main" id="{979C213D-B821-E161-EA21-33C4EED12836}"/>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3" name="Rectangle 47">
              <a:extLst>
                <a:ext uri="{FF2B5EF4-FFF2-40B4-BE49-F238E27FC236}">
                  <a16:creationId xmlns:a16="http://schemas.microsoft.com/office/drawing/2014/main" id="{294E1250-1696-C10A-2EA9-0F7FC7F96C54}"/>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1914637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Aligned Vs. Non-Aligned Resources:  </a:t>
            </a:r>
            <a:br>
              <a:rPr lang="en-US" dirty="0"/>
            </a:br>
            <a:r>
              <a:rPr lang="en-US" dirty="0"/>
              <a:t>Where Should Time Be Spent?</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Proper classification of your manufacturing environment is critical early on the S&amp;OP pilot stage;  S&amp;OP processes in the non-aligned production facility require additional steps to ensure proper evaluation (and use) of available capacity.</a:t>
            </a:r>
          </a:p>
        </p:txBody>
      </p:sp>
      <p:grpSp>
        <p:nvGrpSpPr>
          <p:cNvPr id="17" name="Group 16">
            <a:extLst>
              <a:ext uri="{FF2B5EF4-FFF2-40B4-BE49-F238E27FC236}">
                <a16:creationId xmlns:a16="http://schemas.microsoft.com/office/drawing/2014/main" id="{CBA19093-BDFA-24BB-DC69-C9AB469BCD91}"/>
              </a:ext>
            </a:extLst>
          </p:cNvPr>
          <p:cNvGrpSpPr/>
          <p:nvPr/>
        </p:nvGrpSpPr>
        <p:grpSpPr>
          <a:xfrm>
            <a:off x="406705" y="1959603"/>
            <a:ext cx="7964488" cy="3811588"/>
            <a:chOff x="701675" y="2187575"/>
            <a:chExt cx="7964488" cy="3811588"/>
          </a:xfrm>
        </p:grpSpPr>
        <p:sp>
          <p:nvSpPr>
            <p:cNvPr id="4" name="Line 7">
              <a:extLst>
                <a:ext uri="{FF2B5EF4-FFF2-40B4-BE49-F238E27FC236}">
                  <a16:creationId xmlns:a16="http://schemas.microsoft.com/office/drawing/2014/main" id="{474097A7-A763-700A-EA79-77209249AF20}"/>
                </a:ext>
              </a:extLst>
            </p:cNvPr>
            <p:cNvSpPr>
              <a:spLocks noChangeShapeType="1"/>
            </p:cNvSpPr>
            <p:nvPr/>
          </p:nvSpPr>
          <p:spPr bwMode="auto">
            <a:xfrm>
              <a:off x="792163" y="2187575"/>
              <a:ext cx="7805737"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Text Box 8">
              <a:extLst>
                <a:ext uri="{FF2B5EF4-FFF2-40B4-BE49-F238E27FC236}">
                  <a16:creationId xmlns:a16="http://schemas.microsoft.com/office/drawing/2014/main" id="{42DE5D9F-C3D7-185C-C217-688E0F71C79B}"/>
                </a:ext>
              </a:extLst>
            </p:cNvPr>
            <p:cNvSpPr txBox="1">
              <a:spLocks noChangeArrowheads="1"/>
            </p:cNvSpPr>
            <p:nvPr/>
          </p:nvSpPr>
          <p:spPr bwMode="auto">
            <a:xfrm>
              <a:off x="704850" y="2266950"/>
              <a:ext cx="1027845" cy="48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r>
                <a:rPr lang="en-US" altLang="en-US" sz="1400" dirty="0">
                  <a:latin typeface="+mn-lt"/>
                </a:rPr>
                <a:t>Aligned</a:t>
              </a:r>
            </a:p>
            <a:p>
              <a:pPr>
                <a:lnSpc>
                  <a:spcPct val="80000"/>
                </a:lnSpc>
                <a:buClrTx/>
                <a:buSzTx/>
                <a:buFontTx/>
                <a:buNone/>
              </a:pPr>
              <a:r>
                <a:rPr lang="en-US" altLang="en-US" sz="1400" dirty="0">
                  <a:latin typeface="+mn-lt"/>
                </a:rPr>
                <a:t>Resources</a:t>
              </a:r>
            </a:p>
          </p:txBody>
        </p:sp>
        <p:sp>
          <p:nvSpPr>
            <p:cNvPr id="6" name="Text Box 9">
              <a:extLst>
                <a:ext uri="{FF2B5EF4-FFF2-40B4-BE49-F238E27FC236}">
                  <a16:creationId xmlns:a16="http://schemas.microsoft.com/office/drawing/2014/main" id="{5E6B22B9-19CC-C291-B7BE-1431566FD9C5}"/>
                </a:ext>
              </a:extLst>
            </p:cNvPr>
            <p:cNvSpPr txBox="1">
              <a:spLocks noChangeArrowheads="1"/>
            </p:cNvSpPr>
            <p:nvPr/>
          </p:nvSpPr>
          <p:spPr bwMode="auto">
            <a:xfrm>
              <a:off x="701675" y="4117975"/>
              <a:ext cx="1164101" cy="48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r>
                <a:rPr lang="en-US" altLang="en-US" sz="1400">
                  <a:latin typeface="+mn-lt"/>
                </a:rPr>
                <a:t>Non-Aligned</a:t>
              </a:r>
            </a:p>
            <a:p>
              <a:pPr>
                <a:lnSpc>
                  <a:spcPct val="80000"/>
                </a:lnSpc>
                <a:buClrTx/>
                <a:buSzTx/>
                <a:buFontTx/>
                <a:buNone/>
              </a:pPr>
              <a:r>
                <a:rPr lang="en-US" altLang="en-US" sz="1400">
                  <a:latin typeface="+mn-lt"/>
                </a:rPr>
                <a:t>Resources</a:t>
              </a:r>
            </a:p>
          </p:txBody>
        </p:sp>
        <p:sp>
          <p:nvSpPr>
            <p:cNvPr id="7" name="Line 10">
              <a:extLst>
                <a:ext uri="{FF2B5EF4-FFF2-40B4-BE49-F238E27FC236}">
                  <a16:creationId xmlns:a16="http://schemas.microsoft.com/office/drawing/2014/main" id="{D7DEEFD0-C186-2B89-AA92-EA41103EE0F3}"/>
                </a:ext>
              </a:extLst>
            </p:cNvPr>
            <p:cNvSpPr>
              <a:spLocks noChangeShapeType="1"/>
            </p:cNvSpPr>
            <p:nvPr/>
          </p:nvSpPr>
          <p:spPr bwMode="auto">
            <a:xfrm>
              <a:off x="804863" y="4056063"/>
              <a:ext cx="7805737"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11">
              <a:extLst>
                <a:ext uri="{FF2B5EF4-FFF2-40B4-BE49-F238E27FC236}">
                  <a16:creationId xmlns:a16="http://schemas.microsoft.com/office/drawing/2014/main" id="{667C1739-8E4D-FB46-84E7-339DA9284BA2}"/>
                </a:ext>
              </a:extLst>
            </p:cNvPr>
            <p:cNvSpPr>
              <a:spLocks noChangeArrowheads="1"/>
            </p:cNvSpPr>
            <p:nvPr/>
          </p:nvSpPr>
          <p:spPr bwMode="auto">
            <a:xfrm>
              <a:off x="2363788" y="2187575"/>
              <a:ext cx="6276975" cy="3083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200" dirty="0">
                  <a:latin typeface="+mn-lt"/>
                </a:rPr>
                <a:t>Typically involves manufacturing operations where specific departments or functions are responsible for a stand-along product or product family</a:t>
              </a:r>
            </a:p>
            <a:p>
              <a:pPr>
                <a:spcBef>
                  <a:spcPct val="55000"/>
                </a:spcBef>
                <a:buClrTx/>
                <a:buSzPct val="90000"/>
                <a:buFont typeface="Arial" panose="020B0604020202020204" pitchFamily="34" charset="0"/>
                <a:buChar char="•"/>
              </a:pPr>
              <a:r>
                <a:rPr lang="en-US" altLang="en-US" sz="1200" dirty="0">
                  <a:latin typeface="+mn-lt"/>
                </a:rPr>
                <a:t>In most cases, the capacity check is performed right on the S&amp;OP spreadsheet;  since there is a one-for-one linkage, the operations plan is the entire workload of the resource in question</a:t>
              </a:r>
            </a:p>
            <a:p>
              <a:pPr>
                <a:spcBef>
                  <a:spcPct val="55000"/>
                </a:spcBef>
                <a:buClrTx/>
                <a:buSzPct val="90000"/>
                <a:buFont typeface="Arial" panose="020B0604020202020204" pitchFamily="34" charset="0"/>
                <a:buChar char="•"/>
              </a:pPr>
              <a:r>
                <a:rPr lang="en-US" altLang="en-US" sz="1200" dirty="0">
                  <a:latin typeface="+mn-lt"/>
                </a:rPr>
                <a:t>Usually simple to understand quickly what rates can be hit, when they can be hit, under what circumstances breakpoints are reached, etc.</a:t>
              </a:r>
            </a:p>
            <a:p>
              <a:pPr>
                <a:spcBef>
                  <a:spcPct val="55000"/>
                </a:spcBef>
                <a:buClrTx/>
                <a:buSzPct val="90000"/>
                <a:buFont typeface="Arial" panose="020B0604020202020204" pitchFamily="34" charset="0"/>
                <a:buChar char="•"/>
              </a:pPr>
              <a:r>
                <a:rPr lang="ja-JP" altLang="en-US" sz="1200" dirty="0">
                  <a:latin typeface="+mn-lt"/>
                </a:rPr>
                <a:t>“</a:t>
              </a:r>
              <a:r>
                <a:rPr lang="en-US" altLang="ja-JP" sz="1200" dirty="0">
                  <a:latin typeface="+mn-lt"/>
                </a:rPr>
                <a:t>Move on in the process:</a:t>
              </a:r>
              <a:r>
                <a:rPr lang="ja-JP" altLang="en-US" sz="1200" dirty="0">
                  <a:latin typeface="+mn-lt"/>
                </a:rPr>
                <a:t>”</a:t>
              </a:r>
              <a:r>
                <a:rPr lang="en-US" altLang="ja-JP" sz="1200" dirty="0">
                  <a:latin typeface="+mn-lt"/>
                </a:rPr>
                <a:t>  Aligned resources represent a simple working model</a:t>
              </a:r>
            </a:p>
            <a:p>
              <a:pPr>
                <a:spcBef>
                  <a:spcPct val="55000"/>
                </a:spcBef>
                <a:buClrTx/>
                <a:buSzPct val="90000"/>
                <a:buFont typeface="Arial" panose="020B0604020202020204" pitchFamily="34" charset="0"/>
                <a:buChar char="•"/>
              </a:pPr>
              <a:r>
                <a:rPr lang="en-US" altLang="en-US" sz="1200" dirty="0">
                  <a:latin typeface="+mn-lt"/>
                </a:rPr>
                <a:t>No clear linkage between the resources in question and the product or product family</a:t>
              </a:r>
            </a:p>
            <a:p>
              <a:pPr>
                <a:spcBef>
                  <a:spcPct val="55000"/>
                </a:spcBef>
                <a:buClrTx/>
                <a:buSzPct val="90000"/>
                <a:buFont typeface="Arial" panose="020B0604020202020204" pitchFamily="34" charset="0"/>
                <a:buChar char="•"/>
              </a:pPr>
              <a:r>
                <a:rPr lang="en-US" altLang="en-US" sz="1200" dirty="0">
                  <a:latin typeface="+mn-lt"/>
                </a:rPr>
                <a:t>Non-aligned resources represent distinct and stand-alone assets;  once </a:t>
              </a:r>
              <a:r>
                <a:rPr lang="ja-JP" altLang="en-US" sz="1200" dirty="0">
                  <a:latin typeface="+mn-lt"/>
                </a:rPr>
                <a:t>“</a:t>
              </a:r>
              <a:r>
                <a:rPr lang="en-US" altLang="ja-JP" sz="1200" dirty="0">
                  <a:latin typeface="+mn-lt"/>
                </a:rPr>
                <a:t>demand</a:t>
              </a:r>
              <a:r>
                <a:rPr lang="ja-JP" altLang="en-US" sz="1200" dirty="0">
                  <a:latin typeface="+mn-lt"/>
                </a:rPr>
                <a:t>”</a:t>
              </a:r>
              <a:r>
                <a:rPr lang="en-US" altLang="ja-JP" sz="1200" dirty="0">
                  <a:latin typeface="+mn-lt"/>
                </a:rPr>
                <a:t> is established, non-aligned resources must be matched to their highest-valued use</a:t>
              </a:r>
            </a:p>
            <a:p>
              <a:pPr>
                <a:spcBef>
                  <a:spcPct val="55000"/>
                </a:spcBef>
                <a:buClrTx/>
                <a:buSzPct val="90000"/>
                <a:buFont typeface="Arial" panose="020B0604020202020204" pitchFamily="34" charset="0"/>
                <a:buChar char="•"/>
              </a:pPr>
              <a:r>
                <a:rPr lang="en-US" altLang="en-US" sz="1200" dirty="0">
                  <a:latin typeface="+mn-lt"/>
                </a:rPr>
                <a:t>Typically, the </a:t>
              </a:r>
              <a:r>
                <a:rPr lang="ja-JP" altLang="en-US" sz="1200" dirty="0">
                  <a:latin typeface="+mn-lt"/>
                </a:rPr>
                <a:t>“</a:t>
              </a:r>
              <a:r>
                <a:rPr lang="en-US" altLang="ja-JP" sz="1200" dirty="0">
                  <a:latin typeface="+mn-lt"/>
                </a:rPr>
                <a:t>translation</a:t>
              </a:r>
              <a:r>
                <a:rPr lang="ja-JP" altLang="en-US" sz="1200" dirty="0">
                  <a:latin typeface="+mn-lt"/>
                </a:rPr>
                <a:t>”</a:t>
              </a:r>
              <a:r>
                <a:rPr lang="en-US" altLang="ja-JP" sz="1200" dirty="0">
                  <a:latin typeface="+mn-lt"/>
                </a:rPr>
                <a:t> of supply to demand in this case is knows as rough-cut capacity planning</a:t>
              </a:r>
              <a:endParaRPr lang="en-US" altLang="en-US" sz="1200" b="0" dirty="0">
                <a:latin typeface="+mn-lt"/>
              </a:endParaRPr>
            </a:p>
          </p:txBody>
        </p:sp>
        <p:sp>
          <p:nvSpPr>
            <p:cNvPr id="15" name="Line 12">
              <a:extLst>
                <a:ext uri="{FF2B5EF4-FFF2-40B4-BE49-F238E27FC236}">
                  <a16:creationId xmlns:a16="http://schemas.microsoft.com/office/drawing/2014/main" id="{818687EE-3CF3-CF2E-4097-931E465535FB}"/>
                </a:ext>
              </a:extLst>
            </p:cNvPr>
            <p:cNvSpPr>
              <a:spLocks noChangeShapeType="1"/>
            </p:cNvSpPr>
            <p:nvPr/>
          </p:nvSpPr>
          <p:spPr bwMode="auto">
            <a:xfrm>
              <a:off x="2655888" y="5632450"/>
              <a:ext cx="5976937"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13">
              <a:extLst>
                <a:ext uri="{FF2B5EF4-FFF2-40B4-BE49-F238E27FC236}">
                  <a16:creationId xmlns:a16="http://schemas.microsoft.com/office/drawing/2014/main" id="{490C213E-3C56-1FBD-8B21-07CABA9FE76F}"/>
                </a:ext>
              </a:extLst>
            </p:cNvPr>
            <p:cNvSpPr>
              <a:spLocks noChangeArrowheads="1"/>
            </p:cNvSpPr>
            <p:nvPr/>
          </p:nvSpPr>
          <p:spPr bwMode="auto">
            <a:xfrm>
              <a:off x="2632075" y="5699125"/>
              <a:ext cx="6034088" cy="300038"/>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Non-Aligned Resources?  </a:t>
              </a:r>
              <a:r>
                <a:rPr lang="ja-JP" altLang="en-US" sz="1400" dirty="0">
                  <a:solidFill>
                    <a:schemeClr val="bg1"/>
                  </a:solidFill>
                  <a:latin typeface="+mn-lt"/>
                </a:rPr>
                <a:t>“</a:t>
              </a:r>
              <a:r>
                <a:rPr lang="en-US" altLang="ja-JP" sz="1400" dirty="0">
                  <a:solidFill>
                    <a:schemeClr val="bg1"/>
                  </a:solidFill>
                  <a:latin typeface="+mn-lt"/>
                </a:rPr>
                <a:t>Rough Cut Capacity Planning</a:t>
              </a:r>
              <a:r>
                <a:rPr lang="ja-JP" altLang="en-US" sz="1400" dirty="0">
                  <a:solidFill>
                    <a:schemeClr val="bg1"/>
                  </a:solidFill>
                  <a:latin typeface="+mn-lt"/>
                </a:rPr>
                <a:t>”</a:t>
              </a:r>
              <a:r>
                <a:rPr lang="en-US" altLang="ja-JP" sz="1400" dirty="0">
                  <a:solidFill>
                    <a:schemeClr val="bg1"/>
                  </a:solidFill>
                  <a:latin typeface="+mn-lt"/>
                </a:rPr>
                <a:t> Is The Key</a:t>
              </a:r>
              <a:endParaRPr lang="en-US" altLang="en-US" sz="1400" dirty="0">
                <a:solidFill>
                  <a:schemeClr val="bg1"/>
                </a:solidFill>
                <a:latin typeface="+mn-lt"/>
              </a:endParaRPr>
            </a:p>
          </p:txBody>
        </p:sp>
      </p:grpSp>
      <p:grpSp>
        <p:nvGrpSpPr>
          <p:cNvPr id="9" name="Group 51">
            <a:extLst>
              <a:ext uri="{FF2B5EF4-FFF2-40B4-BE49-F238E27FC236}">
                <a16:creationId xmlns:a16="http://schemas.microsoft.com/office/drawing/2014/main" id="{53751AF6-E164-6E5A-E7BB-6FAD126B41FC}"/>
              </a:ext>
            </a:extLst>
          </p:cNvPr>
          <p:cNvGrpSpPr>
            <a:grpSpLocks/>
          </p:cNvGrpSpPr>
          <p:nvPr/>
        </p:nvGrpSpPr>
        <p:grpSpPr bwMode="auto">
          <a:xfrm>
            <a:off x="8420088" y="5628516"/>
            <a:ext cx="2933712" cy="650333"/>
            <a:chOff x="676" y="3874"/>
            <a:chExt cx="1500" cy="392"/>
          </a:xfrm>
        </p:grpSpPr>
        <p:sp>
          <p:nvSpPr>
            <p:cNvPr id="10" name="Line 35">
              <a:extLst>
                <a:ext uri="{FF2B5EF4-FFF2-40B4-BE49-F238E27FC236}">
                  <a16:creationId xmlns:a16="http://schemas.microsoft.com/office/drawing/2014/main" id="{B5D32A63-0DB7-510F-CD4E-3EF42F0F11F5}"/>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36">
              <a:extLst>
                <a:ext uri="{FF2B5EF4-FFF2-40B4-BE49-F238E27FC236}">
                  <a16:creationId xmlns:a16="http://schemas.microsoft.com/office/drawing/2014/main" id="{68159DB5-22EC-B5A1-F382-384C76D99A94}"/>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7">
              <a:extLst>
                <a:ext uri="{FF2B5EF4-FFF2-40B4-BE49-F238E27FC236}">
                  <a16:creationId xmlns:a16="http://schemas.microsoft.com/office/drawing/2014/main" id="{D9082177-F269-AEFB-DFA9-88D4370A250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38">
              <a:extLst>
                <a:ext uri="{FF2B5EF4-FFF2-40B4-BE49-F238E27FC236}">
                  <a16:creationId xmlns:a16="http://schemas.microsoft.com/office/drawing/2014/main" id="{151CBD40-F7FA-EEFC-686C-12DE30C41A8B}"/>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4" name="Rectangle 39">
              <a:extLst>
                <a:ext uri="{FF2B5EF4-FFF2-40B4-BE49-F238E27FC236}">
                  <a16:creationId xmlns:a16="http://schemas.microsoft.com/office/drawing/2014/main" id="{1599EB3B-7202-2EC3-7C84-F1740CA93B94}"/>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8" name="Rectangle 40">
              <a:extLst>
                <a:ext uri="{FF2B5EF4-FFF2-40B4-BE49-F238E27FC236}">
                  <a16:creationId xmlns:a16="http://schemas.microsoft.com/office/drawing/2014/main" id="{70A8370D-65CE-C08E-1B4F-C4516BB80DED}"/>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9" name="Rectangle 41">
              <a:extLst>
                <a:ext uri="{FF2B5EF4-FFF2-40B4-BE49-F238E27FC236}">
                  <a16:creationId xmlns:a16="http://schemas.microsoft.com/office/drawing/2014/main" id="{A77A8247-FCAC-3D3E-8498-D8CF20CF7E63}"/>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20" name="AutoShape 42">
              <a:extLst>
                <a:ext uri="{FF2B5EF4-FFF2-40B4-BE49-F238E27FC236}">
                  <a16:creationId xmlns:a16="http://schemas.microsoft.com/office/drawing/2014/main" id="{CDB58634-B448-5806-1242-CD30DDF23BB3}"/>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1" name="Rectangle 43">
              <a:extLst>
                <a:ext uri="{FF2B5EF4-FFF2-40B4-BE49-F238E27FC236}">
                  <a16:creationId xmlns:a16="http://schemas.microsoft.com/office/drawing/2014/main" id="{7992B982-6515-7858-DCCB-097F98A83EAA}"/>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2" name="Rectangle 44">
              <a:extLst>
                <a:ext uri="{FF2B5EF4-FFF2-40B4-BE49-F238E27FC236}">
                  <a16:creationId xmlns:a16="http://schemas.microsoft.com/office/drawing/2014/main" id="{0AA9A8AE-7FEF-88E8-57E9-3A50386BE596}"/>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3" name="Rectangle 45">
              <a:extLst>
                <a:ext uri="{FF2B5EF4-FFF2-40B4-BE49-F238E27FC236}">
                  <a16:creationId xmlns:a16="http://schemas.microsoft.com/office/drawing/2014/main" id="{10843E7E-9C09-D7CD-BDF8-C7724B758B89}"/>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4" name="Rectangle 46">
              <a:extLst>
                <a:ext uri="{FF2B5EF4-FFF2-40B4-BE49-F238E27FC236}">
                  <a16:creationId xmlns:a16="http://schemas.microsoft.com/office/drawing/2014/main" id="{F2CEFB69-B97D-080C-258A-4194FFED622F}"/>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5" name="Rectangle 47">
              <a:extLst>
                <a:ext uri="{FF2B5EF4-FFF2-40B4-BE49-F238E27FC236}">
                  <a16:creationId xmlns:a16="http://schemas.microsoft.com/office/drawing/2014/main" id="{5706400D-A137-E739-FA5B-22834A415E8A}"/>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4072036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Aligned Operating Environments:  </a:t>
            </a:r>
            <a:br>
              <a:rPr lang="en-US" dirty="0"/>
            </a:br>
            <a:r>
              <a:rPr lang="en-US" dirty="0"/>
              <a:t>Specific Product, Specific Platform</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In the aligned operating environment, each product has a dedicated production platform assigned specifically to that product; capacity planning is therefore a simple process matching consensus demand to demonstrated capacity &amp; throughput.</a:t>
            </a:r>
          </a:p>
        </p:txBody>
      </p:sp>
      <p:grpSp>
        <p:nvGrpSpPr>
          <p:cNvPr id="54" name="Group 53">
            <a:extLst>
              <a:ext uri="{FF2B5EF4-FFF2-40B4-BE49-F238E27FC236}">
                <a16:creationId xmlns:a16="http://schemas.microsoft.com/office/drawing/2014/main" id="{80FDAF7C-B640-5128-7D76-50F807628C3F}"/>
              </a:ext>
            </a:extLst>
          </p:cNvPr>
          <p:cNvGrpSpPr/>
          <p:nvPr/>
        </p:nvGrpSpPr>
        <p:grpSpPr>
          <a:xfrm>
            <a:off x="314370" y="1853271"/>
            <a:ext cx="8669337" cy="3751262"/>
            <a:chOff x="350838" y="2278063"/>
            <a:chExt cx="8669337" cy="3751262"/>
          </a:xfrm>
        </p:grpSpPr>
        <p:sp>
          <p:nvSpPr>
            <p:cNvPr id="9" name="Rectangle 4">
              <a:extLst>
                <a:ext uri="{FF2B5EF4-FFF2-40B4-BE49-F238E27FC236}">
                  <a16:creationId xmlns:a16="http://schemas.microsoft.com/office/drawing/2014/main" id="{F7F06B9A-DCCC-B071-C6E2-3A12EF834453}"/>
                </a:ext>
              </a:extLst>
            </p:cNvPr>
            <p:cNvSpPr>
              <a:spLocks noChangeArrowheads="1"/>
            </p:cNvSpPr>
            <p:nvPr/>
          </p:nvSpPr>
          <p:spPr bwMode="auto">
            <a:xfrm>
              <a:off x="936625" y="5106988"/>
              <a:ext cx="186013" cy="46230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endParaRPr lang="en-US" altLang="en-US" sz="2400">
                <a:latin typeface="+mn-lt"/>
              </a:endParaRPr>
            </a:p>
          </p:txBody>
        </p:sp>
        <p:sp>
          <p:nvSpPr>
            <p:cNvPr id="10" name="Rectangle 5">
              <a:extLst>
                <a:ext uri="{FF2B5EF4-FFF2-40B4-BE49-F238E27FC236}">
                  <a16:creationId xmlns:a16="http://schemas.microsoft.com/office/drawing/2014/main" id="{DA213B18-BA93-C443-AF12-66368A1DF599}"/>
                </a:ext>
              </a:extLst>
            </p:cNvPr>
            <p:cNvSpPr>
              <a:spLocks noChangeArrowheads="1"/>
            </p:cNvSpPr>
            <p:nvPr/>
          </p:nvSpPr>
          <p:spPr bwMode="auto">
            <a:xfrm>
              <a:off x="815975" y="5124450"/>
              <a:ext cx="762000" cy="7620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dirty="0">
                  <a:latin typeface="+mn-lt"/>
                </a:rPr>
                <a:t>Begin</a:t>
              </a:r>
            </a:p>
            <a:p>
              <a:pPr algn="ctr">
                <a:spcBef>
                  <a:spcPct val="0"/>
                </a:spcBef>
                <a:buClrTx/>
                <a:buSzTx/>
                <a:buFontTx/>
                <a:buNone/>
              </a:pPr>
              <a:r>
                <a:rPr lang="en-US" altLang="en-US" sz="1000" dirty="0">
                  <a:latin typeface="+mn-lt"/>
                </a:rPr>
                <a:t>Mfg.</a:t>
              </a:r>
            </a:p>
            <a:p>
              <a:pPr algn="ctr">
                <a:spcBef>
                  <a:spcPct val="0"/>
                </a:spcBef>
                <a:buClrTx/>
                <a:buSzTx/>
                <a:buFontTx/>
                <a:buNone/>
              </a:pPr>
              <a:r>
                <a:rPr lang="en-US" altLang="en-US" sz="1000" dirty="0">
                  <a:latin typeface="+mn-lt"/>
                </a:rPr>
                <a:t>Sequence</a:t>
              </a:r>
            </a:p>
          </p:txBody>
        </p:sp>
        <p:sp>
          <p:nvSpPr>
            <p:cNvPr id="11" name="Rectangle 6">
              <a:extLst>
                <a:ext uri="{FF2B5EF4-FFF2-40B4-BE49-F238E27FC236}">
                  <a16:creationId xmlns:a16="http://schemas.microsoft.com/office/drawing/2014/main" id="{BE6B6708-AD2A-56F6-C511-5B2380643F38}"/>
                </a:ext>
              </a:extLst>
            </p:cNvPr>
            <p:cNvSpPr>
              <a:spLocks noChangeArrowheads="1"/>
            </p:cNvSpPr>
            <p:nvPr/>
          </p:nvSpPr>
          <p:spPr bwMode="auto">
            <a:xfrm>
              <a:off x="815975" y="4210050"/>
              <a:ext cx="762000" cy="9144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Install</a:t>
              </a:r>
            </a:p>
            <a:p>
              <a:pPr algn="ctr">
                <a:spcBef>
                  <a:spcPct val="0"/>
                </a:spcBef>
                <a:buClrTx/>
                <a:buSzTx/>
                <a:buFontTx/>
                <a:buNone/>
              </a:pPr>
              <a:r>
                <a:rPr lang="en-US" altLang="en-US" sz="1000">
                  <a:latin typeface="+mn-lt"/>
                </a:rPr>
                <a:t>PCB</a:t>
              </a:r>
            </a:p>
          </p:txBody>
        </p:sp>
        <p:sp>
          <p:nvSpPr>
            <p:cNvPr id="12" name="Rectangle 7">
              <a:extLst>
                <a:ext uri="{FF2B5EF4-FFF2-40B4-BE49-F238E27FC236}">
                  <a16:creationId xmlns:a16="http://schemas.microsoft.com/office/drawing/2014/main" id="{B7707493-36B7-6CF8-FECB-6D6A81B84C0B}"/>
                </a:ext>
              </a:extLst>
            </p:cNvPr>
            <p:cNvSpPr>
              <a:spLocks noChangeArrowheads="1"/>
            </p:cNvSpPr>
            <p:nvPr/>
          </p:nvSpPr>
          <p:spPr bwMode="auto">
            <a:xfrm>
              <a:off x="815975" y="3371850"/>
              <a:ext cx="762000" cy="8382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Install</a:t>
              </a:r>
            </a:p>
            <a:p>
              <a:pPr algn="ctr">
                <a:spcBef>
                  <a:spcPct val="0"/>
                </a:spcBef>
                <a:buClrTx/>
                <a:buSzTx/>
                <a:buFontTx/>
                <a:buNone/>
              </a:pPr>
              <a:r>
                <a:rPr lang="en-US" altLang="en-US" sz="1000">
                  <a:latin typeface="+mn-lt"/>
                </a:rPr>
                <a:t>Cooling</a:t>
              </a:r>
            </a:p>
            <a:p>
              <a:pPr algn="ctr">
                <a:spcBef>
                  <a:spcPct val="0"/>
                </a:spcBef>
                <a:buClrTx/>
                <a:buSzTx/>
                <a:buFontTx/>
                <a:buNone/>
              </a:pPr>
              <a:r>
                <a:rPr lang="en-US" altLang="en-US" sz="1000">
                  <a:latin typeface="+mn-lt"/>
                </a:rPr>
                <a:t>Fan &amp;</a:t>
              </a:r>
            </a:p>
            <a:p>
              <a:pPr algn="ctr">
                <a:spcBef>
                  <a:spcPct val="0"/>
                </a:spcBef>
                <a:buClrTx/>
                <a:buSzTx/>
                <a:buFontTx/>
                <a:buNone/>
              </a:pPr>
              <a:r>
                <a:rPr lang="en-US" altLang="en-US" sz="1000">
                  <a:latin typeface="+mn-lt"/>
                </a:rPr>
                <a:t>Wiring</a:t>
              </a:r>
            </a:p>
          </p:txBody>
        </p:sp>
        <p:sp>
          <p:nvSpPr>
            <p:cNvPr id="13" name="Rectangle 8">
              <a:extLst>
                <a:ext uri="{FF2B5EF4-FFF2-40B4-BE49-F238E27FC236}">
                  <a16:creationId xmlns:a16="http://schemas.microsoft.com/office/drawing/2014/main" id="{9B2EA81E-5D1C-B54E-191C-78C8FE7BA41F}"/>
                </a:ext>
              </a:extLst>
            </p:cNvPr>
            <p:cNvSpPr>
              <a:spLocks noChangeArrowheads="1"/>
            </p:cNvSpPr>
            <p:nvPr/>
          </p:nvSpPr>
          <p:spPr bwMode="auto">
            <a:xfrm>
              <a:off x="2797175" y="5124450"/>
              <a:ext cx="762000" cy="7620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Complete</a:t>
              </a:r>
            </a:p>
            <a:p>
              <a:pPr algn="ctr">
                <a:spcBef>
                  <a:spcPct val="0"/>
                </a:spcBef>
                <a:buClrTx/>
                <a:buSzTx/>
                <a:buFontTx/>
                <a:buNone/>
              </a:pPr>
              <a:r>
                <a:rPr lang="en-US" altLang="en-US" sz="1000">
                  <a:latin typeface="+mn-lt"/>
                </a:rPr>
                <a:t>&amp;</a:t>
              </a:r>
            </a:p>
            <a:p>
              <a:pPr algn="ctr">
                <a:spcBef>
                  <a:spcPct val="0"/>
                </a:spcBef>
                <a:buClrTx/>
                <a:buSzTx/>
                <a:buFontTx/>
                <a:buNone/>
              </a:pPr>
              <a:r>
                <a:rPr lang="en-US" altLang="en-US" sz="1000">
                  <a:latin typeface="+mn-lt"/>
                </a:rPr>
                <a:t>Package</a:t>
              </a:r>
            </a:p>
          </p:txBody>
        </p:sp>
        <p:sp>
          <p:nvSpPr>
            <p:cNvPr id="14" name="Rectangle 9">
              <a:extLst>
                <a:ext uri="{FF2B5EF4-FFF2-40B4-BE49-F238E27FC236}">
                  <a16:creationId xmlns:a16="http://schemas.microsoft.com/office/drawing/2014/main" id="{E4A3E4E9-DE99-7DA9-A779-2D82A8B9D1C7}"/>
                </a:ext>
              </a:extLst>
            </p:cNvPr>
            <p:cNvSpPr>
              <a:spLocks noChangeArrowheads="1"/>
            </p:cNvSpPr>
            <p:nvPr/>
          </p:nvSpPr>
          <p:spPr bwMode="auto">
            <a:xfrm>
              <a:off x="2797175" y="4210050"/>
              <a:ext cx="762000" cy="9144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Power</a:t>
              </a:r>
            </a:p>
            <a:p>
              <a:pPr algn="ctr">
                <a:spcBef>
                  <a:spcPct val="0"/>
                </a:spcBef>
                <a:buClrTx/>
                <a:buSzTx/>
                <a:buFontTx/>
                <a:buNone/>
              </a:pPr>
              <a:r>
                <a:rPr lang="en-US" altLang="en-US" sz="1000">
                  <a:latin typeface="+mn-lt"/>
                </a:rPr>
                <a:t>Cord</a:t>
              </a:r>
            </a:p>
            <a:p>
              <a:pPr algn="ctr">
                <a:spcBef>
                  <a:spcPct val="0"/>
                </a:spcBef>
                <a:buClrTx/>
                <a:buSzTx/>
                <a:buFontTx/>
                <a:buNone/>
              </a:pPr>
              <a:r>
                <a:rPr lang="en-US" altLang="en-US" sz="1000">
                  <a:latin typeface="+mn-lt"/>
                </a:rPr>
                <a:t>Testing &amp;</a:t>
              </a:r>
            </a:p>
            <a:p>
              <a:pPr algn="ctr">
                <a:spcBef>
                  <a:spcPct val="0"/>
                </a:spcBef>
                <a:buClrTx/>
                <a:buSzTx/>
                <a:buFontTx/>
                <a:buNone/>
              </a:pPr>
              <a:r>
                <a:rPr lang="en-US" altLang="en-US" sz="1000">
                  <a:latin typeface="+mn-lt"/>
                </a:rPr>
                <a:t>Labeling</a:t>
              </a:r>
            </a:p>
          </p:txBody>
        </p:sp>
        <p:sp>
          <p:nvSpPr>
            <p:cNvPr id="18" name="Rectangle 10">
              <a:extLst>
                <a:ext uri="{FF2B5EF4-FFF2-40B4-BE49-F238E27FC236}">
                  <a16:creationId xmlns:a16="http://schemas.microsoft.com/office/drawing/2014/main" id="{0C24A2C4-AB42-86FC-8EF9-BF91BE2BDA79}"/>
                </a:ext>
              </a:extLst>
            </p:cNvPr>
            <p:cNvSpPr>
              <a:spLocks noChangeArrowheads="1"/>
            </p:cNvSpPr>
            <p:nvPr/>
          </p:nvSpPr>
          <p:spPr bwMode="auto">
            <a:xfrm>
              <a:off x="2797175" y="3371850"/>
              <a:ext cx="762000" cy="8382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Electronics</a:t>
              </a:r>
            </a:p>
            <a:p>
              <a:pPr algn="ctr">
                <a:spcBef>
                  <a:spcPct val="0"/>
                </a:spcBef>
                <a:buClrTx/>
                <a:buSzTx/>
                <a:buFontTx/>
                <a:buNone/>
              </a:pPr>
              <a:r>
                <a:rPr lang="en-US" altLang="en-US" sz="1000">
                  <a:latin typeface="+mn-lt"/>
                </a:rPr>
                <a:t>Testing</a:t>
              </a:r>
            </a:p>
          </p:txBody>
        </p:sp>
        <p:sp>
          <p:nvSpPr>
            <p:cNvPr id="19" name="Rectangle 11">
              <a:extLst>
                <a:ext uri="{FF2B5EF4-FFF2-40B4-BE49-F238E27FC236}">
                  <a16:creationId xmlns:a16="http://schemas.microsoft.com/office/drawing/2014/main" id="{A8CCE311-2834-649F-66AE-F6D1C308DD84}"/>
                </a:ext>
              </a:extLst>
            </p:cNvPr>
            <p:cNvSpPr>
              <a:spLocks noChangeArrowheads="1"/>
            </p:cNvSpPr>
            <p:nvPr/>
          </p:nvSpPr>
          <p:spPr bwMode="auto">
            <a:xfrm>
              <a:off x="815975" y="2914650"/>
              <a:ext cx="1371600" cy="4572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Solder Components</a:t>
              </a:r>
            </a:p>
            <a:p>
              <a:pPr algn="ctr">
                <a:spcBef>
                  <a:spcPct val="0"/>
                </a:spcBef>
                <a:buClrTx/>
                <a:buSzTx/>
                <a:buFontTx/>
                <a:buNone/>
              </a:pPr>
              <a:r>
                <a:rPr lang="en-US" altLang="en-US" sz="1000">
                  <a:latin typeface="+mn-lt"/>
                </a:rPr>
                <a:t>&amp; Install Line Filter</a:t>
              </a:r>
            </a:p>
          </p:txBody>
        </p:sp>
        <p:sp>
          <p:nvSpPr>
            <p:cNvPr id="20" name="Rectangle 12">
              <a:extLst>
                <a:ext uri="{FF2B5EF4-FFF2-40B4-BE49-F238E27FC236}">
                  <a16:creationId xmlns:a16="http://schemas.microsoft.com/office/drawing/2014/main" id="{70B2D06E-908A-B1C1-E9BB-439D4399B2C1}"/>
                </a:ext>
              </a:extLst>
            </p:cNvPr>
            <p:cNvSpPr>
              <a:spLocks noChangeArrowheads="1"/>
            </p:cNvSpPr>
            <p:nvPr/>
          </p:nvSpPr>
          <p:spPr bwMode="auto">
            <a:xfrm>
              <a:off x="2187575" y="2914650"/>
              <a:ext cx="1371600" cy="457200"/>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Visual Inspection &amp;</a:t>
              </a:r>
            </a:p>
            <a:p>
              <a:pPr algn="ctr">
                <a:spcBef>
                  <a:spcPct val="0"/>
                </a:spcBef>
                <a:buClrTx/>
                <a:buSzTx/>
                <a:buFontTx/>
                <a:buNone/>
              </a:pPr>
              <a:r>
                <a:rPr lang="en-US" altLang="en-US" sz="1000">
                  <a:latin typeface="+mn-lt"/>
                </a:rPr>
                <a:t>Affix Serial No. </a:t>
              </a:r>
            </a:p>
          </p:txBody>
        </p:sp>
        <p:sp>
          <p:nvSpPr>
            <p:cNvPr id="21" name="Rectangle 13">
              <a:extLst>
                <a:ext uri="{FF2B5EF4-FFF2-40B4-BE49-F238E27FC236}">
                  <a16:creationId xmlns:a16="http://schemas.microsoft.com/office/drawing/2014/main" id="{F574285B-17E4-AC71-867F-A2971EBE57C8}"/>
                </a:ext>
              </a:extLst>
            </p:cNvPr>
            <p:cNvSpPr>
              <a:spLocks noChangeArrowheads="1"/>
            </p:cNvSpPr>
            <p:nvPr/>
          </p:nvSpPr>
          <p:spPr bwMode="auto">
            <a:xfrm>
              <a:off x="1654175" y="5565775"/>
              <a:ext cx="10668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i="1">
                  <a:latin typeface="+mn-lt"/>
                </a:rPr>
                <a:t>Materials</a:t>
              </a:r>
            </a:p>
            <a:p>
              <a:pPr algn="ctr">
                <a:spcBef>
                  <a:spcPct val="0"/>
                </a:spcBef>
                <a:buClrTx/>
                <a:buSzTx/>
                <a:buFontTx/>
                <a:buNone/>
              </a:pPr>
              <a:r>
                <a:rPr lang="en-US" altLang="en-US" sz="1000" i="1">
                  <a:latin typeface="+mn-lt"/>
                </a:rPr>
                <a:t>Flow</a:t>
              </a:r>
            </a:p>
          </p:txBody>
        </p:sp>
        <p:sp>
          <p:nvSpPr>
            <p:cNvPr id="22" name="Line 14">
              <a:extLst>
                <a:ext uri="{FF2B5EF4-FFF2-40B4-BE49-F238E27FC236}">
                  <a16:creationId xmlns:a16="http://schemas.microsoft.com/office/drawing/2014/main" id="{A7DA12B2-54D2-4BFE-C357-6F18A1754355}"/>
                </a:ext>
              </a:extLst>
            </p:cNvPr>
            <p:cNvSpPr>
              <a:spLocks noChangeShapeType="1"/>
            </p:cNvSpPr>
            <p:nvPr/>
          </p:nvSpPr>
          <p:spPr bwMode="auto">
            <a:xfrm flipV="1">
              <a:off x="1730375" y="3530600"/>
              <a:ext cx="0" cy="2122488"/>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5">
              <a:extLst>
                <a:ext uri="{FF2B5EF4-FFF2-40B4-BE49-F238E27FC236}">
                  <a16:creationId xmlns:a16="http://schemas.microsoft.com/office/drawing/2014/main" id="{72E3E7D9-A28B-82C0-8BD3-EE09B0F6379B}"/>
                </a:ext>
              </a:extLst>
            </p:cNvPr>
            <p:cNvSpPr>
              <a:spLocks noChangeShapeType="1"/>
            </p:cNvSpPr>
            <p:nvPr/>
          </p:nvSpPr>
          <p:spPr bwMode="auto">
            <a:xfrm>
              <a:off x="1741488" y="3524250"/>
              <a:ext cx="903287"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16">
              <a:extLst>
                <a:ext uri="{FF2B5EF4-FFF2-40B4-BE49-F238E27FC236}">
                  <a16:creationId xmlns:a16="http://schemas.microsoft.com/office/drawing/2014/main" id="{22442724-02BF-0991-64D9-9E0C99207530}"/>
                </a:ext>
              </a:extLst>
            </p:cNvPr>
            <p:cNvSpPr>
              <a:spLocks noChangeShapeType="1"/>
            </p:cNvSpPr>
            <p:nvPr/>
          </p:nvSpPr>
          <p:spPr bwMode="auto">
            <a:xfrm>
              <a:off x="2644775" y="3535363"/>
              <a:ext cx="0" cy="2122487"/>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 name="Oval 25">
              <a:extLst>
                <a:ext uri="{FF2B5EF4-FFF2-40B4-BE49-F238E27FC236}">
                  <a16:creationId xmlns:a16="http://schemas.microsoft.com/office/drawing/2014/main" id="{52EF0310-BA36-7FCF-542F-7CAD86A8037E}"/>
                </a:ext>
              </a:extLst>
            </p:cNvPr>
            <p:cNvSpPr>
              <a:spLocks noChangeArrowheads="1"/>
            </p:cNvSpPr>
            <p:nvPr/>
          </p:nvSpPr>
          <p:spPr bwMode="auto">
            <a:xfrm>
              <a:off x="350838" y="5356225"/>
              <a:ext cx="323850" cy="29051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1</a:t>
              </a:r>
            </a:p>
          </p:txBody>
        </p:sp>
        <p:sp>
          <p:nvSpPr>
            <p:cNvPr id="26" name="Oval 26">
              <a:extLst>
                <a:ext uri="{FF2B5EF4-FFF2-40B4-BE49-F238E27FC236}">
                  <a16:creationId xmlns:a16="http://schemas.microsoft.com/office/drawing/2014/main" id="{31178C00-8F09-3FD3-944B-7340D821AB6D}"/>
                </a:ext>
              </a:extLst>
            </p:cNvPr>
            <p:cNvSpPr>
              <a:spLocks noChangeArrowheads="1"/>
            </p:cNvSpPr>
            <p:nvPr/>
          </p:nvSpPr>
          <p:spPr bwMode="auto">
            <a:xfrm>
              <a:off x="350838" y="4513263"/>
              <a:ext cx="323850" cy="29051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27" name="Oval 27">
              <a:extLst>
                <a:ext uri="{FF2B5EF4-FFF2-40B4-BE49-F238E27FC236}">
                  <a16:creationId xmlns:a16="http://schemas.microsoft.com/office/drawing/2014/main" id="{B5E5E101-4635-2BED-7B39-212A40CA5413}"/>
                </a:ext>
              </a:extLst>
            </p:cNvPr>
            <p:cNvSpPr>
              <a:spLocks noChangeArrowheads="1"/>
            </p:cNvSpPr>
            <p:nvPr/>
          </p:nvSpPr>
          <p:spPr bwMode="auto">
            <a:xfrm>
              <a:off x="1341438" y="2513013"/>
              <a:ext cx="323850" cy="29051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42" name="Oval 28">
              <a:extLst>
                <a:ext uri="{FF2B5EF4-FFF2-40B4-BE49-F238E27FC236}">
                  <a16:creationId xmlns:a16="http://schemas.microsoft.com/office/drawing/2014/main" id="{A03A3486-FB9A-196E-A1E4-0502F44A4C68}"/>
                </a:ext>
              </a:extLst>
            </p:cNvPr>
            <p:cNvSpPr>
              <a:spLocks noChangeArrowheads="1"/>
            </p:cNvSpPr>
            <p:nvPr/>
          </p:nvSpPr>
          <p:spPr bwMode="auto">
            <a:xfrm>
              <a:off x="2713038" y="2513013"/>
              <a:ext cx="323850" cy="29051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4</a:t>
              </a:r>
            </a:p>
          </p:txBody>
        </p:sp>
        <p:sp>
          <p:nvSpPr>
            <p:cNvPr id="43" name="Oval 29">
              <a:extLst>
                <a:ext uri="{FF2B5EF4-FFF2-40B4-BE49-F238E27FC236}">
                  <a16:creationId xmlns:a16="http://schemas.microsoft.com/office/drawing/2014/main" id="{4E6D2C92-A229-12FB-EEB1-E253893C2447}"/>
                </a:ext>
              </a:extLst>
            </p:cNvPr>
            <p:cNvSpPr>
              <a:spLocks noChangeArrowheads="1"/>
            </p:cNvSpPr>
            <p:nvPr/>
          </p:nvSpPr>
          <p:spPr bwMode="auto">
            <a:xfrm>
              <a:off x="3684588" y="3643313"/>
              <a:ext cx="323850" cy="290512"/>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5</a:t>
              </a:r>
            </a:p>
          </p:txBody>
        </p:sp>
        <p:sp>
          <p:nvSpPr>
            <p:cNvPr id="44" name="Oval 30">
              <a:extLst>
                <a:ext uri="{FF2B5EF4-FFF2-40B4-BE49-F238E27FC236}">
                  <a16:creationId xmlns:a16="http://schemas.microsoft.com/office/drawing/2014/main" id="{EA97FED7-5764-D373-94FB-240C4EC50AF0}"/>
                </a:ext>
              </a:extLst>
            </p:cNvPr>
            <p:cNvSpPr>
              <a:spLocks noChangeArrowheads="1"/>
            </p:cNvSpPr>
            <p:nvPr/>
          </p:nvSpPr>
          <p:spPr bwMode="auto">
            <a:xfrm>
              <a:off x="3684588" y="4521200"/>
              <a:ext cx="323850" cy="29051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6</a:t>
              </a:r>
            </a:p>
          </p:txBody>
        </p:sp>
        <p:sp>
          <p:nvSpPr>
            <p:cNvPr id="45" name="Oval 31">
              <a:extLst>
                <a:ext uri="{FF2B5EF4-FFF2-40B4-BE49-F238E27FC236}">
                  <a16:creationId xmlns:a16="http://schemas.microsoft.com/office/drawing/2014/main" id="{5C0BB27B-701B-4321-3F75-D2D0F664CC3A}"/>
                </a:ext>
              </a:extLst>
            </p:cNvPr>
            <p:cNvSpPr>
              <a:spLocks noChangeArrowheads="1"/>
            </p:cNvSpPr>
            <p:nvPr/>
          </p:nvSpPr>
          <p:spPr bwMode="auto">
            <a:xfrm>
              <a:off x="3684588" y="5372100"/>
              <a:ext cx="323850" cy="29051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7</a:t>
              </a:r>
            </a:p>
          </p:txBody>
        </p:sp>
        <p:sp>
          <p:nvSpPr>
            <p:cNvPr id="46" name="Oval 32">
              <a:extLst>
                <a:ext uri="{FF2B5EF4-FFF2-40B4-BE49-F238E27FC236}">
                  <a16:creationId xmlns:a16="http://schemas.microsoft.com/office/drawing/2014/main" id="{3EBAB500-9B11-8D60-EE18-882EA8307771}"/>
                </a:ext>
              </a:extLst>
            </p:cNvPr>
            <p:cNvSpPr>
              <a:spLocks noChangeArrowheads="1"/>
            </p:cNvSpPr>
            <p:nvPr/>
          </p:nvSpPr>
          <p:spPr bwMode="auto">
            <a:xfrm>
              <a:off x="350838" y="3644900"/>
              <a:ext cx="323850" cy="29051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47" name="Rectangle 38">
              <a:extLst>
                <a:ext uri="{FF2B5EF4-FFF2-40B4-BE49-F238E27FC236}">
                  <a16:creationId xmlns:a16="http://schemas.microsoft.com/office/drawing/2014/main" id="{C75F170D-EBC4-AAFE-EF43-2F9059A0E050}"/>
                </a:ext>
              </a:extLst>
            </p:cNvPr>
            <p:cNvSpPr>
              <a:spLocks noChangeArrowheads="1"/>
            </p:cNvSpPr>
            <p:nvPr/>
          </p:nvSpPr>
          <p:spPr bwMode="auto">
            <a:xfrm>
              <a:off x="4581525" y="2513013"/>
              <a:ext cx="4437063" cy="1537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100" dirty="0">
                  <a:latin typeface="+mn-lt"/>
                </a:rPr>
                <a:t>Cell operation example demonstrates simplicity of the model;  specific product assigned to specific operating platform</a:t>
              </a:r>
            </a:p>
            <a:p>
              <a:pPr>
                <a:spcBef>
                  <a:spcPct val="55000"/>
                </a:spcBef>
                <a:buClrTx/>
                <a:buSzPct val="90000"/>
                <a:buFont typeface="Arial" panose="020B0604020202020204" pitchFamily="34" charset="0"/>
                <a:buChar char="•"/>
              </a:pPr>
              <a:r>
                <a:rPr lang="en-US" altLang="en-US" sz="1100" dirty="0">
                  <a:latin typeface="+mn-lt"/>
                </a:rPr>
                <a:t>Each cell location dedicated to production of a single product or family</a:t>
              </a:r>
            </a:p>
            <a:p>
              <a:pPr>
                <a:spcBef>
                  <a:spcPct val="55000"/>
                </a:spcBef>
                <a:buClrTx/>
                <a:buSzPct val="90000"/>
                <a:buFont typeface="Arial" panose="020B0604020202020204" pitchFamily="34" charset="0"/>
                <a:buChar char="•"/>
              </a:pPr>
              <a:r>
                <a:rPr lang="en-US" altLang="en-US" sz="1100" dirty="0">
                  <a:latin typeface="+mn-lt"/>
                </a:rPr>
                <a:t>Average throughput and best-demonstrated throughput typically documented for demand analysis and matching</a:t>
              </a:r>
            </a:p>
            <a:p>
              <a:pPr>
                <a:spcBef>
                  <a:spcPct val="55000"/>
                </a:spcBef>
                <a:buClrTx/>
                <a:buSzPct val="90000"/>
                <a:buFont typeface="Arial" panose="020B0604020202020204" pitchFamily="34" charset="0"/>
                <a:buChar char="•"/>
              </a:pPr>
              <a:endParaRPr lang="en-US" altLang="en-US" sz="1100" b="0" dirty="0">
                <a:latin typeface="+mn-lt"/>
              </a:endParaRPr>
            </a:p>
          </p:txBody>
        </p:sp>
        <p:sp>
          <p:nvSpPr>
            <p:cNvPr id="48" name="Rectangle 40">
              <a:extLst>
                <a:ext uri="{FF2B5EF4-FFF2-40B4-BE49-F238E27FC236}">
                  <a16:creationId xmlns:a16="http://schemas.microsoft.com/office/drawing/2014/main" id="{AEBE396F-5135-22B3-5473-507EB4D9A233}"/>
                </a:ext>
              </a:extLst>
            </p:cNvPr>
            <p:cNvSpPr>
              <a:spLocks noChangeArrowheads="1"/>
            </p:cNvSpPr>
            <p:nvPr/>
          </p:nvSpPr>
          <p:spPr bwMode="auto">
            <a:xfrm>
              <a:off x="4549775" y="2398713"/>
              <a:ext cx="4303713" cy="160496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9" name="Rectangle 41">
              <a:extLst>
                <a:ext uri="{FF2B5EF4-FFF2-40B4-BE49-F238E27FC236}">
                  <a16:creationId xmlns:a16="http://schemas.microsoft.com/office/drawing/2014/main" id="{A83E9BF1-5E4B-EA57-5781-E0DE3668907F}"/>
                </a:ext>
              </a:extLst>
            </p:cNvPr>
            <p:cNvSpPr>
              <a:spLocks noChangeArrowheads="1"/>
            </p:cNvSpPr>
            <p:nvPr/>
          </p:nvSpPr>
          <p:spPr bwMode="auto">
            <a:xfrm>
              <a:off x="4583113" y="4370388"/>
              <a:ext cx="4437062"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100" dirty="0">
                  <a:latin typeface="+mn-lt"/>
                </a:rPr>
                <a:t>Assess incoming consensus demand</a:t>
              </a:r>
            </a:p>
            <a:p>
              <a:pPr>
                <a:spcBef>
                  <a:spcPct val="55000"/>
                </a:spcBef>
                <a:buClrTx/>
                <a:buSzPct val="90000"/>
                <a:buFont typeface="Arial" panose="020B0604020202020204" pitchFamily="34" charset="0"/>
                <a:buChar char="•"/>
              </a:pPr>
              <a:r>
                <a:rPr lang="en-US" altLang="en-US" sz="1100" dirty="0">
                  <a:latin typeface="+mn-lt"/>
                </a:rPr>
                <a:t>Evaluate inventory positions &amp; next-month requirements</a:t>
              </a:r>
            </a:p>
            <a:p>
              <a:pPr>
                <a:spcBef>
                  <a:spcPct val="55000"/>
                </a:spcBef>
                <a:buClrTx/>
                <a:buSzPct val="90000"/>
                <a:buFont typeface="Arial" panose="020B0604020202020204" pitchFamily="34" charset="0"/>
                <a:buChar char="•"/>
              </a:pPr>
              <a:r>
                <a:rPr lang="en-US" altLang="en-US" sz="1100" dirty="0">
                  <a:latin typeface="+mn-lt"/>
                </a:rPr>
                <a:t>Confirm capacity constraints including maintenance, staffing, scheduled downtime, etc.</a:t>
              </a:r>
            </a:p>
            <a:p>
              <a:pPr>
                <a:spcBef>
                  <a:spcPct val="55000"/>
                </a:spcBef>
                <a:buClrTx/>
                <a:buSzPct val="90000"/>
                <a:buFont typeface="Arial" panose="020B0604020202020204" pitchFamily="34" charset="0"/>
                <a:buChar char="•"/>
              </a:pPr>
              <a:r>
                <a:rPr lang="en-US" altLang="en-US" sz="1100" dirty="0">
                  <a:latin typeface="+mn-lt"/>
                </a:rPr>
                <a:t>Match consensus demand to available capacity</a:t>
              </a:r>
            </a:p>
            <a:p>
              <a:pPr>
                <a:spcBef>
                  <a:spcPct val="55000"/>
                </a:spcBef>
                <a:buClrTx/>
                <a:buSzPct val="90000"/>
                <a:buFont typeface="Arial" panose="020B0604020202020204" pitchFamily="34" charset="0"/>
                <a:buChar char="•"/>
              </a:pPr>
              <a:r>
                <a:rPr lang="en-US" altLang="en-US" sz="1100" dirty="0">
                  <a:latin typeface="+mn-lt"/>
                </a:rPr>
                <a:t>Confirm if average throughout levels acceptable or if </a:t>
              </a:r>
              <a:r>
                <a:rPr lang="ja-JP" altLang="en-US" sz="1100" dirty="0">
                  <a:latin typeface="+mn-lt"/>
                </a:rPr>
                <a:t>“</a:t>
              </a:r>
              <a:r>
                <a:rPr lang="en-US" altLang="ja-JP" sz="1100" dirty="0">
                  <a:latin typeface="+mn-lt"/>
                </a:rPr>
                <a:t>best demonstrated</a:t>
              </a:r>
              <a:r>
                <a:rPr lang="ja-JP" altLang="en-US" sz="1100" dirty="0">
                  <a:latin typeface="+mn-lt"/>
                </a:rPr>
                <a:t>”</a:t>
              </a:r>
              <a:r>
                <a:rPr lang="en-US" altLang="ja-JP" sz="1100" dirty="0">
                  <a:latin typeface="+mn-lt"/>
                </a:rPr>
                <a:t> requirements are applicable</a:t>
              </a:r>
              <a:endParaRPr lang="en-US" altLang="en-US" sz="1100" b="0" dirty="0">
                <a:latin typeface="+mn-lt"/>
              </a:endParaRPr>
            </a:p>
          </p:txBody>
        </p:sp>
        <p:sp>
          <p:nvSpPr>
            <p:cNvPr id="50" name="Rectangle 42">
              <a:extLst>
                <a:ext uri="{FF2B5EF4-FFF2-40B4-BE49-F238E27FC236}">
                  <a16:creationId xmlns:a16="http://schemas.microsoft.com/office/drawing/2014/main" id="{EB62AB32-6175-56FD-82FD-D590576A60C0}"/>
                </a:ext>
              </a:extLst>
            </p:cNvPr>
            <p:cNvSpPr>
              <a:spLocks noChangeArrowheads="1"/>
            </p:cNvSpPr>
            <p:nvPr/>
          </p:nvSpPr>
          <p:spPr bwMode="auto">
            <a:xfrm>
              <a:off x="4549775" y="4268788"/>
              <a:ext cx="4303713" cy="1760537"/>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1" name="Text Box 43">
              <a:extLst>
                <a:ext uri="{FF2B5EF4-FFF2-40B4-BE49-F238E27FC236}">
                  <a16:creationId xmlns:a16="http://schemas.microsoft.com/office/drawing/2014/main" id="{B93CFC1A-C923-A5AE-1556-31AC7B75CA25}"/>
                </a:ext>
              </a:extLst>
            </p:cNvPr>
            <p:cNvSpPr txBox="1">
              <a:spLocks noChangeArrowheads="1"/>
            </p:cNvSpPr>
            <p:nvPr/>
          </p:nvSpPr>
          <p:spPr bwMode="auto">
            <a:xfrm>
              <a:off x="4851935" y="2278063"/>
              <a:ext cx="2154756" cy="254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300">
                  <a:latin typeface="+mn-lt"/>
                </a:rPr>
                <a:t>Aligned Resource Example</a:t>
              </a:r>
            </a:p>
          </p:txBody>
        </p:sp>
        <p:sp>
          <p:nvSpPr>
            <p:cNvPr id="52" name="Text Box 44">
              <a:extLst>
                <a:ext uri="{FF2B5EF4-FFF2-40B4-BE49-F238E27FC236}">
                  <a16:creationId xmlns:a16="http://schemas.microsoft.com/office/drawing/2014/main" id="{D22736FA-EFC0-FE24-0BF5-5359758E6C46}"/>
                </a:ext>
              </a:extLst>
            </p:cNvPr>
            <p:cNvSpPr txBox="1">
              <a:spLocks noChangeArrowheads="1"/>
            </p:cNvSpPr>
            <p:nvPr/>
          </p:nvSpPr>
          <p:spPr bwMode="auto">
            <a:xfrm>
              <a:off x="4867253" y="4148138"/>
              <a:ext cx="2762295" cy="2540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300">
                  <a:latin typeface="+mn-lt"/>
                </a:rPr>
                <a:t>Supply Planning Process Summary</a:t>
              </a:r>
            </a:p>
          </p:txBody>
        </p:sp>
        <p:sp>
          <p:nvSpPr>
            <p:cNvPr id="53" name="AutoShape 45">
              <a:extLst>
                <a:ext uri="{FF2B5EF4-FFF2-40B4-BE49-F238E27FC236}">
                  <a16:creationId xmlns:a16="http://schemas.microsoft.com/office/drawing/2014/main" id="{3EA67DBD-D641-9C12-3884-968B0638F316}"/>
                </a:ext>
              </a:extLst>
            </p:cNvPr>
            <p:cNvSpPr>
              <a:spLocks noChangeArrowheads="1"/>
            </p:cNvSpPr>
            <p:nvPr/>
          </p:nvSpPr>
          <p:spPr bwMode="auto">
            <a:xfrm>
              <a:off x="4170363" y="3000375"/>
              <a:ext cx="244475" cy="2305050"/>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grpSp>
        <p:nvGrpSpPr>
          <p:cNvPr id="4" name="Group 51">
            <a:extLst>
              <a:ext uri="{FF2B5EF4-FFF2-40B4-BE49-F238E27FC236}">
                <a16:creationId xmlns:a16="http://schemas.microsoft.com/office/drawing/2014/main" id="{E019B835-AC70-12B4-CF16-4A04E0F0E0BC}"/>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F0273454-BA09-20F7-750F-D7E1DDD3C82C}"/>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8001E0BF-21BD-5B62-B2AD-F274375526C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B828E6FE-648E-8F2E-5B5B-82F01FB37EA1}"/>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B6818957-0BEC-4E40-B3E7-B412D094F809}"/>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5" name="Rectangle 39">
              <a:extLst>
                <a:ext uri="{FF2B5EF4-FFF2-40B4-BE49-F238E27FC236}">
                  <a16:creationId xmlns:a16="http://schemas.microsoft.com/office/drawing/2014/main" id="{081BB580-724F-7E89-DE9E-64FAA238258F}"/>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6" name="Rectangle 40">
              <a:extLst>
                <a:ext uri="{FF2B5EF4-FFF2-40B4-BE49-F238E27FC236}">
                  <a16:creationId xmlns:a16="http://schemas.microsoft.com/office/drawing/2014/main" id="{0BB0EAEA-36A1-B926-82BF-A6CB16D56B93}"/>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7" name="Rectangle 41">
              <a:extLst>
                <a:ext uri="{FF2B5EF4-FFF2-40B4-BE49-F238E27FC236}">
                  <a16:creationId xmlns:a16="http://schemas.microsoft.com/office/drawing/2014/main" id="{281BA8B7-3A7E-3772-0C92-CBB252BFBCB4}"/>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55" name="AutoShape 42">
              <a:extLst>
                <a:ext uri="{FF2B5EF4-FFF2-40B4-BE49-F238E27FC236}">
                  <a16:creationId xmlns:a16="http://schemas.microsoft.com/office/drawing/2014/main" id="{14F2BBDF-902A-CE9E-38B3-36F631A9E9BA}"/>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56" name="Rectangle 43">
              <a:extLst>
                <a:ext uri="{FF2B5EF4-FFF2-40B4-BE49-F238E27FC236}">
                  <a16:creationId xmlns:a16="http://schemas.microsoft.com/office/drawing/2014/main" id="{4CC73617-A37C-4258-9CF1-8C7995A345A8}"/>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57" name="Rectangle 44">
              <a:extLst>
                <a:ext uri="{FF2B5EF4-FFF2-40B4-BE49-F238E27FC236}">
                  <a16:creationId xmlns:a16="http://schemas.microsoft.com/office/drawing/2014/main" id="{4130F846-B0F6-35F6-4678-7574963B8718}"/>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58" name="Rectangle 45">
              <a:extLst>
                <a:ext uri="{FF2B5EF4-FFF2-40B4-BE49-F238E27FC236}">
                  <a16:creationId xmlns:a16="http://schemas.microsoft.com/office/drawing/2014/main" id="{FDEF5CDE-B520-ED2F-FAEE-81DEFBE46291}"/>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59" name="Rectangle 46">
              <a:extLst>
                <a:ext uri="{FF2B5EF4-FFF2-40B4-BE49-F238E27FC236}">
                  <a16:creationId xmlns:a16="http://schemas.microsoft.com/office/drawing/2014/main" id="{4E2F476C-B067-78F6-EC5C-8B12654FF716}"/>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60" name="Rectangle 47">
              <a:extLst>
                <a:ext uri="{FF2B5EF4-FFF2-40B4-BE49-F238E27FC236}">
                  <a16:creationId xmlns:a16="http://schemas.microsoft.com/office/drawing/2014/main" id="{E9C2F1A3-5F6B-3173-4D00-A4CA2236ECCF}"/>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240517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Aligned Operating Environments:  </a:t>
            </a:r>
            <a:br>
              <a:rPr lang="en-US" dirty="0"/>
            </a:br>
            <a:r>
              <a:rPr lang="en-US" dirty="0"/>
              <a:t>Historical Output Analysis &amp; Capabilities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Across most operations, dedicated resources have strong historical data supporting average throughput, best-demonstrated throughput and other relevant information that will help guide the pilot team in the supply planning process.</a:t>
            </a:r>
          </a:p>
        </p:txBody>
      </p:sp>
      <p:grpSp>
        <p:nvGrpSpPr>
          <p:cNvPr id="17" name="Group 16">
            <a:extLst>
              <a:ext uri="{FF2B5EF4-FFF2-40B4-BE49-F238E27FC236}">
                <a16:creationId xmlns:a16="http://schemas.microsoft.com/office/drawing/2014/main" id="{DDD71D2F-1DE3-098F-6E25-263A0ADF78A8}"/>
              </a:ext>
            </a:extLst>
          </p:cNvPr>
          <p:cNvGrpSpPr/>
          <p:nvPr/>
        </p:nvGrpSpPr>
        <p:grpSpPr>
          <a:xfrm>
            <a:off x="552450" y="1992313"/>
            <a:ext cx="7977188" cy="3960812"/>
            <a:chOff x="552450" y="1992313"/>
            <a:chExt cx="7977188" cy="3960812"/>
          </a:xfrm>
        </p:grpSpPr>
        <p:graphicFrame>
          <p:nvGraphicFramePr>
            <p:cNvPr id="15" name="Object 4">
              <a:extLst>
                <a:ext uri="{FF2B5EF4-FFF2-40B4-BE49-F238E27FC236}">
                  <a16:creationId xmlns:a16="http://schemas.microsoft.com/office/drawing/2014/main" id="{87C435A7-3A45-317C-D2FE-8465987769DA}"/>
                </a:ext>
              </a:extLst>
            </p:cNvPr>
            <p:cNvGraphicFramePr>
              <a:graphicFrameLocks noChangeAspect="1"/>
            </p:cNvGraphicFramePr>
            <p:nvPr>
              <p:extLst>
                <p:ext uri="{D42A27DB-BD31-4B8C-83A1-F6EECF244321}">
                  <p14:modId xmlns:p14="http://schemas.microsoft.com/office/powerpoint/2010/main" val="88214022"/>
                </p:ext>
              </p:extLst>
            </p:nvPr>
          </p:nvGraphicFramePr>
          <p:xfrm>
            <a:off x="552450" y="1992313"/>
            <a:ext cx="7905750" cy="3500437"/>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8">
              <a:extLst>
                <a:ext uri="{FF2B5EF4-FFF2-40B4-BE49-F238E27FC236}">
                  <a16:creationId xmlns:a16="http://schemas.microsoft.com/office/drawing/2014/main" id="{8EF4A4A8-883D-85F9-92A6-B942DB5C409C}"/>
                </a:ext>
              </a:extLst>
            </p:cNvPr>
            <p:cNvSpPr>
              <a:spLocks noChangeArrowheads="1"/>
            </p:cNvSpPr>
            <p:nvPr/>
          </p:nvSpPr>
          <p:spPr bwMode="auto">
            <a:xfrm>
              <a:off x="1036638" y="5507038"/>
              <a:ext cx="1573212" cy="446087"/>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Pct val="90000"/>
                <a:buNone/>
              </a:pPr>
              <a:r>
                <a:rPr lang="en-US" altLang="en-US" sz="1100" dirty="0">
                  <a:solidFill>
                    <a:schemeClr val="bg1"/>
                  </a:solidFill>
                  <a:latin typeface="+mn-lt"/>
                </a:rPr>
                <a:t>Max Demonstrated</a:t>
              </a:r>
            </a:p>
            <a:p>
              <a:pPr algn="ctr">
                <a:lnSpc>
                  <a:spcPct val="80000"/>
                </a:lnSpc>
                <a:buClrTx/>
                <a:buSzPct val="90000"/>
                <a:buNone/>
              </a:pPr>
              <a:r>
                <a:rPr lang="en-US" altLang="en-US" sz="1100" dirty="0">
                  <a:solidFill>
                    <a:schemeClr val="bg1"/>
                  </a:solidFill>
                  <a:latin typeface="+mn-lt"/>
                </a:rPr>
                <a:t>Requirements/Options</a:t>
              </a:r>
            </a:p>
          </p:txBody>
        </p:sp>
        <p:sp>
          <p:nvSpPr>
            <p:cNvPr id="6" name="Rectangle 9">
              <a:extLst>
                <a:ext uri="{FF2B5EF4-FFF2-40B4-BE49-F238E27FC236}">
                  <a16:creationId xmlns:a16="http://schemas.microsoft.com/office/drawing/2014/main" id="{1262D4D7-F502-1EE1-537B-A4B6137E3612}"/>
                </a:ext>
              </a:extLst>
            </p:cNvPr>
            <p:cNvSpPr>
              <a:spLocks noChangeArrowheads="1"/>
            </p:cNvSpPr>
            <p:nvPr/>
          </p:nvSpPr>
          <p:spPr bwMode="auto">
            <a:xfrm>
              <a:off x="2616200" y="5507038"/>
              <a:ext cx="5757863" cy="446087"/>
            </a:xfrm>
            <a:prstGeom prst="rect">
              <a:avLst/>
            </a:prstGeom>
            <a:solidFill>
              <a:srgbClr val="DDDDDD"/>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171450" indent="-171450" algn="ctr">
                <a:lnSpc>
                  <a:spcPct val="80000"/>
                </a:lnSpc>
                <a:buClrTx/>
                <a:buSzPct val="90000"/>
                <a:buFont typeface="Arial" panose="020B0604020202020204" pitchFamily="34" charset="0"/>
                <a:buChar char="•"/>
              </a:pPr>
              <a:endParaRPr lang="en-US" altLang="en-US" sz="1000">
                <a:solidFill>
                  <a:schemeClr val="bg1"/>
                </a:solidFill>
                <a:latin typeface="+mn-lt"/>
              </a:endParaRPr>
            </a:p>
          </p:txBody>
        </p:sp>
        <p:sp>
          <p:nvSpPr>
            <p:cNvPr id="7" name="Rectangle 10">
              <a:extLst>
                <a:ext uri="{FF2B5EF4-FFF2-40B4-BE49-F238E27FC236}">
                  <a16:creationId xmlns:a16="http://schemas.microsoft.com/office/drawing/2014/main" id="{082BD7EE-32CE-CA52-4E49-EB8A13B37663}"/>
                </a:ext>
              </a:extLst>
            </p:cNvPr>
            <p:cNvSpPr>
              <a:spLocks noChangeArrowheads="1"/>
            </p:cNvSpPr>
            <p:nvPr/>
          </p:nvSpPr>
          <p:spPr bwMode="auto">
            <a:xfrm>
              <a:off x="2667000" y="5513388"/>
              <a:ext cx="3128963"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a:latin typeface="+mn-lt"/>
                </a:rPr>
                <a:t>Targeted overtime</a:t>
              </a:r>
            </a:p>
            <a:p>
              <a:pPr>
                <a:spcBef>
                  <a:spcPct val="30000"/>
                </a:spcBef>
                <a:buClrTx/>
                <a:buSzPct val="90000"/>
                <a:buFont typeface="Arial" panose="020B0604020202020204" pitchFamily="34" charset="0"/>
                <a:buChar char="•"/>
              </a:pPr>
              <a:r>
                <a:rPr lang="en-US" altLang="en-US" sz="1000">
                  <a:latin typeface="+mn-lt"/>
                </a:rPr>
                <a:t>Added daily shift</a:t>
              </a:r>
              <a:endParaRPr lang="en-US" altLang="en-US" sz="1000" b="0">
                <a:latin typeface="+mn-lt"/>
              </a:endParaRPr>
            </a:p>
          </p:txBody>
        </p:sp>
        <p:sp>
          <p:nvSpPr>
            <p:cNvPr id="8" name="Rectangle 12">
              <a:extLst>
                <a:ext uri="{FF2B5EF4-FFF2-40B4-BE49-F238E27FC236}">
                  <a16:creationId xmlns:a16="http://schemas.microsoft.com/office/drawing/2014/main" id="{01D42EE2-37C6-8BC7-7297-1D9833493CFB}"/>
                </a:ext>
              </a:extLst>
            </p:cNvPr>
            <p:cNvSpPr>
              <a:spLocks noChangeArrowheads="1"/>
            </p:cNvSpPr>
            <p:nvPr/>
          </p:nvSpPr>
          <p:spPr bwMode="auto">
            <a:xfrm>
              <a:off x="6086475" y="5518150"/>
              <a:ext cx="244316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a:latin typeface="+mn-lt"/>
                </a:rPr>
                <a:t>Defer low-margin outputs</a:t>
              </a:r>
            </a:p>
            <a:p>
              <a:pPr>
                <a:spcBef>
                  <a:spcPct val="30000"/>
                </a:spcBef>
                <a:buClrTx/>
                <a:buSzPct val="90000"/>
                <a:buFont typeface="Arial" panose="020B0604020202020204" pitchFamily="34" charset="0"/>
                <a:buChar char="•"/>
              </a:pPr>
              <a:r>
                <a:rPr lang="en-US" altLang="en-US" sz="1000">
                  <a:latin typeface="+mn-lt"/>
                </a:rPr>
                <a:t>Temporary production labor</a:t>
              </a:r>
              <a:endParaRPr lang="en-US" altLang="en-US" sz="1000" b="0">
                <a:latin typeface="+mn-lt"/>
              </a:endParaRPr>
            </a:p>
          </p:txBody>
        </p:sp>
        <p:sp>
          <p:nvSpPr>
            <p:cNvPr id="16" name="Rectangle 11">
              <a:extLst>
                <a:ext uri="{FF2B5EF4-FFF2-40B4-BE49-F238E27FC236}">
                  <a16:creationId xmlns:a16="http://schemas.microsoft.com/office/drawing/2014/main" id="{E21A73C1-C47C-29C5-5829-61B5A978CE46}"/>
                </a:ext>
              </a:extLst>
            </p:cNvPr>
            <p:cNvSpPr>
              <a:spLocks noChangeArrowheads="1"/>
            </p:cNvSpPr>
            <p:nvPr/>
          </p:nvSpPr>
          <p:spPr bwMode="auto">
            <a:xfrm>
              <a:off x="4224337" y="5518150"/>
              <a:ext cx="1970979" cy="427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dirty="0">
                  <a:latin typeface="+mn-lt"/>
                </a:rPr>
                <a:t>Extra weekend shift</a:t>
              </a:r>
            </a:p>
            <a:p>
              <a:pPr>
                <a:spcBef>
                  <a:spcPct val="30000"/>
                </a:spcBef>
                <a:buClrTx/>
                <a:buSzPct val="90000"/>
                <a:buFont typeface="Arial" panose="020B0604020202020204" pitchFamily="34" charset="0"/>
                <a:buChar char="•"/>
              </a:pPr>
              <a:r>
                <a:rPr lang="en-US" altLang="en-US" sz="1000" dirty="0">
                  <a:latin typeface="+mn-lt"/>
                </a:rPr>
                <a:t>Offload peak to 2d line</a:t>
              </a:r>
              <a:endParaRPr lang="en-US" altLang="en-US" sz="1000" b="0" dirty="0">
                <a:latin typeface="+mn-lt"/>
              </a:endParaRPr>
            </a:p>
          </p:txBody>
        </p:sp>
      </p:grpSp>
      <p:grpSp>
        <p:nvGrpSpPr>
          <p:cNvPr id="4" name="Group 51">
            <a:extLst>
              <a:ext uri="{FF2B5EF4-FFF2-40B4-BE49-F238E27FC236}">
                <a16:creationId xmlns:a16="http://schemas.microsoft.com/office/drawing/2014/main" id="{72B64DA3-027A-0620-A50B-3E660885F163}"/>
              </a:ext>
            </a:extLst>
          </p:cNvPr>
          <p:cNvGrpSpPr>
            <a:grpSpLocks/>
          </p:cNvGrpSpPr>
          <p:nvPr/>
        </p:nvGrpSpPr>
        <p:grpSpPr bwMode="auto">
          <a:xfrm>
            <a:off x="8420088" y="5628516"/>
            <a:ext cx="2933712" cy="650333"/>
            <a:chOff x="676" y="3874"/>
            <a:chExt cx="1500" cy="392"/>
          </a:xfrm>
        </p:grpSpPr>
        <p:sp>
          <p:nvSpPr>
            <p:cNvPr id="9" name="Line 35">
              <a:extLst>
                <a:ext uri="{FF2B5EF4-FFF2-40B4-BE49-F238E27FC236}">
                  <a16:creationId xmlns:a16="http://schemas.microsoft.com/office/drawing/2014/main" id="{8B670E07-DD2F-0845-90CA-BF81C6F152D8}"/>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36">
              <a:extLst>
                <a:ext uri="{FF2B5EF4-FFF2-40B4-BE49-F238E27FC236}">
                  <a16:creationId xmlns:a16="http://schemas.microsoft.com/office/drawing/2014/main" id="{0FF227D5-8E54-04B4-225F-ED6F767F880D}"/>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37">
              <a:extLst>
                <a:ext uri="{FF2B5EF4-FFF2-40B4-BE49-F238E27FC236}">
                  <a16:creationId xmlns:a16="http://schemas.microsoft.com/office/drawing/2014/main" id="{C9CEB7D0-18E6-ADF3-84CE-B14780F94BA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Rectangle 38">
              <a:extLst>
                <a:ext uri="{FF2B5EF4-FFF2-40B4-BE49-F238E27FC236}">
                  <a16:creationId xmlns:a16="http://schemas.microsoft.com/office/drawing/2014/main" id="{D716993F-CA0F-2185-273B-6F8E8DD4D6EA}"/>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3" name="Rectangle 39">
              <a:extLst>
                <a:ext uri="{FF2B5EF4-FFF2-40B4-BE49-F238E27FC236}">
                  <a16:creationId xmlns:a16="http://schemas.microsoft.com/office/drawing/2014/main" id="{F2951F92-65B2-8785-2AF8-7806B068E44D}"/>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4" name="Rectangle 40">
              <a:extLst>
                <a:ext uri="{FF2B5EF4-FFF2-40B4-BE49-F238E27FC236}">
                  <a16:creationId xmlns:a16="http://schemas.microsoft.com/office/drawing/2014/main" id="{DF5825EC-B0DC-8FA6-BEC9-C66CDABE3528}"/>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8" name="Rectangle 41">
              <a:extLst>
                <a:ext uri="{FF2B5EF4-FFF2-40B4-BE49-F238E27FC236}">
                  <a16:creationId xmlns:a16="http://schemas.microsoft.com/office/drawing/2014/main" id="{C398C02D-C578-C68D-0C16-FD3B7D25222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9" name="AutoShape 42">
              <a:extLst>
                <a:ext uri="{FF2B5EF4-FFF2-40B4-BE49-F238E27FC236}">
                  <a16:creationId xmlns:a16="http://schemas.microsoft.com/office/drawing/2014/main" id="{198710AB-5894-F425-6240-8354DE2AACDD}"/>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0" name="Rectangle 43">
              <a:extLst>
                <a:ext uri="{FF2B5EF4-FFF2-40B4-BE49-F238E27FC236}">
                  <a16:creationId xmlns:a16="http://schemas.microsoft.com/office/drawing/2014/main" id="{C4AB3944-A3CD-231B-6BA5-8AC9299C6FC3}"/>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1" name="Rectangle 44">
              <a:extLst>
                <a:ext uri="{FF2B5EF4-FFF2-40B4-BE49-F238E27FC236}">
                  <a16:creationId xmlns:a16="http://schemas.microsoft.com/office/drawing/2014/main" id="{1C12ED8D-BD36-86DC-03FF-63630E90EAE7}"/>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2" name="Rectangle 45">
              <a:extLst>
                <a:ext uri="{FF2B5EF4-FFF2-40B4-BE49-F238E27FC236}">
                  <a16:creationId xmlns:a16="http://schemas.microsoft.com/office/drawing/2014/main" id="{DA5B79E1-A6A1-0ACD-6CEA-7EFB66FC4BAB}"/>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3" name="Rectangle 46">
              <a:extLst>
                <a:ext uri="{FF2B5EF4-FFF2-40B4-BE49-F238E27FC236}">
                  <a16:creationId xmlns:a16="http://schemas.microsoft.com/office/drawing/2014/main" id="{5B5461FA-6FE4-101C-DA52-8ABFF1E7E986}"/>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4" name="Rectangle 47">
              <a:extLst>
                <a:ext uri="{FF2B5EF4-FFF2-40B4-BE49-F238E27FC236}">
                  <a16:creationId xmlns:a16="http://schemas.microsoft.com/office/drawing/2014/main" id="{4D564AEA-B148-BF51-6A58-427F7828138B}"/>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853620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Aligned Operating Environments:  </a:t>
            </a:r>
            <a:br>
              <a:rPr lang="en-US" dirty="0"/>
            </a:br>
            <a:r>
              <a:rPr lang="en-US" dirty="0"/>
              <a:t>Making The Final Supply-Demand Match</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Within the aligned resources environment, supply-demand matching becomes a very straightforward process in which product demand is matched to available resources and the supply team confirm available capacity, max-capacity needs or capacity shortages.</a:t>
            </a:r>
          </a:p>
        </p:txBody>
      </p:sp>
      <p:grpSp>
        <p:nvGrpSpPr>
          <p:cNvPr id="60" name="Group 59">
            <a:extLst>
              <a:ext uri="{FF2B5EF4-FFF2-40B4-BE49-F238E27FC236}">
                <a16:creationId xmlns:a16="http://schemas.microsoft.com/office/drawing/2014/main" id="{084F9B35-8370-8F45-CD2F-BE34A95EC593}"/>
              </a:ext>
            </a:extLst>
          </p:cNvPr>
          <p:cNvGrpSpPr/>
          <p:nvPr/>
        </p:nvGrpSpPr>
        <p:grpSpPr>
          <a:xfrm>
            <a:off x="603927" y="1900621"/>
            <a:ext cx="8140700" cy="3936930"/>
            <a:chOff x="612775" y="2128838"/>
            <a:chExt cx="8140700" cy="3936930"/>
          </a:xfrm>
        </p:grpSpPr>
        <p:grpSp>
          <p:nvGrpSpPr>
            <p:cNvPr id="57" name="Group 56">
              <a:extLst>
                <a:ext uri="{FF2B5EF4-FFF2-40B4-BE49-F238E27FC236}">
                  <a16:creationId xmlns:a16="http://schemas.microsoft.com/office/drawing/2014/main" id="{27BFBA94-2EF8-87A3-9D07-F0689DE1F326}"/>
                </a:ext>
              </a:extLst>
            </p:cNvPr>
            <p:cNvGrpSpPr/>
            <p:nvPr/>
          </p:nvGrpSpPr>
          <p:grpSpPr>
            <a:xfrm>
              <a:off x="612775" y="2128838"/>
              <a:ext cx="8140700" cy="3936930"/>
              <a:chOff x="612775" y="2128838"/>
              <a:chExt cx="8140700" cy="3936930"/>
            </a:xfrm>
          </p:grpSpPr>
          <p:sp>
            <p:nvSpPr>
              <p:cNvPr id="4" name="Oval 35">
                <a:extLst>
                  <a:ext uri="{FF2B5EF4-FFF2-40B4-BE49-F238E27FC236}">
                    <a16:creationId xmlns:a16="http://schemas.microsoft.com/office/drawing/2014/main" id="{50F28CFF-BD54-D632-2E96-36A3BAC62188}"/>
                  </a:ext>
                </a:extLst>
              </p:cNvPr>
              <p:cNvSpPr>
                <a:spLocks noChangeArrowheads="1"/>
              </p:cNvSpPr>
              <p:nvPr/>
            </p:nvSpPr>
            <p:spPr bwMode="auto">
              <a:xfrm>
                <a:off x="914400" y="4699000"/>
                <a:ext cx="2709863" cy="525463"/>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1" name="Rectangle 7">
                <a:extLst>
                  <a:ext uri="{FF2B5EF4-FFF2-40B4-BE49-F238E27FC236}">
                    <a16:creationId xmlns:a16="http://schemas.microsoft.com/office/drawing/2014/main" id="{06EEDA1E-B017-E0DC-FA65-C529850F8927}"/>
                  </a:ext>
                </a:extLst>
              </p:cNvPr>
              <p:cNvSpPr>
                <a:spLocks noChangeArrowheads="1"/>
              </p:cNvSpPr>
              <p:nvPr/>
            </p:nvSpPr>
            <p:spPr bwMode="auto">
              <a:xfrm>
                <a:off x="614363" y="2611438"/>
                <a:ext cx="1855787" cy="108426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2" name="Rectangle 8">
                <a:extLst>
                  <a:ext uri="{FF2B5EF4-FFF2-40B4-BE49-F238E27FC236}">
                    <a16:creationId xmlns:a16="http://schemas.microsoft.com/office/drawing/2014/main" id="{ED84ED62-50C0-92D6-D1A9-43E83451945A}"/>
                  </a:ext>
                </a:extLst>
              </p:cNvPr>
              <p:cNvSpPr>
                <a:spLocks noChangeArrowheads="1"/>
              </p:cNvSpPr>
              <p:nvPr/>
            </p:nvSpPr>
            <p:spPr bwMode="auto">
              <a:xfrm>
                <a:off x="612775" y="2128838"/>
                <a:ext cx="1855788" cy="260350"/>
              </a:xfrm>
              <a:prstGeom prst="rect">
                <a:avLst/>
              </a:prstGeom>
              <a:solidFill>
                <a:schemeClr val="tx2"/>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Demand Plan Receipt</a:t>
                </a:r>
              </a:p>
            </p:txBody>
          </p:sp>
          <p:sp>
            <p:nvSpPr>
              <p:cNvPr id="13" name="Rectangle 9">
                <a:extLst>
                  <a:ext uri="{FF2B5EF4-FFF2-40B4-BE49-F238E27FC236}">
                    <a16:creationId xmlns:a16="http://schemas.microsoft.com/office/drawing/2014/main" id="{8246156B-0DD0-FFC5-6CDF-2A39DB844E48}"/>
                  </a:ext>
                </a:extLst>
              </p:cNvPr>
              <p:cNvSpPr>
                <a:spLocks noChangeArrowheads="1"/>
              </p:cNvSpPr>
              <p:nvPr/>
            </p:nvSpPr>
            <p:spPr bwMode="auto">
              <a:xfrm>
                <a:off x="2687638" y="2808288"/>
                <a:ext cx="1014412" cy="6810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Demand</a:t>
                </a:r>
              </a:p>
              <a:p>
                <a:pPr algn="ctr">
                  <a:lnSpc>
                    <a:spcPct val="80000"/>
                  </a:lnSpc>
                  <a:buClrTx/>
                  <a:buSzTx/>
                  <a:buFontTx/>
                  <a:buNone/>
                </a:pPr>
                <a:r>
                  <a:rPr lang="en-US" altLang="en-US" sz="1100">
                    <a:solidFill>
                      <a:schemeClr val="bg1"/>
                    </a:solidFill>
                    <a:latin typeface="+mn-lt"/>
                  </a:rPr>
                  <a:t>Plan</a:t>
                </a:r>
              </a:p>
              <a:p>
                <a:pPr algn="ctr">
                  <a:lnSpc>
                    <a:spcPct val="80000"/>
                  </a:lnSpc>
                  <a:buClrTx/>
                  <a:buSzTx/>
                  <a:buFontTx/>
                  <a:buNone/>
                </a:pPr>
                <a:r>
                  <a:rPr lang="en-US" altLang="en-US" sz="1100">
                    <a:solidFill>
                      <a:schemeClr val="bg1"/>
                    </a:solidFill>
                    <a:latin typeface="+mn-lt"/>
                  </a:rPr>
                  <a:t>Analysis</a:t>
                </a:r>
              </a:p>
            </p:txBody>
          </p:sp>
          <p:sp>
            <p:nvSpPr>
              <p:cNvPr id="14" name="Rectangle 10">
                <a:extLst>
                  <a:ext uri="{FF2B5EF4-FFF2-40B4-BE49-F238E27FC236}">
                    <a16:creationId xmlns:a16="http://schemas.microsoft.com/office/drawing/2014/main" id="{1300CC95-BBEC-A7D2-B364-E123A878DD8F}"/>
                  </a:ext>
                </a:extLst>
              </p:cNvPr>
              <p:cNvSpPr>
                <a:spLocks noChangeArrowheads="1"/>
              </p:cNvSpPr>
              <p:nvPr/>
            </p:nvSpPr>
            <p:spPr bwMode="auto">
              <a:xfrm>
                <a:off x="4011613" y="2306638"/>
                <a:ext cx="1014412" cy="6810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Inventory</a:t>
                </a:r>
              </a:p>
              <a:p>
                <a:pPr algn="ctr">
                  <a:lnSpc>
                    <a:spcPct val="80000"/>
                  </a:lnSpc>
                  <a:buClrTx/>
                  <a:buSzTx/>
                  <a:buFontTx/>
                  <a:buNone/>
                </a:pPr>
                <a:r>
                  <a:rPr lang="en-US" altLang="en-US" sz="1100">
                    <a:solidFill>
                      <a:schemeClr val="bg1"/>
                    </a:solidFill>
                    <a:latin typeface="+mn-lt"/>
                  </a:rPr>
                  <a:t>Position</a:t>
                </a:r>
              </a:p>
              <a:p>
                <a:pPr algn="ctr">
                  <a:lnSpc>
                    <a:spcPct val="80000"/>
                  </a:lnSpc>
                  <a:buClrTx/>
                  <a:buSzTx/>
                  <a:buFontTx/>
                  <a:buNone/>
                </a:pPr>
                <a:r>
                  <a:rPr lang="en-US" altLang="en-US" sz="1100">
                    <a:solidFill>
                      <a:schemeClr val="bg1"/>
                    </a:solidFill>
                    <a:latin typeface="+mn-lt"/>
                  </a:rPr>
                  <a:t>Review</a:t>
                </a:r>
              </a:p>
            </p:txBody>
          </p:sp>
          <p:cxnSp>
            <p:nvCxnSpPr>
              <p:cNvPr id="18" name="AutoShape 11">
                <a:extLst>
                  <a:ext uri="{FF2B5EF4-FFF2-40B4-BE49-F238E27FC236}">
                    <a16:creationId xmlns:a16="http://schemas.microsoft.com/office/drawing/2014/main" id="{4A64AED8-85A3-5F0E-FBE1-8A035AC58A9D}"/>
                  </a:ext>
                </a:extLst>
              </p:cNvPr>
              <p:cNvCxnSpPr>
                <a:cxnSpLocks noChangeShapeType="1"/>
                <a:stCxn id="12" idx="2"/>
                <a:endCxn id="11" idx="0"/>
              </p:cNvCxnSpPr>
              <p:nvPr/>
            </p:nvCxnSpPr>
            <p:spPr bwMode="auto">
              <a:xfrm>
                <a:off x="1541463" y="2389188"/>
                <a:ext cx="1587" cy="21272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2">
                <a:extLst>
                  <a:ext uri="{FF2B5EF4-FFF2-40B4-BE49-F238E27FC236}">
                    <a16:creationId xmlns:a16="http://schemas.microsoft.com/office/drawing/2014/main" id="{70F9888A-B8F7-012C-B6A1-D5EA144C9E73}"/>
                  </a:ext>
                </a:extLst>
              </p:cNvPr>
              <p:cNvCxnSpPr>
                <a:cxnSpLocks noChangeShapeType="1"/>
                <a:stCxn id="11" idx="3"/>
                <a:endCxn id="13" idx="1"/>
              </p:cNvCxnSpPr>
              <p:nvPr/>
            </p:nvCxnSpPr>
            <p:spPr bwMode="auto">
              <a:xfrm flipV="1">
                <a:off x="2479675" y="3149600"/>
                <a:ext cx="207963" cy="476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Rectangle 14">
                <a:extLst>
                  <a:ext uri="{FF2B5EF4-FFF2-40B4-BE49-F238E27FC236}">
                    <a16:creationId xmlns:a16="http://schemas.microsoft.com/office/drawing/2014/main" id="{4065FBD4-A601-B147-BE75-F1A44719A0A5}"/>
                  </a:ext>
                </a:extLst>
              </p:cNvPr>
              <p:cNvSpPr>
                <a:spLocks noChangeArrowheads="1"/>
              </p:cNvSpPr>
              <p:nvPr/>
            </p:nvSpPr>
            <p:spPr bwMode="auto">
              <a:xfrm>
                <a:off x="5541963" y="2435225"/>
                <a:ext cx="3211512" cy="14382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cxnSp>
            <p:nvCxnSpPr>
              <p:cNvPr id="21" name="AutoShape 15">
                <a:extLst>
                  <a:ext uri="{FF2B5EF4-FFF2-40B4-BE49-F238E27FC236}">
                    <a16:creationId xmlns:a16="http://schemas.microsoft.com/office/drawing/2014/main" id="{EBA5F4AE-849F-52B0-FC02-323587B4758B}"/>
                  </a:ext>
                </a:extLst>
              </p:cNvPr>
              <p:cNvCxnSpPr>
                <a:cxnSpLocks noChangeShapeType="1"/>
                <a:stCxn id="13" idx="3"/>
                <a:endCxn id="14" idx="1"/>
              </p:cNvCxnSpPr>
              <p:nvPr/>
            </p:nvCxnSpPr>
            <p:spPr bwMode="auto">
              <a:xfrm flipV="1">
                <a:off x="3702050" y="2647950"/>
                <a:ext cx="309563" cy="501650"/>
              </a:xfrm>
              <a:prstGeom prst="bentConnector3">
                <a:avLst>
                  <a:gd name="adj1" fmla="val 4974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 name="Rectangle 16">
                <a:extLst>
                  <a:ext uri="{FF2B5EF4-FFF2-40B4-BE49-F238E27FC236}">
                    <a16:creationId xmlns:a16="http://schemas.microsoft.com/office/drawing/2014/main" id="{B10D0A26-D877-A257-C227-A38C189DA9A0}"/>
                  </a:ext>
                </a:extLst>
              </p:cNvPr>
              <p:cNvSpPr>
                <a:spLocks noChangeArrowheads="1"/>
              </p:cNvSpPr>
              <p:nvPr/>
            </p:nvSpPr>
            <p:spPr bwMode="auto">
              <a:xfrm>
                <a:off x="4013200" y="3289300"/>
                <a:ext cx="1014413" cy="68103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Last-Month</a:t>
                </a:r>
              </a:p>
              <a:p>
                <a:pPr algn="ctr">
                  <a:lnSpc>
                    <a:spcPct val="80000"/>
                  </a:lnSpc>
                  <a:buClrTx/>
                  <a:buSzTx/>
                  <a:buFontTx/>
                  <a:buNone/>
                </a:pPr>
                <a:r>
                  <a:rPr lang="en-US" altLang="en-US" sz="1100">
                    <a:solidFill>
                      <a:schemeClr val="bg1"/>
                    </a:solidFill>
                    <a:latin typeface="+mn-lt"/>
                  </a:rPr>
                  <a:t>Performance</a:t>
                </a:r>
              </a:p>
              <a:p>
                <a:pPr algn="ctr">
                  <a:lnSpc>
                    <a:spcPct val="80000"/>
                  </a:lnSpc>
                  <a:buClrTx/>
                  <a:buSzTx/>
                  <a:buFontTx/>
                  <a:buNone/>
                </a:pPr>
                <a:r>
                  <a:rPr lang="en-US" altLang="en-US" sz="1100">
                    <a:solidFill>
                      <a:schemeClr val="bg1"/>
                    </a:solidFill>
                    <a:latin typeface="+mn-lt"/>
                  </a:rPr>
                  <a:t>Analysis</a:t>
                </a:r>
              </a:p>
            </p:txBody>
          </p:sp>
          <p:cxnSp>
            <p:nvCxnSpPr>
              <p:cNvPr id="23" name="AutoShape 17">
                <a:extLst>
                  <a:ext uri="{FF2B5EF4-FFF2-40B4-BE49-F238E27FC236}">
                    <a16:creationId xmlns:a16="http://schemas.microsoft.com/office/drawing/2014/main" id="{5688B9DC-46E6-9A45-4340-30F9068C5E02}"/>
                  </a:ext>
                </a:extLst>
              </p:cNvPr>
              <p:cNvCxnSpPr>
                <a:cxnSpLocks noChangeShapeType="1"/>
                <a:stCxn id="13" idx="3"/>
                <a:endCxn id="22" idx="1"/>
              </p:cNvCxnSpPr>
              <p:nvPr/>
            </p:nvCxnSpPr>
            <p:spPr bwMode="auto">
              <a:xfrm>
                <a:off x="3702050" y="3149600"/>
                <a:ext cx="311150" cy="481013"/>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 name="Rectangle 18">
                <a:extLst>
                  <a:ext uri="{FF2B5EF4-FFF2-40B4-BE49-F238E27FC236}">
                    <a16:creationId xmlns:a16="http://schemas.microsoft.com/office/drawing/2014/main" id="{D8FB2F52-7831-B429-9CC9-6F087D1F0556}"/>
                  </a:ext>
                </a:extLst>
              </p:cNvPr>
              <p:cNvSpPr>
                <a:spLocks noChangeArrowheads="1"/>
              </p:cNvSpPr>
              <p:nvPr/>
            </p:nvSpPr>
            <p:spPr bwMode="auto">
              <a:xfrm>
                <a:off x="5630863" y="4106863"/>
                <a:ext cx="3009900" cy="285750"/>
              </a:xfrm>
              <a:prstGeom prst="rect">
                <a:avLst/>
              </a:prstGeom>
              <a:solidFill>
                <a:schemeClr val="accent3"/>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Evaluate Required Capacity Against Trending</a:t>
                </a:r>
              </a:p>
            </p:txBody>
          </p:sp>
          <p:sp>
            <p:nvSpPr>
              <p:cNvPr id="25" name="Rectangle 19">
                <a:extLst>
                  <a:ext uri="{FF2B5EF4-FFF2-40B4-BE49-F238E27FC236}">
                    <a16:creationId xmlns:a16="http://schemas.microsoft.com/office/drawing/2014/main" id="{BF43D6F4-3504-9402-D7C2-BCEAB72E7689}"/>
                  </a:ext>
                </a:extLst>
              </p:cNvPr>
              <p:cNvSpPr>
                <a:spLocks noChangeArrowheads="1"/>
              </p:cNvSpPr>
              <p:nvPr/>
            </p:nvSpPr>
            <p:spPr bwMode="auto">
              <a:xfrm>
                <a:off x="5630863" y="4583113"/>
                <a:ext cx="3009900" cy="285750"/>
              </a:xfrm>
              <a:prstGeom prst="rect">
                <a:avLst/>
              </a:prstGeom>
              <a:solidFill>
                <a:schemeClr val="accent3"/>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Factor Maintenance Requirements</a:t>
                </a:r>
              </a:p>
            </p:txBody>
          </p:sp>
          <p:sp>
            <p:nvSpPr>
              <p:cNvPr id="26" name="Rectangle 20">
                <a:extLst>
                  <a:ext uri="{FF2B5EF4-FFF2-40B4-BE49-F238E27FC236}">
                    <a16:creationId xmlns:a16="http://schemas.microsoft.com/office/drawing/2014/main" id="{DEDB736A-04E1-8770-52BC-063760D7F9E9}"/>
                  </a:ext>
                </a:extLst>
              </p:cNvPr>
              <p:cNvSpPr>
                <a:spLocks noChangeArrowheads="1"/>
              </p:cNvSpPr>
              <p:nvPr/>
            </p:nvSpPr>
            <p:spPr bwMode="auto">
              <a:xfrm>
                <a:off x="5630863" y="5062538"/>
                <a:ext cx="3009900" cy="285750"/>
              </a:xfrm>
              <a:prstGeom prst="rect">
                <a:avLst/>
              </a:prstGeom>
              <a:solidFill>
                <a:schemeClr val="accent3"/>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Confirm Net Capacity Requirements</a:t>
                </a:r>
              </a:p>
            </p:txBody>
          </p:sp>
          <p:sp>
            <p:nvSpPr>
              <p:cNvPr id="27" name="Rectangle 21">
                <a:extLst>
                  <a:ext uri="{FF2B5EF4-FFF2-40B4-BE49-F238E27FC236}">
                    <a16:creationId xmlns:a16="http://schemas.microsoft.com/office/drawing/2014/main" id="{74651BCD-D15A-6530-A654-5C7AEDBAEF4E}"/>
                  </a:ext>
                </a:extLst>
              </p:cNvPr>
              <p:cNvSpPr>
                <a:spLocks noChangeArrowheads="1"/>
              </p:cNvSpPr>
              <p:nvPr/>
            </p:nvSpPr>
            <p:spPr bwMode="auto">
              <a:xfrm>
                <a:off x="5630863" y="5541963"/>
                <a:ext cx="3009900" cy="285750"/>
              </a:xfrm>
              <a:prstGeom prst="rect">
                <a:avLst/>
              </a:prstGeom>
              <a:solidFill>
                <a:schemeClr val="accent3"/>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Balance Against Average Or Best Demonstrated</a:t>
                </a:r>
              </a:p>
            </p:txBody>
          </p:sp>
          <p:sp>
            <p:nvSpPr>
              <p:cNvPr id="42" name="Rectangle 22">
                <a:extLst>
                  <a:ext uri="{FF2B5EF4-FFF2-40B4-BE49-F238E27FC236}">
                    <a16:creationId xmlns:a16="http://schemas.microsoft.com/office/drawing/2014/main" id="{6E3867A5-A8BC-CC70-524A-D4891D6B07F1}"/>
                  </a:ext>
                </a:extLst>
              </p:cNvPr>
              <p:cNvSpPr>
                <a:spLocks noChangeArrowheads="1"/>
              </p:cNvSpPr>
              <p:nvPr/>
            </p:nvSpPr>
            <p:spPr bwMode="auto">
              <a:xfrm>
                <a:off x="3873500" y="4633913"/>
                <a:ext cx="1238250" cy="6810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Max Capacity</a:t>
                </a:r>
              </a:p>
              <a:p>
                <a:pPr algn="ctr">
                  <a:lnSpc>
                    <a:spcPct val="80000"/>
                  </a:lnSpc>
                  <a:buClrTx/>
                  <a:buSzTx/>
                  <a:buFontTx/>
                  <a:buNone/>
                </a:pPr>
                <a:r>
                  <a:rPr lang="en-US" altLang="en-US" sz="1100">
                    <a:solidFill>
                      <a:schemeClr val="bg1"/>
                    </a:solidFill>
                    <a:latin typeface="+mn-lt"/>
                  </a:rPr>
                  <a:t>Needs</a:t>
                </a:r>
              </a:p>
              <a:p>
                <a:pPr algn="ctr">
                  <a:lnSpc>
                    <a:spcPct val="80000"/>
                  </a:lnSpc>
                  <a:buClrTx/>
                  <a:buSzTx/>
                  <a:buFontTx/>
                  <a:buNone/>
                </a:pPr>
                <a:r>
                  <a:rPr lang="en-US" altLang="en-US" sz="1100">
                    <a:solidFill>
                      <a:schemeClr val="bg1"/>
                    </a:solidFill>
                    <a:latin typeface="+mn-lt"/>
                  </a:rPr>
                  <a:t>(e.g. Overtime)</a:t>
                </a:r>
              </a:p>
            </p:txBody>
          </p:sp>
          <p:cxnSp>
            <p:nvCxnSpPr>
              <p:cNvPr id="43" name="AutoShape 23">
                <a:extLst>
                  <a:ext uri="{FF2B5EF4-FFF2-40B4-BE49-F238E27FC236}">
                    <a16:creationId xmlns:a16="http://schemas.microsoft.com/office/drawing/2014/main" id="{D1D8E0D7-3997-C49B-1083-E73256124F68}"/>
                  </a:ext>
                </a:extLst>
              </p:cNvPr>
              <p:cNvCxnSpPr>
                <a:cxnSpLocks noChangeShapeType="1"/>
                <a:stCxn id="14" idx="3"/>
                <a:endCxn id="20" idx="1"/>
              </p:cNvCxnSpPr>
              <p:nvPr/>
            </p:nvCxnSpPr>
            <p:spPr bwMode="auto">
              <a:xfrm>
                <a:off x="5026025" y="2647950"/>
                <a:ext cx="506413" cy="506413"/>
              </a:xfrm>
              <a:prstGeom prst="bentConnector3">
                <a:avLst>
                  <a:gd name="adj1" fmla="val 5078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4" name="AutoShape 24">
                <a:extLst>
                  <a:ext uri="{FF2B5EF4-FFF2-40B4-BE49-F238E27FC236}">
                    <a16:creationId xmlns:a16="http://schemas.microsoft.com/office/drawing/2014/main" id="{142376B8-6667-FA12-A66C-451398F634F9}"/>
                  </a:ext>
                </a:extLst>
              </p:cNvPr>
              <p:cNvCxnSpPr>
                <a:cxnSpLocks noChangeShapeType="1"/>
                <a:stCxn id="22" idx="3"/>
                <a:endCxn id="20" idx="1"/>
              </p:cNvCxnSpPr>
              <p:nvPr/>
            </p:nvCxnSpPr>
            <p:spPr bwMode="auto">
              <a:xfrm flipV="1">
                <a:off x="5027613" y="3154363"/>
                <a:ext cx="504825" cy="476250"/>
              </a:xfrm>
              <a:prstGeom prst="bentConnector3">
                <a:avLst>
                  <a:gd name="adj1" fmla="val 5094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25">
                <a:extLst>
                  <a:ext uri="{FF2B5EF4-FFF2-40B4-BE49-F238E27FC236}">
                    <a16:creationId xmlns:a16="http://schemas.microsoft.com/office/drawing/2014/main" id="{882A7446-47E0-ECE0-B9F2-9B5DBAFDA5CA}"/>
                  </a:ext>
                </a:extLst>
              </p:cNvPr>
              <p:cNvCxnSpPr>
                <a:cxnSpLocks noChangeShapeType="1"/>
                <a:endCxn id="24" idx="0"/>
              </p:cNvCxnSpPr>
              <p:nvPr/>
            </p:nvCxnSpPr>
            <p:spPr bwMode="auto">
              <a:xfrm>
                <a:off x="7134225" y="3876675"/>
                <a:ext cx="1588" cy="23018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 name="AutoShape 26">
                <a:extLst>
                  <a:ext uri="{FF2B5EF4-FFF2-40B4-BE49-F238E27FC236}">
                    <a16:creationId xmlns:a16="http://schemas.microsoft.com/office/drawing/2014/main" id="{C1A0DFE1-1F2A-075F-007F-B1AF16F744D5}"/>
                  </a:ext>
                </a:extLst>
              </p:cNvPr>
              <p:cNvCxnSpPr>
                <a:cxnSpLocks noChangeShapeType="1"/>
                <a:stCxn id="24" idx="2"/>
                <a:endCxn id="25" idx="0"/>
              </p:cNvCxnSpPr>
              <p:nvPr/>
            </p:nvCxnSpPr>
            <p:spPr bwMode="auto">
              <a:xfrm>
                <a:off x="7135813" y="4392613"/>
                <a:ext cx="0" cy="19050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 name="AutoShape 27">
                <a:extLst>
                  <a:ext uri="{FF2B5EF4-FFF2-40B4-BE49-F238E27FC236}">
                    <a16:creationId xmlns:a16="http://schemas.microsoft.com/office/drawing/2014/main" id="{F342F3DF-4F06-BA91-D26A-29898388FA22}"/>
                  </a:ext>
                </a:extLst>
              </p:cNvPr>
              <p:cNvCxnSpPr>
                <a:cxnSpLocks noChangeShapeType="1"/>
                <a:stCxn id="25" idx="2"/>
                <a:endCxn id="26" idx="0"/>
              </p:cNvCxnSpPr>
              <p:nvPr/>
            </p:nvCxnSpPr>
            <p:spPr bwMode="auto">
              <a:xfrm>
                <a:off x="7135813" y="4868863"/>
                <a:ext cx="0" cy="1936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8" name="AutoShape 28">
                <a:extLst>
                  <a:ext uri="{FF2B5EF4-FFF2-40B4-BE49-F238E27FC236}">
                    <a16:creationId xmlns:a16="http://schemas.microsoft.com/office/drawing/2014/main" id="{881211ED-D440-B630-88D4-C2068D5FA2BD}"/>
                  </a:ext>
                </a:extLst>
              </p:cNvPr>
              <p:cNvCxnSpPr>
                <a:cxnSpLocks noChangeShapeType="1"/>
                <a:stCxn id="26" idx="2"/>
                <a:endCxn id="27" idx="0"/>
              </p:cNvCxnSpPr>
              <p:nvPr/>
            </p:nvCxnSpPr>
            <p:spPr bwMode="auto">
              <a:xfrm>
                <a:off x="7135813" y="5348288"/>
                <a:ext cx="0" cy="1936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9" name="AutoShape 29">
                <a:extLst>
                  <a:ext uri="{FF2B5EF4-FFF2-40B4-BE49-F238E27FC236}">
                    <a16:creationId xmlns:a16="http://schemas.microsoft.com/office/drawing/2014/main" id="{A3CE27F6-11A0-5CB3-379C-C230078379CC}"/>
                  </a:ext>
                </a:extLst>
              </p:cNvPr>
              <p:cNvCxnSpPr>
                <a:cxnSpLocks noChangeShapeType="1"/>
                <a:stCxn id="24" idx="1"/>
                <a:endCxn id="42" idx="3"/>
              </p:cNvCxnSpPr>
              <p:nvPr/>
            </p:nvCxnSpPr>
            <p:spPr bwMode="auto">
              <a:xfrm rot="10800000" flipV="1">
                <a:off x="5111750" y="4249738"/>
                <a:ext cx="519113" cy="725487"/>
              </a:xfrm>
              <a:prstGeom prst="bentConnector3">
                <a:avLst>
                  <a:gd name="adj1" fmla="val 4984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0" name="AutoShape 30">
                <a:extLst>
                  <a:ext uri="{FF2B5EF4-FFF2-40B4-BE49-F238E27FC236}">
                    <a16:creationId xmlns:a16="http://schemas.microsoft.com/office/drawing/2014/main" id="{D3563834-38B5-AA7A-19B9-798DEE36C035}"/>
                  </a:ext>
                </a:extLst>
              </p:cNvPr>
              <p:cNvCxnSpPr>
                <a:cxnSpLocks noChangeShapeType="1"/>
                <a:stCxn id="25" idx="1"/>
                <a:endCxn id="42" idx="3"/>
              </p:cNvCxnSpPr>
              <p:nvPr/>
            </p:nvCxnSpPr>
            <p:spPr bwMode="auto">
              <a:xfrm rot="10800000" flipV="1">
                <a:off x="5111750" y="4725988"/>
                <a:ext cx="519113" cy="249237"/>
              </a:xfrm>
              <a:prstGeom prst="bentConnector3">
                <a:avLst>
                  <a:gd name="adj1" fmla="val 4984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 name="AutoShape 31">
                <a:extLst>
                  <a:ext uri="{FF2B5EF4-FFF2-40B4-BE49-F238E27FC236}">
                    <a16:creationId xmlns:a16="http://schemas.microsoft.com/office/drawing/2014/main" id="{C2DE5F31-7F06-A6BA-1F0E-4FFCEC8A57DE}"/>
                  </a:ext>
                </a:extLst>
              </p:cNvPr>
              <p:cNvCxnSpPr>
                <a:cxnSpLocks noChangeShapeType="1"/>
                <a:stCxn id="26" idx="1"/>
                <a:endCxn id="42" idx="3"/>
              </p:cNvCxnSpPr>
              <p:nvPr/>
            </p:nvCxnSpPr>
            <p:spPr bwMode="auto">
              <a:xfrm rot="10800000">
                <a:off x="5111750" y="4975225"/>
                <a:ext cx="519113" cy="230188"/>
              </a:xfrm>
              <a:prstGeom prst="bentConnector3">
                <a:avLst>
                  <a:gd name="adj1" fmla="val 4984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2" name="AutoShape 32">
                <a:extLst>
                  <a:ext uri="{FF2B5EF4-FFF2-40B4-BE49-F238E27FC236}">
                    <a16:creationId xmlns:a16="http://schemas.microsoft.com/office/drawing/2014/main" id="{2BF2D9B9-E6DC-26E1-4804-1F10D5BC307B}"/>
                  </a:ext>
                </a:extLst>
              </p:cNvPr>
              <p:cNvCxnSpPr>
                <a:cxnSpLocks noChangeShapeType="1"/>
                <a:stCxn id="27" idx="1"/>
                <a:endCxn id="42" idx="3"/>
              </p:cNvCxnSpPr>
              <p:nvPr/>
            </p:nvCxnSpPr>
            <p:spPr bwMode="auto">
              <a:xfrm rot="10800000">
                <a:off x="5111750" y="4975225"/>
                <a:ext cx="519113" cy="709613"/>
              </a:xfrm>
              <a:prstGeom prst="bentConnector3">
                <a:avLst>
                  <a:gd name="adj1" fmla="val 4984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3" name="AutoShape 33">
                <a:extLst>
                  <a:ext uri="{FF2B5EF4-FFF2-40B4-BE49-F238E27FC236}">
                    <a16:creationId xmlns:a16="http://schemas.microsoft.com/office/drawing/2014/main" id="{D6D7171A-3C3F-4554-BBC8-6BBDA80D39FC}"/>
                  </a:ext>
                </a:extLst>
              </p:cNvPr>
              <p:cNvCxnSpPr>
                <a:cxnSpLocks noChangeShapeType="1"/>
                <a:stCxn id="42" idx="1"/>
                <a:endCxn id="11" idx="2"/>
              </p:cNvCxnSpPr>
              <p:nvPr/>
            </p:nvCxnSpPr>
            <p:spPr bwMode="auto">
              <a:xfrm rot="10800000">
                <a:off x="1543050" y="3705225"/>
                <a:ext cx="2330450" cy="1270000"/>
              </a:xfrm>
              <a:prstGeom prst="bentConnector2">
                <a:avLst/>
              </a:prstGeom>
              <a:noFill/>
              <a:ln w="19050">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cxnSp>
          <p:sp>
            <p:nvSpPr>
              <p:cNvPr id="54" name="Text Box 34">
                <a:extLst>
                  <a:ext uri="{FF2B5EF4-FFF2-40B4-BE49-F238E27FC236}">
                    <a16:creationId xmlns:a16="http://schemas.microsoft.com/office/drawing/2014/main" id="{B53BD082-AB3C-8223-6CB6-69943986E064}"/>
                  </a:ext>
                </a:extLst>
              </p:cNvPr>
              <p:cNvSpPr txBox="1">
                <a:spLocks noChangeArrowheads="1"/>
              </p:cNvSpPr>
              <p:nvPr/>
            </p:nvSpPr>
            <p:spPr bwMode="auto">
              <a:xfrm>
                <a:off x="1911349" y="4778328"/>
                <a:ext cx="796925" cy="39528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latin typeface="+mn-lt"/>
                  </a:rPr>
                  <a:t>Match To</a:t>
                </a:r>
              </a:p>
              <a:p>
                <a:pPr algn="ctr">
                  <a:lnSpc>
                    <a:spcPct val="80000"/>
                  </a:lnSpc>
                  <a:buClrTx/>
                  <a:buSzTx/>
                  <a:buFontTx/>
                  <a:buNone/>
                </a:pPr>
                <a:r>
                  <a:rPr lang="en-US" altLang="en-US" sz="1100" dirty="0">
                    <a:latin typeface="+mn-lt"/>
                  </a:rPr>
                  <a:t>Demand</a:t>
                </a:r>
              </a:p>
            </p:txBody>
          </p:sp>
          <p:sp>
            <p:nvSpPr>
              <p:cNvPr id="55" name="AutoShape 36">
                <a:extLst>
                  <a:ext uri="{FF2B5EF4-FFF2-40B4-BE49-F238E27FC236}">
                    <a16:creationId xmlns:a16="http://schemas.microsoft.com/office/drawing/2014/main" id="{EFFC7AE6-275E-A8DE-BFC3-DDBB00864DB4}"/>
                  </a:ext>
                </a:extLst>
              </p:cNvPr>
              <p:cNvSpPr>
                <a:spLocks/>
              </p:cNvSpPr>
              <p:nvPr/>
            </p:nvSpPr>
            <p:spPr bwMode="auto">
              <a:xfrm rot="5400000">
                <a:off x="2058988" y="3952875"/>
                <a:ext cx="406400" cy="2740025"/>
              </a:xfrm>
              <a:prstGeom prst="rightBrace">
                <a:avLst>
                  <a:gd name="adj1" fmla="val 56185"/>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6" name="Rectangle 38">
                <a:extLst>
                  <a:ext uri="{FF2B5EF4-FFF2-40B4-BE49-F238E27FC236}">
                    <a16:creationId xmlns:a16="http://schemas.microsoft.com/office/drawing/2014/main" id="{298AF17E-E2C2-F7EF-BE83-603AF2C28BD1}"/>
                  </a:ext>
                </a:extLst>
              </p:cNvPr>
              <p:cNvSpPr>
                <a:spLocks noChangeArrowheads="1"/>
              </p:cNvSpPr>
              <p:nvPr/>
            </p:nvSpPr>
            <p:spPr bwMode="auto">
              <a:xfrm>
                <a:off x="725488" y="5514975"/>
                <a:ext cx="3251200" cy="550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0000"/>
                  </a:lnSpc>
                  <a:buClrTx/>
                  <a:buSzPct val="90000"/>
                  <a:buFont typeface="Arial" panose="020B0604020202020204" pitchFamily="34" charset="0"/>
                  <a:buChar char="•"/>
                </a:pPr>
                <a:r>
                  <a:rPr lang="en-US" altLang="en-US" sz="1000" dirty="0">
                    <a:latin typeface="+mn-lt"/>
                  </a:rPr>
                  <a:t>Key assumptions made in resource availability</a:t>
                </a:r>
              </a:p>
              <a:p>
                <a:pPr>
                  <a:lnSpc>
                    <a:spcPct val="90000"/>
                  </a:lnSpc>
                  <a:buClrTx/>
                  <a:buSzPct val="90000"/>
                  <a:buFont typeface="Arial" panose="020B0604020202020204" pitchFamily="34" charset="0"/>
                  <a:buChar char="•"/>
                </a:pPr>
                <a:r>
                  <a:rPr lang="en-US" altLang="en-US" sz="1000" dirty="0">
                    <a:latin typeface="+mn-lt"/>
                  </a:rPr>
                  <a:t>Supply shortages that cannot be overcome</a:t>
                </a:r>
              </a:p>
              <a:p>
                <a:pPr>
                  <a:lnSpc>
                    <a:spcPct val="90000"/>
                  </a:lnSpc>
                  <a:buClrTx/>
                  <a:buSzPct val="90000"/>
                  <a:buFont typeface="Arial" panose="020B0604020202020204" pitchFamily="34" charset="0"/>
                  <a:buChar char="•"/>
                </a:pPr>
                <a:r>
                  <a:rPr lang="en-US" altLang="en-US" sz="1000" dirty="0">
                    <a:latin typeface="+mn-lt"/>
                  </a:rPr>
                  <a:t>Excess capacity that can be utilized elsewhere</a:t>
                </a:r>
                <a:endParaRPr lang="en-US" altLang="en-US" sz="1000" b="0" dirty="0">
                  <a:latin typeface="+mn-lt"/>
                </a:endParaRPr>
              </a:p>
            </p:txBody>
          </p:sp>
        </p:grpSp>
        <p:graphicFrame>
          <p:nvGraphicFramePr>
            <p:cNvPr id="58" name="Object 4">
              <a:extLst>
                <a:ext uri="{FF2B5EF4-FFF2-40B4-BE49-F238E27FC236}">
                  <a16:creationId xmlns:a16="http://schemas.microsoft.com/office/drawing/2014/main" id="{89F3B36A-5A88-0E2D-5228-8D0DB99A6237}"/>
                </a:ext>
              </a:extLst>
            </p:cNvPr>
            <p:cNvGraphicFramePr>
              <a:graphicFrameLocks noChangeAspect="1"/>
            </p:cNvGraphicFramePr>
            <p:nvPr>
              <p:extLst>
                <p:ext uri="{D42A27DB-BD31-4B8C-83A1-F6EECF244321}">
                  <p14:modId xmlns:p14="http://schemas.microsoft.com/office/powerpoint/2010/main" val="395507867"/>
                </p:ext>
              </p:extLst>
            </p:nvPr>
          </p:nvGraphicFramePr>
          <p:xfrm>
            <a:off x="5603192" y="2380454"/>
            <a:ext cx="3131833" cy="13866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9" name="Object 5">
              <a:extLst>
                <a:ext uri="{FF2B5EF4-FFF2-40B4-BE49-F238E27FC236}">
                  <a16:creationId xmlns:a16="http://schemas.microsoft.com/office/drawing/2014/main" id="{1097075F-9B0F-97CC-E684-2B69CE379FDE}"/>
                </a:ext>
              </a:extLst>
            </p:cNvPr>
            <p:cNvGraphicFramePr>
              <a:graphicFrameLocks noChangeAspect="1"/>
            </p:cNvGraphicFramePr>
            <p:nvPr>
              <p:extLst>
                <p:ext uri="{D42A27DB-BD31-4B8C-83A1-F6EECF244321}">
                  <p14:modId xmlns:p14="http://schemas.microsoft.com/office/powerpoint/2010/main" val="3471301063"/>
                </p:ext>
              </p:extLst>
            </p:nvPr>
          </p:nvGraphicFramePr>
          <p:xfrm>
            <a:off x="713727" y="2623915"/>
            <a:ext cx="1718545" cy="1035496"/>
          </p:xfrm>
          <a:graphic>
            <a:graphicData uri="http://schemas.openxmlformats.org/presentationml/2006/ole">
              <mc:AlternateContent xmlns:mc="http://schemas.openxmlformats.org/markup-compatibility/2006">
                <mc:Choice xmlns:v="urn:schemas-microsoft-com:vml" Requires="v">
                  <p:oleObj name="Worksheet" r:id="rId4" imgW="5924378" imgH="3572035" progId="Excel.Sheet.8">
                    <p:embed/>
                  </p:oleObj>
                </mc:Choice>
                <mc:Fallback>
                  <p:oleObj name="Worksheet" r:id="rId4" imgW="5924378" imgH="3572035" progId="Excel.Sheet.8">
                    <p:embed/>
                    <p:pic>
                      <p:nvPicPr>
                        <p:cNvPr id="5" name="Object 5">
                          <a:extLst>
                            <a:ext uri="{FF2B5EF4-FFF2-40B4-BE49-F238E27FC236}">
                              <a16:creationId xmlns:a16="http://schemas.microsoft.com/office/drawing/2014/main" id="{30F3DC44-2007-89D5-5520-880BC96428AD}"/>
                            </a:ext>
                          </a:extLst>
                        </p:cNvPr>
                        <p:cNvPicPr>
                          <a:picLocks noChangeAspect="1" noChangeArrowheads="1"/>
                        </p:cNvPicPr>
                        <p:nvPr/>
                      </p:nvPicPr>
                      <p:blipFill>
                        <a:blip r:embed="rId5"/>
                        <a:srcRect/>
                        <a:stretch>
                          <a:fillRect/>
                        </a:stretch>
                      </p:blipFill>
                      <p:spPr bwMode="auto">
                        <a:xfrm>
                          <a:off x="713727" y="2623915"/>
                          <a:ext cx="1718545" cy="1035496"/>
                        </a:xfrm>
                        <a:prstGeom prst="rect">
                          <a:avLst/>
                        </a:prstGeom>
                        <a:noFill/>
                        <a:ln>
                          <a:noFill/>
                        </a:ln>
                        <a:effectLst/>
                      </p:spPr>
                    </p:pic>
                  </p:oleObj>
                </mc:Fallback>
              </mc:AlternateContent>
            </a:graphicData>
          </a:graphic>
        </p:graphicFrame>
      </p:grpSp>
      <p:grpSp>
        <p:nvGrpSpPr>
          <p:cNvPr id="5" name="Group 51">
            <a:extLst>
              <a:ext uri="{FF2B5EF4-FFF2-40B4-BE49-F238E27FC236}">
                <a16:creationId xmlns:a16="http://schemas.microsoft.com/office/drawing/2014/main" id="{EBC65862-F8DE-E6AE-533E-04ABF514A05F}"/>
              </a:ext>
            </a:extLst>
          </p:cNvPr>
          <p:cNvGrpSpPr>
            <a:grpSpLocks/>
          </p:cNvGrpSpPr>
          <p:nvPr/>
        </p:nvGrpSpPr>
        <p:grpSpPr bwMode="auto">
          <a:xfrm>
            <a:off x="8420088" y="5628516"/>
            <a:ext cx="2933712" cy="650333"/>
            <a:chOff x="676" y="3874"/>
            <a:chExt cx="1500" cy="392"/>
          </a:xfrm>
        </p:grpSpPr>
        <p:sp>
          <p:nvSpPr>
            <p:cNvPr id="6" name="Line 35">
              <a:extLst>
                <a:ext uri="{FF2B5EF4-FFF2-40B4-BE49-F238E27FC236}">
                  <a16:creationId xmlns:a16="http://schemas.microsoft.com/office/drawing/2014/main" id="{24F2346A-890F-D1E5-48AE-DE4718DEB229}"/>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6">
              <a:extLst>
                <a:ext uri="{FF2B5EF4-FFF2-40B4-BE49-F238E27FC236}">
                  <a16:creationId xmlns:a16="http://schemas.microsoft.com/office/drawing/2014/main" id="{4AB733DB-C3F9-B840-A3A3-D29FDAA64571}"/>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37">
              <a:extLst>
                <a:ext uri="{FF2B5EF4-FFF2-40B4-BE49-F238E27FC236}">
                  <a16:creationId xmlns:a16="http://schemas.microsoft.com/office/drawing/2014/main" id="{D5E7094E-35F8-10B5-6767-F94C05E5627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Rectangle 38">
              <a:extLst>
                <a:ext uri="{FF2B5EF4-FFF2-40B4-BE49-F238E27FC236}">
                  <a16:creationId xmlns:a16="http://schemas.microsoft.com/office/drawing/2014/main" id="{11B16BE0-A262-4187-E444-580E637C96D4}"/>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0" name="Rectangle 39">
              <a:extLst>
                <a:ext uri="{FF2B5EF4-FFF2-40B4-BE49-F238E27FC236}">
                  <a16:creationId xmlns:a16="http://schemas.microsoft.com/office/drawing/2014/main" id="{5B02A48D-61D8-BD5D-FC90-D020F3B4204D}"/>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5" name="Rectangle 40">
              <a:extLst>
                <a:ext uri="{FF2B5EF4-FFF2-40B4-BE49-F238E27FC236}">
                  <a16:creationId xmlns:a16="http://schemas.microsoft.com/office/drawing/2014/main" id="{24FBEFA5-DD94-1E68-E253-83F52FD4A43A}"/>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6" name="Rectangle 41">
              <a:extLst>
                <a:ext uri="{FF2B5EF4-FFF2-40B4-BE49-F238E27FC236}">
                  <a16:creationId xmlns:a16="http://schemas.microsoft.com/office/drawing/2014/main" id="{DA72111D-1ECE-4274-0EF4-8A13497A1AE4}"/>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7" name="AutoShape 42">
              <a:extLst>
                <a:ext uri="{FF2B5EF4-FFF2-40B4-BE49-F238E27FC236}">
                  <a16:creationId xmlns:a16="http://schemas.microsoft.com/office/drawing/2014/main" id="{8D63B0F7-8594-A9C9-B70A-822CE67DF199}"/>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61" name="Rectangle 43">
              <a:extLst>
                <a:ext uri="{FF2B5EF4-FFF2-40B4-BE49-F238E27FC236}">
                  <a16:creationId xmlns:a16="http://schemas.microsoft.com/office/drawing/2014/main" id="{FFF2E451-32DC-AA64-5030-B8FA5B14E1DE}"/>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62" name="Rectangle 44">
              <a:extLst>
                <a:ext uri="{FF2B5EF4-FFF2-40B4-BE49-F238E27FC236}">
                  <a16:creationId xmlns:a16="http://schemas.microsoft.com/office/drawing/2014/main" id="{9EA14549-0D67-2506-6E25-6FB07C128EE8}"/>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63" name="Rectangle 45">
              <a:extLst>
                <a:ext uri="{FF2B5EF4-FFF2-40B4-BE49-F238E27FC236}">
                  <a16:creationId xmlns:a16="http://schemas.microsoft.com/office/drawing/2014/main" id="{05882B04-2AA1-7C7C-7C91-8C13A47DF2F8}"/>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64" name="Rectangle 46">
              <a:extLst>
                <a:ext uri="{FF2B5EF4-FFF2-40B4-BE49-F238E27FC236}">
                  <a16:creationId xmlns:a16="http://schemas.microsoft.com/office/drawing/2014/main" id="{19EC782A-E797-F0A5-BD6E-39C9AB136DBD}"/>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65" name="Rectangle 47">
              <a:extLst>
                <a:ext uri="{FF2B5EF4-FFF2-40B4-BE49-F238E27FC236}">
                  <a16:creationId xmlns:a16="http://schemas.microsoft.com/office/drawing/2014/main" id="{20D08A8C-126A-59DB-B138-8EC12D202171}"/>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469738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Non-Aligned Operating Environments:  </a:t>
            </a:r>
            <a:br>
              <a:rPr lang="en-US" dirty="0"/>
            </a:br>
            <a:r>
              <a:rPr lang="en-US" dirty="0"/>
              <a:t>Need For Rough-Cut Planning</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In the non-aligned environment, team members must carefully evaluate production resources and determine which are truly “aligned” and which support multiple products or product families.</a:t>
            </a:r>
          </a:p>
        </p:txBody>
      </p:sp>
      <p:grpSp>
        <p:nvGrpSpPr>
          <p:cNvPr id="99" name="Group 98">
            <a:extLst>
              <a:ext uri="{FF2B5EF4-FFF2-40B4-BE49-F238E27FC236}">
                <a16:creationId xmlns:a16="http://schemas.microsoft.com/office/drawing/2014/main" id="{D0405157-8DE7-21E3-15C9-247DD4D87307}"/>
              </a:ext>
            </a:extLst>
          </p:cNvPr>
          <p:cNvGrpSpPr/>
          <p:nvPr/>
        </p:nvGrpSpPr>
        <p:grpSpPr>
          <a:xfrm>
            <a:off x="259527" y="1853271"/>
            <a:ext cx="8650556" cy="3740407"/>
            <a:chOff x="404813" y="2205038"/>
            <a:chExt cx="8569325" cy="3783012"/>
          </a:xfrm>
        </p:grpSpPr>
        <p:grpSp>
          <p:nvGrpSpPr>
            <p:cNvPr id="5" name="Group 48">
              <a:extLst>
                <a:ext uri="{FF2B5EF4-FFF2-40B4-BE49-F238E27FC236}">
                  <a16:creationId xmlns:a16="http://schemas.microsoft.com/office/drawing/2014/main" id="{3EAAD43A-6FB1-AB70-839C-2F3844BF97F3}"/>
                </a:ext>
              </a:extLst>
            </p:cNvPr>
            <p:cNvGrpSpPr>
              <a:grpSpLocks/>
            </p:cNvGrpSpPr>
            <p:nvPr/>
          </p:nvGrpSpPr>
          <p:grpSpPr bwMode="auto">
            <a:xfrm>
              <a:off x="404813" y="2560638"/>
              <a:ext cx="5530850" cy="1873250"/>
              <a:chOff x="367" y="1950"/>
              <a:chExt cx="3869" cy="1313"/>
            </a:xfrm>
          </p:grpSpPr>
          <p:grpSp>
            <p:nvGrpSpPr>
              <p:cNvPr id="6" name="Group 25">
                <a:extLst>
                  <a:ext uri="{FF2B5EF4-FFF2-40B4-BE49-F238E27FC236}">
                    <a16:creationId xmlns:a16="http://schemas.microsoft.com/office/drawing/2014/main" id="{BA7870E5-703D-9721-8B8A-367A2E3E5EF1}"/>
                  </a:ext>
                </a:extLst>
              </p:cNvPr>
              <p:cNvGrpSpPr>
                <a:grpSpLocks/>
              </p:cNvGrpSpPr>
              <p:nvPr/>
            </p:nvGrpSpPr>
            <p:grpSpPr bwMode="auto">
              <a:xfrm>
                <a:off x="367" y="1950"/>
                <a:ext cx="1209" cy="1313"/>
                <a:chOff x="514" y="1948"/>
                <a:chExt cx="1728" cy="1872"/>
              </a:xfrm>
            </p:grpSpPr>
            <p:sp>
              <p:nvSpPr>
                <p:cNvPr id="74" name="Rectangle 4">
                  <a:extLst>
                    <a:ext uri="{FF2B5EF4-FFF2-40B4-BE49-F238E27FC236}">
                      <a16:creationId xmlns:a16="http://schemas.microsoft.com/office/drawing/2014/main" id="{33F23D57-33C4-D629-0D5E-C2E137A3846C}"/>
                    </a:ext>
                  </a:extLst>
                </p:cNvPr>
                <p:cNvSpPr>
                  <a:spLocks noChangeArrowheads="1"/>
                </p:cNvSpPr>
                <p:nvPr/>
              </p:nvSpPr>
              <p:spPr bwMode="auto">
                <a:xfrm>
                  <a:off x="555" y="3330"/>
                  <a:ext cx="186" cy="18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endParaRPr lang="en-US" altLang="en-US" sz="600">
                    <a:latin typeface="+mn-lt"/>
                  </a:endParaRPr>
                </a:p>
              </p:txBody>
            </p:sp>
            <p:sp>
              <p:nvSpPr>
                <p:cNvPr id="75" name="Rectangle 5">
                  <a:extLst>
                    <a:ext uri="{FF2B5EF4-FFF2-40B4-BE49-F238E27FC236}">
                      <a16:creationId xmlns:a16="http://schemas.microsoft.com/office/drawing/2014/main" id="{9AD5DD62-B12F-37EC-17F7-0EA86F72A58C}"/>
                    </a:ext>
                  </a:extLst>
                </p:cNvPr>
                <p:cNvSpPr>
                  <a:spLocks noChangeArrowheads="1"/>
                </p:cNvSpPr>
                <p:nvPr/>
              </p:nvSpPr>
              <p:spPr bwMode="auto">
                <a:xfrm>
                  <a:off x="514" y="3339"/>
                  <a:ext cx="481" cy="481"/>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dirty="0">
                      <a:latin typeface="+mn-lt"/>
                    </a:rPr>
                    <a:t>Begin</a:t>
                  </a:r>
                </a:p>
                <a:p>
                  <a:pPr algn="ctr">
                    <a:spcBef>
                      <a:spcPct val="0"/>
                    </a:spcBef>
                    <a:buClrTx/>
                    <a:buSzTx/>
                    <a:buFontTx/>
                    <a:buNone/>
                  </a:pPr>
                  <a:r>
                    <a:rPr lang="en-US" altLang="en-US" sz="600" dirty="0">
                      <a:latin typeface="+mn-lt"/>
                    </a:rPr>
                    <a:t>Mfg.</a:t>
                  </a:r>
                </a:p>
                <a:p>
                  <a:pPr algn="ctr">
                    <a:spcBef>
                      <a:spcPct val="0"/>
                    </a:spcBef>
                    <a:buClrTx/>
                    <a:buSzTx/>
                    <a:buFontTx/>
                    <a:buNone/>
                  </a:pPr>
                  <a:r>
                    <a:rPr lang="en-US" altLang="en-US" sz="600" dirty="0">
                      <a:latin typeface="+mn-lt"/>
                    </a:rPr>
                    <a:t>Sequence</a:t>
                  </a:r>
                </a:p>
              </p:txBody>
            </p:sp>
            <p:sp>
              <p:nvSpPr>
                <p:cNvPr id="76" name="Rectangle 6">
                  <a:extLst>
                    <a:ext uri="{FF2B5EF4-FFF2-40B4-BE49-F238E27FC236}">
                      <a16:creationId xmlns:a16="http://schemas.microsoft.com/office/drawing/2014/main" id="{7EC158D8-CB60-1C0A-4385-D9A1E1C52241}"/>
                    </a:ext>
                  </a:extLst>
                </p:cNvPr>
                <p:cNvSpPr>
                  <a:spLocks noChangeArrowheads="1"/>
                </p:cNvSpPr>
                <p:nvPr/>
              </p:nvSpPr>
              <p:spPr bwMode="auto">
                <a:xfrm>
                  <a:off x="514" y="2763"/>
                  <a:ext cx="481" cy="576"/>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Install</a:t>
                  </a:r>
                </a:p>
                <a:p>
                  <a:pPr algn="ctr">
                    <a:spcBef>
                      <a:spcPct val="0"/>
                    </a:spcBef>
                    <a:buClrTx/>
                    <a:buSzTx/>
                    <a:buFontTx/>
                    <a:buNone/>
                  </a:pPr>
                  <a:r>
                    <a:rPr lang="en-US" altLang="en-US" sz="600">
                      <a:latin typeface="+mn-lt"/>
                    </a:rPr>
                    <a:t>PCB</a:t>
                  </a:r>
                </a:p>
              </p:txBody>
            </p:sp>
            <p:sp>
              <p:nvSpPr>
                <p:cNvPr id="77" name="Rectangle 7">
                  <a:extLst>
                    <a:ext uri="{FF2B5EF4-FFF2-40B4-BE49-F238E27FC236}">
                      <a16:creationId xmlns:a16="http://schemas.microsoft.com/office/drawing/2014/main" id="{1C0FC8F0-D572-76C5-1EA2-447BE74FB95A}"/>
                    </a:ext>
                  </a:extLst>
                </p:cNvPr>
                <p:cNvSpPr>
                  <a:spLocks noChangeArrowheads="1"/>
                </p:cNvSpPr>
                <p:nvPr/>
              </p:nvSpPr>
              <p:spPr bwMode="auto">
                <a:xfrm>
                  <a:off x="514" y="2237"/>
                  <a:ext cx="481" cy="527"/>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Install</a:t>
                  </a:r>
                </a:p>
                <a:p>
                  <a:pPr algn="ctr">
                    <a:spcBef>
                      <a:spcPct val="0"/>
                    </a:spcBef>
                    <a:buClrTx/>
                    <a:buSzTx/>
                    <a:buFontTx/>
                    <a:buNone/>
                  </a:pPr>
                  <a:r>
                    <a:rPr lang="en-US" altLang="en-US" sz="600">
                      <a:latin typeface="+mn-lt"/>
                    </a:rPr>
                    <a:t>Cooling</a:t>
                  </a:r>
                </a:p>
                <a:p>
                  <a:pPr algn="ctr">
                    <a:spcBef>
                      <a:spcPct val="0"/>
                    </a:spcBef>
                    <a:buClrTx/>
                    <a:buSzTx/>
                    <a:buFontTx/>
                    <a:buNone/>
                  </a:pPr>
                  <a:r>
                    <a:rPr lang="en-US" altLang="en-US" sz="600">
                      <a:latin typeface="+mn-lt"/>
                    </a:rPr>
                    <a:t>Fan &amp;</a:t>
                  </a:r>
                </a:p>
                <a:p>
                  <a:pPr algn="ctr">
                    <a:spcBef>
                      <a:spcPct val="0"/>
                    </a:spcBef>
                    <a:buClrTx/>
                    <a:buSzTx/>
                    <a:buFontTx/>
                    <a:buNone/>
                  </a:pPr>
                  <a:r>
                    <a:rPr lang="en-US" altLang="en-US" sz="600">
                      <a:latin typeface="+mn-lt"/>
                    </a:rPr>
                    <a:t>Wiring</a:t>
                  </a:r>
                </a:p>
              </p:txBody>
            </p:sp>
            <p:sp>
              <p:nvSpPr>
                <p:cNvPr id="78" name="Rectangle 8">
                  <a:extLst>
                    <a:ext uri="{FF2B5EF4-FFF2-40B4-BE49-F238E27FC236}">
                      <a16:creationId xmlns:a16="http://schemas.microsoft.com/office/drawing/2014/main" id="{F78B984D-BCB5-2A47-08EA-0436728D941A}"/>
                    </a:ext>
                  </a:extLst>
                </p:cNvPr>
                <p:cNvSpPr>
                  <a:spLocks noChangeArrowheads="1"/>
                </p:cNvSpPr>
                <p:nvPr/>
              </p:nvSpPr>
              <p:spPr bwMode="auto">
                <a:xfrm>
                  <a:off x="1763" y="3339"/>
                  <a:ext cx="479" cy="481"/>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Complete</a:t>
                  </a:r>
                </a:p>
                <a:p>
                  <a:pPr algn="ctr">
                    <a:spcBef>
                      <a:spcPct val="0"/>
                    </a:spcBef>
                    <a:buClrTx/>
                    <a:buSzTx/>
                    <a:buFontTx/>
                    <a:buNone/>
                  </a:pPr>
                  <a:r>
                    <a:rPr lang="en-US" altLang="en-US" sz="600">
                      <a:latin typeface="+mn-lt"/>
                    </a:rPr>
                    <a:t>&amp;</a:t>
                  </a:r>
                </a:p>
                <a:p>
                  <a:pPr algn="ctr">
                    <a:spcBef>
                      <a:spcPct val="0"/>
                    </a:spcBef>
                    <a:buClrTx/>
                    <a:buSzTx/>
                    <a:buFontTx/>
                    <a:buNone/>
                  </a:pPr>
                  <a:r>
                    <a:rPr lang="en-US" altLang="en-US" sz="600">
                      <a:latin typeface="+mn-lt"/>
                    </a:rPr>
                    <a:t>Package</a:t>
                  </a:r>
                </a:p>
              </p:txBody>
            </p:sp>
            <p:sp>
              <p:nvSpPr>
                <p:cNvPr id="79" name="Rectangle 9">
                  <a:extLst>
                    <a:ext uri="{FF2B5EF4-FFF2-40B4-BE49-F238E27FC236}">
                      <a16:creationId xmlns:a16="http://schemas.microsoft.com/office/drawing/2014/main" id="{CF55A315-01C4-651A-C11F-8177CC4C9570}"/>
                    </a:ext>
                  </a:extLst>
                </p:cNvPr>
                <p:cNvSpPr>
                  <a:spLocks noChangeArrowheads="1"/>
                </p:cNvSpPr>
                <p:nvPr/>
              </p:nvSpPr>
              <p:spPr bwMode="auto">
                <a:xfrm>
                  <a:off x="1763" y="2763"/>
                  <a:ext cx="479" cy="576"/>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Power</a:t>
                  </a:r>
                </a:p>
                <a:p>
                  <a:pPr algn="ctr">
                    <a:spcBef>
                      <a:spcPct val="0"/>
                    </a:spcBef>
                    <a:buClrTx/>
                    <a:buSzTx/>
                    <a:buFontTx/>
                    <a:buNone/>
                  </a:pPr>
                  <a:r>
                    <a:rPr lang="en-US" altLang="en-US" sz="600">
                      <a:latin typeface="+mn-lt"/>
                    </a:rPr>
                    <a:t>Cord</a:t>
                  </a:r>
                </a:p>
                <a:p>
                  <a:pPr algn="ctr">
                    <a:spcBef>
                      <a:spcPct val="0"/>
                    </a:spcBef>
                    <a:buClrTx/>
                    <a:buSzTx/>
                    <a:buFontTx/>
                    <a:buNone/>
                  </a:pPr>
                  <a:r>
                    <a:rPr lang="en-US" altLang="en-US" sz="600">
                      <a:latin typeface="+mn-lt"/>
                    </a:rPr>
                    <a:t>Testing &amp;</a:t>
                  </a:r>
                </a:p>
                <a:p>
                  <a:pPr algn="ctr">
                    <a:spcBef>
                      <a:spcPct val="0"/>
                    </a:spcBef>
                    <a:buClrTx/>
                    <a:buSzTx/>
                    <a:buFontTx/>
                    <a:buNone/>
                  </a:pPr>
                  <a:r>
                    <a:rPr lang="en-US" altLang="en-US" sz="600">
                      <a:latin typeface="+mn-lt"/>
                    </a:rPr>
                    <a:t>Labeling</a:t>
                  </a:r>
                </a:p>
              </p:txBody>
            </p:sp>
            <p:sp>
              <p:nvSpPr>
                <p:cNvPr id="80" name="Rectangle 10">
                  <a:extLst>
                    <a:ext uri="{FF2B5EF4-FFF2-40B4-BE49-F238E27FC236}">
                      <a16:creationId xmlns:a16="http://schemas.microsoft.com/office/drawing/2014/main" id="{96E3BFCE-1D8F-7575-E6E4-374AD4F15624}"/>
                    </a:ext>
                  </a:extLst>
                </p:cNvPr>
                <p:cNvSpPr>
                  <a:spLocks noChangeArrowheads="1"/>
                </p:cNvSpPr>
                <p:nvPr/>
              </p:nvSpPr>
              <p:spPr bwMode="auto">
                <a:xfrm>
                  <a:off x="1763" y="2237"/>
                  <a:ext cx="479" cy="527"/>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Electronics</a:t>
                  </a:r>
                </a:p>
                <a:p>
                  <a:pPr algn="ctr">
                    <a:spcBef>
                      <a:spcPct val="0"/>
                    </a:spcBef>
                    <a:buClrTx/>
                    <a:buSzTx/>
                    <a:buFontTx/>
                    <a:buNone/>
                  </a:pPr>
                  <a:r>
                    <a:rPr lang="en-US" altLang="en-US" sz="600">
                      <a:latin typeface="+mn-lt"/>
                    </a:rPr>
                    <a:t>Testing</a:t>
                  </a:r>
                </a:p>
              </p:txBody>
            </p:sp>
            <p:sp>
              <p:nvSpPr>
                <p:cNvPr id="81" name="Rectangle 11">
                  <a:extLst>
                    <a:ext uri="{FF2B5EF4-FFF2-40B4-BE49-F238E27FC236}">
                      <a16:creationId xmlns:a16="http://schemas.microsoft.com/office/drawing/2014/main" id="{2D4492E5-3C49-9AB4-8752-5620CF3F315A}"/>
                    </a:ext>
                  </a:extLst>
                </p:cNvPr>
                <p:cNvSpPr>
                  <a:spLocks noChangeArrowheads="1"/>
                </p:cNvSpPr>
                <p:nvPr/>
              </p:nvSpPr>
              <p:spPr bwMode="auto">
                <a:xfrm>
                  <a:off x="514" y="1948"/>
                  <a:ext cx="865" cy="289"/>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Solder Components</a:t>
                  </a:r>
                </a:p>
                <a:p>
                  <a:pPr algn="ctr">
                    <a:spcBef>
                      <a:spcPct val="0"/>
                    </a:spcBef>
                    <a:buClrTx/>
                    <a:buSzTx/>
                    <a:buFontTx/>
                    <a:buNone/>
                  </a:pPr>
                  <a:r>
                    <a:rPr lang="en-US" altLang="en-US" sz="600">
                      <a:latin typeface="+mn-lt"/>
                    </a:rPr>
                    <a:t>&amp; Install Line Filter</a:t>
                  </a:r>
                </a:p>
              </p:txBody>
            </p:sp>
            <p:sp>
              <p:nvSpPr>
                <p:cNvPr id="82" name="Rectangle 12">
                  <a:extLst>
                    <a:ext uri="{FF2B5EF4-FFF2-40B4-BE49-F238E27FC236}">
                      <a16:creationId xmlns:a16="http://schemas.microsoft.com/office/drawing/2014/main" id="{B48558FC-C03B-D7FF-47EB-23E714420841}"/>
                    </a:ext>
                  </a:extLst>
                </p:cNvPr>
                <p:cNvSpPr>
                  <a:spLocks noChangeArrowheads="1"/>
                </p:cNvSpPr>
                <p:nvPr/>
              </p:nvSpPr>
              <p:spPr bwMode="auto">
                <a:xfrm>
                  <a:off x="1379" y="1948"/>
                  <a:ext cx="863" cy="289"/>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Visual Inspection &amp;</a:t>
                  </a:r>
                </a:p>
                <a:p>
                  <a:pPr algn="ctr">
                    <a:spcBef>
                      <a:spcPct val="0"/>
                    </a:spcBef>
                    <a:buClrTx/>
                    <a:buSzTx/>
                    <a:buFontTx/>
                    <a:buNone/>
                  </a:pPr>
                  <a:r>
                    <a:rPr lang="en-US" altLang="en-US" sz="600">
                      <a:latin typeface="+mn-lt"/>
                    </a:rPr>
                    <a:t>Affix Serial No. </a:t>
                  </a:r>
                </a:p>
              </p:txBody>
            </p:sp>
          </p:grpSp>
          <p:grpSp>
            <p:nvGrpSpPr>
              <p:cNvPr id="7" name="Group 28">
                <a:extLst>
                  <a:ext uri="{FF2B5EF4-FFF2-40B4-BE49-F238E27FC236}">
                    <a16:creationId xmlns:a16="http://schemas.microsoft.com/office/drawing/2014/main" id="{D1E2E842-9BC4-6B8D-2FC8-8FA49C6A6F30}"/>
                  </a:ext>
                </a:extLst>
              </p:cNvPr>
              <p:cNvGrpSpPr>
                <a:grpSpLocks/>
              </p:cNvGrpSpPr>
              <p:nvPr/>
            </p:nvGrpSpPr>
            <p:grpSpPr bwMode="auto">
              <a:xfrm>
                <a:off x="1693" y="1950"/>
                <a:ext cx="1209" cy="1313"/>
                <a:chOff x="514" y="1948"/>
                <a:chExt cx="1728" cy="1872"/>
              </a:xfrm>
            </p:grpSpPr>
            <p:sp>
              <p:nvSpPr>
                <p:cNvPr id="65" name="Rectangle 29">
                  <a:extLst>
                    <a:ext uri="{FF2B5EF4-FFF2-40B4-BE49-F238E27FC236}">
                      <a16:creationId xmlns:a16="http://schemas.microsoft.com/office/drawing/2014/main" id="{9751B6D9-8C10-72BF-E25F-73A631FCF500}"/>
                    </a:ext>
                  </a:extLst>
                </p:cNvPr>
                <p:cNvSpPr>
                  <a:spLocks noChangeArrowheads="1"/>
                </p:cNvSpPr>
                <p:nvPr/>
              </p:nvSpPr>
              <p:spPr bwMode="auto">
                <a:xfrm>
                  <a:off x="555" y="3330"/>
                  <a:ext cx="186" cy="18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endParaRPr lang="en-US" altLang="en-US" sz="600">
                    <a:latin typeface="+mn-lt"/>
                  </a:endParaRPr>
                </a:p>
              </p:txBody>
            </p:sp>
            <p:sp>
              <p:nvSpPr>
                <p:cNvPr id="66" name="Rectangle 30">
                  <a:extLst>
                    <a:ext uri="{FF2B5EF4-FFF2-40B4-BE49-F238E27FC236}">
                      <a16:creationId xmlns:a16="http://schemas.microsoft.com/office/drawing/2014/main" id="{A5BC6FFB-26AE-4C69-598C-5BEB862E626C}"/>
                    </a:ext>
                  </a:extLst>
                </p:cNvPr>
                <p:cNvSpPr>
                  <a:spLocks noChangeArrowheads="1"/>
                </p:cNvSpPr>
                <p:nvPr/>
              </p:nvSpPr>
              <p:spPr bwMode="auto">
                <a:xfrm>
                  <a:off x="514" y="3339"/>
                  <a:ext cx="481" cy="481"/>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Begin</a:t>
                  </a:r>
                </a:p>
                <a:p>
                  <a:pPr algn="ctr">
                    <a:spcBef>
                      <a:spcPct val="0"/>
                    </a:spcBef>
                    <a:buClrTx/>
                    <a:buSzTx/>
                    <a:buFontTx/>
                    <a:buNone/>
                  </a:pPr>
                  <a:r>
                    <a:rPr lang="en-US" altLang="en-US" sz="600">
                      <a:latin typeface="+mn-lt"/>
                    </a:rPr>
                    <a:t>Mfg.</a:t>
                  </a:r>
                </a:p>
                <a:p>
                  <a:pPr algn="ctr">
                    <a:spcBef>
                      <a:spcPct val="0"/>
                    </a:spcBef>
                    <a:buClrTx/>
                    <a:buSzTx/>
                    <a:buFontTx/>
                    <a:buNone/>
                  </a:pPr>
                  <a:r>
                    <a:rPr lang="en-US" altLang="en-US" sz="600">
                      <a:latin typeface="+mn-lt"/>
                    </a:rPr>
                    <a:t>Sequence</a:t>
                  </a:r>
                </a:p>
              </p:txBody>
            </p:sp>
            <p:sp>
              <p:nvSpPr>
                <p:cNvPr id="67" name="Rectangle 31">
                  <a:extLst>
                    <a:ext uri="{FF2B5EF4-FFF2-40B4-BE49-F238E27FC236}">
                      <a16:creationId xmlns:a16="http://schemas.microsoft.com/office/drawing/2014/main" id="{3F35C53D-D64C-214C-4AD1-5227A12FC696}"/>
                    </a:ext>
                  </a:extLst>
                </p:cNvPr>
                <p:cNvSpPr>
                  <a:spLocks noChangeArrowheads="1"/>
                </p:cNvSpPr>
                <p:nvPr/>
              </p:nvSpPr>
              <p:spPr bwMode="auto">
                <a:xfrm>
                  <a:off x="514" y="2763"/>
                  <a:ext cx="481" cy="576"/>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Install</a:t>
                  </a:r>
                </a:p>
                <a:p>
                  <a:pPr algn="ctr">
                    <a:spcBef>
                      <a:spcPct val="0"/>
                    </a:spcBef>
                    <a:buClrTx/>
                    <a:buSzTx/>
                    <a:buFontTx/>
                    <a:buNone/>
                  </a:pPr>
                  <a:r>
                    <a:rPr lang="en-US" altLang="en-US" sz="600">
                      <a:latin typeface="+mn-lt"/>
                    </a:rPr>
                    <a:t>PCB</a:t>
                  </a:r>
                </a:p>
              </p:txBody>
            </p:sp>
            <p:sp>
              <p:nvSpPr>
                <p:cNvPr id="68" name="Rectangle 32">
                  <a:extLst>
                    <a:ext uri="{FF2B5EF4-FFF2-40B4-BE49-F238E27FC236}">
                      <a16:creationId xmlns:a16="http://schemas.microsoft.com/office/drawing/2014/main" id="{5DDFF996-A9B4-75C6-192A-58CA590A9F4B}"/>
                    </a:ext>
                  </a:extLst>
                </p:cNvPr>
                <p:cNvSpPr>
                  <a:spLocks noChangeArrowheads="1"/>
                </p:cNvSpPr>
                <p:nvPr/>
              </p:nvSpPr>
              <p:spPr bwMode="auto">
                <a:xfrm>
                  <a:off x="514" y="2237"/>
                  <a:ext cx="481" cy="527"/>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Install</a:t>
                  </a:r>
                </a:p>
                <a:p>
                  <a:pPr algn="ctr">
                    <a:spcBef>
                      <a:spcPct val="0"/>
                    </a:spcBef>
                    <a:buClrTx/>
                    <a:buSzTx/>
                    <a:buFontTx/>
                    <a:buNone/>
                  </a:pPr>
                  <a:r>
                    <a:rPr lang="en-US" altLang="en-US" sz="600">
                      <a:latin typeface="+mn-lt"/>
                    </a:rPr>
                    <a:t>Cooling</a:t>
                  </a:r>
                </a:p>
                <a:p>
                  <a:pPr algn="ctr">
                    <a:spcBef>
                      <a:spcPct val="0"/>
                    </a:spcBef>
                    <a:buClrTx/>
                    <a:buSzTx/>
                    <a:buFontTx/>
                    <a:buNone/>
                  </a:pPr>
                  <a:r>
                    <a:rPr lang="en-US" altLang="en-US" sz="600">
                      <a:latin typeface="+mn-lt"/>
                    </a:rPr>
                    <a:t>Fan &amp;</a:t>
                  </a:r>
                </a:p>
                <a:p>
                  <a:pPr algn="ctr">
                    <a:spcBef>
                      <a:spcPct val="0"/>
                    </a:spcBef>
                    <a:buClrTx/>
                    <a:buSzTx/>
                    <a:buFontTx/>
                    <a:buNone/>
                  </a:pPr>
                  <a:r>
                    <a:rPr lang="en-US" altLang="en-US" sz="600">
                      <a:latin typeface="+mn-lt"/>
                    </a:rPr>
                    <a:t>Wiring</a:t>
                  </a:r>
                </a:p>
              </p:txBody>
            </p:sp>
            <p:sp>
              <p:nvSpPr>
                <p:cNvPr id="69" name="Rectangle 33">
                  <a:extLst>
                    <a:ext uri="{FF2B5EF4-FFF2-40B4-BE49-F238E27FC236}">
                      <a16:creationId xmlns:a16="http://schemas.microsoft.com/office/drawing/2014/main" id="{77960BD7-7777-D077-5D6B-8BCCDBD8A5A2}"/>
                    </a:ext>
                  </a:extLst>
                </p:cNvPr>
                <p:cNvSpPr>
                  <a:spLocks noChangeArrowheads="1"/>
                </p:cNvSpPr>
                <p:nvPr/>
              </p:nvSpPr>
              <p:spPr bwMode="auto">
                <a:xfrm>
                  <a:off x="1763" y="3339"/>
                  <a:ext cx="479" cy="481"/>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Complete</a:t>
                  </a:r>
                </a:p>
                <a:p>
                  <a:pPr algn="ctr">
                    <a:spcBef>
                      <a:spcPct val="0"/>
                    </a:spcBef>
                    <a:buClrTx/>
                    <a:buSzTx/>
                    <a:buFontTx/>
                    <a:buNone/>
                  </a:pPr>
                  <a:r>
                    <a:rPr lang="en-US" altLang="en-US" sz="600">
                      <a:latin typeface="+mn-lt"/>
                    </a:rPr>
                    <a:t>&amp;</a:t>
                  </a:r>
                </a:p>
                <a:p>
                  <a:pPr algn="ctr">
                    <a:spcBef>
                      <a:spcPct val="0"/>
                    </a:spcBef>
                    <a:buClrTx/>
                    <a:buSzTx/>
                    <a:buFontTx/>
                    <a:buNone/>
                  </a:pPr>
                  <a:r>
                    <a:rPr lang="en-US" altLang="en-US" sz="600">
                      <a:latin typeface="+mn-lt"/>
                    </a:rPr>
                    <a:t>Package</a:t>
                  </a:r>
                </a:p>
              </p:txBody>
            </p:sp>
            <p:sp>
              <p:nvSpPr>
                <p:cNvPr id="70" name="Rectangle 34">
                  <a:extLst>
                    <a:ext uri="{FF2B5EF4-FFF2-40B4-BE49-F238E27FC236}">
                      <a16:creationId xmlns:a16="http://schemas.microsoft.com/office/drawing/2014/main" id="{B45B364E-3D6F-CF39-4430-3440A06531D7}"/>
                    </a:ext>
                  </a:extLst>
                </p:cNvPr>
                <p:cNvSpPr>
                  <a:spLocks noChangeArrowheads="1"/>
                </p:cNvSpPr>
                <p:nvPr/>
              </p:nvSpPr>
              <p:spPr bwMode="auto">
                <a:xfrm>
                  <a:off x="1763" y="2763"/>
                  <a:ext cx="479" cy="576"/>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Power</a:t>
                  </a:r>
                </a:p>
                <a:p>
                  <a:pPr algn="ctr">
                    <a:spcBef>
                      <a:spcPct val="0"/>
                    </a:spcBef>
                    <a:buClrTx/>
                    <a:buSzTx/>
                    <a:buFontTx/>
                    <a:buNone/>
                  </a:pPr>
                  <a:r>
                    <a:rPr lang="en-US" altLang="en-US" sz="600">
                      <a:latin typeface="+mn-lt"/>
                    </a:rPr>
                    <a:t>Cord</a:t>
                  </a:r>
                </a:p>
                <a:p>
                  <a:pPr algn="ctr">
                    <a:spcBef>
                      <a:spcPct val="0"/>
                    </a:spcBef>
                    <a:buClrTx/>
                    <a:buSzTx/>
                    <a:buFontTx/>
                    <a:buNone/>
                  </a:pPr>
                  <a:r>
                    <a:rPr lang="en-US" altLang="en-US" sz="600">
                      <a:latin typeface="+mn-lt"/>
                    </a:rPr>
                    <a:t>Testing &amp;</a:t>
                  </a:r>
                </a:p>
                <a:p>
                  <a:pPr algn="ctr">
                    <a:spcBef>
                      <a:spcPct val="0"/>
                    </a:spcBef>
                    <a:buClrTx/>
                    <a:buSzTx/>
                    <a:buFontTx/>
                    <a:buNone/>
                  </a:pPr>
                  <a:r>
                    <a:rPr lang="en-US" altLang="en-US" sz="600">
                      <a:latin typeface="+mn-lt"/>
                    </a:rPr>
                    <a:t>Labeling</a:t>
                  </a:r>
                </a:p>
              </p:txBody>
            </p:sp>
            <p:sp>
              <p:nvSpPr>
                <p:cNvPr id="71" name="Rectangle 35">
                  <a:extLst>
                    <a:ext uri="{FF2B5EF4-FFF2-40B4-BE49-F238E27FC236}">
                      <a16:creationId xmlns:a16="http://schemas.microsoft.com/office/drawing/2014/main" id="{A3645955-F979-578B-0260-B7DE09EC3953}"/>
                    </a:ext>
                  </a:extLst>
                </p:cNvPr>
                <p:cNvSpPr>
                  <a:spLocks noChangeArrowheads="1"/>
                </p:cNvSpPr>
                <p:nvPr/>
              </p:nvSpPr>
              <p:spPr bwMode="auto">
                <a:xfrm>
                  <a:off x="1763" y="2237"/>
                  <a:ext cx="479" cy="527"/>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Electronics</a:t>
                  </a:r>
                </a:p>
                <a:p>
                  <a:pPr algn="ctr">
                    <a:spcBef>
                      <a:spcPct val="0"/>
                    </a:spcBef>
                    <a:buClrTx/>
                    <a:buSzTx/>
                    <a:buFontTx/>
                    <a:buNone/>
                  </a:pPr>
                  <a:r>
                    <a:rPr lang="en-US" altLang="en-US" sz="600">
                      <a:latin typeface="+mn-lt"/>
                    </a:rPr>
                    <a:t>Testing</a:t>
                  </a:r>
                </a:p>
              </p:txBody>
            </p:sp>
            <p:sp>
              <p:nvSpPr>
                <p:cNvPr id="72" name="Rectangle 36">
                  <a:extLst>
                    <a:ext uri="{FF2B5EF4-FFF2-40B4-BE49-F238E27FC236}">
                      <a16:creationId xmlns:a16="http://schemas.microsoft.com/office/drawing/2014/main" id="{6BF1432D-17DC-179E-AAF5-AA781EACDAA9}"/>
                    </a:ext>
                  </a:extLst>
                </p:cNvPr>
                <p:cNvSpPr>
                  <a:spLocks noChangeArrowheads="1"/>
                </p:cNvSpPr>
                <p:nvPr/>
              </p:nvSpPr>
              <p:spPr bwMode="auto">
                <a:xfrm>
                  <a:off x="514" y="1948"/>
                  <a:ext cx="865" cy="289"/>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Solder Components</a:t>
                  </a:r>
                </a:p>
                <a:p>
                  <a:pPr algn="ctr">
                    <a:spcBef>
                      <a:spcPct val="0"/>
                    </a:spcBef>
                    <a:buClrTx/>
                    <a:buSzTx/>
                    <a:buFontTx/>
                    <a:buNone/>
                  </a:pPr>
                  <a:r>
                    <a:rPr lang="en-US" altLang="en-US" sz="600">
                      <a:latin typeface="+mn-lt"/>
                    </a:rPr>
                    <a:t>&amp; Install Line Filter</a:t>
                  </a:r>
                </a:p>
              </p:txBody>
            </p:sp>
            <p:sp>
              <p:nvSpPr>
                <p:cNvPr id="73" name="Rectangle 37">
                  <a:extLst>
                    <a:ext uri="{FF2B5EF4-FFF2-40B4-BE49-F238E27FC236}">
                      <a16:creationId xmlns:a16="http://schemas.microsoft.com/office/drawing/2014/main" id="{591A0CF8-9F37-6653-9821-94AB7A7E467B}"/>
                    </a:ext>
                  </a:extLst>
                </p:cNvPr>
                <p:cNvSpPr>
                  <a:spLocks noChangeArrowheads="1"/>
                </p:cNvSpPr>
                <p:nvPr/>
              </p:nvSpPr>
              <p:spPr bwMode="auto">
                <a:xfrm>
                  <a:off x="1379" y="1948"/>
                  <a:ext cx="863" cy="289"/>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Visual Inspection &amp;</a:t>
                  </a:r>
                </a:p>
                <a:p>
                  <a:pPr algn="ctr">
                    <a:spcBef>
                      <a:spcPct val="0"/>
                    </a:spcBef>
                    <a:buClrTx/>
                    <a:buSzTx/>
                    <a:buFontTx/>
                    <a:buNone/>
                  </a:pPr>
                  <a:r>
                    <a:rPr lang="en-US" altLang="en-US" sz="600">
                      <a:latin typeface="+mn-lt"/>
                    </a:rPr>
                    <a:t>Affix Serial No. </a:t>
                  </a:r>
                </a:p>
              </p:txBody>
            </p:sp>
          </p:grpSp>
          <p:grpSp>
            <p:nvGrpSpPr>
              <p:cNvPr id="8" name="Group 38">
                <a:extLst>
                  <a:ext uri="{FF2B5EF4-FFF2-40B4-BE49-F238E27FC236}">
                    <a16:creationId xmlns:a16="http://schemas.microsoft.com/office/drawing/2014/main" id="{194244BD-1B59-D96C-9A44-22015BF36E8D}"/>
                  </a:ext>
                </a:extLst>
              </p:cNvPr>
              <p:cNvGrpSpPr>
                <a:grpSpLocks/>
              </p:cNvGrpSpPr>
              <p:nvPr/>
            </p:nvGrpSpPr>
            <p:grpSpPr bwMode="auto">
              <a:xfrm>
                <a:off x="3027" y="1950"/>
                <a:ext cx="1209" cy="1313"/>
                <a:chOff x="514" y="1948"/>
                <a:chExt cx="1728" cy="1872"/>
              </a:xfrm>
            </p:grpSpPr>
            <p:sp>
              <p:nvSpPr>
                <p:cNvPr id="9" name="Rectangle 39">
                  <a:extLst>
                    <a:ext uri="{FF2B5EF4-FFF2-40B4-BE49-F238E27FC236}">
                      <a16:creationId xmlns:a16="http://schemas.microsoft.com/office/drawing/2014/main" id="{28A637E0-B0BB-83EE-6C8A-74CEF7B770B5}"/>
                    </a:ext>
                  </a:extLst>
                </p:cNvPr>
                <p:cNvSpPr>
                  <a:spLocks noChangeArrowheads="1"/>
                </p:cNvSpPr>
                <p:nvPr/>
              </p:nvSpPr>
              <p:spPr bwMode="auto">
                <a:xfrm>
                  <a:off x="555" y="3330"/>
                  <a:ext cx="186" cy="18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endParaRPr lang="en-US" altLang="en-US" sz="600">
                    <a:latin typeface="+mn-lt"/>
                  </a:endParaRPr>
                </a:p>
              </p:txBody>
            </p:sp>
            <p:sp>
              <p:nvSpPr>
                <p:cNvPr id="10" name="Rectangle 40">
                  <a:extLst>
                    <a:ext uri="{FF2B5EF4-FFF2-40B4-BE49-F238E27FC236}">
                      <a16:creationId xmlns:a16="http://schemas.microsoft.com/office/drawing/2014/main" id="{4B459608-84E5-DAF5-F287-1E1F0A6C6A37}"/>
                    </a:ext>
                  </a:extLst>
                </p:cNvPr>
                <p:cNvSpPr>
                  <a:spLocks noChangeArrowheads="1"/>
                </p:cNvSpPr>
                <p:nvPr/>
              </p:nvSpPr>
              <p:spPr bwMode="auto">
                <a:xfrm>
                  <a:off x="514" y="3339"/>
                  <a:ext cx="481" cy="481"/>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Begin</a:t>
                  </a:r>
                </a:p>
                <a:p>
                  <a:pPr algn="ctr">
                    <a:spcBef>
                      <a:spcPct val="0"/>
                    </a:spcBef>
                    <a:buClrTx/>
                    <a:buSzTx/>
                    <a:buFontTx/>
                    <a:buNone/>
                  </a:pPr>
                  <a:r>
                    <a:rPr lang="en-US" altLang="en-US" sz="600">
                      <a:latin typeface="+mn-lt"/>
                    </a:rPr>
                    <a:t>Mfg.</a:t>
                  </a:r>
                </a:p>
                <a:p>
                  <a:pPr algn="ctr">
                    <a:spcBef>
                      <a:spcPct val="0"/>
                    </a:spcBef>
                    <a:buClrTx/>
                    <a:buSzTx/>
                    <a:buFontTx/>
                    <a:buNone/>
                  </a:pPr>
                  <a:r>
                    <a:rPr lang="en-US" altLang="en-US" sz="600">
                      <a:latin typeface="+mn-lt"/>
                    </a:rPr>
                    <a:t>Sequence</a:t>
                  </a:r>
                </a:p>
              </p:txBody>
            </p:sp>
            <p:sp>
              <p:nvSpPr>
                <p:cNvPr id="15" name="Rectangle 41">
                  <a:extLst>
                    <a:ext uri="{FF2B5EF4-FFF2-40B4-BE49-F238E27FC236}">
                      <a16:creationId xmlns:a16="http://schemas.microsoft.com/office/drawing/2014/main" id="{EE6805D7-B93D-97C9-4A80-1BCD701BE830}"/>
                    </a:ext>
                  </a:extLst>
                </p:cNvPr>
                <p:cNvSpPr>
                  <a:spLocks noChangeArrowheads="1"/>
                </p:cNvSpPr>
                <p:nvPr/>
              </p:nvSpPr>
              <p:spPr bwMode="auto">
                <a:xfrm>
                  <a:off x="514" y="2763"/>
                  <a:ext cx="481" cy="576"/>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Install</a:t>
                  </a:r>
                </a:p>
                <a:p>
                  <a:pPr algn="ctr">
                    <a:spcBef>
                      <a:spcPct val="0"/>
                    </a:spcBef>
                    <a:buClrTx/>
                    <a:buSzTx/>
                    <a:buFontTx/>
                    <a:buNone/>
                  </a:pPr>
                  <a:r>
                    <a:rPr lang="en-US" altLang="en-US" sz="600">
                      <a:latin typeface="+mn-lt"/>
                    </a:rPr>
                    <a:t>PCB</a:t>
                  </a:r>
                </a:p>
              </p:txBody>
            </p:sp>
            <p:sp>
              <p:nvSpPr>
                <p:cNvPr id="16" name="Rectangle 42">
                  <a:extLst>
                    <a:ext uri="{FF2B5EF4-FFF2-40B4-BE49-F238E27FC236}">
                      <a16:creationId xmlns:a16="http://schemas.microsoft.com/office/drawing/2014/main" id="{01C89BF0-868B-2C3B-F6B7-78A614720074}"/>
                    </a:ext>
                  </a:extLst>
                </p:cNvPr>
                <p:cNvSpPr>
                  <a:spLocks noChangeArrowheads="1"/>
                </p:cNvSpPr>
                <p:nvPr/>
              </p:nvSpPr>
              <p:spPr bwMode="auto">
                <a:xfrm>
                  <a:off x="514" y="2237"/>
                  <a:ext cx="481" cy="527"/>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Install</a:t>
                  </a:r>
                </a:p>
                <a:p>
                  <a:pPr algn="ctr">
                    <a:spcBef>
                      <a:spcPct val="0"/>
                    </a:spcBef>
                    <a:buClrTx/>
                    <a:buSzTx/>
                    <a:buFontTx/>
                    <a:buNone/>
                  </a:pPr>
                  <a:r>
                    <a:rPr lang="en-US" altLang="en-US" sz="600">
                      <a:latin typeface="+mn-lt"/>
                    </a:rPr>
                    <a:t>Cooling</a:t>
                  </a:r>
                </a:p>
                <a:p>
                  <a:pPr algn="ctr">
                    <a:spcBef>
                      <a:spcPct val="0"/>
                    </a:spcBef>
                    <a:buClrTx/>
                    <a:buSzTx/>
                    <a:buFontTx/>
                    <a:buNone/>
                  </a:pPr>
                  <a:r>
                    <a:rPr lang="en-US" altLang="en-US" sz="600">
                      <a:latin typeface="+mn-lt"/>
                    </a:rPr>
                    <a:t>Fan &amp;</a:t>
                  </a:r>
                </a:p>
                <a:p>
                  <a:pPr algn="ctr">
                    <a:spcBef>
                      <a:spcPct val="0"/>
                    </a:spcBef>
                    <a:buClrTx/>
                    <a:buSzTx/>
                    <a:buFontTx/>
                    <a:buNone/>
                  </a:pPr>
                  <a:r>
                    <a:rPr lang="en-US" altLang="en-US" sz="600">
                      <a:latin typeface="+mn-lt"/>
                    </a:rPr>
                    <a:t>Wiring</a:t>
                  </a:r>
                </a:p>
              </p:txBody>
            </p:sp>
            <p:sp>
              <p:nvSpPr>
                <p:cNvPr id="17" name="Rectangle 43">
                  <a:extLst>
                    <a:ext uri="{FF2B5EF4-FFF2-40B4-BE49-F238E27FC236}">
                      <a16:creationId xmlns:a16="http://schemas.microsoft.com/office/drawing/2014/main" id="{C2A4471B-76F4-BC47-39D8-56924F38B65D}"/>
                    </a:ext>
                  </a:extLst>
                </p:cNvPr>
                <p:cNvSpPr>
                  <a:spLocks noChangeArrowheads="1"/>
                </p:cNvSpPr>
                <p:nvPr/>
              </p:nvSpPr>
              <p:spPr bwMode="auto">
                <a:xfrm>
                  <a:off x="1763" y="3339"/>
                  <a:ext cx="479" cy="481"/>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Complete</a:t>
                  </a:r>
                </a:p>
                <a:p>
                  <a:pPr algn="ctr">
                    <a:spcBef>
                      <a:spcPct val="0"/>
                    </a:spcBef>
                    <a:buClrTx/>
                    <a:buSzTx/>
                    <a:buFontTx/>
                    <a:buNone/>
                  </a:pPr>
                  <a:r>
                    <a:rPr lang="en-US" altLang="en-US" sz="600">
                      <a:latin typeface="+mn-lt"/>
                    </a:rPr>
                    <a:t>&amp;</a:t>
                  </a:r>
                </a:p>
                <a:p>
                  <a:pPr algn="ctr">
                    <a:spcBef>
                      <a:spcPct val="0"/>
                    </a:spcBef>
                    <a:buClrTx/>
                    <a:buSzTx/>
                    <a:buFontTx/>
                    <a:buNone/>
                  </a:pPr>
                  <a:r>
                    <a:rPr lang="en-US" altLang="en-US" sz="600">
                      <a:latin typeface="+mn-lt"/>
                    </a:rPr>
                    <a:t>Package</a:t>
                  </a:r>
                </a:p>
              </p:txBody>
            </p:sp>
            <p:sp>
              <p:nvSpPr>
                <p:cNvPr id="61" name="Rectangle 44">
                  <a:extLst>
                    <a:ext uri="{FF2B5EF4-FFF2-40B4-BE49-F238E27FC236}">
                      <a16:creationId xmlns:a16="http://schemas.microsoft.com/office/drawing/2014/main" id="{D18FF099-636F-6082-7000-47931DB58404}"/>
                    </a:ext>
                  </a:extLst>
                </p:cNvPr>
                <p:cNvSpPr>
                  <a:spLocks noChangeArrowheads="1"/>
                </p:cNvSpPr>
                <p:nvPr/>
              </p:nvSpPr>
              <p:spPr bwMode="auto">
                <a:xfrm>
                  <a:off x="1763" y="2763"/>
                  <a:ext cx="479" cy="576"/>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Power</a:t>
                  </a:r>
                </a:p>
                <a:p>
                  <a:pPr algn="ctr">
                    <a:spcBef>
                      <a:spcPct val="0"/>
                    </a:spcBef>
                    <a:buClrTx/>
                    <a:buSzTx/>
                    <a:buFontTx/>
                    <a:buNone/>
                  </a:pPr>
                  <a:r>
                    <a:rPr lang="en-US" altLang="en-US" sz="600">
                      <a:latin typeface="+mn-lt"/>
                    </a:rPr>
                    <a:t>Cord</a:t>
                  </a:r>
                </a:p>
                <a:p>
                  <a:pPr algn="ctr">
                    <a:spcBef>
                      <a:spcPct val="0"/>
                    </a:spcBef>
                    <a:buClrTx/>
                    <a:buSzTx/>
                    <a:buFontTx/>
                    <a:buNone/>
                  </a:pPr>
                  <a:r>
                    <a:rPr lang="en-US" altLang="en-US" sz="600">
                      <a:latin typeface="+mn-lt"/>
                    </a:rPr>
                    <a:t>Testing &amp;</a:t>
                  </a:r>
                </a:p>
                <a:p>
                  <a:pPr algn="ctr">
                    <a:spcBef>
                      <a:spcPct val="0"/>
                    </a:spcBef>
                    <a:buClrTx/>
                    <a:buSzTx/>
                    <a:buFontTx/>
                    <a:buNone/>
                  </a:pPr>
                  <a:r>
                    <a:rPr lang="en-US" altLang="en-US" sz="600">
                      <a:latin typeface="+mn-lt"/>
                    </a:rPr>
                    <a:t>Labeling</a:t>
                  </a:r>
                </a:p>
              </p:txBody>
            </p:sp>
            <p:sp>
              <p:nvSpPr>
                <p:cNvPr id="62" name="Rectangle 45">
                  <a:extLst>
                    <a:ext uri="{FF2B5EF4-FFF2-40B4-BE49-F238E27FC236}">
                      <a16:creationId xmlns:a16="http://schemas.microsoft.com/office/drawing/2014/main" id="{1A2E7C1D-4B8C-1084-DAEA-6E86B915B1EB}"/>
                    </a:ext>
                  </a:extLst>
                </p:cNvPr>
                <p:cNvSpPr>
                  <a:spLocks noChangeArrowheads="1"/>
                </p:cNvSpPr>
                <p:nvPr/>
              </p:nvSpPr>
              <p:spPr bwMode="auto">
                <a:xfrm>
                  <a:off x="1763" y="2237"/>
                  <a:ext cx="479" cy="527"/>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Electronics</a:t>
                  </a:r>
                </a:p>
                <a:p>
                  <a:pPr algn="ctr">
                    <a:spcBef>
                      <a:spcPct val="0"/>
                    </a:spcBef>
                    <a:buClrTx/>
                    <a:buSzTx/>
                    <a:buFontTx/>
                    <a:buNone/>
                  </a:pPr>
                  <a:r>
                    <a:rPr lang="en-US" altLang="en-US" sz="600">
                      <a:latin typeface="+mn-lt"/>
                    </a:rPr>
                    <a:t>Testing</a:t>
                  </a:r>
                </a:p>
              </p:txBody>
            </p:sp>
            <p:sp>
              <p:nvSpPr>
                <p:cNvPr id="63" name="Rectangle 46">
                  <a:extLst>
                    <a:ext uri="{FF2B5EF4-FFF2-40B4-BE49-F238E27FC236}">
                      <a16:creationId xmlns:a16="http://schemas.microsoft.com/office/drawing/2014/main" id="{706D81FA-B9BD-D29D-EB9F-F939952B4A4D}"/>
                    </a:ext>
                  </a:extLst>
                </p:cNvPr>
                <p:cNvSpPr>
                  <a:spLocks noChangeArrowheads="1"/>
                </p:cNvSpPr>
                <p:nvPr/>
              </p:nvSpPr>
              <p:spPr bwMode="auto">
                <a:xfrm>
                  <a:off x="514" y="1948"/>
                  <a:ext cx="865" cy="289"/>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Solder Components</a:t>
                  </a:r>
                </a:p>
                <a:p>
                  <a:pPr algn="ctr">
                    <a:spcBef>
                      <a:spcPct val="0"/>
                    </a:spcBef>
                    <a:buClrTx/>
                    <a:buSzTx/>
                    <a:buFontTx/>
                    <a:buNone/>
                  </a:pPr>
                  <a:r>
                    <a:rPr lang="en-US" altLang="en-US" sz="600">
                      <a:latin typeface="+mn-lt"/>
                    </a:rPr>
                    <a:t>&amp; Install Line Filter</a:t>
                  </a:r>
                </a:p>
              </p:txBody>
            </p:sp>
            <p:sp>
              <p:nvSpPr>
                <p:cNvPr id="64" name="Rectangle 47">
                  <a:extLst>
                    <a:ext uri="{FF2B5EF4-FFF2-40B4-BE49-F238E27FC236}">
                      <a16:creationId xmlns:a16="http://schemas.microsoft.com/office/drawing/2014/main" id="{1D02B644-2870-15C0-8365-227BB9739CB4}"/>
                    </a:ext>
                  </a:extLst>
                </p:cNvPr>
                <p:cNvSpPr>
                  <a:spLocks noChangeArrowheads="1"/>
                </p:cNvSpPr>
                <p:nvPr/>
              </p:nvSpPr>
              <p:spPr bwMode="auto">
                <a:xfrm>
                  <a:off x="1379" y="1948"/>
                  <a:ext cx="863" cy="289"/>
                </a:xfrm>
                <a:prstGeom prst="rect">
                  <a:avLst/>
                </a:prstGeom>
                <a:solidFill>
                  <a:schemeClr val="bg2"/>
                </a:solidFill>
                <a:ln w="12700">
                  <a:solidFill>
                    <a:schemeClr val="tx1"/>
                  </a:solidFill>
                  <a:miter lim="800000"/>
                  <a:headEnd/>
                  <a:tailEnd/>
                </a:ln>
              </p:spPr>
              <p:txBody>
                <a:bodyPr wrap="none" lIns="92075" tIns="46038" rIns="92075" bIns="46038"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600">
                      <a:latin typeface="+mn-lt"/>
                    </a:rPr>
                    <a:t>Visual Inspection &amp;</a:t>
                  </a:r>
                </a:p>
                <a:p>
                  <a:pPr algn="ctr">
                    <a:spcBef>
                      <a:spcPct val="0"/>
                    </a:spcBef>
                    <a:buClrTx/>
                    <a:buSzTx/>
                    <a:buFontTx/>
                    <a:buNone/>
                  </a:pPr>
                  <a:r>
                    <a:rPr lang="en-US" altLang="en-US" sz="600">
                      <a:latin typeface="+mn-lt"/>
                    </a:rPr>
                    <a:t>Affix Serial No. </a:t>
                  </a:r>
                </a:p>
              </p:txBody>
            </p:sp>
          </p:grpSp>
        </p:grpSp>
        <p:sp>
          <p:nvSpPr>
            <p:cNvPr id="83" name="Text Box 49">
              <a:extLst>
                <a:ext uri="{FF2B5EF4-FFF2-40B4-BE49-F238E27FC236}">
                  <a16:creationId xmlns:a16="http://schemas.microsoft.com/office/drawing/2014/main" id="{5C80D827-99FE-DB1E-A5B6-115B7591C82F}"/>
                </a:ext>
              </a:extLst>
            </p:cNvPr>
            <p:cNvSpPr txBox="1">
              <a:spLocks noChangeArrowheads="1"/>
            </p:cNvSpPr>
            <p:nvPr/>
          </p:nvSpPr>
          <p:spPr bwMode="auto">
            <a:xfrm>
              <a:off x="831488" y="2205038"/>
              <a:ext cx="862737"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Cell One</a:t>
              </a:r>
            </a:p>
          </p:txBody>
        </p:sp>
        <p:sp>
          <p:nvSpPr>
            <p:cNvPr id="84" name="Text Box 50">
              <a:extLst>
                <a:ext uri="{FF2B5EF4-FFF2-40B4-BE49-F238E27FC236}">
                  <a16:creationId xmlns:a16="http://schemas.microsoft.com/office/drawing/2014/main" id="{F9717989-4094-C77E-97C9-9B995543EA56}"/>
                </a:ext>
              </a:extLst>
            </p:cNvPr>
            <p:cNvSpPr txBox="1">
              <a:spLocks noChangeArrowheads="1"/>
            </p:cNvSpPr>
            <p:nvPr/>
          </p:nvSpPr>
          <p:spPr bwMode="auto">
            <a:xfrm>
              <a:off x="2713368" y="2205038"/>
              <a:ext cx="883576"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Cell Two</a:t>
              </a:r>
            </a:p>
          </p:txBody>
        </p:sp>
        <p:sp>
          <p:nvSpPr>
            <p:cNvPr id="85" name="Text Box 51">
              <a:extLst>
                <a:ext uri="{FF2B5EF4-FFF2-40B4-BE49-F238E27FC236}">
                  <a16:creationId xmlns:a16="http://schemas.microsoft.com/office/drawing/2014/main" id="{1B8C6490-E0A7-BE34-F34B-E6B9A0281966}"/>
                </a:ext>
              </a:extLst>
            </p:cNvPr>
            <p:cNvSpPr txBox="1">
              <a:spLocks noChangeArrowheads="1"/>
            </p:cNvSpPr>
            <p:nvPr/>
          </p:nvSpPr>
          <p:spPr bwMode="auto">
            <a:xfrm>
              <a:off x="4554240" y="2205038"/>
              <a:ext cx="1013419"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Cell Three</a:t>
              </a:r>
            </a:p>
          </p:txBody>
        </p:sp>
        <p:sp>
          <p:nvSpPr>
            <p:cNvPr id="86" name="Line 52">
              <a:extLst>
                <a:ext uri="{FF2B5EF4-FFF2-40B4-BE49-F238E27FC236}">
                  <a16:creationId xmlns:a16="http://schemas.microsoft.com/office/drawing/2014/main" id="{A34D1B10-B73B-8942-0418-DEAF3BD518D1}"/>
                </a:ext>
              </a:extLst>
            </p:cNvPr>
            <p:cNvSpPr>
              <a:spLocks noChangeShapeType="1"/>
            </p:cNvSpPr>
            <p:nvPr/>
          </p:nvSpPr>
          <p:spPr bwMode="auto">
            <a:xfrm>
              <a:off x="412750" y="4522788"/>
              <a:ext cx="5530850"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 name="Rectangle 53">
              <a:extLst>
                <a:ext uri="{FF2B5EF4-FFF2-40B4-BE49-F238E27FC236}">
                  <a16:creationId xmlns:a16="http://schemas.microsoft.com/office/drawing/2014/main" id="{9A40E8D6-49A6-AAA6-F3D8-70E1EB66BF4C}"/>
                </a:ext>
              </a:extLst>
            </p:cNvPr>
            <p:cNvSpPr>
              <a:spLocks noChangeArrowheads="1"/>
            </p:cNvSpPr>
            <p:nvPr/>
          </p:nvSpPr>
          <p:spPr bwMode="auto">
            <a:xfrm>
              <a:off x="412750" y="4640263"/>
              <a:ext cx="1728788" cy="263525"/>
            </a:xfrm>
            <a:prstGeom prst="rect">
              <a:avLst/>
            </a:prstGeom>
            <a:solidFill>
              <a:schemeClr val="accent5"/>
            </a:solidFill>
            <a:ln w="12700" cap="sq">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Product Family A</a:t>
              </a:r>
            </a:p>
          </p:txBody>
        </p:sp>
        <p:sp>
          <p:nvSpPr>
            <p:cNvPr id="88" name="Rectangle 54">
              <a:extLst>
                <a:ext uri="{FF2B5EF4-FFF2-40B4-BE49-F238E27FC236}">
                  <a16:creationId xmlns:a16="http://schemas.microsoft.com/office/drawing/2014/main" id="{60B6DDD8-7144-BB9B-8FD8-DAA52586BB5B}"/>
                </a:ext>
              </a:extLst>
            </p:cNvPr>
            <p:cNvSpPr>
              <a:spLocks noChangeArrowheads="1"/>
            </p:cNvSpPr>
            <p:nvPr/>
          </p:nvSpPr>
          <p:spPr bwMode="auto">
            <a:xfrm>
              <a:off x="2308225" y="4645025"/>
              <a:ext cx="1728788" cy="263525"/>
            </a:xfrm>
            <a:prstGeom prst="rect">
              <a:avLst/>
            </a:prstGeom>
            <a:solidFill>
              <a:schemeClr val="bg1"/>
            </a:solidFill>
            <a:ln w="12700" cap="sq">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Product Family B</a:t>
              </a:r>
            </a:p>
          </p:txBody>
        </p:sp>
        <p:sp>
          <p:nvSpPr>
            <p:cNvPr id="89" name="Rectangle 55">
              <a:extLst>
                <a:ext uri="{FF2B5EF4-FFF2-40B4-BE49-F238E27FC236}">
                  <a16:creationId xmlns:a16="http://schemas.microsoft.com/office/drawing/2014/main" id="{3FCC2A48-2E66-6D39-6300-BC27CBE31259}"/>
                </a:ext>
              </a:extLst>
            </p:cNvPr>
            <p:cNvSpPr>
              <a:spLocks noChangeArrowheads="1"/>
            </p:cNvSpPr>
            <p:nvPr/>
          </p:nvSpPr>
          <p:spPr bwMode="auto">
            <a:xfrm>
              <a:off x="2308225" y="5010150"/>
              <a:ext cx="1728788" cy="263525"/>
            </a:xfrm>
            <a:prstGeom prst="rect">
              <a:avLst/>
            </a:prstGeom>
            <a:solidFill>
              <a:schemeClr val="bg2"/>
            </a:solidFill>
            <a:ln w="12700" cap="sq">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Product Family C</a:t>
              </a:r>
            </a:p>
          </p:txBody>
        </p:sp>
        <p:sp>
          <p:nvSpPr>
            <p:cNvPr id="90" name="Rectangle 56">
              <a:extLst>
                <a:ext uri="{FF2B5EF4-FFF2-40B4-BE49-F238E27FC236}">
                  <a16:creationId xmlns:a16="http://schemas.microsoft.com/office/drawing/2014/main" id="{6371AFDF-3E3B-BE88-95EC-CAB7B53E502B}"/>
                </a:ext>
              </a:extLst>
            </p:cNvPr>
            <p:cNvSpPr>
              <a:spLocks noChangeArrowheads="1"/>
            </p:cNvSpPr>
            <p:nvPr/>
          </p:nvSpPr>
          <p:spPr bwMode="auto">
            <a:xfrm>
              <a:off x="2308225" y="5364163"/>
              <a:ext cx="1728788" cy="263525"/>
            </a:xfrm>
            <a:prstGeom prst="rect">
              <a:avLst/>
            </a:prstGeom>
            <a:solidFill>
              <a:schemeClr val="tx2"/>
            </a:solidFill>
            <a:ln w="12700" cap="sq">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Product Family C</a:t>
              </a:r>
            </a:p>
          </p:txBody>
        </p:sp>
        <p:sp>
          <p:nvSpPr>
            <p:cNvPr id="91" name="Rectangle 57">
              <a:extLst>
                <a:ext uri="{FF2B5EF4-FFF2-40B4-BE49-F238E27FC236}">
                  <a16:creationId xmlns:a16="http://schemas.microsoft.com/office/drawing/2014/main" id="{BE69C895-3969-DCAA-08E9-5F070B72CFCC}"/>
                </a:ext>
              </a:extLst>
            </p:cNvPr>
            <p:cNvSpPr>
              <a:spLocks noChangeArrowheads="1"/>
            </p:cNvSpPr>
            <p:nvPr/>
          </p:nvSpPr>
          <p:spPr bwMode="auto">
            <a:xfrm>
              <a:off x="4216400" y="4645025"/>
              <a:ext cx="1728788" cy="263525"/>
            </a:xfrm>
            <a:prstGeom prst="rect">
              <a:avLst/>
            </a:prstGeom>
            <a:solidFill>
              <a:schemeClr val="bg1"/>
            </a:solidFill>
            <a:ln w="12700" cap="sq">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Product Family B</a:t>
              </a:r>
            </a:p>
          </p:txBody>
        </p:sp>
        <p:sp>
          <p:nvSpPr>
            <p:cNvPr id="92" name="Rectangle 58">
              <a:extLst>
                <a:ext uri="{FF2B5EF4-FFF2-40B4-BE49-F238E27FC236}">
                  <a16:creationId xmlns:a16="http://schemas.microsoft.com/office/drawing/2014/main" id="{AAF776AF-FF83-8186-768B-2C1E4CA8F154}"/>
                </a:ext>
              </a:extLst>
            </p:cNvPr>
            <p:cNvSpPr>
              <a:spLocks noChangeArrowheads="1"/>
            </p:cNvSpPr>
            <p:nvPr/>
          </p:nvSpPr>
          <p:spPr bwMode="auto">
            <a:xfrm>
              <a:off x="4216400" y="5010150"/>
              <a:ext cx="1728788" cy="263525"/>
            </a:xfrm>
            <a:prstGeom prst="rect">
              <a:avLst/>
            </a:prstGeom>
            <a:solidFill>
              <a:schemeClr val="accent3"/>
            </a:solidFill>
            <a:ln w="12700" cap="sq">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Product Family E</a:t>
              </a:r>
            </a:p>
          </p:txBody>
        </p:sp>
        <p:sp>
          <p:nvSpPr>
            <p:cNvPr id="93" name="Rectangle 59">
              <a:extLst>
                <a:ext uri="{FF2B5EF4-FFF2-40B4-BE49-F238E27FC236}">
                  <a16:creationId xmlns:a16="http://schemas.microsoft.com/office/drawing/2014/main" id="{13016C12-B7A0-F1CF-ACE6-E7B73775D65F}"/>
                </a:ext>
              </a:extLst>
            </p:cNvPr>
            <p:cNvSpPr>
              <a:spLocks noChangeArrowheads="1"/>
            </p:cNvSpPr>
            <p:nvPr/>
          </p:nvSpPr>
          <p:spPr bwMode="auto">
            <a:xfrm>
              <a:off x="4216400" y="5367338"/>
              <a:ext cx="1728788" cy="263525"/>
            </a:xfrm>
            <a:prstGeom prst="rect">
              <a:avLst/>
            </a:prstGeom>
            <a:solidFill>
              <a:schemeClr val="accent4"/>
            </a:solidFill>
            <a:ln w="12700" cap="sq">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3d Party Outsourced </a:t>
              </a:r>
            </a:p>
          </p:txBody>
        </p:sp>
        <p:sp>
          <p:nvSpPr>
            <p:cNvPr id="94" name="Rectangle 60">
              <a:extLst>
                <a:ext uri="{FF2B5EF4-FFF2-40B4-BE49-F238E27FC236}">
                  <a16:creationId xmlns:a16="http://schemas.microsoft.com/office/drawing/2014/main" id="{99BC6281-7BB2-1BC8-6D19-63D1D5F13FFF}"/>
                </a:ext>
              </a:extLst>
            </p:cNvPr>
            <p:cNvSpPr>
              <a:spLocks noChangeArrowheads="1"/>
            </p:cNvSpPr>
            <p:nvPr/>
          </p:nvSpPr>
          <p:spPr bwMode="auto">
            <a:xfrm>
              <a:off x="6143625" y="2466975"/>
              <a:ext cx="2830513" cy="298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100" dirty="0">
                  <a:latin typeface="+mn-lt"/>
                </a:rPr>
                <a:t>Cell one is dedicated; it exists solely to support product family A</a:t>
              </a:r>
            </a:p>
            <a:p>
              <a:pPr>
                <a:spcBef>
                  <a:spcPct val="55000"/>
                </a:spcBef>
                <a:buClrTx/>
                <a:buSzPct val="90000"/>
                <a:buFont typeface="Arial" panose="020B0604020202020204" pitchFamily="34" charset="0"/>
                <a:buChar char="•"/>
              </a:pPr>
              <a:r>
                <a:rPr lang="en-US" altLang="en-US" sz="1100" dirty="0">
                  <a:latin typeface="+mn-lt"/>
                </a:rPr>
                <a:t>Cells 2 &amp; 3, however, exists to support production of multiple products and families</a:t>
              </a:r>
            </a:p>
            <a:p>
              <a:pPr>
                <a:spcBef>
                  <a:spcPct val="55000"/>
                </a:spcBef>
                <a:buClrTx/>
                <a:buSzPct val="90000"/>
                <a:buFont typeface="Arial" panose="020B0604020202020204" pitchFamily="34" charset="0"/>
                <a:buChar char="•"/>
              </a:pPr>
              <a:r>
                <a:rPr lang="en-US" altLang="en-US" sz="1100" dirty="0">
                  <a:latin typeface="+mn-lt"/>
                </a:rPr>
                <a:t>Each asset within cells 2 &amp; 3 represent a production resource that can be utilized in multiple ways</a:t>
              </a:r>
            </a:p>
            <a:p>
              <a:pPr>
                <a:spcBef>
                  <a:spcPct val="55000"/>
                </a:spcBef>
                <a:buClrTx/>
                <a:buSzPct val="90000"/>
                <a:buFont typeface="Arial" panose="020B0604020202020204" pitchFamily="34" charset="0"/>
                <a:buChar char="•"/>
              </a:pPr>
              <a:r>
                <a:rPr lang="en-US" altLang="en-US" sz="1100" dirty="0">
                  <a:latin typeface="+mn-lt"/>
                </a:rPr>
                <a:t>Supply team members must, for cells 2 &amp; 3, determine the </a:t>
              </a:r>
              <a:r>
                <a:rPr lang="ja-JP" altLang="en-US" sz="1100" dirty="0">
                  <a:latin typeface="+mn-lt"/>
                </a:rPr>
                <a:t>“</a:t>
              </a:r>
              <a:r>
                <a:rPr lang="en-US" altLang="ja-JP" sz="1100" dirty="0">
                  <a:latin typeface="+mn-lt"/>
                </a:rPr>
                <a:t>most effective</a:t>
              </a:r>
              <a:r>
                <a:rPr lang="ja-JP" altLang="en-US" sz="1100" dirty="0">
                  <a:latin typeface="+mn-lt"/>
                </a:rPr>
                <a:t>”</a:t>
              </a:r>
              <a:r>
                <a:rPr lang="en-US" altLang="ja-JP" sz="1100" dirty="0">
                  <a:latin typeface="+mn-lt"/>
                </a:rPr>
                <a:t> use of the available assets to support the demand plan</a:t>
              </a:r>
            </a:p>
            <a:p>
              <a:pPr>
                <a:spcBef>
                  <a:spcPct val="55000"/>
                </a:spcBef>
                <a:buClrTx/>
                <a:buSzPct val="90000"/>
                <a:buFont typeface="Arial" panose="020B0604020202020204" pitchFamily="34" charset="0"/>
                <a:buChar char="•"/>
              </a:pPr>
              <a:r>
                <a:rPr lang="en-US" altLang="en-US" sz="1100" dirty="0">
                  <a:latin typeface="+mn-lt"/>
                </a:rPr>
                <a:t>If the team selects the wrong mix, a potential result would be inadequate resources to support the demand plan</a:t>
              </a:r>
              <a:endParaRPr lang="en-US" altLang="en-US" sz="1100" b="0" dirty="0">
                <a:latin typeface="+mn-lt"/>
              </a:endParaRPr>
            </a:p>
          </p:txBody>
        </p:sp>
        <p:sp>
          <p:nvSpPr>
            <p:cNvPr id="95" name="Line 61">
              <a:extLst>
                <a:ext uri="{FF2B5EF4-FFF2-40B4-BE49-F238E27FC236}">
                  <a16:creationId xmlns:a16="http://schemas.microsoft.com/office/drawing/2014/main" id="{17E30133-4996-7BD2-610B-EB4BA35CBAB9}"/>
                </a:ext>
              </a:extLst>
            </p:cNvPr>
            <p:cNvSpPr>
              <a:spLocks noChangeShapeType="1"/>
            </p:cNvSpPr>
            <p:nvPr/>
          </p:nvSpPr>
          <p:spPr bwMode="auto">
            <a:xfrm>
              <a:off x="6065838" y="2554288"/>
              <a:ext cx="0" cy="3427412"/>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6" name="Line 62">
              <a:extLst>
                <a:ext uri="{FF2B5EF4-FFF2-40B4-BE49-F238E27FC236}">
                  <a16:creationId xmlns:a16="http://schemas.microsoft.com/office/drawing/2014/main" id="{CC3A341C-DA36-C84A-AA7A-D2E88A8741E1}"/>
                </a:ext>
              </a:extLst>
            </p:cNvPr>
            <p:cNvSpPr>
              <a:spLocks noChangeShapeType="1"/>
            </p:cNvSpPr>
            <p:nvPr/>
          </p:nvSpPr>
          <p:spPr bwMode="auto">
            <a:xfrm>
              <a:off x="6434138" y="5626100"/>
              <a:ext cx="2509837"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7" name="Rectangle 63">
              <a:extLst>
                <a:ext uri="{FF2B5EF4-FFF2-40B4-BE49-F238E27FC236}">
                  <a16:creationId xmlns:a16="http://schemas.microsoft.com/office/drawing/2014/main" id="{E4A1C184-9D0E-11BE-156C-B5DDA600C45D}"/>
                </a:ext>
              </a:extLst>
            </p:cNvPr>
            <p:cNvSpPr>
              <a:spLocks noChangeArrowheads="1"/>
            </p:cNvSpPr>
            <p:nvPr/>
          </p:nvSpPr>
          <p:spPr bwMode="auto">
            <a:xfrm>
              <a:off x="6434138" y="5697538"/>
              <a:ext cx="2520950" cy="290512"/>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Rough-Cut Capacity Plan Needed</a:t>
              </a:r>
            </a:p>
          </p:txBody>
        </p:sp>
        <p:sp>
          <p:nvSpPr>
            <p:cNvPr id="98" name="Oval 64">
              <a:extLst>
                <a:ext uri="{FF2B5EF4-FFF2-40B4-BE49-F238E27FC236}">
                  <a16:creationId xmlns:a16="http://schemas.microsoft.com/office/drawing/2014/main" id="{C8245978-B3EC-C28D-9743-C8D924FA45F0}"/>
                </a:ext>
              </a:extLst>
            </p:cNvPr>
            <p:cNvSpPr>
              <a:spLocks noChangeArrowheads="1"/>
            </p:cNvSpPr>
            <p:nvPr/>
          </p:nvSpPr>
          <p:spPr bwMode="auto">
            <a:xfrm>
              <a:off x="1025525" y="5753100"/>
              <a:ext cx="4271963" cy="234950"/>
            </a:xfrm>
            <a:prstGeom prst="ellipse">
              <a:avLst/>
            </a:prstGeom>
            <a:solidFill>
              <a:schemeClr val="accent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latin typeface="+mn-lt"/>
                </a:rPr>
                <a:t>Next-Month Demand Plan</a:t>
              </a:r>
            </a:p>
          </p:txBody>
        </p:sp>
      </p:grpSp>
      <p:grpSp>
        <p:nvGrpSpPr>
          <p:cNvPr id="4" name="Group 51">
            <a:extLst>
              <a:ext uri="{FF2B5EF4-FFF2-40B4-BE49-F238E27FC236}">
                <a16:creationId xmlns:a16="http://schemas.microsoft.com/office/drawing/2014/main" id="{05425200-66B2-9DE7-AED2-E6568BFF9970}"/>
              </a:ext>
            </a:extLst>
          </p:cNvPr>
          <p:cNvGrpSpPr>
            <a:grpSpLocks/>
          </p:cNvGrpSpPr>
          <p:nvPr/>
        </p:nvGrpSpPr>
        <p:grpSpPr bwMode="auto">
          <a:xfrm>
            <a:off x="8420088" y="5628516"/>
            <a:ext cx="2933712" cy="650333"/>
            <a:chOff x="676" y="3874"/>
            <a:chExt cx="1500" cy="392"/>
          </a:xfrm>
        </p:grpSpPr>
        <p:sp>
          <p:nvSpPr>
            <p:cNvPr id="11" name="Line 35">
              <a:extLst>
                <a:ext uri="{FF2B5EF4-FFF2-40B4-BE49-F238E27FC236}">
                  <a16:creationId xmlns:a16="http://schemas.microsoft.com/office/drawing/2014/main" id="{6BB055AF-24B9-C492-B104-AB947FCD08E9}"/>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6">
              <a:extLst>
                <a:ext uri="{FF2B5EF4-FFF2-40B4-BE49-F238E27FC236}">
                  <a16:creationId xmlns:a16="http://schemas.microsoft.com/office/drawing/2014/main" id="{E2BD91AE-6B5B-41FA-CAE5-F29C26C6C2F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37">
              <a:extLst>
                <a:ext uri="{FF2B5EF4-FFF2-40B4-BE49-F238E27FC236}">
                  <a16:creationId xmlns:a16="http://schemas.microsoft.com/office/drawing/2014/main" id="{46A07DB6-B3E1-49CC-C10D-F356449E8D82}"/>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38">
              <a:extLst>
                <a:ext uri="{FF2B5EF4-FFF2-40B4-BE49-F238E27FC236}">
                  <a16:creationId xmlns:a16="http://schemas.microsoft.com/office/drawing/2014/main" id="{682DDBC3-FACE-7300-D961-C282B2B6F567}"/>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8" name="Rectangle 39">
              <a:extLst>
                <a:ext uri="{FF2B5EF4-FFF2-40B4-BE49-F238E27FC236}">
                  <a16:creationId xmlns:a16="http://schemas.microsoft.com/office/drawing/2014/main" id="{E426F116-FC76-BCD0-FAF2-EA1B22D89BF8}"/>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9" name="Rectangle 40">
              <a:extLst>
                <a:ext uri="{FF2B5EF4-FFF2-40B4-BE49-F238E27FC236}">
                  <a16:creationId xmlns:a16="http://schemas.microsoft.com/office/drawing/2014/main" id="{9DACFCF6-EAE5-A7B1-E3C3-E807E61997BD}"/>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20" name="Rectangle 41">
              <a:extLst>
                <a:ext uri="{FF2B5EF4-FFF2-40B4-BE49-F238E27FC236}">
                  <a16:creationId xmlns:a16="http://schemas.microsoft.com/office/drawing/2014/main" id="{CD86F270-BA6F-72AE-CAFB-A406E5CCAA92}"/>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21" name="AutoShape 42">
              <a:extLst>
                <a:ext uri="{FF2B5EF4-FFF2-40B4-BE49-F238E27FC236}">
                  <a16:creationId xmlns:a16="http://schemas.microsoft.com/office/drawing/2014/main" id="{ABF45FAE-2CC9-1B85-A1A2-C30607CE541D}"/>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2" name="Rectangle 43">
              <a:extLst>
                <a:ext uri="{FF2B5EF4-FFF2-40B4-BE49-F238E27FC236}">
                  <a16:creationId xmlns:a16="http://schemas.microsoft.com/office/drawing/2014/main" id="{24CAC32F-79A3-5136-82C3-7B37F989CE59}"/>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3" name="Rectangle 44">
              <a:extLst>
                <a:ext uri="{FF2B5EF4-FFF2-40B4-BE49-F238E27FC236}">
                  <a16:creationId xmlns:a16="http://schemas.microsoft.com/office/drawing/2014/main" id="{69A08628-A29A-FD60-1CC0-7EB92266B4C8}"/>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4" name="Rectangle 45">
              <a:extLst>
                <a:ext uri="{FF2B5EF4-FFF2-40B4-BE49-F238E27FC236}">
                  <a16:creationId xmlns:a16="http://schemas.microsoft.com/office/drawing/2014/main" id="{73BA8E66-2A2C-6364-42D4-C03BBFE2793C}"/>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5" name="Rectangle 46">
              <a:extLst>
                <a:ext uri="{FF2B5EF4-FFF2-40B4-BE49-F238E27FC236}">
                  <a16:creationId xmlns:a16="http://schemas.microsoft.com/office/drawing/2014/main" id="{D21491A6-388E-1B68-1832-66F3CBA37EC4}"/>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6" name="Rectangle 47">
              <a:extLst>
                <a:ext uri="{FF2B5EF4-FFF2-40B4-BE49-F238E27FC236}">
                  <a16:creationId xmlns:a16="http://schemas.microsoft.com/office/drawing/2014/main" id="{F2BAD631-8157-1342-B4B3-9253FB02ABF7}"/>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152729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Beginning The Rough-Cut Capacity Plan:  “Know Your Resources”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When faced with rough-cut capacity planning, the S&amp;OP pilot team must first identify which resources are dedicated (“aligned”) which are not (“non-aligned”) and construct the basic bill of resources to ensure focus on all available capacity.</a:t>
            </a:r>
          </a:p>
        </p:txBody>
      </p:sp>
      <p:grpSp>
        <p:nvGrpSpPr>
          <p:cNvPr id="52" name="Group 51">
            <a:extLst>
              <a:ext uri="{FF2B5EF4-FFF2-40B4-BE49-F238E27FC236}">
                <a16:creationId xmlns:a16="http://schemas.microsoft.com/office/drawing/2014/main" id="{CB8A8AD9-D1E8-BB73-4CD4-D23CFA285630}"/>
              </a:ext>
            </a:extLst>
          </p:cNvPr>
          <p:cNvGrpSpPr/>
          <p:nvPr/>
        </p:nvGrpSpPr>
        <p:grpSpPr>
          <a:xfrm>
            <a:off x="380468" y="1804529"/>
            <a:ext cx="8921563" cy="3656041"/>
            <a:chOff x="525463" y="2406650"/>
            <a:chExt cx="8374062" cy="3656041"/>
          </a:xfrm>
        </p:grpSpPr>
        <p:sp>
          <p:nvSpPr>
            <p:cNvPr id="4" name="Oval 4">
              <a:extLst>
                <a:ext uri="{FF2B5EF4-FFF2-40B4-BE49-F238E27FC236}">
                  <a16:creationId xmlns:a16="http://schemas.microsoft.com/office/drawing/2014/main" id="{BB4D8FC5-4ECE-4DF6-DEC7-E91B811C85B7}"/>
                </a:ext>
              </a:extLst>
            </p:cNvPr>
            <p:cNvSpPr>
              <a:spLocks noChangeArrowheads="1"/>
            </p:cNvSpPr>
            <p:nvPr/>
          </p:nvSpPr>
          <p:spPr bwMode="auto">
            <a:xfrm>
              <a:off x="906463" y="2733675"/>
              <a:ext cx="4627562" cy="292100"/>
            </a:xfrm>
            <a:prstGeom prst="ellipse">
              <a:avLst/>
            </a:prstGeom>
            <a:solidFill>
              <a:schemeClr val="accent3"/>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Forecasting and Demand Management</a:t>
              </a:r>
            </a:p>
          </p:txBody>
        </p:sp>
        <p:sp>
          <p:nvSpPr>
            <p:cNvPr id="11" name="Oval 5">
              <a:extLst>
                <a:ext uri="{FF2B5EF4-FFF2-40B4-BE49-F238E27FC236}">
                  <a16:creationId xmlns:a16="http://schemas.microsoft.com/office/drawing/2014/main" id="{5069F862-BB6B-65DD-B125-BD0E39044163}"/>
                </a:ext>
              </a:extLst>
            </p:cNvPr>
            <p:cNvSpPr>
              <a:spLocks noChangeArrowheads="1"/>
            </p:cNvSpPr>
            <p:nvPr/>
          </p:nvSpPr>
          <p:spPr bwMode="auto">
            <a:xfrm>
              <a:off x="917575" y="4487863"/>
              <a:ext cx="3368675" cy="292100"/>
            </a:xfrm>
            <a:prstGeom prst="ellipse">
              <a:avLst/>
            </a:prstGeom>
            <a:solidFill>
              <a:schemeClr val="accent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Rough-Cut Capacity Planning</a:t>
              </a:r>
            </a:p>
          </p:txBody>
        </p:sp>
        <p:sp>
          <p:nvSpPr>
            <p:cNvPr id="12" name="Rectangle 8">
              <a:extLst>
                <a:ext uri="{FF2B5EF4-FFF2-40B4-BE49-F238E27FC236}">
                  <a16:creationId xmlns:a16="http://schemas.microsoft.com/office/drawing/2014/main" id="{61750229-C6ED-BAA1-EE50-962FE5A9B71A}"/>
                </a:ext>
              </a:extLst>
            </p:cNvPr>
            <p:cNvSpPr>
              <a:spLocks noChangeArrowheads="1"/>
            </p:cNvSpPr>
            <p:nvPr/>
          </p:nvSpPr>
          <p:spPr bwMode="auto">
            <a:xfrm>
              <a:off x="652463" y="3324225"/>
              <a:ext cx="1035050" cy="90805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Sales &amp;</a:t>
              </a:r>
            </a:p>
            <a:p>
              <a:pPr algn="ctr">
                <a:lnSpc>
                  <a:spcPct val="80000"/>
                </a:lnSpc>
                <a:buClrTx/>
                <a:buSzTx/>
                <a:buFontTx/>
                <a:buNone/>
              </a:pPr>
              <a:r>
                <a:rPr lang="en-US" altLang="en-US" sz="1100">
                  <a:solidFill>
                    <a:schemeClr val="bg1"/>
                  </a:solidFill>
                  <a:latin typeface="+mn-lt"/>
                </a:rPr>
                <a:t>Operations</a:t>
              </a:r>
            </a:p>
            <a:p>
              <a:pPr algn="ctr">
                <a:lnSpc>
                  <a:spcPct val="80000"/>
                </a:lnSpc>
                <a:buClrTx/>
                <a:buSzTx/>
                <a:buFontTx/>
                <a:buNone/>
              </a:pPr>
              <a:r>
                <a:rPr lang="en-US" altLang="en-US" sz="1100">
                  <a:solidFill>
                    <a:schemeClr val="bg1"/>
                  </a:solidFill>
                  <a:latin typeface="+mn-lt"/>
                </a:rPr>
                <a:t>Planning</a:t>
              </a:r>
            </a:p>
          </p:txBody>
        </p:sp>
        <p:cxnSp>
          <p:nvCxnSpPr>
            <p:cNvPr id="13" name="AutoShape 11">
              <a:extLst>
                <a:ext uri="{FF2B5EF4-FFF2-40B4-BE49-F238E27FC236}">
                  <a16:creationId xmlns:a16="http://schemas.microsoft.com/office/drawing/2014/main" id="{1EF73D9B-9FC3-10BD-DD2E-CC5071E873B0}"/>
                </a:ext>
              </a:extLst>
            </p:cNvPr>
            <p:cNvCxnSpPr>
              <a:cxnSpLocks noChangeShapeType="1"/>
              <a:stCxn id="11" idx="0"/>
              <a:endCxn id="24" idx="2"/>
            </p:cNvCxnSpPr>
            <p:nvPr/>
          </p:nvCxnSpPr>
          <p:spPr bwMode="auto">
            <a:xfrm rot="5400000" flipH="1">
              <a:off x="2275682" y="4161631"/>
              <a:ext cx="255588" cy="396875"/>
            </a:xfrm>
            <a:prstGeom prst="bentConnector3">
              <a:avLst>
                <a:gd name="adj1" fmla="val 49722"/>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4" name="AutoShape 12">
              <a:extLst>
                <a:ext uri="{FF2B5EF4-FFF2-40B4-BE49-F238E27FC236}">
                  <a16:creationId xmlns:a16="http://schemas.microsoft.com/office/drawing/2014/main" id="{28C4FAA9-FFB4-1F35-9D0B-EE3C65EB7D01}"/>
                </a:ext>
              </a:extLst>
            </p:cNvPr>
            <p:cNvCxnSpPr>
              <a:cxnSpLocks noChangeShapeType="1"/>
              <a:stCxn id="11" idx="0"/>
              <a:endCxn id="25" idx="2"/>
            </p:cNvCxnSpPr>
            <p:nvPr/>
          </p:nvCxnSpPr>
          <p:spPr bwMode="auto">
            <a:xfrm rot="16200000">
              <a:off x="2978944" y="3855244"/>
              <a:ext cx="255588" cy="1009650"/>
            </a:xfrm>
            <a:prstGeom prst="bentConnector3">
              <a:avLst>
                <a:gd name="adj1" fmla="val 4969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8" name="AutoShape 13">
              <a:extLst>
                <a:ext uri="{FF2B5EF4-FFF2-40B4-BE49-F238E27FC236}">
                  <a16:creationId xmlns:a16="http://schemas.microsoft.com/office/drawing/2014/main" id="{A78E873B-F2A1-4A00-D253-BA15A2A101AF}"/>
                </a:ext>
              </a:extLst>
            </p:cNvPr>
            <p:cNvCxnSpPr>
              <a:cxnSpLocks noChangeShapeType="1"/>
              <a:stCxn id="4" idx="4"/>
              <a:endCxn id="23" idx="0"/>
            </p:cNvCxnSpPr>
            <p:nvPr/>
          </p:nvCxnSpPr>
          <p:spPr bwMode="auto">
            <a:xfrm rot="5400000">
              <a:off x="2563813" y="2667000"/>
              <a:ext cx="298450" cy="1016000"/>
            </a:xfrm>
            <a:prstGeom prst="bentConnector3">
              <a:avLst>
                <a:gd name="adj1" fmla="val 5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9" name="AutoShape 15">
              <a:extLst>
                <a:ext uri="{FF2B5EF4-FFF2-40B4-BE49-F238E27FC236}">
                  <a16:creationId xmlns:a16="http://schemas.microsoft.com/office/drawing/2014/main" id="{C417268F-8336-81F1-E2B1-357BC269F533}"/>
                </a:ext>
              </a:extLst>
            </p:cNvPr>
            <p:cNvCxnSpPr>
              <a:cxnSpLocks noChangeShapeType="1"/>
              <a:stCxn id="4" idx="4"/>
              <a:endCxn id="26" idx="0"/>
            </p:cNvCxnSpPr>
            <p:nvPr/>
          </p:nvCxnSpPr>
          <p:spPr bwMode="auto">
            <a:xfrm rot="16200000" flipH="1">
              <a:off x="4016375" y="2230438"/>
              <a:ext cx="301625" cy="1892300"/>
            </a:xfrm>
            <a:prstGeom prst="bentConnector3">
              <a:avLst>
                <a:gd name="adj1" fmla="val 5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20" name="AutoShape 16">
              <a:extLst>
                <a:ext uri="{FF2B5EF4-FFF2-40B4-BE49-F238E27FC236}">
                  <a16:creationId xmlns:a16="http://schemas.microsoft.com/office/drawing/2014/main" id="{C7FC2552-CD3B-CEFD-7137-3098BB911460}"/>
                </a:ext>
              </a:extLst>
            </p:cNvPr>
            <p:cNvCxnSpPr>
              <a:cxnSpLocks noChangeShapeType="1"/>
              <a:stCxn id="4" idx="4"/>
              <a:endCxn id="25" idx="0"/>
            </p:cNvCxnSpPr>
            <p:nvPr/>
          </p:nvCxnSpPr>
          <p:spPr bwMode="auto">
            <a:xfrm rot="16200000" flipH="1">
              <a:off x="3265488" y="2981325"/>
              <a:ext cx="301625" cy="390525"/>
            </a:xfrm>
            <a:prstGeom prst="bentConnector3">
              <a:avLst>
                <a:gd name="adj1" fmla="val 5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21" name="Rectangle 18">
              <a:extLst>
                <a:ext uri="{FF2B5EF4-FFF2-40B4-BE49-F238E27FC236}">
                  <a16:creationId xmlns:a16="http://schemas.microsoft.com/office/drawing/2014/main" id="{73A41040-16C9-FE99-B60F-C8443537BC38}"/>
                </a:ext>
              </a:extLst>
            </p:cNvPr>
            <p:cNvSpPr>
              <a:spLocks noChangeArrowheads="1"/>
            </p:cNvSpPr>
            <p:nvPr/>
          </p:nvSpPr>
          <p:spPr bwMode="auto">
            <a:xfrm>
              <a:off x="525463" y="2533650"/>
              <a:ext cx="5308600" cy="231933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2" name="Text Box 19">
              <a:extLst>
                <a:ext uri="{FF2B5EF4-FFF2-40B4-BE49-F238E27FC236}">
                  <a16:creationId xmlns:a16="http://schemas.microsoft.com/office/drawing/2014/main" id="{5AB5DB97-13A4-7AE4-EFC4-3FFAF5CF7074}"/>
                </a:ext>
              </a:extLst>
            </p:cNvPr>
            <p:cNvSpPr txBox="1">
              <a:spLocks noChangeArrowheads="1"/>
            </p:cNvSpPr>
            <p:nvPr/>
          </p:nvSpPr>
          <p:spPr bwMode="auto">
            <a:xfrm>
              <a:off x="819613" y="2406650"/>
              <a:ext cx="1677062"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Resource Planning</a:t>
              </a:r>
            </a:p>
          </p:txBody>
        </p:sp>
        <p:sp>
          <p:nvSpPr>
            <p:cNvPr id="23" name="Rectangle 6">
              <a:extLst>
                <a:ext uri="{FF2B5EF4-FFF2-40B4-BE49-F238E27FC236}">
                  <a16:creationId xmlns:a16="http://schemas.microsoft.com/office/drawing/2014/main" id="{35AB9FCB-E6D0-DC8D-46E5-DADBE79CB4D3}"/>
                </a:ext>
              </a:extLst>
            </p:cNvPr>
            <p:cNvSpPr>
              <a:spLocks noChangeArrowheads="1"/>
            </p:cNvSpPr>
            <p:nvPr/>
          </p:nvSpPr>
          <p:spPr bwMode="auto">
            <a:xfrm>
              <a:off x="1687513" y="3324225"/>
              <a:ext cx="1035050" cy="4540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Sales</a:t>
              </a:r>
            </a:p>
            <a:p>
              <a:pPr algn="ctr">
                <a:lnSpc>
                  <a:spcPct val="80000"/>
                </a:lnSpc>
                <a:buClrTx/>
                <a:buSzTx/>
                <a:buFontTx/>
                <a:buNone/>
              </a:pPr>
              <a:r>
                <a:rPr lang="en-US" altLang="en-US" sz="1100">
                  <a:solidFill>
                    <a:schemeClr val="bg1"/>
                  </a:solidFill>
                  <a:latin typeface="+mn-lt"/>
                </a:rPr>
                <a:t>Plan</a:t>
              </a:r>
            </a:p>
          </p:txBody>
        </p:sp>
        <p:sp>
          <p:nvSpPr>
            <p:cNvPr id="24" name="Rectangle 7">
              <a:extLst>
                <a:ext uri="{FF2B5EF4-FFF2-40B4-BE49-F238E27FC236}">
                  <a16:creationId xmlns:a16="http://schemas.microsoft.com/office/drawing/2014/main" id="{DA000ADD-3B30-F652-BD45-84AA0867D323}"/>
                </a:ext>
              </a:extLst>
            </p:cNvPr>
            <p:cNvSpPr>
              <a:spLocks noChangeArrowheads="1"/>
            </p:cNvSpPr>
            <p:nvPr/>
          </p:nvSpPr>
          <p:spPr bwMode="auto">
            <a:xfrm>
              <a:off x="1687513" y="3778250"/>
              <a:ext cx="1035050" cy="454025"/>
            </a:xfrm>
            <a:prstGeom prst="rect">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Operations</a:t>
              </a:r>
            </a:p>
            <a:p>
              <a:pPr algn="ctr">
                <a:lnSpc>
                  <a:spcPct val="80000"/>
                </a:lnSpc>
                <a:buClrTx/>
                <a:buSzTx/>
                <a:buFontTx/>
                <a:buNone/>
              </a:pPr>
              <a:r>
                <a:rPr lang="en-US" altLang="en-US" sz="1100" dirty="0">
                  <a:solidFill>
                    <a:schemeClr val="bg1"/>
                  </a:solidFill>
                  <a:latin typeface="+mn-lt"/>
                </a:rPr>
                <a:t>Plan</a:t>
              </a:r>
            </a:p>
          </p:txBody>
        </p:sp>
        <p:sp>
          <p:nvSpPr>
            <p:cNvPr id="25" name="Rectangle 9">
              <a:extLst>
                <a:ext uri="{FF2B5EF4-FFF2-40B4-BE49-F238E27FC236}">
                  <a16:creationId xmlns:a16="http://schemas.microsoft.com/office/drawing/2014/main" id="{B53F02D9-11C3-95C2-94EE-21E583EB0383}"/>
                </a:ext>
              </a:extLst>
            </p:cNvPr>
            <p:cNvSpPr>
              <a:spLocks noChangeArrowheads="1"/>
            </p:cNvSpPr>
            <p:nvPr/>
          </p:nvSpPr>
          <p:spPr bwMode="auto">
            <a:xfrm>
              <a:off x="3003550" y="3327400"/>
              <a:ext cx="1214438" cy="904875"/>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Master</a:t>
              </a:r>
            </a:p>
            <a:p>
              <a:pPr algn="ctr">
                <a:lnSpc>
                  <a:spcPct val="80000"/>
                </a:lnSpc>
                <a:buClrTx/>
                <a:buSzTx/>
                <a:buFontTx/>
                <a:buNone/>
              </a:pPr>
              <a:r>
                <a:rPr lang="en-US" altLang="en-US" sz="1100" dirty="0">
                  <a:solidFill>
                    <a:schemeClr val="bg1"/>
                  </a:solidFill>
                  <a:latin typeface="+mn-lt"/>
                </a:rPr>
                <a:t>Scheduling</a:t>
              </a:r>
            </a:p>
          </p:txBody>
        </p:sp>
        <p:sp>
          <p:nvSpPr>
            <p:cNvPr id="26" name="Rectangle 10">
              <a:extLst>
                <a:ext uri="{FF2B5EF4-FFF2-40B4-BE49-F238E27FC236}">
                  <a16:creationId xmlns:a16="http://schemas.microsoft.com/office/drawing/2014/main" id="{734DF5B7-53D1-1EB5-F969-92D37D3DF34B}"/>
                </a:ext>
              </a:extLst>
            </p:cNvPr>
            <p:cNvSpPr>
              <a:spLocks noChangeArrowheads="1"/>
            </p:cNvSpPr>
            <p:nvPr/>
          </p:nvSpPr>
          <p:spPr bwMode="auto">
            <a:xfrm>
              <a:off x="4505325" y="3327400"/>
              <a:ext cx="1214438" cy="9048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SKU Planning</a:t>
              </a:r>
            </a:p>
            <a:p>
              <a:pPr algn="ctr">
                <a:lnSpc>
                  <a:spcPct val="80000"/>
                </a:lnSpc>
                <a:buClrTx/>
                <a:buSzTx/>
                <a:buFontTx/>
                <a:buNone/>
              </a:pPr>
              <a:endParaRPr lang="en-US" altLang="en-US" sz="1100" dirty="0">
                <a:solidFill>
                  <a:schemeClr val="bg1"/>
                </a:solidFill>
                <a:latin typeface="+mn-lt"/>
              </a:endParaRPr>
            </a:p>
            <a:p>
              <a:pPr algn="ctr">
                <a:lnSpc>
                  <a:spcPct val="80000"/>
                </a:lnSpc>
                <a:buClrTx/>
                <a:buSzTx/>
                <a:buFontTx/>
                <a:buNone/>
              </a:pPr>
              <a:r>
                <a:rPr lang="en-US" altLang="en-US" sz="1100" dirty="0">
                  <a:solidFill>
                    <a:schemeClr val="bg1"/>
                  </a:solidFill>
                  <a:latin typeface="+mn-lt"/>
                </a:rPr>
                <a:t>MRP</a:t>
              </a:r>
            </a:p>
            <a:p>
              <a:pPr algn="ctr">
                <a:lnSpc>
                  <a:spcPct val="80000"/>
                </a:lnSpc>
                <a:buClrTx/>
                <a:buSzTx/>
                <a:buFontTx/>
                <a:buNone/>
              </a:pPr>
              <a:r>
                <a:rPr lang="en-US" altLang="en-US" sz="1100" dirty="0">
                  <a:solidFill>
                    <a:schemeClr val="bg1"/>
                  </a:solidFill>
                  <a:latin typeface="+mn-lt"/>
                </a:rPr>
                <a:t>Supplier</a:t>
              </a:r>
            </a:p>
            <a:p>
              <a:pPr algn="ctr">
                <a:lnSpc>
                  <a:spcPct val="80000"/>
                </a:lnSpc>
                <a:buClrTx/>
                <a:buSzTx/>
                <a:buFontTx/>
                <a:buNone/>
              </a:pPr>
              <a:r>
                <a:rPr lang="en-US" altLang="en-US" sz="1100" dirty="0">
                  <a:solidFill>
                    <a:schemeClr val="bg1"/>
                  </a:solidFill>
                  <a:latin typeface="+mn-lt"/>
                </a:rPr>
                <a:t>Planning</a:t>
              </a:r>
            </a:p>
          </p:txBody>
        </p:sp>
        <p:cxnSp>
          <p:nvCxnSpPr>
            <p:cNvPr id="27" name="AutoShape 24">
              <a:extLst>
                <a:ext uri="{FF2B5EF4-FFF2-40B4-BE49-F238E27FC236}">
                  <a16:creationId xmlns:a16="http://schemas.microsoft.com/office/drawing/2014/main" id="{86DC1346-4063-288E-CEBE-6A1AD6B8BC61}"/>
                </a:ext>
              </a:extLst>
            </p:cNvPr>
            <p:cNvCxnSpPr>
              <a:cxnSpLocks noChangeShapeType="1"/>
              <a:stCxn id="23" idx="3"/>
              <a:endCxn id="25" idx="1"/>
            </p:cNvCxnSpPr>
            <p:nvPr/>
          </p:nvCxnSpPr>
          <p:spPr bwMode="auto">
            <a:xfrm>
              <a:off x="2722563" y="3551238"/>
              <a:ext cx="280987" cy="228600"/>
            </a:xfrm>
            <a:prstGeom prst="bentConnector3">
              <a:avLst>
                <a:gd name="adj1" fmla="val 4971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2" name="AutoShape 25">
              <a:extLst>
                <a:ext uri="{FF2B5EF4-FFF2-40B4-BE49-F238E27FC236}">
                  <a16:creationId xmlns:a16="http://schemas.microsoft.com/office/drawing/2014/main" id="{94EA63F5-DAAB-4E4D-0126-3F8175223170}"/>
                </a:ext>
              </a:extLst>
            </p:cNvPr>
            <p:cNvCxnSpPr>
              <a:cxnSpLocks noChangeShapeType="1"/>
              <a:stCxn id="24" idx="3"/>
              <a:endCxn id="25" idx="1"/>
            </p:cNvCxnSpPr>
            <p:nvPr/>
          </p:nvCxnSpPr>
          <p:spPr bwMode="auto">
            <a:xfrm flipV="1">
              <a:off x="2722563" y="3779838"/>
              <a:ext cx="280987" cy="225425"/>
            </a:xfrm>
            <a:prstGeom prst="bentConnector3">
              <a:avLst>
                <a:gd name="adj1" fmla="val 49718"/>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3" name="AutoShape 26">
              <a:extLst>
                <a:ext uri="{FF2B5EF4-FFF2-40B4-BE49-F238E27FC236}">
                  <a16:creationId xmlns:a16="http://schemas.microsoft.com/office/drawing/2014/main" id="{791F4819-4528-7270-82B8-E452A6B34DF5}"/>
                </a:ext>
              </a:extLst>
            </p:cNvPr>
            <p:cNvCxnSpPr>
              <a:cxnSpLocks noChangeShapeType="1"/>
              <a:stCxn id="25" idx="3"/>
              <a:endCxn id="26" idx="1"/>
            </p:cNvCxnSpPr>
            <p:nvPr/>
          </p:nvCxnSpPr>
          <p:spPr bwMode="auto">
            <a:xfrm>
              <a:off x="4217988" y="3779838"/>
              <a:ext cx="287337"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4" name="AutoShape 27">
              <a:extLst>
                <a:ext uri="{FF2B5EF4-FFF2-40B4-BE49-F238E27FC236}">
                  <a16:creationId xmlns:a16="http://schemas.microsoft.com/office/drawing/2014/main" id="{304CC237-DB78-09AD-C95C-0EA9BD463219}"/>
                </a:ext>
              </a:extLst>
            </p:cNvPr>
            <p:cNvSpPr>
              <a:spLocks/>
            </p:cNvSpPr>
            <p:nvPr/>
          </p:nvSpPr>
          <p:spPr bwMode="auto">
            <a:xfrm rot="5400000">
              <a:off x="3017044" y="2553494"/>
              <a:ext cx="314325" cy="5294313"/>
            </a:xfrm>
            <a:prstGeom prst="rightBrace">
              <a:avLst>
                <a:gd name="adj1" fmla="val 140362"/>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5" name="Rectangle 28">
              <a:extLst>
                <a:ext uri="{FF2B5EF4-FFF2-40B4-BE49-F238E27FC236}">
                  <a16:creationId xmlns:a16="http://schemas.microsoft.com/office/drawing/2014/main" id="{1EE5EFFC-AB57-B3A3-D249-020DFB413A79}"/>
                </a:ext>
              </a:extLst>
            </p:cNvPr>
            <p:cNvSpPr>
              <a:spLocks noChangeArrowheads="1"/>
            </p:cNvSpPr>
            <p:nvPr/>
          </p:nvSpPr>
          <p:spPr bwMode="auto">
            <a:xfrm>
              <a:off x="915988" y="5483225"/>
              <a:ext cx="1014412" cy="3778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Identify</a:t>
              </a:r>
            </a:p>
            <a:p>
              <a:pPr algn="ctr">
                <a:lnSpc>
                  <a:spcPct val="80000"/>
                </a:lnSpc>
                <a:buClrTx/>
                <a:buSzTx/>
                <a:buFontTx/>
                <a:buNone/>
              </a:pPr>
              <a:r>
                <a:rPr lang="en-US" altLang="en-US" sz="1000">
                  <a:solidFill>
                    <a:schemeClr val="bg1"/>
                  </a:solidFill>
                  <a:latin typeface="+mn-lt"/>
                </a:rPr>
                <a:t>Alignment</a:t>
              </a:r>
            </a:p>
          </p:txBody>
        </p:sp>
        <p:sp>
          <p:nvSpPr>
            <p:cNvPr id="46" name="Rectangle 29">
              <a:extLst>
                <a:ext uri="{FF2B5EF4-FFF2-40B4-BE49-F238E27FC236}">
                  <a16:creationId xmlns:a16="http://schemas.microsoft.com/office/drawing/2014/main" id="{616C4B84-C30F-D907-1C88-CA1FF5D6F167}"/>
                </a:ext>
              </a:extLst>
            </p:cNvPr>
            <p:cNvSpPr>
              <a:spLocks noChangeArrowheads="1"/>
            </p:cNvSpPr>
            <p:nvPr/>
          </p:nvSpPr>
          <p:spPr bwMode="auto">
            <a:xfrm>
              <a:off x="2095500" y="5483225"/>
              <a:ext cx="1014413" cy="3778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Confirm</a:t>
              </a:r>
            </a:p>
            <a:p>
              <a:pPr algn="ctr">
                <a:lnSpc>
                  <a:spcPct val="80000"/>
                </a:lnSpc>
                <a:buClrTx/>
                <a:buSzTx/>
                <a:buFontTx/>
                <a:buNone/>
              </a:pPr>
              <a:r>
                <a:rPr lang="en-US" altLang="en-US" sz="1000">
                  <a:solidFill>
                    <a:schemeClr val="bg1"/>
                  </a:solidFill>
                  <a:latin typeface="+mn-lt"/>
                </a:rPr>
                <a:t>Non-Alignment</a:t>
              </a:r>
            </a:p>
          </p:txBody>
        </p:sp>
        <p:sp>
          <p:nvSpPr>
            <p:cNvPr id="47" name="Rectangle 30">
              <a:extLst>
                <a:ext uri="{FF2B5EF4-FFF2-40B4-BE49-F238E27FC236}">
                  <a16:creationId xmlns:a16="http://schemas.microsoft.com/office/drawing/2014/main" id="{40C4A01C-7B57-84A3-E055-0CEBA75EC449}"/>
                </a:ext>
              </a:extLst>
            </p:cNvPr>
            <p:cNvSpPr>
              <a:spLocks noChangeArrowheads="1"/>
            </p:cNvSpPr>
            <p:nvPr/>
          </p:nvSpPr>
          <p:spPr bwMode="auto">
            <a:xfrm>
              <a:off x="3251200" y="5483225"/>
              <a:ext cx="1014413" cy="3778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Build</a:t>
              </a:r>
            </a:p>
            <a:p>
              <a:pPr algn="ctr">
                <a:lnSpc>
                  <a:spcPct val="80000"/>
                </a:lnSpc>
                <a:buClrTx/>
                <a:buSzTx/>
                <a:buFontTx/>
                <a:buNone/>
              </a:pPr>
              <a:r>
                <a:rPr lang="en-US" altLang="en-US" sz="1000">
                  <a:solidFill>
                    <a:schemeClr val="bg1"/>
                  </a:solidFill>
                  <a:latin typeface="+mn-lt"/>
                </a:rPr>
                <a:t>Resource Bills</a:t>
              </a:r>
            </a:p>
          </p:txBody>
        </p:sp>
        <p:sp>
          <p:nvSpPr>
            <p:cNvPr id="48" name="Rectangle 31">
              <a:extLst>
                <a:ext uri="{FF2B5EF4-FFF2-40B4-BE49-F238E27FC236}">
                  <a16:creationId xmlns:a16="http://schemas.microsoft.com/office/drawing/2014/main" id="{DF3AC39F-C347-3847-775B-091925875DFC}"/>
                </a:ext>
              </a:extLst>
            </p:cNvPr>
            <p:cNvSpPr>
              <a:spLocks noChangeArrowheads="1"/>
            </p:cNvSpPr>
            <p:nvPr/>
          </p:nvSpPr>
          <p:spPr bwMode="auto">
            <a:xfrm>
              <a:off x="4422775" y="5483225"/>
              <a:ext cx="1014413" cy="3778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Build Basic</a:t>
              </a:r>
            </a:p>
            <a:p>
              <a:pPr algn="ctr">
                <a:lnSpc>
                  <a:spcPct val="80000"/>
                </a:lnSpc>
                <a:buClrTx/>
                <a:buSzTx/>
                <a:buFontTx/>
                <a:buNone/>
              </a:pPr>
              <a:r>
                <a:rPr lang="en-US" altLang="en-US" sz="1000">
                  <a:solidFill>
                    <a:schemeClr val="bg1"/>
                  </a:solidFill>
                  <a:latin typeface="+mn-lt"/>
                </a:rPr>
                <a:t>Plan</a:t>
              </a:r>
            </a:p>
          </p:txBody>
        </p:sp>
        <p:sp>
          <p:nvSpPr>
            <p:cNvPr id="49" name="Rectangle 35">
              <a:extLst>
                <a:ext uri="{FF2B5EF4-FFF2-40B4-BE49-F238E27FC236}">
                  <a16:creationId xmlns:a16="http://schemas.microsoft.com/office/drawing/2014/main" id="{5C3166EA-133F-EBE2-5CA7-FA518D4AC656}"/>
                </a:ext>
              </a:extLst>
            </p:cNvPr>
            <p:cNvSpPr>
              <a:spLocks noChangeArrowheads="1"/>
            </p:cNvSpPr>
            <p:nvPr/>
          </p:nvSpPr>
          <p:spPr bwMode="auto">
            <a:xfrm>
              <a:off x="6065838" y="2441575"/>
              <a:ext cx="2719387" cy="2909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55000"/>
                </a:spcBef>
                <a:buClrTx/>
                <a:buSzPct val="90000"/>
                <a:buFont typeface="Arial" panose="020B0604020202020204" pitchFamily="34" charset="0"/>
                <a:buChar char="•"/>
              </a:pPr>
              <a:r>
                <a:rPr lang="en-US" altLang="en-US" sz="1100" dirty="0">
                  <a:latin typeface="+mn-lt"/>
                </a:rPr>
                <a:t>Confirm which resources are truly dedicated and those supporting multiple products/families</a:t>
              </a:r>
            </a:p>
            <a:p>
              <a:pPr>
                <a:spcBef>
                  <a:spcPct val="55000"/>
                </a:spcBef>
                <a:buClrTx/>
                <a:buSzPct val="90000"/>
                <a:buFont typeface="Arial" panose="020B0604020202020204" pitchFamily="34" charset="0"/>
                <a:buChar char="•"/>
              </a:pPr>
              <a:r>
                <a:rPr lang="en-US" altLang="en-US" sz="1100" dirty="0">
                  <a:latin typeface="+mn-lt"/>
                </a:rPr>
                <a:t>Match non-aligned physical assets to human assets required for operation</a:t>
              </a:r>
            </a:p>
            <a:p>
              <a:pPr>
                <a:spcBef>
                  <a:spcPct val="55000"/>
                </a:spcBef>
                <a:buClrTx/>
                <a:buSzPct val="90000"/>
                <a:buFont typeface="Arial" panose="020B0604020202020204" pitchFamily="34" charset="0"/>
                <a:buChar char="•"/>
              </a:pPr>
              <a:r>
                <a:rPr lang="en-US" altLang="en-US" sz="1100" dirty="0">
                  <a:latin typeface="+mn-lt"/>
                </a:rPr>
                <a:t>Document time available for each of the non-aligned human and physical assets</a:t>
              </a:r>
            </a:p>
            <a:p>
              <a:pPr>
                <a:spcBef>
                  <a:spcPct val="55000"/>
                </a:spcBef>
                <a:buClrTx/>
                <a:buSzPct val="90000"/>
                <a:buFont typeface="Arial" panose="020B0604020202020204" pitchFamily="34" charset="0"/>
                <a:buChar char="•"/>
              </a:pPr>
              <a:r>
                <a:rPr lang="en-US" altLang="en-US" sz="1100" dirty="0">
                  <a:latin typeface="+mn-lt"/>
                </a:rPr>
                <a:t>Construct </a:t>
              </a:r>
              <a:r>
                <a:rPr lang="ja-JP" altLang="en-US" sz="1100" dirty="0">
                  <a:latin typeface="+mn-lt"/>
                </a:rPr>
                <a:t>“</a:t>
              </a:r>
              <a:r>
                <a:rPr lang="en-US" altLang="ja-JP" sz="1100" dirty="0">
                  <a:latin typeface="+mn-lt"/>
                </a:rPr>
                <a:t>bills of resources</a:t>
              </a:r>
              <a:r>
                <a:rPr lang="ja-JP" altLang="en-US" sz="1100" dirty="0">
                  <a:latin typeface="+mn-lt"/>
                </a:rPr>
                <a:t>”</a:t>
              </a:r>
              <a:r>
                <a:rPr lang="en-US" altLang="ja-JP" sz="1100" dirty="0">
                  <a:latin typeface="+mn-lt"/>
                </a:rPr>
                <a:t> depicting available assets and time required for specific volume levels</a:t>
              </a:r>
            </a:p>
            <a:p>
              <a:pPr>
                <a:spcBef>
                  <a:spcPct val="55000"/>
                </a:spcBef>
                <a:buClrTx/>
                <a:buSzPct val="90000"/>
                <a:buFont typeface="Arial" panose="020B0604020202020204" pitchFamily="34" charset="0"/>
                <a:buChar char="•"/>
              </a:pPr>
              <a:r>
                <a:rPr lang="en-US" altLang="en-US" sz="1100" dirty="0">
                  <a:latin typeface="+mn-lt"/>
                </a:rPr>
                <a:t>Once the bills of resources are created, supply can be determined</a:t>
              </a:r>
            </a:p>
            <a:p>
              <a:pPr>
                <a:spcBef>
                  <a:spcPct val="55000"/>
                </a:spcBef>
                <a:buClrTx/>
                <a:buSzPct val="90000"/>
                <a:buFont typeface="Arial" panose="020B0604020202020204" pitchFamily="34" charset="0"/>
                <a:buChar char="•"/>
              </a:pPr>
              <a:r>
                <a:rPr lang="en-US" altLang="en-US" sz="1100" dirty="0">
                  <a:latin typeface="+mn-lt"/>
                </a:rPr>
                <a:t>With supply confirmed, master production scheduling it then enabled</a:t>
              </a:r>
              <a:endParaRPr lang="en-US" altLang="en-US" sz="1100" b="0" dirty="0">
                <a:latin typeface="+mn-lt"/>
              </a:endParaRPr>
            </a:p>
          </p:txBody>
        </p:sp>
        <p:sp>
          <p:nvSpPr>
            <p:cNvPr id="50" name="Line 39">
              <a:extLst>
                <a:ext uri="{FF2B5EF4-FFF2-40B4-BE49-F238E27FC236}">
                  <a16:creationId xmlns:a16="http://schemas.microsoft.com/office/drawing/2014/main" id="{2711E9EF-D1AD-FB4A-7F7B-BFC22D90B863}"/>
                </a:ext>
              </a:extLst>
            </p:cNvPr>
            <p:cNvSpPr>
              <a:spLocks noChangeShapeType="1"/>
            </p:cNvSpPr>
            <p:nvPr/>
          </p:nvSpPr>
          <p:spPr bwMode="auto">
            <a:xfrm>
              <a:off x="6389687" y="5636807"/>
              <a:ext cx="2509838"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Rectangle 40">
              <a:extLst>
                <a:ext uri="{FF2B5EF4-FFF2-40B4-BE49-F238E27FC236}">
                  <a16:creationId xmlns:a16="http://schemas.microsoft.com/office/drawing/2014/main" id="{D0C11ADE-0030-EF8B-8D52-269767B49294}"/>
                </a:ext>
              </a:extLst>
            </p:cNvPr>
            <p:cNvSpPr>
              <a:spLocks noChangeArrowheads="1"/>
            </p:cNvSpPr>
            <p:nvPr/>
          </p:nvSpPr>
          <p:spPr bwMode="auto">
            <a:xfrm>
              <a:off x="6378575" y="5772179"/>
              <a:ext cx="2520950" cy="290512"/>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Move To Create BOR</a:t>
              </a:r>
              <a:r>
                <a:rPr lang="ja-JP" altLang="en-US" sz="1200">
                  <a:solidFill>
                    <a:schemeClr val="bg1"/>
                  </a:solidFill>
                  <a:latin typeface="+mn-lt"/>
                </a:rPr>
                <a:t>’</a:t>
              </a:r>
              <a:r>
                <a:rPr lang="en-US" altLang="ja-JP" sz="1200">
                  <a:solidFill>
                    <a:schemeClr val="bg1"/>
                  </a:solidFill>
                  <a:latin typeface="+mn-lt"/>
                </a:rPr>
                <a:t>s</a:t>
              </a:r>
              <a:endParaRPr lang="en-US" altLang="en-US" sz="1200">
                <a:solidFill>
                  <a:schemeClr val="bg1"/>
                </a:solidFill>
                <a:latin typeface="+mn-lt"/>
              </a:endParaRPr>
            </a:p>
          </p:txBody>
        </p:sp>
      </p:grpSp>
      <p:grpSp>
        <p:nvGrpSpPr>
          <p:cNvPr id="5" name="Group 51">
            <a:extLst>
              <a:ext uri="{FF2B5EF4-FFF2-40B4-BE49-F238E27FC236}">
                <a16:creationId xmlns:a16="http://schemas.microsoft.com/office/drawing/2014/main" id="{E556868B-DD0A-3180-3625-4CCF0BF7032A}"/>
              </a:ext>
            </a:extLst>
          </p:cNvPr>
          <p:cNvGrpSpPr>
            <a:grpSpLocks/>
          </p:cNvGrpSpPr>
          <p:nvPr/>
        </p:nvGrpSpPr>
        <p:grpSpPr bwMode="auto">
          <a:xfrm>
            <a:off x="8420088" y="5628516"/>
            <a:ext cx="2933712" cy="650333"/>
            <a:chOff x="676" y="3874"/>
            <a:chExt cx="1500" cy="392"/>
          </a:xfrm>
        </p:grpSpPr>
        <p:sp>
          <p:nvSpPr>
            <p:cNvPr id="6" name="Line 35">
              <a:extLst>
                <a:ext uri="{FF2B5EF4-FFF2-40B4-BE49-F238E27FC236}">
                  <a16:creationId xmlns:a16="http://schemas.microsoft.com/office/drawing/2014/main" id="{220ABFF9-AA13-8877-3E34-267FAF01BAD1}"/>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6">
              <a:extLst>
                <a:ext uri="{FF2B5EF4-FFF2-40B4-BE49-F238E27FC236}">
                  <a16:creationId xmlns:a16="http://schemas.microsoft.com/office/drawing/2014/main" id="{B96085B4-907B-D5D2-B0F6-47054D73A64F}"/>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37">
              <a:extLst>
                <a:ext uri="{FF2B5EF4-FFF2-40B4-BE49-F238E27FC236}">
                  <a16:creationId xmlns:a16="http://schemas.microsoft.com/office/drawing/2014/main" id="{10669471-7D6B-1475-B569-55B716913D5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Rectangle 38">
              <a:extLst>
                <a:ext uri="{FF2B5EF4-FFF2-40B4-BE49-F238E27FC236}">
                  <a16:creationId xmlns:a16="http://schemas.microsoft.com/office/drawing/2014/main" id="{B627F76E-61BE-C24A-108D-A18BFB2FD129}"/>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0" name="Rectangle 39">
              <a:extLst>
                <a:ext uri="{FF2B5EF4-FFF2-40B4-BE49-F238E27FC236}">
                  <a16:creationId xmlns:a16="http://schemas.microsoft.com/office/drawing/2014/main" id="{7FA3C8EC-5630-FCBF-19F7-DF4D4D1E8841}"/>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5" name="Rectangle 40">
              <a:extLst>
                <a:ext uri="{FF2B5EF4-FFF2-40B4-BE49-F238E27FC236}">
                  <a16:creationId xmlns:a16="http://schemas.microsoft.com/office/drawing/2014/main" id="{33D4CD7A-5942-302D-B65D-435BC0ACE042}"/>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6" name="Rectangle 41">
              <a:extLst>
                <a:ext uri="{FF2B5EF4-FFF2-40B4-BE49-F238E27FC236}">
                  <a16:creationId xmlns:a16="http://schemas.microsoft.com/office/drawing/2014/main" id="{5A65D5E1-712D-4898-8198-E3241DFECA58}"/>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7" name="AutoShape 42">
              <a:extLst>
                <a:ext uri="{FF2B5EF4-FFF2-40B4-BE49-F238E27FC236}">
                  <a16:creationId xmlns:a16="http://schemas.microsoft.com/office/drawing/2014/main" id="{77553E3B-6BB1-1F94-D2CA-345DC1E0C304}"/>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53" name="Rectangle 43">
              <a:extLst>
                <a:ext uri="{FF2B5EF4-FFF2-40B4-BE49-F238E27FC236}">
                  <a16:creationId xmlns:a16="http://schemas.microsoft.com/office/drawing/2014/main" id="{85995D35-47BB-7461-A082-5B50FBB4E9B8}"/>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54" name="Rectangle 44">
              <a:extLst>
                <a:ext uri="{FF2B5EF4-FFF2-40B4-BE49-F238E27FC236}">
                  <a16:creationId xmlns:a16="http://schemas.microsoft.com/office/drawing/2014/main" id="{98759F32-77C5-B289-4FDF-230A5F64B66F}"/>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55" name="Rectangle 45">
              <a:extLst>
                <a:ext uri="{FF2B5EF4-FFF2-40B4-BE49-F238E27FC236}">
                  <a16:creationId xmlns:a16="http://schemas.microsoft.com/office/drawing/2014/main" id="{6A3C70B5-D48A-4BFC-3F40-5ABD0857465E}"/>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56" name="Rectangle 46">
              <a:extLst>
                <a:ext uri="{FF2B5EF4-FFF2-40B4-BE49-F238E27FC236}">
                  <a16:creationId xmlns:a16="http://schemas.microsoft.com/office/drawing/2014/main" id="{45F9A173-4D0B-3AF7-0C11-6559C6A2D90B}"/>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57" name="Rectangle 47">
              <a:extLst>
                <a:ext uri="{FF2B5EF4-FFF2-40B4-BE49-F238E27FC236}">
                  <a16:creationId xmlns:a16="http://schemas.microsoft.com/office/drawing/2014/main" id="{408445D3-09AC-DF7F-C198-27FA6AF00982}"/>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1495402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Bill Of Materials:  </a:t>
            </a:r>
            <a:br>
              <a:rPr lang="en-US" dirty="0"/>
            </a:br>
            <a:r>
              <a:rPr lang="en-US" sz="3600" dirty="0"/>
              <a:t>Linking Non-Aligned Resources To Product Families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Once non-aligned resources are known and understood, the pilot S&amp;OP team must then construct a basic “bill of materials” that logically links a given product family to the non-aligned resources required to build products for that specific family.</a:t>
            </a:r>
          </a:p>
        </p:txBody>
      </p:sp>
      <p:grpSp>
        <p:nvGrpSpPr>
          <p:cNvPr id="76" name="Group 75">
            <a:extLst>
              <a:ext uri="{FF2B5EF4-FFF2-40B4-BE49-F238E27FC236}">
                <a16:creationId xmlns:a16="http://schemas.microsoft.com/office/drawing/2014/main" id="{01BE2E41-188B-313B-6C31-C50FB9005303}"/>
              </a:ext>
            </a:extLst>
          </p:cNvPr>
          <p:cNvGrpSpPr/>
          <p:nvPr/>
        </p:nvGrpSpPr>
        <p:grpSpPr>
          <a:xfrm>
            <a:off x="275898" y="1795704"/>
            <a:ext cx="8682038" cy="4044938"/>
            <a:chOff x="276225" y="2333625"/>
            <a:chExt cx="8682038" cy="4204453"/>
          </a:xfrm>
        </p:grpSpPr>
        <p:sp>
          <p:nvSpPr>
            <p:cNvPr id="5" name="Rectangle 8">
              <a:extLst>
                <a:ext uri="{FF2B5EF4-FFF2-40B4-BE49-F238E27FC236}">
                  <a16:creationId xmlns:a16="http://schemas.microsoft.com/office/drawing/2014/main" id="{6234A60F-3D0F-E935-D035-2ED26E4DA747}"/>
                </a:ext>
              </a:extLst>
            </p:cNvPr>
            <p:cNvSpPr>
              <a:spLocks noChangeArrowheads="1"/>
            </p:cNvSpPr>
            <p:nvPr/>
          </p:nvSpPr>
          <p:spPr bwMode="auto">
            <a:xfrm>
              <a:off x="290513" y="2466975"/>
              <a:ext cx="3509962" cy="2239963"/>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6" name="Group 36">
              <a:extLst>
                <a:ext uri="{FF2B5EF4-FFF2-40B4-BE49-F238E27FC236}">
                  <a16:creationId xmlns:a16="http://schemas.microsoft.com/office/drawing/2014/main" id="{F86F4AC5-593F-CD55-745D-E0F60DA084E7}"/>
                </a:ext>
              </a:extLst>
            </p:cNvPr>
            <p:cNvGrpSpPr>
              <a:grpSpLocks/>
            </p:cNvGrpSpPr>
            <p:nvPr/>
          </p:nvGrpSpPr>
          <p:grpSpPr bwMode="auto">
            <a:xfrm>
              <a:off x="752475" y="2794000"/>
              <a:ext cx="2571752" cy="1673225"/>
              <a:chOff x="474" y="1684"/>
              <a:chExt cx="1620" cy="1119"/>
            </a:xfrm>
          </p:grpSpPr>
          <p:cxnSp>
            <p:nvCxnSpPr>
              <p:cNvPr id="7" name="AutoShape 9">
                <a:extLst>
                  <a:ext uri="{FF2B5EF4-FFF2-40B4-BE49-F238E27FC236}">
                    <a16:creationId xmlns:a16="http://schemas.microsoft.com/office/drawing/2014/main" id="{C8876FA3-2CDD-8D0C-6077-0C36AB3C0FBB}"/>
                  </a:ext>
                </a:extLst>
              </p:cNvPr>
              <p:cNvCxnSpPr>
                <a:cxnSpLocks noChangeShapeType="1"/>
              </p:cNvCxnSpPr>
              <p:nvPr/>
            </p:nvCxnSpPr>
            <p:spPr bwMode="auto">
              <a:xfrm rot="5400000" flipH="1" flipV="1">
                <a:off x="906" y="1565"/>
                <a:ext cx="986" cy="1390"/>
              </a:xfrm>
              <a:prstGeom prst="bentConnector4">
                <a:avLst>
                  <a:gd name="adj1" fmla="val -10037"/>
                  <a:gd name="adj2" fmla="val 11509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 name="Rectangle 10">
                <a:extLst>
                  <a:ext uri="{FF2B5EF4-FFF2-40B4-BE49-F238E27FC236}">
                    <a16:creationId xmlns:a16="http://schemas.microsoft.com/office/drawing/2014/main" id="{31DC090E-78C5-EEA8-886F-15F1EAB9DC1F}"/>
                  </a:ext>
                </a:extLst>
              </p:cNvPr>
              <p:cNvSpPr>
                <a:spLocks noChangeArrowheads="1"/>
              </p:cNvSpPr>
              <p:nvPr/>
            </p:nvSpPr>
            <p:spPr bwMode="auto">
              <a:xfrm>
                <a:off x="474" y="1684"/>
                <a:ext cx="463" cy="266"/>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dirty="0">
                    <a:solidFill>
                      <a:schemeClr val="bg1"/>
                    </a:solidFill>
                    <a:latin typeface="+mn-lt"/>
                  </a:rPr>
                  <a:t>Product</a:t>
                </a:r>
              </a:p>
              <a:p>
                <a:pPr algn="ctr">
                  <a:lnSpc>
                    <a:spcPct val="80000"/>
                  </a:lnSpc>
                  <a:spcBef>
                    <a:spcPct val="15000"/>
                  </a:spcBef>
                  <a:buClrTx/>
                  <a:buSzTx/>
                  <a:buFontTx/>
                  <a:buNone/>
                </a:pPr>
                <a:r>
                  <a:rPr lang="en-US" altLang="en-US" sz="900" dirty="0">
                    <a:solidFill>
                      <a:schemeClr val="bg1"/>
                    </a:solidFill>
                    <a:latin typeface="+mn-lt"/>
                  </a:rPr>
                  <a:t>D</a:t>
                </a:r>
              </a:p>
            </p:txBody>
          </p:sp>
          <p:sp>
            <p:nvSpPr>
              <p:cNvPr id="9" name="Rectangle 11">
                <a:extLst>
                  <a:ext uri="{FF2B5EF4-FFF2-40B4-BE49-F238E27FC236}">
                    <a16:creationId xmlns:a16="http://schemas.microsoft.com/office/drawing/2014/main" id="{EED7E123-D794-8893-19CF-419C5AFB0997}"/>
                  </a:ext>
                </a:extLst>
              </p:cNvPr>
              <p:cNvSpPr>
                <a:spLocks noChangeArrowheads="1"/>
              </p:cNvSpPr>
              <p:nvPr/>
            </p:nvSpPr>
            <p:spPr bwMode="auto">
              <a:xfrm>
                <a:off x="1053" y="1684"/>
                <a:ext cx="463" cy="266"/>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a:t>
                </a:r>
              </a:p>
              <a:p>
                <a:pPr algn="ctr">
                  <a:lnSpc>
                    <a:spcPct val="80000"/>
                  </a:lnSpc>
                  <a:spcBef>
                    <a:spcPct val="15000"/>
                  </a:spcBef>
                  <a:buClrTx/>
                  <a:buSzTx/>
                  <a:buFontTx/>
                  <a:buNone/>
                </a:pPr>
                <a:r>
                  <a:rPr lang="en-US" altLang="en-US" sz="900">
                    <a:solidFill>
                      <a:schemeClr val="bg1"/>
                    </a:solidFill>
                    <a:latin typeface="+mn-lt"/>
                  </a:rPr>
                  <a:t>E</a:t>
                </a:r>
              </a:p>
            </p:txBody>
          </p:sp>
          <p:sp>
            <p:nvSpPr>
              <p:cNvPr id="10" name="Rectangle 12">
                <a:extLst>
                  <a:ext uri="{FF2B5EF4-FFF2-40B4-BE49-F238E27FC236}">
                    <a16:creationId xmlns:a16="http://schemas.microsoft.com/office/drawing/2014/main" id="{376BE11E-BBB2-780A-8E7F-2A7A7155CA86}"/>
                  </a:ext>
                </a:extLst>
              </p:cNvPr>
              <p:cNvSpPr>
                <a:spLocks noChangeArrowheads="1"/>
              </p:cNvSpPr>
              <p:nvPr/>
            </p:nvSpPr>
            <p:spPr bwMode="auto">
              <a:xfrm>
                <a:off x="1631" y="1684"/>
                <a:ext cx="463" cy="266"/>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 </a:t>
                </a:r>
              </a:p>
              <a:p>
                <a:pPr algn="ctr">
                  <a:lnSpc>
                    <a:spcPct val="80000"/>
                  </a:lnSpc>
                  <a:spcBef>
                    <a:spcPct val="15000"/>
                  </a:spcBef>
                  <a:buClrTx/>
                  <a:buSzTx/>
                  <a:buFontTx/>
                  <a:buNone/>
                </a:pPr>
                <a:r>
                  <a:rPr lang="en-US" altLang="en-US" sz="900">
                    <a:solidFill>
                      <a:schemeClr val="bg1"/>
                    </a:solidFill>
                    <a:latin typeface="+mn-lt"/>
                  </a:rPr>
                  <a:t>F</a:t>
                </a:r>
              </a:p>
            </p:txBody>
          </p:sp>
          <p:sp>
            <p:nvSpPr>
              <p:cNvPr id="15" name="Rectangle 13">
                <a:extLst>
                  <a:ext uri="{FF2B5EF4-FFF2-40B4-BE49-F238E27FC236}">
                    <a16:creationId xmlns:a16="http://schemas.microsoft.com/office/drawing/2014/main" id="{9B566337-AC20-3798-AFA7-891030E4CB16}"/>
                  </a:ext>
                </a:extLst>
              </p:cNvPr>
              <p:cNvSpPr>
                <a:spLocks noChangeArrowheads="1"/>
              </p:cNvSpPr>
              <p:nvPr/>
            </p:nvSpPr>
            <p:spPr bwMode="auto">
              <a:xfrm>
                <a:off x="499" y="2135"/>
                <a:ext cx="411" cy="28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Production</a:t>
                </a:r>
              </a:p>
              <a:p>
                <a:pPr algn="ctr">
                  <a:lnSpc>
                    <a:spcPct val="80000"/>
                  </a:lnSpc>
                  <a:spcBef>
                    <a:spcPct val="15000"/>
                  </a:spcBef>
                  <a:buClrTx/>
                  <a:buSzTx/>
                  <a:buFontTx/>
                  <a:buNone/>
                </a:pPr>
                <a:r>
                  <a:rPr lang="en-US" altLang="en-US" sz="900">
                    <a:solidFill>
                      <a:schemeClr val="bg1"/>
                    </a:solidFill>
                    <a:latin typeface="+mn-lt"/>
                  </a:rPr>
                  <a:t>Resource</a:t>
                </a:r>
              </a:p>
              <a:p>
                <a:pPr algn="ctr">
                  <a:lnSpc>
                    <a:spcPct val="80000"/>
                  </a:lnSpc>
                  <a:spcBef>
                    <a:spcPct val="15000"/>
                  </a:spcBef>
                  <a:buClrTx/>
                  <a:buSzTx/>
                  <a:buFontTx/>
                  <a:buNone/>
                </a:pPr>
                <a:r>
                  <a:rPr lang="en-US" altLang="en-US" sz="900">
                    <a:solidFill>
                      <a:schemeClr val="bg1"/>
                    </a:solidFill>
                    <a:latin typeface="+mn-lt"/>
                  </a:rPr>
                  <a:t>1</a:t>
                </a:r>
              </a:p>
            </p:txBody>
          </p:sp>
          <p:sp>
            <p:nvSpPr>
              <p:cNvPr id="16" name="Rectangle 14">
                <a:extLst>
                  <a:ext uri="{FF2B5EF4-FFF2-40B4-BE49-F238E27FC236}">
                    <a16:creationId xmlns:a16="http://schemas.microsoft.com/office/drawing/2014/main" id="{A3075641-C79E-AE7F-1FB0-41A834B2919A}"/>
                  </a:ext>
                </a:extLst>
              </p:cNvPr>
              <p:cNvSpPr>
                <a:spLocks noChangeArrowheads="1"/>
              </p:cNvSpPr>
              <p:nvPr/>
            </p:nvSpPr>
            <p:spPr bwMode="auto">
              <a:xfrm>
                <a:off x="1078" y="2135"/>
                <a:ext cx="411" cy="28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Production</a:t>
                </a:r>
              </a:p>
              <a:p>
                <a:pPr algn="ctr">
                  <a:lnSpc>
                    <a:spcPct val="80000"/>
                  </a:lnSpc>
                  <a:spcBef>
                    <a:spcPct val="15000"/>
                  </a:spcBef>
                  <a:buClrTx/>
                  <a:buSzTx/>
                  <a:buFontTx/>
                  <a:buNone/>
                </a:pPr>
                <a:r>
                  <a:rPr lang="en-US" altLang="en-US" sz="900">
                    <a:solidFill>
                      <a:schemeClr val="bg1"/>
                    </a:solidFill>
                    <a:latin typeface="+mn-lt"/>
                  </a:rPr>
                  <a:t>Resource</a:t>
                </a:r>
              </a:p>
              <a:p>
                <a:pPr algn="ctr">
                  <a:lnSpc>
                    <a:spcPct val="80000"/>
                  </a:lnSpc>
                  <a:spcBef>
                    <a:spcPct val="15000"/>
                  </a:spcBef>
                  <a:buClrTx/>
                  <a:buSzTx/>
                  <a:buFontTx/>
                  <a:buNone/>
                </a:pPr>
                <a:r>
                  <a:rPr lang="en-US" altLang="en-US" sz="900">
                    <a:solidFill>
                      <a:schemeClr val="bg1"/>
                    </a:solidFill>
                    <a:latin typeface="+mn-lt"/>
                  </a:rPr>
                  <a:t>2</a:t>
                </a:r>
              </a:p>
            </p:txBody>
          </p:sp>
          <p:sp>
            <p:nvSpPr>
              <p:cNvPr id="17" name="Rectangle 15">
                <a:extLst>
                  <a:ext uri="{FF2B5EF4-FFF2-40B4-BE49-F238E27FC236}">
                    <a16:creationId xmlns:a16="http://schemas.microsoft.com/office/drawing/2014/main" id="{88E49600-2564-B3F1-19FC-548F40253854}"/>
                  </a:ext>
                </a:extLst>
              </p:cNvPr>
              <p:cNvSpPr>
                <a:spLocks noChangeArrowheads="1"/>
              </p:cNvSpPr>
              <p:nvPr/>
            </p:nvSpPr>
            <p:spPr bwMode="auto">
              <a:xfrm>
                <a:off x="1656" y="2135"/>
                <a:ext cx="411" cy="28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Production</a:t>
                </a:r>
              </a:p>
              <a:p>
                <a:pPr algn="ctr">
                  <a:lnSpc>
                    <a:spcPct val="80000"/>
                  </a:lnSpc>
                  <a:spcBef>
                    <a:spcPct val="15000"/>
                  </a:spcBef>
                  <a:buClrTx/>
                  <a:buSzTx/>
                  <a:buFontTx/>
                  <a:buNone/>
                </a:pPr>
                <a:r>
                  <a:rPr lang="en-US" altLang="en-US" sz="900">
                    <a:solidFill>
                      <a:schemeClr val="bg1"/>
                    </a:solidFill>
                    <a:latin typeface="+mn-lt"/>
                  </a:rPr>
                  <a:t>Resource </a:t>
                </a:r>
              </a:p>
              <a:p>
                <a:pPr algn="ctr">
                  <a:lnSpc>
                    <a:spcPct val="80000"/>
                  </a:lnSpc>
                  <a:spcBef>
                    <a:spcPct val="15000"/>
                  </a:spcBef>
                  <a:buClrTx/>
                  <a:buSzTx/>
                  <a:buFontTx/>
                  <a:buNone/>
                </a:pPr>
                <a:r>
                  <a:rPr lang="en-US" altLang="en-US" sz="900">
                    <a:solidFill>
                      <a:schemeClr val="bg1"/>
                    </a:solidFill>
                    <a:latin typeface="+mn-lt"/>
                  </a:rPr>
                  <a:t>3</a:t>
                </a:r>
              </a:p>
            </p:txBody>
          </p:sp>
          <p:sp>
            <p:nvSpPr>
              <p:cNvPr id="53" name="Rectangle 16">
                <a:extLst>
                  <a:ext uri="{FF2B5EF4-FFF2-40B4-BE49-F238E27FC236}">
                    <a16:creationId xmlns:a16="http://schemas.microsoft.com/office/drawing/2014/main" id="{EA9C2036-70F8-812D-7B18-1B3BF8D31FE1}"/>
                  </a:ext>
                </a:extLst>
              </p:cNvPr>
              <p:cNvSpPr>
                <a:spLocks noChangeArrowheads="1"/>
              </p:cNvSpPr>
              <p:nvPr/>
            </p:nvSpPr>
            <p:spPr bwMode="auto">
              <a:xfrm>
                <a:off x="499" y="2522"/>
                <a:ext cx="411" cy="281"/>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Production</a:t>
                </a:r>
              </a:p>
              <a:p>
                <a:pPr algn="ctr">
                  <a:lnSpc>
                    <a:spcPct val="80000"/>
                  </a:lnSpc>
                  <a:spcBef>
                    <a:spcPct val="15000"/>
                  </a:spcBef>
                  <a:buClrTx/>
                  <a:buSzTx/>
                  <a:buFontTx/>
                  <a:buNone/>
                </a:pPr>
                <a:r>
                  <a:rPr lang="en-US" altLang="en-US" sz="900">
                    <a:solidFill>
                      <a:schemeClr val="bg1"/>
                    </a:solidFill>
                    <a:latin typeface="+mn-lt"/>
                  </a:rPr>
                  <a:t>Resource</a:t>
                </a:r>
              </a:p>
              <a:p>
                <a:pPr algn="ctr">
                  <a:lnSpc>
                    <a:spcPct val="80000"/>
                  </a:lnSpc>
                  <a:spcBef>
                    <a:spcPct val="15000"/>
                  </a:spcBef>
                  <a:buClrTx/>
                  <a:buSzTx/>
                  <a:buFontTx/>
                  <a:buNone/>
                </a:pPr>
                <a:r>
                  <a:rPr lang="en-US" altLang="en-US" sz="900">
                    <a:solidFill>
                      <a:schemeClr val="bg1"/>
                    </a:solidFill>
                    <a:latin typeface="+mn-lt"/>
                  </a:rPr>
                  <a:t>4</a:t>
                </a:r>
              </a:p>
            </p:txBody>
          </p:sp>
          <p:sp>
            <p:nvSpPr>
              <p:cNvPr id="54" name="Rectangle 17">
                <a:extLst>
                  <a:ext uri="{FF2B5EF4-FFF2-40B4-BE49-F238E27FC236}">
                    <a16:creationId xmlns:a16="http://schemas.microsoft.com/office/drawing/2014/main" id="{898DC3BD-72B8-F5AD-7D6E-DF96EF565AAA}"/>
                  </a:ext>
                </a:extLst>
              </p:cNvPr>
              <p:cNvSpPr>
                <a:spLocks noChangeArrowheads="1"/>
              </p:cNvSpPr>
              <p:nvPr/>
            </p:nvSpPr>
            <p:spPr bwMode="auto">
              <a:xfrm>
                <a:off x="1078" y="2522"/>
                <a:ext cx="411" cy="281"/>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Production</a:t>
                </a:r>
              </a:p>
              <a:p>
                <a:pPr algn="ctr">
                  <a:lnSpc>
                    <a:spcPct val="80000"/>
                  </a:lnSpc>
                  <a:spcBef>
                    <a:spcPct val="15000"/>
                  </a:spcBef>
                  <a:buClrTx/>
                  <a:buSzTx/>
                  <a:buFontTx/>
                  <a:buNone/>
                </a:pPr>
                <a:r>
                  <a:rPr lang="en-US" altLang="en-US" sz="900">
                    <a:solidFill>
                      <a:schemeClr val="bg1"/>
                    </a:solidFill>
                    <a:latin typeface="+mn-lt"/>
                  </a:rPr>
                  <a:t>Resource</a:t>
                </a:r>
              </a:p>
              <a:p>
                <a:pPr algn="ctr">
                  <a:lnSpc>
                    <a:spcPct val="80000"/>
                  </a:lnSpc>
                  <a:spcBef>
                    <a:spcPct val="15000"/>
                  </a:spcBef>
                  <a:buClrTx/>
                  <a:buSzTx/>
                  <a:buFontTx/>
                  <a:buNone/>
                </a:pPr>
                <a:r>
                  <a:rPr lang="en-US" altLang="en-US" sz="900">
                    <a:solidFill>
                      <a:schemeClr val="bg1"/>
                    </a:solidFill>
                    <a:latin typeface="+mn-lt"/>
                  </a:rPr>
                  <a:t>5</a:t>
                </a:r>
              </a:p>
            </p:txBody>
          </p:sp>
          <p:sp>
            <p:nvSpPr>
              <p:cNvPr id="55" name="Rectangle 18">
                <a:extLst>
                  <a:ext uri="{FF2B5EF4-FFF2-40B4-BE49-F238E27FC236}">
                    <a16:creationId xmlns:a16="http://schemas.microsoft.com/office/drawing/2014/main" id="{E692EA58-9E2F-5A56-5AB7-B56F05C9844F}"/>
                  </a:ext>
                </a:extLst>
              </p:cNvPr>
              <p:cNvSpPr>
                <a:spLocks noChangeArrowheads="1"/>
              </p:cNvSpPr>
              <p:nvPr/>
            </p:nvSpPr>
            <p:spPr bwMode="auto">
              <a:xfrm>
                <a:off x="1656" y="2522"/>
                <a:ext cx="411" cy="281"/>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900">
                    <a:solidFill>
                      <a:schemeClr val="bg1"/>
                    </a:solidFill>
                    <a:latin typeface="+mn-lt"/>
                  </a:rPr>
                  <a:t>Production</a:t>
                </a:r>
              </a:p>
              <a:p>
                <a:pPr algn="ctr">
                  <a:lnSpc>
                    <a:spcPct val="80000"/>
                  </a:lnSpc>
                  <a:spcBef>
                    <a:spcPct val="15000"/>
                  </a:spcBef>
                  <a:buClrTx/>
                  <a:buSzTx/>
                  <a:buFontTx/>
                  <a:buNone/>
                </a:pPr>
                <a:r>
                  <a:rPr lang="en-US" altLang="en-US" sz="900">
                    <a:solidFill>
                      <a:schemeClr val="bg1"/>
                    </a:solidFill>
                    <a:latin typeface="+mn-lt"/>
                  </a:rPr>
                  <a:t>Resource </a:t>
                </a:r>
              </a:p>
              <a:p>
                <a:pPr algn="ctr">
                  <a:lnSpc>
                    <a:spcPct val="80000"/>
                  </a:lnSpc>
                  <a:spcBef>
                    <a:spcPct val="15000"/>
                  </a:spcBef>
                  <a:buClrTx/>
                  <a:buSzTx/>
                  <a:buFontTx/>
                  <a:buNone/>
                </a:pPr>
                <a:r>
                  <a:rPr lang="en-US" altLang="en-US" sz="900">
                    <a:solidFill>
                      <a:schemeClr val="bg1"/>
                    </a:solidFill>
                    <a:latin typeface="+mn-lt"/>
                  </a:rPr>
                  <a:t>6</a:t>
                </a:r>
              </a:p>
            </p:txBody>
          </p:sp>
          <p:cxnSp>
            <p:nvCxnSpPr>
              <p:cNvPr id="56" name="AutoShape 19">
                <a:extLst>
                  <a:ext uri="{FF2B5EF4-FFF2-40B4-BE49-F238E27FC236}">
                    <a16:creationId xmlns:a16="http://schemas.microsoft.com/office/drawing/2014/main" id="{CBB3C321-A3BE-A0A4-7528-A4905DFB651F}"/>
                  </a:ext>
                </a:extLst>
              </p:cNvPr>
              <p:cNvCxnSpPr>
                <a:cxnSpLocks noChangeShapeType="1"/>
                <a:stCxn id="15" idx="0"/>
                <a:endCxn id="8" idx="2"/>
              </p:cNvCxnSpPr>
              <p:nvPr/>
            </p:nvCxnSpPr>
            <p:spPr bwMode="auto">
              <a:xfrm flipV="1">
                <a:off x="704" y="1950"/>
                <a:ext cx="1" cy="18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7" name="AutoShape 20">
                <a:extLst>
                  <a:ext uri="{FF2B5EF4-FFF2-40B4-BE49-F238E27FC236}">
                    <a16:creationId xmlns:a16="http://schemas.microsoft.com/office/drawing/2014/main" id="{AB3236C5-A94C-7791-42B9-A89948F9D937}"/>
                  </a:ext>
                </a:extLst>
              </p:cNvPr>
              <p:cNvCxnSpPr>
                <a:cxnSpLocks noChangeShapeType="1"/>
                <a:stCxn id="15" idx="0"/>
                <a:endCxn id="9" idx="2"/>
              </p:cNvCxnSpPr>
              <p:nvPr/>
            </p:nvCxnSpPr>
            <p:spPr bwMode="auto">
              <a:xfrm rot="16200000">
                <a:off x="905" y="1753"/>
                <a:ext cx="185" cy="580"/>
              </a:xfrm>
              <a:prstGeom prst="bentConnector3">
                <a:avLst>
                  <a:gd name="adj1" fmla="val 4981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8" name="AutoShape 21">
                <a:extLst>
                  <a:ext uri="{FF2B5EF4-FFF2-40B4-BE49-F238E27FC236}">
                    <a16:creationId xmlns:a16="http://schemas.microsoft.com/office/drawing/2014/main" id="{0AB04CEA-641B-2578-5ADE-F0E3A734D79C}"/>
                  </a:ext>
                </a:extLst>
              </p:cNvPr>
              <p:cNvCxnSpPr>
                <a:cxnSpLocks noChangeShapeType="1"/>
                <a:stCxn id="53" idx="3"/>
                <a:endCxn id="9" idx="1"/>
              </p:cNvCxnSpPr>
              <p:nvPr/>
            </p:nvCxnSpPr>
            <p:spPr bwMode="auto">
              <a:xfrm flipV="1">
                <a:off x="910" y="1817"/>
                <a:ext cx="143" cy="846"/>
              </a:xfrm>
              <a:prstGeom prst="bentConnector3">
                <a:avLst>
                  <a:gd name="adj1" fmla="val 4968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9" name="AutoShape 22">
                <a:extLst>
                  <a:ext uri="{FF2B5EF4-FFF2-40B4-BE49-F238E27FC236}">
                    <a16:creationId xmlns:a16="http://schemas.microsoft.com/office/drawing/2014/main" id="{9D2C872D-124B-B6DF-B556-28BAB39F4BD8}"/>
                  </a:ext>
                </a:extLst>
              </p:cNvPr>
              <p:cNvCxnSpPr>
                <a:cxnSpLocks noChangeShapeType="1"/>
                <a:stCxn id="55" idx="3"/>
                <a:endCxn id="10" idx="3"/>
              </p:cNvCxnSpPr>
              <p:nvPr/>
            </p:nvCxnSpPr>
            <p:spPr bwMode="auto">
              <a:xfrm flipV="1">
                <a:off x="2067" y="1817"/>
                <a:ext cx="27" cy="846"/>
              </a:xfrm>
              <a:prstGeom prst="bentConnector3">
                <a:avLst>
                  <a:gd name="adj1" fmla="val 58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0" name="AutoShape 23">
                <a:extLst>
                  <a:ext uri="{FF2B5EF4-FFF2-40B4-BE49-F238E27FC236}">
                    <a16:creationId xmlns:a16="http://schemas.microsoft.com/office/drawing/2014/main" id="{F4BC108A-6AEB-8E9D-ED66-CF91E9932F0E}"/>
                  </a:ext>
                </a:extLst>
              </p:cNvPr>
              <p:cNvCxnSpPr>
                <a:cxnSpLocks noChangeShapeType="1"/>
                <a:stCxn id="54" idx="3"/>
                <a:endCxn id="9" idx="3"/>
              </p:cNvCxnSpPr>
              <p:nvPr/>
            </p:nvCxnSpPr>
            <p:spPr bwMode="auto">
              <a:xfrm flipV="1">
                <a:off x="1489" y="1817"/>
                <a:ext cx="27" cy="846"/>
              </a:xfrm>
              <a:prstGeom prst="bentConnector3">
                <a:avLst>
                  <a:gd name="adj1" fmla="val 34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61" name="AutoShape 24">
                <a:extLst>
                  <a:ext uri="{FF2B5EF4-FFF2-40B4-BE49-F238E27FC236}">
                    <a16:creationId xmlns:a16="http://schemas.microsoft.com/office/drawing/2014/main" id="{D47774DE-4D72-92B1-39B2-FA6B7B87109D}"/>
                  </a:ext>
                </a:extLst>
              </p:cNvPr>
              <p:cNvCxnSpPr>
                <a:cxnSpLocks noChangeShapeType="1"/>
                <a:stCxn id="16" idx="0"/>
                <a:endCxn id="10" idx="2"/>
              </p:cNvCxnSpPr>
              <p:nvPr/>
            </p:nvCxnSpPr>
            <p:spPr bwMode="auto">
              <a:xfrm rot="16200000">
                <a:off x="1481" y="1753"/>
                <a:ext cx="185" cy="579"/>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2" name="AutoShape 25">
                <a:extLst>
                  <a:ext uri="{FF2B5EF4-FFF2-40B4-BE49-F238E27FC236}">
                    <a16:creationId xmlns:a16="http://schemas.microsoft.com/office/drawing/2014/main" id="{962F2C30-608F-A0A8-D84B-F5499A675D71}"/>
                  </a:ext>
                </a:extLst>
              </p:cNvPr>
              <p:cNvCxnSpPr>
                <a:cxnSpLocks noChangeShapeType="1"/>
                <a:stCxn id="17" idx="0"/>
                <a:endCxn id="9" idx="2"/>
              </p:cNvCxnSpPr>
              <p:nvPr/>
            </p:nvCxnSpPr>
            <p:spPr bwMode="auto">
              <a:xfrm rot="5400000" flipH="1">
                <a:off x="1484" y="1754"/>
                <a:ext cx="185" cy="578"/>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3" name="AutoShape 26">
                <a:extLst>
                  <a:ext uri="{FF2B5EF4-FFF2-40B4-BE49-F238E27FC236}">
                    <a16:creationId xmlns:a16="http://schemas.microsoft.com/office/drawing/2014/main" id="{A6ADB939-2FCA-91DA-9424-67F77F3E7941}"/>
                  </a:ext>
                </a:extLst>
              </p:cNvPr>
              <p:cNvCxnSpPr>
                <a:cxnSpLocks noChangeShapeType="1"/>
                <a:stCxn id="15" idx="1"/>
                <a:endCxn id="8" idx="1"/>
              </p:cNvCxnSpPr>
              <p:nvPr/>
            </p:nvCxnSpPr>
            <p:spPr bwMode="auto">
              <a:xfrm rot="10800000">
                <a:off x="474" y="1817"/>
                <a:ext cx="25" cy="461"/>
              </a:xfrm>
              <a:prstGeom prst="bentConnector3">
                <a:avLst>
                  <a:gd name="adj1" fmla="val 61428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4" name="AutoShape 27">
                <a:extLst>
                  <a:ext uri="{FF2B5EF4-FFF2-40B4-BE49-F238E27FC236}">
                    <a16:creationId xmlns:a16="http://schemas.microsoft.com/office/drawing/2014/main" id="{308FF153-6001-8FF4-B249-BAD2EAFBCF30}"/>
                  </a:ext>
                </a:extLst>
              </p:cNvPr>
              <p:cNvCxnSpPr>
                <a:cxnSpLocks noChangeShapeType="1"/>
                <a:stCxn id="54" idx="2"/>
                <a:endCxn id="8" idx="0"/>
              </p:cNvCxnSpPr>
              <p:nvPr/>
            </p:nvCxnSpPr>
            <p:spPr bwMode="auto">
              <a:xfrm rot="16200000" flipV="1">
                <a:off x="435" y="1954"/>
                <a:ext cx="1119" cy="579"/>
              </a:xfrm>
              <a:prstGeom prst="bentConnector5">
                <a:avLst>
                  <a:gd name="adj1" fmla="val -8838"/>
                  <a:gd name="adj2" fmla="val 174921"/>
                  <a:gd name="adj3" fmla="val 10595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
          <p:nvSpPr>
            <p:cNvPr id="65" name="Rectangle 29">
              <a:extLst>
                <a:ext uri="{FF2B5EF4-FFF2-40B4-BE49-F238E27FC236}">
                  <a16:creationId xmlns:a16="http://schemas.microsoft.com/office/drawing/2014/main" id="{F88B492B-C9A3-1C5E-DE20-E72FF6B4D78E}"/>
                </a:ext>
              </a:extLst>
            </p:cNvPr>
            <p:cNvSpPr>
              <a:spLocks noChangeArrowheads="1"/>
            </p:cNvSpPr>
            <p:nvPr/>
          </p:nvSpPr>
          <p:spPr bwMode="auto">
            <a:xfrm>
              <a:off x="4235450" y="2463800"/>
              <a:ext cx="4641850" cy="20383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6" name="Text Box 30">
              <a:extLst>
                <a:ext uri="{FF2B5EF4-FFF2-40B4-BE49-F238E27FC236}">
                  <a16:creationId xmlns:a16="http://schemas.microsoft.com/office/drawing/2014/main" id="{2EB9E145-54E3-E299-9F4F-70C19889B6D5}"/>
                </a:ext>
              </a:extLst>
            </p:cNvPr>
            <p:cNvSpPr txBox="1">
              <a:spLocks noChangeArrowheads="1"/>
            </p:cNvSpPr>
            <p:nvPr/>
          </p:nvSpPr>
          <p:spPr bwMode="auto">
            <a:xfrm>
              <a:off x="4597017" y="2333625"/>
              <a:ext cx="2180404" cy="2769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Bill Of Materials Example</a:t>
              </a:r>
            </a:p>
          </p:txBody>
        </p:sp>
        <p:sp>
          <p:nvSpPr>
            <p:cNvPr id="67" name="Rectangle 32">
              <a:extLst>
                <a:ext uri="{FF2B5EF4-FFF2-40B4-BE49-F238E27FC236}">
                  <a16:creationId xmlns:a16="http://schemas.microsoft.com/office/drawing/2014/main" id="{FFE8E1EC-2913-FF93-B048-B9F159C9B13B}"/>
                </a:ext>
              </a:extLst>
            </p:cNvPr>
            <p:cNvSpPr>
              <a:spLocks noChangeArrowheads="1"/>
            </p:cNvSpPr>
            <p:nvPr/>
          </p:nvSpPr>
          <p:spPr bwMode="auto">
            <a:xfrm>
              <a:off x="4241800" y="4933950"/>
              <a:ext cx="4641850" cy="13176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8" name="AutoShape 33">
              <a:extLst>
                <a:ext uri="{FF2B5EF4-FFF2-40B4-BE49-F238E27FC236}">
                  <a16:creationId xmlns:a16="http://schemas.microsoft.com/office/drawing/2014/main" id="{C561F8E4-E849-3ECF-EFED-3548FB5864F2}"/>
                </a:ext>
              </a:extLst>
            </p:cNvPr>
            <p:cNvSpPr>
              <a:spLocks noChangeArrowheads="1"/>
            </p:cNvSpPr>
            <p:nvPr/>
          </p:nvSpPr>
          <p:spPr bwMode="auto">
            <a:xfrm>
              <a:off x="3914775" y="2586038"/>
              <a:ext cx="220663" cy="1766887"/>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9" name="Oval 34">
              <a:extLst>
                <a:ext uri="{FF2B5EF4-FFF2-40B4-BE49-F238E27FC236}">
                  <a16:creationId xmlns:a16="http://schemas.microsoft.com/office/drawing/2014/main" id="{7BE6DA9E-5123-1580-AC09-197CC77A0F12}"/>
                </a:ext>
              </a:extLst>
            </p:cNvPr>
            <p:cNvSpPr>
              <a:spLocks noChangeArrowheads="1"/>
            </p:cNvSpPr>
            <p:nvPr/>
          </p:nvSpPr>
          <p:spPr bwMode="auto">
            <a:xfrm>
              <a:off x="276225" y="5100638"/>
              <a:ext cx="3784600" cy="577850"/>
            </a:xfrm>
            <a:prstGeom prst="ellipse">
              <a:avLst/>
            </a:prstGeom>
            <a:solidFill>
              <a:schemeClr val="accent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a:solidFill>
                    <a:schemeClr val="bg1"/>
                  </a:solidFill>
                  <a:latin typeface="+mn-lt"/>
                </a:rPr>
                <a:t>Note:  When building a basic bill of </a:t>
              </a:r>
            </a:p>
            <a:p>
              <a:pPr algn="ctr">
                <a:lnSpc>
                  <a:spcPct val="80000"/>
                </a:lnSpc>
                <a:spcBef>
                  <a:spcPct val="15000"/>
                </a:spcBef>
                <a:buClrTx/>
                <a:buSzTx/>
                <a:buFontTx/>
                <a:buNone/>
              </a:pPr>
              <a:r>
                <a:rPr lang="en-US" altLang="en-US" sz="1000" i="1">
                  <a:solidFill>
                    <a:schemeClr val="bg1"/>
                  </a:solidFill>
                  <a:latin typeface="+mn-lt"/>
                </a:rPr>
                <a:t>resources, a single product is typically used to </a:t>
              </a:r>
            </a:p>
            <a:p>
              <a:pPr algn="ctr">
                <a:lnSpc>
                  <a:spcPct val="80000"/>
                </a:lnSpc>
                <a:spcBef>
                  <a:spcPct val="15000"/>
                </a:spcBef>
                <a:buClrTx/>
                <a:buSzTx/>
                <a:buFontTx/>
                <a:buNone/>
              </a:pPr>
              <a:r>
                <a:rPr lang="en-US" altLang="en-US" sz="1000" i="1">
                  <a:solidFill>
                    <a:schemeClr val="bg1"/>
                  </a:solidFill>
                  <a:latin typeface="+mn-lt"/>
                </a:rPr>
                <a:t>represent The  entire family</a:t>
              </a:r>
            </a:p>
          </p:txBody>
        </p:sp>
        <p:sp>
          <p:nvSpPr>
            <p:cNvPr id="70" name="AutoShape 35">
              <a:extLst>
                <a:ext uri="{FF2B5EF4-FFF2-40B4-BE49-F238E27FC236}">
                  <a16:creationId xmlns:a16="http://schemas.microsoft.com/office/drawing/2014/main" id="{17FCEDAC-BEB4-F66A-8910-064272977807}"/>
                </a:ext>
              </a:extLst>
            </p:cNvPr>
            <p:cNvSpPr>
              <a:spLocks noChangeArrowheads="1"/>
            </p:cNvSpPr>
            <p:nvPr/>
          </p:nvSpPr>
          <p:spPr bwMode="auto">
            <a:xfrm rot="5400000">
              <a:off x="6445251" y="3417887"/>
              <a:ext cx="220662" cy="26082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1" name="Text Box 37">
              <a:extLst>
                <a:ext uri="{FF2B5EF4-FFF2-40B4-BE49-F238E27FC236}">
                  <a16:creationId xmlns:a16="http://schemas.microsoft.com/office/drawing/2014/main" id="{C8AE1043-45BB-D2C5-2C57-4BAC1D587E07}"/>
                </a:ext>
              </a:extLst>
            </p:cNvPr>
            <p:cNvSpPr txBox="1">
              <a:spLocks noChangeArrowheads="1"/>
            </p:cNvSpPr>
            <p:nvPr/>
          </p:nvSpPr>
          <p:spPr bwMode="auto">
            <a:xfrm>
              <a:off x="636824" y="2339975"/>
              <a:ext cx="2052165" cy="2769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Non-Aligned Resources</a:t>
              </a:r>
            </a:p>
          </p:txBody>
        </p:sp>
        <p:graphicFrame>
          <p:nvGraphicFramePr>
            <p:cNvPr id="72" name="Object 38">
              <a:extLst>
                <a:ext uri="{FF2B5EF4-FFF2-40B4-BE49-F238E27FC236}">
                  <a16:creationId xmlns:a16="http://schemas.microsoft.com/office/drawing/2014/main" id="{96AA902B-61C4-925D-8D30-CB625C792726}"/>
                </a:ext>
              </a:extLst>
            </p:cNvPr>
            <p:cNvGraphicFramePr>
              <a:graphicFrameLocks noChangeAspect="1"/>
            </p:cNvGraphicFramePr>
            <p:nvPr>
              <p:extLst>
                <p:ext uri="{D42A27DB-BD31-4B8C-83A1-F6EECF244321}">
                  <p14:modId xmlns:p14="http://schemas.microsoft.com/office/powerpoint/2010/main" val="696842278"/>
                </p:ext>
              </p:extLst>
            </p:nvPr>
          </p:nvGraphicFramePr>
          <p:xfrm>
            <a:off x="4335790" y="2641943"/>
            <a:ext cx="4041775" cy="1788713"/>
          </p:xfrm>
          <a:graphic>
            <a:graphicData uri="http://schemas.openxmlformats.org/presentationml/2006/ole">
              <mc:AlternateContent xmlns:mc="http://schemas.openxmlformats.org/markup-compatibility/2006">
                <mc:Choice xmlns:v="urn:schemas-microsoft-com:vml" Requires="v">
                  <p:oleObj name="Worksheet" r:id="rId3" imgW="5038721" imgH="2238322" progId="Excel.Sheet.8">
                    <p:embed/>
                  </p:oleObj>
                </mc:Choice>
                <mc:Fallback>
                  <p:oleObj name="Worksheet" r:id="rId3" imgW="5038721" imgH="2238322" progId="Excel.Sheet.8">
                    <p:embed/>
                    <p:pic>
                      <p:nvPicPr>
                        <p:cNvPr id="39951" name="Object 38">
                          <a:extLst>
                            <a:ext uri="{FF2B5EF4-FFF2-40B4-BE49-F238E27FC236}">
                              <a16:creationId xmlns:a16="http://schemas.microsoft.com/office/drawing/2014/main" id="{EE5D454F-2068-4AB6-AF37-86A8D2F7E711}"/>
                            </a:ext>
                          </a:extLst>
                        </p:cNvPr>
                        <p:cNvPicPr>
                          <a:picLocks noChangeAspect="1" noChangeArrowheads="1"/>
                        </p:cNvPicPr>
                        <p:nvPr/>
                      </p:nvPicPr>
                      <p:blipFill>
                        <a:blip r:embed="rId4"/>
                        <a:srcRect/>
                        <a:stretch>
                          <a:fillRect/>
                        </a:stretch>
                      </p:blipFill>
                      <p:spPr bwMode="auto">
                        <a:xfrm>
                          <a:off x="4335790" y="2641943"/>
                          <a:ext cx="4041775" cy="1788713"/>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4" name="Rectangle 31">
              <a:extLst>
                <a:ext uri="{FF2B5EF4-FFF2-40B4-BE49-F238E27FC236}">
                  <a16:creationId xmlns:a16="http://schemas.microsoft.com/office/drawing/2014/main" id="{BB91428D-0B0E-37B2-8C7B-5AD8740E0A0D}"/>
                </a:ext>
              </a:extLst>
            </p:cNvPr>
            <p:cNvSpPr>
              <a:spLocks noChangeArrowheads="1"/>
            </p:cNvSpPr>
            <p:nvPr/>
          </p:nvSpPr>
          <p:spPr bwMode="auto">
            <a:xfrm>
              <a:off x="4244975" y="4948238"/>
              <a:ext cx="4713288" cy="1589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100" dirty="0">
                  <a:latin typeface="+mn-lt"/>
                </a:rPr>
                <a:t>To make 1,000 units of family 3, 9.3 hours of </a:t>
              </a:r>
              <a:r>
                <a:rPr lang="ja-JP" altLang="en-US" sz="1100" dirty="0">
                  <a:latin typeface="+mn-lt"/>
                </a:rPr>
                <a:t>“</a:t>
              </a:r>
              <a:r>
                <a:rPr lang="en-US" altLang="ja-JP" sz="1100" dirty="0">
                  <a:latin typeface="+mn-lt"/>
                </a:rPr>
                <a:t>filling</a:t>
              </a:r>
              <a:r>
                <a:rPr lang="ja-JP" altLang="en-US" sz="1100" dirty="0">
                  <a:latin typeface="+mn-lt"/>
                </a:rPr>
                <a:t>”</a:t>
              </a:r>
              <a:r>
                <a:rPr lang="en-US" altLang="ja-JP" sz="1100" dirty="0">
                  <a:latin typeface="+mn-lt"/>
                </a:rPr>
                <a:t> is required</a:t>
              </a:r>
            </a:p>
            <a:p>
              <a:pPr>
                <a:spcBef>
                  <a:spcPct val="40000"/>
                </a:spcBef>
                <a:buClrTx/>
                <a:buSzPct val="90000"/>
                <a:buFont typeface="Arial" panose="020B0604020202020204" pitchFamily="34" charset="0"/>
                <a:buChar char="•"/>
              </a:pPr>
              <a:r>
                <a:rPr lang="en-US" altLang="en-US" sz="1100" dirty="0">
                  <a:latin typeface="+mn-lt"/>
                </a:rPr>
                <a:t>Family 4 does not require any filling in order to make products</a:t>
              </a:r>
            </a:p>
            <a:p>
              <a:pPr>
                <a:spcBef>
                  <a:spcPct val="40000"/>
                </a:spcBef>
                <a:buClrTx/>
                <a:buSzPct val="90000"/>
                <a:buFont typeface="Arial" panose="020B0604020202020204" pitchFamily="34" charset="0"/>
                <a:buChar char="•"/>
              </a:pPr>
              <a:r>
                <a:rPr lang="en-US" altLang="en-US" sz="1100" dirty="0">
                  <a:latin typeface="+mn-lt"/>
                </a:rPr>
                <a:t>Usually developed by evaluating raw materials routings through the production process for all products within a given family</a:t>
              </a:r>
            </a:p>
            <a:p>
              <a:pPr>
                <a:spcBef>
                  <a:spcPct val="40000"/>
                </a:spcBef>
                <a:buClrTx/>
                <a:buSzPct val="90000"/>
                <a:buFont typeface="Arial" panose="020B0604020202020204" pitchFamily="34" charset="0"/>
                <a:buChar char="•"/>
              </a:pPr>
              <a:r>
                <a:rPr lang="en-US" altLang="en-US" sz="1100" dirty="0">
                  <a:latin typeface="+mn-lt"/>
                </a:rPr>
                <a:t>Should always be cross-referenced with knowledge experts within engineering and production and procurement</a:t>
              </a:r>
            </a:p>
            <a:p>
              <a:pPr>
                <a:spcBef>
                  <a:spcPct val="40000"/>
                </a:spcBef>
                <a:buClrTx/>
                <a:buSzPct val="90000"/>
                <a:buFont typeface="Arial" panose="020B0604020202020204" pitchFamily="34" charset="0"/>
                <a:buChar char="•"/>
              </a:pPr>
              <a:endParaRPr lang="en-US" altLang="en-US" sz="1100" b="0" dirty="0">
                <a:latin typeface="+mn-lt"/>
              </a:endParaRPr>
            </a:p>
          </p:txBody>
        </p:sp>
      </p:grpSp>
      <p:grpSp>
        <p:nvGrpSpPr>
          <p:cNvPr id="4" name="Group 51">
            <a:extLst>
              <a:ext uri="{FF2B5EF4-FFF2-40B4-BE49-F238E27FC236}">
                <a16:creationId xmlns:a16="http://schemas.microsoft.com/office/drawing/2014/main" id="{A509EF17-EFA2-EAAA-A731-4E693208F5AC}"/>
              </a:ext>
            </a:extLst>
          </p:cNvPr>
          <p:cNvGrpSpPr>
            <a:grpSpLocks/>
          </p:cNvGrpSpPr>
          <p:nvPr/>
        </p:nvGrpSpPr>
        <p:grpSpPr bwMode="auto">
          <a:xfrm>
            <a:off x="8420088" y="5628516"/>
            <a:ext cx="2933712" cy="650333"/>
            <a:chOff x="676" y="3874"/>
            <a:chExt cx="1500" cy="392"/>
          </a:xfrm>
        </p:grpSpPr>
        <p:sp>
          <p:nvSpPr>
            <p:cNvPr id="11" name="Line 35">
              <a:extLst>
                <a:ext uri="{FF2B5EF4-FFF2-40B4-BE49-F238E27FC236}">
                  <a16:creationId xmlns:a16="http://schemas.microsoft.com/office/drawing/2014/main" id="{0999DEE1-D1B7-8052-113E-28A2C4BA4F18}"/>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6">
              <a:extLst>
                <a:ext uri="{FF2B5EF4-FFF2-40B4-BE49-F238E27FC236}">
                  <a16:creationId xmlns:a16="http://schemas.microsoft.com/office/drawing/2014/main" id="{FB4F0A7F-D0EC-30EA-A7E6-FD65EAEB2F84}"/>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37">
              <a:extLst>
                <a:ext uri="{FF2B5EF4-FFF2-40B4-BE49-F238E27FC236}">
                  <a16:creationId xmlns:a16="http://schemas.microsoft.com/office/drawing/2014/main" id="{F287925F-4EEE-77A8-90C1-9C502D778E15}"/>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38">
              <a:extLst>
                <a:ext uri="{FF2B5EF4-FFF2-40B4-BE49-F238E27FC236}">
                  <a16:creationId xmlns:a16="http://schemas.microsoft.com/office/drawing/2014/main" id="{D04A14BC-57A0-69FE-09EE-A8383B8D3426}"/>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8" name="Rectangle 39">
              <a:extLst>
                <a:ext uri="{FF2B5EF4-FFF2-40B4-BE49-F238E27FC236}">
                  <a16:creationId xmlns:a16="http://schemas.microsoft.com/office/drawing/2014/main" id="{4BC6B2DE-C920-8C78-63B7-5634AFD24E68}"/>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9" name="Rectangle 40">
              <a:extLst>
                <a:ext uri="{FF2B5EF4-FFF2-40B4-BE49-F238E27FC236}">
                  <a16:creationId xmlns:a16="http://schemas.microsoft.com/office/drawing/2014/main" id="{27724327-ADF3-DA4F-C52D-702E668A4057}"/>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20" name="Rectangle 41">
              <a:extLst>
                <a:ext uri="{FF2B5EF4-FFF2-40B4-BE49-F238E27FC236}">
                  <a16:creationId xmlns:a16="http://schemas.microsoft.com/office/drawing/2014/main" id="{A385DE50-419E-D346-DC57-433093E5A988}"/>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21" name="AutoShape 42">
              <a:extLst>
                <a:ext uri="{FF2B5EF4-FFF2-40B4-BE49-F238E27FC236}">
                  <a16:creationId xmlns:a16="http://schemas.microsoft.com/office/drawing/2014/main" id="{4CC00C2D-7637-8555-4E48-592303DE0A11}"/>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2" name="Rectangle 43">
              <a:extLst>
                <a:ext uri="{FF2B5EF4-FFF2-40B4-BE49-F238E27FC236}">
                  <a16:creationId xmlns:a16="http://schemas.microsoft.com/office/drawing/2014/main" id="{08831909-DB9D-4D43-D809-942135F13D45}"/>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3" name="Rectangle 44">
              <a:extLst>
                <a:ext uri="{FF2B5EF4-FFF2-40B4-BE49-F238E27FC236}">
                  <a16:creationId xmlns:a16="http://schemas.microsoft.com/office/drawing/2014/main" id="{0F64330F-7722-65A8-EA6E-7C69EB5231BB}"/>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4" name="Rectangle 45">
              <a:extLst>
                <a:ext uri="{FF2B5EF4-FFF2-40B4-BE49-F238E27FC236}">
                  <a16:creationId xmlns:a16="http://schemas.microsoft.com/office/drawing/2014/main" id="{DA4A7463-2B2E-13DB-B5BF-315E2429C35D}"/>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5" name="Rectangle 46">
              <a:extLst>
                <a:ext uri="{FF2B5EF4-FFF2-40B4-BE49-F238E27FC236}">
                  <a16:creationId xmlns:a16="http://schemas.microsoft.com/office/drawing/2014/main" id="{AB381DBE-275A-76C1-46DB-BF1ECB7A9F97}"/>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6" name="Rectangle 47">
              <a:extLst>
                <a:ext uri="{FF2B5EF4-FFF2-40B4-BE49-F238E27FC236}">
                  <a16:creationId xmlns:a16="http://schemas.microsoft.com/office/drawing/2014/main" id="{5D044EB8-12B6-E303-F404-5DD70E919FA5}"/>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33650225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Rough-Cut Capacity Plan Example:  </a:t>
            </a:r>
            <a:br>
              <a:rPr lang="en-US" dirty="0"/>
            </a:br>
            <a:r>
              <a:rPr lang="en-US" dirty="0"/>
              <a:t>Do We Have Sufficient Resources?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By adding the operations plan into the bill of resources (what production plans to make for a give month), the S&amp;OP pilot team can readily determine if sufficient resources or capacity exists to meet the production plan.</a:t>
            </a:r>
          </a:p>
        </p:txBody>
      </p:sp>
      <p:grpSp>
        <p:nvGrpSpPr>
          <p:cNvPr id="22" name="Group 21">
            <a:extLst>
              <a:ext uri="{FF2B5EF4-FFF2-40B4-BE49-F238E27FC236}">
                <a16:creationId xmlns:a16="http://schemas.microsoft.com/office/drawing/2014/main" id="{F203CC2D-5135-4E1B-5492-4368428DC54F}"/>
              </a:ext>
            </a:extLst>
          </p:cNvPr>
          <p:cNvGrpSpPr/>
          <p:nvPr/>
        </p:nvGrpSpPr>
        <p:grpSpPr>
          <a:xfrm>
            <a:off x="437823" y="1785451"/>
            <a:ext cx="8864209" cy="3796941"/>
            <a:chOff x="542925" y="2208213"/>
            <a:chExt cx="8402638" cy="3978560"/>
          </a:xfrm>
        </p:grpSpPr>
        <p:graphicFrame>
          <p:nvGraphicFramePr>
            <p:cNvPr id="4" name="Object 17">
              <a:extLst>
                <a:ext uri="{FF2B5EF4-FFF2-40B4-BE49-F238E27FC236}">
                  <a16:creationId xmlns:a16="http://schemas.microsoft.com/office/drawing/2014/main" id="{B0060E8B-E261-DA5C-8AFB-E6DDC5CF7581}"/>
                </a:ext>
              </a:extLst>
            </p:cNvPr>
            <p:cNvGraphicFramePr>
              <a:graphicFrameLocks noChangeAspect="1"/>
            </p:cNvGraphicFramePr>
            <p:nvPr>
              <p:extLst>
                <p:ext uri="{D42A27DB-BD31-4B8C-83A1-F6EECF244321}">
                  <p14:modId xmlns:p14="http://schemas.microsoft.com/office/powerpoint/2010/main" val="2080275050"/>
                </p:ext>
              </p:extLst>
            </p:nvPr>
          </p:nvGraphicFramePr>
          <p:xfrm>
            <a:off x="680176" y="2286904"/>
            <a:ext cx="7274381" cy="2387030"/>
          </p:xfrm>
          <a:graphic>
            <a:graphicData uri="http://schemas.openxmlformats.org/presentationml/2006/ole">
              <mc:AlternateContent xmlns:mc="http://schemas.openxmlformats.org/markup-compatibility/2006">
                <mc:Choice xmlns:v="urn:schemas-microsoft-com:vml" Requires="v">
                  <p:oleObj name="Worksheet" r:id="rId3" imgW="8782192" imgH="2876403" progId="Excel.Sheet.8">
                    <p:embed/>
                  </p:oleObj>
                </mc:Choice>
                <mc:Fallback>
                  <p:oleObj name="Worksheet" r:id="rId3" imgW="8782192" imgH="2876403" progId="Excel.Sheet.8">
                    <p:embed/>
                    <p:pic>
                      <p:nvPicPr>
                        <p:cNvPr id="40963" name="Object 17">
                          <a:extLst>
                            <a:ext uri="{FF2B5EF4-FFF2-40B4-BE49-F238E27FC236}">
                              <a16:creationId xmlns:a16="http://schemas.microsoft.com/office/drawing/2014/main" id="{208168CC-0193-47E0-A5CE-FC7AF07A49BD}"/>
                            </a:ext>
                          </a:extLst>
                        </p:cNvPr>
                        <p:cNvPicPr>
                          <a:picLocks noChangeAspect="1" noChangeArrowheads="1"/>
                        </p:cNvPicPr>
                        <p:nvPr/>
                      </p:nvPicPr>
                      <p:blipFill>
                        <a:blip r:embed="rId4"/>
                        <a:srcRect/>
                        <a:stretch>
                          <a:fillRect/>
                        </a:stretch>
                      </p:blipFill>
                      <p:spPr bwMode="auto">
                        <a:xfrm>
                          <a:off x="680176" y="2286904"/>
                          <a:ext cx="7274381" cy="2387030"/>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 name="AutoShape 5">
              <a:extLst>
                <a:ext uri="{FF2B5EF4-FFF2-40B4-BE49-F238E27FC236}">
                  <a16:creationId xmlns:a16="http://schemas.microsoft.com/office/drawing/2014/main" id="{BD742847-82A3-01E8-5FD9-01F67F1D0F76}"/>
                </a:ext>
              </a:extLst>
            </p:cNvPr>
            <p:cNvSpPr>
              <a:spLocks/>
            </p:cNvSpPr>
            <p:nvPr/>
          </p:nvSpPr>
          <p:spPr bwMode="auto">
            <a:xfrm rot="5400000">
              <a:off x="3248025" y="2098675"/>
              <a:ext cx="314325" cy="5432425"/>
            </a:xfrm>
            <a:prstGeom prst="rightBrace">
              <a:avLst>
                <a:gd name="adj1" fmla="val 144024"/>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2" name="Rectangle 6">
              <a:extLst>
                <a:ext uri="{FF2B5EF4-FFF2-40B4-BE49-F238E27FC236}">
                  <a16:creationId xmlns:a16="http://schemas.microsoft.com/office/drawing/2014/main" id="{FFCA5E61-BF22-07BA-A3F5-6FFAF4BE0C0E}"/>
                </a:ext>
              </a:extLst>
            </p:cNvPr>
            <p:cNvSpPr>
              <a:spLocks noChangeArrowheads="1"/>
            </p:cNvSpPr>
            <p:nvPr/>
          </p:nvSpPr>
          <p:spPr bwMode="auto">
            <a:xfrm>
              <a:off x="654050" y="4992688"/>
              <a:ext cx="5524500" cy="85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100" dirty="0">
                  <a:latin typeface="+mn-lt"/>
                </a:rPr>
                <a:t>Focusing on sequencing:  For family 1, 1,000 units requires 8.1 hours of mixing;  8.1 hours X 8 (for 8,000 units) requires 65 hours of sequencing</a:t>
              </a:r>
            </a:p>
            <a:p>
              <a:pPr>
                <a:spcBef>
                  <a:spcPct val="40000"/>
                </a:spcBef>
                <a:buClrTx/>
                <a:buSzPct val="90000"/>
                <a:buFont typeface="Arial" panose="020B0604020202020204" pitchFamily="34" charset="0"/>
                <a:buChar char="•"/>
              </a:pPr>
              <a:r>
                <a:rPr lang="en-US" altLang="en-US" sz="1100" dirty="0">
                  <a:latin typeface="+mn-lt"/>
                </a:rPr>
                <a:t>Planned production level for Product Family 5 are 19,000 units for the next-month cycle;  5.4 hours of sequencing X 19 (for 19,000 units) yields 103 hours of sequencing</a:t>
              </a:r>
              <a:endParaRPr lang="en-US" altLang="en-US" sz="1100" b="0" dirty="0">
                <a:latin typeface="+mn-lt"/>
              </a:endParaRPr>
            </a:p>
          </p:txBody>
        </p:sp>
        <p:grpSp>
          <p:nvGrpSpPr>
            <p:cNvPr id="13" name="Group 12">
              <a:extLst>
                <a:ext uri="{FF2B5EF4-FFF2-40B4-BE49-F238E27FC236}">
                  <a16:creationId xmlns:a16="http://schemas.microsoft.com/office/drawing/2014/main" id="{627CE882-D0FF-2EAA-182E-79A90F26CCC7}"/>
                </a:ext>
              </a:extLst>
            </p:cNvPr>
            <p:cNvGrpSpPr>
              <a:grpSpLocks/>
            </p:cNvGrpSpPr>
            <p:nvPr/>
          </p:nvGrpSpPr>
          <p:grpSpPr bwMode="auto">
            <a:xfrm>
              <a:off x="1262063" y="3616325"/>
              <a:ext cx="3994150" cy="781050"/>
              <a:chOff x="848" y="622"/>
              <a:chExt cx="2516" cy="492"/>
            </a:xfrm>
          </p:grpSpPr>
          <p:sp>
            <p:nvSpPr>
              <p:cNvPr id="14" name="Rectangle 10">
                <a:extLst>
                  <a:ext uri="{FF2B5EF4-FFF2-40B4-BE49-F238E27FC236}">
                    <a16:creationId xmlns:a16="http://schemas.microsoft.com/office/drawing/2014/main" id="{9CBB772E-0473-5425-437B-7030B6E5AB83}"/>
                  </a:ext>
                </a:extLst>
              </p:cNvPr>
              <p:cNvSpPr>
                <a:spLocks noChangeArrowheads="1"/>
              </p:cNvSpPr>
              <p:nvPr/>
            </p:nvSpPr>
            <p:spPr bwMode="auto">
              <a:xfrm>
                <a:off x="848" y="622"/>
                <a:ext cx="2516" cy="492"/>
              </a:xfrm>
              <a:prstGeom prst="rect">
                <a:avLst/>
              </a:prstGeom>
              <a:solidFill>
                <a:schemeClr val="bg2"/>
              </a:solidFill>
              <a:ln w="12700" cap="sq">
                <a:solidFill>
                  <a:srgbClr val="C0C0C0"/>
                </a:solidFill>
                <a:miter lim="800000"/>
                <a:headEnd/>
                <a:tailEnd/>
              </a:ln>
              <a:effectLst>
                <a:outerShdw blurRad="63500" dist="107763" dir="2700000" algn="ctr" rotWithShape="0">
                  <a:schemeClr val="tx1">
                    <a:alpha val="50000"/>
                  </a:schemeClr>
                </a:outerShdw>
              </a:effectLst>
            </p:spPr>
            <p:txBody>
              <a:bodyPr wrap="none" anchor="ctr"/>
              <a:lstStyle/>
              <a:p>
                <a:pPr algn="ctr">
                  <a:lnSpc>
                    <a:spcPct val="80000"/>
                  </a:lnSpc>
                  <a:spcBef>
                    <a:spcPct val="20000"/>
                  </a:spcBef>
                  <a:defRPr/>
                </a:pPr>
                <a:endParaRPr lang="en-US">
                  <a:ea typeface="ＭＳ Ｐゴシック" charset="0"/>
                </a:endParaRPr>
              </a:p>
            </p:txBody>
          </p:sp>
          <p:graphicFrame>
            <p:nvGraphicFramePr>
              <p:cNvPr id="18" name="Object 9">
                <a:extLst>
                  <a:ext uri="{FF2B5EF4-FFF2-40B4-BE49-F238E27FC236}">
                    <a16:creationId xmlns:a16="http://schemas.microsoft.com/office/drawing/2014/main" id="{45A50F54-BF27-2A74-7480-42B8408FAAE7}"/>
                  </a:ext>
                </a:extLst>
              </p:cNvPr>
              <p:cNvGraphicFramePr>
                <a:graphicFrameLocks noChangeAspect="1"/>
              </p:cNvGraphicFramePr>
              <p:nvPr>
                <p:extLst>
                  <p:ext uri="{D42A27DB-BD31-4B8C-83A1-F6EECF244321}">
                    <p14:modId xmlns:p14="http://schemas.microsoft.com/office/powerpoint/2010/main" val="3972152128"/>
                  </p:ext>
                </p:extLst>
              </p:nvPr>
            </p:nvGraphicFramePr>
            <p:xfrm>
              <a:off x="882" y="658"/>
              <a:ext cx="2227" cy="441"/>
            </p:xfrm>
            <a:graphic>
              <a:graphicData uri="http://schemas.openxmlformats.org/presentationml/2006/ole">
                <mc:AlternateContent xmlns:mc="http://schemas.openxmlformats.org/markup-compatibility/2006">
                  <mc:Choice xmlns:v="urn:schemas-microsoft-com:vml" Requires="v">
                    <p:oleObj name="Worksheet" r:id="rId5" imgW="5038721" imgH="1000285" progId="Excel.Sheet.8">
                      <p:embed/>
                    </p:oleObj>
                  </mc:Choice>
                  <mc:Fallback>
                    <p:oleObj name="Worksheet" r:id="rId5" imgW="5038721" imgH="1000285" progId="Excel.Sheet.8">
                      <p:embed/>
                      <p:pic>
                        <p:nvPicPr>
                          <p:cNvPr id="40987" name="Object 9">
                            <a:extLst>
                              <a:ext uri="{FF2B5EF4-FFF2-40B4-BE49-F238E27FC236}">
                                <a16:creationId xmlns:a16="http://schemas.microsoft.com/office/drawing/2014/main" id="{67CF8C22-7881-4EA5-B7E6-6B62170F7F4A}"/>
                              </a:ext>
                            </a:extLst>
                          </p:cNvPr>
                          <p:cNvPicPr>
                            <a:picLocks noChangeAspect="1" noChangeArrowheads="1"/>
                          </p:cNvPicPr>
                          <p:nvPr/>
                        </p:nvPicPr>
                        <p:blipFill>
                          <a:blip r:embed="rId6"/>
                          <a:srcRect/>
                          <a:stretch>
                            <a:fillRect/>
                          </a:stretch>
                        </p:blipFill>
                        <p:spPr bwMode="auto">
                          <a:xfrm>
                            <a:off x="882" y="658"/>
                            <a:ext cx="2227" cy="441"/>
                          </a:xfrm>
                          <a:prstGeom prst="rect">
                            <a:avLst/>
                          </a:prstGeom>
                          <a:noFill/>
                          <a:ln w="12700" cap="sq">
                            <a:solidFill>
                              <a:srgbClr val="C0C0C0"/>
                            </a:solidFill>
                            <a:miter lim="800000"/>
                            <a:headEnd/>
                            <a:tailEnd/>
                          </a:ln>
                          <a:effectLst/>
                          <a:extLst>
                            <a:ext uri="{909E8E84-426E-40DD-AFC4-6F175D3DCCD1}">
                              <a14:hiddenFill xmlns:a14="http://schemas.microsoft.com/office/drawing/2010/main">
                                <a:solidFill>
                                  <a:srgbClr val="808080"/>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
          <p:nvSpPr>
            <p:cNvPr id="19" name="Rectangle 13">
              <a:extLst>
                <a:ext uri="{FF2B5EF4-FFF2-40B4-BE49-F238E27FC236}">
                  <a16:creationId xmlns:a16="http://schemas.microsoft.com/office/drawing/2014/main" id="{098C735B-AF8C-4C6C-8164-E8D2D89ADCD5}"/>
                </a:ext>
              </a:extLst>
            </p:cNvPr>
            <p:cNvSpPr>
              <a:spLocks noChangeArrowheads="1"/>
            </p:cNvSpPr>
            <p:nvPr/>
          </p:nvSpPr>
          <p:spPr bwMode="auto">
            <a:xfrm>
              <a:off x="542925" y="3235325"/>
              <a:ext cx="7872413" cy="285750"/>
            </a:xfrm>
            <a:prstGeom prst="rect">
              <a:avLst/>
            </a:prstGeom>
            <a:solidFill>
              <a:schemeClr val="accent1">
                <a:alpha val="20000"/>
              </a:schemeClr>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0" name="Rectangle 18">
              <a:extLst>
                <a:ext uri="{FF2B5EF4-FFF2-40B4-BE49-F238E27FC236}">
                  <a16:creationId xmlns:a16="http://schemas.microsoft.com/office/drawing/2014/main" id="{05282FE2-5459-97B5-B524-BDB3B1A532F1}"/>
                </a:ext>
              </a:extLst>
            </p:cNvPr>
            <p:cNvSpPr>
              <a:spLocks noChangeArrowheads="1"/>
            </p:cNvSpPr>
            <p:nvPr/>
          </p:nvSpPr>
          <p:spPr bwMode="auto">
            <a:xfrm>
              <a:off x="6723063" y="2208213"/>
              <a:ext cx="1828800" cy="24860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1" name="Rectangle 19">
              <a:extLst>
                <a:ext uri="{FF2B5EF4-FFF2-40B4-BE49-F238E27FC236}">
                  <a16:creationId xmlns:a16="http://schemas.microsoft.com/office/drawing/2014/main" id="{7099FD32-A01A-867B-8542-B92DA72C8D96}"/>
                </a:ext>
              </a:extLst>
            </p:cNvPr>
            <p:cNvSpPr>
              <a:spLocks noChangeArrowheads="1"/>
            </p:cNvSpPr>
            <p:nvPr/>
          </p:nvSpPr>
          <p:spPr bwMode="auto">
            <a:xfrm>
              <a:off x="6630988" y="4725988"/>
              <a:ext cx="2314575" cy="146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100">
                  <a:latin typeface="+mn-lt"/>
                </a:rPr>
                <a:t>Do we fall below demonstrated capacity? If so, </a:t>
              </a:r>
              <a:r>
                <a:rPr lang="ja-JP" altLang="en-US" sz="1100">
                  <a:latin typeface="+mn-lt"/>
                </a:rPr>
                <a:t>“</a:t>
              </a:r>
              <a:r>
                <a:rPr lang="en-US" altLang="ja-JP" sz="1100">
                  <a:latin typeface="+mn-lt"/>
                </a:rPr>
                <a:t>go</a:t>
              </a:r>
              <a:r>
                <a:rPr lang="ja-JP" altLang="en-US" sz="1100">
                  <a:latin typeface="+mn-lt"/>
                </a:rPr>
                <a:t>”</a:t>
              </a:r>
              <a:endParaRPr lang="en-US" altLang="ja-JP" sz="1100">
                <a:latin typeface="+mn-lt"/>
              </a:endParaRPr>
            </a:p>
            <a:p>
              <a:pPr>
                <a:spcBef>
                  <a:spcPct val="40000"/>
                </a:spcBef>
                <a:buClrTx/>
                <a:buSzPct val="90000"/>
                <a:buFont typeface="Arial" panose="020B0604020202020204" pitchFamily="34" charset="0"/>
                <a:buChar char="•"/>
              </a:pPr>
              <a:r>
                <a:rPr lang="en-US" altLang="en-US" sz="1100">
                  <a:latin typeface="+mn-lt"/>
                </a:rPr>
                <a:t>Do we rise above Max demonstrated capacity?  If so, any viable solutions</a:t>
              </a:r>
            </a:p>
            <a:p>
              <a:pPr>
                <a:spcBef>
                  <a:spcPct val="40000"/>
                </a:spcBef>
                <a:buClrTx/>
                <a:buSzPct val="90000"/>
                <a:buFont typeface="Arial" panose="020B0604020202020204" pitchFamily="34" charset="0"/>
                <a:buChar char="•"/>
              </a:pPr>
              <a:r>
                <a:rPr lang="en-US" altLang="en-US" sz="1100">
                  <a:latin typeface="+mn-lt"/>
                </a:rPr>
                <a:t>Do we have excess capacity urgently needed elsewhere?</a:t>
              </a:r>
              <a:endParaRPr lang="en-US" altLang="en-US" sz="1100" b="0">
                <a:latin typeface="+mn-lt"/>
              </a:endParaRPr>
            </a:p>
          </p:txBody>
        </p:sp>
      </p:grpSp>
      <p:grpSp>
        <p:nvGrpSpPr>
          <p:cNvPr id="5" name="Group 51">
            <a:extLst>
              <a:ext uri="{FF2B5EF4-FFF2-40B4-BE49-F238E27FC236}">
                <a16:creationId xmlns:a16="http://schemas.microsoft.com/office/drawing/2014/main" id="{1DC0621F-926F-0B44-27FB-C91DE5BE5911}"/>
              </a:ext>
            </a:extLst>
          </p:cNvPr>
          <p:cNvGrpSpPr>
            <a:grpSpLocks/>
          </p:cNvGrpSpPr>
          <p:nvPr/>
        </p:nvGrpSpPr>
        <p:grpSpPr bwMode="auto">
          <a:xfrm>
            <a:off x="8420088" y="5628516"/>
            <a:ext cx="2933712" cy="650333"/>
            <a:chOff x="676" y="3874"/>
            <a:chExt cx="1500" cy="392"/>
          </a:xfrm>
        </p:grpSpPr>
        <p:sp>
          <p:nvSpPr>
            <p:cNvPr id="6" name="Line 35">
              <a:extLst>
                <a:ext uri="{FF2B5EF4-FFF2-40B4-BE49-F238E27FC236}">
                  <a16:creationId xmlns:a16="http://schemas.microsoft.com/office/drawing/2014/main" id="{41F93218-2DF3-1683-41CE-1CB719B0ABE0}"/>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6">
              <a:extLst>
                <a:ext uri="{FF2B5EF4-FFF2-40B4-BE49-F238E27FC236}">
                  <a16:creationId xmlns:a16="http://schemas.microsoft.com/office/drawing/2014/main" id="{085FE750-AFD1-542B-8862-D554DE36CF85}"/>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37">
              <a:extLst>
                <a:ext uri="{FF2B5EF4-FFF2-40B4-BE49-F238E27FC236}">
                  <a16:creationId xmlns:a16="http://schemas.microsoft.com/office/drawing/2014/main" id="{035C1AAB-FA98-1407-4C73-83E7E85B72E6}"/>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Rectangle 38">
              <a:extLst>
                <a:ext uri="{FF2B5EF4-FFF2-40B4-BE49-F238E27FC236}">
                  <a16:creationId xmlns:a16="http://schemas.microsoft.com/office/drawing/2014/main" id="{FCD39417-A749-1FD9-6525-584717749429}"/>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0" name="Rectangle 39">
              <a:extLst>
                <a:ext uri="{FF2B5EF4-FFF2-40B4-BE49-F238E27FC236}">
                  <a16:creationId xmlns:a16="http://schemas.microsoft.com/office/drawing/2014/main" id="{F2CF0F40-6341-1525-1E11-D5DF55383B1E}"/>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5" name="Rectangle 40">
              <a:extLst>
                <a:ext uri="{FF2B5EF4-FFF2-40B4-BE49-F238E27FC236}">
                  <a16:creationId xmlns:a16="http://schemas.microsoft.com/office/drawing/2014/main" id="{39D11C6D-4D19-13C5-D84D-6528485432EE}"/>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6" name="Rectangle 41">
              <a:extLst>
                <a:ext uri="{FF2B5EF4-FFF2-40B4-BE49-F238E27FC236}">
                  <a16:creationId xmlns:a16="http://schemas.microsoft.com/office/drawing/2014/main" id="{30190003-68F2-010A-3B61-DBE90CA6FA6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7" name="AutoShape 42">
              <a:extLst>
                <a:ext uri="{FF2B5EF4-FFF2-40B4-BE49-F238E27FC236}">
                  <a16:creationId xmlns:a16="http://schemas.microsoft.com/office/drawing/2014/main" id="{2C316B4A-8A83-99F5-F99A-7AC31696F242}"/>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3" name="Rectangle 43">
              <a:extLst>
                <a:ext uri="{FF2B5EF4-FFF2-40B4-BE49-F238E27FC236}">
                  <a16:creationId xmlns:a16="http://schemas.microsoft.com/office/drawing/2014/main" id="{CE7296A0-0607-3B9C-CD45-2D1CBF7D77E0}"/>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4" name="Rectangle 44">
              <a:extLst>
                <a:ext uri="{FF2B5EF4-FFF2-40B4-BE49-F238E27FC236}">
                  <a16:creationId xmlns:a16="http://schemas.microsoft.com/office/drawing/2014/main" id="{8B10B570-3F75-4571-5115-033A80E49AFA}"/>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5" name="Rectangle 45">
              <a:extLst>
                <a:ext uri="{FF2B5EF4-FFF2-40B4-BE49-F238E27FC236}">
                  <a16:creationId xmlns:a16="http://schemas.microsoft.com/office/drawing/2014/main" id="{160F4E25-6266-DA00-FF10-CB091A69F439}"/>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6" name="Rectangle 46">
              <a:extLst>
                <a:ext uri="{FF2B5EF4-FFF2-40B4-BE49-F238E27FC236}">
                  <a16:creationId xmlns:a16="http://schemas.microsoft.com/office/drawing/2014/main" id="{6CAC58AA-D88F-D5E8-1EF7-ED871CA0EF41}"/>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7" name="Rectangle 47">
              <a:extLst>
                <a:ext uri="{FF2B5EF4-FFF2-40B4-BE49-F238E27FC236}">
                  <a16:creationId xmlns:a16="http://schemas.microsoft.com/office/drawing/2014/main" id="{E7FF9D42-5710-E57D-441F-3BA43A33799C}"/>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1844455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Rough-Cut Capacity Plan Example:  </a:t>
            </a:r>
            <a:br>
              <a:rPr lang="en-US" dirty="0"/>
            </a:br>
            <a:r>
              <a:rPr lang="en-US" dirty="0"/>
              <a:t>Do We Have Sufficient Resources?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By adding the operations plan into the bill of resources (what production plans to make for a give month), the S&amp;OP pilot team can readily determine if sufficient resources or capacity exists to meet the production plan.</a:t>
            </a:r>
          </a:p>
        </p:txBody>
      </p:sp>
      <p:graphicFrame>
        <p:nvGraphicFramePr>
          <p:cNvPr id="4" name="Object 17">
            <a:extLst>
              <a:ext uri="{FF2B5EF4-FFF2-40B4-BE49-F238E27FC236}">
                <a16:creationId xmlns:a16="http://schemas.microsoft.com/office/drawing/2014/main" id="{B0060E8B-E261-DA5C-8AFB-E6DDC5CF7581}"/>
              </a:ext>
            </a:extLst>
          </p:cNvPr>
          <p:cNvGraphicFramePr>
            <a:graphicFrameLocks noChangeAspect="1"/>
          </p:cNvGraphicFramePr>
          <p:nvPr>
            <p:extLst>
              <p:ext uri="{D42A27DB-BD31-4B8C-83A1-F6EECF244321}">
                <p14:modId xmlns:p14="http://schemas.microsoft.com/office/powerpoint/2010/main" val="2233118436"/>
              </p:ext>
            </p:extLst>
          </p:nvPr>
        </p:nvGraphicFramePr>
        <p:xfrm>
          <a:off x="582613" y="1860550"/>
          <a:ext cx="7673975" cy="2278063"/>
        </p:xfrm>
        <a:graphic>
          <a:graphicData uri="http://schemas.openxmlformats.org/presentationml/2006/ole">
            <mc:AlternateContent xmlns:mc="http://schemas.openxmlformats.org/markup-compatibility/2006">
              <mc:Choice xmlns:v="urn:schemas-microsoft-com:vml" Requires="v">
                <p:oleObj name="Worksheet" r:id="rId3" imgW="8782192" imgH="2876403" progId="Excel.Sheet.8">
                  <p:embed/>
                </p:oleObj>
              </mc:Choice>
              <mc:Fallback>
                <p:oleObj name="Worksheet" r:id="rId3" imgW="8782192" imgH="2876403" progId="Excel.Sheet.8">
                  <p:embed/>
                  <p:pic>
                    <p:nvPicPr>
                      <p:cNvPr id="4" name="Object 17">
                        <a:extLst>
                          <a:ext uri="{FF2B5EF4-FFF2-40B4-BE49-F238E27FC236}">
                            <a16:creationId xmlns:a16="http://schemas.microsoft.com/office/drawing/2014/main" id="{B0060E8B-E261-DA5C-8AFB-E6DDC5CF7581}"/>
                          </a:ext>
                        </a:extLst>
                      </p:cNvPr>
                      <p:cNvPicPr>
                        <a:picLocks noChangeAspect="1" noChangeArrowheads="1"/>
                      </p:cNvPicPr>
                      <p:nvPr/>
                    </p:nvPicPr>
                    <p:blipFill>
                      <a:blip r:embed="rId4"/>
                      <a:srcRect/>
                      <a:stretch>
                        <a:fillRect/>
                      </a:stretch>
                    </p:blipFill>
                    <p:spPr bwMode="auto">
                      <a:xfrm>
                        <a:off x="582613" y="1860550"/>
                        <a:ext cx="7673975" cy="2278063"/>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 name="Line 9">
            <a:extLst>
              <a:ext uri="{FF2B5EF4-FFF2-40B4-BE49-F238E27FC236}">
                <a16:creationId xmlns:a16="http://schemas.microsoft.com/office/drawing/2014/main" id="{A870FCF0-1C3F-46F7-6819-A4467AB1BCE9}"/>
              </a:ext>
            </a:extLst>
          </p:cNvPr>
          <p:cNvSpPr>
            <a:spLocks noChangeShapeType="1"/>
          </p:cNvSpPr>
          <p:nvPr/>
        </p:nvSpPr>
        <p:spPr bwMode="auto">
          <a:xfrm>
            <a:off x="572658" y="4213712"/>
            <a:ext cx="8056562"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 name="Group 11">
            <a:extLst>
              <a:ext uri="{FF2B5EF4-FFF2-40B4-BE49-F238E27FC236}">
                <a16:creationId xmlns:a16="http://schemas.microsoft.com/office/drawing/2014/main" id="{8D95C848-7694-F6C9-C56E-6967ABCD9015}"/>
              </a:ext>
            </a:extLst>
          </p:cNvPr>
          <p:cNvGraphicFramePr>
            <a:graphicFrameLocks noGrp="1"/>
          </p:cNvGraphicFramePr>
          <p:nvPr>
            <p:extLst>
              <p:ext uri="{D42A27DB-BD31-4B8C-83A1-F6EECF244321}">
                <p14:modId xmlns:p14="http://schemas.microsoft.com/office/powerpoint/2010/main" val="2162975711"/>
              </p:ext>
            </p:extLst>
          </p:nvPr>
        </p:nvGraphicFramePr>
        <p:xfrm>
          <a:off x="1936320" y="4420023"/>
          <a:ext cx="6692900" cy="733425"/>
        </p:xfrm>
        <a:graphic>
          <a:graphicData uri="http://schemas.openxmlformats.org/drawingml/2006/table">
            <a:tbl>
              <a:tblPr/>
              <a:tblGrid>
                <a:gridCol w="1947863">
                  <a:extLst>
                    <a:ext uri="{9D8B030D-6E8A-4147-A177-3AD203B41FA5}">
                      <a16:colId xmlns:a16="http://schemas.microsoft.com/office/drawing/2014/main" val="20000"/>
                    </a:ext>
                  </a:extLst>
                </a:gridCol>
                <a:gridCol w="4745037">
                  <a:extLst>
                    <a:ext uri="{9D8B030D-6E8A-4147-A177-3AD203B41FA5}">
                      <a16:colId xmlns:a16="http://schemas.microsoft.com/office/drawing/2014/main" val="20001"/>
                    </a:ext>
                  </a:extLst>
                </a:gridCol>
              </a:tblGrid>
              <a:tr h="2444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Required Capacity</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  Sum of all resource demands (e.g. mix) for a given month</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44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Demonstrated Capacity</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  Current capacity available for a resource; typically average actual output</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44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Max </a:t>
                      </a:r>
                      <a:r>
                        <a:rPr kumimoji="0" lang="en-US" altLang="en-US" sz="1000" b="1" i="0" u="none" strike="noStrike" cap="none" normalizeH="0" baseline="0" dirty="0" err="1">
                          <a:ln>
                            <a:noFill/>
                          </a:ln>
                          <a:solidFill>
                            <a:schemeClr val="bg1"/>
                          </a:solidFill>
                          <a:effectLst/>
                          <a:latin typeface="+mn-lt"/>
                          <a:ea typeface="MS PGothic" panose="020B0600070205080204" pitchFamily="34" charset="-128"/>
                        </a:rPr>
                        <a:t>Demp</a:t>
                      </a: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 Capacity</a:t>
                      </a: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  Upper capacity limit by employing </a:t>
                      </a:r>
                      <a:r>
                        <a:rPr kumimoji="0" lang="ja-JP" altLang="en-US" sz="1000" b="1" i="0" u="none" strike="noStrike" cap="none" normalizeH="0" baseline="0" dirty="0">
                          <a:ln>
                            <a:noFill/>
                          </a:ln>
                          <a:solidFill>
                            <a:schemeClr val="tx1"/>
                          </a:solidFill>
                          <a:effectLst/>
                          <a:latin typeface="+mn-lt"/>
                          <a:ea typeface="MS PGothic" panose="020B0600070205080204" pitchFamily="34" charset="-128"/>
                        </a:rPr>
                        <a:t>“</a:t>
                      </a:r>
                      <a:r>
                        <a:rPr kumimoji="0" lang="en-US" altLang="ja-JP" sz="1000" b="1" i="0" u="none" strike="noStrike" cap="none" normalizeH="0" baseline="0" dirty="0">
                          <a:ln>
                            <a:noFill/>
                          </a:ln>
                          <a:solidFill>
                            <a:schemeClr val="tx1"/>
                          </a:solidFill>
                          <a:effectLst/>
                          <a:latin typeface="+mn-lt"/>
                          <a:ea typeface="MS PGothic" panose="020B0600070205080204" pitchFamily="34" charset="-128"/>
                        </a:rPr>
                        <a:t>extraordinary</a:t>
                      </a:r>
                      <a:r>
                        <a:rPr kumimoji="0" lang="ja-JP" altLang="en-US" sz="1000" b="1" i="0" u="none" strike="noStrike" cap="none" normalizeH="0" baseline="0" dirty="0">
                          <a:ln>
                            <a:noFill/>
                          </a:ln>
                          <a:solidFill>
                            <a:schemeClr val="tx1"/>
                          </a:solidFill>
                          <a:effectLst/>
                          <a:latin typeface="+mn-lt"/>
                          <a:ea typeface="MS PGothic" panose="020B0600070205080204" pitchFamily="34" charset="-128"/>
                        </a:rPr>
                        <a:t>”</a:t>
                      </a:r>
                      <a:r>
                        <a:rPr kumimoji="0" lang="en-US" altLang="ja-JP" sz="1000" b="1" i="0" u="none" strike="noStrike" cap="none" normalizeH="0" baseline="0" dirty="0">
                          <a:ln>
                            <a:noFill/>
                          </a:ln>
                          <a:solidFill>
                            <a:schemeClr val="tx1"/>
                          </a:solidFill>
                          <a:effectLst/>
                          <a:latin typeface="+mn-lt"/>
                          <a:ea typeface="MS PGothic" panose="020B0600070205080204" pitchFamily="34" charset="-128"/>
                        </a:rPr>
                        <a:t> means (e.g. overtime)</a:t>
                      </a:r>
                      <a:endParaRPr kumimoji="0" lang="en-US" altLang="en-US" sz="1000" b="1" i="0" u="none" strike="noStrike" cap="none" normalizeH="0" baseline="0" dirty="0">
                        <a:ln>
                          <a:noFill/>
                        </a:ln>
                        <a:solidFill>
                          <a:schemeClr val="tx1"/>
                        </a:solidFill>
                        <a:effectLst/>
                        <a:latin typeface="+mn-lt"/>
                        <a:ea typeface="MS PGothic" panose="020B0600070205080204" pitchFamily="34" charset="-128"/>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cxnSp>
        <p:nvCxnSpPr>
          <p:cNvPr id="7" name="AutoShape 25">
            <a:extLst>
              <a:ext uri="{FF2B5EF4-FFF2-40B4-BE49-F238E27FC236}">
                <a16:creationId xmlns:a16="http://schemas.microsoft.com/office/drawing/2014/main" id="{20AA194E-CD46-2841-8CD9-C39A5B496627}"/>
              </a:ext>
            </a:extLst>
          </p:cNvPr>
          <p:cNvCxnSpPr>
            <a:cxnSpLocks noChangeShapeType="1"/>
          </p:cNvCxnSpPr>
          <p:nvPr/>
        </p:nvCxnSpPr>
        <p:spPr bwMode="auto">
          <a:xfrm rot="10800000" flipH="1" flipV="1">
            <a:off x="585358" y="2913550"/>
            <a:ext cx="1328737" cy="1863725"/>
          </a:xfrm>
          <a:prstGeom prst="bentConnector3">
            <a:avLst>
              <a:gd name="adj1" fmla="val -17204"/>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8" name="AutoShape 26">
            <a:extLst>
              <a:ext uri="{FF2B5EF4-FFF2-40B4-BE49-F238E27FC236}">
                <a16:creationId xmlns:a16="http://schemas.microsoft.com/office/drawing/2014/main" id="{C78A7665-068D-4772-D64E-0757F3776F36}"/>
              </a:ext>
            </a:extLst>
          </p:cNvPr>
          <p:cNvSpPr>
            <a:spLocks/>
          </p:cNvSpPr>
          <p:nvPr/>
        </p:nvSpPr>
        <p:spPr bwMode="auto">
          <a:xfrm rot="5400000">
            <a:off x="6086045" y="2996100"/>
            <a:ext cx="314325" cy="4718050"/>
          </a:xfrm>
          <a:prstGeom prst="rightBrace">
            <a:avLst>
              <a:gd name="adj1" fmla="val 125084"/>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endParaRPr>
          </a:p>
        </p:txBody>
      </p:sp>
      <p:sp>
        <p:nvSpPr>
          <p:cNvPr id="9" name="Text Box 27">
            <a:extLst>
              <a:ext uri="{FF2B5EF4-FFF2-40B4-BE49-F238E27FC236}">
                <a16:creationId xmlns:a16="http://schemas.microsoft.com/office/drawing/2014/main" id="{CEAECC69-AF7C-771D-C438-B8F23DEAF616}"/>
              </a:ext>
            </a:extLst>
          </p:cNvPr>
          <p:cNvSpPr txBox="1">
            <a:spLocks noChangeArrowheads="1"/>
          </p:cNvSpPr>
          <p:nvPr/>
        </p:nvSpPr>
        <p:spPr bwMode="auto">
          <a:xfrm>
            <a:off x="4086245" y="5501175"/>
            <a:ext cx="43059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000" i="1" dirty="0">
                <a:latin typeface="+mn-lt"/>
              </a:rPr>
              <a:t>Maximum Demonstrated Capacity Typically Represents A Temporary</a:t>
            </a:r>
          </a:p>
          <a:p>
            <a:pPr algn="ctr">
              <a:lnSpc>
                <a:spcPct val="90000"/>
              </a:lnSpc>
              <a:buClrTx/>
              <a:buSzTx/>
              <a:buFontTx/>
              <a:buNone/>
            </a:pPr>
            <a:r>
              <a:rPr lang="en-US" altLang="en-US" sz="1000" i="1" dirty="0">
                <a:latin typeface="+mn-lt"/>
              </a:rPr>
              <a:t>Condition, Not One That Is Foreseen As A Long-Term Sustainable Solution</a:t>
            </a:r>
          </a:p>
        </p:txBody>
      </p:sp>
      <p:grpSp>
        <p:nvGrpSpPr>
          <p:cNvPr id="10" name="Group 51">
            <a:extLst>
              <a:ext uri="{FF2B5EF4-FFF2-40B4-BE49-F238E27FC236}">
                <a16:creationId xmlns:a16="http://schemas.microsoft.com/office/drawing/2014/main" id="{51BB1B51-36E6-2275-EA80-7A14169EB0D4}"/>
              </a:ext>
            </a:extLst>
          </p:cNvPr>
          <p:cNvGrpSpPr>
            <a:grpSpLocks/>
          </p:cNvGrpSpPr>
          <p:nvPr/>
        </p:nvGrpSpPr>
        <p:grpSpPr bwMode="auto">
          <a:xfrm>
            <a:off x="8420088" y="5628516"/>
            <a:ext cx="2933712" cy="650333"/>
            <a:chOff x="676" y="3874"/>
            <a:chExt cx="1500" cy="392"/>
          </a:xfrm>
        </p:grpSpPr>
        <p:sp>
          <p:nvSpPr>
            <p:cNvPr id="11" name="Line 35">
              <a:extLst>
                <a:ext uri="{FF2B5EF4-FFF2-40B4-BE49-F238E27FC236}">
                  <a16:creationId xmlns:a16="http://schemas.microsoft.com/office/drawing/2014/main" id="{8667FC3F-B3CE-B360-FD9E-DDF2683EB329}"/>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6">
              <a:extLst>
                <a:ext uri="{FF2B5EF4-FFF2-40B4-BE49-F238E27FC236}">
                  <a16:creationId xmlns:a16="http://schemas.microsoft.com/office/drawing/2014/main" id="{49C349F6-A832-BDED-9815-06E13C887768}"/>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37">
              <a:extLst>
                <a:ext uri="{FF2B5EF4-FFF2-40B4-BE49-F238E27FC236}">
                  <a16:creationId xmlns:a16="http://schemas.microsoft.com/office/drawing/2014/main" id="{2121C96B-F3F1-1020-1F0D-0174CC636F8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38">
              <a:extLst>
                <a:ext uri="{FF2B5EF4-FFF2-40B4-BE49-F238E27FC236}">
                  <a16:creationId xmlns:a16="http://schemas.microsoft.com/office/drawing/2014/main" id="{1C24D627-9C9F-1114-C37E-572FE6AF542C}"/>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5" name="Rectangle 39">
              <a:extLst>
                <a:ext uri="{FF2B5EF4-FFF2-40B4-BE49-F238E27FC236}">
                  <a16:creationId xmlns:a16="http://schemas.microsoft.com/office/drawing/2014/main" id="{1095A5F8-1170-FF61-B2B9-90F64344C8F6}"/>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6" name="Rectangle 40">
              <a:extLst>
                <a:ext uri="{FF2B5EF4-FFF2-40B4-BE49-F238E27FC236}">
                  <a16:creationId xmlns:a16="http://schemas.microsoft.com/office/drawing/2014/main" id="{8F2E3D98-0E73-4F95-5424-F7247BCD9D96}"/>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Rough-Cut</a:t>
              </a:r>
            </a:p>
            <a:p>
              <a:pPr algn="ctr">
                <a:lnSpc>
                  <a:spcPct val="80000"/>
                </a:lnSpc>
                <a:buClrTx/>
                <a:buSzTx/>
                <a:buNone/>
              </a:pPr>
              <a:r>
                <a:rPr lang="en-US" altLang="en-US" sz="200" dirty="0">
                  <a:solidFill>
                    <a:schemeClr val="bg1"/>
                  </a:solidFill>
                </a:rPr>
                <a:t>Capacity</a:t>
              </a:r>
            </a:p>
            <a:p>
              <a:pPr algn="ctr">
                <a:lnSpc>
                  <a:spcPct val="80000"/>
                </a:lnSpc>
                <a:buClrTx/>
                <a:buSzTx/>
                <a:buNone/>
              </a:pPr>
              <a:r>
                <a:rPr lang="en-US" altLang="en-US" sz="200" dirty="0">
                  <a:solidFill>
                    <a:schemeClr val="bg1"/>
                  </a:solidFill>
                </a:rPr>
                <a:t>Analysis</a:t>
              </a:r>
            </a:p>
          </p:txBody>
        </p:sp>
        <p:sp>
          <p:nvSpPr>
            <p:cNvPr id="17" name="Rectangle 41">
              <a:extLst>
                <a:ext uri="{FF2B5EF4-FFF2-40B4-BE49-F238E27FC236}">
                  <a16:creationId xmlns:a16="http://schemas.microsoft.com/office/drawing/2014/main" id="{825F2B86-BCB3-7879-CBD6-3E7F4C7D59F4}"/>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Error Code</a:t>
              </a:r>
            </a:p>
            <a:p>
              <a:pPr algn="ctr">
                <a:lnSpc>
                  <a:spcPct val="80000"/>
                </a:lnSpc>
                <a:buClrTx/>
                <a:buSzTx/>
                <a:buNone/>
              </a:pPr>
              <a:r>
                <a:rPr lang="en-US" altLang="en-US" sz="200" dirty="0">
                  <a:solidFill>
                    <a:srgbClr val="000066"/>
                  </a:solidFill>
                </a:rPr>
                <a:t>Evaluation</a:t>
              </a:r>
            </a:p>
          </p:txBody>
        </p:sp>
        <p:sp>
          <p:nvSpPr>
            <p:cNvPr id="18" name="AutoShape 42">
              <a:extLst>
                <a:ext uri="{FF2B5EF4-FFF2-40B4-BE49-F238E27FC236}">
                  <a16:creationId xmlns:a16="http://schemas.microsoft.com/office/drawing/2014/main" id="{9E5C87C6-2405-F8E4-070B-9ED6D6C1FC22}"/>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19" name="Rectangle 43">
              <a:extLst>
                <a:ext uri="{FF2B5EF4-FFF2-40B4-BE49-F238E27FC236}">
                  <a16:creationId xmlns:a16="http://schemas.microsoft.com/office/drawing/2014/main" id="{E0DAC8E4-6F62-4DA5-2F31-9D31D5981B4B}"/>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rPr>
                <a:t>Second-Pass</a:t>
              </a:r>
            </a:p>
            <a:p>
              <a:pPr algn="ctr">
                <a:lnSpc>
                  <a:spcPct val="80000"/>
                </a:lnSpc>
                <a:buClrTx/>
                <a:buSzTx/>
                <a:buNone/>
              </a:pPr>
              <a:r>
                <a:rPr lang="en-US" altLang="en-US" sz="200" dirty="0">
                  <a:solidFill>
                    <a:srgbClr val="000066"/>
                  </a:solidFill>
                </a:rPr>
                <a:t>Spreadsheet</a:t>
              </a:r>
            </a:p>
            <a:p>
              <a:pPr algn="ctr">
                <a:lnSpc>
                  <a:spcPct val="80000"/>
                </a:lnSpc>
                <a:buClrTx/>
                <a:buSzTx/>
                <a:buNone/>
              </a:pPr>
              <a:r>
                <a:rPr lang="ja-JP" altLang="en-US" sz="200" dirty="0">
                  <a:solidFill>
                    <a:srgbClr val="000066"/>
                  </a:solidFill>
                </a:rPr>
                <a:t>“</a:t>
              </a:r>
              <a:r>
                <a:rPr lang="en-US" altLang="ja-JP" sz="200" dirty="0">
                  <a:solidFill>
                    <a:srgbClr val="000066"/>
                  </a:solidFill>
                </a:rPr>
                <a:t>Capacity Plan</a:t>
              </a:r>
              <a:r>
                <a:rPr lang="ja-JP" altLang="en-US" sz="200" dirty="0">
                  <a:solidFill>
                    <a:srgbClr val="000066"/>
                  </a:solidFill>
                </a:rPr>
                <a:t>”</a:t>
              </a:r>
              <a:endParaRPr lang="en-US" altLang="en-US" sz="200" dirty="0">
                <a:solidFill>
                  <a:srgbClr val="000066"/>
                </a:solidFill>
              </a:endParaRPr>
            </a:p>
          </p:txBody>
        </p:sp>
        <p:sp>
          <p:nvSpPr>
            <p:cNvPr id="20" name="Rectangle 44">
              <a:extLst>
                <a:ext uri="{FF2B5EF4-FFF2-40B4-BE49-F238E27FC236}">
                  <a16:creationId xmlns:a16="http://schemas.microsoft.com/office/drawing/2014/main" id="{770F1831-F8B4-31B2-8391-0250EF2BCD37}"/>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rPr>
                <a:t>Critical </a:t>
              </a:r>
            </a:p>
            <a:p>
              <a:pPr algn="ctr">
                <a:lnSpc>
                  <a:spcPct val="80000"/>
                </a:lnSpc>
                <a:buClrTx/>
                <a:buSzTx/>
                <a:buNone/>
              </a:pPr>
              <a:r>
                <a:rPr lang="en-US" altLang="en-US" sz="200" dirty="0">
                  <a:solidFill>
                    <a:schemeClr val="bg1"/>
                  </a:solidFill>
                </a:rPr>
                <a:t>Resource</a:t>
              </a:r>
            </a:p>
            <a:p>
              <a:pPr algn="ctr">
                <a:lnSpc>
                  <a:spcPct val="80000"/>
                </a:lnSpc>
                <a:buClrTx/>
                <a:buSzTx/>
                <a:buNone/>
              </a:pPr>
              <a:r>
                <a:rPr lang="en-US" altLang="en-US" sz="200" dirty="0">
                  <a:solidFill>
                    <a:schemeClr val="bg1"/>
                  </a:solidFill>
                </a:rPr>
                <a:t>Evaluation</a:t>
              </a:r>
            </a:p>
          </p:txBody>
        </p:sp>
        <p:sp>
          <p:nvSpPr>
            <p:cNvPr id="21" name="Rectangle 45">
              <a:extLst>
                <a:ext uri="{FF2B5EF4-FFF2-40B4-BE49-F238E27FC236}">
                  <a16:creationId xmlns:a16="http://schemas.microsoft.com/office/drawing/2014/main" id="{43B08A48-0278-4C06-2972-D900FF34E549}"/>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2" name="Rectangle 46">
              <a:extLst>
                <a:ext uri="{FF2B5EF4-FFF2-40B4-BE49-F238E27FC236}">
                  <a16:creationId xmlns:a16="http://schemas.microsoft.com/office/drawing/2014/main" id="{DC98975D-314B-E893-B0D1-7D17FDAA37D8}"/>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3" name="Rectangle 47">
              <a:extLst>
                <a:ext uri="{FF2B5EF4-FFF2-40B4-BE49-F238E27FC236}">
                  <a16:creationId xmlns:a16="http://schemas.microsoft.com/office/drawing/2014/main" id="{00BFF77D-8AE9-591C-7DEA-8400BEDDAE92}"/>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4140537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Critical Resource Capacity Report Example:  </a:t>
            </a:r>
            <a:br>
              <a:rPr lang="en-US" sz="3600" dirty="0"/>
            </a:br>
            <a:r>
              <a:rPr lang="en-US" sz="3600" dirty="0"/>
              <a:t>How Bottlenecked Are We?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Most S&amp;OP processes develop rough-cut capacity reports for only the most critical resources; each critical resource is carefully evaluated each month to determine to what extent demand will outstrip available supply.</a:t>
            </a:r>
          </a:p>
        </p:txBody>
      </p:sp>
      <p:grpSp>
        <p:nvGrpSpPr>
          <p:cNvPr id="16" name="Group 15">
            <a:extLst>
              <a:ext uri="{FF2B5EF4-FFF2-40B4-BE49-F238E27FC236}">
                <a16:creationId xmlns:a16="http://schemas.microsoft.com/office/drawing/2014/main" id="{1E6DFF91-082A-50D1-898C-EAC7498B7ACE}"/>
              </a:ext>
            </a:extLst>
          </p:cNvPr>
          <p:cNvGrpSpPr/>
          <p:nvPr/>
        </p:nvGrpSpPr>
        <p:grpSpPr>
          <a:xfrm>
            <a:off x="216665" y="1787811"/>
            <a:ext cx="8874265" cy="4122737"/>
            <a:chOff x="334963" y="2201863"/>
            <a:chExt cx="8612187" cy="4122737"/>
          </a:xfrm>
        </p:grpSpPr>
        <p:grpSp>
          <p:nvGrpSpPr>
            <p:cNvPr id="10" name="Group 53">
              <a:extLst>
                <a:ext uri="{FF2B5EF4-FFF2-40B4-BE49-F238E27FC236}">
                  <a16:creationId xmlns:a16="http://schemas.microsoft.com/office/drawing/2014/main" id="{E2A18056-C5EB-F4A5-4890-40D154625223}"/>
                </a:ext>
              </a:extLst>
            </p:cNvPr>
            <p:cNvGrpSpPr>
              <a:grpSpLocks/>
            </p:cNvGrpSpPr>
            <p:nvPr/>
          </p:nvGrpSpPr>
          <p:grpSpPr bwMode="auto">
            <a:xfrm>
              <a:off x="334963" y="2309813"/>
              <a:ext cx="5453062" cy="3624261"/>
              <a:chOff x="351" y="1398"/>
              <a:chExt cx="3435" cy="2283"/>
            </a:xfrm>
          </p:grpSpPr>
          <p:graphicFrame>
            <p:nvGraphicFramePr>
              <p:cNvPr id="11" name="Object 51">
                <a:extLst>
                  <a:ext uri="{FF2B5EF4-FFF2-40B4-BE49-F238E27FC236}">
                    <a16:creationId xmlns:a16="http://schemas.microsoft.com/office/drawing/2014/main" id="{88FBC14A-9D14-01C7-AFE3-5AFE9CFB1D38}"/>
                  </a:ext>
                </a:extLst>
              </p:cNvPr>
              <p:cNvGraphicFramePr>
                <a:graphicFrameLocks noChangeAspect="1"/>
              </p:cNvGraphicFramePr>
              <p:nvPr>
                <p:extLst>
                  <p:ext uri="{D42A27DB-BD31-4B8C-83A1-F6EECF244321}">
                    <p14:modId xmlns:p14="http://schemas.microsoft.com/office/powerpoint/2010/main" val="1998243884"/>
                  </p:ext>
                </p:extLst>
              </p:nvPr>
            </p:nvGraphicFramePr>
            <p:xfrm>
              <a:off x="390" y="1419"/>
              <a:ext cx="3195" cy="2175"/>
            </p:xfrm>
            <a:graphic>
              <a:graphicData uri="http://schemas.openxmlformats.org/presentationml/2006/ole">
                <mc:AlternateContent xmlns:mc="http://schemas.openxmlformats.org/markup-compatibility/2006">
                  <mc:Choice xmlns:v="urn:schemas-microsoft-com:vml" Requires="v">
                    <p:oleObj name="Worksheet" r:id="rId3" imgW="7239030" imgH="4924452" progId="Excel.Sheet.8">
                      <p:embed/>
                    </p:oleObj>
                  </mc:Choice>
                  <mc:Fallback>
                    <p:oleObj name="Worksheet" r:id="rId3" imgW="7239030" imgH="4924452" progId="Excel.Sheet.8">
                      <p:embed/>
                      <p:pic>
                        <p:nvPicPr>
                          <p:cNvPr id="43031" name="Object 51">
                            <a:extLst>
                              <a:ext uri="{FF2B5EF4-FFF2-40B4-BE49-F238E27FC236}">
                                <a16:creationId xmlns:a16="http://schemas.microsoft.com/office/drawing/2014/main" id="{987D0BBD-E18E-4BC0-AB51-5B05CA56079A}"/>
                              </a:ext>
                            </a:extLst>
                          </p:cNvPr>
                          <p:cNvPicPr>
                            <a:picLocks noChangeAspect="1" noChangeArrowheads="1"/>
                          </p:cNvPicPr>
                          <p:nvPr/>
                        </p:nvPicPr>
                        <p:blipFill>
                          <a:blip r:embed="rId4"/>
                          <a:srcRect/>
                          <a:stretch>
                            <a:fillRect/>
                          </a:stretch>
                        </p:blipFill>
                        <p:spPr bwMode="auto">
                          <a:xfrm>
                            <a:off x="390" y="1419"/>
                            <a:ext cx="3195" cy="2175"/>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2" name="Rectangle 52">
                <a:extLst>
                  <a:ext uri="{FF2B5EF4-FFF2-40B4-BE49-F238E27FC236}">
                    <a16:creationId xmlns:a16="http://schemas.microsoft.com/office/drawing/2014/main" id="{F67682BD-0188-5146-E2A8-564DA49752F3}"/>
                  </a:ext>
                </a:extLst>
              </p:cNvPr>
              <p:cNvSpPr>
                <a:spLocks noChangeArrowheads="1"/>
              </p:cNvSpPr>
              <p:nvPr/>
            </p:nvSpPr>
            <p:spPr bwMode="auto">
              <a:xfrm>
                <a:off x="351" y="1398"/>
                <a:ext cx="3435" cy="2283"/>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13" name="Rectangle 56">
              <a:extLst>
                <a:ext uri="{FF2B5EF4-FFF2-40B4-BE49-F238E27FC236}">
                  <a16:creationId xmlns:a16="http://schemas.microsoft.com/office/drawing/2014/main" id="{DBAC89EC-E348-C87D-13EC-DD6AF8939B23}"/>
                </a:ext>
              </a:extLst>
            </p:cNvPr>
            <p:cNvSpPr>
              <a:spLocks noChangeArrowheads="1"/>
            </p:cNvSpPr>
            <p:nvPr/>
          </p:nvSpPr>
          <p:spPr bwMode="auto">
            <a:xfrm>
              <a:off x="6196013" y="2201863"/>
              <a:ext cx="2751137" cy="3476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5000"/>
                </a:spcBef>
                <a:buClrTx/>
                <a:buSzPct val="90000"/>
                <a:buFont typeface="Arial" panose="020B0604020202020204" pitchFamily="34" charset="0"/>
                <a:buChar char="•"/>
              </a:pPr>
              <a:r>
                <a:rPr lang="en-US" altLang="en-US" sz="1100" dirty="0">
                  <a:latin typeface="+mn-lt"/>
                </a:rPr>
                <a:t>Capacity reports not usually done for all resources; only the most critical </a:t>
              </a:r>
              <a:r>
                <a:rPr lang="ja-JP" altLang="en-US" sz="1100" dirty="0">
                  <a:latin typeface="+mn-lt"/>
                </a:rPr>
                <a:t>“</a:t>
              </a:r>
              <a:r>
                <a:rPr lang="en-US" altLang="ja-JP" sz="1100" dirty="0">
                  <a:latin typeface="+mn-lt"/>
                </a:rPr>
                <a:t>bottleneck</a:t>
              </a:r>
              <a:r>
                <a:rPr lang="ja-JP" altLang="en-US" sz="1100" dirty="0">
                  <a:latin typeface="+mn-lt"/>
                </a:rPr>
                <a:t>”</a:t>
              </a:r>
              <a:r>
                <a:rPr lang="en-US" altLang="ja-JP" sz="1100" dirty="0">
                  <a:latin typeface="+mn-lt"/>
                </a:rPr>
                <a:t> ones</a:t>
              </a:r>
            </a:p>
            <a:p>
              <a:pPr>
                <a:spcBef>
                  <a:spcPct val="35000"/>
                </a:spcBef>
                <a:buClrTx/>
                <a:buSzPct val="90000"/>
                <a:buFont typeface="Arial" panose="020B0604020202020204" pitchFamily="34" charset="0"/>
                <a:buChar char="•"/>
              </a:pPr>
              <a:r>
                <a:rPr lang="en-US" altLang="en-US" sz="1100" dirty="0">
                  <a:latin typeface="+mn-lt"/>
                </a:rPr>
                <a:t>Confirms key shortages to entire S&amp;OP team rapidly – </a:t>
              </a:r>
              <a:r>
                <a:rPr lang="ja-JP" altLang="en-US" sz="1100" dirty="0">
                  <a:latin typeface="+mn-lt"/>
                </a:rPr>
                <a:t>“</a:t>
              </a:r>
              <a:r>
                <a:rPr lang="en-US" altLang="ja-JP" sz="1100" dirty="0">
                  <a:latin typeface="+mn-lt"/>
                </a:rPr>
                <a:t>Fact-based analysis</a:t>
              </a:r>
              <a:r>
                <a:rPr lang="ja-JP" altLang="en-US" sz="1100" dirty="0">
                  <a:latin typeface="+mn-lt"/>
                </a:rPr>
                <a:t>”</a:t>
              </a:r>
              <a:endParaRPr lang="en-US" altLang="ja-JP" sz="1100" dirty="0">
                <a:latin typeface="+mn-lt"/>
              </a:endParaRPr>
            </a:p>
            <a:p>
              <a:pPr>
                <a:spcBef>
                  <a:spcPct val="35000"/>
                </a:spcBef>
                <a:buClrTx/>
                <a:buSzPct val="90000"/>
                <a:buFont typeface="Arial" panose="020B0604020202020204" pitchFamily="34" charset="0"/>
                <a:buChar char="•"/>
              </a:pPr>
              <a:r>
                <a:rPr lang="en-US" altLang="en-US" sz="1100" dirty="0">
                  <a:latin typeface="+mn-lt"/>
                </a:rPr>
                <a:t>Identifies potential solutions including overtime and extra shifts</a:t>
              </a:r>
            </a:p>
            <a:p>
              <a:pPr>
                <a:spcBef>
                  <a:spcPct val="35000"/>
                </a:spcBef>
                <a:buClrTx/>
                <a:buSzPct val="90000"/>
                <a:buFont typeface="Arial" panose="020B0604020202020204" pitchFamily="34" charset="0"/>
                <a:buChar char="•"/>
              </a:pPr>
              <a:r>
                <a:rPr lang="en-US" altLang="en-US" sz="1100" dirty="0">
                  <a:latin typeface="+mn-lt"/>
                </a:rPr>
                <a:t>Forces collaborative action planning; demand exceeds supply which must be corrected</a:t>
              </a:r>
            </a:p>
            <a:p>
              <a:pPr>
                <a:spcBef>
                  <a:spcPct val="35000"/>
                </a:spcBef>
                <a:buClrTx/>
                <a:buSzPct val="90000"/>
                <a:buFont typeface="Arial" panose="020B0604020202020204" pitchFamily="34" charset="0"/>
                <a:buChar char="•"/>
              </a:pPr>
              <a:r>
                <a:rPr lang="en-US" altLang="en-US" sz="1100" dirty="0">
                  <a:latin typeface="+mn-lt"/>
                </a:rPr>
                <a:t>Allows on-the-spot financial planning; confirm costs and benefits of potential solutions</a:t>
              </a:r>
            </a:p>
            <a:p>
              <a:pPr>
                <a:spcBef>
                  <a:spcPct val="35000"/>
                </a:spcBef>
                <a:buClrTx/>
                <a:buSzPct val="90000"/>
                <a:buFont typeface="Arial" panose="020B0604020202020204" pitchFamily="34" charset="0"/>
                <a:buChar char="•"/>
              </a:pPr>
              <a:r>
                <a:rPr lang="en-US" altLang="en-US" sz="1100" dirty="0">
                  <a:latin typeface="+mn-lt"/>
                </a:rPr>
                <a:t>Facilitates long-term capacity planning including new-resource additions and excess capacity</a:t>
              </a:r>
            </a:p>
            <a:p>
              <a:pPr>
                <a:spcBef>
                  <a:spcPct val="35000"/>
                </a:spcBef>
                <a:buClrTx/>
                <a:buSzPct val="90000"/>
                <a:buFont typeface="Arial" panose="020B0604020202020204" pitchFamily="34" charset="0"/>
                <a:buChar char="•"/>
              </a:pPr>
              <a:r>
                <a:rPr lang="en-US" altLang="en-US" sz="1100" dirty="0">
                  <a:latin typeface="+mn-lt"/>
                </a:rPr>
                <a:t>No wasted time on unnecessary analysis and discussions</a:t>
              </a:r>
              <a:endParaRPr lang="en-US" altLang="en-US" sz="1100" b="0" dirty="0">
                <a:latin typeface="+mn-lt"/>
              </a:endParaRPr>
            </a:p>
          </p:txBody>
        </p:sp>
        <p:sp>
          <p:nvSpPr>
            <p:cNvPr id="14" name="AutoShape 57">
              <a:extLst>
                <a:ext uri="{FF2B5EF4-FFF2-40B4-BE49-F238E27FC236}">
                  <a16:creationId xmlns:a16="http://schemas.microsoft.com/office/drawing/2014/main" id="{59FFAA4A-1123-B06E-6E4C-62805BBBB692}"/>
                </a:ext>
              </a:extLst>
            </p:cNvPr>
            <p:cNvSpPr>
              <a:spLocks noChangeArrowheads="1"/>
            </p:cNvSpPr>
            <p:nvPr/>
          </p:nvSpPr>
          <p:spPr bwMode="auto">
            <a:xfrm>
              <a:off x="5899150" y="2709863"/>
              <a:ext cx="254000" cy="2603500"/>
            </a:xfrm>
            <a:prstGeom prst="rightArrow">
              <a:avLst>
                <a:gd name="adj1" fmla="val 72435"/>
                <a:gd name="adj2" fmla="val 73125"/>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5" name="Oval 58">
              <a:extLst>
                <a:ext uri="{FF2B5EF4-FFF2-40B4-BE49-F238E27FC236}">
                  <a16:creationId xmlns:a16="http://schemas.microsoft.com/office/drawing/2014/main" id="{B150E0BD-3EC9-9677-777C-D172742A9642}"/>
                </a:ext>
              </a:extLst>
            </p:cNvPr>
            <p:cNvSpPr>
              <a:spLocks noChangeArrowheads="1"/>
            </p:cNvSpPr>
            <p:nvPr/>
          </p:nvSpPr>
          <p:spPr bwMode="auto">
            <a:xfrm>
              <a:off x="3365500" y="5934075"/>
              <a:ext cx="4560888" cy="390525"/>
            </a:xfrm>
            <a:prstGeom prst="ellipse">
              <a:avLst/>
            </a:prstGeom>
            <a:solidFill>
              <a:schemeClr val="tx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1000" i="1" dirty="0">
                  <a:solidFill>
                    <a:schemeClr val="bg1"/>
                  </a:solidFill>
                  <a:latin typeface="+mn-lt"/>
                </a:rPr>
                <a:t>Rapid-Fire Trouble-Shooting:  Most Common</a:t>
              </a:r>
            </a:p>
            <a:p>
              <a:pPr algn="ctr">
                <a:lnSpc>
                  <a:spcPct val="80000"/>
                </a:lnSpc>
                <a:spcBef>
                  <a:spcPct val="15000"/>
                </a:spcBef>
                <a:buClrTx/>
                <a:buSzTx/>
                <a:buFontTx/>
                <a:buNone/>
              </a:pPr>
              <a:r>
                <a:rPr lang="en-US" altLang="en-US" sz="1000" i="1" dirty="0">
                  <a:solidFill>
                    <a:schemeClr val="bg1"/>
                  </a:solidFill>
                  <a:latin typeface="+mn-lt"/>
                </a:rPr>
                <a:t>Problems With Ready-Made Tailored Solutions</a:t>
              </a:r>
            </a:p>
          </p:txBody>
        </p:sp>
      </p:grpSp>
      <p:grpSp>
        <p:nvGrpSpPr>
          <p:cNvPr id="4" name="Group 51">
            <a:extLst>
              <a:ext uri="{FF2B5EF4-FFF2-40B4-BE49-F238E27FC236}">
                <a16:creationId xmlns:a16="http://schemas.microsoft.com/office/drawing/2014/main" id="{DB52333D-B26A-29CF-A7C5-D214C2FEF6F4}"/>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30750905-6354-E6A1-7693-46D665DB2F87}"/>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8C30028A-3587-D498-2742-C75BC0EE597F}"/>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7DA698DB-7B24-4E49-BB5A-493681AD01F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020C27C3-7711-EC80-CD44-575AFFD73086}"/>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9" name="Rectangle 39">
              <a:extLst>
                <a:ext uri="{FF2B5EF4-FFF2-40B4-BE49-F238E27FC236}">
                  <a16:creationId xmlns:a16="http://schemas.microsoft.com/office/drawing/2014/main" id="{64B7E7AD-DD0C-DD67-089F-6B0AC556C993}"/>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7" name="Rectangle 40">
              <a:extLst>
                <a:ext uri="{FF2B5EF4-FFF2-40B4-BE49-F238E27FC236}">
                  <a16:creationId xmlns:a16="http://schemas.microsoft.com/office/drawing/2014/main" id="{36351714-DE01-A7B9-DABA-581FBA4E103F}"/>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Rough-Cut</a:t>
              </a:r>
            </a:p>
            <a:p>
              <a:pPr algn="ctr">
                <a:lnSpc>
                  <a:spcPct val="80000"/>
                </a:lnSpc>
                <a:buClrTx/>
                <a:buSzTx/>
                <a:buNone/>
              </a:pPr>
              <a:r>
                <a:rPr lang="en-US" altLang="en-US" sz="200" dirty="0">
                  <a:solidFill>
                    <a:schemeClr val="bg1"/>
                  </a:solidFill>
                  <a:latin typeface="+mn-lt"/>
                </a:rPr>
                <a:t>Capacity</a:t>
              </a:r>
            </a:p>
            <a:p>
              <a:pPr algn="ctr">
                <a:lnSpc>
                  <a:spcPct val="80000"/>
                </a:lnSpc>
                <a:buClrTx/>
                <a:buSzTx/>
                <a:buNone/>
              </a:pPr>
              <a:r>
                <a:rPr lang="en-US" altLang="en-US" sz="200" dirty="0">
                  <a:solidFill>
                    <a:schemeClr val="bg1"/>
                  </a:solidFill>
                  <a:latin typeface="+mn-lt"/>
                </a:rPr>
                <a:t>Analysis</a:t>
              </a:r>
            </a:p>
          </p:txBody>
        </p:sp>
        <p:sp>
          <p:nvSpPr>
            <p:cNvPr id="18" name="Rectangle 41">
              <a:extLst>
                <a:ext uri="{FF2B5EF4-FFF2-40B4-BE49-F238E27FC236}">
                  <a16:creationId xmlns:a16="http://schemas.microsoft.com/office/drawing/2014/main" id="{F724F013-8810-F3A6-DE31-205F5B56BDA9}"/>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19" name="AutoShape 42">
              <a:extLst>
                <a:ext uri="{FF2B5EF4-FFF2-40B4-BE49-F238E27FC236}">
                  <a16:creationId xmlns:a16="http://schemas.microsoft.com/office/drawing/2014/main" id="{78535473-9DE5-FAEE-080F-5349E9D0B6B1}"/>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0" name="Rectangle 43">
              <a:extLst>
                <a:ext uri="{FF2B5EF4-FFF2-40B4-BE49-F238E27FC236}">
                  <a16:creationId xmlns:a16="http://schemas.microsoft.com/office/drawing/2014/main" id="{8CD72E51-8A56-7BEA-8090-62448EC856C6}"/>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21" name="Rectangle 44">
              <a:extLst>
                <a:ext uri="{FF2B5EF4-FFF2-40B4-BE49-F238E27FC236}">
                  <a16:creationId xmlns:a16="http://schemas.microsoft.com/office/drawing/2014/main" id="{CB119472-1F3D-1FB9-2C84-7FA53C660B34}"/>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22" name="Rectangle 45">
              <a:extLst>
                <a:ext uri="{FF2B5EF4-FFF2-40B4-BE49-F238E27FC236}">
                  <a16:creationId xmlns:a16="http://schemas.microsoft.com/office/drawing/2014/main" id="{6F4AC93D-10CB-7E6F-1E84-23E949532B99}"/>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3" name="Rectangle 46">
              <a:extLst>
                <a:ext uri="{FF2B5EF4-FFF2-40B4-BE49-F238E27FC236}">
                  <a16:creationId xmlns:a16="http://schemas.microsoft.com/office/drawing/2014/main" id="{9384A5AC-3745-017B-C656-5E2CD742F0BF}"/>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4" name="Rectangle 47">
              <a:extLst>
                <a:ext uri="{FF2B5EF4-FFF2-40B4-BE49-F238E27FC236}">
                  <a16:creationId xmlns:a16="http://schemas.microsoft.com/office/drawing/2014/main" id="{50907476-180A-874D-77D6-1DC9A82D3909}"/>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3339366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Critical Resource Evaluation Process:  </a:t>
            </a:r>
            <a:br>
              <a:rPr lang="en-US" sz="3600" dirty="0"/>
            </a:br>
            <a:r>
              <a:rPr lang="en-US" sz="3600" dirty="0"/>
              <a:t>Identify, Confirm, Solve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Before legitimate supply-demand matching can take place with the pilot S&amp;OP team can take place, all product or family-specific critical resources must be evaluated, understood and matched to tailored solutions for S-D mismatches.</a:t>
            </a:r>
          </a:p>
        </p:txBody>
      </p:sp>
      <p:grpSp>
        <p:nvGrpSpPr>
          <p:cNvPr id="80" name="Group 79">
            <a:extLst>
              <a:ext uri="{FF2B5EF4-FFF2-40B4-BE49-F238E27FC236}">
                <a16:creationId xmlns:a16="http://schemas.microsoft.com/office/drawing/2014/main" id="{AC65FB48-C503-7B0C-2F17-DF2862B1B2E7}"/>
              </a:ext>
            </a:extLst>
          </p:cNvPr>
          <p:cNvGrpSpPr/>
          <p:nvPr/>
        </p:nvGrpSpPr>
        <p:grpSpPr>
          <a:xfrm>
            <a:off x="397179" y="2052151"/>
            <a:ext cx="7974013" cy="3803650"/>
            <a:chOff x="383490" y="2433723"/>
            <a:chExt cx="7974013" cy="3803650"/>
          </a:xfrm>
        </p:grpSpPr>
        <p:grpSp>
          <p:nvGrpSpPr>
            <p:cNvPr id="76" name="Group 75">
              <a:extLst>
                <a:ext uri="{FF2B5EF4-FFF2-40B4-BE49-F238E27FC236}">
                  <a16:creationId xmlns:a16="http://schemas.microsoft.com/office/drawing/2014/main" id="{22ED7EEF-0DDE-AC97-1ABE-AB0A2FEDA236}"/>
                </a:ext>
              </a:extLst>
            </p:cNvPr>
            <p:cNvGrpSpPr/>
            <p:nvPr/>
          </p:nvGrpSpPr>
          <p:grpSpPr>
            <a:xfrm>
              <a:off x="383490" y="2433723"/>
              <a:ext cx="7974013" cy="3803650"/>
              <a:chOff x="590550" y="2417763"/>
              <a:chExt cx="7974013" cy="3803650"/>
            </a:xfrm>
          </p:grpSpPr>
          <p:cxnSp>
            <p:nvCxnSpPr>
              <p:cNvPr id="4" name="AutoShape 5">
                <a:extLst>
                  <a:ext uri="{FF2B5EF4-FFF2-40B4-BE49-F238E27FC236}">
                    <a16:creationId xmlns:a16="http://schemas.microsoft.com/office/drawing/2014/main" id="{B76B5C4C-4BEB-16E2-7472-1A450D08A2B2}"/>
                  </a:ext>
                </a:extLst>
              </p:cNvPr>
              <p:cNvCxnSpPr>
                <a:cxnSpLocks noChangeShapeType="1"/>
              </p:cNvCxnSpPr>
              <p:nvPr/>
            </p:nvCxnSpPr>
            <p:spPr bwMode="auto">
              <a:xfrm rot="5400000" flipH="1" flipV="1">
                <a:off x="1571625" y="3624263"/>
                <a:ext cx="1255713" cy="1874837"/>
              </a:xfrm>
              <a:prstGeom prst="bentConnector4">
                <a:avLst>
                  <a:gd name="adj1" fmla="val -10037"/>
                  <a:gd name="adj2" fmla="val 11509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 name="Rectangle 6">
                <a:extLst>
                  <a:ext uri="{FF2B5EF4-FFF2-40B4-BE49-F238E27FC236}">
                    <a16:creationId xmlns:a16="http://schemas.microsoft.com/office/drawing/2014/main" id="{D957465A-A23A-9156-7F6D-68E53711FDD4}"/>
                  </a:ext>
                </a:extLst>
              </p:cNvPr>
              <p:cNvSpPr>
                <a:spLocks noChangeArrowheads="1"/>
              </p:cNvSpPr>
              <p:nvPr/>
            </p:nvSpPr>
            <p:spPr bwMode="auto">
              <a:xfrm>
                <a:off x="952500" y="3827463"/>
                <a:ext cx="623888" cy="3381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dirty="0">
                    <a:solidFill>
                      <a:schemeClr val="bg1"/>
                    </a:solidFill>
                    <a:latin typeface="+mn-lt"/>
                  </a:rPr>
                  <a:t>Product</a:t>
                </a:r>
              </a:p>
              <a:p>
                <a:pPr algn="ctr">
                  <a:lnSpc>
                    <a:spcPct val="80000"/>
                  </a:lnSpc>
                  <a:spcBef>
                    <a:spcPct val="15000"/>
                  </a:spcBef>
                  <a:buClrTx/>
                  <a:buSzTx/>
                  <a:buFontTx/>
                  <a:buNone/>
                </a:pPr>
                <a:r>
                  <a:rPr lang="en-US" altLang="en-US" sz="600" dirty="0">
                    <a:solidFill>
                      <a:schemeClr val="bg1"/>
                    </a:solidFill>
                    <a:latin typeface="+mn-lt"/>
                  </a:rPr>
                  <a:t>D</a:t>
                </a:r>
              </a:p>
            </p:txBody>
          </p:sp>
          <p:sp>
            <p:nvSpPr>
              <p:cNvPr id="6" name="Rectangle 7">
                <a:extLst>
                  <a:ext uri="{FF2B5EF4-FFF2-40B4-BE49-F238E27FC236}">
                    <a16:creationId xmlns:a16="http://schemas.microsoft.com/office/drawing/2014/main" id="{CFE8D0D1-1F1B-1412-96A6-7D373378024C}"/>
                  </a:ext>
                </a:extLst>
              </p:cNvPr>
              <p:cNvSpPr>
                <a:spLocks noChangeArrowheads="1"/>
              </p:cNvSpPr>
              <p:nvPr/>
            </p:nvSpPr>
            <p:spPr bwMode="auto">
              <a:xfrm>
                <a:off x="1733550" y="3827463"/>
                <a:ext cx="623888" cy="3381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a:t>
                </a:r>
              </a:p>
              <a:p>
                <a:pPr algn="ctr">
                  <a:lnSpc>
                    <a:spcPct val="80000"/>
                  </a:lnSpc>
                  <a:spcBef>
                    <a:spcPct val="15000"/>
                  </a:spcBef>
                  <a:buClrTx/>
                  <a:buSzTx/>
                  <a:buFontTx/>
                  <a:buNone/>
                </a:pPr>
                <a:r>
                  <a:rPr lang="en-US" altLang="en-US" sz="600">
                    <a:solidFill>
                      <a:schemeClr val="bg1"/>
                    </a:solidFill>
                    <a:latin typeface="+mn-lt"/>
                  </a:rPr>
                  <a:t>E</a:t>
                </a:r>
              </a:p>
            </p:txBody>
          </p:sp>
          <p:sp>
            <p:nvSpPr>
              <p:cNvPr id="7" name="Rectangle 8">
                <a:extLst>
                  <a:ext uri="{FF2B5EF4-FFF2-40B4-BE49-F238E27FC236}">
                    <a16:creationId xmlns:a16="http://schemas.microsoft.com/office/drawing/2014/main" id="{BAD08FBF-06EB-0CBF-5C2B-760CFC2D18C9}"/>
                  </a:ext>
                </a:extLst>
              </p:cNvPr>
              <p:cNvSpPr>
                <a:spLocks noChangeArrowheads="1"/>
              </p:cNvSpPr>
              <p:nvPr/>
            </p:nvSpPr>
            <p:spPr bwMode="auto">
              <a:xfrm>
                <a:off x="2513013" y="3827463"/>
                <a:ext cx="623887" cy="3381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 </a:t>
                </a:r>
              </a:p>
              <a:p>
                <a:pPr algn="ctr">
                  <a:lnSpc>
                    <a:spcPct val="80000"/>
                  </a:lnSpc>
                  <a:spcBef>
                    <a:spcPct val="15000"/>
                  </a:spcBef>
                  <a:buClrTx/>
                  <a:buSzTx/>
                  <a:buFontTx/>
                  <a:buNone/>
                </a:pPr>
                <a:r>
                  <a:rPr lang="en-US" altLang="en-US" sz="600">
                    <a:solidFill>
                      <a:schemeClr val="bg1"/>
                    </a:solidFill>
                    <a:latin typeface="+mn-lt"/>
                  </a:rPr>
                  <a:t>F</a:t>
                </a:r>
              </a:p>
            </p:txBody>
          </p:sp>
          <p:sp>
            <p:nvSpPr>
              <p:cNvPr id="8" name="Rectangle 9">
                <a:extLst>
                  <a:ext uri="{FF2B5EF4-FFF2-40B4-BE49-F238E27FC236}">
                    <a16:creationId xmlns:a16="http://schemas.microsoft.com/office/drawing/2014/main" id="{45987BA5-530C-CC40-E9AB-F35018000295}"/>
                  </a:ext>
                </a:extLst>
              </p:cNvPr>
              <p:cNvSpPr>
                <a:spLocks noChangeArrowheads="1"/>
              </p:cNvSpPr>
              <p:nvPr/>
            </p:nvSpPr>
            <p:spPr bwMode="auto">
              <a:xfrm>
                <a:off x="985838" y="4402138"/>
                <a:ext cx="554037" cy="3571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a:t>
                </a:r>
              </a:p>
              <a:p>
                <a:pPr algn="ctr">
                  <a:lnSpc>
                    <a:spcPct val="80000"/>
                  </a:lnSpc>
                  <a:spcBef>
                    <a:spcPct val="15000"/>
                  </a:spcBef>
                  <a:buClrTx/>
                  <a:buSzTx/>
                  <a:buFontTx/>
                  <a:buNone/>
                </a:pPr>
                <a:r>
                  <a:rPr lang="en-US" altLang="en-US" sz="600">
                    <a:solidFill>
                      <a:schemeClr val="bg1"/>
                    </a:solidFill>
                    <a:latin typeface="+mn-lt"/>
                  </a:rPr>
                  <a:t>1</a:t>
                </a:r>
              </a:p>
            </p:txBody>
          </p:sp>
          <p:sp>
            <p:nvSpPr>
              <p:cNvPr id="9" name="Rectangle 10">
                <a:extLst>
                  <a:ext uri="{FF2B5EF4-FFF2-40B4-BE49-F238E27FC236}">
                    <a16:creationId xmlns:a16="http://schemas.microsoft.com/office/drawing/2014/main" id="{1036F89B-BA4A-4371-11CF-A64885C7A8E6}"/>
                  </a:ext>
                </a:extLst>
              </p:cNvPr>
              <p:cNvSpPr>
                <a:spLocks noChangeArrowheads="1"/>
              </p:cNvSpPr>
              <p:nvPr/>
            </p:nvSpPr>
            <p:spPr bwMode="auto">
              <a:xfrm>
                <a:off x="1766888" y="4402138"/>
                <a:ext cx="554037" cy="3571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a:t>
                </a:r>
              </a:p>
              <a:p>
                <a:pPr algn="ctr">
                  <a:lnSpc>
                    <a:spcPct val="80000"/>
                  </a:lnSpc>
                  <a:spcBef>
                    <a:spcPct val="15000"/>
                  </a:spcBef>
                  <a:buClrTx/>
                  <a:buSzTx/>
                  <a:buFontTx/>
                  <a:buNone/>
                </a:pPr>
                <a:r>
                  <a:rPr lang="en-US" altLang="en-US" sz="600">
                    <a:solidFill>
                      <a:schemeClr val="bg1"/>
                    </a:solidFill>
                    <a:latin typeface="+mn-lt"/>
                  </a:rPr>
                  <a:t>2</a:t>
                </a:r>
              </a:p>
            </p:txBody>
          </p:sp>
          <p:sp>
            <p:nvSpPr>
              <p:cNvPr id="17" name="Rectangle 11">
                <a:extLst>
                  <a:ext uri="{FF2B5EF4-FFF2-40B4-BE49-F238E27FC236}">
                    <a16:creationId xmlns:a16="http://schemas.microsoft.com/office/drawing/2014/main" id="{7CE19330-BFFE-1B37-9233-647A6355673E}"/>
                  </a:ext>
                </a:extLst>
              </p:cNvPr>
              <p:cNvSpPr>
                <a:spLocks noChangeArrowheads="1"/>
              </p:cNvSpPr>
              <p:nvPr/>
            </p:nvSpPr>
            <p:spPr bwMode="auto">
              <a:xfrm>
                <a:off x="2546350" y="4402138"/>
                <a:ext cx="554038" cy="3571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 </a:t>
                </a:r>
              </a:p>
              <a:p>
                <a:pPr algn="ctr">
                  <a:lnSpc>
                    <a:spcPct val="80000"/>
                  </a:lnSpc>
                  <a:spcBef>
                    <a:spcPct val="15000"/>
                  </a:spcBef>
                  <a:buClrTx/>
                  <a:buSzTx/>
                  <a:buFontTx/>
                  <a:buNone/>
                </a:pPr>
                <a:r>
                  <a:rPr lang="en-US" altLang="en-US" sz="600">
                    <a:solidFill>
                      <a:schemeClr val="bg1"/>
                    </a:solidFill>
                    <a:latin typeface="+mn-lt"/>
                  </a:rPr>
                  <a:t>3</a:t>
                </a:r>
              </a:p>
            </p:txBody>
          </p:sp>
          <p:sp>
            <p:nvSpPr>
              <p:cNvPr id="18" name="Rectangle 12">
                <a:extLst>
                  <a:ext uri="{FF2B5EF4-FFF2-40B4-BE49-F238E27FC236}">
                    <a16:creationId xmlns:a16="http://schemas.microsoft.com/office/drawing/2014/main" id="{F7AE3F58-C155-A64D-1A4E-0D7C20881DD8}"/>
                  </a:ext>
                </a:extLst>
              </p:cNvPr>
              <p:cNvSpPr>
                <a:spLocks noChangeArrowheads="1"/>
              </p:cNvSpPr>
              <p:nvPr/>
            </p:nvSpPr>
            <p:spPr bwMode="auto">
              <a:xfrm>
                <a:off x="985838" y="4894263"/>
                <a:ext cx="554037" cy="3587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a:t>
                </a:r>
              </a:p>
              <a:p>
                <a:pPr algn="ctr">
                  <a:lnSpc>
                    <a:spcPct val="80000"/>
                  </a:lnSpc>
                  <a:spcBef>
                    <a:spcPct val="15000"/>
                  </a:spcBef>
                  <a:buClrTx/>
                  <a:buSzTx/>
                  <a:buFontTx/>
                  <a:buNone/>
                </a:pPr>
                <a:r>
                  <a:rPr lang="en-US" altLang="en-US" sz="600">
                    <a:solidFill>
                      <a:schemeClr val="bg1"/>
                    </a:solidFill>
                    <a:latin typeface="+mn-lt"/>
                  </a:rPr>
                  <a:t>4</a:t>
                </a:r>
              </a:p>
            </p:txBody>
          </p:sp>
          <p:sp>
            <p:nvSpPr>
              <p:cNvPr id="19" name="Rectangle 13">
                <a:extLst>
                  <a:ext uri="{FF2B5EF4-FFF2-40B4-BE49-F238E27FC236}">
                    <a16:creationId xmlns:a16="http://schemas.microsoft.com/office/drawing/2014/main" id="{EB9F3C70-A319-B08D-576B-F76CFDAA37E7}"/>
                  </a:ext>
                </a:extLst>
              </p:cNvPr>
              <p:cNvSpPr>
                <a:spLocks noChangeArrowheads="1"/>
              </p:cNvSpPr>
              <p:nvPr/>
            </p:nvSpPr>
            <p:spPr bwMode="auto">
              <a:xfrm>
                <a:off x="1766888" y="4894263"/>
                <a:ext cx="554037" cy="3587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a:t>
                </a:r>
              </a:p>
              <a:p>
                <a:pPr algn="ctr">
                  <a:lnSpc>
                    <a:spcPct val="80000"/>
                  </a:lnSpc>
                  <a:spcBef>
                    <a:spcPct val="15000"/>
                  </a:spcBef>
                  <a:buClrTx/>
                  <a:buSzTx/>
                  <a:buFontTx/>
                  <a:buNone/>
                </a:pPr>
                <a:r>
                  <a:rPr lang="en-US" altLang="en-US" sz="600">
                    <a:solidFill>
                      <a:schemeClr val="bg1"/>
                    </a:solidFill>
                    <a:latin typeface="+mn-lt"/>
                  </a:rPr>
                  <a:t>5</a:t>
                </a:r>
              </a:p>
            </p:txBody>
          </p:sp>
          <p:sp>
            <p:nvSpPr>
              <p:cNvPr id="20" name="Rectangle 14">
                <a:extLst>
                  <a:ext uri="{FF2B5EF4-FFF2-40B4-BE49-F238E27FC236}">
                    <a16:creationId xmlns:a16="http://schemas.microsoft.com/office/drawing/2014/main" id="{1174E300-AD10-CA99-09E0-06DE5DD5398E}"/>
                  </a:ext>
                </a:extLst>
              </p:cNvPr>
              <p:cNvSpPr>
                <a:spLocks noChangeArrowheads="1"/>
              </p:cNvSpPr>
              <p:nvPr/>
            </p:nvSpPr>
            <p:spPr bwMode="auto">
              <a:xfrm>
                <a:off x="2546350" y="4894263"/>
                <a:ext cx="554038" cy="3587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 </a:t>
                </a:r>
              </a:p>
              <a:p>
                <a:pPr algn="ctr">
                  <a:lnSpc>
                    <a:spcPct val="80000"/>
                  </a:lnSpc>
                  <a:spcBef>
                    <a:spcPct val="15000"/>
                  </a:spcBef>
                  <a:buClrTx/>
                  <a:buSzTx/>
                  <a:buFontTx/>
                  <a:buNone/>
                </a:pPr>
                <a:r>
                  <a:rPr lang="en-US" altLang="en-US" sz="600">
                    <a:solidFill>
                      <a:schemeClr val="bg1"/>
                    </a:solidFill>
                    <a:latin typeface="+mn-lt"/>
                  </a:rPr>
                  <a:t>6</a:t>
                </a:r>
              </a:p>
            </p:txBody>
          </p:sp>
          <p:cxnSp>
            <p:nvCxnSpPr>
              <p:cNvPr id="21" name="AutoShape 15">
                <a:extLst>
                  <a:ext uri="{FF2B5EF4-FFF2-40B4-BE49-F238E27FC236}">
                    <a16:creationId xmlns:a16="http://schemas.microsoft.com/office/drawing/2014/main" id="{50CE5C93-E9B0-7555-0BED-0DF035DF158A}"/>
                  </a:ext>
                </a:extLst>
              </p:cNvPr>
              <p:cNvCxnSpPr>
                <a:cxnSpLocks noChangeShapeType="1"/>
                <a:stCxn id="8" idx="0"/>
                <a:endCxn id="5" idx="2"/>
              </p:cNvCxnSpPr>
              <p:nvPr/>
            </p:nvCxnSpPr>
            <p:spPr bwMode="auto">
              <a:xfrm flipV="1">
                <a:off x="1262063" y="4165600"/>
                <a:ext cx="1587" cy="2365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16">
                <a:extLst>
                  <a:ext uri="{FF2B5EF4-FFF2-40B4-BE49-F238E27FC236}">
                    <a16:creationId xmlns:a16="http://schemas.microsoft.com/office/drawing/2014/main" id="{8C919FF7-B79D-537B-A42E-FB099AED22F1}"/>
                  </a:ext>
                </a:extLst>
              </p:cNvPr>
              <p:cNvCxnSpPr>
                <a:cxnSpLocks noChangeShapeType="1"/>
                <a:stCxn id="8" idx="0"/>
                <a:endCxn id="6" idx="2"/>
              </p:cNvCxnSpPr>
              <p:nvPr/>
            </p:nvCxnSpPr>
            <p:spPr bwMode="auto">
              <a:xfrm rot="16200000">
                <a:off x="1535113" y="3892550"/>
                <a:ext cx="236538" cy="782637"/>
              </a:xfrm>
              <a:prstGeom prst="bentConnector3">
                <a:avLst>
                  <a:gd name="adj1" fmla="val 4981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17">
                <a:extLst>
                  <a:ext uri="{FF2B5EF4-FFF2-40B4-BE49-F238E27FC236}">
                    <a16:creationId xmlns:a16="http://schemas.microsoft.com/office/drawing/2014/main" id="{2E24B354-B20D-8372-7B4A-59A769CC8157}"/>
                  </a:ext>
                </a:extLst>
              </p:cNvPr>
              <p:cNvCxnSpPr>
                <a:cxnSpLocks noChangeShapeType="1"/>
                <a:stCxn id="18" idx="3"/>
                <a:endCxn id="6" idx="1"/>
              </p:cNvCxnSpPr>
              <p:nvPr/>
            </p:nvCxnSpPr>
            <p:spPr bwMode="auto">
              <a:xfrm flipV="1">
                <a:off x="1539875" y="3997325"/>
                <a:ext cx="193675" cy="1077913"/>
              </a:xfrm>
              <a:prstGeom prst="bentConnector3">
                <a:avLst>
                  <a:gd name="adj1" fmla="val 4968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 name="AutoShape 18">
                <a:extLst>
                  <a:ext uri="{FF2B5EF4-FFF2-40B4-BE49-F238E27FC236}">
                    <a16:creationId xmlns:a16="http://schemas.microsoft.com/office/drawing/2014/main" id="{E5087602-0DD7-8007-030A-6F9290E0CF47}"/>
                  </a:ext>
                </a:extLst>
              </p:cNvPr>
              <p:cNvCxnSpPr>
                <a:cxnSpLocks noChangeShapeType="1"/>
                <a:stCxn id="20" idx="3"/>
                <a:endCxn id="7" idx="3"/>
              </p:cNvCxnSpPr>
              <p:nvPr/>
            </p:nvCxnSpPr>
            <p:spPr bwMode="auto">
              <a:xfrm flipV="1">
                <a:off x="3100388" y="3997325"/>
                <a:ext cx="36512" cy="1077913"/>
              </a:xfrm>
              <a:prstGeom prst="bentConnector3">
                <a:avLst>
                  <a:gd name="adj1" fmla="val 58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19">
                <a:extLst>
                  <a:ext uri="{FF2B5EF4-FFF2-40B4-BE49-F238E27FC236}">
                    <a16:creationId xmlns:a16="http://schemas.microsoft.com/office/drawing/2014/main" id="{A9EF9EB2-FE1C-C4C7-DE91-C7C4F8689B01}"/>
                  </a:ext>
                </a:extLst>
              </p:cNvPr>
              <p:cNvCxnSpPr>
                <a:cxnSpLocks noChangeShapeType="1"/>
                <a:stCxn id="19" idx="3"/>
                <a:endCxn id="6" idx="3"/>
              </p:cNvCxnSpPr>
              <p:nvPr/>
            </p:nvCxnSpPr>
            <p:spPr bwMode="auto">
              <a:xfrm flipV="1">
                <a:off x="2320925" y="3997325"/>
                <a:ext cx="36513" cy="1077913"/>
              </a:xfrm>
              <a:prstGeom prst="bentConnector3">
                <a:avLst>
                  <a:gd name="adj1" fmla="val 34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26" name="AutoShape 20">
                <a:extLst>
                  <a:ext uri="{FF2B5EF4-FFF2-40B4-BE49-F238E27FC236}">
                    <a16:creationId xmlns:a16="http://schemas.microsoft.com/office/drawing/2014/main" id="{4A161373-40F1-0137-9F1F-4649953AA757}"/>
                  </a:ext>
                </a:extLst>
              </p:cNvPr>
              <p:cNvCxnSpPr>
                <a:cxnSpLocks noChangeShapeType="1"/>
                <a:stCxn id="9" idx="0"/>
                <a:endCxn id="7" idx="2"/>
              </p:cNvCxnSpPr>
              <p:nvPr/>
            </p:nvCxnSpPr>
            <p:spPr bwMode="auto">
              <a:xfrm rot="16200000">
                <a:off x="2316956" y="3893344"/>
                <a:ext cx="236538" cy="781050"/>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21">
                <a:extLst>
                  <a:ext uri="{FF2B5EF4-FFF2-40B4-BE49-F238E27FC236}">
                    <a16:creationId xmlns:a16="http://schemas.microsoft.com/office/drawing/2014/main" id="{FC9F7099-D273-1D9D-C8AE-0763C32ACD81}"/>
                  </a:ext>
                </a:extLst>
              </p:cNvPr>
              <p:cNvCxnSpPr>
                <a:cxnSpLocks noChangeShapeType="1"/>
                <a:stCxn id="17" idx="0"/>
                <a:endCxn id="6" idx="2"/>
              </p:cNvCxnSpPr>
              <p:nvPr/>
            </p:nvCxnSpPr>
            <p:spPr bwMode="auto">
              <a:xfrm rot="5400000" flipH="1">
                <a:off x="2316163" y="3894137"/>
                <a:ext cx="236538" cy="779463"/>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2">
                <a:extLst>
                  <a:ext uri="{FF2B5EF4-FFF2-40B4-BE49-F238E27FC236}">
                    <a16:creationId xmlns:a16="http://schemas.microsoft.com/office/drawing/2014/main" id="{D1B4D205-9F21-17F1-837B-6484FF265029}"/>
                  </a:ext>
                </a:extLst>
              </p:cNvPr>
              <p:cNvCxnSpPr>
                <a:cxnSpLocks noChangeShapeType="1"/>
                <a:stCxn id="8" idx="1"/>
                <a:endCxn id="5" idx="1"/>
              </p:cNvCxnSpPr>
              <p:nvPr/>
            </p:nvCxnSpPr>
            <p:spPr bwMode="auto">
              <a:xfrm rot="10800000">
                <a:off x="952500" y="3997325"/>
                <a:ext cx="33338" cy="584200"/>
              </a:xfrm>
              <a:prstGeom prst="bentConnector3">
                <a:avLst>
                  <a:gd name="adj1" fmla="val 61428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3" name="AutoShape 23">
                <a:extLst>
                  <a:ext uri="{FF2B5EF4-FFF2-40B4-BE49-F238E27FC236}">
                    <a16:creationId xmlns:a16="http://schemas.microsoft.com/office/drawing/2014/main" id="{7014F1ED-2D8C-CB15-A1D8-15FBE0D66D7C}"/>
                  </a:ext>
                </a:extLst>
              </p:cNvPr>
              <p:cNvCxnSpPr>
                <a:cxnSpLocks noChangeShapeType="1"/>
                <a:stCxn id="19" idx="2"/>
                <a:endCxn id="5" idx="0"/>
              </p:cNvCxnSpPr>
              <p:nvPr/>
            </p:nvCxnSpPr>
            <p:spPr bwMode="auto">
              <a:xfrm rot="16200000" flipV="1">
                <a:off x="941387" y="4149726"/>
                <a:ext cx="1425575" cy="781050"/>
              </a:xfrm>
              <a:prstGeom prst="bentConnector5">
                <a:avLst>
                  <a:gd name="adj1" fmla="val -8838"/>
                  <a:gd name="adj2" fmla="val 174921"/>
                  <a:gd name="adj3" fmla="val 10595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4" name="Rectangle 24">
                <a:extLst>
                  <a:ext uri="{FF2B5EF4-FFF2-40B4-BE49-F238E27FC236}">
                    <a16:creationId xmlns:a16="http://schemas.microsoft.com/office/drawing/2014/main" id="{7B52B01B-8F10-162A-1D4E-C97CD6851653}"/>
                  </a:ext>
                </a:extLst>
              </p:cNvPr>
              <p:cNvSpPr>
                <a:spLocks noChangeArrowheads="1"/>
              </p:cNvSpPr>
              <p:nvPr/>
            </p:nvSpPr>
            <p:spPr bwMode="auto">
              <a:xfrm>
                <a:off x="590550" y="3632200"/>
                <a:ext cx="2954338" cy="18510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5" name="Rectangle 25">
                <a:extLst>
                  <a:ext uri="{FF2B5EF4-FFF2-40B4-BE49-F238E27FC236}">
                    <a16:creationId xmlns:a16="http://schemas.microsoft.com/office/drawing/2014/main" id="{9033179B-FF93-CE82-230A-71E6D0D0FFDB}"/>
                  </a:ext>
                </a:extLst>
              </p:cNvPr>
              <p:cNvSpPr>
                <a:spLocks noChangeArrowheads="1"/>
              </p:cNvSpPr>
              <p:nvPr/>
            </p:nvSpPr>
            <p:spPr bwMode="auto">
              <a:xfrm rot="16200000">
                <a:off x="2787650" y="4424363"/>
                <a:ext cx="2405063" cy="25558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000">
                    <a:solidFill>
                      <a:schemeClr val="bg1"/>
                    </a:solidFill>
                    <a:latin typeface="+mn-lt"/>
                  </a:rPr>
                  <a:t>“</a:t>
                </a:r>
                <a:r>
                  <a:rPr lang="en-US" altLang="ja-JP" sz="1000">
                    <a:solidFill>
                      <a:schemeClr val="bg1"/>
                    </a:solidFill>
                    <a:latin typeface="+mn-lt"/>
                  </a:rPr>
                  <a:t>Most Critical</a:t>
                </a:r>
                <a:r>
                  <a:rPr lang="ja-JP" altLang="en-US" sz="1000">
                    <a:solidFill>
                      <a:schemeClr val="bg1"/>
                    </a:solidFill>
                    <a:latin typeface="+mn-lt"/>
                  </a:rPr>
                  <a:t>”</a:t>
                </a:r>
                <a:r>
                  <a:rPr lang="en-US" altLang="ja-JP" sz="1000">
                    <a:solidFill>
                      <a:schemeClr val="bg1"/>
                    </a:solidFill>
                    <a:latin typeface="+mn-lt"/>
                  </a:rPr>
                  <a:t> Bottleneck Analysis</a:t>
                </a:r>
                <a:endParaRPr lang="en-US" altLang="en-US" sz="1000">
                  <a:solidFill>
                    <a:schemeClr val="bg1"/>
                  </a:solidFill>
                  <a:latin typeface="+mn-lt"/>
                </a:endParaRPr>
              </a:p>
            </p:txBody>
          </p:sp>
          <p:grpSp>
            <p:nvGrpSpPr>
              <p:cNvPr id="46" name="Group 26">
                <a:extLst>
                  <a:ext uri="{FF2B5EF4-FFF2-40B4-BE49-F238E27FC236}">
                    <a16:creationId xmlns:a16="http://schemas.microsoft.com/office/drawing/2014/main" id="{75D5B500-686D-CFBB-E071-EF099623CEA2}"/>
                  </a:ext>
                </a:extLst>
              </p:cNvPr>
              <p:cNvGrpSpPr>
                <a:grpSpLocks/>
              </p:cNvGrpSpPr>
              <p:nvPr/>
            </p:nvGrpSpPr>
            <p:grpSpPr bwMode="auto">
              <a:xfrm>
                <a:off x="4408488" y="3397250"/>
                <a:ext cx="879475" cy="2308225"/>
                <a:chOff x="2553" y="1419"/>
                <a:chExt cx="554" cy="1454"/>
              </a:xfrm>
            </p:grpSpPr>
            <p:sp>
              <p:nvSpPr>
                <p:cNvPr id="47" name="Oval 27">
                  <a:extLst>
                    <a:ext uri="{FF2B5EF4-FFF2-40B4-BE49-F238E27FC236}">
                      <a16:creationId xmlns:a16="http://schemas.microsoft.com/office/drawing/2014/main" id="{53176FA3-C1A5-CB78-F5EE-CAC1467581AB}"/>
                    </a:ext>
                  </a:extLst>
                </p:cNvPr>
                <p:cNvSpPr>
                  <a:spLocks noChangeArrowheads="1"/>
                </p:cNvSpPr>
                <p:nvPr/>
              </p:nvSpPr>
              <p:spPr bwMode="auto">
                <a:xfrm rot="-5400000">
                  <a:off x="2103" y="1869"/>
                  <a:ext cx="1454" cy="554"/>
                </a:xfrm>
                <a:prstGeom prst="ellipse">
                  <a:avLst/>
                </a:prstGeom>
                <a:solidFill>
                  <a:schemeClr val="bg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48" name="Group 28">
                  <a:extLst>
                    <a:ext uri="{FF2B5EF4-FFF2-40B4-BE49-F238E27FC236}">
                      <a16:creationId xmlns:a16="http://schemas.microsoft.com/office/drawing/2014/main" id="{A2FA7102-93AC-0947-25A8-BA1AB62DC2E6}"/>
                    </a:ext>
                  </a:extLst>
                </p:cNvPr>
                <p:cNvGrpSpPr>
                  <a:grpSpLocks/>
                </p:cNvGrpSpPr>
                <p:nvPr/>
              </p:nvGrpSpPr>
              <p:grpSpPr bwMode="auto">
                <a:xfrm>
                  <a:off x="2651" y="1664"/>
                  <a:ext cx="349" cy="932"/>
                  <a:chOff x="2651" y="1664"/>
                  <a:chExt cx="349" cy="932"/>
                </a:xfrm>
              </p:grpSpPr>
              <p:sp>
                <p:nvSpPr>
                  <p:cNvPr id="49" name="Rectangle 29">
                    <a:extLst>
                      <a:ext uri="{FF2B5EF4-FFF2-40B4-BE49-F238E27FC236}">
                        <a16:creationId xmlns:a16="http://schemas.microsoft.com/office/drawing/2014/main" id="{5FB64FBD-800D-C4BA-4412-45FCA05C6AD5}"/>
                      </a:ext>
                    </a:extLst>
                  </p:cNvPr>
                  <p:cNvSpPr>
                    <a:spLocks noChangeArrowheads="1"/>
                  </p:cNvSpPr>
                  <p:nvPr/>
                </p:nvSpPr>
                <p:spPr bwMode="auto">
                  <a:xfrm>
                    <a:off x="2651" y="1664"/>
                    <a:ext cx="349" cy="2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 </a:t>
                    </a:r>
                  </a:p>
                  <a:p>
                    <a:pPr algn="ctr">
                      <a:lnSpc>
                        <a:spcPct val="80000"/>
                      </a:lnSpc>
                      <a:spcBef>
                        <a:spcPct val="15000"/>
                      </a:spcBef>
                      <a:buClrTx/>
                      <a:buSzTx/>
                      <a:buFontTx/>
                      <a:buNone/>
                    </a:pPr>
                    <a:r>
                      <a:rPr lang="en-US" altLang="en-US" sz="600">
                        <a:solidFill>
                          <a:schemeClr val="bg1"/>
                        </a:solidFill>
                        <a:latin typeface="+mn-lt"/>
                      </a:rPr>
                      <a:t>1</a:t>
                    </a:r>
                  </a:p>
                </p:txBody>
              </p:sp>
              <p:sp>
                <p:nvSpPr>
                  <p:cNvPr id="50" name="Rectangle 30">
                    <a:extLst>
                      <a:ext uri="{FF2B5EF4-FFF2-40B4-BE49-F238E27FC236}">
                        <a16:creationId xmlns:a16="http://schemas.microsoft.com/office/drawing/2014/main" id="{4F3E93A0-2070-16BE-9CF6-CA533E2A663C}"/>
                      </a:ext>
                    </a:extLst>
                  </p:cNvPr>
                  <p:cNvSpPr>
                    <a:spLocks noChangeArrowheads="1"/>
                  </p:cNvSpPr>
                  <p:nvPr/>
                </p:nvSpPr>
                <p:spPr bwMode="auto">
                  <a:xfrm>
                    <a:off x="2651" y="2020"/>
                    <a:ext cx="349" cy="2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 </a:t>
                    </a:r>
                  </a:p>
                  <a:p>
                    <a:pPr algn="ctr">
                      <a:lnSpc>
                        <a:spcPct val="80000"/>
                      </a:lnSpc>
                      <a:spcBef>
                        <a:spcPct val="15000"/>
                      </a:spcBef>
                      <a:buClrTx/>
                      <a:buSzTx/>
                      <a:buFontTx/>
                      <a:buNone/>
                    </a:pPr>
                    <a:r>
                      <a:rPr lang="en-US" altLang="en-US" sz="600">
                        <a:solidFill>
                          <a:schemeClr val="bg1"/>
                        </a:solidFill>
                        <a:latin typeface="+mn-lt"/>
                      </a:rPr>
                      <a:t>3</a:t>
                    </a:r>
                  </a:p>
                </p:txBody>
              </p:sp>
              <p:sp>
                <p:nvSpPr>
                  <p:cNvPr id="51" name="Rectangle 31">
                    <a:extLst>
                      <a:ext uri="{FF2B5EF4-FFF2-40B4-BE49-F238E27FC236}">
                        <a16:creationId xmlns:a16="http://schemas.microsoft.com/office/drawing/2014/main" id="{DED9E93F-FA47-06E4-C5B6-6767E6EC29CF}"/>
                      </a:ext>
                    </a:extLst>
                  </p:cNvPr>
                  <p:cNvSpPr>
                    <a:spLocks noChangeArrowheads="1"/>
                  </p:cNvSpPr>
                  <p:nvPr/>
                </p:nvSpPr>
                <p:spPr bwMode="auto">
                  <a:xfrm>
                    <a:off x="2651" y="2371"/>
                    <a:ext cx="349" cy="2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600">
                        <a:solidFill>
                          <a:schemeClr val="bg1"/>
                        </a:solidFill>
                        <a:latin typeface="+mn-lt"/>
                      </a:rPr>
                      <a:t>Production</a:t>
                    </a:r>
                  </a:p>
                  <a:p>
                    <a:pPr algn="ctr">
                      <a:lnSpc>
                        <a:spcPct val="80000"/>
                      </a:lnSpc>
                      <a:spcBef>
                        <a:spcPct val="15000"/>
                      </a:spcBef>
                      <a:buClrTx/>
                      <a:buSzTx/>
                      <a:buFontTx/>
                      <a:buNone/>
                    </a:pPr>
                    <a:r>
                      <a:rPr lang="en-US" altLang="en-US" sz="600">
                        <a:solidFill>
                          <a:schemeClr val="bg1"/>
                        </a:solidFill>
                        <a:latin typeface="+mn-lt"/>
                      </a:rPr>
                      <a:t>Resource </a:t>
                    </a:r>
                  </a:p>
                  <a:p>
                    <a:pPr algn="ctr">
                      <a:lnSpc>
                        <a:spcPct val="80000"/>
                      </a:lnSpc>
                      <a:spcBef>
                        <a:spcPct val="15000"/>
                      </a:spcBef>
                      <a:buClrTx/>
                      <a:buSzTx/>
                      <a:buFontTx/>
                      <a:buNone/>
                    </a:pPr>
                    <a:r>
                      <a:rPr lang="en-US" altLang="en-US" sz="600">
                        <a:solidFill>
                          <a:schemeClr val="bg1"/>
                        </a:solidFill>
                        <a:latin typeface="+mn-lt"/>
                      </a:rPr>
                      <a:t>4</a:t>
                    </a:r>
                  </a:p>
                </p:txBody>
              </p:sp>
            </p:grpSp>
          </p:grpSp>
          <p:sp>
            <p:nvSpPr>
              <p:cNvPr id="53" name="Rectangle 34">
                <a:extLst>
                  <a:ext uri="{FF2B5EF4-FFF2-40B4-BE49-F238E27FC236}">
                    <a16:creationId xmlns:a16="http://schemas.microsoft.com/office/drawing/2014/main" id="{4CF19624-9FD6-B244-BFDD-6ED76E7E4F6B}"/>
                  </a:ext>
                </a:extLst>
              </p:cNvPr>
              <p:cNvSpPr>
                <a:spLocks noChangeArrowheads="1"/>
              </p:cNvSpPr>
              <p:nvPr/>
            </p:nvSpPr>
            <p:spPr bwMode="auto">
              <a:xfrm>
                <a:off x="6769100" y="2871788"/>
                <a:ext cx="1792288" cy="104298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5" name="Rectangle 37">
                <a:extLst>
                  <a:ext uri="{FF2B5EF4-FFF2-40B4-BE49-F238E27FC236}">
                    <a16:creationId xmlns:a16="http://schemas.microsoft.com/office/drawing/2014/main" id="{01487525-EF0A-7968-C486-5185FFE75A9B}"/>
                  </a:ext>
                </a:extLst>
              </p:cNvPr>
              <p:cNvSpPr>
                <a:spLocks noChangeArrowheads="1"/>
              </p:cNvSpPr>
              <p:nvPr/>
            </p:nvSpPr>
            <p:spPr bwMode="auto">
              <a:xfrm>
                <a:off x="6769100" y="4030663"/>
                <a:ext cx="1792288" cy="104298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7" name="Rectangle 40">
                <a:extLst>
                  <a:ext uri="{FF2B5EF4-FFF2-40B4-BE49-F238E27FC236}">
                    <a16:creationId xmlns:a16="http://schemas.microsoft.com/office/drawing/2014/main" id="{F7CF3665-BDEF-F731-A3C2-F9EC892EE8C9}"/>
                  </a:ext>
                </a:extLst>
              </p:cNvPr>
              <p:cNvSpPr>
                <a:spLocks noChangeArrowheads="1"/>
              </p:cNvSpPr>
              <p:nvPr/>
            </p:nvSpPr>
            <p:spPr bwMode="auto">
              <a:xfrm>
                <a:off x="6769100" y="5178425"/>
                <a:ext cx="1792288" cy="104298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8" name="Oval 41">
                <a:extLst>
                  <a:ext uri="{FF2B5EF4-FFF2-40B4-BE49-F238E27FC236}">
                    <a16:creationId xmlns:a16="http://schemas.microsoft.com/office/drawing/2014/main" id="{70C43831-557B-5DC6-8560-D51C9CAE8514}"/>
                  </a:ext>
                </a:extLst>
              </p:cNvPr>
              <p:cNvSpPr>
                <a:spLocks noChangeArrowheads="1"/>
              </p:cNvSpPr>
              <p:nvPr/>
            </p:nvSpPr>
            <p:spPr bwMode="auto">
              <a:xfrm>
                <a:off x="5746750" y="3062288"/>
                <a:ext cx="746125" cy="66992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Tailored</a:t>
                </a:r>
              </a:p>
              <a:p>
                <a:pPr algn="ctr">
                  <a:lnSpc>
                    <a:spcPct val="80000"/>
                  </a:lnSpc>
                  <a:buClrTx/>
                  <a:buSzTx/>
                  <a:buFontTx/>
                  <a:buNone/>
                </a:pPr>
                <a:r>
                  <a:rPr lang="en-US" altLang="en-US" sz="1000">
                    <a:solidFill>
                      <a:schemeClr val="bg1"/>
                    </a:solidFill>
                    <a:latin typeface="+mn-lt"/>
                  </a:rPr>
                  <a:t>Solutions</a:t>
                </a:r>
              </a:p>
            </p:txBody>
          </p:sp>
          <p:sp>
            <p:nvSpPr>
              <p:cNvPr id="59" name="Oval 42">
                <a:extLst>
                  <a:ext uri="{FF2B5EF4-FFF2-40B4-BE49-F238E27FC236}">
                    <a16:creationId xmlns:a16="http://schemas.microsoft.com/office/drawing/2014/main" id="{13BD3FEC-FC24-4D73-A9A7-95E2CE421CE8}"/>
                  </a:ext>
                </a:extLst>
              </p:cNvPr>
              <p:cNvSpPr>
                <a:spLocks noChangeArrowheads="1"/>
              </p:cNvSpPr>
              <p:nvPr/>
            </p:nvSpPr>
            <p:spPr bwMode="auto">
              <a:xfrm>
                <a:off x="5732463" y="4222750"/>
                <a:ext cx="746125" cy="66992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Tailored</a:t>
                </a:r>
              </a:p>
              <a:p>
                <a:pPr algn="ctr">
                  <a:lnSpc>
                    <a:spcPct val="80000"/>
                  </a:lnSpc>
                  <a:buClrTx/>
                  <a:buSzTx/>
                  <a:buFontTx/>
                  <a:buNone/>
                </a:pPr>
                <a:r>
                  <a:rPr lang="en-US" altLang="en-US" sz="1000">
                    <a:solidFill>
                      <a:schemeClr val="bg1"/>
                    </a:solidFill>
                    <a:latin typeface="+mn-lt"/>
                  </a:rPr>
                  <a:t>Solutions</a:t>
                </a:r>
              </a:p>
            </p:txBody>
          </p:sp>
          <p:sp>
            <p:nvSpPr>
              <p:cNvPr id="60" name="Oval 43">
                <a:extLst>
                  <a:ext uri="{FF2B5EF4-FFF2-40B4-BE49-F238E27FC236}">
                    <a16:creationId xmlns:a16="http://schemas.microsoft.com/office/drawing/2014/main" id="{68E20216-494F-CB4E-54FA-FD588A05BA9C}"/>
                  </a:ext>
                </a:extLst>
              </p:cNvPr>
              <p:cNvSpPr>
                <a:spLocks noChangeArrowheads="1"/>
              </p:cNvSpPr>
              <p:nvPr/>
            </p:nvSpPr>
            <p:spPr bwMode="auto">
              <a:xfrm>
                <a:off x="5740400" y="5370513"/>
                <a:ext cx="746125" cy="66992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Tailored</a:t>
                </a:r>
              </a:p>
              <a:p>
                <a:pPr algn="ctr">
                  <a:lnSpc>
                    <a:spcPct val="80000"/>
                  </a:lnSpc>
                  <a:buClrTx/>
                  <a:buSzTx/>
                  <a:buFontTx/>
                  <a:buNone/>
                </a:pPr>
                <a:r>
                  <a:rPr lang="en-US" altLang="en-US" sz="1000">
                    <a:solidFill>
                      <a:schemeClr val="bg1"/>
                    </a:solidFill>
                    <a:latin typeface="+mn-lt"/>
                  </a:rPr>
                  <a:t>Solutions</a:t>
                </a:r>
              </a:p>
            </p:txBody>
          </p:sp>
          <p:cxnSp>
            <p:nvCxnSpPr>
              <p:cNvPr id="61" name="AutoShape 44">
                <a:extLst>
                  <a:ext uri="{FF2B5EF4-FFF2-40B4-BE49-F238E27FC236}">
                    <a16:creationId xmlns:a16="http://schemas.microsoft.com/office/drawing/2014/main" id="{1EAFAA42-3ECA-34F6-B2AE-7C2A2A684209}"/>
                  </a:ext>
                </a:extLst>
              </p:cNvPr>
              <p:cNvCxnSpPr>
                <a:cxnSpLocks noChangeShapeType="1"/>
                <a:stCxn id="47" idx="4"/>
                <a:endCxn id="58" idx="2"/>
              </p:cNvCxnSpPr>
              <p:nvPr/>
            </p:nvCxnSpPr>
            <p:spPr bwMode="auto">
              <a:xfrm flipV="1">
                <a:off x="5287963" y="3397250"/>
                <a:ext cx="458787" cy="1154113"/>
              </a:xfrm>
              <a:prstGeom prst="bentConnector3">
                <a:avLst>
                  <a:gd name="adj1" fmla="val 4982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2" name="AutoShape 45">
                <a:extLst>
                  <a:ext uri="{FF2B5EF4-FFF2-40B4-BE49-F238E27FC236}">
                    <a16:creationId xmlns:a16="http://schemas.microsoft.com/office/drawing/2014/main" id="{007E53CC-6333-7A04-DD1B-D4CFDFC79EC8}"/>
                  </a:ext>
                </a:extLst>
              </p:cNvPr>
              <p:cNvCxnSpPr>
                <a:cxnSpLocks noChangeShapeType="1"/>
                <a:stCxn id="47" idx="4"/>
                <a:endCxn id="60" idx="2"/>
              </p:cNvCxnSpPr>
              <p:nvPr/>
            </p:nvCxnSpPr>
            <p:spPr bwMode="auto">
              <a:xfrm>
                <a:off x="5287963" y="4551363"/>
                <a:ext cx="452437" cy="1154112"/>
              </a:xfrm>
              <a:prstGeom prst="bentConnector3">
                <a:avLst>
                  <a:gd name="adj1" fmla="val 4982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3" name="AutoShape 46">
                <a:extLst>
                  <a:ext uri="{FF2B5EF4-FFF2-40B4-BE49-F238E27FC236}">
                    <a16:creationId xmlns:a16="http://schemas.microsoft.com/office/drawing/2014/main" id="{86A5B63E-A225-66F5-2750-03890B4D32B7}"/>
                  </a:ext>
                </a:extLst>
              </p:cNvPr>
              <p:cNvCxnSpPr>
                <a:cxnSpLocks noChangeShapeType="1"/>
                <a:stCxn id="47" idx="4"/>
                <a:endCxn id="59" idx="2"/>
              </p:cNvCxnSpPr>
              <p:nvPr/>
            </p:nvCxnSpPr>
            <p:spPr bwMode="auto">
              <a:xfrm>
                <a:off x="5287963" y="4551363"/>
                <a:ext cx="444500" cy="63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 name="AutoShape 47">
                <a:extLst>
                  <a:ext uri="{FF2B5EF4-FFF2-40B4-BE49-F238E27FC236}">
                    <a16:creationId xmlns:a16="http://schemas.microsoft.com/office/drawing/2014/main" id="{37D7A1D1-CCE9-1662-BDAA-162B423C4000}"/>
                  </a:ext>
                </a:extLst>
              </p:cNvPr>
              <p:cNvCxnSpPr>
                <a:cxnSpLocks noChangeShapeType="1"/>
                <a:stCxn id="44" idx="3"/>
                <a:endCxn id="45" idx="0"/>
              </p:cNvCxnSpPr>
              <p:nvPr/>
            </p:nvCxnSpPr>
            <p:spPr bwMode="auto">
              <a:xfrm flipV="1">
                <a:off x="3554413" y="4554538"/>
                <a:ext cx="309562"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AutoShape 48">
                <a:extLst>
                  <a:ext uri="{FF2B5EF4-FFF2-40B4-BE49-F238E27FC236}">
                    <a16:creationId xmlns:a16="http://schemas.microsoft.com/office/drawing/2014/main" id="{A0DA5F0C-1A5B-6598-0548-586E8BCD7CF7}"/>
                  </a:ext>
                </a:extLst>
              </p:cNvPr>
              <p:cNvCxnSpPr>
                <a:cxnSpLocks noChangeShapeType="1"/>
                <a:stCxn id="45" idx="2"/>
                <a:endCxn id="47" idx="0"/>
              </p:cNvCxnSpPr>
              <p:nvPr/>
            </p:nvCxnSpPr>
            <p:spPr bwMode="auto">
              <a:xfrm flipV="1">
                <a:off x="4119563" y="4551363"/>
                <a:ext cx="288925"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 name="AutoShape 49">
                <a:extLst>
                  <a:ext uri="{FF2B5EF4-FFF2-40B4-BE49-F238E27FC236}">
                    <a16:creationId xmlns:a16="http://schemas.microsoft.com/office/drawing/2014/main" id="{055788D9-3F88-F018-6279-2412FBCCC218}"/>
                  </a:ext>
                </a:extLst>
              </p:cNvPr>
              <p:cNvCxnSpPr>
                <a:cxnSpLocks noChangeShapeType="1"/>
                <a:stCxn id="58" idx="6"/>
                <a:endCxn id="53" idx="1"/>
              </p:cNvCxnSpPr>
              <p:nvPr/>
            </p:nvCxnSpPr>
            <p:spPr bwMode="auto">
              <a:xfrm flipV="1">
                <a:off x="6492875" y="3394075"/>
                <a:ext cx="276225"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7" name="AutoShape 50">
                <a:extLst>
                  <a:ext uri="{FF2B5EF4-FFF2-40B4-BE49-F238E27FC236}">
                    <a16:creationId xmlns:a16="http://schemas.microsoft.com/office/drawing/2014/main" id="{4A09D473-6B33-2FA7-ABA1-7D05C88074B1}"/>
                  </a:ext>
                </a:extLst>
              </p:cNvPr>
              <p:cNvCxnSpPr>
                <a:cxnSpLocks noChangeShapeType="1"/>
                <a:stCxn id="59" idx="6"/>
                <a:endCxn id="55" idx="1"/>
              </p:cNvCxnSpPr>
              <p:nvPr/>
            </p:nvCxnSpPr>
            <p:spPr bwMode="auto">
              <a:xfrm flipV="1">
                <a:off x="6478588" y="4552950"/>
                <a:ext cx="290512" cy="476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8" name="AutoShape 51">
                <a:extLst>
                  <a:ext uri="{FF2B5EF4-FFF2-40B4-BE49-F238E27FC236}">
                    <a16:creationId xmlns:a16="http://schemas.microsoft.com/office/drawing/2014/main" id="{F7FC1A89-3D58-E4BE-B08F-0D00078C2541}"/>
                  </a:ext>
                </a:extLst>
              </p:cNvPr>
              <p:cNvCxnSpPr>
                <a:cxnSpLocks noChangeShapeType="1"/>
                <a:stCxn id="60" idx="6"/>
                <a:endCxn id="57" idx="1"/>
              </p:cNvCxnSpPr>
              <p:nvPr/>
            </p:nvCxnSpPr>
            <p:spPr bwMode="auto">
              <a:xfrm flipV="1">
                <a:off x="6486525" y="5700713"/>
                <a:ext cx="282575" cy="476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0" name="Line 70">
                <a:extLst>
                  <a:ext uri="{FF2B5EF4-FFF2-40B4-BE49-F238E27FC236}">
                    <a16:creationId xmlns:a16="http://schemas.microsoft.com/office/drawing/2014/main" id="{F7E56FC5-A2B9-F463-C8A8-193661C76729}"/>
                  </a:ext>
                </a:extLst>
              </p:cNvPr>
              <p:cNvSpPr>
                <a:spLocks noChangeShapeType="1"/>
              </p:cNvSpPr>
              <p:nvPr/>
            </p:nvSpPr>
            <p:spPr bwMode="auto">
              <a:xfrm>
                <a:off x="596900" y="2563813"/>
                <a:ext cx="7967663"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 name="Oval 56">
                <a:extLst>
                  <a:ext uri="{FF2B5EF4-FFF2-40B4-BE49-F238E27FC236}">
                    <a16:creationId xmlns:a16="http://schemas.microsoft.com/office/drawing/2014/main" id="{B89D5B81-34E3-301A-4ADB-55620DDDCF11}"/>
                  </a:ext>
                </a:extLst>
              </p:cNvPr>
              <p:cNvSpPr>
                <a:spLocks noChangeArrowheads="1"/>
              </p:cNvSpPr>
              <p:nvPr/>
            </p:nvSpPr>
            <p:spPr bwMode="auto">
              <a:xfrm>
                <a:off x="1908175" y="2417763"/>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1</a:t>
                </a:r>
              </a:p>
            </p:txBody>
          </p:sp>
          <p:sp>
            <p:nvSpPr>
              <p:cNvPr id="72" name="Oval 57">
                <a:extLst>
                  <a:ext uri="{FF2B5EF4-FFF2-40B4-BE49-F238E27FC236}">
                    <a16:creationId xmlns:a16="http://schemas.microsoft.com/office/drawing/2014/main" id="{073783EB-7872-3384-BE54-F7972AC358F2}"/>
                  </a:ext>
                </a:extLst>
              </p:cNvPr>
              <p:cNvSpPr>
                <a:spLocks noChangeArrowheads="1"/>
              </p:cNvSpPr>
              <p:nvPr/>
            </p:nvSpPr>
            <p:spPr bwMode="auto">
              <a:xfrm>
                <a:off x="3836988" y="2417763"/>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73" name="Oval 58">
                <a:extLst>
                  <a:ext uri="{FF2B5EF4-FFF2-40B4-BE49-F238E27FC236}">
                    <a16:creationId xmlns:a16="http://schemas.microsoft.com/office/drawing/2014/main" id="{5ABF827E-CE10-BA94-6C58-9D4C8D06BC79}"/>
                  </a:ext>
                </a:extLst>
              </p:cNvPr>
              <p:cNvSpPr>
                <a:spLocks noChangeArrowheads="1"/>
              </p:cNvSpPr>
              <p:nvPr/>
            </p:nvSpPr>
            <p:spPr bwMode="auto">
              <a:xfrm>
                <a:off x="4684713" y="2417763"/>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74" name="Oval 59">
                <a:extLst>
                  <a:ext uri="{FF2B5EF4-FFF2-40B4-BE49-F238E27FC236}">
                    <a16:creationId xmlns:a16="http://schemas.microsoft.com/office/drawing/2014/main" id="{26AA73F1-E4B1-214F-3164-20D70101942C}"/>
                  </a:ext>
                </a:extLst>
              </p:cNvPr>
              <p:cNvSpPr>
                <a:spLocks noChangeArrowheads="1"/>
              </p:cNvSpPr>
              <p:nvPr/>
            </p:nvSpPr>
            <p:spPr bwMode="auto">
              <a:xfrm>
                <a:off x="5954713" y="2417763"/>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4</a:t>
                </a:r>
              </a:p>
            </p:txBody>
          </p:sp>
          <p:sp>
            <p:nvSpPr>
              <p:cNvPr id="75" name="Oval 60">
                <a:extLst>
                  <a:ext uri="{FF2B5EF4-FFF2-40B4-BE49-F238E27FC236}">
                    <a16:creationId xmlns:a16="http://schemas.microsoft.com/office/drawing/2014/main" id="{0C110851-578A-C848-029E-935060EE9DEB}"/>
                  </a:ext>
                </a:extLst>
              </p:cNvPr>
              <p:cNvSpPr>
                <a:spLocks noChangeArrowheads="1"/>
              </p:cNvSpPr>
              <p:nvPr/>
            </p:nvSpPr>
            <p:spPr bwMode="auto">
              <a:xfrm>
                <a:off x="7505700" y="2417763"/>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5</a:t>
                </a:r>
              </a:p>
            </p:txBody>
          </p:sp>
        </p:grpSp>
        <p:graphicFrame>
          <p:nvGraphicFramePr>
            <p:cNvPr id="77" name="Object 51">
              <a:extLst>
                <a:ext uri="{FF2B5EF4-FFF2-40B4-BE49-F238E27FC236}">
                  <a16:creationId xmlns:a16="http://schemas.microsoft.com/office/drawing/2014/main" id="{64817694-18A3-D4EC-EC01-B677FDD796B1}"/>
                </a:ext>
              </a:extLst>
            </p:cNvPr>
            <p:cNvGraphicFramePr>
              <a:graphicFrameLocks noChangeAspect="1"/>
            </p:cNvGraphicFramePr>
            <p:nvPr>
              <p:extLst>
                <p:ext uri="{D42A27DB-BD31-4B8C-83A1-F6EECF244321}">
                  <p14:modId xmlns:p14="http://schemas.microsoft.com/office/powerpoint/2010/main" val="2653073597"/>
                </p:ext>
              </p:extLst>
            </p:nvPr>
          </p:nvGraphicFramePr>
          <p:xfrm>
            <a:off x="6615851" y="2944811"/>
            <a:ext cx="1721014" cy="979576"/>
          </p:xfrm>
          <a:graphic>
            <a:graphicData uri="http://schemas.openxmlformats.org/presentationml/2006/ole">
              <mc:AlternateContent xmlns:mc="http://schemas.openxmlformats.org/markup-compatibility/2006">
                <mc:Choice xmlns:v="urn:schemas-microsoft-com:vml" Requires="v">
                  <p:oleObj name="Worksheet" r:id="rId3" imgW="7239030" imgH="4924452" progId="Excel.Sheet.8">
                    <p:embed/>
                  </p:oleObj>
                </mc:Choice>
                <mc:Fallback>
                  <p:oleObj name="Worksheet" r:id="rId3" imgW="7239030" imgH="4924452" progId="Excel.Sheet.8">
                    <p:embed/>
                    <p:pic>
                      <p:nvPicPr>
                        <p:cNvPr id="11" name="Object 51">
                          <a:extLst>
                            <a:ext uri="{FF2B5EF4-FFF2-40B4-BE49-F238E27FC236}">
                              <a16:creationId xmlns:a16="http://schemas.microsoft.com/office/drawing/2014/main" id="{88FBC14A-9D14-01C7-AFE3-5AFE9CFB1D38}"/>
                            </a:ext>
                          </a:extLst>
                        </p:cNvPr>
                        <p:cNvPicPr>
                          <a:picLocks noChangeAspect="1" noChangeArrowheads="1"/>
                        </p:cNvPicPr>
                        <p:nvPr/>
                      </p:nvPicPr>
                      <p:blipFill>
                        <a:blip r:embed="rId4"/>
                        <a:srcRect/>
                        <a:stretch>
                          <a:fillRect/>
                        </a:stretch>
                      </p:blipFill>
                      <p:spPr bwMode="auto">
                        <a:xfrm>
                          <a:off x="6615851" y="2944811"/>
                          <a:ext cx="1721014" cy="979576"/>
                        </a:xfrm>
                        <a:prstGeom prst="rect">
                          <a:avLst/>
                        </a:prstGeom>
                        <a:noFill/>
                        <a:ln>
                          <a:noFill/>
                        </a:ln>
                        <a:effectLst/>
                      </p:spPr>
                    </p:pic>
                  </p:oleObj>
                </mc:Fallback>
              </mc:AlternateContent>
            </a:graphicData>
          </a:graphic>
        </p:graphicFrame>
        <p:graphicFrame>
          <p:nvGraphicFramePr>
            <p:cNvPr id="78" name="Object 51">
              <a:extLst>
                <a:ext uri="{FF2B5EF4-FFF2-40B4-BE49-F238E27FC236}">
                  <a16:creationId xmlns:a16="http://schemas.microsoft.com/office/drawing/2014/main" id="{93A2F0EF-FFAA-FCBE-1661-65CCF3CF82B6}"/>
                </a:ext>
              </a:extLst>
            </p:cNvPr>
            <p:cNvGraphicFramePr>
              <a:graphicFrameLocks noChangeAspect="1"/>
            </p:cNvGraphicFramePr>
            <p:nvPr>
              <p:extLst>
                <p:ext uri="{D42A27DB-BD31-4B8C-83A1-F6EECF244321}">
                  <p14:modId xmlns:p14="http://schemas.microsoft.com/office/powerpoint/2010/main" val="2396889119"/>
                </p:ext>
              </p:extLst>
            </p:nvPr>
          </p:nvGraphicFramePr>
          <p:xfrm>
            <a:off x="6602698" y="4066423"/>
            <a:ext cx="1721014" cy="979576"/>
          </p:xfrm>
          <a:graphic>
            <a:graphicData uri="http://schemas.openxmlformats.org/presentationml/2006/ole">
              <mc:AlternateContent xmlns:mc="http://schemas.openxmlformats.org/markup-compatibility/2006">
                <mc:Choice xmlns:v="urn:schemas-microsoft-com:vml" Requires="v">
                  <p:oleObj name="Worksheet" r:id="rId5" imgW="7239030" imgH="4924452" progId="Excel.Sheet.8">
                    <p:embed/>
                  </p:oleObj>
                </mc:Choice>
                <mc:Fallback>
                  <p:oleObj name="Worksheet" r:id="rId5" imgW="7239030" imgH="4924452" progId="Excel.Sheet.8">
                    <p:embed/>
                    <p:pic>
                      <p:nvPicPr>
                        <p:cNvPr id="77" name="Object 51">
                          <a:extLst>
                            <a:ext uri="{FF2B5EF4-FFF2-40B4-BE49-F238E27FC236}">
                              <a16:creationId xmlns:a16="http://schemas.microsoft.com/office/drawing/2014/main" id="{64817694-18A3-D4EC-EC01-B677FDD796B1}"/>
                            </a:ext>
                          </a:extLst>
                        </p:cNvPr>
                        <p:cNvPicPr>
                          <a:picLocks noChangeAspect="1" noChangeArrowheads="1"/>
                        </p:cNvPicPr>
                        <p:nvPr/>
                      </p:nvPicPr>
                      <p:blipFill>
                        <a:blip r:embed="rId4"/>
                        <a:srcRect/>
                        <a:stretch>
                          <a:fillRect/>
                        </a:stretch>
                      </p:blipFill>
                      <p:spPr bwMode="auto">
                        <a:xfrm>
                          <a:off x="6602698" y="4066423"/>
                          <a:ext cx="1721014" cy="979576"/>
                        </a:xfrm>
                        <a:prstGeom prst="rect">
                          <a:avLst/>
                        </a:prstGeom>
                        <a:noFill/>
                        <a:ln>
                          <a:noFill/>
                        </a:ln>
                        <a:effectLst/>
                      </p:spPr>
                    </p:pic>
                  </p:oleObj>
                </mc:Fallback>
              </mc:AlternateContent>
            </a:graphicData>
          </a:graphic>
        </p:graphicFrame>
        <p:graphicFrame>
          <p:nvGraphicFramePr>
            <p:cNvPr id="79" name="Object 51">
              <a:extLst>
                <a:ext uri="{FF2B5EF4-FFF2-40B4-BE49-F238E27FC236}">
                  <a16:creationId xmlns:a16="http://schemas.microsoft.com/office/drawing/2014/main" id="{25AC8FC9-C433-8B57-E3B9-275E7D8D5FBE}"/>
                </a:ext>
              </a:extLst>
            </p:cNvPr>
            <p:cNvGraphicFramePr>
              <a:graphicFrameLocks noChangeAspect="1"/>
            </p:cNvGraphicFramePr>
            <p:nvPr>
              <p:extLst>
                <p:ext uri="{D42A27DB-BD31-4B8C-83A1-F6EECF244321}">
                  <p14:modId xmlns:p14="http://schemas.microsoft.com/office/powerpoint/2010/main" val="1452732249"/>
                </p:ext>
              </p:extLst>
            </p:nvPr>
          </p:nvGraphicFramePr>
          <p:xfrm>
            <a:off x="6617761" y="5221679"/>
            <a:ext cx="1721014" cy="979576"/>
          </p:xfrm>
          <a:graphic>
            <a:graphicData uri="http://schemas.openxmlformats.org/presentationml/2006/ole">
              <mc:AlternateContent xmlns:mc="http://schemas.openxmlformats.org/markup-compatibility/2006">
                <mc:Choice xmlns:v="urn:schemas-microsoft-com:vml" Requires="v">
                  <p:oleObj name="Worksheet" r:id="rId6" imgW="7239030" imgH="4924452" progId="Excel.Sheet.8">
                    <p:embed/>
                  </p:oleObj>
                </mc:Choice>
                <mc:Fallback>
                  <p:oleObj name="Worksheet" r:id="rId6" imgW="7239030" imgH="4924452" progId="Excel.Sheet.8">
                    <p:embed/>
                    <p:pic>
                      <p:nvPicPr>
                        <p:cNvPr id="77" name="Object 51">
                          <a:extLst>
                            <a:ext uri="{FF2B5EF4-FFF2-40B4-BE49-F238E27FC236}">
                              <a16:creationId xmlns:a16="http://schemas.microsoft.com/office/drawing/2014/main" id="{64817694-18A3-D4EC-EC01-B677FDD796B1}"/>
                            </a:ext>
                          </a:extLst>
                        </p:cNvPr>
                        <p:cNvPicPr>
                          <a:picLocks noChangeAspect="1" noChangeArrowheads="1"/>
                        </p:cNvPicPr>
                        <p:nvPr/>
                      </p:nvPicPr>
                      <p:blipFill>
                        <a:blip r:embed="rId4"/>
                        <a:srcRect/>
                        <a:stretch>
                          <a:fillRect/>
                        </a:stretch>
                      </p:blipFill>
                      <p:spPr bwMode="auto">
                        <a:xfrm>
                          <a:off x="6617761" y="5221679"/>
                          <a:ext cx="1721014" cy="979576"/>
                        </a:xfrm>
                        <a:prstGeom prst="rect">
                          <a:avLst/>
                        </a:prstGeom>
                        <a:noFill/>
                        <a:ln>
                          <a:noFill/>
                        </a:ln>
                        <a:effectLst/>
                      </p:spPr>
                    </p:pic>
                  </p:oleObj>
                </mc:Fallback>
              </mc:AlternateContent>
            </a:graphicData>
          </a:graphic>
        </p:graphicFrame>
      </p:grpSp>
      <p:grpSp>
        <p:nvGrpSpPr>
          <p:cNvPr id="10" name="Group 51">
            <a:extLst>
              <a:ext uri="{FF2B5EF4-FFF2-40B4-BE49-F238E27FC236}">
                <a16:creationId xmlns:a16="http://schemas.microsoft.com/office/drawing/2014/main" id="{22D1586D-E64A-BECC-36ED-414F685C52D5}"/>
              </a:ext>
            </a:extLst>
          </p:cNvPr>
          <p:cNvGrpSpPr>
            <a:grpSpLocks/>
          </p:cNvGrpSpPr>
          <p:nvPr/>
        </p:nvGrpSpPr>
        <p:grpSpPr bwMode="auto">
          <a:xfrm>
            <a:off x="8420088" y="5628516"/>
            <a:ext cx="2933712" cy="650333"/>
            <a:chOff x="676" y="3874"/>
            <a:chExt cx="1500" cy="392"/>
          </a:xfrm>
        </p:grpSpPr>
        <p:sp>
          <p:nvSpPr>
            <p:cNvPr id="11" name="Line 35">
              <a:extLst>
                <a:ext uri="{FF2B5EF4-FFF2-40B4-BE49-F238E27FC236}">
                  <a16:creationId xmlns:a16="http://schemas.microsoft.com/office/drawing/2014/main" id="{E127FBD3-E0DB-9146-0520-318160ECFB96}"/>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36">
              <a:extLst>
                <a:ext uri="{FF2B5EF4-FFF2-40B4-BE49-F238E27FC236}">
                  <a16:creationId xmlns:a16="http://schemas.microsoft.com/office/drawing/2014/main" id="{E5E95686-7696-C1DF-7C18-3E66B5F73098}"/>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37">
              <a:extLst>
                <a:ext uri="{FF2B5EF4-FFF2-40B4-BE49-F238E27FC236}">
                  <a16:creationId xmlns:a16="http://schemas.microsoft.com/office/drawing/2014/main" id="{074FBCA5-39B2-1CD2-73B2-61FAFB85FF98}"/>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38">
              <a:extLst>
                <a:ext uri="{FF2B5EF4-FFF2-40B4-BE49-F238E27FC236}">
                  <a16:creationId xmlns:a16="http://schemas.microsoft.com/office/drawing/2014/main" id="{72513B6A-9D3E-7100-1B54-2321853403CE}"/>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5" name="Rectangle 39">
              <a:extLst>
                <a:ext uri="{FF2B5EF4-FFF2-40B4-BE49-F238E27FC236}">
                  <a16:creationId xmlns:a16="http://schemas.microsoft.com/office/drawing/2014/main" id="{D8545AFB-9226-2CF9-0E2D-F54F92E7275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6" name="Rectangle 40">
              <a:extLst>
                <a:ext uri="{FF2B5EF4-FFF2-40B4-BE49-F238E27FC236}">
                  <a16:creationId xmlns:a16="http://schemas.microsoft.com/office/drawing/2014/main" id="{37AE24CF-FD56-E81C-A85C-CC36571E2425}"/>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Rough-Cut</a:t>
              </a:r>
            </a:p>
            <a:p>
              <a:pPr algn="ctr">
                <a:lnSpc>
                  <a:spcPct val="80000"/>
                </a:lnSpc>
                <a:buClrTx/>
                <a:buSzTx/>
                <a:buNone/>
              </a:pPr>
              <a:r>
                <a:rPr lang="en-US" altLang="en-US" sz="200" dirty="0">
                  <a:solidFill>
                    <a:schemeClr val="bg1"/>
                  </a:solidFill>
                  <a:latin typeface="+mn-lt"/>
                </a:rPr>
                <a:t>Capacity</a:t>
              </a:r>
            </a:p>
            <a:p>
              <a:pPr algn="ctr">
                <a:lnSpc>
                  <a:spcPct val="80000"/>
                </a:lnSpc>
                <a:buClrTx/>
                <a:buSzTx/>
                <a:buNone/>
              </a:pPr>
              <a:r>
                <a:rPr lang="en-US" altLang="en-US" sz="200" dirty="0">
                  <a:solidFill>
                    <a:schemeClr val="bg1"/>
                  </a:solidFill>
                  <a:latin typeface="+mn-lt"/>
                </a:rPr>
                <a:t>Analysis</a:t>
              </a:r>
            </a:p>
          </p:txBody>
        </p:sp>
        <p:sp>
          <p:nvSpPr>
            <p:cNvPr id="52" name="Rectangle 41">
              <a:extLst>
                <a:ext uri="{FF2B5EF4-FFF2-40B4-BE49-F238E27FC236}">
                  <a16:creationId xmlns:a16="http://schemas.microsoft.com/office/drawing/2014/main" id="{82A8B801-B72A-5086-830C-D6E9E1AAC37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54" name="AutoShape 42">
              <a:extLst>
                <a:ext uri="{FF2B5EF4-FFF2-40B4-BE49-F238E27FC236}">
                  <a16:creationId xmlns:a16="http://schemas.microsoft.com/office/drawing/2014/main" id="{AA0C7721-F5BE-916E-BE92-ABA537B2C4D2}"/>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56" name="Rectangle 43">
              <a:extLst>
                <a:ext uri="{FF2B5EF4-FFF2-40B4-BE49-F238E27FC236}">
                  <a16:creationId xmlns:a16="http://schemas.microsoft.com/office/drawing/2014/main" id="{A73F891D-4A67-860F-CF5D-42F4E813902E}"/>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69" name="Rectangle 44">
              <a:extLst>
                <a:ext uri="{FF2B5EF4-FFF2-40B4-BE49-F238E27FC236}">
                  <a16:creationId xmlns:a16="http://schemas.microsoft.com/office/drawing/2014/main" id="{ACB0AD4B-778D-50C4-4C57-7F01A3E003A3}"/>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81" name="Rectangle 45">
              <a:extLst>
                <a:ext uri="{FF2B5EF4-FFF2-40B4-BE49-F238E27FC236}">
                  <a16:creationId xmlns:a16="http://schemas.microsoft.com/office/drawing/2014/main" id="{37108038-34AD-6EDD-57FC-4223485A02C8}"/>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82" name="Rectangle 46">
              <a:extLst>
                <a:ext uri="{FF2B5EF4-FFF2-40B4-BE49-F238E27FC236}">
                  <a16:creationId xmlns:a16="http://schemas.microsoft.com/office/drawing/2014/main" id="{724CBE60-91FC-0C93-CA52-2AF24557BE82}"/>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83" name="Rectangle 47">
              <a:extLst>
                <a:ext uri="{FF2B5EF4-FFF2-40B4-BE49-F238E27FC236}">
                  <a16:creationId xmlns:a16="http://schemas.microsoft.com/office/drawing/2014/main" id="{3174C20A-EBC2-06CE-40AE-7154797980CB}"/>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520987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Critical Resource Evaluation Process:  </a:t>
            </a:r>
            <a:br>
              <a:rPr lang="en-US" sz="3600" dirty="0"/>
            </a:br>
            <a:r>
              <a:rPr lang="en-US" sz="3600" dirty="0"/>
              <a:t>Identify, Confirm, Solve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During the run-up to the first-pass S&amp;OP monthly process, the pilot team will be in a good position to evaluate the selected product or family in order to complete the rough-cut capacity planning process where required.</a:t>
            </a:r>
          </a:p>
        </p:txBody>
      </p:sp>
      <p:grpSp>
        <p:nvGrpSpPr>
          <p:cNvPr id="13" name="Group 12">
            <a:extLst>
              <a:ext uri="{FF2B5EF4-FFF2-40B4-BE49-F238E27FC236}">
                <a16:creationId xmlns:a16="http://schemas.microsoft.com/office/drawing/2014/main" id="{B578BC60-6CA6-1E2F-88CB-8A9691324E13}"/>
              </a:ext>
            </a:extLst>
          </p:cNvPr>
          <p:cNvGrpSpPr/>
          <p:nvPr/>
        </p:nvGrpSpPr>
        <p:grpSpPr>
          <a:xfrm>
            <a:off x="398020" y="2089717"/>
            <a:ext cx="5176611" cy="3421801"/>
            <a:chOff x="493713" y="2443714"/>
            <a:chExt cx="5176611" cy="3421801"/>
          </a:xfrm>
        </p:grpSpPr>
        <p:sp>
          <p:nvSpPr>
            <p:cNvPr id="10" name="Rectangle 55">
              <a:extLst>
                <a:ext uri="{FF2B5EF4-FFF2-40B4-BE49-F238E27FC236}">
                  <a16:creationId xmlns:a16="http://schemas.microsoft.com/office/drawing/2014/main" id="{13F6B0C0-A195-C793-D092-A596EFC615D4}"/>
                </a:ext>
              </a:extLst>
            </p:cNvPr>
            <p:cNvSpPr>
              <a:spLocks noChangeArrowheads="1"/>
            </p:cNvSpPr>
            <p:nvPr/>
          </p:nvSpPr>
          <p:spPr bwMode="auto">
            <a:xfrm>
              <a:off x="528412" y="2443714"/>
              <a:ext cx="5141912" cy="2519363"/>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dirty="0">
                <a:solidFill>
                  <a:schemeClr val="bg1"/>
                </a:solidFill>
                <a:latin typeface="+mn-lt"/>
              </a:endParaRPr>
            </a:p>
          </p:txBody>
        </p:sp>
        <p:grpSp>
          <p:nvGrpSpPr>
            <p:cNvPr id="80" name="Group 79">
              <a:extLst>
                <a:ext uri="{FF2B5EF4-FFF2-40B4-BE49-F238E27FC236}">
                  <a16:creationId xmlns:a16="http://schemas.microsoft.com/office/drawing/2014/main" id="{AC65FB48-C503-7B0C-2F17-DF2862B1B2E7}"/>
                </a:ext>
              </a:extLst>
            </p:cNvPr>
            <p:cNvGrpSpPr/>
            <p:nvPr/>
          </p:nvGrpSpPr>
          <p:grpSpPr>
            <a:xfrm>
              <a:off x="627321" y="2474040"/>
              <a:ext cx="4890977" cy="2374407"/>
              <a:chOff x="277161" y="2800925"/>
              <a:chExt cx="8077167" cy="3436448"/>
            </a:xfrm>
          </p:grpSpPr>
          <p:graphicFrame>
            <p:nvGraphicFramePr>
              <p:cNvPr id="78" name="Object 51">
                <a:extLst>
                  <a:ext uri="{FF2B5EF4-FFF2-40B4-BE49-F238E27FC236}">
                    <a16:creationId xmlns:a16="http://schemas.microsoft.com/office/drawing/2014/main" id="{93A2F0EF-FFAA-FCBE-1661-65CCF3CF82B6}"/>
                  </a:ext>
                </a:extLst>
              </p:cNvPr>
              <p:cNvGraphicFramePr>
                <a:graphicFrameLocks noChangeAspect="1"/>
              </p:cNvGraphicFramePr>
              <p:nvPr/>
            </p:nvGraphicFramePr>
            <p:xfrm>
              <a:off x="6602698" y="4066423"/>
              <a:ext cx="1721014" cy="979576"/>
            </p:xfrm>
            <a:graphic>
              <a:graphicData uri="http://schemas.openxmlformats.org/presentationml/2006/ole">
                <mc:AlternateContent xmlns:mc="http://schemas.openxmlformats.org/markup-compatibility/2006">
                  <mc:Choice xmlns:v="urn:schemas-microsoft-com:vml" Requires="v">
                    <p:oleObj name="Worksheet" r:id="rId3" imgW="7239030" imgH="4924452" progId="Excel.Sheet.8">
                      <p:embed/>
                    </p:oleObj>
                  </mc:Choice>
                  <mc:Fallback>
                    <p:oleObj name="Worksheet" r:id="rId3" imgW="7239030" imgH="4924452" progId="Excel.Sheet.8">
                      <p:embed/>
                      <p:pic>
                        <p:nvPicPr>
                          <p:cNvPr id="78" name="Object 51">
                            <a:extLst>
                              <a:ext uri="{FF2B5EF4-FFF2-40B4-BE49-F238E27FC236}">
                                <a16:creationId xmlns:a16="http://schemas.microsoft.com/office/drawing/2014/main" id="{93A2F0EF-FFAA-FCBE-1661-65CCF3CF82B6}"/>
                              </a:ext>
                            </a:extLst>
                          </p:cNvPr>
                          <p:cNvPicPr>
                            <a:picLocks noChangeAspect="1" noChangeArrowheads="1"/>
                          </p:cNvPicPr>
                          <p:nvPr/>
                        </p:nvPicPr>
                        <p:blipFill>
                          <a:blip r:embed="rId4"/>
                          <a:srcRect/>
                          <a:stretch>
                            <a:fillRect/>
                          </a:stretch>
                        </p:blipFill>
                        <p:spPr bwMode="auto">
                          <a:xfrm>
                            <a:off x="6602698" y="4066423"/>
                            <a:ext cx="1721014" cy="979576"/>
                          </a:xfrm>
                          <a:prstGeom prst="rect">
                            <a:avLst/>
                          </a:prstGeom>
                          <a:noFill/>
                          <a:ln>
                            <a:noFill/>
                          </a:ln>
                          <a:effectLst/>
                        </p:spPr>
                      </p:pic>
                    </p:oleObj>
                  </mc:Fallback>
                </mc:AlternateContent>
              </a:graphicData>
            </a:graphic>
          </p:graphicFrame>
          <p:grpSp>
            <p:nvGrpSpPr>
              <p:cNvPr id="76" name="Group 75">
                <a:extLst>
                  <a:ext uri="{FF2B5EF4-FFF2-40B4-BE49-F238E27FC236}">
                    <a16:creationId xmlns:a16="http://schemas.microsoft.com/office/drawing/2014/main" id="{22ED7EEF-0DDE-AC97-1ABE-AB0A2FEDA236}"/>
                  </a:ext>
                </a:extLst>
              </p:cNvPr>
              <p:cNvGrpSpPr/>
              <p:nvPr/>
            </p:nvGrpSpPr>
            <p:grpSpPr>
              <a:xfrm>
                <a:off x="277161" y="2800925"/>
                <a:ext cx="8077167" cy="3436448"/>
                <a:chOff x="484221" y="2784965"/>
                <a:chExt cx="8077167" cy="3436448"/>
              </a:xfrm>
            </p:grpSpPr>
            <p:cxnSp>
              <p:nvCxnSpPr>
                <p:cNvPr id="4" name="AutoShape 5">
                  <a:extLst>
                    <a:ext uri="{FF2B5EF4-FFF2-40B4-BE49-F238E27FC236}">
                      <a16:creationId xmlns:a16="http://schemas.microsoft.com/office/drawing/2014/main" id="{B76B5C4C-4BEB-16E2-7472-1A450D08A2B2}"/>
                    </a:ext>
                  </a:extLst>
                </p:cNvPr>
                <p:cNvCxnSpPr>
                  <a:cxnSpLocks noChangeShapeType="1"/>
                </p:cNvCxnSpPr>
                <p:nvPr/>
              </p:nvCxnSpPr>
              <p:spPr bwMode="auto">
                <a:xfrm rot="5400000" flipH="1" flipV="1">
                  <a:off x="1571625" y="3624263"/>
                  <a:ext cx="1255713" cy="1874837"/>
                </a:xfrm>
                <a:prstGeom prst="bentConnector4">
                  <a:avLst>
                    <a:gd name="adj1" fmla="val -10037"/>
                    <a:gd name="adj2" fmla="val 11509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 name="Rectangle 6">
                  <a:extLst>
                    <a:ext uri="{FF2B5EF4-FFF2-40B4-BE49-F238E27FC236}">
                      <a16:creationId xmlns:a16="http://schemas.microsoft.com/office/drawing/2014/main" id="{D957465A-A23A-9156-7F6D-68E53711FDD4}"/>
                    </a:ext>
                  </a:extLst>
                </p:cNvPr>
                <p:cNvSpPr>
                  <a:spLocks noChangeArrowheads="1"/>
                </p:cNvSpPr>
                <p:nvPr/>
              </p:nvSpPr>
              <p:spPr bwMode="auto">
                <a:xfrm>
                  <a:off x="952500" y="3827463"/>
                  <a:ext cx="623888" cy="3381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dirty="0">
                      <a:solidFill>
                        <a:schemeClr val="bg1"/>
                      </a:solidFill>
                      <a:latin typeface="+mn-lt"/>
                    </a:rPr>
                    <a:t>Product</a:t>
                  </a:r>
                </a:p>
                <a:p>
                  <a:pPr algn="ctr">
                    <a:lnSpc>
                      <a:spcPct val="80000"/>
                    </a:lnSpc>
                    <a:spcBef>
                      <a:spcPct val="15000"/>
                    </a:spcBef>
                    <a:buClrTx/>
                    <a:buSzTx/>
                    <a:buFontTx/>
                    <a:buNone/>
                  </a:pPr>
                  <a:r>
                    <a:rPr lang="en-US" altLang="en-US" sz="400" dirty="0">
                      <a:solidFill>
                        <a:schemeClr val="bg1"/>
                      </a:solidFill>
                      <a:latin typeface="+mn-lt"/>
                    </a:rPr>
                    <a:t>D</a:t>
                  </a:r>
                </a:p>
              </p:txBody>
            </p:sp>
            <p:sp>
              <p:nvSpPr>
                <p:cNvPr id="6" name="Rectangle 7">
                  <a:extLst>
                    <a:ext uri="{FF2B5EF4-FFF2-40B4-BE49-F238E27FC236}">
                      <a16:creationId xmlns:a16="http://schemas.microsoft.com/office/drawing/2014/main" id="{CFE8D0D1-1F1B-1412-96A6-7D373378024C}"/>
                    </a:ext>
                  </a:extLst>
                </p:cNvPr>
                <p:cNvSpPr>
                  <a:spLocks noChangeArrowheads="1"/>
                </p:cNvSpPr>
                <p:nvPr/>
              </p:nvSpPr>
              <p:spPr bwMode="auto">
                <a:xfrm>
                  <a:off x="1733550" y="3827463"/>
                  <a:ext cx="623888" cy="3381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a:t>
                  </a:r>
                </a:p>
                <a:p>
                  <a:pPr algn="ctr">
                    <a:lnSpc>
                      <a:spcPct val="80000"/>
                    </a:lnSpc>
                    <a:spcBef>
                      <a:spcPct val="15000"/>
                    </a:spcBef>
                    <a:buClrTx/>
                    <a:buSzTx/>
                    <a:buFontTx/>
                    <a:buNone/>
                  </a:pPr>
                  <a:r>
                    <a:rPr lang="en-US" altLang="en-US" sz="400">
                      <a:solidFill>
                        <a:schemeClr val="bg1"/>
                      </a:solidFill>
                      <a:latin typeface="+mn-lt"/>
                    </a:rPr>
                    <a:t>E</a:t>
                  </a:r>
                </a:p>
              </p:txBody>
            </p:sp>
            <p:sp>
              <p:nvSpPr>
                <p:cNvPr id="7" name="Rectangle 8">
                  <a:extLst>
                    <a:ext uri="{FF2B5EF4-FFF2-40B4-BE49-F238E27FC236}">
                      <a16:creationId xmlns:a16="http://schemas.microsoft.com/office/drawing/2014/main" id="{BAD08FBF-06EB-0CBF-5C2B-760CFC2D18C9}"/>
                    </a:ext>
                  </a:extLst>
                </p:cNvPr>
                <p:cNvSpPr>
                  <a:spLocks noChangeArrowheads="1"/>
                </p:cNvSpPr>
                <p:nvPr/>
              </p:nvSpPr>
              <p:spPr bwMode="auto">
                <a:xfrm>
                  <a:off x="2513013" y="3827463"/>
                  <a:ext cx="623887" cy="3381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 </a:t>
                  </a:r>
                </a:p>
                <a:p>
                  <a:pPr algn="ctr">
                    <a:lnSpc>
                      <a:spcPct val="80000"/>
                    </a:lnSpc>
                    <a:spcBef>
                      <a:spcPct val="15000"/>
                    </a:spcBef>
                    <a:buClrTx/>
                    <a:buSzTx/>
                    <a:buFontTx/>
                    <a:buNone/>
                  </a:pPr>
                  <a:r>
                    <a:rPr lang="en-US" altLang="en-US" sz="400">
                      <a:solidFill>
                        <a:schemeClr val="bg1"/>
                      </a:solidFill>
                      <a:latin typeface="+mn-lt"/>
                    </a:rPr>
                    <a:t>F</a:t>
                  </a:r>
                </a:p>
              </p:txBody>
            </p:sp>
            <p:sp>
              <p:nvSpPr>
                <p:cNvPr id="8" name="Rectangle 9">
                  <a:extLst>
                    <a:ext uri="{FF2B5EF4-FFF2-40B4-BE49-F238E27FC236}">
                      <a16:creationId xmlns:a16="http://schemas.microsoft.com/office/drawing/2014/main" id="{45987BA5-530C-CC40-E9AB-F35018000295}"/>
                    </a:ext>
                  </a:extLst>
                </p:cNvPr>
                <p:cNvSpPr>
                  <a:spLocks noChangeArrowheads="1"/>
                </p:cNvSpPr>
                <p:nvPr/>
              </p:nvSpPr>
              <p:spPr bwMode="auto">
                <a:xfrm>
                  <a:off x="985838" y="4402138"/>
                  <a:ext cx="554037" cy="3571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a:t>
                  </a:r>
                </a:p>
                <a:p>
                  <a:pPr algn="ctr">
                    <a:lnSpc>
                      <a:spcPct val="80000"/>
                    </a:lnSpc>
                    <a:spcBef>
                      <a:spcPct val="15000"/>
                    </a:spcBef>
                    <a:buClrTx/>
                    <a:buSzTx/>
                    <a:buFontTx/>
                    <a:buNone/>
                  </a:pPr>
                  <a:r>
                    <a:rPr lang="en-US" altLang="en-US" sz="400">
                      <a:solidFill>
                        <a:schemeClr val="bg1"/>
                      </a:solidFill>
                      <a:latin typeface="+mn-lt"/>
                    </a:rPr>
                    <a:t>1</a:t>
                  </a:r>
                </a:p>
              </p:txBody>
            </p:sp>
            <p:sp>
              <p:nvSpPr>
                <p:cNvPr id="9" name="Rectangle 10">
                  <a:extLst>
                    <a:ext uri="{FF2B5EF4-FFF2-40B4-BE49-F238E27FC236}">
                      <a16:creationId xmlns:a16="http://schemas.microsoft.com/office/drawing/2014/main" id="{1036F89B-BA4A-4371-11CF-A64885C7A8E6}"/>
                    </a:ext>
                  </a:extLst>
                </p:cNvPr>
                <p:cNvSpPr>
                  <a:spLocks noChangeArrowheads="1"/>
                </p:cNvSpPr>
                <p:nvPr/>
              </p:nvSpPr>
              <p:spPr bwMode="auto">
                <a:xfrm>
                  <a:off x="1766888" y="4402138"/>
                  <a:ext cx="554037" cy="3571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a:t>
                  </a:r>
                </a:p>
                <a:p>
                  <a:pPr algn="ctr">
                    <a:lnSpc>
                      <a:spcPct val="80000"/>
                    </a:lnSpc>
                    <a:spcBef>
                      <a:spcPct val="15000"/>
                    </a:spcBef>
                    <a:buClrTx/>
                    <a:buSzTx/>
                    <a:buFontTx/>
                    <a:buNone/>
                  </a:pPr>
                  <a:r>
                    <a:rPr lang="en-US" altLang="en-US" sz="400">
                      <a:solidFill>
                        <a:schemeClr val="bg1"/>
                      </a:solidFill>
                      <a:latin typeface="+mn-lt"/>
                    </a:rPr>
                    <a:t>2</a:t>
                  </a:r>
                </a:p>
              </p:txBody>
            </p:sp>
            <p:sp>
              <p:nvSpPr>
                <p:cNvPr id="17" name="Rectangle 11">
                  <a:extLst>
                    <a:ext uri="{FF2B5EF4-FFF2-40B4-BE49-F238E27FC236}">
                      <a16:creationId xmlns:a16="http://schemas.microsoft.com/office/drawing/2014/main" id="{7CE19330-BFFE-1B37-9233-647A6355673E}"/>
                    </a:ext>
                  </a:extLst>
                </p:cNvPr>
                <p:cNvSpPr>
                  <a:spLocks noChangeArrowheads="1"/>
                </p:cNvSpPr>
                <p:nvPr/>
              </p:nvSpPr>
              <p:spPr bwMode="auto">
                <a:xfrm>
                  <a:off x="2546350" y="4402138"/>
                  <a:ext cx="554038" cy="35718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 </a:t>
                  </a:r>
                </a:p>
                <a:p>
                  <a:pPr algn="ctr">
                    <a:lnSpc>
                      <a:spcPct val="80000"/>
                    </a:lnSpc>
                    <a:spcBef>
                      <a:spcPct val="15000"/>
                    </a:spcBef>
                    <a:buClrTx/>
                    <a:buSzTx/>
                    <a:buFontTx/>
                    <a:buNone/>
                  </a:pPr>
                  <a:r>
                    <a:rPr lang="en-US" altLang="en-US" sz="400">
                      <a:solidFill>
                        <a:schemeClr val="bg1"/>
                      </a:solidFill>
                      <a:latin typeface="+mn-lt"/>
                    </a:rPr>
                    <a:t>3</a:t>
                  </a:r>
                </a:p>
              </p:txBody>
            </p:sp>
            <p:sp>
              <p:nvSpPr>
                <p:cNvPr id="18" name="Rectangle 12">
                  <a:extLst>
                    <a:ext uri="{FF2B5EF4-FFF2-40B4-BE49-F238E27FC236}">
                      <a16:creationId xmlns:a16="http://schemas.microsoft.com/office/drawing/2014/main" id="{F7AE3F58-C155-A64D-1A4E-0D7C20881DD8}"/>
                    </a:ext>
                  </a:extLst>
                </p:cNvPr>
                <p:cNvSpPr>
                  <a:spLocks noChangeArrowheads="1"/>
                </p:cNvSpPr>
                <p:nvPr/>
              </p:nvSpPr>
              <p:spPr bwMode="auto">
                <a:xfrm>
                  <a:off x="985838" y="4894263"/>
                  <a:ext cx="554037" cy="3587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a:t>
                  </a:r>
                </a:p>
                <a:p>
                  <a:pPr algn="ctr">
                    <a:lnSpc>
                      <a:spcPct val="80000"/>
                    </a:lnSpc>
                    <a:spcBef>
                      <a:spcPct val="15000"/>
                    </a:spcBef>
                    <a:buClrTx/>
                    <a:buSzTx/>
                    <a:buFontTx/>
                    <a:buNone/>
                  </a:pPr>
                  <a:r>
                    <a:rPr lang="en-US" altLang="en-US" sz="400">
                      <a:solidFill>
                        <a:schemeClr val="bg1"/>
                      </a:solidFill>
                      <a:latin typeface="+mn-lt"/>
                    </a:rPr>
                    <a:t>4</a:t>
                  </a:r>
                </a:p>
              </p:txBody>
            </p:sp>
            <p:sp>
              <p:nvSpPr>
                <p:cNvPr id="19" name="Rectangle 13">
                  <a:extLst>
                    <a:ext uri="{FF2B5EF4-FFF2-40B4-BE49-F238E27FC236}">
                      <a16:creationId xmlns:a16="http://schemas.microsoft.com/office/drawing/2014/main" id="{EB9F3C70-A319-B08D-576B-F76CFDAA37E7}"/>
                    </a:ext>
                  </a:extLst>
                </p:cNvPr>
                <p:cNvSpPr>
                  <a:spLocks noChangeArrowheads="1"/>
                </p:cNvSpPr>
                <p:nvPr/>
              </p:nvSpPr>
              <p:spPr bwMode="auto">
                <a:xfrm>
                  <a:off x="1766888" y="4894263"/>
                  <a:ext cx="554037" cy="3587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a:t>
                  </a:r>
                </a:p>
                <a:p>
                  <a:pPr algn="ctr">
                    <a:lnSpc>
                      <a:spcPct val="80000"/>
                    </a:lnSpc>
                    <a:spcBef>
                      <a:spcPct val="15000"/>
                    </a:spcBef>
                    <a:buClrTx/>
                    <a:buSzTx/>
                    <a:buFontTx/>
                    <a:buNone/>
                  </a:pPr>
                  <a:r>
                    <a:rPr lang="en-US" altLang="en-US" sz="400">
                      <a:solidFill>
                        <a:schemeClr val="bg1"/>
                      </a:solidFill>
                      <a:latin typeface="+mn-lt"/>
                    </a:rPr>
                    <a:t>5</a:t>
                  </a:r>
                </a:p>
              </p:txBody>
            </p:sp>
            <p:sp>
              <p:nvSpPr>
                <p:cNvPr id="20" name="Rectangle 14">
                  <a:extLst>
                    <a:ext uri="{FF2B5EF4-FFF2-40B4-BE49-F238E27FC236}">
                      <a16:creationId xmlns:a16="http://schemas.microsoft.com/office/drawing/2014/main" id="{1174E300-AD10-CA99-09E0-06DE5DD5398E}"/>
                    </a:ext>
                  </a:extLst>
                </p:cNvPr>
                <p:cNvSpPr>
                  <a:spLocks noChangeArrowheads="1"/>
                </p:cNvSpPr>
                <p:nvPr/>
              </p:nvSpPr>
              <p:spPr bwMode="auto">
                <a:xfrm>
                  <a:off x="2546350" y="4894263"/>
                  <a:ext cx="554038" cy="3587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 </a:t>
                  </a:r>
                </a:p>
                <a:p>
                  <a:pPr algn="ctr">
                    <a:lnSpc>
                      <a:spcPct val="80000"/>
                    </a:lnSpc>
                    <a:spcBef>
                      <a:spcPct val="15000"/>
                    </a:spcBef>
                    <a:buClrTx/>
                    <a:buSzTx/>
                    <a:buFontTx/>
                    <a:buNone/>
                  </a:pPr>
                  <a:r>
                    <a:rPr lang="en-US" altLang="en-US" sz="400">
                      <a:solidFill>
                        <a:schemeClr val="bg1"/>
                      </a:solidFill>
                      <a:latin typeface="+mn-lt"/>
                    </a:rPr>
                    <a:t>6</a:t>
                  </a:r>
                </a:p>
              </p:txBody>
            </p:sp>
            <p:cxnSp>
              <p:nvCxnSpPr>
                <p:cNvPr id="21" name="AutoShape 15">
                  <a:extLst>
                    <a:ext uri="{FF2B5EF4-FFF2-40B4-BE49-F238E27FC236}">
                      <a16:creationId xmlns:a16="http://schemas.microsoft.com/office/drawing/2014/main" id="{50CE5C93-E9B0-7555-0BED-0DF035DF158A}"/>
                    </a:ext>
                  </a:extLst>
                </p:cNvPr>
                <p:cNvCxnSpPr>
                  <a:cxnSpLocks noChangeShapeType="1"/>
                  <a:stCxn id="8" idx="0"/>
                  <a:endCxn id="5" idx="2"/>
                </p:cNvCxnSpPr>
                <p:nvPr/>
              </p:nvCxnSpPr>
              <p:spPr bwMode="auto">
                <a:xfrm flipV="1">
                  <a:off x="1262063" y="4165600"/>
                  <a:ext cx="1587" cy="2365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16">
                  <a:extLst>
                    <a:ext uri="{FF2B5EF4-FFF2-40B4-BE49-F238E27FC236}">
                      <a16:creationId xmlns:a16="http://schemas.microsoft.com/office/drawing/2014/main" id="{8C919FF7-B79D-537B-A42E-FB099AED22F1}"/>
                    </a:ext>
                  </a:extLst>
                </p:cNvPr>
                <p:cNvCxnSpPr>
                  <a:cxnSpLocks noChangeShapeType="1"/>
                  <a:stCxn id="8" idx="0"/>
                  <a:endCxn id="6" idx="2"/>
                </p:cNvCxnSpPr>
                <p:nvPr/>
              </p:nvCxnSpPr>
              <p:spPr bwMode="auto">
                <a:xfrm rot="16200000">
                  <a:off x="1535113" y="3892550"/>
                  <a:ext cx="236538" cy="782637"/>
                </a:xfrm>
                <a:prstGeom prst="bentConnector3">
                  <a:avLst>
                    <a:gd name="adj1" fmla="val 4981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17">
                  <a:extLst>
                    <a:ext uri="{FF2B5EF4-FFF2-40B4-BE49-F238E27FC236}">
                      <a16:creationId xmlns:a16="http://schemas.microsoft.com/office/drawing/2014/main" id="{2E24B354-B20D-8372-7B4A-59A769CC8157}"/>
                    </a:ext>
                  </a:extLst>
                </p:cNvPr>
                <p:cNvCxnSpPr>
                  <a:cxnSpLocks noChangeShapeType="1"/>
                  <a:stCxn id="18" idx="3"/>
                  <a:endCxn id="6" idx="1"/>
                </p:cNvCxnSpPr>
                <p:nvPr/>
              </p:nvCxnSpPr>
              <p:spPr bwMode="auto">
                <a:xfrm flipV="1">
                  <a:off x="1539875" y="3997325"/>
                  <a:ext cx="193675" cy="1077913"/>
                </a:xfrm>
                <a:prstGeom prst="bentConnector3">
                  <a:avLst>
                    <a:gd name="adj1" fmla="val 4968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4" name="AutoShape 18">
                  <a:extLst>
                    <a:ext uri="{FF2B5EF4-FFF2-40B4-BE49-F238E27FC236}">
                      <a16:creationId xmlns:a16="http://schemas.microsoft.com/office/drawing/2014/main" id="{E5087602-0DD7-8007-030A-6F9290E0CF47}"/>
                    </a:ext>
                  </a:extLst>
                </p:cNvPr>
                <p:cNvCxnSpPr>
                  <a:cxnSpLocks noChangeShapeType="1"/>
                  <a:stCxn id="20" idx="3"/>
                  <a:endCxn id="7" idx="3"/>
                </p:cNvCxnSpPr>
                <p:nvPr/>
              </p:nvCxnSpPr>
              <p:spPr bwMode="auto">
                <a:xfrm flipV="1">
                  <a:off x="3100388" y="3997325"/>
                  <a:ext cx="36512" cy="1077913"/>
                </a:xfrm>
                <a:prstGeom prst="bentConnector3">
                  <a:avLst>
                    <a:gd name="adj1" fmla="val 58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19">
                  <a:extLst>
                    <a:ext uri="{FF2B5EF4-FFF2-40B4-BE49-F238E27FC236}">
                      <a16:creationId xmlns:a16="http://schemas.microsoft.com/office/drawing/2014/main" id="{A9EF9EB2-FE1C-C4C7-DE91-C7C4F8689B01}"/>
                    </a:ext>
                  </a:extLst>
                </p:cNvPr>
                <p:cNvCxnSpPr>
                  <a:cxnSpLocks noChangeShapeType="1"/>
                  <a:stCxn id="19" idx="3"/>
                  <a:endCxn id="6" idx="3"/>
                </p:cNvCxnSpPr>
                <p:nvPr/>
              </p:nvCxnSpPr>
              <p:spPr bwMode="auto">
                <a:xfrm flipV="1">
                  <a:off x="2320925" y="3997325"/>
                  <a:ext cx="36513" cy="1077913"/>
                </a:xfrm>
                <a:prstGeom prst="bentConnector3">
                  <a:avLst>
                    <a:gd name="adj1" fmla="val 340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26" name="AutoShape 20">
                  <a:extLst>
                    <a:ext uri="{FF2B5EF4-FFF2-40B4-BE49-F238E27FC236}">
                      <a16:creationId xmlns:a16="http://schemas.microsoft.com/office/drawing/2014/main" id="{4A161373-40F1-0137-9F1F-4649953AA757}"/>
                    </a:ext>
                  </a:extLst>
                </p:cNvPr>
                <p:cNvCxnSpPr>
                  <a:cxnSpLocks noChangeShapeType="1"/>
                  <a:stCxn id="9" idx="0"/>
                  <a:endCxn id="7" idx="2"/>
                </p:cNvCxnSpPr>
                <p:nvPr/>
              </p:nvCxnSpPr>
              <p:spPr bwMode="auto">
                <a:xfrm rot="16200000">
                  <a:off x="2316956" y="3893344"/>
                  <a:ext cx="236538" cy="781050"/>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21">
                  <a:extLst>
                    <a:ext uri="{FF2B5EF4-FFF2-40B4-BE49-F238E27FC236}">
                      <a16:creationId xmlns:a16="http://schemas.microsoft.com/office/drawing/2014/main" id="{FC9F7099-D273-1D9D-C8AE-0763C32ACD81}"/>
                    </a:ext>
                  </a:extLst>
                </p:cNvPr>
                <p:cNvCxnSpPr>
                  <a:cxnSpLocks noChangeShapeType="1"/>
                  <a:stCxn id="17" idx="0"/>
                  <a:endCxn id="6" idx="2"/>
                </p:cNvCxnSpPr>
                <p:nvPr/>
              </p:nvCxnSpPr>
              <p:spPr bwMode="auto">
                <a:xfrm rot="5400000" flipH="1">
                  <a:off x="2316163" y="3894137"/>
                  <a:ext cx="236538" cy="779463"/>
                </a:xfrm>
                <a:prstGeom prst="curvedConnector3">
                  <a:avLst>
                    <a:gd name="adj1" fmla="val 49815"/>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2">
                  <a:extLst>
                    <a:ext uri="{FF2B5EF4-FFF2-40B4-BE49-F238E27FC236}">
                      <a16:creationId xmlns:a16="http://schemas.microsoft.com/office/drawing/2014/main" id="{D1B4D205-9F21-17F1-837B-6484FF265029}"/>
                    </a:ext>
                  </a:extLst>
                </p:cNvPr>
                <p:cNvCxnSpPr>
                  <a:cxnSpLocks noChangeShapeType="1"/>
                  <a:stCxn id="8" idx="1"/>
                  <a:endCxn id="5" idx="1"/>
                </p:cNvCxnSpPr>
                <p:nvPr/>
              </p:nvCxnSpPr>
              <p:spPr bwMode="auto">
                <a:xfrm rot="10800000">
                  <a:off x="952500" y="3997325"/>
                  <a:ext cx="33338" cy="584200"/>
                </a:xfrm>
                <a:prstGeom prst="bentConnector3">
                  <a:avLst>
                    <a:gd name="adj1" fmla="val 61428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3" name="AutoShape 23">
                  <a:extLst>
                    <a:ext uri="{FF2B5EF4-FFF2-40B4-BE49-F238E27FC236}">
                      <a16:creationId xmlns:a16="http://schemas.microsoft.com/office/drawing/2014/main" id="{7014F1ED-2D8C-CB15-A1D8-15FBE0D66D7C}"/>
                    </a:ext>
                  </a:extLst>
                </p:cNvPr>
                <p:cNvCxnSpPr>
                  <a:cxnSpLocks noChangeShapeType="1"/>
                  <a:stCxn id="19" idx="2"/>
                  <a:endCxn id="5" idx="0"/>
                </p:cNvCxnSpPr>
                <p:nvPr/>
              </p:nvCxnSpPr>
              <p:spPr bwMode="auto">
                <a:xfrm rot="16200000" flipV="1">
                  <a:off x="941387" y="4149726"/>
                  <a:ext cx="1425575" cy="781050"/>
                </a:xfrm>
                <a:prstGeom prst="bentConnector5">
                  <a:avLst>
                    <a:gd name="adj1" fmla="val -8838"/>
                    <a:gd name="adj2" fmla="val 174921"/>
                    <a:gd name="adj3" fmla="val 10595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4" name="Rectangle 24">
                  <a:extLst>
                    <a:ext uri="{FF2B5EF4-FFF2-40B4-BE49-F238E27FC236}">
                      <a16:creationId xmlns:a16="http://schemas.microsoft.com/office/drawing/2014/main" id="{7B52B01B-8F10-162A-1D4E-C97CD6851653}"/>
                    </a:ext>
                  </a:extLst>
                </p:cNvPr>
                <p:cNvSpPr>
                  <a:spLocks noChangeArrowheads="1"/>
                </p:cNvSpPr>
                <p:nvPr/>
              </p:nvSpPr>
              <p:spPr bwMode="auto">
                <a:xfrm>
                  <a:off x="590550" y="3632200"/>
                  <a:ext cx="2954338" cy="18510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5" name="Rectangle 25">
                  <a:extLst>
                    <a:ext uri="{FF2B5EF4-FFF2-40B4-BE49-F238E27FC236}">
                      <a16:creationId xmlns:a16="http://schemas.microsoft.com/office/drawing/2014/main" id="{9033179B-FF93-CE82-230A-71E6D0D0FFDB}"/>
                    </a:ext>
                  </a:extLst>
                </p:cNvPr>
                <p:cNvSpPr>
                  <a:spLocks noChangeArrowheads="1"/>
                </p:cNvSpPr>
                <p:nvPr/>
              </p:nvSpPr>
              <p:spPr bwMode="auto">
                <a:xfrm rot="16200000">
                  <a:off x="2787650" y="4424363"/>
                  <a:ext cx="2405063" cy="25558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600" dirty="0">
                      <a:solidFill>
                        <a:schemeClr val="bg1"/>
                      </a:solidFill>
                      <a:latin typeface="+mn-lt"/>
                    </a:rPr>
                    <a:t>“</a:t>
                  </a:r>
                  <a:r>
                    <a:rPr lang="en-US" altLang="ja-JP" sz="600" dirty="0">
                      <a:solidFill>
                        <a:schemeClr val="bg1"/>
                      </a:solidFill>
                      <a:latin typeface="+mn-lt"/>
                    </a:rPr>
                    <a:t>Most Critical</a:t>
                  </a:r>
                  <a:r>
                    <a:rPr lang="ja-JP" altLang="en-US" sz="600" dirty="0">
                      <a:solidFill>
                        <a:schemeClr val="bg1"/>
                      </a:solidFill>
                      <a:latin typeface="+mn-lt"/>
                    </a:rPr>
                    <a:t>”</a:t>
                  </a:r>
                  <a:r>
                    <a:rPr lang="en-US" altLang="ja-JP" sz="600" dirty="0">
                      <a:solidFill>
                        <a:schemeClr val="bg1"/>
                      </a:solidFill>
                      <a:latin typeface="+mn-lt"/>
                    </a:rPr>
                    <a:t> Bottleneck Analysis</a:t>
                  </a:r>
                  <a:endParaRPr lang="en-US" altLang="en-US" sz="600" dirty="0">
                    <a:solidFill>
                      <a:schemeClr val="bg1"/>
                    </a:solidFill>
                    <a:latin typeface="+mn-lt"/>
                  </a:endParaRPr>
                </a:p>
              </p:txBody>
            </p:sp>
            <p:grpSp>
              <p:nvGrpSpPr>
                <p:cNvPr id="46" name="Group 26">
                  <a:extLst>
                    <a:ext uri="{FF2B5EF4-FFF2-40B4-BE49-F238E27FC236}">
                      <a16:creationId xmlns:a16="http://schemas.microsoft.com/office/drawing/2014/main" id="{75D5B500-686D-CFBB-E071-EF099623CEA2}"/>
                    </a:ext>
                  </a:extLst>
                </p:cNvPr>
                <p:cNvGrpSpPr>
                  <a:grpSpLocks/>
                </p:cNvGrpSpPr>
                <p:nvPr/>
              </p:nvGrpSpPr>
              <p:grpSpPr bwMode="auto">
                <a:xfrm>
                  <a:off x="4408488" y="3397250"/>
                  <a:ext cx="879475" cy="2308225"/>
                  <a:chOff x="2553" y="1419"/>
                  <a:chExt cx="554" cy="1454"/>
                </a:xfrm>
              </p:grpSpPr>
              <p:sp>
                <p:nvSpPr>
                  <p:cNvPr id="47" name="Oval 27">
                    <a:extLst>
                      <a:ext uri="{FF2B5EF4-FFF2-40B4-BE49-F238E27FC236}">
                        <a16:creationId xmlns:a16="http://schemas.microsoft.com/office/drawing/2014/main" id="{53176FA3-C1A5-CB78-F5EE-CAC1467581AB}"/>
                      </a:ext>
                    </a:extLst>
                  </p:cNvPr>
                  <p:cNvSpPr>
                    <a:spLocks noChangeArrowheads="1"/>
                  </p:cNvSpPr>
                  <p:nvPr/>
                </p:nvSpPr>
                <p:spPr bwMode="auto">
                  <a:xfrm rot="-5400000">
                    <a:off x="2103" y="1869"/>
                    <a:ext cx="1454" cy="554"/>
                  </a:xfrm>
                  <a:prstGeom prst="ellipse">
                    <a:avLst/>
                  </a:prstGeom>
                  <a:solidFill>
                    <a:schemeClr val="bg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48" name="Group 28">
                    <a:extLst>
                      <a:ext uri="{FF2B5EF4-FFF2-40B4-BE49-F238E27FC236}">
                        <a16:creationId xmlns:a16="http://schemas.microsoft.com/office/drawing/2014/main" id="{A2FA7102-93AC-0947-25A8-BA1AB62DC2E6}"/>
                      </a:ext>
                    </a:extLst>
                  </p:cNvPr>
                  <p:cNvGrpSpPr>
                    <a:grpSpLocks/>
                  </p:cNvGrpSpPr>
                  <p:nvPr/>
                </p:nvGrpSpPr>
                <p:grpSpPr bwMode="auto">
                  <a:xfrm>
                    <a:off x="2651" y="1664"/>
                    <a:ext cx="349" cy="932"/>
                    <a:chOff x="2651" y="1664"/>
                    <a:chExt cx="349" cy="932"/>
                  </a:xfrm>
                </p:grpSpPr>
                <p:sp>
                  <p:nvSpPr>
                    <p:cNvPr id="49" name="Rectangle 29">
                      <a:extLst>
                        <a:ext uri="{FF2B5EF4-FFF2-40B4-BE49-F238E27FC236}">
                          <a16:creationId xmlns:a16="http://schemas.microsoft.com/office/drawing/2014/main" id="{5FB64FBD-800D-C4BA-4412-45FCA05C6AD5}"/>
                        </a:ext>
                      </a:extLst>
                    </p:cNvPr>
                    <p:cNvSpPr>
                      <a:spLocks noChangeArrowheads="1"/>
                    </p:cNvSpPr>
                    <p:nvPr/>
                  </p:nvSpPr>
                  <p:spPr bwMode="auto">
                    <a:xfrm>
                      <a:off x="2651" y="1664"/>
                      <a:ext cx="349" cy="2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dirty="0">
                          <a:solidFill>
                            <a:schemeClr val="bg1"/>
                          </a:solidFill>
                          <a:latin typeface="+mn-lt"/>
                        </a:rPr>
                        <a:t>Production</a:t>
                      </a:r>
                    </a:p>
                    <a:p>
                      <a:pPr algn="ctr">
                        <a:lnSpc>
                          <a:spcPct val="80000"/>
                        </a:lnSpc>
                        <a:spcBef>
                          <a:spcPct val="15000"/>
                        </a:spcBef>
                        <a:buClrTx/>
                        <a:buSzTx/>
                        <a:buFontTx/>
                        <a:buNone/>
                      </a:pPr>
                      <a:r>
                        <a:rPr lang="en-US" altLang="en-US" sz="400" dirty="0">
                          <a:solidFill>
                            <a:schemeClr val="bg1"/>
                          </a:solidFill>
                          <a:latin typeface="+mn-lt"/>
                        </a:rPr>
                        <a:t>Resource </a:t>
                      </a:r>
                    </a:p>
                    <a:p>
                      <a:pPr algn="ctr">
                        <a:lnSpc>
                          <a:spcPct val="80000"/>
                        </a:lnSpc>
                        <a:spcBef>
                          <a:spcPct val="15000"/>
                        </a:spcBef>
                        <a:buClrTx/>
                        <a:buSzTx/>
                        <a:buFontTx/>
                        <a:buNone/>
                      </a:pPr>
                      <a:r>
                        <a:rPr lang="en-US" altLang="en-US" sz="400" dirty="0">
                          <a:solidFill>
                            <a:schemeClr val="bg1"/>
                          </a:solidFill>
                          <a:latin typeface="+mn-lt"/>
                        </a:rPr>
                        <a:t>1</a:t>
                      </a:r>
                    </a:p>
                  </p:txBody>
                </p:sp>
                <p:sp>
                  <p:nvSpPr>
                    <p:cNvPr id="50" name="Rectangle 30">
                      <a:extLst>
                        <a:ext uri="{FF2B5EF4-FFF2-40B4-BE49-F238E27FC236}">
                          <a16:creationId xmlns:a16="http://schemas.microsoft.com/office/drawing/2014/main" id="{4F3E93A0-2070-16BE-9CF6-CA533E2A663C}"/>
                        </a:ext>
                      </a:extLst>
                    </p:cNvPr>
                    <p:cNvSpPr>
                      <a:spLocks noChangeArrowheads="1"/>
                    </p:cNvSpPr>
                    <p:nvPr/>
                  </p:nvSpPr>
                  <p:spPr bwMode="auto">
                    <a:xfrm>
                      <a:off x="2651" y="2020"/>
                      <a:ext cx="349" cy="2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a:solidFill>
                            <a:schemeClr val="bg1"/>
                          </a:solidFill>
                          <a:latin typeface="+mn-lt"/>
                        </a:rPr>
                        <a:t>Production</a:t>
                      </a:r>
                    </a:p>
                    <a:p>
                      <a:pPr algn="ctr">
                        <a:lnSpc>
                          <a:spcPct val="80000"/>
                        </a:lnSpc>
                        <a:spcBef>
                          <a:spcPct val="15000"/>
                        </a:spcBef>
                        <a:buClrTx/>
                        <a:buSzTx/>
                        <a:buFontTx/>
                        <a:buNone/>
                      </a:pPr>
                      <a:r>
                        <a:rPr lang="en-US" altLang="en-US" sz="400">
                          <a:solidFill>
                            <a:schemeClr val="bg1"/>
                          </a:solidFill>
                          <a:latin typeface="+mn-lt"/>
                        </a:rPr>
                        <a:t>Resource </a:t>
                      </a:r>
                    </a:p>
                    <a:p>
                      <a:pPr algn="ctr">
                        <a:lnSpc>
                          <a:spcPct val="80000"/>
                        </a:lnSpc>
                        <a:spcBef>
                          <a:spcPct val="15000"/>
                        </a:spcBef>
                        <a:buClrTx/>
                        <a:buSzTx/>
                        <a:buFontTx/>
                        <a:buNone/>
                      </a:pPr>
                      <a:r>
                        <a:rPr lang="en-US" altLang="en-US" sz="400">
                          <a:solidFill>
                            <a:schemeClr val="bg1"/>
                          </a:solidFill>
                          <a:latin typeface="+mn-lt"/>
                        </a:rPr>
                        <a:t>3</a:t>
                      </a:r>
                    </a:p>
                  </p:txBody>
                </p:sp>
                <p:sp>
                  <p:nvSpPr>
                    <p:cNvPr id="51" name="Rectangle 31">
                      <a:extLst>
                        <a:ext uri="{FF2B5EF4-FFF2-40B4-BE49-F238E27FC236}">
                          <a16:creationId xmlns:a16="http://schemas.microsoft.com/office/drawing/2014/main" id="{DED9E93F-FA47-06E4-C5B6-6767E6EC29CF}"/>
                        </a:ext>
                      </a:extLst>
                    </p:cNvPr>
                    <p:cNvSpPr>
                      <a:spLocks noChangeArrowheads="1"/>
                    </p:cNvSpPr>
                    <p:nvPr/>
                  </p:nvSpPr>
                  <p:spPr bwMode="auto">
                    <a:xfrm>
                      <a:off x="2651" y="2371"/>
                      <a:ext cx="349" cy="2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5000"/>
                        </a:spcBef>
                        <a:buClrTx/>
                        <a:buSzTx/>
                        <a:buFontTx/>
                        <a:buNone/>
                      </a:pPr>
                      <a:r>
                        <a:rPr lang="en-US" altLang="en-US" sz="400" dirty="0">
                          <a:solidFill>
                            <a:schemeClr val="bg1"/>
                          </a:solidFill>
                          <a:latin typeface="+mn-lt"/>
                        </a:rPr>
                        <a:t>Production</a:t>
                      </a:r>
                    </a:p>
                    <a:p>
                      <a:pPr algn="ctr">
                        <a:lnSpc>
                          <a:spcPct val="80000"/>
                        </a:lnSpc>
                        <a:spcBef>
                          <a:spcPct val="15000"/>
                        </a:spcBef>
                        <a:buClrTx/>
                        <a:buSzTx/>
                        <a:buFontTx/>
                        <a:buNone/>
                      </a:pPr>
                      <a:r>
                        <a:rPr lang="en-US" altLang="en-US" sz="400" dirty="0">
                          <a:solidFill>
                            <a:schemeClr val="bg1"/>
                          </a:solidFill>
                          <a:latin typeface="+mn-lt"/>
                        </a:rPr>
                        <a:t>Resource </a:t>
                      </a:r>
                    </a:p>
                    <a:p>
                      <a:pPr algn="ctr">
                        <a:lnSpc>
                          <a:spcPct val="80000"/>
                        </a:lnSpc>
                        <a:spcBef>
                          <a:spcPct val="15000"/>
                        </a:spcBef>
                        <a:buClrTx/>
                        <a:buSzTx/>
                        <a:buFontTx/>
                        <a:buNone/>
                      </a:pPr>
                      <a:r>
                        <a:rPr lang="en-US" altLang="en-US" sz="400" dirty="0">
                          <a:solidFill>
                            <a:schemeClr val="bg1"/>
                          </a:solidFill>
                          <a:latin typeface="+mn-lt"/>
                        </a:rPr>
                        <a:t>4</a:t>
                      </a:r>
                    </a:p>
                  </p:txBody>
                </p:sp>
              </p:grpSp>
            </p:grpSp>
            <p:sp>
              <p:nvSpPr>
                <p:cNvPr id="53" name="Rectangle 34">
                  <a:extLst>
                    <a:ext uri="{FF2B5EF4-FFF2-40B4-BE49-F238E27FC236}">
                      <a16:creationId xmlns:a16="http://schemas.microsoft.com/office/drawing/2014/main" id="{4CF19624-9FD6-B244-BFDD-6ED76E7E4F6B}"/>
                    </a:ext>
                  </a:extLst>
                </p:cNvPr>
                <p:cNvSpPr>
                  <a:spLocks noChangeArrowheads="1"/>
                </p:cNvSpPr>
                <p:nvPr/>
              </p:nvSpPr>
              <p:spPr bwMode="auto">
                <a:xfrm>
                  <a:off x="6769100" y="2871788"/>
                  <a:ext cx="1792288" cy="104298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5" name="Rectangle 37">
                  <a:extLst>
                    <a:ext uri="{FF2B5EF4-FFF2-40B4-BE49-F238E27FC236}">
                      <a16:creationId xmlns:a16="http://schemas.microsoft.com/office/drawing/2014/main" id="{01487525-EF0A-7968-C486-5185FFE75A9B}"/>
                    </a:ext>
                  </a:extLst>
                </p:cNvPr>
                <p:cNvSpPr>
                  <a:spLocks noChangeArrowheads="1"/>
                </p:cNvSpPr>
                <p:nvPr/>
              </p:nvSpPr>
              <p:spPr bwMode="auto">
                <a:xfrm>
                  <a:off x="6769100" y="4030663"/>
                  <a:ext cx="1792288" cy="104298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7" name="Rectangle 40">
                  <a:extLst>
                    <a:ext uri="{FF2B5EF4-FFF2-40B4-BE49-F238E27FC236}">
                      <a16:creationId xmlns:a16="http://schemas.microsoft.com/office/drawing/2014/main" id="{F7CF3665-BDEF-F731-A3C2-F9EC892EE8C9}"/>
                    </a:ext>
                  </a:extLst>
                </p:cNvPr>
                <p:cNvSpPr>
                  <a:spLocks noChangeArrowheads="1"/>
                </p:cNvSpPr>
                <p:nvPr/>
              </p:nvSpPr>
              <p:spPr bwMode="auto">
                <a:xfrm>
                  <a:off x="6769100" y="5178425"/>
                  <a:ext cx="1792288" cy="104298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8" name="Oval 41">
                  <a:extLst>
                    <a:ext uri="{FF2B5EF4-FFF2-40B4-BE49-F238E27FC236}">
                      <a16:creationId xmlns:a16="http://schemas.microsoft.com/office/drawing/2014/main" id="{70C43831-557B-5DC6-8560-D51C9CAE8514}"/>
                    </a:ext>
                  </a:extLst>
                </p:cNvPr>
                <p:cNvSpPr>
                  <a:spLocks noChangeArrowheads="1"/>
                </p:cNvSpPr>
                <p:nvPr/>
              </p:nvSpPr>
              <p:spPr bwMode="auto">
                <a:xfrm>
                  <a:off x="5746750" y="3062288"/>
                  <a:ext cx="746125" cy="66992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700" dirty="0">
                      <a:solidFill>
                        <a:schemeClr val="bg1"/>
                      </a:solidFill>
                      <a:latin typeface="+mn-lt"/>
                    </a:rPr>
                    <a:t>Tailored</a:t>
                  </a:r>
                </a:p>
                <a:p>
                  <a:pPr algn="ctr">
                    <a:lnSpc>
                      <a:spcPct val="80000"/>
                    </a:lnSpc>
                    <a:buClrTx/>
                    <a:buSzTx/>
                    <a:buFontTx/>
                    <a:buNone/>
                  </a:pPr>
                  <a:r>
                    <a:rPr lang="en-US" altLang="en-US" sz="700" dirty="0">
                      <a:solidFill>
                        <a:schemeClr val="bg1"/>
                      </a:solidFill>
                      <a:latin typeface="+mn-lt"/>
                    </a:rPr>
                    <a:t>Solutions</a:t>
                  </a:r>
                </a:p>
              </p:txBody>
            </p:sp>
            <p:sp>
              <p:nvSpPr>
                <p:cNvPr id="59" name="Oval 42">
                  <a:extLst>
                    <a:ext uri="{FF2B5EF4-FFF2-40B4-BE49-F238E27FC236}">
                      <a16:creationId xmlns:a16="http://schemas.microsoft.com/office/drawing/2014/main" id="{13BD3FEC-FC24-4D73-A9A7-95E2CE421CE8}"/>
                    </a:ext>
                  </a:extLst>
                </p:cNvPr>
                <p:cNvSpPr>
                  <a:spLocks noChangeArrowheads="1"/>
                </p:cNvSpPr>
                <p:nvPr/>
              </p:nvSpPr>
              <p:spPr bwMode="auto">
                <a:xfrm>
                  <a:off x="5732463" y="4222750"/>
                  <a:ext cx="746125" cy="66992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700">
                      <a:solidFill>
                        <a:schemeClr val="bg1"/>
                      </a:solidFill>
                      <a:latin typeface="+mn-lt"/>
                    </a:rPr>
                    <a:t>Tailored</a:t>
                  </a:r>
                </a:p>
                <a:p>
                  <a:pPr algn="ctr">
                    <a:lnSpc>
                      <a:spcPct val="80000"/>
                    </a:lnSpc>
                    <a:buClrTx/>
                    <a:buSzTx/>
                    <a:buFontTx/>
                    <a:buNone/>
                  </a:pPr>
                  <a:r>
                    <a:rPr lang="en-US" altLang="en-US" sz="700">
                      <a:solidFill>
                        <a:schemeClr val="bg1"/>
                      </a:solidFill>
                      <a:latin typeface="+mn-lt"/>
                    </a:rPr>
                    <a:t>Solutions</a:t>
                  </a:r>
                </a:p>
              </p:txBody>
            </p:sp>
            <p:sp>
              <p:nvSpPr>
                <p:cNvPr id="60" name="Oval 43">
                  <a:extLst>
                    <a:ext uri="{FF2B5EF4-FFF2-40B4-BE49-F238E27FC236}">
                      <a16:creationId xmlns:a16="http://schemas.microsoft.com/office/drawing/2014/main" id="{68E20216-494F-CB4E-54FA-FD588A05BA9C}"/>
                    </a:ext>
                  </a:extLst>
                </p:cNvPr>
                <p:cNvSpPr>
                  <a:spLocks noChangeArrowheads="1"/>
                </p:cNvSpPr>
                <p:nvPr/>
              </p:nvSpPr>
              <p:spPr bwMode="auto">
                <a:xfrm>
                  <a:off x="5740400" y="5370513"/>
                  <a:ext cx="746125" cy="669925"/>
                </a:xfrm>
                <a:prstGeom prst="ellipse">
                  <a:avLst/>
                </a:prstGeom>
                <a:solidFill>
                  <a:schemeClr val="accent4"/>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700">
                      <a:solidFill>
                        <a:schemeClr val="bg1"/>
                      </a:solidFill>
                      <a:latin typeface="+mn-lt"/>
                    </a:rPr>
                    <a:t>Tailored</a:t>
                  </a:r>
                </a:p>
                <a:p>
                  <a:pPr algn="ctr">
                    <a:lnSpc>
                      <a:spcPct val="80000"/>
                    </a:lnSpc>
                    <a:buClrTx/>
                    <a:buSzTx/>
                    <a:buFontTx/>
                    <a:buNone/>
                  </a:pPr>
                  <a:r>
                    <a:rPr lang="en-US" altLang="en-US" sz="700">
                      <a:solidFill>
                        <a:schemeClr val="bg1"/>
                      </a:solidFill>
                      <a:latin typeface="+mn-lt"/>
                    </a:rPr>
                    <a:t>Solutions</a:t>
                  </a:r>
                </a:p>
              </p:txBody>
            </p:sp>
            <p:cxnSp>
              <p:nvCxnSpPr>
                <p:cNvPr id="61" name="AutoShape 44">
                  <a:extLst>
                    <a:ext uri="{FF2B5EF4-FFF2-40B4-BE49-F238E27FC236}">
                      <a16:creationId xmlns:a16="http://schemas.microsoft.com/office/drawing/2014/main" id="{1EAFAA42-3ECA-34F6-B2AE-7C2A2A684209}"/>
                    </a:ext>
                  </a:extLst>
                </p:cNvPr>
                <p:cNvCxnSpPr>
                  <a:cxnSpLocks noChangeShapeType="1"/>
                  <a:stCxn id="47" idx="4"/>
                  <a:endCxn id="58" idx="2"/>
                </p:cNvCxnSpPr>
                <p:nvPr/>
              </p:nvCxnSpPr>
              <p:spPr bwMode="auto">
                <a:xfrm flipV="1">
                  <a:off x="5287963" y="3397250"/>
                  <a:ext cx="458787" cy="1154113"/>
                </a:xfrm>
                <a:prstGeom prst="bentConnector3">
                  <a:avLst>
                    <a:gd name="adj1" fmla="val 4982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2" name="AutoShape 45">
                  <a:extLst>
                    <a:ext uri="{FF2B5EF4-FFF2-40B4-BE49-F238E27FC236}">
                      <a16:creationId xmlns:a16="http://schemas.microsoft.com/office/drawing/2014/main" id="{007E53CC-6333-7A04-DD1B-D4CFDFC79EC8}"/>
                    </a:ext>
                  </a:extLst>
                </p:cNvPr>
                <p:cNvCxnSpPr>
                  <a:cxnSpLocks noChangeShapeType="1"/>
                  <a:stCxn id="47" idx="4"/>
                  <a:endCxn id="60" idx="2"/>
                </p:cNvCxnSpPr>
                <p:nvPr/>
              </p:nvCxnSpPr>
              <p:spPr bwMode="auto">
                <a:xfrm>
                  <a:off x="5287963" y="4551363"/>
                  <a:ext cx="452437" cy="1154112"/>
                </a:xfrm>
                <a:prstGeom prst="bentConnector3">
                  <a:avLst>
                    <a:gd name="adj1" fmla="val 4982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3" name="AutoShape 46">
                  <a:extLst>
                    <a:ext uri="{FF2B5EF4-FFF2-40B4-BE49-F238E27FC236}">
                      <a16:creationId xmlns:a16="http://schemas.microsoft.com/office/drawing/2014/main" id="{86A5B63E-A225-66F5-2750-03890B4D32B7}"/>
                    </a:ext>
                  </a:extLst>
                </p:cNvPr>
                <p:cNvCxnSpPr>
                  <a:cxnSpLocks noChangeShapeType="1"/>
                  <a:stCxn id="47" idx="4"/>
                  <a:endCxn id="59" idx="2"/>
                </p:cNvCxnSpPr>
                <p:nvPr/>
              </p:nvCxnSpPr>
              <p:spPr bwMode="auto">
                <a:xfrm>
                  <a:off x="5287963" y="4551363"/>
                  <a:ext cx="444500" cy="63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 name="AutoShape 47">
                  <a:extLst>
                    <a:ext uri="{FF2B5EF4-FFF2-40B4-BE49-F238E27FC236}">
                      <a16:creationId xmlns:a16="http://schemas.microsoft.com/office/drawing/2014/main" id="{37D7A1D1-CCE9-1662-BDAA-162B423C4000}"/>
                    </a:ext>
                  </a:extLst>
                </p:cNvPr>
                <p:cNvCxnSpPr>
                  <a:cxnSpLocks noChangeShapeType="1"/>
                  <a:stCxn id="44" idx="3"/>
                  <a:endCxn id="45" idx="0"/>
                </p:cNvCxnSpPr>
                <p:nvPr/>
              </p:nvCxnSpPr>
              <p:spPr bwMode="auto">
                <a:xfrm flipV="1">
                  <a:off x="3554413" y="4554538"/>
                  <a:ext cx="309562"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AutoShape 48">
                  <a:extLst>
                    <a:ext uri="{FF2B5EF4-FFF2-40B4-BE49-F238E27FC236}">
                      <a16:creationId xmlns:a16="http://schemas.microsoft.com/office/drawing/2014/main" id="{A0DA5F0C-1A5B-6598-0548-586E8BCD7CF7}"/>
                    </a:ext>
                  </a:extLst>
                </p:cNvPr>
                <p:cNvCxnSpPr>
                  <a:cxnSpLocks noChangeShapeType="1"/>
                  <a:stCxn id="45" idx="2"/>
                  <a:endCxn id="47" idx="0"/>
                </p:cNvCxnSpPr>
                <p:nvPr/>
              </p:nvCxnSpPr>
              <p:spPr bwMode="auto">
                <a:xfrm flipV="1">
                  <a:off x="4119563" y="4551363"/>
                  <a:ext cx="288925"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 name="AutoShape 49">
                  <a:extLst>
                    <a:ext uri="{FF2B5EF4-FFF2-40B4-BE49-F238E27FC236}">
                      <a16:creationId xmlns:a16="http://schemas.microsoft.com/office/drawing/2014/main" id="{055788D9-3F88-F018-6279-2412FBCCC218}"/>
                    </a:ext>
                  </a:extLst>
                </p:cNvPr>
                <p:cNvCxnSpPr>
                  <a:cxnSpLocks noChangeShapeType="1"/>
                  <a:stCxn id="58" idx="6"/>
                  <a:endCxn id="53" idx="1"/>
                </p:cNvCxnSpPr>
                <p:nvPr/>
              </p:nvCxnSpPr>
              <p:spPr bwMode="auto">
                <a:xfrm flipV="1">
                  <a:off x="6492875" y="3394075"/>
                  <a:ext cx="276225" cy="31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7" name="AutoShape 50">
                  <a:extLst>
                    <a:ext uri="{FF2B5EF4-FFF2-40B4-BE49-F238E27FC236}">
                      <a16:creationId xmlns:a16="http://schemas.microsoft.com/office/drawing/2014/main" id="{4A09D473-6B33-2FA7-ABA1-7D05C88074B1}"/>
                    </a:ext>
                  </a:extLst>
                </p:cNvPr>
                <p:cNvCxnSpPr>
                  <a:cxnSpLocks noChangeShapeType="1"/>
                  <a:stCxn id="59" idx="6"/>
                  <a:endCxn id="55" idx="1"/>
                </p:cNvCxnSpPr>
                <p:nvPr/>
              </p:nvCxnSpPr>
              <p:spPr bwMode="auto">
                <a:xfrm flipV="1">
                  <a:off x="6478588" y="4552950"/>
                  <a:ext cx="290512" cy="476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8" name="AutoShape 51">
                  <a:extLst>
                    <a:ext uri="{FF2B5EF4-FFF2-40B4-BE49-F238E27FC236}">
                      <a16:creationId xmlns:a16="http://schemas.microsoft.com/office/drawing/2014/main" id="{F7FC1A89-3D58-E4BE-B08F-0D00078C2541}"/>
                    </a:ext>
                  </a:extLst>
                </p:cNvPr>
                <p:cNvCxnSpPr>
                  <a:cxnSpLocks noChangeShapeType="1"/>
                  <a:stCxn id="60" idx="6"/>
                  <a:endCxn id="57" idx="1"/>
                </p:cNvCxnSpPr>
                <p:nvPr/>
              </p:nvCxnSpPr>
              <p:spPr bwMode="auto">
                <a:xfrm flipV="1">
                  <a:off x="6486525" y="5700713"/>
                  <a:ext cx="282575" cy="476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 name="Oval 56">
                  <a:extLst>
                    <a:ext uri="{FF2B5EF4-FFF2-40B4-BE49-F238E27FC236}">
                      <a16:creationId xmlns:a16="http://schemas.microsoft.com/office/drawing/2014/main" id="{B89D5B81-34E3-301A-4ADB-55620DDDCF11}"/>
                    </a:ext>
                  </a:extLst>
                </p:cNvPr>
                <p:cNvSpPr>
                  <a:spLocks noChangeArrowheads="1"/>
                </p:cNvSpPr>
                <p:nvPr/>
              </p:nvSpPr>
              <p:spPr bwMode="auto">
                <a:xfrm>
                  <a:off x="484221" y="3495676"/>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1</a:t>
                  </a:r>
                </a:p>
              </p:txBody>
            </p:sp>
            <p:sp>
              <p:nvSpPr>
                <p:cNvPr id="72" name="Oval 57">
                  <a:extLst>
                    <a:ext uri="{FF2B5EF4-FFF2-40B4-BE49-F238E27FC236}">
                      <a16:creationId xmlns:a16="http://schemas.microsoft.com/office/drawing/2014/main" id="{073783EB-7872-3384-BE54-F7972AC358F2}"/>
                    </a:ext>
                  </a:extLst>
                </p:cNvPr>
                <p:cNvSpPr>
                  <a:spLocks noChangeArrowheads="1"/>
                </p:cNvSpPr>
                <p:nvPr/>
              </p:nvSpPr>
              <p:spPr bwMode="auto">
                <a:xfrm>
                  <a:off x="3828257" y="3015841"/>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2</a:t>
                  </a:r>
                </a:p>
              </p:txBody>
            </p:sp>
            <p:sp>
              <p:nvSpPr>
                <p:cNvPr id="73" name="Oval 58">
                  <a:extLst>
                    <a:ext uri="{FF2B5EF4-FFF2-40B4-BE49-F238E27FC236}">
                      <a16:creationId xmlns:a16="http://schemas.microsoft.com/office/drawing/2014/main" id="{5ABF827E-CE10-BA94-6C58-9D4C8D06BC79}"/>
                    </a:ext>
                  </a:extLst>
                </p:cNvPr>
                <p:cNvSpPr>
                  <a:spLocks noChangeArrowheads="1"/>
                </p:cNvSpPr>
                <p:nvPr/>
              </p:nvSpPr>
              <p:spPr bwMode="auto">
                <a:xfrm>
                  <a:off x="4662694" y="5609432"/>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74" name="Oval 59">
                  <a:extLst>
                    <a:ext uri="{FF2B5EF4-FFF2-40B4-BE49-F238E27FC236}">
                      <a16:creationId xmlns:a16="http://schemas.microsoft.com/office/drawing/2014/main" id="{26AA73F1-E4B1-214F-3164-20D70101942C}"/>
                    </a:ext>
                  </a:extLst>
                </p:cNvPr>
                <p:cNvSpPr>
                  <a:spLocks noChangeArrowheads="1"/>
                </p:cNvSpPr>
                <p:nvPr/>
              </p:nvSpPr>
              <p:spPr bwMode="auto">
                <a:xfrm>
                  <a:off x="5951538" y="2784965"/>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4</a:t>
                  </a:r>
                </a:p>
              </p:txBody>
            </p:sp>
            <p:sp>
              <p:nvSpPr>
                <p:cNvPr id="75" name="Oval 60">
                  <a:extLst>
                    <a:ext uri="{FF2B5EF4-FFF2-40B4-BE49-F238E27FC236}">
                      <a16:creationId xmlns:a16="http://schemas.microsoft.com/office/drawing/2014/main" id="{0C110851-578A-C848-029E-935060EE9DEB}"/>
                    </a:ext>
                  </a:extLst>
                </p:cNvPr>
                <p:cNvSpPr>
                  <a:spLocks noChangeArrowheads="1"/>
                </p:cNvSpPr>
                <p:nvPr/>
              </p:nvSpPr>
              <p:spPr bwMode="auto">
                <a:xfrm>
                  <a:off x="8060305" y="4756304"/>
                  <a:ext cx="323850" cy="290512"/>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5</a:t>
                  </a:r>
                </a:p>
              </p:txBody>
            </p:sp>
          </p:grpSp>
          <p:graphicFrame>
            <p:nvGraphicFramePr>
              <p:cNvPr id="77" name="Object 51">
                <a:extLst>
                  <a:ext uri="{FF2B5EF4-FFF2-40B4-BE49-F238E27FC236}">
                    <a16:creationId xmlns:a16="http://schemas.microsoft.com/office/drawing/2014/main" id="{64817694-18A3-D4EC-EC01-B677FDD796B1}"/>
                  </a:ext>
                </a:extLst>
              </p:cNvPr>
              <p:cNvGraphicFramePr>
                <a:graphicFrameLocks noChangeAspect="1"/>
              </p:cNvGraphicFramePr>
              <p:nvPr/>
            </p:nvGraphicFramePr>
            <p:xfrm>
              <a:off x="6615851" y="2944811"/>
              <a:ext cx="1721014" cy="979576"/>
            </p:xfrm>
            <a:graphic>
              <a:graphicData uri="http://schemas.openxmlformats.org/presentationml/2006/ole">
                <mc:AlternateContent xmlns:mc="http://schemas.openxmlformats.org/markup-compatibility/2006">
                  <mc:Choice xmlns:v="urn:schemas-microsoft-com:vml" Requires="v">
                    <p:oleObj name="Worksheet" r:id="rId5" imgW="7239030" imgH="4924452" progId="Excel.Sheet.8">
                      <p:embed/>
                    </p:oleObj>
                  </mc:Choice>
                  <mc:Fallback>
                    <p:oleObj name="Worksheet" r:id="rId5" imgW="7239030" imgH="4924452" progId="Excel.Sheet.8">
                      <p:embed/>
                      <p:pic>
                        <p:nvPicPr>
                          <p:cNvPr id="77" name="Object 51">
                            <a:extLst>
                              <a:ext uri="{FF2B5EF4-FFF2-40B4-BE49-F238E27FC236}">
                                <a16:creationId xmlns:a16="http://schemas.microsoft.com/office/drawing/2014/main" id="{64817694-18A3-D4EC-EC01-B677FDD796B1}"/>
                              </a:ext>
                            </a:extLst>
                          </p:cNvPr>
                          <p:cNvPicPr>
                            <a:picLocks noChangeAspect="1" noChangeArrowheads="1"/>
                          </p:cNvPicPr>
                          <p:nvPr/>
                        </p:nvPicPr>
                        <p:blipFill>
                          <a:blip r:embed="rId4"/>
                          <a:srcRect/>
                          <a:stretch>
                            <a:fillRect/>
                          </a:stretch>
                        </p:blipFill>
                        <p:spPr bwMode="auto">
                          <a:xfrm>
                            <a:off x="6615851" y="2944811"/>
                            <a:ext cx="1721014" cy="979576"/>
                          </a:xfrm>
                          <a:prstGeom prst="rect">
                            <a:avLst/>
                          </a:prstGeom>
                          <a:noFill/>
                          <a:ln>
                            <a:noFill/>
                          </a:ln>
                          <a:effectLst/>
                        </p:spPr>
                      </p:pic>
                    </p:oleObj>
                  </mc:Fallback>
                </mc:AlternateContent>
              </a:graphicData>
            </a:graphic>
          </p:graphicFrame>
          <p:graphicFrame>
            <p:nvGraphicFramePr>
              <p:cNvPr id="79" name="Object 51">
                <a:extLst>
                  <a:ext uri="{FF2B5EF4-FFF2-40B4-BE49-F238E27FC236}">
                    <a16:creationId xmlns:a16="http://schemas.microsoft.com/office/drawing/2014/main" id="{25AC8FC9-C433-8B57-E3B9-275E7D8D5FBE}"/>
                  </a:ext>
                </a:extLst>
              </p:cNvPr>
              <p:cNvGraphicFramePr>
                <a:graphicFrameLocks noChangeAspect="1"/>
              </p:cNvGraphicFramePr>
              <p:nvPr/>
            </p:nvGraphicFramePr>
            <p:xfrm>
              <a:off x="6617761" y="5221679"/>
              <a:ext cx="1721014" cy="979576"/>
            </p:xfrm>
            <a:graphic>
              <a:graphicData uri="http://schemas.openxmlformats.org/presentationml/2006/ole">
                <mc:AlternateContent xmlns:mc="http://schemas.openxmlformats.org/markup-compatibility/2006">
                  <mc:Choice xmlns:v="urn:schemas-microsoft-com:vml" Requires="v">
                    <p:oleObj name="Worksheet" r:id="rId6" imgW="7239030" imgH="4924452" progId="Excel.Sheet.8">
                      <p:embed/>
                    </p:oleObj>
                  </mc:Choice>
                  <mc:Fallback>
                    <p:oleObj name="Worksheet" r:id="rId6" imgW="7239030" imgH="4924452" progId="Excel.Sheet.8">
                      <p:embed/>
                      <p:pic>
                        <p:nvPicPr>
                          <p:cNvPr id="79" name="Object 51">
                            <a:extLst>
                              <a:ext uri="{FF2B5EF4-FFF2-40B4-BE49-F238E27FC236}">
                                <a16:creationId xmlns:a16="http://schemas.microsoft.com/office/drawing/2014/main" id="{25AC8FC9-C433-8B57-E3B9-275E7D8D5FBE}"/>
                              </a:ext>
                            </a:extLst>
                          </p:cNvPr>
                          <p:cNvPicPr>
                            <a:picLocks noChangeAspect="1" noChangeArrowheads="1"/>
                          </p:cNvPicPr>
                          <p:nvPr/>
                        </p:nvPicPr>
                        <p:blipFill>
                          <a:blip r:embed="rId4"/>
                          <a:srcRect/>
                          <a:stretch>
                            <a:fillRect/>
                          </a:stretch>
                        </p:blipFill>
                        <p:spPr bwMode="auto">
                          <a:xfrm>
                            <a:off x="6617761" y="5221679"/>
                            <a:ext cx="1721014" cy="979576"/>
                          </a:xfrm>
                          <a:prstGeom prst="rect">
                            <a:avLst/>
                          </a:prstGeom>
                          <a:noFill/>
                          <a:ln>
                            <a:noFill/>
                          </a:ln>
                          <a:effectLst/>
                        </p:spPr>
                      </p:pic>
                    </p:oleObj>
                  </mc:Fallback>
                </mc:AlternateContent>
              </a:graphicData>
            </a:graphic>
          </p:graphicFrame>
        </p:grpSp>
        <p:sp>
          <p:nvSpPr>
            <p:cNvPr id="11" name="AutoShape 57">
              <a:extLst>
                <a:ext uri="{FF2B5EF4-FFF2-40B4-BE49-F238E27FC236}">
                  <a16:creationId xmlns:a16="http://schemas.microsoft.com/office/drawing/2014/main" id="{E242D4C7-A370-1168-30FD-223520B6B57B}"/>
                </a:ext>
              </a:extLst>
            </p:cNvPr>
            <p:cNvSpPr>
              <a:spLocks/>
            </p:cNvSpPr>
            <p:nvPr/>
          </p:nvSpPr>
          <p:spPr bwMode="auto">
            <a:xfrm rot="5400000">
              <a:off x="2901156" y="2674145"/>
              <a:ext cx="314325" cy="5129212"/>
            </a:xfrm>
            <a:prstGeom prst="rightBrace">
              <a:avLst>
                <a:gd name="adj1" fmla="val 135985"/>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endParaRPr>
            </a:p>
          </p:txBody>
        </p:sp>
        <p:sp>
          <p:nvSpPr>
            <p:cNvPr id="12" name="Text Box 58">
              <a:extLst>
                <a:ext uri="{FF2B5EF4-FFF2-40B4-BE49-F238E27FC236}">
                  <a16:creationId xmlns:a16="http://schemas.microsoft.com/office/drawing/2014/main" id="{869C8071-8A59-C10D-2CC2-0D1CBB6418B2}"/>
                </a:ext>
              </a:extLst>
            </p:cNvPr>
            <p:cNvSpPr txBox="1">
              <a:spLocks noChangeArrowheads="1"/>
            </p:cNvSpPr>
            <p:nvPr/>
          </p:nvSpPr>
          <p:spPr bwMode="auto">
            <a:xfrm>
              <a:off x="741750" y="5403850"/>
              <a:ext cx="4647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200" i="1" dirty="0">
                  <a:latin typeface="+mn-lt"/>
                </a:rPr>
                <a:t>S&amp;OP Pilot Cannot Begin Until Collaborative Team Confirms</a:t>
              </a:r>
            </a:p>
            <a:p>
              <a:pPr algn="ctr">
                <a:lnSpc>
                  <a:spcPct val="90000"/>
                </a:lnSpc>
                <a:buClrTx/>
                <a:buSzTx/>
                <a:buFontTx/>
                <a:buNone/>
              </a:pPr>
              <a:r>
                <a:rPr lang="en-US" altLang="en-US" sz="1200" i="1" dirty="0">
                  <a:latin typeface="+mn-lt"/>
                </a:rPr>
                <a:t>All Critical Supply Bottlenecks and Develops Most-Likely Solutions </a:t>
              </a:r>
            </a:p>
          </p:txBody>
        </p:sp>
      </p:grpSp>
      <p:sp>
        <p:nvSpPr>
          <p:cNvPr id="14" name="Rectangle 59">
            <a:extLst>
              <a:ext uri="{FF2B5EF4-FFF2-40B4-BE49-F238E27FC236}">
                <a16:creationId xmlns:a16="http://schemas.microsoft.com/office/drawing/2014/main" id="{FB8E5916-29EC-2111-425B-A0751FFE32E1}"/>
              </a:ext>
            </a:extLst>
          </p:cNvPr>
          <p:cNvSpPr>
            <a:spLocks noChangeArrowheads="1"/>
          </p:cNvSpPr>
          <p:nvPr/>
        </p:nvSpPr>
        <p:spPr bwMode="auto">
          <a:xfrm>
            <a:off x="6018947" y="2054599"/>
            <a:ext cx="2917825" cy="3102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5000"/>
              </a:spcBef>
              <a:buClr>
                <a:srgbClr val="0000FF"/>
              </a:buClr>
              <a:buFont typeface="Wingdings 2" panose="05020102010507070707" pitchFamily="18" charset="2"/>
              <a:buChar char="¢"/>
            </a:pPr>
            <a:r>
              <a:rPr lang="en-US" altLang="en-US" sz="1200" dirty="0">
                <a:latin typeface="+mn-lt"/>
              </a:rPr>
              <a:t>For given product or family, confirm non-aligned resources required for production</a:t>
            </a:r>
          </a:p>
          <a:p>
            <a:pPr>
              <a:spcBef>
                <a:spcPct val="35000"/>
              </a:spcBef>
              <a:buClr>
                <a:srgbClr val="0000FF"/>
              </a:buClr>
              <a:buFont typeface="Wingdings 2" panose="05020102010507070707" pitchFamily="18" charset="2"/>
              <a:buChar char="¢"/>
            </a:pPr>
            <a:r>
              <a:rPr lang="en-US" altLang="en-US" sz="1200" dirty="0">
                <a:latin typeface="+mn-lt"/>
              </a:rPr>
              <a:t>Evaluate non-aligned resources for critical or </a:t>
            </a:r>
            <a:r>
              <a:rPr lang="ja-JP" altLang="en-US" sz="1200" dirty="0">
                <a:latin typeface="+mn-lt"/>
              </a:rPr>
              <a:t>“</a:t>
            </a:r>
            <a:r>
              <a:rPr lang="en-US" altLang="ja-JP" sz="1200" dirty="0">
                <a:latin typeface="+mn-lt"/>
              </a:rPr>
              <a:t>bottleneck</a:t>
            </a:r>
            <a:r>
              <a:rPr lang="ja-JP" altLang="en-US" sz="1200" dirty="0">
                <a:latin typeface="+mn-lt"/>
              </a:rPr>
              <a:t>”</a:t>
            </a:r>
            <a:r>
              <a:rPr lang="en-US" altLang="ja-JP" sz="1200" dirty="0">
                <a:latin typeface="+mn-lt"/>
              </a:rPr>
              <a:t> resources based on product plan</a:t>
            </a:r>
          </a:p>
          <a:p>
            <a:pPr>
              <a:spcBef>
                <a:spcPct val="35000"/>
              </a:spcBef>
              <a:buClr>
                <a:srgbClr val="0000FF"/>
              </a:buClr>
              <a:buFont typeface="Wingdings 2" panose="05020102010507070707" pitchFamily="18" charset="2"/>
              <a:buChar char="¢"/>
            </a:pPr>
            <a:r>
              <a:rPr lang="en-US" altLang="en-US" sz="1200" dirty="0">
                <a:latin typeface="+mn-lt"/>
              </a:rPr>
              <a:t>Confirm most-critical resources requiring rough-cut capacity analysis for effective planning</a:t>
            </a:r>
          </a:p>
          <a:p>
            <a:pPr>
              <a:spcBef>
                <a:spcPct val="35000"/>
              </a:spcBef>
              <a:buClr>
                <a:srgbClr val="0000FF"/>
              </a:buClr>
              <a:buFont typeface="Wingdings 2" panose="05020102010507070707" pitchFamily="18" charset="2"/>
              <a:buChar char="¢"/>
            </a:pPr>
            <a:r>
              <a:rPr lang="en-US" altLang="en-US" sz="1200" dirty="0">
                <a:latin typeface="+mn-lt"/>
              </a:rPr>
              <a:t>Develop most-likely tailored solutions (e.g. overtime) for most commonly-anticipated problems</a:t>
            </a:r>
          </a:p>
          <a:p>
            <a:pPr>
              <a:spcBef>
                <a:spcPct val="35000"/>
              </a:spcBef>
              <a:buClr>
                <a:srgbClr val="0000FF"/>
              </a:buClr>
              <a:buFont typeface="Wingdings 2" panose="05020102010507070707" pitchFamily="18" charset="2"/>
              <a:buChar char="¢"/>
            </a:pPr>
            <a:r>
              <a:rPr lang="en-US" altLang="en-US" sz="1200" dirty="0">
                <a:latin typeface="+mn-lt"/>
              </a:rPr>
              <a:t>Construct rough-cut capacity reports for each critical resource based on forecasted demand</a:t>
            </a:r>
            <a:endParaRPr lang="en-US" altLang="en-US" sz="1200" b="0" dirty="0">
              <a:latin typeface="+mn-lt"/>
            </a:endParaRPr>
          </a:p>
        </p:txBody>
      </p:sp>
      <p:sp>
        <p:nvSpPr>
          <p:cNvPr id="15" name="Oval 60">
            <a:extLst>
              <a:ext uri="{FF2B5EF4-FFF2-40B4-BE49-F238E27FC236}">
                <a16:creationId xmlns:a16="http://schemas.microsoft.com/office/drawing/2014/main" id="{29A49178-0601-DAF4-C6BA-76A8500FD219}"/>
              </a:ext>
            </a:extLst>
          </p:cNvPr>
          <p:cNvSpPr>
            <a:spLocks noChangeArrowheads="1"/>
          </p:cNvSpPr>
          <p:nvPr/>
        </p:nvSpPr>
        <p:spPr bwMode="auto">
          <a:xfrm>
            <a:off x="5920522" y="2078411"/>
            <a:ext cx="323850" cy="290513"/>
          </a:xfrm>
          <a:prstGeom prst="ellipse">
            <a:avLst/>
          </a:prstGeom>
          <a:solidFill>
            <a:schemeClr val="accent5"/>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1</a:t>
            </a:r>
          </a:p>
        </p:txBody>
      </p:sp>
      <p:sp>
        <p:nvSpPr>
          <p:cNvPr id="16" name="Oval 61">
            <a:extLst>
              <a:ext uri="{FF2B5EF4-FFF2-40B4-BE49-F238E27FC236}">
                <a16:creationId xmlns:a16="http://schemas.microsoft.com/office/drawing/2014/main" id="{503203F2-190F-9ECB-1A4E-6D9B590D0A01}"/>
              </a:ext>
            </a:extLst>
          </p:cNvPr>
          <p:cNvSpPr>
            <a:spLocks noChangeArrowheads="1"/>
          </p:cNvSpPr>
          <p:nvPr/>
        </p:nvSpPr>
        <p:spPr bwMode="auto">
          <a:xfrm>
            <a:off x="5915760" y="2730874"/>
            <a:ext cx="323850" cy="290512"/>
          </a:xfrm>
          <a:prstGeom prst="ellipse">
            <a:avLst/>
          </a:prstGeom>
          <a:solidFill>
            <a:schemeClr val="accent5"/>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52" name="Oval 62">
            <a:extLst>
              <a:ext uri="{FF2B5EF4-FFF2-40B4-BE49-F238E27FC236}">
                <a16:creationId xmlns:a16="http://schemas.microsoft.com/office/drawing/2014/main" id="{45502310-DF50-77F4-CFC8-62B12A3FF04E}"/>
              </a:ext>
            </a:extLst>
          </p:cNvPr>
          <p:cNvSpPr>
            <a:spLocks noChangeArrowheads="1"/>
          </p:cNvSpPr>
          <p:nvPr/>
        </p:nvSpPr>
        <p:spPr bwMode="auto">
          <a:xfrm>
            <a:off x="5915760" y="3332536"/>
            <a:ext cx="323850" cy="290513"/>
          </a:xfrm>
          <a:prstGeom prst="ellipse">
            <a:avLst/>
          </a:prstGeom>
          <a:solidFill>
            <a:schemeClr val="accent5"/>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54" name="Oval 63">
            <a:extLst>
              <a:ext uri="{FF2B5EF4-FFF2-40B4-BE49-F238E27FC236}">
                <a16:creationId xmlns:a16="http://schemas.microsoft.com/office/drawing/2014/main" id="{4FA8630A-D39F-5054-DB5F-08D101CA665F}"/>
              </a:ext>
            </a:extLst>
          </p:cNvPr>
          <p:cNvSpPr>
            <a:spLocks noChangeArrowheads="1"/>
          </p:cNvSpPr>
          <p:nvPr/>
        </p:nvSpPr>
        <p:spPr bwMode="auto">
          <a:xfrm>
            <a:off x="5915760" y="3943724"/>
            <a:ext cx="323850" cy="290512"/>
          </a:xfrm>
          <a:prstGeom prst="ellipse">
            <a:avLst/>
          </a:prstGeom>
          <a:solidFill>
            <a:schemeClr val="accent5"/>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4</a:t>
            </a:r>
          </a:p>
        </p:txBody>
      </p:sp>
      <p:sp>
        <p:nvSpPr>
          <p:cNvPr id="56" name="Oval 64">
            <a:extLst>
              <a:ext uri="{FF2B5EF4-FFF2-40B4-BE49-F238E27FC236}">
                <a16:creationId xmlns:a16="http://schemas.microsoft.com/office/drawing/2014/main" id="{9D7C9254-736E-6499-E5CA-3C5CB71444CE}"/>
              </a:ext>
            </a:extLst>
          </p:cNvPr>
          <p:cNvSpPr>
            <a:spLocks noChangeArrowheads="1"/>
          </p:cNvSpPr>
          <p:nvPr/>
        </p:nvSpPr>
        <p:spPr bwMode="auto">
          <a:xfrm>
            <a:off x="5915760" y="4548561"/>
            <a:ext cx="323850" cy="290513"/>
          </a:xfrm>
          <a:prstGeom prst="ellipse">
            <a:avLst/>
          </a:prstGeom>
          <a:solidFill>
            <a:schemeClr val="accent5"/>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5</a:t>
            </a:r>
          </a:p>
        </p:txBody>
      </p:sp>
      <p:sp>
        <p:nvSpPr>
          <p:cNvPr id="81" name="Line 65">
            <a:extLst>
              <a:ext uri="{FF2B5EF4-FFF2-40B4-BE49-F238E27FC236}">
                <a16:creationId xmlns:a16="http://schemas.microsoft.com/office/drawing/2014/main" id="{3BA3C4A2-240E-3DB8-621E-18678BDF9F57}"/>
              </a:ext>
            </a:extLst>
          </p:cNvPr>
          <p:cNvSpPr>
            <a:spLocks noChangeShapeType="1"/>
          </p:cNvSpPr>
          <p:nvPr/>
        </p:nvSpPr>
        <p:spPr bwMode="auto">
          <a:xfrm>
            <a:off x="6339622" y="5139111"/>
            <a:ext cx="2541588"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 name="Rectangle 66">
            <a:extLst>
              <a:ext uri="{FF2B5EF4-FFF2-40B4-BE49-F238E27FC236}">
                <a16:creationId xmlns:a16="http://schemas.microsoft.com/office/drawing/2014/main" id="{DA81455E-4A2D-235B-864F-C332E8162031}"/>
              </a:ext>
            </a:extLst>
          </p:cNvPr>
          <p:cNvSpPr>
            <a:spLocks noChangeArrowheads="1"/>
          </p:cNvSpPr>
          <p:nvPr/>
        </p:nvSpPr>
        <p:spPr bwMode="auto">
          <a:xfrm>
            <a:off x="6328510" y="5207374"/>
            <a:ext cx="2563812" cy="322262"/>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Required For S&amp;OP Pilot Success</a:t>
            </a:r>
          </a:p>
        </p:txBody>
      </p:sp>
      <p:grpSp>
        <p:nvGrpSpPr>
          <p:cNvPr id="69" name="Group 51">
            <a:extLst>
              <a:ext uri="{FF2B5EF4-FFF2-40B4-BE49-F238E27FC236}">
                <a16:creationId xmlns:a16="http://schemas.microsoft.com/office/drawing/2014/main" id="{15491415-F52E-E297-6F5E-B0780FD4E3B6}"/>
              </a:ext>
            </a:extLst>
          </p:cNvPr>
          <p:cNvGrpSpPr>
            <a:grpSpLocks/>
          </p:cNvGrpSpPr>
          <p:nvPr/>
        </p:nvGrpSpPr>
        <p:grpSpPr bwMode="auto">
          <a:xfrm>
            <a:off x="8420088" y="5628516"/>
            <a:ext cx="2933712" cy="650333"/>
            <a:chOff x="676" y="3874"/>
            <a:chExt cx="1500" cy="392"/>
          </a:xfrm>
        </p:grpSpPr>
        <p:sp>
          <p:nvSpPr>
            <p:cNvPr id="70" name="Line 35">
              <a:extLst>
                <a:ext uri="{FF2B5EF4-FFF2-40B4-BE49-F238E27FC236}">
                  <a16:creationId xmlns:a16="http://schemas.microsoft.com/office/drawing/2014/main" id="{7A927BBF-C154-D03E-E374-BCC5EFDFE0E9}"/>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 name="Line 36">
              <a:extLst>
                <a:ext uri="{FF2B5EF4-FFF2-40B4-BE49-F238E27FC236}">
                  <a16:creationId xmlns:a16="http://schemas.microsoft.com/office/drawing/2014/main" id="{8AE6A459-0FB7-B5E7-494A-23CFE00F0F28}"/>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 name="Line 37">
              <a:extLst>
                <a:ext uri="{FF2B5EF4-FFF2-40B4-BE49-F238E27FC236}">
                  <a16:creationId xmlns:a16="http://schemas.microsoft.com/office/drawing/2014/main" id="{4092F547-C6C2-7A04-9BB5-6189237DD314}"/>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 name="Rectangle 38">
              <a:extLst>
                <a:ext uri="{FF2B5EF4-FFF2-40B4-BE49-F238E27FC236}">
                  <a16:creationId xmlns:a16="http://schemas.microsoft.com/office/drawing/2014/main" id="{6963593F-4603-C910-B8FA-9F2E759A9242}"/>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86" name="Rectangle 39">
              <a:extLst>
                <a:ext uri="{FF2B5EF4-FFF2-40B4-BE49-F238E27FC236}">
                  <a16:creationId xmlns:a16="http://schemas.microsoft.com/office/drawing/2014/main" id="{02D0ABA1-C06C-1A34-6E78-1D04B55F8AE3}"/>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87" name="Rectangle 40">
              <a:extLst>
                <a:ext uri="{FF2B5EF4-FFF2-40B4-BE49-F238E27FC236}">
                  <a16:creationId xmlns:a16="http://schemas.microsoft.com/office/drawing/2014/main" id="{C60EBB67-DF7E-2A8E-2AA3-0265FFEA05EC}"/>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Rough-Cut</a:t>
              </a:r>
            </a:p>
            <a:p>
              <a:pPr algn="ctr">
                <a:lnSpc>
                  <a:spcPct val="80000"/>
                </a:lnSpc>
                <a:buClrTx/>
                <a:buSzTx/>
                <a:buNone/>
              </a:pPr>
              <a:r>
                <a:rPr lang="en-US" altLang="en-US" sz="200" dirty="0">
                  <a:solidFill>
                    <a:schemeClr val="bg1"/>
                  </a:solidFill>
                  <a:latin typeface="+mn-lt"/>
                </a:rPr>
                <a:t>Capacity</a:t>
              </a:r>
            </a:p>
            <a:p>
              <a:pPr algn="ctr">
                <a:lnSpc>
                  <a:spcPct val="80000"/>
                </a:lnSpc>
                <a:buClrTx/>
                <a:buSzTx/>
                <a:buNone/>
              </a:pPr>
              <a:r>
                <a:rPr lang="en-US" altLang="en-US" sz="200" dirty="0">
                  <a:solidFill>
                    <a:schemeClr val="bg1"/>
                  </a:solidFill>
                  <a:latin typeface="+mn-lt"/>
                </a:rPr>
                <a:t>Analysis</a:t>
              </a:r>
            </a:p>
          </p:txBody>
        </p:sp>
        <p:sp>
          <p:nvSpPr>
            <p:cNvPr id="88" name="Rectangle 41">
              <a:extLst>
                <a:ext uri="{FF2B5EF4-FFF2-40B4-BE49-F238E27FC236}">
                  <a16:creationId xmlns:a16="http://schemas.microsoft.com/office/drawing/2014/main" id="{2DAB52B6-C848-A141-E31D-8CC860965E3E}"/>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89" name="AutoShape 42">
              <a:extLst>
                <a:ext uri="{FF2B5EF4-FFF2-40B4-BE49-F238E27FC236}">
                  <a16:creationId xmlns:a16="http://schemas.microsoft.com/office/drawing/2014/main" id="{EF6381F1-CF55-CC5A-DBAC-C7F0A2309828}"/>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90" name="Rectangle 43">
              <a:extLst>
                <a:ext uri="{FF2B5EF4-FFF2-40B4-BE49-F238E27FC236}">
                  <a16:creationId xmlns:a16="http://schemas.microsoft.com/office/drawing/2014/main" id="{17552531-3A2C-145B-4079-CFE737057BE1}"/>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91" name="Rectangle 44">
              <a:extLst>
                <a:ext uri="{FF2B5EF4-FFF2-40B4-BE49-F238E27FC236}">
                  <a16:creationId xmlns:a16="http://schemas.microsoft.com/office/drawing/2014/main" id="{1DB179FA-0126-1CC5-5198-2590D53127A7}"/>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92" name="Rectangle 45">
              <a:extLst>
                <a:ext uri="{FF2B5EF4-FFF2-40B4-BE49-F238E27FC236}">
                  <a16:creationId xmlns:a16="http://schemas.microsoft.com/office/drawing/2014/main" id="{DAECDBB7-D23E-CF2F-026F-914DFE3FFF89}"/>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93" name="Rectangle 46">
              <a:extLst>
                <a:ext uri="{FF2B5EF4-FFF2-40B4-BE49-F238E27FC236}">
                  <a16:creationId xmlns:a16="http://schemas.microsoft.com/office/drawing/2014/main" id="{C5F8062F-9024-5CF3-0441-0A8F94D84333}"/>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94" name="Rectangle 47">
              <a:extLst>
                <a:ext uri="{FF2B5EF4-FFF2-40B4-BE49-F238E27FC236}">
                  <a16:creationId xmlns:a16="http://schemas.microsoft.com/office/drawing/2014/main" id="{22D3CDBD-28D6-D0CA-37AD-F502345E007D}"/>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3501760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Critical Resource Evaluation:  </a:t>
            </a:r>
            <a:br>
              <a:rPr lang="en-US" sz="3600" dirty="0"/>
            </a:br>
            <a:r>
              <a:rPr lang="en-US" sz="3600" dirty="0"/>
              <a:t>Importance Of Value Stream Mapping</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An important lean tool in the critical resource analysis is the value stream map; detailed maps can alert the S&amp;OP pilot team not only to existing production bottlenecks but hidden challenges that can be identified now and corrected before the S&amp;OP launch.</a:t>
            </a:r>
          </a:p>
        </p:txBody>
      </p:sp>
      <p:grpSp>
        <p:nvGrpSpPr>
          <p:cNvPr id="101" name="Group 100">
            <a:extLst>
              <a:ext uri="{FF2B5EF4-FFF2-40B4-BE49-F238E27FC236}">
                <a16:creationId xmlns:a16="http://schemas.microsoft.com/office/drawing/2014/main" id="{10F72CB9-15F4-9316-30CB-0A531254CA8E}"/>
              </a:ext>
            </a:extLst>
          </p:cNvPr>
          <p:cNvGrpSpPr/>
          <p:nvPr/>
        </p:nvGrpSpPr>
        <p:grpSpPr>
          <a:xfrm>
            <a:off x="229364" y="1890554"/>
            <a:ext cx="8599488" cy="4050018"/>
            <a:chOff x="285750" y="2270125"/>
            <a:chExt cx="8599488" cy="4050018"/>
          </a:xfrm>
        </p:grpSpPr>
        <p:pic>
          <p:nvPicPr>
            <p:cNvPr id="69" name="Picture 2" descr="CSMAP5">
              <a:extLst>
                <a:ext uri="{FF2B5EF4-FFF2-40B4-BE49-F238E27FC236}">
                  <a16:creationId xmlns:a16="http://schemas.microsoft.com/office/drawing/2014/main" id="{A0F0A78B-6BB4-D3DF-C747-9B3F01A5D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138" y="2719388"/>
              <a:ext cx="5160962" cy="304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Rectangle 17">
              <a:extLst>
                <a:ext uri="{FF2B5EF4-FFF2-40B4-BE49-F238E27FC236}">
                  <a16:creationId xmlns:a16="http://schemas.microsoft.com/office/drawing/2014/main" id="{10E8A87D-7F8F-17BA-55A3-B1B42878BF88}"/>
                </a:ext>
              </a:extLst>
            </p:cNvPr>
            <p:cNvSpPr>
              <a:spLocks noChangeArrowheads="1"/>
            </p:cNvSpPr>
            <p:nvPr/>
          </p:nvSpPr>
          <p:spPr bwMode="auto">
            <a:xfrm>
              <a:off x="285750" y="2700338"/>
              <a:ext cx="1500188" cy="3125787"/>
            </a:xfrm>
            <a:prstGeom prst="rect">
              <a:avLst/>
            </a:prstGeom>
            <a:solidFill>
              <a:srgbClr val="EAEAEA"/>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3" name="Rectangle 18">
              <a:extLst>
                <a:ext uri="{FF2B5EF4-FFF2-40B4-BE49-F238E27FC236}">
                  <a16:creationId xmlns:a16="http://schemas.microsoft.com/office/drawing/2014/main" id="{AE89270E-1D2B-1A2A-151A-7252910B69FE}"/>
                </a:ext>
              </a:extLst>
            </p:cNvPr>
            <p:cNvSpPr>
              <a:spLocks noChangeArrowheads="1"/>
            </p:cNvSpPr>
            <p:nvPr/>
          </p:nvSpPr>
          <p:spPr bwMode="auto">
            <a:xfrm>
              <a:off x="7385050" y="2700338"/>
              <a:ext cx="1500188" cy="3125787"/>
            </a:xfrm>
            <a:prstGeom prst="rect">
              <a:avLst/>
            </a:prstGeom>
            <a:solidFill>
              <a:srgbClr val="EAEAEA"/>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4" name="Line 16">
              <a:extLst>
                <a:ext uri="{FF2B5EF4-FFF2-40B4-BE49-F238E27FC236}">
                  <a16:creationId xmlns:a16="http://schemas.microsoft.com/office/drawing/2014/main" id="{A65776DE-39D1-EAA4-7F75-EF762EFA5F00}"/>
                </a:ext>
              </a:extLst>
            </p:cNvPr>
            <p:cNvSpPr>
              <a:spLocks noChangeShapeType="1"/>
            </p:cNvSpPr>
            <p:nvPr/>
          </p:nvSpPr>
          <p:spPr bwMode="auto">
            <a:xfrm>
              <a:off x="8135938" y="3111500"/>
              <a:ext cx="0" cy="243205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5" name="Line 15">
              <a:extLst>
                <a:ext uri="{FF2B5EF4-FFF2-40B4-BE49-F238E27FC236}">
                  <a16:creationId xmlns:a16="http://schemas.microsoft.com/office/drawing/2014/main" id="{81794D03-1924-70BD-4101-28C2A86CB723}"/>
                </a:ext>
              </a:extLst>
            </p:cNvPr>
            <p:cNvSpPr>
              <a:spLocks noChangeShapeType="1"/>
            </p:cNvSpPr>
            <p:nvPr/>
          </p:nvSpPr>
          <p:spPr bwMode="auto">
            <a:xfrm>
              <a:off x="1042988" y="3048000"/>
              <a:ext cx="0" cy="243205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6" name="Rectangle 3">
              <a:extLst>
                <a:ext uri="{FF2B5EF4-FFF2-40B4-BE49-F238E27FC236}">
                  <a16:creationId xmlns:a16="http://schemas.microsoft.com/office/drawing/2014/main" id="{49CD402D-0E59-3811-0358-CAE3F50291CD}"/>
                </a:ext>
              </a:extLst>
            </p:cNvPr>
            <p:cNvSpPr>
              <a:spLocks noChangeArrowheads="1"/>
            </p:cNvSpPr>
            <p:nvPr/>
          </p:nvSpPr>
          <p:spPr bwMode="auto">
            <a:xfrm>
              <a:off x="1928813" y="2700338"/>
              <a:ext cx="5302250" cy="3125787"/>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7" name="Rectangle 5">
              <a:extLst>
                <a:ext uri="{FF2B5EF4-FFF2-40B4-BE49-F238E27FC236}">
                  <a16:creationId xmlns:a16="http://schemas.microsoft.com/office/drawing/2014/main" id="{3887199C-2731-1ED8-E8F5-3E26FC69D8F0}"/>
                </a:ext>
              </a:extLst>
            </p:cNvPr>
            <p:cNvSpPr>
              <a:spLocks noChangeArrowheads="1"/>
            </p:cNvSpPr>
            <p:nvPr/>
          </p:nvSpPr>
          <p:spPr bwMode="auto">
            <a:xfrm>
              <a:off x="385763" y="2859088"/>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Existing Product</a:t>
              </a:r>
            </a:p>
            <a:p>
              <a:pPr algn="ctr">
                <a:lnSpc>
                  <a:spcPct val="80000"/>
                </a:lnSpc>
                <a:buClrTx/>
                <a:buSzTx/>
                <a:buFontTx/>
                <a:buNone/>
              </a:pPr>
              <a:r>
                <a:rPr lang="en-US" altLang="en-US" sz="1000" dirty="0">
                  <a:solidFill>
                    <a:schemeClr val="bg1"/>
                  </a:solidFill>
                  <a:latin typeface="+mn-lt"/>
                </a:rPr>
                <a:t>Or Family Flow</a:t>
              </a:r>
            </a:p>
          </p:txBody>
        </p:sp>
        <p:sp>
          <p:nvSpPr>
            <p:cNvPr id="88" name="Rectangle 6">
              <a:extLst>
                <a:ext uri="{FF2B5EF4-FFF2-40B4-BE49-F238E27FC236}">
                  <a16:creationId xmlns:a16="http://schemas.microsoft.com/office/drawing/2014/main" id="{08C59336-D769-F925-430E-C3185592D067}"/>
                </a:ext>
              </a:extLst>
            </p:cNvPr>
            <p:cNvSpPr>
              <a:spLocks noChangeArrowheads="1"/>
            </p:cNvSpPr>
            <p:nvPr/>
          </p:nvSpPr>
          <p:spPr bwMode="auto">
            <a:xfrm>
              <a:off x="385763" y="3502025"/>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Average Capacity &amp;</a:t>
              </a:r>
            </a:p>
            <a:p>
              <a:pPr algn="ctr">
                <a:lnSpc>
                  <a:spcPct val="80000"/>
                </a:lnSpc>
                <a:buClrTx/>
                <a:buSzTx/>
                <a:buFontTx/>
                <a:buNone/>
              </a:pPr>
              <a:r>
                <a:rPr lang="en-US" altLang="en-US" sz="1000">
                  <a:solidFill>
                    <a:schemeClr val="bg1"/>
                  </a:solidFill>
                  <a:latin typeface="+mn-lt"/>
                </a:rPr>
                <a:t> Best Demonstrated</a:t>
              </a:r>
            </a:p>
          </p:txBody>
        </p:sp>
        <p:sp>
          <p:nvSpPr>
            <p:cNvPr id="89" name="Rectangle 7">
              <a:extLst>
                <a:ext uri="{FF2B5EF4-FFF2-40B4-BE49-F238E27FC236}">
                  <a16:creationId xmlns:a16="http://schemas.microsoft.com/office/drawing/2014/main" id="{5E689BA2-2819-5860-F0AB-98FA5044285F}"/>
                </a:ext>
              </a:extLst>
            </p:cNvPr>
            <p:cNvSpPr>
              <a:spLocks noChangeArrowheads="1"/>
            </p:cNvSpPr>
            <p:nvPr/>
          </p:nvSpPr>
          <p:spPr bwMode="auto">
            <a:xfrm>
              <a:off x="385763" y="4114800"/>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0000"/>
                </a:spcBef>
                <a:buClrTx/>
                <a:buSzTx/>
                <a:buFontTx/>
                <a:buNone/>
              </a:pPr>
              <a:r>
                <a:rPr lang="en-US" altLang="en-US" sz="1000">
                  <a:solidFill>
                    <a:schemeClr val="bg1"/>
                  </a:solidFill>
                  <a:latin typeface="+mn-lt"/>
                </a:rPr>
                <a:t>Human Resource</a:t>
              </a:r>
            </a:p>
            <a:p>
              <a:pPr algn="ctr">
                <a:lnSpc>
                  <a:spcPct val="80000"/>
                </a:lnSpc>
                <a:spcBef>
                  <a:spcPct val="10000"/>
                </a:spcBef>
                <a:buClrTx/>
                <a:buSzTx/>
                <a:buFontTx/>
                <a:buNone/>
              </a:pPr>
              <a:r>
                <a:rPr lang="en-US" altLang="en-US" sz="1000">
                  <a:solidFill>
                    <a:schemeClr val="bg1"/>
                  </a:solidFill>
                  <a:latin typeface="+mn-lt"/>
                </a:rPr>
                <a:t>Staffing Options</a:t>
              </a:r>
            </a:p>
          </p:txBody>
        </p:sp>
        <p:sp>
          <p:nvSpPr>
            <p:cNvPr id="90" name="Rectangle 8">
              <a:extLst>
                <a:ext uri="{FF2B5EF4-FFF2-40B4-BE49-F238E27FC236}">
                  <a16:creationId xmlns:a16="http://schemas.microsoft.com/office/drawing/2014/main" id="{E1BBC55B-CB9B-A260-6A48-749AF81329E0}"/>
                </a:ext>
              </a:extLst>
            </p:cNvPr>
            <p:cNvSpPr>
              <a:spLocks noChangeArrowheads="1"/>
            </p:cNvSpPr>
            <p:nvPr/>
          </p:nvSpPr>
          <p:spPr bwMode="auto">
            <a:xfrm>
              <a:off x="385763" y="4757738"/>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Catalog Existing</a:t>
              </a:r>
            </a:p>
            <a:p>
              <a:pPr algn="ctr">
                <a:lnSpc>
                  <a:spcPct val="80000"/>
                </a:lnSpc>
                <a:buClrTx/>
                <a:buSzTx/>
                <a:buFontTx/>
                <a:buNone/>
              </a:pPr>
              <a:r>
                <a:rPr lang="en-US" altLang="en-US" sz="1000">
                  <a:solidFill>
                    <a:schemeClr val="bg1"/>
                  </a:solidFill>
                  <a:latin typeface="+mn-lt"/>
                </a:rPr>
                <a:t>Breakpoints</a:t>
              </a:r>
            </a:p>
          </p:txBody>
        </p:sp>
        <p:sp>
          <p:nvSpPr>
            <p:cNvPr id="91" name="Oval 9">
              <a:extLst>
                <a:ext uri="{FF2B5EF4-FFF2-40B4-BE49-F238E27FC236}">
                  <a16:creationId xmlns:a16="http://schemas.microsoft.com/office/drawing/2014/main" id="{AAA78425-BD65-4B27-4019-C44FC2497FE9}"/>
                </a:ext>
              </a:extLst>
            </p:cNvPr>
            <p:cNvSpPr>
              <a:spLocks noChangeArrowheads="1"/>
            </p:cNvSpPr>
            <p:nvPr/>
          </p:nvSpPr>
          <p:spPr bwMode="auto">
            <a:xfrm>
              <a:off x="385763" y="5365750"/>
              <a:ext cx="1296987" cy="292100"/>
            </a:xfrm>
            <a:prstGeom prst="ellipse">
              <a:avLst/>
            </a:prstGeom>
            <a:solidFill>
              <a:schemeClr val="accent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Critical Path</a:t>
              </a:r>
            </a:p>
          </p:txBody>
        </p:sp>
        <p:sp>
          <p:nvSpPr>
            <p:cNvPr id="92" name="Rectangle 10">
              <a:extLst>
                <a:ext uri="{FF2B5EF4-FFF2-40B4-BE49-F238E27FC236}">
                  <a16:creationId xmlns:a16="http://schemas.microsoft.com/office/drawing/2014/main" id="{CFA6BDE0-0BDC-CB88-1378-AB055E76FB35}"/>
                </a:ext>
              </a:extLst>
            </p:cNvPr>
            <p:cNvSpPr>
              <a:spLocks noChangeArrowheads="1"/>
            </p:cNvSpPr>
            <p:nvPr/>
          </p:nvSpPr>
          <p:spPr bwMode="auto">
            <a:xfrm>
              <a:off x="7475538" y="2868613"/>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Confirm Critical</a:t>
              </a:r>
            </a:p>
            <a:p>
              <a:pPr algn="ctr">
                <a:lnSpc>
                  <a:spcPct val="80000"/>
                </a:lnSpc>
                <a:buClrTx/>
                <a:buSzTx/>
                <a:buFontTx/>
                <a:buNone/>
              </a:pPr>
              <a:r>
                <a:rPr lang="en-US" altLang="en-US" sz="1000">
                  <a:solidFill>
                    <a:schemeClr val="bg1"/>
                  </a:solidFill>
                  <a:latin typeface="+mn-lt"/>
                </a:rPr>
                <a:t>Resources</a:t>
              </a:r>
            </a:p>
          </p:txBody>
        </p:sp>
        <p:sp>
          <p:nvSpPr>
            <p:cNvPr id="93" name="Rectangle 11">
              <a:extLst>
                <a:ext uri="{FF2B5EF4-FFF2-40B4-BE49-F238E27FC236}">
                  <a16:creationId xmlns:a16="http://schemas.microsoft.com/office/drawing/2014/main" id="{BDC1BCCE-43C2-955B-7E8A-21511ADAB177}"/>
                </a:ext>
              </a:extLst>
            </p:cNvPr>
            <p:cNvSpPr>
              <a:spLocks noChangeArrowheads="1"/>
            </p:cNvSpPr>
            <p:nvPr/>
          </p:nvSpPr>
          <p:spPr bwMode="auto">
            <a:xfrm>
              <a:off x="7475538" y="3511550"/>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Consensus On</a:t>
              </a:r>
            </a:p>
            <a:p>
              <a:pPr algn="ctr">
                <a:lnSpc>
                  <a:spcPct val="80000"/>
                </a:lnSpc>
                <a:buClrTx/>
                <a:buSzTx/>
                <a:buFontTx/>
                <a:buNone/>
              </a:pPr>
              <a:r>
                <a:rPr lang="en-US" altLang="en-US" sz="1000">
                  <a:solidFill>
                    <a:schemeClr val="bg1"/>
                  </a:solidFill>
                  <a:latin typeface="+mn-lt"/>
                </a:rPr>
                <a:t>Rough-Cut Planning</a:t>
              </a:r>
            </a:p>
          </p:txBody>
        </p:sp>
        <p:sp>
          <p:nvSpPr>
            <p:cNvPr id="94" name="Rectangle 12">
              <a:extLst>
                <a:ext uri="{FF2B5EF4-FFF2-40B4-BE49-F238E27FC236}">
                  <a16:creationId xmlns:a16="http://schemas.microsoft.com/office/drawing/2014/main" id="{550546AA-4335-7966-ADC3-C36538F51F8C}"/>
                </a:ext>
              </a:extLst>
            </p:cNvPr>
            <p:cNvSpPr>
              <a:spLocks noChangeArrowheads="1"/>
            </p:cNvSpPr>
            <p:nvPr/>
          </p:nvSpPr>
          <p:spPr bwMode="auto">
            <a:xfrm>
              <a:off x="7475538" y="4124325"/>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10000"/>
                </a:spcBef>
                <a:buClrTx/>
                <a:buSzTx/>
                <a:buFontTx/>
                <a:buNone/>
              </a:pPr>
              <a:r>
                <a:rPr lang="en-US" altLang="en-US" sz="1000">
                  <a:solidFill>
                    <a:schemeClr val="bg1"/>
                  </a:solidFill>
                  <a:latin typeface="+mn-lt"/>
                </a:rPr>
                <a:t>Tailored Solutions</a:t>
              </a:r>
            </a:p>
            <a:p>
              <a:pPr algn="ctr">
                <a:lnSpc>
                  <a:spcPct val="80000"/>
                </a:lnSpc>
                <a:spcBef>
                  <a:spcPct val="10000"/>
                </a:spcBef>
                <a:buClrTx/>
                <a:buSzTx/>
                <a:buFontTx/>
                <a:buNone/>
              </a:pPr>
              <a:r>
                <a:rPr lang="en-US" altLang="en-US" sz="1000">
                  <a:solidFill>
                    <a:schemeClr val="bg1"/>
                  </a:solidFill>
                  <a:latin typeface="+mn-lt"/>
                </a:rPr>
                <a:t>Development</a:t>
              </a:r>
            </a:p>
          </p:txBody>
        </p:sp>
        <p:sp>
          <p:nvSpPr>
            <p:cNvPr id="95" name="Rectangle 13">
              <a:extLst>
                <a:ext uri="{FF2B5EF4-FFF2-40B4-BE49-F238E27FC236}">
                  <a16:creationId xmlns:a16="http://schemas.microsoft.com/office/drawing/2014/main" id="{D2120539-2489-EBE0-F71D-E2D72277C588}"/>
                </a:ext>
              </a:extLst>
            </p:cNvPr>
            <p:cNvSpPr>
              <a:spLocks noChangeArrowheads="1"/>
            </p:cNvSpPr>
            <p:nvPr/>
          </p:nvSpPr>
          <p:spPr bwMode="auto">
            <a:xfrm>
              <a:off x="7475538" y="4767263"/>
              <a:ext cx="1304925" cy="4349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Inputs For Long-</a:t>
              </a:r>
            </a:p>
            <a:p>
              <a:pPr algn="ctr">
                <a:lnSpc>
                  <a:spcPct val="80000"/>
                </a:lnSpc>
                <a:buClrTx/>
                <a:buSzTx/>
                <a:buFontTx/>
                <a:buNone/>
              </a:pPr>
              <a:r>
                <a:rPr lang="en-US" altLang="en-US" sz="1000">
                  <a:solidFill>
                    <a:schemeClr val="bg1"/>
                  </a:solidFill>
                  <a:latin typeface="+mn-lt"/>
                </a:rPr>
                <a:t>Range Planning</a:t>
              </a:r>
            </a:p>
          </p:txBody>
        </p:sp>
        <p:sp>
          <p:nvSpPr>
            <p:cNvPr id="96" name="Oval 14">
              <a:extLst>
                <a:ext uri="{FF2B5EF4-FFF2-40B4-BE49-F238E27FC236}">
                  <a16:creationId xmlns:a16="http://schemas.microsoft.com/office/drawing/2014/main" id="{75E0FFDA-32C9-399D-9065-12DE22DE69BD}"/>
                </a:ext>
              </a:extLst>
            </p:cNvPr>
            <p:cNvSpPr>
              <a:spLocks noChangeArrowheads="1"/>
            </p:cNvSpPr>
            <p:nvPr/>
          </p:nvSpPr>
          <p:spPr bwMode="auto">
            <a:xfrm>
              <a:off x="7475538" y="5375275"/>
              <a:ext cx="1296987" cy="292100"/>
            </a:xfrm>
            <a:prstGeom prst="ellipse">
              <a:avLst/>
            </a:prstGeom>
            <a:solidFill>
              <a:schemeClr val="accent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Move Forward</a:t>
              </a:r>
            </a:p>
          </p:txBody>
        </p:sp>
        <p:cxnSp>
          <p:nvCxnSpPr>
            <p:cNvPr id="97" name="AutoShape 19">
              <a:extLst>
                <a:ext uri="{FF2B5EF4-FFF2-40B4-BE49-F238E27FC236}">
                  <a16:creationId xmlns:a16="http://schemas.microsoft.com/office/drawing/2014/main" id="{71385A7B-0282-0D31-B0F9-2054BB1F7271}"/>
                </a:ext>
              </a:extLst>
            </p:cNvPr>
            <p:cNvCxnSpPr>
              <a:cxnSpLocks noChangeShapeType="1"/>
              <a:stCxn id="70" idx="0"/>
              <a:endCxn id="69" idx="0"/>
            </p:cNvCxnSpPr>
            <p:nvPr/>
          </p:nvCxnSpPr>
          <p:spPr bwMode="auto">
            <a:xfrm rot="5400000" flipV="1">
              <a:off x="2789238" y="938213"/>
              <a:ext cx="28575" cy="3533775"/>
            </a:xfrm>
            <a:prstGeom prst="bentConnector3">
              <a:avLst>
                <a:gd name="adj1" fmla="val -104444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98" name="AutoShape 20">
              <a:extLst>
                <a:ext uri="{FF2B5EF4-FFF2-40B4-BE49-F238E27FC236}">
                  <a16:creationId xmlns:a16="http://schemas.microsoft.com/office/drawing/2014/main" id="{378EF8F2-292A-B8B4-EC72-66DC3E7CDE45}"/>
                </a:ext>
              </a:extLst>
            </p:cNvPr>
            <p:cNvCxnSpPr>
              <a:cxnSpLocks noChangeShapeType="1"/>
              <a:stCxn id="86" idx="2"/>
              <a:endCxn id="83" idx="2"/>
            </p:cNvCxnSpPr>
            <p:nvPr/>
          </p:nvCxnSpPr>
          <p:spPr bwMode="auto">
            <a:xfrm rot="16200000" flipH="1">
              <a:off x="6357144" y="4058444"/>
              <a:ext cx="1588" cy="3556000"/>
            </a:xfrm>
            <a:prstGeom prst="bentConnector3">
              <a:avLst>
                <a:gd name="adj1" fmla="val 2230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99" name="Text Box 21">
              <a:extLst>
                <a:ext uri="{FF2B5EF4-FFF2-40B4-BE49-F238E27FC236}">
                  <a16:creationId xmlns:a16="http://schemas.microsoft.com/office/drawing/2014/main" id="{33D66518-7624-0218-FEE0-53B041049310}"/>
                </a:ext>
              </a:extLst>
            </p:cNvPr>
            <p:cNvSpPr txBox="1">
              <a:spLocks noChangeArrowheads="1"/>
            </p:cNvSpPr>
            <p:nvPr/>
          </p:nvSpPr>
          <p:spPr bwMode="auto">
            <a:xfrm>
              <a:off x="1788157" y="2270125"/>
              <a:ext cx="1970411"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Process Analysis Priorities</a:t>
              </a:r>
            </a:p>
          </p:txBody>
        </p:sp>
        <p:sp>
          <p:nvSpPr>
            <p:cNvPr id="100" name="Text Box 22">
              <a:extLst>
                <a:ext uri="{FF2B5EF4-FFF2-40B4-BE49-F238E27FC236}">
                  <a16:creationId xmlns:a16="http://schemas.microsoft.com/office/drawing/2014/main" id="{7720A28D-B07E-D3BE-D776-D65B6E5B9B62}"/>
                </a:ext>
              </a:extLst>
            </p:cNvPr>
            <p:cNvSpPr txBox="1">
              <a:spLocks noChangeArrowheads="1"/>
            </p:cNvSpPr>
            <p:nvPr/>
          </p:nvSpPr>
          <p:spPr bwMode="auto">
            <a:xfrm>
              <a:off x="5358336" y="6078538"/>
              <a:ext cx="1992853"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Value Stream Map Outputs</a:t>
              </a:r>
            </a:p>
          </p:txBody>
        </p:sp>
      </p:grpSp>
      <p:grpSp>
        <p:nvGrpSpPr>
          <p:cNvPr id="4" name="Group 51">
            <a:extLst>
              <a:ext uri="{FF2B5EF4-FFF2-40B4-BE49-F238E27FC236}">
                <a16:creationId xmlns:a16="http://schemas.microsoft.com/office/drawing/2014/main" id="{150CC1EE-D545-769D-BF83-D0CF6BA3B6C8}"/>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D9FE21D3-100F-FB55-8E52-48439F0A5E47}"/>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8C79967D-46C5-10F3-E8B2-51BD87B4FEC0}"/>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AC682DE2-EEF0-30B6-4654-B9C86A893F5E}"/>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013C9F6C-6BA4-B334-8437-3841D9CE55E6}"/>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9" name="Rectangle 39">
              <a:extLst>
                <a:ext uri="{FF2B5EF4-FFF2-40B4-BE49-F238E27FC236}">
                  <a16:creationId xmlns:a16="http://schemas.microsoft.com/office/drawing/2014/main" id="{B99EE0A0-88A7-C866-D05B-7DE172712682}"/>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0" name="Rectangle 40">
              <a:extLst>
                <a:ext uri="{FF2B5EF4-FFF2-40B4-BE49-F238E27FC236}">
                  <a16:creationId xmlns:a16="http://schemas.microsoft.com/office/drawing/2014/main" id="{6B441B92-DA9F-A5E4-EEB2-D3CC20FE0DE8}"/>
                </a:ext>
              </a:extLst>
            </p:cNvPr>
            <p:cNvSpPr>
              <a:spLocks noChangeArrowheads="1"/>
            </p:cNvSpPr>
            <p:nvPr/>
          </p:nvSpPr>
          <p:spPr bwMode="auto">
            <a:xfrm>
              <a:off x="149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Rough-Cut</a:t>
              </a:r>
            </a:p>
            <a:p>
              <a:pPr algn="ctr">
                <a:lnSpc>
                  <a:spcPct val="80000"/>
                </a:lnSpc>
                <a:buClrTx/>
                <a:buSzTx/>
                <a:buNone/>
              </a:pPr>
              <a:r>
                <a:rPr lang="en-US" altLang="en-US" sz="200" dirty="0">
                  <a:solidFill>
                    <a:schemeClr val="bg1"/>
                  </a:solidFill>
                  <a:latin typeface="+mn-lt"/>
                </a:rPr>
                <a:t>Capacity</a:t>
              </a:r>
            </a:p>
            <a:p>
              <a:pPr algn="ctr">
                <a:lnSpc>
                  <a:spcPct val="80000"/>
                </a:lnSpc>
                <a:buClrTx/>
                <a:buSzTx/>
                <a:buNone/>
              </a:pPr>
              <a:r>
                <a:rPr lang="en-US" altLang="en-US" sz="200" dirty="0">
                  <a:solidFill>
                    <a:schemeClr val="bg1"/>
                  </a:solidFill>
                  <a:latin typeface="+mn-lt"/>
                </a:rPr>
                <a:t>Analysis</a:t>
              </a:r>
            </a:p>
          </p:txBody>
        </p:sp>
        <p:sp>
          <p:nvSpPr>
            <p:cNvPr id="11" name="Rectangle 41">
              <a:extLst>
                <a:ext uri="{FF2B5EF4-FFF2-40B4-BE49-F238E27FC236}">
                  <a16:creationId xmlns:a16="http://schemas.microsoft.com/office/drawing/2014/main" id="{B0B400A4-F1A7-26D0-34F0-9EDA6D00783B}"/>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12" name="AutoShape 42">
              <a:extLst>
                <a:ext uri="{FF2B5EF4-FFF2-40B4-BE49-F238E27FC236}">
                  <a16:creationId xmlns:a16="http://schemas.microsoft.com/office/drawing/2014/main" id="{5049DF3E-F3E6-06B4-6001-6517EE64784A}"/>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13" name="Rectangle 43">
              <a:extLst>
                <a:ext uri="{FF2B5EF4-FFF2-40B4-BE49-F238E27FC236}">
                  <a16:creationId xmlns:a16="http://schemas.microsoft.com/office/drawing/2014/main" id="{27223A12-CD54-3C97-AE58-B653D9874728}"/>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14" name="Rectangle 44">
              <a:extLst>
                <a:ext uri="{FF2B5EF4-FFF2-40B4-BE49-F238E27FC236}">
                  <a16:creationId xmlns:a16="http://schemas.microsoft.com/office/drawing/2014/main" id="{A11CE538-47ED-FB66-4A53-007629EC3271}"/>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15" name="Rectangle 45">
              <a:extLst>
                <a:ext uri="{FF2B5EF4-FFF2-40B4-BE49-F238E27FC236}">
                  <a16:creationId xmlns:a16="http://schemas.microsoft.com/office/drawing/2014/main" id="{6E33D179-7FF2-E4D3-D1EB-D6526CA9B1F9}"/>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16" name="Rectangle 46">
              <a:extLst>
                <a:ext uri="{FF2B5EF4-FFF2-40B4-BE49-F238E27FC236}">
                  <a16:creationId xmlns:a16="http://schemas.microsoft.com/office/drawing/2014/main" id="{3CA4D96F-01E5-106F-6620-692D267C0FD5}"/>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17" name="Rectangle 47">
              <a:extLst>
                <a:ext uri="{FF2B5EF4-FFF2-40B4-BE49-F238E27FC236}">
                  <a16:creationId xmlns:a16="http://schemas.microsoft.com/office/drawing/2014/main" id="{CA6E283D-8EAD-0197-38B6-BF64866FCE56}"/>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666484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 Base Analysis:  </a:t>
            </a:r>
            <a:br>
              <a:rPr lang="en-US" sz="3600" dirty="0"/>
            </a:br>
            <a:r>
              <a:rPr lang="en-US" sz="3600" dirty="0"/>
              <a:t>Coverage, Excess or Potential Shortages?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Integral to the critical resource analysis is a thorough review of the supply base;  supply team members must confirm raw materials (or 3d party services) availability or scale back incoming shipments if the demand plan warrants such action.</a:t>
            </a:r>
          </a:p>
        </p:txBody>
      </p:sp>
      <p:grpSp>
        <p:nvGrpSpPr>
          <p:cNvPr id="25" name="Group 24">
            <a:extLst>
              <a:ext uri="{FF2B5EF4-FFF2-40B4-BE49-F238E27FC236}">
                <a16:creationId xmlns:a16="http://schemas.microsoft.com/office/drawing/2014/main" id="{0AD2345F-03D3-A26A-88BB-92319FC8DBE6}"/>
              </a:ext>
            </a:extLst>
          </p:cNvPr>
          <p:cNvGrpSpPr/>
          <p:nvPr/>
        </p:nvGrpSpPr>
        <p:grpSpPr>
          <a:xfrm>
            <a:off x="352425" y="2054225"/>
            <a:ext cx="8601075" cy="3987376"/>
            <a:chOff x="352425" y="2054225"/>
            <a:chExt cx="8601075" cy="3987376"/>
          </a:xfrm>
        </p:grpSpPr>
        <p:sp>
          <p:nvSpPr>
            <p:cNvPr id="4" name="Line 25">
              <a:extLst>
                <a:ext uri="{FF2B5EF4-FFF2-40B4-BE49-F238E27FC236}">
                  <a16:creationId xmlns:a16="http://schemas.microsoft.com/office/drawing/2014/main" id="{69F4F3B4-709A-0E03-908A-6E373951284D}"/>
                </a:ext>
              </a:extLst>
            </p:cNvPr>
            <p:cNvSpPr>
              <a:spLocks noChangeShapeType="1"/>
            </p:cNvSpPr>
            <p:nvPr/>
          </p:nvSpPr>
          <p:spPr bwMode="auto">
            <a:xfrm>
              <a:off x="2728913" y="2341563"/>
              <a:ext cx="0" cy="3235325"/>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Line 9">
              <a:extLst>
                <a:ext uri="{FF2B5EF4-FFF2-40B4-BE49-F238E27FC236}">
                  <a16:creationId xmlns:a16="http://schemas.microsoft.com/office/drawing/2014/main" id="{9C17DFBA-A6C5-E168-252F-BCB15868DF29}"/>
                </a:ext>
              </a:extLst>
            </p:cNvPr>
            <p:cNvSpPr>
              <a:spLocks noChangeShapeType="1"/>
            </p:cNvSpPr>
            <p:nvPr/>
          </p:nvSpPr>
          <p:spPr bwMode="auto">
            <a:xfrm>
              <a:off x="538163" y="4048125"/>
              <a:ext cx="5059362" cy="1588"/>
            </a:xfrm>
            <a:prstGeom prst="line">
              <a:avLst/>
            </a:prstGeom>
            <a:noFill/>
            <a:ln w="5715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 name="Text Box 10">
              <a:extLst>
                <a:ext uri="{FF2B5EF4-FFF2-40B4-BE49-F238E27FC236}">
                  <a16:creationId xmlns:a16="http://schemas.microsoft.com/office/drawing/2014/main" id="{EF535F93-1FD1-7C75-253E-73996B2B4AD0}"/>
                </a:ext>
              </a:extLst>
            </p:cNvPr>
            <p:cNvSpPr txBox="1">
              <a:spLocks noChangeArrowheads="1"/>
            </p:cNvSpPr>
            <p:nvPr/>
          </p:nvSpPr>
          <p:spPr bwMode="auto">
            <a:xfrm>
              <a:off x="2782272" y="3921125"/>
              <a:ext cx="587019"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rgbClr val="000066"/>
                  </a:solidFill>
                  <a:latin typeface="+mn-lt"/>
                </a:rPr>
                <a:t>Time</a:t>
              </a:r>
            </a:p>
          </p:txBody>
        </p:sp>
        <p:sp>
          <p:nvSpPr>
            <p:cNvPr id="7" name="Rectangle 4">
              <a:extLst>
                <a:ext uri="{FF2B5EF4-FFF2-40B4-BE49-F238E27FC236}">
                  <a16:creationId xmlns:a16="http://schemas.microsoft.com/office/drawing/2014/main" id="{E5780955-9780-409E-6D70-B47797AF683C}"/>
                </a:ext>
              </a:extLst>
            </p:cNvPr>
            <p:cNvSpPr>
              <a:spLocks noChangeArrowheads="1"/>
            </p:cNvSpPr>
            <p:nvPr/>
          </p:nvSpPr>
          <p:spPr bwMode="auto">
            <a:xfrm>
              <a:off x="544513" y="2549525"/>
              <a:ext cx="1585912" cy="817563"/>
            </a:xfrm>
            <a:prstGeom prst="rect">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Firm Zone</a:t>
              </a:r>
            </a:p>
            <a:p>
              <a:pPr algn="ctr">
                <a:lnSpc>
                  <a:spcPct val="80000"/>
                </a:lnSpc>
                <a:buClrTx/>
                <a:buSzTx/>
                <a:buFontTx/>
                <a:buNone/>
              </a:pPr>
              <a:r>
                <a:rPr lang="en-US" altLang="en-US" sz="1100" dirty="0">
                  <a:solidFill>
                    <a:schemeClr val="bg1"/>
                  </a:solidFill>
                  <a:latin typeface="+mn-lt"/>
                </a:rPr>
                <a:t>$$$$</a:t>
              </a:r>
            </a:p>
            <a:p>
              <a:pPr algn="ctr">
                <a:lnSpc>
                  <a:spcPct val="80000"/>
                </a:lnSpc>
                <a:buClrTx/>
                <a:buSzTx/>
                <a:buFontTx/>
                <a:buNone/>
              </a:pPr>
              <a:endParaRPr lang="en-US" altLang="en-US" sz="1100" dirty="0">
                <a:solidFill>
                  <a:schemeClr val="bg1"/>
                </a:solidFill>
                <a:latin typeface="+mn-lt"/>
              </a:endParaRPr>
            </a:p>
          </p:txBody>
        </p:sp>
        <p:sp>
          <p:nvSpPr>
            <p:cNvPr id="8" name="Rectangle 5">
              <a:extLst>
                <a:ext uri="{FF2B5EF4-FFF2-40B4-BE49-F238E27FC236}">
                  <a16:creationId xmlns:a16="http://schemas.microsoft.com/office/drawing/2014/main" id="{1DB17AD7-57D9-B7BF-FC21-7CD20317A31B}"/>
                </a:ext>
              </a:extLst>
            </p:cNvPr>
            <p:cNvSpPr>
              <a:spLocks noChangeArrowheads="1"/>
            </p:cNvSpPr>
            <p:nvPr/>
          </p:nvSpPr>
          <p:spPr bwMode="auto">
            <a:xfrm>
              <a:off x="2276475" y="2549525"/>
              <a:ext cx="1585913" cy="817563"/>
            </a:xfrm>
            <a:prstGeom prst="rect">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Flexible Zone</a:t>
              </a:r>
            </a:p>
            <a:p>
              <a:pPr algn="ctr">
                <a:lnSpc>
                  <a:spcPct val="80000"/>
                </a:lnSpc>
                <a:buClrTx/>
                <a:buSzTx/>
                <a:buFontTx/>
                <a:buNone/>
              </a:pPr>
              <a:r>
                <a:rPr lang="en-US" altLang="en-US" sz="1100">
                  <a:latin typeface="+mn-lt"/>
                </a:rPr>
                <a:t>$$</a:t>
              </a:r>
            </a:p>
            <a:p>
              <a:pPr algn="ctr">
                <a:lnSpc>
                  <a:spcPct val="80000"/>
                </a:lnSpc>
                <a:buClrTx/>
                <a:buSzTx/>
                <a:buFontTx/>
                <a:buNone/>
              </a:pPr>
              <a:endParaRPr lang="en-US" altLang="en-US" sz="1100">
                <a:latin typeface="+mn-lt"/>
              </a:endParaRPr>
            </a:p>
          </p:txBody>
        </p:sp>
        <p:sp>
          <p:nvSpPr>
            <p:cNvPr id="9" name="Rectangle 6">
              <a:extLst>
                <a:ext uri="{FF2B5EF4-FFF2-40B4-BE49-F238E27FC236}">
                  <a16:creationId xmlns:a16="http://schemas.microsoft.com/office/drawing/2014/main" id="{D58B3963-431C-81C8-74C5-79D871AC0C09}"/>
                </a:ext>
              </a:extLst>
            </p:cNvPr>
            <p:cNvSpPr>
              <a:spLocks noChangeArrowheads="1"/>
            </p:cNvSpPr>
            <p:nvPr/>
          </p:nvSpPr>
          <p:spPr bwMode="auto">
            <a:xfrm>
              <a:off x="4013200" y="2549525"/>
              <a:ext cx="1585913" cy="817563"/>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No Commitment Zone</a:t>
              </a:r>
            </a:p>
            <a:p>
              <a:pPr algn="ctr">
                <a:lnSpc>
                  <a:spcPct val="80000"/>
                </a:lnSpc>
                <a:buClrTx/>
                <a:buSzTx/>
                <a:buFontTx/>
                <a:buNone/>
              </a:pPr>
              <a:r>
                <a:rPr lang="en-US" altLang="en-US" sz="1100" dirty="0">
                  <a:solidFill>
                    <a:schemeClr val="bg1"/>
                  </a:solidFill>
                  <a:latin typeface="+mn-lt"/>
                </a:rPr>
                <a:t>$ Or No Cost</a:t>
              </a:r>
            </a:p>
            <a:p>
              <a:pPr algn="ctr">
                <a:lnSpc>
                  <a:spcPct val="80000"/>
                </a:lnSpc>
                <a:buClrTx/>
                <a:buSzTx/>
                <a:buFontTx/>
                <a:buNone/>
              </a:pPr>
              <a:endParaRPr lang="en-US" altLang="en-US" sz="1100" dirty="0">
                <a:solidFill>
                  <a:schemeClr val="bg1"/>
                </a:solidFill>
                <a:latin typeface="+mn-lt"/>
              </a:endParaRPr>
            </a:p>
          </p:txBody>
        </p:sp>
        <p:grpSp>
          <p:nvGrpSpPr>
            <p:cNvPr id="10" name="Group 17">
              <a:extLst>
                <a:ext uri="{FF2B5EF4-FFF2-40B4-BE49-F238E27FC236}">
                  <a16:creationId xmlns:a16="http://schemas.microsoft.com/office/drawing/2014/main" id="{FF80A3E9-0D94-27EB-4B56-B2BD3BB0A489}"/>
                </a:ext>
              </a:extLst>
            </p:cNvPr>
            <p:cNvGrpSpPr>
              <a:grpSpLocks/>
            </p:cNvGrpSpPr>
            <p:nvPr/>
          </p:nvGrpSpPr>
          <p:grpSpPr bwMode="auto">
            <a:xfrm>
              <a:off x="2205038" y="2557463"/>
              <a:ext cx="1731962" cy="1214437"/>
              <a:chOff x="1505" y="1772"/>
              <a:chExt cx="1213" cy="892"/>
            </a:xfrm>
          </p:grpSpPr>
          <p:sp>
            <p:nvSpPr>
              <p:cNvPr id="11" name="Line 13">
                <a:extLst>
                  <a:ext uri="{FF2B5EF4-FFF2-40B4-BE49-F238E27FC236}">
                    <a16:creationId xmlns:a16="http://schemas.microsoft.com/office/drawing/2014/main" id="{067E821C-D3F6-2538-4AEF-8F54DF100AC3}"/>
                  </a:ext>
                </a:extLst>
              </p:cNvPr>
              <p:cNvSpPr>
                <a:spLocks noChangeShapeType="1"/>
              </p:cNvSpPr>
              <p:nvPr/>
            </p:nvSpPr>
            <p:spPr bwMode="auto">
              <a:xfrm>
                <a:off x="1505" y="1772"/>
                <a:ext cx="0" cy="89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4">
                <a:extLst>
                  <a:ext uri="{FF2B5EF4-FFF2-40B4-BE49-F238E27FC236}">
                    <a16:creationId xmlns:a16="http://schemas.microsoft.com/office/drawing/2014/main" id="{ED4E56A2-4408-1FF6-4123-0D24234CF5B6}"/>
                  </a:ext>
                </a:extLst>
              </p:cNvPr>
              <p:cNvSpPr>
                <a:spLocks noChangeShapeType="1"/>
              </p:cNvSpPr>
              <p:nvPr/>
            </p:nvSpPr>
            <p:spPr bwMode="auto">
              <a:xfrm>
                <a:off x="2718" y="1774"/>
                <a:ext cx="0" cy="89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3" name="AutoShape 16">
              <a:extLst>
                <a:ext uri="{FF2B5EF4-FFF2-40B4-BE49-F238E27FC236}">
                  <a16:creationId xmlns:a16="http://schemas.microsoft.com/office/drawing/2014/main" id="{93F58CCB-9F88-465E-7EBF-CD4727E43341}"/>
                </a:ext>
              </a:extLst>
            </p:cNvPr>
            <p:cNvSpPr>
              <a:spLocks noChangeArrowheads="1"/>
            </p:cNvSpPr>
            <p:nvPr/>
          </p:nvSpPr>
          <p:spPr bwMode="auto">
            <a:xfrm>
              <a:off x="3360738" y="3452813"/>
              <a:ext cx="1154112" cy="401637"/>
            </a:xfrm>
            <a:prstGeom prst="triangle">
              <a:avLst>
                <a:gd name="adj" fmla="val 50000"/>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Decision</a:t>
              </a:r>
            </a:p>
          </p:txBody>
        </p:sp>
        <p:sp>
          <p:nvSpPr>
            <p:cNvPr id="14" name="AutoShape 19">
              <a:extLst>
                <a:ext uri="{FF2B5EF4-FFF2-40B4-BE49-F238E27FC236}">
                  <a16:creationId xmlns:a16="http://schemas.microsoft.com/office/drawing/2014/main" id="{32BD5772-6B12-3DE2-B47A-80D4FBC98A64}"/>
                </a:ext>
              </a:extLst>
            </p:cNvPr>
            <p:cNvSpPr>
              <a:spLocks noChangeArrowheads="1"/>
            </p:cNvSpPr>
            <p:nvPr/>
          </p:nvSpPr>
          <p:spPr bwMode="auto">
            <a:xfrm>
              <a:off x="525463" y="4224338"/>
              <a:ext cx="2138362" cy="271462"/>
            </a:xfrm>
            <a:prstGeom prst="homePlate">
              <a:avLst>
                <a:gd name="adj" fmla="val 63455"/>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Little-No Flexibility To Change</a:t>
              </a:r>
            </a:p>
          </p:txBody>
        </p:sp>
        <p:sp>
          <p:nvSpPr>
            <p:cNvPr id="15" name="AutoShape 20">
              <a:extLst>
                <a:ext uri="{FF2B5EF4-FFF2-40B4-BE49-F238E27FC236}">
                  <a16:creationId xmlns:a16="http://schemas.microsoft.com/office/drawing/2014/main" id="{42D43D0A-C5A5-CD6F-607C-FCCEE18A873B}"/>
                </a:ext>
              </a:extLst>
            </p:cNvPr>
            <p:cNvSpPr>
              <a:spLocks noChangeArrowheads="1"/>
            </p:cNvSpPr>
            <p:nvPr/>
          </p:nvSpPr>
          <p:spPr bwMode="auto">
            <a:xfrm>
              <a:off x="1746250" y="4595813"/>
              <a:ext cx="2138363" cy="271462"/>
            </a:xfrm>
            <a:prstGeom prst="homePlate">
              <a:avLst>
                <a:gd name="adj" fmla="val 63455"/>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Some Flexibility To Change</a:t>
              </a:r>
            </a:p>
          </p:txBody>
        </p:sp>
        <p:sp>
          <p:nvSpPr>
            <p:cNvPr id="16" name="AutoShape 21">
              <a:extLst>
                <a:ext uri="{FF2B5EF4-FFF2-40B4-BE49-F238E27FC236}">
                  <a16:creationId xmlns:a16="http://schemas.microsoft.com/office/drawing/2014/main" id="{4B40BA08-CABB-D2B2-4B0A-5257E6DD6A04}"/>
                </a:ext>
              </a:extLst>
            </p:cNvPr>
            <p:cNvSpPr>
              <a:spLocks noChangeArrowheads="1"/>
            </p:cNvSpPr>
            <p:nvPr/>
          </p:nvSpPr>
          <p:spPr bwMode="auto">
            <a:xfrm>
              <a:off x="3432175" y="4965700"/>
              <a:ext cx="2138363" cy="271463"/>
            </a:xfrm>
            <a:prstGeom prst="homePlate">
              <a:avLst>
                <a:gd name="adj" fmla="val 63455"/>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Change At Will</a:t>
              </a:r>
            </a:p>
          </p:txBody>
        </p:sp>
        <p:sp>
          <p:nvSpPr>
            <p:cNvPr id="17" name="Oval 24">
              <a:extLst>
                <a:ext uri="{FF2B5EF4-FFF2-40B4-BE49-F238E27FC236}">
                  <a16:creationId xmlns:a16="http://schemas.microsoft.com/office/drawing/2014/main" id="{54106523-B2B8-FA14-3A1F-A1C8823259AC}"/>
                </a:ext>
              </a:extLst>
            </p:cNvPr>
            <p:cNvSpPr>
              <a:spLocks noChangeArrowheads="1"/>
            </p:cNvSpPr>
            <p:nvPr/>
          </p:nvSpPr>
          <p:spPr bwMode="auto">
            <a:xfrm>
              <a:off x="1041400" y="3071813"/>
              <a:ext cx="4044950" cy="228600"/>
            </a:xfrm>
            <a:prstGeom prst="ellipse">
              <a:avLst/>
            </a:prstGeom>
            <a:solidFill>
              <a:schemeClr val="bg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latin typeface="+mn-lt"/>
                </a:rPr>
                <a:t>Supplier Lead Times &amp; On-Hand Materials</a:t>
              </a:r>
            </a:p>
          </p:txBody>
        </p:sp>
        <p:sp>
          <p:nvSpPr>
            <p:cNvPr id="18" name="AutoShape 15">
              <a:extLst>
                <a:ext uri="{FF2B5EF4-FFF2-40B4-BE49-F238E27FC236}">
                  <a16:creationId xmlns:a16="http://schemas.microsoft.com/office/drawing/2014/main" id="{07E7916D-2AEA-3F4A-A6C3-C5DE5CBBE0F6}"/>
                </a:ext>
              </a:extLst>
            </p:cNvPr>
            <p:cNvSpPr>
              <a:spLocks noChangeArrowheads="1"/>
            </p:cNvSpPr>
            <p:nvPr/>
          </p:nvSpPr>
          <p:spPr bwMode="auto">
            <a:xfrm>
              <a:off x="1627188" y="3448050"/>
              <a:ext cx="1154112" cy="401638"/>
            </a:xfrm>
            <a:prstGeom prst="triangle">
              <a:avLst>
                <a:gd name="adj" fmla="val 50000"/>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Decision</a:t>
              </a:r>
            </a:p>
          </p:txBody>
        </p:sp>
        <p:sp>
          <p:nvSpPr>
            <p:cNvPr id="19" name="Text Box 27">
              <a:extLst>
                <a:ext uri="{FF2B5EF4-FFF2-40B4-BE49-F238E27FC236}">
                  <a16:creationId xmlns:a16="http://schemas.microsoft.com/office/drawing/2014/main" id="{5CF206BA-4CFB-EDF0-B225-31913C6B2507}"/>
                </a:ext>
              </a:extLst>
            </p:cNvPr>
            <p:cNvSpPr txBox="1">
              <a:spLocks noChangeArrowheads="1"/>
            </p:cNvSpPr>
            <p:nvPr/>
          </p:nvSpPr>
          <p:spPr bwMode="auto">
            <a:xfrm>
              <a:off x="352425" y="5110163"/>
              <a:ext cx="23780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buClrTx/>
                <a:buSzTx/>
                <a:buFontTx/>
                <a:buNone/>
              </a:pPr>
              <a:r>
                <a:rPr lang="en-US" altLang="en-US" sz="1000" i="1" dirty="0">
                  <a:latin typeface="+mn-lt"/>
                </a:rPr>
                <a:t>Sudden Demand Shift:  Can We</a:t>
              </a:r>
            </a:p>
            <a:p>
              <a:pPr algn="r">
                <a:lnSpc>
                  <a:spcPct val="80000"/>
                </a:lnSpc>
                <a:buClrTx/>
                <a:buSzTx/>
                <a:buFontTx/>
                <a:buNone/>
              </a:pPr>
              <a:r>
                <a:rPr lang="en-US" altLang="en-US" sz="1000" i="1" dirty="0">
                  <a:latin typeface="+mn-lt"/>
                </a:rPr>
                <a:t>Quickly React With Financial Responsibility?</a:t>
              </a:r>
            </a:p>
          </p:txBody>
        </p:sp>
        <p:sp>
          <p:nvSpPr>
            <p:cNvPr id="20" name="Text Box 28">
              <a:extLst>
                <a:ext uri="{FF2B5EF4-FFF2-40B4-BE49-F238E27FC236}">
                  <a16:creationId xmlns:a16="http://schemas.microsoft.com/office/drawing/2014/main" id="{BB6AE887-EBCB-FC64-39A7-3148EEEB59E1}"/>
                </a:ext>
              </a:extLst>
            </p:cNvPr>
            <p:cNvSpPr txBox="1">
              <a:spLocks noChangeArrowheads="1"/>
            </p:cNvSpPr>
            <p:nvPr/>
          </p:nvSpPr>
          <p:spPr bwMode="auto">
            <a:xfrm>
              <a:off x="2754313" y="4176713"/>
              <a:ext cx="1265090" cy="370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r>
                <a:rPr lang="ja-JP" altLang="en-US" sz="1000" i="1" dirty="0">
                  <a:latin typeface="+mn-lt"/>
                </a:rPr>
                <a:t>“</a:t>
              </a:r>
              <a:r>
                <a:rPr lang="en-US" altLang="ja-JP" sz="1000" i="1" dirty="0">
                  <a:latin typeface="+mn-lt"/>
                </a:rPr>
                <a:t>Where We Are</a:t>
              </a:r>
              <a:r>
                <a:rPr lang="ja-JP" altLang="en-US" sz="1000" i="1" dirty="0">
                  <a:latin typeface="+mn-lt"/>
                </a:rPr>
                <a:t>”</a:t>
              </a:r>
              <a:r>
                <a:rPr lang="en-US" altLang="ja-JP" sz="1000" i="1" dirty="0">
                  <a:latin typeface="+mn-lt"/>
                </a:rPr>
                <a:t> In </a:t>
              </a:r>
            </a:p>
            <a:p>
              <a:pPr>
                <a:lnSpc>
                  <a:spcPct val="80000"/>
                </a:lnSpc>
                <a:buClrTx/>
                <a:buSzTx/>
                <a:buFontTx/>
                <a:buNone/>
              </a:pPr>
              <a:r>
                <a:rPr lang="en-US" altLang="en-US" sz="1000" i="1" dirty="0">
                  <a:latin typeface="+mn-lt"/>
                </a:rPr>
                <a:t>The Cycle</a:t>
              </a:r>
            </a:p>
          </p:txBody>
        </p:sp>
        <p:sp>
          <p:nvSpPr>
            <p:cNvPr id="21" name="Rectangle 29">
              <a:extLst>
                <a:ext uri="{FF2B5EF4-FFF2-40B4-BE49-F238E27FC236}">
                  <a16:creationId xmlns:a16="http://schemas.microsoft.com/office/drawing/2014/main" id="{A82ABBA0-193B-40D1-33EF-A54961929E2B}"/>
                </a:ext>
              </a:extLst>
            </p:cNvPr>
            <p:cNvSpPr>
              <a:spLocks noChangeArrowheads="1"/>
            </p:cNvSpPr>
            <p:nvPr/>
          </p:nvSpPr>
          <p:spPr bwMode="auto">
            <a:xfrm>
              <a:off x="438150" y="2181225"/>
              <a:ext cx="5268913" cy="353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2" name="Text Box 30">
              <a:extLst>
                <a:ext uri="{FF2B5EF4-FFF2-40B4-BE49-F238E27FC236}">
                  <a16:creationId xmlns:a16="http://schemas.microsoft.com/office/drawing/2014/main" id="{6E6BFD7E-354E-02C3-71E9-BEBAE6A11220}"/>
                </a:ext>
              </a:extLst>
            </p:cNvPr>
            <p:cNvSpPr txBox="1">
              <a:spLocks noChangeArrowheads="1"/>
            </p:cNvSpPr>
            <p:nvPr/>
          </p:nvSpPr>
          <p:spPr bwMode="auto">
            <a:xfrm>
              <a:off x="806212" y="2054225"/>
              <a:ext cx="2478564"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latin typeface="+mn-lt"/>
                </a:rPr>
                <a:t>Supplier Management Zones</a:t>
              </a:r>
            </a:p>
          </p:txBody>
        </p:sp>
        <p:sp>
          <p:nvSpPr>
            <p:cNvPr id="23" name="Rectangle 31">
              <a:extLst>
                <a:ext uri="{FF2B5EF4-FFF2-40B4-BE49-F238E27FC236}">
                  <a16:creationId xmlns:a16="http://schemas.microsoft.com/office/drawing/2014/main" id="{4D5D7D9B-FA1E-CF26-C9CE-759FF4B39D31}"/>
                </a:ext>
              </a:extLst>
            </p:cNvPr>
            <p:cNvSpPr>
              <a:spLocks noChangeArrowheads="1"/>
            </p:cNvSpPr>
            <p:nvPr/>
          </p:nvSpPr>
          <p:spPr bwMode="auto">
            <a:xfrm>
              <a:off x="5973763" y="2103438"/>
              <a:ext cx="2979737"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100" dirty="0">
                  <a:latin typeface="+mn-lt"/>
                </a:rPr>
                <a:t>For any product or product family, supply team members must document all supplier inputs</a:t>
              </a:r>
            </a:p>
            <a:p>
              <a:pPr>
                <a:spcBef>
                  <a:spcPct val="40000"/>
                </a:spcBef>
                <a:buClrTx/>
                <a:buSzPct val="90000"/>
                <a:buFont typeface="Arial" panose="020B0604020202020204" pitchFamily="34" charset="0"/>
                <a:buChar char="•"/>
              </a:pPr>
              <a:r>
                <a:rPr lang="ja-JP" altLang="en-US" sz="1100" dirty="0">
                  <a:latin typeface="+mn-lt"/>
                </a:rPr>
                <a:t>“</a:t>
              </a:r>
              <a:r>
                <a:rPr lang="en-US" altLang="ja-JP" sz="1100" dirty="0">
                  <a:latin typeface="+mn-lt"/>
                </a:rPr>
                <a:t>Supplier management zones,</a:t>
              </a:r>
              <a:r>
                <a:rPr lang="ja-JP" altLang="en-US" sz="1100" dirty="0">
                  <a:latin typeface="+mn-lt"/>
                </a:rPr>
                <a:t>”</a:t>
              </a:r>
              <a:r>
                <a:rPr lang="en-US" altLang="ja-JP" sz="1100" dirty="0">
                  <a:latin typeface="+mn-lt"/>
                </a:rPr>
                <a:t> based on relationship lead times, indicate level of flexibility available</a:t>
              </a:r>
            </a:p>
            <a:p>
              <a:pPr>
                <a:spcBef>
                  <a:spcPct val="40000"/>
                </a:spcBef>
                <a:buClrTx/>
                <a:buSzPct val="90000"/>
                <a:buFont typeface="Arial" panose="020B0604020202020204" pitchFamily="34" charset="0"/>
                <a:buChar char="•"/>
              </a:pPr>
              <a:r>
                <a:rPr lang="en-US" altLang="en-US" sz="1100" dirty="0">
                  <a:latin typeface="+mn-lt"/>
                </a:rPr>
                <a:t>Based on the product or product family, understanding </a:t>
              </a:r>
              <a:r>
                <a:rPr lang="ja-JP" altLang="en-US" sz="1100" dirty="0">
                  <a:latin typeface="+mn-lt"/>
                </a:rPr>
                <a:t>“</a:t>
              </a:r>
              <a:r>
                <a:rPr lang="en-US" altLang="ja-JP" sz="1100" dirty="0">
                  <a:latin typeface="+mn-lt"/>
                </a:rPr>
                <a:t>where</a:t>
              </a:r>
              <a:r>
                <a:rPr lang="ja-JP" altLang="en-US" sz="1100" dirty="0">
                  <a:latin typeface="+mn-lt"/>
                </a:rPr>
                <a:t>”</a:t>
              </a:r>
              <a:r>
                <a:rPr lang="en-US" altLang="ja-JP" sz="1100" dirty="0">
                  <a:latin typeface="+mn-lt"/>
                </a:rPr>
                <a:t> supply planning is in the zone is critical</a:t>
              </a:r>
            </a:p>
            <a:p>
              <a:pPr>
                <a:spcBef>
                  <a:spcPct val="40000"/>
                </a:spcBef>
                <a:buClrTx/>
                <a:buSzPct val="90000"/>
                <a:buFont typeface="Arial" panose="020B0604020202020204" pitchFamily="34" charset="0"/>
                <a:buChar char="•"/>
              </a:pPr>
              <a:r>
                <a:rPr lang="en-US" altLang="en-US" sz="1100" dirty="0">
                  <a:latin typeface="+mn-lt"/>
                </a:rPr>
                <a:t>If there is a sudden up shift in demand, increasing raw material purchases is mandatory </a:t>
              </a:r>
              <a:r>
                <a:rPr lang="ja-JP" altLang="en-US" sz="1100" dirty="0">
                  <a:latin typeface="+mn-lt"/>
                </a:rPr>
                <a:t>“</a:t>
              </a:r>
              <a:r>
                <a:rPr lang="en-US" altLang="ja-JP" sz="1100" dirty="0">
                  <a:latin typeface="+mn-lt"/>
                </a:rPr>
                <a:t>if</a:t>
              </a:r>
              <a:r>
                <a:rPr lang="ja-JP" altLang="en-US" sz="1100" dirty="0">
                  <a:latin typeface="+mn-lt"/>
                </a:rPr>
                <a:t>”</a:t>
              </a:r>
              <a:r>
                <a:rPr lang="en-US" altLang="ja-JP" sz="1100" dirty="0">
                  <a:latin typeface="+mn-lt"/>
                </a:rPr>
                <a:t> possible based on relationships &amp; </a:t>
              </a:r>
              <a:r>
                <a:rPr lang="en-US" altLang="ja-JP" sz="1100" dirty="0" err="1">
                  <a:latin typeface="+mn-lt"/>
                </a:rPr>
                <a:t>leadtimes</a:t>
              </a:r>
              <a:endParaRPr lang="en-US" altLang="ja-JP" sz="1100" dirty="0">
                <a:latin typeface="+mn-lt"/>
              </a:endParaRPr>
            </a:p>
            <a:p>
              <a:pPr>
                <a:spcBef>
                  <a:spcPct val="40000"/>
                </a:spcBef>
                <a:buClrTx/>
                <a:buSzPct val="90000"/>
                <a:buFont typeface="Arial" panose="020B0604020202020204" pitchFamily="34" charset="0"/>
                <a:buChar char="•"/>
              </a:pPr>
              <a:r>
                <a:rPr lang="en-US" altLang="en-US" sz="1100" dirty="0">
                  <a:latin typeface="+mn-lt"/>
                </a:rPr>
                <a:t>For key decreases in demand, unloading potentially excessive materials purchases is desirable if the flexibility exists</a:t>
              </a:r>
            </a:p>
            <a:p>
              <a:pPr>
                <a:spcBef>
                  <a:spcPct val="40000"/>
                </a:spcBef>
                <a:buClrTx/>
                <a:buSzPct val="90000"/>
                <a:buFont typeface="Arial" panose="020B0604020202020204" pitchFamily="34" charset="0"/>
                <a:buChar char="•"/>
              </a:pPr>
              <a:r>
                <a:rPr lang="en-US" altLang="en-US" sz="1100" dirty="0">
                  <a:latin typeface="+mn-lt"/>
                </a:rPr>
                <a:t>Emphasizes the close, integrated relationships supply planners must have with their key suppliers</a:t>
              </a:r>
              <a:endParaRPr lang="en-US" altLang="en-US" sz="1100" b="0" dirty="0">
                <a:latin typeface="+mn-lt"/>
              </a:endParaRPr>
            </a:p>
          </p:txBody>
        </p:sp>
        <p:sp>
          <p:nvSpPr>
            <p:cNvPr id="24" name="Text Box 32">
              <a:extLst>
                <a:ext uri="{FF2B5EF4-FFF2-40B4-BE49-F238E27FC236}">
                  <a16:creationId xmlns:a16="http://schemas.microsoft.com/office/drawing/2014/main" id="{3B3A8181-3225-752C-E89B-37B499E162C5}"/>
                </a:ext>
              </a:extLst>
            </p:cNvPr>
            <p:cNvSpPr txBox="1">
              <a:spLocks noChangeArrowheads="1"/>
            </p:cNvSpPr>
            <p:nvPr/>
          </p:nvSpPr>
          <p:spPr bwMode="auto">
            <a:xfrm>
              <a:off x="829876" y="5776913"/>
              <a:ext cx="4479111" cy="26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ja-JP" altLang="en-US" sz="1400" i="1" dirty="0">
                  <a:latin typeface="+mn-lt"/>
                </a:rPr>
                <a:t>“</a:t>
              </a:r>
              <a:r>
                <a:rPr lang="en-US" altLang="ja-JP" sz="1400" i="1" dirty="0">
                  <a:latin typeface="+mn-lt"/>
                </a:rPr>
                <a:t>Know What We Can Change, When We Can Change It</a:t>
              </a:r>
              <a:r>
                <a:rPr lang="ja-JP" altLang="en-US" sz="1400" i="1" dirty="0">
                  <a:latin typeface="+mn-lt"/>
                </a:rPr>
                <a:t>”</a:t>
              </a:r>
              <a:endParaRPr lang="en-US" altLang="en-US" sz="1400" i="1" dirty="0">
                <a:latin typeface="+mn-lt"/>
              </a:endParaRPr>
            </a:p>
          </p:txBody>
        </p:sp>
      </p:grpSp>
      <p:grpSp>
        <p:nvGrpSpPr>
          <p:cNvPr id="26" name="Group 51">
            <a:extLst>
              <a:ext uri="{FF2B5EF4-FFF2-40B4-BE49-F238E27FC236}">
                <a16:creationId xmlns:a16="http://schemas.microsoft.com/office/drawing/2014/main" id="{06C2017B-8D8D-EF89-C8D1-6C319F3ABA97}"/>
              </a:ext>
            </a:extLst>
          </p:cNvPr>
          <p:cNvGrpSpPr>
            <a:grpSpLocks/>
          </p:cNvGrpSpPr>
          <p:nvPr/>
        </p:nvGrpSpPr>
        <p:grpSpPr bwMode="auto">
          <a:xfrm>
            <a:off x="8420088" y="5628516"/>
            <a:ext cx="2933712" cy="650333"/>
            <a:chOff x="676" y="3874"/>
            <a:chExt cx="1500" cy="392"/>
          </a:xfrm>
        </p:grpSpPr>
        <p:sp>
          <p:nvSpPr>
            <p:cNvPr id="27" name="Line 35">
              <a:extLst>
                <a:ext uri="{FF2B5EF4-FFF2-40B4-BE49-F238E27FC236}">
                  <a16:creationId xmlns:a16="http://schemas.microsoft.com/office/drawing/2014/main" id="{8C8C30AF-A9FF-7A7C-694A-4278788069BE}"/>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36">
              <a:extLst>
                <a:ext uri="{FF2B5EF4-FFF2-40B4-BE49-F238E27FC236}">
                  <a16:creationId xmlns:a16="http://schemas.microsoft.com/office/drawing/2014/main" id="{A1386836-7F29-A0F1-C90B-FCED1EAB3400}"/>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37">
              <a:extLst>
                <a:ext uri="{FF2B5EF4-FFF2-40B4-BE49-F238E27FC236}">
                  <a16:creationId xmlns:a16="http://schemas.microsoft.com/office/drawing/2014/main" id="{5493155A-D4A3-72CA-FB59-CC1BBE3004EB}"/>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Rectangle 38">
              <a:extLst>
                <a:ext uri="{FF2B5EF4-FFF2-40B4-BE49-F238E27FC236}">
                  <a16:creationId xmlns:a16="http://schemas.microsoft.com/office/drawing/2014/main" id="{649E68EF-BCF7-466A-A0F4-EC1444CB8C19}"/>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45" name="Rectangle 39">
              <a:extLst>
                <a:ext uri="{FF2B5EF4-FFF2-40B4-BE49-F238E27FC236}">
                  <a16:creationId xmlns:a16="http://schemas.microsoft.com/office/drawing/2014/main" id="{2E48270C-AD7D-08AB-2964-E2CF06CBECA9}"/>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46" name="Rectangle 40">
              <a:extLst>
                <a:ext uri="{FF2B5EF4-FFF2-40B4-BE49-F238E27FC236}">
                  <a16:creationId xmlns:a16="http://schemas.microsoft.com/office/drawing/2014/main" id="{A168F3EA-956E-86E3-91EE-2AA696FE097A}"/>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47" name="Rectangle 41">
              <a:extLst>
                <a:ext uri="{FF2B5EF4-FFF2-40B4-BE49-F238E27FC236}">
                  <a16:creationId xmlns:a16="http://schemas.microsoft.com/office/drawing/2014/main" id="{7DF51AFC-C1B6-B751-4765-FC50D2745756}"/>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48" name="AutoShape 42">
              <a:extLst>
                <a:ext uri="{FF2B5EF4-FFF2-40B4-BE49-F238E27FC236}">
                  <a16:creationId xmlns:a16="http://schemas.microsoft.com/office/drawing/2014/main" id="{62CEA016-ADF3-F26D-5C7D-1246A3BD7008}"/>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49" name="Rectangle 43">
              <a:extLst>
                <a:ext uri="{FF2B5EF4-FFF2-40B4-BE49-F238E27FC236}">
                  <a16:creationId xmlns:a16="http://schemas.microsoft.com/office/drawing/2014/main" id="{4362A786-36FD-84AC-2197-C112045A7B4E}"/>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50" name="Rectangle 44">
              <a:extLst>
                <a:ext uri="{FF2B5EF4-FFF2-40B4-BE49-F238E27FC236}">
                  <a16:creationId xmlns:a16="http://schemas.microsoft.com/office/drawing/2014/main" id="{6AB9772F-2DE4-4E99-8473-919B9488C880}"/>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51" name="Rectangle 45">
              <a:extLst>
                <a:ext uri="{FF2B5EF4-FFF2-40B4-BE49-F238E27FC236}">
                  <a16:creationId xmlns:a16="http://schemas.microsoft.com/office/drawing/2014/main" id="{EEFC280B-1387-E046-4C11-1FD00460BF10}"/>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52" name="Rectangle 46">
              <a:extLst>
                <a:ext uri="{FF2B5EF4-FFF2-40B4-BE49-F238E27FC236}">
                  <a16:creationId xmlns:a16="http://schemas.microsoft.com/office/drawing/2014/main" id="{BFF4E90C-B82F-603E-9247-B16E8B5F379C}"/>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53" name="Rectangle 47">
              <a:extLst>
                <a:ext uri="{FF2B5EF4-FFF2-40B4-BE49-F238E27FC236}">
                  <a16:creationId xmlns:a16="http://schemas.microsoft.com/office/drawing/2014/main" id="{31389B2B-A7D0-8BCC-0742-BA8B4A93A8C5}"/>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721278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 Base Analysis:  </a:t>
            </a:r>
            <a:br>
              <a:rPr lang="en-US" sz="3600" dirty="0"/>
            </a:br>
            <a:r>
              <a:rPr lang="en-US" sz="3600" dirty="0"/>
              <a:t>Developing The Most Appropriate Supplier Plan</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Armed with lead time data, zone positioning and 3d-party alternatives, supply team members can then develop the most appropriate raw materials plans by adjusting purchase levels (where possible) and confirming insurmountable short-term hurdles.</a:t>
            </a:r>
          </a:p>
        </p:txBody>
      </p:sp>
      <p:grpSp>
        <p:nvGrpSpPr>
          <p:cNvPr id="87" name="Group 86">
            <a:extLst>
              <a:ext uri="{FF2B5EF4-FFF2-40B4-BE49-F238E27FC236}">
                <a16:creationId xmlns:a16="http://schemas.microsoft.com/office/drawing/2014/main" id="{9A87D05B-C712-F015-AD37-C33905A217DB}"/>
              </a:ext>
            </a:extLst>
          </p:cNvPr>
          <p:cNvGrpSpPr/>
          <p:nvPr/>
        </p:nvGrpSpPr>
        <p:grpSpPr>
          <a:xfrm>
            <a:off x="635459" y="1904241"/>
            <a:ext cx="8322476" cy="4012941"/>
            <a:chOff x="635459" y="1904241"/>
            <a:chExt cx="8322476" cy="4012941"/>
          </a:xfrm>
        </p:grpSpPr>
        <p:grpSp>
          <p:nvGrpSpPr>
            <p:cNvPr id="85" name="Group 84">
              <a:extLst>
                <a:ext uri="{FF2B5EF4-FFF2-40B4-BE49-F238E27FC236}">
                  <a16:creationId xmlns:a16="http://schemas.microsoft.com/office/drawing/2014/main" id="{A2DBAE2D-E92D-F038-84EA-D7DCABDD6317}"/>
                </a:ext>
              </a:extLst>
            </p:cNvPr>
            <p:cNvGrpSpPr/>
            <p:nvPr/>
          </p:nvGrpSpPr>
          <p:grpSpPr>
            <a:xfrm>
              <a:off x="635459" y="1904241"/>
              <a:ext cx="8322476" cy="4012941"/>
              <a:chOff x="747713" y="2311400"/>
              <a:chExt cx="7888287" cy="3724275"/>
            </a:xfrm>
          </p:grpSpPr>
          <p:sp>
            <p:nvSpPr>
              <p:cNvPr id="27" name="Rectangle 5">
                <a:extLst>
                  <a:ext uri="{FF2B5EF4-FFF2-40B4-BE49-F238E27FC236}">
                    <a16:creationId xmlns:a16="http://schemas.microsoft.com/office/drawing/2014/main" id="{20806F59-6279-15B5-50EA-4230F0FF257C}"/>
                  </a:ext>
                </a:extLst>
              </p:cNvPr>
              <p:cNvSpPr>
                <a:spLocks noChangeArrowheads="1"/>
              </p:cNvSpPr>
              <p:nvPr/>
            </p:nvSpPr>
            <p:spPr bwMode="auto">
              <a:xfrm>
                <a:off x="757238" y="2979738"/>
                <a:ext cx="1931987" cy="1030287"/>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2" name="Rectangle 6">
                <a:extLst>
                  <a:ext uri="{FF2B5EF4-FFF2-40B4-BE49-F238E27FC236}">
                    <a16:creationId xmlns:a16="http://schemas.microsoft.com/office/drawing/2014/main" id="{940BC898-063C-C76C-5A75-CC19EEFB6F2D}"/>
                  </a:ext>
                </a:extLst>
              </p:cNvPr>
              <p:cNvSpPr>
                <a:spLocks noChangeArrowheads="1"/>
              </p:cNvSpPr>
              <p:nvPr/>
            </p:nvSpPr>
            <p:spPr bwMode="auto">
              <a:xfrm>
                <a:off x="757238" y="2312988"/>
                <a:ext cx="1925637" cy="247650"/>
              </a:xfrm>
              <a:prstGeom prst="rect">
                <a:avLst/>
              </a:prstGeom>
              <a:solidFill>
                <a:schemeClr val="accent5"/>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Demand Plan Receipt</a:t>
                </a:r>
              </a:p>
            </p:txBody>
          </p:sp>
          <p:sp>
            <p:nvSpPr>
              <p:cNvPr id="43" name="Line 18">
                <a:extLst>
                  <a:ext uri="{FF2B5EF4-FFF2-40B4-BE49-F238E27FC236}">
                    <a16:creationId xmlns:a16="http://schemas.microsoft.com/office/drawing/2014/main" id="{D1BC62FA-3036-7DE1-393E-278268A4B264}"/>
                  </a:ext>
                </a:extLst>
              </p:cNvPr>
              <p:cNvSpPr>
                <a:spLocks noChangeShapeType="1"/>
              </p:cNvSpPr>
              <p:nvPr/>
            </p:nvSpPr>
            <p:spPr bwMode="auto">
              <a:xfrm>
                <a:off x="2819400" y="2311400"/>
                <a:ext cx="4763" cy="365283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4" name="Group 27">
                <a:extLst>
                  <a:ext uri="{FF2B5EF4-FFF2-40B4-BE49-F238E27FC236}">
                    <a16:creationId xmlns:a16="http://schemas.microsoft.com/office/drawing/2014/main" id="{9FFE3FE2-AB41-AB60-17CE-721909A1D22F}"/>
                  </a:ext>
                </a:extLst>
              </p:cNvPr>
              <p:cNvGrpSpPr>
                <a:grpSpLocks/>
              </p:cNvGrpSpPr>
              <p:nvPr/>
            </p:nvGrpSpPr>
            <p:grpSpPr bwMode="auto">
              <a:xfrm>
                <a:off x="3114675" y="2319338"/>
                <a:ext cx="5521325" cy="1706562"/>
                <a:chOff x="1827" y="1580"/>
                <a:chExt cx="3699" cy="1133"/>
              </a:xfrm>
            </p:grpSpPr>
            <p:sp>
              <p:nvSpPr>
                <p:cNvPr id="45" name="AutoShape 10">
                  <a:extLst>
                    <a:ext uri="{FF2B5EF4-FFF2-40B4-BE49-F238E27FC236}">
                      <a16:creationId xmlns:a16="http://schemas.microsoft.com/office/drawing/2014/main" id="{7BEB1084-CAFC-2683-88A8-96C720DB0AB7}"/>
                    </a:ext>
                  </a:extLst>
                </p:cNvPr>
                <p:cNvSpPr>
                  <a:spLocks noChangeArrowheads="1"/>
                </p:cNvSpPr>
                <p:nvPr/>
              </p:nvSpPr>
              <p:spPr bwMode="auto">
                <a:xfrm>
                  <a:off x="4178" y="2196"/>
                  <a:ext cx="1332" cy="165"/>
                </a:xfrm>
                <a:prstGeom prst="homePlate">
                  <a:avLst>
                    <a:gd name="adj" fmla="val 49408"/>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      No Commitment</a:t>
                  </a:r>
                </a:p>
              </p:txBody>
            </p:sp>
            <p:sp>
              <p:nvSpPr>
                <p:cNvPr id="46" name="AutoShape 9">
                  <a:extLst>
                    <a:ext uri="{FF2B5EF4-FFF2-40B4-BE49-F238E27FC236}">
                      <a16:creationId xmlns:a16="http://schemas.microsoft.com/office/drawing/2014/main" id="{7598833C-1E05-EE15-B90A-275693577142}"/>
                    </a:ext>
                  </a:extLst>
                </p:cNvPr>
                <p:cNvSpPr>
                  <a:spLocks noChangeArrowheads="1"/>
                </p:cNvSpPr>
                <p:nvPr/>
              </p:nvSpPr>
              <p:spPr bwMode="auto">
                <a:xfrm>
                  <a:off x="3002" y="2196"/>
                  <a:ext cx="1327" cy="165"/>
                </a:xfrm>
                <a:prstGeom prst="homePlate">
                  <a:avLst>
                    <a:gd name="adj" fmla="val 46393"/>
                  </a:avLst>
                </a:prstGeom>
                <a:solidFill>
                  <a:schemeClr val="accent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000066"/>
                      </a:solidFill>
                      <a:latin typeface="+mn-lt"/>
                    </a:rPr>
                    <a:t>    Flexible Zone</a:t>
                  </a:r>
                </a:p>
              </p:txBody>
            </p:sp>
            <p:sp>
              <p:nvSpPr>
                <p:cNvPr id="47" name="AutoShape 8">
                  <a:extLst>
                    <a:ext uri="{FF2B5EF4-FFF2-40B4-BE49-F238E27FC236}">
                      <a16:creationId xmlns:a16="http://schemas.microsoft.com/office/drawing/2014/main" id="{367E3D22-0F80-CE08-7122-CCCA0A606FC7}"/>
                    </a:ext>
                  </a:extLst>
                </p:cNvPr>
                <p:cNvSpPr>
                  <a:spLocks noChangeArrowheads="1"/>
                </p:cNvSpPr>
                <p:nvPr/>
              </p:nvSpPr>
              <p:spPr bwMode="auto">
                <a:xfrm>
                  <a:off x="1827" y="2196"/>
                  <a:ext cx="1330" cy="165"/>
                </a:xfrm>
                <a:prstGeom prst="homePlate">
                  <a:avLst>
                    <a:gd name="adj" fmla="val 46386"/>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Firm Zone</a:t>
                  </a:r>
                </a:p>
              </p:txBody>
            </p:sp>
            <p:sp>
              <p:nvSpPr>
                <p:cNvPr id="48" name="AutoShape 11">
                  <a:extLst>
                    <a:ext uri="{FF2B5EF4-FFF2-40B4-BE49-F238E27FC236}">
                      <a16:creationId xmlns:a16="http://schemas.microsoft.com/office/drawing/2014/main" id="{F27CA7FA-E438-6F04-0B48-8760C40EF398}"/>
                    </a:ext>
                  </a:extLst>
                </p:cNvPr>
                <p:cNvSpPr>
                  <a:spLocks noChangeArrowheads="1"/>
                </p:cNvSpPr>
                <p:nvPr/>
              </p:nvSpPr>
              <p:spPr bwMode="auto">
                <a:xfrm>
                  <a:off x="1830" y="1865"/>
                  <a:ext cx="3696" cy="170"/>
                </a:xfrm>
                <a:prstGeom prst="homePlate">
                  <a:avLst>
                    <a:gd name="adj" fmla="val 59084"/>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Buying Plan (From Long-Range Forecast)</a:t>
                  </a:r>
                </a:p>
              </p:txBody>
            </p:sp>
            <p:cxnSp>
              <p:nvCxnSpPr>
                <p:cNvPr id="49" name="AutoShape 12">
                  <a:extLst>
                    <a:ext uri="{FF2B5EF4-FFF2-40B4-BE49-F238E27FC236}">
                      <a16:creationId xmlns:a16="http://schemas.microsoft.com/office/drawing/2014/main" id="{99544E67-FA77-C064-C0AA-32521861EC63}"/>
                    </a:ext>
                  </a:extLst>
                </p:cNvPr>
                <p:cNvCxnSpPr>
                  <a:cxnSpLocks noChangeShapeType="1"/>
                  <a:stCxn id="48" idx="2"/>
                  <a:endCxn id="47" idx="0"/>
                </p:cNvCxnSpPr>
                <p:nvPr/>
              </p:nvCxnSpPr>
              <p:spPr bwMode="auto">
                <a:xfrm rot="5400000">
                  <a:off x="2959" y="1528"/>
                  <a:ext cx="163" cy="1172"/>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0" name="AutoShape 14">
                  <a:extLst>
                    <a:ext uri="{FF2B5EF4-FFF2-40B4-BE49-F238E27FC236}">
                      <a16:creationId xmlns:a16="http://schemas.microsoft.com/office/drawing/2014/main" id="{BC1DC101-1D69-0872-10C7-467FBE16A745}"/>
                    </a:ext>
                  </a:extLst>
                </p:cNvPr>
                <p:cNvCxnSpPr>
                  <a:cxnSpLocks noChangeShapeType="1"/>
                  <a:stCxn id="48" idx="2"/>
                  <a:endCxn id="46" idx="0"/>
                </p:cNvCxnSpPr>
                <p:nvPr/>
              </p:nvCxnSpPr>
              <p:spPr bwMode="auto">
                <a:xfrm rot="5400000">
                  <a:off x="3544" y="2113"/>
                  <a:ext cx="164"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 name="AutoShape 15">
                  <a:extLst>
                    <a:ext uri="{FF2B5EF4-FFF2-40B4-BE49-F238E27FC236}">
                      <a16:creationId xmlns:a16="http://schemas.microsoft.com/office/drawing/2014/main" id="{DA545C2B-679B-29D6-19AF-1B6EE94FA6B8}"/>
                    </a:ext>
                  </a:extLst>
                </p:cNvPr>
                <p:cNvCxnSpPr>
                  <a:cxnSpLocks noChangeShapeType="1"/>
                  <a:stCxn id="48" idx="2"/>
                  <a:endCxn id="45" idx="0"/>
                </p:cNvCxnSpPr>
                <p:nvPr/>
              </p:nvCxnSpPr>
              <p:spPr bwMode="auto">
                <a:xfrm rot="16200000" flipH="1">
                  <a:off x="4134" y="1526"/>
                  <a:ext cx="163" cy="1175"/>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2" name="Oval 16">
                  <a:extLst>
                    <a:ext uri="{FF2B5EF4-FFF2-40B4-BE49-F238E27FC236}">
                      <a16:creationId xmlns:a16="http://schemas.microsoft.com/office/drawing/2014/main" id="{0976736A-CFD8-2E2C-D077-FB7006C9EE85}"/>
                    </a:ext>
                  </a:extLst>
                </p:cNvPr>
                <p:cNvSpPr>
                  <a:spLocks noChangeArrowheads="1"/>
                </p:cNvSpPr>
                <p:nvPr/>
              </p:nvSpPr>
              <p:spPr bwMode="auto">
                <a:xfrm>
                  <a:off x="2712" y="1580"/>
                  <a:ext cx="1836" cy="168"/>
                </a:xfrm>
                <a:prstGeom prst="ellipse">
                  <a:avLst/>
                </a:prstGeom>
                <a:solidFill>
                  <a:schemeClr val="accent5"/>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On-Hand Raw Materials Inventory</a:t>
                  </a:r>
                </a:p>
              </p:txBody>
            </p:sp>
            <p:cxnSp>
              <p:nvCxnSpPr>
                <p:cNvPr id="53" name="AutoShape 17">
                  <a:extLst>
                    <a:ext uri="{FF2B5EF4-FFF2-40B4-BE49-F238E27FC236}">
                      <a16:creationId xmlns:a16="http://schemas.microsoft.com/office/drawing/2014/main" id="{D540DA95-4DBA-477A-AD4B-B47C2D11B0F1}"/>
                    </a:ext>
                  </a:extLst>
                </p:cNvPr>
                <p:cNvCxnSpPr>
                  <a:cxnSpLocks noChangeShapeType="1"/>
                  <a:stCxn id="48" idx="0"/>
                  <a:endCxn id="52" idx="4"/>
                </p:cNvCxnSpPr>
                <p:nvPr/>
              </p:nvCxnSpPr>
              <p:spPr bwMode="auto">
                <a:xfrm rot="-5400000">
                  <a:off x="3571" y="1806"/>
                  <a:ext cx="117" cy="1"/>
                </a:xfrm>
                <a:prstGeom prst="bentConnector3">
                  <a:avLst>
                    <a:gd name="adj1" fmla="val 49574"/>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4" name="Rectangle 19">
                  <a:extLst>
                    <a:ext uri="{FF2B5EF4-FFF2-40B4-BE49-F238E27FC236}">
                      <a16:creationId xmlns:a16="http://schemas.microsoft.com/office/drawing/2014/main" id="{09F5024E-CA63-06D2-0CB9-757ED54F9630}"/>
                    </a:ext>
                  </a:extLst>
                </p:cNvPr>
                <p:cNvSpPr>
                  <a:spLocks noChangeArrowheads="1"/>
                </p:cNvSpPr>
                <p:nvPr/>
              </p:nvSpPr>
              <p:spPr bwMode="auto">
                <a:xfrm>
                  <a:off x="1912" y="2445"/>
                  <a:ext cx="592" cy="26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Supplier 1</a:t>
                  </a:r>
                </a:p>
              </p:txBody>
            </p:sp>
            <p:sp>
              <p:nvSpPr>
                <p:cNvPr id="55" name="Rectangle 20">
                  <a:extLst>
                    <a:ext uri="{FF2B5EF4-FFF2-40B4-BE49-F238E27FC236}">
                      <a16:creationId xmlns:a16="http://schemas.microsoft.com/office/drawing/2014/main" id="{A9DFBEBF-FF3E-2948-C996-1B1FB6A83854}"/>
                    </a:ext>
                  </a:extLst>
                </p:cNvPr>
                <p:cNvSpPr>
                  <a:spLocks noChangeArrowheads="1"/>
                </p:cNvSpPr>
                <p:nvPr/>
              </p:nvSpPr>
              <p:spPr bwMode="auto">
                <a:xfrm>
                  <a:off x="2608" y="2445"/>
                  <a:ext cx="592" cy="26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Supplier 2</a:t>
                  </a:r>
                </a:p>
              </p:txBody>
            </p:sp>
            <p:sp>
              <p:nvSpPr>
                <p:cNvPr id="56" name="Rectangle 21">
                  <a:extLst>
                    <a:ext uri="{FF2B5EF4-FFF2-40B4-BE49-F238E27FC236}">
                      <a16:creationId xmlns:a16="http://schemas.microsoft.com/office/drawing/2014/main" id="{8A498948-FD3A-2732-D462-C9F0A3122791}"/>
                    </a:ext>
                  </a:extLst>
                </p:cNvPr>
                <p:cNvSpPr>
                  <a:spLocks noChangeArrowheads="1"/>
                </p:cNvSpPr>
                <p:nvPr/>
              </p:nvSpPr>
              <p:spPr bwMode="auto">
                <a:xfrm>
                  <a:off x="3304" y="2445"/>
                  <a:ext cx="590" cy="26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Supplier 3</a:t>
                  </a:r>
                </a:p>
              </p:txBody>
            </p:sp>
            <p:sp>
              <p:nvSpPr>
                <p:cNvPr id="57" name="Rectangle 22">
                  <a:extLst>
                    <a:ext uri="{FF2B5EF4-FFF2-40B4-BE49-F238E27FC236}">
                      <a16:creationId xmlns:a16="http://schemas.microsoft.com/office/drawing/2014/main" id="{A026B0C2-324A-A025-0D91-B1DAE5FEDC54}"/>
                    </a:ext>
                  </a:extLst>
                </p:cNvPr>
                <p:cNvSpPr>
                  <a:spLocks noChangeArrowheads="1"/>
                </p:cNvSpPr>
                <p:nvPr/>
              </p:nvSpPr>
              <p:spPr bwMode="auto">
                <a:xfrm>
                  <a:off x="4004" y="2445"/>
                  <a:ext cx="592" cy="26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Supplier 4</a:t>
                  </a:r>
                </a:p>
              </p:txBody>
            </p:sp>
            <p:sp>
              <p:nvSpPr>
                <p:cNvPr id="58" name="Rectangle 23">
                  <a:extLst>
                    <a:ext uri="{FF2B5EF4-FFF2-40B4-BE49-F238E27FC236}">
                      <a16:creationId xmlns:a16="http://schemas.microsoft.com/office/drawing/2014/main" id="{3BC08491-414B-313B-5E74-C5C6FBCC6A1B}"/>
                    </a:ext>
                  </a:extLst>
                </p:cNvPr>
                <p:cNvSpPr>
                  <a:spLocks noChangeArrowheads="1"/>
                </p:cNvSpPr>
                <p:nvPr/>
              </p:nvSpPr>
              <p:spPr bwMode="auto">
                <a:xfrm>
                  <a:off x="4700" y="2445"/>
                  <a:ext cx="592" cy="268"/>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Supplier 5</a:t>
                  </a:r>
                </a:p>
              </p:txBody>
            </p:sp>
          </p:grpSp>
          <p:sp>
            <p:nvSpPr>
              <p:cNvPr id="59" name="Line 28">
                <a:extLst>
                  <a:ext uri="{FF2B5EF4-FFF2-40B4-BE49-F238E27FC236}">
                    <a16:creationId xmlns:a16="http://schemas.microsoft.com/office/drawing/2014/main" id="{24D8B20C-D1C3-3F73-D2B6-AF1733B5AE5C}"/>
                  </a:ext>
                </a:extLst>
              </p:cNvPr>
              <p:cNvSpPr>
                <a:spLocks noChangeShapeType="1"/>
              </p:cNvSpPr>
              <p:nvPr/>
            </p:nvSpPr>
            <p:spPr bwMode="auto">
              <a:xfrm>
                <a:off x="3106738" y="4146550"/>
                <a:ext cx="5521325"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Rectangle 29">
                <a:extLst>
                  <a:ext uri="{FF2B5EF4-FFF2-40B4-BE49-F238E27FC236}">
                    <a16:creationId xmlns:a16="http://schemas.microsoft.com/office/drawing/2014/main" id="{6F151E68-131D-B3A9-E3E2-ADFBAC4D60F8}"/>
                  </a:ext>
                </a:extLst>
              </p:cNvPr>
              <p:cNvSpPr>
                <a:spLocks noChangeArrowheads="1"/>
              </p:cNvSpPr>
              <p:nvPr/>
            </p:nvSpPr>
            <p:spPr bwMode="auto">
              <a:xfrm>
                <a:off x="750888" y="4114800"/>
                <a:ext cx="1881187" cy="148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spcBef>
                    <a:spcPct val="25000"/>
                  </a:spcBef>
                  <a:buClr>
                    <a:srgbClr val="0000FF"/>
                  </a:buClr>
                  <a:buFont typeface="Wingdings 2" panose="05020102010507070707" pitchFamily="18" charset="2"/>
                  <a:buChar char="¢"/>
                </a:pPr>
                <a:r>
                  <a:rPr lang="en-US" altLang="en-US" sz="900" dirty="0">
                    <a:latin typeface="+mn-lt"/>
                  </a:rPr>
                  <a:t>Quantified lead times (order-to-receipt)</a:t>
                </a:r>
              </a:p>
              <a:p>
                <a:pPr>
                  <a:lnSpc>
                    <a:spcPct val="95000"/>
                  </a:lnSpc>
                  <a:spcBef>
                    <a:spcPct val="25000"/>
                  </a:spcBef>
                  <a:buClr>
                    <a:srgbClr val="0000FF"/>
                  </a:buClr>
                  <a:buFont typeface="Wingdings 2" panose="05020102010507070707" pitchFamily="18" charset="2"/>
                  <a:buChar char="¢"/>
                </a:pPr>
                <a:r>
                  <a:rPr lang="en-US" altLang="en-US" sz="900" dirty="0">
                    <a:latin typeface="+mn-lt"/>
                  </a:rPr>
                  <a:t>OSCOT for each supplier</a:t>
                </a:r>
              </a:p>
              <a:p>
                <a:pPr>
                  <a:lnSpc>
                    <a:spcPct val="95000"/>
                  </a:lnSpc>
                  <a:spcBef>
                    <a:spcPct val="25000"/>
                  </a:spcBef>
                  <a:buClr>
                    <a:srgbClr val="0000FF"/>
                  </a:buClr>
                  <a:buFont typeface="Wingdings 2" panose="05020102010507070707" pitchFamily="18" charset="2"/>
                  <a:buChar char="¢"/>
                </a:pPr>
                <a:r>
                  <a:rPr lang="en-US" altLang="en-US" sz="900" dirty="0">
                    <a:latin typeface="+mn-lt"/>
                  </a:rPr>
                  <a:t>Quality and reject rate %</a:t>
                </a:r>
                <a:r>
                  <a:rPr lang="ja-JP" altLang="en-US" sz="900" dirty="0">
                    <a:latin typeface="+mn-lt"/>
                  </a:rPr>
                  <a:t>’</a:t>
                </a:r>
                <a:r>
                  <a:rPr lang="en-US" altLang="ja-JP" sz="900" dirty="0">
                    <a:latin typeface="+mn-lt"/>
                  </a:rPr>
                  <a:t>s</a:t>
                </a:r>
              </a:p>
              <a:p>
                <a:pPr>
                  <a:lnSpc>
                    <a:spcPct val="95000"/>
                  </a:lnSpc>
                  <a:spcBef>
                    <a:spcPct val="25000"/>
                  </a:spcBef>
                  <a:buClr>
                    <a:srgbClr val="0000FF"/>
                  </a:buClr>
                  <a:buFont typeface="Wingdings 2" panose="05020102010507070707" pitchFamily="18" charset="2"/>
                  <a:buChar char="¢"/>
                </a:pPr>
                <a:r>
                  <a:rPr lang="en-US" altLang="en-US" sz="900" dirty="0">
                    <a:latin typeface="+mn-lt"/>
                  </a:rPr>
                  <a:t>Material levels on-hand</a:t>
                </a:r>
              </a:p>
              <a:p>
                <a:pPr>
                  <a:lnSpc>
                    <a:spcPct val="95000"/>
                  </a:lnSpc>
                  <a:spcBef>
                    <a:spcPct val="25000"/>
                  </a:spcBef>
                  <a:buClr>
                    <a:srgbClr val="0000FF"/>
                  </a:buClr>
                  <a:buFont typeface="Wingdings 2" panose="05020102010507070707" pitchFamily="18" charset="2"/>
                  <a:buChar char="¢"/>
                </a:pPr>
                <a:r>
                  <a:rPr lang="en-US" altLang="en-US" sz="900" dirty="0">
                    <a:latin typeface="+mn-lt"/>
                  </a:rPr>
                  <a:t>Premium freight charges (if incurred)</a:t>
                </a:r>
              </a:p>
              <a:p>
                <a:pPr>
                  <a:lnSpc>
                    <a:spcPct val="95000"/>
                  </a:lnSpc>
                  <a:spcBef>
                    <a:spcPct val="25000"/>
                  </a:spcBef>
                  <a:buClr>
                    <a:srgbClr val="0000FF"/>
                  </a:buClr>
                  <a:buFont typeface="Wingdings 2" panose="05020102010507070707" pitchFamily="18" charset="2"/>
                  <a:buChar char="¢"/>
                </a:pPr>
                <a:r>
                  <a:rPr lang="en-US" altLang="en-US" sz="900" dirty="0">
                    <a:latin typeface="+mn-lt"/>
                  </a:rPr>
                  <a:t>Non-preferred supplier alternatives</a:t>
                </a:r>
              </a:p>
              <a:p>
                <a:pPr>
                  <a:spcBef>
                    <a:spcPct val="25000"/>
                  </a:spcBef>
                  <a:buClr>
                    <a:srgbClr val="0000FF"/>
                  </a:buClr>
                  <a:buFont typeface="Wingdings 2" panose="05020102010507070707" pitchFamily="18" charset="2"/>
                  <a:buChar char="¢"/>
                </a:pPr>
                <a:endParaRPr lang="en-US" altLang="en-US" sz="900" b="0" dirty="0">
                  <a:latin typeface="+mn-lt"/>
                </a:endParaRPr>
              </a:p>
            </p:txBody>
          </p:sp>
          <p:sp>
            <p:nvSpPr>
              <p:cNvPr id="61" name="Rectangle 30">
                <a:extLst>
                  <a:ext uri="{FF2B5EF4-FFF2-40B4-BE49-F238E27FC236}">
                    <a16:creationId xmlns:a16="http://schemas.microsoft.com/office/drawing/2014/main" id="{70BFD981-F9A9-624D-B573-C971A7835D85}"/>
                  </a:ext>
                </a:extLst>
              </p:cNvPr>
              <p:cNvSpPr>
                <a:spLocks noChangeArrowheads="1"/>
              </p:cNvSpPr>
              <p:nvPr/>
            </p:nvSpPr>
            <p:spPr bwMode="auto">
              <a:xfrm>
                <a:off x="755650" y="4106863"/>
                <a:ext cx="1931988" cy="14351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2" name="Rectangle 32">
                <a:extLst>
                  <a:ext uri="{FF2B5EF4-FFF2-40B4-BE49-F238E27FC236}">
                    <a16:creationId xmlns:a16="http://schemas.microsoft.com/office/drawing/2014/main" id="{BEFA6541-4306-3150-83A7-C53F987868F3}"/>
                  </a:ext>
                </a:extLst>
              </p:cNvPr>
              <p:cNvSpPr>
                <a:spLocks noChangeArrowheads="1"/>
              </p:cNvSpPr>
              <p:nvPr/>
            </p:nvSpPr>
            <p:spPr bwMode="auto">
              <a:xfrm>
                <a:off x="758825" y="5688013"/>
                <a:ext cx="1925638" cy="247650"/>
              </a:xfrm>
              <a:prstGeom prst="rect">
                <a:avLst/>
              </a:prstGeom>
              <a:solidFill>
                <a:schemeClr val="accent5"/>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Supplier-Specific Planning</a:t>
                </a:r>
              </a:p>
            </p:txBody>
          </p:sp>
          <p:cxnSp>
            <p:nvCxnSpPr>
              <p:cNvPr id="63" name="AutoShape 33">
                <a:extLst>
                  <a:ext uri="{FF2B5EF4-FFF2-40B4-BE49-F238E27FC236}">
                    <a16:creationId xmlns:a16="http://schemas.microsoft.com/office/drawing/2014/main" id="{4903B1AA-0E40-38B8-CFDA-27313A635357}"/>
                  </a:ext>
                </a:extLst>
              </p:cNvPr>
              <p:cNvCxnSpPr>
                <a:cxnSpLocks noChangeShapeType="1"/>
              </p:cNvCxnSpPr>
              <p:nvPr/>
            </p:nvCxnSpPr>
            <p:spPr bwMode="auto">
              <a:xfrm rot="10800000" flipH="1" flipV="1">
                <a:off x="747713" y="3576638"/>
                <a:ext cx="3175" cy="1568450"/>
              </a:xfrm>
              <a:prstGeom prst="bentConnector3">
                <a:avLst>
                  <a:gd name="adj1" fmla="val -710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4" name="Rectangle 37">
                <a:extLst>
                  <a:ext uri="{FF2B5EF4-FFF2-40B4-BE49-F238E27FC236}">
                    <a16:creationId xmlns:a16="http://schemas.microsoft.com/office/drawing/2014/main" id="{2F0098A6-2032-5650-7F53-127D643F9A00}"/>
                  </a:ext>
                </a:extLst>
              </p:cNvPr>
              <p:cNvSpPr>
                <a:spLocks noChangeArrowheads="1"/>
              </p:cNvSpPr>
              <p:nvPr/>
            </p:nvSpPr>
            <p:spPr bwMode="auto">
              <a:xfrm>
                <a:off x="752475" y="2636838"/>
                <a:ext cx="1925638" cy="247650"/>
              </a:xfrm>
              <a:prstGeom prst="rect">
                <a:avLst/>
              </a:prstGeom>
              <a:solidFill>
                <a:schemeClr val="accent5"/>
              </a:solidFill>
              <a:ln w="12700">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Low – Expected -- Excess</a:t>
                </a:r>
              </a:p>
            </p:txBody>
          </p:sp>
          <p:cxnSp>
            <p:nvCxnSpPr>
              <p:cNvPr id="65" name="AutoShape 38">
                <a:extLst>
                  <a:ext uri="{FF2B5EF4-FFF2-40B4-BE49-F238E27FC236}">
                    <a16:creationId xmlns:a16="http://schemas.microsoft.com/office/drawing/2014/main" id="{B20CC88B-491C-B6F0-0003-910435131DC6}"/>
                  </a:ext>
                </a:extLst>
              </p:cNvPr>
              <p:cNvCxnSpPr>
                <a:cxnSpLocks noChangeShapeType="1"/>
              </p:cNvCxnSpPr>
              <p:nvPr/>
            </p:nvCxnSpPr>
            <p:spPr bwMode="auto">
              <a:xfrm rot="10800000" flipV="1">
                <a:off x="752475" y="2395538"/>
                <a:ext cx="4763" cy="323850"/>
              </a:xfrm>
              <a:prstGeom prst="bentConnector3">
                <a:avLst>
                  <a:gd name="adj1" fmla="val 490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6" name="AutoShape 41">
                <a:extLst>
                  <a:ext uri="{FF2B5EF4-FFF2-40B4-BE49-F238E27FC236}">
                    <a16:creationId xmlns:a16="http://schemas.microsoft.com/office/drawing/2014/main" id="{3E710D57-9954-3577-E135-A3E846F581E8}"/>
                  </a:ext>
                </a:extLst>
              </p:cNvPr>
              <p:cNvCxnSpPr>
                <a:cxnSpLocks noChangeShapeType="1"/>
              </p:cNvCxnSpPr>
              <p:nvPr/>
            </p:nvCxnSpPr>
            <p:spPr bwMode="auto">
              <a:xfrm rot="10800000" flipV="1">
                <a:off x="747713" y="2782888"/>
                <a:ext cx="4762" cy="735012"/>
              </a:xfrm>
              <a:prstGeom prst="bentConnector3">
                <a:avLst>
                  <a:gd name="adj1" fmla="val 480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7" name="AutoShape 42">
                <a:extLst>
                  <a:ext uri="{FF2B5EF4-FFF2-40B4-BE49-F238E27FC236}">
                    <a16:creationId xmlns:a16="http://schemas.microsoft.com/office/drawing/2014/main" id="{E0845160-6499-9490-10D8-7A0BF3094D81}"/>
                  </a:ext>
                </a:extLst>
              </p:cNvPr>
              <p:cNvCxnSpPr>
                <a:cxnSpLocks noChangeShapeType="1"/>
                <a:stCxn id="61" idx="2"/>
                <a:endCxn id="62" idx="0"/>
              </p:cNvCxnSpPr>
              <p:nvPr/>
            </p:nvCxnSpPr>
            <p:spPr bwMode="auto">
              <a:xfrm>
                <a:off x="1722438" y="5551488"/>
                <a:ext cx="0" cy="13652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8" name="Rectangle 43">
                <a:extLst>
                  <a:ext uri="{FF2B5EF4-FFF2-40B4-BE49-F238E27FC236}">
                    <a16:creationId xmlns:a16="http://schemas.microsoft.com/office/drawing/2014/main" id="{E92B55D7-CAF3-371A-AA33-43214367A2DB}"/>
                  </a:ext>
                </a:extLst>
              </p:cNvPr>
              <p:cNvSpPr>
                <a:spLocks noChangeArrowheads="1"/>
              </p:cNvSpPr>
              <p:nvPr/>
            </p:nvSpPr>
            <p:spPr bwMode="auto">
              <a:xfrm>
                <a:off x="3168650" y="4267200"/>
                <a:ext cx="1258888" cy="2111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dirty="0">
                    <a:solidFill>
                      <a:schemeClr val="bg1"/>
                    </a:solidFill>
                    <a:latin typeface="+mn-lt"/>
                  </a:rPr>
                  <a:t>On Plan</a:t>
                </a:r>
              </a:p>
            </p:txBody>
          </p:sp>
          <p:sp>
            <p:nvSpPr>
              <p:cNvPr id="69" name="Rectangle 45">
                <a:extLst>
                  <a:ext uri="{FF2B5EF4-FFF2-40B4-BE49-F238E27FC236}">
                    <a16:creationId xmlns:a16="http://schemas.microsoft.com/office/drawing/2014/main" id="{58146932-D36A-1B18-3D17-5CEB0608A0A6}"/>
                  </a:ext>
                </a:extLst>
              </p:cNvPr>
              <p:cNvSpPr>
                <a:spLocks noChangeArrowheads="1"/>
              </p:cNvSpPr>
              <p:nvPr/>
            </p:nvSpPr>
            <p:spPr bwMode="auto">
              <a:xfrm>
                <a:off x="3171825" y="4538663"/>
                <a:ext cx="1258888" cy="2111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dirty="0">
                    <a:solidFill>
                      <a:schemeClr val="bg1"/>
                    </a:solidFill>
                    <a:latin typeface="+mn-lt"/>
                  </a:rPr>
                  <a:t>Excess Demand</a:t>
                </a:r>
              </a:p>
            </p:txBody>
          </p:sp>
          <p:sp>
            <p:nvSpPr>
              <p:cNvPr id="70" name="Rectangle 46">
                <a:extLst>
                  <a:ext uri="{FF2B5EF4-FFF2-40B4-BE49-F238E27FC236}">
                    <a16:creationId xmlns:a16="http://schemas.microsoft.com/office/drawing/2014/main" id="{2878CF5B-B134-6E1E-A0AD-8F4075A3A218}"/>
                  </a:ext>
                </a:extLst>
              </p:cNvPr>
              <p:cNvSpPr>
                <a:spLocks noChangeArrowheads="1"/>
              </p:cNvSpPr>
              <p:nvPr/>
            </p:nvSpPr>
            <p:spPr bwMode="auto">
              <a:xfrm>
                <a:off x="3171825" y="4814888"/>
                <a:ext cx="1258888" cy="2111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dirty="0">
                    <a:solidFill>
                      <a:schemeClr val="bg1"/>
                    </a:solidFill>
                    <a:latin typeface="+mn-lt"/>
                  </a:rPr>
                  <a:t>Diminished Demand</a:t>
                </a:r>
              </a:p>
            </p:txBody>
          </p:sp>
          <p:sp>
            <p:nvSpPr>
              <p:cNvPr id="71" name="Rectangle 47">
                <a:extLst>
                  <a:ext uri="{FF2B5EF4-FFF2-40B4-BE49-F238E27FC236}">
                    <a16:creationId xmlns:a16="http://schemas.microsoft.com/office/drawing/2014/main" id="{8E6BA810-19BA-7EC1-FB3C-089792582539}"/>
                  </a:ext>
                </a:extLst>
              </p:cNvPr>
              <p:cNvSpPr>
                <a:spLocks noChangeArrowheads="1"/>
              </p:cNvSpPr>
              <p:nvPr/>
            </p:nvSpPr>
            <p:spPr bwMode="auto">
              <a:xfrm>
                <a:off x="4700588" y="4398963"/>
                <a:ext cx="819150" cy="4984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dirty="0">
                    <a:solidFill>
                      <a:schemeClr val="bg1"/>
                    </a:solidFill>
                    <a:latin typeface="+mn-lt"/>
                  </a:rPr>
                  <a:t>Raw</a:t>
                </a:r>
              </a:p>
              <a:p>
                <a:pPr algn="ctr">
                  <a:lnSpc>
                    <a:spcPct val="80000"/>
                  </a:lnSpc>
                  <a:buClrTx/>
                  <a:buSzTx/>
                  <a:buFontTx/>
                  <a:buNone/>
                </a:pPr>
                <a:r>
                  <a:rPr lang="en-US" altLang="en-US" sz="900" dirty="0">
                    <a:solidFill>
                      <a:schemeClr val="bg1"/>
                    </a:solidFill>
                    <a:latin typeface="+mn-lt"/>
                  </a:rPr>
                  <a:t>Materials</a:t>
                </a:r>
              </a:p>
              <a:p>
                <a:pPr algn="ctr">
                  <a:lnSpc>
                    <a:spcPct val="80000"/>
                  </a:lnSpc>
                  <a:buClrTx/>
                  <a:buSzTx/>
                  <a:buFontTx/>
                  <a:buNone/>
                </a:pPr>
                <a:r>
                  <a:rPr lang="en-US" altLang="en-US" sz="900" dirty="0">
                    <a:solidFill>
                      <a:schemeClr val="bg1"/>
                    </a:solidFill>
                    <a:latin typeface="+mn-lt"/>
                  </a:rPr>
                  <a:t>Stocks</a:t>
                </a:r>
              </a:p>
            </p:txBody>
          </p:sp>
          <p:cxnSp>
            <p:nvCxnSpPr>
              <p:cNvPr id="72" name="AutoShape 48">
                <a:extLst>
                  <a:ext uri="{FF2B5EF4-FFF2-40B4-BE49-F238E27FC236}">
                    <a16:creationId xmlns:a16="http://schemas.microsoft.com/office/drawing/2014/main" id="{1207D7C8-18F0-F687-319F-1927A9DF7710}"/>
                  </a:ext>
                </a:extLst>
              </p:cNvPr>
              <p:cNvCxnSpPr>
                <a:cxnSpLocks noChangeShapeType="1"/>
                <a:stCxn id="68" idx="3"/>
                <a:endCxn id="71" idx="1"/>
              </p:cNvCxnSpPr>
              <p:nvPr/>
            </p:nvCxnSpPr>
            <p:spPr bwMode="auto">
              <a:xfrm>
                <a:off x="4427538" y="4371975"/>
                <a:ext cx="273050" cy="276225"/>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3" name="AutoShape 49">
                <a:extLst>
                  <a:ext uri="{FF2B5EF4-FFF2-40B4-BE49-F238E27FC236}">
                    <a16:creationId xmlns:a16="http://schemas.microsoft.com/office/drawing/2014/main" id="{4F9F3B8B-F997-EE84-492D-2EF2905FAE01}"/>
                  </a:ext>
                </a:extLst>
              </p:cNvPr>
              <p:cNvCxnSpPr>
                <a:cxnSpLocks noChangeShapeType="1"/>
                <a:stCxn id="70" idx="3"/>
                <a:endCxn id="71" idx="1"/>
              </p:cNvCxnSpPr>
              <p:nvPr/>
            </p:nvCxnSpPr>
            <p:spPr bwMode="auto">
              <a:xfrm flipV="1">
                <a:off x="4430713" y="4648200"/>
                <a:ext cx="269875" cy="27305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4" name="AutoShape 50">
                <a:extLst>
                  <a:ext uri="{FF2B5EF4-FFF2-40B4-BE49-F238E27FC236}">
                    <a16:creationId xmlns:a16="http://schemas.microsoft.com/office/drawing/2014/main" id="{0856DB38-2A69-FBDB-7DB0-25459D7FCE6E}"/>
                  </a:ext>
                </a:extLst>
              </p:cNvPr>
              <p:cNvCxnSpPr>
                <a:cxnSpLocks noChangeShapeType="1"/>
                <a:stCxn id="69" idx="3"/>
                <a:endCxn id="71" idx="1"/>
              </p:cNvCxnSpPr>
              <p:nvPr/>
            </p:nvCxnSpPr>
            <p:spPr bwMode="auto">
              <a:xfrm>
                <a:off x="4430713" y="4643438"/>
                <a:ext cx="269875" cy="4762"/>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75" name="Rectangle 51">
                <a:extLst>
                  <a:ext uri="{FF2B5EF4-FFF2-40B4-BE49-F238E27FC236}">
                    <a16:creationId xmlns:a16="http://schemas.microsoft.com/office/drawing/2014/main" id="{20064EA2-D31D-631A-B058-E8AAC3730749}"/>
                  </a:ext>
                </a:extLst>
              </p:cNvPr>
              <p:cNvSpPr>
                <a:spLocks noChangeArrowheads="1"/>
              </p:cNvSpPr>
              <p:nvPr/>
            </p:nvSpPr>
            <p:spPr bwMode="auto">
              <a:xfrm>
                <a:off x="5729288" y="4403725"/>
                <a:ext cx="819150" cy="4984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dirty="0">
                    <a:solidFill>
                      <a:schemeClr val="bg1"/>
                    </a:solidFill>
                    <a:latin typeface="+mn-lt"/>
                  </a:rPr>
                  <a:t>Supplier</a:t>
                </a:r>
              </a:p>
              <a:p>
                <a:pPr algn="ctr">
                  <a:lnSpc>
                    <a:spcPct val="80000"/>
                  </a:lnSpc>
                  <a:buClrTx/>
                  <a:buSzTx/>
                  <a:buFontTx/>
                  <a:buNone/>
                </a:pPr>
                <a:r>
                  <a:rPr lang="en-US" altLang="en-US" sz="900" dirty="0">
                    <a:solidFill>
                      <a:schemeClr val="bg1"/>
                    </a:solidFill>
                    <a:latin typeface="+mn-lt"/>
                  </a:rPr>
                  <a:t>Expedite Or</a:t>
                </a:r>
              </a:p>
              <a:p>
                <a:pPr algn="ctr">
                  <a:lnSpc>
                    <a:spcPct val="80000"/>
                  </a:lnSpc>
                  <a:buClrTx/>
                  <a:buSzTx/>
                  <a:buFontTx/>
                  <a:buNone/>
                </a:pPr>
                <a:r>
                  <a:rPr lang="en-US" altLang="en-US" sz="900" dirty="0">
                    <a:solidFill>
                      <a:schemeClr val="bg1"/>
                    </a:solidFill>
                    <a:latin typeface="+mn-lt"/>
                  </a:rPr>
                  <a:t>Cancellation</a:t>
                </a:r>
              </a:p>
            </p:txBody>
          </p:sp>
          <p:cxnSp>
            <p:nvCxnSpPr>
              <p:cNvPr id="76" name="AutoShape 52">
                <a:extLst>
                  <a:ext uri="{FF2B5EF4-FFF2-40B4-BE49-F238E27FC236}">
                    <a16:creationId xmlns:a16="http://schemas.microsoft.com/office/drawing/2014/main" id="{4EC7A35C-E4C3-58D4-3500-E473090D8A9F}"/>
                  </a:ext>
                </a:extLst>
              </p:cNvPr>
              <p:cNvCxnSpPr>
                <a:cxnSpLocks noChangeShapeType="1"/>
                <a:stCxn id="71" idx="3"/>
                <a:endCxn id="75" idx="1"/>
              </p:cNvCxnSpPr>
              <p:nvPr/>
            </p:nvCxnSpPr>
            <p:spPr bwMode="auto">
              <a:xfrm>
                <a:off x="5519738" y="4648200"/>
                <a:ext cx="209550" cy="476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7" name="Rectangle 53">
                <a:extLst>
                  <a:ext uri="{FF2B5EF4-FFF2-40B4-BE49-F238E27FC236}">
                    <a16:creationId xmlns:a16="http://schemas.microsoft.com/office/drawing/2014/main" id="{BD307A65-89EF-8AFC-9693-293C9D41FF71}"/>
                  </a:ext>
                </a:extLst>
              </p:cNvPr>
              <p:cNvSpPr>
                <a:spLocks noChangeArrowheads="1"/>
              </p:cNvSpPr>
              <p:nvPr/>
            </p:nvSpPr>
            <p:spPr bwMode="auto">
              <a:xfrm>
                <a:off x="6757988" y="4403725"/>
                <a:ext cx="819150" cy="4984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3d-Party</a:t>
                </a:r>
              </a:p>
              <a:p>
                <a:pPr algn="ctr">
                  <a:lnSpc>
                    <a:spcPct val="80000"/>
                  </a:lnSpc>
                  <a:buClrTx/>
                  <a:buSzTx/>
                  <a:buFontTx/>
                  <a:buNone/>
                </a:pPr>
                <a:r>
                  <a:rPr lang="en-US" altLang="en-US" sz="900">
                    <a:solidFill>
                      <a:schemeClr val="bg1"/>
                    </a:solidFill>
                    <a:latin typeface="+mn-lt"/>
                  </a:rPr>
                  <a:t>Alternative?</a:t>
                </a:r>
              </a:p>
            </p:txBody>
          </p:sp>
          <p:cxnSp>
            <p:nvCxnSpPr>
              <p:cNvPr id="78" name="AutoShape 54">
                <a:extLst>
                  <a:ext uri="{FF2B5EF4-FFF2-40B4-BE49-F238E27FC236}">
                    <a16:creationId xmlns:a16="http://schemas.microsoft.com/office/drawing/2014/main" id="{66A9A3A0-A37E-116D-63DF-248191A20B7E}"/>
                  </a:ext>
                </a:extLst>
              </p:cNvPr>
              <p:cNvCxnSpPr>
                <a:cxnSpLocks noChangeShapeType="1"/>
                <a:stCxn id="75" idx="3"/>
                <a:endCxn id="77" idx="1"/>
              </p:cNvCxnSpPr>
              <p:nvPr/>
            </p:nvCxnSpPr>
            <p:spPr bwMode="auto">
              <a:xfrm>
                <a:off x="6548438" y="4652963"/>
                <a:ext cx="20955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9" name="Rectangle 55">
                <a:extLst>
                  <a:ext uri="{FF2B5EF4-FFF2-40B4-BE49-F238E27FC236}">
                    <a16:creationId xmlns:a16="http://schemas.microsoft.com/office/drawing/2014/main" id="{EA859AE6-5DF4-9168-BED3-044CAFFDAC13}"/>
                  </a:ext>
                </a:extLst>
              </p:cNvPr>
              <p:cNvSpPr>
                <a:spLocks noChangeArrowheads="1"/>
              </p:cNvSpPr>
              <p:nvPr/>
            </p:nvSpPr>
            <p:spPr bwMode="auto">
              <a:xfrm>
                <a:off x="7786688" y="4403725"/>
                <a:ext cx="819150" cy="4984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900">
                    <a:solidFill>
                      <a:schemeClr val="bg1"/>
                    </a:solidFill>
                    <a:latin typeface="+mn-lt"/>
                  </a:rPr>
                  <a:t>Finalize</a:t>
                </a:r>
              </a:p>
              <a:p>
                <a:pPr algn="ctr">
                  <a:lnSpc>
                    <a:spcPct val="80000"/>
                  </a:lnSpc>
                  <a:buClrTx/>
                  <a:buSzTx/>
                  <a:buFontTx/>
                  <a:buNone/>
                </a:pPr>
                <a:r>
                  <a:rPr lang="en-US" altLang="en-US" sz="900">
                    <a:solidFill>
                      <a:schemeClr val="bg1"/>
                    </a:solidFill>
                    <a:latin typeface="+mn-lt"/>
                  </a:rPr>
                  <a:t>External</a:t>
                </a:r>
              </a:p>
              <a:p>
                <a:pPr algn="ctr">
                  <a:lnSpc>
                    <a:spcPct val="80000"/>
                  </a:lnSpc>
                  <a:buClrTx/>
                  <a:buSzTx/>
                  <a:buFontTx/>
                  <a:buNone/>
                </a:pPr>
                <a:r>
                  <a:rPr lang="en-US" altLang="en-US" sz="900">
                    <a:solidFill>
                      <a:schemeClr val="bg1"/>
                    </a:solidFill>
                    <a:latin typeface="+mn-lt"/>
                  </a:rPr>
                  <a:t>Supply Plan</a:t>
                </a:r>
              </a:p>
            </p:txBody>
          </p:sp>
          <p:cxnSp>
            <p:nvCxnSpPr>
              <p:cNvPr id="80" name="AutoShape 56">
                <a:extLst>
                  <a:ext uri="{FF2B5EF4-FFF2-40B4-BE49-F238E27FC236}">
                    <a16:creationId xmlns:a16="http://schemas.microsoft.com/office/drawing/2014/main" id="{1526D197-0A4A-030F-FF5C-C5E6B61175B4}"/>
                  </a:ext>
                </a:extLst>
              </p:cNvPr>
              <p:cNvCxnSpPr>
                <a:cxnSpLocks noChangeShapeType="1"/>
                <a:stCxn id="77" idx="3"/>
                <a:endCxn id="79" idx="1"/>
              </p:cNvCxnSpPr>
              <p:nvPr/>
            </p:nvCxnSpPr>
            <p:spPr bwMode="auto">
              <a:xfrm>
                <a:off x="7577138" y="4652963"/>
                <a:ext cx="20955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81" name="Object 58">
                <a:extLst>
                  <a:ext uri="{FF2B5EF4-FFF2-40B4-BE49-F238E27FC236}">
                    <a16:creationId xmlns:a16="http://schemas.microsoft.com/office/drawing/2014/main" id="{D535AD0E-2B30-1F35-D259-4CBF15D04035}"/>
                  </a:ext>
                </a:extLst>
              </p:cNvPr>
              <p:cNvGraphicFramePr>
                <a:graphicFrameLocks noChangeAspect="1"/>
              </p:cNvGraphicFramePr>
              <p:nvPr>
                <p:extLst>
                  <p:ext uri="{D42A27DB-BD31-4B8C-83A1-F6EECF244321}">
                    <p14:modId xmlns:p14="http://schemas.microsoft.com/office/powerpoint/2010/main" val="1476456462"/>
                  </p:ext>
                </p:extLst>
              </p:nvPr>
            </p:nvGraphicFramePr>
            <p:xfrm>
              <a:off x="5083763" y="5078971"/>
              <a:ext cx="2211878" cy="945862"/>
            </p:xfrm>
            <a:graphic>
              <a:graphicData uri="http://schemas.openxmlformats.org/presentationml/2006/ole">
                <mc:AlternateContent xmlns:mc="http://schemas.openxmlformats.org/markup-compatibility/2006">
                  <mc:Choice xmlns:v="urn:schemas-microsoft-com:vml" Requires="v">
                    <p:oleObj name="Worksheet" r:id="rId3" imgW="4448044" imgH="2009922" progId="Excel.Sheet.8">
                      <p:embed/>
                    </p:oleObj>
                  </mc:Choice>
                  <mc:Fallback>
                    <p:oleObj name="Worksheet" r:id="rId3" imgW="4448044" imgH="2009922" progId="Excel.Sheet.8">
                      <p:embed/>
                      <p:pic>
                        <p:nvPicPr>
                          <p:cNvPr id="48158" name="Object 58">
                            <a:extLst>
                              <a:ext uri="{FF2B5EF4-FFF2-40B4-BE49-F238E27FC236}">
                                <a16:creationId xmlns:a16="http://schemas.microsoft.com/office/drawing/2014/main" id="{42D2F248-BB77-4C0B-9E51-0642FDA432C6}"/>
                              </a:ext>
                            </a:extLst>
                          </p:cNvPr>
                          <p:cNvPicPr>
                            <a:picLocks noChangeAspect="1" noChangeArrowheads="1"/>
                          </p:cNvPicPr>
                          <p:nvPr/>
                        </p:nvPicPr>
                        <p:blipFill>
                          <a:blip r:embed="rId4"/>
                          <a:srcRect/>
                          <a:stretch>
                            <a:fillRect/>
                          </a:stretch>
                        </p:blipFill>
                        <p:spPr bwMode="auto">
                          <a:xfrm>
                            <a:off x="5083763" y="5078971"/>
                            <a:ext cx="2211878" cy="945862"/>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2" name="Rectangle 59">
                <a:extLst>
                  <a:ext uri="{FF2B5EF4-FFF2-40B4-BE49-F238E27FC236}">
                    <a16:creationId xmlns:a16="http://schemas.microsoft.com/office/drawing/2014/main" id="{FDFA03BC-2EAD-90F2-D0A4-CF99BD3FC8F1}"/>
                  </a:ext>
                </a:extLst>
              </p:cNvPr>
              <p:cNvSpPr>
                <a:spLocks noChangeArrowheads="1"/>
              </p:cNvSpPr>
              <p:nvPr/>
            </p:nvSpPr>
            <p:spPr bwMode="auto">
              <a:xfrm>
                <a:off x="5014913" y="5041900"/>
                <a:ext cx="2438400" cy="99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cxnSp>
            <p:nvCxnSpPr>
              <p:cNvPr id="83" name="AutoShape 60">
                <a:extLst>
                  <a:ext uri="{FF2B5EF4-FFF2-40B4-BE49-F238E27FC236}">
                    <a16:creationId xmlns:a16="http://schemas.microsoft.com/office/drawing/2014/main" id="{EBEA550C-7829-3CE2-5F09-C5D91A91902A}"/>
                  </a:ext>
                </a:extLst>
              </p:cNvPr>
              <p:cNvCxnSpPr>
                <a:cxnSpLocks noChangeShapeType="1"/>
                <a:stCxn id="79" idx="2"/>
                <a:endCxn id="82" idx="3"/>
              </p:cNvCxnSpPr>
              <p:nvPr/>
            </p:nvCxnSpPr>
            <p:spPr bwMode="auto">
              <a:xfrm rot="5400000">
                <a:off x="7511257" y="4853781"/>
                <a:ext cx="636588" cy="733425"/>
              </a:xfrm>
              <a:prstGeom prst="bentConnector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4" name="Text Box 61">
                <a:extLst>
                  <a:ext uri="{FF2B5EF4-FFF2-40B4-BE49-F238E27FC236}">
                    <a16:creationId xmlns:a16="http://schemas.microsoft.com/office/drawing/2014/main" id="{2132565F-AB32-2F96-7152-73BCA5098F33}"/>
                  </a:ext>
                </a:extLst>
              </p:cNvPr>
              <p:cNvSpPr txBox="1">
                <a:spLocks noChangeArrowheads="1"/>
              </p:cNvSpPr>
              <p:nvPr/>
            </p:nvSpPr>
            <p:spPr bwMode="auto">
              <a:xfrm>
                <a:off x="4048377" y="5192713"/>
                <a:ext cx="933199" cy="68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buClrTx/>
                  <a:buSzTx/>
                  <a:buFontTx/>
                  <a:buNone/>
                </a:pPr>
                <a:r>
                  <a:rPr lang="en-US" altLang="en-US" sz="1100" i="1" dirty="0">
                    <a:latin typeface="+mn-lt"/>
                  </a:rPr>
                  <a:t>Next-Month</a:t>
                </a:r>
              </a:p>
              <a:p>
                <a:pPr algn="r">
                  <a:lnSpc>
                    <a:spcPct val="80000"/>
                  </a:lnSpc>
                  <a:buClrTx/>
                  <a:buSzTx/>
                  <a:buFontTx/>
                  <a:buNone/>
                </a:pPr>
                <a:r>
                  <a:rPr lang="en-US" altLang="en-US" sz="1100" i="1" dirty="0">
                    <a:latin typeface="+mn-lt"/>
                  </a:rPr>
                  <a:t>Supply Base</a:t>
                </a:r>
              </a:p>
              <a:p>
                <a:pPr algn="r">
                  <a:lnSpc>
                    <a:spcPct val="80000"/>
                  </a:lnSpc>
                  <a:buClrTx/>
                  <a:buSzTx/>
                  <a:buFontTx/>
                  <a:buNone/>
                </a:pPr>
                <a:r>
                  <a:rPr lang="en-US" altLang="en-US" sz="1100" i="1" dirty="0">
                    <a:latin typeface="+mn-lt"/>
                  </a:rPr>
                  <a:t>Purchases &amp;</a:t>
                </a:r>
              </a:p>
              <a:p>
                <a:pPr algn="r">
                  <a:lnSpc>
                    <a:spcPct val="80000"/>
                  </a:lnSpc>
                  <a:buClrTx/>
                  <a:buSzTx/>
                  <a:buFontTx/>
                  <a:buNone/>
                </a:pPr>
                <a:r>
                  <a:rPr lang="en-US" altLang="en-US" sz="1100" i="1" dirty="0">
                    <a:latin typeface="+mn-lt"/>
                  </a:rPr>
                  <a:t>Alterations</a:t>
                </a:r>
              </a:p>
            </p:txBody>
          </p:sp>
        </p:grpSp>
        <p:graphicFrame>
          <p:nvGraphicFramePr>
            <p:cNvPr id="86" name="Object 5">
              <a:extLst>
                <a:ext uri="{FF2B5EF4-FFF2-40B4-BE49-F238E27FC236}">
                  <a16:creationId xmlns:a16="http://schemas.microsoft.com/office/drawing/2014/main" id="{A0344E9E-AF46-7FCE-6F0E-7F90B787B801}"/>
                </a:ext>
              </a:extLst>
            </p:cNvPr>
            <p:cNvGraphicFramePr>
              <a:graphicFrameLocks noChangeAspect="1"/>
            </p:cNvGraphicFramePr>
            <p:nvPr>
              <p:extLst>
                <p:ext uri="{D42A27DB-BD31-4B8C-83A1-F6EECF244321}">
                  <p14:modId xmlns:p14="http://schemas.microsoft.com/office/powerpoint/2010/main" val="2831552071"/>
                </p:ext>
              </p:extLst>
            </p:nvPr>
          </p:nvGraphicFramePr>
          <p:xfrm>
            <a:off x="709219" y="2651322"/>
            <a:ext cx="1928995" cy="1030178"/>
          </p:xfrm>
          <a:graphic>
            <a:graphicData uri="http://schemas.openxmlformats.org/presentationml/2006/ole">
              <mc:AlternateContent xmlns:mc="http://schemas.openxmlformats.org/markup-compatibility/2006">
                <mc:Choice xmlns:v="urn:schemas-microsoft-com:vml" Requires="v">
                  <p:oleObj name="Worksheet" r:id="rId5" imgW="5924378" imgH="3572035" progId="Excel.Sheet.8">
                    <p:embed/>
                  </p:oleObj>
                </mc:Choice>
                <mc:Fallback>
                  <p:oleObj name="Worksheet" r:id="rId5" imgW="5924378" imgH="3572035" progId="Excel.Sheet.8">
                    <p:embed/>
                    <p:pic>
                      <p:nvPicPr>
                        <p:cNvPr id="5" name="Object 5">
                          <a:extLst>
                            <a:ext uri="{FF2B5EF4-FFF2-40B4-BE49-F238E27FC236}">
                              <a16:creationId xmlns:a16="http://schemas.microsoft.com/office/drawing/2014/main" id="{30F3DC44-2007-89D5-5520-880BC96428AD}"/>
                            </a:ext>
                          </a:extLst>
                        </p:cNvPr>
                        <p:cNvPicPr>
                          <a:picLocks noChangeAspect="1" noChangeArrowheads="1"/>
                        </p:cNvPicPr>
                        <p:nvPr/>
                      </p:nvPicPr>
                      <p:blipFill>
                        <a:blip r:embed="rId6"/>
                        <a:srcRect/>
                        <a:stretch>
                          <a:fillRect/>
                        </a:stretch>
                      </p:blipFill>
                      <p:spPr bwMode="auto">
                        <a:xfrm>
                          <a:off x="709219" y="2651322"/>
                          <a:ext cx="1928995" cy="1030178"/>
                        </a:xfrm>
                        <a:prstGeom prst="rect">
                          <a:avLst/>
                        </a:prstGeom>
                        <a:noFill/>
                        <a:ln>
                          <a:noFill/>
                        </a:ln>
                        <a:effectLst/>
                      </p:spPr>
                    </p:pic>
                  </p:oleObj>
                </mc:Fallback>
              </mc:AlternateContent>
            </a:graphicData>
          </a:graphic>
        </p:graphicFrame>
      </p:grpSp>
      <p:grpSp>
        <p:nvGrpSpPr>
          <p:cNvPr id="4" name="Group 51">
            <a:extLst>
              <a:ext uri="{FF2B5EF4-FFF2-40B4-BE49-F238E27FC236}">
                <a16:creationId xmlns:a16="http://schemas.microsoft.com/office/drawing/2014/main" id="{6C401FD1-E500-95A6-C3A5-B0D8C3F33BD5}"/>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EEE5BCEC-84F9-8A9F-6D97-08068F733EC5}"/>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E388CC51-0916-CDC7-27B5-B8720F2AF8E7}"/>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9905C35D-B7DD-6BC9-F9FD-C341AD250F58}"/>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7090920E-B08C-03A3-0635-FBF4C8C07646}"/>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9" name="Rectangle 39">
              <a:extLst>
                <a:ext uri="{FF2B5EF4-FFF2-40B4-BE49-F238E27FC236}">
                  <a16:creationId xmlns:a16="http://schemas.microsoft.com/office/drawing/2014/main" id="{A9DDB050-93A0-097C-1120-A5F94DDCE74E}"/>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0" name="Rectangle 40">
              <a:extLst>
                <a:ext uri="{FF2B5EF4-FFF2-40B4-BE49-F238E27FC236}">
                  <a16:creationId xmlns:a16="http://schemas.microsoft.com/office/drawing/2014/main" id="{152FEF3B-3B0E-A6A3-7DFC-2DFF558B432C}"/>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11" name="Rectangle 41">
              <a:extLst>
                <a:ext uri="{FF2B5EF4-FFF2-40B4-BE49-F238E27FC236}">
                  <a16:creationId xmlns:a16="http://schemas.microsoft.com/office/drawing/2014/main" id="{B0DAE786-832A-CBB3-FEE9-A2775AD12F3A}"/>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12" name="AutoShape 42">
              <a:extLst>
                <a:ext uri="{FF2B5EF4-FFF2-40B4-BE49-F238E27FC236}">
                  <a16:creationId xmlns:a16="http://schemas.microsoft.com/office/drawing/2014/main" id="{7DECE754-8740-4E0A-B5D2-504A180C533F}"/>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13" name="Rectangle 43">
              <a:extLst>
                <a:ext uri="{FF2B5EF4-FFF2-40B4-BE49-F238E27FC236}">
                  <a16:creationId xmlns:a16="http://schemas.microsoft.com/office/drawing/2014/main" id="{18D02492-97C9-1100-4345-98C7CC88A3E9}"/>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14" name="Rectangle 44">
              <a:extLst>
                <a:ext uri="{FF2B5EF4-FFF2-40B4-BE49-F238E27FC236}">
                  <a16:creationId xmlns:a16="http://schemas.microsoft.com/office/drawing/2014/main" id="{DEBD2BF4-3EC2-ADA3-C5D6-6DF180932765}"/>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15" name="Rectangle 45">
              <a:extLst>
                <a:ext uri="{FF2B5EF4-FFF2-40B4-BE49-F238E27FC236}">
                  <a16:creationId xmlns:a16="http://schemas.microsoft.com/office/drawing/2014/main" id="{A01481E9-7BAD-1FAB-67CB-860F9FBA0CAE}"/>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16" name="Rectangle 46">
              <a:extLst>
                <a:ext uri="{FF2B5EF4-FFF2-40B4-BE49-F238E27FC236}">
                  <a16:creationId xmlns:a16="http://schemas.microsoft.com/office/drawing/2014/main" id="{3C0864C2-2857-E0E4-09C7-D64F0769E8C4}"/>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17" name="Rectangle 47">
              <a:extLst>
                <a:ext uri="{FF2B5EF4-FFF2-40B4-BE49-F238E27FC236}">
                  <a16:creationId xmlns:a16="http://schemas.microsoft.com/office/drawing/2014/main" id="{51F0CE1F-07AB-EB6D-E591-1BE31B939F72}"/>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3379173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Time Zone Planning:  </a:t>
            </a:r>
            <a:br>
              <a:rPr lang="en-US" sz="3600" dirty="0"/>
            </a:br>
            <a:r>
              <a:rPr lang="en-US" sz="3600" dirty="0"/>
              <a:t>What Is Fixed, What Is Flexible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Just as important as error codes are effective time zones; constructing proper time zones allow the S&amp;OP process to work without the effects of unnecessary production peaks or valleys.</a:t>
            </a:r>
          </a:p>
        </p:txBody>
      </p:sp>
      <p:graphicFrame>
        <p:nvGraphicFramePr>
          <p:cNvPr id="12" name="Group 48">
            <a:extLst>
              <a:ext uri="{FF2B5EF4-FFF2-40B4-BE49-F238E27FC236}">
                <a16:creationId xmlns:a16="http://schemas.microsoft.com/office/drawing/2014/main" id="{AB19098A-D712-C3B3-B904-FDACA6624B42}"/>
              </a:ext>
            </a:extLst>
          </p:cNvPr>
          <p:cNvGraphicFramePr>
            <a:graphicFrameLocks noGrp="1"/>
          </p:cNvGraphicFramePr>
          <p:nvPr>
            <p:extLst>
              <p:ext uri="{D42A27DB-BD31-4B8C-83A1-F6EECF244321}">
                <p14:modId xmlns:p14="http://schemas.microsoft.com/office/powerpoint/2010/main" val="736334231"/>
              </p:ext>
            </p:extLst>
          </p:nvPr>
        </p:nvGraphicFramePr>
        <p:xfrm>
          <a:off x="458170" y="1992941"/>
          <a:ext cx="3968750" cy="2903541"/>
        </p:xfrm>
        <a:graphic>
          <a:graphicData uri="http://schemas.openxmlformats.org/drawingml/2006/table">
            <a:tbl>
              <a:tblPr/>
              <a:tblGrid>
                <a:gridCol w="1447800">
                  <a:extLst>
                    <a:ext uri="{9D8B030D-6E8A-4147-A177-3AD203B41FA5}">
                      <a16:colId xmlns:a16="http://schemas.microsoft.com/office/drawing/2014/main" val="20000"/>
                    </a:ext>
                  </a:extLst>
                </a:gridCol>
                <a:gridCol w="2520950">
                  <a:extLst>
                    <a:ext uri="{9D8B030D-6E8A-4147-A177-3AD203B41FA5}">
                      <a16:colId xmlns:a16="http://schemas.microsoft.com/office/drawing/2014/main" val="20001"/>
                    </a:ext>
                  </a:extLst>
                </a:gridCol>
              </a:tblGrid>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100" b="1" i="0" u="none" strike="noStrike" cap="none" normalizeH="0" baseline="0" dirty="0">
                          <a:ln>
                            <a:noFill/>
                          </a:ln>
                          <a:solidFill>
                            <a:schemeClr val="bg1"/>
                          </a:solidFill>
                          <a:effectLst/>
                          <a:latin typeface="+mn-lt"/>
                          <a:ea typeface="ＭＳ Ｐゴシック" charset="0"/>
                        </a:rPr>
                        <a:t>Month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100" b="1" i="0" u="none" strike="noStrike" cap="none" normalizeH="0" baseline="0" dirty="0">
                          <a:ln>
                            <a:noFill/>
                          </a:ln>
                          <a:solidFill>
                            <a:schemeClr val="bg1"/>
                          </a:solidFill>
                          <a:effectLst/>
                          <a:latin typeface="+mn-lt"/>
                          <a:ea typeface="ＭＳ Ｐゴシック" charset="0"/>
                        </a:rPr>
                        <a:t>% Change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323850">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Current Month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Hold;  schedule fixed for execution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Month One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+/- 15% change to plan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Month Two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+/- 20% change to plan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a:ln>
                            <a:noFill/>
                          </a:ln>
                          <a:solidFill>
                            <a:schemeClr val="tx1"/>
                          </a:solidFill>
                          <a:effectLst/>
                          <a:latin typeface="+mn-lt"/>
                          <a:ea typeface="ＭＳ Ｐゴシック" charset="0"/>
                        </a:rPr>
                        <a:t>Month Three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+/- 30% change to plan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Month Four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+/- 30% change to plan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Month Five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+/- 35% change to plan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Month Six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+/- 40% change to plan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Third Quarter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  Open; all changes permissible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3" name="Rectangle 49">
            <a:extLst>
              <a:ext uri="{FF2B5EF4-FFF2-40B4-BE49-F238E27FC236}">
                <a16:creationId xmlns:a16="http://schemas.microsoft.com/office/drawing/2014/main" id="{A9CCFBDD-48C9-99A9-CB27-CCC81F7ECAB8}"/>
              </a:ext>
            </a:extLst>
          </p:cNvPr>
          <p:cNvSpPr>
            <a:spLocks noChangeArrowheads="1"/>
          </p:cNvSpPr>
          <p:nvPr/>
        </p:nvSpPr>
        <p:spPr bwMode="auto">
          <a:xfrm>
            <a:off x="4850783" y="1891341"/>
            <a:ext cx="3863975" cy="299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dirty="0">
                <a:latin typeface="+mn-lt"/>
              </a:rPr>
              <a:t>In order to prevent downstream chaos, the pilot team must establish ground rules to govern extent to which the production plan can be modified</a:t>
            </a:r>
          </a:p>
          <a:p>
            <a:pPr>
              <a:spcBef>
                <a:spcPct val="45000"/>
              </a:spcBef>
              <a:buClrTx/>
              <a:buSzPct val="90000"/>
              <a:buFont typeface="Arial" panose="020B0604020202020204" pitchFamily="34" charset="0"/>
              <a:buChar char="•"/>
            </a:pPr>
            <a:r>
              <a:rPr lang="en-US" altLang="en-US" sz="1200" dirty="0">
                <a:latin typeface="+mn-lt"/>
              </a:rPr>
              <a:t>Time zones should exist in order to prevent unusual production spikes and valleys throughout the year</a:t>
            </a:r>
          </a:p>
          <a:p>
            <a:pPr>
              <a:spcBef>
                <a:spcPct val="45000"/>
              </a:spcBef>
              <a:buClrTx/>
              <a:buSzPct val="90000"/>
              <a:buFont typeface="Arial" panose="020B0604020202020204" pitchFamily="34" charset="0"/>
              <a:buChar char="•"/>
            </a:pPr>
            <a:r>
              <a:rPr lang="en-US" altLang="en-US" sz="1200" dirty="0">
                <a:latin typeface="+mn-lt"/>
              </a:rPr>
              <a:t>Proper time-zone establishment up-front drives further effort to create inherent flexibility; lean principles can allow more flexible time zone management</a:t>
            </a:r>
          </a:p>
          <a:p>
            <a:pPr>
              <a:spcBef>
                <a:spcPct val="45000"/>
              </a:spcBef>
              <a:buClrTx/>
              <a:buSzPct val="90000"/>
              <a:buFont typeface="Arial" panose="020B0604020202020204" pitchFamily="34" charset="0"/>
              <a:buChar char="•"/>
            </a:pPr>
            <a:r>
              <a:rPr lang="en-US" altLang="en-US" sz="1200" dirty="0">
                <a:latin typeface="+mn-lt"/>
              </a:rPr>
              <a:t>Just as proper time zone limits are required, the team should also implement sound override rules where needed</a:t>
            </a:r>
          </a:p>
          <a:p>
            <a:pPr>
              <a:spcBef>
                <a:spcPct val="45000"/>
              </a:spcBef>
              <a:buClrTx/>
              <a:buSzPct val="90000"/>
              <a:buFont typeface="Arial" panose="020B0604020202020204" pitchFamily="34" charset="0"/>
              <a:buChar char="•"/>
            </a:pPr>
            <a:r>
              <a:rPr lang="en-US" altLang="en-US" sz="1200" dirty="0">
                <a:latin typeface="+mn-lt"/>
              </a:rPr>
              <a:t>Bottom line – How economically can you operate close-in to the production schedule?</a:t>
            </a:r>
            <a:endParaRPr lang="en-US" altLang="en-US" sz="1200" b="0" dirty="0">
              <a:latin typeface="+mn-lt"/>
            </a:endParaRPr>
          </a:p>
        </p:txBody>
      </p:sp>
      <p:sp>
        <p:nvSpPr>
          <p:cNvPr id="14" name="Line 50">
            <a:extLst>
              <a:ext uri="{FF2B5EF4-FFF2-40B4-BE49-F238E27FC236}">
                <a16:creationId xmlns:a16="http://schemas.microsoft.com/office/drawing/2014/main" id="{4F3B7EFB-5F84-B3C9-2B55-AB21737A398D}"/>
              </a:ext>
            </a:extLst>
          </p:cNvPr>
          <p:cNvSpPr>
            <a:spLocks noChangeShapeType="1"/>
          </p:cNvSpPr>
          <p:nvPr/>
        </p:nvSpPr>
        <p:spPr bwMode="auto">
          <a:xfrm>
            <a:off x="5182570" y="4955215"/>
            <a:ext cx="3436938" cy="1588"/>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Rectangle 51">
            <a:extLst>
              <a:ext uri="{FF2B5EF4-FFF2-40B4-BE49-F238E27FC236}">
                <a16:creationId xmlns:a16="http://schemas.microsoft.com/office/drawing/2014/main" id="{9B64A3E6-7903-4955-C364-AAEE9DDBCE8F}"/>
              </a:ext>
            </a:extLst>
          </p:cNvPr>
          <p:cNvSpPr>
            <a:spLocks noChangeArrowheads="1"/>
          </p:cNvSpPr>
          <p:nvPr/>
        </p:nvSpPr>
        <p:spPr bwMode="auto">
          <a:xfrm>
            <a:off x="5171458" y="5023478"/>
            <a:ext cx="3467100" cy="268287"/>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Prevent Unnecessary Production Upheavals</a:t>
            </a:r>
          </a:p>
        </p:txBody>
      </p:sp>
      <p:sp>
        <p:nvSpPr>
          <p:cNvPr id="16" name="AutoShape 52">
            <a:extLst>
              <a:ext uri="{FF2B5EF4-FFF2-40B4-BE49-F238E27FC236}">
                <a16:creationId xmlns:a16="http://schemas.microsoft.com/office/drawing/2014/main" id="{392BEE18-C949-D3C6-5779-BCA04E50210D}"/>
              </a:ext>
            </a:extLst>
          </p:cNvPr>
          <p:cNvSpPr>
            <a:spLocks noChangeArrowheads="1"/>
          </p:cNvSpPr>
          <p:nvPr/>
        </p:nvSpPr>
        <p:spPr bwMode="auto">
          <a:xfrm>
            <a:off x="4544395" y="2167566"/>
            <a:ext cx="254000" cy="2603500"/>
          </a:xfrm>
          <a:prstGeom prst="rightArrow">
            <a:avLst>
              <a:gd name="adj1" fmla="val 72435"/>
              <a:gd name="adj2" fmla="val 73125"/>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Text Box 53">
            <a:extLst>
              <a:ext uri="{FF2B5EF4-FFF2-40B4-BE49-F238E27FC236}">
                <a16:creationId xmlns:a16="http://schemas.microsoft.com/office/drawing/2014/main" id="{0C14E4D8-6410-4AC3-489D-559229B999AA}"/>
              </a:ext>
            </a:extLst>
          </p:cNvPr>
          <p:cNvSpPr txBox="1">
            <a:spLocks noChangeArrowheads="1"/>
          </p:cNvSpPr>
          <p:nvPr/>
        </p:nvSpPr>
        <p:spPr bwMode="auto">
          <a:xfrm>
            <a:off x="721405" y="5156828"/>
            <a:ext cx="184731"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8" name="AutoShape 54">
            <a:extLst>
              <a:ext uri="{FF2B5EF4-FFF2-40B4-BE49-F238E27FC236}">
                <a16:creationId xmlns:a16="http://schemas.microsoft.com/office/drawing/2014/main" id="{7241087B-B3F9-E135-9435-22B16BCC7CB8}"/>
              </a:ext>
            </a:extLst>
          </p:cNvPr>
          <p:cNvSpPr>
            <a:spLocks/>
          </p:cNvSpPr>
          <p:nvPr/>
        </p:nvSpPr>
        <p:spPr bwMode="auto">
          <a:xfrm rot="5400000">
            <a:off x="2289351" y="3138322"/>
            <a:ext cx="314325" cy="3951288"/>
          </a:xfrm>
          <a:prstGeom prst="rightBrace">
            <a:avLst>
              <a:gd name="adj1" fmla="val 104756"/>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9" name="Text Box 55">
            <a:extLst>
              <a:ext uri="{FF2B5EF4-FFF2-40B4-BE49-F238E27FC236}">
                <a16:creationId xmlns:a16="http://schemas.microsoft.com/office/drawing/2014/main" id="{9229CCCA-193A-8FD3-BD9A-2946DD567358}"/>
              </a:ext>
            </a:extLst>
          </p:cNvPr>
          <p:cNvSpPr txBox="1">
            <a:spLocks noChangeArrowheads="1"/>
          </p:cNvSpPr>
          <p:nvPr/>
        </p:nvSpPr>
        <p:spPr bwMode="auto">
          <a:xfrm>
            <a:off x="97808" y="5312403"/>
            <a:ext cx="46799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200" i="1" dirty="0">
                <a:latin typeface="+mn-lt"/>
              </a:rPr>
              <a:t>Economics Should Drive Time Zone Creation;</a:t>
            </a:r>
          </a:p>
          <a:p>
            <a:pPr algn="ctr">
              <a:lnSpc>
                <a:spcPct val="90000"/>
              </a:lnSpc>
              <a:buClrTx/>
              <a:buSzTx/>
              <a:buFontTx/>
              <a:buNone/>
            </a:pPr>
            <a:r>
              <a:rPr lang="en-US" altLang="en-US" sz="1200" i="1" dirty="0">
                <a:latin typeface="+mn-lt"/>
              </a:rPr>
              <a:t>What Can Be Done Based on Economic Viability?</a:t>
            </a:r>
          </a:p>
        </p:txBody>
      </p:sp>
      <p:grpSp>
        <p:nvGrpSpPr>
          <p:cNvPr id="4" name="Group 51">
            <a:extLst>
              <a:ext uri="{FF2B5EF4-FFF2-40B4-BE49-F238E27FC236}">
                <a16:creationId xmlns:a16="http://schemas.microsoft.com/office/drawing/2014/main" id="{413D8491-3470-A817-06EA-4A60427ECE5E}"/>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0029F53C-334A-93ED-497B-FBCCA56291E8}"/>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B3462875-D0CF-5A20-E5CF-D4AEA204AB2B}"/>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02274C99-4DBC-93F4-315C-0A4042E4D728}"/>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FD2C27A3-2A72-320A-40AC-197A92BEE3FB}"/>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9" name="Rectangle 39">
              <a:extLst>
                <a:ext uri="{FF2B5EF4-FFF2-40B4-BE49-F238E27FC236}">
                  <a16:creationId xmlns:a16="http://schemas.microsoft.com/office/drawing/2014/main" id="{28AE74DD-20D9-A028-F7F7-8106BFB6F492}"/>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0" name="Rectangle 40">
              <a:extLst>
                <a:ext uri="{FF2B5EF4-FFF2-40B4-BE49-F238E27FC236}">
                  <a16:creationId xmlns:a16="http://schemas.microsoft.com/office/drawing/2014/main" id="{A2D048D7-7BCC-1E9D-B42D-6C7D3B2CFBF7}"/>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11" name="Rectangle 41">
              <a:extLst>
                <a:ext uri="{FF2B5EF4-FFF2-40B4-BE49-F238E27FC236}">
                  <a16:creationId xmlns:a16="http://schemas.microsoft.com/office/drawing/2014/main" id="{EE56BB8B-C453-3C3F-0E02-EB4CE0EDA171}"/>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Error Code</a:t>
              </a:r>
            </a:p>
            <a:p>
              <a:pPr algn="ctr">
                <a:lnSpc>
                  <a:spcPct val="80000"/>
                </a:lnSpc>
                <a:buClrTx/>
                <a:buSzTx/>
                <a:buNone/>
              </a:pPr>
              <a:r>
                <a:rPr lang="en-US" altLang="en-US" sz="200" dirty="0">
                  <a:solidFill>
                    <a:srgbClr val="000066"/>
                  </a:solidFill>
                  <a:latin typeface="+mn-lt"/>
                </a:rPr>
                <a:t>Evaluation</a:t>
              </a:r>
            </a:p>
          </p:txBody>
        </p:sp>
        <p:sp>
          <p:nvSpPr>
            <p:cNvPr id="20" name="AutoShape 42">
              <a:extLst>
                <a:ext uri="{FF2B5EF4-FFF2-40B4-BE49-F238E27FC236}">
                  <a16:creationId xmlns:a16="http://schemas.microsoft.com/office/drawing/2014/main" id="{7628DB09-1A4B-FD5C-C7A3-EE94AA858044}"/>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1" name="Rectangle 43">
              <a:extLst>
                <a:ext uri="{FF2B5EF4-FFF2-40B4-BE49-F238E27FC236}">
                  <a16:creationId xmlns:a16="http://schemas.microsoft.com/office/drawing/2014/main" id="{74D1B042-530D-55B4-FE44-5AC0E6D8BF13}"/>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22" name="Rectangle 44">
              <a:extLst>
                <a:ext uri="{FF2B5EF4-FFF2-40B4-BE49-F238E27FC236}">
                  <a16:creationId xmlns:a16="http://schemas.microsoft.com/office/drawing/2014/main" id="{F90E499A-53C3-CA72-4075-1BB832E55186}"/>
                </a:ext>
              </a:extLst>
            </p:cNvPr>
            <p:cNvSpPr>
              <a:spLocks noChangeArrowheads="1"/>
            </p:cNvSpPr>
            <p:nvPr/>
          </p:nvSpPr>
          <p:spPr bwMode="auto">
            <a:xfrm>
              <a:off x="1491" y="3900"/>
              <a:ext cx="195" cy="100"/>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chemeClr val="bg1"/>
                  </a:solidFill>
                  <a:latin typeface="+mn-lt"/>
                </a:rPr>
                <a:t>Critical </a:t>
              </a:r>
            </a:p>
            <a:p>
              <a:pPr algn="ctr">
                <a:lnSpc>
                  <a:spcPct val="80000"/>
                </a:lnSpc>
                <a:buClrTx/>
                <a:buSzTx/>
                <a:buNone/>
              </a:pPr>
              <a:r>
                <a:rPr lang="en-US" altLang="en-US" sz="200" dirty="0">
                  <a:solidFill>
                    <a:schemeClr val="bg1"/>
                  </a:solidFill>
                  <a:latin typeface="+mn-lt"/>
                </a:rPr>
                <a:t>Resource</a:t>
              </a:r>
            </a:p>
            <a:p>
              <a:pPr algn="ctr">
                <a:lnSpc>
                  <a:spcPct val="80000"/>
                </a:lnSpc>
                <a:buClrTx/>
                <a:buSzTx/>
                <a:buNone/>
              </a:pPr>
              <a:r>
                <a:rPr lang="en-US" altLang="en-US" sz="200" dirty="0">
                  <a:solidFill>
                    <a:schemeClr val="bg1"/>
                  </a:solidFill>
                  <a:latin typeface="+mn-lt"/>
                </a:rPr>
                <a:t>Evaluation</a:t>
              </a:r>
            </a:p>
          </p:txBody>
        </p:sp>
        <p:sp>
          <p:nvSpPr>
            <p:cNvPr id="23" name="Rectangle 45">
              <a:extLst>
                <a:ext uri="{FF2B5EF4-FFF2-40B4-BE49-F238E27FC236}">
                  <a16:creationId xmlns:a16="http://schemas.microsoft.com/office/drawing/2014/main" id="{2B4F5678-2E63-A35A-CAA7-7C6E7642BA80}"/>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4" name="Rectangle 46">
              <a:extLst>
                <a:ext uri="{FF2B5EF4-FFF2-40B4-BE49-F238E27FC236}">
                  <a16:creationId xmlns:a16="http://schemas.microsoft.com/office/drawing/2014/main" id="{07BF0015-085F-B882-DE4B-5EBE56DAA1EC}"/>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5" name="Rectangle 47">
              <a:extLst>
                <a:ext uri="{FF2B5EF4-FFF2-40B4-BE49-F238E27FC236}">
                  <a16:creationId xmlns:a16="http://schemas.microsoft.com/office/drawing/2014/main" id="{8B252111-BAAD-E77B-0F12-28B6631941C5}"/>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6637962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Error Code Development:  </a:t>
            </a:r>
            <a:br>
              <a:rPr lang="en-US" sz="3600" dirty="0"/>
            </a:br>
            <a:r>
              <a:rPr lang="en-US" sz="3600" dirty="0"/>
              <a:t>Ready-Made Solutions For A Mismatch</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When developing error codes, the pilot S&amp;OP team should concentrate on the “most likely” scenarios that will occur based on historical data, current-year trends and knowledge of available solutions.</a:t>
            </a:r>
          </a:p>
        </p:txBody>
      </p:sp>
      <p:graphicFrame>
        <p:nvGraphicFramePr>
          <p:cNvPr id="12" name="Group 48">
            <a:extLst>
              <a:ext uri="{FF2B5EF4-FFF2-40B4-BE49-F238E27FC236}">
                <a16:creationId xmlns:a16="http://schemas.microsoft.com/office/drawing/2014/main" id="{AB19098A-D712-C3B3-B904-FDACA6624B42}"/>
              </a:ext>
            </a:extLst>
          </p:cNvPr>
          <p:cNvGraphicFramePr>
            <a:graphicFrameLocks noGrp="1"/>
          </p:cNvGraphicFramePr>
          <p:nvPr>
            <p:extLst>
              <p:ext uri="{D42A27DB-BD31-4B8C-83A1-F6EECF244321}">
                <p14:modId xmlns:p14="http://schemas.microsoft.com/office/powerpoint/2010/main" val="4139380558"/>
              </p:ext>
            </p:extLst>
          </p:nvPr>
        </p:nvGraphicFramePr>
        <p:xfrm>
          <a:off x="458170" y="1992941"/>
          <a:ext cx="3968750" cy="2581278"/>
        </p:xfrm>
        <a:graphic>
          <a:graphicData uri="http://schemas.openxmlformats.org/drawingml/2006/table">
            <a:tbl>
              <a:tblPr/>
              <a:tblGrid>
                <a:gridCol w="1179244">
                  <a:extLst>
                    <a:ext uri="{9D8B030D-6E8A-4147-A177-3AD203B41FA5}">
                      <a16:colId xmlns:a16="http://schemas.microsoft.com/office/drawing/2014/main" val="20000"/>
                    </a:ext>
                  </a:extLst>
                </a:gridCol>
                <a:gridCol w="2789506">
                  <a:extLst>
                    <a:ext uri="{9D8B030D-6E8A-4147-A177-3AD203B41FA5}">
                      <a16:colId xmlns:a16="http://schemas.microsoft.com/office/drawing/2014/main" val="20001"/>
                    </a:ext>
                  </a:extLst>
                </a:gridCol>
              </a:tblGrid>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100" b="1" i="0" u="none" strike="noStrike" cap="none" normalizeH="0" baseline="0" dirty="0">
                          <a:ln>
                            <a:noFill/>
                          </a:ln>
                          <a:solidFill>
                            <a:schemeClr val="bg1"/>
                          </a:solidFill>
                          <a:effectLst/>
                          <a:latin typeface="+mn-lt"/>
                          <a:ea typeface="ＭＳ Ｐゴシック" charset="0"/>
                        </a:rPr>
                        <a:t>Error Code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100" b="1" i="0" u="none" strike="noStrike" cap="none" normalizeH="0" baseline="0" dirty="0">
                          <a:ln>
                            <a:noFill/>
                          </a:ln>
                          <a:solidFill>
                            <a:schemeClr val="bg1"/>
                          </a:solidFill>
                          <a:effectLst/>
                          <a:latin typeface="+mn-lt"/>
                          <a:ea typeface="ＭＳ Ｐゴシック" charset="0"/>
                        </a:rPr>
                        <a:t>Description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323850">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Work available overtime on single shift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Overtime across multiple shifts/One day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Add single one-day additional shift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Transfer excess workload to Line XYZ</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Transfer non-required family to Line XYZ</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Transfer excess workload to contract mfg.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2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1200" b="1" i="0" u="none" strike="noStrike" cap="none" normalizeH="0" baseline="0" dirty="0">
                          <a:ln>
                            <a:noFill/>
                          </a:ln>
                          <a:solidFill>
                            <a:schemeClr val="tx1"/>
                          </a:solidFill>
                          <a:effectLst/>
                          <a:latin typeface="+mn-lt"/>
                          <a:ea typeface="ＭＳ Ｐゴシック" charset="0"/>
                        </a:rPr>
                        <a:t>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171450" marR="0" lvl="0" indent="-171450" algn="l" defTabSz="914400" rtl="0" eaLnBrk="0" fontAlgn="base" latinLnBrk="0" hangingPunct="0">
                        <a:lnSpc>
                          <a:spcPct val="100000"/>
                        </a:lnSpc>
                        <a:spcBef>
                          <a:spcPct val="20000"/>
                        </a:spcBef>
                        <a:spcAft>
                          <a:spcPct val="0"/>
                        </a:spcAft>
                        <a:buClrTx/>
                        <a:buSzPct val="90000"/>
                        <a:buFont typeface="Arial" panose="020B0604020202020204" pitchFamily="34" charset="0"/>
                        <a:buChar char="•"/>
                        <a:tabLst/>
                      </a:pPr>
                      <a:r>
                        <a:rPr kumimoji="0" lang="en-US" sz="1000" b="1" i="0" u="none" strike="noStrike" cap="none" normalizeH="0" baseline="0" dirty="0">
                          <a:ln>
                            <a:noFill/>
                          </a:ln>
                          <a:solidFill>
                            <a:schemeClr val="tx1"/>
                          </a:solidFill>
                          <a:effectLst/>
                          <a:latin typeface="+mn-lt"/>
                          <a:ea typeface="ＭＳ Ｐゴシック" charset="0"/>
                        </a:rPr>
                        <a:t>Demand cannot be profitably delivered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3" name="Rectangle 49">
            <a:extLst>
              <a:ext uri="{FF2B5EF4-FFF2-40B4-BE49-F238E27FC236}">
                <a16:creationId xmlns:a16="http://schemas.microsoft.com/office/drawing/2014/main" id="{A9CCFBDD-48C9-99A9-CB27-CCC81F7ECAB8}"/>
              </a:ext>
            </a:extLst>
          </p:cNvPr>
          <p:cNvSpPr>
            <a:spLocks noChangeArrowheads="1"/>
          </p:cNvSpPr>
          <p:nvPr/>
        </p:nvSpPr>
        <p:spPr bwMode="auto">
          <a:xfrm>
            <a:off x="4850783" y="1891341"/>
            <a:ext cx="3863975" cy="325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dirty="0">
                <a:latin typeface="+mn-lt"/>
              </a:rPr>
              <a:t>Forces pilot team to value stream map existing process to isolate potential solutions</a:t>
            </a:r>
          </a:p>
          <a:p>
            <a:pPr>
              <a:spcBef>
                <a:spcPct val="45000"/>
              </a:spcBef>
              <a:buClrTx/>
              <a:buSzPct val="90000"/>
              <a:buFont typeface="Arial" panose="020B0604020202020204" pitchFamily="34" charset="0"/>
              <a:buChar char="•"/>
            </a:pPr>
            <a:r>
              <a:rPr lang="en-US" altLang="en-US" sz="1200" dirty="0">
                <a:latin typeface="+mn-lt"/>
              </a:rPr>
              <a:t>Fact-based analysis to quantify what cannot be performed at a profitable level</a:t>
            </a:r>
          </a:p>
          <a:p>
            <a:pPr>
              <a:spcBef>
                <a:spcPct val="45000"/>
              </a:spcBef>
              <a:buClrTx/>
              <a:buSzPct val="90000"/>
              <a:buFont typeface="Arial" panose="020B0604020202020204" pitchFamily="34" charset="0"/>
              <a:buChar char="•"/>
            </a:pPr>
            <a:r>
              <a:rPr lang="en-US" altLang="en-US" sz="1200" dirty="0">
                <a:latin typeface="+mn-lt"/>
              </a:rPr>
              <a:t>Error code should be a logical cascade of events; relevant solutions for escalating supply-demand mismatch problems</a:t>
            </a:r>
          </a:p>
          <a:p>
            <a:pPr>
              <a:spcBef>
                <a:spcPct val="45000"/>
              </a:spcBef>
              <a:buClrTx/>
              <a:buSzPct val="90000"/>
              <a:buFont typeface="Arial" panose="020B0604020202020204" pitchFamily="34" charset="0"/>
              <a:buChar char="•"/>
            </a:pPr>
            <a:r>
              <a:rPr lang="en-US" altLang="en-US" sz="1200" dirty="0">
                <a:latin typeface="+mn-lt"/>
              </a:rPr>
              <a:t>Each error code should have a detailed contingency plan or written procedure behind it for accurate and timely implementation</a:t>
            </a:r>
          </a:p>
          <a:p>
            <a:pPr>
              <a:spcBef>
                <a:spcPct val="45000"/>
              </a:spcBef>
              <a:buClrTx/>
              <a:buSzPct val="90000"/>
              <a:buFont typeface="Arial" panose="020B0604020202020204" pitchFamily="34" charset="0"/>
              <a:buChar char="•"/>
            </a:pPr>
            <a:r>
              <a:rPr lang="en-US" altLang="en-US" sz="1200" dirty="0">
                <a:latin typeface="+mn-lt"/>
              </a:rPr>
              <a:t>Allows sales component of S&amp;OP to work out potential customized solutions with customer when supply cannot profitably meet demand</a:t>
            </a:r>
          </a:p>
          <a:p>
            <a:pPr>
              <a:spcBef>
                <a:spcPct val="45000"/>
              </a:spcBef>
              <a:buClrTx/>
              <a:buSzPct val="90000"/>
              <a:buFont typeface="Arial" panose="020B0604020202020204" pitchFamily="34" charset="0"/>
              <a:buChar char="•"/>
            </a:pPr>
            <a:r>
              <a:rPr lang="en-US" altLang="en-US" sz="1200" dirty="0">
                <a:latin typeface="+mn-lt"/>
              </a:rPr>
              <a:t>May confirm long-term capacity shortages that must be eventually addressed</a:t>
            </a:r>
          </a:p>
        </p:txBody>
      </p:sp>
      <p:sp>
        <p:nvSpPr>
          <p:cNvPr id="14" name="Line 50">
            <a:extLst>
              <a:ext uri="{FF2B5EF4-FFF2-40B4-BE49-F238E27FC236}">
                <a16:creationId xmlns:a16="http://schemas.microsoft.com/office/drawing/2014/main" id="{4F3B7EFB-5F84-B3C9-2B55-AB21737A398D}"/>
              </a:ext>
            </a:extLst>
          </p:cNvPr>
          <p:cNvSpPr>
            <a:spLocks noChangeShapeType="1"/>
          </p:cNvSpPr>
          <p:nvPr/>
        </p:nvSpPr>
        <p:spPr bwMode="auto">
          <a:xfrm>
            <a:off x="5069714" y="5202866"/>
            <a:ext cx="3436938" cy="1588"/>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Rectangle 51">
            <a:extLst>
              <a:ext uri="{FF2B5EF4-FFF2-40B4-BE49-F238E27FC236}">
                <a16:creationId xmlns:a16="http://schemas.microsoft.com/office/drawing/2014/main" id="{9B64A3E6-7903-4955-C364-AAEE9DDBCE8F}"/>
              </a:ext>
            </a:extLst>
          </p:cNvPr>
          <p:cNvSpPr>
            <a:spLocks noChangeArrowheads="1"/>
          </p:cNvSpPr>
          <p:nvPr/>
        </p:nvSpPr>
        <p:spPr bwMode="auto">
          <a:xfrm>
            <a:off x="5058602" y="5271129"/>
            <a:ext cx="3467100" cy="268287"/>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Gives Team Proactive Tools &amp; Techniques</a:t>
            </a:r>
          </a:p>
        </p:txBody>
      </p:sp>
      <p:sp>
        <p:nvSpPr>
          <p:cNvPr id="16" name="AutoShape 52">
            <a:extLst>
              <a:ext uri="{FF2B5EF4-FFF2-40B4-BE49-F238E27FC236}">
                <a16:creationId xmlns:a16="http://schemas.microsoft.com/office/drawing/2014/main" id="{392BEE18-C949-D3C6-5779-BCA04E50210D}"/>
              </a:ext>
            </a:extLst>
          </p:cNvPr>
          <p:cNvSpPr>
            <a:spLocks noChangeArrowheads="1"/>
          </p:cNvSpPr>
          <p:nvPr/>
        </p:nvSpPr>
        <p:spPr bwMode="auto">
          <a:xfrm>
            <a:off x="4544395" y="2167566"/>
            <a:ext cx="254000" cy="2603500"/>
          </a:xfrm>
          <a:prstGeom prst="rightArrow">
            <a:avLst>
              <a:gd name="adj1" fmla="val 72435"/>
              <a:gd name="adj2" fmla="val 73125"/>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Text Box 53">
            <a:extLst>
              <a:ext uri="{FF2B5EF4-FFF2-40B4-BE49-F238E27FC236}">
                <a16:creationId xmlns:a16="http://schemas.microsoft.com/office/drawing/2014/main" id="{0C14E4D8-6410-4AC3-489D-559229B999AA}"/>
              </a:ext>
            </a:extLst>
          </p:cNvPr>
          <p:cNvSpPr txBox="1">
            <a:spLocks noChangeArrowheads="1"/>
          </p:cNvSpPr>
          <p:nvPr/>
        </p:nvSpPr>
        <p:spPr bwMode="auto">
          <a:xfrm>
            <a:off x="721405" y="5156828"/>
            <a:ext cx="184731"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8" name="AutoShape 54">
            <a:extLst>
              <a:ext uri="{FF2B5EF4-FFF2-40B4-BE49-F238E27FC236}">
                <a16:creationId xmlns:a16="http://schemas.microsoft.com/office/drawing/2014/main" id="{7241087B-B3F9-E135-9435-22B16BCC7CB8}"/>
              </a:ext>
            </a:extLst>
          </p:cNvPr>
          <p:cNvSpPr>
            <a:spLocks/>
          </p:cNvSpPr>
          <p:nvPr/>
        </p:nvSpPr>
        <p:spPr bwMode="auto">
          <a:xfrm rot="5400000">
            <a:off x="2276651" y="2900828"/>
            <a:ext cx="314325" cy="3951288"/>
          </a:xfrm>
          <a:prstGeom prst="rightBrace">
            <a:avLst>
              <a:gd name="adj1" fmla="val 104756"/>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9" name="Text Box 55">
            <a:extLst>
              <a:ext uri="{FF2B5EF4-FFF2-40B4-BE49-F238E27FC236}">
                <a16:creationId xmlns:a16="http://schemas.microsoft.com/office/drawing/2014/main" id="{9229CCCA-193A-8FD3-BD9A-2946DD567358}"/>
              </a:ext>
            </a:extLst>
          </p:cNvPr>
          <p:cNvSpPr txBox="1">
            <a:spLocks noChangeArrowheads="1"/>
          </p:cNvSpPr>
          <p:nvPr/>
        </p:nvSpPr>
        <p:spPr bwMode="auto">
          <a:xfrm>
            <a:off x="85108" y="5074909"/>
            <a:ext cx="46799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200" i="1" dirty="0">
                <a:latin typeface="+mn-lt"/>
              </a:rPr>
              <a:t>S&amp;OP Pilot Team Should Focus On The “Most Likely”</a:t>
            </a:r>
          </a:p>
          <a:p>
            <a:pPr algn="ctr">
              <a:lnSpc>
                <a:spcPct val="90000"/>
              </a:lnSpc>
              <a:buClrTx/>
              <a:buSzTx/>
              <a:buFontTx/>
              <a:buNone/>
            </a:pPr>
            <a:r>
              <a:rPr lang="en-US" altLang="en-US" sz="1200" i="1" dirty="0">
                <a:latin typeface="+mn-lt"/>
              </a:rPr>
              <a:t>Scenarios In Order To Facilitate Rapid Decision Making</a:t>
            </a:r>
          </a:p>
        </p:txBody>
      </p:sp>
      <p:grpSp>
        <p:nvGrpSpPr>
          <p:cNvPr id="4" name="Group 51">
            <a:extLst>
              <a:ext uri="{FF2B5EF4-FFF2-40B4-BE49-F238E27FC236}">
                <a16:creationId xmlns:a16="http://schemas.microsoft.com/office/drawing/2014/main" id="{85E31CA3-1155-790F-BC4F-2B384927A7ED}"/>
              </a:ext>
            </a:extLst>
          </p:cNvPr>
          <p:cNvGrpSpPr>
            <a:grpSpLocks/>
          </p:cNvGrpSpPr>
          <p:nvPr/>
        </p:nvGrpSpPr>
        <p:grpSpPr bwMode="auto">
          <a:xfrm>
            <a:off x="8420088" y="5628516"/>
            <a:ext cx="2933712" cy="650333"/>
            <a:chOff x="676" y="3874"/>
            <a:chExt cx="1500" cy="392"/>
          </a:xfrm>
        </p:grpSpPr>
        <p:sp>
          <p:nvSpPr>
            <p:cNvPr id="5" name="Line 35">
              <a:extLst>
                <a:ext uri="{FF2B5EF4-FFF2-40B4-BE49-F238E27FC236}">
                  <a16:creationId xmlns:a16="http://schemas.microsoft.com/office/drawing/2014/main" id="{1A7AFD87-9216-63D1-7F9C-E6391502BF04}"/>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36">
              <a:extLst>
                <a:ext uri="{FF2B5EF4-FFF2-40B4-BE49-F238E27FC236}">
                  <a16:creationId xmlns:a16="http://schemas.microsoft.com/office/drawing/2014/main" id="{393CF657-B3D5-94A9-44F7-F91C391B7FD5}"/>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37">
              <a:extLst>
                <a:ext uri="{FF2B5EF4-FFF2-40B4-BE49-F238E27FC236}">
                  <a16:creationId xmlns:a16="http://schemas.microsoft.com/office/drawing/2014/main" id="{3A398036-AE39-E6A6-6F6C-FF6AA367C1DA}"/>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Rectangle 38">
              <a:extLst>
                <a:ext uri="{FF2B5EF4-FFF2-40B4-BE49-F238E27FC236}">
                  <a16:creationId xmlns:a16="http://schemas.microsoft.com/office/drawing/2014/main" id="{21796CF9-7C6F-FA58-932B-06A076E908AA}"/>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9" name="Rectangle 39">
              <a:extLst>
                <a:ext uri="{FF2B5EF4-FFF2-40B4-BE49-F238E27FC236}">
                  <a16:creationId xmlns:a16="http://schemas.microsoft.com/office/drawing/2014/main" id="{BA467737-9D87-5738-C1F6-43757A15C4A4}"/>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0" name="Rectangle 40">
              <a:extLst>
                <a:ext uri="{FF2B5EF4-FFF2-40B4-BE49-F238E27FC236}">
                  <a16:creationId xmlns:a16="http://schemas.microsoft.com/office/drawing/2014/main" id="{660A0B78-7DDF-A08D-FDBA-AA5BD607A11C}"/>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11" name="Rectangle 41">
              <a:extLst>
                <a:ext uri="{FF2B5EF4-FFF2-40B4-BE49-F238E27FC236}">
                  <a16:creationId xmlns:a16="http://schemas.microsoft.com/office/drawing/2014/main" id="{DB3706FC-969D-E8DE-3311-59DFE947EF61}"/>
                </a:ext>
              </a:extLst>
            </p:cNvPr>
            <p:cNvSpPr>
              <a:spLocks noChangeArrowheads="1"/>
            </p:cNvSpPr>
            <p:nvPr/>
          </p:nvSpPr>
          <p:spPr bwMode="auto">
            <a:xfrm>
              <a:off x="1734"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a:solidFill>
                    <a:schemeClr val="bg1"/>
                  </a:solidFill>
                  <a:latin typeface="+mn-lt"/>
                </a:rPr>
                <a:t>Error Code</a:t>
              </a:r>
            </a:p>
            <a:p>
              <a:pPr algn="ctr">
                <a:lnSpc>
                  <a:spcPct val="80000"/>
                </a:lnSpc>
                <a:buClrTx/>
                <a:buSzTx/>
                <a:buNone/>
              </a:pPr>
              <a:r>
                <a:rPr lang="en-US" altLang="en-US" sz="200">
                  <a:solidFill>
                    <a:schemeClr val="bg1"/>
                  </a:solidFill>
                  <a:latin typeface="+mn-lt"/>
                </a:rPr>
                <a:t>Evaluation</a:t>
              </a:r>
            </a:p>
          </p:txBody>
        </p:sp>
        <p:sp>
          <p:nvSpPr>
            <p:cNvPr id="20" name="AutoShape 42">
              <a:extLst>
                <a:ext uri="{FF2B5EF4-FFF2-40B4-BE49-F238E27FC236}">
                  <a16:creationId xmlns:a16="http://schemas.microsoft.com/office/drawing/2014/main" id="{3F0FFD73-E848-3E65-08B3-56E080001BE6}"/>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1" name="Rectangle 43">
              <a:extLst>
                <a:ext uri="{FF2B5EF4-FFF2-40B4-BE49-F238E27FC236}">
                  <a16:creationId xmlns:a16="http://schemas.microsoft.com/office/drawing/2014/main" id="{E94F2DA5-1E64-B440-4EFD-97AB817E42BE}"/>
                </a:ext>
              </a:extLst>
            </p:cNvPr>
            <p:cNvSpPr>
              <a:spLocks noChangeArrowheads="1"/>
            </p:cNvSpPr>
            <p:nvPr/>
          </p:nvSpPr>
          <p:spPr bwMode="auto">
            <a:xfrm>
              <a:off x="198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200" dirty="0">
                  <a:solidFill>
                    <a:srgbClr val="000066"/>
                  </a:solidFill>
                  <a:latin typeface="+mn-lt"/>
                </a:rPr>
                <a:t>Second-Pass</a:t>
              </a:r>
            </a:p>
            <a:p>
              <a:pPr algn="ctr">
                <a:lnSpc>
                  <a:spcPct val="80000"/>
                </a:lnSpc>
                <a:buClrTx/>
                <a:buSzTx/>
                <a:buNone/>
              </a:pPr>
              <a:r>
                <a:rPr lang="en-US" altLang="en-US" sz="200" dirty="0">
                  <a:solidFill>
                    <a:srgbClr val="000066"/>
                  </a:solidFill>
                  <a:latin typeface="+mn-lt"/>
                </a:rPr>
                <a:t>Spreadsheet</a:t>
              </a:r>
            </a:p>
            <a:p>
              <a:pPr algn="ctr">
                <a:lnSpc>
                  <a:spcPct val="80000"/>
                </a:lnSpc>
                <a:buClrTx/>
                <a:buSzTx/>
                <a:buNone/>
              </a:pPr>
              <a:r>
                <a:rPr lang="ja-JP" altLang="en-US" sz="200" dirty="0">
                  <a:solidFill>
                    <a:srgbClr val="000066"/>
                  </a:solidFill>
                  <a:latin typeface="+mn-lt"/>
                </a:rPr>
                <a:t>“</a:t>
              </a:r>
              <a:r>
                <a:rPr lang="en-US" altLang="ja-JP" sz="200" dirty="0">
                  <a:solidFill>
                    <a:srgbClr val="000066"/>
                  </a:solidFill>
                  <a:latin typeface="+mn-lt"/>
                </a:rPr>
                <a:t>Capacity Plan</a:t>
              </a:r>
              <a:r>
                <a:rPr lang="ja-JP" altLang="en-US" sz="200" dirty="0">
                  <a:solidFill>
                    <a:srgbClr val="000066"/>
                  </a:solidFill>
                  <a:latin typeface="+mn-lt"/>
                </a:rPr>
                <a:t>”</a:t>
              </a:r>
              <a:endParaRPr lang="en-US" altLang="en-US" sz="200" dirty="0">
                <a:solidFill>
                  <a:srgbClr val="000066"/>
                </a:solidFill>
                <a:latin typeface="+mn-lt"/>
              </a:endParaRPr>
            </a:p>
          </p:txBody>
        </p:sp>
        <p:sp>
          <p:nvSpPr>
            <p:cNvPr id="22" name="Rectangle 44">
              <a:extLst>
                <a:ext uri="{FF2B5EF4-FFF2-40B4-BE49-F238E27FC236}">
                  <a16:creationId xmlns:a16="http://schemas.microsoft.com/office/drawing/2014/main" id="{268B2B75-9B09-402A-BD51-3005D3756E95}"/>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23" name="Rectangle 45">
              <a:extLst>
                <a:ext uri="{FF2B5EF4-FFF2-40B4-BE49-F238E27FC236}">
                  <a16:creationId xmlns:a16="http://schemas.microsoft.com/office/drawing/2014/main" id="{48ED8506-0249-9EF7-4FAA-825FBF1A522C}"/>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24" name="Rectangle 46">
              <a:extLst>
                <a:ext uri="{FF2B5EF4-FFF2-40B4-BE49-F238E27FC236}">
                  <a16:creationId xmlns:a16="http://schemas.microsoft.com/office/drawing/2014/main" id="{67E34F8F-51F8-6873-BAB3-77F70FCC273F}"/>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25" name="Rectangle 47">
              <a:extLst>
                <a:ext uri="{FF2B5EF4-FFF2-40B4-BE49-F238E27FC236}">
                  <a16:creationId xmlns:a16="http://schemas.microsoft.com/office/drawing/2014/main" id="{7542093B-9B23-989D-EDD3-31555361CB09}"/>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3237054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Business Plan Evaluation:  </a:t>
            </a:r>
            <a:br>
              <a:rPr lang="en-US" sz="3600" dirty="0"/>
            </a:br>
            <a:r>
              <a:rPr lang="en-US" sz="3600" dirty="0"/>
              <a:t>On-Target For Next-Month Revenue Cycle?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302032" y="2876869"/>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a:solidFill>
                  <a:srgbClr val="000000"/>
                </a:solidFill>
                <a:latin typeface="+mn-lt"/>
              </a:rPr>
              <a:t>Similar to the demand planning cycle, supply team members must then evaluate the final supply plan (output) with the published revenue plan;  is the S&amp;OP on-track to deliver published revenue results for the next-month cycle?</a:t>
            </a:r>
            <a:endParaRPr lang="en-US" altLang="en-US" sz="1400" dirty="0">
              <a:solidFill>
                <a:srgbClr val="000000"/>
              </a:solidFill>
              <a:latin typeface="+mn-lt"/>
            </a:endParaRPr>
          </a:p>
        </p:txBody>
      </p:sp>
      <p:graphicFrame>
        <p:nvGraphicFramePr>
          <p:cNvPr id="6" name="Object 5">
            <a:extLst>
              <a:ext uri="{FF2B5EF4-FFF2-40B4-BE49-F238E27FC236}">
                <a16:creationId xmlns:a16="http://schemas.microsoft.com/office/drawing/2014/main" id="{A8B74999-859B-534B-6DA2-726EEB9E4CB9}"/>
              </a:ext>
            </a:extLst>
          </p:cNvPr>
          <p:cNvGraphicFramePr>
            <a:graphicFrameLocks noChangeAspect="1"/>
          </p:cNvGraphicFramePr>
          <p:nvPr>
            <p:extLst>
              <p:ext uri="{D42A27DB-BD31-4B8C-83A1-F6EECF244321}">
                <p14:modId xmlns:p14="http://schemas.microsoft.com/office/powerpoint/2010/main" val="2721929638"/>
              </p:ext>
            </p:extLst>
          </p:nvPr>
        </p:nvGraphicFramePr>
        <p:xfrm>
          <a:off x="50800" y="1762436"/>
          <a:ext cx="8674100" cy="38461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oup 89">
            <a:extLst>
              <a:ext uri="{FF2B5EF4-FFF2-40B4-BE49-F238E27FC236}">
                <a16:creationId xmlns:a16="http://schemas.microsoft.com/office/drawing/2014/main" id="{527AD19B-9ECE-25C2-6935-2C5AB0A6030E}"/>
              </a:ext>
            </a:extLst>
          </p:cNvPr>
          <p:cNvGraphicFramePr>
            <a:graphicFrameLocks noGrp="1"/>
          </p:cNvGraphicFramePr>
          <p:nvPr>
            <p:extLst>
              <p:ext uri="{D42A27DB-BD31-4B8C-83A1-F6EECF244321}">
                <p14:modId xmlns:p14="http://schemas.microsoft.com/office/powerpoint/2010/main" val="1205246073"/>
              </p:ext>
            </p:extLst>
          </p:nvPr>
        </p:nvGraphicFramePr>
        <p:xfrm>
          <a:off x="384021" y="5570608"/>
          <a:ext cx="7970837" cy="485776"/>
        </p:xfrm>
        <a:graphic>
          <a:graphicData uri="http://schemas.openxmlformats.org/drawingml/2006/table">
            <a:tbl>
              <a:tblPr/>
              <a:tblGrid>
                <a:gridCol w="1328737">
                  <a:extLst>
                    <a:ext uri="{9D8B030D-6E8A-4147-A177-3AD203B41FA5}">
                      <a16:colId xmlns:a16="http://schemas.microsoft.com/office/drawing/2014/main" val="20000"/>
                    </a:ext>
                  </a:extLst>
                </a:gridCol>
                <a:gridCol w="1328738">
                  <a:extLst>
                    <a:ext uri="{9D8B030D-6E8A-4147-A177-3AD203B41FA5}">
                      <a16:colId xmlns:a16="http://schemas.microsoft.com/office/drawing/2014/main" val="20001"/>
                    </a:ext>
                  </a:extLst>
                </a:gridCol>
                <a:gridCol w="1327150">
                  <a:extLst>
                    <a:ext uri="{9D8B030D-6E8A-4147-A177-3AD203B41FA5}">
                      <a16:colId xmlns:a16="http://schemas.microsoft.com/office/drawing/2014/main" val="20002"/>
                    </a:ext>
                  </a:extLst>
                </a:gridCol>
                <a:gridCol w="1328737">
                  <a:extLst>
                    <a:ext uri="{9D8B030D-6E8A-4147-A177-3AD203B41FA5}">
                      <a16:colId xmlns:a16="http://schemas.microsoft.com/office/drawing/2014/main" val="20003"/>
                    </a:ext>
                  </a:extLst>
                </a:gridCol>
                <a:gridCol w="1328738">
                  <a:extLst>
                    <a:ext uri="{9D8B030D-6E8A-4147-A177-3AD203B41FA5}">
                      <a16:colId xmlns:a16="http://schemas.microsoft.com/office/drawing/2014/main" val="20004"/>
                    </a:ext>
                  </a:extLst>
                </a:gridCol>
                <a:gridCol w="1328737">
                  <a:extLst>
                    <a:ext uri="{9D8B030D-6E8A-4147-A177-3AD203B41FA5}">
                      <a16:colId xmlns:a16="http://schemas.microsoft.com/office/drawing/2014/main" val="20005"/>
                    </a:ext>
                  </a:extLst>
                </a:gridCol>
              </a:tblGrid>
              <a:tr h="24288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Consensus Demand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Statistical Forecast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Business Plan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Stretch Goal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bg1"/>
                          </a:solidFill>
                          <a:effectLst/>
                          <a:latin typeface="+mn-lt"/>
                          <a:ea typeface="ＭＳ Ｐゴシック" charset="0"/>
                        </a:rPr>
                        <a:t>Supply Plan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Assumptions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24288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350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Shift 2 Overtime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4" name="Group 51">
            <a:extLst>
              <a:ext uri="{FF2B5EF4-FFF2-40B4-BE49-F238E27FC236}">
                <a16:creationId xmlns:a16="http://schemas.microsoft.com/office/drawing/2014/main" id="{EA0E5169-3DB3-DA7F-C200-F8A7AD9BA002}"/>
              </a:ext>
            </a:extLst>
          </p:cNvPr>
          <p:cNvGrpSpPr>
            <a:grpSpLocks/>
          </p:cNvGrpSpPr>
          <p:nvPr/>
        </p:nvGrpSpPr>
        <p:grpSpPr bwMode="auto">
          <a:xfrm>
            <a:off x="8420088" y="5628516"/>
            <a:ext cx="2933712" cy="650333"/>
            <a:chOff x="676" y="3874"/>
            <a:chExt cx="1500" cy="392"/>
          </a:xfrm>
        </p:grpSpPr>
        <p:sp>
          <p:nvSpPr>
            <p:cNvPr id="7" name="Line 35">
              <a:extLst>
                <a:ext uri="{FF2B5EF4-FFF2-40B4-BE49-F238E27FC236}">
                  <a16:creationId xmlns:a16="http://schemas.microsoft.com/office/drawing/2014/main" id="{85DFB1D2-7BD7-1489-497D-6C9393D12D25}"/>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36">
              <a:extLst>
                <a:ext uri="{FF2B5EF4-FFF2-40B4-BE49-F238E27FC236}">
                  <a16:creationId xmlns:a16="http://schemas.microsoft.com/office/drawing/2014/main" id="{67C74A62-CDDC-7EDD-6116-B2FEE2CB561E}"/>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37">
              <a:extLst>
                <a:ext uri="{FF2B5EF4-FFF2-40B4-BE49-F238E27FC236}">
                  <a16:creationId xmlns:a16="http://schemas.microsoft.com/office/drawing/2014/main" id="{72008295-929E-82AC-8A2B-C01E0B588A59}"/>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Rectangle 38">
              <a:extLst>
                <a:ext uri="{FF2B5EF4-FFF2-40B4-BE49-F238E27FC236}">
                  <a16:creationId xmlns:a16="http://schemas.microsoft.com/office/drawing/2014/main" id="{5600E39C-4443-50BD-1DD7-96CB27E9D5E8}"/>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11" name="Rectangle 39">
              <a:extLst>
                <a:ext uri="{FF2B5EF4-FFF2-40B4-BE49-F238E27FC236}">
                  <a16:creationId xmlns:a16="http://schemas.microsoft.com/office/drawing/2014/main" id="{F4F9D830-FC4A-099C-E5FF-01F657D9F313}"/>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12" name="Rectangle 40">
              <a:extLst>
                <a:ext uri="{FF2B5EF4-FFF2-40B4-BE49-F238E27FC236}">
                  <a16:creationId xmlns:a16="http://schemas.microsoft.com/office/drawing/2014/main" id="{1D3E0F91-C1D2-AD63-000E-2FE6490AC2C6}"/>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13" name="Rectangle 41">
              <a:extLst>
                <a:ext uri="{FF2B5EF4-FFF2-40B4-BE49-F238E27FC236}">
                  <a16:creationId xmlns:a16="http://schemas.microsoft.com/office/drawing/2014/main" id="{06EA5B34-A014-0732-CF1E-0E405C79CAA3}"/>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14" name="AutoShape 42">
              <a:extLst>
                <a:ext uri="{FF2B5EF4-FFF2-40B4-BE49-F238E27FC236}">
                  <a16:creationId xmlns:a16="http://schemas.microsoft.com/office/drawing/2014/main" id="{0558402A-046A-A5B5-346D-E4E932931471}"/>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15" name="Rectangle 43">
              <a:extLst>
                <a:ext uri="{FF2B5EF4-FFF2-40B4-BE49-F238E27FC236}">
                  <a16:creationId xmlns:a16="http://schemas.microsoft.com/office/drawing/2014/main" id="{73AF31B1-E604-D562-2168-18D803255100}"/>
                </a:ext>
              </a:extLst>
            </p:cNvPr>
            <p:cNvSpPr>
              <a:spLocks noChangeArrowheads="1"/>
            </p:cNvSpPr>
            <p:nvPr/>
          </p:nvSpPr>
          <p:spPr bwMode="auto">
            <a:xfrm>
              <a:off x="198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Second-Pass</a:t>
              </a:r>
            </a:p>
            <a:p>
              <a:pPr algn="ctr">
                <a:lnSpc>
                  <a:spcPct val="80000"/>
                </a:lnSpc>
                <a:buClrTx/>
                <a:buSzTx/>
                <a:buFontTx/>
                <a:buNone/>
              </a:pPr>
              <a:r>
                <a:rPr lang="en-US" altLang="en-US" sz="200" dirty="0">
                  <a:solidFill>
                    <a:schemeClr val="bg1"/>
                  </a:solidFill>
                  <a:latin typeface="+mn-lt"/>
                </a:rPr>
                <a:t>Spreadsheet</a:t>
              </a:r>
            </a:p>
            <a:p>
              <a:pPr algn="ctr">
                <a:lnSpc>
                  <a:spcPct val="80000"/>
                </a:lnSpc>
                <a:buClrTx/>
                <a:buSzTx/>
                <a:buFontTx/>
                <a:buNone/>
              </a:pPr>
              <a:r>
                <a:rPr lang="ja-JP" altLang="en-US" sz="200" dirty="0">
                  <a:solidFill>
                    <a:schemeClr val="bg1"/>
                  </a:solidFill>
                  <a:latin typeface="+mn-lt"/>
                </a:rPr>
                <a:t>“</a:t>
              </a:r>
              <a:r>
                <a:rPr lang="en-US" altLang="ja-JP" sz="200" dirty="0">
                  <a:solidFill>
                    <a:schemeClr val="bg1"/>
                  </a:solidFill>
                  <a:latin typeface="+mn-lt"/>
                </a:rPr>
                <a:t>Capacity Plan</a:t>
              </a:r>
              <a:r>
                <a:rPr lang="ja-JP" altLang="en-US" sz="200" dirty="0">
                  <a:solidFill>
                    <a:schemeClr val="bg1"/>
                  </a:solidFill>
                  <a:latin typeface="+mn-lt"/>
                </a:rPr>
                <a:t>”</a:t>
              </a:r>
              <a:endParaRPr lang="en-US" altLang="en-US" sz="200" dirty="0">
                <a:solidFill>
                  <a:schemeClr val="bg1"/>
                </a:solidFill>
                <a:latin typeface="+mn-lt"/>
              </a:endParaRPr>
            </a:p>
          </p:txBody>
        </p:sp>
        <p:sp>
          <p:nvSpPr>
            <p:cNvPr id="16" name="Rectangle 44">
              <a:extLst>
                <a:ext uri="{FF2B5EF4-FFF2-40B4-BE49-F238E27FC236}">
                  <a16:creationId xmlns:a16="http://schemas.microsoft.com/office/drawing/2014/main" id="{C06BD913-513E-F542-FCD8-93DD1E3B9142}"/>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17" name="Rectangle 45">
              <a:extLst>
                <a:ext uri="{FF2B5EF4-FFF2-40B4-BE49-F238E27FC236}">
                  <a16:creationId xmlns:a16="http://schemas.microsoft.com/office/drawing/2014/main" id="{DBCDC2F5-5677-39AD-982D-36D90A4648C1}"/>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18" name="Rectangle 46">
              <a:extLst>
                <a:ext uri="{FF2B5EF4-FFF2-40B4-BE49-F238E27FC236}">
                  <a16:creationId xmlns:a16="http://schemas.microsoft.com/office/drawing/2014/main" id="{70CF4ED0-7846-7463-AF0C-DBEDBB286A0B}"/>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19" name="Rectangle 47">
              <a:extLst>
                <a:ext uri="{FF2B5EF4-FFF2-40B4-BE49-F238E27FC236}">
                  <a16:creationId xmlns:a16="http://schemas.microsoft.com/office/drawing/2014/main" id="{8B5AACA9-6430-007A-9E84-61E8F4ACD065}"/>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23115438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 Plan Summary Document: </a:t>
            </a:r>
            <a:br>
              <a:rPr lang="en-US" sz="3600" dirty="0"/>
            </a:br>
            <a:r>
              <a:rPr lang="en-US" sz="3600" dirty="0"/>
              <a:t>The Plan, Assumptions &amp; Performance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Completing the cycle, supply planning team members will then complete the next-month supply plan summary outlining all key assumptions, constraints, and performance results in preparation for the supply-demand synchronization meeting.</a:t>
            </a:r>
          </a:p>
        </p:txBody>
      </p:sp>
      <p:sp>
        <p:nvSpPr>
          <p:cNvPr id="4" name="Rectangle 800">
            <a:extLst>
              <a:ext uri="{FF2B5EF4-FFF2-40B4-BE49-F238E27FC236}">
                <a16:creationId xmlns:a16="http://schemas.microsoft.com/office/drawing/2014/main" id="{51FC2ED6-57E0-ABCD-7ED1-5107DE4801F6}"/>
              </a:ext>
            </a:extLst>
          </p:cNvPr>
          <p:cNvSpPr>
            <a:spLocks noChangeArrowheads="1"/>
          </p:cNvSpPr>
          <p:nvPr/>
        </p:nvSpPr>
        <p:spPr bwMode="auto">
          <a:xfrm>
            <a:off x="192852" y="1981872"/>
            <a:ext cx="5948363" cy="3733800"/>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 name="Rectangle 838">
            <a:extLst>
              <a:ext uri="{FF2B5EF4-FFF2-40B4-BE49-F238E27FC236}">
                <a16:creationId xmlns:a16="http://schemas.microsoft.com/office/drawing/2014/main" id="{57AD0E5D-54C6-6F42-A35A-503E9BAF8677}"/>
              </a:ext>
            </a:extLst>
          </p:cNvPr>
          <p:cNvSpPr>
            <a:spLocks noChangeArrowheads="1"/>
          </p:cNvSpPr>
          <p:nvPr/>
        </p:nvSpPr>
        <p:spPr bwMode="auto">
          <a:xfrm>
            <a:off x="340490" y="2456534"/>
            <a:ext cx="3000375" cy="17113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aphicFrame>
        <p:nvGraphicFramePr>
          <p:cNvPr id="8" name="Group 839">
            <a:extLst>
              <a:ext uri="{FF2B5EF4-FFF2-40B4-BE49-F238E27FC236}">
                <a16:creationId xmlns:a16="http://schemas.microsoft.com/office/drawing/2014/main" id="{785986EF-4A81-A0B4-8F32-7BD33BC67AC1}"/>
              </a:ext>
            </a:extLst>
          </p:cNvPr>
          <p:cNvGraphicFramePr>
            <a:graphicFrameLocks noGrp="1"/>
          </p:cNvGraphicFramePr>
          <p:nvPr>
            <p:extLst>
              <p:ext uri="{D42A27DB-BD31-4B8C-83A1-F6EECF244321}">
                <p14:modId xmlns:p14="http://schemas.microsoft.com/office/powerpoint/2010/main" val="2352139080"/>
              </p:ext>
            </p:extLst>
          </p:nvPr>
        </p:nvGraphicFramePr>
        <p:xfrm>
          <a:off x="4675952" y="4480597"/>
          <a:ext cx="1298575" cy="1000126"/>
        </p:xfrm>
        <a:graphic>
          <a:graphicData uri="http://schemas.openxmlformats.org/drawingml/2006/table">
            <a:tbl>
              <a:tblPr/>
              <a:tblGrid>
                <a:gridCol w="1298575">
                  <a:extLst>
                    <a:ext uri="{9D8B030D-6E8A-4147-A177-3AD203B41FA5}">
                      <a16:colId xmlns:a16="http://schemas.microsoft.com/office/drawing/2014/main" val="20000"/>
                    </a:ext>
                  </a:extLst>
                </a:gridCol>
              </a:tblGrid>
              <a:tr h="21113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500" b="1" i="0" u="none" strike="noStrike" cap="none" normalizeH="0" baseline="0" dirty="0">
                          <a:ln>
                            <a:noFill/>
                          </a:ln>
                          <a:solidFill>
                            <a:schemeClr val="bg1"/>
                          </a:solidFill>
                          <a:effectLst/>
                          <a:latin typeface="Arial" charset="0"/>
                          <a:ea typeface="ＭＳ Ｐゴシック" charset="0"/>
                        </a:rPr>
                        <a:t>Internal Special Circumstances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288925">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endParaRPr kumimoji="0" lang="en-US" sz="500" b="1"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113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500" b="1" i="0" u="none" strike="noStrike" cap="none" normalizeH="0" baseline="0" dirty="0">
                          <a:ln>
                            <a:noFill/>
                          </a:ln>
                          <a:solidFill>
                            <a:schemeClr val="bg1"/>
                          </a:solidFill>
                          <a:effectLst/>
                          <a:latin typeface="Arial" charset="0"/>
                          <a:ea typeface="ＭＳ Ｐゴシック" charset="0"/>
                        </a:rPr>
                        <a:t>External Special Circumstances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2"/>
                  </a:ext>
                </a:extLst>
              </a:tr>
              <a:tr h="288925">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endParaRPr kumimoji="0" lang="en-US" sz="500" b="0" i="0" u="none" strike="noStrike" cap="none" normalizeH="0" baseline="0" dirty="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9" name="Group 851">
            <a:extLst>
              <a:ext uri="{FF2B5EF4-FFF2-40B4-BE49-F238E27FC236}">
                <a16:creationId xmlns:a16="http://schemas.microsoft.com/office/drawing/2014/main" id="{08D98B11-A214-2323-9B07-BE0E202FE10C}"/>
              </a:ext>
            </a:extLst>
          </p:cNvPr>
          <p:cNvGraphicFramePr>
            <a:graphicFrameLocks noGrp="1"/>
          </p:cNvGraphicFramePr>
          <p:nvPr>
            <p:extLst>
              <p:ext uri="{D42A27DB-BD31-4B8C-83A1-F6EECF244321}">
                <p14:modId xmlns:p14="http://schemas.microsoft.com/office/powerpoint/2010/main" val="2372309813"/>
              </p:ext>
            </p:extLst>
          </p:nvPr>
        </p:nvGraphicFramePr>
        <p:xfrm>
          <a:off x="340490" y="4475834"/>
          <a:ext cx="1822450" cy="1000126"/>
        </p:xfrm>
        <a:graphic>
          <a:graphicData uri="http://schemas.openxmlformats.org/drawingml/2006/table">
            <a:tbl>
              <a:tblPr/>
              <a:tblGrid>
                <a:gridCol w="1822450">
                  <a:extLst>
                    <a:ext uri="{9D8B030D-6E8A-4147-A177-3AD203B41FA5}">
                      <a16:colId xmlns:a16="http://schemas.microsoft.com/office/drawing/2014/main" val="20000"/>
                    </a:ext>
                  </a:extLst>
                </a:gridCol>
              </a:tblGrid>
              <a:tr h="21113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500" b="1" i="0" u="none" strike="noStrike" cap="none" normalizeH="0" baseline="0" dirty="0">
                          <a:ln>
                            <a:noFill/>
                          </a:ln>
                          <a:solidFill>
                            <a:schemeClr val="bg1"/>
                          </a:solidFill>
                          <a:effectLst/>
                          <a:latin typeface="Arial" charset="0"/>
                          <a:ea typeface="ＭＳ Ｐゴシック" charset="0"/>
                        </a:rPr>
                        <a:t>Internal Assumptions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288925">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endParaRPr kumimoji="0" lang="en-US" sz="500" b="1"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113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500" b="1" i="0" u="none" strike="noStrike" cap="none" normalizeH="0" baseline="0" dirty="0">
                          <a:ln>
                            <a:noFill/>
                          </a:ln>
                          <a:solidFill>
                            <a:schemeClr val="bg1"/>
                          </a:solidFill>
                          <a:effectLst/>
                          <a:latin typeface="Arial" charset="0"/>
                          <a:ea typeface="ＭＳ Ｐゴシック" charset="0"/>
                        </a:rPr>
                        <a:t>External Assumptions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2"/>
                  </a:ext>
                </a:extLst>
              </a:tr>
              <a:tr h="288925">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endParaRPr kumimoji="0" lang="en-US" sz="500" b="0" i="0" u="none" strike="noStrike" cap="none" normalizeH="0" baseline="0" dirty="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0" name="Group 863">
            <a:extLst>
              <a:ext uri="{FF2B5EF4-FFF2-40B4-BE49-F238E27FC236}">
                <a16:creationId xmlns:a16="http://schemas.microsoft.com/office/drawing/2014/main" id="{FBB60A36-86BB-C2A2-4155-A737B0D03E05}"/>
              </a:ext>
            </a:extLst>
          </p:cNvPr>
          <p:cNvGraphicFramePr>
            <a:graphicFrameLocks noGrp="1"/>
          </p:cNvGraphicFramePr>
          <p:nvPr>
            <p:extLst>
              <p:ext uri="{D42A27DB-BD31-4B8C-83A1-F6EECF244321}">
                <p14:modId xmlns:p14="http://schemas.microsoft.com/office/powerpoint/2010/main" val="3930279479"/>
              </p:ext>
            </p:extLst>
          </p:nvPr>
        </p:nvGraphicFramePr>
        <p:xfrm>
          <a:off x="2513777" y="4480597"/>
          <a:ext cx="1822450" cy="1000126"/>
        </p:xfrm>
        <a:graphic>
          <a:graphicData uri="http://schemas.openxmlformats.org/drawingml/2006/table">
            <a:tbl>
              <a:tblPr/>
              <a:tblGrid>
                <a:gridCol w="1822450">
                  <a:extLst>
                    <a:ext uri="{9D8B030D-6E8A-4147-A177-3AD203B41FA5}">
                      <a16:colId xmlns:a16="http://schemas.microsoft.com/office/drawing/2014/main" val="20000"/>
                    </a:ext>
                  </a:extLst>
                </a:gridCol>
              </a:tblGrid>
              <a:tr h="21113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500" b="1" i="0" u="none" strike="noStrike" cap="none" normalizeH="0" baseline="0" dirty="0">
                          <a:ln>
                            <a:noFill/>
                          </a:ln>
                          <a:solidFill>
                            <a:schemeClr val="bg1"/>
                          </a:solidFill>
                          <a:effectLst/>
                          <a:latin typeface="Arial" charset="0"/>
                          <a:ea typeface="ＭＳ Ｐゴシック" charset="0"/>
                        </a:rPr>
                        <a:t>Identified Risks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288925">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endParaRPr kumimoji="0" lang="en-US" sz="500" b="1"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113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500" b="1" i="0" u="none" strike="noStrike" cap="none" normalizeH="0" baseline="0" dirty="0">
                          <a:ln>
                            <a:noFill/>
                          </a:ln>
                          <a:solidFill>
                            <a:schemeClr val="bg1"/>
                          </a:solidFill>
                          <a:effectLst/>
                          <a:latin typeface="Arial" charset="0"/>
                          <a:ea typeface="ＭＳ Ｐゴシック" charset="0"/>
                        </a:rPr>
                        <a:t>Supply Opportunities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2"/>
                  </a:ext>
                </a:extLst>
              </a:tr>
              <a:tr h="288925">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endParaRPr kumimoji="0" lang="en-US" sz="500" b="0" i="0" u="none" strike="noStrike" cap="none" normalizeH="0" baseline="0" dirty="0">
                        <a:ln>
                          <a:noFill/>
                        </a:ln>
                        <a:solidFill>
                          <a:schemeClr val="tx1"/>
                        </a:solidFill>
                        <a:effectLst/>
                        <a:latin typeface="Arial"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1" name="Group 875">
            <a:extLst>
              <a:ext uri="{FF2B5EF4-FFF2-40B4-BE49-F238E27FC236}">
                <a16:creationId xmlns:a16="http://schemas.microsoft.com/office/drawing/2014/main" id="{031DAACE-38D1-AA20-DC80-C9C337E9A06C}"/>
              </a:ext>
            </a:extLst>
          </p:cNvPr>
          <p:cNvGraphicFramePr>
            <a:graphicFrameLocks noGrp="1"/>
          </p:cNvGraphicFramePr>
          <p:nvPr>
            <p:extLst>
              <p:ext uri="{D42A27DB-BD31-4B8C-83A1-F6EECF244321}">
                <p14:modId xmlns:p14="http://schemas.microsoft.com/office/powerpoint/2010/main" val="2142762340"/>
              </p:ext>
            </p:extLst>
          </p:nvPr>
        </p:nvGraphicFramePr>
        <p:xfrm>
          <a:off x="451615" y="2119984"/>
          <a:ext cx="5427662" cy="207963"/>
        </p:xfrm>
        <a:graphic>
          <a:graphicData uri="http://schemas.openxmlformats.org/drawingml/2006/table">
            <a:tbl>
              <a:tblPr/>
              <a:tblGrid>
                <a:gridCol w="1357312">
                  <a:extLst>
                    <a:ext uri="{9D8B030D-6E8A-4147-A177-3AD203B41FA5}">
                      <a16:colId xmlns:a16="http://schemas.microsoft.com/office/drawing/2014/main" val="20000"/>
                    </a:ext>
                  </a:extLst>
                </a:gridCol>
                <a:gridCol w="1357313">
                  <a:extLst>
                    <a:ext uri="{9D8B030D-6E8A-4147-A177-3AD203B41FA5}">
                      <a16:colId xmlns:a16="http://schemas.microsoft.com/office/drawing/2014/main" val="20001"/>
                    </a:ext>
                  </a:extLst>
                </a:gridCol>
                <a:gridCol w="1357312">
                  <a:extLst>
                    <a:ext uri="{9D8B030D-6E8A-4147-A177-3AD203B41FA5}">
                      <a16:colId xmlns:a16="http://schemas.microsoft.com/office/drawing/2014/main" val="20002"/>
                    </a:ext>
                  </a:extLst>
                </a:gridCol>
                <a:gridCol w="1355725">
                  <a:extLst>
                    <a:ext uri="{9D8B030D-6E8A-4147-A177-3AD203B41FA5}">
                      <a16:colId xmlns:a16="http://schemas.microsoft.com/office/drawing/2014/main" val="20003"/>
                    </a:ext>
                  </a:extLst>
                </a:gridCol>
              </a:tblGrid>
              <a:tr h="207963">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600" b="1" i="0" u="none" strike="noStrike" cap="none" normalizeH="0" baseline="0" dirty="0">
                          <a:ln>
                            <a:noFill/>
                          </a:ln>
                          <a:solidFill>
                            <a:schemeClr val="bg1"/>
                          </a:solidFill>
                          <a:effectLst/>
                          <a:latin typeface="Arial" charset="0"/>
                          <a:ea typeface="ＭＳ Ｐゴシック" charset="0"/>
                        </a:rPr>
                        <a:t>Supply Plan Summary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600" b="1" i="0" u="none" strike="noStrike" cap="none" normalizeH="0" baseline="0" dirty="0">
                          <a:ln>
                            <a:noFill/>
                          </a:ln>
                          <a:solidFill>
                            <a:schemeClr val="bg1"/>
                          </a:solidFill>
                          <a:effectLst/>
                          <a:latin typeface="Arial" charset="0"/>
                          <a:ea typeface="ＭＳ Ｐゴシック" charset="0"/>
                        </a:rPr>
                        <a:t>Generic Product Line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600" b="1" i="0" u="none" strike="noStrike" cap="none" normalizeH="0" baseline="0" dirty="0">
                          <a:ln>
                            <a:noFill/>
                          </a:ln>
                          <a:solidFill>
                            <a:schemeClr val="bg1"/>
                          </a:solidFill>
                          <a:effectLst/>
                          <a:latin typeface="Arial" charset="0"/>
                          <a:ea typeface="ＭＳ Ｐゴシック" charset="0"/>
                        </a:rPr>
                        <a:t>For Month of October 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600" b="1" i="0" u="none" strike="noStrike" cap="none" normalizeH="0" baseline="0" dirty="0">
                          <a:ln>
                            <a:noFill/>
                          </a:ln>
                          <a:solidFill>
                            <a:schemeClr val="bg1"/>
                          </a:solidFill>
                          <a:effectLst/>
                          <a:latin typeface="Arial" charset="0"/>
                          <a:ea typeface="ＭＳ Ｐゴシック" charset="0"/>
                        </a:rPr>
                        <a:t>Supply Plan:  4400 Units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bl>
          </a:graphicData>
        </a:graphic>
      </p:graphicFrame>
      <p:graphicFrame>
        <p:nvGraphicFramePr>
          <p:cNvPr id="12" name="Object 891">
            <a:extLst>
              <a:ext uri="{FF2B5EF4-FFF2-40B4-BE49-F238E27FC236}">
                <a16:creationId xmlns:a16="http://schemas.microsoft.com/office/drawing/2014/main" id="{D39C3179-DF60-ABA9-D50A-3ADBBF56A95A}"/>
              </a:ext>
            </a:extLst>
          </p:cNvPr>
          <p:cNvGraphicFramePr>
            <a:graphicFrameLocks noChangeAspect="1"/>
          </p:cNvGraphicFramePr>
          <p:nvPr>
            <p:extLst>
              <p:ext uri="{D42A27DB-BD31-4B8C-83A1-F6EECF244321}">
                <p14:modId xmlns:p14="http://schemas.microsoft.com/office/powerpoint/2010/main" val="2453037421"/>
              </p:ext>
            </p:extLst>
          </p:nvPr>
        </p:nvGraphicFramePr>
        <p:xfrm>
          <a:off x="409575" y="2527300"/>
          <a:ext cx="2605088" cy="1597025"/>
        </p:xfrm>
        <a:graphic>
          <a:graphicData uri="http://schemas.openxmlformats.org/presentationml/2006/ole">
            <mc:AlternateContent xmlns:mc="http://schemas.openxmlformats.org/markup-compatibility/2006">
              <mc:Choice xmlns:v="urn:schemas-microsoft-com:vml" Requires="v">
                <p:oleObj name="Worksheet" r:id="rId3" imgW="4800510" imgH="2943305" progId="Excel.Sheet.8">
                  <p:embed/>
                </p:oleObj>
              </mc:Choice>
              <mc:Fallback>
                <p:oleObj name="Worksheet" r:id="rId3" imgW="4800510" imgH="2943305" progId="Excel.Sheet.8">
                  <p:embed/>
                  <p:pic>
                    <p:nvPicPr>
                      <p:cNvPr id="52277" name="Object 891">
                        <a:extLst>
                          <a:ext uri="{FF2B5EF4-FFF2-40B4-BE49-F238E27FC236}">
                            <a16:creationId xmlns:a16="http://schemas.microsoft.com/office/drawing/2014/main" id="{9C06BA73-A3D6-4232-820F-1CE330F1E109}"/>
                          </a:ext>
                        </a:extLst>
                      </p:cNvPr>
                      <p:cNvPicPr>
                        <a:picLocks noChangeAspect="1" noChangeArrowheads="1"/>
                      </p:cNvPicPr>
                      <p:nvPr/>
                    </p:nvPicPr>
                    <p:blipFill>
                      <a:blip r:embed="rId4"/>
                      <a:srcRect/>
                      <a:stretch>
                        <a:fillRect/>
                      </a:stretch>
                    </p:blipFill>
                    <p:spPr bwMode="auto">
                      <a:xfrm>
                        <a:off x="409575" y="2527300"/>
                        <a:ext cx="2605088" cy="1597025"/>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 name="Object 1238">
            <a:extLst>
              <a:ext uri="{FF2B5EF4-FFF2-40B4-BE49-F238E27FC236}">
                <a16:creationId xmlns:a16="http://schemas.microsoft.com/office/drawing/2014/main" id="{F8C9EDB6-BDB4-9564-FF44-E64D9D97B034}"/>
              </a:ext>
            </a:extLst>
          </p:cNvPr>
          <p:cNvGraphicFramePr>
            <a:graphicFrameLocks noChangeAspect="1"/>
          </p:cNvGraphicFramePr>
          <p:nvPr>
            <p:extLst>
              <p:ext uri="{D42A27DB-BD31-4B8C-83A1-F6EECF244321}">
                <p14:modId xmlns:p14="http://schemas.microsoft.com/office/powerpoint/2010/main" val="1885568140"/>
              </p:ext>
            </p:extLst>
          </p:nvPr>
        </p:nvGraphicFramePr>
        <p:xfrm>
          <a:off x="3524250" y="2527300"/>
          <a:ext cx="2430948" cy="1703388"/>
        </p:xfrm>
        <a:graphic>
          <a:graphicData uri="http://schemas.openxmlformats.org/presentationml/2006/ole">
            <mc:AlternateContent xmlns:mc="http://schemas.openxmlformats.org/markup-compatibility/2006">
              <mc:Choice xmlns:v="urn:schemas-microsoft-com:vml" Requires="v">
                <p:oleObj name="Worksheet" r:id="rId5" imgW="4000365" imgH="2809862" progId="Excel.Sheet.8">
                  <p:embed/>
                </p:oleObj>
              </mc:Choice>
              <mc:Fallback>
                <p:oleObj name="Worksheet" r:id="rId5" imgW="4000365" imgH="2809862" progId="Excel.Sheet.8">
                  <p:embed/>
                  <p:pic>
                    <p:nvPicPr>
                      <p:cNvPr id="52278" name="Object 1238">
                        <a:extLst>
                          <a:ext uri="{FF2B5EF4-FFF2-40B4-BE49-F238E27FC236}">
                            <a16:creationId xmlns:a16="http://schemas.microsoft.com/office/drawing/2014/main" id="{E78DEC47-DCBD-41C9-8689-D471885190C8}"/>
                          </a:ext>
                        </a:extLst>
                      </p:cNvPr>
                      <p:cNvPicPr>
                        <a:picLocks noChangeAspect="1" noChangeArrowheads="1"/>
                      </p:cNvPicPr>
                      <p:nvPr/>
                    </p:nvPicPr>
                    <p:blipFill>
                      <a:blip r:embed="rId6"/>
                      <a:srcRect/>
                      <a:stretch>
                        <a:fillRect/>
                      </a:stretch>
                    </p:blipFill>
                    <p:spPr bwMode="auto">
                      <a:xfrm>
                        <a:off x="3524250" y="2527300"/>
                        <a:ext cx="2430948" cy="1703388"/>
                      </a:xfrm>
                      <a:prstGeom prst="rect">
                        <a:avLst/>
                      </a:prstGeom>
                      <a:noFill/>
                      <a:ln>
                        <a:noFill/>
                      </a:ln>
                      <a:effectLst/>
                    </p:spPr>
                  </p:pic>
                </p:oleObj>
              </mc:Fallback>
            </mc:AlternateContent>
          </a:graphicData>
        </a:graphic>
      </p:graphicFrame>
      <p:sp>
        <p:nvSpPr>
          <p:cNvPr id="14" name="Rectangle 1241">
            <a:extLst>
              <a:ext uri="{FF2B5EF4-FFF2-40B4-BE49-F238E27FC236}">
                <a16:creationId xmlns:a16="http://schemas.microsoft.com/office/drawing/2014/main" id="{7EF0EA91-2178-21B0-586F-A08FCDB29E49}"/>
              </a:ext>
            </a:extLst>
          </p:cNvPr>
          <p:cNvSpPr>
            <a:spLocks noChangeArrowheads="1"/>
          </p:cNvSpPr>
          <p:nvPr/>
        </p:nvSpPr>
        <p:spPr bwMode="auto">
          <a:xfrm>
            <a:off x="6228527" y="1905672"/>
            <a:ext cx="2600325" cy="313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marL="228600" indent="-228600">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0000"/>
              </a:spcBef>
              <a:buClrTx/>
              <a:buSzPct val="90000"/>
              <a:buFont typeface="Arial" panose="020B0604020202020204" pitchFamily="34" charset="0"/>
              <a:buChar char="•"/>
            </a:pPr>
            <a:r>
              <a:rPr lang="en-US" altLang="en-US" sz="1100" dirty="0">
                <a:latin typeface="+mn-lt"/>
              </a:rPr>
              <a:t>Clearly states the consensus next-month supply plan</a:t>
            </a:r>
          </a:p>
          <a:p>
            <a:pPr>
              <a:spcBef>
                <a:spcPct val="40000"/>
              </a:spcBef>
              <a:buClrTx/>
              <a:buSzPct val="90000"/>
              <a:buFont typeface="Arial" panose="020B0604020202020204" pitchFamily="34" charset="0"/>
              <a:buChar char="•"/>
            </a:pPr>
            <a:r>
              <a:rPr lang="en-US" altLang="en-US" sz="1100" dirty="0">
                <a:latin typeface="+mn-lt"/>
              </a:rPr>
              <a:t>Confirms last-month operations performance (and trending)</a:t>
            </a:r>
          </a:p>
          <a:p>
            <a:pPr>
              <a:spcBef>
                <a:spcPct val="40000"/>
              </a:spcBef>
              <a:buClrTx/>
              <a:buSzPct val="90000"/>
              <a:buFont typeface="Arial" panose="020B0604020202020204" pitchFamily="34" charset="0"/>
              <a:buChar char="•"/>
            </a:pPr>
            <a:r>
              <a:rPr lang="en-US" altLang="en-US" sz="1100" dirty="0">
                <a:latin typeface="+mn-lt"/>
              </a:rPr>
              <a:t>Highlights special circumstances including maintenance and reliability issues</a:t>
            </a:r>
          </a:p>
          <a:p>
            <a:pPr>
              <a:spcBef>
                <a:spcPct val="40000"/>
              </a:spcBef>
              <a:buClrTx/>
              <a:buSzPct val="90000"/>
              <a:buFont typeface="Arial" panose="020B0604020202020204" pitchFamily="34" charset="0"/>
              <a:buChar char="•"/>
            </a:pPr>
            <a:r>
              <a:rPr lang="en-US" altLang="en-US" sz="1100" dirty="0">
                <a:latin typeface="+mn-lt"/>
              </a:rPr>
              <a:t>Describes all key assumptions regarding internal capabilities and external impacts (e.g. supplier performance)</a:t>
            </a:r>
          </a:p>
          <a:p>
            <a:pPr>
              <a:spcBef>
                <a:spcPct val="40000"/>
              </a:spcBef>
              <a:buClrTx/>
              <a:buSzPct val="90000"/>
              <a:buFont typeface="Arial" panose="020B0604020202020204" pitchFamily="34" charset="0"/>
              <a:buChar char="•"/>
            </a:pPr>
            <a:r>
              <a:rPr lang="en-US" altLang="en-US" sz="1100" dirty="0">
                <a:latin typeface="+mn-lt"/>
              </a:rPr>
              <a:t>Clarifies opportunities including additional new supply sources</a:t>
            </a:r>
          </a:p>
          <a:p>
            <a:pPr>
              <a:spcBef>
                <a:spcPct val="40000"/>
              </a:spcBef>
              <a:buClrTx/>
              <a:buSzPct val="90000"/>
              <a:buFont typeface="Arial" panose="020B0604020202020204" pitchFamily="34" charset="0"/>
              <a:buChar char="•"/>
            </a:pPr>
            <a:r>
              <a:rPr lang="en-US" altLang="en-US" sz="1100" dirty="0">
                <a:latin typeface="+mn-lt"/>
              </a:rPr>
              <a:t>Combined, all areas should clearly demonstrate how the supply plan was established</a:t>
            </a:r>
          </a:p>
        </p:txBody>
      </p:sp>
      <p:sp>
        <p:nvSpPr>
          <p:cNvPr id="15" name="Oval 1242">
            <a:extLst>
              <a:ext uri="{FF2B5EF4-FFF2-40B4-BE49-F238E27FC236}">
                <a16:creationId xmlns:a16="http://schemas.microsoft.com/office/drawing/2014/main" id="{B63BEFAD-7D87-0591-B549-A170E2FE34F0}"/>
              </a:ext>
            </a:extLst>
          </p:cNvPr>
          <p:cNvSpPr>
            <a:spLocks noChangeArrowheads="1"/>
          </p:cNvSpPr>
          <p:nvPr/>
        </p:nvSpPr>
        <p:spPr bwMode="auto">
          <a:xfrm>
            <a:off x="6274565" y="5290222"/>
            <a:ext cx="2465387" cy="358775"/>
          </a:xfrm>
          <a:prstGeom prst="ellipse">
            <a:avLst/>
          </a:prstGeom>
          <a:solidFill>
            <a:schemeClr val="accent1"/>
          </a:solidFill>
          <a:ln w="12700" cap="sq">
            <a:solidFill>
              <a:srgbClr val="800000"/>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Ready For Supply-Demand Meeting</a:t>
            </a:r>
          </a:p>
        </p:txBody>
      </p:sp>
      <p:grpSp>
        <p:nvGrpSpPr>
          <p:cNvPr id="16" name="Group 51">
            <a:extLst>
              <a:ext uri="{FF2B5EF4-FFF2-40B4-BE49-F238E27FC236}">
                <a16:creationId xmlns:a16="http://schemas.microsoft.com/office/drawing/2014/main" id="{35C225B9-D469-F1DA-5ED4-9DE8AF58B687}"/>
              </a:ext>
            </a:extLst>
          </p:cNvPr>
          <p:cNvGrpSpPr>
            <a:grpSpLocks/>
          </p:cNvGrpSpPr>
          <p:nvPr/>
        </p:nvGrpSpPr>
        <p:grpSpPr bwMode="auto">
          <a:xfrm>
            <a:off x="8420088" y="5628516"/>
            <a:ext cx="2933712" cy="650333"/>
            <a:chOff x="676" y="3874"/>
            <a:chExt cx="1500" cy="392"/>
          </a:xfrm>
        </p:grpSpPr>
        <p:sp>
          <p:nvSpPr>
            <p:cNvPr id="17" name="Line 35">
              <a:extLst>
                <a:ext uri="{FF2B5EF4-FFF2-40B4-BE49-F238E27FC236}">
                  <a16:creationId xmlns:a16="http://schemas.microsoft.com/office/drawing/2014/main" id="{F7E379F2-6D0C-DDF8-69F4-7ED61CFB2CA2}"/>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36">
              <a:extLst>
                <a:ext uri="{FF2B5EF4-FFF2-40B4-BE49-F238E27FC236}">
                  <a16:creationId xmlns:a16="http://schemas.microsoft.com/office/drawing/2014/main" id="{D9F0D837-0D41-08F3-A2DB-9CEFD285DED7}"/>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37">
              <a:extLst>
                <a:ext uri="{FF2B5EF4-FFF2-40B4-BE49-F238E27FC236}">
                  <a16:creationId xmlns:a16="http://schemas.microsoft.com/office/drawing/2014/main" id="{9F55A466-EC25-E893-0D94-8A7FFC839E05}"/>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Rectangle 38">
              <a:extLst>
                <a:ext uri="{FF2B5EF4-FFF2-40B4-BE49-F238E27FC236}">
                  <a16:creationId xmlns:a16="http://schemas.microsoft.com/office/drawing/2014/main" id="{B530B19E-1015-DBD8-B64F-07D212EE12B1}"/>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21" name="Rectangle 39">
              <a:extLst>
                <a:ext uri="{FF2B5EF4-FFF2-40B4-BE49-F238E27FC236}">
                  <a16:creationId xmlns:a16="http://schemas.microsoft.com/office/drawing/2014/main" id="{00ADECBE-62B5-C570-2B7F-9BC8A5E028CB}"/>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22" name="Rectangle 40">
              <a:extLst>
                <a:ext uri="{FF2B5EF4-FFF2-40B4-BE49-F238E27FC236}">
                  <a16:creationId xmlns:a16="http://schemas.microsoft.com/office/drawing/2014/main" id="{51D612CD-24D3-2B4E-D0E8-467A16E60F48}"/>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23" name="Rectangle 41">
              <a:extLst>
                <a:ext uri="{FF2B5EF4-FFF2-40B4-BE49-F238E27FC236}">
                  <a16:creationId xmlns:a16="http://schemas.microsoft.com/office/drawing/2014/main" id="{99D9F352-E312-E15F-54A0-30EFFA684BAF}"/>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24" name="AutoShape 42">
              <a:extLst>
                <a:ext uri="{FF2B5EF4-FFF2-40B4-BE49-F238E27FC236}">
                  <a16:creationId xmlns:a16="http://schemas.microsoft.com/office/drawing/2014/main" id="{1E1C925D-D10D-9AA4-A6F3-1099F7BEA32D}"/>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25" name="Rectangle 43">
              <a:extLst>
                <a:ext uri="{FF2B5EF4-FFF2-40B4-BE49-F238E27FC236}">
                  <a16:creationId xmlns:a16="http://schemas.microsoft.com/office/drawing/2014/main" id="{687A8042-F54C-C64A-1C77-671A30F5EFCF}"/>
                </a:ext>
              </a:extLst>
            </p:cNvPr>
            <p:cNvSpPr>
              <a:spLocks noChangeArrowheads="1"/>
            </p:cNvSpPr>
            <p:nvPr/>
          </p:nvSpPr>
          <p:spPr bwMode="auto">
            <a:xfrm>
              <a:off x="198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Second-Pass</a:t>
              </a:r>
            </a:p>
            <a:p>
              <a:pPr algn="ctr">
                <a:lnSpc>
                  <a:spcPct val="80000"/>
                </a:lnSpc>
                <a:buClrTx/>
                <a:buSzTx/>
                <a:buFontTx/>
                <a:buNone/>
              </a:pPr>
              <a:r>
                <a:rPr lang="en-US" altLang="en-US" sz="200" dirty="0">
                  <a:solidFill>
                    <a:schemeClr val="bg1"/>
                  </a:solidFill>
                  <a:latin typeface="+mn-lt"/>
                </a:rPr>
                <a:t>Spreadsheet</a:t>
              </a:r>
            </a:p>
            <a:p>
              <a:pPr algn="ctr">
                <a:lnSpc>
                  <a:spcPct val="80000"/>
                </a:lnSpc>
                <a:buClrTx/>
                <a:buSzTx/>
                <a:buFontTx/>
                <a:buNone/>
              </a:pPr>
              <a:r>
                <a:rPr lang="ja-JP" altLang="en-US" sz="200" dirty="0">
                  <a:solidFill>
                    <a:schemeClr val="bg1"/>
                  </a:solidFill>
                  <a:latin typeface="+mn-lt"/>
                </a:rPr>
                <a:t>“</a:t>
              </a:r>
              <a:r>
                <a:rPr lang="en-US" altLang="ja-JP" sz="200" dirty="0">
                  <a:solidFill>
                    <a:schemeClr val="bg1"/>
                  </a:solidFill>
                  <a:latin typeface="+mn-lt"/>
                </a:rPr>
                <a:t>Capacity Plan</a:t>
              </a:r>
              <a:r>
                <a:rPr lang="ja-JP" altLang="en-US" sz="200" dirty="0">
                  <a:solidFill>
                    <a:schemeClr val="bg1"/>
                  </a:solidFill>
                  <a:latin typeface="+mn-lt"/>
                </a:rPr>
                <a:t>”</a:t>
              </a:r>
              <a:endParaRPr lang="en-US" altLang="en-US" sz="200" dirty="0">
                <a:solidFill>
                  <a:schemeClr val="bg1"/>
                </a:solidFill>
                <a:latin typeface="+mn-lt"/>
              </a:endParaRPr>
            </a:p>
          </p:txBody>
        </p:sp>
        <p:sp>
          <p:nvSpPr>
            <p:cNvPr id="26" name="Rectangle 44">
              <a:extLst>
                <a:ext uri="{FF2B5EF4-FFF2-40B4-BE49-F238E27FC236}">
                  <a16:creationId xmlns:a16="http://schemas.microsoft.com/office/drawing/2014/main" id="{101F331F-6566-68D7-D8E4-37D14DC8074D}"/>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27" name="Rectangle 45">
              <a:extLst>
                <a:ext uri="{FF2B5EF4-FFF2-40B4-BE49-F238E27FC236}">
                  <a16:creationId xmlns:a16="http://schemas.microsoft.com/office/drawing/2014/main" id="{489844FF-1D71-B854-84E6-0FAF36C55F20}"/>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42" name="Rectangle 46">
              <a:extLst>
                <a:ext uri="{FF2B5EF4-FFF2-40B4-BE49-F238E27FC236}">
                  <a16:creationId xmlns:a16="http://schemas.microsoft.com/office/drawing/2014/main" id="{BFA00659-0F3B-DE10-D693-81ACDF224FB7}"/>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43" name="Rectangle 47">
              <a:extLst>
                <a:ext uri="{FF2B5EF4-FFF2-40B4-BE49-F238E27FC236}">
                  <a16:creationId xmlns:a16="http://schemas.microsoft.com/office/drawing/2014/main" id="{68569378-EB48-C036-FDD6-0527C1BFEA3E}"/>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Tree>
    <p:extLst>
      <p:ext uri="{BB962C8B-B14F-4D97-AF65-F5344CB8AC3E}">
        <p14:creationId xmlns:p14="http://schemas.microsoft.com/office/powerpoint/2010/main" val="1318955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 Plan Completion:  </a:t>
            </a:r>
            <a:br>
              <a:rPr lang="en-US" sz="3600" dirty="0"/>
            </a:br>
            <a:r>
              <a:rPr lang="en-US" sz="3600" dirty="0"/>
              <a:t>Preparing The Production Engine</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With the supply plan complete and comparisons to the business plan made, the supply team can then begin the process of “green-lighting” the mechanical processes required to transition from planning to execution.</a:t>
            </a:r>
          </a:p>
        </p:txBody>
      </p:sp>
      <p:grpSp>
        <p:nvGrpSpPr>
          <p:cNvPr id="28" name="Group 51">
            <a:extLst>
              <a:ext uri="{FF2B5EF4-FFF2-40B4-BE49-F238E27FC236}">
                <a16:creationId xmlns:a16="http://schemas.microsoft.com/office/drawing/2014/main" id="{8D2F9BDF-362D-A9F4-9E37-D9724E8F7FF1}"/>
              </a:ext>
            </a:extLst>
          </p:cNvPr>
          <p:cNvGrpSpPr>
            <a:grpSpLocks/>
          </p:cNvGrpSpPr>
          <p:nvPr/>
        </p:nvGrpSpPr>
        <p:grpSpPr bwMode="auto">
          <a:xfrm>
            <a:off x="8420088" y="5628516"/>
            <a:ext cx="2933712" cy="650333"/>
            <a:chOff x="676" y="3874"/>
            <a:chExt cx="1500" cy="392"/>
          </a:xfrm>
        </p:grpSpPr>
        <p:sp>
          <p:nvSpPr>
            <p:cNvPr id="29" name="Line 35">
              <a:extLst>
                <a:ext uri="{FF2B5EF4-FFF2-40B4-BE49-F238E27FC236}">
                  <a16:creationId xmlns:a16="http://schemas.microsoft.com/office/drawing/2014/main" id="{0B2C0A89-DFCB-B41D-8A26-5A044A34F6CA}"/>
                </a:ext>
              </a:extLst>
            </p:cNvPr>
            <p:cNvSpPr>
              <a:spLocks noChangeShapeType="1"/>
            </p:cNvSpPr>
            <p:nvPr/>
          </p:nvSpPr>
          <p:spPr bwMode="auto">
            <a:xfrm>
              <a:off x="1589" y="3942"/>
              <a:ext cx="0" cy="30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36">
              <a:extLst>
                <a:ext uri="{FF2B5EF4-FFF2-40B4-BE49-F238E27FC236}">
                  <a16:creationId xmlns:a16="http://schemas.microsoft.com/office/drawing/2014/main" id="{B1A374F2-617E-4D0B-C445-4AF709F72919}"/>
                </a:ext>
              </a:extLst>
            </p:cNvPr>
            <p:cNvSpPr>
              <a:spLocks noChangeShapeType="1"/>
            </p:cNvSpPr>
            <p:nvPr/>
          </p:nvSpPr>
          <p:spPr bwMode="auto">
            <a:xfrm>
              <a:off x="885" y="4109"/>
              <a:ext cx="1167" cy="0"/>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37">
              <a:extLst>
                <a:ext uri="{FF2B5EF4-FFF2-40B4-BE49-F238E27FC236}">
                  <a16:creationId xmlns:a16="http://schemas.microsoft.com/office/drawing/2014/main" id="{CFD813E6-7F26-F6C0-D84D-143AD027DA5D}"/>
                </a:ext>
              </a:extLst>
            </p:cNvPr>
            <p:cNvSpPr>
              <a:spLocks noChangeShapeType="1"/>
            </p:cNvSpPr>
            <p:nvPr/>
          </p:nvSpPr>
          <p:spPr bwMode="auto">
            <a:xfrm>
              <a:off x="847" y="3895"/>
              <a:ext cx="0" cy="165"/>
            </a:xfrm>
            <a:prstGeom prst="line">
              <a:avLst/>
            </a:prstGeom>
            <a:noFill/>
            <a:ln w="317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Rectangle 38">
              <a:extLst>
                <a:ext uri="{FF2B5EF4-FFF2-40B4-BE49-F238E27FC236}">
                  <a16:creationId xmlns:a16="http://schemas.microsoft.com/office/drawing/2014/main" id="{7B66EE40-8D6F-C0ED-DA28-A2240468A4B2}"/>
                </a:ext>
              </a:extLst>
            </p:cNvPr>
            <p:cNvSpPr>
              <a:spLocks noChangeArrowheads="1"/>
            </p:cNvSpPr>
            <p:nvPr/>
          </p:nvSpPr>
          <p:spPr bwMode="auto">
            <a:xfrm>
              <a:off x="1003" y="4044"/>
              <a:ext cx="194" cy="125"/>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Next-Month</a:t>
              </a:r>
            </a:p>
            <a:p>
              <a:pPr algn="ctr">
                <a:lnSpc>
                  <a:spcPct val="80000"/>
                </a:lnSpc>
                <a:buClrTx/>
                <a:buSzTx/>
                <a:buFontTx/>
                <a:buNone/>
              </a:pPr>
              <a:r>
                <a:rPr lang="en-US" altLang="en-US" sz="200" dirty="0">
                  <a:latin typeface="+mn-lt"/>
                </a:rPr>
                <a:t>Maintenance</a:t>
              </a:r>
            </a:p>
            <a:p>
              <a:pPr algn="ctr">
                <a:lnSpc>
                  <a:spcPct val="80000"/>
                </a:lnSpc>
                <a:buClrTx/>
                <a:buSzTx/>
                <a:buFontTx/>
                <a:buNone/>
              </a:pPr>
              <a:r>
                <a:rPr lang="en-US" altLang="en-US" sz="200" dirty="0">
                  <a:latin typeface="+mn-lt"/>
                </a:rPr>
                <a:t>Scheduling</a:t>
              </a:r>
            </a:p>
          </p:txBody>
        </p:sp>
        <p:sp>
          <p:nvSpPr>
            <p:cNvPr id="33" name="Rectangle 39">
              <a:extLst>
                <a:ext uri="{FF2B5EF4-FFF2-40B4-BE49-F238E27FC236}">
                  <a16:creationId xmlns:a16="http://schemas.microsoft.com/office/drawing/2014/main" id="{45FF9491-4B38-D760-54DB-1050B3788287}"/>
                </a:ext>
              </a:extLst>
            </p:cNvPr>
            <p:cNvSpPr>
              <a:spLocks noChangeArrowheads="1"/>
            </p:cNvSpPr>
            <p:nvPr/>
          </p:nvSpPr>
          <p:spPr bwMode="auto">
            <a:xfrm>
              <a:off x="1248"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On-Hand</a:t>
              </a:r>
            </a:p>
            <a:p>
              <a:pPr algn="ctr">
                <a:lnSpc>
                  <a:spcPct val="80000"/>
                </a:lnSpc>
                <a:buClrTx/>
                <a:buSzTx/>
                <a:buFontTx/>
                <a:buNone/>
              </a:pPr>
              <a:r>
                <a:rPr lang="en-US" altLang="en-US" sz="200">
                  <a:solidFill>
                    <a:srgbClr val="000066"/>
                  </a:solidFill>
                  <a:latin typeface="+mn-lt"/>
                </a:rPr>
                <a:t>Inventory</a:t>
              </a:r>
            </a:p>
            <a:p>
              <a:pPr algn="ctr">
                <a:lnSpc>
                  <a:spcPct val="80000"/>
                </a:lnSpc>
                <a:buClrTx/>
                <a:buSzTx/>
                <a:buFontTx/>
                <a:buNone/>
              </a:pPr>
              <a:r>
                <a:rPr lang="en-US" altLang="en-US" sz="200">
                  <a:solidFill>
                    <a:srgbClr val="000066"/>
                  </a:solidFill>
                  <a:latin typeface="+mn-lt"/>
                </a:rPr>
                <a:t>Analysis</a:t>
              </a:r>
            </a:p>
          </p:txBody>
        </p:sp>
        <p:sp>
          <p:nvSpPr>
            <p:cNvPr id="34" name="Rectangle 40">
              <a:extLst>
                <a:ext uri="{FF2B5EF4-FFF2-40B4-BE49-F238E27FC236}">
                  <a16:creationId xmlns:a16="http://schemas.microsoft.com/office/drawing/2014/main" id="{5A64336F-7983-38CE-3FDD-8542144E8760}"/>
                </a:ext>
              </a:extLst>
            </p:cNvPr>
            <p:cNvSpPr>
              <a:spLocks noChangeArrowheads="1"/>
            </p:cNvSpPr>
            <p:nvPr/>
          </p:nvSpPr>
          <p:spPr bwMode="auto">
            <a:xfrm>
              <a:off x="1491"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rgbClr val="000066"/>
                  </a:solidFill>
                  <a:latin typeface="+mn-lt"/>
                </a:rPr>
                <a:t>Rough-Cut</a:t>
              </a:r>
            </a:p>
            <a:p>
              <a:pPr algn="ctr">
                <a:lnSpc>
                  <a:spcPct val="80000"/>
                </a:lnSpc>
                <a:buClrTx/>
                <a:buSzTx/>
                <a:buFontTx/>
                <a:buNone/>
              </a:pPr>
              <a:r>
                <a:rPr lang="en-US" altLang="en-US" sz="200" dirty="0">
                  <a:solidFill>
                    <a:srgbClr val="000066"/>
                  </a:solidFill>
                  <a:latin typeface="+mn-lt"/>
                </a:rPr>
                <a:t>Capacity</a:t>
              </a:r>
            </a:p>
            <a:p>
              <a:pPr algn="ctr">
                <a:lnSpc>
                  <a:spcPct val="80000"/>
                </a:lnSpc>
                <a:buClrTx/>
                <a:buSzTx/>
                <a:buFontTx/>
                <a:buNone/>
              </a:pPr>
              <a:r>
                <a:rPr lang="en-US" altLang="en-US" sz="200" dirty="0">
                  <a:solidFill>
                    <a:srgbClr val="000066"/>
                  </a:solidFill>
                  <a:latin typeface="+mn-lt"/>
                </a:rPr>
                <a:t>Analysis</a:t>
              </a:r>
            </a:p>
          </p:txBody>
        </p:sp>
        <p:sp>
          <p:nvSpPr>
            <p:cNvPr id="35" name="Rectangle 41">
              <a:extLst>
                <a:ext uri="{FF2B5EF4-FFF2-40B4-BE49-F238E27FC236}">
                  <a16:creationId xmlns:a16="http://schemas.microsoft.com/office/drawing/2014/main" id="{D1CB1192-FC83-DA5E-564C-68F868894C0C}"/>
                </a:ext>
              </a:extLst>
            </p:cNvPr>
            <p:cNvSpPr>
              <a:spLocks noChangeArrowheads="1"/>
            </p:cNvSpPr>
            <p:nvPr/>
          </p:nvSpPr>
          <p:spPr bwMode="auto">
            <a:xfrm>
              <a:off x="1734" y="4045"/>
              <a:ext cx="195" cy="125"/>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Error Code</a:t>
              </a:r>
            </a:p>
            <a:p>
              <a:pPr algn="ctr">
                <a:lnSpc>
                  <a:spcPct val="80000"/>
                </a:lnSpc>
                <a:buClrTx/>
                <a:buSzTx/>
                <a:buFontTx/>
                <a:buNone/>
              </a:pPr>
              <a:r>
                <a:rPr lang="en-US" altLang="en-US" sz="200">
                  <a:solidFill>
                    <a:srgbClr val="000066"/>
                  </a:solidFill>
                  <a:latin typeface="+mn-lt"/>
                </a:rPr>
                <a:t>Evaluation</a:t>
              </a:r>
            </a:p>
          </p:txBody>
        </p:sp>
        <p:sp>
          <p:nvSpPr>
            <p:cNvPr id="36" name="AutoShape 42">
              <a:extLst>
                <a:ext uri="{FF2B5EF4-FFF2-40B4-BE49-F238E27FC236}">
                  <a16:creationId xmlns:a16="http://schemas.microsoft.com/office/drawing/2014/main" id="{EB32BD7B-DC09-F477-DC0E-5AF914C71B10}"/>
                </a:ext>
              </a:extLst>
            </p:cNvPr>
            <p:cNvSpPr>
              <a:spLocks noChangeArrowheads="1"/>
            </p:cNvSpPr>
            <p:nvPr/>
          </p:nvSpPr>
          <p:spPr bwMode="auto">
            <a:xfrm>
              <a:off x="730" y="4045"/>
              <a:ext cx="235" cy="125"/>
            </a:xfrm>
            <a:prstGeom prst="triangle">
              <a:avLst>
                <a:gd name="adj" fmla="val 50000"/>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Actual</a:t>
              </a:r>
            </a:p>
            <a:p>
              <a:pPr algn="ctr">
                <a:lnSpc>
                  <a:spcPct val="80000"/>
                </a:lnSpc>
                <a:buClrTx/>
                <a:buSzTx/>
                <a:buFontTx/>
                <a:buNone/>
              </a:pPr>
              <a:r>
                <a:rPr lang="en-US" altLang="en-US" sz="200">
                  <a:latin typeface="+mn-lt"/>
                </a:rPr>
                <a:t>Capacity</a:t>
              </a:r>
            </a:p>
            <a:p>
              <a:pPr algn="ctr">
                <a:lnSpc>
                  <a:spcPct val="80000"/>
                </a:lnSpc>
                <a:buClrTx/>
                <a:buSzTx/>
                <a:buFontTx/>
                <a:buNone/>
              </a:pPr>
              <a:r>
                <a:rPr lang="en-US" altLang="en-US" sz="200">
                  <a:latin typeface="+mn-lt"/>
                </a:rPr>
                <a:t>Used</a:t>
              </a:r>
            </a:p>
          </p:txBody>
        </p:sp>
        <p:sp>
          <p:nvSpPr>
            <p:cNvPr id="37" name="Rectangle 43">
              <a:extLst>
                <a:ext uri="{FF2B5EF4-FFF2-40B4-BE49-F238E27FC236}">
                  <a16:creationId xmlns:a16="http://schemas.microsoft.com/office/drawing/2014/main" id="{C617E6C3-B208-359E-0732-BD9FE970B391}"/>
                </a:ext>
              </a:extLst>
            </p:cNvPr>
            <p:cNvSpPr>
              <a:spLocks noChangeArrowheads="1"/>
            </p:cNvSpPr>
            <p:nvPr/>
          </p:nvSpPr>
          <p:spPr bwMode="auto">
            <a:xfrm>
              <a:off x="1981" y="4045"/>
              <a:ext cx="195" cy="125"/>
            </a:xfrm>
            <a:prstGeom prst="rect">
              <a:avLst/>
            </a:prstGeom>
            <a:solidFill>
              <a:schemeClr val="tx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solidFill>
                    <a:schemeClr val="bg1"/>
                  </a:solidFill>
                  <a:latin typeface="+mn-lt"/>
                </a:rPr>
                <a:t>Second-Pass</a:t>
              </a:r>
            </a:p>
            <a:p>
              <a:pPr algn="ctr">
                <a:lnSpc>
                  <a:spcPct val="80000"/>
                </a:lnSpc>
                <a:buClrTx/>
                <a:buSzTx/>
                <a:buFontTx/>
                <a:buNone/>
              </a:pPr>
              <a:r>
                <a:rPr lang="en-US" altLang="en-US" sz="200" dirty="0">
                  <a:solidFill>
                    <a:schemeClr val="bg1"/>
                  </a:solidFill>
                  <a:latin typeface="+mn-lt"/>
                </a:rPr>
                <a:t>Spreadsheet</a:t>
              </a:r>
            </a:p>
            <a:p>
              <a:pPr algn="ctr">
                <a:lnSpc>
                  <a:spcPct val="80000"/>
                </a:lnSpc>
                <a:buClrTx/>
                <a:buSzTx/>
                <a:buFontTx/>
                <a:buNone/>
              </a:pPr>
              <a:r>
                <a:rPr lang="ja-JP" altLang="en-US" sz="200" dirty="0">
                  <a:solidFill>
                    <a:schemeClr val="bg1"/>
                  </a:solidFill>
                  <a:latin typeface="+mn-lt"/>
                </a:rPr>
                <a:t>“</a:t>
              </a:r>
              <a:r>
                <a:rPr lang="en-US" altLang="ja-JP" sz="200" dirty="0">
                  <a:solidFill>
                    <a:schemeClr val="bg1"/>
                  </a:solidFill>
                  <a:latin typeface="+mn-lt"/>
                </a:rPr>
                <a:t>Capacity Plan</a:t>
              </a:r>
              <a:r>
                <a:rPr lang="ja-JP" altLang="en-US" sz="200" dirty="0">
                  <a:solidFill>
                    <a:schemeClr val="bg1"/>
                  </a:solidFill>
                  <a:latin typeface="+mn-lt"/>
                </a:rPr>
                <a:t>”</a:t>
              </a:r>
              <a:endParaRPr lang="en-US" altLang="en-US" sz="200" dirty="0">
                <a:solidFill>
                  <a:schemeClr val="bg1"/>
                </a:solidFill>
                <a:latin typeface="+mn-lt"/>
              </a:endParaRPr>
            </a:p>
          </p:txBody>
        </p:sp>
        <p:sp>
          <p:nvSpPr>
            <p:cNvPr id="38" name="Rectangle 44">
              <a:extLst>
                <a:ext uri="{FF2B5EF4-FFF2-40B4-BE49-F238E27FC236}">
                  <a16:creationId xmlns:a16="http://schemas.microsoft.com/office/drawing/2014/main" id="{F65058DA-0B2C-D574-8457-BF709C60ECB4}"/>
                </a:ext>
              </a:extLst>
            </p:cNvPr>
            <p:cNvSpPr>
              <a:spLocks noChangeArrowheads="1"/>
            </p:cNvSpPr>
            <p:nvPr/>
          </p:nvSpPr>
          <p:spPr bwMode="auto">
            <a:xfrm>
              <a:off x="1491" y="3900"/>
              <a:ext cx="195" cy="10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Critical </a:t>
              </a:r>
            </a:p>
            <a:p>
              <a:pPr algn="ctr">
                <a:lnSpc>
                  <a:spcPct val="80000"/>
                </a:lnSpc>
                <a:buClrTx/>
                <a:buSzTx/>
                <a:buFontTx/>
                <a:buNone/>
              </a:pPr>
              <a:r>
                <a:rPr lang="en-US" altLang="en-US" sz="200">
                  <a:solidFill>
                    <a:srgbClr val="000066"/>
                  </a:solidFill>
                  <a:latin typeface="+mn-lt"/>
                </a:rPr>
                <a:t>Resource</a:t>
              </a:r>
            </a:p>
            <a:p>
              <a:pPr algn="ctr">
                <a:lnSpc>
                  <a:spcPct val="80000"/>
                </a:lnSpc>
                <a:buClrTx/>
                <a:buSzTx/>
                <a:buFontTx/>
                <a:buNone/>
              </a:pPr>
              <a:r>
                <a:rPr lang="en-US" altLang="en-US" sz="200">
                  <a:solidFill>
                    <a:srgbClr val="000066"/>
                  </a:solidFill>
                  <a:latin typeface="+mn-lt"/>
                </a:rPr>
                <a:t>Evaluation</a:t>
              </a:r>
            </a:p>
          </p:txBody>
        </p:sp>
        <p:sp>
          <p:nvSpPr>
            <p:cNvPr id="39" name="Rectangle 45">
              <a:extLst>
                <a:ext uri="{FF2B5EF4-FFF2-40B4-BE49-F238E27FC236}">
                  <a16:creationId xmlns:a16="http://schemas.microsoft.com/office/drawing/2014/main" id="{06E8C80F-CEC4-44A7-D796-2EAEAAA4A32C}"/>
                </a:ext>
              </a:extLst>
            </p:cNvPr>
            <p:cNvSpPr>
              <a:spLocks noChangeArrowheads="1"/>
            </p:cNvSpPr>
            <p:nvPr/>
          </p:nvSpPr>
          <p:spPr bwMode="auto">
            <a:xfrm>
              <a:off x="676" y="3874"/>
              <a:ext cx="343" cy="50"/>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dirty="0">
                  <a:latin typeface="+mn-lt"/>
                </a:rPr>
                <a:t>Last-Month Actual Results</a:t>
              </a:r>
            </a:p>
          </p:txBody>
        </p:sp>
        <p:sp>
          <p:nvSpPr>
            <p:cNvPr id="40" name="Rectangle 46">
              <a:extLst>
                <a:ext uri="{FF2B5EF4-FFF2-40B4-BE49-F238E27FC236}">
                  <a16:creationId xmlns:a16="http://schemas.microsoft.com/office/drawing/2014/main" id="{DB91ACD0-F908-9DCB-81E8-D710A3BF1463}"/>
                </a:ext>
              </a:extLst>
            </p:cNvPr>
            <p:cNvSpPr>
              <a:spLocks noChangeArrowheads="1"/>
            </p:cNvSpPr>
            <p:nvPr/>
          </p:nvSpPr>
          <p:spPr bwMode="auto">
            <a:xfrm>
              <a:off x="676" y="3960"/>
              <a:ext cx="343" cy="51"/>
            </a:xfrm>
            <a:prstGeom prst="rect">
              <a:avLst/>
            </a:prstGeom>
            <a:solidFill>
              <a:schemeClr val="bg2"/>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latin typeface="+mn-lt"/>
                </a:rPr>
                <a:t>Performance Metrics Review</a:t>
              </a:r>
            </a:p>
          </p:txBody>
        </p:sp>
        <p:sp>
          <p:nvSpPr>
            <p:cNvPr id="41" name="Rectangle 47">
              <a:extLst>
                <a:ext uri="{FF2B5EF4-FFF2-40B4-BE49-F238E27FC236}">
                  <a16:creationId xmlns:a16="http://schemas.microsoft.com/office/drawing/2014/main" id="{18744A2E-9D47-03C9-71D5-2F5B933D8CAD}"/>
                </a:ext>
              </a:extLst>
            </p:cNvPr>
            <p:cNvSpPr>
              <a:spLocks noChangeArrowheads="1"/>
            </p:cNvSpPr>
            <p:nvPr/>
          </p:nvSpPr>
          <p:spPr bwMode="auto">
            <a:xfrm>
              <a:off x="1349" y="4216"/>
              <a:ext cx="481" cy="50"/>
            </a:xfrm>
            <a:prstGeom prst="rect">
              <a:avLst/>
            </a:prstGeom>
            <a:solidFill>
              <a:srgbClr val="DDDDDD"/>
            </a:solidFill>
            <a:ln w="317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200">
                  <a:solidFill>
                    <a:srgbClr val="000066"/>
                  </a:solidFill>
                  <a:latin typeface="+mn-lt"/>
                </a:rPr>
                <a:t>Required Inventory Position</a:t>
              </a:r>
            </a:p>
          </p:txBody>
        </p:sp>
      </p:grpSp>
      <p:sp>
        <p:nvSpPr>
          <p:cNvPr id="5" name="Rectangle 84">
            <a:extLst>
              <a:ext uri="{FF2B5EF4-FFF2-40B4-BE49-F238E27FC236}">
                <a16:creationId xmlns:a16="http://schemas.microsoft.com/office/drawing/2014/main" id="{5F75D4F1-5A28-2129-6CA8-7F87D602C2C7}"/>
              </a:ext>
            </a:extLst>
          </p:cNvPr>
          <p:cNvSpPr>
            <a:spLocks noChangeArrowheads="1"/>
          </p:cNvSpPr>
          <p:nvPr/>
        </p:nvSpPr>
        <p:spPr bwMode="auto">
          <a:xfrm>
            <a:off x="1130300" y="4883150"/>
            <a:ext cx="7086600" cy="730250"/>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aphicFrame>
        <p:nvGraphicFramePr>
          <p:cNvPr id="6" name="Group 5">
            <a:extLst>
              <a:ext uri="{FF2B5EF4-FFF2-40B4-BE49-F238E27FC236}">
                <a16:creationId xmlns:a16="http://schemas.microsoft.com/office/drawing/2014/main" id="{F3DA3E56-B790-CDE7-10D9-7B049BB132E3}"/>
              </a:ext>
            </a:extLst>
          </p:cNvPr>
          <p:cNvGraphicFramePr>
            <a:graphicFrameLocks noGrp="1"/>
          </p:cNvGraphicFramePr>
          <p:nvPr>
            <p:extLst>
              <p:ext uri="{D42A27DB-BD31-4B8C-83A1-F6EECF244321}">
                <p14:modId xmlns:p14="http://schemas.microsoft.com/office/powerpoint/2010/main" val="2991243810"/>
              </p:ext>
            </p:extLst>
          </p:nvPr>
        </p:nvGraphicFramePr>
        <p:xfrm>
          <a:off x="604838" y="2344738"/>
          <a:ext cx="7970837" cy="485776"/>
        </p:xfrm>
        <a:graphic>
          <a:graphicData uri="http://schemas.openxmlformats.org/drawingml/2006/table">
            <a:tbl>
              <a:tblPr/>
              <a:tblGrid>
                <a:gridCol w="1328737">
                  <a:extLst>
                    <a:ext uri="{9D8B030D-6E8A-4147-A177-3AD203B41FA5}">
                      <a16:colId xmlns:a16="http://schemas.microsoft.com/office/drawing/2014/main" val="20000"/>
                    </a:ext>
                  </a:extLst>
                </a:gridCol>
                <a:gridCol w="1328738">
                  <a:extLst>
                    <a:ext uri="{9D8B030D-6E8A-4147-A177-3AD203B41FA5}">
                      <a16:colId xmlns:a16="http://schemas.microsoft.com/office/drawing/2014/main" val="20001"/>
                    </a:ext>
                  </a:extLst>
                </a:gridCol>
                <a:gridCol w="1327150">
                  <a:extLst>
                    <a:ext uri="{9D8B030D-6E8A-4147-A177-3AD203B41FA5}">
                      <a16:colId xmlns:a16="http://schemas.microsoft.com/office/drawing/2014/main" val="20002"/>
                    </a:ext>
                  </a:extLst>
                </a:gridCol>
                <a:gridCol w="1328737">
                  <a:extLst>
                    <a:ext uri="{9D8B030D-6E8A-4147-A177-3AD203B41FA5}">
                      <a16:colId xmlns:a16="http://schemas.microsoft.com/office/drawing/2014/main" val="20003"/>
                    </a:ext>
                  </a:extLst>
                </a:gridCol>
                <a:gridCol w="1328738">
                  <a:extLst>
                    <a:ext uri="{9D8B030D-6E8A-4147-A177-3AD203B41FA5}">
                      <a16:colId xmlns:a16="http://schemas.microsoft.com/office/drawing/2014/main" val="20004"/>
                    </a:ext>
                  </a:extLst>
                </a:gridCol>
                <a:gridCol w="1328737">
                  <a:extLst>
                    <a:ext uri="{9D8B030D-6E8A-4147-A177-3AD203B41FA5}">
                      <a16:colId xmlns:a16="http://schemas.microsoft.com/office/drawing/2014/main" val="20005"/>
                    </a:ext>
                  </a:extLst>
                </a:gridCol>
              </a:tblGrid>
              <a:tr h="24288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Consensus Demand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Statistical Forecast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Business Plan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Stretch Goal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bg1"/>
                          </a:solidFill>
                          <a:effectLst/>
                          <a:latin typeface="+mn-lt"/>
                          <a:ea typeface="ＭＳ Ｐゴシック" charset="0"/>
                        </a:rPr>
                        <a:t>Supply Plan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Assumptions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242888">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350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420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charset="0"/>
                        <a:buNone/>
                        <a:tabLst/>
                      </a:pPr>
                      <a:r>
                        <a:rPr kumimoji="0" lang="en-US" sz="900" b="1" i="0" u="none" strike="noStrike" cap="none" normalizeH="0" baseline="0" dirty="0">
                          <a:ln>
                            <a:noFill/>
                          </a:ln>
                          <a:solidFill>
                            <a:schemeClr val="tx1"/>
                          </a:solidFill>
                          <a:effectLst/>
                          <a:latin typeface="+mn-lt"/>
                          <a:ea typeface="ＭＳ Ｐゴシック" charset="0"/>
                        </a:rPr>
                        <a:t>Shift 2 Overtime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6" name="Rectangle 58">
            <a:extLst>
              <a:ext uri="{FF2B5EF4-FFF2-40B4-BE49-F238E27FC236}">
                <a16:creationId xmlns:a16="http://schemas.microsoft.com/office/drawing/2014/main" id="{3368B07F-A7E1-F044-61B6-71DCCC237AC4}"/>
              </a:ext>
            </a:extLst>
          </p:cNvPr>
          <p:cNvSpPr>
            <a:spLocks noChangeArrowheads="1"/>
          </p:cNvSpPr>
          <p:nvPr/>
        </p:nvSpPr>
        <p:spPr bwMode="auto">
          <a:xfrm>
            <a:off x="5788025" y="2171700"/>
            <a:ext cx="1574800" cy="800100"/>
          </a:xfrm>
          <a:prstGeom prst="rect">
            <a:avLst/>
          </a:prstGeom>
          <a:noFill/>
          <a:ln w="2857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Rectangle 60">
            <a:extLst>
              <a:ext uri="{FF2B5EF4-FFF2-40B4-BE49-F238E27FC236}">
                <a16:creationId xmlns:a16="http://schemas.microsoft.com/office/drawing/2014/main" id="{3D66A183-7332-B9D1-8F09-C5E9528DC38B}"/>
              </a:ext>
            </a:extLst>
          </p:cNvPr>
          <p:cNvSpPr>
            <a:spLocks noChangeArrowheads="1"/>
          </p:cNvSpPr>
          <p:nvPr/>
        </p:nvSpPr>
        <p:spPr bwMode="auto">
          <a:xfrm>
            <a:off x="655638" y="3194050"/>
            <a:ext cx="1058862" cy="1270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Develop And</a:t>
            </a:r>
          </a:p>
          <a:p>
            <a:pPr algn="ctr">
              <a:lnSpc>
                <a:spcPct val="80000"/>
              </a:lnSpc>
              <a:buClrTx/>
              <a:buSzTx/>
              <a:buFontTx/>
              <a:buNone/>
            </a:pPr>
            <a:r>
              <a:rPr lang="en-US" altLang="en-US" sz="1000" dirty="0">
                <a:solidFill>
                  <a:schemeClr val="bg1"/>
                </a:solidFill>
                <a:latin typeface="+mn-lt"/>
              </a:rPr>
              <a:t>Confirm</a:t>
            </a:r>
          </a:p>
          <a:p>
            <a:pPr algn="ctr">
              <a:lnSpc>
                <a:spcPct val="80000"/>
              </a:lnSpc>
              <a:buClrTx/>
              <a:buSzTx/>
              <a:buFontTx/>
              <a:buNone/>
            </a:pPr>
            <a:r>
              <a:rPr lang="en-US" altLang="en-US" sz="1000" dirty="0">
                <a:solidFill>
                  <a:schemeClr val="bg1"/>
                </a:solidFill>
                <a:latin typeface="+mn-lt"/>
              </a:rPr>
              <a:t>Net</a:t>
            </a:r>
          </a:p>
          <a:p>
            <a:pPr algn="ctr">
              <a:lnSpc>
                <a:spcPct val="80000"/>
              </a:lnSpc>
              <a:buClrTx/>
              <a:buSzTx/>
              <a:buFontTx/>
              <a:buNone/>
            </a:pPr>
            <a:r>
              <a:rPr lang="en-US" altLang="en-US" sz="1000" dirty="0">
                <a:solidFill>
                  <a:schemeClr val="bg1"/>
                </a:solidFill>
                <a:latin typeface="+mn-lt"/>
              </a:rPr>
              <a:t>Materials</a:t>
            </a:r>
          </a:p>
          <a:p>
            <a:pPr algn="ctr">
              <a:lnSpc>
                <a:spcPct val="80000"/>
              </a:lnSpc>
              <a:buClrTx/>
              <a:buSzTx/>
              <a:buFontTx/>
              <a:buNone/>
            </a:pPr>
            <a:r>
              <a:rPr lang="en-US" altLang="en-US" sz="1000" dirty="0">
                <a:solidFill>
                  <a:schemeClr val="bg1"/>
                </a:solidFill>
                <a:latin typeface="+mn-lt"/>
              </a:rPr>
              <a:t>Requirements</a:t>
            </a:r>
          </a:p>
        </p:txBody>
      </p:sp>
      <p:sp>
        <p:nvSpPr>
          <p:cNvPr id="18" name="Rectangle 61">
            <a:extLst>
              <a:ext uri="{FF2B5EF4-FFF2-40B4-BE49-F238E27FC236}">
                <a16:creationId xmlns:a16="http://schemas.microsoft.com/office/drawing/2014/main" id="{99425A7A-8588-AAD3-814F-457C747AEB73}"/>
              </a:ext>
            </a:extLst>
          </p:cNvPr>
          <p:cNvSpPr>
            <a:spLocks noChangeArrowheads="1"/>
          </p:cNvSpPr>
          <p:nvPr/>
        </p:nvSpPr>
        <p:spPr bwMode="auto">
          <a:xfrm>
            <a:off x="2039938" y="3194050"/>
            <a:ext cx="1058862" cy="1270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Make</a:t>
            </a:r>
          </a:p>
          <a:p>
            <a:pPr algn="ctr">
              <a:lnSpc>
                <a:spcPct val="80000"/>
              </a:lnSpc>
              <a:buClrTx/>
              <a:buSzTx/>
              <a:buFontTx/>
              <a:buNone/>
            </a:pPr>
            <a:r>
              <a:rPr lang="en-US" altLang="en-US" sz="1000" dirty="0">
                <a:solidFill>
                  <a:schemeClr val="bg1"/>
                </a:solidFill>
                <a:latin typeface="+mn-lt"/>
              </a:rPr>
              <a:t>Relevant</a:t>
            </a:r>
          </a:p>
          <a:p>
            <a:pPr algn="ctr">
              <a:lnSpc>
                <a:spcPct val="80000"/>
              </a:lnSpc>
              <a:buClrTx/>
              <a:buSzTx/>
              <a:buFontTx/>
              <a:buNone/>
            </a:pPr>
            <a:r>
              <a:rPr lang="en-US" altLang="en-US" sz="1000" dirty="0">
                <a:solidFill>
                  <a:schemeClr val="bg1"/>
                </a:solidFill>
                <a:latin typeface="+mn-lt"/>
              </a:rPr>
              <a:t>Modifications</a:t>
            </a:r>
          </a:p>
          <a:p>
            <a:pPr algn="ctr">
              <a:lnSpc>
                <a:spcPct val="80000"/>
              </a:lnSpc>
              <a:buClrTx/>
              <a:buSzTx/>
              <a:buFontTx/>
              <a:buNone/>
            </a:pPr>
            <a:r>
              <a:rPr lang="en-US" altLang="en-US" sz="1000" dirty="0">
                <a:solidFill>
                  <a:schemeClr val="bg1"/>
                </a:solidFill>
                <a:latin typeface="+mn-lt"/>
              </a:rPr>
              <a:t>To Rolling</a:t>
            </a:r>
          </a:p>
          <a:p>
            <a:pPr algn="ctr">
              <a:lnSpc>
                <a:spcPct val="80000"/>
              </a:lnSpc>
              <a:buClrTx/>
              <a:buSzTx/>
              <a:buFontTx/>
              <a:buNone/>
            </a:pPr>
            <a:r>
              <a:rPr lang="en-US" altLang="en-US" sz="1000" dirty="0">
                <a:solidFill>
                  <a:schemeClr val="bg1"/>
                </a:solidFill>
                <a:latin typeface="+mn-lt"/>
              </a:rPr>
              <a:t>12-Week</a:t>
            </a:r>
          </a:p>
          <a:p>
            <a:pPr algn="ctr">
              <a:lnSpc>
                <a:spcPct val="80000"/>
              </a:lnSpc>
              <a:buClrTx/>
              <a:buSzTx/>
              <a:buFontTx/>
              <a:buNone/>
            </a:pPr>
            <a:r>
              <a:rPr lang="en-US" altLang="en-US" sz="1000" dirty="0">
                <a:solidFill>
                  <a:schemeClr val="bg1"/>
                </a:solidFill>
                <a:latin typeface="+mn-lt"/>
              </a:rPr>
              <a:t>Master</a:t>
            </a:r>
          </a:p>
          <a:p>
            <a:pPr algn="ctr">
              <a:lnSpc>
                <a:spcPct val="80000"/>
              </a:lnSpc>
              <a:buClrTx/>
              <a:buSzTx/>
              <a:buFontTx/>
              <a:buNone/>
            </a:pPr>
            <a:r>
              <a:rPr lang="en-US" altLang="en-US" sz="1000" dirty="0">
                <a:solidFill>
                  <a:schemeClr val="bg1"/>
                </a:solidFill>
                <a:latin typeface="+mn-lt"/>
              </a:rPr>
              <a:t>Production</a:t>
            </a:r>
          </a:p>
          <a:p>
            <a:pPr algn="ctr">
              <a:lnSpc>
                <a:spcPct val="80000"/>
              </a:lnSpc>
              <a:buClrTx/>
              <a:buSzTx/>
              <a:buFontTx/>
              <a:buNone/>
            </a:pPr>
            <a:r>
              <a:rPr lang="en-US" altLang="en-US" sz="1000" dirty="0">
                <a:solidFill>
                  <a:schemeClr val="bg1"/>
                </a:solidFill>
                <a:latin typeface="+mn-lt"/>
              </a:rPr>
              <a:t>Schedule</a:t>
            </a:r>
          </a:p>
        </p:txBody>
      </p:sp>
      <p:sp>
        <p:nvSpPr>
          <p:cNvPr id="19" name="Rectangle 62">
            <a:extLst>
              <a:ext uri="{FF2B5EF4-FFF2-40B4-BE49-F238E27FC236}">
                <a16:creationId xmlns:a16="http://schemas.microsoft.com/office/drawing/2014/main" id="{92212199-84DE-0C48-EDA3-898C5657FD8F}"/>
              </a:ext>
            </a:extLst>
          </p:cNvPr>
          <p:cNvSpPr>
            <a:spLocks noChangeArrowheads="1"/>
          </p:cNvSpPr>
          <p:nvPr/>
        </p:nvSpPr>
        <p:spPr bwMode="auto">
          <a:xfrm>
            <a:off x="3398838" y="3194050"/>
            <a:ext cx="1058862" cy="1270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Generate</a:t>
            </a:r>
          </a:p>
          <a:p>
            <a:pPr algn="ctr">
              <a:lnSpc>
                <a:spcPct val="80000"/>
              </a:lnSpc>
              <a:buClrTx/>
              <a:buSzTx/>
              <a:buFontTx/>
              <a:buNone/>
            </a:pPr>
            <a:r>
              <a:rPr lang="en-US" altLang="en-US" sz="1000">
                <a:solidFill>
                  <a:schemeClr val="bg1"/>
                </a:solidFill>
                <a:latin typeface="+mn-lt"/>
              </a:rPr>
              <a:t>Updated</a:t>
            </a:r>
          </a:p>
          <a:p>
            <a:pPr algn="ctr">
              <a:lnSpc>
                <a:spcPct val="80000"/>
              </a:lnSpc>
              <a:buClrTx/>
              <a:buSzTx/>
              <a:buFontTx/>
              <a:buNone/>
            </a:pPr>
            <a:r>
              <a:rPr lang="en-US" altLang="en-US" sz="1000">
                <a:solidFill>
                  <a:schemeClr val="bg1"/>
                </a:solidFill>
                <a:latin typeface="+mn-lt"/>
              </a:rPr>
              <a:t>Master</a:t>
            </a:r>
          </a:p>
          <a:p>
            <a:pPr algn="ctr">
              <a:lnSpc>
                <a:spcPct val="80000"/>
              </a:lnSpc>
              <a:buClrTx/>
              <a:buSzTx/>
              <a:buFontTx/>
              <a:buNone/>
            </a:pPr>
            <a:r>
              <a:rPr lang="en-US" altLang="en-US" sz="1000">
                <a:solidFill>
                  <a:schemeClr val="bg1"/>
                </a:solidFill>
                <a:latin typeface="+mn-lt"/>
              </a:rPr>
              <a:t>Production</a:t>
            </a:r>
          </a:p>
          <a:p>
            <a:pPr algn="ctr">
              <a:lnSpc>
                <a:spcPct val="80000"/>
              </a:lnSpc>
              <a:buClrTx/>
              <a:buSzTx/>
              <a:buFontTx/>
              <a:buNone/>
            </a:pPr>
            <a:r>
              <a:rPr lang="en-US" altLang="en-US" sz="1000">
                <a:solidFill>
                  <a:schemeClr val="bg1"/>
                </a:solidFill>
                <a:latin typeface="+mn-lt"/>
              </a:rPr>
              <a:t>Schedule</a:t>
            </a:r>
          </a:p>
          <a:p>
            <a:pPr algn="ctr">
              <a:lnSpc>
                <a:spcPct val="80000"/>
              </a:lnSpc>
              <a:buClrTx/>
              <a:buSzTx/>
              <a:buFontTx/>
              <a:buNone/>
            </a:pPr>
            <a:r>
              <a:rPr lang="en-US" altLang="en-US" sz="1000">
                <a:solidFill>
                  <a:schemeClr val="bg1"/>
                </a:solidFill>
                <a:latin typeface="+mn-lt"/>
              </a:rPr>
              <a:t>For Review</a:t>
            </a:r>
          </a:p>
        </p:txBody>
      </p:sp>
      <p:sp>
        <p:nvSpPr>
          <p:cNvPr id="20" name="Rectangle 63">
            <a:extLst>
              <a:ext uri="{FF2B5EF4-FFF2-40B4-BE49-F238E27FC236}">
                <a16:creationId xmlns:a16="http://schemas.microsoft.com/office/drawing/2014/main" id="{F35B3179-9DF4-60B0-2B78-77A310980A06}"/>
              </a:ext>
            </a:extLst>
          </p:cNvPr>
          <p:cNvSpPr>
            <a:spLocks noChangeArrowheads="1"/>
          </p:cNvSpPr>
          <p:nvPr/>
        </p:nvSpPr>
        <p:spPr bwMode="auto">
          <a:xfrm>
            <a:off x="4757738" y="3194050"/>
            <a:ext cx="1058862" cy="1270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Conduct</a:t>
            </a:r>
          </a:p>
          <a:p>
            <a:pPr algn="ctr">
              <a:lnSpc>
                <a:spcPct val="80000"/>
              </a:lnSpc>
              <a:buClrTx/>
              <a:buSzTx/>
              <a:buFontTx/>
              <a:buNone/>
            </a:pPr>
            <a:r>
              <a:rPr lang="en-US" altLang="en-US" sz="1000">
                <a:solidFill>
                  <a:schemeClr val="bg1"/>
                </a:solidFill>
                <a:latin typeface="+mn-lt"/>
              </a:rPr>
              <a:t>Pre-MRP</a:t>
            </a:r>
          </a:p>
          <a:p>
            <a:pPr algn="ctr">
              <a:lnSpc>
                <a:spcPct val="80000"/>
              </a:lnSpc>
              <a:buClrTx/>
              <a:buSzTx/>
              <a:buFontTx/>
              <a:buNone/>
            </a:pPr>
            <a:r>
              <a:rPr lang="en-US" altLang="en-US" sz="1000">
                <a:solidFill>
                  <a:schemeClr val="bg1"/>
                </a:solidFill>
                <a:latin typeface="+mn-lt"/>
              </a:rPr>
              <a:t>Simulation</a:t>
            </a:r>
          </a:p>
          <a:p>
            <a:pPr algn="ctr">
              <a:lnSpc>
                <a:spcPct val="80000"/>
              </a:lnSpc>
              <a:buClrTx/>
              <a:buSzTx/>
              <a:buFontTx/>
              <a:buNone/>
            </a:pPr>
            <a:r>
              <a:rPr lang="en-US" altLang="en-US" sz="1000">
                <a:solidFill>
                  <a:schemeClr val="bg1"/>
                </a:solidFill>
                <a:latin typeface="+mn-lt"/>
              </a:rPr>
              <a:t>To Verify</a:t>
            </a:r>
          </a:p>
          <a:p>
            <a:pPr algn="ctr">
              <a:lnSpc>
                <a:spcPct val="80000"/>
              </a:lnSpc>
              <a:buClrTx/>
              <a:buSzTx/>
              <a:buFontTx/>
              <a:buNone/>
            </a:pPr>
            <a:r>
              <a:rPr lang="en-US" altLang="en-US" sz="1000">
                <a:solidFill>
                  <a:schemeClr val="bg1"/>
                </a:solidFill>
                <a:latin typeface="+mn-lt"/>
              </a:rPr>
              <a:t>Appropriate</a:t>
            </a:r>
          </a:p>
          <a:p>
            <a:pPr algn="ctr">
              <a:lnSpc>
                <a:spcPct val="80000"/>
              </a:lnSpc>
              <a:buClrTx/>
              <a:buSzTx/>
              <a:buFontTx/>
              <a:buNone/>
            </a:pPr>
            <a:r>
              <a:rPr lang="en-US" altLang="en-US" sz="1000">
                <a:solidFill>
                  <a:schemeClr val="bg1"/>
                </a:solidFill>
                <a:latin typeface="+mn-lt"/>
              </a:rPr>
              <a:t>Materials</a:t>
            </a:r>
          </a:p>
          <a:p>
            <a:pPr algn="ctr">
              <a:lnSpc>
                <a:spcPct val="80000"/>
              </a:lnSpc>
              <a:buClrTx/>
              <a:buSzTx/>
              <a:buFontTx/>
              <a:buNone/>
            </a:pPr>
            <a:r>
              <a:rPr lang="en-US" altLang="en-US" sz="1000">
                <a:solidFill>
                  <a:schemeClr val="bg1"/>
                </a:solidFill>
                <a:latin typeface="+mn-lt"/>
              </a:rPr>
              <a:t>Requirements</a:t>
            </a:r>
          </a:p>
        </p:txBody>
      </p:sp>
      <p:sp>
        <p:nvSpPr>
          <p:cNvPr id="21" name="Rectangle 64">
            <a:extLst>
              <a:ext uri="{FF2B5EF4-FFF2-40B4-BE49-F238E27FC236}">
                <a16:creationId xmlns:a16="http://schemas.microsoft.com/office/drawing/2014/main" id="{7906EB57-10A0-97D8-B879-0049B7F60FA1}"/>
              </a:ext>
            </a:extLst>
          </p:cNvPr>
          <p:cNvSpPr>
            <a:spLocks noChangeArrowheads="1"/>
          </p:cNvSpPr>
          <p:nvPr/>
        </p:nvSpPr>
        <p:spPr bwMode="auto">
          <a:xfrm>
            <a:off x="6103938" y="3194050"/>
            <a:ext cx="1058862" cy="1270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Develop And</a:t>
            </a:r>
          </a:p>
          <a:p>
            <a:pPr algn="ctr">
              <a:lnSpc>
                <a:spcPct val="80000"/>
              </a:lnSpc>
              <a:buClrTx/>
              <a:buSzTx/>
              <a:buFontTx/>
              <a:buNone/>
            </a:pPr>
            <a:r>
              <a:rPr lang="en-US" altLang="en-US" sz="1000">
                <a:solidFill>
                  <a:schemeClr val="bg1"/>
                </a:solidFill>
                <a:latin typeface="+mn-lt"/>
              </a:rPr>
              <a:t>Confirm</a:t>
            </a:r>
          </a:p>
          <a:p>
            <a:pPr algn="ctr">
              <a:lnSpc>
                <a:spcPct val="80000"/>
              </a:lnSpc>
              <a:buClrTx/>
              <a:buSzTx/>
              <a:buFontTx/>
              <a:buNone/>
            </a:pPr>
            <a:r>
              <a:rPr lang="en-US" altLang="en-US" sz="1000">
                <a:solidFill>
                  <a:schemeClr val="bg1"/>
                </a:solidFill>
                <a:latin typeface="+mn-lt"/>
              </a:rPr>
              <a:t>Net</a:t>
            </a:r>
          </a:p>
          <a:p>
            <a:pPr algn="ctr">
              <a:lnSpc>
                <a:spcPct val="80000"/>
              </a:lnSpc>
              <a:buClrTx/>
              <a:buSzTx/>
              <a:buFontTx/>
              <a:buNone/>
            </a:pPr>
            <a:r>
              <a:rPr lang="en-US" altLang="en-US" sz="1000">
                <a:solidFill>
                  <a:schemeClr val="bg1"/>
                </a:solidFill>
                <a:latin typeface="+mn-lt"/>
              </a:rPr>
              <a:t>Materials</a:t>
            </a:r>
          </a:p>
          <a:p>
            <a:pPr algn="ctr">
              <a:lnSpc>
                <a:spcPct val="80000"/>
              </a:lnSpc>
              <a:buClrTx/>
              <a:buSzTx/>
              <a:buFontTx/>
              <a:buNone/>
            </a:pPr>
            <a:r>
              <a:rPr lang="en-US" altLang="en-US" sz="1000">
                <a:solidFill>
                  <a:schemeClr val="bg1"/>
                </a:solidFill>
                <a:latin typeface="+mn-lt"/>
              </a:rPr>
              <a:t>Requirements</a:t>
            </a:r>
          </a:p>
        </p:txBody>
      </p:sp>
      <p:sp>
        <p:nvSpPr>
          <p:cNvPr id="22" name="Rectangle 65">
            <a:extLst>
              <a:ext uri="{FF2B5EF4-FFF2-40B4-BE49-F238E27FC236}">
                <a16:creationId xmlns:a16="http://schemas.microsoft.com/office/drawing/2014/main" id="{AF9C6C58-CAE9-FCAE-AFB9-866F55E5DA13}"/>
              </a:ext>
            </a:extLst>
          </p:cNvPr>
          <p:cNvSpPr>
            <a:spLocks noChangeArrowheads="1"/>
          </p:cNvSpPr>
          <p:nvPr/>
        </p:nvSpPr>
        <p:spPr bwMode="auto">
          <a:xfrm>
            <a:off x="7475538" y="3194050"/>
            <a:ext cx="1058862" cy="1270000"/>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Update</a:t>
            </a:r>
          </a:p>
          <a:p>
            <a:pPr algn="ctr">
              <a:lnSpc>
                <a:spcPct val="80000"/>
              </a:lnSpc>
              <a:buClrTx/>
              <a:buSzTx/>
              <a:buFontTx/>
              <a:buNone/>
            </a:pPr>
            <a:r>
              <a:rPr lang="en-US" altLang="en-US" sz="1000">
                <a:solidFill>
                  <a:schemeClr val="bg1"/>
                </a:solidFill>
                <a:latin typeface="+mn-lt"/>
              </a:rPr>
              <a:t>MPS Based</a:t>
            </a:r>
          </a:p>
          <a:p>
            <a:pPr algn="ctr">
              <a:lnSpc>
                <a:spcPct val="80000"/>
              </a:lnSpc>
              <a:buClrTx/>
              <a:buSzTx/>
              <a:buFontTx/>
              <a:buNone/>
            </a:pPr>
            <a:r>
              <a:rPr lang="en-US" altLang="en-US" sz="1000">
                <a:solidFill>
                  <a:schemeClr val="bg1"/>
                </a:solidFill>
                <a:latin typeface="+mn-lt"/>
              </a:rPr>
              <a:t>On MRP</a:t>
            </a:r>
          </a:p>
          <a:p>
            <a:pPr algn="ctr">
              <a:lnSpc>
                <a:spcPct val="80000"/>
              </a:lnSpc>
              <a:buClrTx/>
              <a:buSzTx/>
              <a:buFontTx/>
              <a:buNone/>
            </a:pPr>
            <a:r>
              <a:rPr lang="en-US" altLang="en-US" sz="1000">
                <a:solidFill>
                  <a:schemeClr val="bg1"/>
                </a:solidFill>
                <a:latin typeface="+mn-lt"/>
              </a:rPr>
              <a:t>Simulation</a:t>
            </a:r>
          </a:p>
        </p:txBody>
      </p:sp>
      <p:cxnSp>
        <p:nvCxnSpPr>
          <p:cNvPr id="23" name="AutoShape 66">
            <a:extLst>
              <a:ext uri="{FF2B5EF4-FFF2-40B4-BE49-F238E27FC236}">
                <a16:creationId xmlns:a16="http://schemas.microsoft.com/office/drawing/2014/main" id="{5A98298A-E5BD-0102-385E-E8E2D3D79E99}"/>
              </a:ext>
            </a:extLst>
          </p:cNvPr>
          <p:cNvCxnSpPr>
            <a:cxnSpLocks noChangeShapeType="1"/>
            <a:stCxn id="17" idx="3"/>
            <a:endCxn id="18" idx="1"/>
          </p:cNvCxnSpPr>
          <p:nvPr/>
        </p:nvCxnSpPr>
        <p:spPr bwMode="auto">
          <a:xfrm>
            <a:off x="1714500" y="3829050"/>
            <a:ext cx="32543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67">
            <a:extLst>
              <a:ext uri="{FF2B5EF4-FFF2-40B4-BE49-F238E27FC236}">
                <a16:creationId xmlns:a16="http://schemas.microsoft.com/office/drawing/2014/main" id="{FDD34935-8BB0-44C5-C407-124A3BF374F7}"/>
              </a:ext>
            </a:extLst>
          </p:cNvPr>
          <p:cNvCxnSpPr>
            <a:cxnSpLocks noChangeShapeType="1"/>
            <a:stCxn id="18" idx="3"/>
            <a:endCxn id="19" idx="1"/>
          </p:cNvCxnSpPr>
          <p:nvPr/>
        </p:nvCxnSpPr>
        <p:spPr bwMode="auto">
          <a:xfrm>
            <a:off x="3098800" y="3829050"/>
            <a:ext cx="30003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68">
            <a:extLst>
              <a:ext uri="{FF2B5EF4-FFF2-40B4-BE49-F238E27FC236}">
                <a16:creationId xmlns:a16="http://schemas.microsoft.com/office/drawing/2014/main" id="{1A1959A8-F367-FB3F-79F6-0EDD847490D8}"/>
              </a:ext>
            </a:extLst>
          </p:cNvPr>
          <p:cNvCxnSpPr>
            <a:cxnSpLocks noChangeShapeType="1"/>
            <a:stCxn id="19" idx="3"/>
            <a:endCxn id="20" idx="1"/>
          </p:cNvCxnSpPr>
          <p:nvPr/>
        </p:nvCxnSpPr>
        <p:spPr bwMode="auto">
          <a:xfrm>
            <a:off x="4457700" y="3829050"/>
            <a:ext cx="30003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6" name="AutoShape 69">
            <a:extLst>
              <a:ext uri="{FF2B5EF4-FFF2-40B4-BE49-F238E27FC236}">
                <a16:creationId xmlns:a16="http://schemas.microsoft.com/office/drawing/2014/main" id="{3CA43BFA-334B-F695-E7BC-874B877D3390}"/>
              </a:ext>
            </a:extLst>
          </p:cNvPr>
          <p:cNvCxnSpPr>
            <a:cxnSpLocks noChangeShapeType="1"/>
            <a:stCxn id="20" idx="3"/>
            <a:endCxn id="21" idx="1"/>
          </p:cNvCxnSpPr>
          <p:nvPr/>
        </p:nvCxnSpPr>
        <p:spPr bwMode="auto">
          <a:xfrm>
            <a:off x="5816600" y="3829050"/>
            <a:ext cx="28733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7" name="AutoShape 71">
            <a:extLst>
              <a:ext uri="{FF2B5EF4-FFF2-40B4-BE49-F238E27FC236}">
                <a16:creationId xmlns:a16="http://schemas.microsoft.com/office/drawing/2014/main" id="{725C4B64-3E79-2AC2-952B-74BBD93F68C0}"/>
              </a:ext>
            </a:extLst>
          </p:cNvPr>
          <p:cNvCxnSpPr>
            <a:cxnSpLocks noChangeShapeType="1"/>
            <a:stCxn id="21" idx="3"/>
            <a:endCxn id="22" idx="1"/>
          </p:cNvCxnSpPr>
          <p:nvPr/>
        </p:nvCxnSpPr>
        <p:spPr bwMode="auto">
          <a:xfrm>
            <a:off x="7162800" y="3829050"/>
            <a:ext cx="31273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72">
            <a:extLst>
              <a:ext uri="{FF2B5EF4-FFF2-40B4-BE49-F238E27FC236}">
                <a16:creationId xmlns:a16="http://schemas.microsoft.com/office/drawing/2014/main" id="{20AB9F9C-0C0D-4253-A380-DF22D3720020}"/>
              </a:ext>
            </a:extLst>
          </p:cNvPr>
          <p:cNvCxnSpPr>
            <a:cxnSpLocks noChangeShapeType="1"/>
            <a:stCxn id="16" idx="2"/>
            <a:endCxn id="17" idx="1"/>
          </p:cNvCxnSpPr>
          <p:nvPr/>
        </p:nvCxnSpPr>
        <p:spPr bwMode="auto">
          <a:xfrm rot="5400000">
            <a:off x="3194051" y="447675"/>
            <a:ext cx="842962" cy="5919787"/>
          </a:xfrm>
          <a:prstGeom prst="bentConnector4">
            <a:avLst>
              <a:gd name="adj1" fmla="val 11486"/>
              <a:gd name="adj2" fmla="val 103861"/>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Rectangle 73">
            <a:extLst>
              <a:ext uri="{FF2B5EF4-FFF2-40B4-BE49-F238E27FC236}">
                <a16:creationId xmlns:a16="http://schemas.microsoft.com/office/drawing/2014/main" id="{29871963-F306-E4AE-2336-7B5E513AF903}"/>
              </a:ext>
            </a:extLst>
          </p:cNvPr>
          <p:cNvSpPr>
            <a:spLocks noChangeArrowheads="1"/>
          </p:cNvSpPr>
          <p:nvPr/>
        </p:nvSpPr>
        <p:spPr bwMode="auto">
          <a:xfrm>
            <a:off x="1354138" y="5010150"/>
            <a:ext cx="1473200" cy="469900"/>
          </a:xfrm>
          <a:prstGeom prst="rect">
            <a:avLst/>
          </a:prstGeom>
          <a:solidFill>
            <a:srgbClr val="0000F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4" name="Rectangle 75">
            <a:extLst>
              <a:ext uri="{FF2B5EF4-FFF2-40B4-BE49-F238E27FC236}">
                <a16:creationId xmlns:a16="http://schemas.microsoft.com/office/drawing/2014/main" id="{50F54EFB-7CE9-8851-41D0-F43B61C60355}"/>
              </a:ext>
            </a:extLst>
          </p:cNvPr>
          <p:cNvSpPr>
            <a:spLocks noChangeArrowheads="1"/>
          </p:cNvSpPr>
          <p:nvPr/>
        </p:nvSpPr>
        <p:spPr bwMode="auto">
          <a:xfrm>
            <a:off x="1354138" y="5010150"/>
            <a:ext cx="1473200" cy="4699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Finalize Rolling</a:t>
            </a:r>
          </a:p>
          <a:p>
            <a:pPr algn="ctr">
              <a:lnSpc>
                <a:spcPct val="80000"/>
              </a:lnSpc>
              <a:buClrTx/>
              <a:buSzTx/>
              <a:buFontTx/>
              <a:buNone/>
            </a:pPr>
            <a:r>
              <a:rPr lang="en-US" altLang="en-US" sz="1000" dirty="0">
                <a:solidFill>
                  <a:schemeClr val="bg1"/>
                </a:solidFill>
                <a:latin typeface="+mn-lt"/>
              </a:rPr>
              <a:t>12-Week Schedule</a:t>
            </a:r>
          </a:p>
        </p:txBody>
      </p:sp>
      <p:sp>
        <p:nvSpPr>
          <p:cNvPr id="45" name="Rectangle 76">
            <a:extLst>
              <a:ext uri="{FF2B5EF4-FFF2-40B4-BE49-F238E27FC236}">
                <a16:creationId xmlns:a16="http://schemas.microsoft.com/office/drawing/2014/main" id="{26A13AE5-5732-88B0-810A-964B896220EF}"/>
              </a:ext>
            </a:extLst>
          </p:cNvPr>
          <p:cNvSpPr>
            <a:spLocks noChangeArrowheads="1"/>
          </p:cNvSpPr>
          <p:nvPr/>
        </p:nvSpPr>
        <p:spPr bwMode="auto">
          <a:xfrm>
            <a:off x="3081338" y="5010150"/>
            <a:ext cx="1473200" cy="4699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Schedule Individual</a:t>
            </a:r>
          </a:p>
          <a:p>
            <a:pPr algn="ctr">
              <a:lnSpc>
                <a:spcPct val="80000"/>
              </a:lnSpc>
              <a:buClrTx/>
              <a:buSzTx/>
              <a:buFontTx/>
              <a:buNone/>
            </a:pPr>
            <a:r>
              <a:rPr lang="en-US" altLang="en-US" sz="1000">
                <a:solidFill>
                  <a:schemeClr val="bg1"/>
                </a:solidFill>
                <a:latin typeface="+mn-lt"/>
              </a:rPr>
              <a:t>SKU</a:t>
            </a:r>
            <a:r>
              <a:rPr lang="ja-JP" altLang="en-US" sz="1000">
                <a:solidFill>
                  <a:schemeClr val="bg1"/>
                </a:solidFill>
                <a:latin typeface="+mn-lt"/>
              </a:rPr>
              <a:t>’</a:t>
            </a:r>
            <a:r>
              <a:rPr lang="en-US" altLang="ja-JP" sz="1000">
                <a:solidFill>
                  <a:schemeClr val="bg1"/>
                </a:solidFill>
                <a:latin typeface="+mn-lt"/>
              </a:rPr>
              <a:t>s &amp; Volumes</a:t>
            </a:r>
            <a:endParaRPr lang="en-US" altLang="en-US" sz="1000">
              <a:solidFill>
                <a:schemeClr val="bg1"/>
              </a:solidFill>
              <a:latin typeface="+mn-lt"/>
            </a:endParaRPr>
          </a:p>
        </p:txBody>
      </p:sp>
      <p:sp>
        <p:nvSpPr>
          <p:cNvPr id="46" name="Rectangle 77">
            <a:extLst>
              <a:ext uri="{FF2B5EF4-FFF2-40B4-BE49-F238E27FC236}">
                <a16:creationId xmlns:a16="http://schemas.microsoft.com/office/drawing/2014/main" id="{B87C2F4E-46B8-B517-4001-6AF3718B5BC9}"/>
              </a:ext>
            </a:extLst>
          </p:cNvPr>
          <p:cNvSpPr>
            <a:spLocks noChangeArrowheads="1"/>
          </p:cNvSpPr>
          <p:nvPr/>
        </p:nvSpPr>
        <p:spPr bwMode="auto">
          <a:xfrm>
            <a:off x="4795838" y="5010150"/>
            <a:ext cx="1473200" cy="469900"/>
          </a:xfrm>
          <a:prstGeom prst="rect">
            <a:avLst/>
          </a:prstGeom>
          <a:solidFill>
            <a:srgbClr val="0000FF"/>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7" name="Rectangle 78">
            <a:extLst>
              <a:ext uri="{FF2B5EF4-FFF2-40B4-BE49-F238E27FC236}">
                <a16:creationId xmlns:a16="http://schemas.microsoft.com/office/drawing/2014/main" id="{00FCF718-9E3B-4FFD-6091-E89B438E3447}"/>
              </a:ext>
            </a:extLst>
          </p:cNvPr>
          <p:cNvSpPr>
            <a:spLocks noChangeArrowheads="1"/>
          </p:cNvSpPr>
          <p:nvPr/>
        </p:nvSpPr>
        <p:spPr bwMode="auto">
          <a:xfrm>
            <a:off x="4795838" y="5010150"/>
            <a:ext cx="1473200" cy="4699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Finalize Supplier</a:t>
            </a:r>
          </a:p>
          <a:p>
            <a:pPr algn="ctr">
              <a:lnSpc>
                <a:spcPct val="80000"/>
              </a:lnSpc>
              <a:buClrTx/>
              <a:buSzTx/>
              <a:buFontTx/>
              <a:buNone/>
            </a:pPr>
            <a:r>
              <a:rPr lang="en-US" altLang="en-US" sz="1000">
                <a:solidFill>
                  <a:schemeClr val="bg1"/>
                </a:solidFill>
                <a:latin typeface="+mn-lt"/>
              </a:rPr>
              <a:t>Issues (If Present)</a:t>
            </a:r>
          </a:p>
        </p:txBody>
      </p:sp>
      <p:sp>
        <p:nvSpPr>
          <p:cNvPr id="48" name="Rectangle 79">
            <a:extLst>
              <a:ext uri="{FF2B5EF4-FFF2-40B4-BE49-F238E27FC236}">
                <a16:creationId xmlns:a16="http://schemas.microsoft.com/office/drawing/2014/main" id="{53D26BFF-20DA-F733-8335-A6BB62B2B199}"/>
              </a:ext>
            </a:extLst>
          </p:cNvPr>
          <p:cNvSpPr>
            <a:spLocks noChangeArrowheads="1"/>
          </p:cNvSpPr>
          <p:nvPr/>
        </p:nvSpPr>
        <p:spPr bwMode="auto">
          <a:xfrm>
            <a:off x="6523038" y="5010150"/>
            <a:ext cx="1473200" cy="469900"/>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Release New</a:t>
            </a:r>
          </a:p>
          <a:p>
            <a:pPr algn="ctr">
              <a:lnSpc>
                <a:spcPct val="80000"/>
              </a:lnSpc>
              <a:buClrTx/>
              <a:buSzTx/>
              <a:buFontTx/>
              <a:buNone/>
            </a:pPr>
            <a:r>
              <a:rPr lang="en-US" altLang="en-US" sz="1000">
                <a:solidFill>
                  <a:schemeClr val="bg1"/>
                </a:solidFill>
                <a:latin typeface="+mn-lt"/>
              </a:rPr>
              <a:t>12-Week Schedule</a:t>
            </a:r>
          </a:p>
        </p:txBody>
      </p:sp>
      <p:cxnSp>
        <p:nvCxnSpPr>
          <p:cNvPr id="49" name="AutoShape 81">
            <a:extLst>
              <a:ext uri="{FF2B5EF4-FFF2-40B4-BE49-F238E27FC236}">
                <a16:creationId xmlns:a16="http://schemas.microsoft.com/office/drawing/2014/main" id="{78081290-7DEA-01D6-D3B8-AC97961E3EF6}"/>
              </a:ext>
            </a:extLst>
          </p:cNvPr>
          <p:cNvCxnSpPr>
            <a:cxnSpLocks noChangeShapeType="1"/>
            <a:stCxn id="44" idx="3"/>
            <a:endCxn id="45" idx="1"/>
          </p:cNvCxnSpPr>
          <p:nvPr/>
        </p:nvCxnSpPr>
        <p:spPr bwMode="auto">
          <a:xfrm>
            <a:off x="2827338" y="5245100"/>
            <a:ext cx="2540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 name="AutoShape 82">
            <a:extLst>
              <a:ext uri="{FF2B5EF4-FFF2-40B4-BE49-F238E27FC236}">
                <a16:creationId xmlns:a16="http://schemas.microsoft.com/office/drawing/2014/main" id="{459CF0C6-E301-D3A3-8EA9-D6D1E959E7C6}"/>
              </a:ext>
            </a:extLst>
          </p:cNvPr>
          <p:cNvCxnSpPr>
            <a:cxnSpLocks noChangeShapeType="1"/>
            <a:stCxn id="45" idx="3"/>
            <a:endCxn id="47" idx="1"/>
          </p:cNvCxnSpPr>
          <p:nvPr/>
        </p:nvCxnSpPr>
        <p:spPr bwMode="auto">
          <a:xfrm>
            <a:off x="4554538" y="5245100"/>
            <a:ext cx="2413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 name="AutoShape 83">
            <a:extLst>
              <a:ext uri="{FF2B5EF4-FFF2-40B4-BE49-F238E27FC236}">
                <a16:creationId xmlns:a16="http://schemas.microsoft.com/office/drawing/2014/main" id="{11E98CF5-2A6D-39D5-0A7C-B1906E876309}"/>
              </a:ext>
            </a:extLst>
          </p:cNvPr>
          <p:cNvCxnSpPr>
            <a:cxnSpLocks noChangeShapeType="1"/>
            <a:stCxn id="47" idx="3"/>
            <a:endCxn id="48" idx="1"/>
          </p:cNvCxnSpPr>
          <p:nvPr/>
        </p:nvCxnSpPr>
        <p:spPr bwMode="auto">
          <a:xfrm>
            <a:off x="6269038" y="5245100"/>
            <a:ext cx="2540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2" name="AutoShape 85">
            <a:extLst>
              <a:ext uri="{FF2B5EF4-FFF2-40B4-BE49-F238E27FC236}">
                <a16:creationId xmlns:a16="http://schemas.microsoft.com/office/drawing/2014/main" id="{BCAE40E5-9948-5F1A-EEBD-13D441CDA40B}"/>
              </a:ext>
            </a:extLst>
          </p:cNvPr>
          <p:cNvCxnSpPr>
            <a:cxnSpLocks noChangeShapeType="1"/>
            <a:stCxn id="22" idx="3"/>
            <a:endCxn id="5" idx="3"/>
          </p:cNvCxnSpPr>
          <p:nvPr/>
        </p:nvCxnSpPr>
        <p:spPr bwMode="auto">
          <a:xfrm flipH="1">
            <a:off x="8226425" y="3829050"/>
            <a:ext cx="307975" cy="1419225"/>
          </a:xfrm>
          <a:prstGeom prst="bentConnector3">
            <a:avLst>
              <a:gd name="adj1" fmla="val -7422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3" name="Line 86">
            <a:extLst>
              <a:ext uri="{FF2B5EF4-FFF2-40B4-BE49-F238E27FC236}">
                <a16:creationId xmlns:a16="http://schemas.microsoft.com/office/drawing/2014/main" id="{A1FE01FC-91F5-E741-7DDF-25BE8570C5F8}"/>
              </a:ext>
            </a:extLst>
          </p:cNvPr>
          <p:cNvSpPr>
            <a:spLocks noChangeShapeType="1"/>
          </p:cNvSpPr>
          <p:nvPr/>
        </p:nvSpPr>
        <p:spPr bwMode="auto">
          <a:xfrm>
            <a:off x="642938" y="4679950"/>
            <a:ext cx="7904162" cy="0"/>
          </a:xfrm>
          <a:prstGeom prst="line">
            <a:avLst/>
          </a:prstGeom>
          <a:noFill/>
          <a:ln w="5715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 name="Text Box 87">
            <a:extLst>
              <a:ext uri="{FF2B5EF4-FFF2-40B4-BE49-F238E27FC236}">
                <a16:creationId xmlns:a16="http://schemas.microsoft.com/office/drawing/2014/main" id="{4E6A3A81-49AD-7A20-3564-CF59BA46F064}"/>
              </a:ext>
            </a:extLst>
          </p:cNvPr>
          <p:cNvSpPr txBox="1">
            <a:spLocks noChangeArrowheads="1"/>
          </p:cNvSpPr>
          <p:nvPr/>
        </p:nvSpPr>
        <p:spPr bwMode="auto">
          <a:xfrm>
            <a:off x="3505463" y="4565650"/>
            <a:ext cx="2210862"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dirty="0">
                <a:latin typeface="+mn-lt"/>
              </a:rPr>
              <a:t>Master Production Scheduling</a:t>
            </a:r>
          </a:p>
        </p:txBody>
      </p:sp>
      <p:sp>
        <p:nvSpPr>
          <p:cNvPr id="55" name="Line 88">
            <a:extLst>
              <a:ext uri="{FF2B5EF4-FFF2-40B4-BE49-F238E27FC236}">
                <a16:creationId xmlns:a16="http://schemas.microsoft.com/office/drawing/2014/main" id="{2020687D-71A2-D13D-9F75-AF029F9E3DFB}"/>
              </a:ext>
            </a:extLst>
          </p:cNvPr>
          <p:cNvSpPr>
            <a:spLocks noChangeShapeType="1"/>
          </p:cNvSpPr>
          <p:nvPr/>
        </p:nvSpPr>
        <p:spPr bwMode="auto">
          <a:xfrm>
            <a:off x="1138238" y="5861050"/>
            <a:ext cx="7091362" cy="0"/>
          </a:xfrm>
          <a:prstGeom prst="line">
            <a:avLst/>
          </a:prstGeom>
          <a:noFill/>
          <a:ln w="5715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6" name="Text Box 89">
            <a:extLst>
              <a:ext uri="{FF2B5EF4-FFF2-40B4-BE49-F238E27FC236}">
                <a16:creationId xmlns:a16="http://schemas.microsoft.com/office/drawing/2014/main" id="{6ED9E742-906C-03EA-1B7F-BC45FC819F6E}"/>
              </a:ext>
            </a:extLst>
          </p:cNvPr>
          <p:cNvSpPr txBox="1">
            <a:spLocks noChangeArrowheads="1"/>
          </p:cNvSpPr>
          <p:nvPr/>
        </p:nvSpPr>
        <p:spPr bwMode="auto">
          <a:xfrm>
            <a:off x="3609848" y="5746750"/>
            <a:ext cx="2127505"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dirty="0">
                <a:latin typeface="+mn-lt"/>
              </a:rPr>
              <a:t>Next-Month Build Scheduling</a:t>
            </a:r>
          </a:p>
        </p:txBody>
      </p:sp>
    </p:spTree>
    <p:extLst>
      <p:ext uri="{BB962C8B-B14F-4D97-AF65-F5344CB8AC3E}">
        <p14:creationId xmlns:p14="http://schemas.microsoft.com/office/powerpoint/2010/main" val="2235956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 Planning Summary:  </a:t>
            </a:r>
            <a:br>
              <a:rPr lang="en-US" sz="3600" dirty="0"/>
            </a:br>
            <a:r>
              <a:rPr lang="en-US" sz="3600" dirty="0"/>
              <a:t>Right Inputs, Optimized Build Plan</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Summary:  With the right inputs combined with a consensus-driven demand plan, supply team members can assemble the most appropriate next-month build plan that optimizes utilization of all enterprise resources.</a:t>
            </a:r>
          </a:p>
        </p:txBody>
      </p:sp>
      <p:grpSp>
        <p:nvGrpSpPr>
          <p:cNvPr id="96" name="Group 95">
            <a:extLst>
              <a:ext uri="{FF2B5EF4-FFF2-40B4-BE49-F238E27FC236}">
                <a16:creationId xmlns:a16="http://schemas.microsoft.com/office/drawing/2014/main" id="{7197BC78-61D0-80CD-7229-EC83432E26D7}"/>
              </a:ext>
            </a:extLst>
          </p:cNvPr>
          <p:cNvGrpSpPr/>
          <p:nvPr/>
        </p:nvGrpSpPr>
        <p:grpSpPr>
          <a:xfrm>
            <a:off x="340685" y="2236455"/>
            <a:ext cx="8572500" cy="3484563"/>
            <a:chOff x="361950" y="2651125"/>
            <a:chExt cx="8572500" cy="3484563"/>
          </a:xfrm>
        </p:grpSpPr>
        <p:grpSp>
          <p:nvGrpSpPr>
            <p:cNvPr id="4" name="Group 83">
              <a:extLst>
                <a:ext uri="{FF2B5EF4-FFF2-40B4-BE49-F238E27FC236}">
                  <a16:creationId xmlns:a16="http://schemas.microsoft.com/office/drawing/2014/main" id="{C3CFF574-6C9C-65D7-0833-DEC6092A7954}"/>
                </a:ext>
              </a:extLst>
            </p:cNvPr>
            <p:cNvGrpSpPr>
              <a:grpSpLocks/>
            </p:cNvGrpSpPr>
            <p:nvPr/>
          </p:nvGrpSpPr>
          <p:grpSpPr bwMode="auto">
            <a:xfrm>
              <a:off x="5268913" y="2651125"/>
              <a:ext cx="3665537" cy="2865438"/>
              <a:chOff x="3046" y="1607"/>
              <a:chExt cx="2510" cy="1805"/>
            </a:xfrm>
          </p:grpSpPr>
          <p:sp>
            <p:nvSpPr>
              <p:cNvPr id="7" name="Rectangle 43">
                <a:extLst>
                  <a:ext uri="{FF2B5EF4-FFF2-40B4-BE49-F238E27FC236}">
                    <a16:creationId xmlns:a16="http://schemas.microsoft.com/office/drawing/2014/main" id="{E0F4E28D-9296-5691-3C5C-56E82604F9B7}"/>
                  </a:ext>
                </a:extLst>
              </p:cNvPr>
              <p:cNvSpPr>
                <a:spLocks noChangeArrowheads="1"/>
              </p:cNvSpPr>
              <p:nvPr/>
            </p:nvSpPr>
            <p:spPr bwMode="auto">
              <a:xfrm>
                <a:off x="3110" y="1618"/>
                <a:ext cx="2417" cy="1787"/>
              </a:xfrm>
              <a:prstGeom prst="rect">
                <a:avLst/>
              </a:prstGeom>
              <a:solidFill>
                <a:schemeClr val="bg2"/>
              </a:solidFill>
              <a:ln w="12700">
                <a:solidFill>
                  <a:srgbClr val="000066"/>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Rectangle 40">
                <a:extLst>
                  <a:ext uri="{FF2B5EF4-FFF2-40B4-BE49-F238E27FC236}">
                    <a16:creationId xmlns:a16="http://schemas.microsoft.com/office/drawing/2014/main" id="{4C30F801-7164-D68D-C572-9989F520D268}"/>
                  </a:ext>
                </a:extLst>
              </p:cNvPr>
              <p:cNvSpPr>
                <a:spLocks noChangeArrowheads="1"/>
              </p:cNvSpPr>
              <p:nvPr/>
            </p:nvSpPr>
            <p:spPr bwMode="auto">
              <a:xfrm>
                <a:off x="3046" y="2928"/>
                <a:ext cx="54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Line C</a:t>
                </a:r>
                <a:endParaRPr lang="en-US" altLang="en-US" sz="1000" b="0">
                  <a:latin typeface="+mn-lt"/>
                </a:endParaRPr>
              </a:p>
              <a:p>
                <a:pPr algn="ctr">
                  <a:spcBef>
                    <a:spcPct val="50000"/>
                  </a:spcBef>
                  <a:buClrTx/>
                  <a:buSzTx/>
                  <a:buFontTx/>
                  <a:buNone/>
                </a:pPr>
                <a:r>
                  <a:rPr lang="en-US" altLang="en-US" sz="1000" b="0">
                    <a:latin typeface="+mn-lt"/>
                  </a:rPr>
                  <a:t>Item 001</a:t>
                </a:r>
              </a:p>
              <a:p>
                <a:pPr algn="ctr">
                  <a:spcBef>
                    <a:spcPct val="50000"/>
                  </a:spcBef>
                  <a:buClrTx/>
                  <a:buSzTx/>
                  <a:buFontTx/>
                  <a:buNone/>
                </a:pPr>
                <a:r>
                  <a:rPr lang="en-US" altLang="en-US" sz="1000" b="0">
                    <a:latin typeface="+mn-lt"/>
                  </a:rPr>
                  <a:t>Item 003</a:t>
                </a:r>
              </a:p>
            </p:txBody>
          </p:sp>
          <p:sp>
            <p:nvSpPr>
              <p:cNvPr id="9" name="Line 41">
                <a:extLst>
                  <a:ext uri="{FF2B5EF4-FFF2-40B4-BE49-F238E27FC236}">
                    <a16:creationId xmlns:a16="http://schemas.microsoft.com/office/drawing/2014/main" id="{3EFA619F-3012-A7C9-CCB0-DB6C520BFCF2}"/>
                  </a:ext>
                </a:extLst>
              </p:cNvPr>
              <p:cNvSpPr>
                <a:spLocks noChangeShapeType="1"/>
              </p:cNvSpPr>
              <p:nvPr/>
            </p:nvSpPr>
            <p:spPr bwMode="auto">
              <a:xfrm>
                <a:off x="4175" y="1909"/>
                <a:ext cx="0" cy="1503"/>
              </a:xfrm>
              <a:prstGeom prst="line">
                <a:avLst/>
              </a:prstGeom>
              <a:noFill/>
              <a:ln w="12700">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 name="Line 42">
                <a:extLst>
                  <a:ext uri="{FF2B5EF4-FFF2-40B4-BE49-F238E27FC236}">
                    <a16:creationId xmlns:a16="http://schemas.microsoft.com/office/drawing/2014/main" id="{DB01F162-4BA0-991F-9B6C-AA3741E9AB14}"/>
                  </a:ext>
                </a:extLst>
              </p:cNvPr>
              <p:cNvSpPr>
                <a:spLocks noChangeShapeType="1"/>
              </p:cNvSpPr>
              <p:nvPr/>
            </p:nvSpPr>
            <p:spPr bwMode="auto">
              <a:xfrm>
                <a:off x="4890" y="1909"/>
                <a:ext cx="0" cy="1494"/>
              </a:xfrm>
              <a:prstGeom prst="line">
                <a:avLst/>
              </a:prstGeom>
              <a:noFill/>
              <a:ln w="12700">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1" name="Rectangle 44">
                <a:extLst>
                  <a:ext uri="{FF2B5EF4-FFF2-40B4-BE49-F238E27FC236}">
                    <a16:creationId xmlns:a16="http://schemas.microsoft.com/office/drawing/2014/main" id="{2F81F3EA-C8E8-71C7-CD36-60A373D8742D}"/>
                  </a:ext>
                </a:extLst>
              </p:cNvPr>
              <p:cNvSpPr>
                <a:spLocks noChangeArrowheads="1"/>
              </p:cNvSpPr>
              <p:nvPr/>
            </p:nvSpPr>
            <p:spPr bwMode="auto">
              <a:xfrm>
                <a:off x="3116" y="1607"/>
                <a:ext cx="24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50000"/>
                  </a:spcBef>
                  <a:buClrTx/>
                  <a:buSzTx/>
                  <a:buFontTx/>
                  <a:buNone/>
                </a:pPr>
                <a:r>
                  <a:rPr lang="en-US" altLang="en-US" sz="1200" b="1" dirty="0">
                    <a:latin typeface="+mn-lt"/>
                  </a:rPr>
                  <a:t>Optimal Production Plan</a:t>
                </a:r>
              </a:p>
              <a:p>
                <a:pPr algn="ctr">
                  <a:spcBef>
                    <a:spcPct val="0"/>
                  </a:spcBef>
                  <a:buClrTx/>
                  <a:buSzTx/>
                  <a:buFontTx/>
                  <a:buNone/>
                </a:pPr>
                <a:r>
                  <a:rPr lang="en-US" altLang="en-US" sz="1200" b="1" dirty="0">
                    <a:latin typeface="+mn-lt"/>
                  </a:rPr>
                  <a:t>Monday, March 3</a:t>
                </a:r>
              </a:p>
            </p:txBody>
          </p:sp>
          <p:sp>
            <p:nvSpPr>
              <p:cNvPr id="12" name="Line 45">
                <a:extLst>
                  <a:ext uri="{FF2B5EF4-FFF2-40B4-BE49-F238E27FC236}">
                    <a16:creationId xmlns:a16="http://schemas.microsoft.com/office/drawing/2014/main" id="{BAE29089-6B7E-32F6-22D3-8461E8AE80D3}"/>
                  </a:ext>
                </a:extLst>
              </p:cNvPr>
              <p:cNvSpPr>
                <a:spLocks noChangeShapeType="1"/>
              </p:cNvSpPr>
              <p:nvPr/>
            </p:nvSpPr>
            <p:spPr bwMode="auto">
              <a:xfrm>
                <a:off x="3110" y="1904"/>
                <a:ext cx="2418" cy="0"/>
              </a:xfrm>
              <a:prstGeom prst="line">
                <a:avLst/>
              </a:prstGeom>
              <a:noFill/>
              <a:ln w="12700">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3" name="Line 46">
                <a:extLst>
                  <a:ext uri="{FF2B5EF4-FFF2-40B4-BE49-F238E27FC236}">
                    <a16:creationId xmlns:a16="http://schemas.microsoft.com/office/drawing/2014/main" id="{D16B33A3-B1C4-A883-FBFE-EBA1CC5D7252}"/>
                  </a:ext>
                </a:extLst>
              </p:cNvPr>
              <p:cNvSpPr>
                <a:spLocks noChangeShapeType="1"/>
              </p:cNvSpPr>
              <p:nvPr/>
            </p:nvSpPr>
            <p:spPr bwMode="auto">
              <a:xfrm>
                <a:off x="3110" y="2466"/>
                <a:ext cx="2418" cy="0"/>
              </a:xfrm>
              <a:prstGeom prst="line">
                <a:avLst/>
              </a:prstGeom>
              <a:noFill/>
              <a:ln w="12700">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 name="Line 47">
                <a:extLst>
                  <a:ext uri="{FF2B5EF4-FFF2-40B4-BE49-F238E27FC236}">
                    <a16:creationId xmlns:a16="http://schemas.microsoft.com/office/drawing/2014/main" id="{CD8CA41C-9B2C-1FC5-14E4-C808318F74AA}"/>
                  </a:ext>
                </a:extLst>
              </p:cNvPr>
              <p:cNvSpPr>
                <a:spLocks noChangeShapeType="1"/>
              </p:cNvSpPr>
              <p:nvPr/>
            </p:nvSpPr>
            <p:spPr bwMode="auto">
              <a:xfrm>
                <a:off x="3110" y="2928"/>
                <a:ext cx="2417" cy="0"/>
              </a:xfrm>
              <a:prstGeom prst="line">
                <a:avLst/>
              </a:prstGeom>
              <a:noFill/>
              <a:ln w="12700">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5" name="Rectangle 48">
                <a:extLst>
                  <a:ext uri="{FF2B5EF4-FFF2-40B4-BE49-F238E27FC236}">
                    <a16:creationId xmlns:a16="http://schemas.microsoft.com/office/drawing/2014/main" id="{7B44F2EA-D0DD-94C8-4E59-0E7684CC3E4A}"/>
                  </a:ext>
                </a:extLst>
              </p:cNvPr>
              <p:cNvSpPr>
                <a:spLocks noChangeArrowheads="1"/>
              </p:cNvSpPr>
              <p:nvPr/>
            </p:nvSpPr>
            <p:spPr bwMode="auto">
              <a:xfrm>
                <a:off x="3046" y="2002"/>
                <a:ext cx="55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Line A</a:t>
                </a:r>
                <a:endParaRPr lang="en-US" altLang="en-US" sz="1000" b="0">
                  <a:latin typeface="+mn-lt"/>
                </a:endParaRPr>
              </a:p>
              <a:p>
                <a:pPr algn="ctr">
                  <a:spcBef>
                    <a:spcPct val="50000"/>
                  </a:spcBef>
                  <a:buClrTx/>
                  <a:buSzTx/>
                  <a:buFontTx/>
                  <a:buNone/>
                </a:pPr>
                <a:r>
                  <a:rPr lang="en-US" altLang="en-US" sz="1000" b="0">
                    <a:latin typeface="+mn-lt"/>
                  </a:rPr>
                  <a:t>Item 001</a:t>
                </a:r>
              </a:p>
              <a:p>
                <a:pPr algn="ctr">
                  <a:spcBef>
                    <a:spcPct val="50000"/>
                  </a:spcBef>
                  <a:buClrTx/>
                  <a:buSzTx/>
                  <a:buFontTx/>
                  <a:buNone/>
                </a:pPr>
                <a:r>
                  <a:rPr lang="en-US" altLang="en-US" sz="1000" b="0">
                    <a:latin typeface="+mn-lt"/>
                  </a:rPr>
                  <a:t>Item 002</a:t>
                </a:r>
              </a:p>
            </p:txBody>
          </p:sp>
          <p:sp>
            <p:nvSpPr>
              <p:cNvPr id="57" name="Rectangle 49">
                <a:extLst>
                  <a:ext uri="{FF2B5EF4-FFF2-40B4-BE49-F238E27FC236}">
                    <a16:creationId xmlns:a16="http://schemas.microsoft.com/office/drawing/2014/main" id="{40C95A10-0374-8450-84CA-9CC8B09DDCC8}"/>
                  </a:ext>
                </a:extLst>
              </p:cNvPr>
              <p:cNvSpPr>
                <a:spLocks noChangeArrowheads="1"/>
              </p:cNvSpPr>
              <p:nvPr/>
            </p:nvSpPr>
            <p:spPr bwMode="auto">
              <a:xfrm>
                <a:off x="3046" y="2472"/>
                <a:ext cx="536"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000">
                    <a:latin typeface="+mn-lt"/>
                  </a:rPr>
                  <a:t>Line B</a:t>
                </a:r>
                <a:endParaRPr lang="en-US" altLang="en-US" sz="1000" b="0">
                  <a:latin typeface="+mn-lt"/>
                </a:endParaRPr>
              </a:p>
              <a:p>
                <a:pPr algn="ctr">
                  <a:spcBef>
                    <a:spcPct val="50000"/>
                  </a:spcBef>
                  <a:buClrTx/>
                  <a:buSzTx/>
                  <a:buFontTx/>
                  <a:buNone/>
                </a:pPr>
                <a:r>
                  <a:rPr lang="en-US" altLang="en-US" sz="1000" b="0">
                    <a:latin typeface="+mn-lt"/>
                  </a:rPr>
                  <a:t>Item 002</a:t>
                </a:r>
              </a:p>
              <a:p>
                <a:pPr algn="ctr">
                  <a:spcBef>
                    <a:spcPct val="50000"/>
                  </a:spcBef>
                  <a:buClrTx/>
                  <a:buSzTx/>
                  <a:buFontTx/>
                  <a:buNone/>
                </a:pPr>
                <a:r>
                  <a:rPr lang="en-US" altLang="en-US" sz="1000" b="0">
                    <a:latin typeface="+mn-lt"/>
                  </a:rPr>
                  <a:t>Item 006</a:t>
                </a:r>
              </a:p>
            </p:txBody>
          </p:sp>
          <p:sp>
            <p:nvSpPr>
              <p:cNvPr id="58" name="Rectangle 50">
                <a:extLst>
                  <a:ext uri="{FF2B5EF4-FFF2-40B4-BE49-F238E27FC236}">
                    <a16:creationId xmlns:a16="http://schemas.microsoft.com/office/drawing/2014/main" id="{74645C91-1869-8D90-3218-69C6B8305412}"/>
                  </a:ext>
                </a:extLst>
              </p:cNvPr>
              <p:cNvSpPr>
                <a:spLocks noChangeArrowheads="1"/>
              </p:cNvSpPr>
              <p:nvPr/>
            </p:nvSpPr>
            <p:spPr bwMode="auto">
              <a:xfrm>
                <a:off x="3526" y="2164"/>
                <a:ext cx="1088" cy="115"/>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59" name="Rectangle 52">
                <a:extLst>
                  <a:ext uri="{FF2B5EF4-FFF2-40B4-BE49-F238E27FC236}">
                    <a16:creationId xmlns:a16="http://schemas.microsoft.com/office/drawing/2014/main" id="{777D7D89-13D6-2C3B-7D8D-760CD81A4B2B}"/>
                  </a:ext>
                </a:extLst>
              </p:cNvPr>
              <p:cNvSpPr>
                <a:spLocks noChangeArrowheads="1"/>
              </p:cNvSpPr>
              <p:nvPr/>
            </p:nvSpPr>
            <p:spPr bwMode="auto">
              <a:xfrm>
                <a:off x="4632" y="2315"/>
                <a:ext cx="184" cy="119"/>
              </a:xfrm>
              <a:prstGeom prst="rect">
                <a:avLst/>
              </a:prstGeom>
              <a:solidFill>
                <a:schemeClr val="bg1"/>
              </a:solidFill>
              <a:ln w="12700">
                <a:solidFill>
                  <a:srgbClr val="0000F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0" name="Rectangle 53">
                <a:extLst>
                  <a:ext uri="{FF2B5EF4-FFF2-40B4-BE49-F238E27FC236}">
                    <a16:creationId xmlns:a16="http://schemas.microsoft.com/office/drawing/2014/main" id="{8AB423B5-4D21-39BC-F619-BC40D8F2AF0A}"/>
                  </a:ext>
                </a:extLst>
              </p:cNvPr>
              <p:cNvSpPr>
                <a:spLocks noChangeArrowheads="1"/>
              </p:cNvSpPr>
              <p:nvPr/>
            </p:nvSpPr>
            <p:spPr bwMode="auto">
              <a:xfrm>
                <a:off x="4578" y="2295"/>
                <a:ext cx="29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50000"/>
                  </a:spcBef>
                  <a:buClrTx/>
                  <a:buSzTx/>
                  <a:buFontTx/>
                  <a:buNone/>
                </a:pPr>
                <a:r>
                  <a:rPr lang="en-US" altLang="en-US" sz="1000" dirty="0">
                    <a:latin typeface="+mn-lt"/>
                  </a:rPr>
                  <a:t>c/o</a:t>
                </a:r>
              </a:p>
            </p:txBody>
          </p:sp>
          <p:sp>
            <p:nvSpPr>
              <p:cNvPr id="61" name="Rectangle 55">
                <a:extLst>
                  <a:ext uri="{FF2B5EF4-FFF2-40B4-BE49-F238E27FC236}">
                    <a16:creationId xmlns:a16="http://schemas.microsoft.com/office/drawing/2014/main" id="{AB97377A-7090-CEFD-DD24-6BE57C28B150}"/>
                  </a:ext>
                </a:extLst>
              </p:cNvPr>
              <p:cNvSpPr>
                <a:spLocks noChangeArrowheads="1"/>
              </p:cNvSpPr>
              <p:nvPr/>
            </p:nvSpPr>
            <p:spPr bwMode="auto">
              <a:xfrm>
                <a:off x="3526" y="3090"/>
                <a:ext cx="475" cy="113"/>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2" name="Rectangle 56">
                <a:extLst>
                  <a:ext uri="{FF2B5EF4-FFF2-40B4-BE49-F238E27FC236}">
                    <a16:creationId xmlns:a16="http://schemas.microsoft.com/office/drawing/2014/main" id="{FA8885B9-EDAD-997C-9E85-5DB198EA95E9}"/>
                  </a:ext>
                </a:extLst>
              </p:cNvPr>
              <p:cNvSpPr>
                <a:spLocks noChangeArrowheads="1"/>
              </p:cNvSpPr>
              <p:nvPr/>
            </p:nvSpPr>
            <p:spPr bwMode="auto">
              <a:xfrm>
                <a:off x="4019" y="3232"/>
                <a:ext cx="215" cy="108"/>
              </a:xfrm>
              <a:prstGeom prst="rect">
                <a:avLst/>
              </a:prstGeom>
              <a:solidFill>
                <a:schemeClr val="bg1"/>
              </a:solidFill>
              <a:ln w="12700">
                <a:solidFill>
                  <a:srgbClr val="0000F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3" name="Rectangle 57">
                <a:extLst>
                  <a:ext uri="{FF2B5EF4-FFF2-40B4-BE49-F238E27FC236}">
                    <a16:creationId xmlns:a16="http://schemas.microsoft.com/office/drawing/2014/main" id="{AAD465F9-C52F-EEDF-BF5C-0B7DCB347E5D}"/>
                  </a:ext>
                </a:extLst>
              </p:cNvPr>
              <p:cNvSpPr>
                <a:spLocks noChangeArrowheads="1"/>
              </p:cNvSpPr>
              <p:nvPr/>
            </p:nvSpPr>
            <p:spPr bwMode="auto">
              <a:xfrm>
                <a:off x="3974" y="3209"/>
                <a:ext cx="28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50000"/>
                  </a:spcBef>
                  <a:buClrTx/>
                  <a:buSzTx/>
                  <a:buFontTx/>
                  <a:buNone/>
                </a:pPr>
                <a:r>
                  <a:rPr lang="en-US" altLang="en-US" sz="1000">
                    <a:latin typeface="+mn-lt"/>
                  </a:rPr>
                  <a:t>c/o</a:t>
                </a:r>
              </a:p>
            </p:txBody>
          </p:sp>
          <p:sp>
            <p:nvSpPr>
              <p:cNvPr id="64" name="Rectangle 58">
                <a:extLst>
                  <a:ext uri="{FF2B5EF4-FFF2-40B4-BE49-F238E27FC236}">
                    <a16:creationId xmlns:a16="http://schemas.microsoft.com/office/drawing/2014/main" id="{F23796C9-BE7F-950E-9D50-75CE466E4BEC}"/>
                  </a:ext>
                </a:extLst>
              </p:cNvPr>
              <p:cNvSpPr>
                <a:spLocks noChangeArrowheads="1"/>
              </p:cNvSpPr>
              <p:nvPr/>
            </p:nvSpPr>
            <p:spPr bwMode="auto">
              <a:xfrm>
                <a:off x="5001" y="3232"/>
                <a:ext cx="523" cy="108"/>
              </a:xfrm>
              <a:prstGeom prst="rect">
                <a:avLst/>
              </a:prstGeom>
              <a:solidFill>
                <a:schemeClr val="bg1"/>
              </a:solidFill>
              <a:ln w="12700">
                <a:solidFill>
                  <a:srgbClr val="0000F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5" name="Rectangle 59">
                <a:extLst>
                  <a:ext uri="{FF2B5EF4-FFF2-40B4-BE49-F238E27FC236}">
                    <a16:creationId xmlns:a16="http://schemas.microsoft.com/office/drawing/2014/main" id="{D0518BF5-C8F2-AA79-F0C6-C256C471F063}"/>
                  </a:ext>
                </a:extLst>
              </p:cNvPr>
              <p:cNvSpPr>
                <a:spLocks noChangeArrowheads="1"/>
              </p:cNvSpPr>
              <p:nvPr/>
            </p:nvSpPr>
            <p:spPr bwMode="auto">
              <a:xfrm>
                <a:off x="4944" y="3215"/>
                <a:ext cx="61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50000"/>
                  </a:spcBef>
                  <a:buClrTx/>
                  <a:buSzTx/>
                  <a:buFontTx/>
                  <a:buNone/>
                </a:pPr>
                <a:r>
                  <a:rPr lang="en-US" altLang="en-US" sz="1000">
                    <a:latin typeface="+mn-lt"/>
                  </a:rPr>
                  <a:t>Idle</a:t>
                </a:r>
              </a:p>
            </p:txBody>
          </p:sp>
          <p:sp>
            <p:nvSpPr>
              <p:cNvPr id="66" name="Rectangle 62">
                <a:extLst>
                  <a:ext uri="{FF2B5EF4-FFF2-40B4-BE49-F238E27FC236}">
                    <a16:creationId xmlns:a16="http://schemas.microsoft.com/office/drawing/2014/main" id="{5048ECCD-4995-206C-16D0-68A897203DA7}"/>
                  </a:ext>
                </a:extLst>
              </p:cNvPr>
              <p:cNvSpPr>
                <a:spLocks noChangeArrowheads="1"/>
              </p:cNvSpPr>
              <p:nvPr/>
            </p:nvSpPr>
            <p:spPr bwMode="auto">
              <a:xfrm>
                <a:off x="3529" y="2644"/>
                <a:ext cx="176" cy="96"/>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7" name="Rectangle 63">
                <a:extLst>
                  <a:ext uri="{FF2B5EF4-FFF2-40B4-BE49-F238E27FC236}">
                    <a16:creationId xmlns:a16="http://schemas.microsoft.com/office/drawing/2014/main" id="{DF13C763-C866-8018-AF0D-0C4A06ADC508}"/>
                  </a:ext>
                </a:extLst>
              </p:cNvPr>
              <p:cNvSpPr>
                <a:spLocks noChangeArrowheads="1"/>
              </p:cNvSpPr>
              <p:nvPr/>
            </p:nvSpPr>
            <p:spPr bwMode="auto">
              <a:xfrm>
                <a:off x="3716" y="2776"/>
                <a:ext cx="166" cy="114"/>
              </a:xfrm>
              <a:prstGeom prst="rect">
                <a:avLst/>
              </a:prstGeom>
              <a:solidFill>
                <a:schemeClr val="bg1"/>
              </a:solidFill>
              <a:ln w="12700">
                <a:solidFill>
                  <a:srgbClr val="0000F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8" name="Rectangle 64">
                <a:extLst>
                  <a:ext uri="{FF2B5EF4-FFF2-40B4-BE49-F238E27FC236}">
                    <a16:creationId xmlns:a16="http://schemas.microsoft.com/office/drawing/2014/main" id="{1C85ADD3-C1A3-0E1B-4B6A-94BF8C919B01}"/>
                  </a:ext>
                </a:extLst>
              </p:cNvPr>
              <p:cNvSpPr>
                <a:spLocks noChangeArrowheads="1"/>
              </p:cNvSpPr>
              <p:nvPr/>
            </p:nvSpPr>
            <p:spPr bwMode="auto">
              <a:xfrm>
                <a:off x="3654" y="2751"/>
                <a:ext cx="29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50000"/>
                  </a:spcBef>
                  <a:buClrTx/>
                  <a:buSzTx/>
                  <a:buFontTx/>
                  <a:buNone/>
                </a:pPr>
                <a:r>
                  <a:rPr lang="en-US" altLang="en-US" sz="1000">
                    <a:latin typeface="+mn-lt"/>
                  </a:rPr>
                  <a:t>c/o</a:t>
                </a:r>
              </a:p>
            </p:txBody>
          </p:sp>
          <p:sp>
            <p:nvSpPr>
              <p:cNvPr id="69" name="Rectangle 65">
                <a:extLst>
                  <a:ext uri="{FF2B5EF4-FFF2-40B4-BE49-F238E27FC236}">
                    <a16:creationId xmlns:a16="http://schemas.microsoft.com/office/drawing/2014/main" id="{372FEEC6-FA3E-8241-B785-9D18E11EE8D6}"/>
                  </a:ext>
                </a:extLst>
              </p:cNvPr>
              <p:cNvSpPr>
                <a:spLocks noChangeArrowheads="1"/>
              </p:cNvSpPr>
              <p:nvPr/>
            </p:nvSpPr>
            <p:spPr bwMode="auto">
              <a:xfrm>
                <a:off x="4362" y="2776"/>
                <a:ext cx="450" cy="114"/>
              </a:xfrm>
              <a:prstGeom prst="rect">
                <a:avLst/>
              </a:prstGeom>
              <a:solidFill>
                <a:schemeClr val="bg1"/>
              </a:solidFill>
              <a:ln w="12700">
                <a:solidFill>
                  <a:srgbClr val="0000FF"/>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0" name="Rectangle 66">
                <a:extLst>
                  <a:ext uri="{FF2B5EF4-FFF2-40B4-BE49-F238E27FC236}">
                    <a16:creationId xmlns:a16="http://schemas.microsoft.com/office/drawing/2014/main" id="{993474E7-B059-4627-BD2B-C14C96073264}"/>
                  </a:ext>
                </a:extLst>
              </p:cNvPr>
              <p:cNvSpPr>
                <a:spLocks noChangeArrowheads="1"/>
              </p:cNvSpPr>
              <p:nvPr/>
            </p:nvSpPr>
            <p:spPr bwMode="auto">
              <a:xfrm>
                <a:off x="4310" y="2755"/>
                <a:ext cx="534"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50000"/>
                  </a:spcBef>
                  <a:buClrTx/>
                  <a:buSzTx/>
                  <a:buFontTx/>
                  <a:buNone/>
                </a:pPr>
                <a:r>
                  <a:rPr lang="en-US" altLang="en-US" sz="1000">
                    <a:latin typeface="+mn-lt"/>
                  </a:rPr>
                  <a:t>Idle</a:t>
                </a:r>
              </a:p>
            </p:txBody>
          </p:sp>
          <p:sp>
            <p:nvSpPr>
              <p:cNvPr id="71" name="Line 67">
                <a:extLst>
                  <a:ext uri="{FF2B5EF4-FFF2-40B4-BE49-F238E27FC236}">
                    <a16:creationId xmlns:a16="http://schemas.microsoft.com/office/drawing/2014/main" id="{4F8BC76C-A3AC-8F9D-D32A-85184B6E1D76}"/>
                  </a:ext>
                </a:extLst>
              </p:cNvPr>
              <p:cNvSpPr>
                <a:spLocks noChangeShapeType="1"/>
              </p:cNvSpPr>
              <p:nvPr/>
            </p:nvSpPr>
            <p:spPr bwMode="auto">
              <a:xfrm>
                <a:off x="3109" y="2014"/>
                <a:ext cx="2419" cy="0"/>
              </a:xfrm>
              <a:prstGeom prst="line">
                <a:avLst/>
              </a:prstGeom>
              <a:noFill/>
              <a:ln w="12700">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2" name="Rectangle 68">
                <a:extLst>
                  <a:ext uri="{FF2B5EF4-FFF2-40B4-BE49-F238E27FC236}">
                    <a16:creationId xmlns:a16="http://schemas.microsoft.com/office/drawing/2014/main" id="{D889AE4A-1BA8-687A-047F-28FDF7EC3A5A}"/>
                  </a:ext>
                </a:extLst>
              </p:cNvPr>
              <p:cNvSpPr>
                <a:spLocks noChangeArrowheads="1"/>
              </p:cNvSpPr>
              <p:nvPr/>
            </p:nvSpPr>
            <p:spPr bwMode="auto">
              <a:xfrm>
                <a:off x="3673" y="1885"/>
                <a:ext cx="35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900">
                    <a:latin typeface="+mn-lt"/>
                  </a:rPr>
                  <a:t>Shift 1</a:t>
                </a:r>
              </a:p>
            </p:txBody>
          </p:sp>
          <p:sp>
            <p:nvSpPr>
              <p:cNvPr id="73" name="Rectangle 69">
                <a:extLst>
                  <a:ext uri="{FF2B5EF4-FFF2-40B4-BE49-F238E27FC236}">
                    <a16:creationId xmlns:a16="http://schemas.microsoft.com/office/drawing/2014/main" id="{A8BB7CF1-4346-D6DB-0AC8-05D5170B67F5}"/>
                  </a:ext>
                </a:extLst>
              </p:cNvPr>
              <p:cNvSpPr>
                <a:spLocks noChangeArrowheads="1"/>
              </p:cNvSpPr>
              <p:nvPr/>
            </p:nvSpPr>
            <p:spPr bwMode="auto">
              <a:xfrm>
                <a:off x="4368" y="1885"/>
                <a:ext cx="35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900">
                    <a:latin typeface="+mn-lt"/>
                  </a:rPr>
                  <a:t>Shift 2</a:t>
                </a:r>
              </a:p>
            </p:txBody>
          </p:sp>
          <p:sp>
            <p:nvSpPr>
              <p:cNvPr id="74" name="Rectangle 70">
                <a:extLst>
                  <a:ext uri="{FF2B5EF4-FFF2-40B4-BE49-F238E27FC236}">
                    <a16:creationId xmlns:a16="http://schemas.microsoft.com/office/drawing/2014/main" id="{8054B6B6-4740-7658-14F1-0D84B1DC96DD}"/>
                  </a:ext>
                </a:extLst>
              </p:cNvPr>
              <p:cNvSpPr>
                <a:spLocks noChangeArrowheads="1"/>
              </p:cNvSpPr>
              <p:nvPr/>
            </p:nvSpPr>
            <p:spPr bwMode="auto">
              <a:xfrm>
                <a:off x="5070" y="1885"/>
                <a:ext cx="35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900">
                    <a:latin typeface="+mn-lt"/>
                  </a:rPr>
                  <a:t>Shift 3</a:t>
                </a:r>
              </a:p>
            </p:txBody>
          </p:sp>
          <p:sp>
            <p:nvSpPr>
              <p:cNvPr id="75" name="Line 71">
                <a:extLst>
                  <a:ext uri="{FF2B5EF4-FFF2-40B4-BE49-F238E27FC236}">
                    <a16:creationId xmlns:a16="http://schemas.microsoft.com/office/drawing/2014/main" id="{C9616D74-9E02-BC20-4056-592FE55AC734}"/>
                  </a:ext>
                </a:extLst>
              </p:cNvPr>
              <p:cNvSpPr>
                <a:spLocks noChangeShapeType="1"/>
              </p:cNvSpPr>
              <p:nvPr/>
            </p:nvSpPr>
            <p:spPr bwMode="auto">
              <a:xfrm>
                <a:off x="3523" y="1909"/>
                <a:ext cx="0" cy="1503"/>
              </a:xfrm>
              <a:prstGeom prst="line">
                <a:avLst/>
              </a:prstGeom>
              <a:noFill/>
              <a:ln w="12700">
                <a:solidFill>
                  <a:srgbClr val="000066"/>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76" name="Rectangle 54">
                <a:extLst>
                  <a:ext uri="{FF2B5EF4-FFF2-40B4-BE49-F238E27FC236}">
                    <a16:creationId xmlns:a16="http://schemas.microsoft.com/office/drawing/2014/main" id="{E922A618-2FE7-8DB1-C773-77D179DA44EF}"/>
                  </a:ext>
                </a:extLst>
              </p:cNvPr>
              <p:cNvSpPr>
                <a:spLocks noChangeArrowheads="1"/>
              </p:cNvSpPr>
              <p:nvPr/>
            </p:nvSpPr>
            <p:spPr bwMode="auto">
              <a:xfrm>
                <a:off x="4227" y="3232"/>
                <a:ext cx="785" cy="108"/>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7" name="Rectangle 61">
                <a:extLst>
                  <a:ext uri="{FF2B5EF4-FFF2-40B4-BE49-F238E27FC236}">
                    <a16:creationId xmlns:a16="http://schemas.microsoft.com/office/drawing/2014/main" id="{014C17B2-E637-BA09-CA6A-615ADEBD7B6C}"/>
                  </a:ext>
                </a:extLst>
              </p:cNvPr>
              <p:cNvSpPr>
                <a:spLocks noChangeArrowheads="1"/>
              </p:cNvSpPr>
              <p:nvPr/>
            </p:nvSpPr>
            <p:spPr bwMode="auto">
              <a:xfrm>
                <a:off x="3878" y="2776"/>
                <a:ext cx="488" cy="114"/>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8" name="Rectangle 60">
                <a:extLst>
                  <a:ext uri="{FF2B5EF4-FFF2-40B4-BE49-F238E27FC236}">
                    <a16:creationId xmlns:a16="http://schemas.microsoft.com/office/drawing/2014/main" id="{A1F8CA76-61F6-BA58-AF6A-EF2E01D97F16}"/>
                  </a:ext>
                </a:extLst>
              </p:cNvPr>
              <p:cNvSpPr>
                <a:spLocks noChangeArrowheads="1"/>
              </p:cNvSpPr>
              <p:nvPr/>
            </p:nvSpPr>
            <p:spPr bwMode="auto">
              <a:xfrm>
                <a:off x="4811" y="2776"/>
                <a:ext cx="711" cy="114"/>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9" name="Rectangle 51">
                <a:extLst>
                  <a:ext uri="{FF2B5EF4-FFF2-40B4-BE49-F238E27FC236}">
                    <a16:creationId xmlns:a16="http://schemas.microsoft.com/office/drawing/2014/main" id="{3EB352EA-DA2E-CAFC-E4ED-A71BA12B6DF2}"/>
                  </a:ext>
                </a:extLst>
              </p:cNvPr>
              <p:cNvSpPr>
                <a:spLocks noChangeArrowheads="1"/>
              </p:cNvSpPr>
              <p:nvPr/>
            </p:nvSpPr>
            <p:spPr bwMode="auto">
              <a:xfrm>
                <a:off x="4811" y="2314"/>
                <a:ext cx="713" cy="120"/>
              </a:xfrm>
              <a:prstGeom prst="rect">
                <a:avLst/>
              </a:prstGeom>
              <a:solidFill>
                <a:schemeClr val="tx2"/>
              </a:solidFill>
              <a:ln w="12700">
                <a:solidFill>
                  <a:srgbClr val="0000FF"/>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80" name="Rectangle 75">
              <a:extLst>
                <a:ext uri="{FF2B5EF4-FFF2-40B4-BE49-F238E27FC236}">
                  <a16:creationId xmlns:a16="http://schemas.microsoft.com/office/drawing/2014/main" id="{687A20F2-FB42-A651-D494-439D3371CDF9}"/>
                </a:ext>
              </a:extLst>
            </p:cNvPr>
            <p:cNvSpPr>
              <a:spLocks noChangeArrowheads="1"/>
            </p:cNvSpPr>
            <p:nvPr/>
          </p:nvSpPr>
          <p:spPr bwMode="auto">
            <a:xfrm>
              <a:off x="428625" y="2809875"/>
              <a:ext cx="1862138" cy="3000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Last-Month Performance</a:t>
              </a:r>
            </a:p>
          </p:txBody>
        </p:sp>
        <p:sp>
          <p:nvSpPr>
            <p:cNvPr id="81" name="Rectangle 76">
              <a:extLst>
                <a:ext uri="{FF2B5EF4-FFF2-40B4-BE49-F238E27FC236}">
                  <a16:creationId xmlns:a16="http://schemas.microsoft.com/office/drawing/2014/main" id="{5684381B-0B48-9E46-7322-69336D068377}"/>
                </a:ext>
              </a:extLst>
            </p:cNvPr>
            <p:cNvSpPr>
              <a:spLocks noChangeArrowheads="1"/>
            </p:cNvSpPr>
            <p:nvPr/>
          </p:nvSpPr>
          <p:spPr bwMode="auto">
            <a:xfrm>
              <a:off x="428625" y="3228975"/>
              <a:ext cx="1862138" cy="3000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Maintenance Requirements</a:t>
              </a:r>
            </a:p>
          </p:txBody>
        </p:sp>
        <p:sp>
          <p:nvSpPr>
            <p:cNvPr id="82" name="Rectangle 77">
              <a:extLst>
                <a:ext uri="{FF2B5EF4-FFF2-40B4-BE49-F238E27FC236}">
                  <a16:creationId xmlns:a16="http://schemas.microsoft.com/office/drawing/2014/main" id="{7E2B3D49-5DD4-44A2-F0BA-0DBDEDC6FCD2}"/>
                </a:ext>
              </a:extLst>
            </p:cNvPr>
            <p:cNvSpPr>
              <a:spLocks noChangeArrowheads="1"/>
            </p:cNvSpPr>
            <p:nvPr/>
          </p:nvSpPr>
          <p:spPr bwMode="auto">
            <a:xfrm>
              <a:off x="428625" y="3654425"/>
              <a:ext cx="1862138" cy="3000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Staffing Plan</a:t>
              </a:r>
            </a:p>
          </p:txBody>
        </p:sp>
        <p:sp>
          <p:nvSpPr>
            <p:cNvPr id="83" name="Rectangle 78">
              <a:extLst>
                <a:ext uri="{FF2B5EF4-FFF2-40B4-BE49-F238E27FC236}">
                  <a16:creationId xmlns:a16="http://schemas.microsoft.com/office/drawing/2014/main" id="{63332E24-A3BA-2FE3-FA35-487D19BD1171}"/>
                </a:ext>
              </a:extLst>
            </p:cNvPr>
            <p:cNvSpPr>
              <a:spLocks noChangeArrowheads="1"/>
            </p:cNvSpPr>
            <p:nvPr/>
          </p:nvSpPr>
          <p:spPr bwMode="auto">
            <a:xfrm>
              <a:off x="428625" y="4065588"/>
              <a:ext cx="1862138" cy="300037"/>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Consensus Demand</a:t>
              </a:r>
            </a:p>
          </p:txBody>
        </p:sp>
        <p:sp>
          <p:nvSpPr>
            <p:cNvPr id="84" name="Rectangle 79">
              <a:extLst>
                <a:ext uri="{FF2B5EF4-FFF2-40B4-BE49-F238E27FC236}">
                  <a16:creationId xmlns:a16="http://schemas.microsoft.com/office/drawing/2014/main" id="{37E6F542-7337-B319-359A-97FF13DA8D80}"/>
                </a:ext>
              </a:extLst>
            </p:cNvPr>
            <p:cNvSpPr>
              <a:spLocks noChangeArrowheads="1"/>
            </p:cNvSpPr>
            <p:nvPr/>
          </p:nvSpPr>
          <p:spPr bwMode="auto">
            <a:xfrm>
              <a:off x="428625" y="4479925"/>
              <a:ext cx="1862138" cy="3000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Inventory Position Needs</a:t>
              </a:r>
            </a:p>
          </p:txBody>
        </p:sp>
        <p:sp>
          <p:nvSpPr>
            <p:cNvPr id="85" name="Rectangle 80">
              <a:extLst>
                <a:ext uri="{FF2B5EF4-FFF2-40B4-BE49-F238E27FC236}">
                  <a16:creationId xmlns:a16="http://schemas.microsoft.com/office/drawing/2014/main" id="{AFEADB3F-F8A0-9D86-6B37-0CD2970BC82F}"/>
                </a:ext>
              </a:extLst>
            </p:cNvPr>
            <p:cNvSpPr>
              <a:spLocks noChangeArrowheads="1"/>
            </p:cNvSpPr>
            <p:nvPr/>
          </p:nvSpPr>
          <p:spPr bwMode="auto">
            <a:xfrm>
              <a:off x="428625" y="4902200"/>
              <a:ext cx="1862138" cy="300038"/>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Rough-Cut Capacity Plan</a:t>
              </a:r>
            </a:p>
          </p:txBody>
        </p:sp>
        <p:sp>
          <p:nvSpPr>
            <p:cNvPr id="86" name="Rectangle 81">
              <a:extLst>
                <a:ext uri="{FF2B5EF4-FFF2-40B4-BE49-F238E27FC236}">
                  <a16:creationId xmlns:a16="http://schemas.microsoft.com/office/drawing/2014/main" id="{0DA7C3CC-6707-8C8A-C0ED-AE7457C6188D}"/>
                </a:ext>
              </a:extLst>
            </p:cNvPr>
            <p:cNvSpPr>
              <a:spLocks noChangeArrowheads="1"/>
            </p:cNvSpPr>
            <p:nvPr/>
          </p:nvSpPr>
          <p:spPr bwMode="auto">
            <a:xfrm>
              <a:off x="2513013" y="3282950"/>
              <a:ext cx="2698750" cy="1509713"/>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8" name="Rectangle 84">
              <a:extLst>
                <a:ext uri="{FF2B5EF4-FFF2-40B4-BE49-F238E27FC236}">
                  <a16:creationId xmlns:a16="http://schemas.microsoft.com/office/drawing/2014/main" id="{DB42799D-BC44-A1DD-0C36-D97EEC106814}"/>
                </a:ext>
              </a:extLst>
            </p:cNvPr>
            <p:cNvSpPr>
              <a:spLocks noChangeArrowheads="1"/>
            </p:cNvSpPr>
            <p:nvPr/>
          </p:nvSpPr>
          <p:spPr bwMode="auto">
            <a:xfrm>
              <a:off x="361950" y="2743200"/>
              <a:ext cx="2012950" cy="254158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cxnSp>
          <p:nvCxnSpPr>
            <p:cNvPr id="89" name="AutoShape 86">
              <a:extLst>
                <a:ext uri="{FF2B5EF4-FFF2-40B4-BE49-F238E27FC236}">
                  <a16:creationId xmlns:a16="http://schemas.microsoft.com/office/drawing/2014/main" id="{F3889AC6-34BE-6E69-5BC1-4D51A518880F}"/>
                </a:ext>
              </a:extLst>
            </p:cNvPr>
            <p:cNvCxnSpPr>
              <a:cxnSpLocks noChangeShapeType="1"/>
              <a:stCxn id="88" idx="0"/>
              <a:endCxn id="86" idx="0"/>
            </p:cNvCxnSpPr>
            <p:nvPr/>
          </p:nvCxnSpPr>
          <p:spPr bwMode="auto">
            <a:xfrm rot="5400000" flipV="1">
              <a:off x="2345532" y="1756568"/>
              <a:ext cx="539750" cy="2493963"/>
            </a:xfrm>
            <a:prstGeom prst="bentConnector3">
              <a:avLst>
                <a:gd name="adj1" fmla="val -40588"/>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90" name="AutoShape 87">
              <a:extLst>
                <a:ext uri="{FF2B5EF4-FFF2-40B4-BE49-F238E27FC236}">
                  <a16:creationId xmlns:a16="http://schemas.microsoft.com/office/drawing/2014/main" id="{F2B784C8-F90E-8786-F2DB-003BBED1FFC7}"/>
                </a:ext>
              </a:extLst>
            </p:cNvPr>
            <p:cNvCxnSpPr>
              <a:cxnSpLocks noChangeShapeType="1"/>
              <a:stCxn id="86" idx="2"/>
              <a:endCxn id="7" idx="2"/>
            </p:cNvCxnSpPr>
            <p:nvPr/>
          </p:nvCxnSpPr>
          <p:spPr bwMode="auto">
            <a:xfrm rot="16200000" flipH="1">
              <a:off x="5143501" y="3521075"/>
              <a:ext cx="703262" cy="3265487"/>
            </a:xfrm>
            <a:prstGeom prst="bentConnector3">
              <a:avLst>
                <a:gd name="adj1" fmla="val 132505"/>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91" name="Rectangle 88">
              <a:extLst>
                <a:ext uri="{FF2B5EF4-FFF2-40B4-BE49-F238E27FC236}">
                  <a16:creationId xmlns:a16="http://schemas.microsoft.com/office/drawing/2014/main" id="{7B5CF6DD-6E20-EBB2-DB04-1724FA03B324}"/>
                </a:ext>
              </a:extLst>
            </p:cNvPr>
            <p:cNvSpPr>
              <a:spLocks noChangeArrowheads="1"/>
            </p:cNvSpPr>
            <p:nvPr/>
          </p:nvSpPr>
          <p:spPr bwMode="auto">
            <a:xfrm>
              <a:off x="395288" y="5878513"/>
              <a:ext cx="2005012" cy="2571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Inputs</a:t>
              </a:r>
            </a:p>
          </p:txBody>
        </p:sp>
        <p:sp>
          <p:nvSpPr>
            <p:cNvPr id="92" name="Rectangle 89">
              <a:extLst>
                <a:ext uri="{FF2B5EF4-FFF2-40B4-BE49-F238E27FC236}">
                  <a16:creationId xmlns:a16="http://schemas.microsoft.com/office/drawing/2014/main" id="{F5F0AE6A-30EB-FF3F-597F-67C4A331D8C9}"/>
                </a:ext>
              </a:extLst>
            </p:cNvPr>
            <p:cNvSpPr>
              <a:spLocks noChangeArrowheads="1"/>
            </p:cNvSpPr>
            <p:nvPr/>
          </p:nvSpPr>
          <p:spPr bwMode="auto">
            <a:xfrm>
              <a:off x="2867025" y="5878513"/>
              <a:ext cx="2005013" cy="2571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Optimized Plan</a:t>
              </a:r>
            </a:p>
          </p:txBody>
        </p:sp>
        <p:sp>
          <p:nvSpPr>
            <p:cNvPr id="93" name="Rectangle 90">
              <a:extLst>
                <a:ext uri="{FF2B5EF4-FFF2-40B4-BE49-F238E27FC236}">
                  <a16:creationId xmlns:a16="http://schemas.microsoft.com/office/drawing/2014/main" id="{F7D0F237-A983-E06F-7BA7-B17683B11909}"/>
                </a:ext>
              </a:extLst>
            </p:cNvPr>
            <p:cNvSpPr>
              <a:spLocks noChangeArrowheads="1"/>
            </p:cNvSpPr>
            <p:nvPr/>
          </p:nvSpPr>
          <p:spPr bwMode="auto">
            <a:xfrm>
              <a:off x="6100763" y="5878513"/>
              <a:ext cx="2005012" cy="25717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Build Schedule</a:t>
              </a:r>
            </a:p>
          </p:txBody>
        </p:sp>
        <p:cxnSp>
          <p:nvCxnSpPr>
            <p:cNvPr id="94" name="AutoShape 91">
              <a:extLst>
                <a:ext uri="{FF2B5EF4-FFF2-40B4-BE49-F238E27FC236}">
                  <a16:creationId xmlns:a16="http://schemas.microsoft.com/office/drawing/2014/main" id="{3496AD59-2A74-5E37-B337-A60871539748}"/>
                </a:ext>
              </a:extLst>
            </p:cNvPr>
            <p:cNvCxnSpPr>
              <a:cxnSpLocks noChangeShapeType="1"/>
              <a:stCxn id="91" idx="3"/>
              <a:endCxn id="92" idx="1"/>
            </p:cNvCxnSpPr>
            <p:nvPr/>
          </p:nvCxnSpPr>
          <p:spPr bwMode="auto">
            <a:xfrm>
              <a:off x="2400300" y="6007100"/>
              <a:ext cx="466725"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5" name="AutoShape 92">
              <a:extLst>
                <a:ext uri="{FF2B5EF4-FFF2-40B4-BE49-F238E27FC236}">
                  <a16:creationId xmlns:a16="http://schemas.microsoft.com/office/drawing/2014/main" id="{6E71A732-3806-F2F6-198A-F338408C7773}"/>
                </a:ext>
              </a:extLst>
            </p:cNvPr>
            <p:cNvCxnSpPr>
              <a:cxnSpLocks noChangeShapeType="1"/>
              <a:stCxn id="92" idx="3"/>
              <a:endCxn id="93" idx="1"/>
            </p:cNvCxnSpPr>
            <p:nvPr/>
          </p:nvCxnSpPr>
          <p:spPr bwMode="auto">
            <a:xfrm>
              <a:off x="4872038" y="6007100"/>
              <a:ext cx="1228725"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graphicFrame>
        <p:nvGraphicFramePr>
          <p:cNvPr id="97" name="Object 891">
            <a:extLst>
              <a:ext uri="{FF2B5EF4-FFF2-40B4-BE49-F238E27FC236}">
                <a16:creationId xmlns:a16="http://schemas.microsoft.com/office/drawing/2014/main" id="{C65DB8E0-75C0-8AEA-7F38-FFB9AE83EAA9}"/>
              </a:ext>
            </a:extLst>
          </p:cNvPr>
          <p:cNvGraphicFramePr>
            <a:graphicFrameLocks noChangeAspect="1"/>
          </p:cNvGraphicFramePr>
          <p:nvPr>
            <p:extLst>
              <p:ext uri="{D42A27DB-BD31-4B8C-83A1-F6EECF244321}">
                <p14:modId xmlns:p14="http://schemas.microsoft.com/office/powerpoint/2010/main" val="2806783197"/>
              </p:ext>
            </p:extLst>
          </p:nvPr>
        </p:nvGraphicFramePr>
        <p:xfrm>
          <a:off x="2631588" y="2880538"/>
          <a:ext cx="2448828" cy="1501231"/>
        </p:xfrm>
        <a:graphic>
          <a:graphicData uri="http://schemas.openxmlformats.org/presentationml/2006/ole">
            <mc:AlternateContent xmlns:mc="http://schemas.openxmlformats.org/markup-compatibility/2006">
              <mc:Choice xmlns:v="urn:schemas-microsoft-com:vml" Requires="v">
                <p:oleObj name="Worksheet" r:id="rId3" imgW="4800510" imgH="2943305" progId="Excel.Sheet.8">
                  <p:embed/>
                </p:oleObj>
              </mc:Choice>
              <mc:Fallback>
                <p:oleObj name="Worksheet" r:id="rId3" imgW="4800510" imgH="2943305" progId="Excel.Sheet.8">
                  <p:embed/>
                  <p:pic>
                    <p:nvPicPr>
                      <p:cNvPr id="12" name="Object 891">
                        <a:extLst>
                          <a:ext uri="{FF2B5EF4-FFF2-40B4-BE49-F238E27FC236}">
                            <a16:creationId xmlns:a16="http://schemas.microsoft.com/office/drawing/2014/main" id="{D39C3179-DF60-ABA9-D50A-3ADBBF56A95A}"/>
                          </a:ext>
                        </a:extLst>
                      </p:cNvPr>
                      <p:cNvPicPr>
                        <a:picLocks noChangeAspect="1" noChangeArrowheads="1"/>
                      </p:cNvPicPr>
                      <p:nvPr/>
                    </p:nvPicPr>
                    <p:blipFill>
                      <a:blip r:embed="rId4"/>
                      <a:srcRect/>
                      <a:stretch>
                        <a:fillRect/>
                      </a:stretch>
                    </p:blipFill>
                    <p:spPr bwMode="auto">
                      <a:xfrm>
                        <a:off x="2631588" y="2880538"/>
                        <a:ext cx="2448828" cy="150123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48159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Supply-Demand Consensus Meeting: </a:t>
            </a:r>
            <a:br>
              <a:rPr lang="en-US" sz="3600" dirty="0"/>
            </a:br>
            <a:r>
              <a:rPr lang="en-US" sz="3600" dirty="0"/>
              <a:t>Forging Agreement For Next Month</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Closing out the process, supply and demand team members have the responsibility to reach final consensus on the go-forward next-month S&amp;OP plan that will be presented to senior management for sign-off.</a:t>
            </a:r>
          </a:p>
        </p:txBody>
      </p:sp>
      <p:grpSp>
        <p:nvGrpSpPr>
          <p:cNvPr id="40" name="Group 39">
            <a:extLst>
              <a:ext uri="{FF2B5EF4-FFF2-40B4-BE49-F238E27FC236}">
                <a16:creationId xmlns:a16="http://schemas.microsoft.com/office/drawing/2014/main" id="{9D649B8B-AF2A-8479-4F74-7C3A95645F11}"/>
              </a:ext>
            </a:extLst>
          </p:cNvPr>
          <p:cNvGrpSpPr/>
          <p:nvPr/>
        </p:nvGrpSpPr>
        <p:grpSpPr>
          <a:xfrm>
            <a:off x="347182" y="1941808"/>
            <a:ext cx="8939414" cy="4235155"/>
            <a:chOff x="336550" y="2335213"/>
            <a:chExt cx="8543925" cy="3911600"/>
          </a:xfrm>
        </p:grpSpPr>
        <p:sp>
          <p:nvSpPr>
            <p:cNvPr id="5" name="Line 23">
              <a:extLst>
                <a:ext uri="{FF2B5EF4-FFF2-40B4-BE49-F238E27FC236}">
                  <a16:creationId xmlns:a16="http://schemas.microsoft.com/office/drawing/2014/main" id="{2E4B09C5-BDCB-2E7E-D92E-7B9FFE92C201}"/>
                </a:ext>
              </a:extLst>
            </p:cNvPr>
            <p:cNvSpPr>
              <a:spLocks noChangeShapeType="1"/>
            </p:cNvSpPr>
            <p:nvPr/>
          </p:nvSpPr>
          <p:spPr bwMode="auto">
            <a:xfrm>
              <a:off x="4606925" y="3949700"/>
              <a:ext cx="0" cy="2074863"/>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Line 22">
              <a:extLst>
                <a:ext uri="{FF2B5EF4-FFF2-40B4-BE49-F238E27FC236}">
                  <a16:creationId xmlns:a16="http://schemas.microsoft.com/office/drawing/2014/main" id="{1E39C092-0F6A-93A8-A23E-D99D50381870}"/>
                </a:ext>
              </a:extLst>
            </p:cNvPr>
            <p:cNvSpPr>
              <a:spLocks noChangeShapeType="1"/>
            </p:cNvSpPr>
            <p:nvPr/>
          </p:nvSpPr>
          <p:spPr bwMode="auto">
            <a:xfrm>
              <a:off x="1644650" y="3946525"/>
              <a:ext cx="0" cy="2074863"/>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4">
              <a:extLst>
                <a:ext uri="{FF2B5EF4-FFF2-40B4-BE49-F238E27FC236}">
                  <a16:creationId xmlns:a16="http://schemas.microsoft.com/office/drawing/2014/main" id="{DB160CB6-134D-3AA0-4755-D78237D174B9}"/>
                </a:ext>
              </a:extLst>
            </p:cNvPr>
            <p:cNvSpPr>
              <a:spLocks noChangeArrowheads="1"/>
            </p:cNvSpPr>
            <p:nvPr/>
          </p:nvSpPr>
          <p:spPr bwMode="auto">
            <a:xfrm>
              <a:off x="425450" y="2687638"/>
              <a:ext cx="2408238" cy="126047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Rectangle 5">
              <a:extLst>
                <a:ext uri="{FF2B5EF4-FFF2-40B4-BE49-F238E27FC236}">
                  <a16:creationId xmlns:a16="http://schemas.microsoft.com/office/drawing/2014/main" id="{63D1FF19-FE10-3F49-85AD-61309BF52E40}"/>
                </a:ext>
              </a:extLst>
            </p:cNvPr>
            <p:cNvSpPr>
              <a:spLocks noChangeArrowheads="1"/>
            </p:cNvSpPr>
            <p:nvPr/>
          </p:nvSpPr>
          <p:spPr bwMode="auto">
            <a:xfrm>
              <a:off x="3398838" y="2687638"/>
              <a:ext cx="2408237" cy="126047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8" name="Rectangle 6">
              <a:extLst>
                <a:ext uri="{FF2B5EF4-FFF2-40B4-BE49-F238E27FC236}">
                  <a16:creationId xmlns:a16="http://schemas.microsoft.com/office/drawing/2014/main" id="{798891DA-05D8-ADBE-A425-78685A2DC6E0}"/>
                </a:ext>
              </a:extLst>
            </p:cNvPr>
            <p:cNvSpPr>
              <a:spLocks noChangeArrowheads="1"/>
            </p:cNvSpPr>
            <p:nvPr/>
          </p:nvSpPr>
          <p:spPr bwMode="auto">
            <a:xfrm>
              <a:off x="336550" y="2476500"/>
              <a:ext cx="2586038" cy="37687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9" name="Rectangle 7">
              <a:extLst>
                <a:ext uri="{FF2B5EF4-FFF2-40B4-BE49-F238E27FC236}">
                  <a16:creationId xmlns:a16="http://schemas.microsoft.com/office/drawing/2014/main" id="{E692E992-EBA6-6108-3651-755CD06DC8C1}"/>
                </a:ext>
              </a:extLst>
            </p:cNvPr>
            <p:cNvSpPr>
              <a:spLocks noChangeArrowheads="1"/>
            </p:cNvSpPr>
            <p:nvPr/>
          </p:nvSpPr>
          <p:spPr bwMode="auto">
            <a:xfrm>
              <a:off x="3309938" y="2476500"/>
              <a:ext cx="2586037" cy="37687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0" name="Rectangle 8">
              <a:extLst>
                <a:ext uri="{FF2B5EF4-FFF2-40B4-BE49-F238E27FC236}">
                  <a16:creationId xmlns:a16="http://schemas.microsoft.com/office/drawing/2014/main" id="{FF1F20D1-12D6-9DE8-4EAD-C626CAF33CB5}"/>
                </a:ext>
              </a:extLst>
            </p:cNvPr>
            <p:cNvSpPr>
              <a:spLocks noChangeArrowheads="1"/>
            </p:cNvSpPr>
            <p:nvPr/>
          </p:nvSpPr>
          <p:spPr bwMode="auto">
            <a:xfrm>
              <a:off x="441325" y="4135438"/>
              <a:ext cx="2408238"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Consensus Demand Plan</a:t>
              </a:r>
            </a:p>
          </p:txBody>
        </p:sp>
        <p:sp>
          <p:nvSpPr>
            <p:cNvPr id="21" name="Rectangle 9">
              <a:extLst>
                <a:ext uri="{FF2B5EF4-FFF2-40B4-BE49-F238E27FC236}">
                  <a16:creationId xmlns:a16="http://schemas.microsoft.com/office/drawing/2014/main" id="{AB5ADD83-ED13-A536-4930-AC58BAC6CC6D}"/>
                </a:ext>
              </a:extLst>
            </p:cNvPr>
            <p:cNvSpPr>
              <a:spLocks noChangeArrowheads="1"/>
            </p:cNvSpPr>
            <p:nvPr/>
          </p:nvSpPr>
          <p:spPr bwMode="auto">
            <a:xfrm>
              <a:off x="441325" y="4576763"/>
              <a:ext cx="2408238"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Promotional Activities &amp; Seasonality</a:t>
              </a:r>
            </a:p>
          </p:txBody>
        </p:sp>
        <p:sp>
          <p:nvSpPr>
            <p:cNvPr id="22" name="Rectangle 10">
              <a:extLst>
                <a:ext uri="{FF2B5EF4-FFF2-40B4-BE49-F238E27FC236}">
                  <a16:creationId xmlns:a16="http://schemas.microsoft.com/office/drawing/2014/main" id="{9A6BAA89-CDCD-2637-1789-7B9C5B562BA5}"/>
                </a:ext>
              </a:extLst>
            </p:cNvPr>
            <p:cNvSpPr>
              <a:spLocks noChangeArrowheads="1"/>
            </p:cNvSpPr>
            <p:nvPr/>
          </p:nvSpPr>
          <p:spPr bwMode="auto">
            <a:xfrm>
              <a:off x="441325" y="5000625"/>
              <a:ext cx="2408238"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New-Product Launches</a:t>
              </a:r>
            </a:p>
          </p:txBody>
        </p:sp>
        <p:sp>
          <p:nvSpPr>
            <p:cNvPr id="23" name="Rectangle 11">
              <a:extLst>
                <a:ext uri="{FF2B5EF4-FFF2-40B4-BE49-F238E27FC236}">
                  <a16:creationId xmlns:a16="http://schemas.microsoft.com/office/drawing/2014/main" id="{50D8E08B-85B9-5956-8688-81C42671AEFC}"/>
                </a:ext>
              </a:extLst>
            </p:cNvPr>
            <p:cNvSpPr>
              <a:spLocks noChangeArrowheads="1"/>
            </p:cNvSpPr>
            <p:nvPr/>
          </p:nvSpPr>
          <p:spPr bwMode="auto">
            <a:xfrm>
              <a:off x="441325" y="5441950"/>
              <a:ext cx="2408238"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Forecast Error Adjustments</a:t>
              </a:r>
            </a:p>
          </p:txBody>
        </p:sp>
        <p:sp>
          <p:nvSpPr>
            <p:cNvPr id="24" name="Rectangle 12">
              <a:extLst>
                <a:ext uri="{FF2B5EF4-FFF2-40B4-BE49-F238E27FC236}">
                  <a16:creationId xmlns:a16="http://schemas.microsoft.com/office/drawing/2014/main" id="{15AB2F6E-0A72-C488-02CF-DA0CF4D314C5}"/>
                </a:ext>
              </a:extLst>
            </p:cNvPr>
            <p:cNvSpPr>
              <a:spLocks noChangeArrowheads="1"/>
            </p:cNvSpPr>
            <p:nvPr/>
          </p:nvSpPr>
          <p:spPr bwMode="auto">
            <a:xfrm>
              <a:off x="441325" y="5861050"/>
              <a:ext cx="2408238"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Marketplace Assumptions</a:t>
              </a:r>
            </a:p>
          </p:txBody>
        </p:sp>
        <p:sp>
          <p:nvSpPr>
            <p:cNvPr id="25" name="Rectangle 13">
              <a:extLst>
                <a:ext uri="{FF2B5EF4-FFF2-40B4-BE49-F238E27FC236}">
                  <a16:creationId xmlns:a16="http://schemas.microsoft.com/office/drawing/2014/main" id="{BB6570D7-FD30-D339-F6AE-FFC85E44E272}"/>
                </a:ext>
              </a:extLst>
            </p:cNvPr>
            <p:cNvSpPr>
              <a:spLocks noChangeArrowheads="1"/>
            </p:cNvSpPr>
            <p:nvPr/>
          </p:nvSpPr>
          <p:spPr bwMode="auto">
            <a:xfrm>
              <a:off x="3392488" y="4138613"/>
              <a:ext cx="2408237"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Consensus Supply Plan</a:t>
              </a:r>
            </a:p>
          </p:txBody>
        </p:sp>
        <p:sp>
          <p:nvSpPr>
            <p:cNvPr id="26" name="Rectangle 14">
              <a:extLst>
                <a:ext uri="{FF2B5EF4-FFF2-40B4-BE49-F238E27FC236}">
                  <a16:creationId xmlns:a16="http://schemas.microsoft.com/office/drawing/2014/main" id="{E8537F8C-CFE4-11B6-356A-07233C4F1CC1}"/>
                </a:ext>
              </a:extLst>
            </p:cNvPr>
            <p:cNvSpPr>
              <a:spLocks noChangeArrowheads="1"/>
            </p:cNvSpPr>
            <p:nvPr/>
          </p:nvSpPr>
          <p:spPr bwMode="auto">
            <a:xfrm>
              <a:off x="3392488" y="4579938"/>
              <a:ext cx="2408237"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Maintenance Requirements</a:t>
              </a:r>
            </a:p>
          </p:txBody>
        </p:sp>
        <p:sp>
          <p:nvSpPr>
            <p:cNvPr id="27" name="Rectangle 15">
              <a:extLst>
                <a:ext uri="{FF2B5EF4-FFF2-40B4-BE49-F238E27FC236}">
                  <a16:creationId xmlns:a16="http://schemas.microsoft.com/office/drawing/2014/main" id="{FCFB6C14-C5D0-C81A-C727-C629CF2ECA4B}"/>
                </a:ext>
              </a:extLst>
            </p:cNvPr>
            <p:cNvSpPr>
              <a:spLocks noChangeArrowheads="1"/>
            </p:cNvSpPr>
            <p:nvPr/>
          </p:nvSpPr>
          <p:spPr bwMode="auto">
            <a:xfrm>
              <a:off x="3392488" y="5003800"/>
              <a:ext cx="2408237"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Supply Constraints &amp; Hurdles</a:t>
              </a:r>
            </a:p>
          </p:txBody>
        </p:sp>
        <p:sp>
          <p:nvSpPr>
            <p:cNvPr id="28" name="Rectangle 16">
              <a:extLst>
                <a:ext uri="{FF2B5EF4-FFF2-40B4-BE49-F238E27FC236}">
                  <a16:creationId xmlns:a16="http://schemas.microsoft.com/office/drawing/2014/main" id="{A0388AE8-579C-3BC9-B9CB-D3BB534C213C}"/>
                </a:ext>
              </a:extLst>
            </p:cNvPr>
            <p:cNvSpPr>
              <a:spLocks noChangeArrowheads="1"/>
            </p:cNvSpPr>
            <p:nvPr/>
          </p:nvSpPr>
          <p:spPr bwMode="auto">
            <a:xfrm>
              <a:off x="3392488" y="5445125"/>
              <a:ext cx="2408237"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Supply Base Requirements</a:t>
              </a:r>
            </a:p>
          </p:txBody>
        </p:sp>
        <p:sp>
          <p:nvSpPr>
            <p:cNvPr id="29" name="Rectangle 17">
              <a:extLst>
                <a:ext uri="{FF2B5EF4-FFF2-40B4-BE49-F238E27FC236}">
                  <a16:creationId xmlns:a16="http://schemas.microsoft.com/office/drawing/2014/main" id="{F86C2FC4-05F3-1886-3F9B-9CE0642527A3}"/>
                </a:ext>
              </a:extLst>
            </p:cNvPr>
            <p:cNvSpPr>
              <a:spLocks noChangeArrowheads="1"/>
            </p:cNvSpPr>
            <p:nvPr/>
          </p:nvSpPr>
          <p:spPr bwMode="auto">
            <a:xfrm>
              <a:off x="3392488" y="5864225"/>
              <a:ext cx="2408237" cy="2889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Rough-Cut Capacity Plan</a:t>
              </a:r>
            </a:p>
          </p:txBody>
        </p:sp>
        <p:sp>
          <p:nvSpPr>
            <p:cNvPr id="32" name="Text Box 20">
              <a:extLst>
                <a:ext uri="{FF2B5EF4-FFF2-40B4-BE49-F238E27FC236}">
                  <a16:creationId xmlns:a16="http://schemas.microsoft.com/office/drawing/2014/main" id="{FC183933-7511-DE36-83A0-3209ED827954}"/>
                </a:ext>
              </a:extLst>
            </p:cNvPr>
            <p:cNvSpPr txBox="1">
              <a:spLocks noChangeArrowheads="1"/>
            </p:cNvSpPr>
            <p:nvPr/>
          </p:nvSpPr>
          <p:spPr bwMode="auto">
            <a:xfrm>
              <a:off x="619947" y="2338388"/>
              <a:ext cx="1195332" cy="2461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Demand Plan</a:t>
              </a:r>
            </a:p>
          </p:txBody>
        </p:sp>
        <p:sp>
          <p:nvSpPr>
            <p:cNvPr id="33" name="Text Box 21">
              <a:extLst>
                <a:ext uri="{FF2B5EF4-FFF2-40B4-BE49-F238E27FC236}">
                  <a16:creationId xmlns:a16="http://schemas.microsoft.com/office/drawing/2014/main" id="{1C72B905-BA3D-8ACD-5C9A-4339397BA431}"/>
                </a:ext>
              </a:extLst>
            </p:cNvPr>
            <p:cNvSpPr txBox="1">
              <a:spLocks noChangeArrowheads="1"/>
            </p:cNvSpPr>
            <p:nvPr/>
          </p:nvSpPr>
          <p:spPr bwMode="auto">
            <a:xfrm>
              <a:off x="3612881" y="2335213"/>
              <a:ext cx="1091151" cy="2461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Supply Plan</a:t>
              </a:r>
            </a:p>
          </p:txBody>
        </p:sp>
        <p:sp>
          <p:nvSpPr>
            <p:cNvPr id="34" name="AutoShape 24">
              <a:extLst>
                <a:ext uri="{FF2B5EF4-FFF2-40B4-BE49-F238E27FC236}">
                  <a16:creationId xmlns:a16="http://schemas.microsoft.com/office/drawing/2014/main" id="{9F55D0C9-07A0-C650-A7F8-7F90B74F75F4}"/>
                </a:ext>
              </a:extLst>
            </p:cNvPr>
            <p:cNvSpPr>
              <a:spLocks noChangeArrowheads="1"/>
            </p:cNvSpPr>
            <p:nvPr/>
          </p:nvSpPr>
          <p:spPr bwMode="auto">
            <a:xfrm>
              <a:off x="3024188" y="2876550"/>
              <a:ext cx="209550" cy="1014413"/>
            </a:xfrm>
            <a:prstGeom prst="rightArrow">
              <a:avLst>
                <a:gd name="adj1" fmla="val 67454"/>
                <a:gd name="adj2" fmla="val 59630"/>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5" name="AutoShape 25">
              <a:extLst>
                <a:ext uri="{FF2B5EF4-FFF2-40B4-BE49-F238E27FC236}">
                  <a16:creationId xmlns:a16="http://schemas.microsoft.com/office/drawing/2014/main" id="{19B3C75C-51C0-E8B6-76B4-35C860B9509C}"/>
                </a:ext>
              </a:extLst>
            </p:cNvPr>
            <p:cNvSpPr>
              <a:spLocks noChangeArrowheads="1"/>
            </p:cNvSpPr>
            <p:nvPr/>
          </p:nvSpPr>
          <p:spPr bwMode="auto">
            <a:xfrm rot="10800000">
              <a:off x="3008313" y="4975225"/>
              <a:ext cx="209550" cy="1014413"/>
            </a:xfrm>
            <a:prstGeom prst="rightArrow">
              <a:avLst>
                <a:gd name="adj1" fmla="val 67454"/>
                <a:gd name="adj2" fmla="val 59630"/>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6" name="Rectangle 26">
              <a:extLst>
                <a:ext uri="{FF2B5EF4-FFF2-40B4-BE49-F238E27FC236}">
                  <a16:creationId xmlns:a16="http://schemas.microsoft.com/office/drawing/2014/main" id="{CC16EB92-3ECA-5231-79BD-139F8FF1BAAB}"/>
                </a:ext>
              </a:extLst>
            </p:cNvPr>
            <p:cNvSpPr>
              <a:spLocks noChangeArrowheads="1"/>
            </p:cNvSpPr>
            <p:nvPr/>
          </p:nvSpPr>
          <p:spPr bwMode="auto">
            <a:xfrm>
              <a:off x="6294438" y="2478088"/>
              <a:ext cx="2586037" cy="37687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7" name="AutoShape 27">
              <a:extLst>
                <a:ext uri="{FF2B5EF4-FFF2-40B4-BE49-F238E27FC236}">
                  <a16:creationId xmlns:a16="http://schemas.microsoft.com/office/drawing/2014/main" id="{244773FB-EF5C-68FC-4B93-8A2B245C082D}"/>
                </a:ext>
              </a:extLst>
            </p:cNvPr>
            <p:cNvSpPr>
              <a:spLocks noChangeArrowheads="1"/>
            </p:cNvSpPr>
            <p:nvPr/>
          </p:nvSpPr>
          <p:spPr bwMode="auto">
            <a:xfrm>
              <a:off x="5997575" y="3230563"/>
              <a:ext cx="20955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8" name="Rectangle 28">
              <a:extLst>
                <a:ext uri="{FF2B5EF4-FFF2-40B4-BE49-F238E27FC236}">
                  <a16:creationId xmlns:a16="http://schemas.microsoft.com/office/drawing/2014/main" id="{C367DE83-AF86-1C5A-F51B-052B1ACB7957}"/>
                </a:ext>
              </a:extLst>
            </p:cNvPr>
            <p:cNvSpPr>
              <a:spLocks noChangeArrowheads="1"/>
            </p:cNvSpPr>
            <p:nvPr/>
          </p:nvSpPr>
          <p:spPr bwMode="auto">
            <a:xfrm>
              <a:off x="6354763" y="2611438"/>
              <a:ext cx="2482850" cy="24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5000"/>
                </a:spcBef>
                <a:buClrTx/>
                <a:buSzPct val="90000"/>
                <a:buFont typeface="Arial" panose="020B0604020202020204" pitchFamily="34" charset="0"/>
                <a:buChar char="•"/>
              </a:pPr>
              <a:r>
                <a:rPr lang="en-US" altLang="en-US" sz="1200" dirty="0">
                  <a:latin typeface="+mn-lt"/>
                </a:rPr>
                <a:t>Overall state of the business</a:t>
              </a:r>
            </a:p>
            <a:p>
              <a:pPr>
                <a:spcBef>
                  <a:spcPct val="35000"/>
                </a:spcBef>
                <a:buClrTx/>
                <a:buSzPct val="90000"/>
                <a:buFont typeface="Arial" panose="020B0604020202020204" pitchFamily="34" charset="0"/>
                <a:buChar char="•"/>
              </a:pPr>
              <a:r>
                <a:rPr lang="en-US" altLang="en-US" sz="1200" dirty="0">
                  <a:latin typeface="+mn-lt"/>
                </a:rPr>
                <a:t>Performance metrics review</a:t>
              </a:r>
            </a:p>
            <a:p>
              <a:pPr>
                <a:spcBef>
                  <a:spcPct val="35000"/>
                </a:spcBef>
                <a:buClrTx/>
                <a:buSzPct val="90000"/>
                <a:buFont typeface="Arial" panose="020B0604020202020204" pitchFamily="34" charset="0"/>
                <a:buChar char="•"/>
              </a:pPr>
              <a:r>
                <a:rPr lang="en-US" altLang="en-US" sz="1200" dirty="0">
                  <a:latin typeface="+mn-lt"/>
                </a:rPr>
                <a:t>Specific product/family analysis</a:t>
              </a:r>
            </a:p>
            <a:p>
              <a:pPr>
                <a:spcBef>
                  <a:spcPct val="35000"/>
                </a:spcBef>
                <a:buClrTx/>
                <a:buSzPct val="90000"/>
                <a:buFont typeface="Arial" panose="020B0604020202020204" pitchFamily="34" charset="0"/>
                <a:buChar char="•"/>
              </a:pPr>
              <a:r>
                <a:rPr lang="en-US" altLang="en-US" sz="1200" dirty="0">
                  <a:latin typeface="+mn-lt"/>
                </a:rPr>
                <a:t>New product launches/effects</a:t>
              </a:r>
            </a:p>
            <a:p>
              <a:pPr>
                <a:spcBef>
                  <a:spcPct val="35000"/>
                </a:spcBef>
                <a:buClrTx/>
                <a:buSzPct val="90000"/>
                <a:buFont typeface="Arial" panose="020B0604020202020204" pitchFamily="34" charset="0"/>
                <a:buChar char="•"/>
              </a:pPr>
              <a:r>
                <a:rPr lang="en-US" altLang="en-US" sz="1200" dirty="0">
                  <a:latin typeface="+mn-lt"/>
                </a:rPr>
                <a:t>Production plan finalization</a:t>
              </a:r>
            </a:p>
            <a:p>
              <a:pPr>
                <a:spcBef>
                  <a:spcPct val="35000"/>
                </a:spcBef>
                <a:buClrTx/>
                <a:buSzPct val="90000"/>
                <a:buFont typeface="Arial" panose="020B0604020202020204" pitchFamily="34" charset="0"/>
                <a:buChar char="•"/>
              </a:pPr>
              <a:r>
                <a:rPr lang="en-US" altLang="en-US" sz="1200" dirty="0">
                  <a:latin typeface="+mn-lt"/>
                </a:rPr>
                <a:t>Procurement &amp; sourcing needs</a:t>
              </a:r>
            </a:p>
            <a:p>
              <a:pPr>
                <a:spcBef>
                  <a:spcPct val="35000"/>
                </a:spcBef>
                <a:buClrTx/>
                <a:buSzPct val="90000"/>
                <a:buFont typeface="Arial" panose="020B0604020202020204" pitchFamily="34" charset="0"/>
                <a:buChar char="•"/>
              </a:pPr>
              <a:r>
                <a:rPr lang="en-US" altLang="en-US" sz="1200" dirty="0">
                  <a:latin typeface="+mn-lt"/>
                </a:rPr>
                <a:t>Document consensus decisions</a:t>
              </a:r>
            </a:p>
            <a:p>
              <a:pPr>
                <a:spcBef>
                  <a:spcPct val="35000"/>
                </a:spcBef>
                <a:buClrTx/>
                <a:buSzPct val="90000"/>
                <a:buFont typeface="Arial" panose="020B0604020202020204" pitchFamily="34" charset="0"/>
                <a:buChar char="•"/>
              </a:pPr>
              <a:r>
                <a:rPr lang="en-US" altLang="en-US" sz="1200" dirty="0">
                  <a:latin typeface="+mn-lt"/>
                </a:rPr>
                <a:t>Document parking lot items</a:t>
              </a:r>
            </a:p>
            <a:p>
              <a:pPr>
                <a:spcBef>
                  <a:spcPct val="35000"/>
                </a:spcBef>
                <a:buClrTx/>
                <a:buSzPct val="90000"/>
                <a:buFont typeface="Arial" panose="020B0604020202020204" pitchFamily="34" charset="0"/>
                <a:buChar char="•"/>
              </a:pPr>
              <a:r>
                <a:rPr lang="en-US" altLang="en-US" sz="1200" dirty="0">
                  <a:latin typeface="+mn-lt"/>
                </a:rPr>
                <a:t>Confirm executive meeting date</a:t>
              </a:r>
            </a:p>
            <a:p>
              <a:pPr>
                <a:spcBef>
                  <a:spcPct val="35000"/>
                </a:spcBef>
                <a:buClrTx/>
                <a:buSzPct val="90000"/>
                <a:buFont typeface="Arial" panose="020B0604020202020204" pitchFamily="34" charset="0"/>
                <a:buChar char="•"/>
              </a:pPr>
              <a:r>
                <a:rPr lang="en-US" altLang="en-US" sz="1200" dirty="0">
                  <a:latin typeface="+mn-lt"/>
                </a:rPr>
                <a:t>Confirm unresolved issues requiring executive review</a:t>
              </a:r>
            </a:p>
          </p:txBody>
        </p:sp>
        <p:sp>
          <p:nvSpPr>
            <p:cNvPr id="39" name="Text Box 29">
              <a:extLst>
                <a:ext uri="{FF2B5EF4-FFF2-40B4-BE49-F238E27FC236}">
                  <a16:creationId xmlns:a16="http://schemas.microsoft.com/office/drawing/2014/main" id="{43DD4AFB-0061-734F-2483-B8504AE42F96}"/>
                </a:ext>
              </a:extLst>
            </p:cNvPr>
            <p:cNvSpPr txBox="1">
              <a:spLocks noChangeArrowheads="1"/>
            </p:cNvSpPr>
            <p:nvPr/>
          </p:nvSpPr>
          <p:spPr bwMode="auto">
            <a:xfrm>
              <a:off x="6618273" y="2346325"/>
              <a:ext cx="1500218" cy="2461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Meeting Purpose</a:t>
              </a:r>
            </a:p>
          </p:txBody>
        </p:sp>
      </p:grpSp>
      <p:graphicFrame>
        <p:nvGraphicFramePr>
          <p:cNvPr id="41" name="Object 891">
            <a:extLst>
              <a:ext uri="{FF2B5EF4-FFF2-40B4-BE49-F238E27FC236}">
                <a16:creationId xmlns:a16="http://schemas.microsoft.com/office/drawing/2014/main" id="{19079C09-111E-A6B8-A77E-95C1BAE46645}"/>
              </a:ext>
            </a:extLst>
          </p:cNvPr>
          <p:cNvGraphicFramePr>
            <a:graphicFrameLocks noChangeAspect="1"/>
          </p:cNvGraphicFramePr>
          <p:nvPr>
            <p:extLst>
              <p:ext uri="{D42A27DB-BD31-4B8C-83A1-F6EECF244321}">
                <p14:modId xmlns:p14="http://schemas.microsoft.com/office/powerpoint/2010/main" val="567243494"/>
              </p:ext>
            </p:extLst>
          </p:nvPr>
        </p:nvGraphicFramePr>
        <p:xfrm>
          <a:off x="3636335" y="2366355"/>
          <a:ext cx="2392510" cy="1223793"/>
        </p:xfrm>
        <a:graphic>
          <a:graphicData uri="http://schemas.openxmlformats.org/presentationml/2006/ole">
            <mc:AlternateContent xmlns:mc="http://schemas.openxmlformats.org/markup-compatibility/2006">
              <mc:Choice xmlns:v="urn:schemas-microsoft-com:vml" Requires="v">
                <p:oleObj name="Worksheet" r:id="rId3" imgW="4800510" imgH="2943305" progId="Excel.Sheet.8">
                  <p:embed/>
                </p:oleObj>
              </mc:Choice>
              <mc:Fallback>
                <p:oleObj name="Worksheet" r:id="rId3" imgW="4800510" imgH="2943305" progId="Excel.Sheet.8">
                  <p:embed/>
                  <p:pic>
                    <p:nvPicPr>
                      <p:cNvPr id="97" name="Object 891">
                        <a:extLst>
                          <a:ext uri="{FF2B5EF4-FFF2-40B4-BE49-F238E27FC236}">
                            <a16:creationId xmlns:a16="http://schemas.microsoft.com/office/drawing/2014/main" id="{C65DB8E0-75C0-8AEA-7F38-FFB9AE83EAA9}"/>
                          </a:ext>
                        </a:extLst>
                      </p:cNvPr>
                      <p:cNvPicPr>
                        <a:picLocks noChangeAspect="1" noChangeArrowheads="1"/>
                      </p:cNvPicPr>
                      <p:nvPr/>
                    </p:nvPicPr>
                    <p:blipFill>
                      <a:blip r:embed="rId4"/>
                      <a:srcRect/>
                      <a:stretch>
                        <a:fillRect/>
                      </a:stretch>
                    </p:blipFill>
                    <p:spPr bwMode="auto">
                      <a:xfrm>
                        <a:off x="3636335" y="2366355"/>
                        <a:ext cx="2392510" cy="1223793"/>
                      </a:xfrm>
                      <a:prstGeom prst="rect">
                        <a:avLst/>
                      </a:prstGeom>
                      <a:noFill/>
                      <a:ln>
                        <a:noFill/>
                      </a:ln>
                      <a:effectLst/>
                    </p:spPr>
                  </p:pic>
                </p:oleObj>
              </mc:Fallback>
            </mc:AlternateContent>
          </a:graphicData>
        </a:graphic>
      </p:graphicFrame>
      <p:graphicFrame>
        <p:nvGraphicFramePr>
          <p:cNvPr id="42" name="Object 5">
            <a:extLst>
              <a:ext uri="{FF2B5EF4-FFF2-40B4-BE49-F238E27FC236}">
                <a16:creationId xmlns:a16="http://schemas.microsoft.com/office/drawing/2014/main" id="{09DEBF48-7BE0-54AE-3D01-1C3504FB57FB}"/>
              </a:ext>
            </a:extLst>
          </p:cNvPr>
          <p:cNvGraphicFramePr>
            <a:graphicFrameLocks noChangeAspect="1"/>
          </p:cNvGraphicFramePr>
          <p:nvPr>
            <p:extLst>
              <p:ext uri="{D42A27DB-BD31-4B8C-83A1-F6EECF244321}">
                <p14:modId xmlns:p14="http://schemas.microsoft.com/office/powerpoint/2010/main" val="2919837323"/>
              </p:ext>
            </p:extLst>
          </p:nvPr>
        </p:nvGraphicFramePr>
        <p:xfrm>
          <a:off x="514971" y="2366355"/>
          <a:ext cx="2390431" cy="1320048"/>
        </p:xfrm>
        <a:graphic>
          <a:graphicData uri="http://schemas.openxmlformats.org/presentationml/2006/ole">
            <mc:AlternateContent xmlns:mc="http://schemas.openxmlformats.org/markup-compatibility/2006">
              <mc:Choice xmlns:v="urn:schemas-microsoft-com:vml" Requires="v">
                <p:oleObj name="Worksheet" r:id="rId5" imgW="5924378" imgH="3572035" progId="Excel.Sheet.8">
                  <p:embed/>
                </p:oleObj>
              </mc:Choice>
              <mc:Fallback>
                <p:oleObj name="Worksheet" r:id="rId5" imgW="5924378" imgH="3572035" progId="Excel.Sheet.8">
                  <p:embed/>
                  <p:pic>
                    <p:nvPicPr>
                      <p:cNvPr id="59" name="Object 5">
                        <a:extLst>
                          <a:ext uri="{FF2B5EF4-FFF2-40B4-BE49-F238E27FC236}">
                            <a16:creationId xmlns:a16="http://schemas.microsoft.com/office/drawing/2014/main" id="{1097075F-9B0F-97CC-E684-2B69CE379FDE}"/>
                          </a:ext>
                        </a:extLst>
                      </p:cNvPr>
                      <p:cNvPicPr>
                        <a:picLocks noChangeAspect="1" noChangeArrowheads="1"/>
                      </p:cNvPicPr>
                      <p:nvPr/>
                    </p:nvPicPr>
                    <p:blipFill>
                      <a:blip r:embed="rId6"/>
                      <a:srcRect/>
                      <a:stretch>
                        <a:fillRect/>
                      </a:stretch>
                    </p:blipFill>
                    <p:spPr bwMode="auto">
                      <a:xfrm>
                        <a:off x="514971" y="2366355"/>
                        <a:ext cx="2390431" cy="132004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77381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Supply-Demand Consensus Meeting: Understanding All Impacts</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After documenting all assumptions, market needs and supply capabilities, the supply and demand teams are prepared to submit the next-month S&amp;OP roadmap to senior management for their review and approval.</a:t>
            </a:r>
          </a:p>
        </p:txBody>
      </p:sp>
      <p:grpSp>
        <p:nvGrpSpPr>
          <p:cNvPr id="31" name="Group 30">
            <a:extLst>
              <a:ext uri="{FF2B5EF4-FFF2-40B4-BE49-F238E27FC236}">
                <a16:creationId xmlns:a16="http://schemas.microsoft.com/office/drawing/2014/main" id="{0817D609-62B7-51CB-64CB-C8FBE1CDAF8D}"/>
              </a:ext>
            </a:extLst>
          </p:cNvPr>
          <p:cNvGrpSpPr/>
          <p:nvPr/>
        </p:nvGrpSpPr>
        <p:grpSpPr>
          <a:xfrm>
            <a:off x="556918" y="2135483"/>
            <a:ext cx="8608347" cy="4041480"/>
            <a:chOff x="556918" y="2135483"/>
            <a:chExt cx="8129587" cy="3790950"/>
          </a:xfrm>
        </p:grpSpPr>
        <p:sp>
          <p:nvSpPr>
            <p:cNvPr id="4" name="Rectangle 4">
              <a:extLst>
                <a:ext uri="{FF2B5EF4-FFF2-40B4-BE49-F238E27FC236}">
                  <a16:creationId xmlns:a16="http://schemas.microsoft.com/office/drawing/2014/main" id="{E6F84567-B3B3-DE11-E0A7-05B7B90614FB}"/>
                </a:ext>
              </a:extLst>
            </p:cNvPr>
            <p:cNvSpPr>
              <a:spLocks noChangeArrowheads="1"/>
            </p:cNvSpPr>
            <p:nvPr/>
          </p:nvSpPr>
          <p:spPr bwMode="auto">
            <a:xfrm>
              <a:off x="2111080" y="2170408"/>
              <a:ext cx="6570663" cy="1247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buClrTx/>
                <a:buSzPct val="90000"/>
                <a:buFont typeface="Arial" panose="020B0604020202020204" pitchFamily="34" charset="0"/>
                <a:buChar char="•"/>
              </a:pPr>
              <a:r>
                <a:rPr lang="en-US" altLang="en-US" sz="1200" dirty="0">
                  <a:latin typeface="+mn-lt"/>
                </a:rPr>
                <a:t>Team reaches mutual understand of all assumptions and market projections</a:t>
              </a:r>
            </a:p>
            <a:p>
              <a:pPr>
                <a:buClrTx/>
                <a:buSzPct val="90000"/>
                <a:buFont typeface="Arial" panose="020B0604020202020204" pitchFamily="34" charset="0"/>
                <a:buChar char="•"/>
              </a:pPr>
              <a:r>
                <a:rPr lang="en-US" altLang="en-US" sz="1200" dirty="0">
                  <a:latin typeface="+mn-lt"/>
                </a:rPr>
                <a:t>Demand team fully confident in supply projections, build plans and resource allocations</a:t>
              </a:r>
            </a:p>
            <a:p>
              <a:pPr>
                <a:buClrTx/>
                <a:buSzPct val="90000"/>
                <a:buFont typeface="Arial" panose="020B0604020202020204" pitchFamily="34" charset="0"/>
                <a:buChar char="•"/>
              </a:pPr>
              <a:r>
                <a:rPr lang="en-US" altLang="en-US" sz="1200" dirty="0">
                  <a:latin typeface="+mn-lt"/>
                </a:rPr>
                <a:t>Supply team has clear view on how demand team has incorporated forecast errors into plan</a:t>
              </a:r>
            </a:p>
            <a:p>
              <a:pPr>
                <a:buClrTx/>
                <a:buSzPct val="90000"/>
                <a:buFont typeface="Arial" panose="020B0604020202020204" pitchFamily="34" charset="0"/>
                <a:buChar char="•"/>
              </a:pPr>
              <a:r>
                <a:rPr lang="en-US" altLang="en-US" sz="1200" dirty="0">
                  <a:latin typeface="+mn-lt"/>
                </a:rPr>
                <a:t>Common understanding on new product launches in the near term</a:t>
              </a:r>
            </a:p>
            <a:p>
              <a:pPr>
                <a:buClrTx/>
                <a:buSzPct val="90000"/>
                <a:buFont typeface="Arial" panose="020B0604020202020204" pitchFamily="34" charset="0"/>
                <a:buChar char="•"/>
              </a:pPr>
              <a:r>
                <a:rPr lang="en-US" altLang="en-US" sz="1200" dirty="0">
                  <a:latin typeface="+mn-lt"/>
                </a:rPr>
                <a:t>If extraordinary supply measures undertaken (e.g. excessive overtime) demand team re-evaluates demand plan for potential reduction or </a:t>
              </a:r>
              <a:r>
                <a:rPr lang="ja-JP" altLang="en-US" sz="1200" dirty="0">
                  <a:latin typeface="+mn-lt"/>
                </a:rPr>
                <a:t>“</a:t>
              </a:r>
              <a:r>
                <a:rPr lang="en-US" altLang="ja-JP" sz="1200" dirty="0">
                  <a:latin typeface="+mn-lt"/>
                </a:rPr>
                <a:t>stretch</a:t>
              </a:r>
              <a:r>
                <a:rPr lang="ja-JP" altLang="en-US" sz="1200" dirty="0">
                  <a:latin typeface="+mn-lt"/>
                </a:rPr>
                <a:t>”</a:t>
              </a:r>
              <a:r>
                <a:rPr lang="en-US" altLang="ja-JP" sz="1200" dirty="0">
                  <a:latin typeface="+mn-lt"/>
                </a:rPr>
                <a:t> in demand plan</a:t>
              </a:r>
              <a:endParaRPr lang="en-US" altLang="en-US" sz="1200" dirty="0">
                <a:latin typeface="+mn-lt"/>
              </a:endParaRPr>
            </a:p>
          </p:txBody>
        </p:sp>
        <p:sp>
          <p:nvSpPr>
            <p:cNvPr id="7" name="Rectangle 8">
              <a:extLst>
                <a:ext uri="{FF2B5EF4-FFF2-40B4-BE49-F238E27FC236}">
                  <a16:creationId xmlns:a16="http://schemas.microsoft.com/office/drawing/2014/main" id="{0A403B7E-5407-79F8-E398-408BE183CD34}"/>
                </a:ext>
              </a:extLst>
            </p:cNvPr>
            <p:cNvSpPr>
              <a:spLocks noChangeArrowheads="1"/>
            </p:cNvSpPr>
            <p:nvPr/>
          </p:nvSpPr>
          <p:spPr bwMode="auto">
            <a:xfrm>
              <a:off x="561680" y="2170408"/>
              <a:ext cx="1920875" cy="480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buClrTx/>
                <a:buSzTx/>
                <a:buFontTx/>
                <a:buNone/>
              </a:pPr>
              <a:r>
                <a:rPr lang="en-US" altLang="en-US" sz="1200" dirty="0">
                  <a:latin typeface="+mn-lt"/>
                </a:rPr>
                <a:t>Demand-Supply</a:t>
              </a:r>
            </a:p>
            <a:p>
              <a:pPr>
                <a:lnSpc>
                  <a:spcPct val="95000"/>
                </a:lnSpc>
                <a:buClrTx/>
                <a:buSzTx/>
                <a:buFontTx/>
                <a:buNone/>
              </a:pPr>
              <a:r>
                <a:rPr lang="en-US" altLang="en-US" sz="1200" dirty="0">
                  <a:latin typeface="+mn-lt"/>
                </a:rPr>
                <a:t>Match</a:t>
              </a:r>
            </a:p>
          </p:txBody>
        </p:sp>
        <p:sp>
          <p:nvSpPr>
            <p:cNvPr id="8" name="Line 19">
              <a:extLst>
                <a:ext uri="{FF2B5EF4-FFF2-40B4-BE49-F238E27FC236}">
                  <a16:creationId xmlns:a16="http://schemas.microsoft.com/office/drawing/2014/main" id="{0953E70C-E76F-7972-3085-084BA59E8D58}"/>
                </a:ext>
              </a:extLst>
            </p:cNvPr>
            <p:cNvSpPr>
              <a:spLocks noChangeShapeType="1"/>
            </p:cNvSpPr>
            <p:nvPr/>
          </p:nvSpPr>
          <p:spPr bwMode="auto">
            <a:xfrm>
              <a:off x="642643" y="2135483"/>
              <a:ext cx="799465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 name="Line 20">
              <a:extLst>
                <a:ext uri="{FF2B5EF4-FFF2-40B4-BE49-F238E27FC236}">
                  <a16:creationId xmlns:a16="http://schemas.microsoft.com/office/drawing/2014/main" id="{0D73E2BB-C729-D5B2-AD62-5CBCE7C191F2}"/>
                </a:ext>
              </a:extLst>
            </p:cNvPr>
            <p:cNvSpPr>
              <a:spLocks noChangeShapeType="1"/>
            </p:cNvSpPr>
            <p:nvPr/>
          </p:nvSpPr>
          <p:spPr bwMode="auto">
            <a:xfrm>
              <a:off x="642643" y="3422945"/>
              <a:ext cx="79946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 name="Line 21">
              <a:extLst>
                <a:ext uri="{FF2B5EF4-FFF2-40B4-BE49-F238E27FC236}">
                  <a16:creationId xmlns:a16="http://schemas.microsoft.com/office/drawing/2014/main" id="{C96D8BB7-C722-B5E8-742D-B989BEF4D915}"/>
                </a:ext>
              </a:extLst>
            </p:cNvPr>
            <p:cNvSpPr>
              <a:spLocks noChangeShapeType="1"/>
            </p:cNvSpPr>
            <p:nvPr/>
          </p:nvSpPr>
          <p:spPr bwMode="auto">
            <a:xfrm>
              <a:off x="642643" y="4881858"/>
              <a:ext cx="79946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1" name="Rectangle 29">
              <a:extLst>
                <a:ext uri="{FF2B5EF4-FFF2-40B4-BE49-F238E27FC236}">
                  <a16:creationId xmlns:a16="http://schemas.microsoft.com/office/drawing/2014/main" id="{85120B56-4502-5ECB-2399-34AA7252A4E6}"/>
                </a:ext>
              </a:extLst>
            </p:cNvPr>
            <p:cNvSpPr>
              <a:spLocks noChangeArrowheads="1"/>
            </p:cNvSpPr>
            <p:nvPr/>
          </p:nvSpPr>
          <p:spPr bwMode="auto">
            <a:xfrm>
              <a:off x="2438105" y="5640683"/>
              <a:ext cx="6221413" cy="285750"/>
            </a:xfrm>
            <a:prstGeom prst="rect">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dirty="0">
                  <a:solidFill>
                    <a:schemeClr val="bg1"/>
                  </a:solidFill>
                  <a:latin typeface="+mn-lt"/>
                </a:rPr>
                <a:t>Team Now Prepared For Executive S&amp;OP Sign-Off Meeting</a:t>
              </a:r>
            </a:p>
          </p:txBody>
        </p:sp>
        <p:sp>
          <p:nvSpPr>
            <p:cNvPr id="12" name="Rectangle 31">
              <a:extLst>
                <a:ext uri="{FF2B5EF4-FFF2-40B4-BE49-F238E27FC236}">
                  <a16:creationId xmlns:a16="http://schemas.microsoft.com/office/drawing/2014/main" id="{7F11C832-1EF5-0390-CD10-257F1003EFE1}"/>
                </a:ext>
              </a:extLst>
            </p:cNvPr>
            <p:cNvSpPr>
              <a:spLocks noChangeArrowheads="1"/>
            </p:cNvSpPr>
            <p:nvPr/>
          </p:nvSpPr>
          <p:spPr bwMode="auto">
            <a:xfrm>
              <a:off x="2115843" y="3461045"/>
              <a:ext cx="6570662" cy="142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buClrTx/>
                <a:buSzPct val="90000"/>
                <a:buFont typeface="Arial" panose="020B0604020202020204" pitchFamily="34" charset="0"/>
                <a:buChar char="•"/>
              </a:pPr>
              <a:r>
                <a:rPr lang="en-US" altLang="en-US" sz="1200" dirty="0">
                  <a:latin typeface="+mn-lt"/>
                </a:rPr>
                <a:t>Demand, even accounting for forecast error adjustments, exceeds available supply</a:t>
              </a:r>
            </a:p>
            <a:p>
              <a:pPr>
                <a:buClrTx/>
                <a:buSzPct val="90000"/>
                <a:buFont typeface="Arial" panose="020B0604020202020204" pitchFamily="34" charset="0"/>
                <a:buChar char="•"/>
              </a:pPr>
              <a:r>
                <a:rPr lang="en-US" altLang="en-US" sz="1200" dirty="0">
                  <a:latin typeface="+mn-lt"/>
                </a:rPr>
                <a:t>Demand team fully understands bottlenecks and lack of reasonable &amp; financially sound alternatives</a:t>
              </a:r>
            </a:p>
            <a:p>
              <a:pPr>
                <a:buClrTx/>
                <a:buSzPct val="90000"/>
                <a:buFont typeface="Arial" panose="020B0604020202020204" pitchFamily="34" charset="0"/>
                <a:buChar char="•"/>
              </a:pPr>
              <a:r>
                <a:rPr lang="en-US" altLang="en-US" sz="1200" dirty="0">
                  <a:latin typeface="+mn-lt"/>
                </a:rPr>
                <a:t>Demand team critically evaluates demand plan looking for customer-friendly/acceptable alternatives</a:t>
              </a:r>
            </a:p>
            <a:p>
              <a:pPr>
                <a:buClrTx/>
                <a:buSzPct val="90000"/>
                <a:buFont typeface="Arial" panose="020B0604020202020204" pitchFamily="34" charset="0"/>
                <a:buChar char="•"/>
              </a:pPr>
              <a:r>
                <a:rPr lang="en-US" altLang="en-US" sz="1200" dirty="0">
                  <a:latin typeface="+mn-lt"/>
                </a:rPr>
                <a:t>Financial impacts documented and evaluated;  potential financial loss quantified</a:t>
              </a:r>
            </a:p>
            <a:p>
              <a:pPr>
                <a:buClrTx/>
                <a:buSzPct val="90000"/>
                <a:buFont typeface="Arial" panose="020B0604020202020204" pitchFamily="34" charset="0"/>
                <a:buChar char="•"/>
              </a:pPr>
              <a:r>
                <a:rPr lang="en-US" altLang="en-US" sz="1200" dirty="0">
                  <a:latin typeface="+mn-lt"/>
                </a:rPr>
                <a:t>If mis-match cannot be resolved, document and present to executive team</a:t>
              </a:r>
            </a:p>
          </p:txBody>
        </p:sp>
        <p:sp>
          <p:nvSpPr>
            <p:cNvPr id="13" name="Rectangle 32">
              <a:extLst>
                <a:ext uri="{FF2B5EF4-FFF2-40B4-BE49-F238E27FC236}">
                  <a16:creationId xmlns:a16="http://schemas.microsoft.com/office/drawing/2014/main" id="{B0FB244A-5C96-EE86-9367-1A45CBAD8C5C}"/>
                </a:ext>
              </a:extLst>
            </p:cNvPr>
            <p:cNvSpPr>
              <a:spLocks noChangeArrowheads="1"/>
            </p:cNvSpPr>
            <p:nvPr/>
          </p:nvSpPr>
          <p:spPr bwMode="auto">
            <a:xfrm>
              <a:off x="556918" y="3449933"/>
              <a:ext cx="1920875" cy="480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buClrTx/>
                <a:buSzTx/>
                <a:buFontTx/>
                <a:buNone/>
              </a:pPr>
              <a:r>
                <a:rPr lang="en-US" altLang="en-US" sz="1200">
                  <a:latin typeface="+mn-lt"/>
                </a:rPr>
                <a:t>Demand Exceeds</a:t>
              </a:r>
            </a:p>
            <a:p>
              <a:pPr>
                <a:lnSpc>
                  <a:spcPct val="95000"/>
                </a:lnSpc>
                <a:buClrTx/>
                <a:buSzTx/>
                <a:buFontTx/>
                <a:buNone/>
              </a:pPr>
              <a:r>
                <a:rPr lang="en-US" altLang="en-US" sz="1200">
                  <a:latin typeface="+mn-lt"/>
                </a:rPr>
                <a:t>Supply</a:t>
              </a:r>
            </a:p>
          </p:txBody>
        </p:sp>
        <p:sp>
          <p:nvSpPr>
            <p:cNvPr id="14" name="Rectangle 33">
              <a:extLst>
                <a:ext uri="{FF2B5EF4-FFF2-40B4-BE49-F238E27FC236}">
                  <a16:creationId xmlns:a16="http://schemas.microsoft.com/office/drawing/2014/main" id="{CAAFF016-9734-7E6D-2164-201CF8FF0623}"/>
                </a:ext>
              </a:extLst>
            </p:cNvPr>
            <p:cNvSpPr>
              <a:spLocks noChangeArrowheads="1"/>
            </p:cNvSpPr>
            <p:nvPr/>
          </p:nvSpPr>
          <p:spPr bwMode="auto">
            <a:xfrm>
              <a:off x="556918" y="4888208"/>
              <a:ext cx="1920875" cy="480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95000"/>
                </a:lnSpc>
                <a:buClrTx/>
                <a:buSzTx/>
                <a:buFontTx/>
                <a:buNone/>
              </a:pPr>
              <a:r>
                <a:rPr lang="en-US" altLang="en-US" sz="1200">
                  <a:latin typeface="+mn-lt"/>
                </a:rPr>
                <a:t>Supply Exceeds</a:t>
              </a:r>
            </a:p>
            <a:p>
              <a:pPr>
                <a:lnSpc>
                  <a:spcPct val="95000"/>
                </a:lnSpc>
                <a:buClrTx/>
                <a:buSzTx/>
                <a:buFontTx/>
                <a:buNone/>
              </a:pPr>
              <a:r>
                <a:rPr lang="en-US" altLang="en-US" sz="1200">
                  <a:latin typeface="+mn-lt"/>
                </a:rPr>
                <a:t>Demand</a:t>
              </a:r>
            </a:p>
          </p:txBody>
        </p:sp>
        <p:sp>
          <p:nvSpPr>
            <p:cNvPr id="15" name="Rectangle 34">
              <a:extLst>
                <a:ext uri="{FF2B5EF4-FFF2-40B4-BE49-F238E27FC236}">
                  <a16:creationId xmlns:a16="http://schemas.microsoft.com/office/drawing/2014/main" id="{A7D077BF-7C82-2E03-D7B0-D6452CB81F56}"/>
                </a:ext>
              </a:extLst>
            </p:cNvPr>
            <p:cNvSpPr>
              <a:spLocks noChangeArrowheads="1"/>
            </p:cNvSpPr>
            <p:nvPr/>
          </p:nvSpPr>
          <p:spPr bwMode="auto">
            <a:xfrm>
              <a:off x="2112668" y="4902495"/>
              <a:ext cx="6570662" cy="658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buClrTx/>
                <a:buSzPct val="90000"/>
                <a:buFont typeface="Arial" panose="020B0604020202020204" pitchFamily="34" charset="0"/>
                <a:buChar char="•"/>
              </a:pPr>
              <a:r>
                <a:rPr lang="en-US" altLang="en-US" sz="1200" dirty="0">
                  <a:latin typeface="+mn-lt"/>
                </a:rPr>
                <a:t>Can additional physical demand be moved forward to be included in the build plan?</a:t>
              </a:r>
            </a:p>
            <a:p>
              <a:pPr>
                <a:buClrTx/>
                <a:buSzPct val="90000"/>
                <a:buFont typeface="Arial" panose="020B0604020202020204" pitchFamily="34" charset="0"/>
                <a:buChar char="•"/>
              </a:pPr>
              <a:r>
                <a:rPr lang="en-US" altLang="en-US" sz="1200" dirty="0">
                  <a:latin typeface="+mn-lt"/>
                </a:rPr>
                <a:t>Is surplus supply becoming a routine problem (where is the trend line going?</a:t>
              </a:r>
            </a:p>
            <a:p>
              <a:pPr>
                <a:buClrTx/>
                <a:buSzPct val="90000"/>
                <a:buFont typeface="Arial" panose="020B0604020202020204" pitchFamily="34" charset="0"/>
                <a:buChar char="•"/>
              </a:pPr>
              <a:r>
                <a:rPr lang="en-US" altLang="en-US" sz="1200" dirty="0">
                  <a:latin typeface="+mn-lt"/>
                </a:rPr>
                <a:t>Confirm and document what additional demand can be met (if any) with additional supply</a:t>
              </a:r>
            </a:p>
          </p:txBody>
        </p:sp>
        <p:sp>
          <p:nvSpPr>
            <p:cNvPr id="30" name="Line 35">
              <a:extLst>
                <a:ext uri="{FF2B5EF4-FFF2-40B4-BE49-F238E27FC236}">
                  <a16:creationId xmlns:a16="http://schemas.microsoft.com/office/drawing/2014/main" id="{773A8136-4E5F-2891-C28F-2FFE930DDAF9}"/>
                </a:ext>
              </a:extLst>
            </p:cNvPr>
            <p:cNvSpPr>
              <a:spLocks noChangeShapeType="1"/>
            </p:cNvSpPr>
            <p:nvPr/>
          </p:nvSpPr>
          <p:spPr bwMode="auto">
            <a:xfrm>
              <a:off x="2415880" y="5585120"/>
              <a:ext cx="6230938"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4018249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Sales &amp; Operations Planning</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4" name="Group 3">
            <a:extLst>
              <a:ext uri="{FF2B5EF4-FFF2-40B4-BE49-F238E27FC236}">
                <a16:creationId xmlns:a16="http://schemas.microsoft.com/office/drawing/2014/main" id="{A5A7BE22-3046-98FE-3590-0CF93F031334}"/>
              </a:ext>
            </a:extLst>
          </p:cNvPr>
          <p:cNvGrpSpPr/>
          <p:nvPr/>
        </p:nvGrpSpPr>
        <p:grpSpPr>
          <a:xfrm>
            <a:off x="346078" y="2088152"/>
            <a:ext cx="11499845" cy="3825318"/>
            <a:chOff x="626577" y="2088152"/>
            <a:chExt cx="11499845" cy="3825318"/>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626577" y="2088152"/>
              <a:ext cx="11499844"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Introduction To The Sales &amp; Operations Planning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626577" y="2762636"/>
              <a:ext cx="1149984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S&amp;OP Logic Flow &amp; Application In Different Operating Environments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626577" y="4111604"/>
              <a:ext cx="1149984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Demand Planning:  Fundamentals of Consensus Demand Development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626577" y="4786088"/>
              <a:ext cx="11499844"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Supply Planning:  Overview of Resource Management &amp; Allocation</a:t>
              </a:r>
            </a:p>
          </p:txBody>
        </p:sp>
        <p:sp>
          <p:nvSpPr>
            <p:cNvPr id="2" name="Rectangle 1">
              <a:extLst>
                <a:ext uri="{FF2B5EF4-FFF2-40B4-BE49-F238E27FC236}">
                  <a16:creationId xmlns:a16="http://schemas.microsoft.com/office/drawing/2014/main" id="{CA4F2232-D00F-E416-701C-36763AFA0245}"/>
                </a:ext>
              </a:extLst>
            </p:cNvPr>
            <p:cNvSpPr>
              <a:spLocks/>
            </p:cNvSpPr>
            <p:nvPr/>
          </p:nvSpPr>
          <p:spPr>
            <a:xfrm>
              <a:off x="626577" y="3437120"/>
              <a:ext cx="11499845"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S&amp;OP Monthly Development Process &amp; Execution Review</a:t>
              </a:r>
            </a:p>
          </p:txBody>
        </p:sp>
        <p:sp>
          <p:nvSpPr>
            <p:cNvPr id="3" name="Rectangle 2">
              <a:extLst>
                <a:ext uri="{FF2B5EF4-FFF2-40B4-BE49-F238E27FC236}">
                  <a16:creationId xmlns:a16="http://schemas.microsoft.com/office/drawing/2014/main" id="{129D5696-C589-3CA1-AB67-66652559804B}"/>
                </a:ext>
              </a:extLst>
            </p:cNvPr>
            <p:cNvSpPr>
              <a:spLocks/>
            </p:cNvSpPr>
            <p:nvPr/>
          </p:nvSpPr>
          <p:spPr>
            <a:xfrm>
              <a:off x="626577" y="5460572"/>
              <a:ext cx="11499844"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S&amp;OP Spreadsheet Development, Responsibilities &amp; Best Practices</a:t>
              </a:r>
            </a:p>
          </p:txBody>
        </p:sp>
      </p:grpSp>
    </p:spTree>
    <p:extLst>
      <p:ext uri="{BB962C8B-B14F-4D97-AF65-F5344CB8AC3E}">
        <p14:creationId xmlns:p14="http://schemas.microsoft.com/office/powerpoint/2010/main" val="18784214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Spreadsheet Building Blocks:  </a:t>
            </a:r>
            <a:br>
              <a:rPr lang="en-US" sz="3600" dirty="0"/>
            </a:br>
            <a:r>
              <a:rPr lang="en-US" sz="3600" dirty="0"/>
              <a:t>Complete Product Planning Snapshot</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Once the S&amp;OP pilot team is prepared to assemble the basic S&amp;OP spreadsheet mode, following a basic architecture will ensure development of a complete snapshot that will guide the team to the most accurate supply-demand match.</a:t>
            </a:r>
          </a:p>
        </p:txBody>
      </p:sp>
      <p:grpSp>
        <p:nvGrpSpPr>
          <p:cNvPr id="45" name="Group 44">
            <a:extLst>
              <a:ext uri="{FF2B5EF4-FFF2-40B4-BE49-F238E27FC236}">
                <a16:creationId xmlns:a16="http://schemas.microsoft.com/office/drawing/2014/main" id="{0CF48C60-B3EC-9273-88C8-FEBA2789FDB0}"/>
              </a:ext>
            </a:extLst>
          </p:cNvPr>
          <p:cNvGrpSpPr/>
          <p:nvPr/>
        </p:nvGrpSpPr>
        <p:grpSpPr>
          <a:xfrm>
            <a:off x="358496" y="2039938"/>
            <a:ext cx="8928100" cy="3762375"/>
            <a:chOff x="279400" y="2395538"/>
            <a:chExt cx="8928100" cy="3762375"/>
          </a:xfrm>
        </p:grpSpPr>
        <p:sp>
          <p:nvSpPr>
            <p:cNvPr id="5" name="Rectangle 2">
              <a:extLst>
                <a:ext uri="{FF2B5EF4-FFF2-40B4-BE49-F238E27FC236}">
                  <a16:creationId xmlns:a16="http://schemas.microsoft.com/office/drawing/2014/main" id="{763B5CF5-16EA-B63F-425C-B73B07A0BAAD}"/>
                </a:ext>
              </a:extLst>
            </p:cNvPr>
            <p:cNvSpPr>
              <a:spLocks noChangeArrowheads="1"/>
            </p:cNvSpPr>
            <p:nvPr/>
          </p:nvSpPr>
          <p:spPr bwMode="auto">
            <a:xfrm>
              <a:off x="279400" y="2438400"/>
              <a:ext cx="5837238" cy="3703638"/>
            </a:xfrm>
            <a:prstGeom prst="rect">
              <a:avLst/>
            </a:prstGeom>
            <a:solidFill>
              <a:schemeClr val="accent3"/>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 name="Rectangle 3">
              <a:extLst>
                <a:ext uri="{FF2B5EF4-FFF2-40B4-BE49-F238E27FC236}">
                  <a16:creationId xmlns:a16="http://schemas.microsoft.com/office/drawing/2014/main" id="{56E5E34F-24CA-638D-2EF0-3754C2CDF9EF}"/>
                </a:ext>
              </a:extLst>
            </p:cNvPr>
            <p:cNvSpPr>
              <a:spLocks noChangeArrowheads="1"/>
            </p:cNvSpPr>
            <p:nvPr/>
          </p:nvSpPr>
          <p:spPr bwMode="auto">
            <a:xfrm>
              <a:off x="377825" y="2544763"/>
              <a:ext cx="5630863" cy="411162"/>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6" name="Rectangle 4">
              <a:extLst>
                <a:ext uri="{FF2B5EF4-FFF2-40B4-BE49-F238E27FC236}">
                  <a16:creationId xmlns:a16="http://schemas.microsoft.com/office/drawing/2014/main" id="{52B5E004-04FB-6ED6-A766-42A3FB440D58}"/>
                </a:ext>
              </a:extLst>
            </p:cNvPr>
            <p:cNvSpPr>
              <a:spLocks noChangeArrowheads="1"/>
            </p:cNvSpPr>
            <p:nvPr/>
          </p:nvSpPr>
          <p:spPr bwMode="auto">
            <a:xfrm>
              <a:off x="376238" y="3076575"/>
              <a:ext cx="2049462" cy="730250"/>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Rectangle 5">
              <a:extLst>
                <a:ext uri="{FF2B5EF4-FFF2-40B4-BE49-F238E27FC236}">
                  <a16:creationId xmlns:a16="http://schemas.microsoft.com/office/drawing/2014/main" id="{D590D3D3-B0AB-7CF0-100F-37E263626BF7}"/>
                </a:ext>
              </a:extLst>
            </p:cNvPr>
            <p:cNvSpPr>
              <a:spLocks noChangeArrowheads="1"/>
            </p:cNvSpPr>
            <p:nvPr/>
          </p:nvSpPr>
          <p:spPr bwMode="auto">
            <a:xfrm>
              <a:off x="2562225" y="3079750"/>
              <a:ext cx="3436938" cy="482600"/>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8" name="Rectangle 6">
              <a:extLst>
                <a:ext uri="{FF2B5EF4-FFF2-40B4-BE49-F238E27FC236}">
                  <a16:creationId xmlns:a16="http://schemas.microsoft.com/office/drawing/2014/main" id="{7DCBD8F7-11CF-A073-040C-67BCB03EF4F1}"/>
                </a:ext>
              </a:extLst>
            </p:cNvPr>
            <p:cNvSpPr>
              <a:spLocks noChangeArrowheads="1"/>
            </p:cNvSpPr>
            <p:nvPr/>
          </p:nvSpPr>
          <p:spPr bwMode="auto">
            <a:xfrm>
              <a:off x="376238" y="3930650"/>
              <a:ext cx="2049462" cy="730250"/>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9" name="Rectangle 7">
              <a:extLst>
                <a:ext uri="{FF2B5EF4-FFF2-40B4-BE49-F238E27FC236}">
                  <a16:creationId xmlns:a16="http://schemas.microsoft.com/office/drawing/2014/main" id="{6C5BB701-032D-956C-39B0-2982055F2A6B}"/>
                </a:ext>
              </a:extLst>
            </p:cNvPr>
            <p:cNvSpPr>
              <a:spLocks noChangeArrowheads="1"/>
            </p:cNvSpPr>
            <p:nvPr/>
          </p:nvSpPr>
          <p:spPr bwMode="auto">
            <a:xfrm>
              <a:off x="2562225" y="3933825"/>
              <a:ext cx="3436938" cy="482600"/>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0" name="Rectangle 8">
              <a:extLst>
                <a:ext uri="{FF2B5EF4-FFF2-40B4-BE49-F238E27FC236}">
                  <a16:creationId xmlns:a16="http://schemas.microsoft.com/office/drawing/2014/main" id="{BB7CE000-71FA-07BE-3311-B153AB64F399}"/>
                </a:ext>
              </a:extLst>
            </p:cNvPr>
            <p:cNvSpPr>
              <a:spLocks noChangeArrowheads="1"/>
            </p:cNvSpPr>
            <p:nvPr/>
          </p:nvSpPr>
          <p:spPr bwMode="auto">
            <a:xfrm>
              <a:off x="376238" y="4783138"/>
              <a:ext cx="2049462" cy="563562"/>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1" name="Rectangle 9">
              <a:extLst>
                <a:ext uri="{FF2B5EF4-FFF2-40B4-BE49-F238E27FC236}">
                  <a16:creationId xmlns:a16="http://schemas.microsoft.com/office/drawing/2014/main" id="{DE641076-EA3D-C523-2711-B9CB6A1BBA9B}"/>
                </a:ext>
              </a:extLst>
            </p:cNvPr>
            <p:cNvSpPr>
              <a:spLocks noChangeArrowheads="1"/>
            </p:cNvSpPr>
            <p:nvPr/>
          </p:nvSpPr>
          <p:spPr bwMode="auto">
            <a:xfrm>
              <a:off x="2563813" y="4789488"/>
              <a:ext cx="2049462" cy="563562"/>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2" name="Rectangle 10">
              <a:extLst>
                <a:ext uri="{FF2B5EF4-FFF2-40B4-BE49-F238E27FC236}">
                  <a16:creationId xmlns:a16="http://schemas.microsoft.com/office/drawing/2014/main" id="{0CDFEE62-768E-3888-3C84-93B0ECC10DBF}"/>
                </a:ext>
              </a:extLst>
            </p:cNvPr>
            <p:cNvSpPr>
              <a:spLocks noChangeArrowheads="1"/>
            </p:cNvSpPr>
            <p:nvPr/>
          </p:nvSpPr>
          <p:spPr bwMode="auto">
            <a:xfrm>
              <a:off x="376238" y="5470525"/>
              <a:ext cx="2049462" cy="563563"/>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3" name="Rectangle 11">
              <a:extLst>
                <a:ext uri="{FF2B5EF4-FFF2-40B4-BE49-F238E27FC236}">
                  <a16:creationId xmlns:a16="http://schemas.microsoft.com/office/drawing/2014/main" id="{CABC0409-740C-88AE-862E-1AC4B60DF330}"/>
                </a:ext>
              </a:extLst>
            </p:cNvPr>
            <p:cNvSpPr>
              <a:spLocks noChangeArrowheads="1"/>
            </p:cNvSpPr>
            <p:nvPr/>
          </p:nvSpPr>
          <p:spPr bwMode="auto">
            <a:xfrm>
              <a:off x="2563813" y="5476875"/>
              <a:ext cx="2049462" cy="563563"/>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4" name="Oval 12">
              <a:extLst>
                <a:ext uri="{FF2B5EF4-FFF2-40B4-BE49-F238E27FC236}">
                  <a16:creationId xmlns:a16="http://schemas.microsoft.com/office/drawing/2014/main" id="{634C217C-11DA-CE75-A6DF-3CAFB24C2C73}"/>
                </a:ext>
              </a:extLst>
            </p:cNvPr>
            <p:cNvSpPr>
              <a:spLocks noChangeArrowheads="1"/>
            </p:cNvSpPr>
            <p:nvPr/>
          </p:nvSpPr>
          <p:spPr bwMode="auto">
            <a:xfrm>
              <a:off x="3005138" y="2586038"/>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A</a:t>
              </a:r>
            </a:p>
          </p:txBody>
        </p:sp>
        <p:sp>
          <p:nvSpPr>
            <p:cNvPr id="25" name="Oval 13">
              <a:extLst>
                <a:ext uri="{FF2B5EF4-FFF2-40B4-BE49-F238E27FC236}">
                  <a16:creationId xmlns:a16="http://schemas.microsoft.com/office/drawing/2014/main" id="{B5893823-23E6-4FD7-8AAE-C1CBD9DE81CE}"/>
                </a:ext>
              </a:extLst>
            </p:cNvPr>
            <p:cNvSpPr>
              <a:spLocks noChangeArrowheads="1"/>
            </p:cNvSpPr>
            <p:nvPr/>
          </p:nvSpPr>
          <p:spPr bwMode="auto">
            <a:xfrm>
              <a:off x="1222375" y="3279775"/>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B</a:t>
              </a:r>
            </a:p>
          </p:txBody>
        </p:sp>
        <p:sp>
          <p:nvSpPr>
            <p:cNvPr id="26" name="Oval 14">
              <a:extLst>
                <a:ext uri="{FF2B5EF4-FFF2-40B4-BE49-F238E27FC236}">
                  <a16:creationId xmlns:a16="http://schemas.microsoft.com/office/drawing/2014/main" id="{48CFB47F-0FBF-3C70-012F-1C4D68FBC0CF}"/>
                </a:ext>
              </a:extLst>
            </p:cNvPr>
            <p:cNvSpPr>
              <a:spLocks noChangeArrowheads="1"/>
            </p:cNvSpPr>
            <p:nvPr/>
          </p:nvSpPr>
          <p:spPr bwMode="auto">
            <a:xfrm>
              <a:off x="1222375" y="4140200"/>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D</a:t>
              </a:r>
            </a:p>
          </p:txBody>
        </p:sp>
        <p:sp>
          <p:nvSpPr>
            <p:cNvPr id="27" name="Oval 15">
              <a:extLst>
                <a:ext uri="{FF2B5EF4-FFF2-40B4-BE49-F238E27FC236}">
                  <a16:creationId xmlns:a16="http://schemas.microsoft.com/office/drawing/2014/main" id="{E0005548-E569-A236-538E-525C1DE65306}"/>
                </a:ext>
              </a:extLst>
            </p:cNvPr>
            <p:cNvSpPr>
              <a:spLocks noChangeArrowheads="1"/>
            </p:cNvSpPr>
            <p:nvPr/>
          </p:nvSpPr>
          <p:spPr bwMode="auto">
            <a:xfrm>
              <a:off x="1222375" y="4902200"/>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F</a:t>
              </a:r>
            </a:p>
          </p:txBody>
        </p:sp>
        <p:sp>
          <p:nvSpPr>
            <p:cNvPr id="28" name="Oval 16">
              <a:extLst>
                <a:ext uri="{FF2B5EF4-FFF2-40B4-BE49-F238E27FC236}">
                  <a16:creationId xmlns:a16="http://schemas.microsoft.com/office/drawing/2014/main" id="{38BE755C-F413-6DF6-9217-0908B06B0B83}"/>
                </a:ext>
              </a:extLst>
            </p:cNvPr>
            <p:cNvSpPr>
              <a:spLocks noChangeArrowheads="1"/>
            </p:cNvSpPr>
            <p:nvPr/>
          </p:nvSpPr>
          <p:spPr bwMode="auto">
            <a:xfrm>
              <a:off x="1222375" y="5580063"/>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H</a:t>
              </a:r>
            </a:p>
          </p:txBody>
        </p:sp>
        <p:sp>
          <p:nvSpPr>
            <p:cNvPr id="29" name="Oval 17">
              <a:extLst>
                <a:ext uri="{FF2B5EF4-FFF2-40B4-BE49-F238E27FC236}">
                  <a16:creationId xmlns:a16="http://schemas.microsoft.com/office/drawing/2014/main" id="{3E26D768-F795-AC12-2DCE-E425E3D04AE6}"/>
                </a:ext>
              </a:extLst>
            </p:cNvPr>
            <p:cNvSpPr>
              <a:spLocks noChangeArrowheads="1"/>
            </p:cNvSpPr>
            <p:nvPr/>
          </p:nvSpPr>
          <p:spPr bwMode="auto">
            <a:xfrm>
              <a:off x="4102100" y="3149600"/>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C</a:t>
              </a:r>
            </a:p>
          </p:txBody>
        </p:sp>
        <p:sp>
          <p:nvSpPr>
            <p:cNvPr id="32" name="Oval 18">
              <a:extLst>
                <a:ext uri="{FF2B5EF4-FFF2-40B4-BE49-F238E27FC236}">
                  <a16:creationId xmlns:a16="http://schemas.microsoft.com/office/drawing/2014/main" id="{FF8B86D2-8558-4663-07CA-892F1AA3D623}"/>
                </a:ext>
              </a:extLst>
            </p:cNvPr>
            <p:cNvSpPr>
              <a:spLocks noChangeArrowheads="1"/>
            </p:cNvSpPr>
            <p:nvPr/>
          </p:nvSpPr>
          <p:spPr bwMode="auto">
            <a:xfrm>
              <a:off x="4102100" y="3995738"/>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E</a:t>
              </a:r>
            </a:p>
          </p:txBody>
        </p:sp>
        <p:sp>
          <p:nvSpPr>
            <p:cNvPr id="33" name="Oval 19">
              <a:extLst>
                <a:ext uri="{FF2B5EF4-FFF2-40B4-BE49-F238E27FC236}">
                  <a16:creationId xmlns:a16="http://schemas.microsoft.com/office/drawing/2014/main" id="{EC4E8634-39CF-C5F1-FD7E-32518D8DFFDE}"/>
                </a:ext>
              </a:extLst>
            </p:cNvPr>
            <p:cNvSpPr>
              <a:spLocks noChangeArrowheads="1"/>
            </p:cNvSpPr>
            <p:nvPr/>
          </p:nvSpPr>
          <p:spPr bwMode="auto">
            <a:xfrm>
              <a:off x="3400425" y="4902200"/>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G</a:t>
              </a:r>
            </a:p>
          </p:txBody>
        </p:sp>
        <p:sp>
          <p:nvSpPr>
            <p:cNvPr id="34" name="Oval 20">
              <a:extLst>
                <a:ext uri="{FF2B5EF4-FFF2-40B4-BE49-F238E27FC236}">
                  <a16:creationId xmlns:a16="http://schemas.microsoft.com/office/drawing/2014/main" id="{9BE874A3-870E-A61A-3010-ED63711997F8}"/>
                </a:ext>
              </a:extLst>
            </p:cNvPr>
            <p:cNvSpPr>
              <a:spLocks noChangeArrowheads="1"/>
            </p:cNvSpPr>
            <p:nvPr/>
          </p:nvSpPr>
          <p:spPr bwMode="auto">
            <a:xfrm>
              <a:off x="3400425" y="5588000"/>
              <a:ext cx="366713"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I</a:t>
              </a:r>
            </a:p>
          </p:txBody>
        </p:sp>
        <p:sp>
          <p:nvSpPr>
            <p:cNvPr id="35" name="Rectangle 21">
              <a:extLst>
                <a:ext uri="{FF2B5EF4-FFF2-40B4-BE49-F238E27FC236}">
                  <a16:creationId xmlns:a16="http://schemas.microsoft.com/office/drawing/2014/main" id="{7869EA2F-493E-4933-777E-2230D06905B2}"/>
                </a:ext>
              </a:extLst>
            </p:cNvPr>
            <p:cNvSpPr>
              <a:spLocks noChangeArrowheads="1"/>
            </p:cNvSpPr>
            <p:nvPr/>
          </p:nvSpPr>
          <p:spPr bwMode="auto">
            <a:xfrm>
              <a:off x="6491288" y="2408238"/>
              <a:ext cx="2716212"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100000"/>
                </a:spcBef>
                <a:buClr>
                  <a:srgbClr val="0000FF"/>
                </a:buClr>
                <a:buSzTx/>
              </a:pPr>
              <a:r>
                <a:rPr lang="en-US" altLang="en-US" sz="1400" dirty="0">
                  <a:latin typeface="+mn-lt"/>
                </a:rPr>
                <a:t>Product Information</a:t>
              </a:r>
            </a:p>
            <a:p>
              <a:pPr eaLnBrk="1" hangingPunct="1">
                <a:spcBef>
                  <a:spcPct val="100000"/>
                </a:spcBef>
                <a:buClr>
                  <a:srgbClr val="0000FF"/>
                </a:buClr>
                <a:buSzTx/>
              </a:pPr>
              <a:r>
                <a:rPr lang="en-US" altLang="en-US" sz="1400" dirty="0">
                  <a:latin typeface="+mn-lt"/>
                </a:rPr>
                <a:t>Sales History</a:t>
              </a:r>
            </a:p>
            <a:p>
              <a:pPr eaLnBrk="1" hangingPunct="1">
                <a:spcBef>
                  <a:spcPct val="100000"/>
                </a:spcBef>
                <a:buClr>
                  <a:srgbClr val="0000FF"/>
                </a:buClr>
                <a:buSzTx/>
              </a:pPr>
              <a:r>
                <a:rPr lang="en-US" altLang="en-US" sz="1400" dirty="0">
                  <a:latin typeface="+mn-lt"/>
                </a:rPr>
                <a:t>Sales Forecast</a:t>
              </a:r>
            </a:p>
            <a:p>
              <a:pPr eaLnBrk="1" hangingPunct="1">
                <a:spcBef>
                  <a:spcPct val="100000"/>
                </a:spcBef>
                <a:buClr>
                  <a:srgbClr val="0000FF"/>
                </a:buClr>
                <a:buSzTx/>
              </a:pPr>
              <a:r>
                <a:rPr lang="en-US" altLang="en-US" sz="1400" dirty="0">
                  <a:latin typeface="+mn-lt"/>
                </a:rPr>
                <a:t>Operations History</a:t>
              </a:r>
            </a:p>
            <a:p>
              <a:pPr eaLnBrk="1" hangingPunct="1">
                <a:spcBef>
                  <a:spcPct val="100000"/>
                </a:spcBef>
                <a:buClr>
                  <a:srgbClr val="0000FF"/>
                </a:buClr>
                <a:buSzTx/>
              </a:pPr>
              <a:r>
                <a:rPr lang="en-US" altLang="en-US" sz="1400" dirty="0">
                  <a:latin typeface="+mn-lt"/>
                </a:rPr>
                <a:t>Operations Build Plan</a:t>
              </a:r>
            </a:p>
            <a:p>
              <a:pPr eaLnBrk="1" hangingPunct="1">
                <a:spcBef>
                  <a:spcPct val="100000"/>
                </a:spcBef>
                <a:buClr>
                  <a:srgbClr val="0000FF"/>
                </a:buClr>
                <a:buSzTx/>
              </a:pPr>
              <a:r>
                <a:rPr lang="en-US" altLang="en-US" sz="1400" dirty="0">
                  <a:latin typeface="+mn-lt"/>
                </a:rPr>
                <a:t>Inventory History</a:t>
              </a:r>
            </a:p>
            <a:p>
              <a:pPr eaLnBrk="1" hangingPunct="1">
                <a:spcBef>
                  <a:spcPct val="100000"/>
                </a:spcBef>
                <a:buClr>
                  <a:srgbClr val="0000FF"/>
                </a:buClr>
                <a:buSzTx/>
              </a:pPr>
              <a:r>
                <a:rPr lang="en-US" altLang="en-US" sz="1400" dirty="0">
                  <a:latin typeface="+mn-lt"/>
                </a:rPr>
                <a:t>Inventory Position Plan</a:t>
              </a:r>
            </a:p>
            <a:p>
              <a:pPr eaLnBrk="1" hangingPunct="1">
                <a:spcBef>
                  <a:spcPct val="100000"/>
                </a:spcBef>
                <a:buClr>
                  <a:srgbClr val="0000FF"/>
                </a:buClr>
                <a:buSzTx/>
              </a:pPr>
              <a:r>
                <a:rPr lang="en-US" altLang="en-US" sz="1400" dirty="0">
                  <a:latin typeface="+mn-lt"/>
                </a:rPr>
                <a:t>Demand Assumptions</a:t>
              </a:r>
            </a:p>
            <a:p>
              <a:pPr eaLnBrk="1" hangingPunct="1">
                <a:spcBef>
                  <a:spcPct val="100000"/>
                </a:spcBef>
                <a:buClr>
                  <a:srgbClr val="0000FF"/>
                </a:buClr>
                <a:buSzTx/>
              </a:pPr>
              <a:r>
                <a:rPr lang="en-US" altLang="en-US" sz="1400" dirty="0">
                  <a:latin typeface="+mn-lt"/>
                </a:rPr>
                <a:t>Supply Concerns</a:t>
              </a:r>
            </a:p>
          </p:txBody>
        </p:sp>
        <p:sp>
          <p:nvSpPr>
            <p:cNvPr id="36" name="Oval 22">
              <a:extLst>
                <a:ext uri="{FF2B5EF4-FFF2-40B4-BE49-F238E27FC236}">
                  <a16:creationId xmlns:a16="http://schemas.microsoft.com/office/drawing/2014/main" id="{B344C0D0-44FE-9960-72C5-AD5FCFA31C15}"/>
                </a:ext>
              </a:extLst>
            </p:cNvPr>
            <p:cNvSpPr>
              <a:spLocks noChangeArrowheads="1"/>
            </p:cNvSpPr>
            <p:nvPr/>
          </p:nvSpPr>
          <p:spPr bwMode="auto">
            <a:xfrm>
              <a:off x="6392863" y="2395538"/>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A</a:t>
              </a:r>
            </a:p>
          </p:txBody>
        </p:sp>
        <p:sp>
          <p:nvSpPr>
            <p:cNvPr id="37" name="Oval 23">
              <a:extLst>
                <a:ext uri="{FF2B5EF4-FFF2-40B4-BE49-F238E27FC236}">
                  <a16:creationId xmlns:a16="http://schemas.microsoft.com/office/drawing/2014/main" id="{8AB08024-7338-F6F0-C519-4EF9DF17469A}"/>
                </a:ext>
              </a:extLst>
            </p:cNvPr>
            <p:cNvSpPr>
              <a:spLocks noChangeArrowheads="1"/>
            </p:cNvSpPr>
            <p:nvPr/>
          </p:nvSpPr>
          <p:spPr bwMode="auto">
            <a:xfrm>
              <a:off x="6392863" y="2822575"/>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B</a:t>
              </a:r>
            </a:p>
          </p:txBody>
        </p:sp>
        <p:sp>
          <p:nvSpPr>
            <p:cNvPr id="38" name="Oval 24">
              <a:extLst>
                <a:ext uri="{FF2B5EF4-FFF2-40B4-BE49-F238E27FC236}">
                  <a16:creationId xmlns:a16="http://schemas.microsoft.com/office/drawing/2014/main" id="{B0DC6E7A-1C6C-4D44-35C9-8A3815E25A8F}"/>
                </a:ext>
              </a:extLst>
            </p:cNvPr>
            <p:cNvSpPr>
              <a:spLocks noChangeArrowheads="1"/>
            </p:cNvSpPr>
            <p:nvPr/>
          </p:nvSpPr>
          <p:spPr bwMode="auto">
            <a:xfrm>
              <a:off x="6392863" y="3675063"/>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D</a:t>
              </a:r>
            </a:p>
          </p:txBody>
        </p:sp>
        <p:sp>
          <p:nvSpPr>
            <p:cNvPr id="39" name="Oval 25">
              <a:extLst>
                <a:ext uri="{FF2B5EF4-FFF2-40B4-BE49-F238E27FC236}">
                  <a16:creationId xmlns:a16="http://schemas.microsoft.com/office/drawing/2014/main" id="{0B7C76FD-B1A1-E02D-5BFA-6EB0EE65A3E7}"/>
                </a:ext>
              </a:extLst>
            </p:cNvPr>
            <p:cNvSpPr>
              <a:spLocks noChangeArrowheads="1"/>
            </p:cNvSpPr>
            <p:nvPr/>
          </p:nvSpPr>
          <p:spPr bwMode="auto">
            <a:xfrm>
              <a:off x="6392863" y="4522788"/>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F</a:t>
              </a:r>
            </a:p>
          </p:txBody>
        </p:sp>
        <p:sp>
          <p:nvSpPr>
            <p:cNvPr id="40" name="Oval 26">
              <a:extLst>
                <a:ext uri="{FF2B5EF4-FFF2-40B4-BE49-F238E27FC236}">
                  <a16:creationId xmlns:a16="http://schemas.microsoft.com/office/drawing/2014/main" id="{59EFE16A-97E6-22A1-D77C-552AECE734A2}"/>
                </a:ext>
              </a:extLst>
            </p:cNvPr>
            <p:cNvSpPr>
              <a:spLocks noChangeArrowheads="1"/>
            </p:cNvSpPr>
            <p:nvPr/>
          </p:nvSpPr>
          <p:spPr bwMode="auto">
            <a:xfrm>
              <a:off x="6392863" y="5389563"/>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H</a:t>
              </a:r>
            </a:p>
          </p:txBody>
        </p:sp>
        <p:sp>
          <p:nvSpPr>
            <p:cNvPr id="41" name="Oval 27">
              <a:extLst>
                <a:ext uri="{FF2B5EF4-FFF2-40B4-BE49-F238E27FC236}">
                  <a16:creationId xmlns:a16="http://schemas.microsoft.com/office/drawing/2014/main" id="{4635FE6B-9640-1421-C301-AF5AEED4F8C0}"/>
                </a:ext>
              </a:extLst>
            </p:cNvPr>
            <p:cNvSpPr>
              <a:spLocks noChangeArrowheads="1"/>
            </p:cNvSpPr>
            <p:nvPr/>
          </p:nvSpPr>
          <p:spPr bwMode="auto">
            <a:xfrm>
              <a:off x="6392863" y="3248025"/>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C</a:t>
              </a:r>
            </a:p>
          </p:txBody>
        </p:sp>
        <p:sp>
          <p:nvSpPr>
            <p:cNvPr id="42" name="Oval 28">
              <a:extLst>
                <a:ext uri="{FF2B5EF4-FFF2-40B4-BE49-F238E27FC236}">
                  <a16:creationId xmlns:a16="http://schemas.microsoft.com/office/drawing/2014/main" id="{AD64CA28-856E-885C-801A-C0ADEFDA6644}"/>
                </a:ext>
              </a:extLst>
            </p:cNvPr>
            <p:cNvSpPr>
              <a:spLocks noChangeArrowheads="1"/>
            </p:cNvSpPr>
            <p:nvPr/>
          </p:nvSpPr>
          <p:spPr bwMode="auto">
            <a:xfrm>
              <a:off x="6392863" y="4102100"/>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E</a:t>
              </a:r>
            </a:p>
          </p:txBody>
        </p:sp>
        <p:sp>
          <p:nvSpPr>
            <p:cNvPr id="43" name="Oval 29">
              <a:extLst>
                <a:ext uri="{FF2B5EF4-FFF2-40B4-BE49-F238E27FC236}">
                  <a16:creationId xmlns:a16="http://schemas.microsoft.com/office/drawing/2014/main" id="{2C1CFBD8-23F2-0099-11DF-4CDB8C139476}"/>
                </a:ext>
              </a:extLst>
            </p:cNvPr>
            <p:cNvSpPr>
              <a:spLocks noChangeArrowheads="1"/>
            </p:cNvSpPr>
            <p:nvPr/>
          </p:nvSpPr>
          <p:spPr bwMode="auto">
            <a:xfrm>
              <a:off x="6392863" y="4948238"/>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G</a:t>
              </a:r>
            </a:p>
          </p:txBody>
        </p:sp>
        <p:sp>
          <p:nvSpPr>
            <p:cNvPr id="44" name="Oval 30">
              <a:extLst>
                <a:ext uri="{FF2B5EF4-FFF2-40B4-BE49-F238E27FC236}">
                  <a16:creationId xmlns:a16="http://schemas.microsoft.com/office/drawing/2014/main" id="{60472BAD-21CB-5080-88CC-B4560883CE1B}"/>
                </a:ext>
              </a:extLst>
            </p:cNvPr>
            <p:cNvSpPr>
              <a:spLocks noChangeArrowheads="1"/>
            </p:cNvSpPr>
            <p:nvPr/>
          </p:nvSpPr>
          <p:spPr bwMode="auto">
            <a:xfrm>
              <a:off x="6392863" y="5815013"/>
              <a:ext cx="366712" cy="342900"/>
            </a:xfrm>
            <a:prstGeom prst="ellipse">
              <a:avLst/>
            </a:prstGeom>
            <a:solidFill>
              <a:schemeClr val="accent4"/>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I</a:t>
              </a:r>
            </a:p>
          </p:txBody>
        </p:sp>
      </p:grpSp>
    </p:spTree>
    <p:extLst>
      <p:ext uri="{BB962C8B-B14F-4D97-AF65-F5344CB8AC3E}">
        <p14:creationId xmlns:p14="http://schemas.microsoft.com/office/powerpoint/2010/main" val="16594003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Sample Completed S&amp;OP Spreadsheet:  </a:t>
            </a:r>
            <a:br>
              <a:rPr lang="en-US" sz="3600" dirty="0"/>
            </a:br>
            <a:r>
              <a:rPr lang="en-US" sz="3600" dirty="0"/>
              <a:t>MTS Environment</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2491818"/>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The completed S&amp;OP spreadsheet will build a complete snapshot of the pilot family supply-demand position including “new vs. old” plan analysis and inventory deployment.</a:t>
            </a:r>
          </a:p>
        </p:txBody>
      </p:sp>
      <p:grpSp>
        <p:nvGrpSpPr>
          <p:cNvPr id="31" name="Group 30">
            <a:extLst>
              <a:ext uri="{FF2B5EF4-FFF2-40B4-BE49-F238E27FC236}">
                <a16:creationId xmlns:a16="http://schemas.microsoft.com/office/drawing/2014/main" id="{606672DF-C7AC-71DC-98FF-1F2296E63359}"/>
              </a:ext>
            </a:extLst>
          </p:cNvPr>
          <p:cNvGrpSpPr/>
          <p:nvPr/>
        </p:nvGrpSpPr>
        <p:grpSpPr>
          <a:xfrm>
            <a:off x="838200" y="1895798"/>
            <a:ext cx="8253671" cy="4394200"/>
            <a:chOff x="674688" y="2374900"/>
            <a:chExt cx="7058148" cy="4227527"/>
          </a:xfrm>
        </p:grpSpPr>
        <p:graphicFrame>
          <p:nvGraphicFramePr>
            <p:cNvPr id="7" name="Object 2">
              <a:extLst>
                <a:ext uri="{FF2B5EF4-FFF2-40B4-BE49-F238E27FC236}">
                  <a16:creationId xmlns:a16="http://schemas.microsoft.com/office/drawing/2014/main" id="{8237D994-5C28-16DC-BED8-A0115270EF66}"/>
                </a:ext>
              </a:extLst>
            </p:cNvPr>
            <p:cNvGraphicFramePr>
              <a:graphicFrameLocks noChangeAspect="1"/>
            </p:cNvGraphicFramePr>
            <p:nvPr>
              <p:extLst>
                <p:ext uri="{D42A27DB-BD31-4B8C-83A1-F6EECF244321}">
                  <p14:modId xmlns:p14="http://schemas.microsoft.com/office/powerpoint/2010/main" val="3360671799"/>
                </p:ext>
              </p:extLst>
            </p:nvPr>
          </p:nvGraphicFramePr>
          <p:xfrm>
            <a:off x="674688" y="2374900"/>
            <a:ext cx="7058148" cy="4227527"/>
          </p:xfrm>
          <a:graphic>
            <a:graphicData uri="http://schemas.openxmlformats.org/presentationml/2006/ole">
              <mc:AlternateContent xmlns:mc="http://schemas.openxmlformats.org/markup-compatibility/2006">
                <mc:Choice xmlns:v="urn:schemas-microsoft-com:vml" Requires="v">
                  <p:oleObj name="Worksheet" r:id="rId3" imgW="12325178" imgH="7381822" progId="Excel.Sheet.8">
                    <p:embed/>
                  </p:oleObj>
                </mc:Choice>
                <mc:Fallback>
                  <p:oleObj name="Worksheet" r:id="rId3" imgW="12325178" imgH="7381822" progId="Excel.Sheet.8">
                    <p:embed/>
                    <p:pic>
                      <p:nvPicPr>
                        <p:cNvPr id="59395" name="Object 2">
                          <a:extLst>
                            <a:ext uri="{FF2B5EF4-FFF2-40B4-BE49-F238E27FC236}">
                              <a16:creationId xmlns:a16="http://schemas.microsoft.com/office/drawing/2014/main" id="{4EABE897-D712-4402-89D4-3F254B1E46B6}"/>
                            </a:ext>
                          </a:extLst>
                        </p:cNvPr>
                        <p:cNvPicPr>
                          <a:picLocks noChangeAspect="1" noChangeArrowheads="1"/>
                        </p:cNvPicPr>
                        <p:nvPr/>
                      </p:nvPicPr>
                      <p:blipFill>
                        <a:blip r:embed="rId4"/>
                        <a:srcRect/>
                        <a:stretch>
                          <a:fillRect/>
                        </a:stretch>
                      </p:blipFill>
                      <p:spPr bwMode="auto">
                        <a:xfrm>
                          <a:off x="674688" y="2374900"/>
                          <a:ext cx="7058148" cy="4227527"/>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Oval 5">
              <a:extLst>
                <a:ext uri="{FF2B5EF4-FFF2-40B4-BE49-F238E27FC236}">
                  <a16:creationId xmlns:a16="http://schemas.microsoft.com/office/drawing/2014/main" id="{A15C52D4-E030-B791-7148-441128D30C94}"/>
                </a:ext>
              </a:extLst>
            </p:cNvPr>
            <p:cNvSpPr>
              <a:spLocks noChangeArrowheads="1"/>
            </p:cNvSpPr>
            <p:nvPr/>
          </p:nvSpPr>
          <p:spPr bwMode="auto">
            <a:xfrm>
              <a:off x="4837113" y="2701925"/>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A</a:t>
              </a:r>
            </a:p>
          </p:txBody>
        </p:sp>
        <p:sp>
          <p:nvSpPr>
            <p:cNvPr id="9" name="Oval 6">
              <a:extLst>
                <a:ext uri="{FF2B5EF4-FFF2-40B4-BE49-F238E27FC236}">
                  <a16:creationId xmlns:a16="http://schemas.microsoft.com/office/drawing/2014/main" id="{B641374A-3E89-381F-37D3-749CABA8D59B}"/>
                </a:ext>
              </a:extLst>
            </p:cNvPr>
            <p:cNvSpPr>
              <a:spLocks noChangeArrowheads="1"/>
            </p:cNvSpPr>
            <p:nvPr/>
          </p:nvSpPr>
          <p:spPr bwMode="auto">
            <a:xfrm>
              <a:off x="800100" y="3921125"/>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B</a:t>
              </a:r>
            </a:p>
          </p:txBody>
        </p:sp>
        <p:sp>
          <p:nvSpPr>
            <p:cNvPr id="10" name="Oval 7">
              <a:extLst>
                <a:ext uri="{FF2B5EF4-FFF2-40B4-BE49-F238E27FC236}">
                  <a16:creationId xmlns:a16="http://schemas.microsoft.com/office/drawing/2014/main" id="{9BE83940-E13C-14F9-CFC0-C001E3931763}"/>
                </a:ext>
              </a:extLst>
            </p:cNvPr>
            <p:cNvSpPr>
              <a:spLocks noChangeArrowheads="1"/>
            </p:cNvSpPr>
            <p:nvPr/>
          </p:nvSpPr>
          <p:spPr bwMode="auto">
            <a:xfrm>
              <a:off x="792163" y="4725988"/>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D</a:t>
              </a:r>
            </a:p>
          </p:txBody>
        </p:sp>
        <p:sp>
          <p:nvSpPr>
            <p:cNvPr id="11" name="Oval 8">
              <a:extLst>
                <a:ext uri="{FF2B5EF4-FFF2-40B4-BE49-F238E27FC236}">
                  <a16:creationId xmlns:a16="http://schemas.microsoft.com/office/drawing/2014/main" id="{189E805A-8BAC-B1D2-685C-755F7DEC9A41}"/>
                </a:ext>
              </a:extLst>
            </p:cNvPr>
            <p:cNvSpPr>
              <a:spLocks noChangeArrowheads="1"/>
            </p:cNvSpPr>
            <p:nvPr/>
          </p:nvSpPr>
          <p:spPr bwMode="auto">
            <a:xfrm>
              <a:off x="800101" y="5602372"/>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F</a:t>
              </a:r>
            </a:p>
          </p:txBody>
        </p:sp>
        <p:sp>
          <p:nvSpPr>
            <p:cNvPr id="12" name="Oval 9">
              <a:extLst>
                <a:ext uri="{FF2B5EF4-FFF2-40B4-BE49-F238E27FC236}">
                  <a16:creationId xmlns:a16="http://schemas.microsoft.com/office/drawing/2014/main" id="{3615C19A-C877-8281-5F9D-1490AB56F70F}"/>
                </a:ext>
              </a:extLst>
            </p:cNvPr>
            <p:cNvSpPr>
              <a:spLocks noChangeArrowheads="1"/>
            </p:cNvSpPr>
            <p:nvPr/>
          </p:nvSpPr>
          <p:spPr bwMode="auto">
            <a:xfrm>
              <a:off x="3160712" y="6089466"/>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H</a:t>
              </a:r>
            </a:p>
          </p:txBody>
        </p:sp>
        <p:sp>
          <p:nvSpPr>
            <p:cNvPr id="13" name="Oval 10">
              <a:extLst>
                <a:ext uri="{FF2B5EF4-FFF2-40B4-BE49-F238E27FC236}">
                  <a16:creationId xmlns:a16="http://schemas.microsoft.com/office/drawing/2014/main" id="{69655BBA-B76A-1AC0-0AB5-EC403BB14847}"/>
                </a:ext>
              </a:extLst>
            </p:cNvPr>
            <p:cNvSpPr>
              <a:spLocks noChangeArrowheads="1"/>
            </p:cNvSpPr>
            <p:nvPr/>
          </p:nvSpPr>
          <p:spPr bwMode="auto">
            <a:xfrm>
              <a:off x="6814396" y="3978933"/>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C</a:t>
              </a:r>
            </a:p>
          </p:txBody>
        </p:sp>
        <p:sp>
          <p:nvSpPr>
            <p:cNvPr id="14" name="Oval 11">
              <a:extLst>
                <a:ext uri="{FF2B5EF4-FFF2-40B4-BE49-F238E27FC236}">
                  <a16:creationId xmlns:a16="http://schemas.microsoft.com/office/drawing/2014/main" id="{F3A8CFF0-8F96-D99F-3B74-F00712E55087}"/>
                </a:ext>
              </a:extLst>
            </p:cNvPr>
            <p:cNvSpPr>
              <a:spLocks noChangeArrowheads="1"/>
            </p:cNvSpPr>
            <p:nvPr/>
          </p:nvSpPr>
          <p:spPr bwMode="auto">
            <a:xfrm>
              <a:off x="6814396" y="4725987"/>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E</a:t>
              </a:r>
            </a:p>
          </p:txBody>
        </p:sp>
        <p:sp>
          <p:nvSpPr>
            <p:cNvPr id="15" name="Oval 12">
              <a:extLst>
                <a:ext uri="{FF2B5EF4-FFF2-40B4-BE49-F238E27FC236}">
                  <a16:creationId xmlns:a16="http://schemas.microsoft.com/office/drawing/2014/main" id="{47D4D2AF-4D7A-E9F4-49A4-D93115BEEDBA}"/>
                </a:ext>
              </a:extLst>
            </p:cNvPr>
            <p:cNvSpPr>
              <a:spLocks noChangeArrowheads="1"/>
            </p:cNvSpPr>
            <p:nvPr/>
          </p:nvSpPr>
          <p:spPr bwMode="auto">
            <a:xfrm>
              <a:off x="6814396" y="5430921"/>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G</a:t>
              </a:r>
            </a:p>
          </p:txBody>
        </p:sp>
        <p:sp>
          <p:nvSpPr>
            <p:cNvPr id="30" name="Oval 13">
              <a:extLst>
                <a:ext uri="{FF2B5EF4-FFF2-40B4-BE49-F238E27FC236}">
                  <a16:creationId xmlns:a16="http://schemas.microsoft.com/office/drawing/2014/main" id="{85B8F033-A50C-7FD6-13F5-420574773AC4}"/>
                </a:ext>
              </a:extLst>
            </p:cNvPr>
            <p:cNvSpPr>
              <a:spLocks noChangeArrowheads="1"/>
            </p:cNvSpPr>
            <p:nvPr/>
          </p:nvSpPr>
          <p:spPr bwMode="auto">
            <a:xfrm>
              <a:off x="6814396" y="6108700"/>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I</a:t>
              </a:r>
            </a:p>
          </p:txBody>
        </p:sp>
      </p:grpSp>
    </p:spTree>
    <p:extLst>
      <p:ext uri="{BB962C8B-B14F-4D97-AF65-F5344CB8AC3E}">
        <p14:creationId xmlns:p14="http://schemas.microsoft.com/office/powerpoint/2010/main" val="2226750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Sample Completed S&amp;OP Spreadsheet:  </a:t>
            </a:r>
            <a:br>
              <a:rPr lang="en-US" sz="3600" dirty="0"/>
            </a:br>
            <a:r>
              <a:rPr lang="en-US" sz="3600" dirty="0"/>
              <a:t>One-Stop Planning Snapshot</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3182147"/>
            <a:ext cx="2750117" cy="739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When assembling the first S&amp;OP spreadsheet draft, pilot team members </a:t>
            </a:r>
          </a:p>
        </p:txBody>
      </p:sp>
      <p:grpSp>
        <p:nvGrpSpPr>
          <p:cNvPr id="24" name="Group 23">
            <a:extLst>
              <a:ext uri="{FF2B5EF4-FFF2-40B4-BE49-F238E27FC236}">
                <a16:creationId xmlns:a16="http://schemas.microsoft.com/office/drawing/2014/main" id="{67874269-21BA-652A-96FD-04F369E72F4B}"/>
              </a:ext>
            </a:extLst>
          </p:cNvPr>
          <p:cNvGrpSpPr/>
          <p:nvPr/>
        </p:nvGrpSpPr>
        <p:grpSpPr>
          <a:xfrm>
            <a:off x="155287" y="2003425"/>
            <a:ext cx="8920163" cy="3616325"/>
            <a:chOff x="130175" y="2371725"/>
            <a:chExt cx="8920163" cy="3616325"/>
          </a:xfrm>
        </p:grpSpPr>
        <p:sp>
          <p:nvSpPr>
            <p:cNvPr id="4" name="Rectangle 2">
              <a:extLst>
                <a:ext uri="{FF2B5EF4-FFF2-40B4-BE49-F238E27FC236}">
                  <a16:creationId xmlns:a16="http://schemas.microsoft.com/office/drawing/2014/main" id="{DB35AEDE-DCEC-1006-2513-24E6F2E00F0E}"/>
                </a:ext>
              </a:extLst>
            </p:cNvPr>
            <p:cNvSpPr>
              <a:spLocks noChangeArrowheads="1"/>
            </p:cNvSpPr>
            <p:nvPr/>
          </p:nvSpPr>
          <p:spPr bwMode="auto">
            <a:xfrm>
              <a:off x="296863" y="2500313"/>
              <a:ext cx="4335462" cy="24415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 name="Rectangle 4">
              <a:extLst>
                <a:ext uri="{FF2B5EF4-FFF2-40B4-BE49-F238E27FC236}">
                  <a16:creationId xmlns:a16="http://schemas.microsoft.com/office/drawing/2014/main" id="{9ACB885A-543A-C646-F4F7-78B6EC4DC6B3}"/>
                </a:ext>
              </a:extLst>
            </p:cNvPr>
            <p:cNvSpPr>
              <a:spLocks noChangeArrowheads="1"/>
            </p:cNvSpPr>
            <p:nvPr/>
          </p:nvSpPr>
          <p:spPr bwMode="auto">
            <a:xfrm>
              <a:off x="4962525" y="2511425"/>
              <a:ext cx="4087813"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200" dirty="0">
                  <a:latin typeface="+mn-lt"/>
                </a:rPr>
                <a:t>Clear definition of the target product or family, unit-of-measure for the spreadsheet and required inventory levels to meet service requirements</a:t>
              </a:r>
            </a:p>
            <a:p>
              <a:pPr eaLnBrk="1" hangingPunct="1">
                <a:spcBef>
                  <a:spcPct val="60000"/>
                </a:spcBef>
                <a:buClrTx/>
                <a:buSzPct val="90000"/>
                <a:buFont typeface="Arial" panose="020B0604020202020204" pitchFamily="34" charset="0"/>
                <a:buChar char="•"/>
              </a:pPr>
              <a:r>
                <a:rPr lang="en-US" altLang="en-US" sz="1200" dirty="0">
                  <a:latin typeface="+mn-lt"/>
                </a:rPr>
                <a:t>Actual sales compared to the forecast; variances here should be evaluated for next-month accuracy improvement</a:t>
              </a:r>
            </a:p>
            <a:p>
              <a:pPr eaLnBrk="1" hangingPunct="1">
                <a:spcBef>
                  <a:spcPct val="60000"/>
                </a:spcBef>
                <a:buClrTx/>
                <a:buSzPct val="90000"/>
                <a:buFont typeface="Arial" panose="020B0604020202020204" pitchFamily="34" charset="0"/>
                <a:buChar char="•"/>
              </a:pPr>
              <a:r>
                <a:rPr lang="en-US" altLang="en-US" sz="1200" dirty="0">
                  <a:latin typeface="+mn-lt"/>
                </a:rPr>
                <a:t>Demonstrates the </a:t>
              </a:r>
              <a:r>
                <a:rPr lang="ja-JP" altLang="en-US" sz="1200" dirty="0">
                  <a:latin typeface="+mn-lt"/>
                </a:rPr>
                <a:t>“</a:t>
              </a:r>
              <a:r>
                <a:rPr lang="en-US" altLang="ja-JP" sz="1200" dirty="0">
                  <a:latin typeface="+mn-lt"/>
                </a:rPr>
                <a:t>long view</a:t>
              </a:r>
              <a:r>
                <a:rPr lang="ja-JP" altLang="en-US" sz="1200" dirty="0">
                  <a:latin typeface="+mn-lt"/>
                </a:rPr>
                <a:t>”</a:t>
              </a:r>
              <a:r>
                <a:rPr lang="en-US" altLang="ja-JP" sz="1200" dirty="0">
                  <a:latin typeface="+mn-lt"/>
                </a:rPr>
                <a:t> of the product; forecast extends for next six months and aggregates up for the next two full quarters</a:t>
              </a:r>
            </a:p>
            <a:p>
              <a:pPr eaLnBrk="1" hangingPunct="1">
                <a:spcBef>
                  <a:spcPct val="60000"/>
                </a:spcBef>
                <a:buClrTx/>
                <a:buSzPct val="90000"/>
                <a:buFont typeface="Arial" panose="020B0604020202020204" pitchFamily="34" charset="0"/>
                <a:buChar char="•"/>
              </a:pPr>
              <a:r>
                <a:rPr lang="en-US" altLang="en-US" sz="1200" dirty="0">
                  <a:latin typeface="+mn-lt"/>
                </a:rPr>
                <a:t>Actual production performance to plan; critical to evaluate for procurement linkages to suppliers and potential inventory/stock out impacts</a:t>
              </a:r>
            </a:p>
            <a:p>
              <a:pPr eaLnBrk="1" hangingPunct="1">
                <a:spcBef>
                  <a:spcPct val="60000"/>
                </a:spcBef>
                <a:buClrTx/>
                <a:buSzPct val="90000"/>
                <a:buFont typeface="Arial" panose="020B0604020202020204" pitchFamily="34" charset="0"/>
                <a:buChar char="•"/>
              </a:pPr>
              <a:r>
                <a:rPr lang="en-US" altLang="en-US" sz="1200" dirty="0">
                  <a:latin typeface="+mn-lt"/>
                </a:rPr>
                <a:t>The </a:t>
              </a:r>
              <a:r>
                <a:rPr lang="ja-JP" altLang="en-US" sz="1200" dirty="0">
                  <a:latin typeface="+mn-lt"/>
                </a:rPr>
                <a:t>“</a:t>
              </a:r>
              <a:r>
                <a:rPr lang="en-US" altLang="ja-JP" sz="1200" dirty="0">
                  <a:latin typeface="+mn-lt"/>
                </a:rPr>
                <a:t>long view</a:t>
              </a:r>
              <a:r>
                <a:rPr lang="ja-JP" altLang="en-US" sz="1200" dirty="0">
                  <a:latin typeface="+mn-lt"/>
                </a:rPr>
                <a:t>”</a:t>
              </a:r>
              <a:r>
                <a:rPr lang="en-US" altLang="ja-JP" sz="1200" dirty="0">
                  <a:latin typeface="+mn-lt"/>
                </a:rPr>
                <a:t> for the production cycle; first great defense for ensuring adequate supply lines to maintain production</a:t>
              </a:r>
            </a:p>
            <a:p>
              <a:pPr eaLnBrk="1" hangingPunct="1">
                <a:spcBef>
                  <a:spcPct val="60000"/>
                </a:spcBef>
                <a:buClrTx/>
                <a:buSzPct val="90000"/>
                <a:buFont typeface="Arial" panose="020B0604020202020204" pitchFamily="34" charset="0"/>
                <a:buChar char="•"/>
              </a:pPr>
              <a:endParaRPr lang="en-US" altLang="en-US" sz="1200" dirty="0">
                <a:latin typeface="+mn-lt"/>
              </a:endParaRPr>
            </a:p>
          </p:txBody>
        </p:sp>
        <p:sp>
          <p:nvSpPr>
            <p:cNvPr id="16" name="Text Box 5">
              <a:extLst>
                <a:ext uri="{FF2B5EF4-FFF2-40B4-BE49-F238E27FC236}">
                  <a16:creationId xmlns:a16="http://schemas.microsoft.com/office/drawing/2014/main" id="{3C8719B5-ABAE-781E-4E60-5110BBF1F25A}"/>
                </a:ext>
              </a:extLst>
            </p:cNvPr>
            <p:cNvSpPr txBox="1">
              <a:spLocks noChangeArrowheads="1"/>
            </p:cNvSpPr>
            <p:nvPr/>
          </p:nvSpPr>
          <p:spPr bwMode="auto">
            <a:xfrm>
              <a:off x="660476" y="2371725"/>
              <a:ext cx="1757212"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Model Spreadsheet</a:t>
              </a:r>
            </a:p>
          </p:txBody>
        </p:sp>
        <p:sp>
          <p:nvSpPr>
            <p:cNvPr id="17" name="Oval 6">
              <a:extLst>
                <a:ext uri="{FF2B5EF4-FFF2-40B4-BE49-F238E27FC236}">
                  <a16:creationId xmlns:a16="http://schemas.microsoft.com/office/drawing/2014/main" id="{0A6A22D4-D282-73FB-03E5-F903C4282303}"/>
                </a:ext>
              </a:extLst>
            </p:cNvPr>
            <p:cNvSpPr>
              <a:spLocks noChangeArrowheads="1"/>
            </p:cNvSpPr>
            <p:nvPr/>
          </p:nvSpPr>
          <p:spPr bwMode="auto">
            <a:xfrm>
              <a:off x="4913313" y="2479675"/>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A</a:t>
              </a:r>
            </a:p>
          </p:txBody>
        </p:sp>
        <p:sp>
          <p:nvSpPr>
            <p:cNvPr id="18" name="Oval 7">
              <a:extLst>
                <a:ext uri="{FF2B5EF4-FFF2-40B4-BE49-F238E27FC236}">
                  <a16:creationId xmlns:a16="http://schemas.microsoft.com/office/drawing/2014/main" id="{415274F9-ADFC-D9BE-277D-BEF44AC5AE3A}"/>
                </a:ext>
              </a:extLst>
            </p:cNvPr>
            <p:cNvSpPr>
              <a:spLocks noChangeArrowheads="1"/>
            </p:cNvSpPr>
            <p:nvPr/>
          </p:nvSpPr>
          <p:spPr bwMode="auto">
            <a:xfrm>
              <a:off x="4921250" y="3207547"/>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B</a:t>
              </a:r>
            </a:p>
          </p:txBody>
        </p:sp>
        <p:sp>
          <p:nvSpPr>
            <p:cNvPr id="19" name="Oval 8">
              <a:extLst>
                <a:ext uri="{FF2B5EF4-FFF2-40B4-BE49-F238E27FC236}">
                  <a16:creationId xmlns:a16="http://schemas.microsoft.com/office/drawing/2014/main" id="{F1B49E63-EABD-6C49-A47A-0A3699970E56}"/>
                </a:ext>
              </a:extLst>
            </p:cNvPr>
            <p:cNvSpPr>
              <a:spLocks noChangeArrowheads="1"/>
            </p:cNvSpPr>
            <p:nvPr/>
          </p:nvSpPr>
          <p:spPr bwMode="auto">
            <a:xfrm>
              <a:off x="4921250" y="4505326"/>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D</a:t>
              </a:r>
            </a:p>
          </p:txBody>
        </p:sp>
        <p:sp>
          <p:nvSpPr>
            <p:cNvPr id="20" name="Oval 9">
              <a:extLst>
                <a:ext uri="{FF2B5EF4-FFF2-40B4-BE49-F238E27FC236}">
                  <a16:creationId xmlns:a16="http://schemas.microsoft.com/office/drawing/2014/main" id="{DCA24C1D-1DA6-C3E2-1880-CC2D76C8ADAA}"/>
                </a:ext>
              </a:extLst>
            </p:cNvPr>
            <p:cNvSpPr>
              <a:spLocks noChangeArrowheads="1"/>
            </p:cNvSpPr>
            <p:nvPr/>
          </p:nvSpPr>
          <p:spPr bwMode="auto">
            <a:xfrm>
              <a:off x="4921250" y="3867945"/>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C</a:t>
              </a:r>
            </a:p>
          </p:txBody>
        </p:sp>
        <p:sp>
          <p:nvSpPr>
            <p:cNvPr id="21" name="Oval 10">
              <a:extLst>
                <a:ext uri="{FF2B5EF4-FFF2-40B4-BE49-F238E27FC236}">
                  <a16:creationId xmlns:a16="http://schemas.microsoft.com/office/drawing/2014/main" id="{57AECDCE-E692-E1AE-FD43-56996FA56C44}"/>
                </a:ext>
              </a:extLst>
            </p:cNvPr>
            <p:cNvSpPr>
              <a:spLocks noChangeArrowheads="1"/>
            </p:cNvSpPr>
            <p:nvPr/>
          </p:nvSpPr>
          <p:spPr bwMode="auto">
            <a:xfrm>
              <a:off x="4921250" y="5195887"/>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E</a:t>
              </a:r>
            </a:p>
          </p:txBody>
        </p:sp>
        <p:sp>
          <p:nvSpPr>
            <p:cNvPr id="22" name="AutoShape 11">
              <a:extLst>
                <a:ext uri="{FF2B5EF4-FFF2-40B4-BE49-F238E27FC236}">
                  <a16:creationId xmlns:a16="http://schemas.microsoft.com/office/drawing/2014/main" id="{52C017C3-D08D-47A2-BEB2-35B98F71ADF5}"/>
                </a:ext>
              </a:extLst>
            </p:cNvPr>
            <p:cNvSpPr>
              <a:spLocks/>
            </p:cNvSpPr>
            <p:nvPr/>
          </p:nvSpPr>
          <p:spPr bwMode="auto">
            <a:xfrm rot="5400000">
              <a:off x="2213769" y="3096419"/>
              <a:ext cx="496887" cy="4314825"/>
            </a:xfrm>
            <a:prstGeom prst="rightBrace">
              <a:avLst>
                <a:gd name="adj1" fmla="val 72364"/>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3" name="Text Box 12">
              <a:extLst>
                <a:ext uri="{FF2B5EF4-FFF2-40B4-BE49-F238E27FC236}">
                  <a16:creationId xmlns:a16="http://schemas.microsoft.com/office/drawing/2014/main" id="{F2FB5656-082D-BA0C-2457-7921A0B37975}"/>
                </a:ext>
              </a:extLst>
            </p:cNvPr>
            <p:cNvSpPr txBox="1">
              <a:spLocks noChangeArrowheads="1"/>
            </p:cNvSpPr>
            <p:nvPr/>
          </p:nvSpPr>
          <p:spPr bwMode="auto">
            <a:xfrm>
              <a:off x="130175" y="5529263"/>
              <a:ext cx="46799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200" i="1" dirty="0">
                  <a:latin typeface="+mn-lt"/>
                </a:rPr>
                <a:t>Logical, clear layout for team members to accurately</a:t>
              </a:r>
            </a:p>
            <a:p>
              <a:pPr algn="ctr">
                <a:lnSpc>
                  <a:spcPct val="90000"/>
                </a:lnSpc>
                <a:buClrTx/>
                <a:buSzTx/>
                <a:buFontTx/>
                <a:buNone/>
              </a:pPr>
              <a:r>
                <a:rPr lang="en-US" altLang="en-US" sz="1200" i="1" dirty="0">
                  <a:latin typeface="+mn-lt"/>
                </a:rPr>
                <a:t>evaluate current position and future problems</a:t>
              </a:r>
            </a:p>
          </p:txBody>
        </p:sp>
      </p:grpSp>
      <p:graphicFrame>
        <p:nvGraphicFramePr>
          <p:cNvPr id="25" name="Object 2">
            <a:extLst>
              <a:ext uri="{FF2B5EF4-FFF2-40B4-BE49-F238E27FC236}">
                <a16:creationId xmlns:a16="http://schemas.microsoft.com/office/drawing/2014/main" id="{F70B91F9-5DCC-8EC6-5298-6D65ACF84C30}"/>
              </a:ext>
            </a:extLst>
          </p:cNvPr>
          <p:cNvGraphicFramePr>
            <a:graphicFrameLocks noChangeAspect="1"/>
          </p:cNvGraphicFramePr>
          <p:nvPr>
            <p:extLst>
              <p:ext uri="{D42A27DB-BD31-4B8C-83A1-F6EECF244321}">
                <p14:modId xmlns:p14="http://schemas.microsoft.com/office/powerpoint/2010/main" val="1386682508"/>
              </p:ext>
            </p:extLst>
          </p:nvPr>
        </p:nvGraphicFramePr>
        <p:xfrm>
          <a:off x="416301" y="2270125"/>
          <a:ext cx="4130299" cy="2198944"/>
        </p:xfrm>
        <a:graphic>
          <a:graphicData uri="http://schemas.openxmlformats.org/presentationml/2006/ole">
            <mc:AlternateContent xmlns:mc="http://schemas.openxmlformats.org/markup-compatibility/2006">
              <mc:Choice xmlns:v="urn:schemas-microsoft-com:vml" Requires="v">
                <p:oleObj name="Worksheet" r:id="rId3" imgW="12325178" imgH="7381822" progId="Excel.Sheet.8">
                  <p:embed/>
                </p:oleObj>
              </mc:Choice>
              <mc:Fallback>
                <p:oleObj name="Worksheet" r:id="rId3" imgW="12325178" imgH="7381822" progId="Excel.Sheet.8">
                  <p:embed/>
                  <p:pic>
                    <p:nvPicPr>
                      <p:cNvPr id="7" name="Object 2">
                        <a:extLst>
                          <a:ext uri="{FF2B5EF4-FFF2-40B4-BE49-F238E27FC236}">
                            <a16:creationId xmlns:a16="http://schemas.microsoft.com/office/drawing/2014/main" id="{8237D994-5C28-16DC-BED8-A0115270EF66}"/>
                          </a:ext>
                        </a:extLst>
                      </p:cNvPr>
                      <p:cNvPicPr>
                        <a:picLocks noChangeAspect="1" noChangeArrowheads="1"/>
                      </p:cNvPicPr>
                      <p:nvPr/>
                    </p:nvPicPr>
                    <p:blipFill>
                      <a:blip r:embed="rId4"/>
                      <a:srcRect/>
                      <a:stretch>
                        <a:fillRect/>
                      </a:stretch>
                    </p:blipFill>
                    <p:spPr bwMode="auto">
                      <a:xfrm>
                        <a:off x="416301" y="2270125"/>
                        <a:ext cx="4130299" cy="219894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66929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Sample Completed S&amp;OP Spreadsheet:  </a:t>
            </a:r>
            <a:br>
              <a:rPr lang="en-US" sz="3600" dirty="0"/>
            </a:br>
            <a:r>
              <a:rPr lang="en-US" sz="3600" dirty="0"/>
              <a:t>One-Stop Planning Snapshot</a:t>
            </a:r>
          </a:p>
        </p:txBody>
      </p:sp>
      <p:grpSp>
        <p:nvGrpSpPr>
          <p:cNvPr id="24" name="Group 23">
            <a:extLst>
              <a:ext uri="{FF2B5EF4-FFF2-40B4-BE49-F238E27FC236}">
                <a16:creationId xmlns:a16="http://schemas.microsoft.com/office/drawing/2014/main" id="{67874269-21BA-652A-96FD-04F369E72F4B}"/>
              </a:ext>
            </a:extLst>
          </p:cNvPr>
          <p:cNvGrpSpPr/>
          <p:nvPr/>
        </p:nvGrpSpPr>
        <p:grpSpPr>
          <a:xfrm>
            <a:off x="155287" y="2003425"/>
            <a:ext cx="4679950" cy="3616325"/>
            <a:chOff x="130175" y="2371725"/>
            <a:chExt cx="4679950" cy="3616325"/>
          </a:xfrm>
        </p:grpSpPr>
        <p:sp>
          <p:nvSpPr>
            <p:cNvPr id="4" name="Rectangle 2">
              <a:extLst>
                <a:ext uri="{FF2B5EF4-FFF2-40B4-BE49-F238E27FC236}">
                  <a16:creationId xmlns:a16="http://schemas.microsoft.com/office/drawing/2014/main" id="{DB35AEDE-DCEC-1006-2513-24E6F2E00F0E}"/>
                </a:ext>
              </a:extLst>
            </p:cNvPr>
            <p:cNvSpPr>
              <a:spLocks noChangeArrowheads="1"/>
            </p:cNvSpPr>
            <p:nvPr/>
          </p:nvSpPr>
          <p:spPr bwMode="auto">
            <a:xfrm>
              <a:off x="296863" y="2500313"/>
              <a:ext cx="4335462" cy="24415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6" name="Text Box 5">
              <a:extLst>
                <a:ext uri="{FF2B5EF4-FFF2-40B4-BE49-F238E27FC236}">
                  <a16:creationId xmlns:a16="http://schemas.microsoft.com/office/drawing/2014/main" id="{3C8719B5-ABAE-781E-4E60-5110BBF1F25A}"/>
                </a:ext>
              </a:extLst>
            </p:cNvPr>
            <p:cNvSpPr txBox="1">
              <a:spLocks noChangeArrowheads="1"/>
            </p:cNvSpPr>
            <p:nvPr/>
          </p:nvSpPr>
          <p:spPr bwMode="auto">
            <a:xfrm>
              <a:off x="660476" y="2371725"/>
              <a:ext cx="1757212"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Model Spreadsheet</a:t>
              </a:r>
            </a:p>
          </p:txBody>
        </p:sp>
        <p:sp>
          <p:nvSpPr>
            <p:cNvPr id="22" name="AutoShape 11">
              <a:extLst>
                <a:ext uri="{FF2B5EF4-FFF2-40B4-BE49-F238E27FC236}">
                  <a16:creationId xmlns:a16="http://schemas.microsoft.com/office/drawing/2014/main" id="{52C017C3-D08D-47A2-BEB2-35B98F71ADF5}"/>
                </a:ext>
              </a:extLst>
            </p:cNvPr>
            <p:cNvSpPr>
              <a:spLocks/>
            </p:cNvSpPr>
            <p:nvPr/>
          </p:nvSpPr>
          <p:spPr bwMode="auto">
            <a:xfrm rot="5400000">
              <a:off x="2213769" y="3096419"/>
              <a:ext cx="496887" cy="4314825"/>
            </a:xfrm>
            <a:prstGeom prst="rightBrace">
              <a:avLst>
                <a:gd name="adj1" fmla="val 72364"/>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3" name="Text Box 12">
              <a:extLst>
                <a:ext uri="{FF2B5EF4-FFF2-40B4-BE49-F238E27FC236}">
                  <a16:creationId xmlns:a16="http://schemas.microsoft.com/office/drawing/2014/main" id="{F2FB5656-082D-BA0C-2457-7921A0B37975}"/>
                </a:ext>
              </a:extLst>
            </p:cNvPr>
            <p:cNvSpPr txBox="1">
              <a:spLocks noChangeArrowheads="1"/>
            </p:cNvSpPr>
            <p:nvPr/>
          </p:nvSpPr>
          <p:spPr bwMode="auto">
            <a:xfrm>
              <a:off x="130175" y="5529263"/>
              <a:ext cx="46799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200" i="1" dirty="0">
                  <a:latin typeface="+mn-lt"/>
                </a:rPr>
                <a:t>Logical, clear layout for team members to accurately</a:t>
              </a:r>
            </a:p>
            <a:p>
              <a:pPr algn="ctr">
                <a:lnSpc>
                  <a:spcPct val="90000"/>
                </a:lnSpc>
                <a:buClrTx/>
                <a:buSzTx/>
                <a:buFontTx/>
                <a:buNone/>
              </a:pPr>
              <a:r>
                <a:rPr lang="en-US" altLang="en-US" sz="1200" i="1" dirty="0">
                  <a:latin typeface="+mn-lt"/>
                </a:rPr>
                <a:t>evaluate current position and future problems</a:t>
              </a:r>
            </a:p>
          </p:txBody>
        </p:sp>
      </p:grpSp>
      <p:graphicFrame>
        <p:nvGraphicFramePr>
          <p:cNvPr id="25" name="Object 2">
            <a:extLst>
              <a:ext uri="{FF2B5EF4-FFF2-40B4-BE49-F238E27FC236}">
                <a16:creationId xmlns:a16="http://schemas.microsoft.com/office/drawing/2014/main" id="{F70B91F9-5DCC-8EC6-5298-6D65ACF84C30}"/>
              </a:ext>
            </a:extLst>
          </p:cNvPr>
          <p:cNvGraphicFramePr>
            <a:graphicFrameLocks noChangeAspect="1"/>
          </p:cNvGraphicFramePr>
          <p:nvPr/>
        </p:nvGraphicFramePr>
        <p:xfrm>
          <a:off x="416301" y="2270125"/>
          <a:ext cx="4130299" cy="2198944"/>
        </p:xfrm>
        <a:graphic>
          <a:graphicData uri="http://schemas.openxmlformats.org/presentationml/2006/ole">
            <mc:AlternateContent xmlns:mc="http://schemas.openxmlformats.org/markup-compatibility/2006">
              <mc:Choice xmlns:v="urn:schemas-microsoft-com:vml" Requires="v">
                <p:oleObj name="Worksheet" r:id="rId3" imgW="12325178" imgH="7381822" progId="Excel.Sheet.8">
                  <p:embed/>
                </p:oleObj>
              </mc:Choice>
              <mc:Fallback>
                <p:oleObj name="Worksheet" r:id="rId3" imgW="12325178" imgH="7381822" progId="Excel.Sheet.8">
                  <p:embed/>
                  <p:pic>
                    <p:nvPicPr>
                      <p:cNvPr id="25" name="Object 2">
                        <a:extLst>
                          <a:ext uri="{FF2B5EF4-FFF2-40B4-BE49-F238E27FC236}">
                            <a16:creationId xmlns:a16="http://schemas.microsoft.com/office/drawing/2014/main" id="{F70B91F9-5DCC-8EC6-5298-6D65ACF84C30}"/>
                          </a:ext>
                        </a:extLst>
                      </p:cNvPr>
                      <p:cNvPicPr>
                        <a:picLocks noChangeAspect="1" noChangeArrowheads="1"/>
                      </p:cNvPicPr>
                      <p:nvPr/>
                    </p:nvPicPr>
                    <p:blipFill>
                      <a:blip r:embed="rId4"/>
                      <a:srcRect/>
                      <a:stretch>
                        <a:fillRect/>
                      </a:stretch>
                    </p:blipFill>
                    <p:spPr bwMode="auto">
                      <a:xfrm>
                        <a:off x="416301" y="2270125"/>
                        <a:ext cx="4130299" cy="2198944"/>
                      </a:xfrm>
                      <a:prstGeom prst="rect">
                        <a:avLst/>
                      </a:prstGeom>
                      <a:noFill/>
                      <a:ln>
                        <a:noFill/>
                      </a:ln>
                      <a:effectLst/>
                    </p:spPr>
                  </p:pic>
                </p:oleObj>
              </mc:Fallback>
            </mc:AlternateContent>
          </a:graphicData>
        </a:graphic>
      </p:graphicFrame>
      <p:grpSp>
        <p:nvGrpSpPr>
          <p:cNvPr id="12" name="Group 11">
            <a:extLst>
              <a:ext uri="{FF2B5EF4-FFF2-40B4-BE49-F238E27FC236}">
                <a16:creationId xmlns:a16="http://schemas.microsoft.com/office/drawing/2014/main" id="{7145B8F0-D43B-3874-053B-9AEA411183B1}"/>
              </a:ext>
            </a:extLst>
          </p:cNvPr>
          <p:cNvGrpSpPr/>
          <p:nvPr/>
        </p:nvGrpSpPr>
        <p:grpSpPr>
          <a:xfrm>
            <a:off x="4935613" y="2132013"/>
            <a:ext cx="4137025" cy="3746500"/>
            <a:chOff x="4935613" y="2132013"/>
            <a:chExt cx="4137025" cy="3746500"/>
          </a:xfrm>
        </p:grpSpPr>
        <p:sp>
          <p:nvSpPr>
            <p:cNvPr id="5" name="Rectangle 7">
              <a:extLst>
                <a:ext uri="{FF2B5EF4-FFF2-40B4-BE49-F238E27FC236}">
                  <a16:creationId xmlns:a16="http://schemas.microsoft.com/office/drawing/2014/main" id="{A1C417F4-C3D6-FC20-8D32-CB1621AE3AE9}"/>
                </a:ext>
              </a:extLst>
            </p:cNvPr>
            <p:cNvSpPr>
              <a:spLocks noChangeArrowheads="1"/>
            </p:cNvSpPr>
            <p:nvPr/>
          </p:nvSpPr>
          <p:spPr bwMode="auto">
            <a:xfrm>
              <a:off x="4984825" y="2163763"/>
              <a:ext cx="4087813"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70000"/>
                </a:spcBef>
                <a:buClrTx/>
                <a:buSzPct val="90000"/>
                <a:buFont typeface="Arial" panose="020B0604020202020204" pitchFamily="34" charset="0"/>
                <a:buChar char="•"/>
              </a:pPr>
              <a:r>
                <a:rPr lang="en-US" altLang="en-US" sz="1200" dirty="0">
                  <a:latin typeface="+mn-lt"/>
                </a:rPr>
                <a:t>Simple inventory logic:  Last-month ending inventory, less this-month new sales forecast, plus this-month ops plan gives ending inventory</a:t>
              </a:r>
            </a:p>
            <a:p>
              <a:pPr lvl="1" eaLnBrk="1" hangingPunct="1">
                <a:spcBef>
                  <a:spcPct val="70000"/>
                </a:spcBef>
                <a:buClrTx/>
                <a:buSzPct val="90000"/>
                <a:buFont typeface="Arial" panose="020B0604020202020204" pitchFamily="34" charset="0"/>
                <a:buChar char="•"/>
              </a:pPr>
              <a:r>
                <a:rPr lang="en-US" altLang="en-US" sz="1200" dirty="0">
                  <a:latin typeface="+mn-lt"/>
                </a:rPr>
                <a:t>Project on-hand calculation is next-month new forecast/number of days in month (20)</a:t>
              </a:r>
            </a:p>
            <a:p>
              <a:pPr eaLnBrk="1" hangingPunct="1">
                <a:spcBef>
                  <a:spcPct val="70000"/>
                </a:spcBef>
                <a:buClrTx/>
                <a:buSzPct val="90000"/>
                <a:buFont typeface="Arial" panose="020B0604020202020204" pitchFamily="34" charset="0"/>
                <a:buChar char="•"/>
              </a:pPr>
              <a:r>
                <a:rPr lang="en-US" altLang="en-US" sz="1200" dirty="0">
                  <a:latin typeface="+mn-lt"/>
                </a:rPr>
                <a:t>Inventory position over next six months; gives strong indications of potential future service issues or excessive cash flow problems</a:t>
              </a:r>
            </a:p>
            <a:p>
              <a:pPr eaLnBrk="1" hangingPunct="1">
                <a:spcBef>
                  <a:spcPct val="70000"/>
                </a:spcBef>
                <a:buClrTx/>
                <a:buSzPct val="90000"/>
                <a:buFont typeface="Arial" panose="020B0604020202020204" pitchFamily="34" charset="0"/>
                <a:buChar char="•"/>
              </a:pPr>
              <a:r>
                <a:rPr lang="en-US" altLang="en-US" sz="1200" dirty="0">
                  <a:latin typeface="+mn-lt"/>
                </a:rPr>
                <a:t>Key assumptions for the demand equation; insights into market turbulence, key demand inputs or new-customer increases</a:t>
              </a:r>
            </a:p>
            <a:p>
              <a:pPr eaLnBrk="1" hangingPunct="1">
                <a:spcBef>
                  <a:spcPct val="70000"/>
                </a:spcBef>
                <a:buClrTx/>
                <a:buSzPct val="90000"/>
                <a:buFont typeface="Arial" panose="020B0604020202020204" pitchFamily="34" charset="0"/>
                <a:buChar char="•"/>
              </a:pPr>
              <a:r>
                <a:rPr lang="en-US" altLang="en-US" sz="1200" dirty="0">
                  <a:latin typeface="+mn-lt"/>
                </a:rPr>
                <a:t>Key assumptions for the supply equation; should include error codes where required, supply imbalances, critical assumptions, etc.</a:t>
              </a:r>
            </a:p>
            <a:p>
              <a:pPr eaLnBrk="1" hangingPunct="1">
                <a:spcBef>
                  <a:spcPct val="70000"/>
                </a:spcBef>
                <a:buClrTx/>
                <a:buSzPct val="90000"/>
                <a:buFont typeface="Arial" panose="020B0604020202020204" pitchFamily="34" charset="0"/>
                <a:buChar char="•"/>
              </a:pPr>
              <a:endParaRPr lang="en-US" altLang="en-US" sz="1200" dirty="0">
                <a:latin typeface="+mn-lt"/>
              </a:endParaRPr>
            </a:p>
          </p:txBody>
        </p:sp>
        <p:sp>
          <p:nvSpPr>
            <p:cNvPr id="7" name="Oval 8">
              <a:extLst>
                <a:ext uri="{FF2B5EF4-FFF2-40B4-BE49-F238E27FC236}">
                  <a16:creationId xmlns:a16="http://schemas.microsoft.com/office/drawing/2014/main" id="{75422209-2EE0-C3A3-DFFB-2B899BDF9EC1}"/>
                </a:ext>
              </a:extLst>
            </p:cNvPr>
            <p:cNvSpPr>
              <a:spLocks noChangeArrowheads="1"/>
            </p:cNvSpPr>
            <p:nvPr/>
          </p:nvSpPr>
          <p:spPr bwMode="auto">
            <a:xfrm>
              <a:off x="4935613" y="2132013"/>
              <a:ext cx="366712"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F</a:t>
              </a:r>
            </a:p>
          </p:txBody>
        </p:sp>
        <p:sp>
          <p:nvSpPr>
            <p:cNvPr id="8" name="Oval 9">
              <a:extLst>
                <a:ext uri="{FF2B5EF4-FFF2-40B4-BE49-F238E27FC236}">
                  <a16:creationId xmlns:a16="http://schemas.microsoft.com/office/drawing/2014/main" id="{72AF48E5-C462-73C4-AD65-0AB5C9C35598}"/>
                </a:ext>
              </a:extLst>
            </p:cNvPr>
            <p:cNvSpPr>
              <a:spLocks noChangeArrowheads="1"/>
            </p:cNvSpPr>
            <p:nvPr/>
          </p:nvSpPr>
          <p:spPr bwMode="auto">
            <a:xfrm>
              <a:off x="4943550" y="3308351"/>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dirty="0">
                  <a:solidFill>
                    <a:schemeClr val="bg1"/>
                  </a:solidFill>
                  <a:latin typeface="+mn-lt"/>
                </a:rPr>
                <a:t>G</a:t>
              </a:r>
            </a:p>
          </p:txBody>
        </p:sp>
        <p:sp>
          <p:nvSpPr>
            <p:cNvPr id="9" name="Oval 10">
              <a:extLst>
                <a:ext uri="{FF2B5EF4-FFF2-40B4-BE49-F238E27FC236}">
                  <a16:creationId xmlns:a16="http://schemas.microsoft.com/office/drawing/2014/main" id="{1DB3264F-FAE1-265A-F3CB-E99FC8A34BD1}"/>
                </a:ext>
              </a:extLst>
            </p:cNvPr>
            <p:cNvSpPr>
              <a:spLocks noChangeArrowheads="1"/>
            </p:cNvSpPr>
            <p:nvPr/>
          </p:nvSpPr>
          <p:spPr bwMode="auto">
            <a:xfrm>
              <a:off x="4943550" y="4664076"/>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I</a:t>
              </a:r>
            </a:p>
          </p:txBody>
        </p:sp>
        <p:sp>
          <p:nvSpPr>
            <p:cNvPr id="10" name="Oval 11">
              <a:extLst>
                <a:ext uri="{FF2B5EF4-FFF2-40B4-BE49-F238E27FC236}">
                  <a16:creationId xmlns:a16="http://schemas.microsoft.com/office/drawing/2014/main" id="{4B0A0F51-08C7-8677-79B8-9EEB63172E80}"/>
                </a:ext>
              </a:extLst>
            </p:cNvPr>
            <p:cNvSpPr>
              <a:spLocks noChangeArrowheads="1"/>
            </p:cNvSpPr>
            <p:nvPr/>
          </p:nvSpPr>
          <p:spPr bwMode="auto">
            <a:xfrm>
              <a:off x="4943550" y="3986213"/>
              <a:ext cx="366713" cy="342900"/>
            </a:xfrm>
            <a:prstGeom prst="ellipse">
              <a:avLst/>
            </a:prstGeom>
            <a:solidFill>
              <a:schemeClr val="accent5"/>
            </a:solidFill>
            <a:ln w="12700" cap="sq">
              <a:solidFill>
                <a:srgbClr val="0000FF"/>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H</a:t>
              </a:r>
            </a:p>
          </p:txBody>
        </p:sp>
        <p:sp>
          <p:nvSpPr>
            <p:cNvPr id="11" name="Oval 13">
              <a:extLst>
                <a:ext uri="{FF2B5EF4-FFF2-40B4-BE49-F238E27FC236}">
                  <a16:creationId xmlns:a16="http://schemas.microsoft.com/office/drawing/2014/main" id="{0FDC6838-514C-06D6-F8CC-77F48568FC4A}"/>
                </a:ext>
              </a:extLst>
            </p:cNvPr>
            <p:cNvSpPr>
              <a:spLocks noChangeArrowheads="1"/>
            </p:cNvSpPr>
            <p:nvPr/>
          </p:nvSpPr>
          <p:spPr bwMode="auto">
            <a:xfrm>
              <a:off x="5086425" y="5511801"/>
              <a:ext cx="3736975" cy="366712"/>
            </a:xfrm>
            <a:prstGeom prst="ellipse">
              <a:avLst/>
            </a:prstGeom>
            <a:solidFill>
              <a:schemeClr val="accent1"/>
            </a:solidFill>
            <a:ln w="12700" cap="sq">
              <a:solidFill>
                <a:srgbClr val="800000"/>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Do We Know </a:t>
              </a:r>
              <a:r>
                <a:rPr lang="en-US" altLang="en-US" sz="1100" u="sng" dirty="0">
                  <a:solidFill>
                    <a:schemeClr val="bg1"/>
                  </a:solidFill>
                  <a:latin typeface="+mn-lt"/>
                </a:rPr>
                <a:t>How</a:t>
              </a:r>
              <a:r>
                <a:rPr lang="en-US" altLang="en-US" sz="1100" dirty="0">
                  <a:solidFill>
                    <a:schemeClr val="bg1"/>
                  </a:solidFill>
                  <a:latin typeface="+mn-lt"/>
                </a:rPr>
                <a:t> To Match Supply &amp; Demand?</a:t>
              </a:r>
            </a:p>
          </p:txBody>
        </p:sp>
      </p:grpSp>
    </p:spTree>
    <p:extLst>
      <p:ext uri="{BB962C8B-B14F-4D97-AF65-F5344CB8AC3E}">
        <p14:creationId xmlns:p14="http://schemas.microsoft.com/office/powerpoint/2010/main" val="2988504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Sample Completed S&amp;OP Spreadsheet:  </a:t>
            </a:r>
            <a:br>
              <a:rPr lang="en-US" sz="3600" dirty="0"/>
            </a:br>
            <a:r>
              <a:rPr lang="en-US" sz="3600" dirty="0"/>
              <a:t>MTO Environment</a:t>
            </a:r>
          </a:p>
        </p:txBody>
      </p:sp>
      <p:sp>
        <p:nvSpPr>
          <p:cNvPr id="3" name="Rectangle 4">
            <a:extLst>
              <a:ext uri="{FF2B5EF4-FFF2-40B4-BE49-F238E27FC236}">
                <a16:creationId xmlns:a16="http://schemas.microsoft.com/office/drawing/2014/main" id="{AD1A291E-2D44-7DEA-4AE5-33CA06BF3650}"/>
              </a:ext>
            </a:extLst>
          </p:cNvPr>
          <p:cNvSpPr>
            <a:spLocks noChangeArrowheads="1"/>
          </p:cNvSpPr>
          <p:nvPr/>
        </p:nvSpPr>
        <p:spPr bwMode="auto">
          <a:xfrm>
            <a:off x="9286596" y="3182147"/>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For pilots in a make-to-order (MTO) environment, team members must remember that S&amp;OP processes are geared towards bookings and backlog management as MTO operations do not maintain inventory.</a:t>
            </a:r>
          </a:p>
        </p:txBody>
      </p:sp>
      <p:graphicFrame>
        <p:nvGraphicFramePr>
          <p:cNvPr id="5" name="Object 2">
            <a:extLst>
              <a:ext uri="{FF2B5EF4-FFF2-40B4-BE49-F238E27FC236}">
                <a16:creationId xmlns:a16="http://schemas.microsoft.com/office/drawing/2014/main" id="{24C814D8-65A0-0463-B213-1CC588FC9106}"/>
              </a:ext>
            </a:extLst>
          </p:cNvPr>
          <p:cNvGraphicFramePr>
            <a:graphicFrameLocks noChangeAspect="1"/>
          </p:cNvGraphicFramePr>
          <p:nvPr>
            <p:extLst>
              <p:ext uri="{D42A27DB-BD31-4B8C-83A1-F6EECF244321}">
                <p14:modId xmlns:p14="http://schemas.microsoft.com/office/powerpoint/2010/main" val="2093070566"/>
              </p:ext>
            </p:extLst>
          </p:nvPr>
        </p:nvGraphicFramePr>
        <p:xfrm>
          <a:off x="155575" y="1804988"/>
          <a:ext cx="8442325" cy="4374738"/>
        </p:xfrm>
        <a:graphic>
          <a:graphicData uri="http://schemas.openxmlformats.org/presentationml/2006/ole">
            <mc:AlternateContent xmlns:mc="http://schemas.openxmlformats.org/markup-compatibility/2006">
              <mc:Choice xmlns:v="urn:schemas-microsoft-com:vml" Requires="v">
                <p:oleObj name="Worksheet" r:id="rId3" imgW="12525304" imgH="7610582" progId="Excel.Sheet.8">
                  <p:embed/>
                </p:oleObj>
              </mc:Choice>
              <mc:Fallback>
                <p:oleObj name="Worksheet" r:id="rId3" imgW="12525304" imgH="7610582" progId="Excel.Sheet.8">
                  <p:embed/>
                  <p:pic>
                    <p:nvPicPr>
                      <p:cNvPr id="62467" name="Object 2">
                        <a:extLst>
                          <a:ext uri="{FF2B5EF4-FFF2-40B4-BE49-F238E27FC236}">
                            <a16:creationId xmlns:a16="http://schemas.microsoft.com/office/drawing/2014/main" id="{D0702C8B-7EA1-479C-832E-F7BA7D68F5AA}"/>
                          </a:ext>
                        </a:extLst>
                      </p:cNvPr>
                      <p:cNvPicPr>
                        <a:picLocks noChangeAspect="1" noChangeArrowheads="1"/>
                      </p:cNvPicPr>
                      <p:nvPr/>
                    </p:nvPicPr>
                    <p:blipFill>
                      <a:blip r:embed="rId4"/>
                      <a:srcRect/>
                      <a:stretch>
                        <a:fillRect/>
                      </a:stretch>
                    </p:blipFill>
                    <p:spPr bwMode="auto">
                      <a:xfrm>
                        <a:off x="155575" y="1804988"/>
                        <a:ext cx="8442325" cy="43747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745940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MTO Spreadsheet Creation:  </a:t>
            </a:r>
            <a:br>
              <a:rPr lang="en-US" sz="3600" dirty="0"/>
            </a:br>
            <a:r>
              <a:rPr lang="en-US" sz="3600" dirty="0"/>
              <a:t>Understanding Backlog Calculations</a:t>
            </a:r>
          </a:p>
        </p:txBody>
      </p:sp>
      <p:sp>
        <p:nvSpPr>
          <p:cNvPr id="3" name="Rectangle 4">
            <a:extLst>
              <a:ext uri="{FF2B5EF4-FFF2-40B4-BE49-F238E27FC236}">
                <a16:creationId xmlns:a16="http://schemas.microsoft.com/office/drawing/2014/main" id="{97481E37-AB76-5134-61A3-CD4C2C836E39}"/>
              </a:ext>
            </a:extLst>
          </p:cNvPr>
          <p:cNvSpPr>
            <a:spLocks noChangeArrowheads="1"/>
          </p:cNvSpPr>
          <p:nvPr/>
        </p:nvSpPr>
        <p:spPr bwMode="auto">
          <a:xfrm>
            <a:off x="9286596" y="3182147"/>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With MTO production operations, the S&amp;OP pilot team should carefully assess the desired backlog levels prior to launch to ensure that customer service requirements are not sidelined during the implementation process.</a:t>
            </a:r>
          </a:p>
        </p:txBody>
      </p:sp>
      <p:grpSp>
        <p:nvGrpSpPr>
          <p:cNvPr id="30" name="Group 29">
            <a:extLst>
              <a:ext uri="{FF2B5EF4-FFF2-40B4-BE49-F238E27FC236}">
                <a16:creationId xmlns:a16="http://schemas.microsoft.com/office/drawing/2014/main" id="{4DF2C76D-D727-5031-4FF0-8E37048EA925}"/>
              </a:ext>
            </a:extLst>
          </p:cNvPr>
          <p:cNvGrpSpPr/>
          <p:nvPr/>
        </p:nvGrpSpPr>
        <p:grpSpPr>
          <a:xfrm>
            <a:off x="268288" y="1852615"/>
            <a:ext cx="8926512" cy="4226564"/>
            <a:chOff x="268288" y="1852615"/>
            <a:chExt cx="8743950" cy="3660231"/>
          </a:xfrm>
        </p:grpSpPr>
        <p:sp>
          <p:nvSpPr>
            <p:cNvPr id="13" name="Rectangle 3">
              <a:extLst>
                <a:ext uri="{FF2B5EF4-FFF2-40B4-BE49-F238E27FC236}">
                  <a16:creationId xmlns:a16="http://schemas.microsoft.com/office/drawing/2014/main" id="{28E37494-88FA-E4F1-B620-CD2C2C4356D9}"/>
                </a:ext>
              </a:extLst>
            </p:cNvPr>
            <p:cNvSpPr>
              <a:spLocks noChangeArrowheads="1"/>
            </p:cNvSpPr>
            <p:nvPr/>
          </p:nvSpPr>
          <p:spPr bwMode="auto">
            <a:xfrm>
              <a:off x="450850" y="1985965"/>
              <a:ext cx="4367213" cy="2392363"/>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4" name="Text Box 4">
              <a:extLst>
                <a:ext uri="{FF2B5EF4-FFF2-40B4-BE49-F238E27FC236}">
                  <a16:creationId xmlns:a16="http://schemas.microsoft.com/office/drawing/2014/main" id="{D3676706-7F50-C718-93B1-58355E1ACBEB}"/>
                </a:ext>
              </a:extLst>
            </p:cNvPr>
            <p:cNvSpPr txBox="1">
              <a:spLocks noChangeArrowheads="1"/>
            </p:cNvSpPr>
            <p:nvPr/>
          </p:nvSpPr>
          <p:spPr bwMode="auto">
            <a:xfrm>
              <a:off x="784191" y="1852615"/>
              <a:ext cx="2330519" cy="2307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MTO Spreadsheet Example</a:t>
              </a:r>
            </a:p>
          </p:txBody>
        </p:sp>
        <p:sp>
          <p:nvSpPr>
            <p:cNvPr id="15" name="Rectangle 5">
              <a:extLst>
                <a:ext uri="{FF2B5EF4-FFF2-40B4-BE49-F238E27FC236}">
                  <a16:creationId xmlns:a16="http://schemas.microsoft.com/office/drawing/2014/main" id="{3B74E2C2-A80D-4FF0-3577-B76E33CFCAA5}"/>
                </a:ext>
              </a:extLst>
            </p:cNvPr>
            <p:cNvSpPr>
              <a:spLocks noChangeArrowheads="1"/>
            </p:cNvSpPr>
            <p:nvPr/>
          </p:nvSpPr>
          <p:spPr bwMode="auto">
            <a:xfrm>
              <a:off x="5392738" y="1987553"/>
              <a:ext cx="3476625" cy="1309687"/>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7" name="Text Box 6">
              <a:extLst>
                <a:ext uri="{FF2B5EF4-FFF2-40B4-BE49-F238E27FC236}">
                  <a16:creationId xmlns:a16="http://schemas.microsoft.com/office/drawing/2014/main" id="{4FB4E4CE-F928-E127-7B99-B1E46CD22196}"/>
                </a:ext>
              </a:extLst>
            </p:cNvPr>
            <p:cNvSpPr txBox="1">
              <a:spLocks noChangeArrowheads="1"/>
            </p:cNvSpPr>
            <p:nvPr/>
          </p:nvSpPr>
          <p:spPr bwMode="auto">
            <a:xfrm>
              <a:off x="5715442" y="1857378"/>
              <a:ext cx="2561342" cy="2307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Projected Backlog Calculation</a:t>
              </a:r>
            </a:p>
          </p:txBody>
        </p:sp>
        <p:sp>
          <p:nvSpPr>
            <p:cNvPr id="18" name="Rectangle 7">
              <a:extLst>
                <a:ext uri="{FF2B5EF4-FFF2-40B4-BE49-F238E27FC236}">
                  <a16:creationId xmlns:a16="http://schemas.microsoft.com/office/drawing/2014/main" id="{3C088E2F-D945-55B9-EB11-545EEF45AA62}"/>
                </a:ext>
              </a:extLst>
            </p:cNvPr>
            <p:cNvSpPr>
              <a:spLocks noChangeArrowheads="1"/>
            </p:cNvSpPr>
            <p:nvPr/>
          </p:nvSpPr>
          <p:spPr bwMode="auto">
            <a:xfrm>
              <a:off x="5395913" y="3797303"/>
              <a:ext cx="3476625" cy="16954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9" name="Text Box 8">
              <a:extLst>
                <a:ext uri="{FF2B5EF4-FFF2-40B4-BE49-F238E27FC236}">
                  <a16:creationId xmlns:a16="http://schemas.microsoft.com/office/drawing/2014/main" id="{E0CB2AC9-E3E7-D4EA-8C1C-476C50DFA010}"/>
                </a:ext>
              </a:extLst>
            </p:cNvPr>
            <p:cNvSpPr txBox="1">
              <a:spLocks noChangeArrowheads="1"/>
            </p:cNvSpPr>
            <p:nvPr/>
          </p:nvSpPr>
          <p:spPr bwMode="auto">
            <a:xfrm>
              <a:off x="5701353" y="3667128"/>
              <a:ext cx="1587807" cy="2307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Weeks In Backlog</a:t>
              </a:r>
            </a:p>
          </p:txBody>
        </p:sp>
        <p:sp>
          <p:nvSpPr>
            <p:cNvPr id="20" name="Rectangle 9">
              <a:extLst>
                <a:ext uri="{FF2B5EF4-FFF2-40B4-BE49-F238E27FC236}">
                  <a16:creationId xmlns:a16="http://schemas.microsoft.com/office/drawing/2014/main" id="{C42EB5A9-478D-9F05-C7EA-D34EAD8B2579}"/>
                </a:ext>
              </a:extLst>
            </p:cNvPr>
            <p:cNvSpPr>
              <a:spLocks noChangeArrowheads="1"/>
            </p:cNvSpPr>
            <p:nvPr/>
          </p:nvSpPr>
          <p:spPr bwMode="auto">
            <a:xfrm>
              <a:off x="5403850" y="2105028"/>
              <a:ext cx="3608388"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200" dirty="0">
                  <a:latin typeface="+mn-lt"/>
                </a:rPr>
                <a:t>Last-month ending backlog</a:t>
              </a:r>
            </a:p>
            <a:p>
              <a:pPr eaLnBrk="1" hangingPunct="1">
                <a:spcBef>
                  <a:spcPct val="60000"/>
                </a:spcBef>
                <a:buClrTx/>
                <a:buSzPct val="90000"/>
                <a:buFont typeface="Arial" panose="020B0604020202020204" pitchFamily="34" charset="0"/>
                <a:buChar char="•"/>
              </a:pPr>
              <a:r>
                <a:rPr lang="en-US" altLang="en-US" sz="1200" dirty="0">
                  <a:latin typeface="+mn-lt"/>
                </a:rPr>
                <a:t>[Plus] This-month new booking forecast</a:t>
              </a:r>
            </a:p>
            <a:p>
              <a:pPr eaLnBrk="1" hangingPunct="1">
                <a:spcBef>
                  <a:spcPct val="60000"/>
                </a:spcBef>
                <a:buClrTx/>
                <a:buSzPct val="90000"/>
                <a:buFont typeface="Arial" panose="020B0604020202020204" pitchFamily="34" charset="0"/>
                <a:buChar char="•"/>
              </a:pPr>
              <a:r>
                <a:rPr lang="en-US" altLang="en-US" sz="1200" dirty="0">
                  <a:latin typeface="+mn-lt"/>
                </a:rPr>
                <a:t>[Minus] This-month new operations plan</a:t>
              </a:r>
            </a:p>
            <a:p>
              <a:pPr eaLnBrk="1" hangingPunct="1">
                <a:spcBef>
                  <a:spcPct val="60000"/>
                </a:spcBef>
                <a:buClrTx/>
                <a:buSzPct val="90000"/>
                <a:buFont typeface="Arial" panose="020B0604020202020204" pitchFamily="34" charset="0"/>
                <a:buChar char="•"/>
              </a:pPr>
              <a:r>
                <a:rPr lang="en-US" altLang="en-US" sz="1200" dirty="0">
                  <a:latin typeface="+mn-lt"/>
                </a:rPr>
                <a:t>[Equals] This-month ending backlog</a:t>
              </a:r>
            </a:p>
          </p:txBody>
        </p:sp>
        <p:sp>
          <p:nvSpPr>
            <p:cNvPr id="21" name="Rectangle 10">
              <a:extLst>
                <a:ext uri="{FF2B5EF4-FFF2-40B4-BE49-F238E27FC236}">
                  <a16:creationId xmlns:a16="http://schemas.microsoft.com/office/drawing/2014/main" id="{BEE4B6EC-EC2C-CAC3-681E-0EA45B400C28}"/>
                </a:ext>
              </a:extLst>
            </p:cNvPr>
            <p:cNvSpPr>
              <a:spLocks noChangeArrowheads="1"/>
            </p:cNvSpPr>
            <p:nvPr/>
          </p:nvSpPr>
          <p:spPr bwMode="auto">
            <a:xfrm>
              <a:off x="5403850" y="3949703"/>
              <a:ext cx="3608388"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200">
                  <a:latin typeface="+mn-lt"/>
                </a:rPr>
                <a:t>New production plan</a:t>
              </a:r>
            </a:p>
            <a:p>
              <a:pPr eaLnBrk="1" hangingPunct="1">
                <a:spcBef>
                  <a:spcPct val="60000"/>
                </a:spcBef>
                <a:buClrTx/>
                <a:buSzPct val="90000"/>
                <a:buFont typeface="Arial" panose="020B0604020202020204" pitchFamily="34" charset="0"/>
                <a:buChar char="•"/>
              </a:pPr>
              <a:r>
                <a:rPr lang="en-US" altLang="en-US" sz="1200">
                  <a:latin typeface="+mn-lt"/>
                </a:rPr>
                <a:t>[Divided by] 4 (No. weeks per month)</a:t>
              </a:r>
            </a:p>
            <a:p>
              <a:pPr eaLnBrk="1" hangingPunct="1">
                <a:spcBef>
                  <a:spcPct val="60000"/>
                </a:spcBef>
                <a:buClrTx/>
                <a:buSzPct val="90000"/>
                <a:buFont typeface="Arial" panose="020B0604020202020204" pitchFamily="34" charset="0"/>
                <a:buChar char="•"/>
              </a:pPr>
              <a:r>
                <a:rPr lang="en-US" altLang="en-US" sz="1200">
                  <a:latin typeface="+mn-lt"/>
                </a:rPr>
                <a:t>[Equals] Weekly plan</a:t>
              </a:r>
            </a:p>
            <a:p>
              <a:pPr eaLnBrk="1" hangingPunct="1">
                <a:spcBef>
                  <a:spcPct val="60000"/>
                </a:spcBef>
                <a:buClrTx/>
                <a:buSzPct val="90000"/>
                <a:buFont typeface="Arial" panose="020B0604020202020204" pitchFamily="34" charset="0"/>
                <a:buChar char="•"/>
              </a:pPr>
              <a:r>
                <a:rPr lang="en-US" altLang="en-US" sz="1200">
                  <a:latin typeface="+mn-lt"/>
                </a:rPr>
                <a:t>[Divided into] Ending backlog</a:t>
              </a:r>
            </a:p>
            <a:p>
              <a:pPr eaLnBrk="1" hangingPunct="1">
                <a:spcBef>
                  <a:spcPct val="60000"/>
                </a:spcBef>
                <a:buClrTx/>
                <a:buSzPct val="90000"/>
                <a:buFont typeface="Arial" panose="020B0604020202020204" pitchFamily="34" charset="0"/>
                <a:buChar char="•"/>
              </a:pPr>
              <a:r>
                <a:rPr lang="en-US" altLang="en-US" sz="1200">
                  <a:latin typeface="+mn-lt"/>
                </a:rPr>
                <a:t>[Equals] Backlog in No. weeks</a:t>
              </a:r>
            </a:p>
          </p:txBody>
        </p:sp>
        <p:cxnSp>
          <p:nvCxnSpPr>
            <p:cNvPr id="26" name="AutoShape 11">
              <a:extLst>
                <a:ext uri="{FF2B5EF4-FFF2-40B4-BE49-F238E27FC236}">
                  <a16:creationId xmlns:a16="http://schemas.microsoft.com/office/drawing/2014/main" id="{4192E639-6401-7FAA-7D9C-268F6399275F}"/>
                </a:ext>
              </a:extLst>
            </p:cNvPr>
            <p:cNvCxnSpPr>
              <a:cxnSpLocks noChangeShapeType="1"/>
              <a:stCxn id="13" idx="3"/>
              <a:endCxn id="20" idx="1"/>
            </p:cNvCxnSpPr>
            <p:nvPr/>
          </p:nvCxnSpPr>
          <p:spPr bwMode="auto">
            <a:xfrm flipV="1">
              <a:off x="4827588" y="2708278"/>
              <a:ext cx="576262" cy="474662"/>
            </a:xfrm>
            <a:prstGeom prst="bentConnector3">
              <a:avLst>
                <a:gd name="adj1" fmla="val 4903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7" name="AutoShape 12">
              <a:extLst>
                <a:ext uri="{FF2B5EF4-FFF2-40B4-BE49-F238E27FC236}">
                  <a16:creationId xmlns:a16="http://schemas.microsoft.com/office/drawing/2014/main" id="{F9F913A5-3124-F673-6919-5BDFBC7344A5}"/>
                </a:ext>
              </a:extLst>
            </p:cNvPr>
            <p:cNvCxnSpPr>
              <a:cxnSpLocks noChangeShapeType="1"/>
              <a:stCxn id="13" idx="3"/>
              <a:endCxn id="21" idx="1"/>
            </p:cNvCxnSpPr>
            <p:nvPr/>
          </p:nvCxnSpPr>
          <p:spPr bwMode="auto">
            <a:xfrm>
              <a:off x="4827588" y="3182940"/>
              <a:ext cx="576262" cy="1370013"/>
            </a:xfrm>
            <a:prstGeom prst="bentConnector3">
              <a:avLst>
                <a:gd name="adj1" fmla="val 4903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8" name="AutoShape 13">
              <a:extLst>
                <a:ext uri="{FF2B5EF4-FFF2-40B4-BE49-F238E27FC236}">
                  <a16:creationId xmlns:a16="http://schemas.microsoft.com/office/drawing/2014/main" id="{CD26275B-BA13-5EB4-C8A1-8DD6B95C7A8B}"/>
                </a:ext>
              </a:extLst>
            </p:cNvPr>
            <p:cNvSpPr>
              <a:spLocks/>
            </p:cNvSpPr>
            <p:nvPr/>
          </p:nvSpPr>
          <p:spPr bwMode="auto">
            <a:xfrm rot="5400000">
              <a:off x="2382838" y="2513015"/>
              <a:ext cx="496887" cy="4360863"/>
            </a:xfrm>
            <a:prstGeom prst="rightBrace">
              <a:avLst>
                <a:gd name="adj1" fmla="val 73136"/>
                <a:gd name="adj2" fmla="val 50000"/>
              </a:avLst>
            </a:prstGeom>
            <a:noFill/>
            <a:ln w="1905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9" name="Text Box 14">
              <a:extLst>
                <a:ext uri="{FF2B5EF4-FFF2-40B4-BE49-F238E27FC236}">
                  <a16:creationId xmlns:a16="http://schemas.microsoft.com/office/drawing/2014/main" id="{ACBCD4E1-14E4-4DCF-2856-B3B0D43B6330}"/>
                </a:ext>
              </a:extLst>
            </p:cNvPr>
            <p:cNvSpPr txBox="1">
              <a:spLocks noChangeArrowheads="1"/>
            </p:cNvSpPr>
            <p:nvPr/>
          </p:nvSpPr>
          <p:spPr bwMode="auto">
            <a:xfrm>
              <a:off x="268288" y="4937128"/>
              <a:ext cx="4679950" cy="57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buClrTx/>
                <a:buSzTx/>
                <a:buFontTx/>
                <a:buNone/>
              </a:pPr>
              <a:r>
                <a:rPr lang="en-US" altLang="en-US" sz="1200" i="1">
                  <a:latin typeface="+mn-lt"/>
                </a:rPr>
                <a:t>No inventory management – Only Backlog management</a:t>
              </a:r>
            </a:p>
            <a:p>
              <a:pPr algn="ctr">
                <a:lnSpc>
                  <a:spcPct val="90000"/>
                </a:lnSpc>
                <a:buClrTx/>
                <a:buSzTx/>
                <a:buFontTx/>
                <a:buNone/>
              </a:pPr>
              <a:r>
                <a:rPr lang="en-US" altLang="en-US" sz="1200" i="1">
                  <a:latin typeface="+mn-lt"/>
                </a:rPr>
                <a:t>What is the desired backlog?  No. Days?  Weeks?</a:t>
              </a:r>
            </a:p>
            <a:p>
              <a:pPr algn="ctr">
                <a:lnSpc>
                  <a:spcPct val="90000"/>
                </a:lnSpc>
                <a:buClrTx/>
                <a:buSzTx/>
                <a:buFontTx/>
                <a:buNone/>
              </a:pPr>
              <a:endParaRPr lang="en-US" altLang="en-US" sz="1200" i="1">
                <a:latin typeface="+mn-lt"/>
              </a:endParaRPr>
            </a:p>
          </p:txBody>
        </p:sp>
      </p:grpSp>
      <p:graphicFrame>
        <p:nvGraphicFramePr>
          <p:cNvPr id="33" name="Object 2">
            <a:extLst>
              <a:ext uri="{FF2B5EF4-FFF2-40B4-BE49-F238E27FC236}">
                <a16:creationId xmlns:a16="http://schemas.microsoft.com/office/drawing/2014/main" id="{09A61365-0C1B-2D79-4A41-3A0BAF03E0C2}"/>
              </a:ext>
            </a:extLst>
          </p:cNvPr>
          <p:cNvGraphicFramePr>
            <a:graphicFrameLocks noChangeAspect="1"/>
          </p:cNvGraphicFramePr>
          <p:nvPr>
            <p:extLst>
              <p:ext uri="{D42A27DB-BD31-4B8C-83A1-F6EECF244321}">
                <p14:modId xmlns:p14="http://schemas.microsoft.com/office/powerpoint/2010/main" val="2961029821"/>
              </p:ext>
            </p:extLst>
          </p:nvPr>
        </p:nvGraphicFramePr>
        <p:xfrm>
          <a:off x="567729" y="2196089"/>
          <a:ext cx="4209194" cy="2452111"/>
        </p:xfrm>
        <a:graphic>
          <a:graphicData uri="http://schemas.openxmlformats.org/presentationml/2006/ole">
            <mc:AlternateContent xmlns:mc="http://schemas.openxmlformats.org/markup-compatibility/2006">
              <mc:Choice xmlns:v="urn:schemas-microsoft-com:vml" Requires="v">
                <p:oleObj name="Worksheet" r:id="rId3" imgW="12525304" imgH="7610582" progId="Excel.Sheet.8">
                  <p:embed/>
                </p:oleObj>
              </mc:Choice>
              <mc:Fallback>
                <p:oleObj name="Worksheet" r:id="rId3" imgW="12525304" imgH="7610582" progId="Excel.Sheet.8">
                  <p:embed/>
                  <p:pic>
                    <p:nvPicPr>
                      <p:cNvPr id="5" name="Object 2">
                        <a:extLst>
                          <a:ext uri="{FF2B5EF4-FFF2-40B4-BE49-F238E27FC236}">
                            <a16:creationId xmlns:a16="http://schemas.microsoft.com/office/drawing/2014/main" id="{24C814D8-65A0-0463-B213-1CC588FC9106}"/>
                          </a:ext>
                        </a:extLst>
                      </p:cNvPr>
                      <p:cNvPicPr>
                        <a:picLocks noChangeAspect="1" noChangeArrowheads="1"/>
                      </p:cNvPicPr>
                      <p:nvPr/>
                    </p:nvPicPr>
                    <p:blipFill>
                      <a:blip r:embed="rId4"/>
                      <a:srcRect/>
                      <a:stretch>
                        <a:fillRect/>
                      </a:stretch>
                    </p:blipFill>
                    <p:spPr bwMode="auto">
                      <a:xfrm>
                        <a:off x="567729" y="2196089"/>
                        <a:ext cx="4209194" cy="245211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090391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MTO Spreadsheet Creation:  </a:t>
            </a:r>
            <a:br>
              <a:rPr lang="en-US" sz="3600" dirty="0"/>
            </a:br>
            <a:r>
              <a:rPr lang="en-US" sz="3600" dirty="0"/>
              <a:t>Milestone Development Checklist</a:t>
            </a:r>
          </a:p>
        </p:txBody>
      </p:sp>
      <p:sp>
        <p:nvSpPr>
          <p:cNvPr id="3" name="Rectangle 4">
            <a:extLst>
              <a:ext uri="{FF2B5EF4-FFF2-40B4-BE49-F238E27FC236}">
                <a16:creationId xmlns:a16="http://schemas.microsoft.com/office/drawing/2014/main" id="{97481E37-AB76-5134-61A3-CD4C2C836E39}"/>
              </a:ext>
            </a:extLst>
          </p:cNvPr>
          <p:cNvSpPr>
            <a:spLocks noChangeArrowheads="1"/>
          </p:cNvSpPr>
          <p:nvPr/>
        </p:nvSpPr>
        <p:spPr bwMode="auto">
          <a:xfrm>
            <a:off x="9286596" y="3182147"/>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By following a simple, comprehensive checklist, pilot team members can be sure to include all vital components of the S&amp;OP spreadsheet along with the data collection feeds required to populate the document every month.</a:t>
            </a:r>
          </a:p>
        </p:txBody>
      </p:sp>
      <p:grpSp>
        <p:nvGrpSpPr>
          <p:cNvPr id="23" name="Group 22">
            <a:extLst>
              <a:ext uri="{FF2B5EF4-FFF2-40B4-BE49-F238E27FC236}">
                <a16:creationId xmlns:a16="http://schemas.microsoft.com/office/drawing/2014/main" id="{204A24A9-F4BC-06FF-80B5-4E30E307C63B}"/>
              </a:ext>
            </a:extLst>
          </p:cNvPr>
          <p:cNvGrpSpPr/>
          <p:nvPr/>
        </p:nvGrpSpPr>
        <p:grpSpPr>
          <a:xfrm>
            <a:off x="668338" y="1789113"/>
            <a:ext cx="8618258" cy="4292600"/>
            <a:chOff x="668338" y="2132013"/>
            <a:chExt cx="8156575" cy="4292600"/>
          </a:xfrm>
        </p:grpSpPr>
        <p:sp>
          <p:nvSpPr>
            <p:cNvPr id="6" name="Rectangle 4">
              <a:extLst>
                <a:ext uri="{FF2B5EF4-FFF2-40B4-BE49-F238E27FC236}">
                  <a16:creationId xmlns:a16="http://schemas.microsoft.com/office/drawing/2014/main" id="{ADE00428-15DE-DD33-5075-DBF9F1CC5AAE}"/>
                </a:ext>
              </a:extLst>
            </p:cNvPr>
            <p:cNvSpPr>
              <a:spLocks noChangeArrowheads="1"/>
            </p:cNvSpPr>
            <p:nvPr/>
          </p:nvSpPr>
          <p:spPr bwMode="auto">
            <a:xfrm>
              <a:off x="4921250" y="2454275"/>
              <a:ext cx="38608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200" dirty="0">
                  <a:latin typeface="+mn-lt"/>
                </a:rPr>
                <a:t>Confirm order fulfillment strategy</a:t>
              </a:r>
            </a:p>
            <a:p>
              <a:pPr eaLnBrk="1" hangingPunct="1">
                <a:spcBef>
                  <a:spcPct val="60000"/>
                </a:spcBef>
                <a:buClrTx/>
                <a:buSzPct val="90000"/>
                <a:buFont typeface="Arial" panose="020B0604020202020204" pitchFamily="34" charset="0"/>
                <a:buChar char="•"/>
              </a:pPr>
              <a:r>
                <a:rPr lang="en-US" altLang="en-US" sz="1200" dirty="0">
                  <a:latin typeface="+mn-lt"/>
                </a:rPr>
                <a:t>Develop customer service targets</a:t>
              </a:r>
            </a:p>
            <a:p>
              <a:pPr eaLnBrk="1" hangingPunct="1">
                <a:spcBef>
                  <a:spcPct val="60000"/>
                </a:spcBef>
                <a:buClrTx/>
                <a:buSzPct val="90000"/>
                <a:buFont typeface="Arial" panose="020B0604020202020204" pitchFamily="34" charset="0"/>
                <a:buChar char="•"/>
              </a:pPr>
              <a:r>
                <a:rPr lang="en-US" altLang="en-US" sz="1200" dirty="0">
                  <a:latin typeface="+mn-lt"/>
                </a:rPr>
                <a:t>Unit of measure (UOM) confirmation</a:t>
              </a:r>
            </a:p>
            <a:p>
              <a:pPr eaLnBrk="1" hangingPunct="1">
                <a:spcBef>
                  <a:spcPct val="60000"/>
                </a:spcBef>
                <a:buClrTx/>
                <a:buSzPct val="90000"/>
                <a:buFont typeface="Arial" panose="020B0604020202020204" pitchFamily="34" charset="0"/>
                <a:buChar char="•"/>
              </a:pPr>
              <a:r>
                <a:rPr lang="en-US" altLang="en-US" sz="1200" dirty="0">
                  <a:latin typeface="+mn-lt"/>
                </a:rPr>
                <a:t>Inventory targets to support customer service needs</a:t>
              </a:r>
            </a:p>
            <a:p>
              <a:pPr eaLnBrk="1" hangingPunct="1">
                <a:spcBef>
                  <a:spcPct val="60000"/>
                </a:spcBef>
                <a:buClrTx/>
                <a:buSzPct val="90000"/>
                <a:buFont typeface="Arial" panose="020B0604020202020204" pitchFamily="34" charset="0"/>
                <a:buChar char="•"/>
              </a:pPr>
              <a:r>
                <a:rPr lang="en-US" altLang="en-US" sz="1200" dirty="0">
                  <a:latin typeface="+mn-lt"/>
                </a:rPr>
                <a:t>Sales actuals and consensus forecast data</a:t>
              </a:r>
            </a:p>
            <a:p>
              <a:pPr eaLnBrk="1" hangingPunct="1">
                <a:spcBef>
                  <a:spcPct val="60000"/>
                </a:spcBef>
                <a:buClrTx/>
                <a:buSzPct val="90000"/>
                <a:buFont typeface="Arial" panose="020B0604020202020204" pitchFamily="34" charset="0"/>
                <a:buChar char="•"/>
              </a:pPr>
              <a:r>
                <a:rPr lang="en-US" altLang="en-US" sz="1200" dirty="0">
                  <a:latin typeface="+mn-lt"/>
                </a:rPr>
                <a:t>Production/operations actuals and forward build plan</a:t>
              </a:r>
            </a:p>
            <a:p>
              <a:pPr eaLnBrk="1" hangingPunct="1">
                <a:spcBef>
                  <a:spcPct val="60000"/>
                </a:spcBef>
                <a:buClrTx/>
                <a:buSzPct val="90000"/>
                <a:buFont typeface="Arial" panose="020B0604020202020204" pitchFamily="34" charset="0"/>
                <a:buChar char="•"/>
              </a:pPr>
              <a:r>
                <a:rPr lang="en-US" altLang="en-US" sz="1200" dirty="0">
                  <a:latin typeface="+mn-lt"/>
                </a:rPr>
                <a:t>Inventory/Backlog actuals and forward plan</a:t>
              </a:r>
            </a:p>
            <a:p>
              <a:pPr eaLnBrk="1" hangingPunct="1">
                <a:spcBef>
                  <a:spcPct val="60000"/>
                </a:spcBef>
                <a:buClrTx/>
                <a:buSzPct val="90000"/>
                <a:buFont typeface="Arial" panose="020B0604020202020204" pitchFamily="34" charset="0"/>
                <a:buChar char="•"/>
              </a:pPr>
              <a:r>
                <a:rPr lang="en-US" altLang="en-US" sz="1200" dirty="0">
                  <a:latin typeface="+mn-lt"/>
                </a:rPr>
                <a:t>Customer service level actual performance</a:t>
              </a:r>
            </a:p>
            <a:p>
              <a:pPr eaLnBrk="1" hangingPunct="1">
                <a:spcBef>
                  <a:spcPct val="60000"/>
                </a:spcBef>
                <a:buClrTx/>
                <a:buSzPct val="90000"/>
                <a:buFont typeface="Arial" panose="020B0604020202020204" pitchFamily="34" charset="0"/>
                <a:buChar char="•"/>
              </a:pPr>
              <a:r>
                <a:rPr lang="en-US" altLang="en-US" sz="1200" dirty="0">
                  <a:latin typeface="+mn-lt"/>
                </a:rPr>
                <a:t>Business plan financials comparison</a:t>
              </a:r>
            </a:p>
            <a:p>
              <a:pPr eaLnBrk="1" hangingPunct="1">
                <a:spcBef>
                  <a:spcPct val="60000"/>
                </a:spcBef>
                <a:buClrTx/>
                <a:buSzPct val="90000"/>
                <a:buFont typeface="Arial" panose="020B0604020202020204" pitchFamily="34" charset="0"/>
                <a:buChar char="•"/>
              </a:pPr>
              <a:r>
                <a:rPr lang="en-US" altLang="en-US" sz="1200" dirty="0">
                  <a:latin typeface="+mn-lt"/>
                </a:rPr>
                <a:t>Demand &amp; supply match assumptions and critical issues</a:t>
              </a:r>
            </a:p>
          </p:txBody>
        </p:sp>
        <p:sp>
          <p:nvSpPr>
            <p:cNvPr id="7" name="Rectangle 5">
              <a:extLst>
                <a:ext uri="{FF2B5EF4-FFF2-40B4-BE49-F238E27FC236}">
                  <a16:creationId xmlns:a16="http://schemas.microsoft.com/office/drawing/2014/main" id="{95AF15E3-DF67-F039-2933-3ADBE535195F}"/>
                </a:ext>
              </a:extLst>
            </p:cNvPr>
            <p:cNvSpPr>
              <a:spLocks noChangeArrowheads="1"/>
            </p:cNvSpPr>
            <p:nvPr/>
          </p:nvSpPr>
          <p:spPr bwMode="auto">
            <a:xfrm>
              <a:off x="4902200" y="2262188"/>
              <a:ext cx="3922713" cy="370205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Text Box 6">
              <a:extLst>
                <a:ext uri="{FF2B5EF4-FFF2-40B4-BE49-F238E27FC236}">
                  <a16:creationId xmlns:a16="http://schemas.microsoft.com/office/drawing/2014/main" id="{8C325284-5569-6209-A631-0975B11E0E1F}"/>
                </a:ext>
              </a:extLst>
            </p:cNvPr>
            <p:cNvSpPr txBox="1">
              <a:spLocks noChangeArrowheads="1"/>
            </p:cNvSpPr>
            <p:nvPr/>
          </p:nvSpPr>
          <p:spPr bwMode="auto">
            <a:xfrm>
              <a:off x="5228052" y="2139950"/>
              <a:ext cx="2015295"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Development Checklist</a:t>
              </a:r>
            </a:p>
          </p:txBody>
        </p:sp>
        <p:sp>
          <p:nvSpPr>
            <p:cNvPr id="9" name="Rectangle 7">
              <a:extLst>
                <a:ext uri="{FF2B5EF4-FFF2-40B4-BE49-F238E27FC236}">
                  <a16:creationId xmlns:a16="http://schemas.microsoft.com/office/drawing/2014/main" id="{DD9E7173-CC78-8FF6-5B05-9FCA81C82EE1}"/>
                </a:ext>
              </a:extLst>
            </p:cNvPr>
            <p:cNvSpPr>
              <a:spLocks noChangeArrowheads="1"/>
            </p:cNvSpPr>
            <p:nvPr/>
          </p:nvSpPr>
          <p:spPr bwMode="auto">
            <a:xfrm>
              <a:off x="668338" y="2266950"/>
              <a:ext cx="3695700" cy="195103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0" name="Text Box 8">
              <a:extLst>
                <a:ext uri="{FF2B5EF4-FFF2-40B4-BE49-F238E27FC236}">
                  <a16:creationId xmlns:a16="http://schemas.microsoft.com/office/drawing/2014/main" id="{ACCE4150-0EBF-025F-3C6E-FF92A61D2B5F}"/>
                </a:ext>
              </a:extLst>
            </p:cNvPr>
            <p:cNvSpPr txBox="1">
              <a:spLocks noChangeArrowheads="1"/>
            </p:cNvSpPr>
            <p:nvPr/>
          </p:nvSpPr>
          <p:spPr bwMode="auto">
            <a:xfrm>
              <a:off x="971583" y="2132013"/>
              <a:ext cx="1601721"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MTS Spreadsheet</a:t>
              </a:r>
            </a:p>
          </p:txBody>
        </p:sp>
        <p:sp>
          <p:nvSpPr>
            <p:cNvPr id="11" name="Rectangle 9">
              <a:extLst>
                <a:ext uri="{FF2B5EF4-FFF2-40B4-BE49-F238E27FC236}">
                  <a16:creationId xmlns:a16="http://schemas.microsoft.com/office/drawing/2014/main" id="{A308725F-2190-66C1-5EFF-582B7B5ADC45}"/>
                </a:ext>
              </a:extLst>
            </p:cNvPr>
            <p:cNvSpPr>
              <a:spLocks noChangeArrowheads="1"/>
            </p:cNvSpPr>
            <p:nvPr/>
          </p:nvSpPr>
          <p:spPr bwMode="auto">
            <a:xfrm>
              <a:off x="673100" y="4479925"/>
              <a:ext cx="3695700" cy="194468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2" name="Text Box 10">
              <a:extLst>
                <a:ext uri="{FF2B5EF4-FFF2-40B4-BE49-F238E27FC236}">
                  <a16:creationId xmlns:a16="http://schemas.microsoft.com/office/drawing/2014/main" id="{A52F67D7-7561-2E0B-AA63-1DEF70B18068}"/>
                </a:ext>
              </a:extLst>
            </p:cNvPr>
            <p:cNvSpPr txBox="1">
              <a:spLocks noChangeArrowheads="1"/>
            </p:cNvSpPr>
            <p:nvPr/>
          </p:nvSpPr>
          <p:spPr bwMode="auto">
            <a:xfrm>
              <a:off x="997938" y="4337050"/>
              <a:ext cx="1555362"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MTO Spreadsheet</a:t>
              </a:r>
            </a:p>
          </p:txBody>
        </p:sp>
        <p:cxnSp>
          <p:nvCxnSpPr>
            <p:cNvPr id="16" name="AutoShape 11">
              <a:extLst>
                <a:ext uri="{FF2B5EF4-FFF2-40B4-BE49-F238E27FC236}">
                  <a16:creationId xmlns:a16="http://schemas.microsoft.com/office/drawing/2014/main" id="{593330C0-E72E-6CB7-0B62-3B2FE5E7E6E2}"/>
                </a:ext>
              </a:extLst>
            </p:cNvPr>
            <p:cNvCxnSpPr>
              <a:cxnSpLocks noChangeShapeType="1"/>
              <a:stCxn id="9" idx="3"/>
              <a:endCxn id="7" idx="1"/>
            </p:cNvCxnSpPr>
            <p:nvPr/>
          </p:nvCxnSpPr>
          <p:spPr bwMode="auto">
            <a:xfrm>
              <a:off x="4373563" y="3243263"/>
              <a:ext cx="519112" cy="869950"/>
            </a:xfrm>
            <a:prstGeom prst="bentConnector3">
              <a:avLst>
                <a:gd name="adj1" fmla="val 49847"/>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2" name="AutoShape 12">
              <a:extLst>
                <a:ext uri="{FF2B5EF4-FFF2-40B4-BE49-F238E27FC236}">
                  <a16:creationId xmlns:a16="http://schemas.microsoft.com/office/drawing/2014/main" id="{15F2797A-9E80-718A-EA02-D14F1BC2D823}"/>
                </a:ext>
              </a:extLst>
            </p:cNvPr>
            <p:cNvCxnSpPr>
              <a:cxnSpLocks noChangeShapeType="1"/>
              <a:stCxn id="11" idx="3"/>
              <a:endCxn id="7" idx="1"/>
            </p:cNvCxnSpPr>
            <p:nvPr/>
          </p:nvCxnSpPr>
          <p:spPr bwMode="auto">
            <a:xfrm flipV="1">
              <a:off x="4378325" y="4113213"/>
              <a:ext cx="514350" cy="1339850"/>
            </a:xfrm>
            <a:prstGeom prst="bentConnector3">
              <a:avLst>
                <a:gd name="adj1" fmla="val 50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graphicFrame>
        <p:nvGraphicFramePr>
          <p:cNvPr id="24" name="Object 2">
            <a:extLst>
              <a:ext uri="{FF2B5EF4-FFF2-40B4-BE49-F238E27FC236}">
                <a16:creationId xmlns:a16="http://schemas.microsoft.com/office/drawing/2014/main" id="{2AFF0055-F995-2CF3-0979-CC4CE88374AA}"/>
              </a:ext>
            </a:extLst>
          </p:cNvPr>
          <p:cNvGraphicFramePr>
            <a:graphicFrameLocks noChangeAspect="1"/>
          </p:cNvGraphicFramePr>
          <p:nvPr>
            <p:extLst>
              <p:ext uri="{D42A27DB-BD31-4B8C-83A1-F6EECF244321}">
                <p14:modId xmlns:p14="http://schemas.microsoft.com/office/powerpoint/2010/main" val="1792369432"/>
              </p:ext>
            </p:extLst>
          </p:nvPr>
        </p:nvGraphicFramePr>
        <p:xfrm>
          <a:off x="737109" y="4241800"/>
          <a:ext cx="3747215" cy="1727200"/>
        </p:xfrm>
        <a:graphic>
          <a:graphicData uri="http://schemas.openxmlformats.org/presentationml/2006/ole">
            <mc:AlternateContent xmlns:mc="http://schemas.openxmlformats.org/markup-compatibility/2006">
              <mc:Choice xmlns:v="urn:schemas-microsoft-com:vml" Requires="v">
                <p:oleObj name="Worksheet" r:id="rId3" imgW="12525304" imgH="7610582" progId="Excel.Sheet.8">
                  <p:embed/>
                </p:oleObj>
              </mc:Choice>
              <mc:Fallback>
                <p:oleObj name="Worksheet" r:id="rId3" imgW="12525304" imgH="7610582" progId="Excel.Sheet.8">
                  <p:embed/>
                  <p:pic>
                    <p:nvPicPr>
                      <p:cNvPr id="5" name="Object 2">
                        <a:extLst>
                          <a:ext uri="{FF2B5EF4-FFF2-40B4-BE49-F238E27FC236}">
                            <a16:creationId xmlns:a16="http://schemas.microsoft.com/office/drawing/2014/main" id="{24C814D8-65A0-0463-B213-1CC588FC9106}"/>
                          </a:ext>
                        </a:extLst>
                      </p:cNvPr>
                      <p:cNvPicPr>
                        <a:picLocks noChangeAspect="1" noChangeArrowheads="1"/>
                      </p:cNvPicPr>
                      <p:nvPr/>
                    </p:nvPicPr>
                    <p:blipFill>
                      <a:blip r:embed="rId4"/>
                      <a:srcRect/>
                      <a:stretch>
                        <a:fillRect/>
                      </a:stretch>
                    </p:blipFill>
                    <p:spPr bwMode="auto">
                      <a:xfrm>
                        <a:off x="737109" y="4241800"/>
                        <a:ext cx="3747215" cy="1727200"/>
                      </a:xfrm>
                      <a:prstGeom prst="rect">
                        <a:avLst/>
                      </a:prstGeom>
                      <a:noFill/>
                      <a:ln>
                        <a:noFill/>
                      </a:ln>
                      <a:effectLst/>
                    </p:spPr>
                  </p:pic>
                </p:oleObj>
              </mc:Fallback>
            </mc:AlternateContent>
          </a:graphicData>
        </a:graphic>
      </p:graphicFrame>
      <p:graphicFrame>
        <p:nvGraphicFramePr>
          <p:cNvPr id="25" name="Object 2">
            <a:extLst>
              <a:ext uri="{FF2B5EF4-FFF2-40B4-BE49-F238E27FC236}">
                <a16:creationId xmlns:a16="http://schemas.microsoft.com/office/drawing/2014/main" id="{9E44A862-4ADA-5C80-3D1C-7132AB9DF53A}"/>
              </a:ext>
            </a:extLst>
          </p:cNvPr>
          <p:cNvGraphicFramePr>
            <a:graphicFrameLocks noChangeAspect="1"/>
          </p:cNvGraphicFramePr>
          <p:nvPr>
            <p:extLst>
              <p:ext uri="{D42A27DB-BD31-4B8C-83A1-F6EECF244321}">
                <p14:modId xmlns:p14="http://schemas.microsoft.com/office/powerpoint/2010/main" val="3074290278"/>
              </p:ext>
            </p:extLst>
          </p:nvPr>
        </p:nvGraphicFramePr>
        <p:xfrm>
          <a:off x="737109" y="2106396"/>
          <a:ext cx="3747215" cy="1663917"/>
        </p:xfrm>
        <a:graphic>
          <a:graphicData uri="http://schemas.openxmlformats.org/presentationml/2006/ole">
            <mc:AlternateContent xmlns:mc="http://schemas.openxmlformats.org/markup-compatibility/2006">
              <mc:Choice xmlns:v="urn:schemas-microsoft-com:vml" Requires="v">
                <p:oleObj name="Worksheet" r:id="rId5" imgW="12325178" imgH="7381822" progId="Excel.Sheet.8">
                  <p:embed/>
                </p:oleObj>
              </mc:Choice>
              <mc:Fallback>
                <p:oleObj name="Worksheet" r:id="rId5" imgW="12325178" imgH="7381822" progId="Excel.Sheet.8">
                  <p:embed/>
                  <p:pic>
                    <p:nvPicPr>
                      <p:cNvPr id="25" name="Object 2">
                        <a:extLst>
                          <a:ext uri="{FF2B5EF4-FFF2-40B4-BE49-F238E27FC236}">
                            <a16:creationId xmlns:a16="http://schemas.microsoft.com/office/drawing/2014/main" id="{F70B91F9-5DCC-8EC6-5298-6D65ACF84C30}"/>
                          </a:ext>
                        </a:extLst>
                      </p:cNvPr>
                      <p:cNvPicPr>
                        <a:picLocks noChangeAspect="1" noChangeArrowheads="1"/>
                      </p:cNvPicPr>
                      <p:nvPr/>
                    </p:nvPicPr>
                    <p:blipFill>
                      <a:blip r:embed="rId6"/>
                      <a:srcRect/>
                      <a:stretch>
                        <a:fillRect/>
                      </a:stretch>
                    </p:blipFill>
                    <p:spPr bwMode="auto">
                      <a:xfrm>
                        <a:off x="737109" y="2106396"/>
                        <a:ext cx="3747215" cy="166391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688966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MTO Spreadsheet Creation:  </a:t>
            </a:r>
            <a:br>
              <a:rPr lang="en-US" sz="3600" dirty="0"/>
            </a:br>
            <a:r>
              <a:rPr lang="en-US" sz="3600" dirty="0"/>
              <a:t>Milestone Development Checklist</a:t>
            </a:r>
          </a:p>
        </p:txBody>
      </p:sp>
      <p:sp>
        <p:nvSpPr>
          <p:cNvPr id="3" name="Rectangle 4">
            <a:extLst>
              <a:ext uri="{FF2B5EF4-FFF2-40B4-BE49-F238E27FC236}">
                <a16:creationId xmlns:a16="http://schemas.microsoft.com/office/drawing/2014/main" id="{97481E37-AB76-5134-61A3-CD4C2C836E39}"/>
              </a:ext>
            </a:extLst>
          </p:cNvPr>
          <p:cNvSpPr>
            <a:spLocks noChangeArrowheads="1"/>
          </p:cNvSpPr>
          <p:nvPr/>
        </p:nvSpPr>
        <p:spPr bwMode="auto">
          <a:xfrm>
            <a:off x="9286596" y="3182147"/>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During the pilot S&amp;OP spreadsheet construction process, pilot team members would be well served to value stream map the data collection process and document key roles and responsibilities to ensure success.</a:t>
            </a:r>
          </a:p>
        </p:txBody>
      </p:sp>
      <p:sp>
        <p:nvSpPr>
          <p:cNvPr id="4" name="Rectangle 4">
            <a:extLst>
              <a:ext uri="{FF2B5EF4-FFF2-40B4-BE49-F238E27FC236}">
                <a16:creationId xmlns:a16="http://schemas.microsoft.com/office/drawing/2014/main" id="{9A30A2FE-8925-4EC6-7DF3-2C0CECF5592D}"/>
              </a:ext>
            </a:extLst>
          </p:cNvPr>
          <p:cNvSpPr>
            <a:spLocks noChangeArrowheads="1"/>
          </p:cNvSpPr>
          <p:nvPr/>
        </p:nvSpPr>
        <p:spPr bwMode="auto">
          <a:xfrm>
            <a:off x="460375" y="2667000"/>
            <a:ext cx="1163638" cy="198438"/>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5" name="Rectangle 5">
            <a:extLst>
              <a:ext uri="{FF2B5EF4-FFF2-40B4-BE49-F238E27FC236}">
                <a16:creationId xmlns:a16="http://schemas.microsoft.com/office/drawing/2014/main" id="{83A4AB15-7A42-7A8A-242C-1193B2903C66}"/>
              </a:ext>
            </a:extLst>
          </p:cNvPr>
          <p:cNvSpPr>
            <a:spLocks noChangeArrowheads="1"/>
          </p:cNvSpPr>
          <p:nvPr/>
        </p:nvSpPr>
        <p:spPr bwMode="auto">
          <a:xfrm>
            <a:off x="460375" y="2470150"/>
            <a:ext cx="1163638"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13" name="Rectangle 6">
            <a:extLst>
              <a:ext uri="{FF2B5EF4-FFF2-40B4-BE49-F238E27FC236}">
                <a16:creationId xmlns:a16="http://schemas.microsoft.com/office/drawing/2014/main" id="{D0510576-B127-98FF-5785-3B78C86F58E2}"/>
              </a:ext>
            </a:extLst>
          </p:cNvPr>
          <p:cNvSpPr>
            <a:spLocks noChangeArrowheads="1"/>
          </p:cNvSpPr>
          <p:nvPr/>
        </p:nvSpPr>
        <p:spPr bwMode="auto">
          <a:xfrm>
            <a:off x="460375" y="2279650"/>
            <a:ext cx="1163638"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dirty="0">
                <a:solidFill>
                  <a:schemeClr val="bg1"/>
                </a:solidFill>
                <a:latin typeface="+mn-lt"/>
              </a:rPr>
              <a:t>Last-Month Actuals</a:t>
            </a:r>
          </a:p>
        </p:txBody>
      </p:sp>
      <p:sp>
        <p:nvSpPr>
          <p:cNvPr id="14" name="Rectangle 7">
            <a:extLst>
              <a:ext uri="{FF2B5EF4-FFF2-40B4-BE49-F238E27FC236}">
                <a16:creationId xmlns:a16="http://schemas.microsoft.com/office/drawing/2014/main" id="{9015C90C-8197-3D63-5C39-070011693DA9}"/>
              </a:ext>
            </a:extLst>
          </p:cNvPr>
          <p:cNvSpPr>
            <a:spLocks noChangeArrowheads="1"/>
          </p:cNvSpPr>
          <p:nvPr/>
        </p:nvSpPr>
        <p:spPr bwMode="auto">
          <a:xfrm>
            <a:off x="1893888" y="2667000"/>
            <a:ext cx="1163637" cy="198438"/>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15" name="Rectangle 8">
            <a:extLst>
              <a:ext uri="{FF2B5EF4-FFF2-40B4-BE49-F238E27FC236}">
                <a16:creationId xmlns:a16="http://schemas.microsoft.com/office/drawing/2014/main" id="{1D47878A-9109-1249-79EF-C083CC9257EB}"/>
              </a:ext>
            </a:extLst>
          </p:cNvPr>
          <p:cNvSpPr>
            <a:spLocks noChangeArrowheads="1"/>
          </p:cNvSpPr>
          <p:nvPr/>
        </p:nvSpPr>
        <p:spPr bwMode="auto">
          <a:xfrm>
            <a:off x="1893888" y="2470150"/>
            <a:ext cx="1163637"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17" name="Rectangle 9">
            <a:extLst>
              <a:ext uri="{FF2B5EF4-FFF2-40B4-BE49-F238E27FC236}">
                <a16:creationId xmlns:a16="http://schemas.microsoft.com/office/drawing/2014/main" id="{4FC11E5E-6364-3DE6-BA22-F3F96CB9F23E}"/>
              </a:ext>
            </a:extLst>
          </p:cNvPr>
          <p:cNvSpPr>
            <a:spLocks noChangeArrowheads="1"/>
          </p:cNvSpPr>
          <p:nvPr/>
        </p:nvSpPr>
        <p:spPr bwMode="auto">
          <a:xfrm>
            <a:off x="1893888" y="2279650"/>
            <a:ext cx="1163637"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Build Plan Update</a:t>
            </a:r>
          </a:p>
        </p:txBody>
      </p:sp>
      <p:sp>
        <p:nvSpPr>
          <p:cNvPr id="18" name="Rectangle 10">
            <a:extLst>
              <a:ext uri="{FF2B5EF4-FFF2-40B4-BE49-F238E27FC236}">
                <a16:creationId xmlns:a16="http://schemas.microsoft.com/office/drawing/2014/main" id="{21C68E49-AEC3-BAD1-B4E1-91E7EE03CA69}"/>
              </a:ext>
            </a:extLst>
          </p:cNvPr>
          <p:cNvSpPr>
            <a:spLocks noChangeArrowheads="1"/>
          </p:cNvSpPr>
          <p:nvPr/>
        </p:nvSpPr>
        <p:spPr bwMode="auto">
          <a:xfrm>
            <a:off x="3313113" y="2667000"/>
            <a:ext cx="1163637" cy="198438"/>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19" name="Rectangle 11">
            <a:extLst>
              <a:ext uri="{FF2B5EF4-FFF2-40B4-BE49-F238E27FC236}">
                <a16:creationId xmlns:a16="http://schemas.microsoft.com/office/drawing/2014/main" id="{4896B8E1-CF3A-46D8-9EDB-94C216E5987C}"/>
              </a:ext>
            </a:extLst>
          </p:cNvPr>
          <p:cNvSpPr>
            <a:spLocks noChangeArrowheads="1"/>
          </p:cNvSpPr>
          <p:nvPr/>
        </p:nvSpPr>
        <p:spPr bwMode="auto">
          <a:xfrm>
            <a:off x="3313113" y="2470150"/>
            <a:ext cx="1163637"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20" name="Rectangle 12">
            <a:extLst>
              <a:ext uri="{FF2B5EF4-FFF2-40B4-BE49-F238E27FC236}">
                <a16:creationId xmlns:a16="http://schemas.microsoft.com/office/drawing/2014/main" id="{0767BC71-73E4-1C87-B215-3BACB62747D9}"/>
              </a:ext>
            </a:extLst>
          </p:cNvPr>
          <p:cNvSpPr>
            <a:spLocks noChangeArrowheads="1"/>
          </p:cNvSpPr>
          <p:nvPr/>
        </p:nvSpPr>
        <p:spPr bwMode="auto">
          <a:xfrm>
            <a:off x="3313113" y="2279650"/>
            <a:ext cx="1163637"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Capacity Planning</a:t>
            </a:r>
          </a:p>
        </p:txBody>
      </p:sp>
      <p:sp>
        <p:nvSpPr>
          <p:cNvPr id="21" name="Rectangle 13">
            <a:extLst>
              <a:ext uri="{FF2B5EF4-FFF2-40B4-BE49-F238E27FC236}">
                <a16:creationId xmlns:a16="http://schemas.microsoft.com/office/drawing/2014/main" id="{DC0F745F-9DDC-F1DE-5533-61A50F1B8350}"/>
              </a:ext>
            </a:extLst>
          </p:cNvPr>
          <p:cNvSpPr>
            <a:spLocks noChangeArrowheads="1"/>
          </p:cNvSpPr>
          <p:nvPr/>
        </p:nvSpPr>
        <p:spPr bwMode="auto">
          <a:xfrm>
            <a:off x="4741863" y="2667000"/>
            <a:ext cx="1163637" cy="198438"/>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26" name="Rectangle 14">
            <a:extLst>
              <a:ext uri="{FF2B5EF4-FFF2-40B4-BE49-F238E27FC236}">
                <a16:creationId xmlns:a16="http://schemas.microsoft.com/office/drawing/2014/main" id="{A191EFD5-1362-E034-9233-337FE00CE875}"/>
              </a:ext>
            </a:extLst>
          </p:cNvPr>
          <p:cNvSpPr>
            <a:spLocks noChangeArrowheads="1"/>
          </p:cNvSpPr>
          <p:nvPr/>
        </p:nvSpPr>
        <p:spPr bwMode="auto">
          <a:xfrm>
            <a:off x="4741863" y="2470150"/>
            <a:ext cx="1163637"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27" name="Rectangle 15">
            <a:extLst>
              <a:ext uri="{FF2B5EF4-FFF2-40B4-BE49-F238E27FC236}">
                <a16:creationId xmlns:a16="http://schemas.microsoft.com/office/drawing/2014/main" id="{0EB0B312-1236-FAC1-AD9E-96A697D631E7}"/>
              </a:ext>
            </a:extLst>
          </p:cNvPr>
          <p:cNvSpPr>
            <a:spLocks noChangeArrowheads="1"/>
          </p:cNvSpPr>
          <p:nvPr/>
        </p:nvSpPr>
        <p:spPr bwMode="auto">
          <a:xfrm>
            <a:off x="4741863" y="2279650"/>
            <a:ext cx="1163637"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Error Code Ident</a:t>
            </a:r>
          </a:p>
        </p:txBody>
      </p:sp>
      <p:sp>
        <p:nvSpPr>
          <p:cNvPr id="28" name="Rectangle 16">
            <a:extLst>
              <a:ext uri="{FF2B5EF4-FFF2-40B4-BE49-F238E27FC236}">
                <a16:creationId xmlns:a16="http://schemas.microsoft.com/office/drawing/2014/main" id="{65172918-0B2B-18C0-4E33-3E3821AFA740}"/>
              </a:ext>
            </a:extLst>
          </p:cNvPr>
          <p:cNvSpPr>
            <a:spLocks noChangeArrowheads="1"/>
          </p:cNvSpPr>
          <p:nvPr/>
        </p:nvSpPr>
        <p:spPr bwMode="auto">
          <a:xfrm>
            <a:off x="6157913" y="2667000"/>
            <a:ext cx="1163637" cy="198438"/>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29" name="Rectangle 17">
            <a:extLst>
              <a:ext uri="{FF2B5EF4-FFF2-40B4-BE49-F238E27FC236}">
                <a16:creationId xmlns:a16="http://schemas.microsoft.com/office/drawing/2014/main" id="{B9374A8E-2E2B-2F51-1B4F-F59E9856B937}"/>
              </a:ext>
            </a:extLst>
          </p:cNvPr>
          <p:cNvSpPr>
            <a:spLocks noChangeArrowheads="1"/>
          </p:cNvSpPr>
          <p:nvPr/>
        </p:nvSpPr>
        <p:spPr bwMode="auto">
          <a:xfrm>
            <a:off x="6157913" y="2470150"/>
            <a:ext cx="1163637"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30" name="Rectangle 18">
            <a:extLst>
              <a:ext uri="{FF2B5EF4-FFF2-40B4-BE49-F238E27FC236}">
                <a16:creationId xmlns:a16="http://schemas.microsoft.com/office/drawing/2014/main" id="{5D51867E-CF40-C9B7-131C-57A5F4C258C5}"/>
              </a:ext>
            </a:extLst>
          </p:cNvPr>
          <p:cNvSpPr>
            <a:spLocks noChangeArrowheads="1"/>
          </p:cNvSpPr>
          <p:nvPr/>
        </p:nvSpPr>
        <p:spPr bwMode="auto">
          <a:xfrm>
            <a:off x="6157913" y="2279650"/>
            <a:ext cx="1163637"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1</a:t>
            </a:r>
            <a:r>
              <a:rPr lang="en-US" altLang="en-US" sz="800" baseline="30000">
                <a:solidFill>
                  <a:schemeClr val="bg1"/>
                </a:solidFill>
                <a:latin typeface="+mn-lt"/>
              </a:rPr>
              <a:t>st</a:t>
            </a:r>
            <a:r>
              <a:rPr lang="en-US" altLang="en-US" sz="800">
                <a:solidFill>
                  <a:schemeClr val="bg1"/>
                </a:solidFill>
                <a:latin typeface="+mn-lt"/>
              </a:rPr>
              <a:t>-Pass Spreadsheet</a:t>
            </a:r>
          </a:p>
        </p:txBody>
      </p:sp>
      <p:sp>
        <p:nvSpPr>
          <p:cNvPr id="31" name="Rectangle 19">
            <a:extLst>
              <a:ext uri="{FF2B5EF4-FFF2-40B4-BE49-F238E27FC236}">
                <a16:creationId xmlns:a16="http://schemas.microsoft.com/office/drawing/2014/main" id="{6FA8FC92-A29A-360A-86C1-0615DCA6025F}"/>
              </a:ext>
            </a:extLst>
          </p:cNvPr>
          <p:cNvSpPr>
            <a:spLocks noChangeArrowheads="1"/>
          </p:cNvSpPr>
          <p:nvPr/>
        </p:nvSpPr>
        <p:spPr bwMode="auto">
          <a:xfrm>
            <a:off x="460375" y="4089400"/>
            <a:ext cx="1163638" cy="196850"/>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32" name="Rectangle 20">
            <a:extLst>
              <a:ext uri="{FF2B5EF4-FFF2-40B4-BE49-F238E27FC236}">
                <a16:creationId xmlns:a16="http://schemas.microsoft.com/office/drawing/2014/main" id="{5A18C2DB-8352-B846-2926-19FA2A08CEE2}"/>
              </a:ext>
            </a:extLst>
          </p:cNvPr>
          <p:cNvSpPr>
            <a:spLocks noChangeArrowheads="1"/>
          </p:cNvSpPr>
          <p:nvPr/>
        </p:nvSpPr>
        <p:spPr bwMode="auto">
          <a:xfrm>
            <a:off x="460375" y="3890963"/>
            <a:ext cx="1163638" cy="198437"/>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33" name="Rectangle 21">
            <a:extLst>
              <a:ext uri="{FF2B5EF4-FFF2-40B4-BE49-F238E27FC236}">
                <a16:creationId xmlns:a16="http://schemas.microsoft.com/office/drawing/2014/main" id="{C56ADD64-0407-E6A0-DF1B-D5F7B7A0FD76}"/>
              </a:ext>
            </a:extLst>
          </p:cNvPr>
          <p:cNvSpPr>
            <a:spLocks noChangeArrowheads="1"/>
          </p:cNvSpPr>
          <p:nvPr/>
        </p:nvSpPr>
        <p:spPr bwMode="auto">
          <a:xfrm>
            <a:off x="460375" y="3700463"/>
            <a:ext cx="1163638" cy="198437"/>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Last-Month Actuals</a:t>
            </a:r>
          </a:p>
        </p:txBody>
      </p:sp>
      <p:sp>
        <p:nvSpPr>
          <p:cNvPr id="34" name="Rectangle 22">
            <a:extLst>
              <a:ext uri="{FF2B5EF4-FFF2-40B4-BE49-F238E27FC236}">
                <a16:creationId xmlns:a16="http://schemas.microsoft.com/office/drawing/2014/main" id="{701C4519-BF6B-BC68-5632-2F2945C35E04}"/>
              </a:ext>
            </a:extLst>
          </p:cNvPr>
          <p:cNvSpPr>
            <a:spLocks noChangeArrowheads="1"/>
          </p:cNvSpPr>
          <p:nvPr/>
        </p:nvSpPr>
        <p:spPr bwMode="auto">
          <a:xfrm>
            <a:off x="1885950" y="4089400"/>
            <a:ext cx="1163638" cy="196850"/>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35" name="Rectangle 23">
            <a:extLst>
              <a:ext uri="{FF2B5EF4-FFF2-40B4-BE49-F238E27FC236}">
                <a16:creationId xmlns:a16="http://schemas.microsoft.com/office/drawing/2014/main" id="{5E839B0A-9673-D4D0-4CF3-1F6D692B27F5}"/>
              </a:ext>
            </a:extLst>
          </p:cNvPr>
          <p:cNvSpPr>
            <a:spLocks noChangeArrowheads="1"/>
          </p:cNvSpPr>
          <p:nvPr/>
        </p:nvSpPr>
        <p:spPr bwMode="auto">
          <a:xfrm>
            <a:off x="1885950" y="3890963"/>
            <a:ext cx="1163638" cy="198437"/>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36" name="Rectangle 24">
            <a:extLst>
              <a:ext uri="{FF2B5EF4-FFF2-40B4-BE49-F238E27FC236}">
                <a16:creationId xmlns:a16="http://schemas.microsoft.com/office/drawing/2014/main" id="{851628A3-9626-7787-CE32-60BED5BB5230}"/>
              </a:ext>
            </a:extLst>
          </p:cNvPr>
          <p:cNvSpPr>
            <a:spLocks noChangeArrowheads="1"/>
          </p:cNvSpPr>
          <p:nvPr/>
        </p:nvSpPr>
        <p:spPr bwMode="auto">
          <a:xfrm>
            <a:off x="1885950" y="3700463"/>
            <a:ext cx="1163638" cy="198437"/>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Fcast Error Analysis</a:t>
            </a:r>
          </a:p>
        </p:txBody>
      </p:sp>
      <p:sp>
        <p:nvSpPr>
          <p:cNvPr id="37" name="Rectangle 25">
            <a:extLst>
              <a:ext uri="{FF2B5EF4-FFF2-40B4-BE49-F238E27FC236}">
                <a16:creationId xmlns:a16="http://schemas.microsoft.com/office/drawing/2014/main" id="{5731FBB7-04DE-821B-285D-C5F70DB47DB4}"/>
              </a:ext>
            </a:extLst>
          </p:cNvPr>
          <p:cNvSpPr>
            <a:spLocks noChangeArrowheads="1"/>
          </p:cNvSpPr>
          <p:nvPr/>
        </p:nvSpPr>
        <p:spPr bwMode="auto">
          <a:xfrm>
            <a:off x="4735513" y="4087813"/>
            <a:ext cx="1163637" cy="196850"/>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38" name="Rectangle 26">
            <a:extLst>
              <a:ext uri="{FF2B5EF4-FFF2-40B4-BE49-F238E27FC236}">
                <a16:creationId xmlns:a16="http://schemas.microsoft.com/office/drawing/2014/main" id="{6FB76CBF-B381-CE9A-7AD5-BAA2A40E0EC4}"/>
              </a:ext>
            </a:extLst>
          </p:cNvPr>
          <p:cNvSpPr>
            <a:spLocks noChangeArrowheads="1"/>
          </p:cNvSpPr>
          <p:nvPr/>
        </p:nvSpPr>
        <p:spPr bwMode="auto">
          <a:xfrm>
            <a:off x="4735513" y="3889375"/>
            <a:ext cx="1163637" cy="198438"/>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39" name="Rectangle 27">
            <a:extLst>
              <a:ext uri="{FF2B5EF4-FFF2-40B4-BE49-F238E27FC236}">
                <a16:creationId xmlns:a16="http://schemas.microsoft.com/office/drawing/2014/main" id="{E6C52B70-DDF5-1FAE-2400-541246B22905}"/>
              </a:ext>
            </a:extLst>
          </p:cNvPr>
          <p:cNvSpPr>
            <a:spLocks noChangeArrowheads="1"/>
          </p:cNvSpPr>
          <p:nvPr/>
        </p:nvSpPr>
        <p:spPr bwMode="auto">
          <a:xfrm>
            <a:off x="4735513" y="3698875"/>
            <a:ext cx="1163637"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Next-Month Fcst </a:t>
            </a:r>
          </a:p>
        </p:txBody>
      </p:sp>
      <p:sp>
        <p:nvSpPr>
          <p:cNvPr id="40" name="Rectangle 28">
            <a:extLst>
              <a:ext uri="{FF2B5EF4-FFF2-40B4-BE49-F238E27FC236}">
                <a16:creationId xmlns:a16="http://schemas.microsoft.com/office/drawing/2014/main" id="{59B5CAFF-B489-1D2D-79BF-5ED0067CEA0E}"/>
              </a:ext>
            </a:extLst>
          </p:cNvPr>
          <p:cNvSpPr>
            <a:spLocks noChangeArrowheads="1"/>
          </p:cNvSpPr>
          <p:nvPr/>
        </p:nvSpPr>
        <p:spPr bwMode="auto">
          <a:xfrm>
            <a:off x="3309938" y="3700463"/>
            <a:ext cx="1163637" cy="198437"/>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41" name="Rectangle 29">
            <a:extLst>
              <a:ext uri="{FF2B5EF4-FFF2-40B4-BE49-F238E27FC236}">
                <a16:creationId xmlns:a16="http://schemas.microsoft.com/office/drawing/2014/main" id="{D8A809EA-A43E-4403-2E5F-5398FBE1ADD7}"/>
              </a:ext>
            </a:extLst>
          </p:cNvPr>
          <p:cNvSpPr>
            <a:spLocks noChangeArrowheads="1"/>
          </p:cNvSpPr>
          <p:nvPr/>
        </p:nvSpPr>
        <p:spPr bwMode="auto">
          <a:xfrm>
            <a:off x="3309938" y="3503613"/>
            <a:ext cx="1163637"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42" name="Rectangle 30">
            <a:extLst>
              <a:ext uri="{FF2B5EF4-FFF2-40B4-BE49-F238E27FC236}">
                <a16:creationId xmlns:a16="http://schemas.microsoft.com/office/drawing/2014/main" id="{0609EC5E-00D3-3CF1-B197-F005CB0BE084}"/>
              </a:ext>
            </a:extLst>
          </p:cNvPr>
          <p:cNvSpPr>
            <a:spLocks noChangeArrowheads="1"/>
          </p:cNvSpPr>
          <p:nvPr/>
        </p:nvSpPr>
        <p:spPr bwMode="auto">
          <a:xfrm>
            <a:off x="3309938" y="3313113"/>
            <a:ext cx="1163637" cy="196850"/>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New-Product Inputs</a:t>
            </a:r>
          </a:p>
        </p:txBody>
      </p:sp>
      <p:sp>
        <p:nvSpPr>
          <p:cNvPr id="43" name="Rectangle 31">
            <a:extLst>
              <a:ext uri="{FF2B5EF4-FFF2-40B4-BE49-F238E27FC236}">
                <a16:creationId xmlns:a16="http://schemas.microsoft.com/office/drawing/2014/main" id="{D8F60CEC-7928-DC2D-3940-296837E7209B}"/>
              </a:ext>
            </a:extLst>
          </p:cNvPr>
          <p:cNvSpPr>
            <a:spLocks noChangeArrowheads="1"/>
          </p:cNvSpPr>
          <p:nvPr/>
        </p:nvSpPr>
        <p:spPr bwMode="auto">
          <a:xfrm>
            <a:off x="3309938" y="4454525"/>
            <a:ext cx="1163637" cy="196850"/>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44" name="Rectangle 32">
            <a:extLst>
              <a:ext uri="{FF2B5EF4-FFF2-40B4-BE49-F238E27FC236}">
                <a16:creationId xmlns:a16="http://schemas.microsoft.com/office/drawing/2014/main" id="{27269C92-6F06-1B1B-E057-428BF414C95F}"/>
              </a:ext>
            </a:extLst>
          </p:cNvPr>
          <p:cNvSpPr>
            <a:spLocks noChangeArrowheads="1"/>
          </p:cNvSpPr>
          <p:nvPr/>
        </p:nvSpPr>
        <p:spPr bwMode="auto">
          <a:xfrm>
            <a:off x="3309938" y="4256088"/>
            <a:ext cx="1163637" cy="198437"/>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45" name="Rectangle 33">
            <a:extLst>
              <a:ext uri="{FF2B5EF4-FFF2-40B4-BE49-F238E27FC236}">
                <a16:creationId xmlns:a16="http://schemas.microsoft.com/office/drawing/2014/main" id="{89421881-1B6D-C504-C5C8-DD977D5A7AD9}"/>
              </a:ext>
            </a:extLst>
          </p:cNvPr>
          <p:cNvSpPr>
            <a:spLocks noChangeArrowheads="1"/>
          </p:cNvSpPr>
          <p:nvPr/>
        </p:nvSpPr>
        <p:spPr bwMode="auto">
          <a:xfrm>
            <a:off x="3309938" y="4065588"/>
            <a:ext cx="1163637" cy="198437"/>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Marketing Promos</a:t>
            </a:r>
          </a:p>
        </p:txBody>
      </p:sp>
      <p:cxnSp>
        <p:nvCxnSpPr>
          <p:cNvPr id="46" name="AutoShape 34">
            <a:extLst>
              <a:ext uri="{FF2B5EF4-FFF2-40B4-BE49-F238E27FC236}">
                <a16:creationId xmlns:a16="http://schemas.microsoft.com/office/drawing/2014/main" id="{94D7074F-4A05-275D-E267-6C595FBEAE18}"/>
              </a:ext>
            </a:extLst>
          </p:cNvPr>
          <p:cNvCxnSpPr>
            <a:cxnSpLocks noChangeShapeType="1"/>
            <a:stCxn id="5" idx="3"/>
            <a:endCxn id="15" idx="1"/>
          </p:cNvCxnSpPr>
          <p:nvPr/>
        </p:nvCxnSpPr>
        <p:spPr bwMode="auto">
          <a:xfrm>
            <a:off x="1624013" y="2568575"/>
            <a:ext cx="269875"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 name="AutoShape 35">
            <a:extLst>
              <a:ext uri="{FF2B5EF4-FFF2-40B4-BE49-F238E27FC236}">
                <a16:creationId xmlns:a16="http://schemas.microsoft.com/office/drawing/2014/main" id="{87A5C4AD-0AD6-8D5E-36AB-AFBE7296783B}"/>
              </a:ext>
            </a:extLst>
          </p:cNvPr>
          <p:cNvCxnSpPr>
            <a:cxnSpLocks noChangeShapeType="1"/>
            <a:stCxn id="15" idx="3"/>
            <a:endCxn id="19" idx="1"/>
          </p:cNvCxnSpPr>
          <p:nvPr/>
        </p:nvCxnSpPr>
        <p:spPr bwMode="auto">
          <a:xfrm>
            <a:off x="3057525" y="2568575"/>
            <a:ext cx="255588"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8" name="Oval 36">
            <a:extLst>
              <a:ext uri="{FF2B5EF4-FFF2-40B4-BE49-F238E27FC236}">
                <a16:creationId xmlns:a16="http://schemas.microsoft.com/office/drawing/2014/main" id="{EAE9C7AE-0662-F8EA-AE10-DBC4233E31DD}"/>
              </a:ext>
            </a:extLst>
          </p:cNvPr>
          <p:cNvSpPr>
            <a:spLocks noChangeArrowheads="1"/>
          </p:cNvSpPr>
          <p:nvPr/>
        </p:nvSpPr>
        <p:spPr bwMode="auto">
          <a:xfrm>
            <a:off x="4511675" y="1917700"/>
            <a:ext cx="1624013" cy="212725"/>
          </a:xfrm>
          <a:prstGeom prst="ellipse">
            <a:avLst/>
          </a:prstGeom>
          <a:solidFill>
            <a:schemeClr val="accent3"/>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Key Assumptions</a:t>
            </a:r>
          </a:p>
        </p:txBody>
      </p:sp>
      <p:cxnSp>
        <p:nvCxnSpPr>
          <p:cNvPr id="49" name="AutoShape 37">
            <a:extLst>
              <a:ext uri="{FF2B5EF4-FFF2-40B4-BE49-F238E27FC236}">
                <a16:creationId xmlns:a16="http://schemas.microsoft.com/office/drawing/2014/main" id="{48FB2A56-2D5D-5576-3EBF-BDE05BBE86C7}"/>
              </a:ext>
            </a:extLst>
          </p:cNvPr>
          <p:cNvCxnSpPr>
            <a:cxnSpLocks noChangeShapeType="1"/>
            <a:stCxn id="27" idx="0"/>
            <a:endCxn id="48" idx="4"/>
          </p:cNvCxnSpPr>
          <p:nvPr/>
        </p:nvCxnSpPr>
        <p:spPr bwMode="auto">
          <a:xfrm flipV="1">
            <a:off x="5324475" y="2130425"/>
            <a:ext cx="0" cy="149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0" name="AutoShape 38">
            <a:extLst>
              <a:ext uri="{FF2B5EF4-FFF2-40B4-BE49-F238E27FC236}">
                <a16:creationId xmlns:a16="http://schemas.microsoft.com/office/drawing/2014/main" id="{B1D3C7F8-4F87-0C73-8A9C-4BA583CD760A}"/>
              </a:ext>
            </a:extLst>
          </p:cNvPr>
          <p:cNvCxnSpPr>
            <a:cxnSpLocks noChangeShapeType="1"/>
            <a:stCxn id="35" idx="3"/>
            <a:endCxn id="41" idx="1"/>
          </p:cNvCxnSpPr>
          <p:nvPr/>
        </p:nvCxnSpPr>
        <p:spPr bwMode="auto">
          <a:xfrm flipV="1">
            <a:off x="3049588" y="3602038"/>
            <a:ext cx="260350" cy="387350"/>
          </a:xfrm>
          <a:prstGeom prst="bentConnector3">
            <a:avLst>
              <a:gd name="adj1" fmla="val 4938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 name="AutoShape 39">
            <a:extLst>
              <a:ext uri="{FF2B5EF4-FFF2-40B4-BE49-F238E27FC236}">
                <a16:creationId xmlns:a16="http://schemas.microsoft.com/office/drawing/2014/main" id="{42FDE5A0-1A10-9F70-BA5F-8841B449ECD8}"/>
              </a:ext>
            </a:extLst>
          </p:cNvPr>
          <p:cNvCxnSpPr>
            <a:cxnSpLocks noChangeShapeType="1"/>
            <a:stCxn id="35" idx="3"/>
            <a:endCxn id="44" idx="1"/>
          </p:cNvCxnSpPr>
          <p:nvPr/>
        </p:nvCxnSpPr>
        <p:spPr bwMode="auto">
          <a:xfrm>
            <a:off x="3049588" y="3989388"/>
            <a:ext cx="260350" cy="365125"/>
          </a:xfrm>
          <a:prstGeom prst="bentConnector3">
            <a:avLst>
              <a:gd name="adj1" fmla="val 4938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2" name="AutoShape 40">
            <a:extLst>
              <a:ext uri="{FF2B5EF4-FFF2-40B4-BE49-F238E27FC236}">
                <a16:creationId xmlns:a16="http://schemas.microsoft.com/office/drawing/2014/main" id="{30838514-DBF6-5803-3AB5-E1E3152A461E}"/>
              </a:ext>
            </a:extLst>
          </p:cNvPr>
          <p:cNvCxnSpPr>
            <a:cxnSpLocks noChangeShapeType="1"/>
            <a:stCxn id="32" idx="3"/>
            <a:endCxn id="35" idx="1"/>
          </p:cNvCxnSpPr>
          <p:nvPr/>
        </p:nvCxnSpPr>
        <p:spPr bwMode="auto">
          <a:xfrm>
            <a:off x="1624013" y="3989388"/>
            <a:ext cx="261937"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 name="AutoShape 41">
            <a:extLst>
              <a:ext uri="{FF2B5EF4-FFF2-40B4-BE49-F238E27FC236}">
                <a16:creationId xmlns:a16="http://schemas.microsoft.com/office/drawing/2014/main" id="{E5572010-F679-2D9B-1981-EA8B13E107E6}"/>
              </a:ext>
            </a:extLst>
          </p:cNvPr>
          <p:cNvCxnSpPr>
            <a:cxnSpLocks noChangeShapeType="1"/>
            <a:stCxn id="41" idx="3"/>
            <a:endCxn id="38" idx="1"/>
          </p:cNvCxnSpPr>
          <p:nvPr/>
        </p:nvCxnSpPr>
        <p:spPr bwMode="auto">
          <a:xfrm>
            <a:off x="4473575" y="3602038"/>
            <a:ext cx="261938" cy="387350"/>
          </a:xfrm>
          <a:prstGeom prst="bentConnector3">
            <a:avLst>
              <a:gd name="adj1" fmla="val 4969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4" name="AutoShape 42">
            <a:extLst>
              <a:ext uri="{FF2B5EF4-FFF2-40B4-BE49-F238E27FC236}">
                <a16:creationId xmlns:a16="http://schemas.microsoft.com/office/drawing/2014/main" id="{3ECED83B-3E8B-0221-42ED-A8E2F8F5E300}"/>
              </a:ext>
            </a:extLst>
          </p:cNvPr>
          <p:cNvCxnSpPr>
            <a:cxnSpLocks noChangeShapeType="1"/>
            <a:stCxn id="44" idx="3"/>
            <a:endCxn id="38" idx="1"/>
          </p:cNvCxnSpPr>
          <p:nvPr/>
        </p:nvCxnSpPr>
        <p:spPr bwMode="auto">
          <a:xfrm flipV="1">
            <a:off x="4473575" y="3989388"/>
            <a:ext cx="261938" cy="365125"/>
          </a:xfrm>
          <a:prstGeom prst="bentConnector3">
            <a:avLst>
              <a:gd name="adj1" fmla="val 4969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5" name="Rectangle 43">
            <a:extLst>
              <a:ext uri="{FF2B5EF4-FFF2-40B4-BE49-F238E27FC236}">
                <a16:creationId xmlns:a16="http://schemas.microsoft.com/office/drawing/2014/main" id="{5E6A75DE-6C55-A025-C956-D61E68CFF9CB}"/>
              </a:ext>
            </a:extLst>
          </p:cNvPr>
          <p:cNvSpPr>
            <a:spLocks noChangeArrowheads="1"/>
          </p:cNvSpPr>
          <p:nvPr/>
        </p:nvSpPr>
        <p:spPr bwMode="auto">
          <a:xfrm>
            <a:off x="6162675" y="4086225"/>
            <a:ext cx="1163638" cy="196850"/>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56" name="Rectangle 44">
            <a:extLst>
              <a:ext uri="{FF2B5EF4-FFF2-40B4-BE49-F238E27FC236}">
                <a16:creationId xmlns:a16="http://schemas.microsoft.com/office/drawing/2014/main" id="{00E03C3E-649A-17BA-901E-7B03CC7897D7}"/>
              </a:ext>
            </a:extLst>
          </p:cNvPr>
          <p:cNvSpPr>
            <a:spLocks noChangeArrowheads="1"/>
          </p:cNvSpPr>
          <p:nvPr/>
        </p:nvSpPr>
        <p:spPr bwMode="auto">
          <a:xfrm>
            <a:off x="6162675" y="3887788"/>
            <a:ext cx="1163638" cy="198437"/>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57" name="Rectangle 45">
            <a:extLst>
              <a:ext uri="{FF2B5EF4-FFF2-40B4-BE49-F238E27FC236}">
                <a16:creationId xmlns:a16="http://schemas.microsoft.com/office/drawing/2014/main" id="{2A161B64-809F-276B-1CE6-CFEE3FF6D274}"/>
              </a:ext>
            </a:extLst>
          </p:cNvPr>
          <p:cNvSpPr>
            <a:spLocks noChangeArrowheads="1"/>
          </p:cNvSpPr>
          <p:nvPr/>
        </p:nvSpPr>
        <p:spPr bwMode="auto">
          <a:xfrm>
            <a:off x="6162675" y="3698875"/>
            <a:ext cx="1163638" cy="196850"/>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2</a:t>
            </a:r>
            <a:r>
              <a:rPr lang="en-US" altLang="en-US" sz="800" baseline="30000">
                <a:solidFill>
                  <a:schemeClr val="bg1"/>
                </a:solidFill>
                <a:latin typeface="+mn-lt"/>
              </a:rPr>
              <a:t>nd</a:t>
            </a:r>
            <a:r>
              <a:rPr lang="en-US" altLang="en-US" sz="800">
                <a:solidFill>
                  <a:schemeClr val="bg1"/>
                </a:solidFill>
                <a:latin typeface="+mn-lt"/>
              </a:rPr>
              <a:t>-Pass Spreadsheet</a:t>
            </a:r>
          </a:p>
        </p:txBody>
      </p:sp>
      <p:cxnSp>
        <p:nvCxnSpPr>
          <p:cNvPr id="58" name="AutoShape 46">
            <a:extLst>
              <a:ext uri="{FF2B5EF4-FFF2-40B4-BE49-F238E27FC236}">
                <a16:creationId xmlns:a16="http://schemas.microsoft.com/office/drawing/2014/main" id="{EC124C15-263E-AC07-200B-0951B0A33904}"/>
              </a:ext>
            </a:extLst>
          </p:cNvPr>
          <p:cNvCxnSpPr>
            <a:cxnSpLocks noChangeShapeType="1"/>
            <a:stCxn id="19" idx="3"/>
            <a:endCxn id="26" idx="1"/>
          </p:cNvCxnSpPr>
          <p:nvPr/>
        </p:nvCxnSpPr>
        <p:spPr bwMode="auto">
          <a:xfrm>
            <a:off x="4476750" y="2568575"/>
            <a:ext cx="265113"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 name="AutoShape 47">
            <a:extLst>
              <a:ext uri="{FF2B5EF4-FFF2-40B4-BE49-F238E27FC236}">
                <a16:creationId xmlns:a16="http://schemas.microsoft.com/office/drawing/2014/main" id="{EAE9AD6C-2B92-0441-8A10-7BC622A50F89}"/>
              </a:ext>
            </a:extLst>
          </p:cNvPr>
          <p:cNvCxnSpPr>
            <a:cxnSpLocks noChangeShapeType="1"/>
            <a:stCxn id="26" idx="3"/>
            <a:endCxn id="29" idx="1"/>
          </p:cNvCxnSpPr>
          <p:nvPr/>
        </p:nvCxnSpPr>
        <p:spPr bwMode="auto">
          <a:xfrm>
            <a:off x="5905500" y="2568575"/>
            <a:ext cx="252413"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0" name="Text Box 48">
            <a:extLst>
              <a:ext uri="{FF2B5EF4-FFF2-40B4-BE49-F238E27FC236}">
                <a16:creationId xmlns:a16="http://schemas.microsoft.com/office/drawing/2014/main" id="{00C8DC97-B969-9EAE-93E5-175E817CAD80}"/>
              </a:ext>
            </a:extLst>
          </p:cNvPr>
          <p:cNvSpPr txBox="1">
            <a:spLocks noChangeArrowheads="1"/>
          </p:cNvSpPr>
          <p:nvPr/>
        </p:nvSpPr>
        <p:spPr bwMode="auto">
          <a:xfrm>
            <a:off x="6367744" y="2876550"/>
            <a:ext cx="729687"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a:solidFill>
                  <a:srgbClr val="000066"/>
                </a:solidFill>
                <a:latin typeface="+mn-lt"/>
              </a:rPr>
              <a:t>Assembly</a:t>
            </a:r>
          </a:p>
        </p:txBody>
      </p:sp>
      <p:sp>
        <p:nvSpPr>
          <p:cNvPr id="61" name="Text Box 49">
            <a:extLst>
              <a:ext uri="{FF2B5EF4-FFF2-40B4-BE49-F238E27FC236}">
                <a16:creationId xmlns:a16="http://schemas.microsoft.com/office/drawing/2014/main" id="{1E678479-1C92-6E31-3445-9FF4F56B4143}"/>
              </a:ext>
            </a:extLst>
          </p:cNvPr>
          <p:cNvSpPr txBox="1">
            <a:spLocks noChangeArrowheads="1"/>
          </p:cNvSpPr>
          <p:nvPr/>
        </p:nvSpPr>
        <p:spPr bwMode="auto">
          <a:xfrm>
            <a:off x="6385206" y="4283075"/>
            <a:ext cx="729687"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a:solidFill>
                  <a:srgbClr val="000066"/>
                </a:solidFill>
                <a:latin typeface="+mn-lt"/>
              </a:rPr>
              <a:t>Assembly</a:t>
            </a:r>
          </a:p>
        </p:txBody>
      </p:sp>
      <p:cxnSp>
        <p:nvCxnSpPr>
          <p:cNvPr id="62" name="AutoShape 50">
            <a:extLst>
              <a:ext uri="{FF2B5EF4-FFF2-40B4-BE49-F238E27FC236}">
                <a16:creationId xmlns:a16="http://schemas.microsoft.com/office/drawing/2014/main" id="{C475735D-12C2-3279-5EF6-AE533B9CD664}"/>
              </a:ext>
            </a:extLst>
          </p:cNvPr>
          <p:cNvCxnSpPr>
            <a:cxnSpLocks noChangeShapeType="1"/>
            <a:stCxn id="38" idx="3"/>
            <a:endCxn id="56" idx="1"/>
          </p:cNvCxnSpPr>
          <p:nvPr/>
        </p:nvCxnSpPr>
        <p:spPr bwMode="auto">
          <a:xfrm flipV="1">
            <a:off x="5899150" y="3987800"/>
            <a:ext cx="263525" cy="158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3" name="Oval 51">
            <a:extLst>
              <a:ext uri="{FF2B5EF4-FFF2-40B4-BE49-F238E27FC236}">
                <a16:creationId xmlns:a16="http://schemas.microsoft.com/office/drawing/2014/main" id="{BC2B50E9-384B-6FB4-E9ED-4C7DD8DC128C}"/>
              </a:ext>
            </a:extLst>
          </p:cNvPr>
          <p:cNvSpPr>
            <a:spLocks noChangeArrowheads="1"/>
          </p:cNvSpPr>
          <p:nvPr/>
        </p:nvSpPr>
        <p:spPr bwMode="auto">
          <a:xfrm>
            <a:off x="5207000" y="3287713"/>
            <a:ext cx="1624013" cy="212725"/>
          </a:xfrm>
          <a:prstGeom prst="ellipse">
            <a:avLst/>
          </a:prstGeom>
          <a:solidFill>
            <a:schemeClr val="accent3"/>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Key Assumptions</a:t>
            </a:r>
          </a:p>
        </p:txBody>
      </p:sp>
      <p:cxnSp>
        <p:nvCxnSpPr>
          <p:cNvPr id="64" name="AutoShape 52">
            <a:extLst>
              <a:ext uri="{FF2B5EF4-FFF2-40B4-BE49-F238E27FC236}">
                <a16:creationId xmlns:a16="http://schemas.microsoft.com/office/drawing/2014/main" id="{CF9D4938-874E-140D-72CA-5770D634C328}"/>
              </a:ext>
            </a:extLst>
          </p:cNvPr>
          <p:cNvCxnSpPr>
            <a:cxnSpLocks noChangeShapeType="1"/>
            <a:stCxn id="63" idx="4"/>
            <a:endCxn id="39" idx="0"/>
          </p:cNvCxnSpPr>
          <p:nvPr/>
        </p:nvCxnSpPr>
        <p:spPr bwMode="auto">
          <a:xfrm rot="5400000">
            <a:off x="5569744" y="3248819"/>
            <a:ext cx="198437" cy="701675"/>
          </a:xfrm>
          <a:prstGeom prst="bentConnector3">
            <a:avLst>
              <a:gd name="adj1" fmla="val 49639"/>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cxnSp>
      <p:cxnSp>
        <p:nvCxnSpPr>
          <p:cNvPr id="65" name="AutoShape 53">
            <a:extLst>
              <a:ext uri="{FF2B5EF4-FFF2-40B4-BE49-F238E27FC236}">
                <a16:creationId xmlns:a16="http://schemas.microsoft.com/office/drawing/2014/main" id="{0A676C3A-7AFD-D083-A7CC-1402F910D532}"/>
              </a:ext>
            </a:extLst>
          </p:cNvPr>
          <p:cNvCxnSpPr>
            <a:cxnSpLocks noChangeShapeType="1"/>
            <a:stCxn id="63" idx="4"/>
            <a:endCxn id="57" idx="0"/>
          </p:cNvCxnSpPr>
          <p:nvPr/>
        </p:nvCxnSpPr>
        <p:spPr bwMode="auto">
          <a:xfrm rot="16200000" flipH="1">
            <a:off x="6283325" y="3236913"/>
            <a:ext cx="198437" cy="725488"/>
          </a:xfrm>
          <a:prstGeom prst="bentConnector3">
            <a:avLst>
              <a:gd name="adj1" fmla="val 49273"/>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cxnSp>
      <p:sp>
        <p:nvSpPr>
          <p:cNvPr id="66" name="Rectangle 54">
            <a:extLst>
              <a:ext uri="{FF2B5EF4-FFF2-40B4-BE49-F238E27FC236}">
                <a16:creationId xmlns:a16="http://schemas.microsoft.com/office/drawing/2014/main" id="{A6BD5A31-7A47-14BA-9731-E161EF9CE2BC}"/>
              </a:ext>
            </a:extLst>
          </p:cNvPr>
          <p:cNvSpPr>
            <a:spLocks noChangeArrowheads="1"/>
          </p:cNvSpPr>
          <p:nvPr/>
        </p:nvSpPr>
        <p:spPr bwMode="auto">
          <a:xfrm>
            <a:off x="7745413" y="3375025"/>
            <a:ext cx="1163637" cy="198438"/>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Responsibility</a:t>
            </a:r>
          </a:p>
        </p:txBody>
      </p:sp>
      <p:sp>
        <p:nvSpPr>
          <p:cNvPr id="67" name="Rectangle 55">
            <a:extLst>
              <a:ext uri="{FF2B5EF4-FFF2-40B4-BE49-F238E27FC236}">
                <a16:creationId xmlns:a16="http://schemas.microsoft.com/office/drawing/2014/main" id="{20466B9C-20EA-1213-74E2-E32A06E80D15}"/>
              </a:ext>
            </a:extLst>
          </p:cNvPr>
          <p:cNvSpPr>
            <a:spLocks noChangeArrowheads="1"/>
          </p:cNvSpPr>
          <p:nvPr/>
        </p:nvSpPr>
        <p:spPr bwMode="auto">
          <a:xfrm>
            <a:off x="7745413" y="3178175"/>
            <a:ext cx="1163637" cy="196850"/>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rgbClr val="000066"/>
                </a:solidFill>
                <a:latin typeface="+mn-lt"/>
              </a:rPr>
              <a:t>Process</a:t>
            </a:r>
          </a:p>
        </p:txBody>
      </p:sp>
      <p:sp>
        <p:nvSpPr>
          <p:cNvPr id="68" name="Rectangle 56">
            <a:extLst>
              <a:ext uri="{FF2B5EF4-FFF2-40B4-BE49-F238E27FC236}">
                <a16:creationId xmlns:a16="http://schemas.microsoft.com/office/drawing/2014/main" id="{B924D16D-3E10-7483-4C46-DA1DE68AF75A}"/>
              </a:ext>
            </a:extLst>
          </p:cNvPr>
          <p:cNvSpPr>
            <a:spLocks noChangeArrowheads="1"/>
          </p:cNvSpPr>
          <p:nvPr/>
        </p:nvSpPr>
        <p:spPr bwMode="auto">
          <a:xfrm>
            <a:off x="7745413" y="2987675"/>
            <a:ext cx="1163637" cy="198438"/>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a:solidFill>
                  <a:schemeClr val="bg1"/>
                </a:solidFill>
                <a:latin typeface="+mn-lt"/>
              </a:rPr>
              <a:t>3</a:t>
            </a:r>
            <a:r>
              <a:rPr lang="en-US" altLang="en-US" sz="800" baseline="30000">
                <a:solidFill>
                  <a:schemeClr val="bg1"/>
                </a:solidFill>
                <a:latin typeface="+mn-lt"/>
              </a:rPr>
              <a:t>rd</a:t>
            </a:r>
            <a:r>
              <a:rPr lang="en-US" altLang="en-US" sz="800">
                <a:solidFill>
                  <a:schemeClr val="bg1"/>
                </a:solidFill>
                <a:latin typeface="+mn-lt"/>
              </a:rPr>
              <a:t>-Pass Spreadsheet</a:t>
            </a:r>
          </a:p>
        </p:txBody>
      </p:sp>
      <p:cxnSp>
        <p:nvCxnSpPr>
          <p:cNvPr id="69" name="AutoShape 57">
            <a:extLst>
              <a:ext uri="{FF2B5EF4-FFF2-40B4-BE49-F238E27FC236}">
                <a16:creationId xmlns:a16="http://schemas.microsoft.com/office/drawing/2014/main" id="{84AD3CC2-1DD4-3ED8-4A25-0ACDC39C8B23}"/>
              </a:ext>
            </a:extLst>
          </p:cNvPr>
          <p:cNvCxnSpPr>
            <a:cxnSpLocks noChangeShapeType="1"/>
            <a:stCxn id="29" idx="3"/>
            <a:endCxn id="67" idx="1"/>
          </p:cNvCxnSpPr>
          <p:nvPr/>
        </p:nvCxnSpPr>
        <p:spPr bwMode="auto">
          <a:xfrm>
            <a:off x="7321550" y="2568575"/>
            <a:ext cx="423863" cy="708025"/>
          </a:xfrm>
          <a:prstGeom prst="bentConnector3">
            <a:avLst>
              <a:gd name="adj1" fmla="val 4981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0" name="AutoShape 58">
            <a:extLst>
              <a:ext uri="{FF2B5EF4-FFF2-40B4-BE49-F238E27FC236}">
                <a16:creationId xmlns:a16="http://schemas.microsoft.com/office/drawing/2014/main" id="{27C9B5C7-069C-8DB3-AB37-750113CE5FBE}"/>
              </a:ext>
            </a:extLst>
          </p:cNvPr>
          <p:cNvCxnSpPr>
            <a:cxnSpLocks noChangeShapeType="1"/>
            <a:stCxn id="56" idx="3"/>
            <a:endCxn id="67" idx="1"/>
          </p:cNvCxnSpPr>
          <p:nvPr/>
        </p:nvCxnSpPr>
        <p:spPr bwMode="auto">
          <a:xfrm flipV="1">
            <a:off x="7326313" y="3276600"/>
            <a:ext cx="419100" cy="711200"/>
          </a:xfrm>
          <a:prstGeom prst="bentConnector3">
            <a:avLst>
              <a:gd name="adj1" fmla="val 4962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71" name="Group 59">
            <a:extLst>
              <a:ext uri="{FF2B5EF4-FFF2-40B4-BE49-F238E27FC236}">
                <a16:creationId xmlns:a16="http://schemas.microsoft.com/office/drawing/2014/main" id="{61A6F10D-0B39-A936-6B3C-05ECA3BE34CB}"/>
              </a:ext>
            </a:extLst>
          </p:cNvPr>
          <p:cNvGrpSpPr>
            <a:grpSpLocks/>
          </p:cNvGrpSpPr>
          <p:nvPr/>
        </p:nvGrpSpPr>
        <p:grpSpPr bwMode="auto">
          <a:xfrm>
            <a:off x="6129100" y="4706938"/>
            <a:ext cx="1871899" cy="996950"/>
            <a:chOff x="3360" y="3158"/>
            <a:chExt cx="1386" cy="736"/>
          </a:xfrm>
        </p:grpSpPr>
        <p:sp>
          <p:nvSpPr>
            <p:cNvPr id="72" name="Rectangle 60">
              <a:extLst>
                <a:ext uri="{FF2B5EF4-FFF2-40B4-BE49-F238E27FC236}">
                  <a16:creationId xmlns:a16="http://schemas.microsoft.com/office/drawing/2014/main" id="{98B6893A-3A02-9358-154E-CFFFF765A1CA}"/>
                </a:ext>
              </a:extLst>
            </p:cNvPr>
            <p:cNvSpPr>
              <a:spLocks noChangeArrowheads="1"/>
            </p:cNvSpPr>
            <p:nvPr/>
          </p:nvSpPr>
          <p:spPr bwMode="auto">
            <a:xfrm>
              <a:off x="3445" y="3226"/>
              <a:ext cx="1301" cy="668"/>
            </a:xfrm>
            <a:prstGeom prst="rect">
              <a:avLst/>
            </a:prstGeom>
            <a:solidFill>
              <a:srgbClr val="EAEAEA"/>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3" name="Rectangle 61">
              <a:extLst>
                <a:ext uri="{FF2B5EF4-FFF2-40B4-BE49-F238E27FC236}">
                  <a16:creationId xmlns:a16="http://schemas.microsoft.com/office/drawing/2014/main" id="{9A17FC30-B53E-3F29-7A73-08B3B11EE5D8}"/>
                </a:ext>
              </a:extLst>
            </p:cNvPr>
            <p:cNvSpPr>
              <a:spLocks noChangeArrowheads="1"/>
            </p:cNvSpPr>
            <p:nvPr/>
          </p:nvSpPr>
          <p:spPr bwMode="auto">
            <a:xfrm>
              <a:off x="3407" y="3188"/>
              <a:ext cx="1301" cy="668"/>
            </a:xfrm>
            <a:prstGeom prst="rect">
              <a:avLst/>
            </a:prstGeom>
            <a:solidFill>
              <a:srgbClr val="EAEAEA"/>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5" name="Rectangle 63">
              <a:extLst>
                <a:ext uri="{FF2B5EF4-FFF2-40B4-BE49-F238E27FC236}">
                  <a16:creationId xmlns:a16="http://schemas.microsoft.com/office/drawing/2014/main" id="{C5E028CF-1B37-3477-33BC-0CB4723BAFEE}"/>
                </a:ext>
              </a:extLst>
            </p:cNvPr>
            <p:cNvSpPr>
              <a:spLocks noChangeArrowheads="1"/>
            </p:cNvSpPr>
            <p:nvPr/>
          </p:nvSpPr>
          <p:spPr bwMode="auto">
            <a:xfrm>
              <a:off x="3360" y="3158"/>
              <a:ext cx="1308" cy="65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81" name="Text Box 69">
            <a:extLst>
              <a:ext uri="{FF2B5EF4-FFF2-40B4-BE49-F238E27FC236}">
                <a16:creationId xmlns:a16="http://schemas.microsoft.com/office/drawing/2014/main" id="{A6A0A018-D330-382B-3ACF-D15774F3C122}"/>
              </a:ext>
            </a:extLst>
          </p:cNvPr>
          <p:cNvSpPr txBox="1">
            <a:spLocks noChangeArrowheads="1"/>
          </p:cNvSpPr>
          <p:nvPr/>
        </p:nvSpPr>
        <p:spPr bwMode="auto">
          <a:xfrm>
            <a:off x="402387" y="1966913"/>
            <a:ext cx="797013"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solidFill>
                  <a:srgbClr val="000066"/>
                </a:solidFill>
                <a:latin typeface="+mn-lt"/>
              </a:rPr>
              <a:t>Operations</a:t>
            </a:r>
          </a:p>
        </p:txBody>
      </p:sp>
      <p:sp>
        <p:nvSpPr>
          <p:cNvPr id="82" name="Line 70">
            <a:extLst>
              <a:ext uri="{FF2B5EF4-FFF2-40B4-BE49-F238E27FC236}">
                <a16:creationId xmlns:a16="http://schemas.microsoft.com/office/drawing/2014/main" id="{39C75019-BA93-5AB2-D99F-5E88AFAF76D4}"/>
              </a:ext>
            </a:extLst>
          </p:cNvPr>
          <p:cNvSpPr>
            <a:spLocks noChangeShapeType="1"/>
          </p:cNvSpPr>
          <p:nvPr/>
        </p:nvSpPr>
        <p:spPr bwMode="auto">
          <a:xfrm>
            <a:off x="1277938" y="2074863"/>
            <a:ext cx="1766887" cy="0"/>
          </a:xfrm>
          <a:prstGeom prst="line">
            <a:avLst/>
          </a:prstGeom>
          <a:noFill/>
          <a:ln w="381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3" name="Text Box 71">
            <a:extLst>
              <a:ext uri="{FF2B5EF4-FFF2-40B4-BE49-F238E27FC236}">
                <a16:creationId xmlns:a16="http://schemas.microsoft.com/office/drawing/2014/main" id="{B0462282-0FE4-8077-740B-C119C7509795}"/>
              </a:ext>
            </a:extLst>
          </p:cNvPr>
          <p:cNvSpPr txBox="1">
            <a:spLocks noChangeArrowheads="1"/>
          </p:cNvSpPr>
          <p:nvPr/>
        </p:nvSpPr>
        <p:spPr bwMode="auto">
          <a:xfrm>
            <a:off x="377690" y="4411663"/>
            <a:ext cx="487633"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a:solidFill>
                  <a:srgbClr val="000066"/>
                </a:solidFill>
                <a:latin typeface="+mn-lt"/>
              </a:rPr>
              <a:t>Sales</a:t>
            </a:r>
          </a:p>
        </p:txBody>
      </p:sp>
      <p:sp>
        <p:nvSpPr>
          <p:cNvPr id="84" name="Line 72">
            <a:extLst>
              <a:ext uri="{FF2B5EF4-FFF2-40B4-BE49-F238E27FC236}">
                <a16:creationId xmlns:a16="http://schemas.microsoft.com/office/drawing/2014/main" id="{930777D0-BD7E-BF75-B6D0-AF803E409F36}"/>
              </a:ext>
            </a:extLst>
          </p:cNvPr>
          <p:cNvSpPr>
            <a:spLocks noChangeShapeType="1"/>
          </p:cNvSpPr>
          <p:nvPr/>
        </p:nvSpPr>
        <p:spPr bwMode="auto">
          <a:xfrm flipV="1">
            <a:off x="869950" y="4525963"/>
            <a:ext cx="2174875" cy="0"/>
          </a:xfrm>
          <a:prstGeom prst="line">
            <a:avLst/>
          </a:prstGeom>
          <a:noFill/>
          <a:ln w="38100" cap="sq">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85" name="AutoShape 73">
            <a:extLst>
              <a:ext uri="{FF2B5EF4-FFF2-40B4-BE49-F238E27FC236}">
                <a16:creationId xmlns:a16="http://schemas.microsoft.com/office/drawing/2014/main" id="{3DAF348B-2C4C-A1DA-07FD-75279D65F1B0}"/>
              </a:ext>
            </a:extLst>
          </p:cNvPr>
          <p:cNvCxnSpPr>
            <a:cxnSpLocks noChangeShapeType="1"/>
          </p:cNvCxnSpPr>
          <p:nvPr/>
        </p:nvCxnSpPr>
        <p:spPr bwMode="auto">
          <a:xfrm rot="5400000" flipV="1">
            <a:off x="7939087" y="4264026"/>
            <a:ext cx="238125" cy="1123950"/>
          </a:xfrm>
          <a:prstGeom prst="bentConnector3">
            <a:avLst>
              <a:gd name="adj1" fmla="val -96000"/>
            </a:avLst>
          </a:prstGeom>
          <a:noFill/>
          <a:ln w="12700" cap="sq">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86" name="Line 74">
            <a:extLst>
              <a:ext uri="{FF2B5EF4-FFF2-40B4-BE49-F238E27FC236}">
                <a16:creationId xmlns:a16="http://schemas.microsoft.com/office/drawing/2014/main" id="{CBDFE661-4101-F82D-9468-C252A05D79AD}"/>
              </a:ext>
            </a:extLst>
          </p:cNvPr>
          <p:cNvSpPr>
            <a:spLocks noChangeShapeType="1"/>
          </p:cNvSpPr>
          <p:nvPr/>
        </p:nvSpPr>
        <p:spPr bwMode="auto">
          <a:xfrm>
            <a:off x="8332788" y="3575050"/>
            <a:ext cx="0" cy="903288"/>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 name="Oval 77">
            <a:extLst>
              <a:ext uri="{FF2B5EF4-FFF2-40B4-BE49-F238E27FC236}">
                <a16:creationId xmlns:a16="http://schemas.microsoft.com/office/drawing/2014/main" id="{C4810E50-81F7-4DAD-8416-4D0293998279}"/>
              </a:ext>
            </a:extLst>
          </p:cNvPr>
          <p:cNvSpPr>
            <a:spLocks noChangeArrowheads="1"/>
          </p:cNvSpPr>
          <p:nvPr/>
        </p:nvSpPr>
        <p:spPr bwMode="auto">
          <a:xfrm>
            <a:off x="698500" y="5094288"/>
            <a:ext cx="334963" cy="32543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1</a:t>
            </a:r>
          </a:p>
        </p:txBody>
      </p:sp>
      <p:sp>
        <p:nvSpPr>
          <p:cNvPr id="90" name="Oval 78">
            <a:extLst>
              <a:ext uri="{FF2B5EF4-FFF2-40B4-BE49-F238E27FC236}">
                <a16:creationId xmlns:a16="http://schemas.microsoft.com/office/drawing/2014/main" id="{D7FA66DE-5EED-0B26-9321-E2539D468873}"/>
              </a:ext>
            </a:extLst>
          </p:cNvPr>
          <p:cNvSpPr>
            <a:spLocks noChangeArrowheads="1"/>
          </p:cNvSpPr>
          <p:nvPr/>
        </p:nvSpPr>
        <p:spPr bwMode="auto">
          <a:xfrm>
            <a:off x="3157538" y="5094288"/>
            <a:ext cx="334962" cy="32543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2</a:t>
            </a:r>
          </a:p>
        </p:txBody>
      </p:sp>
      <p:sp>
        <p:nvSpPr>
          <p:cNvPr id="91" name="Text Box 79">
            <a:extLst>
              <a:ext uri="{FF2B5EF4-FFF2-40B4-BE49-F238E27FC236}">
                <a16:creationId xmlns:a16="http://schemas.microsoft.com/office/drawing/2014/main" id="{FDAFD557-4452-F785-49EC-1C88BE310F7F}"/>
              </a:ext>
            </a:extLst>
          </p:cNvPr>
          <p:cNvSpPr txBox="1">
            <a:spLocks noChangeArrowheads="1"/>
          </p:cNvSpPr>
          <p:nvPr/>
        </p:nvSpPr>
        <p:spPr bwMode="auto">
          <a:xfrm>
            <a:off x="1060107" y="5138738"/>
            <a:ext cx="1843774"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rgbClr val="000066"/>
                </a:solidFill>
                <a:latin typeface="+mn-lt"/>
              </a:rPr>
              <a:t>MTO S&amp;OP Spreadsheet</a:t>
            </a:r>
          </a:p>
        </p:txBody>
      </p:sp>
      <p:sp>
        <p:nvSpPr>
          <p:cNvPr id="92" name="Text Box 80">
            <a:extLst>
              <a:ext uri="{FF2B5EF4-FFF2-40B4-BE49-F238E27FC236}">
                <a16:creationId xmlns:a16="http://schemas.microsoft.com/office/drawing/2014/main" id="{CB572940-EA15-4899-6749-8AE2B952F5FB}"/>
              </a:ext>
            </a:extLst>
          </p:cNvPr>
          <p:cNvSpPr txBox="1">
            <a:spLocks noChangeArrowheads="1"/>
          </p:cNvSpPr>
          <p:nvPr/>
        </p:nvSpPr>
        <p:spPr bwMode="auto">
          <a:xfrm>
            <a:off x="3511276" y="5138738"/>
            <a:ext cx="1829347"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rgbClr val="000066"/>
                </a:solidFill>
                <a:latin typeface="+mn-lt"/>
              </a:rPr>
              <a:t>MTS S&amp;OP Spreadsheet</a:t>
            </a:r>
          </a:p>
        </p:txBody>
      </p:sp>
      <p:graphicFrame>
        <p:nvGraphicFramePr>
          <p:cNvPr id="94" name="Object 2">
            <a:extLst>
              <a:ext uri="{FF2B5EF4-FFF2-40B4-BE49-F238E27FC236}">
                <a16:creationId xmlns:a16="http://schemas.microsoft.com/office/drawing/2014/main" id="{2DD5CB73-B403-593C-9B59-DE2ECE73C639}"/>
              </a:ext>
            </a:extLst>
          </p:cNvPr>
          <p:cNvGraphicFramePr>
            <a:graphicFrameLocks noChangeAspect="1"/>
          </p:cNvGraphicFramePr>
          <p:nvPr>
            <p:extLst>
              <p:ext uri="{D42A27DB-BD31-4B8C-83A1-F6EECF244321}">
                <p14:modId xmlns:p14="http://schemas.microsoft.com/office/powerpoint/2010/main" val="1221240620"/>
              </p:ext>
            </p:extLst>
          </p:nvPr>
        </p:nvGraphicFramePr>
        <p:xfrm>
          <a:off x="6236990" y="4764091"/>
          <a:ext cx="1606182" cy="793749"/>
        </p:xfrm>
        <a:graphic>
          <a:graphicData uri="http://schemas.openxmlformats.org/presentationml/2006/ole">
            <mc:AlternateContent xmlns:mc="http://schemas.openxmlformats.org/markup-compatibility/2006">
              <mc:Choice xmlns:v="urn:schemas-microsoft-com:vml" Requires="v">
                <p:oleObj name="Worksheet" r:id="rId3" imgW="12525304" imgH="7610582" progId="Excel.Sheet.8">
                  <p:embed/>
                </p:oleObj>
              </mc:Choice>
              <mc:Fallback>
                <p:oleObj name="Worksheet" r:id="rId3" imgW="12525304" imgH="7610582" progId="Excel.Sheet.8">
                  <p:embed/>
                  <p:pic>
                    <p:nvPicPr>
                      <p:cNvPr id="24" name="Object 2">
                        <a:extLst>
                          <a:ext uri="{FF2B5EF4-FFF2-40B4-BE49-F238E27FC236}">
                            <a16:creationId xmlns:a16="http://schemas.microsoft.com/office/drawing/2014/main" id="{2AFF0055-F995-2CF3-0979-CC4CE88374AA}"/>
                          </a:ext>
                        </a:extLst>
                      </p:cNvPr>
                      <p:cNvPicPr>
                        <a:picLocks noChangeAspect="1" noChangeArrowheads="1"/>
                      </p:cNvPicPr>
                      <p:nvPr/>
                    </p:nvPicPr>
                    <p:blipFill>
                      <a:blip r:embed="rId4"/>
                      <a:srcRect/>
                      <a:stretch>
                        <a:fillRect/>
                      </a:stretch>
                    </p:blipFill>
                    <p:spPr bwMode="auto">
                      <a:xfrm>
                        <a:off x="6236990" y="4764091"/>
                        <a:ext cx="1606182" cy="793749"/>
                      </a:xfrm>
                      <a:prstGeom prst="rect">
                        <a:avLst/>
                      </a:prstGeom>
                      <a:noFill/>
                      <a:ln>
                        <a:noFill/>
                      </a:ln>
                      <a:effectLst/>
                    </p:spPr>
                  </p:pic>
                </p:oleObj>
              </mc:Fallback>
            </mc:AlternateContent>
          </a:graphicData>
        </a:graphic>
      </p:graphicFrame>
      <p:grpSp>
        <p:nvGrpSpPr>
          <p:cNvPr id="96" name="Group 95">
            <a:extLst>
              <a:ext uri="{FF2B5EF4-FFF2-40B4-BE49-F238E27FC236}">
                <a16:creationId xmlns:a16="http://schemas.microsoft.com/office/drawing/2014/main" id="{EFE95C78-B958-F977-2A39-EF08F6C35919}"/>
              </a:ext>
            </a:extLst>
          </p:cNvPr>
          <p:cNvGrpSpPr/>
          <p:nvPr/>
        </p:nvGrpSpPr>
        <p:grpSpPr>
          <a:xfrm>
            <a:off x="7094538" y="4799013"/>
            <a:ext cx="2030411" cy="1143000"/>
            <a:chOff x="7094538" y="4799013"/>
            <a:chExt cx="2030411" cy="1143000"/>
          </a:xfrm>
        </p:grpSpPr>
        <p:grpSp>
          <p:nvGrpSpPr>
            <p:cNvPr id="76" name="Group 64">
              <a:extLst>
                <a:ext uri="{FF2B5EF4-FFF2-40B4-BE49-F238E27FC236}">
                  <a16:creationId xmlns:a16="http://schemas.microsoft.com/office/drawing/2014/main" id="{892630AD-DF95-3C6B-BCF8-8B27951EE830}"/>
                </a:ext>
              </a:extLst>
            </p:cNvPr>
            <p:cNvGrpSpPr>
              <a:grpSpLocks/>
            </p:cNvGrpSpPr>
            <p:nvPr/>
          </p:nvGrpSpPr>
          <p:grpSpPr bwMode="auto">
            <a:xfrm>
              <a:off x="7253050" y="4945063"/>
              <a:ext cx="1871899" cy="996950"/>
              <a:chOff x="3360" y="3158"/>
              <a:chExt cx="1386" cy="736"/>
            </a:xfrm>
          </p:grpSpPr>
          <p:sp>
            <p:nvSpPr>
              <p:cNvPr id="77" name="Rectangle 65">
                <a:extLst>
                  <a:ext uri="{FF2B5EF4-FFF2-40B4-BE49-F238E27FC236}">
                    <a16:creationId xmlns:a16="http://schemas.microsoft.com/office/drawing/2014/main" id="{15F2EFAE-DBFA-D49A-810D-84DCB026A560}"/>
                  </a:ext>
                </a:extLst>
              </p:cNvPr>
              <p:cNvSpPr>
                <a:spLocks noChangeArrowheads="1"/>
              </p:cNvSpPr>
              <p:nvPr/>
            </p:nvSpPr>
            <p:spPr bwMode="auto">
              <a:xfrm>
                <a:off x="3445" y="3226"/>
                <a:ext cx="1301" cy="668"/>
              </a:xfrm>
              <a:prstGeom prst="rect">
                <a:avLst/>
              </a:prstGeom>
              <a:solidFill>
                <a:srgbClr val="EAEAEA"/>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8" name="Rectangle 66">
                <a:extLst>
                  <a:ext uri="{FF2B5EF4-FFF2-40B4-BE49-F238E27FC236}">
                    <a16:creationId xmlns:a16="http://schemas.microsoft.com/office/drawing/2014/main" id="{181D309E-B374-ED3A-604E-CB2140B3DFE4}"/>
                  </a:ext>
                </a:extLst>
              </p:cNvPr>
              <p:cNvSpPr>
                <a:spLocks noChangeArrowheads="1"/>
              </p:cNvSpPr>
              <p:nvPr/>
            </p:nvSpPr>
            <p:spPr bwMode="auto">
              <a:xfrm>
                <a:off x="3407" y="3188"/>
                <a:ext cx="1301" cy="668"/>
              </a:xfrm>
              <a:prstGeom prst="rect">
                <a:avLst/>
              </a:prstGeom>
              <a:solidFill>
                <a:srgbClr val="EAEAEA"/>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0" name="Rectangle 68">
                <a:extLst>
                  <a:ext uri="{FF2B5EF4-FFF2-40B4-BE49-F238E27FC236}">
                    <a16:creationId xmlns:a16="http://schemas.microsoft.com/office/drawing/2014/main" id="{B5BEC4CC-AA05-D4E6-5583-EC0D98C7997D}"/>
                  </a:ext>
                </a:extLst>
              </p:cNvPr>
              <p:cNvSpPr>
                <a:spLocks noChangeArrowheads="1"/>
              </p:cNvSpPr>
              <p:nvPr/>
            </p:nvSpPr>
            <p:spPr bwMode="auto">
              <a:xfrm>
                <a:off x="3360" y="3158"/>
                <a:ext cx="1308" cy="657"/>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88" name="Oval 76">
              <a:extLst>
                <a:ext uri="{FF2B5EF4-FFF2-40B4-BE49-F238E27FC236}">
                  <a16:creationId xmlns:a16="http://schemas.microsoft.com/office/drawing/2014/main" id="{BBDCD4F0-86C8-B4E7-14E1-BB00355E7051}"/>
                </a:ext>
              </a:extLst>
            </p:cNvPr>
            <p:cNvSpPr>
              <a:spLocks noChangeArrowheads="1"/>
            </p:cNvSpPr>
            <p:nvPr/>
          </p:nvSpPr>
          <p:spPr bwMode="auto">
            <a:xfrm>
              <a:off x="7094538" y="4799013"/>
              <a:ext cx="334962" cy="32543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2</a:t>
              </a:r>
            </a:p>
          </p:txBody>
        </p:sp>
        <p:graphicFrame>
          <p:nvGraphicFramePr>
            <p:cNvPr id="95" name="Object 2">
              <a:extLst>
                <a:ext uri="{FF2B5EF4-FFF2-40B4-BE49-F238E27FC236}">
                  <a16:creationId xmlns:a16="http://schemas.microsoft.com/office/drawing/2014/main" id="{8917DB2B-49D3-F847-4A3C-1041B75B59DB}"/>
                </a:ext>
              </a:extLst>
            </p:cNvPr>
            <p:cNvGraphicFramePr>
              <a:graphicFrameLocks noChangeAspect="1"/>
            </p:cNvGraphicFramePr>
            <p:nvPr>
              <p:extLst>
                <p:ext uri="{D42A27DB-BD31-4B8C-83A1-F6EECF244321}">
                  <p14:modId xmlns:p14="http://schemas.microsoft.com/office/powerpoint/2010/main" val="900363289"/>
                </p:ext>
              </p:extLst>
            </p:nvPr>
          </p:nvGraphicFramePr>
          <p:xfrm>
            <a:off x="7391918" y="4996502"/>
            <a:ext cx="1566909" cy="838501"/>
          </p:xfrm>
          <a:graphic>
            <a:graphicData uri="http://schemas.openxmlformats.org/presentationml/2006/ole">
              <mc:AlternateContent xmlns:mc="http://schemas.openxmlformats.org/markup-compatibility/2006">
                <mc:Choice xmlns:v="urn:schemas-microsoft-com:vml" Requires="v">
                  <p:oleObj name="Worksheet" r:id="rId5" imgW="12325178" imgH="7381822" progId="Excel.Sheet.8">
                    <p:embed/>
                  </p:oleObj>
                </mc:Choice>
                <mc:Fallback>
                  <p:oleObj name="Worksheet" r:id="rId5" imgW="12325178" imgH="7381822" progId="Excel.Sheet.8">
                    <p:embed/>
                    <p:pic>
                      <p:nvPicPr>
                        <p:cNvPr id="25" name="Object 2">
                          <a:extLst>
                            <a:ext uri="{FF2B5EF4-FFF2-40B4-BE49-F238E27FC236}">
                              <a16:creationId xmlns:a16="http://schemas.microsoft.com/office/drawing/2014/main" id="{9E44A862-4ADA-5C80-3D1C-7132AB9DF53A}"/>
                            </a:ext>
                          </a:extLst>
                        </p:cNvPr>
                        <p:cNvPicPr>
                          <a:picLocks noChangeAspect="1" noChangeArrowheads="1"/>
                        </p:cNvPicPr>
                        <p:nvPr/>
                      </p:nvPicPr>
                      <p:blipFill>
                        <a:blip r:embed="rId6"/>
                        <a:srcRect/>
                        <a:stretch>
                          <a:fillRect/>
                        </a:stretch>
                      </p:blipFill>
                      <p:spPr bwMode="auto">
                        <a:xfrm>
                          <a:off x="7391918" y="4996502"/>
                          <a:ext cx="1566909" cy="838501"/>
                        </a:xfrm>
                        <a:prstGeom prst="rect">
                          <a:avLst/>
                        </a:prstGeom>
                        <a:noFill/>
                        <a:ln>
                          <a:noFill/>
                        </a:ln>
                        <a:effectLst/>
                      </p:spPr>
                    </p:pic>
                  </p:oleObj>
                </mc:Fallback>
              </mc:AlternateContent>
            </a:graphicData>
          </a:graphic>
        </p:graphicFrame>
      </p:grpSp>
      <p:sp>
        <p:nvSpPr>
          <p:cNvPr id="87" name="Oval 75">
            <a:extLst>
              <a:ext uri="{FF2B5EF4-FFF2-40B4-BE49-F238E27FC236}">
                <a16:creationId xmlns:a16="http://schemas.microsoft.com/office/drawing/2014/main" id="{80884DC6-B1C3-B439-7D2E-8832A66BA2C8}"/>
              </a:ext>
            </a:extLst>
          </p:cNvPr>
          <p:cNvSpPr>
            <a:spLocks noChangeArrowheads="1"/>
          </p:cNvSpPr>
          <p:nvPr/>
        </p:nvSpPr>
        <p:spPr bwMode="auto">
          <a:xfrm>
            <a:off x="5967413" y="4551363"/>
            <a:ext cx="334962" cy="32543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1</a:t>
            </a:r>
          </a:p>
        </p:txBody>
      </p:sp>
    </p:spTree>
    <p:extLst>
      <p:ext uri="{BB962C8B-B14F-4D97-AF65-F5344CB8AC3E}">
        <p14:creationId xmlns:p14="http://schemas.microsoft.com/office/powerpoint/2010/main" val="17453109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MTO Spreadsheet Creation:  </a:t>
            </a:r>
            <a:br>
              <a:rPr lang="en-US" dirty="0"/>
            </a:br>
            <a:r>
              <a:rPr lang="en-US" dirty="0"/>
              <a:t>Synchronizing Milestone Achievements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286596" y="3182147"/>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During the value stream &amp; process-mapping stage, pilot team members should carefully assess roles and responsibilities against the timing of required S&amp;OP key milestones in order to synchronize activity completion.</a:t>
            </a:r>
          </a:p>
        </p:txBody>
      </p:sp>
      <p:grpSp>
        <p:nvGrpSpPr>
          <p:cNvPr id="28" name="Group 27">
            <a:extLst>
              <a:ext uri="{FF2B5EF4-FFF2-40B4-BE49-F238E27FC236}">
                <a16:creationId xmlns:a16="http://schemas.microsoft.com/office/drawing/2014/main" id="{E048B211-4AFE-3FDF-B2DE-38C3611E1C9B}"/>
              </a:ext>
            </a:extLst>
          </p:cNvPr>
          <p:cNvGrpSpPr/>
          <p:nvPr/>
        </p:nvGrpSpPr>
        <p:grpSpPr>
          <a:xfrm>
            <a:off x="701748" y="1914045"/>
            <a:ext cx="8467964" cy="3932542"/>
            <a:chOff x="634999" y="2360613"/>
            <a:chExt cx="8205104" cy="3932542"/>
          </a:xfrm>
        </p:grpSpPr>
        <p:grpSp>
          <p:nvGrpSpPr>
            <p:cNvPr id="4" name="Group 2">
              <a:extLst>
                <a:ext uri="{FF2B5EF4-FFF2-40B4-BE49-F238E27FC236}">
                  <a16:creationId xmlns:a16="http://schemas.microsoft.com/office/drawing/2014/main" id="{BDCD0803-36CE-82CB-A720-118A2F12504B}"/>
                </a:ext>
              </a:extLst>
            </p:cNvPr>
            <p:cNvGrpSpPr>
              <a:grpSpLocks/>
            </p:cNvGrpSpPr>
            <p:nvPr/>
          </p:nvGrpSpPr>
          <p:grpSpPr bwMode="auto">
            <a:xfrm>
              <a:off x="752475" y="3808413"/>
              <a:ext cx="1535113" cy="776287"/>
              <a:chOff x="186" y="1732"/>
              <a:chExt cx="733" cy="369"/>
            </a:xfrm>
          </p:grpSpPr>
          <p:sp>
            <p:nvSpPr>
              <p:cNvPr id="5" name="Rectangle 3">
                <a:extLst>
                  <a:ext uri="{FF2B5EF4-FFF2-40B4-BE49-F238E27FC236}">
                    <a16:creationId xmlns:a16="http://schemas.microsoft.com/office/drawing/2014/main" id="{D1E2B614-991A-4247-BFF7-3CDCF38CAFBB}"/>
                  </a:ext>
                </a:extLst>
              </p:cNvPr>
              <p:cNvSpPr>
                <a:spLocks noChangeArrowheads="1"/>
              </p:cNvSpPr>
              <p:nvPr/>
            </p:nvSpPr>
            <p:spPr bwMode="auto">
              <a:xfrm>
                <a:off x="186" y="1976"/>
                <a:ext cx="733" cy="125"/>
              </a:xfrm>
              <a:prstGeom prst="rect">
                <a:avLst/>
              </a:prstGeom>
              <a:solidFill>
                <a:schemeClr val="accent3"/>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Responsibility</a:t>
                </a:r>
              </a:p>
            </p:txBody>
          </p:sp>
          <p:sp>
            <p:nvSpPr>
              <p:cNvPr id="6" name="Rectangle 4">
                <a:extLst>
                  <a:ext uri="{FF2B5EF4-FFF2-40B4-BE49-F238E27FC236}">
                    <a16:creationId xmlns:a16="http://schemas.microsoft.com/office/drawing/2014/main" id="{8318ADBE-AED6-5ABF-D814-2A2D3EE0B56A}"/>
                  </a:ext>
                </a:extLst>
              </p:cNvPr>
              <p:cNvSpPr>
                <a:spLocks noChangeArrowheads="1"/>
              </p:cNvSpPr>
              <p:nvPr/>
            </p:nvSpPr>
            <p:spPr bwMode="auto">
              <a:xfrm>
                <a:off x="186" y="1852"/>
                <a:ext cx="733" cy="124"/>
              </a:xfrm>
              <a:prstGeom prst="rect">
                <a:avLst/>
              </a:prstGeom>
              <a:solidFill>
                <a:schemeClr val="accent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rgbClr val="000066"/>
                    </a:solidFill>
                    <a:latin typeface="+mn-lt"/>
                  </a:rPr>
                  <a:t>Process</a:t>
                </a:r>
              </a:p>
            </p:txBody>
          </p:sp>
          <p:sp>
            <p:nvSpPr>
              <p:cNvPr id="7" name="Rectangle 5">
                <a:extLst>
                  <a:ext uri="{FF2B5EF4-FFF2-40B4-BE49-F238E27FC236}">
                    <a16:creationId xmlns:a16="http://schemas.microsoft.com/office/drawing/2014/main" id="{2CC792C9-AC45-CC13-0DAE-4A72C65E89C8}"/>
                  </a:ext>
                </a:extLst>
              </p:cNvPr>
              <p:cNvSpPr>
                <a:spLocks noChangeArrowheads="1"/>
              </p:cNvSpPr>
              <p:nvPr/>
            </p:nvSpPr>
            <p:spPr bwMode="auto">
              <a:xfrm>
                <a:off x="186" y="1732"/>
                <a:ext cx="733" cy="125"/>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Last-Month Actuals</a:t>
                </a:r>
              </a:p>
            </p:txBody>
          </p:sp>
        </p:grpSp>
        <p:sp>
          <p:nvSpPr>
            <p:cNvPr id="8" name="Rectangle 6">
              <a:extLst>
                <a:ext uri="{FF2B5EF4-FFF2-40B4-BE49-F238E27FC236}">
                  <a16:creationId xmlns:a16="http://schemas.microsoft.com/office/drawing/2014/main" id="{2C9D1DD0-1961-3909-6D9E-32C2FFE0CE63}"/>
                </a:ext>
              </a:extLst>
            </p:cNvPr>
            <p:cNvSpPr>
              <a:spLocks noChangeArrowheads="1"/>
            </p:cNvSpPr>
            <p:nvPr/>
          </p:nvSpPr>
          <p:spPr bwMode="auto">
            <a:xfrm>
              <a:off x="758826" y="3022600"/>
              <a:ext cx="1449388" cy="42386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Data Assembly</a:t>
              </a:r>
            </a:p>
            <a:p>
              <a:pPr algn="ctr">
                <a:lnSpc>
                  <a:spcPct val="80000"/>
                </a:lnSpc>
                <a:buClrTx/>
                <a:buSzTx/>
                <a:buFontTx/>
                <a:buNone/>
              </a:pPr>
              <a:r>
                <a:rPr lang="en-US" altLang="en-US" sz="1100">
                  <a:latin typeface="+mn-lt"/>
                </a:rPr>
                <a:t>Day 5</a:t>
              </a:r>
            </a:p>
          </p:txBody>
        </p:sp>
        <p:sp>
          <p:nvSpPr>
            <p:cNvPr id="9" name="Rectangle 7">
              <a:extLst>
                <a:ext uri="{FF2B5EF4-FFF2-40B4-BE49-F238E27FC236}">
                  <a16:creationId xmlns:a16="http://schemas.microsoft.com/office/drawing/2014/main" id="{FBDDD142-E003-CE4D-C63B-D5A384B905D0}"/>
                </a:ext>
              </a:extLst>
            </p:cNvPr>
            <p:cNvSpPr>
              <a:spLocks noChangeArrowheads="1"/>
            </p:cNvSpPr>
            <p:nvPr/>
          </p:nvSpPr>
          <p:spPr bwMode="auto">
            <a:xfrm>
              <a:off x="2405064" y="3022600"/>
              <a:ext cx="1449387" cy="42386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Demand Planning</a:t>
              </a:r>
            </a:p>
            <a:p>
              <a:pPr algn="ctr">
                <a:lnSpc>
                  <a:spcPct val="80000"/>
                </a:lnSpc>
                <a:buClrTx/>
                <a:buSzTx/>
                <a:buFontTx/>
                <a:buNone/>
              </a:pPr>
              <a:r>
                <a:rPr lang="en-US" altLang="en-US" sz="1100">
                  <a:latin typeface="+mn-lt"/>
                </a:rPr>
                <a:t>Day 10</a:t>
              </a:r>
            </a:p>
          </p:txBody>
        </p:sp>
        <p:sp>
          <p:nvSpPr>
            <p:cNvPr id="10" name="Rectangle 8">
              <a:extLst>
                <a:ext uri="{FF2B5EF4-FFF2-40B4-BE49-F238E27FC236}">
                  <a16:creationId xmlns:a16="http://schemas.microsoft.com/office/drawing/2014/main" id="{C45A1AF2-F232-F935-6BC3-0D2DAA051CC4}"/>
                </a:ext>
              </a:extLst>
            </p:cNvPr>
            <p:cNvSpPr>
              <a:spLocks noChangeArrowheads="1"/>
            </p:cNvSpPr>
            <p:nvPr/>
          </p:nvSpPr>
          <p:spPr bwMode="auto">
            <a:xfrm>
              <a:off x="4044951" y="3022600"/>
              <a:ext cx="1449388" cy="42386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Supply Planning</a:t>
              </a:r>
            </a:p>
            <a:p>
              <a:pPr algn="ctr">
                <a:lnSpc>
                  <a:spcPct val="80000"/>
                </a:lnSpc>
                <a:buClrTx/>
                <a:buSzTx/>
                <a:buFontTx/>
                <a:buNone/>
              </a:pPr>
              <a:r>
                <a:rPr lang="en-US" altLang="en-US" sz="1100">
                  <a:latin typeface="+mn-lt"/>
                </a:rPr>
                <a:t>Day 15</a:t>
              </a:r>
            </a:p>
          </p:txBody>
        </p:sp>
        <p:sp>
          <p:nvSpPr>
            <p:cNvPr id="11" name="Rectangle 9">
              <a:extLst>
                <a:ext uri="{FF2B5EF4-FFF2-40B4-BE49-F238E27FC236}">
                  <a16:creationId xmlns:a16="http://schemas.microsoft.com/office/drawing/2014/main" id="{93AEBA1B-8A02-1145-243D-37523D97615E}"/>
                </a:ext>
              </a:extLst>
            </p:cNvPr>
            <p:cNvSpPr>
              <a:spLocks noChangeArrowheads="1"/>
            </p:cNvSpPr>
            <p:nvPr/>
          </p:nvSpPr>
          <p:spPr bwMode="auto">
            <a:xfrm>
              <a:off x="5691188" y="3022600"/>
              <a:ext cx="1449387" cy="42386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Pre-S&amp;OP Meeting</a:t>
              </a:r>
            </a:p>
            <a:p>
              <a:pPr algn="ctr">
                <a:lnSpc>
                  <a:spcPct val="80000"/>
                </a:lnSpc>
                <a:buClrTx/>
                <a:buSzTx/>
                <a:buFontTx/>
                <a:buNone/>
              </a:pPr>
              <a:r>
                <a:rPr lang="en-US" altLang="en-US" sz="1100">
                  <a:latin typeface="+mn-lt"/>
                </a:rPr>
                <a:t>Day 20</a:t>
              </a:r>
            </a:p>
          </p:txBody>
        </p:sp>
        <p:sp>
          <p:nvSpPr>
            <p:cNvPr id="12" name="Rectangle 10">
              <a:extLst>
                <a:ext uri="{FF2B5EF4-FFF2-40B4-BE49-F238E27FC236}">
                  <a16:creationId xmlns:a16="http://schemas.microsoft.com/office/drawing/2014/main" id="{5E80B321-27F5-DECD-954F-61D191E1366E}"/>
                </a:ext>
              </a:extLst>
            </p:cNvPr>
            <p:cNvSpPr>
              <a:spLocks noChangeArrowheads="1"/>
            </p:cNvSpPr>
            <p:nvPr/>
          </p:nvSpPr>
          <p:spPr bwMode="auto">
            <a:xfrm>
              <a:off x="7345363" y="3022600"/>
              <a:ext cx="1449387" cy="423863"/>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Exec S&amp;OP Meeting</a:t>
              </a:r>
            </a:p>
            <a:p>
              <a:pPr algn="ctr">
                <a:lnSpc>
                  <a:spcPct val="80000"/>
                </a:lnSpc>
                <a:buClrTx/>
                <a:buSzTx/>
                <a:buFontTx/>
                <a:buNone/>
              </a:pPr>
              <a:r>
                <a:rPr lang="en-US" altLang="en-US" sz="1100">
                  <a:latin typeface="+mn-lt"/>
                </a:rPr>
                <a:t>Day 22</a:t>
              </a:r>
            </a:p>
          </p:txBody>
        </p:sp>
        <p:sp>
          <p:nvSpPr>
            <p:cNvPr id="13" name="Oval 11">
              <a:extLst>
                <a:ext uri="{FF2B5EF4-FFF2-40B4-BE49-F238E27FC236}">
                  <a16:creationId xmlns:a16="http://schemas.microsoft.com/office/drawing/2014/main" id="{DC927DBA-53A5-5994-BF76-0B68A68CD3B3}"/>
                </a:ext>
              </a:extLst>
            </p:cNvPr>
            <p:cNvSpPr>
              <a:spLocks noChangeArrowheads="1"/>
            </p:cNvSpPr>
            <p:nvPr/>
          </p:nvSpPr>
          <p:spPr bwMode="auto">
            <a:xfrm>
              <a:off x="635000" y="2360613"/>
              <a:ext cx="1706563" cy="280987"/>
            </a:xfrm>
            <a:prstGeom prst="ellipse">
              <a:avLst/>
            </a:prstGeom>
            <a:solidFill>
              <a:schemeClr val="accent1"/>
            </a:solidFill>
            <a:ln w="12700" cap="sq">
              <a:solidFill>
                <a:srgbClr val="800000"/>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i="1" dirty="0">
                  <a:solidFill>
                    <a:schemeClr val="bg1"/>
                  </a:solidFill>
                  <a:latin typeface="+mn-lt"/>
                </a:rPr>
                <a:t>Last-Month Results </a:t>
              </a:r>
            </a:p>
          </p:txBody>
        </p:sp>
        <p:cxnSp>
          <p:nvCxnSpPr>
            <p:cNvPr id="14" name="AutoShape 12">
              <a:extLst>
                <a:ext uri="{FF2B5EF4-FFF2-40B4-BE49-F238E27FC236}">
                  <a16:creationId xmlns:a16="http://schemas.microsoft.com/office/drawing/2014/main" id="{325F37F1-8A50-A8E0-29C9-8E4EEE9BEA61}"/>
                </a:ext>
              </a:extLst>
            </p:cNvPr>
            <p:cNvCxnSpPr>
              <a:cxnSpLocks noChangeShapeType="1"/>
              <a:stCxn id="13" idx="2"/>
              <a:endCxn id="8" idx="1"/>
            </p:cNvCxnSpPr>
            <p:nvPr/>
          </p:nvCxnSpPr>
          <p:spPr bwMode="auto">
            <a:xfrm rot="10800000" flipH="1" flipV="1">
              <a:off x="634999" y="2501106"/>
              <a:ext cx="123826" cy="733425"/>
            </a:xfrm>
            <a:prstGeom prst="bentConnector3">
              <a:avLst>
                <a:gd name="adj1" fmla="val -178883"/>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5" name="Line 13">
              <a:extLst>
                <a:ext uri="{FF2B5EF4-FFF2-40B4-BE49-F238E27FC236}">
                  <a16:creationId xmlns:a16="http://schemas.microsoft.com/office/drawing/2014/main" id="{CF71B54A-77F5-D6BE-0DB7-BF83093BD4FE}"/>
                </a:ext>
              </a:extLst>
            </p:cNvPr>
            <p:cNvSpPr>
              <a:spLocks noChangeShapeType="1"/>
            </p:cNvSpPr>
            <p:nvPr/>
          </p:nvSpPr>
          <p:spPr bwMode="auto">
            <a:xfrm flipV="1">
              <a:off x="1327150" y="2832100"/>
              <a:ext cx="6813550"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14">
              <a:extLst>
                <a:ext uri="{FF2B5EF4-FFF2-40B4-BE49-F238E27FC236}">
                  <a16:creationId xmlns:a16="http://schemas.microsoft.com/office/drawing/2014/main" id="{AA085969-6A42-AEF4-40D2-B3E3E9E1D0AA}"/>
                </a:ext>
              </a:extLst>
            </p:cNvPr>
            <p:cNvSpPr txBox="1">
              <a:spLocks noChangeArrowheads="1"/>
            </p:cNvSpPr>
            <p:nvPr/>
          </p:nvSpPr>
          <p:spPr bwMode="auto">
            <a:xfrm>
              <a:off x="712295" y="2725738"/>
              <a:ext cx="561372"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0</a:t>
              </a:r>
            </a:p>
          </p:txBody>
        </p:sp>
        <p:sp>
          <p:nvSpPr>
            <p:cNvPr id="17" name="Text Box 15">
              <a:extLst>
                <a:ext uri="{FF2B5EF4-FFF2-40B4-BE49-F238E27FC236}">
                  <a16:creationId xmlns:a16="http://schemas.microsoft.com/office/drawing/2014/main" id="{4CF878DD-D4AB-5411-95D9-6E75C1E04585}"/>
                </a:ext>
              </a:extLst>
            </p:cNvPr>
            <p:cNvSpPr txBox="1">
              <a:spLocks noChangeArrowheads="1"/>
            </p:cNvSpPr>
            <p:nvPr/>
          </p:nvSpPr>
          <p:spPr bwMode="auto">
            <a:xfrm>
              <a:off x="8193772" y="2725738"/>
              <a:ext cx="646331"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i="1">
                  <a:latin typeface="+mn-lt"/>
                </a:rPr>
                <a:t>Day 30</a:t>
              </a:r>
            </a:p>
          </p:txBody>
        </p:sp>
        <p:sp>
          <p:nvSpPr>
            <p:cNvPr id="18" name="Line 18">
              <a:extLst>
                <a:ext uri="{FF2B5EF4-FFF2-40B4-BE49-F238E27FC236}">
                  <a16:creationId xmlns:a16="http://schemas.microsoft.com/office/drawing/2014/main" id="{5E5A00C8-B35D-C9FB-CC83-A386CB28EB1E}"/>
                </a:ext>
              </a:extLst>
            </p:cNvPr>
            <p:cNvSpPr>
              <a:spLocks noChangeShapeType="1"/>
            </p:cNvSpPr>
            <p:nvPr/>
          </p:nvSpPr>
          <p:spPr bwMode="auto">
            <a:xfrm>
              <a:off x="755650" y="3619500"/>
              <a:ext cx="8043863"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AutoShape 19">
              <a:extLst>
                <a:ext uri="{FF2B5EF4-FFF2-40B4-BE49-F238E27FC236}">
                  <a16:creationId xmlns:a16="http://schemas.microsoft.com/office/drawing/2014/main" id="{695AC70D-C30B-8C67-E31F-5CA4464373C7}"/>
                </a:ext>
              </a:extLst>
            </p:cNvPr>
            <p:cNvSpPr>
              <a:spLocks noChangeArrowheads="1"/>
            </p:cNvSpPr>
            <p:nvPr/>
          </p:nvSpPr>
          <p:spPr bwMode="auto">
            <a:xfrm>
              <a:off x="2513013" y="4025900"/>
              <a:ext cx="2014537" cy="325438"/>
            </a:xfrm>
            <a:prstGeom prst="homePlate">
              <a:avLst>
                <a:gd name="adj" fmla="val 60269"/>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Task Description</a:t>
              </a:r>
            </a:p>
          </p:txBody>
        </p:sp>
        <p:sp>
          <p:nvSpPr>
            <p:cNvPr id="20" name="AutoShape 20">
              <a:extLst>
                <a:ext uri="{FF2B5EF4-FFF2-40B4-BE49-F238E27FC236}">
                  <a16:creationId xmlns:a16="http://schemas.microsoft.com/office/drawing/2014/main" id="{9B9FEC76-3FAC-DAD3-3638-1D993D9116F9}"/>
                </a:ext>
              </a:extLst>
            </p:cNvPr>
            <p:cNvSpPr>
              <a:spLocks noChangeArrowheads="1"/>
            </p:cNvSpPr>
            <p:nvPr/>
          </p:nvSpPr>
          <p:spPr bwMode="auto">
            <a:xfrm>
              <a:off x="4616450" y="4025900"/>
              <a:ext cx="2014538" cy="325438"/>
            </a:xfrm>
            <a:prstGeom prst="homePlate">
              <a:avLst>
                <a:gd name="adj" fmla="val 60269"/>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Completion Process</a:t>
              </a:r>
            </a:p>
          </p:txBody>
        </p:sp>
        <p:sp>
          <p:nvSpPr>
            <p:cNvPr id="21" name="AutoShape 21">
              <a:extLst>
                <a:ext uri="{FF2B5EF4-FFF2-40B4-BE49-F238E27FC236}">
                  <a16:creationId xmlns:a16="http://schemas.microsoft.com/office/drawing/2014/main" id="{1B9546B7-CE32-5EF1-8785-A5FA74A2D205}"/>
                </a:ext>
              </a:extLst>
            </p:cNvPr>
            <p:cNvSpPr>
              <a:spLocks noChangeArrowheads="1"/>
            </p:cNvSpPr>
            <p:nvPr/>
          </p:nvSpPr>
          <p:spPr bwMode="auto">
            <a:xfrm>
              <a:off x="6726238" y="4025900"/>
              <a:ext cx="2014537" cy="325438"/>
            </a:xfrm>
            <a:prstGeom prst="homePlate">
              <a:avLst>
                <a:gd name="adj" fmla="val 60269"/>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Responsibility</a:t>
              </a:r>
            </a:p>
          </p:txBody>
        </p:sp>
        <p:cxnSp>
          <p:nvCxnSpPr>
            <p:cNvPr id="22" name="AutoShape 22">
              <a:extLst>
                <a:ext uri="{FF2B5EF4-FFF2-40B4-BE49-F238E27FC236}">
                  <a16:creationId xmlns:a16="http://schemas.microsoft.com/office/drawing/2014/main" id="{898656C0-83BC-434B-3FD0-51C84F8FEA98}"/>
                </a:ext>
              </a:extLst>
            </p:cNvPr>
            <p:cNvCxnSpPr>
              <a:cxnSpLocks noChangeShapeType="1"/>
              <a:stCxn id="6" idx="3"/>
              <a:endCxn id="19" idx="1"/>
            </p:cNvCxnSpPr>
            <p:nvPr/>
          </p:nvCxnSpPr>
          <p:spPr bwMode="auto">
            <a:xfrm flipV="1">
              <a:off x="2287588" y="4189413"/>
              <a:ext cx="225425" cy="158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 name="Rectangle 23">
              <a:extLst>
                <a:ext uri="{FF2B5EF4-FFF2-40B4-BE49-F238E27FC236}">
                  <a16:creationId xmlns:a16="http://schemas.microsoft.com/office/drawing/2014/main" id="{36132C34-709A-3C16-EB15-3CF0456F704B}"/>
                </a:ext>
              </a:extLst>
            </p:cNvPr>
            <p:cNvSpPr>
              <a:spLocks noChangeArrowheads="1"/>
            </p:cNvSpPr>
            <p:nvPr/>
          </p:nvSpPr>
          <p:spPr bwMode="auto">
            <a:xfrm>
              <a:off x="2435225" y="4360863"/>
              <a:ext cx="2039938" cy="1443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dirty="0">
                  <a:latin typeface="+mn-lt"/>
                </a:rPr>
                <a:t>Clear documentation of task itself and all sub-activities</a:t>
              </a:r>
            </a:p>
            <a:p>
              <a:pPr>
                <a:spcBef>
                  <a:spcPct val="30000"/>
                </a:spcBef>
                <a:buClrTx/>
                <a:buSzPct val="90000"/>
                <a:buFont typeface="Arial" panose="020B0604020202020204" pitchFamily="34" charset="0"/>
                <a:buChar char="•"/>
              </a:pPr>
              <a:r>
                <a:rPr lang="en-US" altLang="en-US" sz="1000" dirty="0">
                  <a:latin typeface="+mn-lt"/>
                </a:rPr>
                <a:t>Description of importance to S&amp;OP process</a:t>
              </a:r>
            </a:p>
            <a:p>
              <a:pPr>
                <a:spcBef>
                  <a:spcPct val="30000"/>
                </a:spcBef>
                <a:buClrTx/>
                <a:buSzPct val="90000"/>
                <a:buFont typeface="Arial" panose="020B0604020202020204" pitchFamily="34" charset="0"/>
                <a:buChar char="•"/>
              </a:pPr>
              <a:r>
                <a:rPr lang="en-US" altLang="en-US" sz="1000" dirty="0">
                  <a:latin typeface="+mn-lt"/>
                </a:rPr>
                <a:t>Explicit description of timing &amp; completion date</a:t>
              </a:r>
            </a:p>
            <a:p>
              <a:pPr>
                <a:spcBef>
                  <a:spcPct val="30000"/>
                </a:spcBef>
                <a:buClrTx/>
                <a:buSzPct val="90000"/>
                <a:buFont typeface="Arial" panose="020B0604020202020204" pitchFamily="34" charset="0"/>
                <a:buChar char="•"/>
              </a:pPr>
              <a:r>
                <a:rPr lang="en-US" altLang="en-US" sz="1000" dirty="0">
                  <a:latin typeface="+mn-lt"/>
                </a:rPr>
                <a:t>Defined </a:t>
              </a:r>
              <a:r>
                <a:rPr lang="ja-JP" altLang="en-US" sz="1000" dirty="0">
                  <a:latin typeface="+mn-lt"/>
                </a:rPr>
                <a:t>“</a:t>
              </a:r>
              <a:r>
                <a:rPr lang="en-US" altLang="ja-JP" sz="1000" dirty="0">
                  <a:latin typeface="+mn-lt"/>
                </a:rPr>
                <a:t>start</a:t>
              </a:r>
              <a:r>
                <a:rPr lang="ja-JP" altLang="en-US" sz="1000" dirty="0">
                  <a:latin typeface="+mn-lt"/>
                </a:rPr>
                <a:t>”</a:t>
              </a:r>
              <a:r>
                <a:rPr lang="en-US" altLang="ja-JP" sz="1000" dirty="0">
                  <a:latin typeface="+mn-lt"/>
                </a:rPr>
                <a:t> and </a:t>
              </a:r>
              <a:r>
                <a:rPr lang="ja-JP" altLang="en-US" sz="1000" dirty="0">
                  <a:latin typeface="+mn-lt"/>
                </a:rPr>
                <a:t>“</a:t>
              </a:r>
              <a:r>
                <a:rPr lang="en-US" altLang="ja-JP" sz="1000" dirty="0">
                  <a:latin typeface="+mn-lt"/>
                </a:rPr>
                <a:t>stop</a:t>
              </a:r>
              <a:r>
                <a:rPr lang="ja-JP" altLang="en-US" sz="1000" dirty="0">
                  <a:latin typeface="+mn-lt"/>
                </a:rPr>
                <a:t>”</a:t>
              </a:r>
              <a:r>
                <a:rPr lang="en-US" altLang="ja-JP" sz="1000" dirty="0">
                  <a:latin typeface="+mn-lt"/>
                </a:rPr>
                <a:t> boundaries</a:t>
              </a:r>
              <a:endParaRPr lang="en-US" altLang="en-US" sz="1000" b="0" dirty="0">
                <a:latin typeface="+mn-lt"/>
              </a:endParaRPr>
            </a:p>
          </p:txBody>
        </p:sp>
        <p:sp>
          <p:nvSpPr>
            <p:cNvPr id="24" name="Rectangle 24">
              <a:extLst>
                <a:ext uri="{FF2B5EF4-FFF2-40B4-BE49-F238E27FC236}">
                  <a16:creationId xmlns:a16="http://schemas.microsoft.com/office/drawing/2014/main" id="{2541CAB9-A29F-CB45-9E52-43CDF7E00297}"/>
                </a:ext>
              </a:extLst>
            </p:cNvPr>
            <p:cNvSpPr>
              <a:spLocks noChangeArrowheads="1"/>
            </p:cNvSpPr>
            <p:nvPr/>
          </p:nvSpPr>
          <p:spPr bwMode="auto">
            <a:xfrm>
              <a:off x="4537075" y="4359275"/>
              <a:ext cx="2100263" cy="158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sz="1000">
                  <a:latin typeface="+mn-lt"/>
                </a:rPr>
                <a:t>Process map of activities and sub-tasks</a:t>
              </a:r>
            </a:p>
            <a:p>
              <a:pPr>
                <a:spcBef>
                  <a:spcPct val="30000"/>
                </a:spcBef>
                <a:buClrTx/>
                <a:buSzPct val="90000"/>
                <a:buFont typeface="Arial" panose="020B0604020202020204" pitchFamily="34" charset="0"/>
                <a:buChar char="•"/>
              </a:pPr>
              <a:r>
                <a:rPr lang="en-US" altLang="en-US" sz="1000">
                  <a:latin typeface="+mn-lt"/>
                </a:rPr>
                <a:t>Confirm data collection sites and data accuracy verification processes</a:t>
              </a:r>
            </a:p>
            <a:p>
              <a:pPr>
                <a:spcBef>
                  <a:spcPct val="30000"/>
                </a:spcBef>
                <a:buClrTx/>
                <a:buSzPct val="90000"/>
                <a:buFont typeface="Arial" panose="020B0604020202020204" pitchFamily="34" charset="0"/>
                <a:buChar char="•"/>
              </a:pPr>
              <a:r>
                <a:rPr lang="en-US" altLang="en-US" sz="1000">
                  <a:latin typeface="+mn-lt"/>
                </a:rPr>
                <a:t>Clear samples of correct deliverables </a:t>
              </a:r>
            </a:p>
            <a:p>
              <a:pPr>
                <a:spcBef>
                  <a:spcPct val="30000"/>
                </a:spcBef>
                <a:buClrTx/>
                <a:buSzPct val="90000"/>
                <a:buFont typeface="Arial" panose="020B0604020202020204" pitchFamily="34" charset="0"/>
                <a:buChar char="•"/>
              </a:pPr>
              <a:r>
                <a:rPr lang="en-US" altLang="en-US" sz="1000">
                  <a:latin typeface="+mn-lt"/>
                </a:rPr>
                <a:t>Error-proofed to prevent submission of faulty data</a:t>
              </a:r>
              <a:endParaRPr lang="en-US" altLang="en-US" sz="1000" b="0">
                <a:latin typeface="+mn-lt"/>
              </a:endParaRPr>
            </a:p>
          </p:txBody>
        </p:sp>
        <p:sp>
          <p:nvSpPr>
            <p:cNvPr id="25" name="Rectangle 25">
              <a:extLst>
                <a:ext uri="{FF2B5EF4-FFF2-40B4-BE49-F238E27FC236}">
                  <a16:creationId xmlns:a16="http://schemas.microsoft.com/office/drawing/2014/main" id="{D0500B4A-C959-44A7-3CF6-25732C663091}"/>
                </a:ext>
              </a:extLst>
            </p:cNvPr>
            <p:cNvSpPr>
              <a:spLocks noChangeArrowheads="1"/>
            </p:cNvSpPr>
            <p:nvPr/>
          </p:nvSpPr>
          <p:spPr bwMode="auto">
            <a:xfrm>
              <a:off x="6656388" y="4352925"/>
              <a:ext cx="2100262" cy="1581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000">
                  <a:latin typeface="+mn-lt"/>
                </a:rPr>
                <a:t>Identified position to complete required tasks</a:t>
              </a:r>
            </a:p>
            <a:p>
              <a:pPr>
                <a:spcBef>
                  <a:spcPct val="45000"/>
                </a:spcBef>
                <a:buClrTx/>
                <a:buSzPct val="90000"/>
                <a:buFont typeface="Arial" panose="020B0604020202020204" pitchFamily="34" charset="0"/>
                <a:buChar char="•"/>
              </a:pPr>
              <a:r>
                <a:rPr lang="en-US" altLang="en-US" sz="1000">
                  <a:latin typeface="+mn-lt"/>
                </a:rPr>
                <a:t>Monthly time requirements</a:t>
              </a:r>
            </a:p>
            <a:p>
              <a:pPr>
                <a:spcBef>
                  <a:spcPct val="45000"/>
                </a:spcBef>
                <a:buClrTx/>
                <a:buSzPct val="90000"/>
                <a:buFont typeface="Arial" panose="020B0604020202020204" pitchFamily="34" charset="0"/>
                <a:buChar char="•"/>
              </a:pPr>
              <a:r>
                <a:rPr lang="en-US" altLang="en-US" sz="1000">
                  <a:latin typeface="+mn-lt"/>
                </a:rPr>
                <a:t>Performance expectations</a:t>
              </a:r>
            </a:p>
            <a:p>
              <a:pPr>
                <a:spcBef>
                  <a:spcPct val="45000"/>
                </a:spcBef>
                <a:buClrTx/>
                <a:buSzPct val="90000"/>
                <a:buFont typeface="Arial" panose="020B0604020202020204" pitchFamily="34" charset="0"/>
                <a:buChar char="•"/>
              </a:pPr>
              <a:r>
                <a:rPr lang="en-US" altLang="en-US" sz="1000">
                  <a:latin typeface="+mn-lt"/>
                </a:rPr>
                <a:t>Identified go-to content experts required to support completion efforts</a:t>
              </a:r>
            </a:p>
            <a:p>
              <a:pPr>
                <a:spcBef>
                  <a:spcPct val="45000"/>
                </a:spcBef>
                <a:buClrTx/>
                <a:buSzPct val="90000"/>
                <a:buFont typeface="Arial" panose="020B0604020202020204" pitchFamily="34" charset="0"/>
                <a:buChar char="•"/>
              </a:pPr>
              <a:r>
                <a:rPr lang="en-US" altLang="en-US" sz="1000">
                  <a:latin typeface="+mn-lt"/>
                </a:rPr>
                <a:t>Escalation path if required</a:t>
              </a:r>
              <a:endParaRPr lang="en-US" altLang="en-US" sz="1000" b="0">
                <a:latin typeface="+mn-lt"/>
              </a:endParaRPr>
            </a:p>
          </p:txBody>
        </p:sp>
        <p:sp>
          <p:nvSpPr>
            <p:cNvPr id="26" name="Line 26">
              <a:extLst>
                <a:ext uri="{FF2B5EF4-FFF2-40B4-BE49-F238E27FC236}">
                  <a16:creationId xmlns:a16="http://schemas.microsoft.com/office/drawing/2014/main" id="{DF95DB92-8F12-F9D4-81DF-2A057AB13F6C}"/>
                </a:ext>
              </a:extLst>
            </p:cNvPr>
            <p:cNvSpPr>
              <a:spLocks noChangeShapeType="1"/>
            </p:cNvSpPr>
            <p:nvPr/>
          </p:nvSpPr>
          <p:spPr bwMode="auto">
            <a:xfrm>
              <a:off x="2509838" y="6165850"/>
              <a:ext cx="6254750"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27">
              <a:extLst>
                <a:ext uri="{FF2B5EF4-FFF2-40B4-BE49-F238E27FC236}">
                  <a16:creationId xmlns:a16="http://schemas.microsoft.com/office/drawing/2014/main" id="{DAA047B8-B45C-6150-6CDC-4ED10628A079}"/>
                </a:ext>
              </a:extLst>
            </p:cNvPr>
            <p:cNvSpPr txBox="1">
              <a:spLocks noChangeArrowheads="1"/>
            </p:cNvSpPr>
            <p:nvPr/>
          </p:nvSpPr>
          <p:spPr bwMode="auto">
            <a:xfrm>
              <a:off x="4364942" y="6051550"/>
              <a:ext cx="2406428"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latin typeface="+mn-lt"/>
                </a:rPr>
                <a:t>Required For Every Process Step</a:t>
              </a:r>
            </a:p>
          </p:txBody>
        </p:sp>
      </p:grpSp>
    </p:spTree>
    <p:extLst>
      <p:ext uri="{BB962C8B-B14F-4D97-AF65-F5344CB8AC3E}">
        <p14:creationId xmlns:p14="http://schemas.microsoft.com/office/powerpoint/2010/main" val="17244099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MTO Spreadsheet Creation:  </a:t>
            </a:r>
            <a:br>
              <a:rPr lang="en-US" dirty="0"/>
            </a:br>
            <a:r>
              <a:rPr lang="en-US" dirty="0"/>
              <a:t>Building The S&amp;OP Policy Manual</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286596" y="3182147"/>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Constructing key processes and responsibility matrices as the team formalizes the basic S&amp;OP process will allow team to quickly assemble the final S&amp;OP policy guidebook that will drive S&amp;OP across the enterprise.</a:t>
            </a:r>
          </a:p>
        </p:txBody>
      </p:sp>
      <p:grpSp>
        <p:nvGrpSpPr>
          <p:cNvPr id="45" name="Group 44">
            <a:extLst>
              <a:ext uri="{FF2B5EF4-FFF2-40B4-BE49-F238E27FC236}">
                <a16:creationId xmlns:a16="http://schemas.microsoft.com/office/drawing/2014/main" id="{2C3C34D9-6D44-ECB5-F80A-2A41A70F7EDB}"/>
              </a:ext>
            </a:extLst>
          </p:cNvPr>
          <p:cNvGrpSpPr/>
          <p:nvPr/>
        </p:nvGrpSpPr>
        <p:grpSpPr>
          <a:xfrm>
            <a:off x="523211" y="2109381"/>
            <a:ext cx="8445500" cy="3340100"/>
            <a:chOff x="438150" y="2768600"/>
            <a:chExt cx="8445500" cy="3340100"/>
          </a:xfrm>
        </p:grpSpPr>
        <p:sp>
          <p:nvSpPr>
            <p:cNvPr id="29" name="AutoShape 2">
              <a:extLst>
                <a:ext uri="{FF2B5EF4-FFF2-40B4-BE49-F238E27FC236}">
                  <a16:creationId xmlns:a16="http://schemas.microsoft.com/office/drawing/2014/main" id="{DFB03E74-C830-11AD-78F6-523AD0223D9E}"/>
                </a:ext>
              </a:extLst>
            </p:cNvPr>
            <p:cNvSpPr>
              <a:spLocks noChangeArrowheads="1"/>
            </p:cNvSpPr>
            <p:nvPr/>
          </p:nvSpPr>
          <p:spPr bwMode="auto">
            <a:xfrm>
              <a:off x="1779588" y="2827338"/>
              <a:ext cx="1295400" cy="431800"/>
            </a:xfrm>
            <a:prstGeom prst="roundRect">
              <a:avLst>
                <a:gd name="adj" fmla="val 23574"/>
              </a:avLst>
            </a:prstGeom>
            <a:solidFill>
              <a:schemeClr val="accent4"/>
            </a:solidFill>
            <a:ln w="12700">
              <a:solidFill>
                <a:schemeClr val="tx1"/>
              </a:solidFill>
              <a:round/>
              <a:headEnd/>
              <a:tailEnd/>
            </a:ln>
          </p:spPr>
          <p:txBody>
            <a:bodyPr lIns="44450" tIns="44450" rIns="44450" bIns="44450"/>
            <a:lstStyle>
              <a:lvl1pPr defTabSz="825500">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82550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8255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8255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8255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200">
                  <a:solidFill>
                    <a:schemeClr val="bg1"/>
                  </a:solidFill>
                  <a:latin typeface="+mn-lt"/>
                </a:rPr>
                <a:t> </a:t>
              </a:r>
            </a:p>
          </p:txBody>
        </p:sp>
        <p:sp>
          <p:nvSpPr>
            <p:cNvPr id="30" name="AutoShape 3">
              <a:extLst>
                <a:ext uri="{FF2B5EF4-FFF2-40B4-BE49-F238E27FC236}">
                  <a16:creationId xmlns:a16="http://schemas.microsoft.com/office/drawing/2014/main" id="{C732E077-336F-18C1-08CA-5D37A23AC9B6}"/>
                </a:ext>
              </a:extLst>
            </p:cNvPr>
            <p:cNvSpPr>
              <a:spLocks noChangeArrowheads="1"/>
            </p:cNvSpPr>
            <p:nvPr/>
          </p:nvSpPr>
          <p:spPr bwMode="auto">
            <a:xfrm>
              <a:off x="3111500" y="2827338"/>
              <a:ext cx="1293813" cy="431800"/>
            </a:xfrm>
            <a:prstGeom prst="roundRect">
              <a:avLst>
                <a:gd name="adj" fmla="val 23574"/>
              </a:avLst>
            </a:prstGeom>
            <a:solidFill>
              <a:schemeClr val="tx2"/>
            </a:solidFill>
            <a:ln w="12700">
              <a:solidFill>
                <a:schemeClr val="tx1"/>
              </a:solidFill>
              <a:round/>
              <a:headEnd/>
              <a:tailEnd/>
            </a:ln>
          </p:spPr>
          <p:txBody>
            <a:bodyPr lIns="44450" tIns="44450" rIns="44450" bIns="44450"/>
            <a:lstStyle>
              <a:lvl1pPr defTabSz="825500">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82550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8255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8255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8255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200">
                  <a:solidFill>
                    <a:schemeClr val="bg1"/>
                  </a:solidFill>
                  <a:latin typeface="+mn-lt"/>
                </a:rPr>
                <a:t> </a:t>
              </a:r>
            </a:p>
          </p:txBody>
        </p:sp>
        <p:sp>
          <p:nvSpPr>
            <p:cNvPr id="31" name="AutoShape 4">
              <a:extLst>
                <a:ext uri="{FF2B5EF4-FFF2-40B4-BE49-F238E27FC236}">
                  <a16:creationId xmlns:a16="http://schemas.microsoft.com/office/drawing/2014/main" id="{FBD0E76C-B823-2659-DA61-80653F911B4A}"/>
                </a:ext>
              </a:extLst>
            </p:cNvPr>
            <p:cNvSpPr>
              <a:spLocks noChangeArrowheads="1"/>
            </p:cNvSpPr>
            <p:nvPr/>
          </p:nvSpPr>
          <p:spPr bwMode="auto">
            <a:xfrm>
              <a:off x="438150" y="3086100"/>
              <a:ext cx="5243513" cy="3022600"/>
            </a:xfrm>
            <a:prstGeom prst="roundRect">
              <a:avLst>
                <a:gd name="adj" fmla="val 2926"/>
              </a:avLst>
            </a:prstGeom>
            <a:solidFill>
              <a:schemeClr val="accent2"/>
            </a:solidFill>
            <a:ln w="12700">
              <a:solidFill>
                <a:srgbClr val="000066"/>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2" name="AutoShape 5">
              <a:extLst>
                <a:ext uri="{FF2B5EF4-FFF2-40B4-BE49-F238E27FC236}">
                  <a16:creationId xmlns:a16="http://schemas.microsoft.com/office/drawing/2014/main" id="{FCBA3033-A1DF-5BB4-7A75-D3EA903799CD}"/>
                </a:ext>
              </a:extLst>
            </p:cNvPr>
            <p:cNvSpPr>
              <a:spLocks noChangeArrowheads="1"/>
            </p:cNvSpPr>
            <p:nvPr/>
          </p:nvSpPr>
          <p:spPr bwMode="auto">
            <a:xfrm>
              <a:off x="438150" y="2827338"/>
              <a:ext cx="1293813" cy="431800"/>
            </a:xfrm>
            <a:prstGeom prst="roundRect">
              <a:avLst>
                <a:gd name="adj" fmla="val 23574"/>
              </a:avLst>
            </a:prstGeom>
            <a:solidFill>
              <a:schemeClr val="accent2"/>
            </a:solidFill>
            <a:ln w="12700">
              <a:solidFill>
                <a:srgbClr val="000066"/>
              </a:solidFill>
              <a:round/>
              <a:headEnd/>
              <a:tailEnd/>
            </a:ln>
          </p:spPr>
          <p:txBody>
            <a:bodyPr lIns="44450" tIns="44450" rIns="44450" bIns="44450"/>
            <a:lstStyle>
              <a:lvl1pPr defTabSz="825500">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82550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8255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8255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8255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8255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spcBef>
                  <a:spcPct val="0"/>
                </a:spcBef>
                <a:buClrTx/>
                <a:buSzTx/>
                <a:buFontTx/>
                <a:buNone/>
              </a:pPr>
              <a:r>
                <a:rPr lang="en-US" altLang="en-US" sz="1200">
                  <a:latin typeface="+mn-lt"/>
                </a:rPr>
                <a:t> </a:t>
              </a:r>
            </a:p>
          </p:txBody>
        </p:sp>
        <p:sp>
          <p:nvSpPr>
            <p:cNvPr id="33" name="Rectangle 6">
              <a:extLst>
                <a:ext uri="{FF2B5EF4-FFF2-40B4-BE49-F238E27FC236}">
                  <a16:creationId xmlns:a16="http://schemas.microsoft.com/office/drawing/2014/main" id="{EE56565B-0CBC-178A-56AB-81059D56CAAF}"/>
                </a:ext>
              </a:extLst>
            </p:cNvPr>
            <p:cNvSpPr>
              <a:spLocks noChangeArrowheads="1"/>
            </p:cNvSpPr>
            <p:nvPr/>
          </p:nvSpPr>
          <p:spPr bwMode="auto">
            <a:xfrm>
              <a:off x="458788" y="3101975"/>
              <a:ext cx="1358900" cy="2270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4" name="Text Box 7">
              <a:extLst>
                <a:ext uri="{FF2B5EF4-FFF2-40B4-BE49-F238E27FC236}">
                  <a16:creationId xmlns:a16="http://schemas.microsoft.com/office/drawing/2014/main" id="{B1EEE6E0-C0B7-6226-8EDF-7F550DF28E2F}"/>
                </a:ext>
              </a:extLst>
            </p:cNvPr>
            <p:cNvSpPr txBox="1">
              <a:spLocks noChangeArrowheads="1"/>
            </p:cNvSpPr>
            <p:nvPr/>
          </p:nvSpPr>
          <p:spPr bwMode="auto">
            <a:xfrm>
              <a:off x="592766" y="2854325"/>
              <a:ext cx="986167"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rgbClr val="000066"/>
                  </a:solidFill>
                  <a:latin typeface="+mn-lt"/>
                </a:rPr>
                <a:t>New Products</a:t>
              </a:r>
            </a:p>
          </p:txBody>
        </p:sp>
        <p:sp>
          <p:nvSpPr>
            <p:cNvPr id="35" name="Text Box 8">
              <a:extLst>
                <a:ext uri="{FF2B5EF4-FFF2-40B4-BE49-F238E27FC236}">
                  <a16:creationId xmlns:a16="http://schemas.microsoft.com/office/drawing/2014/main" id="{5DCE34D9-9230-066D-5E24-B05D9A8717BE}"/>
                </a:ext>
              </a:extLst>
            </p:cNvPr>
            <p:cNvSpPr txBox="1">
              <a:spLocks noChangeArrowheads="1"/>
            </p:cNvSpPr>
            <p:nvPr/>
          </p:nvSpPr>
          <p:spPr bwMode="auto">
            <a:xfrm>
              <a:off x="1783490" y="2860675"/>
              <a:ext cx="1293944"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F-Cast Error Review</a:t>
              </a:r>
            </a:p>
          </p:txBody>
        </p:sp>
        <p:sp>
          <p:nvSpPr>
            <p:cNvPr id="36" name="Text Box 10">
              <a:extLst>
                <a:ext uri="{FF2B5EF4-FFF2-40B4-BE49-F238E27FC236}">
                  <a16:creationId xmlns:a16="http://schemas.microsoft.com/office/drawing/2014/main" id="{FD76F2B2-40E8-8644-3767-F2D3E75F4D25}"/>
                </a:ext>
              </a:extLst>
            </p:cNvPr>
            <p:cNvSpPr txBox="1">
              <a:spLocks noChangeArrowheads="1"/>
            </p:cNvSpPr>
            <p:nvPr/>
          </p:nvSpPr>
          <p:spPr bwMode="auto">
            <a:xfrm>
              <a:off x="3100299" y="2867025"/>
              <a:ext cx="1298752"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Error Code Analysis</a:t>
              </a:r>
            </a:p>
          </p:txBody>
        </p:sp>
        <p:sp>
          <p:nvSpPr>
            <p:cNvPr id="37" name="Rectangle 11">
              <a:extLst>
                <a:ext uri="{FF2B5EF4-FFF2-40B4-BE49-F238E27FC236}">
                  <a16:creationId xmlns:a16="http://schemas.microsoft.com/office/drawing/2014/main" id="{176D5D0A-155A-54F0-E736-1F4A7188A7D7}"/>
                </a:ext>
              </a:extLst>
            </p:cNvPr>
            <p:cNvSpPr>
              <a:spLocks noChangeArrowheads="1"/>
            </p:cNvSpPr>
            <p:nvPr/>
          </p:nvSpPr>
          <p:spPr bwMode="auto">
            <a:xfrm>
              <a:off x="609600" y="3340100"/>
              <a:ext cx="2373313" cy="252413"/>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Task Description</a:t>
              </a:r>
            </a:p>
          </p:txBody>
        </p:sp>
        <p:sp>
          <p:nvSpPr>
            <p:cNvPr id="38" name="Rectangle 12">
              <a:extLst>
                <a:ext uri="{FF2B5EF4-FFF2-40B4-BE49-F238E27FC236}">
                  <a16:creationId xmlns:a16="http://schemas.microsoft.com/office/drawing/2014/main" id="{D3A37868-F81C-4B5D-6FB1-AF5B67816BD8}"/>
                </a:ext>
              </a:extLst>
            </p:cNvPr>
            <p:cNvSpPr>
              <a:spLocks noChangeArrowheads="1"/>
            </p:cNvSpPr>
            <p:nvPr/>
          </p:nvSpPr>
          <p:spPr bwMode="auto">
            <a:xfrm>
              <a:off x="3138488" y="3340100"/>
              <a:ext cx="2373312" cy="252413"/>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Responsibilities</a:t>
              </a:r>
            </a:p>
          </p:txBody>
        </p:sp>
        <p:sp>
          <p:nvSpPr>
            <p:cNvPr id="39" name="Rectangle 13">
              <a:extLst>
                <a:ext uri="{FF2B5EF4-FFF2-40B4-BE49-F238E27FC236}">
                  <a16:creationId xmlns:a16="http://schemas.microsoft.com/office/drawing/2014/main" id="{71525DE6-32F8-61E1-BA88-970ABFDAB98A}"/>
                </a:ext>
              </a:extLst>
            </p:cNvPr>
            <p:cNvSpPr>
              <a:spLocks noChangeArrowheads="1"/>
            </p:cNvSpPr>
            <p:nvPr/>
          </p:nvSpPr>
          <p:spPr bwMode="auto">
            <a:xfrm>
              <a:off x="609600" y="3582988"/>
              <a:ext cx="2373313" cy="1014412"/>
            </a:xfrm>
            <a:prstGeom prst="rect">
              <a:avLst/>
            </a:prstGeom>
            <a:solidFill>
              <a:schemeClr val="bg1"/>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0" name="Rectangle 14">
              <a:extLst>
                <a:ext uri="{FF2B5EF4-FFF2-40B4-BE49-F238E27FC236}">
                  <a16:creationId xmlns:a16="http://schemas.microsoft.com/office/drawing/2014/main" id="{22233D57-E753-9042-863E-AE5FECEA4411}"/>
                </a:ext>
              </a:extLst>
            </p:cNvPr>
            <p:cNvSpPr>
              <a:spLocks noChangeArrowheads="1"/>
            </p:cNvSpPr>
            <p:nvPr/>
          </p:nvSpPr>
          <p:spPr bwMode="auto">
            <a:xfrm>
              <a:off x="3138488" y="3582988"/>
              <a:ext cx="2373312" cy="1014412"/>
            </a:xfrm>
            <a:prstGeom prst="rect">
              <a:avLst/>
            </a:prstGeom>
            <a:solidFill>
              <a:schemeClr val="bg1"/>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1" name="Rectangle 15">
              <a:extLst>
                <a:ext uri="{FF2B5EF4-FFF2-40B4-BE49-F238E27FC236}">
                  <a16:creationId xmlns:a16="http://schemas.microsoft.com/office/drawing/2014/main" id="{D4AEF961-10CA-7D3A-8B4B-7B8DFA7F8E88}"/>
                </a:ext>
              </a:extLst>
            </p:cNvPr>
            <p:cNvSpPr>
              <a:spLocks noChangeArrowheads="1"/>
            </p:cNvSpPr>
            <p:nvPr/>
          </p:nvSpPr>
          <p:spPr bwMode="auto">
            <a:xfrm>
              <a:off x="609600" y="4732338"/>
              <a:ext cx="4902200" cy="252412"/>
            </a:xfrm>
            <a:prstGeom prst="rect">
              <a:avLst/>
            </a:prstGeom>
            <a:solidFill>
              <a:schemeClr val="tx2"/>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Process Completion Map</a:t>
              </a:r>
            </a:p>
          </p:txBody>
        </p:sp>
        <p:sp>
          <p:nvSpPr>
            <p:cNvPr id="42" name="Rectangle 16">
              <a:extLst>
                <a:ext uri="{FF2B5EF4-FFF2-40B4-BE49-F238E27FC236}">
                  <a16:creationId xmlns:a16="http://schemas.microsoft.com/office/drawing/2014/main" id="{CD8916E7-094F-D3F5-786B-F72E50EAA8BB}"/>
                </a:ext>
              </a:extLst>
            </p:cNvPr>
            <p:cNvSpPr>
              <a:spLocks noChangeArrowheads="1"/>
            </p:cNvSpPr>
            <p:nvPr/>
          </p:nvSpPr>
          <p:spPr bwMode="auto">
            <a:xfrm>
              <a:off x="609600" y="4975225"/>
              <a:ext cx="4902200" cy="960438"/>
            </a:xfrm>
            <a:prstGeom prst="rect">
              <a:avLst/>
            </a:prstGeom>
            <a:solidFill>
              <a:schemeClr val="bg1"/>
            </a:solidFill>
            <a:ln w="9525"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43" name="Line 17">
              <a:extLst>
                <a:ext uri="{FF2B5EF4-FFF2-40B4-BE49-F238E27FC236}">
                  <a16:creationId xmlns:a16="http://schemas.microsoft.com/office/drawing/2014/main" id="{D3E2F75A-ABB6-7E13-CB94-898D5D104CB9}"/>
                </a:ext>
              </a:extLst>
            </p:cNvPr>
            <p:cNvSpPr>
              <a:spLocks noChangeShapeType="1"/>
            </p:cNvSpPr>
            <p:nvPr/>
          </p:nvSpPr>
          <p:spPr bwMode="auto">
            <a:xfrm>
              <a:off x="5842000" y="2832100"/>
              <a:ext cx="0" cy="327025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Rectangle 20">
              <a:extLst>
                <a:ext uri="{FF2B5EF4-FFF2-40B4-BE49-F238E27FC236}">
                  <a16:creationId xmlns:a16="http://schemas.microsoft.com/office/drawing/2014/main" id="{CAC85D74-1BE4-E684-3016-7B5AF97FF4B0}"/>
                </a:ext>
              </a:extLst>
            </p:cNvPr>
            <p:cNvSpPr>
              <a:spLocks noChangeArrowheads="1"/>
            </p:cNvSpPr>
            <p:nvPr/>
          </p:nvSpPr>
          <p:spPr bwMode="auto">
            <a:xfrm>
              <a:off x="5895975" y="2768600"/>
              <a:ext cx="2987675" cy="300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30000"/>
                </a:spcBef>
                <a:buClrTx/>
                <a:buSzPct val="90000"/>
                <a:buFont typeface="Arial" panose="020B0604020202020204" pitchFamily="34" charset="0"/>
                <a:buChar char="•"/>
              </a:pPr>
              <a:r>
                <a:rPr lang="en-US" altLang="en-US" dirty="0">
                  <a:latin typeface="+mn-lt"/>
                </a:rPr>
                <a:t>All supporting documentation for a given activity should be </a:t>
              </a:r>
              <a:r>
                <a:rPr lang="ja-JP" altLang="en-US" dirty="0">
                  <a:latin typeface="+mn-lt"/>
                </a:rPr>
                <a:t>“</a:t>
              </a:r>
              <a:r>
                <a:rPr lang="en-US" altLang="ja-JP" dirty="0">
                  <a:latin typeface="+mn-lt"/>
                </a:rPr>
                <a:t>bundled</a:t>
              </a:r>
              <a:r>
                <a:rPr lang="ja-JP" altLang="en-US" dirty="0">
                  <a:latin typeface="+mn-lt"/>
                </a:rPr>
                <a:t>”</a:t>
              </a:r>
              <a:r>
                <a:rPr lang="en-US" altLang="ja-JP" dirty="0">
                  <a:latin typeface="+mn-lt"/>
                </a:rPr>
                <a:t> for effective review &amp; instruction</a:t>
              </a:r>
            </a:p>
            <a:p>
              <a:pPr>
                <a:spcBef>
                  <a:spcPct val="30000"/>
                </a:spcBef>
                <a:buClrTx/>
                <a:buSzPct val="90000"/>
                <a:buFont typeface="Arial" panose="020B0604020202020204" pitchFamily="34" charset="0"/>
                <a:buChar char="•"/>
              </a:pPr>
              <a:r>
                <a:rPr lang="en-US" altLang="en-US" dirty="0">
                  <a:latin typeface="+mn-lt"/>
                </a:rPr>
                <a:t>Documentation should be dated for future routine review and alteration where required</a:t>
              </a:r>
            </a:p>
            <a:p>
              <a:pPr>
                <a:spcBef>
                  <a:spcPct val="30000"/>
                </a:spcBef>
                <a:buClrTx/>
                <a:buSzPct val="90000"/>
                <a:buFont typeface="Arial" panose="020B0604020202020204" pitchFamily="34" charset="0"/>
                <a:buChar char="•"/>
              </a:pPr>
              <a:r>
                <a:rPr lang="en-US" altLang="en-US" dirty="0" err="1">
                  <a:latin typeface="+mn-lt"/>
                </a:rPr>
                <a:t>Xxxx</a:t>
              </a:r>
              <a:endParaRPr lang="en-US" altLang="en-US" dirty="0">
                <a:latin typeface="+mn-lt"/>
              </a:endParaRPr>
            </a:p>
            <a:p>
              <a:pPr>
                <a:spcBef>
                  <a:spcPct val="30000"/>
                </a:spcBef>
                <a:buClrTx/>
                <a:buSzPct val="90000"/>
                <a:buFont typeface="Arial" panose="020B0604020202020204" pitchFamily="34" charset="0"/>
                <a:buChar char="•"/>
              </a:pPr>
              <a:r>
                <a:rPr lang="en-US" altLang="en-US" dirty="0" err="1">
                  <a:latin typeface="+mn-lt"/>
                </a:rPr>
                <a:t>Xxxx</a:t>
              </a:r>
              <a:endParaRPr lang="en-US" altLang="en-US" dirty="0">
                <a:latin typeface="+mn-lt"/>
              </a:endParaRPr>
            </a:p>
          </p:txBody>
        </p:sp>
      </p:grpSp>
    </p:spTree>
    <p:extLst>
      <p:ext uri="{BB962C8B-B14F-4D97-AF65-F5344CB8AC3E}">
        <p14:creationId xmlns:p14="http://schemas.microsoft.com/office/powerpoint/2010/main" val="36329886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Adoption Of S&amp;OP Disciplines:  </a:t>
            </a:r>
            <a:br>
              <a:rPr lang="en-US" dirty="0"/>
            </a:br>
            <a:r>
              <a:rPr lang="en-US" dirty="0"/>
              <a:t>Enhancement Of Key Business Drivers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286596" y="3182147"/>
            <a:ext cx="2750117"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Recent comprehensive cross-industry studies have demonstrated the power of S&amp;OP adoption;  critical business drivers such as customer retention and gross margin are clear beneficiaries of S&amp;OP disciplines.</a:t>
            </a:r>
          </a:p>
        </p:txBody>
      </p:sp>
      <p:grpSp>
        <p:nvGrpSpPr>
          <p:cNvPr id="13" name="Group 12">
            <a:extLst>
              <a:ext uri="{FF2B5EF4-FFF2-40B4-BE49-F238E27FC236}">
                <a16:creationId xmlns:a16="http://schemas.microsoft.com/office/drawing/2014/main" id="{F05260C7-81B0-D2B4-2AB3-65739B44CB85}"/>
              </a:ext>
            </a:extLst>
          </p:cNvPr>
          <p:cNvGrpSpPr/>
          <p:nvPr/>
        </p:nvGrpSpPr>
        <p:grpSpPr>
          <a:xfrm>
            <a:off x="319088" y="2236788"/>
            <a:ext cx="8564562" cy="3944937"/>
            <a:chOff x="319088" y="2236788"/>
            <a:chExt cx="8564562" cy="3944937"/>
          </a:xfrm>
        </p:grpSpPr>
        <p:grpSp>
          <p:nvGrpSpPr>
            <p:cNvPr id="4" name="Group 6">
              <a:extLst>
                <a:ext uri="{FF2B5EF4-FFF2-40B4-BE49-F238E27FC236}">
                  <a16:creationId xmlns:a16="http://schemas.microsoft.com/office/drawing/2014/main" id="{6C8D2B5F-32C3-9C76-6FA3-BCB5EC5F411B}"/>
                </a:ext>
              </a:extLst>
            </p:cNvPr>
            <p:cNvGrpSpPr>
              <a:grpSpLocks/>
            </p:cNvGrpSpPr>
            <p:nvPr/>
          </p:nvGrpSpPr>
          <p:grpSpPr bwMode="auto">
            <a:xfrm>
              <a:off x="319088" y="2236788"/>
              <a:ext cx="4683125" cy="3944937"/>
              <a:chOff x="222" y="1633"/>
              <a:chExt cx="2950" cy="2485"/>
            </a:xfrm>
          </p:grpSpPr>
          <p:graphicFrame>
            <p:nvGraphicFramePr>
              <p:cNvPr id="14" name="Object 4">
                <a:extLst>
                  <a:ext uri="{FF2B5EF4-FFF2-40B4-BE49-F238E27FC236}">
                    <a16:creationId xmlns:a16="http://schemas.microsoft.com/office/drawing/2014/main" id="{DB8A4D61-0362-DAB1-6A49-21018F1DC4C1}"/>
                  </a:ext>
                </a:extLst>
              </p:cNvPr>
              <p:cNvGraphicFramePr>
                <a:graphicFrameLocks noChangeAspect="1"/>
              </p:cNvGraphicFramePr>
              <p:nvPr>
                <p:extLst>
                  <p:ext uri="{D42A27DB-BD31-4B8C-83A1-F6EECF244321}">
                    <p14:modId xmlns:p14="http://schemas.microsoft.com/office/powerpoint/2010/main" val="2264519692"/>
                  </p:ext>
                </p:extLst>
              </p:nvPr>
            </p:nvGraphicFramePr>
            <p:xfrm>
              <a:off x="222" y="1633"/>
              <a:ext cx="2950" cy="248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5">
                <a:extLst>
                  <a:ext uri="{FF2B5EF4-FFF2-40B4-BE49-F238E27FC236}">
                    <a16:creationId xmlns:a16="http://schemas.microsoft.com/office/drawing/2014/main" id="{AA3EAD1C-AB71-29EE-7B51-6E678AC9B149}"/>
                  </a:ext>
                </a:extLst>
              </p:cNvPr>
              <p:cNvSpPr txBox="1">
                <a:spLocks noChangeArrowheads="1"/>
              </p:cNvSpPr>
              <p:nvPr/>
            </p:nvSpPr>
            <p:spPr bwMode="auto">
              <a:xfrm>
                <a:off x="474" y="1769"/>
                <a:ext cx="48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15000"/>
                  </a:spcBef>
                  <a:buClrTx/>
                  <a:buSzTx/>
                  <a:buFontTx/>
                  <a:buNone/>
                </a:pPr>
                <a:r>
                  <a:rPr lang="en-US" altLang="en-US" sz="800" i="1" dirty="0">
                    <a:latin typeface="+mn-lt"/>
                  </a:rPr>
                  <a:t>Current %</a:t>
                </a:r>
              </a:p>
              <a:p>
                <a:pPr>
                  <a:lnSpc>
                    <a:spcPct val="80000"/>
                  </a:lnSpc>
                  <a:spcBef>
                    <a:spcPct val="15000"/>
                  </a:spcBef>
                  <a:buClrTx/>
                  <a:buSzTx/>
                  <a:buFontTx/>
                  <a:buNone/>
                </a:pPr>
                <a:r>
                  <a:rPr lang="en-US" altLang="en-US" sz="800" i="1" dirty="0">
                    <a:latin typeface="+mn-lt"/>
                  </a:rPr>
                  <a:t>Performance</a:t>
                </a:r>
              </a:p>
            </p:txBody>
          </p:sp>
        </p:grpSp>
        <p:sp>
          <p:nvSpPr>
            <p:cNvPr id="7" name="Rectangle 7">
              <a:extLst>
                <a:ext uri="{FF2B5EF4-FFF2-40B4-BE49-F238E27FC236}">
                  <a16:creationId xmlns:a16="http://schemas.microsoft.com/office/drawing/2014/main" id="{A13A0204-5CF3-518F-DD68-F1409D82A633}"/>
                </a:ext>
              </a:extLst>
            </p:cNvPr>
            <p:cNvSpPr>
              <a:spLocks noChangeArrowheads="1"/>
            </p:cNvSpPr>
            <p:nvPr/>
          </p:nvSpPr>
          <p:spPr bwMode="auto">
            <a:xfrm>
              <a:off x="5203825" y="2557463"/>
              <a:ext cx="367982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100" dirty="0">
                  <a:latin typeface="+mn-lt"/>
                </a:rPr>
                <a:t>Laggards (30% of study) have S&amp;OP practices significantly behind cross-industry participants</a:t>
              </a:r>
            </a:p>
            <a:p>
              <a:pPr>
                <a:spcBef>
                  <a:spcPct val="45000"/>
                </a:spcBef>
                <a:buClrTx/>
                <a:buSzPct val="90000"/>
                <a:buFont typeface="Arial" panose="020B0604020202020204" pitchFamily="34" charset="0"/>
                <a:buChar char="•"/>
              </a:pPr>
              <a:r>
                <a:rPr lang="en-US" altLang="en-US" sz="1100" dirty="0">
                  <a:latin typeface="+mn-lt"/>
                </a:rPr>
                <a:t>Industry Norm (50% of study) have S&amp;OP practices representing the average utilization of basic S&amp;OP disciplines</a:t>
              </a:r>
            </a:p>
            <a:p>
              <a:pPr>
                <a:spcBef>
                  <a:spcPct val="45000"/>
                </a:spcBef>
                <a:buClrTx/>
                <a:buSzPct val="90000"/>
                <a:buFont typeface="Arial" panose="020B0604020202020204" pitchFamily="34" charset="0"/>
                <a:buChar char="•"/>
              </a:pPr>
              <a:r>
                <a:rPr lang="en-US" altLang="en-US" sz="1100" dirty="0">
                  <a:latin typeface="+mn-lt"/>
                </a:rPr>
                <a:t>Best-In-Class (20% of study) have institutionalized S&amp;OP disciplines achieving top cross-industry performance</a:t>
              </a:r>
              <a:endParaRPr lang="en-US" altLang="en-US" sz="1100" b="0" dirty="0">
                <a:latin typeface="+mn-lt"/>
              </a:endParaRPr>
            </a:p>
          </p:txBody>
        </p:sp>
        <p:sp>
          <p:nvSpPr>
            <p:cNvPr id="8" name="Rectangle 8">
              <a:extLst>
                <a:ext uri="{FF2B5EF4-FFF2-40B4-BE49-F238E27FC236}">
                  <a16:creationId xmlns:a16="http://schemas.microsoft.com/office/drawing/2014/main" id="{050E32EA-35A6-5486-1036-2A17BF0E30A0}"/>
                </a:ext>
              </a:extLst>
            </p:cNvPr>
            <p:cNvSpPr>
              <a:spLocks noChangeArrowheads="1"/>
            </p:cNvSpPr>
            <p:nvPr/>
          </p:nvSpPr>
          <p:spPr bwMode="auto">
            <a:xfrm>
              <a:off x="5200650" y="4581525"/>
              <a:ext cx="3679825"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100">
                  <a:latin typeface="+mn-lt"/>
                </a:rPr>
                <a:t>S&amp;OP practices are now seen as a key determinant in overall business performance</a:t>
              </a:r>
            </a:p>
            <a:p>
              <a:pPr>
                <a:spcBef>
                  <a:spcPct val="45000"/>
                </a:spcBef>
                <a:buClrTx/>
                <a:buSzPct val="90000"/>
                <a:buFont typeface="Arial" panose="020B0604020202020204" pitchFamily="34" charset="0"/>
                <a:buChar char="•"/>
              </a:pPr>
              <a:r>
                <a:rPr lang="en-US" altLang="en-US" sz="1100">
                  <a:latin typeface="+mn-lt"/>
                </a:rPr>
                <a:t>S&amp;OP disciplines (even basic elements) drive improvements in all industries and all corporate environments</a:t>
              </a:r>
            </a:p>
            <a:p>
              <a:pPr>
                <a:spcBef>
                  <a:spcPct val="45000"/>
                </a:spcBef>
                <a:buClrTx/>
                <a:buSzPct val="90000"/>
                <a:buFont typeface="Arial" panose="020B0604020202020204" pitchFamily="34" charset="0"/>
                <a:buChar char="•"/>
              </a:pPr>
              <a:r>
                <a:rPr lang="en-US" altLang="en-US" sz="1100">
                  <a:latin typeface="+mn-lt"/>
                </a:rPr>
                <a:t>Supply disciplines provide equal improvement opportunities as demand planning disciplines</a:t>
              </a:r>
              <a:endParaRPr lang="en-US" altLang="en-US" sz="1100" b="0">
                <a:latin typeface="+mn-lt"/>
              </a:endParaRPr>
            </a:p>
          </p:txBody>
        </p:sp>
        <p:sp>
          <p:nvSpPr>
            <p:cNvPr id="9" name="Rectangle 9">
              <a:extLst>
                <a:ext uri="{FF2B5EF4-FFF2-40B4-BE49-F238E27FC236}">
                  <a16:creationId xmlns:a16="http://schemas.microsoft.com/office/drawing/2014/main" id="{A595671A-9B70-FA5A-D8DB-151B8F26EC8A}"/>
                </a:ext>
              </a:extLst>
            </p:cNvPr>
            <p:cNvSpPr>
              <a:spLocks noChangeArrowheads="1"/>
            </p:cNvSpPr>
            <p:nvPr/>
          </p:nvSpPr>
          <p:spPr bwMode="auto">
            <a:xfrm>
              <a:off x="5200650" y="2441575"/>
              <a:ext cx="3663950" cy="1728788"/>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0" name="Rectangle 10">
              <a:extLst>
                <a:ext uri="{FF2B5EF4-FFF2-40B4-BE49-F238E27FC236}">
                  <a16:creationId xmlns:a16="http://schemas.microsoft.com/office/drawing/2014/main" id="{C8BF8A2F-73D7-5B52-5303-BF0D59EAC825}"/>
                </a:ext>
              </a:extLst>
            </p:cNvPr>
            <p:cNvSpPr>
              <a:spLocks noChangeArrowheads="1"/>
            </p:cNvSpPr>
            <p:nvPr/>
          </p:nvSpPr>
          <p:spPr bwMode="auto">
            <a:xfrm>
              <a:off x="5200650" y="4446588"/>
              <a:ext cx="3663950" cy="157162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1" name="Text Box 11">
              <a:extLst>
                <a:ext uri="{FF2B5EF4-FFF2-40B4-BE49-F238E27FC236}">
                  <a16:creationId xmlns:a16="http://schemas.microsoft.com/office/drawing/2014/main" id="{DF348C3D-FA2B-EDE7-EF7F-270267892696}"/>
                </a:ext>
              </a:extLst>
            </p:cNvPr>
            <p:cNvSpPr txBox="1">
              <a:spLocks noChangeArrowheads="1"/>
            </p:cNvSpPr>
            <p:nvPr/>
          </p:nvSpPr>
          <p:spPr bwMode="auto">
            <a:xfrm>
              <a:off x="5436669" y="2303463"/>
              <a:ext cx="1223413"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dirty="0">
                  <a:latin typeface="+mn-lt"/>
                </a:rPr>
                <a:t>Key Findings</a:t>
              </a:r>
            </a:p>
          </p:txBody>
        </p:sp>
        <p:sp>
          <p:nvSpPr>
            <p:cNvPr id="12" name="Text Box 12">
              <a:extLst>
                <a:ext uri="{FF2B5EF4-FFF2-40B4-BE49-F238E27FC236}">
                  <a16:creationId xmlns:a16="http://schemas.microsoft.com/office/drawing/2014/main" id="{DCF40C69-7276-0427-026A-012690A9322F}"/>
                </a:ext>
              </a:extLst>
            </p:cNvPr>
            <p:cNvSpPr txBox="1">
              <a:spLocks noChangeArrowheads="1"/>
            </p:cNvSpPr>
            <p:nvPr/>
          </p:nvSpPr>
          <p:spPr bwMode="auto">
            <a:xfrm>
              <a:off x="5432101" y="4318000"/>
              <a:ext cx="1183337"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Implications</a:t>
              </a:r>
            </a:p>
          </p:txBody>
        </p:sp>
      </p:grpSp>
    </p:spTree>
    <p:extLst>
      <p:ext uri="{BB962C8B-B14F-4D97-AF65-F5344CB8AC3E}">
        <p14:creationId xmlns:p14="http://schemas.microsoft.com/office/powerpoint/2010/main" val="39979895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Adoption Of S&amp;OP Disciplines:  </a:t>
            </a:r>
            <a:br>
              <a:rPr lang="en-US" dirty="0"/>
            </a:br>
            <a:r>
              <a:rPr lang="en-US" dirty="0"/>
              <a:t>Proven Performance Increases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286596" y="3182147"/>
            <a:ext cx="2750117" cy="160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In fact, demonstrable improvements in fill rate and customer retention metrics demonstrate the untapped performance potential awaiting organizations preparing for S&amp;OP implementation.</a:t>
            </a:r>
          </a:p>
        </p:txBody>
      </p:sp>
      <p:grpSp>
        <p:nvGrpSpPr>
          <p:cNvPr id="19" name="Group 18">
            <a:extLst>
              <a:ext uri="{FF2B5EF4-FFF2-40B4-BE49-F238E27FC236}">
                <a16:creationId xmlns:a16="http://schemas.microsoft.com/office/drawing/2014/main" id="{097E018C-6E8A-FF54-3277-5EAA977658D6}"/>
              </a:ext>
            </a:extLst>
          </p:cNvPr>
          <p:cNvGrpSpPr/>
          <p:nvPr/>
        </p:nvGrpSpPr>
        <p:grpSpPr>
          <a:xfrm>
            <a:off x="268321" y="1879635"/>
            <a:ext cx="9018275" cy="4419530"/>
            <a:chOff x="268320" y="2252695"/>
            <a:chExt cx="8697880" cy="4046473"/>
          </a:xfrm>
        </p:grpSpPr>
        <p:graphicFrame>
          <p:nvGraphicFramePr>
            <p:cNvPr id="20" name="Object 3">
              <a:extLst>
                <a:ext uri="{FF2B5EF4-FFF2-40B4-BE49-F238E27FC236}">
                  <a16:creationId xmlns:a16="http://schemas.microsoft.com/office/drawing/2014/main" id="{A3BF3777-1BD1-7564-17B1-4137545778AC}"/>
                </a:ext>
              </a:extLst>
            </p:cNvPr>
            <p:cNvGraphicFramePr>
              <a:graphicFrameLocks noChangeAspect="1"/>
            </p:cNvGraphicFramePr>
            <p:nvPr>
              <p:extLst>
                <p:ext uri="{D42A27DB-BD31-4B8C-83A1-F6EECF244321}">
                  <p14:modId xmlns:p14="http://schemas.microsoft.com/office/powerpoint/2010/main" val="976372021"/>
                </p:ext>
              </p:extLst>
            </p:nvPr>
          </p:nvGraphicFramePr>
          <p:xfrm>
            <a:off x="268320" y="2252695"/>
            <a:ext cx="4784661" cy="4046473"/>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 Box 4">
              <a:extLst>
                <a:ext uri="{FF2B5EF4-FFF2-40B4-BE49-F238E27FC236}">
                  <a16:creationId xmlns:a16="http://schemas.microsoft.com/office/drawing/2014/main" id="{04E419E7-CFE6-A88C-80A1-E1C55512BD16}"/>
                </a:ext>
              </a:extLst>
            </p:cNvPr>
            <p:cNvSpPr txBox="1">
              <a:spLocks noChangeArrowheads="1"/>
            </p:cNvSpPr>
            <p:nvPr/>
          </p:nvSpPr>
          <p:spPr bwMode="auto">
            <a:xfrm>
              <a:off x="652463" y="2520950"/>
              <a:ext cx="847547" cy="175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15000"/>
                </a:spcBef>
                <a:buClrTx/>
                <a:buSzTx/>
                <a:buFontTx/>
                <a:buNone/>
              </a:pPr>
              <a:r>
                <a:rPr lang="en-US" altLang="en-US" sz="800" i="1">
                  <a:latin typeface="+mn-lt"/>
                </a:rPr>
                <a:t>% Improvement</a:t>
              </a:r>
            </a:p>
          </p:txBody>
        </p:sp>
        <p:sp>
          <p:nvSpPr>
            <p:cNvPr id="16" name="Rectangle 7">
              <a:extLst>
                <a:ext uri="{FF2B5EF4-FFF2-40B4-BE49-F238E27FC236}">
                  <a16:creationId xmlns:a16="http://schemas.microsoft.com/office/drawing/2014/main" id="{A4A6CD6F-02D4-A7AF-F87D-ACEDFC790794}"/>
                </a:ext>
              </a:extLst>
            </p:cNvPr>
            <p:cNvSpPr>
              <a:spLocks noChangeArrowheads="1"/>
            </p:cNvSpPr>
            <p:nvPr/>
          </p:nvSpPr>
          <p:spPr bwMode="auto">
            <a:xfrm>
              <a:off x="5026025" y="2401888"/>
              <a:ext cx="3940175" cy="330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dirty="0">
                  <a:latin typeface="+mn-lt"/>
                </a:rPr>
                <a:t>Leading organizations are focused on profit growth, not just supply-demand balancing</a:t>
              </a:r>
            </a:p>
            <a:p>
              <a:pPr>
                <a:spcBef>
                  <a:spcPct val="45000"/>
                </a:spcBef>
                <a:buClrTx/>
                <a:buSzPct val="90000"/>
                <a:buFont typeface="Arial" panose="020B0604020202020204" pitchFamily="34" charset="0"/>
                <a:buChar char="•"/>
              </a:pPr>
              <a:r>
                <a:rPr lang="en-US" altLang="en-US" sz="1200" dirty="0">
                  <a:latin typeface="+mn-lt"/>
                </a:rPr>
                <a:t>S&amp;OP decision makers cover the entire value chain, not just one or two independent silos</a:t>
              </a:r>
            </a:p>
            <a:p>
              <a:pPr>
                <a:spcBef>
                  <a:spcPct val="45000"/>
                </a:spcBef>
                <a:buClrTx/>
                <a:buSzPct val="90000"/>
                <a:buFont typeface="Arial" panose="020B0604020202020204" pitchFamily="34" charset="0"/>
                <a:buChar char="•"/>
              </a:pPr>
              <a:r>
                <a:rPr lang="en-US" altLang="en-US" sz="1200" dirty="0">
                  <a:latin typeface="+mn-lt"/>
                </a:rPr>
                <a:t>S&amp;OP end-of-month results drive incremental, continuous improvement and not just data analysis</a:t>
              </a:r>
            </a:p>
            <a:p>
              <a:pPr>
                <a:spcBef>
                  <a:spcPct val="45000"/>
                </a:spcBef>
                <a:buClrTx/>
                <a:buSzPct val="90000"/>
                <a:buFont typeface="Arial" panose="020B0604020202020204" pitchFamily="34" charset="0"/>
                <a:buChar char="•"/>
              </a:pPr>
              <a:r>
                <a:rPr lang="en-US" altLang="en-US" sz="1200" dirty="0">
                  <a:latin typeface="+mn-lt"/>
                </a:rPr>
                <a:t>Successful S&amp;OP teams are empowered to alter existing supply-demand plans when necessary</a:t>
              </a:r>
            </a:p>
            <a:p>
              <a:pPr>
                <a:spcBef>
                  <a:spcPct val="45000"/>
                </a:spcBef>
                <a:buClrTx/>
                <a:buSzPct val="90000"/>
                <a:buFont typeface="Arial" panose="020B0604020202020204" pitchFamily="34" charset="0"/>
                <a:buChar char="•"/>
              </a:pPr>
              <a:r>
                <a:rPr lang="en-US" altLang="en-US" sz="1200" dirty="0">
                  <a:latin typeface="+mn-lt"/>
                </a:rPr>
                <a:t>S&amp;OP functions as a multi-purpose scenario-based planning tool that evaluates all possible outcomes</a:t>
              </a:r>
            </a:p>
            <a:p>
              <a:pPr>
                <a:spcBef>
                  <a:spcPct val="45000"/>
                </a:spcBef>
                <a:buClrTx/>
                <a:buSzPct val="90000"/>
                <a:buFont typeface="Arial" panose="020B0604020202020204" pitchFamily="34" charset="0"/>
                <a:buChar char="•"/>
              </a:pPr>
              <a:r>
                <a:rPr lang="en-US" altLang="en-US" sz="1200" dirty="0">
                  <a:latin typeface="+mn-lt"/>
                </a:rPr>
                <a:t>Utilization of single, </a:t>
              </a:r>
              <a:r>
                <a:rPr lang="ja-JP" altLang="en-US" sz="1200" dirty="0">
                  <a:latin typeface="+mn-lt"/>
                </a:rPr>
                <a:t>“</a:t>
              </a:r>
              <a:r>
                <a:rPr lang="en-US" altLang="ja-JP" sz="1200" dirty="0">
                  <a:latin typeface="+mn-lt"/>
                </a:rPr>
                <a:t>one plan</a:t>
              </a:r>
              <a:r>
                <a:rPr lang="ja-JP" altLang="en-US" sz="1200" dirty="0">
                  <a:latin typeface="+mn-lt"/>
                </a:rPr>
                <a:t>”</a:t>
              </a:r>
              <a:r>
                <a:rPr lang="en-US" altLang="ja-JP" sz="1200" dirty="0">
                  <a:latin typeface="+mn-lt"/>
                </a:rPr>
                <a:t> consensus-drive unconstrained demand forecast on the leading edge of successful S&amp;OP implementations</a:t>
              </a:r>
            </a:p>
            <a:p>
              <a:pPr>
                <a:spcBef>
                  <a:spcPct val="45000"/>
                </a:spcBef>
                <a:buClrTx/>
                <a:buSzPct val="90000"/>
                <a:buFont typeface="Arial" panose="020B0604020202020204" pitchFamily="34" charset="0"/>
                <a:buChar char="•"/>
              </a:pPr>
              <a:r>
                <a:rPr lang="ja-JP" altLang="en-US" sz="1200" dirty="0">
                  <a:latin typeface="+mn-lt"/>
                </a:rPr>
                <a:t>“</a:t>
              </a:r>
              <a:r>
                <a:rPr lang="en-US" altLang="ja-JP" sz="1200" dirty="0">
                  <a:latin typeface="+mn-lt"/>
                </a:rPr>
                <a:t>Response clarity</a:t>
              </a:r>
              <a:r>
                <a:rPr lang="ja-JP" altLang="en-US" sz="1200" dirty="0">
                  <a:latin typeface="+mn-lt"/>
                </a:rPr>
                <a:t>”</a:t>
              </a:r>
              <a:r>
                <a:rPr lang="en-US" altLang="ja-JP" sz="1200" dirty="0">
                  <a:latin typeface="+mn-lt"/>
                </a:rPr>
                <a:t> to differing supply-demand imbalances documented for decision making ease</a:t>
              </a:r>
            </a:p>
            <a:p>
              <a:pPr>
                <a:spcBef>
                  <a:spcPct val="45000"/>
                </a:spcBef>
                <a:buClrTx/>
                <a:buSzPct val="90000"/>
                <a:buFont typeface="Arial" panose="020B0604020202020204" pitchFamily="34" charset="0"/>
                <a:buChar char="•"/>
              </a:pPr>
              <a:r>
                <a:rPr lang="en-US" altLang="en-US" sz="1200" dirty="0">
                  <a:latin typeface="+mn-lt"/>
                </a:rPr>
                <a:t>Plan-Do-Check-Act process becomes second-nature</a:t>
              </a:r>
              <a:endParaRPr lang="en-US" altLang="en-US" sz="1200" b="0" dirty="0">
                <a:latin typeface="+mn-lt"/>
              </a:endParaRPr>
            </a:p>
          </p:txBody>
        </p:sp>
        <p:sp>
          <p:nvSpPr>
            <p:cNvPr id="17" name="Line 8">
              <a:extLst>
                <a:ext uri="{FF2B5EF4-FFF2-40B4-BE49-F238E27FC236}">
                  <a16:creationId xmlns:a16="http://schemas.microsoft.com/office/drawing/2014/main" id="{069E6AF7-1187-7207-DC1D-486D83D406A3}"/>
                </a:ext>
              </a:extLst>
            </p:cNvPr>
            <p:cNvSpPr>
              <a:spLocks noChangeShapeType="1"/>
            </p:cNvSpPr>
            <p:nvPr/>
          </p:nvSpPr>
          <p:spPr bwMode="auto">
            <a:xfrm>
              <a:off x="5335588" y="5721350"/>
              <a:ext cx="3552825"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9">
              <a:extLst>
                <a:ext uri="{FF2B5EF4-FFF2-40B4-BE49-F238E27FC236}">
                  <a16:creationId xmlns:a16="http://schemas.microsoft.com/office/drawing/2014/main" id="{692B2041-47AE-0EED-8A8E-73052D926D48}"/>
                </a:ext>
              </a:extLst>
            </p:cNvPr>
            <p:cNvSpPr>
              <a:spLocks noChangeArrowheads="1"/>
            </p:cNvSpPr>
            <p:nvPr/>
          </p:nvSpPr>
          <p:spPr bwMode="auto">
            <a:xfrm>
              <a:off x="5324475" y="5776913"/>
              <a:ext cx="3575050" cy="333375"/>
            </a:xfrm>
            <a:prstGeom prst="rect">
              <a:avLst/>
            </a:prstGeom>
            <a:solidFill>
              <a:schemeClr val="accent1"/>
            </a:solidFill>
            <a:ln w="12700" cap="sq">
              <a:solidFill>
                <a:srgbClr val="800000"/>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S&amp;OP As A Competitive Weapon, Not A Process</a:t>
              </a:r>
            </a:p>
          </p:txBody>
        </p:sp>
      </p:grpSp>
    </p:spTree>
    <p:extLst>
      <p:ext uri="{BB962C8B-B14F-4D97-AF65-F5344CB8AC3E}">
        <p14:creationId xmlns:p14="http://schemas.microsoft.com/office/powerpoint/2010/main" val="8757993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Integrated S&amp;OP Disciplines:  </a:t>
            </a:r>
            <a:br>
              <a:rPr lang="en-US" dirty="0"/>
            </a:br>
            <a:r>
              <a:rPr lang="en-US" dirty="0"/>
              <a:t>Profit By Design, Not By Accident</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286596" y="3182147"/>
            <a:ext cx="2750117"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In any basic (and successful) S&amp;OP process, fundamental building blocks are present that allow the S&amp;OP team to maneuver the enterprise to clearly stated profit goals while promoting continuous improvement on a monthly basis.</a:t>
            </a:r>
          </a:p>
        </p:txBody>
      </p:sp>
      <p:grpSp>
        <p:nvGrpSpPr>
          <p:cNvPr id="31" name="Group 30">
            <a:extLst>
              <a:ext uri="{FF2B5EF4-FFF2-40B4-BE49-F238E27FC236}">
                <a16:creationId xmlns:a16="http://schemas.microsoft.com/office/drawing/2014/main" id="{88D420D4-BC1E-C05D-C7B9-587A6C983F66}"/>
              </a:ext>
            </a:extLst>
          </p:cNvPr>
          <p:cNvGrpSpPr/>
          <p:nvPr/>
        </p:nvGrpSpPr>
        <p:grpSpPr>
          <a:xfrm>
            <a:off x="385762" y="1924049"/>
            <a:ext cx="8453437" cy="4249562"/>
            <a:chOff x="385763" y="1924050"/>
            <a:chExt cx="7461250" cy="3891069"/>
          </a:xfrm>
        </p:grpSpPr>
        <p:sp>
          <p:nvSpPr>
            <p:cNvPr id="4" name="Rectangle 2">
              <a:extLst>
                <a:ext uri="{FF2B5EF4-FFF2-40B4-BE49-F238E27FC236}">
                  <a16:creationId xmlns:a16="http://schemas.microsoft.com/office/drawing/2014/main" id="{25EDCDB7-DE4F-BFEE-C14B-40D308B4354C}"/>
                </a:ext>
              </a:extLst>
            </p:cNvPr>
            <p:cNvSpPr>
              <a:spLocks noChangeArrowheads="1"/>
            </p:cNvSpPr>
            <p:nvPr/>
          </p:nvSpPr>
          <p:spPr bwMode="auto">
            <a:xfrm>
              <a:off x="977900" y="2317750"/>
              <a:ext cx="1908175" cy="568325"/>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latin typeface="+mn-lt"/>
                </a:rPr>
                <a:t>Clear Profit Drive</a:t>
              </a:r>
            </a:p>
          </p:txBody>
        </p:sp>
        <p:sp>
          <p:nvSpPr>
            <p:cNvPr id="5" name="Rectangle 3">
              <a:extLst>
                <a:ext uri="{FF2B5EF4-FFF2-40B4-BE49-F238E27FC236}">
                  <a16:creationId xmlns:a16="http://schemas.microsoft.com/office/drawing/2014/main" id="{AEE9288B-5935-F502-C579-D10127D6981B}"/>
                </a:ext>
              </a:extLst>
            </p:cNvPr>
            <p:cNvSpPr>
              <a:spLocks noChangeArrowheads="1"/>
            </p:cNvSpPr>
            <p:nvPr/>
          </p:nvSpPr>
          <p:spPr bwMode="auto">
            <a:xfrm>
              <a:off x="977900" y="3040063"/>
              <a:ext cx="1908175" cy="56832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latin typeface="+mn-lt"/>
                </a:rPr>
                <a:t>Supply-Demand Sanity</a:t>
              </a:r>
            </a:p>
          </p:txBody>
        </p:sp>
        <p:sp>
          <p:nvSpPr>
            <p:cNvPr id="6" name="Rectangle 4">
              <a:extLst>
                <a:ext uri="{FF2B5EF4-FFF2-40B4-BE49-F238E27FC236}">
                  <a16:creationId xmlns:a16="http://schemas.microsoft.com/office/drawing/2014/main" id="{3D30F544-2EDE-7EC4-DEAD-AEAD5820B390}"/>
                </a:ext>
              </a:extLst>
            </p:cNvPr>
            <p:cNvSpPr>
              <a:spLocks noChangeArrowheads="1"/>
            </p:cNvSpPr>
            <p:nvPr/>
          </p:nvSpPr>
          <p:spPr bwMode="auto">
            <a:xfrm>
              <a:off x="977900" y="3775075"/>
              <a:ext cx="1908175" cy="5683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Iterative Planning Cycle</a:t>
              </a:r>
            </a:p>
          </p:txBody>
        </p:sp>
        <p:sp>
          <p:nvSpPr>
            <p:cNvPr id="7" name="Rectangle 5">
              <a:extLst>
                <a:ext uri="{FF2B5EF4-FFF2-40B4-BE49-F238E27FC236}">
                  <a16:creationId xmlns:a16="http://schemas.microsoft.com/office/drawing/2014/main" id="{EF418703-3C50-7C97-2796-C84B97D75E97}"/>
                </a:ext>
              </a:extLst>
            </p:cNvPr>
            <p:cNvSpPr>
              <a:spLocks noChangeArrowheads="1"/>
            </p:cNvSpPr>
            <p:nvPr/>
          </p:nvSpPr>
          <p:spPr bwMode="auto">
            <a:xfrm>
              <a:off x="977900" y="4497388"/>
              <a:ext cx="1908175" cy="568325"/>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Root Cause Confirmation</a:t>
              </a:r>
            </a:p>
            <a:p>
              <a:pPr algn="ctr">
                <a:lnSpc>
                  <a:spcPct val="80000"/>
                </a:lnSpc>
                <a:buClrTx/>
                <a:buSzTx/>
                <a:buFontTx/>
                <a:buNone/>
              </a:pPr>
              <a:r>
                <a:rPr lang="en-US" altLang="en-US" sz="1100">
                  <a:solidFill>
                    <a:schemeClr val="bg1"/>
                  </a:solidFill>
                  <a:latin typeface="+mn-lt"/>
                </a:rPr>
                <a:t>&amp; Correction</a:t>
              </a:r>
            </a:p>
          </p:txBody>
        </p:sp>
        <p:sp>
          <p:nvSpPr>
            <p:cNvPr id="8" name="Rectangle 6">
              <a:extLst>
                <a:ext uri="{FF2B5EF4-FFF2-40B4-BE49-F238E27FC236}">
                  <a16:creationId xmlns:a16="http://schemas.microsoft.com/office/drawing/2014/main" id="{69E453E9-34D9-D351-39EB-0672E925F7B0}"/>
                </a:ext>
              </a:extLst>
            </p:cNvPr>
            <p:cNvSpPr>
              <a:spLocks noChangeArrowheads="1"/>
            </p:cNvSpPr>
            <p:nvPr/>
          </p:nvSpPr>
          <p:spPr bwMode="auto">
            <a:xfrm>
              <a:off x="977900" y="5235575"/>
              <a:ext cx="1908175" cy="568325"/>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Closed-Loop</a:t>
              </a:r>
            </a:p>
            <a:p>
              <a:pPr algn="ctr">
                <a:lnSpc>
                  <a:spcPct val="80000"/>
                </a:lnSpc>
                <a:buClrTx/>
                <a:buSzTx/>
                <a:buFontTx/>
                <a:buNone/>
              </a:pPr>
              <a:r>
                <a:rPr lang="en-US" altLang="en-US" sz="1100">
                  <a:solidFill>
                    <a:schemeClr val="bg1"/>
                  </a:solidFill>
                  <a:latin typeface="+mn-lt"/>
                </a:rPr>
                <a:t>Decision Process</a:t>
              </a:r>
            </a:p>
          </p:txBody>
        </p:sp>
        <p:sp>
          <p:nvSpPr>
            <p:cNvPr id="9" name="Line 7">
              <a:extLst>
                <a:ext uri="{FF2B5EF4-FFF2-40B4-BE49-F238E27FC236}">
                  <a16:creationId xmlns:a16="http://schemas.microsoft.com/office/drawing/2014/main" id="{A5FB4A7C-788F-B5E4-F62B-11C0C9062732}"/>
                </a:ext>
              </a:extLst>
            </p:cNvPr>
            <p:cNvSpPr>
              <a:spLocks noChangeShapeType="1"/>
            </p:cNvSpPr>
            <p:nvPr/>
          </p:nvSpPr>
          <p:spPr bwMode="auto">
            <a:xfrm>
              <a:off x="996950" y="2967038"/>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8">
              <a:extLst>
                <a:ext uri="{FF2B5EF4-FFF2-40B4-BE49-F238E27FC236}">
                  <a16:creationId xmlns:a16="http://schemas.microsoft.com/office/drawing/2014/main" id="{89ED691F-DA74-77BB-126E-9DB754A36416}"/>
                </a:ext>
              </a:extLst>
            </p:cNvPr>
            <p:cNvSpPr>
              <a:spLocks noChangeShapeType="1"/>
            </p:cNvSpPr>
            <p:nvPr/>
          </p:nvSpPr>
          <p:spPr bwMode="auto">
            <a:xfrm>
              <a:off x="982663" y="3686175"/>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9">
              <a:extLst>
                <a:ext uri="{FF2B5EF4-FFF2-40B4-BE49-F238E27FC236}">
                  <a16:creationId xmlns:a16="http://schemas.microsoft.com/office/drawing/2014/main" id="{41C14FED-2E98-6A83-135E-1B1143A893B5}"/>
                </a:ext>
              </a:extLst>
            </p:cNvPr>
            <p:cNvSpPr>
              <a:spLocks noChangeShapeType="1"/>
            </p:cNvSpPr>
            <p:nvPr/>
          </p:nvSpPr>
          <p:spPr bwMode="auto">
            <a:xfrm>
              <a:off x="982663" y="4419600"/>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a:extLst>
                <a:ext uri="{FF2B5EF4-FFF2-40B4-BE49-F238E27FC236}">
                  <a16:creationId xmlns:a16="http://schemas.microsoft.com/office/drawing/2014/main" id="{33498066-5A7A-2E50-14A8-B64D3EA82100}"/>
                </a:ext>
              </a:extLst>
            </p:cNvPr>
            <p:cNvSpPr>
              <a:spLocks noChangeShapeType="1"/>
            </p:cNvSpPr>
            <p:nvPr/>
          </p:nvSpPr>
          <p:spPr bwMode="auto">
            <a:xfrm>
              <a:off x="982663" y="5153025"/>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11">
              <a:extLst>
                <a:ext uri="{FF2B5EF4-FFF2-40B4-BE49-F238E27FC236}">
                  <a16:creationId xmlns:a16="http://schemas.microsoft.com/office/drawing/2014/main" id="{EA43C056-33F7-9B7E-9014-7E8AA5A78B4C}"/>
                </a:ext>
              </a:extLst>
            </p:cNvPr>
            <p:cNvSpPr>
              <a:spLocks noChangeArrowheads="1"/>
            </p:cNvSpPr>
            <p:nvPr/>
          </p:nvSpPr>
          <p:spPr bwMode="auto">
            <a:xfrm>
              <a:off x="2978150" y="2300288"/>
              <a:ext cx="4854575" cy="57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dirty="0">
                  <a:latin typeface="+mn-lt"/>
                </a:rPr>
                <a:t>S&amp;OP process used to optimize product profitability as opposed to revenue growth or delivered cost – Target profit levels are established and supply-demand alternatives evaluated</a:t>
              </a:r>
              <a:endParaRPr lang="en-US" altLang="en-US" sz="1200" b="0" dirty="0">
                <a:latin typeface="+mn-lt"/>
              </a:endParaRPr>
            </a:p>
          </p:txBody>
        </p:sp>
        <p:sp>
          <p:nvSpPr>
            <p:cNvPr id="14" name="Rectangle 12">
              <a:extLst>
                <a:ext uri="{FF2B5EF4-FFF2-40B4-BE49-F238E27FC236}">
                  <a16:creationId xmlns:a16="http://schemas.microsoft.com/office/drawing/2014/main" id="{7E70FBD9-B524-3E58-1377-38AD14B132CB}"/>
                </a:ext>
              </a:extLst>
            </p:cNvPr>
            <p:cNvSpPr>
              <a:spLocks noChangeArrowheads="1"/>
            </p:cNvSpPr>
            <p:nvPr/>
          </p:nvSpPr>
          <p:spPr bwMode="auto">
            <a:xfrm>
              <a:off x="2981325" y="3044825"/>
              <a:ext cx="4865688" cy="57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dirty="0">
                  <a:latin typeface="+mn-lt"/>
                </a:rPr>
                <a:t>S&amp;OP teams derive the </a:t>
              </a:r>
              <a:r>
                <a:rPr lang="ja-JP" altLang="en-US" sz="1200" dirty="0">
                  <a:latin typeface="+mn-lt"/>
                </a:rPr>
                <a:t>“</a:t>
              </a:r>
              <a:r>
                <a:rPr lang="en-US" altLang="ja-JP" sz="1200" dirty="0">
                  <a:latin typeface="+mn-lt"/>
                </a:rPr>
                <a:t>best combination</a:t>
              </a:r>
              <a:r>
                <a:rPr lang="ja-JP" altLang="en-US" sz="1200" dirty="0">
                  <a:latin typeface="+mn-lt"/>
                </a:rPr>
                <a:t>”</a:t>
              </a:r>
              <a:r>
                <a:rPr lang="en-US" altLang="ja-JP" sz="1200" dirty="0">
                  <a:latin typeface="+mn-lt"/>
                </a:rPr>
                <a:t> of supply and demand to drive profitability; impacts of excess supply and unnecessary demand (demand that should not be served) understood</a:t>
              </a:r>
              <a:endParaRPr lang="en-US" altLang="en-US" sz="1200" b="0" dirty="0">
                <a:latin typeface="+mn-lt"/>
              </a:endParaRPr>
            </a:p>
          </p:txBody>
        </p:sp>
        <p:sp>
          <p:nvSpPr>
            <p:cNvPr id="21" name="Rectangle 13">
              <a:extLst>
                <a:ext uri="{FF2B5EF4-FFF2-40B4-BE49-F238E27FC236}">
                  <a16:creationId xmlns:a16="http://schemas.microsoft.com/office/drawing/2014/main" id="{844B76D3-DF78-8E29-314A-D92649A2317B}"/>
                </a:ext>
              </a:extLst>
            </p:cNvPr>
            <p:cNvSpPr>
              <a:spLocks noChangeArrowheads="1"/>
            </p:cNvSpPr>
            <p:nvPr/>
          </p:nvSpPr>
          <p:spPr bwMode="auto">
            <a:xfrm>
              <a:off x="2981325" y="3779838"/>
              <a:ext cx="4854575" cy="57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a:latin typeface="+mn-lt"/>
                </a:rPr>
                <a:t>All relevant contingencies are plotted and understood during the monthly S&amp;OP cycle; senior management has full snapshot on profit impacts from supply constraints and unforeseen demand</a:t>
              </a:r>
              <a:endParaRPr lang="en-US" altLang="en-US" sz="1200" b="0">
                <a:latin typeface="+mn-lt"/>
              </a:endParaRPr>
            </a:p>
          </p:txBody>
        </p:sp>
        <p:sp>
          <p:nvSpPr>
            <p:cNvPr id="22" name="Rectangle 14">
              <a:extLst>
                <a:ext uri="{FF2B5EF4-FFF2-40B4-BE49-F238E27FC236}">
                  <a16:creationId xmlns:a16="http://schemas.microsoft.com/office/drawing/2014/main" id="{4A20C0C1-24A1-FA5B-33E8-EBF0CCF6EB01}"/>
                </a:ext>
              </a:extLst>
            </p:cNvPr>
            <p:cNvSpPr>
              <a:spLocks noChangeArrowheads="1"/>
            </p:cNvSpPr>
            <p:nvPr/>
          </p:nvSpPr>
          <p:spPr bwMode="auto">
            <a:xfrm>
              <a:off x="2981325" y="4503738"/>
              <a:ext cx="4854575" cy="57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a:latin typeface="+mn-lt"/>
                </a:rPr>
                <a:t>Best-in-class companies use the basic S&amp;OP metrics and detailed data bases to effect root-cause analysis in order to isolate planning problems and enact solutions to minimize any chance of a repeat</a:t>
              </a:r>
              <a:endParaRPr lang="en-US" altLang="en-US" sz="1200" b="0">
                <a:latin typeface="+mn-lt"/>
              </a:endParaRPr>
            </a:p>
          </p:txBody>
        </p:sp>
        <p:sp>
          <p:nvSpPr>
            <p:cNvPr id="23" name="Rectangle 15">
              <a:extLst>
                <a:ext uri="{FF2B5EF4-FFF2-40B4-BE49-F238E27FC236}">
                  <a16:creationId xmlns:a16="http://schemas.microsoft.com/office/drawing/2014/main" id="{9CAFD71E-D26F-1189-FDFD-46FDAF99BEED}"/>
                </a:ext>
              </a:extLst>
            </p:cNvPr>
            <p:cNvSpPr>
              <a:spLocks noChangeArrowheads="1"/>
            </p:cNvSpPr>
            <p:nvPr/>
          </p:nvSpPr>
          <p:spPr bwMode="auto">
            <a:xfrm>
              <a:off x="2981325" y="5240338"/>
              <a:ext cx="4854575" cy="57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a:latin typeface="+mn-lt"/>
                </a:rPr>
                <a:t>All critical elements of a basic S&amp;OP process – Business transactions, decision support systems, analytics and performance dashboards – Are seamlessly linked to facilitate rapid response</a:t>
              </a:r>
              <a:endParaRPr lang="en-US" altLang="en-US" sz="1200" b="0">
                <a:latin typeface="+mn-lt"/>
              </a:endParaRPr>
            </a:p>
          </p:txBody>
        </p:sp>
        <p:sp>
          <p:nvSpPr>
            <p:cNvPr id="24" name="Line 16">
              <a:extLst>
                <a:ext uri="{FF2B5EF4-FFF2-40B4-BE49-F238E27FC236}">
                  <a16:creationId xmlns:a16="http://schemas.microsoft.com/office/drawing/2014/main" id="{3A179B6F-2258-65B3-8199-497F6C79BC69}"/>
                </a:ext>
              </a:extLst>
            </p:cNvPr>
            <p:cNvSpPr>
              <a:spLocks noChangeShapeType="1"/>
            </p:cNvSpPr>
            <p:nvPr/>
          </p:nvSpPr>
          <p:spPr bwMode="auto">
            <a:xfrm>
              <a:off x="985838" y="2227263"/>
              <a:ext cx="6769100" cy="0"/>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Text Box 17">
              <a:extLst>
                <a:ext uri="{FF2B5EF4-FFF2-40B4-BE49-F238E27FC236}">
                  <a16:creationId xmlns:a16="http://schemas.microsoft.com/office/drawing/2014/main" id="{B1A0B8C6-0063-B225-B73F-580B1BC6F68E}"/>
                </a:ext>
              </a:extLst>
            </p:cNvPr>
            <p:cNvSpPr txBox="1">
              <a:spLocks noChangeArrowheads="1"/>
            </p:cNvSpPr>
            <p:nvPr/>
          </p:nvSpPr>
          <p:spPr bwMode="auto">
            <a:xfrm>
              <a:off x="895350" y="1924050"/>
              <a:ext cx="3168148" cy="24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buClrTx/>
                <a:buSzTx/>
                <a:buFontTx/>
                <a:buNone/>
              </a:pPr>
              <a:r>
                <a:rPr lang="en-US" altLang="en-US" sz="1400" b="1" dirty="0">
                  <a:latin typeface="+mn-lt"/>
                </a:rPr>
                <a:t>Integration Points	            Descriptions</a:t>
              </a:r>
            </a:p>
          </p:txBody>
        </p:sp>
        <p:sp>
          <p:nvSpPr>
            <p:cNvPr id="26" name="Oval 18">
              <a:extLst>
                <a:ext uri="{FF2B5EF4-FFF2-40B4-BE49-F238E27FC236}">
                  <a16:creationId xmlns:a16="http://schemas.microsoft.com/office/drawing/2014/main" id="{3267630C-37E3-205D-8BE5-758DD1268DC3}"/>
                </a:ext>
              </a:extLst>
            </p:cNvPr>
            <p:cNvSpPr>
              <a:spLocks noChangeArrowheads="1"/>
            </p:cNvSpPr>
            <p:nvPr/>
          </p:nvSpPr>
          <p:spPr bwMode="auto">
            <a:xfrm>
              <a:off x="385763" y="2425700"/>
              <a:ext cx="400050" cy="366713"/>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dirty="0">
                  <a:solidFill>
                    <a:schemeClr val="bg1"/>
                  </a:solidFill>
                  <a:latin typeface="+mn-lt"/>
                </a:rPr>
                <a:t>1</a:t>
              </a:r>
            </a:p>
          </p:txBody>
        </p:sp>
        <p:sp>
          <p:nvSpPr>
            <p:cNvPr id="27" name="Oval 19">
              <a:extLst>
                <a:ext uri="{FF2B5EF4-FFF2-40B4-BE49-F238E27FC236}">
                  <a16:creationId xmlns:a16="http://schemas.microsoft.com/office/drawing/2014/main" id="{E9A0ECE5-3076-E511-C068-144A43574F34}"/>
                </a:ext>
              </a:extLst>
            </p:cNvPr>
            <p:cNvSpPr>
              <a:spLocks noChangeArrowheads="1"/>
            </p:cNvSpPr>
            <p:nvPr/>
          </p:nvSpPr>
          <p:spPr bwMode="auto">
            <a:xfrm>
              <a:off x="385763" y="3151188"/>
              <a:ext cx="400050" cy="366712"/>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a:solidFill>
                    <a:schemeClr val="bg1"/>
                  </a:solidFill>
                  <a:latin typeface="+mn-lt"/>
                </a:rPr>
                <a:t>2</a:t>
              </a:r>
            </a:p>
          </p:txBody>
        </p:sp>
        <p:sp>
          <p:nvSpPr>
            <p:cNvPr id="28" name="Oval 20">
              <a:extLst>
                <a:ext uri="{FF2B5EF4-FFF2-40B4-BE49-F238E27FC236}">
                  <a16:creationId xmlns:a16="http://schemas.microsoft.com/office/drawing/2014/main" id="{790E7977-86D8-5C9D-B5FF-620D65FD6477}"/>
                </a:ext>
              </a:extLst>
            </p:cNvPr>
            <p:cNvSpPr>
              <a:spLocks noChangeArrowheads="1"/>
            </p:cNvSpPr>
            <p:nvPr/>
          </p:nvSpPr>
          <p:spPr bwMode="auto">
            <a:xfrm>
              <a:off x="385763" y="3883025"/>
              <a:ext cx="400050" cy="366713"/>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a:solidFill>
                    <a:schemeClr val="bg1"/>
                  </a:solidFill>
                  <a:latin typeface="+mn-lt"/>
                </a:rPr>
                <a:t>3</a:t>
              </a:r>
            </a:p>
          </p:txBody>
        </p:sp>
        <p:sp>
          <p:nvSpPr>
            <p:cNvPr id="29" name="Oval 21">
              <a:extLst>
                <a:ext uri="{FF2B5EF4-FFF2-40B4-BE49-F238E27FC236}">
                  <a16:creationId xmlns:a16="http://schemas.microsoft.com/office/drawing/2014/main" id="{32772436-74E4-9077-F8EA-D19C0099F0C6}"/>
                </a:ext>
              </a:extLst>
            </p:cNvPr>
            <p:cNvSpPr>
              <a:spLocks noChangeArrowheads="1"/>
            </p:cNvSpPr>
            <p:nvPr/>
          </p:nvSpPr>
          <p:spPr bwMode="auto">
            <a:xfrm>
              <a:off x="385763" y="4608513"/>
              <a:ext cx="400050" cy="366712"/>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a:solidFill>
                    <a:schemeClr val="bg1"/>
                  </a:solidFill>
                  <a:latin typeface="+mn-lt"/>
                </a:rPr>
                <a:t>4</a:t>
              </a:r>
            </a:p>
          </p:txBody>
        </p:sp>
        <p:sp>
          <p:nvSpPr>
            <p:cNvPr id="30" name="Oval 22">
              <a:extLst>
                <a:ext uri="{FF2B5EF4-FFF2-40B4-BE49-F238E27FC236}">
                  <a16:creationId xmlns:a16="http://schemas.microsoft.com/office/drawing/2014/main" id="{8DEC078F-D275-E069-69A3-B614C1563F23}"/>
                </a:ext>
              </a:extLst>
            </p:cNvPr>
            <p:cNvSpPr>
              <a:spLocks noChangeArrowheads="1"/>
            </p:cNvSpPr>
            <p:nvPr/>
          </p:nvSpPr>
          <p:spPr bwMode="auto">
            <a:xfrm>
              <a:off x="385763" y="5326063"/>
              <a:ext cx="400050" cy="366712"/>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dirty="0">
                  <a:solidFill>
                    <a:schemeClr val="bg1"/>
                  </a:solidFill>
                  <a:latin typeface="+mn-lt"/>
                </a:rPr>
                <a:t>5</a:t>
              </a:r>
            </a:p>
          </p:txBody>
        </p:sp>
      </p:grpSp>
    </p:spTree>
    <p:extLst>
      <p:ext uri="{BB962C8B-B14F-4D97-AF65-F5344CB8AC3E}">
        <p14:creationId xmlns:p14="http://schemas.microsoft.com/office/powerpoint/2010/main" val="28351778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Cross-Industry Successes:  </a:t>
            </a:r>
            <a:br>
              <a:rPr lang="en-US" dirty="0"/>
            </a:br>
            <a:r>
              <a:rPr lang="en-US" dirty="0"/>
              <a:t>Universal Appeal Of S&amp;OP Capabilities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Contrary to popular beliefs that S&amp;OP is only relevant in true manufacturing environments, S&amp;OP has proven itself to be a highly effective change agent for improvement across a wide variety of industries.</a:t>
            </a:r>
          </a:p>
        </p:txBody>
      </p:sp>
      <p:grpSp>
        <p:nvGrpSpPr>
          <p:cNvPr id="18" name="Group 17">
            <a:extLst>
              <a:ext uri="{FF2B5EF4-FFF2-40B4-BE49-F238E27FC236}">
                <a16:creationId xmlns:a16="http://schemas.microsoft.com/office/drawing/2014/main" id="{080F8EEF-13AF-189E-B809-0D54777DCC44}"/>
              </a:ext>
            </a:extLst>
          </p:cNvPr>
          <p:cNvGrpSpPr/>
          <p:nvPr/>
        </p:nvGrpSpPr>
        <p:grpSpPr>
          <a:xfrm>
            <a:off x="246097" y="1930435"/>
            <a:ext cx="9190003" cy="4446518"/>
            <a:chOff x="246095" y="2330482"/>
            <a:chExt cx="8729630" cy="4046474"/>
          </a:xfrm>
        </p:grpSpPr>
        <p:graphicFrame>
          <p:nvGraphicFramePr>
            <p:cNvPr id="19" name="Object 6">
              <a:extLst>
                <a:ext uri="{FF2B5EF4-FFF2-40B4-BE49-F238E27FC236}">
                  <a16:creationId xmlns:a16="http://schemas.microsoft.com/office/drawing/2014/main" id="{F7EBB757-F382-F32B-F18E-690A3E039320}"/>
                </a:ext>
              </a:extLst>
            </p:cNvPr>
            <p:cNvGraphicFramePr>
              <a:graphicFrameLocks noChangeAspect="1"/>
            </p:cNvGraphicFramePr>
            <p:nvPr>
              <p:extLst>
                <p:ext uri="{D42A27DB-BD31-4B8C-83A1-F6EECF244321}">
                  <p14:modId xmlns:p14="http://schemas.microsoft.com/office/powerpoint/2010/main" val="764199153"/>
                </p:ext>
              </p:extLst>
            </p:nvPr>
          </p:nvGraphicFramePr>
          <p:xfrm>
            <a:off x="246095" y="2330482"/>
            <a:ext cx="4784661" cy="4046474"/>
          </p:xfrm>
          <a:graphic>
            <a:graphicData uri="http://schemas.openxmlformats.org/drawingml/2006/chart">
              <c:chart xmlns:c="http://schemas.openxmlformats.org/drawingml/2006/chart" xmlns:r="http://schemas.openxmlformats.org/officeDocument/2006/relationships" r:id="rId2"/>
            </a:graphicData>
          </a:graphic>
        </p:graphicFrame>
        <p:sp>
          <p:nvSpPr>
            <p:cNvPr id="16" name="Rectangle 10">
              <a:extLst>
                <a:ext uri="{FF2B5EF4-FFF2-40B4-BE49-F238E27FC236}">
                  <a16:creationId xmlns:a16="http://schemas.microsoft.com/office/drawing/2014/main" id="{50BAC806-3018-F86F-CB05-A642D2EF3EFC}"/>
                </a:ext>
              </a:extLst>
            </p:cNvPr>
            <p:cNvSpPr>
              <a:spLocks noChangeArrowheads="1"/>
            </p:cNvSpPr>
            <p:nvPr/>
          </p:nvSpPr>
          <p:spPr bwMode="auto">
            <a:xfrm>
              <a:off x="5303838" y="2490788"/>
              <a:ext cx="3671887" cy="351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350" dirty="0">
                  <a:latin typeface="+mn-lt"/>
                </a:rPr>
                <a:t>All industries benefited significantly from S&amp; OP programs</a:t>
              </a:r>
            </a:p>
            <a:p>
              <a:pPr>
                <a:spcBef>
                  <a:spcPct val="45000"/>
                </a:spcBef>
                <a:buClrTx/>
                <a:buSzPct val="90000"/>
                <a:buFont typeface="Arial" panose="020B0604020202020204" pitchFamily="34" charset="0"/>
                <a:buChar char="•"/>
              </a:pPr>
              <a:r>
                <a:rPr lang="en-US" altLang="en-US" sz="1350" dirty="0">
                  <a:latin typeface="+mn-lt"/>
                </a:rPr>
                <a:t>Magnitude of improvement paralleled level of capital intensity &amp; proximity to end consumer</a:t>
              </a:r>
            </a:p>
            <a:p>
              <a:pPr>
                <a:spcBef>
                  <a:spcPct val="45000"/>
                </a:spcBef>
                <a:buClrTx/>
                <a:buSzPct val="90000"/>
                <a:buFont typeface="Arial" panose="020B0604020202020204" pitchFamily="34" charset="0"/>
                <a:buChar char="•"/>
              </a:pPr>
              <a:r>
                <a:rPr lang="en-US" altLang="en-US" sz="1350" dirty="0">
                  <a:latin typeface="+mn-lt"/>
                </a:rPr>
                <a:t>Consistent results in selling organizations such as wholesalers and distributors</a:t>
              </a:r>
            </a:p>
            <a:p>
              <a:pPr>
                <a:spcBef>
                  <a:spcPct val="45000"/>
                </a:spcBef>
                <a:buClrTx/>
                <a:buSzPct val="90000"/>
                <a:buFont typeface="Arial" panose="020B0604020202020204" pitchFamily="34" charset="0"/>
                <a:buChar char="•"/>
              </a:pPr>
              <a:r>
                <a:rPr lang="en-US" altLang="en-US" sz="1350" dirty="0">
                  <a:latin typeface="+mn-lt"/>
                </a:rPr>
                <a:t>Sellers achieved significant benefits through S&amp;OP processes driving stocking policies to annual and seasonal demand patterns</a:t>
              </a:r>
            </a:p>
            <a:p>
              <a:pPr>
                <a:spcBef>
                  <a:spcPct val="45000"/>
                </a:spcBef>
                <a:buClrTx/>
                <a:buSzPct val="90000"/>
                <a:buFont typeface="Arial" panose="020B0604020202020204" pitchFamily="34" charset="0"/>
                <a:buChar char="•"/>
              </a:pPr>
              <a:r>
                <a:rPr lang="en-US" altLang="en-US" sz="1350" dirty="0">
                  <a:latin typeface="+mn-lt"/>
                </a:rPr>
                <a:t>Service organizations utilizing S&amp;OP found great benefit in utilizing demand planning as a driver for service technician staffing</a:t>
              </a:r>
            </a:p>
            <a:p>
              <a:pPr>
                <a:spcBef>
                  <a:spcPct val="45000"/>
                </a:spcBef>
                <a:buClrTx/>
                <a:buSzPct val="90000"/>
                <a:buFont typeface="Arial" panose="020B0604020202020204" pitchFamily="34" charset="0"/>
                <a:buChar char="•"/>
              </a:pPr>
              <a:r>
                <a:rPr lang="en-US" altLang="en-US" sz="1350" dirty="0">
                  <a:latin typeface="+mn-lt"/>
                </a:rPr>
                <a:t>All industries faced similar internal challenges including buy-in, sales support and adoption of continuous improvement disciplines</a:t>
              </a:r>
              <a:endParaRPr lang="en-US" altLang="en-US" sz="1350" b="0" dirty="0">
                <a:latin typeface="+mn-lt"/>
              </a:endParaRPr>
            </a:p>
          </p:txBody>
        </p:sp>
        <p:sp>
          <p:nvSpPr>
            <p:cNvPr id="17" name="AutoShape 11">
              <a:extLst>
                <a:ext uri="{FF2B5EF4-FFF2-40B4-BE49-F238E27FC236}">
                  <a16:creationId xmlns:a16="http://schemas.microsoft.com/office/drawing/2014/main" id="{C355B4A9-D179-3A2A-2363-8E4FF1524A1A}"/>
                </a:ext>
              </a:extLst>
            </p:cNvPr>
            <p:cNvSpPr>
              <a:spLocks noChangeArrowheads="1"/>
            </p:cNvSpPr>
            <p:nvPr/>
          </p:nvSpPr>
          <p:spPr bwMode="auto">
            <a:xfrm>
              <a:off x="5005388" y="3108325"/>
              <a:ext cx="231775"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Tree>
    <p:extLst>
      <p:ext uri="{BB962C8B-B14F-4D97-AF65-F5344CB8AC3E}">
        <p14:creationId xmlns:p14="http://schemas.microsoft.com/office/powerpoint/2010/main" val="3111434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Cross-Industry Opportunities:  </a:t>
            </a:r>
            <a:br>
              <a:rPr lang="en-US" dirty="0"/>
            </a:br>
            <a:r>
              <a:rPr lang="en-US" dirty="0"/>
              <a:t>Deployment Of “Complete” S&amp;OP Disciplines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678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As a further sign of the power (and potential competitive advantage) that S&amp;OP offers, cross-industry surveys indicate that less than 20% of organizations employ “complete” S&amp;OP processes including customer-aligned demand and monthly root cause analysis.</a:t>
            </a:r>
          </a:p>
        </p:txBody>
      </p:sp>
      <p:grpSp>
        <p:nvGrpSpPr>
          <p:cNvPr id="14" name="Group 13">
            <a:extLst>
              <a:ext uri="{FF2B5EF4-FFF2-40B4-BE49-F238E27FC236}">
                <a16:creationId xmlns:a16="http://schemas.microsoft.com/office/drawing/2014/main" id="{35711426-789A-3310-5668-5D7AB811B153}"/>
              </a:ext>
            </a:extLst>
          </p:cNvPr>
          <p:cNvGrpSpPr/>
          <p:nvPr/>
        </p:nvGrpSpPr>
        <p:grpSpPr>
          <a:xfrm>
            <a:off x="155609" y="1993900"/>
            <a:ext cx="9420157" cy="4152900"/>
            <a:chOff x="155607" y="2471738"/>
            <a:chExt cx="8777224" cy="3675062"/>
          </a:xfrm>
        </p:grpSpPr>
        <p:graphicFrame>
          <p:nvGraphicFramePr>
            <p:cNvPr id="15" name="Object 2">
              <a:extLst>
                <a:ext uri="{FF2B5EF4-FFF2-40B4-BE49-F238E27FC236}">
                  <a16:creationId xmlns:a16="http://schemas.microsoft.com/office/drawing/2014/main" id="{5B19065E-FB05-1DB1-8F09-6673306DB148}"/>
                </a:ext>
              </a:extLst>
            </p:cNvPr>
            <p:cNvGraphicFramePr>
              <a:graphicFrameLocks noChangeAspect="1"/>
            </p:cNvGraphicFramePr>
            <p:nvPr>
              <p:extLst>
                <p:ext uri="{D42A27DB-BD31-4B8C-83A1-F6EECF244321}">
                  <p14:modId xmlns:p14="http://schemas.microsoft.com/office/powerpoint/2010/main" val="4199219302"/>
                </p:ext>
              </p:extLst>
            </p:nvPr>
          </p:nvGraphicFramePr>
          <p:xfrm>
            <a:off x="155607" y="2765457"/>
            <a:ext cx="4427474" cy="28209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Object 3">
              <a:extLst>
                <a:ext uri="{FF2B5EF4-FFF2-40B4-BE49-F238E27FC236}">
                  <a16:creationId xmlns:a16="http://schemas.microsoft.com/office/drawing/2014/main" id="{C8185485-F707-7819-E414-D46EA43AD6D9}"/>
                </a:ext>
              </a:extLst>
            </p:cNvPr>
            <p:cNvGraphicFramePr>
              <a:graphicFrameLocks noChangeAspect="1"/>
            </p:cNvGraphicFramePr>
            <p:nvPr>
              <p:extLst>
                <p:ext uri="{D42A27DB-BD31-4B8C-83A1-F6EECF244321}">
                  <p14:modId xmlns:p14="http://schemas.microsoft.com/office/powerpoint/2010/main" val="1430342041"/>
                </p:ext>
              </p:extLst>
            </p:nvPr>
          </p:nvGraphicFramePr>
          <p:xfrm>
            <a:off x="4505357" y="2765457"/>
            <a:ext cx="4427474" cy="282092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Box 7">
              <a:extLst>
                <a:ext uri="{FF2B5EF4-FFF2-40B4-BE49-F238E27FC236}">
                  <a16:creationId xmlns:a16="http://schemas.microsoft.com/office/drawing/2014/main" id="{26397865-E8B2-4B1A-686F-3568E997919C}"/>
                </a:ext>
              </a:extLst>
            </p:cNvPr>
            <p:cNvSpPr txBox="1">
              <a:spLocks noChangeArrowheads="1"/>
            </p:cNvSpPr>
            <p:nvPr/>
          </p:nvSpPr>
          <p:spPr bwMode="auto">
            <a:xfrm>
              <a:off x="1243943" y="2471738"/>
              <a:ext cx="2565126"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dirty="0">
                  <a:latin typeface="+mn-lt"/>
                </a:rPr>
                <a:t>-- S&amp;OP Demand Alignment --</a:t>
              </a:r>
            </a:p>
          </p:txBody>
        </p:sp>
        <p:sp>
          <p:nvSpPr>
            <p:cNvPr id="7" name="Text Box 8">
              <a:extLst>
                <a:ext uri="{FF2B5EF4-FFF2-40B4-BE49-F238E27FC236}">
                  <a16:creationId xmlns:a16="http://schemas.microsoft.com/office/drawing/2014/main" id="{8E639063-2A55-9C10-DC4D-731E6D134288}"/>
                </a:ext>
              </a:extLst>
            </p:cNvPr>
            <p:cNvSpPr txBox="1">
              <a:spLocks noChangeArrowheads="1"/>
            </p:cNvSpPr>
            <p:nvPr/>
          </p:nvSpPr>
          <p:spPr bwMode="auto">
            <a:xfrm>
              <a:off x="5185967" y="2471738"/>
              <a:ext cx="316785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a:latin typeface="+mn-lt"/>
                </a:rPr>
                <a:t>-- Adoption Of Root Cause Analysis --</a:t>
              </a:r>
            </a:p>
          </p:txBody>
        </p:sp>
        <p:sp>
          <p:nvSpPr>
            <p:cNvPr id="8" name="Text Box 9">
              <a:extLst>
                <a:ext uri="{FF2B5EF4-FFF2-40B4-BE49-F238E27FC236}">
                  <a16:creationId xmlns:a16="http://schemas.microsoft.com/office/drawing/2014/main" id="{6D778C39-B275-08B9-0969-B8EF4308F5D6}"/>
                </a:ext>
              </a:extLst>
            </p:cNvPr>
            <p:cNvSpPr txBox="1">
              <a:spLocks noChangeArrowheads="1"/>
            </p:cNvSpPr>
            <p:nvPr/>
          </p:nvSpPr>
          <p:spPr bwMode="auto">
            <a:xfrm>
              <a:off x="1413254" y="2917825"/>
              <a:ext cx="1366080" cy="19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i="1">
                  <a:solidFill>
                    <a:srgbClr val="000066"/>
                  </a:solidFill>
                  <a:latin typeface="+mn-lt"/>
                </a:rPr>
                <a:t>% Cross-Industry Adoption</a:t>
              </a:r>
            </a:p>
          </p:txBody>
        </p:sp>
        <p:sp>
          <p:nvSpPr>
            <p:cNvPr id="9" name="Text Box 10">
              <a:extLst>
                <a:ext uri="{FF2B5EF4-FFF2-40B4-BE49-F238E27FC236}">
                  <a16:creationId xmlns:a16="http://schemas.microsoft.com/office/drawing/2014/main" id="{671CD0D3-29E0-F40D-52B6-91AE94273A9A}"/>
                </a:ext>
              </a:extLst>
            </p:cNvPr>
            <p:cNvSpPr txBox="1">
              <a:spLocks noChangeArrowheads="1"/>
            </p:cNvSpPr>
            <p:nvPr/>
          </p:nvSpPr>
          <p:spPr bwMode="auto">
            <a:xfrm>
              <a:off x="5758241" y="2881313"/>
              <a:ext cx="1366080" cy="19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800" i="1" dirty="0">
                  <a:solidFill>
                    <a:srgbClr val="000066"/>
                  </a:solidFill>
                  <a:latin typeface="+mn-lt"/>
                </a:rPr>
                <a:t>% Cross-Industry Adoption</a:t>
              </a:r>
            </a:p>
          </p:txBody>
        </p:sp>
        <p:sp>
          <p:nvSpPr>
            <p:cNvPr id="10" name="Rectangle 11">
              <a:extLst>
                <a:ext uri="{FF2B5EF4-FFF2-40B4-BE49-F238E27FC236}">
                  <a16:creationId xmlns:a16="http://schemas.microsoft.com/office/drawing/2014/main" id="{9D38248C-DE48-66F4-5874-E9A993976105}"/>
                </a:ext>
              </a:extLst>
            </p:cNvPr>
            <p:cNvSpPr>
              <a:spLocks noChangeArrowheads="1"/>
            </p:cNvSpPr>
            <p:nvPr/>
          </p:nvSpPr>
          <p:spPr bwMode="auto">
            <a:xfrm>
              <a:off x="1371600" y="5529263"/>
              <a:ext cx="3000375" cy="614362"/>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1" name="Rectangle 12">
              <a:extLst>
                <a:ext uri="{FF2B5EF4-FFF2-40B4-BE49-F238E27FC236}">
                  <a16:creationId xmlns:a16="http://schemas.microsoft.com/office/drawing/2014/main" id="{E9445C29-B718-73F0-1C4B-9EBCD73FF5D5}"/>
                </a:ext>
              </a:extLst>
            </p:cNvPr>
            <p:cNvSpPr>
              <a:spLocks noChangeArrowheads="1"/>
            </p:cNvSpPr>
            <p:nvPr/>
          </p:nvSpPr>
          <p:spPr bwMode="auto">
            <a:xfrm>
              <a:off x="5721350" y="5532438"/>
              <a:ext cx="3000375" cy="614362"/>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2" name="Rectangle 13">
              <a:extLst>
                <a:ext uri="{FF2B5EF4-FFF2-40B4-BE49-F238E27FC236}">
                  <a16:creationId xmlns:a16="http://schemas.microsoft.com/office/drawing/2014/main" id="{65D7E3BB-5908-1407-D10D-5F466348237C}"/>
                </a:ext>
              </a:extLst>
            </p:cNvPr>
            <p:cNvSpPr>
              <a:spLocks noChangeArrowheads="1"/>
            </p:cNvSpPr>
            <p:nvPr/>
          </p:nvSpPr>
          <p:spPr bwMode="auto">
            <a:xfrm>
              <a:off x="1377950" y="5545138"/>
              <a:ext cx="3036888" cy="51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100" dirty="0">
                  <a:latin typeface="+mn-lt"/>
                </a:rPr>
                <a:t>Those organizations not employing customer-specific S&amp;OP demand planning sub-optimize the enterprise</a:t>
              </a:r>
              <a:endParaRPr lang="en-US" altLang="en-US" sz="1100" b="0" dirty="0">
                <a:latin typeface="+mn-lt"/>
              </a:endParaRPr>
            </a:p>
          </p:txBody>
        </p:sp>
        <p:sp>
          <p:nvSpPr>
            <p:cNvPr id="13" name="Rectangle 14">
              <a:extLst>
                <a:ext uri="{FF2B5EF4-FFF2-40B4-BE49-F238E27FC236}">
                  <a16:creationId xmlns:a16="http://schemas.microsoft.com/office/drawing/2014/main" id="{A2DBE435-2513-56A7-4827-F08CBEBDD60C}"/>
                </a:ext>
              </a:extLst>
            </p:cNvPr>
            <p:cNvSpPr>
              <a:spLocks noChangeArrowheads="1"/>
            </p:cNvSpPr>
            <p:nvPr/>
          </p:nvSpPr>
          <p:spPr bwMode="auto">
            <a:xfrm>
              <a:off x="5721350" y="5553075"/>
              <a:ext cx="3036888" cy="51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100">
                  <a:latin typeface="+mn-lt"/>
                </a:rPr>
                <a:t>Lack of a systematic process for monthly error rate analysis prevents continuous improvement on all levels</a:t>
              </a:r>
              <a:endParaRPr lang="en-US" altLang="en-US" sz="1100" b="0">
                <a:latin typeface="+mn-lt"/>
              </a:endParaRPr>
            </a:p>
          </p:txBody>
        </p:sp>
      </p:grpSp>
    </p:spTree>
    <p:extLst>
      <p:ext uri="{BB962C8B-B14F-4D97-AF65-F5344CB8AC3E}">
        <p14:creationId xmlns:p14="http://schemas.microsoft.com/office/powerpoint/2010/main" val="18993273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S&amp;OP Inhibitors:  </a:t>
            </a:r>
            <a:br>
              <a:rPr lang="en-US" dirty="0"/>
            </a:br>
            <a:r>
              <a:rPr lang="en-US" dirty="0"/>
              <a:t>Does [Client] Face These Challenges?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Across all industries, internal pushback and lack of executive support were often cited as key reasons why basic S&amp;OP disciplines were not adopted or institutionalized.</a:t>
            </a:r>
          </a:p>
        </p:txBody>
      </p:sp>
      <p:grpSp>
        <p:nvGrpSpPr>
          <p:cNvPr id="23" name="Group 22">
            <a:extLst>
              <a:ext uri="{FF2B5EF4-FFF2-40B4-BE49-F238E27FC236}">
                <a16:creationId xmlns:a16="http://schemas.microsoft.com/office/drawing/2014/main" id="{EDC71A45-00DF-2E64-9FDA-AFF1E2DD39A5}"/>
              </a:ext>
            </a:extLst>
          </p:cNvPr>
          <p:cNvGrpSpPr/>
          <p:nvPr/>
        </p:nvGrpSpPr>
        <p:grpSpPr>
          <a:xfrm>
            <a:off x="442946" y="2149475"/>
            <a:ext cx="9120154" cy="3866389"/>
            <a:chOff x="201645" y="2416175"/>
            <a:chExt cx="8731218" cy="3866389"/>
          </a:xfrm>
        </p:grpSpPr>
        <p:graphicFrame>
          <p:nvGraphicFramePr>
            <p:cNvPr id="24" name="Object 2">
              <a:extLst>
                <a:ext uri="{FF2B5EF4-FFF2-40B4-BE49-F238E27FC236}">
                  <a16:creationId xmlns:a16="http://schemas.microsoft.com/office/drawing/2014/main" id="{D8BBDBF9-7907-0378-FE80-896DCFA60868}"/>
                </a:ext>
              </a:extLst>
            </p:cNvPr>
            <p:cNvGraphicFramePr>
              <a:graphicFrameLocks noChangeAspect="1"/>
            </p:cNvGraphicFramePr>
            <p:nvPr>
              <p:extLst>
                <p:ext uri="{D42A27DB-BD31-4B8C-83A1-F6EECF244321}">
                  <p14:modId xmlns:p14="http://schemas.microsoft.com/office/powerpoint/2010/main" val="1352516528"/>
                </p:ext>
              </p:extLst>
            </p:nvPr>
          </p:nvGraphicFramePr>
          <p:xfrm>
            <a:off x="201645" y="2665445"/>
            <a:ext cx="4760848" cy="356863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Box 3">
              <a:extLst>
                <a:ext uri="{FF2B5EF4-FFF2-40B4-BE49-F238E27FC236}">
                  <a16:creationId xmlns:a16="http://schemas.microsoft.com/office/drawing/2014/main" id="{70DA3F8B-8337-CA58-F7EA-A7602E38B4B4}"/>
                </a:ext>
              </a:extLst>
            </p:cNvPr>
            <p:cNvSpPr txBox="1">
              <a:spLocks noChangeArrowheads="1"/>
            </p:cNvSpPr>
            <p:nvPr/>
          </p:nvSpPr>
          <p:spPr bwMode="auto">
            <a:xfrm>
              <a:off x="2025967" y="6065838"/>
              <a:ext cx="2199641"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solidFill>
                    <a:srgbClr val="000066"/>
                  </a:solidFill>
                  <a:latin typeface="+mn-lt"/>
                </a:rPr>
                <a:t>% Respondents With Top Difficulties</a:t>
              </a:r>
            </a:p>
          </p:txBody>
        </p:sp>
        <p:sp>
          <p:nvSpPr>
            <p:cNvPr id="16" name="Rectangle 6">
              <a:extLst>
                <a:ext uri="{FF2B5EF4-FFF2-40B4-BE49-F238E27FC236}">
                  <a16:creationId xmlns:a16="http://schemas.microsoft.com/office/drawing/2014/main" id="{A0F7FC27-D7C6-7263-716B-F58B8D4BBF3E}"/>
                </a:ext>
              </a:extLst>
            </p:cNvPr>
            <p:cNvSpPr>
              <a:spLocks noChangeArrowheads="1"/>
            </p:cNvSpPr>
            <p:nvPr/>
          </p:nvSpPr>
          <p:spPr bwMode="auto">
            <a:xfrm>
              <a:off x="5303838" y="2713038"/>
              <a:ext cx="3629025" cy="299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200" dirty="0">
                  <a:latin typeface="+mn-lt"/>
                </a:rPr>
                <a:t>Internal pushback such as sales not embracing consensus forecasts a key inhibitor</a:t>
              </a:r>
            </a:p>
            <a:p>
              <a:pPr>
                <a:spcBef>
                  <a:spcPct val="45000"/>
                </a:spcBef>
                <a:buClrTx/>
                <a:buSzPct val="90000"/>
                <a:buFont typeface="Arial" panose="020B0604020202020204" pitchFamily="34" charset="0"/>
                <a:buChar char="•"/>
              </a:pPr>
              <a:r>
                <a:rPr lang="en-US" altLang="en-US" sz="1200" dirty="0">
                  <a:latin typeface="+mn-lt"/>
                </a:rPr>
                <a:t>Many organizations found S&amp;OP </a:t>
              </a:r>
              <a:r>
                <a:rPr lang="ja-JP" altLang="en-US" sz="1200" dirty="0">
                  <a:latin typeface="+mn-lt"/>
                </a:rPr>
                <a:t>“</a:t>
              </a:r>
              <a:r>
                <a:rPr lang="en-US" altLang="ja-JP" sz="1200" dirty="0">
                  <a:latin typeface="+mn-lt"/>
                </a:rPr>
                <a:t>competing</a:t>
              </a:r>
              <a:r>
                <a:rPr lang="ja-JP" altLang="en-US" sz="1200" dirty="0">
                  <a:latin typeface="+mn-lt"/>
                </a:rPr>
                <a:t>”</a:t>
              </a:r>
              <a:r>
                <a:rPr lang="en-US" altLang="ja-JP" sz="1200" dirty="0">
                  <a:latin typeface="+mn-lt"/>
                </a:rPr>
                <a:t> with other cost-cutting initiatives – Difficult to get traction</a:t>
              </a:r>
            </a:p>
            <a:p>
              <a:pPr>
                <a:spcBef>
                  <a:spcPct val="45000"/>
                </a:spcBef>
                <a:buClrTx/>
                <a:buSzPct val="90000"/>
                <a:buFont typeface="Arial" panose="020B0604020202020204" pitchFamily="34" charset="0"/>
                <a:buChar char="•"/>
              </a:pPr>
              <a:r>
                <a:rPr lang="en-US" altLang="en-US" sz="1200" dirty="0">
                  <a:latin typeface="+mn-lt"/>
                </a:rPr>
                <a:t>Lack of executive support (committing enterprise to S&amp;OP) typically failed to mobilize key supply and demand resources</a:t>
              </a:r>
            </a:p>
            <a:p>
              <a:pPr>
                <a:spcBef>
                  <a:spcPct val="45000"/>
                </a:spcBef>
                <a:buClrTx/>
                <a:buSzPct val="90000"/>
                <a:buFont typeface="Arial" panose="020B0604020202020204" pitchFamily="34" charset="0"/>
                <a:buChar char="•"/>
              </a:pPr>
              <a:r>
                <a:rPr lang="en-US" altLang="en-US" sz="1200" dirty="0">
                  <a:latin typeface="+mn-lt"/>
                </a:rPr>
                <a:t>Some businesses did not embrace S&amp;OP because there was not a compelling financial case to support the investment</a:t>
              </a:r>
            </a:p>
            <a:p>
              <a:pPr>
                <a:spcBef>
                  <a:spcPct val="45000"/>
                </a:spcBef>
                <a:buClrTx/>
                <a:buSzPct val="90000"/>
                <a:buFont typeface="Arial" panose="020B0604020202020204" pitchFamily="34" charset="0"/>
                <a:buChar char="•"/>
              </a:pPr>
              <a:r>
                <a:rPr lang="en-US" altLang="en-US" sz="1200" dirty="0">
                  <a:latin typeface="+mn-lt"/>
                </a:rPr>
                <a:t>At the outset, lack of basic forecasting capability or rough-cut capacity planning tool prevented any movement</a:t>
              </a:r>
              <a:endParaRPr lang="en-US" altLang="en-US" sz="1200" b="0" dirty="0">
                <a:latin typeface="+mn-lt"/>
              </a:endParaRPr>
            </a:p>
          </p:txBody>
        </p:sp>
        <p:sp>
          <p:nvSpPr>
            <p:cNvPr id="17" name="AutoShape 7">
              <a:extLst>
                <a:ext uri="{FF2B5EF4-FFF2-40B4-BE49-F238E27FC236}">
                  <a16:creationId xmlns:a16="http://schemas.microsoft.com/office/drawing/2014/main" id="{49D99EBD-6FDE-66F3-B746-640DC0349A77}"/>
                </a:ext>
              </a:extLst>
            </p:cNvPr>
            <p:cNvSpPr>
              <a:spLocks noChangeArrowheads="1"/>
            </p:cNvSpPr>
            <p:nvPr/>
          </p:nvSpPr>
          <p:spPr bwMode="auto">
            <a:xfrm>
              <a:off x="4905375" y="31416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18" name="Line 8">
              <a:extLst>
                <a:ext uri="{FF2B5EF4-FFF2-40B4-BE49-F238E27FC236}">
                  <a16:creationId xmlns:a16="http://schemas.microsoft.com/office/drawing/2014/main" id="{F4DAFD78-3D46-F20E-BD60-0C549A5937E1}"/>
                </a:ext>
              </a:extLst>
            </p:cNvPr>
            <p:cNvSpPr>
              <a:spLocks noChangeShapeType="1"/>
            </p:cNvSpPr>
            <p:nvPr/>
          </p:nvSpPr>
          <p:spPr bwMode="auto">
            <a:xfrm>
              <a:off x="5624513" y="5876925"/>
              <a:ext cx="3154362" cy="1588"/>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Rectangle 9">
              <a:extLst>
                <a:ext uri="{FF2B5EF4-FFF2-40B4-BE49-F238E27FC236}">
                  <a16:creationId xmlns:a16="http://schemas.microsoft.com/office/drawing/2014/main" id="{D69EA6BB-602C-2390-8A21-2D65AC4244ED}"/>
                </a:ext>
              </a:extLst>
            </p:cNvPr>
            <p:cNvSpPr>
              <a:spLocks noChangeArrowheads="1"/>
            </p:cNvSpPr>
            <p:nvPr/>
          </p:nvSpPr>
          <p:spPr bwMode="auto">
            <a:xfrm>
              <a:off x="5613400" y="5932488"/>
              <a:ext cx="3173413" cy="333375"/>
            </a:xfrm>
            <a:prstGeom prst="rect">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These Should Not Become Hurdles!</a:t>
              </a:r>
            </a:p>
          </p:txBody>
        </p:sp>
        <p:sp>
          <p:nvSpPr>
            <p:cNvPr id="21" name="Text Box 10">
              <a:extLst>
                <a:ext uri="{FF2B5EF4-FFF2-40B4-BE49-F238E27FC236}">
                  <a16:creationId xmlns:a16="http://schemas.microsoft.com/office/drawing/2014/main" id="{CE582010-C559-5949-AA11-86D816427BDB}"/>
                </a:ext>
              </a:extLst>
            </p:cNvPr>
            <p:cNvSpPr txBox="1">
              <a:spLocks noChangeArrowheads="1"/>
            </p:cNvSpPr>
            <p:nvPr/>
          </p:nvSpPr>
          <p:spPr bwMode="auto">
            <a:xfrm>
              <a:off x="858649" y="2416175"/>
              <a:ext cx="3453189"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dirty="0">
                  <a:latin typeface="+mn-lt"/>
                </a:rPr>
                <a:t>-- Key Cross-Industry Inhibitors To S&amp;OP --</a:t>
              </a:r>
            </a:p>
          </p:txBody>
        </p:sp>
        <p:sp>
          <p:nvSpPr>
            <p:cNvPr id="22" name="Text Box 11">
              <a:extLst>
                <a:ext uri="{FF2B5EF4-FFF2-40B4-BE49-F238E27FC236}">
                  <a16:creationId xmlns:a16="http://schemas.microsoft.com/office/drawing/2014/main" id="{7A396F80-55F3-9829-ABBA-6FA4CC8ACE57}"/>
                </a:ext>
              </a:extLst>
            </p:cNvPr>
            <p:cNvSpPr txBox="1">
              <a:spLocks noChangeArrowheads="1"/>
            </p:cNvSpPr>
            <p:nvPr/>
          </p:nvSpPr>
          <p:spPr bwMode="auto">
            <a:xfrm>
              <a:off x="5339973" y="2416175"/>
              <a:ext cx="3328154"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dirty="0">
                  <a:latin typeface="+mn-lt"/>
                </a:rPr>
                <a:t>-- Inhibitor Descriptions &amp; Root Causes --</a:t>
              </a:r>
            </a:p>
          </p:txBody>
        </p:sp>
      </p:grpSp>
    </p:spTree>
    <p:extLst>
      <p:ext uri="{BB962C8B-B14F-4D97-AF65-F5344CB8AC3E}">
        <p14:creationId xmlns:p14="http://schemas.microsoft.com/office/powerpoint/2010/main" val="14899146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S&amp;OP Implementation Success Factors:  Right Message, Right Players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Organizations most successful in deploying S&amp;OP found that clearly articulated executive sponsorship and cross-functional teaming were critical to the institutionalization of S&amp;OP disciplines.</a:t>
            </a:r>
          </a:p>
        </p:txBody>
      </p:sp>
      <p:grpSp>
        <p:nvGrpSpPr>
          <p:cNvPr id="13" name="Group 12">
            <a:extLst>
              <a:ext uri="{FF2B5EF4-FFF2-40B4-BE49-F238E27FC236}">
                <a16:creationId xmlns:a16="http://schemas.microsoft.com/office/drawing/2014/main" id="{92166217-5F84-3CA7-454C-845806BD6ECA}"/>
              </a:ext>
            </a:extLst>
          </p:cNvPr>
          <p:cNvGrpSpPr/>
          <p:nvPr/>
        </p:nvGrpSpPr>
        <p:grpSpPr>
          <a:xfrm>
            <a:off x="155322" y="2022475"/>
            <a:ext cx="9445878" cy="3899726"/>
            <a:chOff x="246095" y="2416175"/>
            <a:chExt cx="8653430" cy="3899726"/>
          </a:xfrm>
        </p:grpSpPr>
        <p:graphicFrame>
          <p:nvGraphicFramePr>
            <p:cNvPr id="14" name="Object 2">
              <a:extLst>
                <a:ext uri="{FF2B5EF4-FFF2-40B4-BE49-F238E27FC236}">
                  <a16:creationId xmlns:a16="http://schemas.microsoft.com/office/drawing/2014/main" id="{080EACC9-5B89-3A69-A7D2-ADFD49C4412F}"/>
                </a:ext>
              </a:extLst>
            </p:cNvPr>
            <p:cNvGraphicFramePr>
              <a:graphicFrameLocks noChangeAspect="1"/>
            </p:cNvGraphicFramePr>
            <p:nvPr>
              <p:extLst>
                <p:ext uri="{D42A27DB-BD31-4B8C-83A1-F6EECF244321}">
                  <p14:modId xmlns:p14="http://schemas.microsoft.com/office/powerpoint/2010/main" val="988669162"/>
                </p:ext>
              </p:extLst>
            </p:nvPr>
          </p:nvGraphicFramePr>
          <p:xfrm>
            <a:off x="246095" y="2676557"/>
            <a:ext cx="4760848" cy="356863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3">
              <a:extLst>
                <a:ext uri="{FF2B5EF4-FFF2-40B4-BE49-F238E27FC236}">
                  <a16:creationId xmlns:a16="http://schemas.microsoft.com/office/drawing/2014/main" id="{91AB52DE-2970-E286-0E9F-426ECCA496A2}"/>
                </a:ext>
              </a:extLst>
            </p:cNvPr>
            <p:cNvSpPr txBox="1">
              <a:spLocks noChangeArrowheads="1"/>
            </p:cNvSpPr>
            <p:nvPr/>
          </p:nvSpPr>
          <p:spPr bwMode="auto">
            <a:xfrm>
              <a:off x="1648526" y="6099175"/>
              <a:ext cx="2979924" cy="21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latin typeface="+mn-lt"/>
                </a:rPr>
                <a:t>% Respondents Dealing With Implementation Approach</a:t>
              </a:r>
            </a:p>
          </p:txBody>
        </p:sp>
        <p:sp>
          <p:nvSpPr>
            <p:cNvPr id="7" name="Rectangle 4">
              <a:extLst>
                <a:ext uri="{FF2B5EF4-FFF2-40B4-BE49-F238E27FC236}">
                  <a16:creationId xmlns:a16="http://schemas.microsoft.com/office/drawing/2014/main" id="{2B316D11-8DFF-C251-BCB9-4DFE1B2BF9D2}"/>
                </a:ext>
              </a:extLst>
            </p:cNvPr>
            <p:cNvSpPr>
              <a:spLocks noChangeArrowheads="1"/>
            </p:cNvSpPr>
            <p:nvPr/>
          </p:nvSpPr>
          <p:spPr bwMode="auto">
            <a:xfrm>
              <a:off x="5270500" y="2713038"/>
              <a:ext cx="3629025" cy="323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300" dirty="0">
                  <a:latin typeface="+mn-lt"/>
                </a:rPr>
                <a:t>Large number of firms found very positive results from collaboration with supply chain partners</a:t>
              </a:r>
            </a:p>
            <a:p>
              <a:pPr>
                <a:spcBef>
                  <a:spcPct val="45000"/>
                </a:spcBef>
                <a:buClrTx/>
                <a:buSzPct val="90000"/>
                <a:buFont typeface="Arial" panose="020B0604020202020204" pitchFamily="34" charset="0"/>
                <a:buChar char="•"/>
              </a:pPr>
              <a:r>
                <a:rPr lang="en-US" altLang="en-US" sz="1300" dirty="0">
                  <a:latin typeface="+mn-lt"/>
                </a:rPr>
                <a:t>End-use customers typically added significant value in establishing basic forecasting techniques &amp; capabilities</a:t>
              </a:r>
            </a:p>
            <a:p>
              <a:pPr>
                <a:spcBef>
                  <a:spcPct val="45000"/>
                </a:spcBef>
                <a:buClrTx/>
                <a:buSzPct val="90000"/>
                <a:buFont typeface="Arial" panose="020B0604020202020204" pitchFamily="34" charset="0"/>
                <a:buChar char="•"/>
              </a:pPr>
              <a:r>
                <a:rPr lang="en-US" altLang="en-US" sz="1300" dirty="0">
                  <a:latin typeface="+mn-lt"/>
                </a:rPr>
                <a:t>Business case development typically overcome quickly as limited resource requirements eroded any resistance</a:t>
              </a:r>
            </a:p>
            <a:p>
              <a:pPr>
                <a:spcBef>
                  <a:spcPct val="45000"/>
                </a:spcBef>
                <a:buClrTx/>
                <a:buSzPct val="90000"/>
                <a:buFont typeface="Arial" panose="020B0604020202020204" pitchFamily="34" charset="0"/>
                <a:buChar char="•"/>
              </a:pPr>
              <a:r>
                <a:rPr lang="en-US" altLang="en-US" sz="1300" dirty="0">
                  <a:latin typeface="+mn-lt"/>
                </a:rPr>
                <a:t>Cross-functional internal teaming demonstrated value finance, sales, operations, and supply chain brings to the S&amp;OP process</a:t>
              </a:r>
            </a:p>
            <a:p>
              <a:pPr>
                <a:spcBef>
                  <a:spcPct val="45000"/>
                </a:spcBef>
                <a:buClrTx/>
                <a:buSzPct val="90000"/>
                <a:buFont typeface="Arial" panose="020B0604020202020204" pitchFamily="34" charset="0"/>
                <a:buChar char="•"/>
              </a:pPr>
              <a:r>
                <a:rPr lang="en-US" altLang="en-US" sz="1300" dirty="0">
                  <a:latin typeface="+mn-lt"/>
                </a:rPr>
                <a:t>Overall program confirmed the value of a more tightly integrated supply chain</a:t>
              </a:r>
              <a:endParaRPr lang="en-US" altLang="en-US" sz="1300" b="0" dirty="0">
                <a:latin typeface="+mn-lt"/>
              </a:endParaRPr>
            </a:p>
          </p:txBody>
        </p:sp>
        <p:sp>
          <p:nvSpPr>
            <p:cNvPr id="8" name="AutoShape 5">
              <a:extLst>
                <a:ext uri="{FF2B5EF4-FFF2-40B4-BE49-F238E27FC236}">
                  <a16:creationId xmlns:a16="http://schemas.microsoft.com/office/drawing/2014/main" id="{39A58F4E-A263-ABE1-9E8F-BB1EBCD1C668}"/>
                </a:ext>
              </a:extLst>
            </p:cNvPr>
            <p:cNvSpPr>
              <a:spLocks noChangeArrowheads="1"/>
            </p:cNvSpPr>
            <p:nvPr/>
          </p:nvSpPr>
          <p:spPr bwMode="auto">
            <a:xfrm>
              <a:off x="4894263" y="3152775"/>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9" name="Line 6">
              <a:extLst>
                <a:ext uri="{FF2B5EF4-FFF2-40B4-BE49-F238E27FC236}">
                  <a16:creationId xmlns:a16="http://schemas.microsoft.com/office/drawing/2014/main" id="{8F514879-C2E6-843B-5AE6-D7409DC0CA6F}"/>
                </a:ext>
              </a:extLst>
            </p:cNvPr>
            <p:cNvSpPr>
              <a:spLocks noChangeShapeType="1"/>
            </p:cNvSpPr>
            <p:nvPr/>
          </p:nvSpPr>
          <p:spPr bwMode="auto">
            <a:xfrm>
              <a:off x="5602288" y="5888038"/>
              <a:ext cx="3176587" cy="1587"/>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Rectangle 7">
              <a:extLst>
                <a:ext uri="{FF2B5EF4-FFF2-40B4-BE49-F238E27FC236}">
                  <a16:creationId xmlns:a16="http://schemas.microsoft.com/office/drawing/2014/main" id="{2B4095C6-D2E8-CD3A-AFF1-52A39211BFFE}"/>
                </a:ext>
              </a:extLst>
            </p:cNvPr>
            <p:cNvSpPr>
              <a:spLocks noChangeArrowheads="1"/>
            </p:cNvSpPr>
            <p:nvPr/>
          </p:nvSpPr>
          <p:spPr bwMode="auto">
            <a:xfrm>
              <a:off x="5591175" y="5943600"/>
              <a:ext cx="3206750" cy="333375"/>
            </a:xfrm>
            <a:prstGeom prst="rect">
              <a:avLst/>
            </a:prstGeom>
            <a:solidFill>
              <a:schemeClr val="accent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chemeClr val="bg1"/>
                  </a:solidFill>
                  <a:latin typeface="+mn-lt"/>
                </a:rPr>
                <a:t>Right People, Right Signals, Right Partners</a:t>
              </a:r>
            </a:p>
          </p:txBody>
        </p:sp>
        <p:sp>
          <p:nvSpPr>
            <p:cNvPr id="11" name="Text Box 8">
              <a:extLst>
                <a:ext uri="{FF2B5EF4-FFF2-40B4-BE49-F238E27FC236}">
                  <a16:creationId xmlns:a16="http://schemas.microsoft.com/office/drawing/2014/main" id="{06B1220C-57DD-9919-6A8C-C7F86AA00DBD}"/>
                </a:ext>
              </a:extLst>
            </p:cNvPr>
            <p:cNvSpPr txBox="1">
              <a:spLocks noChangeArrowheads="1"/>
            </p:cNvSpPr>
            <p:nvPr/>
          </p:nvSpPr>
          <p:spPr bwMode="auto">
            <a:xfrm>
              <a:off x="5347511" y="2416175"/>
              <a:ext cx="3276566"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a:latin typeface="+mn-lt"/>
                </a:rPr>
                <a:t>-- Value Of Trading Partner Participation --</a:t>
              </a:r>
            </a:p>
          </p:txBody>
        </p:sp>
        <p:sp>
          <p:nvSpPr>
            <p:cNvPr id="12" name="Text Box 9">
              <a:extLst>
                <a:ext uri="{FF2B5EF4-FFF2-40B4-BE49-F238E27FC236}">
                  <a16:creationId xmlns:a16="http://schemas.microsoft.com/office/drawing/2014/main" id="{437A55B8-DC07-01C2-D689-D53FFF582E86}"/>
                </a:ext>
              </a:extLst>
            </p:cNvPr>
            <p:cNvSpPr txBox="1">
              <a:spLocks noChangeArrowheads="1"/>
            </p:cNvSpPr>
            <p:nvPr/>
          </p:nvSpPr>
          <p:spPr bwMode="auto">
            <a:xfrm>
              <a:off x="796794" y="2416175"/>
              <a:ext cx="3586423"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a:latin typeface="+mn-lt"/>
                </a:rPr>
                <a:t>-- Key Cross-Industry S&amp;OP Success Factors --</a:t>
              </a:r>
            </a:p>
          </p:txBody>
        </p:sp>
      </p:grpSp>
    </p:spTree>
    <p:extLst>
      <p:ext uri="{BB962C8B-B14F-4D97-AF65-F5344CB8AC3E}">
        <p14:creationId xmlns:p14="http://schemas.microsoft.com/office/powerpoint/2010/main" val="1837665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S&amp;OP Implementation Journey:  Transformation To Best-In-Class Planning</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678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Completing the S&amp;OP journey, most organizations find that after 12 months, the basic disciplines and collaboration points are established providing a robust S&amp;OP process that successfully (every month, without fail) provides the most appropriate profit &amp; build plan.</a:t>
            </a:r>
          </a:p>
        </p:txBody>
      </p:sp>
      <p:graphicFrame>
        <p:nvGraphicFramePr>
          <p:cNvPr id="4" name="Group 169">
            <a:extLst>
              <a:ext uri="{FF2B5EF4-FFF2-40B4-BE49-F238E27FC236}">
                <a16:creationId xmlns:a16="http://schemas.microsoft.com/office/drawing/2014/main" id="{E913C0EC-F248-DB9F-AB38-419028D4D73C}"/>
              </a:ext>
            </a:extLst>
          </p:cNvPr>
          <p:cNvGraphicFramePr>
            <a:graphicFrameLocks noGrp="1"/>
          </p:cNvGraphicFramePr>
          <p:nvPr>
            <p:extLst>
              <p:ext uri="{D42A27DB-BD31-4B8C-83A1-F6EECF244321}">
                <p14:modId xmlns:p14="http://schemas.microsoft.com/office/powerpoint/2010/main" val="747458631"/>
              </p:ext>
            </p:extLst>
          </p:nvPr>
        </p:nvGraphicFramePr>
        <p:xfrm>
          <a:off x="538163" y="2041525"/>
          <a:ext cx="9094828" cy="3581400"/>
        </p:xfrm>
        <a:graphic>
          <a:graphicData uri="http://schemas.openxmlformats.org/drawingml/2006/table">
            <a:tbl>
              <a:tblPr/>
              <a:tblGrid>
                <a:gridCol w="1628086">
                  <a:extLst>
                    <a:ext uri="{9D8B030D-6E8A-4147-A177-3AD203B41FA5}">
                      <a16:colId xmlns:a16="http://schemas.microsoft.com/office/drawing/2014/main" val="20000"/>
                    </a:ext>
                  </a:extLst>
                </a:gridCol>
                <a:gridCol w="2589726">
                  <a:extLst>
                    <a:ext uri="{9D8B030D-6E8A-4147-A177-3AD203B41FA5}">
                      <a16:colId xmlns:a16="http://schemas.microsoft.com/office/drawing/2014/main" val="20001"/>
                    </a:ext>
                  </a:extLst>
                </a:gridCol>
                <a:gridCol w="2439414">
                  <a:extLst>
                    <a:ext uri="{9D8B030D-6E8A-4147-A177-3AD203B41FA5}">
                      <a16:colId xmlns:a16="http://schemas.microsoft.com/office/drawing/2014/main" val="20002"/>
                    </a:ext>
                  </a:extLst>
                </a:gridCol>
                <a:gridCol w="2437602">
                  <a:extLst>
                    <a:ext uri="{9D8B030D-6E8A-4147-A177-3AD203B41FA5}">
                      <a16:colId xmlns:a16="http://schemas.microsoft.com/office/drawing/2014/main" val="20003"/>
                    </a:ext>
                  </a:extLst>
                </a:gridCol>
              </a:tblGrid>
              <a:tr h="285750">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bg1"/>
                          </a:solidFill>
                          <a:effectLst/>
                          <a:latin typeface="+mn-lt"/>
                          <a:ea typeface="MS PGothic" panose="020B0600070205080204" pitchFamily="34" charset="-128"/>
                        </a:rPr>
                        <a:t>S&amp;OP Discipline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bg1"/>
                          </a:solidFill>
                          <a:effectLst/>
                          <a:latin typeface="+mn-lt"/>
                          <a:ea typeface="MS PGothic" panose="020B0600070205080204" pitchFamily="34" charset="-128"/>
                        </a:rPr>
                        <a:t>Laggards</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bg1"/>
                          </a:solidFill>
                          <a:effectLst/>
                          <a:latin typeface="+mn-lt"/>
                          <a:ea typeface="MS PGothic" panose="020B0600070205080204" pitchFamily="34" charset="-128"/>
                        </a:rPr>
                        <a:t>Average Integration</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bg1"/>
                          </a:solidFill>
                          <a:effectLst/>
                          <a:latin typeface="+mn-lt"/>
                          <a:ea typeface="MS PGothic" panose="020B0600070205080204" pitchFamily="34" charset="-128"/>
                        </a:rPr>
                        <a:t>Best-In-Class</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0"/>
                  </a:ext>
                </a:extLst>
              </a:tr>
              <a:tr h="5492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tx1"/>
                          </a:solidFill>
                          <a:effectLst/>
                          <a:latin typeface="+mn-lt"/>
                          <a:ea typeface="MS PGothic" panose="020B0600070205080204" pitchFamily="34" charset="-128"/>
                        </a:rPr>
                        <a:t>Basic Processes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Very fragmented and infrequent actions; few iterations each year</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Monthly process including basic cost analysis with iterations to basic balancing</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Multiple iterations per month to arrive at most appropriate profit-based build plan</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2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tx1"/>
                          </a:solidFill>
                          <a:effectLst/>
                          <a:latin typeface="+mn-lt"/>
                          <a:ea typeface="MS PGothic" panose="020B0600070205080204" pitchFamily="34" charset="-128"/>
                        </a:rPr>
                        <a:t>Team Structure</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No real integrated team with true S&amp;OP decision authority</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Team includes personnel with limited authority to commit resources to physical plan</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S&amp;OP is a core, institutionalized team fully authorized to adjust demand/build plans as required</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92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tx1"/>
                          </a:solidFill>
                          <a:effectLst/>
                          <a:latin typeface="+mn-lt"/>
                          <a:ea typeface="MS PGothic" panose="020B0600070205080204" pitchFamily="34" charset="-128"/>
                        </a:rPr>
                        <a:t>Resource Utilization</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Each business unit typically engaged in silo-based planning</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Cross-SBU supply chain optimization plan covering manufacturing &amp; customers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Cross-business unit participation evaluating total supply chain capacity planning</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92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tx1"/>
                          </a:solidFill>
                          <a:effectLst/>
                          <a:latin typeface="+mn-lt"/>
                          <a:ea typeface="MS PGothic" panose="020B0600070205080204" pitchFamily="34" charset="-128"/>
                        </a:rPr>
                        <a:t>Decision Tools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No defined tools; loose documents, individualized processes &amp; analysis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Formalized spreadsheet structure with key feeds from forecast &amp; capacity planning</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Pure profit optimization integrating consensus demand plans with supply constraints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92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tx1"/>
                          </a:solidFill>
                          <a:effectLst/>
                          <a:latin typeface="+mn-lt"/>
                          <a:ea typeface="MS PGothic" panose="020B0600070205080204" pitchFamily="34" charset="-128"/>
                        </a:rPr>
                        <a:t>Decision Making Processes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Limited to no alignment with sales and operations making individual optimization decisions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S&amp;OP supply-demand match requires cross-functional approval (sales/manufacturing)</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Decisions include sales, marketing, procurement, production &amp; logistics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9275">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200" b="1" i="0" u="none" strike="noStrike" cap="none" normalizeH="0" baseline="0" dirty="0">
                          <a:ln>
                            <a:noFill/>
                          </a:ln>
                          <a:solidFill>
                            <a:schemeClr val="tx1"/>
                          </a:solidFill>
                          <a:effectLst/>
                          <a:latin typeface="+mn-lt"/>
                          <a:ea typeface="MS PGothic" panose="020B0600070205080204" pitchFamily="34" charset="-128"/>
                        </a:rPr>
                        <a:t>Supply Chain Collaboration</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No cross-supply chain discussions, planning or workflow integration</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a:ln>
                            <a:noFill/>
                          </a:ln>
                          <a:solidFill>
                            <a:schemeClr val="tx1"/>
                          </a:solidFill>
                          <a:effectLst/>
                          <a:latin typeface="+mn-lt"/>
                          <a:ea typeface="MS PGothic" panose="020B0600070205080204" pitchFamily="34" charset="-128"/>
                        </a:rPr>
                        <a:t>Integration with at least 2-3 key customer or customer segments driving business</a:t>
                      </a: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tx1"/>
                          </a:solidFill>
                          <a:effectLst/>
                          <a:latin typeface="+mn-lt"/>
                          <a:ea typeface="MS PGothic" panose="020B0600070205080204" pitchFamily="34" charset="-128"/>
                        </a:rPr>
                        <a:t>Near real-time business decision capability utilizing </a:t>
                      </a:r>
                      <a:r>
                        <a:rPr kumimoji="0" lang="ja-JP" altLang="en-US" sz="1000" b="1" i="0" u="none" strike="noStrike" cap="none" normalizeH="0" baseline="0" dirty="0">
                          <a:ln>
                            <a:noFill/>
                          </a:ln>
                          <a:solidFill>
                            <a:schemeClr val="tx1"/>
                          </a:solidFill>
                          <a:effectLst/>
                          <a:latin typeface="+mn-lt"/>
                          <a:ea typeface="MS PGothic" panose="020B0600070205080204" pitchFamily="34" charset="-128"/>
                        </a:rPr>
                        <a:t>“</a:t>
                      </a:r>
                      <a:r>
                        <a:rPr kumimoji="0" lang="en-US" altLang="ja-JP" sz="1000" b="1" i="0" u="none" strike="noStrike" cap="none" normalizeH="0" baseline="0" dirty="0" err="1">
                          <a:ln>
                            <a:noFill/>
                          </a:ln>
                          <a:solidFill>
                            <a:schemeClr val="tx1"/>
                          </a:solidFill>
                          <a:effectLst/>
                          <a:latin typeface="+mn-lt"/>
                          <a:ea typeface="MS PGothic" panose="020B0600070205080204" pitchFamily="34" charset="-128"/>
                        </a:rPr>
                        <a:t>comonized</a:t>
                      </a:r>
                      <a:r>
                        <a:rPr kumimoji="0" lang="ja-JP" altLang="en-US" sz="1000" b="1" i="0" u="none" strike="noStrike" cap="none" normalizeH="0" baseline="0" dirty="0">
                          <a:ln>
                            <a:noFill/>
                          </a:ln>
                          <a:solidFill>
                            <a:schemeClr val="tx1"/>
                          </a:solidFill>
                          <a:effectLst/>
                          <a:latin typeface="+mn-lt"/>
                          <a:ea typeface="MS PGothic" panose="020B0600070205080204" pitchFamily="34" charset="-128"/>
                        </a:rPr>
                        <a:t>”</a:t>
                      </a:r>
                      <a:r>
                        <a:rPr kumimoji="0" lang="en-US" altLang="ja-JP" sz="1000" b="1" i="0" u="none" strike="noStrike" cap="none" normalizeH="0" baseline="0" dirty="0">
                          <a:ln>
                            <a:noFill/>
                          </a:ln>
                          <a:solidFill>
                            <a:schemeClr val="tx1"/>
                          </a:solidFill>
                          <a:effectLst/>
                          <a:latin typeface="+mn-lt"/>
                          <a:ea typeface="MS PGothic" panose="020B0600070205080204" pitchFamily="34" charset="-128"/>
                        </a:rPr>
                        <a:t> tools/techniques</a:t>
                      </a:r>
                      <a:endParaRPr kumimoji="0" lang="en-US" altLang="en-US" sz="1000" b="1" i="0" u="none" strike="noStrike" cap="none" normalizeH="0" baseline="0" dirty="0">
                        <a:ln>
                          <a:noFill/>
                        </a:ln>
                        <a:solidFill>
                          <a:schemeClr val="tx1"/>
                        </a:solidFill>
                        <a:effectLst/>
                        <a:latin typeface="+mn-lt"/>
                        <a:ea typeface="MS PGothic" panose="020B0600070205080204" pitchFamily="34" charset="-128"/>
                      </a:endParaRPr>
                    </a:p>
                  </a:txBody>
                  <a:tcPr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Line 170">
            <a:extLst>
              <a:ext uri="{FF2B5EF4-FFF2-40B4-BE49-F238E27FC236}">
                <a16:creationId xmlns:a16="http://schemas.microsoft.com/office/drawing/2014/main" id="{DACA6C24-619E-4B80-A7C4-B29B34BA08CB}"/>
              </a:ext>
            </a:extLst>
          </p:cNvPr>
          <p:cNvSpPr>
            <a:spLocks noChangeShapeType="1"/>
          </p:cNvSpPr>
          <p:nvPr/>
        </p:nvSpPr>
        <p:spPr bwMode="auto">
          <a:xfrm flipV="1">
            <a:off x="1965325" y="5842000"/>
            <a:ext cx="7667666" cy="11113"/>
          </a:xfrm>
          <a:prstGeom prst="line">
            <a:avLst/>
          </a:prstGeom>
          <a:noFill/>
          <a:ln w="57150" cap="sq">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Text Box 171">
            <a:extLst>
              <a:ext uri="{FF2B5EF4-FFF2-40B4-BE49-F238E27FC236}">
                <a16:creationId xmlns:a16="http://schemas.microsoft.com/office/drawing/2014/main" id="{C38E974B-43F9-6AC1-7634-AE031896DDB5}"/>
              </a:ext>
            </a:extLst>
          </p:cNvPr>
          <p:cNvSpPr txBox="1">
            <a:spLocks noChangeArrowheads="1"/>
          </p:cNvSpPr>
          <p:nvPr/>
        </p:nvSpPr>
        <p:spPr bwMode="auto">
          <a:xfrm>
            <a:off x="2559009" y="5737225"/>
            <a:ext cx="960519"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i="1" dirty="0">
                <a:latin typeface="+mn-lt"/>
              </a:rPr>
              <a:t>Beginning</a:t>
            </a:r>
          </a:p>
        </p:txBody>
      </p:sp>
      <p:sp>
        <p:nvSpPr>
          <p:cNvPr id="16" name="Text Box 172">
            <a:extLst>
              <a:ext uri="{FF2B5EF4-FFF2-40B4-BE49-F238E27FC236}">
                <a16:creationId xmlns:a16="http://schemas.microsoft.com/office/drawing/2014/main" id="{B0D41E90-DC3D-B78F-46E5-6FED224D3B38}"/>
              </a:ext>
            </a:extLst>
          </p:cNvPr>
          <p:cNvSpPr txBox="1">
            <a:spLocks noChangeArrowheads="1"/>
          </p:cNvSpPr>
          <p:nvPr/>
        </p:nvSpPr>
        <p:spPr bwMode="auto">
          <a:xfrm>
            <a:off x="5368729" y="5732679"/>
            <a:ext cx="1056700"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i="1">
                <a:latin typeface="+mn-lt"/>
              </a:rPr>
              <a:t>Six Months</a:t>
            </a:r>
          </a:p>
        </p:txBody>
      </p:sp>
      <p:sp>
        <p:nvSpPr>
          <p:cNvPr id="17" name="Text Box 173">
            <a:extLst>
              <a:ext uri="{FF2B5EF4-FFF2-40B4-BE49-F238E27FC236}">
                <a16:creationId xmlns:a16="http://schemas.microsoft.com/office/drawing/2014/main" id="{A206A896-72B2-C1A6-BEE4-728B77A887AE}"/>
              </a:ext>
            </a:extLst>
          </p:cNvPr>
          <p:cNvSpPr txBox="1">
            <a:spLocks noChangeArrowheads="1"/>
          </p:cNvSpPr>
          <p:nvPr/>
        </p:nvSpPr>
        <p:spPr bwMode="auto">
          <a:xfrm>
            <a:off x="7693683" y="5732679"/>
            <a:ext cx="1372491" cy="2664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i="1" dirty="0">
                <a:latin typeface="+mn-lt"/>
              </a:rPr>
              <a:t>Twelve Months</a:t>
            </a:r>
          </a:p>
        </p:txBody>
      </p:sp>
    </p:spTree>
    <p:extLst>
      <p:ext uri="{BB962C8B-B14F-4D97-AF65-F5344CB8AC3E}">
        <p14:creationId xmlns:p14="http://schemas.microsoft.com/office/powerpoint/2010/main" val="22213037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S&amp;OP Implementation Journey:  </a:t>
            </a:r>
            <a:br>
              <a:rPr lang="en-US" dirty="0"/>
            </a:br>
            <a:r>
              <a:rPr lang="en-US" dirty="0"/>
              <a:t>Best Practices For Complete Success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24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Summary:  By following basic disciplines and S&amp;OP frameworks, organizations migrating towards a “true” S&amp;OP environment will allow profit optimization and supply chain collaboration to drive future improvements.</a:t>
            </a:r>
          </a:p>
        </p:txBody>
      </p:sp>
      <p:grpSp>
        <p:nvGrpSpPr>
          <p:cNvPr id="22" name="Group 21">
            <a:extLst>
              <a:ext uri="{FF2B5EF4-FFF2-40B4-BE49-F238E27FC236}">
                <a16:creationId xmlns:a16="http://schemas.microsoft.com/office/drawing/2014/main" id="{862FE4CB-32CE-831E-61D3-40EF36F913EC}"/>
              </a:ext>
            </a:extLst>
          </p:cNvPr>
          <p:cNvGrpSpPr/>
          <p:nvPr/>
        </p:nvGrpSpPr>
        <p:grpSpPr>
          <a:xfrm>
            <a:off x="490538" y="1943101"/>
            <a:ext cx="9136062" cy="3962399"/>
            <a:chOff x="490538" y="2455863"/>
            <a:chExt cx="8297862" cy="3756025"/>
          </a:xfrm>
        </p:grpSpPr>
        <p:sp>
          <p:nvSpPr>
            <p:cNvPr id="6" name="Rectangle 2">
              <a:extLst>
                <a:ext uri="{FF2B5EF4-FFF2-40B4-BE49-F238E27FC236}">
                  <a16:creationId xmlns:a16="http://schemas.microsoft.com/office/drawing/2014/main" id="{82FE1D6C-3593-7B1E-A463-8B35E9FC1B94}"/>
                </a:ext>
              </a:extLst>
            </p:cNvPr>
            <p:cNvSpPr>
              <a:spLocks noChangeArrowheads="1"/>
            </p:cNvSpPr>
            <p:nvPr/>
          </p:nvSpPr>
          <p:spPr bwMode="auto">
            <a:xfrm>
              <a:off x="3844925" y="2713038"/>
              <a:ext cx="4943475" cy="341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defTabSz="708025">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defTabSz="708025">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45000"/>
                </a:spcBef>
                <a:buClrTx/>
                <a:buSzPct val="90000"/>
                <a:buFont typeface="Arial" panose="020B0604020202020204" pitchFamily="34" charset="0"/>
                <a:buChar char="•"/>
              </a:pPr>
              <a:r>
                <a:rPr lang="en-US" altLang="en-US" sz="1300" dirty="0">
                  <a:latin typeface="+mn-lt"/>
                </a:rPr>
                <a:t>Migrate towards a basic S&amp;OP strategy that includes a metric-driven, iterative (weekly) process focused on optimizing enterprise profits</a:t>
              </a:r>
            </a:p>
            <a:p>
              <a:pPr>
                <a:spcBef>
                  <a:spcPct val="45000"/>
                </a:spcBef>
                <a:buClrTx/>
                <a:buSzPct val="90000"/>
                <a:buFont typeface="Arial" panose="020B0604020202020204" pitchFamily="34" charset="0"/>
                <a:buChar char="•"/>
              </a:pPr>
              <a:r>
                <a:rPr lang="en-US" altLang="en-US" sz="1300" dirty="0">
                  <a:latin typeface="+mn-lt"/>
                </a:rPr>
                <a:t>Leverage supply chain partners and customers to expand improvements and demonstrate enterprise commitment to superior service levels</a:t>
              </a:r>
            </a:p>
            <a:p>
              <a:pPr>
                <a:spcBef>
                  <a:spcPct val="45000"/>
                </a:spcBef>
                <a:buClrTx/>
                <a:buSzPct val="90000"/>
                <a:buFont typeface="Arial" panose="020B0604020202020204" pitchFamily="34" charset="0"/>
                <a:buChar char="•"/>
              </a:pPr>
              <a:r>
                <a:rPr lang="en-US" altLang="en-US" sz="1300" dirty="0">
                  <a:latin typeface="+mn-lt"/>
                </a:rPr>
                <a:t>Implement and institutionalize the plan-do-check-act cycle so that results are openly critiqued, evaluated, and problems are isolated to improve the next S&amp;OP iteration</a:t>
              </a:r>
            </a:p>
            <a:p>
              <a:pPr>
                <a:spcBef>
                  <a:spcPct val="45000"/>
                </a:spcBef>
                <a:buClrTx/>
                <a:buSzPct val="90000"/>
                <a:buFont typeface="Arial" panose="020B0604020202020204" pitchFamily="34" charset="0"/>
                <a:buChar char="•"/>
              </a:pPr>
              <a:r>
                <a:rPr lang="en-US" altLang="en-US" sz="1300" dirty="0">
                  <a:latin typeface="+mn-lt"/>
                </a:rPr>
                <a:t>S&amp;OP should begin with a single, unconstrained consensus demand plan covering the customer base and financial business plan</a:t>
              </a:r>
            </a:p>
            <a:p>
              <a:pPr>
                <a:spcBef>
                  <a:spcPct val="45000"/>
                </a:spcBef>
                <a:buClrTx/>
                <a:buSzPct val="90000"/>
                <a:buFont typeface="Arial" panose="020B0604020202020204" pitchFamily="34" charset="0"/>
                <a:buChar char="•"/>
              </a:pPr>
              <a:r>
                <a:rPr lang="en-US" altLang="en-US" sz="1300" dirty="0">
                  <a:latin typeface="+mn-lt"/>
                </a:rPr>
                <a:t>Develop and implement a simple, spreadsheet-driven S&amp;OP planning dashboard that is easily manipulated</a:t>
              </a:r>
            </a:p>
            <a:p>
              <a:pPr>
                <a:spcBef>
                  <a:spcPct val="45000"/>
                </a:spcBef>
                <a:buClrTx/>
                <a:buSzPct val="90000"/>
                <a:buFont typeface="Arial" panose="020B0604020202020204" pitchFamily="34" charset="0"/>
                <a:buChar char="•"/>
              </a:pPr>
              <a:r>
                <a:rPr lang="en-US" altLang="en-US" sz="1300" dirty="0">
                  <a:latin typeface="+mn-lt"/>
                </a:rPr>
                <a:t>Develop pre-made </a:t>
              </a:r>
              <a:r>
                <a:rPr lang="ja-JP" altLang="en-US" sz="1300" dirty="0">
                  <a:latin typeface="+mn-lt"/>
                </a:rPr>
                <a:t>“</a:t>
              </a:r>
              <a:r>
                <a:rPr lang="en-US" altLang="ja-JP" sz="1300" dirty="0">
                  <a:latin typeface="+mn-lt"/>
                </a:rPr>
                <a:t>what if</a:t>
              </a:r>
              <a:r>
                <a:rPr lang="ja-JP" altLang="en-US" sz="1300" dirty="0">
                  <a:latin typeface="+mn-lt"/>
                </a:rPr>
                <a:t>”</a:t>
              </a:r>
              <a:r>
                <a:rPr lang="en-US" altLang="ja-JP" sz="1300" dirty="0">
                  <a:latin typeface="+mn-lt"/>
                </a:rPr>
                <a:t> contingency scenarios that offer pre-packaged solutions for supply-demand mismatches</a:t>
              </a:r>
              <a:endParaRPr lang="en-US" altLang="en-US" sz="1300" b="0" dirty="0">
                <a:latin typeface="+mn-lt"/>
              </a:endParaRPr>
            </a:p>
          </p:txBody>
        </p:sp>
        <p:sp>
          <p:nvSpPr>
            <p:cNvPr id="7" name="AutoShape 3">
              <a:extLst>
                <a:ext uri="{FF2B5EF4-FFF2-40B4-BE49-F238E27FC236}">
                  <a16:creationId xmlns:a16="http://schemas.microsoft.com/office/drawing/2014/main" id="{7AA0781E-6D2C-5F3B-ABA5-2D70662F1FAC}"/>
                </a:ext>
              </a:extLst>
            </p:cNvPr>
            <p:cNvSpPr>
              <a:spLocks noChangeArrowheads="1"/>
            </p:cNvSpPr>
            <p:nvPr/>
          </p:nvSpPr>
          <p:spPr bwMode="auto">
            <a:xfrm>
              <a:off x="3346450" y="3030538"/>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Rectangle 6">
              <a:extLst>
                <a:ext uri="{FF2B5EF4-FFF2-40B4-BE49-F238E27FC236}">
                  <a16:creationId xmlns:a16="http://schemas.microsoft.com/office/drawing/2014/main" id="{EB9079A1-D3F6-BA37-F5C3-CA1CEC60867E}"/>
                </a:ext>
              </a:extLst>
            </p:cNvPr>
            <p:cNvSpPr>
              <a:spLocks noChangeArrowheads="1"/>
            </p:cNvSpPr>
            <p:nvPr/>
          </p:nvSpPr>
          <p:spPr bwMode="auto">
            <a:xfrm>
              <a:off x="490538" y="2587625"/>
              <a:ext cx="2620962" cy="434975"/>
            </a:xfrm>
            <a:prstGeom prst="rect">
              <a:avLst/>
            </a:prstGeom>
            <a:solidFill>
              <a:schemeClr val="bg1"/>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latin typeface="+mn-lt"/>
                </a:rPr>
                <a:t>Profit-Driven:</a:t>
              </a:r>
            </a:p>
            <a:p>
              <a:pPr algn="ctr">
                <a:lnSpc>
                  <a:spcPct val="80000"/>
                </a:lnSpc>
                <a:buClrTx/>
                <a:buSzTx/>
                <a:buFontTx/>
                <a:buNone/>
              </a:pPr>
              <a:r>
                <a:rPr lang="en-US" altLang="en-US" sz="1100" dirty="0">
                  <a:latin typeface="+mn-lt"/>
                </a:rPr>
                <a:t>Achieve Profits &amp; Volume Matching</a:t>
              </a:r>
            </a:p>
          </p:txBody>
        </p:sp>
        <p:sp>
          <p:nvSpPr>
            <p:cNvPr id="9" name="Rectangle 7">
              <a:extLst>
                <a:ext uri="{FF2B5EF4-FFF2-40B4-BE49-F238E27FC236}">
                  <a16:creationId xmlns:a16="http://schemas.microsoft.com/office/drawing/2014/main" id="{4F90F0D2-3A9E-FD9F-39B8-A7BA9D59D598}"/>
                </a:ext>
              </a:extLst>
            </p:cNvPr>
            <p:cNvSpPr>
              <a:spLocks noChangeArrowheads="1"/>
            </p:cNvSpPr>
            <p:nvPr/>
          </p:nvSpPr>
          <p:spPr bwMode="auto">
            <a:xfrm>
              <a:off x="490538" y="3275013"/>
              <a:ext cx="2620962" cy="43497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latin typeface="+mn-lt"/>
                </a:rPr>
                <a:t>Supply Chain Collaboration:</a:t>
              </a:r>
            </a:p>
            <a:p>
              <a:pPr algn="ctr">
                <a:lnSpc>
                  <a:spcPct val="80000"/>
                </a:lnSpc>
                <a:buClrTx/>
                <a:buSzTx/>
                <a:buFontTx/>
                <a:buNone/>
              </a:pPr>
              <a:r>
                <a:rPr lang="en-US" altLang="en-US" sz="1100" dirty="0">
                  <a:latin typeface="+mn-lt"/>
                </a:rPr>
                <a:t>All Decision Makers Involved</a:t>
              </a:r>
            </a:p>
          </p:txBody>
        </p:sp>
        <p:sp>
          <p:nvSpPr>
            <p:cNvPr id="10" name="Rectangle 8">
              <a:extLst>
                <a:ext uri="{FF2B5EF4-FFF2-40B4-BE49-F238E27FC236}">
                  <a16:creationId xmlns:a16="http://schemas.microsoft.com/office/drawing/2014/main" id="{3914F711-E7D6-4CBC-9354-ADA6BB295170}"/>
                </a:ext>
              </a:extLst>
            </p:cNvPr>
            <p:cNvSpPr>
              <a:spLocks noChangeArrowheads="1"/>
            </p:cNvSpPr>
            <p:nvPr/>
          </p:nvSpPr>
          <p:spPr bwMode="auto">
            <a:xfrm>
              <a:off x="490538" y="3965575"/>
              <a:ext cx="2620962" cy="43497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dirty="0">
                  <a:solidFill>
                    <a:schemeClr val="bg1"/>
                  </a:solidFill>
                  <a:latin typeface="+mn-lt"/>
                </a:rPr>
                <a:t>Continuous Improvement:</a:t>
              </a:r>
            </a:p>
            <a:p>
              <a:pPr algn="ctr">
                <a:lnSpc>
                  <a:spcPct val="80000"/>
                </a:lnSpc>
                <a:buClrTx/>
                <a:buSzTx/>
                <a:buFontTx/>
                <a:buNone/>
              </a:pPr>
              <a:r>
                <a:rPr lang="en-US" altLang="en-US" sz="1100" dirty="0">
                  <a:solidFill>
                    <a:schemeClr val="bg1"/>
                  </a:solidFill>
                  <a:latin typeface="+mn-lt"/>
                </a:rPr>
                <a:t>Systematic Problem Correction</a:t>
              </a:r>
            </a:p>
          </p:txBody>
        </p:sp>
        <p:sp>
          <p:nvSpPr>
            <p:cNvPr id="11" name="Rectangle 9">
              <a:extLst>
                <a:ext uri="{FF2B5EF4-FFF2-40B4-BE49-F238E27FC236}">
                  <a16:creationId xmlns:a16="http://schemas.microsoft.com/office/drawing/2014/main" id="{05B77A6A-184F-BDFE-E56A-F9335C5E800A}"/>
                </a:ext>
              </a:extLst>
            </p:cNvPr>
            <p:cNvSpPr>
              <a:spLocks noChangeArrowheads="1"/>
            </p:cNvSpPr>
            <p:nvPr/>
          </p:nvSpPr>
          <p:spPr bwMode="auto">
            <a:xfrm>
              <a:off x="490538" y="4652963"/>
              <a:ext cx="2620962" cy="434975"/>
            </a:xfrm>
            <a:prstGeom prst="rect">
              <a:avLst/>
            </a:prstGeom>
            <a:solidFill>
              <a:schemeClr val="accent4"/>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100">
                  <a:solidFill>
                    <a:schemeClr val="bg1"/>
                  </a:solidFill>
                  <a:latin typeface="+mn-lt"/>
                </a:rPr>
                <a:t>Decision Empowerment:</a:t>
              </a:r>
            </a:p>
            <a:p>
              <a:pPr algn="ctr">
                <a:lnSpc>
                  <a:spcPct val="80000"/>
                </a:lnSpc>
                <a:buClrTx/>
                <a:buSzTx/>
                <a:buFontTx/>
                <a:buNone/>
              </a:pPr>
              <a:r>
                <a:rPr lang="en-US" altLang="en-US" sz="1100">
                  <a:solidFill>
                    <a:schemeClr val="bg1"/>
                  </a:solidFill>
                  <a:latin typeface="+mn-lt"/>
                </a:rPr>
                <a:t>S&amp;OP Team Makes The Call</a:t>
              </a:r>
            </a:p>
          </p:txBody>
        </p:sp>
        <p:cxnSp>
          <p:nvCxnSpPr>
            <p:cNvPr id="12" name="AutoShape 10">
              <a:extLst>
                <a:ext uri="{FF2B5EF4-FFF2-40B4-BE49-F238E27FC236}">
                  <a16:creationId xmlns:a16="http://schemas.microsoft.com/office/drawing/2014/main" id="{73C07D3C-2A84-A0CD-F0BF-5FE71802F8D9}"/>
                </a:ext>
              </a:extLst>
            </p:cNvPr>
            <p:cNvCxnSpPr>
              <a:cxnSpLocks noChangeShapeType="1"/>
              <a:stCxn id="8" idx="2"/>
              <a:endCxn id="9" idx="0"/>
            </p:cNvCxnSpPr>
            <p:nvPr/>
          </p:nvCxnSpPr>
          <p:spPr bwMode="auto">
            <a:xfrm>
              <a:off x="1801813" y="3022600"/>
              <a:ext cx="0" cy="25241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AutoShape 11">
              <a:extLst>
                <a:ext uri="{FF2B5EF4-FFF2-40B4-BE49-F238E27FC236}">
                  <a16:creationId xmlns:a16="http://schemas.microsoft.com/office/drawing/2014/main" id="{555B5761-2F81-B8BE-15A5-F5E4140B41B4}"/>
                </a:ext>
              </a:extLst>
            </p:cNvPr>
            <p:cNvCxnSpPr>
              <a:cxnSpLocks noChangeShapeType="1"/>
              <a:stCxn id="9" idx="2"/>
              <a:endCxn id="10" idx="0"/>
            </p:cNvCxnSpPr>
            <p:nvPr/>
          </p:nvCxnSpPr>
          <p:spPr bwMode="auto">
            <a:xfrm>
              <a:off x="1801813" y="3709988"/>
              <a:ext cx="0" cy="25558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12">
              <a:extLst>
                <a:ext uri="{FF2B5EF4-FFF2-40B4-BE49-F238E27FC236}">
                  <a16:creationId xmlns:a16="http://schemas.microsoft.com/office/drawing/2014/main" id="{3B5451EB-CA42-F2F1-6CD2-49426D23707F}"/>
                </a:ext>
              </a:extLst>
            </p:cNvPr>
            <p:cNvCxnSpPr>
              <a:cxnSpLocks noChangeShapeType="1"/>
              <a:stCxn id="10" idx="2"/>
              <a:endCxn id="11" idx="0"/>
            </p:cNvCxnSpPr>
            <p:nvPr/>
          </p:nvCxnSpPr>
          <p:spPr bwMode="auto">
            <a:xfrm>
              <a:off x="1801813" y="4400550"/>
              <a:ext cx="0" cy="25241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 name="Oval 13">
              <a:extLst>
                <a:ext uri="{FF2B5EF4-FFF2-40B4-BE49-F238E27FC236}">
                  <a16:creationId xmlns:a16="http://schemas.microsoft.com/office/drawing/2014/main" id="{CFBAB69B-41CD-FB9C-AB13-3E6493F69C1E}"/>
                </a:ext>
              </a:extLst>
            </p:cNvPr>
            <p:cNvSpPr>
              <a:spLocks noChangeArrowheads="1"/>
            </p:cNvSpPr>
            <p:nvPr/>
          </p:nvSpPr>
          <p:spPr bwMode="auto">
            <a:xfrm>
              <a:off x="490538" y="5340350"/>
              <a:ext cx="2620962" cy="412750"/>
            </a:xfrm>
            <a:prstGeom prst="ellipse">
              <a:avLst/>
            </a:prstGeom>
            <a:solidFill>
              <a:schemeClr val="accent1"/>
            </a:solidFill>
            <a:ln w="12700" cap="sq">
              <a:solidFill>
                <a:schemeClr val="tx1"/>
              </a:solidFill>
              <a:round/>
              <a:headEnd/>
              <a:tailEnd/>
            </a:ln>
            <a:effectLst>
              <a:outerShdw blurRad="63500" dist="107763" dir="2700000" algn="ctr" rotWithShape="0">
                <a:srgbClr val="777777">
                  <a:alpha val="50000"/>
                </a:srgbClr>
              </a:outerShdw>
            </a:effectLst>
          </p:spPr>
          <p:txBody>
            <a:bodyPr wrap="none" anchor="ctr"/>
            <a:lstStyle/>
            <a:p>
              <a:pPr algn="ctr">
                <a:lnSpc>
                  <a:spcPct val="80000"/>
                </a:lnSpc>
                <a:spcBef>
                  <a:spcPct val="20000"/>
                </a:spcBef>
                <a:defRPr/>
              </a:pPr>
              <a:r>
                <a:rPr lang="en-US" sz="1200" dirty="0">
                  <a:solidFill>
                    <a:schemeClr val="bg1"/>
                  </a:solidFill>
                  <a:ea typeface="ＭＳ Ｐゴシック" charset="0"/>
                </a:rPr>
                <a:t>Supply + Demand = $$ Profits</a:t>
              </a:r>
            </a:p>
          </p:txBody>
        </p:sp>
        <p:cxnSp>
          <p:nvCxnSpPr>
            <p:cNvPr id="19" name="AutoShape 14">
              <a:extLst>
                <a:ext uri="{FF2B5EF4-FFF2-40B4-BE49-F238E27FC236}">
                  <a16:creationId xmlns:a16="http://schemas.microsoft.com/office/drawing/2014/main" id="{F3766F19-CFF3-741A-02FB-F4D6A733B828}"/>
                </a:ext>
              </a:extLst>
            </p:cNvPr>
            <p:cNvCxnSpPr>
              <a:cxnSpLocks noChangeShapeType="1"/>
              <a:stCxn id="11" idx="2"/>
              <a:endCxn id="18" idx="0"/>
            </p:cNvCxnSpPr>
            <p:nvPr/>
          </p:nvCxnSpPr>
          <p:spPr bwMode="auto">
            <a:xfrm>
              <a:off x="1801813" y="5087938"/>
              <a:ext cx="0" cy="25241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Rectangle 15">
              <a:extLst>
                <a:ext uri="{FF2B5EF4-FFF2-40B4-BE49-F238E27FC236}">
                  <a16:creationId xmlns:a16="http://schemas.microsoft.com/office/drawing/2014/main" id="{56E1D72B-9167-F62A-4752-E3384671C6F1}"/>
                </a:ext>
              </a:extLst>
            </p:cNvPr>
            <p:cNvSpPr>
              <a:spLocks noChangeArrowheads="1"/>
            </p:cNvSpPr>
            <p:nvPr/>
          </p:nvSpPr>
          <p:spPr bwMode="auto">
            <a:xfrm>
              <a:off x="3803650" y="2587625"/>
              <a:ext cx="4983163" cy="3624263"/>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1" name="Text Box 16">
              <a:extLst>
                <a:ext uri="{FF2B5EF4-FFF2-40B4-BE49-F238E27FC236}">
                  <a16:creationId xmlns:a16="http://schemas.microsoft.com/office/drawing/2014/main" id="{864A3D0A-A501-3F6D-109A-FE68C82FEA31}"/>
                </a:ext>
              </a:extLst>
            </p:cNvPr>
            <p:cNvSpPr txBox="1">
              <a:spLocks noChangeArrowheads="1"/>
            </p:cNvSpPr>
            <p:nvPr/>
          </p:nvSpPr>
          <p:spPr bwMode="auto">
            <a:xfrm>
              <a:off x="4211945" y="2455863"/>
              <a:ext cx="2434611" cy="2736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a:latin typeface="+mn-lt"/>
                </a:rPr>
                <a:t>Implementation Best Practices</a:t>
              </a:r>
            </a:p>
          </p:txBody>
        </p:sp>
      </p:grpSp>
    </p:spTree>
    <p:extLst>
      <p:ext uri="{BB962C8B-B14F-4D97-AF65-F5344CB8AC3E}">
        <p14:creationId xmlns:p14="http://schemas.microsoft.com/office/powerpoint/2010/main" val="36620001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endParaRPr lang="en-US" sz="4000" dirty="0">
              <a:solidFill>
                <a:schemeClr val="bg2">
                  <a:lumMod val="10000"/>
                </a:schemeClr>
              </a:solidFill>
              <a:latin typeface="Roboto Medium"/>
              <a:ea typeface="Roboto Medium"/>
              <a:cs typeface="Roboto Medium"/>
            </a:endParaRPr>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1061675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S&amp;OP:  Supply-Demand Match To Build The Right Production Plan</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8" y="3028466"/>
            <a:ext cx="10616752"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DDLP:  Executing The Plan Via Shop Floor Precision &amp; Accuracy</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39607567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endParaRPr lang="en-US" sz="4000" dirty="0">
              <a:solidFill>
                <a:schemeClr val="bg2">
                  <a:lumMod val="10000"/>
                </a:schemeClr>
              </a:solidFill>
              <a:latin typeface="Roboto Medium"/>
              <a:ea typeface="Roboto Medium"/>
              <a:cs typeface="Roboto Medium"/>
            </a:endParaRPr>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483048" y="2264337"/>
            <a:ext cx="11531155"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Introduction:  Matching The S&amp;OP Build Plan To Production Capabilities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483049" y="3358666"/>
            <a:ext cx="11531154"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Creating The Pacemaker To Drive The Level Pull Process</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483048" y="4452995"/>
            <a:ext cx="1153115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Integrating Upstream Production Processes With The Pacemaker</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14385746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From S&amp;OP To DDLP:  </a:t>
            </a:r>
            <a:br>
              <a:rPr lang="en-US" dirty="0"/>
            </a:br>
            <a:r>
              <a:rPr lang="en-US" dirty="0"/>
              <a:t>Translating Demand To Physical Production</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Now that the operation has a solid consensus-based demand plan, the battleground shifts to the shop floor – Can the shop floor use the demand plan to “pull” products through production or must they be “pushed” to customers?</a:t>
            </a:r>
          </a:p>
        </p:txBody>
      </p:sp>
      <p:grpSp>
        <p:nvGrpSpPr>
          <p:cNvPr id="26" name="Group 25">
            <a:extLst>
              <a:ext uri="{FF2B5EF4-FFF2-40B4-BE49-F238E27FC236}">
                <a16:creationId xmlns:a16="http://schemas.microsoft.com/office/drawing/2014/main" id="{B3EBE128-30CD-9959-251B-9665E1F2703C}"/>
              </a:ext>
            </a:extLst>
          </p:cNvPr>
          <p:cNvGrpSpPr/>
          <p:nvPr/>
        </p:nvGrpSpPr>
        <p:grpSpPr>
          <a:xfrm>
            <a:off x="514350" y="1996157"/>
            <a:ext cx="9209233" cy="4023643"/>
            <a:chOff x="514350" y="1996157"/>
            <a:chExt cx="8356600" cy="3760788"/>
          </a:xfrm>
        </p:grpSpPr>
        <p:grpSp>
          <p:nvGrpSpPr>
            <p:cNvPr id="4" name="Group 2">
              <a:extLst>
                <a:ext uri="{FF2B5EF4-FFF2-40B4-BE49-F238E27FC236}">
                  <a16:creationId xmlns:a16="http://schemas.microsoft.com/office/drawing/2014/main" id="{437AE260-57CE-427E-AAF2-EAEF49DF1EFE}"/>
                </a:ext>
              </a:extLst>
            </p:cNvPr>
            <p:cNvGrpSpPr>
              <a:grpSpLocks/>
            </p:cNvGrpSpPr>
            <p:nvPr/>
          </p:nvGrpSpPr>
          <p:grpSpPr bwMode="auto">
            <a:xfrm>
              <a:off x="514350" y="2067595"/>
              <a:ext cx="4973638" cy="2786063"/>
              <a:chOff x="2423" y="1598"/>
              <a:chExt cx="3133" cy="1755"/>
            </a:xfrm>
          </p:grpSpPr>
          <p:graphicFrame>
            <p:nvGraphicFramePr>
              <p:cNvPr id="5" name="Object 3">
                <a:extLst>
                  <a:ext uri="{FF2B5EF4-FFF2-40B4-BE49-F238E27FC236}">
                    <a16:creationId xmlns:a16="http://schemas.microsoft.com/office/drawing/2014/main" id="{ECAC8678-D5DD-13B9-B814-5C628C64D88D}"/>
                  </a:ext>
                </a:extLst>
              </p:cNvPr>
              <p:cNvGraphicFramePr>
                <a:graphicFrameLocks noChangeAspect="1"/>
              </p:cNvGraphicFramePr>
              <p:nvPr>
                <p:extLst>
                  <p:ext uri="{D42A27DB-BD31-4B8C-83A1-F6EECF244321}">
                    <p14:modId xmlns:p14="http://schemas.microsoft.com/office/powerpoint/2010/main" val="4195739457"/>
                  </p:ext>
                </p:extLst>
              </p:nvPr>
            </p:nvGraphicFramePr>
            <p:xfrm>
              <a:off x="2455" y="1598"/>
              <a:ext cx="2911" cy="1755"/>
            </p:xfrm>
            <a:graphic>
              <a:graphicData uri="http://schemas.openxmlformats.org/presentationml/2006/ole">
                <mc:AlternateContent xmlns:mc="http://schemas.openxmlformats.org/markup-compatibility/2006">
                  <mc:Choice xmlns:v="urn:schemas-microsoft-com:vml" Requires="v">
                    <p:oleObj name="Worksheet" r:id="rId2" imgW="5924378" imgH="3572035" progId="Excel.Sheet.8">
                      <p:embed/>
                    </p:oleObj>
                  </mc:Choice>
                  <mc:Fallback>
                    <p:oleObj name="Worksheet" r:id="rId2" imgW="5924378" imgH="3572035" progId="Excel.Sheet.8">
                      <p:embed/>
                      <p:pic>
                        <p:nvPicPr>
                          <p:cNvPr id="79883" name="Object 3">
                            <a:extLst>
                              <a:ext uri="{FF2B5EF4-FFF2-40B4-BE49-F238E27FC236}">
                                <a16:creationId xmlns:a16="http://schemas.microsoft.com/office/drawing/2014/main" id="{C70CBA15-5BD7-4284-A1AD-B70B5D8375C9}"/>
                              </a:ext>
                            </a:extLst>
                          </p:cNvPr>
                          <p:cNvPicPr>
                            <a:picLocks noChangeAspect="1" noChangeArrowheads="1"/>
                          </p:cNvPicPr>
                          <p:nvPr/>
                        </p:nvPicPr>
                        <p:blipFill>
                          <a:blip r:embed="rId3"/>
                          <a:srcRect/>
                          <a:stretch>
                            <a:fillRect/>
                          </a:stretch>
                        </p:blipFill>
                        <p:spPr bwMode="auto">
                          <a:xfrm>
                            <a:off x="2455" y="1598"/>
                            <a:ext cx="2911" cy="1755"/>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5" name="Rectangle 4">
                <a:extLst>
                  <a:ext uri="{FF2B5EF4-FFF2-40B4-BE49-F238E27FC236}">
                    <a16:creationId xmlns:a16="http://schemas.microsoft.com/office/drawing/2014/main" id="{9F1F6A79-5B12-D6EC-B06A-AE512D4D2DB8}"/>
                  </a:ext>
                </a:extLst>
              </p:cNvPr>
              <p:cNvSpPr>
                <a:spLocks noChangeArrowheads="1"/>
              </p:cNvSpPr>
              <p:nvPr/>
            </p:nvSpPr>
            <p:spPr bwMode="auto">
              <a:xfrm>
                <a:off x="2423" y="1605"/>
                <a:ext cx="3133" cy="17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sp>
          <p:nvSpPr>
            <p:cNvPr id="16" name="Rectangle 7">
              <a:extLst>
                <a:ext uri="{FF2B5EF4-FFF2-40B4-BE49-F238E27FC236}">
                  <a16:creationId xmlns:a16="http://schemas.microsoft.com/office/drawing/2014/main" id="{EF1079CD-318F-41BA-2D8A-9B367B2CD351}"/>
                </a:ext>
              </a:extLst>
            </p:cNvPr>
            <p:cNvSpPr>
              <a:spLocks noChangeArrowheads="1"/>
            </p:cNvSpPr>
            <p:nvPr/>
          </p:nvSpPr>
          <p:spPr bwMode="auto">
            <a:xfrm>
              <a:off x="5611813" y="1996157"/>
              <a:ext cx="3151187"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200" dirty="0">
                  <a:latin typeface="+mn-lt"/>
                </a:rPr>
                <a:t>Typically, forecasts are run through MRP well in advance to generate weekly run schedules</a:t>
              </a:r>
            </a:p>
            <a:p>
              <a:pPr eaLnBrk="1" hangingPunct="1">
                <a:spcBef>
                  <a:spcPct val="60000"/>
                </a:spcBef>
                <a:buClrTx/>
                <a:buSzPct val="90000"/>
                <a:buFont typeface="Arial" panose="020B0604020202020204" pitchFamily="34" charset="0"/>
                <a:buChar char="•"/>
              </a:pPr>
              <a:r>
                <a:rPr lang="en-US" altLang="en-US" sz="1200" dirty="0">
                  <a:latin typeface="+mn-lt"/>
                </a:rPr>
                <a:t>Erratic throughput times still means that a consensus demand plan can still result in shortages or surpluses</a:t>
              </a:r>
            </a:p>
            <a:p>
              <a:pPr eaLnBrk="1" hangingPunct="1">
                <a:spcBef>
                  <a:spcPct val="60000"/>
                </a:spcBef>
                <a:buClrTx/>
                <a:buSzPct val="90000"/>
                <a:buFont typeface="Arial" panose="020B0604020202020204" pitchFamily="34" charset="0"/>
                <a:buChar char="•"/>
              </a:pPr>
              <a:r>
                <a:rPr lang="en-US" altLang="en-US" sz="1200" dirty="0">
                  <a:latin typeface="+mn-lt"/>
                </a:rPr>
                <a:t>S&amp;OP team members must not be lulled into thinking that a consensus demand plan guarantees high customer service</a:t>
              </a:r>
            </a:p>
            <a:p>
              <a:pPr eaLnBrk="1" hangingPunct="1">
                <a:spcBef>
                  <a:spcPct val="60000"/>
                </a:spcBef>
                <a:buClrTx/>
                <a:buSzPct val="90000"/>
                <a:buFont typeface="Arial" panose="020B0604020202020204" pitchFamily="34" charset="0"/>
                <a:buChar char="•"/>
              </a:pPr>
              <a:r>
                <a:rPr lang="en-US" altLang="en-US" sz="1200" dirty="0">
                  <a:latin typeface="+mn-lt"/>
                </a:rPr>
                <a:t>The key question to be asked is whether the current production system is reflexive (pull) or cognitive (push)</a:t>
              </a:r>
            </a:p>
            <a:p>
              <a:pPr eaLnBrk="1" hangingPunct="1">
                <a:spcBef>
                  <a:spcPct val="60000"/>
                </a:spcBef>
                <a:buClrTx/>
                <a:buSzPct val="90000"/>
                <a:buFont typeface="Arial" panose="020B0604020202020204" pitchFamily="34" charset="0"/>
                <a:buChar char="•"/>
              </a:pPr>
              <a:r>
                <a:rPr lang="en-US" altLang="en-US" sz="1200" dirty="0">
                  <a:latin typeface="+mn-lt"/>
                </a:rPr>
                <a:t>S&amp;OP processes yield maximum benefits when linked to reflexive systems that allow each production point to signal readiness to build</a:t>
              </a:r>
            </a:p>
          </p:txBody>
        </p:sp>
        <p:sp>
          <p:nvSpPr>
            <p:cNvPr id="17" name="Rectangle 8">
              <a:extLst>
                <a:ext uri="{FF2B5EF4-FFF2-40B4-BE49-F238E27FC236}">
                  <a16:creationId xmlns:a16="http://schemas.microsoft.com/office/drawing/2014/main" id="{85815399-3B81-50C5-A224-E456C6DE767F}"/>
                </a:ext>
              </a:extLst>
            </p:cNvPr>
            <p:cNvSpPr>
              <a:spLocks noChangeArrowheads="1"/>
            </p:cNvSpPr>
            <p:nvPr/>
          </p:nvSpPr>
          <p:spPr bwMode="auto">
            <a:xfrm>
              <a:off x="1150938" y="5083845"/>
              <a:ext cx="4348162" cy="312737"/>
            </a:xfrm>
            <a:prstGeom prst="rect">
              <a:avLst/>
            </a:prstGeom>
            <a:solidFill>
              <a:schemeClr val="tx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dirty="0">
                  <a:solidFill>
                    <a:schemeClr val="bg1"/>
                  </a:solidFill>
                  <a:latin typeface="+mn-lt"/>
                </a:rPr>
                <a:t>How Will The Shop Floor Be Scheduled To Execute?</a:t>
              </a:r>
            </a:p>
          </p:txBody>
        </p:sp>
        <p:cxnSp>
          <p:nvCxnSpPr>
            <p:cNvPr id="23" name="AutoShape 9">
              <a:extLst>
                <a:ext uri="{FF2B5EF4-FFF2-40B4-BE49-F238E27FC236}">
                  <a16:creationId xmlns:a16="http://schemas.microsoft.com/office/drawing/2014/main" id="{40B65F90-AE61-88F7-96F3-28CEF6C3B2D7}"/>
                </a:ext>
              </a:extLst>
            </p:cNvPr>
            <p:cNvCxnSpPr>
              <a:cxnSpLocks noChangeShapeType="1"/>
              <a:stCxn id="15" idx="1"/>
              <a:endCxn id="17" idx="1"/>
            </p:cNvCxnSpPr>
            <p:nvPr/>
          </p:nvCxnSpPr>
          <p:spPr bwMode="auto">
            <a:xfrm rot="10800000" flipH="1" flipV="1">
              <a:off x="514350" y="3448720"/>
              <a:ext cx="636588" cy="1792287"/>
            </a:xfrm>
            <a:prstGeom prst="bentConnector3">
              <a:avLst>
                <a:gd name="adj1" fmla="val -3591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 name="Line 10">
              <a:extLst>
                <a:ext uri="{FF2B5EF4-FFF2-40B4-BE49-F238E27FC236}">
                  <a16:creationId xmlns:a16="http://schemas.microsoft.com/office/drawing/2014/main" id="{C1F461A2-4989-2022-F5EE-935715D1C353}"/>
                </a:ext>
              </a:extLst>
            </p:cNvPr>
            <p:cNvSpPr>
              <a:spLocks noChangeShapeType="1"/>
            </p:cNvSpPr>
            <p:nvPr/>
          </p:nvSpPr>
          <p:spPr bwMode="auto">
            <a:xfrm>
              <a:off x="6048375" y="5382295"/>
              <a:ext cx="2800350" cy="1587"/>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Rectangle 11">
              <a:extLst>
                <a:ext uri="{FF2B5EF4-FFF2-40B4-BE49-F238E27FC236}">
                  <a16:creationId xmlns:a16="http://schemas.microsoft.com/office/drawing/2014/main" id="{72707054-5A7A-3F75-659C-20FC02E9EF3E}"/>
                </a:ext>
              </a:extLst>
            </p:cNvPr>
            <p:cNvSpPr>
              <a:spLocks noChangeArrowheads="1"/>
            </p:cNvSpPr>
            <p:nvPr/>
          </p:nvSpPr>
          <p:spPr bwMode="auto">
            <a:xfrm>
              <a:off x="6037263" y="5448970"/>
              <a:ext cx="2833687" cy="3079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300" dirty="0">
                  <a:solidFill>
                    <a:schemeClr val="bg1"/>
                  </a:solidFill>
                  <a:latin typeface="+mn-lt"/>
                </a:rPr>
                <a:t>Can We </a:t>
              </a:r>
              <a:r>
                <a:rPr lang="ja-JP" altLang="en-US" sz="1300" dirty="0">
                  <a:solidFill>
                    <a:schemeClr val="bg1"/>
                  </a:solidFill>
                  <a:latin typeface="+mn-lt"/>
                </a:rPr>
                <a:t>“</a:t>
              </a:r>
              <a:r>
                <a:rPr lang="en-US" altLang="ja-JP" sz="1300" dirty="0">
                  <a:solidFill>
                    <a:schemeClr val="bg1"/>
                  </a:solidFill>
                  <a:latin typeface="+mn-lt"/>
                </a:rPr>
                <a:t>Pull</a:t>
              </a:r>
              <a:r>
                <a:rPr lang="ja-JP" altLang="en-US" sz="1300" dirty="0">
                  <a:solidFill>
                    <a:schemeClr val="bg1"/>
                  </a:solidFill>
                  <a:latin typeface="+mn-lt"/>
                </a:rPr>
                <a:t>”</a:t>
              </a:r>
              <a:r>
                <a:rPr lang="en-US" altLang="ja-JP" sz="1300" dirty="0">
                  <a:solidFill>
                    <a:schemeClr val="bg1"/>
                  </a:solidFill>
                  <a:latin typeface="+mn-lt"/>
                </a:rPr>
                <a:t> Or Do We </a:t>
              </a:r>
              <a:r>
                <a:rPr lang="ja-JP" altLang="en-US" sz="1300" dirty="0">
                  <a:solidFill>
                    <a:schemeClr val="bg1"/>
                  </a:solidFill>
                  <a:latin typeface="+mn-lt"/>
                </a:rPr>
                <a:t>“</a:t>
              </a:r>
              <a:r>
                <a:rPr lang="en-US" altLang="ja-JP" sz="1300" dirty="0">
                  <a:solidFill>
                    <a:schemeClr val="bg1"/>
                  </a:solidFill>
                  <a:latin typeface="+mn-lt"/>
                </a:rPr>
                <a:t>Push?</a:t>
              </a:r>
              <a:r>
                <a:rPr lang="ja-JP" altLang="en-US" sz="1300" dirty="0">
                  <a:solidFill>
                    <a:schemeClr val="bg1"/>
                  </a:solidFill>
                  <a:latin typeface="+mn-lt"/>
                </a:rPr>
                <a:t>”</a:t>
              </a:r>
              <a:endParaRPr lang="en-US" altLang="en-US" sz="1300" dirty="0">
                <a:solidFill>
                  <a:schemeClr val="bg1"/>
                </a:solidFill>
                <a:latin typeface="+mn-lt"/>
              </a:endParaRPr>
            </a:p>
          </p:txBody>
        </p:sp>
      </p:grpSp>
    </p:spTree>
    <p:extLst>
      <p:ext uri="{BB962C8B-B14F-4D97-AF65-F5344CB8AC3E}">
        <p14:creationId xmlns:p14="http://schemas.microsoft.com/office/powerpoint/2010/main" val="18551264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Basic Productions Models:  </a:t>
            </a:r>
            <a:br>
              <a:rPr lang="en-US" dirty="0"/>
            </a:br>
            <a:r>
              <a:rPr lang="en-US" dirty="0"/>
              <a:t>Cognitive Push And Reflexive Pull</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24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The problem many production environments encounter is one of amplified variability; normal customer demand variability is translated to each production step creating scheduling and inventory management chaos.</a:t>
            </a:r>
          </a:p>
        </p:txBody>
      </p:sp>
      <p:grpSp>
        <p:nvGrpSpPr>
          <p:cNvPr id="44" name="Group 43">
            <a:extLst>
              <a:ext uri="{FF2B5EF4-FFF2-40B4-BE49-F238E27FC236}">
                <a16:creationId xmlns:a16="http://schemas.microsoft.com/office/drawing/2014/main" id="{A3575A81-1E27-A177-C029-F546C4DDBD54}"/>
              </a:ext>
            </a:extLst>
          </p:cNvPr>
          <p:cNvGrpSpPr/>
          <p:nvPr/>
        </p:nvGrpSpPr>
        <p:grpSpPr>
          <a:xfrm>
            <a:off x="415730" y="1866900"/>
            <a:ext cx="8994970" cy="4371841"/>
            <a:chOff x="412170" y="2547938"/>
            <a:chExt cx="8242880" cy="3704026"/>
          </a:xfrm>
        </p:grpSpPr>
        <p:sp>
          <p:nvSpPr>
            <p:cNvPr id="6" name="Rectangle 2">
              <a:extLst>
                <a:ext uri="{FF2B5EF4-FFF2-40B4-BE49-F238E27FC236}">
                  <a16:creationId xmlns:a16="http://schemas.microsoft.com/office/drawing/2014/main" id="{0CC575A5-49B6-EAAE-91D6-B55057A9DF52}"/>
                </a:ext>
              </a:extLst>
            </p:cNvPr>
            <p:cNvSpPr>
              <a:spLocks noChangeArrowheads="1"/>
            </p:cNvSpPr>
            <p:nvPr/>
          </p:nvSpPr>
          <p:spPr bwMode="auto">
            <a:xfrm>
              <a:off x="1539875" y="2547938"/>
              <a:ext cx="7115175" cy="1752600"/>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 name="Rectangle 3">
              <a:extLst>
                <a:ext uri="{FF2B5EF4-FFF2-40B4-BE49-F238E27FC236}">
                  <a16:creationId xmlns:a16="http://schemas.microsoft.com/office/drawing/2014/main" id="{1A4078D5-BF39-C2E3-439C-2CB0B2DC3FC3}"/>
                </a:ext>
              </a:extLst>
            </p:cNvPr>
            <p:cNvSpPr>
              <a:spLocks noChangeArrowheads="1"/>
            </p:cNvSpPr>
            <p:nvPr/>
          </p:nvSpPr>
          <p:spPr bwMode="auto">
            <a:xfrm>
              <a:off x="1535113" y="4506913"/>
              <a:ext cx="7115175" cy="1238250"/>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8" name="Text Box 6">
              <a:extLst>
                <a:ext uri="{FF2B5EF4-FFF2-40B4-BE49-F238E27FC236}">
                  <a16:creationId xmlns:a16="http://schemas.microsoft.com/office/drawing/2014/main" id="{63DA960D-B197-C845-9BB4-BE8757C23591}"/>
                </a:ext>
              </a:extLst>
            </p:cNvPr>
            <p:cNvSpPr txBox="1">
              <a:spLocks noChangeArrowheads="1"/>
            </p:cNvSpPr>
            <p:nvPr/>
          </p:nvSpPr>
          <p:spPr bwMode="auto">
            <a:xfrm>
              <a:off x="2689813" y="3859213"/>
              <a:ext cx="1297396" cy="314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latin typeface="+mn-lt"/>
                </a:rPr>
                <a:t>70% Variation</a:t>
              </a:r>
            </a:p>
            <a:p>
              <a:pPr algn="ctr">
                <a:lnSpc>
                  <a:spcPct val="80000"/>
                </a:lnSpc>
                <a:buClrTx/>
                <a:buSzTx/>
                <a:buFontTx/>
                <a:buNone/>
              </a:pPr>
              <a:r>
                <a:rPr lang="en-US" altLang="en-US" sz="1000" i="1" dirty="0">
                  <a:latin typeface="+mn-lt"/>
                </a:rPr>
                <a:t>Schedule To Schedule</a:t>
              </a:r>
            </a:p>
          </p:txBody>
        </p:sp>
        <p:sp>
          <p:nvSpPr>
            <p:cNvPr id="9" name="Text Box 7">
              <a:extLst>
                <a:ext uri="{FF2B5EF4-FFF2-40B4-BE49-F238E27FC236}">
                  <a16:creationId xmlns:a16="http://schemas.microsoft.com/office/drawing/2014/main" id="{3A509A4B-D550-C273-7769-7197909E5967}"/>
                </a:ext>
              </a:extLst>
            </p:cNvPr>
            <p:cNvSpPr txBox="1">
              <a:spLocks noChangeArrowheads="1"/>
            </p:cNvSpPr>
            <p:nvPr/>
          </p:nvSpPr>
          <p:spPr bwMode="auto">
            <a:xfrm>
              <a:off x="4671013" y="3867150"/>
              <a:ext cx="1297396" cy="314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ctr">
                <a:lnSpc>
                  <a:spcPct val="80000"/>
                </a:lnSpc>
                <a:spcBef>
                  <a:spcPct val="20000"/>
                </a:spcBef>
                <a:buClrTx/>
                <a:buSzTx/>
                <a:buFontTx/>
                <a:buNone/>
                <a:defRPr sz="1000" i="1">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latin typeface="Book Antiqua" panose="02040602050305030304" pitchFamily="18" charset="0"/>
                  <a:ea typeface="MS PGothic" panose="020B0600070205080204" pitchFamily="34" charset="-128"/>
                </a:defRPr>
              </a:lvl9pPr>
            </a:lstStyle>
            <a:p>
              <a:r>
                <a:rPr lang="en-US" altLang="en-US" dirty="0"/>
                <a:t>40% Variation</a:t>
              </a:r>
            </a:p>
            <a:p>
              <a:r>
                <a:rPr lang="en-US" altLang="en-US" dirty="0"/>
                <a:t>Schedule To Schedule</a:t>
              </a:r>
            </a:p>
          </p:txBody>
        </p:sp>
        <p:sp>
          <p:nvSpPr>
            <p:cNvPr id="10" name="Text Box 8">
              <a:extLst>
                <a:ext uri="{FF2B5EF4-FFF2-40B4-BE49-F238E27FC236}">
                  <a16:creationId xmlns:a16="http://schemas.microsoft.com/office/drawing/2014/main" id="{2B0A34E5-5785-5465-705E-C338E8EDB9AE}"/>
                </a:ext>
              </a:extLst>
            </p:cNvPr>
            <p:cNvSpPr txBox="1">
              <a:spLocks noChangeArrowheads="1"/>
            </p:cNvSpPr>
            <p:nvPr/>
          </p:nvSpPr>
          <p:spPr bwMode="auto">
            <a:xfrm>
              <a:off x="6664913" y="3862388"/>
              <a:ext cx="1297396" cy="314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latin typeface="+mn-lt"/>
                </a:rPr>
                <a:t>20% Variation</a:t>
              </a:r>
            </a:p>
            <a:p>
              <a:pPr algn="ctr">
                <a:lnSpc>
                  <a:spcPct val="80000"/>
                </a:lnSpc>
                <a:buClrTx/>
                <a:buSzTx/>
                <a:buFontTx/>
                <a:buNone/>
              </a:pPr>
              <a:r>
                <a:rPr lang="en-US" altLang="en-US" sz="1000" i="1" dirty="0">
                  <a:latin typeface="+mn-lt"/>
                </a:rPr>
                <a:t>Schedule To Schedule</a:t>
              </a:r>
            </a:p>
          </p:txBody>
        </p:sp>
        <p:sp>
          <p:nvSpPr>
            <p:cNvPr id="11" name="Rectangle 9">
              <a:extLst>
                <a:ext uri="{FF2B5EF4-FFF2-40B4-BE49-F238E27FC236}">
                  <a16:creationId xmlns:a16="http://schemas.microsoft.com/office/drawing/2014/main" id="{D1E86963-FF29-9E95-F04B-4BCD6E52B5B9}"/>
                </a:ext>
              </a:extLst>
            </p:cNvPr>
            <p:cNvSpPr>
              <a:spLocks noChangeArrowheads="1"/>
            </p:cNvSpPr>
            <p:nvPr/>
          </p:nvSpPr>
          <p:spPr bwMode="auto">
            <a:xfrm>
              <a:off x="1724025" y="3030538"/>
              <a:ext cx="1293813" cy="4794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Supplier</a:t>
              </a:r>
            </a:p>
          </p:txBody>
        </p:sp>
        <p:sp>
          <p:nvSpPr>
            <p:cNvPr id="12" name="Rectangle 10">
              <a:extLst>
                <a:ext uri="{FF2B5EF4-FFF2-40B4-BE49-F238E27FC236}">
                  <a16:creationId xmlns:a16="http://schemas.microsoft.com/office/drawing/2014/main" id="{CA9AD050-F271-10F6-8CE0-B82FB354EEC5}"/>
                </a:ext>
              </a:extLst>
            </p:cNvPr>
            <p:cNvSpPr>
              <a:spLocks noChangeArrowheads="1"/>
            </p:cNvSpPr>
            <p:nvPr/>
          </p:nvSpPr>
          <p:spPr bwMode="auto">
            <a:xfrm>
              <a:off x="3670300" y="3030538"/>
              <a:ext cx="1293813" cy="4794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1000" dirty="0">
                  <a:solidFill>
                    <a:schemeClr val="bg1"/>
                  </a:solidFill>
                </a:rPr>
                <a:t>Build Step One</a:t>
              </a:r>
            </a:p>
          </p:txBody>
        </p:sp>
        <p:sp>
          <p:nvSpPr>
            <p:cNvPr id="13" name="Rectangle 11">
              <a:extLst>
                <a:ext uri="{FF2B5EF4-FFF2-40B4-BE49-F238E27FC236}">
                  <a16:creationId xmlns:a16="http://schemas.microsoft.com/office/drawing/2014/main" id="{61BF5B5E-5B05-28F1-A63F-A882454F4993}"/>
                </a:ext>
              </a:extLst>
            </p:cNvPr>
            <p:cNvSpPr>
              <a:spLocks noChangeArrowheads="1"/>
            </p:cNvSpPr>
            <p:nvPr/>
          </p:nvSpPr>
          <p:spPr bwMode="auto">
            <a:xfrm>
              <a:off x="5646738" y="3030538"/>
              <a:ext cx="1293812" cy="4794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1000" dirty="0">
                  <a:solidFill>
                    <a:schemeClr val="bg1"/>
                  </a:solidFill>
                </a:rPr>
                <a:t>Build Step Two</a:t>
              </a:r>
            </a:p>
          </p:txBody>
        </p:sp>
        <p:sp>
          <p:nvSpPr>
            <p:cNvPr id="14" name="Rectangle 12">
              <a:extLst>
                <a:ext uri="{FF2B5EF4-FFF2-40B4-BE49-F238E27FC236}">
                  <a16:creationId xmlns:a16="http://schemas.microsoft.com/office/drawing/2014/main" id="{BFAF159E-BD31-4D64-52D2-1C586DBF71E7}"/>
                </a:ext>
              </a:extLst>
            </p:cNvPr>
            <p:cNvSpPr>
              <a:spLocks noChangeArrowheads="1"/>
            </p:cNvSpPr>
            <p:nvPr/>
          </p:nvSpPr>
          <p:spPr bwMode="auto">
            <a:xfrm>
              <a:off x="7612063" y="3025775"/>
              <a:ext cx="847725" cy="479425"/>
            </a:xfrm>
            <a:prstGeom prst="rect">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1200" dirty="0">
                  <a:solidFill>
                    <a:schemeClr val="bg1"/>
                  </a:solidFill>
                  <a:latin typeface="+mn-lt"/>
                </a:rPr>
                <a:t>Customer</a:t>
              </a:r>
            </a:p>
          </p:txBody>
        </p:sp>
        <p:sp>
          <p:nvSpPr>
            <p:cNvPr id="18" name="Freeform 13">
              <a:extLst>
                <a:ext uri="{FF2B5EF4-FFF2-40B4-BE49-F238E27FC236}">
                  <a16:creationId xmlns:a16="http://schemas.microsoft.com/office/drawing/2014/main" id="{9E76E015-3916-3402-2A09-5C79BF83ECC6}"/>
                </a:ext>
              </a:extLst>
            </p:cNvPr>
            <p:cNvSpPr>
              <a:spLocks/>
            </p:cNvSpPr>
            <p:nvPr/>
          </p:nvSpPr>
          <p:spPr bwMode="auto">
            <a:xfrm>
              <a:off x="3027363" y="2655888"/>
              <a:ext cx="638175" cy="1190625"/>
            </a:xfrm>
            <a:custGeom>
              <a:avLst/>
              <a:gdLst>
                <a:gd name="T0" fmla="*/ 0 w 402"/>
                <a:gd name="T1" fmla="*/ 975301263 h 750"/>
                <a:gd name="T2" fmla="*/ 181451250 w 402"/>
                <a:gd name="T3" fmla="*/ 975301263 h 750"/>
                <a:gd name="T4" fmla="*/ 294859075 w 402"/>
                <a:gd name="T5" fmla="*/ 0 h 750"/>
                <a:gd name="T6" fmla="*/ 461189388 w 402"/>
                <a:gd name="T7" fmla="*/ 1890117188 h 750"/>
                <a:gd name="T8" fmla="*/ 672882513 w 402"/>
                <a:gd name="T9" fmla="*/ 967740000 h 750"/>
                <a:gd name="T10" fmla="*/ 1013102813 w 402"/>
                <a:gd name="T11" fmla="*/ 967740000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Freeform 14">
              <a:extLst>
                <a:ext uri="{FF2B5EF4-FFF2-40B4-BE49-F238E27FC236}">
                  <a16:creationId xmlns:a16="http://schemas.microsoft.com/office/drawing/2014/main" id="{02444A47-183B-CF1C-DD01-00DF53D0A0C0}"/>
                </a:ext>
              </a:extLst>
            </p:cNvPr>
            <p:cNvSpPr>
              <a:spLocks/>
            </p:cNvSpPr>
            <p:nvPr/>
          </p:nvSpPr>
          <p:spPr bwMode="auto">
            <a:xfrm>
              <a:off x="4975225" y="2655888"/>
              <a:ext cx="638175" cy="1190625"/>
            </a:xfrm>
            <a:custGeom>
              <a:avLst/>
              <a:gdLst>
                <a:gd name="T0" fmla="*/ 0 w 402"/>
                <a:gd name="T1" fmla="*/ 975301263 h 750"/>
                <a:gd name="T2" fmla="*/ 181451250 w 402"/>
                <a:gd name="T3" fmla="*/ 975301263 h 750"/>
                <a:gd name="T4" fmla="*/ 294859075 w 402"/>
                <a:gd name="T5" fmla="*/ 0 h 750"/>
                <a:gd name="T6" fmla="*/ 461189388 w 402"/>
                <a:gd name="T7" fmla="*/ 1890117188 h 750"/>
                <a:gd name="T8" fmla="*/ 672882513 w 402"/>
                <a:gd name="T9" fmla="*/ 967740000 h 750"/>
                <a:gd name="T10" fmla="*/ 1013102813 w 402"/>
                <a:gd name="T11" fmla="*/ 967740000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Freeform 15">
              <a:extLst>
                <a:ext uri="{FF2B5EF4-FFF2-40B4-BE49-F238E27FC236}">
                  <a16:creationId xmlns:a16="http://schemas.microsoft.com/office/drawing/2014/main" id="{A644CCDC-B97A-320F-EB3D-4931DC783FB7}"/>
                </a:ext>
              </a:extLst>
            </p:cNvPr>
            <p:cNvSpPr>
              <a:spLocks/>
            </p:cNvSpPr>
            <p:nvPr/>
          </p:nvSpPr>
          <p:spPr bwMode="auto">
            <a:xfrm>
              <a:off x="6951663" y="2651125"/>
              <a:ext cx="638175" cy="1190625"/>
            </a:xfrm>
            <a:custGeom>
              <a:avLst/>
              <a:gdLst>
                <a:gd name="T0" fmla="*/ 0 w 402"/>
                <a:gd name="T1" fmla="*/ 975301263 h 750"/>
                <a:gd name="T2" fmla="*/ 181451250 w 402"/>
                <a:gd name="T3" fmla="*/ 975301263 h 750"/>
                <a:gd name="T4" fmla="*/ 294859075 w 402"/>
                <a:gd name="T5" fmla="*/ 0 h 750"/>
                <a:gd name="T6" fmla="*/ 461189388 w 402"/>
                <a:gd name="T7" fmla="*/ 1890117188 h 750"/>
                <a:gd name="T8" fmla="*/ 672882513 w 402"/>
                <a:gd name="T9" fmla="*/ 967740000 h 750"/>
                <a:gd name="T10" fmla="*/ 1013102813 w 402"/>
                <a:gd name="T11" fmla="*/ 967740000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Rectangle 16">
              <a:extLst>
                <a:ext uri="{FF2B5EF4-FFF2-40B4-BE49-F238E27FC236}">
                  <a16:creationId xmlns:a16="http://schemas.microsoft.com/office/drawing/2014/main" id="{C2B52263-D2E7-26F2-A9C6-F3F5B8EEC932}"/>
                </a:ext>
              </a:extLst>
            </p:cNvPr>
            <p:cNvSpPr>
              <a:spLocks noChangeArrowheads="1"/>
            </p:cNvSpPr>
            <p:nvPr/>
          </p:nvSpPr>
          <p:spPr bwMode="auto">
            <a:xfrm>
              <a:off x="1731963" y="4624388"/>
              <a:ext cx="1104900" cy="4794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1000" dirty="0">
                  <a:solidFill>
                    <a:schemeClr val="bg1"/>
                  </a:solidFill>
                </a:rPr>
                <a:t>Supplier</a:t>
              </a:r>
            </a:p>
          </p:txBody>
        </p:sp>
        <p:sp>
          <p:nvSpPr>
            <p:cNvPr id="22" name="Rectangle 17">
              <a:extLst>
                <a:ext uri="{FF2B5EF4-FFF2-40B4-BE49-F238E27FC236}">
                  <a16:creationId xmlns:a16="http://schemas.microsoft.com/office/drawing/2014/main" id="{525DD9ED-5CB9-F1FB-979D-405033B92027}"/>
                </a:ext>
              </a:extLst>
            </p:cNvPr>
            <p:cNvSpPr>
              <a:spLocks noChangeArrowheads="1"/>
            </p:cNvSpPr>
            <p:nvPr/>
          </p:nvSpPr>
          <p:spPr bwMode="auto">
            <a:xfrm>
              <a:off x="3394075" y="4624388"/>
              <a:ext cx="1106488" cy="479425"/>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1000" dirty="0">
                  <a:solidFill>
                    <a:schemeClr val="bg1"/>
                  </a:solidFill>
                </a:rPr>
                <a:t>Build Step One</a:t>
              </a:r>
            </a:p>
          </p:txBody>
        </p:sp>
        <p:sp>
          <p:nvSpPr>
            <p:cNvPr id="27" name="Rectangle 18">
              <a:extLst>
                <a:ext uri="{FF2B5EF4-FFF2-40B4-BE49-F238E27FC236}">
                  <a16:creationId xmlns:a16="http://schemas.microsoft.com/office/drawing/2014/main" id="{4B674B58-EAE0-4828-177B-FF88D2667E68}"/>
                </a:ext>
              </a:extLst>
            </p:cNvPr>
            <p:cNvSpPr>
              <a:spLocks noChangeArrowheads="1"/>
            </p:cNvSpPr>
            <p:nvPr/>
          </p:nvSpPr>
          <p:spPr bwMode="auto">
            <a:xfrm>
              <a:off x="5064125" y="4624388"/>
              <a:ext cx="1104900" cy="479425"/>
            </a:xfrm>
            <a:prstGeom prst="rect">
              <a:avLst/>
            </a:prstGeom>
            <a:solidFill>
              <a:srgbClr val="808080"/>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solidFill>
                    <a:schemeClr val="bg1"/>
                  </a:solidFill>
                  <a:latin typeface="+mn-lt"/>
                </a:rPr>
                <a:t>Build Step Two</a:t>
              </a:r>
            </a:p>
          </p:txBody>
        </p:sp>
        <p:sp>
          <p:nvSpPr>
            <p:cNvPr id="28" name="Rectangle 19">
              <a:extLst>
                <a:ext uri="{FF2B5EF4-FFF2-40B4-BE49-F238E27FC236}">
                  <a16:creationId xmlns:a16="http://schemas.microsoft.com/office/drawing/2014/main" id="{ECF6933D-8571-BC5A-D86E-1688F98BE34D}"/>
                </a:ext>
              </a:extLst>
            </p:cNvPr>
            <p:cNvSpPr>
              <a:spLocks noChangeArrowheads="1"/>
            </p:cNvSpPr>
            <p:nvPr/>
          </p:nvSpPr>
          <p:spPr bwMode="auto">
            <a:xfrm>
              <a:off x="7729538" y="4632325"/>
              <a:ext cx="723900" cy="479425"/>
            </a:xfrm>
            <a:prstGeom prst="rect">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sz="1200">
                  <a:solidFill>
                    <a:schemeClr val="bg1"/>
                  </a:solidFill>
                  <a:latin typeface="+mn-lt"/>
                </a:rPr>
                <a:t>Customer</a:t>
              </a:r>
            </a:p>
          </p:txBody>
        </p:sp>
        <p:sp>
          <p:nvSpPr>
            <p:cNvPr id="29" name="Freeform 20">
              <a:extLst>
                <a:ext uri="{FF2B5EF4-FFF2-40B4-BE49-F238E27FC236}">
                  <a16:creationId xmlns:a16="http://schemas.microsoft.com/office/drawing/2014/main" id="{151D1F31-7C0B-4E1F-DEED-9047616A1572}"/>
                </a:ext>
              </a:extLst>
            </p:cNvPr>
            <p:cNvSpPr>
              <a:spLocks/>
            </p:cNvSpPr>
            <p:nvPr/>
          </p:nvSpPr>
          <p:spPr bwMode="auto">
            <a:xfrm>
              <a:off x="2844800" y="4749800"/>
              <a:ext cx="549275" cy="233363"/>
            </a:xfrm>
            <a:custGeom>
              <a:avLst/>
              <a:gdLst>
                <a:gd name="T0" fmla="*/ 0 w 405"/>
                <a:gd name="T1" fmla="*/ 189012917 h 147"/>
                <a:gd name="T2" fmla="*/ 132434949 w 405"/>
                <a:gd name="T3" fmla="*/ 189012917 h 147"/>
                <a:gd name="T4" fmla="*/ 209688783 w 405"/>
                <a:gd name="T5" fmla="*/ 0 h 147"/>
                <a:gd name="T6" fmla="*/ 364195093 w 405"/>
                <a:gd name="T7" fmla="*/ 370464556 h 147"/>
                <a:gd name="T8" fmla="*/ 446967445 w 405"/>
                <a:gd name="T9" fmla="*/ 181451639 h 147"/>
                <a:gd name="T10" fmla="*/ 744945742 w 405"/>
                <a:gd name="T11" fmla="*/ 181451639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Freeform 21">
              <a:extLst>
                <a:ext uri="{FF2B5EF4-FFF2-40B4-BE49-F238E27FC236}">
                  <a16:creationId xmlns:a16="http://schemas.microsoft.com/office/drawing/2014/main" id="{955DBF87-4EDC-D2A6-7687-203D66ECECE2}"/>
                </a:ext>
              </a:extLst>
            </p:cNvPr>
            <p:cNvSpPr>
              <a:spLocks/>
            </p:cNvSpPr>
            <p:nvPr/>
          </p:nvSpPr>
          <p:spPr bwMode="auto">
            <a:xfrm>
              <a:off x="4503738" y="4749800"/>
              <a:ext cx="549275" cy="233363"/>
            </a:xfrm>
            <a:custGeom>
              <a:avLst/>
              <a:gdLst>
                <a:gd name="T0" fmla="*/ 0 w 405"/>
                <a:gd name="T1" fmla="*/ 189012917 h 147"/>
                <a:gd name="T2" fmla="*/ 132434949 w 405"/>
                <a:gd name="T3" fmla="*/ 189012917 h 147"/>
                <a:gd name="T4" fmla="*/ 209688783 w 405"/>
                <a:gd name="T5" fmla="*/ 0 h 147"/>
                <a:gd name="T6" fmla="*/ 364195093 w 405"/>
                <a:gd name="T7" fmla="*/ 370464556 h 147"/>
                <a:gd name="T8" fmla="*/ 446967445 w 405"/>
                <a:gd name="T9" fmla="*/ 181451639 h 147"/>
                <a:gd name="T10" fmla="*/ 744945742 w 405"/>
                <a:gd name="T11" fmla="*/ 181451639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Freeform 22">
              <a:extLst>
                <a:ext uri="{FF2B5EF4-FFF2-40B4-BE49-F238E27FC236}">
                  <a16:creationId xmlns:a16="http://schemas.microsoft.com/office/drawing/2014/main" id="{80784803-A98E-B01B-EB44-AD1BA8A20AD8}"/>
                </a:ext>
              </a:extLst>
            </p:cNvPr>
            <p:cNvSpPr>
              <a:spLocks/>
            </p:cNvSpPr>
            <p:nvPr/>
          </p:nvSpPr>
          <p:spPr bwMode="auto">
            <a:xfrm>
              <a:off x="6186488" y="4754563"/>
              <a:ext cx="549275" cy="233362"/>
            </a:xfrm>
            <a:custGeom>
              <a:avLst/>
              <a:gdLst>
                <a:gd name="T0" fmla="*/ 0 w 405"/>
                <a:gd name="T1" fmla="*/ 189010520 h 147"/>
                <a:gd name="T2" fmla="*/ 132434949 w 405"/>
                <a:gd name="T3" fmla="*/ 189010520 h 147"/>
                <a:gd name="T4" fmla="*/ 209688783 w 405"/>
                <a:gd name="T5" fmla="*/ 0 h 147"/>
                <a:gd name="T6" fmla="*/ 364195093 w 405"/>
                <a:gd name="T7" fmla="*/ 370461381 h 147"/>
                <a:gd name="T8" fmla="*/ 446967445 w 405"/>
                <a:gd name="T9" fmla="*/ 181450861 h 147"/>
                <a:gd name="T10" fmla="*/ 744945742 w 405"/>
                <a:gd name="T11" fmla="*/ 181450861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Freeform 23">
              <a:extLst>
                <a:ext uri="{FF2B5EF4-FFF2-40B4-BE49-F238E27FC236}">
                  <a16:creationId xmlns:a16="http://schemas.microsoft.com/office/drawing/2014/main" id="{40098E72-37AF-3C3A-3201-8A3E8DB83DFD}"/>
                </a:ext>
              </a:extLst>
            </p:cNvPr>
            <p:cNvSpPr>
              <a:spLocks/>
            </p:cNvSpPr>
            <p:nvPr/>
          </p:nvSpPr>
          <p:spPr bwMode="auto">
            <a:xfrm>
              <a:off x="7156450" y="4754563"/>
              <a:ext cx="549275" cy="233362"/>
            </a:xfrm>
            <a:custGeom>
              <a:avLst/>
              <a:gdLst>
                <a:gd name="T0" fmla="*/ 0 w 405"/>
                <a:gd name="T1" fmla="*/ 189010520 h 147"/>
                <a:gd name="T2" fmla="*/ 132434949 w 405"/>
                <a:gd name="T3" fmla="*/ 189010520 h 147"/>
                <a:gd name="T4" fmla="*/ 209688783 w 405"/>
                <a:gd name="T5" fmla="*/ 0 h 147"/>
                <a:gd name="T6" fmla="*/ 364195093 w 405"/>
                <a:gd name="T7" fmla="*/ 370461381 h 147"/>
                <a:gd name="T8" fmla="*/ 446967445 w 405"/>
                <a:gd name="T9" fmla="*/ 181450861 h 147"/>
                <a:gd name="T10" fmla="*/ 744945742 w 405"/>
                <a:gd name="T11" fmla="*/ 181450861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Oval 24">
              <a:extLst>
                <a:ext uri="{FF2B5EF4-FFF2-40B4-BE49-F238E27FC236}">
                  <a16:creationId xmlns:a16="http://schemas.microsoft.com/office/drawing/2014/main" id="{83B6E4F0-1CDF-43B8-F4B8-1D89BE2CC84E}"/>
                </a:ext>
              </a:extLst>
            </p:cNvPr>
            <p:cNvSpPr>
              <a:spLocks noChangeArrowheads="1"/>
            </p:cNvSpPr>
            <p:nvPr/>
          </p:nvSpPr>
          <p:spPr bwMode="auto">
            <a:xfrm>
              <a:off x="6731000" y="4665663"/>
              <a:ext cx="446088" cy="412750"/>
            </a:xfrm>
            <a:prstGeom prst="ellipse">
              <a:avLst/>
            </a:prstGeom>
            <a:solidFill>
              <a:schemeClr val="accent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34" name="Text Box 25">
              <a:extLst>
                <a:ext uri="{FF2B5EF4-FFF2-40B4-BE49-F238E27FC236}">
                  <a16:creationId xmlns:a16="http://schemas.microsoft.com/office/drawing/2014/main" id="{9CB362F5-B6DA-75BB-643F-6AD315B42B93}"/>
                </a:ext>
              </a:extLst>
            </p:cNvPr>
            <p:cNvSpPr txBox="1">
              <a:spLocks noChangeArrowheads="1"/>
            </p:cNvSpPr>
            <p:nvPr/>
          </p:nvSpPr>
          <p:spPr bwMode="auto">
            <a:xfrm>
              <a:off x="6460203" y="5172075"/>
              <a:ext cx="984506" cy="314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dirty="0">
                  <a:latin typeface="+mn-lt"/>
                </a:rPr>
                <a:t>Variation</a:t>
              </a:r>
            </a:p>
            <a:p>
              <a:pPr algn="ctr">
                <a:lnSpc>
                  <a:spcPct val="80000"/>
                </a:lnSpc>
                <a:buClrTx/>
                <a:buSzTx/>
                <a:buFontTx/>
                <a:buNone/>
              </a:pPr>
              <a:r>
                <a:rPr lang="en-US" altLang="en-US" sz="1000" i="1" dirty="0">
                  <a:latin typeface="+mn-lt"/>
                </a:rPr>
                <a:t>Inventory Buffer</a:t>
              </a:r>
            </a:p>
          </p:txBody>
        </p:sp>
        <p:sp>
          <p:nvSpPr>
            <p:cNvPr id="35" name="Oval 26">
              <a:extLst>
                <a:ext uri="{FF2B5EF4-FFF2-40B4-BE49-F238E27FC236}">
                  <a16:creationId xmlns:a16="http://schemas.microsoft.com/office/drawing/2014/main" id="{F7EAECEB-1B6B-80A4-221E-9F136FCC0A42}"/>
                </a:ext>
              </a:extLst>
            </p:cNvPr>
            <p:cNvSpPr>
              <a:spLocks noChangeArrowheads="1"/>
            </p:cNvSpPr>
            <p:nvPr/>
          </p:nvSpPr>
          <p:spPr bwMode="auto">
            <a:xfrm>
              <a:off x="2471738" y="5376863"/>
              <a:ext cx="2944812" cy="257175"/>
            </a:xfrm>
            <a:prstGeom prst="ellipse">
              <a:avLst/>
            </a:prstGeom>
            <a:solidFill>
              <a:schemeClr val="accent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i="1">
                  <a:solidFill>
                    <a:srgbClr val="000066"/>
                  </a:solidFill>
                  <a:latin typeface="+mn-lt"/>
                </a:rPr>
                <a:t>Minimal Internal Variation</a:t>
              </a:r>
            </a:p>
          </p:txBody>
        </p:sp>
        <p:cxnSp>
          <p:nvCxnSpPr>
            <p:cNvPr id="36" name="AutoShape 27">
              <a:extLst>
                <a:ext uri="{FF2B5EF4-FFF2-40B4-BE49-F238E27FC236}">
                  <a16:creationId xmlns:a16="http://schemas.microsoft.com/office/drawing/2014/main" id="{1DB4F18B-14A2-4830-CB21-F0B83BA90E60}"/>
                </a:ext>
              </a:extLst>
            </p:cNvPr>
            <p:cNvCxnSpPr>
              <a:cxnSpLocks noChangeShapeType="1"/>
              <a:stCxn id="35" idx="0"/>
              <a:endCxn id="21" idx="2"/>
            </p:cNvCxnSpPr>
            <p:nvPr/>
          </p:nvCxnSpPr>
          <p:spPr bwMode="auto">
            <a:xfrm rot="5400000" flipH="1">
              <a:off x="2978151" y="4410075"/>
              <a:ext cx="273050" cy="1660525"/>
            </a:xfrm>
            <a:prstGeom prst="curvedConnector3">
              <a:avLst>
                <a:gd name="adj1" fmla="val 5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28">
              <a:extLst>
                <a:ext uri="{FF2B5EF4-FFF2-40B4-BE49-F238E27FC236}">
                  <a16:creationId xmlns:a16="http://schemas.microsoft.com/office/drawing/2014/main" id="{9BAF177D-1522-F118-1D7F-B951B90246CA}"/>
                </a:ext>
              </a:extLst>
            </p:cNvPr>
            <p:cNvCxnSpPr>
              <a:cxnSpLocks noChangeShapeType="1"/>
              <a:stCxn id="35" idx="0"/>
              <a:endCxn id="27" idx="2"/>
            </p:cNvCxnSpPr>
            <p:nvPr/>
          </p:nvCxnSpPr>
          <p:spPr bwMode="auto">
            <a:xfrm rot="16200000">
              <a:off x="4644232" y="4404519"/>
              <a:ext cx="273050" cy="1671637"/>
            </a:xfrm>
            <a:prstGeom prst="curvedConnector3">
              <a:avLst>
                <a:gd name="adj1" fmla="val 5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29">
              <a:extLst>
                <a:ext uri="{FF2B5EF4-FFF2-40B4-BE49-F238E27FC236}">
                  <a16:creationId xmlns:a16="http://schemas.microsoft.com/office/drawing/2014/main" id="{72EA846F-201A-3E5D-3745-BA3935F44A90}"/>
                </a:ext>
              </a:extLst>
            </p:cNvPr>
            <p:cNvCxnSpPr>
              <a:cxnSpLocks noChangeShapeType="1"/>
              <a:stCxn id="35" idx="0"/>
              <a:endCxn id="22" idx="2"/>
            </p:cNvCxnSpPr>
            <p:nvPr/>
          </p:nvCxnSpPr>
          <p:spPr bwMode="auto">
            <a:xfrm rot="16200000">
              <a:off x="3810001" y="5238750"/>
              <a:ext cx="273050" cy="3175"/>
            </a:xfrm>
            <a:prstGeom prst="curvedConnector3">
              <a:avLst>
                <a:gd name="adj1" fmla="val 50000"/>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Oval 30">
              <a:extLst>
                <a:ext uri="{FF2B5EF4-FFF2-40B4-BE49-F238E27FC236}">
                  <a16:creationId xmlns:a16="http://schemas.microsoft.com/office/drawing/2014/main" id="{41A63CA4-E21E-EFC2-AAFE-1AC08A695CE7}"/>
                </a:ext>
              </a:extLst>
            </p:cNvPr>
            <p:cNvSpPr>
              <a:spLocks noChangeArrowheads="1"/>
            </p:cNvSpPr>
            <p:nvPr/>
          </p:nvSpPr>
          <p:spPr bwMode="auto">
            <a:xfrm>
              <a:off x="635000" y="2976563"/>
              <a:ext cx="390525" cy="35718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a:solidFill>
                    <a:schemeClr val="bg1"/>
                  </a:solidFill>
                  <a:latin typeface="+mn-lt"/>
                </a:rPr>
                <a:t>1</a:t>
              </a:r>
            </a:p>
          </p:txBody>
        </p:sp>
        <p:sp>
          <p:nvSpPr>
            <p:cNvPr id="40" name="Text Box 31">
              <a:extLst>
                <a:ext uri="{FF2B5EF4-FFF2-40B4-BE49-F238E27FC236}">
                  <a16:creationId xmlns:a16="http://schemas.microsoft.com/office/drawing/2014/main" id="{9FFE63C8-D46D-B810-8261-C9FA83BC8A46}"/>
                </a:ext>
              </a:extLst>
            </p:cNvPr>
            <p:cNvSpPr txBox="1">
              <a:spLocks noChangeArrowheads="1"/>
            </p:cNvSpPr>
            <p:nvPr/>
          </p:nvSpPr>
          <p:spPr bwMode="auto">
            <a:xfrm>
              <a:off x="412170" y="3390900"/>
              <a:ext cx="855235" cy="5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rgbClr val="000066"/>
                  </a:solidFill>
                  <a:latin typeface="+mn-lt"/>
                </a:rPr>
                <a:t>Cognitive</a:t>
              </a:r>
            </a:p>
            <a:p>
              <a:pPr algn="ctr">
                <a:lnSpc>
                  <a:spcPct val="80000"/>
                </a:lnSpc>
                <a:buClrTx/>
                <a:buSzTx/>
                <a:buFontTx/>
                <a:buNone/>
              </a:pPr>
              <a:r>
                <a:rPr lang="en-US" altLang="en-US" sz="1200">
                  <a:solidFill>
                    <a:srgbClr val="000066"/>
                  </a:solidFill>
                  <a:latin typeface="+mn-lt"/>
                </a:rPr>
                <a:t>Production</a:t>
              </a:r>
            </a:p>
            <a:p>
              <a:pPr algn="ctr">
                <a:lnSpc>
                  <a:spcPct val="80000"/>
                </a:lnSpc>
                <a:buClrTx/>
                <a:buSzTx/>
                <a:buFontTx/>
                <a:buNone/>
              </a:pPr>
              <a:r>
                <a:rPr lang="en-US" altLang="en-US" sz="1200">
                  <a:solidFill>
                    <a:srgbClr val="000066"/>
                  </a:solidFill>
                  <a:latin typeface="+mn-lt"/>
                </a:rPr>
                <a:t>Process</a:t>
              </a:r>
            </a:p>
          </p:txBody>
        </p:sp>
        <p:sp>
          <p:nvSpPr>
            <p:cNvPr id="41" name="Oval 32">
              <a:extLst>
                <a:ext uri="{FF2B5EF4-FFF2-40B4-BE49-F238E27FC236}">
                  <a16:creationId xmlns:a16="http://schemas.microsoft.com/office/drawing/2014/main" id="{4ABB6F63-3598-58DD-0F8B-F13AB4D2A788}"/>
                </a:ext>
              </a:extLst>
            </p:cNvPr>
            <p:cNvSpPr>
              <a:spLocks noChangeArrowheads="1"/>
            </p:cNvSpPr>
            <p:nvPr/>
          </p:nvSpPr>
          <p:spPr bwMode="auto">
            <a:xfrm>
              <a:off x="636588" y="4611688"/>
              <a:ext cx="390525" cy="357187"/>
            </a:xfrm>
            <a:prstGeom prst="ellipse">
              <a:avLst/>
            </a:prstGeom>
            <a:solidFill>
              <a:schemeClr val="accent5"/>
            </a:solidFill>
            <a:ln w="12700" cap="sq">
              <a:solidFill>
                <a:schemeClr val="accent5"/>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None/>
              </a:pPr>
              <a:r>
                <a:rPr lang="en-US" altLang="en-US">
                  <a:solidFill>
                    <a:schemeClr val="bg1"/>
                  </a:solidFill>
                </a:rPr>
                <a:t>2</a:t>
              </a:r>
            </a:p>
          </p:txBody>
        </p:sp>
        <p:sp>
          <p:nvSpPr>
            <p:cNvPr id="42" name="Text Box 33">
              <a:extLst>
                <a:ext uri="{FF2B5EF4-FFF2-40B4-BE49-F238E27FC236}">
                  <a16:creationId xmlns:a16="http://schemas.microsoft.com/office/drawing/2014/main" id="{68CB6F0A-8FDD-BFCF-1AB6-2FE0155D49E4}"/>
                </a:ext>
              </a:extLst>
            </p:cNvPr>
            <p:cNvSpPr txBox="1">
              <a:spLocks noChangeArrowheads="1"/>
            </p:cNvSpPr>
            <p:nvPr/>
          </p:nvSpPr>
          <p:spPr bwMode="auto">
            <a:xfrm>
              <a:off x="413757" y="5026025"/>
              <a:ext cx="855235" cy="5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solidFill>
                    <a:srgbClr val="000066"/>
                  </a:solidFill>
                  <a:latin typeface="+mn-lt"/>
                </a:rPr>
                <a:t>Reflexive</a:t>
              </a:r>
            </a:p>
            <a:p>
              <a:pPr algn="ctr">
                <a:lnSpc>
                  <a:spcPct val="80000"/>
                </a:lnSpc>
                <a:buClrTx/>
                <a:buSzTx/>
                <a:buFontTx/>
                <a:buNone/>
              </a:pPr>
              <a:r>
                <a:rPr lang="en-US" altLang="en-US" sz="1200">
                  <a:solidFill>
                    <a:srgbClr val="000066"/>
                  </a:solidFill>
                  <a:latin typeface="+mn-lt"/>
                </a:rPr>
                <a:t>Production</a:t>
              </a:r>
            </a:p>
            <a:p>
              <a:pPr algn="ctr">
                <a:lnSpc>
                  <a:spcPct val="80000"/>
                </a:lnSpc>
                <a:buClrTx/>
                <a:buSzTx/>
                <a:buFontTx/>
                <a:buNone/>
              </a:pPr>
              <a:r>
                <a:rPr lang="en-US" altLang="en-US" sz="1200">
                  <a:solidFill>
                    <a:srgbClr val="000066"/>
                  </a:solidFill>
                  <a:latin typeface="+mn-lt"/>
                </a:rPr>
                <a:t>Process</a:t>
              </a:r>
            </a:p>
          </p:txBody>
        </p:sp>
        <p:sp>
          <p:nvSpPr>
            <p:cNvPr id="43" name="Text Box 34">
              <a:extLst>
                <a:ext uri="{FF2B5EF4-FFF2-40B4-BE49-F238E27FC236}">
                  <a16:creationId xmlns:a16="http://schemas.microsoft.com/office/drawing/2014/main" id="{5C792F94-AA71-FE7C-455E-095AB846BEB6}"/>
                </a:ext>
              </a:extLst>
            </p:cNvPr>
            <p:cNvSpPr txBox="1">
              <a:spLocks noChangeArrowheads="1"/>
            </p:cNvSpPr>
            <p:nvPr/>
          </p:nvSpPr>
          <p:spPr bwMode="auto">
            <a:xfrm>
              <a:off x="2139965" y="5845175"/>
              <a:ext cx="5867368" cy="406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buClrTx/>
                <a:buSzTx/>
                <a:buFontTx/>
                <a:buNone/>
              </a:pPr>
              <a:r>
                <a:rPr lang="en-US" altLang="en-US" sz="1200" i="1" dirty="0">
                  <a:latin typeface="+mn-lt"/>
                </a:rPr>
                <a:t>Demand is either centrally planned and </a:t>
              </a:r>
              <a:r>
                <a:rPr lang="ja-JP" altLang="en-US" sz="1200" i="1" dirty="0">
                  <a:latin typeface="+mn-lt"/>
                </a:rPr>
                <a:t>“</a:t>
              </a:r>
              <a:r>
                <a:rPr lang="en-US" altLang="ja-JP" sz="1200" i="1" dirty="0">
                  <a:latin typeface="+mn-lt"/>
                </a:rPr>
                <a:t>pushed</a:t>
              </a:r>
              <a:r>
                <a:rPr lang="ja-JP" altLang="en-US" sz="1200" i="1" dirty="0">
                  <a:latin typeface="+mn-lt"/>
                </a:rPr>
                <a:t>”</a:t>
              </a:r>
              <a:r>
                <a:rPr lang="en-US" altLang="ja-JP" sz="1200" i="1" dirty="0">
                  <a:latin typeface="+mn-lt"/>
                </a:rPr>
                <a:t> through the shop floor</a:t>
              </a:r>
            </a:p>
            <a:p>
              <a:pPr algn="ctr">
                <a:lnSpc>
                  <a:spcPct val="95000"/>
                </a:lnSpc>
                <a:buClrTx/>
                <a:buSzTx/>
                <a:buFontTx/>
                <a:buNone/>
              </a:pPr>
              <a:r>
                <a:rPr lang="en-US" altLang="en-US" sz="1200" i="1" dirty="0">
                  <a:latin typeface="+mn-lt"/>
                </a:rPr>
                <a:t>or </a:t>
              </a:r>
              <a:r>
                <a:rPr lang="ja-JP" altLang="en-US" sz="1200" i="1" dirty="0">
                  <a:latin typeface="+mn-lt"/>
                </a:rPr>
                <a:t>“</a:t>
              </a:r>
              <a:r>
                <a:rPr lang="en-US" altLang="ja-JP" sz="1200" i="1" dirty="0">
                  <a:latin typeface="+mn-lt"/>
                </a:rPr>
                <a:t>pulled</a:t>
              </a:r>
              <a:r>
                <a:rPr lang="ja-JP" altLang="en-US" sz="1200" i="1" dirty="0">
                  <a:latin typeface="+mn-lt"/>
                </a:rPr>
                <a:t>”</a:t>
              </a:r>
              <a:r>
                <a:rPr lang="en-US" altLang="ja-JP" sz="1200" i="1" dirty="0">
                  <a:latin typeface="+mn-lt"/>
                </a:rPr>
                <a:t> by each production process only at the time that stage of the process is prepared</a:t>
              </a:r>
              <a:endParaRPr lang="en-US" altLang="en-US" sz="1200" i="1" dirty="0">
                <a:latin typeface="+mn-lt"/>
              </a:endParaRPr>
            </a:p>
          </p:txBody>
        </p:sp>
      </p:grpSp>
    </p:spTree>
    <p:extLst>
      <p:ext uri="{BB962C8B-B14F-4D97-AF65-F5344CB8AC3E}">
        <p14:creationId xmlns:p14="http://schemas.microsoft.com/office/powerpoint/2010/main" val="11851309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Push Vs. Pull:  </a:t>
            </a:r>
            <a:br>
              <a:rPr lang="en-US" dirty="0"/>
            </a:br>
            <a:r>
              <a:rPr lang="en-US" sz="4000" dirty="0"/>
              <a:t>Deploying Right Solution For Customer Service</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181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When engaged in a push production system, finite resources are generally mismanaged requiring the extensive use of buffer stocks as a necessary hedge against upstream variation.</a:t>
            </a:r>
          </a:p>
        </p:txBody>
      </p:sp>
      <p:grpSp>
        <p:nvGrpSpPr>
          <p:cNvPr id="74" name="Group 73">
            <a:extLst>
              <a:ext uri="{FF2B5EF4-FFF2-40B4-BE49-F238E27FC236}">
                <a16:creationId xmlns:a16="http://schemas.microsoft.com/office/drawing/2014/main" id="{C0AB4EC3-7646-058C-0A83-CC508E88733F}"/>
              </a:ext>
            </a:extLst>
          </p:cNvPr>
          <p:cNvGrpSpPr/>
          <p:nvPr/>
        </p:nvGrpSpPr>
        <p:grpSpPr>
          <a:xfrm>
            <a:off x="668338" y="1879600"/>
            <a:ext cx="8856662" cy="4297363"/>
            <a:chOff x="630238" y="2311400"/>
            <a:chExt cx="8023225" cy="3903663"/>
          </a:xfrm>
        </p:grpSpPr>
        <p:grpSp>
          <p:nvGrpSpPr>
            <p:cNvPr id="4" name="Group 4">
              <a:extLst>
                <a:ext uri="{FF2B5EF4-FFF2-40B4-BE49-F238E27FC236}">
                  <a16:creationId xmlns:a16="http://schemas.microsoft.com/office/drawing/2014/main" id="{B43C0EA4-9CC2-7E8F-F3EA-E6F37D72A1CC}"/>
                </a:ext>
              </a:extLst>
            </p:cNvPr>
            <p:cNvGrpSpPr>
              <a:grpSpLocks/>
            </p:cNvGrpSpPr>
            <p:nvPr/>
          </p:nvGrpSpPr>
          <p:grpSpPr bwMode="auto">
            <a:xfrm>
              <a:off x="752475" y="2679700"/>
              <a:ext cx="3581400" cy="971550"/>
              <a:chOff x="537" y="1863"/>
              <a:chExt cx="2256" cy="612"/>
            </a:xfrm>
          </p:grpSpPr>
          <p:sp>
            <p:nvSpPr>
              <p:cNvPr id="5" name="Rectangle 5">
                <a:extLst>
                  <a:ext uri="{FF2B5EF4-FFF2-40B4-BE49-F238E27FC236}">
                    <a16:creationId xmlns:a16="http://schemas.microsoft.com/office/drawing/2014/main" id="{7AD0CD5B-C8ED-3834-887A-EBD2911A1BDA}"/>
                  </a:ext>
                </a:extLst>
              </p:cNvPr>
              <p:cNvSpPr>
                <a:spLocks noChangeArrowheads="1"/>
              </p:cNvSpPr>
              <p:nvPr/>
            </p:nvSpPr>
            <p:spPr bwMode="auto">
              <a:xfrm>
                <a:off x="537" y="1863"/>
                <a:ext cx="2256" cy="612"/>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15" name="Group 6">
                <a:extLst>
                  <a:ext uri="{FF2B5EF4-FFF2-40B4-BE49-F238E27FC236}">
                    <a16:creationId xmlns:a16="http://schemas.microsoft.com/office/drawing/2014/main" id="{AAE0CC76-8BC5-B5BD-0756-7C580E5990D4}"/>
                  </a:ext>
                </a:extLst>
              </p:cNvPr>
              <p:cNvGrpSpPr>
                <a:grpSpLocks/>
              </p:cNvGrpSpPr>
              <p:nvPr/>
            </p:nvGrpSpPr>
            <p:grpSpPr bwMode="auto">
              <a:xfrm>
                <a:off x="600" y="1916"/>
                <a:ext cx="2119" cy="546"/>
                <a:chOff x="537" y="1916"/>
                <a:chExt cx="2119" cy="546"/>
              </a:xfrm>
            </p:grpSpPr>
            <p:sp>
              <p:nvSpPr>
                <p:cNvPr id="16" name="Text Box 7">
                  <a:extLst>
                    <a:ext uri="{FF2B5EF4-FFF2-40B4-BE49-F238E27FC236}">
                      <a16:creationId xmlns:a16="http://schemas.microsoft.com/office/drawing/2014/main" id="{E4D511D0-0409-30CA-43BD-ED0426945C72}"/>
                    </a:ext>
                  </a:extLst>
                </p:cNvPr>
                <p:cNvSpPr txBox="1">
                  <a:spLocks noChangeArrowheads="1"/>
                </p:cNvSpPr>
                <p:nvPr/>
              </p:nvSpPr>
              <p:spPr bwMode="auto">
                <a:xfrm>
                  <a:off x="790" y="2313"/>
                  <a:ext cx="50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a:solidFill>
                        <a:srgbClr val="000066"/>
                      </a:solidFill>
                      <a:latin typeface="+mn-lt"/>
                    </a:rPr>
                    <a:t>70% Variation</a:t>
                  </a:r>
                </a:p>
                <a:p>
                  <a:pPr algn="ctr">
                    <a:lnSpc>
                      <a:spcPct val="80000"/>
                    </a:lnSpc>
                    <a:buClrTx/>
                    <a:buSzTx/>
                    <a:buFontTx/>
                    <a:buNone/>
                  </a:pPr>
                  <a:r>
                    <a:rPr lang="en-US" altLang="en-US" sz="500" i="1">
                      <a:solidFill>
                        <a:srgbClr val="000066"/>
                      </a:solidFill>
                      <a:latin typeface="+mn-lt"/>
                    </a:rPr>
                    <a:t>Schedule To Schedule</a:t>
                  </a:r>
                </a:p>
              </p:txBody>
            </p:sp>
            <p:sp>
              <p:nvSpPr>
                <p:cNvPr id="17" name="Text Box 8">
                  <a:extLst>
                    <a:ext uri="{FF2B5EF4-FFF2-40B4-BE49-F238E27FC236}">
                      <a16:creationId xmlns:a16="http://schemas.microsoft.com/office/drawing/2014/main" id="{07D8ADC8-B21B-B729-19EC-CDDCB30253CE}"/>
                    </a:ext>
                  </a:extLst>
                </p:cNvPr>
                <p:cNvSpPr txBox="1">
                  <a:spLocks noChangeArrowheads="1"/>
                </p:cNvSpPr>
                <p:nvPr/>
              </p:nvSpPr>
              <p:spPr bwMode="auto">
                <a:xfrm>
                  <a:off x="1414" y="2316"/>
                  <a:ext cx="50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a:solidFill>
                        <a:srgbClr val="000066"/>
                      </a:solidFill>
                      <a:latin typeface="+mn-lt"/>
                    </a:rPr>
                    <a:t>40% Variation</a:t>
                  </a:r>
                </a:p>
                <a:p>
                  <a:pPr algn="ctr">
                    <a:lnSpc>
                      <a:spcPct val="80000"/>
                    </a:lnSpc>
                    <a:buClrTx/>
                    <a:buSzTx/>
                    <a:buFontTx/>
                    <a:buNone/>
                  </a:pPr>
                  <a:r>
                    <a:rPr lang="en-US" altLang="en-US" sz="500" i="1">
                      <a:solidFill>
                        <a:srgbClr val="000066"/>
                      </a:solidFill>
                      <a:latin typeface="+mn-lt"/>
                    </a:rPr>
                    <a:t>Schedule To Schedule</a:t>
                  </a:r>
                </a:p>
              </p:txBody>
            </p:sp>
            <p:sp>
              <p:nvSpPr>
                <p:cNvPr id="23" name="Text Box 9">
                  <a:extLst>
                    <a:ext uri="{FF2B5EF4-FFF2-40B4-BE49-F238E27FC236}">
                      <a16:creationId xmlns:a16="http://schemas.microsoft.com/office/drawing/2014/main" id="{8F5A490F-3091-FF23-77D3-F2C27DE4AECE}"/>
                    </a:ext>
                  </a:extLst>
                </p:cNvPr>
                <p:cNvSpPr txBox="1">
                  <a:spLocks noChangeArrowheads="1"/>
                </p:cNvSpPr>
                <p:nvPr/>
              </p:nvSpPr>
              <p:spPr bwMode="auto">
                <a:xfrm>
                  <a:off x="2041" y="2314"/>
                  <a:ext cx="50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a:solidFill>
                        <a:srgbClr val="000066"/>
                      </a:solidFill>
                      <a:latin typeface="+mn-lt"/>
                    </a:rPr>
                    <a:t>20% Variation</a:t>
                  </a:r>
                </a:p>
                <a:p>
                  <a:pPr algn="ctr">
                    <a:lnSpc>
                      <a:spcPct val="80000"/>
                    </a:lnSpc>
                    <a:buClrTx/>
                    <a:buSzTx/>
                    <a:buFontTx/>
                    <a:buNone/>
                  </a:pPr>
                  <a:r>
                    <a:rPr lang="en-US" altLang="en-US" sz="500" i="1">
                      <a:solidFill>
                        <a:srgbClr val="000066"/>
                      </a:solidFill>
                      <a:latin typeface="+mn-lt"/>
                    </a:rPr>
                    <a:t>Schedule To Schedule</a:t>
                  </a:r>
                </a:p>
              </p:txBody>
            </p:sp>
            <p:sp>
              <p:nvSpPr>
                <p:cNvPr id="24" name="Rectangle 10">
                  <a:extLst>
                    <a:ext uri="{FF2B5EF4-FFF2-40B4-BE49-F238E27FC236}">
                      <a16:creationId xmlns:a16="http://schemas.microsoft.com/office/drawing/2014/main" id="{7DE5CC36-AD5B-3948-01B9-DBF2BB21177D}"/>
                    </a:ext>
                  </a:extLst>
                </p:cNvPr>
                <p:cNvSpPr>
                  <a:spLocks noChangeArrowheads="1"/>
                </p:cNvSpPr>
                <p:nvPr/>
              </p:nvSpPr>
              <p:spPr bwMode="auto">
                <a:xfrm>
                  <a:off x="537" y="2036"/>
                  <a:ext cx="407" cy="1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dirty="0">
                      <a:solidFill>
                        <a:schemeClr val="bg1"/>
                      </a:solidFill>
                      <a:latin typeface="+mn-lt"/>
                    </a:rPr>
                    <a:t>Supplier</a:t>
                  </a:r>
                </a:p>
              </p:txBody>
            </p:sp>
            <p:sp>
              <p:nvSpPr>
                <p:cNvPr id="25" name="Rectangle 11">
                  <a:extLst>
                    <a:ext uri="{FF2B5EF4-FFF2-40B4-BE49-F238E27FC236}">
                      <a16:creationId xmlns:a16="http://schemas.microsoft.com/office/drawing/2014/main" id="{1A8C7264-46E9-69DA-3437-F401885BE190}"/>
                    </a:ext>
                  </a:extLst>
                </p:cNvPr>
                <p:cNvSpPr>
                  <a:spLocks noChangeArrowheads="1"/>
                </p:cNvSpPr>
                <p:nvPr/>
              </p:nvSpPr>
              <p:spPr bwMode="auto">
                <a:xfrm>
                  <a:off x="1149" y="2036"/>
                  <a:ext cx="407" cy="1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Build Step One</a:t>
                  </a:r>
                </a:p>
              </p:txBody>
            </p:sp>
            <p:sp>
              <p:nvSpPr>
                <p:cNvPr id="26" name="Rectangle 12">
                  <a:extLst>
                    <a:ext uri="{FF2B5EF4-FFF2-40B4-BE49-F238E27FC236}">
                      <a16:creationId xmlns:a16="http://schemas.microsoft.com/office/drawing/2014/main" id="{FF255E68-BDEF-5977-34E6-83EE17AB7B37}"/>
                    </a:ext>
                  </a:extLst>
                </p:cNvPr>
                <p:cNvSpPr>
                  <a:spLocks noChangeArrowheads="1"/>
                </p:cNvSpPr>
                <p:nvPr/>
              </p:nvSpPr>
              <p:spPr bwMode="auto">
                <a:xfrm>
                  <a:off x="1771" y="2036"/>
                  <a:ext cx="407" cy="1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Build Step Two</a:t>
                  </a:r>
                </a:p>
              </p:txBody>
            </p:sp>
            <p:sp>
              <p:nvSpPr>
                <p:cNvPr id="45" name="Rectangle 13">
                  <a:extLst>
                    <a:ext uri="{FF2B5EF4-FFF2-40B4-BE49-F238E27FC236}">
                      <a16:creationId xmlns:a16="http://schemas.microsoft.com/office/drawing/2014/main" id="{866060A9-477D-FBA7-1973-410C0FFA220D}"/>
                    </a:ext>
                  </a:extLst>
                </p:cNvPr>
                <p:cNvSpPr>
                  <a:spLocks noChangeArrowheads="1"/>
                </p:cNvSpPr>
                <p:nvPr/>
              </p:nvSpPr>
              <p:spPr bwMode="auto">
                <a:xfrm>
                  <a:off x="2389" y="2034"/>
                  <a:ext cx="267" cy="152"/>
                </a:xfrm>
                <a:prstGeom prst="rect">
                  <a:avLst/>
                </a:prstGeom>
                <a:solidFill>
                  <a:schemeClr val="accent5"/>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dirty="0">
                      <a:solidFill>
                        <a:schemeClr val="bg1"/>
                      </a:solidFill>
                      <a:latin typeface="+mn-lt"/>
                    </a:rPr>
                    <a:t>Customer</a:t>
                  </a:r>
                </a:p>
              </p:txBody>
            </p:sp>
            <p:sp>
              <p:nvSpPr>
                <p:cNvPr id="46" name="Freeform 14">
                  <a:extLst>
                    <a:ext uri="{FF2B5EF4-FFF2-40B4-BE49-F238E27FC236}">
                      <a16:creationId xmlns:a16="http://schemas.microsoft.com/office/drawing/2014/main" id="{B465A242-83FB-07E2-E782-561F698DA86B}"/>
                    </a:ext>
                  </a:extLst>
                </p:cNvPr>
                <p:cNvSpPr>
                  <a:spLocks/>
                </p:cNvSpPr>
                <p:nvPr/>
              </p:nvSpPr>
              <p:spPr bwMode="auto">
                <a:xfrm>
                  <a:off x="947" y="1918"/>
                  <a:ext cx="201" cy="376"/>
                </a:xfrm>
                <a:custGeom>
                  <a:avLst/>
                  <a:gdLst>
                    <a:gd name="T0" fmla="*/ 0 w 402"/>
                    <a:gd name="T1" fmla="*/ 97 h 750"/>
                    <a:gd name="T2" fmla="*/ 18 w 402"/>
                    <a:gd name="T3" fmla="*/ 97 h 750"/>
                    <a:gd name="T4" fmla="*/ 30 w 402"/>
                    <a:gd name="T5" fmla="*/ 0 h 750"/>
                    <a:gd name="T6" fmla="*/ 46 w 402"/>
                    <a:gd name="T7" fmla="*/ 189 h 750"/>
                    <a:gd name="T8" fmla="*/ 67 w 402"/>
                    <a:gd name="T9" fmla="*/ 97 h 750"/>
                    <a:gd name="T10" fmla="*/ 101 w 402"/>
                    <a:gd name="T11" fmla="*/ 97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7" name="Freeform 15">
                  <a:extLst>
                    <a:ext uri="{FF2B5EF4-FFF2-40B4-BE49-F238E27FC236}">
                      <a16:creationId xmlns:a16="http://schemas.microsoft.com/office/drawing/2014/main" id="{00627ADA-86EE-83BA-266F-E3FA3AA6B52B}"/>
                    </a:ext>
                  </a:extLst>
                </p:cNvPr>
                <p:cNvSpPr>
                  <a:spLocks/>
                </p:cNvSpPr>
                <p:nvPr/>
              </p:nvSpPr>
              <p:spPr bwMode="auto">
                <a:xfrm>
                  <a:off x="1560" y="1918"/>
                  <a:ext cx="201" cy="376"/>
                </a:xfrm>
                <a:custGeom>
                  <a:avLst/>
                  <a:gdLst>
                    <a:gd name="T0" fmla="*/ 0 w 402"/>
                    <a:gd name="T1" fmla="*/ 97 h 750"/>
                    <a:gd name="T2" fmla="*/ 18 w 402"/>
                    <a:gd name="T3" fmla="*/ 97 h 750"/>
                    <a:gd name="T4" fmla="*/ 30 w 402"/>
                    <a:gd name="T5" fmla="*/ 0 h 750"/>
                    <a:gd name="T6" fmla="*/ 46 w 402"/>
                    <a:gd name="T7" fmla="*/ 189 h 750"/>
                    <a:gd name="T8" fmla="*/ 67 w 402"/>
                    <a:gd name="T9" fmla="*/ 97 h 750"/>
                    <a:gd name="T10" fmla="*/ 101 w 402"/>
                    <a:gd name="T11" fmla="*/ 97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 name="Freeform 16">
                  <a:extLst>
                    <a:ext uri="{FF2B5EF4-FFF2-40B4-BE49-F238E27FC236}">
                      <a16:creationId xmlns:a16="http://schemas.microsoft.com/office/drawing/2014/main" id="{AC075FAD-EFCC-EB09-2CD4-78650A65281F}"/>
                    </a:ext>
                  </a:extLst>
                </p:cNvPr>
                <p:cNvSpPr>
                  <a:spLocks/>
                </p:cNvSpPr>
                <p:nvPr/>
              </p:nvSpPr>
              <p:spPr bwMode="auto">
                <a:xfrm>
                  <a:off x="2182" y="1916"/>
                  <a:ext cx="200" cy="376"/>
                </a:xfrm>
                <a:custGeom>
                  <a:avLst/>
                  <a:gdLst>
                    <a:gd name="T0" fmla="*/ 0 w 402"/>
                    <a:gd name="T1" fmla="*/ 97 h 750"/>
                    <a:gd name="T2" fmla="*/ 18 w 402"/>
                    <a:gd name="T3" fmla="*/ 97 h 750"/>
                    <a:gd name="T4" fmla="*/ 29 w 402"/>
                    <a:gd name="T5" fmla="*/ 0 h 750"/>
                    <a:gd name="T6" fmla="*/ 45 w 402"/>
                    <a:gd name="T7" fmla="*/ 189 h 750"/>
                    <a:gd name="T8" fmla="*/ 66 w 402"/>
                    <a:gd name="T9" fmla="*/ 97 h 750"/>
                    <a:gd name="T10" fmla="*/ 100 w 402"/>
                    <a:gd name="T11" fmla="*/ 97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49" name="Group 17">
              <a:extLst>
                <a:ext uri="{FF2B5EF4-FFF2-40B4-BE49-F238E27FC236}">
                  <a16:creationId xmlns:a16="http://schemas.microsoft.com/office/drawing/2014/main" id="{FBFB1DEF-6F55-FC1C-FB40-872DCD7A1EFA}"/>
                </a:ext>
              </a:extLst>
            </p:cNvPr>
            <p:cNvGrpSpPr>
              <a:grpSpLocks/>
            </p:cNvGrpSpPr>
            <p:nvPr/>
          </p:nvGrpSpPr>
          <p:grpSpPr bwMode="auto">
            <a:xfrm>
              <a:off x="4911725" y="2684463"/>
              <a:ext cx="3581400" cy="971550"/>
              <a:chOff x="537" y="2568"/>
              <a:chExt cx="2256" cy="612"/>
            </a:xfrm>
          </p:grpSpPr>
          <p:sp>
            <p:nvSpPr>
              <p:cNvPr id="50" name="Rectangle 18">
                <a:extLst>
                  <a:ext uri="{FF2B5EF4-FFF2-40B4-BE49-F238E27FC236}">
                    <a16:creationId xmlns:a16="http://schemas.microsoft.com/office/drawing/2014/main" id="{E22FEE93-AF4A-7429-4A29-31D63BBF796D}"/>
                  </a:ext>
                </a:extLst>
              </p:cNvPr>
              <p:cNvSpPr>
                <a:spLocks noChangeArrowheads="1"/>
              </p:cNvSpPr>
              <p:nvPr/>
            </p:nvSpPr>
            <p:spPr bwMode="auto">
              <a:xfrm>
                <a:off x="537" y="2568"/>
                <a:ext cx="2256" cy="612"/>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grpSp>
            <p:nvGrpSpPr>
              <p:cNvPr id="51" name="Group 19">
                <a:extLst>
                  <a:ext uri="{FF2B5EF4-FFF2-40B4-BE49-F238E27FC236}">
                    <a16:creationId xmlns:a16="http://schemas.microsoft.com/office/drawing/2014/main" id="{47720AA1-814F-8248-B505-9B2DE5E571D1}"/>
                  </a:ext>
                </a:extLst>
              </p:cNvPr>
              <p:cNvGrpSpPr>
                <a:grpSpLocks/>
              </p:cNvGrpSpPr>
              <p:nvPr/>
            </p:nvGrpSpPr>
            <p:grpSpPr bwMode="auto">
              <a:xfrm>
                <a:off x="607" y="2723"/>
                <a:ext cx="2119" cy="333"/>
                <a:chOff x="537" y="2618"/>
                <a:chExt cx="2119" cy="333"/>
              </a:xfrm>
            </p:grpSpPr>
            <p:sp>
              <p:nvSpPr>
                <p:cNvPr id="52" name="Rectangle 20">
                  <a:extLst>
                    <a:ext uri="{FF2B5EF4-FFF2-40B4-BE49-F238E27FC236}">
                      <a16:creationId xmlns:a16="http://schemas.microsoft.com/office/drawing/2014/main" id="{EDE73BCC-5B76-FB32-FBB4-173B35E7E120}"/>
                    </a:ext>
                  </a:extLst>
                </p:cNvPr>
                <p:cNvSpPr>
                  <a:spLocks noChangeArrowheads="1"/>
                </p:cNvSpPr>
                <p:nvPr/>
              </p:nvSpPr>
              <p:spPr bwMode="auto">
                <a:xfrm>
                  <a:off x="537" y="2618"/>
                  <a:ext cx="348" cy="1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Supplier</a:t>
                  </a:r>
                </a:p>
              </p:txBody>
            </p:sp>
            <p:sp>
              <p:nvSpPr>
                <p:cNvPr id="53" name="Rectangle 21">
                  <a:extLst>
                    <a:ext uri="{FF2B5EF4-FFF2-40B4-BE49-F238E27FC236}">
                      <a16:creationId xmlns:a16="http://schemas.microsoft.com/office/drawing/2014/main" id="{472ED711-B43A-61E7-F244-DC7F99177487}"/>
                    </a:ext>
                  </a:extLst>
                </p:cNvPr>
                <p:cNvSpPr>
                  <a:spLocks noChangeArrowheads="1"/>
                </p:cNvSpPr>
                <p:nvPr/>
              </p:nvSpPr>
              <p:spPr bwMode="auto">
                <a:xfrm>
                  <a:off x="1061" y="2618"/>
                  <a:ext cx="349" cy="1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Build Step One</a:t>
                  </a:r>
                </a:p>
              </p:txBody>
            </p:sp>
            <p:sp>
              <p:nvSpPr>
                <p:cNvPr id="54" name="Rectangle 22">
                  <a:extLst>
                    <a:ext uri="{FF2B5EF4-FFF2-40B4-BE49-F238E27FC236}">
                      <a16:creationId xmlns:a16="http://schemas.microsoft.com/office/drawing/2014/main" id="{BFB1D3E3-AE40-2864-34E2-638121C424EC}"/>
                    </a:ext>
                  </a:extLst>
                </p:cNvPr>
                <p:cNvSpPr>
                  <a:spLocks noChangeArrowheads="1"/>
                </p:cNvSpPr>
                <p:nvPr/>
              </p:nvSpPr>
              <p:spPr bwMode="auto">
                <a:xfrm>
                  <a:off x="1587" y="2618"/>
                  <a:ext cx="349" cy="151"/>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Build Step Two</a:t>
                  </a:r>
                </a:p>
              </p:txBody>
            </p:sp>
            <p:sp>
              <p:nvSpPr>
                <p:cNvPr id="55" name="Rectangle 23">
                  <a:extLst>
                    <a:ext uri="{FF2B5EF4-FFF2-40B4-BE49-F238E27FC236}">
                      <a16:creationId xmlns:a16="http://schemas.microsoft.com/office/drawing/2014/main" id="{43D9CCA0-5461-35AF-842A-93669169C37C}"/>
                    </a:ext>
                  </a:extLst>
                </p:cNvPr>
                <p:cNvSpPr>
                  <a:spLocks noChangeArrowheads="1"/>
                </p:cNvSpPr>
                <p:nvPr/>
              </p:nvSpPr>
              <p:spPr bwMode="auto">
                <a:xfrm>
                  <a:off x="2428" y="2620"/>
                  <a:ext cx="228" cy="151"/>
                </a:xfrm>
                <a:prstGeom prst="rect">
                  <a:avLst/>
                </a:prstGeom>
                <a:solidFill>
                  <a:schemeClr val="accent5"/>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a:solidFill>
                        <a:schemeClr val="bg1"/>
                      </a:solidFill>
                      <a:latin typeface="+mn-lt"/>
                    </a:rPr>
                    <a:t>Customer</a:t>
                  </a:r>
                </a:p>
              </p:txBody>
            </p:sp>
            <p:sp>
              <p:nvSpPr>
                <p:cNvPr id="56" name="Freeform 24">
                  <a:extLst>
                    <a:ext uri="{FF2B5EF4-FFF2-40B4-BE49-F238E27FC236}">
                      <a16:creationId xmlns:a16="http://schemas.microsoft.com/office/drawing/2014/main" id="{CEB36227-2D20-1CB2-A201-72812BE8E13F}"/>
                    </a:ext>
                  </a:extLst>
                </p:cNvPr>
                <p:cNvSpPr>
                  <a:spLocks/>
                </p:cNvSpPr>
                <p:nvPr/>
              </p:nvSpPr>
              <p:spPr bwMode="auto">
                <a:xfrm>
                  <a:off x="888" y="2657"/>
                  <a:ext cx="173" cy="74"/>
                </a:xfrm>
                <a:custGeom>
                  <a:avLst/>
                  <a:gdLst>
                    <a:gd name="T0" fmla="*/ 0 w 405"/>
                    <a:gd name="T1" fmla="*/ 19 h 147"/>
                    <a:gd name="T2" fmla="*/ 13 w 405"/>
                    <a:gd name="T3" fmla="*/ 19 h 147"/>
                    <a:gd name="T4" fmla="*/ 21 w 405"/>
                    <a:gd name="T5" fmla="*/ 0 h 147"/>
                    <a:gd name="T6" fmla="*/ 36 w 405"/>
                    <a:gd name="T7" fmla="*/ 37 h 147"/>
                    <a:gd name="T8" fmla="*/ 44 w 405"/>
                    <a:gd name="T9" fmla="*/ 18 h 147"/>
                    <a:gd name="T10" fmla="*/ 74 w 405"/>
                    <a:gd name="T11" fmla="*/ 18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7" name="Freeform 25">
                  <a:extLst>
                    <a:ext uri="{FF2B5EF4-FFF2-40B4-BE49-F238E27FC236}">
                      <a16:creationId xmlns:a16="http://schemas.microsoft.com/office/drawing/2014/main" id="{741DBE24-6DC2-074E-EF1D-1D98DBB2B70F}"/>
                    </a:ext>
                  </a:extLst>
                </p:cNvPr>
                <p:cNvSpPr>
                  <a:spLocks/>
                </p:cNvSpPr>
                <p:nvPr/>
              </p:nvSpPr>
              <p:spPr bwMode="auto">
                <a:xfrm>
                  <a:off x="1411" y="2657"/>
                  <a:ext cx="173" cy="74"/>
                </a:xfrm>
                <a:custGeom>
                  <a:avLst/>
                  <a:gdLst>
                    <a:gd name="T0" fmla="*/ 0 w 405"/>
                    <a:gd name="T1" fmla="*/ 19 h 147"/>
                    <a:gd name="T2" fmla="*/ 13 w 405"/>
                    <a:gd name="T3" fmla="*/ 19 h 147"/>
                    <a:gd name="T4" fmla="*/ 21 w 405"/>
                    <a:gd name="T5" fmla="*/ 0 h 147"/>
                    <a:gd name="T6" fmla="*/ 36 w 405"/>
                    <a:gd name="T7" fmla="*/ 37 h 147"/>
                    <a:gd name="T8" fmla="*/ 44 w 405"/>
                    <a:gd name="T9" fmla="*/ 18 h 147"/>
                    <a:gd name="T10" fmla="*/ 74 w 405"/>
                    <a:gd name="T11" fmla="*/ 18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8" name="Freeform 26">
                  <a:extLst>
                    <a:ext uri="{FF2B5EF4-FFF2-40B4-BE49-F238E27FC236}">
                      <a16:creationId xmlns:a16="http://schemas.microsoft.com/office/drawing/2014/main" id="{EDCFE6BC-902E-C194-CE8D-7EC3CBBEF00F}"/>
                    </a:ext>
                  </a:extLst>
                </p:cNvPr>
                <p:cNvSpPr>
                  <a:spLocks/>
                </p:cNvSpPr>
                <p:nvPr/>
              </p:nvSpPr>
              <p:spPr bwMode="auto">
                <a:xfrm>
                  <a:off x="1941" y="2659"/>
                  <a:ext cx="173" cy="73"/>
                </a:xfrm>
                <a:custGeom>
                  <a:avLst/>
                  <a:gdLst>
                    <a:gd name="T0" fmla="*/ 0 w 405"/>
                    <a:gd name="T1" fmla="*/ 18 h 147"/>
                    <a:gd name="T2" fmla="*/ 13 w 405"/>
                    <a:gd name="T3" fmla="*/ 18 h 147"/>
                    <a:gd name="T4" fmla="*/ 21 w 405"/>
                    <a:gd name="T5" fmla="*/ 0 h 147"/>
                    <a:gd name="T6" fmla="*/ 36 w 405"/>
                    <a:gd name="T7" fmla="*/ 36 h 147"/>
                    <a:gd name="T8" fmla="*/ 44 w 405"/>
                    <a:gd name="T9" fmla="*/ 18 h 147"/>
                    <a:gd name="T10" fmla="*/ 74 w 405"/>
                    <a:gd name="T11" fmla="*/ 18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 name="Freeform 27">
                  <a:extLst>
                    <a:ext uri="{FF2B5EF4-FFF2-40B4-BE49-F238E27FC236}">
                      <a16:creationId xmlns:a16="http://schemas.microsoft.com/office/drawing/2014/main" id="{D2B12C95-F87F-0314-F093-1127E4124950}"/>
                    </a:ext>
                  </a:extLst>
                </p:cNvPr>
                <p:cNvSpPr>
                  <a:spLocks/>
                </p:cNvSpPr>
                <p:nvPr/>
              </p:nvSpPr>
              <p:spPr bwMode="auto">
                <a:xfrm>
                  <a:off x="2247" y="2659"/>
                  <a:ext cx="173" cy="73"/>
                </a:xfrm>
                <a:custGeom>
                  <a:avLst/>
                  <a:gdLst>
                    <a:gd name="T0" fmla="*/ 0 w 405"/>
                    <a:gd name="T1" fmla="*/ 18 h 147"/>
                    <a:gd name="T2" fmla="*/ 13 w 405"/>
                    <a:gd name="T3" fmla="*/ 18 h 147"/>
                    <a:gd name="T4" fmla="*/ 21 w 405"/>
                    <a:gd name="T5" fmla="*/ 0 h 147"/>
                    <a:gd name="T6" fmla="*/ 36 w 405"/>
                    <a:gd name="T7" fmla="*/ 36 h 147"/>
                    <a:gd name="T8" fmla="*/ 44 w 405"/>
                    <a:gd name="T9" fmla="*/ 18 h 147"/>
                    <a:gd name="T10" fmla="*/ 74 w 405"/>
                    <a:gd name="T11" fmla="*/ 18 h 1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5" h="147">
                      <a:moveTo>
                        <a:pt x="0" y="75"/>
                      </a:moveTo>
                      <a:lnTo>
                        <a:pt x="72" y="75"/>
                      </a:lnTo>
                      <a:lnTo>
                        <a:pt x="114" y="0"/>
                      </a:lnTo>
                      <a:lnTo>
                        <a:pt x="198" y="147"/>
                      </a:lnTo>
                      <a:lnTo>
                        <a:pt x="243" y="72"/>
                      </a:lnTo>
                      <a:lnTo>
                        <a:pt x="405" y="72"/>
                      </a:lnTo>
                    </a:path>
                  </a:pathLst>
                </a:custGeom>
                <a:noFill/>
                <a:ln w="635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0" name="Oval 28">
                  <a:extLst>
                    <a:ext uri="{FF2B5EF4-FFF2-40B4-BE49-F238E27FC236}">
                      <a16:creationId xmlns:a16="http://schemas.microsoft.com/office/drawing/2014/main" id="{CD302111-EB06-701B-7CC9-BECA79C0CB4A}"/>
                    </a:ext>
                  </a:extLst>
                </p:cNvPr>
                <p:cNvSpPr>
                  <a:spLocks noChangeArrowheads="1"/>
                </p:cNvSpPr>
                <p:nvPr/>
              </p:nvSpPr>
              <p:spPr bwMode="auto">
                <a:xfrm>
                  <a:off x="2113" y="2631"/>
                  <a:ext cx="141" cy="130"/>
                </a:xfrm>
                <a:prstGeom prst="ellipse">
                  <a:avLst/>
                </a:prstGeom>
                <a:solidFill>
                  <a:schemeClr val="accent1"/>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61" name="Text Box 29">
                  <a:extLst>
                    <a:ext uri="{FF2B5EF4-FFF2-40B4-BE49-F238E27FC236}">
                      <a16:creationId xmlns:a16="http://schemas.microsoft.com/office/drawing/2014/main" id="{1850132C-D44D-AC1F-6AD9-C068B90561BB}"/>
                    </a:ext>
                  </a:extLst>
                </p:cNvPr>
                <p:cNvSpPr txBox="1">
                  <a:spLocks noChangeArrowheads="1"/>
                </p:cNvSpPr>
                <p:nvPr/>
              </p:nvSpPr>
              <p:spPr bwMode="auto">
                <a:xfrm>
                  <a:off x="1983" y="2805"/>
                  <a:ext cx="399"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a:solidFill>
                        <a:srgbClr val="000066"/>
                      </a:solidFill>
                      <a:latin typeface="+mn-lt"/>
                    </a:rPr>
                    <a:t>Variation</a:t>
                  </a:r>
                </a:p>
                <a:p>
                  <a:pPr algn="ctr">
                    <a:lnSpc>
                      <a:spcPct val="80000"/>
                    </a:lnSpc>
                    <a:buClrTx/>
                    <a:buSzTx/>
                    <a:buFontTx/>
                    <a:buNone/>
                  </a:pPr>
                  <a:r>
                    <a:rPr lang="en-US" altLang="en-US" sz="500" i="1">
                      <a:solidFill>
                        <a:srgbClr val="000066"/>
                      </a:solidFill>
                      <a:latin typeface="+mn-lt"/>
                    </a:rPr>
                    <a:t>Inventory Buffer</a:t>
                  </a:r>
                </a:p>
              </p:txBody>
            </p:sp>
            <p:sp>
              <p:nvSpPr>
                <p:cNvPr id="62" name="Oval 30">
                  <a:extLst>
                    <a:ext uri="{FF2B5EF4-FFF2-40B4-BE49-F238E27FC236}">
                      <a16:creationId xmlns:a16="http://schemas.microsoft.com/office/drawing/2014/main" id="{472FC959-666D-1DD0-25ED-9497AB91A97A}"/>
                    </a:ext>
                  </a:extLst>
                </p:cNvPr>
                <p:cNvSpPr>
                  <a:spLocks noChangeArrowheads="1"/>
                </p:cNvSpPr>
                <p:nvPr/>
              </p:nvSpPr>
              <p:spPr bwMode="auto">
                <a:xfrm>
                  <a:off x="770" y="2854"/>
                  <a:ext cx="929" cy="81"/>
                </a:xfrm>
                <a:prstGeom prst="ellipse">
                  <a:avLst/>
                </a:prstGeom>
                <a:solidFill>
                  <a:schemeClr val="accent2"/>
                </a:solidFill>
                <a:ln w="12700" cap="sq">
                  <a:solidFill>
                    <a:schemeClr val="tx1"/>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500" i="1" dirty="0">
                      <a:solidFill>
                        <a:srgbClr val="000066"/>
                      </a:solidFill>
                      <a:latin typeface="+mn-lt"/>
                    </a:rPr>
                    <a:t>Minimal Internal Variation</a:t>
                  </a:r>
                </a:p>
              </p:txBody>
            </p:sp>
            <p:cxnSp>
              <p:nvCxnSpPr>
                <p:cNvPr id="63" name="AutoShape 31">
                  <a:extLst>
                    <a:ext uri="{FF2B5EF4-FFF2-40B4-BE49-F238E27FC236}">
                      <a16:creationId xmlns:a16="http://schemas.microsoft.com/office/drawing/2014/main" id="{8E1830DE-6B7B-0BB4-BDFE-2927700BE31A}"/>
                    </a:ext>
                  </a:extLst>
                </p:cNvPr>
                <p:cNvCxnSpPr>
                  <a:cxnSpLocks noChangeShapeType="1"/>
                  <a:stCxn id="62" idx="0"/>
                  <a:endCxn id="52" idx="2"/>
                </p:cNvCxnSpPr>
                <p:nvPr/>
              </p:nvCxnSpPr>
              <p:spPr bwMode="auto">
                <a:xfrm rot="5400000" flipH="1">
                  <a:off x="930" y="2546"/>
                  <a:ext cx="85" cy="524"/>
                </a:xfrm>
                <a:prstGeom prst="curvedConnector3">
                  <a:avLst>
                    <a:gd name="adj1" fmla="val 50000"/>
                  </a:avLst>
                </a:prstGeom>
                <a:noFill/>
                <a:ln w="635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4" name="AutoShape 32">
                  <a:extLst>
                    <a:ext uri="{FF2B5EF4-FFF2-40B4-BE49-F238E27FC236}">
                      <a16:creationId xmlns:a16="http://schemas.microsoft.com/office/drawing/2014/main" id="{689D48CC-06AF-C28F-372E-00F310BC12E8}"/>
                    </a:ext>
                  </a:extLst>
                </p:cNvPr>
                <p:cNvCxnSpPr>
                  <a:cxnSpLocks noChangeShapeType="1"/>
                  <a:stCxn id="62" idx="0"/>
                  <a:endCxn id="54" idx="2"/>
                </p:cNvCxnSpPr>
                <p:nvPr/>
              </p:nvCxnSpPr>
              <p:spPr bwMode="auto">
                <a:xfrm rot="-5400000">
                  <a:off x="1456" y="2548"/>
                  <a:ext cx="85" cy="527"/>
                </a:xfrm>
                <a:prstGeom prst="curvedConnector3">
                  <a:avLst>
                    <a:gd name="adj1" fmla="val 50000"/>
                  </a:avLst>
                </a:prstGeom>
                <a:noFill/>
                <a:ln w="635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AutoShape 33">
                  <a:extLst>
                    <a:ext uri="{FF2B5EF4-FFF2-40B4-BE49-F238E27FC236}">
                      <a16:creationId xmlns:a16="http://schemas.microsoft.com/office/drawing/2014/main" id="{BB833A0B-ADA4-BD1B-EFFB-6214D15328E5}"/>
                    </a:ext>
                  </a:extLst>
                </p:cNvPr>
                <p:cNvCxnSpPr>
                  <a:cxnSpLocks noChangeShapeType="1"/>
                  <a:stCxn id="62" idx="0"/>
                  <a:endCxn id="53" idx="2"/>
                </p:cNvCxnSpPr>
                <p:nvPr/>
              </p:nvCxnSpPr>
              <p:spPr bwMode="auto">
                <a:xfrm rot="-5400000">
                  <a:off x="1193" y="2811"/>
                  <a:ext cx="85" cy="1"/>
                </a:xfrm>
                <a:prstGeom prst="curvedConnector3">
                  <a:avLst>
                    <a:gd name="adj1" fmla="val 50000"/>
                  </a:avLst>
                </a:prstGeom>
                <a:noFill/>
                <a:ln w="6350" cap="sq">
                  <a:solidFill>
                    <a:schemeClr val="tx1"/>
                  </a:solidFill>
                  <a:round/>
                  <a:headEnd/>
                  <a:tailEnd type="triangle" w="med" len="med"/>
                </a:ln>
                <a:extLst>
                  <a:ext uri="{909E8E84-426E-40DD-AFC4-6F175D3DCCD1}">
                    <a14:hiddenFill xmlns:a14="http://schemas.microsoft.com/office/drawing/2010/main">
                      <a:noFill/>
                    </a14:hiddenFill>
                  </a:ext>
                </a:extLst>
              </p:spPr>
            </p:cxnSp>
          </p:grpSp>
        </p:grpSp>
        <p:sp>
          <p:nvSpPr>
            <p:cNvPr id="66" name="Text Box 34">
              <a:extLst>
                <a:ext uri="{FF2B5EF4-FFF2-40B4-BE49-F238E27FC236}">
                  <a16:creationId xmlns:a16="http://schemas.microsoft.com/office/drawing/2014/main" id="{00006FF5-B5D2-192A-A753-F48DC149F161}"/>
                </a:ext>
              </a:extLst>
            </p:cNvPr>
            <p:cNvSpPr txBox="1">
              <a:spLocks noChangeArrowheads="1"/>
            </p:cNvSpPr>
            <p:nvPr/>
          </p:nvSpPr>
          <p:spPr bwMode="auto">
            <a:xfrm>
              <a:off x="845683" y="2316163"/>
              <a:ext cx="3344184"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dirty="0">
                  <a:latin typeface="+mn-lt"/>
                </a:rPr>
                <a:t>-- Cognitive Push Production Process --</a:t>
              </a:r>
            </a:p>
          </p:txBody>
        </p:sp>
        <p:sp>
          <p:nvSpPr>
            <p:cNvPr id="67" name="Text Box 35">
              <a:extLst>
                <a:ext uri="{FF2B5EF4-FFF2-40B4-BE49-F238E27FC236}">
                  <a16:creationId xmlns:a16="http://schemas.microsoft.com/office/drawing/2014/main" id="{F6B03A09-3CDD-9FFB-2E04-BE9AE94EBFEE}"/>
                </a:ext>
              </a:extLst>
            </p:cNvPr>
            <p:cNvSpPr txBox="1">
              <a:spLocks noChangeArrowheads="1"/>
            </p:cNvSpPr>
            <p:nvPr/>
          </p:nvSpPr>
          <p:spPr bwMode="auto">
            <a:xfrm>
              <a:off x="5085652" y="2311400"/>
              <a:ext cx="323037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b="1" i="1">
                  <a:latin typeface="+mn-lt"/>
                </a:rPr>
                <a:t>-- Reflexive Pull Production Process --</a:t>
              </a:r>
            </a:p>
          </p:txBody>
        </p:sp>
        <p:sp>
          <p:nvSpPr>
            <p:cNvPr id="68" name="Rectangle 36">
              <a:extLst>
                <a:ext uri="{FF2B5EF4-FFF2-40B4-BE49-F238E27FC236}">
                  <a16:creationId xmlns:a16="http://schemas.microsoft.com/office/drawing/2014/main" id="{100630E5-214B-4014-5A5F-E0C06F38807E}"/>
                </a:ext>
              </a:extLst>
            </p:cNvPr>
            <p:cNvSpPr>
              <a:spLocks noChangeArrowheads="1"/>
            </p:cNvSpPr>
            <p:nvPr/>
          </p:nvSpPr>
          <p:spPr bwMode="auto">
            <a:xfrm>
              <a:off x="630238" y="3757613"/>
              <a:ext cx="3852862"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100" dirty="0">
                  <a:latin typeface="+mn-lt"/>
                </a:rPr>
                <a:t>Production control (e.g. MRP) centralizes decision-making power and </a:t>
              </a:r>
              <a:r>
                <a:rPr lang="ja-JP" altLang="en-US" sz="1100" dirty="0">
                  <a:latin typeface="+mn-lt"/>
                </a:rPr>
                <a:t>“</a:t>
              </a:r>
              <a:r>
                <a:rPr lang="en-US" altLang="ja-JP" sz="1100" dirty="0">
                  <a:latin typeface="+mn-lt"/>
                </a:rPr>
                <a:t>pushes</a:t>
              </a:r>
              <a:r>
                <a:rPr lang="ja-JP" altLang="en-US" sz="1100" dirty="0">
                  <a:latin typeface="+mn-lt"/>
                </a:rPr>
                <a:t>”</a:t>
              </a:r>
              <a:r>
                <a:rPr lang="en-US" altLang="ja-JP" sz="1100" dirty="0">
                  <a:latin typeface="+mn-lt"/>
                </a:rPr>
                <a:t> raw materials through the floor</a:t>
              </a:r>
            </a:p>
            <a:p>
              <a:pPr eaLnBrk="1" hangingPunct="1">
                <a:spcBef>
                  <a:spcPct val="60000"/>
                </a:spcBef>
                <a:buClrTx/>
                <a:buSzPct val="90000"/>
                <a:buFont typeface="Arial" panose="020B0604020202020204" pitchFamily="34" charset="0"/>
                <a:buChar char="•"/>
              </a:pPr>
              <a:r>
                <a:rPr lang="en-US" altLang="en-US" sz="1100" dirty="0">
                  <a:latin typeface="+mn-lt"/>
                </a:rPr>
                <a:t>Demand variation typically creates intra-process variation amplifying problems</a:t>
              </a:r>
            </a:p>
            <a:p>
              <a:pPr eaLnBrk="1" hangingPunct="1">
                <a:spcBef>
                  <a:spcPct val="60000"/>
                </a:spcBef>
                <a:buClrTx/>
                <a:buSzPct val="90000"/>
                <a:buFont typeface="Arial" panose="020B0604020202020204" pitchFamily="34" charset="0"/>
                <a:buChar char="•"/>
              </a:pPr>
              <a:r>
                <a:rPr lang="en-US" altLang="en-US" sz="1100" dirty="0">
                  <a:latin typeface="+mn-lt"/>
                </a:rPr>
                <a:t>Inventories generally grow at each production point as a buffer to inherent instability and variation</a:t>
              </a:r>
            </a:p>
            <a:p>
              <a:pPr eaLnBrk="1" hangingPunct="1">
                <a:spcBef>
                  <a:spcPct val="60000"/>
                </a:spcBef>
                <a:buClrTx/>
                <a:buSzPct val="90000"/>
                <a:buFont typeface="Arial" panose="020B0604020202020204" pitchFamily="34" charset="0"/>
                <a:buChar char="•"/>
              </a:pPr>
              <a:r>
                <a:rPr lang="en-US" altLang="en-US" sz="1100" dirty="0">
                  <a:latin typeface="+mn-lt"/>
                </a:rPr>
                <a:t>Cumulative process variations results in highly unpredictable customer service levels</a:t>
              </a:r>
            </a:p>
            <a:p>
              <a:pPr eaLnBrk="1" hangingPunct="1">
                <a:spcBef>
                  <a:spcPct val="60000"/>
                </a:spcBef>
                <a:buClrTx/>
                <a:buSzPct val="90000"/>
                <a:buFont typeface="Arial" panose="020B0604020202020204" pitchFamily="34" charset="0"/>
                <a:buChar char="•"/>
              </a:pPr>
              <a:endParaRPr lang="en-US" altLang="en-US" sz="1100" dirty="0">
                <a:latin typeface="+mn-lt"/>
              </a:endParaRPr>
            </a:p>
          </p:txBody>
        </p:sp>
        <p:sp>
          <p:nvSpPr>
            <p:cNvPr id="69" name="Rectangle 37">
              <a:extLst>
                <a:ext uri="{FF2B5EF4-FFF2-40B4-BE49-F238E27FC236}">
                  <a16:creationId xmlns:a16="http://schemas.microsoft.com/office/drawing/2014/main" id="{B5766428-EF32-D244-5BCF-92344A0CA8F5}"/>
                </a:ext>
              </a:extLst>
            </p:cNvPr>
            <p:cNvSpPr>
              <a:spLocks noChangeArrowheads="1"/>
            </p:cNvSpPr>
            <p:nvPr/>
          </p:nvSpPr>
          <p:spPr bwMode="auto">
            <a:xfrm>
              <a:off x="4811713" y="3756025"/>
              <a:ext cx="384175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100">
                  <a:latin typeface="+mn-lt"/>
                </a:rPr>
                <a:t>Production only advanced to next stage of production when next stage requires it</a:t>
              </a:r>
            </a:p>
            <a:p>
              <a:pPr eaLnBrk="1" hangingPunct="1">
                <a:spcBef>
                  <a:spcPct val="60000"/>
                </a:spcBef>
                <a:buClrTx/>
                <a:buSzPct val="90000"/>
                <a:buFont typeface="Arial" panose="020B0604020202020204" pitchFamily="34" charset="0"/>
                <a:buChar char="•"/>
              </a:pPr>
              <a:r>
                <a:rPr lang="en-US" altLang="en-US" sz="1100">
                  <a:latin typeface="+mn-lt"/>
                </a:rPr>
                <a:t>Orders are leveled and smoothed to protect shop floor production stages from high variability and chaos</a:t>
              </a:r>
            </a:p>
            <a:p>
              <a:pPr eaLnBrk="1" hangingPunct="1">
                <a:spcBef>
                  <a:spcPct val="60000"/>
                </a:spcBef>
                <a:buClrTx/>
                <a:buSzPct val="90000"/>
                <a:buFont typeface="Arial" panose="020B0604020202020204" pitchFamily="34" charset="0"/>
                <a:buChar char="•"/>
              </a:pPr>
              <a:r>
                <a:rPr lang="en-US" altLang="en-US" sz="1100">
                  <a:latin typeface="+mn-lt"/>
                </a:rPr>
                <a:t>Inventory buffers as a defense to demand variability mathematically calculated and located at their most beneficial location</a:t>
              </a:r>
            </a:p>
            <a:p>
              <a:pPr eaLnBrk="1" hangingPunct="1">
                <a:spcBef>
                  <a:spcPct val="60000"/>
                </a:spcBef>
                <a:buClrTx/>
                <a:buSzPct val="90000"/>
                <a:buFont typeface="Arial" panose="020B0604020202020204" pitchFamily="34" charset="0"/>
                <a:buChar char="•"/>
              </a:pPr>
              <a:r>
                <a:rPr lang="en-US" altLang="en-US" sz="1100">
                  <a:latin typeface="+mn-lt"/>
                </a:rPr>
                <a:t>Variation is therefore </a:t>
              </a:r>
              <a:r>
                <a:rPr lang="ja-JP" altLang="en-US" sz="1100">
                  <a:latin typeface="+mn-lt"/>
                </a:rPr>
                <a:t>“</a:t>
              </a:r>
              <a:r>
                <a:rPr lang="en-US" altLang="ja-JP" sz="1100">
                  <a:latin typeface="+mn-lt"/>
                </a:rPr>
                <a:t>absorbed</a:t>
              </a:r>
              <a:r>
                <a:rPr lang="ja-JP" altLang="en-US" sz="1100">
                  <a:latin typeface="+mn-lt"/>
                </a:rPr>
                <a:t>”</a:t>
              </a:r>
              <a:r>
                <a:rPr lang="en-US" altLang="ja-JP" sz="1100">
                  <a:latin typeface="+mn-lt"/>
                </a:rPr>
                <a:t> within the process to guarantee reliable customer service</a:t>
              </a:r>
              <a:endParaRPr lang="en-US" altLang="en-US" sz="1100">
                <a:latin typeface="+mn-lt"/>
              </a:endParaRPr>
            </a:p>
          </p:txBody>
        </p:sp>
        <p:sp>
          <p:nvSpPr>
            <p:cNvPr id="70" name="Line 38">
              <a:extLst>
                <a:ext uri="{FF2B5EF4-FFF2-40B4-BE49-F238E27FC236}">
                  <a16:creationId xmlns:a16="http://schemas.microsoft.com/office/drawing/2014/main" id="{FB6071CB-A54A-AD5D-321C-B798DA697136}"/>
                </a:ext>
              </a:extLst>
            </p:cNvPr>
            <p:cNvSpPr>
              <a:spLocks noChangeShapeType="1"/>
            </p:cNvSpPr>
            <p:nvPr/>
          </p:nvSpPr>
          <p:spPr bwMode="auto">
            <a:xfrm>
              <a:off x="1074738" y="5840413"/>
              <a:ext cx="3251200" cy="1587"/>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Rectangle 39">
              <a:extLst>
                <a:ext uri="{FF2B5EF4-FFF2-40B4-BE49-F238E27FC236}">
                  <a16:creationId xmlns:a16="http://schemas.microsoft.com/office/drawing/2014/main" id="{775F1E64-FE57-AE51-B3EF-48B370212C6E}"/>
                </a:ext>
              </a:extLst>
            </p:cNvPr>
            <p:cNvSpPr>
              <a:spLocks noChangeArrowheads="1"/>
            </p:cNvSpPr>
            <p:nvPr/>
          </p:nvSpPr>
          <p:spPr bwMode="auto">
            <a:xfrm>
              <a:off x="1063625" y="5907088"/>
              <a:ext cx="3289300" cy="3079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300">
                  <a:solidFill>
                    <a:schemeClr val="bg1"/>
                  </a:solidFill>
                  <a:latin typeface="+mn-lt"/>
                </a:rPr>
                <a:t>Push To Mismanage Finite Resources</a:t>
              </a:r>
            </a:p>
          </p:txBody>
        </p:sp>
        <p:sp>
          <p:nvSpPr>
            <p:cNvPr id="72" name="Line 40">
              <a:extLst>
                <a:ext uri="{FF2B5EF4-FFF2-40B4-BE49-F238E27FC236}">
                  <a16:creationId xmlns:a16="http://schemas.microsoft.com/office/drawing/2014/main" id="{DD18407E-1352-1843-ADFD-5DA0A04DFBC7}"/>
                </a:ext>
              </a:extLst>
            </p:cNvPr>
            <p:cNvSpPr>
              <a:spLocks noChangeShapeType="1"/>
            </p:cNvSpPr>
            <p:nvPr/>
          </p:nvSpPr>
          <p:spPr bwMode="auto">
            <a:xfrm>
              <a:off x="5256213" y="5840413"/>
              <a:ext cx="3255962" cy="0"/>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 name="Rectangle 41">
              <a:extLst>
                <a:ext uri="{FF2B5EF4-FFF2-40B4-BE49-F238E27FC236}">
                  <a16:creationId xmlns:a16="http://schemas.microsoft.com/office/drawing/2014/main" id="{7C0FB43B-F007-60A8-4638-3EA32CDC67E1}"/>
                </a:ext>
              </a:extLst>
            </p:cNvPr>
            <p:cNvSpPr>
              <a:spLocks noChangeArrowheads="1"/>
            </p:cNvSpPr>
            <p:nvPr/>
          </p:nvSpPr>
          <p:spPr bwMode="auto">
            <a:xfrm>
              <a:off x="5241925" y="5907088"/>
              <a:ext cx="3289300" cy="3079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300" dirty="0">
                  <a:solidFill>
                    <a:schemeClr val="bg1"/>
                  </a:solidFill>
                  <a:latin typeface="+mn-lt"/>
                </a:rPr>
                <a:t>Pull To Improve Customer Service </a:t>
              </a:r>
            </a:p>
          </p:txBody>
        </p:sp>
      </p:grpSp>
    </p:spTree>
    <p:extLst>
      <p:ext uri="{BB962C8B-B14F-4D97-AF65-F5344CB8AC3E}">
        <p14:creationId xmlns:p14="http://schemas.microsoft.com/office/powerpoint/2010/main" val="17837168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Beginning The DDLP Journey Through </a:t>
            </a:r>
            <a:br>
              <a:rPr lang="en-US" dirty="0"/>
            </a:br>
            <a:r>
              <a:rPr lang="en-US" dirty="0"/>
              <a:t>Single Product Family Focus</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723583" y="2785177"/>
            <a:ext cx="2313130" cy="224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During the pre-planning for a basic DDLP process, team members should begin their improvements as close to the end customer as possible while working with a single product family – “Start small and make a big impact.”</a:t>
            </a:r>
          </a:p>
        </p:txBody>
      </p:sp>
      <p:grpSp>
        <p:nvGrpSpPr>
          <p:cNvPr id="43" name="Group 42">
            <a:extLst>
              <a:ext uri="{FF2B5EF4-FFF2-40B4-BE49-F238E27FC236}">
                <a16:creationId xmlns:a16="http://schemas.microsoft.com/office/drawing/2014/main" id="{DA7AB0DB-0B7F-3AD0-A43B-CECB72E59AC8}"/>
              </a:ext>
            </a:extLst>
          </p:cNvPr>
          <p:cNvGrpSpPr/>
          <p:nvPr/>
        </p:nvGrpSpPr>
        <p:grpSpPr>
          <a:xfrm>
            <a:off x="1100138" y="1892300"/>
            <a:ext cx="8272462" cy="4336833"/>
            <a:chOff x="1100138" y="2487613"/>
            <a:chExt cx="7164387" cy="3741520"/>
          </a:xfrm>
        </p:grpSpPr>
        <p:sp>
          <p:nvSpPr>
            <p:cNvPr id="6" name="Rectangle 2">
              <a:extLst>
                <a:ext uri="{FF2B5EF4-FFF2-40B4-BE49-F238E27FC236}">
                  <a16:creationId xmlns:a16="http://schemas.microsoft.com/office/drawing/2014/main" id="{72C1CD39-7B88-F757-0147-F9CF8B59BEA0}"/>
                </a:ext>
              </a:extLst>
            </p:cNvPr>
            <p:cNvSpPr>
              <a:spLocks noChangeArrowheads="1"/>
            </p:cNvSpPr>
            <p:nvPr/>
          </p:nvSpPr>
          <p:spPr bwMode="auto">
            <a:xfrm>
              <a:off x="6178550" y="2797175"/>
              <a:ext cx="1884363" cy="1395413"/>
            </a:xfrm>
            <a:prstGeom prst="rect">
              <a:avLst/>
            </a:prstGeom>
            <a:solidFill>
              <a:schemeClr val="bg2"/>
            </a:solidFill>
            <a:ln w="19050">
              <a:solidFill>
                <a:schemeClr val="tx1"/>
              </a:solidFill>
              <a:prstDash val="sysDot"/>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7" name="Line 3">
              <a:extLst>
                <a:ext uri="{FF2B5EF4-FFF2-40B4-BE49-F238E27FC236}">
                  <a16:creationId xmlns:a16="http://schemas.microsoft.com/office/drawing/2014/main" id="{CFAAFCDC-F983-5CE6-9562-F44B6731BA21}"/>
                </a:ext>
              </a:extLst>
            </p:cNvPr>
            <p:cNvSpPr>
              <a:spLocks noChangeShapeType="1"/>
            </p:cNvSpPr>
            <p:nvPr/>
          </p:nvSpPr>
          <p:spPr bwMode="auto">
            <a:xfrm>
              <a:off x="6080125" y="2487613"/>
              <a:ext cx="11113" cy="1951037"/>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 name="Group 4">
              <a:extLst>
                <a:ext uri="{FF2B5EF4-FFF2-40B4-BE49-F238E27FC236}">
                  <a16:creationId xmlns:a16="http://schemas.microsoft.com/office/drawing/2014/main" id="{77FC7709-AB45-8946-D548-2952B16C11CB}"/>
                </a:ext>
              </a:extLst>
            </p:cNvPr>
            <p:cNvGrpSpPr>
              <a:grpSpLocks/>
            </p:cNvGrpSpPr>
            <p:nvPr/>
          </p:nvGrpSpPr>
          <p:grpSpPr bwMode="auto">
            <a:xfrm>
              <a:off x="1144588" y="2895600"/>
              <a:ext cx="6735762" cy="1195388"/>
              <a:chOff x="1086" y="1670"/>
              <a:chExt cx="4243" cy="753"/>
            </a:xfrm>
          </p:grpSpPr>
          <p:sp>
            <p:nvSpPr>
              <p:cNvPr id="9" name="Rectangle 5">
                <a:extLst>
                  <a:ext uri="{FF2B5EF4-FFF2-40B4-BE49-F238E27FC236}">
                    <a16:creationId xmlns:a16="http://schemas.microsoft.com/office/drawing/2014/main" id="{87595316-BC2E-EA15-6B74-03DD90BAEEAF}"/>
                  </a:ext>
                </a:extLst>
              </p:cNvPr>
              <p:cNvSpPr>
                <a:spLocks noChangeArrowheads="1"/>
              </p:cNvSpPr>
              <p:nvPr/>
            </p:nvSpPr>
            <p:spPr bwMode="auto">
              <a:xfrm>
                <a:off x="1086" y="1909"/>
                <a:ext cx="815" cy="30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Supplier</a:t>
                </a:r>
              </a:p>
            </p:txBody>
          </p:sp>
          <p:sp>
            <p:nvSpPr>
              <p:cNvPr id="10" name="Rectangle 6">
                <a:extLst>
                  <a:ext uri="{FF2B5EF4-FFF2-40B4-BE49-F238E27FC236}">
                    <a16:creationId xmlns:a16="http://schemas.microsoft.com/office/drawing/2014/main" id="{F3566BB9-024D-16FB-5799-0A38C8F6D2A8}"/>
                  </a:ext>
                </a:extLst>
              </p:cNvPr>
              <p:cNvSpPr>
                <a:spLocks noChangeArrowheads="1"/>
              </p:cNvSpPr>
              <p:nvPr/>
            </p:nvSpPr>
            <p:spPr bwMode="auto">
              <a:xfrm>
                <a:off x="2312" y="1909"/>
                <a:ext cx="815" cy="30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Build Step One</a:t>
                </a:r>
              </a:p>
            </p:txBody>
          </p:sp>
          <p:sp>
            <p:nvSpPr>
              <p:cNvPr id="11" name="Rectangle 7">
                <a:extLst>
                  <a:ext uri="{FF2B5EF4-FFF2-40B4-BE49-F238E27FC236}">
                    <a16:creationId xmlns:a16="http://schemas.microsoft.com/office/drawing/2014/main" id="{41820F2D-FCAF-0449-98DD-37F786232C19}"/>
                  </a:ext>
                </a:extLst>
              </p:cNvPr>
              <p:cNvSpPr>
                <a:spLocks noChangeArrowheads="1"/>
              </p:cNvSpPr>
              <p:nvPr/>
            </p:nvSpPr>
            <p:spPr bwMode="auto">
              <a:xfrm>
                <a:off x="3557" y="1909"/>
                <a:ext cx="815" cy="302"/>
              </a:xfrm>
              <a:prstGeom prst="rect">
                <a:avLst/>
              </a:prstGeom>
              <a:solidFill>
                <a:schemeClr val="accent3"/>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Build Step Two</a:t>
                </a:r>
              </a:p>
            </p:txBody>
          </p:sp>
          <p:sp>
            <p:nvSpPr>
              <p:cNvPr id="12" name="Rectangle 8">
                <a:extLst>
                  <a:ext uri="{FF2B5EF4-FFF2-40B4-BE49-F238E27FC236}">
                    <a16:creationId xmlns:a16="http://schemas.microsoft.com/office/drawing/2014/main" id="{C859C2F8-A8F2-BB7E-AE1C-2D9EDEBDEF01}"/>
                  </a:ext>
                </a:extLst>
              </p:cNvPr>
              <p:cNvSpPr>
                <a:spLocks noChangeArrowheads="1"/>
              </p:cNvSpPr>
              <p:nvPr/>
            </p:nvSpPr>
            <p:spPr bwMode="auto">
              <a:xfrm>
                <a:off x="4795" y="1906"/>
                <a:ext cx="534" cy="302"/>
              </a:xfrm>
              <a:prstGeom prst="rect">
                <a:avLst/>
              </a:prstGeom>
              <a:solidFill>
                <a:schemeClr val="accent5"/>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solidFill>
                      <a:schemeClr val="bg1"/>
                    </a:solidFill>
                    <a:latin typeface="+mn-lt"/>
                  </a:rPr>
                  <a:t>Customer</a:t>
                </a:r>
              </a:p>
            </p:txBody>
          </p:sp>
          <p:sp>
            <p:nvSpPr>
              <p:cNvPr id="13" name="Freeform 9">
                <a:extLst>
                  <a:ext uri="{FF2B5EF4-FFF2-40B4-BE49-F238E27FC236}">
                    <a16:creationId xmlns:a16="http://schemas.microsoft.com/office/drawing/2014/main" id="{A6A01C84-CDFA-9166-1B0D-7D041EA303DB}"/>
                  </a:ext>
                </a:extLst>
              </p:cNvPr>
              <p:cNvSpPr>
                <a:spLocks/>
              </p:cNvSpPr>
              <p:nvPr/>
            </p:nvSpPr>
            <p:spPr bwMode="auto">
              <a:xfrm>
                <a:off x="1907" y="1673"/>
                <a:ext cx="402" cy="750"/>
              </a:xfrm>
              <a:custGeom>
                <a:avLst/>
                <a:gdLst>
                  <a:gd name="T0" fmla="*/ 0 w 402"/>
                  <a:gd name="T1" fmla="*/ 387 h 750"/>
                  <a:gd name="T2" fmla="*/ 72 w 402"/>
                  <a:gd name="T3" fmla="*/ 387 h 750"/>
                  <a:gd name="T4" fmla="*/ 117 w 402"/>
                  <a:gd name="T5" fmla="*/ 0 h 750"/>
                  <a:gd name="T6" fmla="*/ 183 w 402"/>
                  <a:gd name="T7" fmla="*/ 750 h 750"/>
                  <a:gd name="T8" fmla="*/ 267 w 402"/>
                  <a:gd name="T9" fmla="*/ 384 h 750"/>
                  <a:gd name="T10" fmla="*/ 402 w 402"/>
                  <a:gd name="T11" fmla="*/ 384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Freeform 10">
                <a:extLst>
                  <a:ext uri="{FF2B5EF4-FFF2-40B4-BE49-F238E27FC236}">
                    <a16:creationId xmlns:a16="http://schemas.microsoft.com/office/drawing/2014/main" id="{2AEE78C1-5CFC-610A-AD61-D714793DE707}"/>
                  </a:ext>
                </a:extLst>
              </p:cNvPr>
              <p:cNvSpPr>
                <a:spLocks/>
              </p:cNvSpPr>
              <p:nvPr/>
            </p:nvSpPr>
            <p:spPr bwMode="auto">
              <a:xfrm>
                <a:off x="3134" y="1673"/>
                <a:ext cx="402" cy="750"/>
              </a:xfrm>
              <a:custGeom>
                <a:avLst/>
                <a:gdLst>
                  <a:gd name="T0" fmla="*/ 0 w 402"/>
                  <a:gd name="T1" fmla="*/ 387 h 750"/>
                  <a:gd name="T2" fmla="*/ 72 w 402"/>
                  <a:gd name="T3" fmla="*/ 387 h 750"/>
                  <a:gd name="T4" fmla="*/ 117 w 402"/>
                  <a:gd name="T5" fmla="*/ 0 h 750"/>
                  <a:gd name="T6" fmla="*/ 183 w 402"/>
                  <a:gd name="T7" fmla="*/ 750 h 750"/>
                  <a:gd name="T8" fmla="*/ 267 w 402"/>
                  <a:gd name="T9" fmla="*/ 384 h 750"/>
                  <a:gd name="T10" fmla="*/ 402 w 402"/>
                  <a:gd name="T11" fmla="*/ 384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Freeform 11">
                <a:extLst>
                  <a:ext uri="{FF2B5EF4-FFF2-40B4-BE49-F238E27FC236}">
                    <a16:creationId xmlns:a16="http://schemas.microsoft.com/office/drawing/2014/main" id="{B2CB7D40-9284-5939-9007-A831AE26B353}"/>
                  </a:ext>
                </a:extLst>
              </p:cNvPr>
              <p:cNvSpPr>
                <a:spLocks/>
              </p:cNvSpPr>
              <p:nvPr/>
            </p:nvSpPr>
            <p:spPr bwMode="auto">
              <a:xfrm>
                <a:off x="4379" y="1670"/>
                <a:ext cx="402" cy="750"/>
              </a:xfrm>
              <a:custGeom>
                <a:avLst/>
                <a:gdLst>
                  <a:gd name="T0" fmla="*/ 0 w 402"/>
                  <a:gd name="T1" fmla="*/ 387 h 750"/>
                  <a:gd name="T2" fmla="*/ 72 w 402"/>
                  <a:gd name="T3" fmla="*/ 387 h 750"/>
                  <a:gd name="T4" fmla="*/ 117 w 402"/>
                  <a:gd name="T5" fmla="*/ 0 h 750"/>
                  <a:gd name="T6" fmla="*/ 183 w 402"/>
                  <a:gd name="T7" fmla="*/ 750 h 750"/>
                  <a:gd name="T8" fmla="*/ 267 w 402"/>
                  <a:gd name="T9" fmla="*/ 384 h 750"/>
                  <a:gd name="T10" fmla="*/ 402 w 402"/>
                  <a:gd name="T11" fmla="*/ 384 h 7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2" h="750">
                    <a:moveTo>
                      <a:pt x="0" y="387"/>
                    </a:moveTo>
                    <a:lnTo>
                      <a:pt x="72" y="387"/>
                    </a:lnTo>
                    <a:lnTo>
                      <a:pt x="117" y="0"/>
                    </a:lnTo>
                    <a:lnTo>
                      <a:pt x="183" y="750"/>
                    </a:lnTo>
                    <a:lnTo>
                      <a:pt x="267" y="384"/>
                    </a:lnTo>
                    <a:lnTo>
                      <a:pt x="402" y="384"/>
                    </a:lnTo>
                  </a:path>
                </a:pathLst>
              </a:custGeom>
              <a:noFill/>
              <a:ln w="12700" cap="sq"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9" name="Line 14">
              <a:extLst>
                <a:ext uri="{FF2B5EF4-FFF2-40B4-BE49-F238E27FC236}">
                  <a16:creationId xmlns:a16="http://schemas.microsoft.com/office/drawing/2014/main" id="{DF214E13-DE22-3EEF-98F2-2ADBDCFB5F53}"/>
                </a:ext>
              </a:extLst>
            </p:cNvPr>
            <p:cNvSpPr>
              <a:spLocks noChangeShapeType="1"/>
            </p:cNvSpPr>
            <p:nvPr/>
          </p:nvSpPr>
          <p:spPr bwMode="auto">
            <a:xfrm>
              <a:off x="1171575" y="2630488"/>
              <a:ext cx="4719638"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Text Box 15">
              <a:extLst>
                <a:ext uri="{FF2B5EF4-FFF2-40B4-BE49-F238E27FC236}">
                  <a16:creationId xmlns:a16="http://schemas.microsoft.com/office/drawing/2014/main" id="{B487642D-990E-909A-9D2C-9DCE0D3031FA}"/>
                </a:ext>
              </a:extLst>
            </p:cNvPr>
            <p:cNvSpPr txBox="1">
              <a:spLocks noChangeArrowheads="1"/>
            </p:cNvSpPr>
            <p:nvPr/>
          </p:nvSpPr>
          <p:spPr bwMode="auto">
            <a:xfrm>
              <a:off x="2531355" y="2514600"/>
              <a:ext cx="1919115"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Stage Two:  Future Focus</a:t>
              </a:r>
            </a:p>
          </p:txBody>
        </p:sp>
        <p:sp>
          <p:nvSpPr>
            <p:cNvPr id="21" name="Line 16">
              <a:extLst>
                <a:ext uri="{FF2B5EF4-FFF2-40B4-BE49-F238E27FC236}">
                  <a16:creationId xmlns:a16="http://schemas.microsoft.com/office/drawing/2014/main" id="{FAF58BB3-937B-4084-F680-436733DF4CF7}"/>
                </a:ext>
              </a:extLst>
            </p:cNvPr>
            <p:cNvSpPr>
              <a:spLocks noChangeShapeType="1"/>
            </p:cNvSpPr>
            <p:nvPr/>
          </p:nvSpPr>
          <p:spPr bwMode="auto">
            <a:xfrm>
              <a:off x="6275388" y="2630488"/>
              <a:ext cx="1627187" cy="0"/>
            </a:xfrm>
            <a:prstGeom prst="line">
              <a:avLst/>
            </a:prstGeom>
            <a:noFill/>
            <a:ln w="38100" cap="sq">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Text Box 17">
              <a:extLst>
                <a:ext uri="{FF2B5EF4-FFF2-40B4-BE49-F238E27FC236}">
                  <a16:creationId xmlns:a16="http://schemas.microsoft.com/office/drawing/2014/main" id="{B688ACC5-7E68-10CB-7FF2-C04DE684E2E6}"/>
                </a:ext>
              </a:extLst>
            </p:cNvPr>
            <p:cNvSpPr txBox="1">
              <a:spLocks noChangeArrowheads="1"/>
            </p:cNvSpPr>
            <p:nvPr/>
          </p:nvSpPr>
          <p:spPr bwMode="auto">
            <a:xfrm>
              <a:off x="6651139" y="2511425"/>
              <a:ext cx="888385" cy="2416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200">
                  <a:latin typeface="+mn-lt"/>
                </a:rPr>
                <a:t>Stage One</a:t>
              </a:r>
            </a:p>
          </p:txBody>
        </p:sp>
        <p:sp>
          <p:nvSpPr>
            <p:cNvPr id="27" name="Rectangle 18">
              <a:extLst>
                <a:ext uri="{FF2B5EF4-FFF2-40B4-BE49-F238E27FC236}">
                  <a16:creationId xmlns:a16="http://schemas.microsoft.com/office/drawing/2014/main" id="{DD1D92D6-AFBA-F5E0-EC30-8F5FB100C3C6}"/>
                </a:ext>
              </a:extLst>
            </p:cNvPr>
            <p:cNvSpPr>
              <a:spLocks noChangeArrowheads="1"/>
            </p:cNvSpPr>
            <p:nvPr/>
          </p:nvSpPr>
          <p:spPr bwMode="auto">
            <a:xfrm>
              <a:off x="1293813" y="5287963"/>
              <a:ext cx="2095500" cy="56832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latin typeface="+mn-lt"/>
                </a:rPr>
                <a:t>Build-Inventory Split:</a:t>
              </a:r>
            </a:p>
            <a:p>
              <a:pPr algn="ctr">
                <a:lnSpc>
                  <a:spcPct val="80000"/>
                </a:lnSpc>
                <a:buClrTx/>
                <a:buSzTx/>
                <a:buFontTx/>
                <a:buNone/>
              </a:pPr>
              <a:r>
                <a:rPr lang="en-US" altLang="en-US" sz="1000" dirty="0">
                  <a:latin typeface="+mn-lt"/>
                </a:rPr>
                <a:t>What To Hold In Inventory, And</a:t>
              </a:r>
            </a:p>
            <a:p>
              <a:pPr algn="ctr">
                <a:lnSpc>
                  <a:spcPct val="80000"/>
                </a:lnSpc>
                <a:buClrTx/>
                <a:buSzTx/>
                <a:buFontTx/>
                <a:buNone/>
              </a:pPr>
              <a:r>
                <a:rPr lang="en-US" altLang="en-US" sz="1000" dirty="0">
                  <a:latin typeface="+mn-lt"/>
                </a:rPr>
                <a:t>What To Make From Orders</a:t>
              </a:r>
            </a:p>
          </p:txBody>
        </p:sp>
        <p:sp>
          <p:nvSpPr>
            <p:cNvPr id="28" name="Rectangle 19">
              <a:extLst>
                <a:ext uri="{FF2B5EF4-FFF2-40B4-BE49-F238E27FC236}">
                  <a16:creationId xmlns:a16="http://schemas.microsoft.com/office/drawing/2014/main" id="{AA9F0630-99C0-6E44-0E34-BB8C17529D8C}"/>
                </a:ext>
              </a:extLst>
            </p:cNvPr>
            <p:cNvSpPr>
              <a:spLocks noChangeArrowheads="1"/>
            </p:cNvSpPr>
            <p:nvPr/>
          </p:nvSpPr>
          <p:spPr bwMode="auto">
            <a:xfrm>
              <a:off x="3732213" y="5287963"/>
              <a:ext cx="2095500" cy="56832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dirty="0">
                  <a:latin typeface="+mn-lt"/>
                </a:rPr>
                <a:t>Buffer Stock Confirmation:</a:t>
              </a:r>
            </a:p>
            <a:p>
              <a:pPr algn="ctr">
                <a:lnSpc>
                  <a:spcPct val="80000"/>
                </a:lnSpc>
                <a:buClrTx/>
                <a:buSzTx/>
                <a:buFontTx/>
                <a:buNone/>
              </a:pPr>
              <a:r>
                <a:rPr lang="en-US" altLang="en-US" sz="1000" dirty="0">
                  <a:latin typeface="+mn-lt"/>
                </a:rPr>
                <a:t>What To Hold In Inventory As</a:t>
              </a:r>
            </a:p>
            <a:p>
              <a:pPr algn="ctr">
                <a:lnSpc>
                  <a:spcPct val="80000"/>
                </a:lnSpc>
                <a:buClrTx/>
                <a:buSzTx/>
                <a:buFontTx/>
                <a:buNone/>
              </a:pPr>
              <a:r>
                <a:rPr lang="en-US" altLang="en-US" sz="1000" dirty="0">
                  <a:latin typeface="+mn-lt"/>
                </a:rPr>
                <a:t>A Buffer To Known Variation</a:t>
              </a:r>
            </a:p>
          </p:txBody>
        </p:sp>
        <p:sp>
          <p:nvSpPr>
            <p:cNvPr id="29" name="Rectangle 20">
              <a:extLst>
                <a:ext uri="{FF2B5EF4-FFF2-40B4-BE49-F238E27FC236}">
                  <a16:creationId xmlns:a16="http://schemas.microsoft.com/office/drawing/2014/main" id="{DD6381B1-8C33-E65B-7FFE-71AEB98096BF}"/>
                </a:ext>
              </a:extLst>
            </p:cNvPr>
            <p:cNvSpPr>
              <a:spLocks noChangeArrowheads="1"/>
            </p:cNvSpPr>
            <p:nvPr/>
          </p:nvSpPr>
          <p:spPr bwMode="auto">
            <a:xfrm>
              <a:off x="6169025" y="5287963"/>
              <a:ext cx="2095500" cy="568325"/>
            </a:xfrm>
            <a:prstGeom prst="rect">
              <a:avLst/>
            </a:prstGeom>
            <a:solidFill>
              <a:schemeClr val="bg2"/>
            </a:solidFill>
            <a:ln w="1270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000">
                  <a:latin typeface="+mn-lt"/>
                </a:rPr>
                <a:t>Finished Goods Control</a:t>
              </a:r>
            </a:p>
            <a:p>
              <a:pPr algn="ctr">
                <a:lnSpc>
                  <a:spcPct val="80000"/>
                </a:lnSpc>
                <a:buClrTx/>
                <a:buSzTx/>
                <a:buFontTx/>
                <a:buNone/>
              </a:pPr>
              <a:r>
                <a:rPr lang="en-US" altLang="en-US" sz="1000">
                  <a:latin typeface="+mn-lt"/>
                </a:rPr>
                <a:t>Efficient Inventory Management</a:t>
              </a:r>
            </a:p>
            <a:p>
              <a:pPr algn="ctr">
                <a:lnSpc>
                  <a:spcPct val="80000"/>
                </a:lnSpc>
                <a:buClrTx/>
                <a:buSzTx/>
                <a:buFontTx/>
                <a:buNone/>
              </a:pPr>
              <a:r>
                <a:rPr lang="en-US" altLang="en-US" sz="1000">
                  <a:latin typeface="+mn-lt"/>
                </a:rPr>
                <a:t>To Simplify &amp; Streamline</a:t>
              </a:r>
            </a:p>
          </p:txBody>
        </p:sp>
        <p:sp>
          <p:nvSpPr>
            <p:cNvPr id="30" name="Oval 21">
              <a:extLst>
                <a:ext uri="{FF2B5EF4-FFF2-40B4-BE49-F238E27FC236}">
                  <a16:creationId xmlns:a16="http://schemas.microsoft.com/office/drawing/2014/main" id="{181E9E11-5DE1-B7C3-C080-AC9C8F7C2248}"/>
                </a:ext>
              </a:extLst>
            </p:cNvPr>
            <p:cNvSpPr>
              <a:spLocks noChangeArrowheads="1"/>
            </p:cNvSpPr>
            <p:nvPr/>
          </p:nvSpPr>
          <p:spPr bwMode="auto">
            <a:xfrm>
              <a:off x="6289675" y="4479925"/>
              <a:ext cx="390525" cy="357188"/>
            </a:xfrm>
            <a:prstGeom prst="ellipse">
              <a:avLst/>
            </a:prstGeom>
            <a:solidFill>
              <a:schemeClr val="accent4"/>
            </a:solidFill>
            <a:ln w="12700" cap="sq">
              <a:solidFill>
                <a:schemeClr val="accent4"/>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1</a:t>
              </a:r>
            </a:p>
          </p:txBody>
        </p:sp>
        <p:sp>
          <p:nvSpPr>
            <p:cNvPr id="31" name="Oval 22">
              <a:extLst>
                <a:ext uri="{FF2B5EF4-FFF2-40B4-BE49-F238E27FC236}">
                  <a16:creationId xmlns:a16="http://schemas.microsoft.com/office/drawing/2014/main" id="{8DEFF055-2290-A2F1-04D9-C313591A7AC0}"/>
                </a:ext>
              </a:extLst>
            </p:cNvPr>
            <p:cNvSpPr>
              <a:spLocks noChangeArrowheads="1"/>
            </p:cNvSpPr>
            <p:nvPr/>
          </p:nvSpPr>
          <p:spPr bwMode="auto">
            <a:xfrm>
              <a:off x="6921500" y="4479925"/>
              <a:ext cx="390525" cy="357188"/>
            </a:xfrm>
            <a:prstGeom prst="ellipse">
              <a:avLst/>
            </a:prstGeom>
            <a:solidFill>
              <a:schemeClr val="accent4"/>
            </a:solidFill>
            <a:ln w="12700" cap="sq">
              <a:solidFill>
                <a:schemeClr val="accent4"/>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32" name="Oval 23">
              <a:extLst>
                <a:ext uri="{FF2B5EF4-FFF2-40B4-BE49-F238E27FC236}">
                  <a16:creationId xmlns:a16="http://schemas.microsoft.com/office/drawing/2014/main" id="{033EF351-F17C-56BC-D84F-51353E393D73}"/>
                </a:ext>
              </a:extLst>
            </p:cNvPr>
            <p:cNvSpPr>
              <a:spLocks noChangeArrowheads="1"/>
            </p:cNvSpPr>
            <p:nvPr/>
          </p:nvSpPr>
          <p:spPr bwMode="auto">
            <a:xfrm>
              <a:off x="7623175" y="4479925"/>
              <a:ext cx="390525" cy="357188"/>
            </a:xfrm>
            <a:prstGeom prst="ellipse">
              <a:avLst/>
            </a:prstGeom>
            <a:solidFill>
              <a:schemeClr val="accent4"/>
            </a:solidFill>
            <a:ln w="12700" cap="sq">
              <a:solidFill>
                <a:schemeClr val="accent4"/>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sp>
          <p:nvSpPr>
            <p:cNvPr id="33" name="Oval 24">
              <a:extLst>
                <a:ext uri="{FF2B5EF4-FFF2-40B4-BE49-F238E27FC236}">
                  <a16:creationId xmlns:a16="http://schemas.microsoft.com/office/drawing/2014/main" id="{3B046B78-5272-FEA7-0847-F507AD1E9C68}"/>
                </a:ext>
              </a:extLst>
            </p:cNvPr>
            <p:cNvSpPr>
              <a:spLocks noChangeArrowheads="1"/>
            </p:cNvSpPr>
            <p:nvPr/>
          </p:nvSpPr>
          <p:spPr bwMode="auto">
            <a:xfrm>
              <a:off x="1100138" y="5105400"/>
              <a:ext cx="390525" cy="357188"/>
            </a:xfrm>
            <a:prstGeom prst="ellipse">
              <a:avLst/>
            </a:prstGeom>
            <a:solidFill>
              <a:schemeClr val="accent4"/>
            </a:solidFill>
            <a:ln w="12700" cap="sq">
              <a:solidFill>
                <a:schemeClr val="accent4"/>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1</a:t>
              </a:r>
            </a:p>
          </p:txBody>
        </p:sp>
        <p:sp>
          <p:nvSpPr>
            <p:cNvPr id="34" name="Oval 25">
              <a:extLst>
                <a:ext uri="{FF2B5EF4-FFF2-40B4-BE49-F238E27FC236}">
                  <a16:creationId xmlns:a16="http://schemas.microsoft.com/office/drawing/2014/main" id="{8EEF28BD-0C4A-66EE-FDDA-2C436F963D4E}"/>
                </a:ext>
              </a:extLst>
            </p:cNvPr>
            <p:cNvSpPr>
              <a:spLocks noChangeArrowheads="1"/>
            </p:cNvSpPr>
            <p:nvPr/>
          </p:nvSpPr>
          <p:spPr bwMode="auto">
            <a:xfrm>
              <a:off x="3527425" y="5113338"/>
              <a:ext cx="390525" cy="357187"/>
            </a:xfrm>
            <a:prstGeom prst="ellipse">
              <a:avLst/>
            </a:prstGeom>
            <a:solidFill>
              <a:schemeClr val="accent4"/>
            </a:solidFill>
            <a:ln w="12700" cap="sq">
              <a:solidFill>
                <a:schemeClr val="accent4"/>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2</a:t>
              </a:r>
            </a:p>
          </p:txBody>
        </p:sp>
        <p:sp>
          <p:nvSpPr>
            <p:cNvPr id="35" name="Oval 26">
              <a:extLst>
                <a:ext uri="{FF2B5EF4-FFF2-40B4-BE49-F238E27FC236}">
                  <a16:creationId xmlns:a16="http://schemas.microsoft.com/office/drawing/2014/main" id="{0738A5A5-6630-A94E-15B8-E4B138E49ED8}"/>
                </a:ext>
              </a:extLst>
            </p:cNvPr>
            <p:cNvSpPr>
              <a:spLocks noChangeArrowheads="1"/>
            </p:cNvSpPr>
            <p:nvPr/>
          </p:nvSpPr>
          <p:spPr bwMode="auto">
            <a:xfrm>
              <a:off x="5970588" y="5111750"/>
              <a:ext cx="390525" cy="357188"/>
            </a:xfrm>
            <a:prstGeom prst="ellipse">
              <a:avLst/>
            </a:prstGeom>
            <a:solidFill>
              <a:schemeClr val="accent4"/>
            </a:solidFill>
            <a:ln w="12700" cap="sq">
              <a:solidFill>
                <a:schemeClr val="accent4"/>
              </a:solidFill>
              <a:round/>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a:solidFill>
                    <a:schemeClr val="bg1"/>
                  </a:solidFill>
                  <a:latin typeface="+mn-lt"/>
                </a:rPr>
                <a:t>3</a:t>
              </a:r>
            </a:p>
          </p:txBody>
        </p:sp>
        <p:cxnSp>
          <p:nvCxnSpPr>
            <p:cNvPr id="36" name="AutoShape 27">
              <a:extLst>
                <a:ext uri="{FF2B5EF4-FFF2-40B4-BE49-F238E27FC236}">
                  <a16:creationId xmlns:a16="http://schemas.microsoft.com/office/drawing/2014/main" id="{6F2C32B3-F6B3-42F9-6281-DF9E0C0A0483}"/>
                </a:ext>
              </a:extLst>
            </p:cNvPr>
            <p:cNvCxnSpPr>
              <a:cxnSpLocks noChangeShapeType="1"/>
              <a:stCxn id="6" idx="2"/>
              <a:endCxn id="30" idx="0"/>
            </p:cNvCxnSpPr>
            <p:nvPr/>
          </p:nvCxnSpPr>
          <p:spPr bwMode="auto">
            <a:xfrm rot="5400000">
              <a:off x="6664326" y="4022725"/>
              <a:ext cx="277812" cy="636587"/>
            </a:xfrm>
            <a:prstGeom prst="bentConnector3">
              <a:avLst>
                <a:gd name="adj1" fmla="val 48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7" name="AutoShape 28">
              <a:extLst>
                <a:ext uri="{FF2B5EF4-FFF2-40B4-BE49-F238E27FC236}">
                  <a16:creationId xmlns:a16="http://schemas.microsoft.com/office/drawing/2014/main" id="{2D3F13FB-A99D-BEBE-BB86-C38DBA91E92D}"/>
                </a:ext>
              </a:extLst>
            </p:cNvPr>
            <p:cNvCxnSpPr>
              <a:cxnSpLocks noChangeShapeType="1"/>
              <a:stCxn id="6" idx="2"/>
              <a:endCxn id="32" idx="0"/>
            </p:cNvCxnSpPr>
            <p:nvPr/>
          </p:nvCxnSpPr>
          <p:spPr bwMode="auto">
            <a:xfrm rot="16200000" flipH="1">
              <a:off x="7331076" y="3992562"/>
              <a:ext cx="277812" cy="696913"/>
            </a:xfrm>
            <a:prstGeom prst="bentConnector3">
              <a:avLst>
                <a:gd name="adj1" fmla="val 48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8" name="AutoShape 29">
              <a:extLst>
                <a:ext uri="{FF2B5EF4-FFF2-40B4-BE49-F238E27FC236}">
                  <a16:creationId xmlns:a16="http://schemas.microsoft.com/office/drawing/2014/main" id="{7BEB4D92-CC0A-A3AD-D6B2-A8A7E341D3C3}"/>
                </a:ext>
              </a:extLst>
            </p:cNvPr>
            <p:cNvCxnSpPr>
              <a:cxnSpLocks noChangeShapeType="1"/>
              <a:stCxn id="6" idx="2"/>
              <a:endCxn id="31" idx="0"/>
            </p:cNvCxnSpPr>
            <p:nvPr/>
          </p:nvCxnSpPr>
          <p:spPr bwMode="auto">
            <a:xfrm rot="5400000">
              <a:off x="6980238" y="4338638"/>
              <a:ext cx="277812" cy="4762"/>
            </a:xfrm>
            <a:prstGeom prst="bentConnector3">
              <a:avLst>
                <a:gd name="adj1" fmla="val 4800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9" name="AutoShape 30">
              <a:extLst>
                <a:ext uri="{FF2B5EF4-FFF2-40B4-BE49-F238E27FC236}">
                  <a16:creationId xmlns:a16="http://schemas.microsoft.com/office/drawing/2014/main" id="{2A5923DB-B91B-DBC0-EFBB-8F91F93EB1AA}"/>
                </a:ext>
              </a:extLst>
            </p:cNvPr>
            <p:cNvCxnSpPr>
              <a:cxnSpLocks noChangeShapeType="1"/>
              <a:stCxn id="27" idx="3"/>
              <a:endCxn id="28" idx="1"/>
            </p:cNvCxnSpPr>
            <p:nvPr/>
          </p:nvCxnSpPr>
          <p:spPr bwMode="auto">
            <a:xfrm>
              <a:off x="3389313" y="5572125"/>
              <a:ext cx="342900"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31">
              <a:extLst>
                <a:ext uri="{FF2B5EF4-FFF2-40B4-BE49-F238E27FC236}">
                  <a16:creationId xmlns:a16="http://schemas.microsoft.com/office/drawing/2014/main" id="{652D7EC5-8CAD-E55C-1E26-97495AF4C43C}"/>
                </a:ext>
              </a:extLst>
            </p:cNvPr>
            <p:cNvCxnSpPr>
              <a:cxnSpLocks noChangeShapeType="1"/>
              <a:stCxn id="28" idx="3"/>
              <a:endCxn id="29" idx="1"/>
            </p:cNvCxnSpPr>
            <p:nvPr/>
          </p:nvCxnSpPr>
          <p:spPr bwMode="auto">
            <a:xfrm>
              <a:off x="5827713" y="5572125"/>
              <a:ext cx="341312" cy="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1" name="Text Box 32">
              <a:extLst>
                <a:ext uri="{FF2B5EF4-FFF2-40B4-BE49-F238E27FC236}">
                  <a16:creationId xmlns:a16="http://schemas.microsoft.com/office/drawing/2014/main" id="{2AE5D6FE-31FF-5AE1-69CA-DC7890C3B4F5}"/>
                </a:ext>
              </a:extLst>
            </p:cNvPr>
            <p:cNvSpPr txBox="1">
              <a:spLocks noChangeArrowheads="1"/>
            </p:cNvSpPr>
            <p:nvPr/>
          </p:nvSpPr>
          <p:spPr bwMode="auto">
            <a:xfrm>
              <a:off x="2944705" y="5962650"/>
              <a:ext cx="360066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i="1">
                  <a:solidFill>
                    <a:srgbClr val="000066"/>
                  </a:solidFill>
                  <a:latin typeface="+mn-lt"/>
                </a:rPr>
                <a:t>Three Key Steps To Start The DDLP Journey</a:t>
              </a:r>
            </a:p>
          </p:txBody>
        </p:sp>
        <p:sp>
          <p:nvSpPr>
            <p:cNvPr id="42" name="Rectangle 33">
              <a:extLst>
                <a:ext uri="{FF2B5EF4-FFF2-40B4-BE49-F238E27FC236}">
                  <a16:creationId xmlns:a16="http://schemas.microsoft.com/office/drawing/2014/main" id="{AF7D7FC5-67FA-E5CE-BE29-28FFCDB329E0}"/>
                </a:ext>
              </a:extLst>
            </p:cNvPr>
            <p:cNvSpPr>
              <a:spLocks noChangeArrowheads="1"/>
            </p:cNvSpPr>
            <p:nvPr/>
          </p:nvSpPr>
          <p:spPr bwMode="auto">
            <a:xfrm>
              <a:off x="1165225" y="4213225"/>
              <a:ext cx="4767263"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95000"/>
                </a:lnSpc>
                <a:spcBef>
                  <a:spcPct val="35000"/>
                </a:spcBef>
                <a:buClrTx/>
                <a:buSzPct val="90000"/>
                <a:buFont typeface="Arial" panose="020B0604020202020204" pitchFamily="34" charset="0"/>
                <a:buChar char="•"/>
              </a:pPr>
              <a:r>
                <a:rPr lang="en-US" altLang="en-US" sz="1100" dirty="0">
                  <a:latin typeface="+mn-lt"/>
                </a:rPr>
                <a:t>Start close to the customer so customers can see the immediate impacts</a:t>
              </a:r>
            </a:p>
            <a:p>
              <a:pPr eaLnBrk="1" hangingPunct="1">
                <a:lnSpc>
                  <a:spcPct val="95000"/>
                </a:lnSpc>
                <a:spcBef>
                  <a:spcPct val="35000"/>
                </a:spcBef>
                <a:buClrTx/>
                <a:buSzPct val="90000"/>
                <a:buFont typeface="Arial" panose="020B0604020202020204" pitchFamily="34" charset="0"/>
                <a:buChar char="•"/>
              </a:pPr>
              <a:r>
                <a:rPr lang="en-US" altLang="en-US" sz="1100" dirty="0">
                  <a:latin typeface="+mn-lt"/>
                </a:rPr>
                <a:t>Isolate pilot to a single family (same S&amp;OP family) to learn how disciplines and practices are to be applied</a:t>
              </a:r>
            </a:p>
          </p:txBody>
        </p:sp>
      </p:grpSp>
    </p:spTree>
    <p:extLst>
      <p:ext uri="{BB962C8B-B14F-4D97-AF65-F5344CB8AC3E}">
        <p14:creationId xmlns:p14="http://schemas.microsoft.com/office/powerpoint/2010/main" val="17942361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Build Decision:  </a:t>
            </a:r>
            <a:br>
              <a:rPr lang="en-US" dirty="0"/>
            </a:br>
            <a:r>
              <a:rPr lang="en-US" sz="4000" dirty="0"/>
              <a:t>What Is from Inventory Or Built From An Order?</a:t>
            </a:r>
          </a:p>
        </p:txBody>
      </p:sp>
      <p:sp>
        <p:nvSpPr>
          <p:cNvPr id="3" name="Rectangle 4">
            <a:extLst>
              <a:ext uri="{FF2B5EF4-FFF2-40B4-BE49-F238E27FC236}">
                <a16:creationId xmlns:a16="http://schemas.microsoft.com/office/drawing/2014/main" id="{1E890105-71C5-269B-A148-7AB4746B0B55}"/>
              </a:ext>
            </a:extLst>
          </p:cNvPr>
          <p:cNvSpPr>
            <a:spLocks noChangeArrowheads="1"/>
          </p:cNvSpPr>
          <p:nvPr/>
        </p:nvSpPr>
        <p:spPr bwMode="auto">
          <a:xfrm>
            <a:off x="9499600" y="2785177"/>
            <a:ext cx="2537113" cy="203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spcBef>
                <a:spcPct val="0"/>
              </a:spcBef>
              <a:buClrTx/>
              <a:buSzTx/>
              <a:buFontTx/>
              <a:buNone/>
            </a:pPr>
            <a:r>
              <a:rPr lang="en-US" altLang="en-US" sz="1400" dirty="0">
                <a:solidFill>
                  <a:srgbClr val="000000"/>
                </a:solidFill>
                <a:latin typeface="+mn-lt"/>
              </a:rPr>
              <a:t>As the first critical step, team members must determine (for the pilot product family) what finished goods will be carried in inventory for release to customers, and what items will only be made upon receipt of a physical order.</a:t>
            </a:r>
          </a:p>
        </p:txBody>
      </p:sp>
      <p:graphicFrame>
        <p:nvGraphicFramePr>
          <p:cNvPr id="4" name="Group 4">
            <a:extLst>
              <a:ext uri="{FF2B5EF4-FFF2-40B4-BE49-F238E27FC236}">
                <a16:creationId xmlns:a16="http://schemas.microsoft.com/office/drawing/2014/main" id="{B0F4C351-66FE-D5F9-E320-84080D138D6B}"/>
              </a:ext>
            </a:extLst>
          </p:cNvPr>
          <p:cNvGraphicFramePr>
            <a:graphicFrameLocks noGrp="1"/>
          </p:cNvGraphicFramePr>
          <p:nvPr>
            <p:extLst>
              <p:ext uri="{D42A27DB-BD31-4B8C-83A1-F6EECF244321}">
                <p14:modId xmlns:p14="http://schemas.microsoft.com/office/powerpoint/2010/main" val="1821350093"/>
              </p:ext>
            </p:extLst>
          </p:nvPr>
        </p:nvGraphicFramePr>
        <p:xfrm>
          <a:off x="538163" y="2058988"/>
          <a:ext cx="4000500" cy="3216351"/>
        </p:xfrm>
        <a:graphic>
          <a:graphicData uri="http://schemas.openxmlformats.org/drawingml/2006/table">
            <a:tbl>
              <a:tblPr/>
              <a:tblGrid>
                <a:gridCol w="1155700">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gridCol w="903287">
                  <a:extLst>
                    <a:ext uri="{9D8B030D-6E8A-4147-A177-3AD203B41FA5}">
                      <a16:colId xmlns:a16="http://schemas.microsoft.com/office/drawing/2014/main" val="20002"/>
                    </a:ext>
                  </a:extLst>
                </a:gridCol>
                <a:gridCol w="992188">
                  <a:extLst>
                    <a:ext uri="{9D8B030D-6E8A-4147-A177-3AD203B41FA5}">
                      <a16:colId xmlns:a16="http://schemas.microsoft.com/office/drawing/2014/main" val="20003"/>
                    </a:ext>
                  </a:extLst>
                </a:gridCol>
              </a:tblGrid>
              <a:tr h="244447">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Classification</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SKU No.</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TTL SKU</a:t>
                      </a:r>
                      <a:r>
                        <a:rPr kumimoji="0" lang="ja-JP" altLang="en-US" sz="1000" b="1" i="0" u="none" strike="noStrike" cap="none" normalizeH="0" baseline="0" dirty="0">
                          <a:ln>
                            <a:noFill/>
                          </a:ln>
                          <a:solidFill>
                            <a:schemeClr val="bg1"/>
                          </a:solidFill>
                          <a:effectLst/>
                          <a:latin typeface="+mn-lt"/>
                          <a:ea typeface="MS PGothic" panose="020B0600070205080204" pitchFamily="34" charset="-128"/>
                        </a:rPr>
                        <a:t>’</a:t>
                      </a:r>
                      <a:r>
                        <a:rPr kumimoji="0" lang="en-US" altLang="ja-JP" sz="1000" b="1" i="0" u="none" strike="noStrike" cap="none" normalizeH="0" baseline="0" dirty="0">
                          <a:ln>
                            <a:noFill/>
                          </a:ln>
                          <a:solidFill>
                            <a:schemeClr val="bg1"/>
                          </a:solidFill>
                          <a:effectLst/>
                          <a:latin typeface="+mn-lt"/>
                          <a:ea typeface="MS PGothic" panose="020B0600070205080204" pitchFamily="34" charset="-128"/>
                        </a:rPr>
                        <a:t>s</a:t>
                      </a:r>
                      <a:endParaRPr kumimoji="0" lang="en-US" altLang="en-US" sz="1000" b="1" i="0" u="none" strike="noStrike" cap="none" normalizeH="0" baseline="0" dirty="0">
                        <a:ln>
                          <a:noFill/>
                        </a:ln>
                        <a:solidFill>
                          <a:schemeClr val="bg1"/>
                        </a:solidFill>
                        <a:effectLst/>
                        <a:latin typeface="+mn-lt"/>
                        <a:ea typeface="MS PGothic" panose="020B0600070205080204" pitchFamily="34" charset="-128"/>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000" b="1" i="0" u="none" strike="noStrike" cap="none" normalizeH="0" baseline="0" dirty="0">
                          <a:ln>
                            <a:noFill/>
                          </a:ln>
                          <a:solidFill>
                            <a:schemeClr val="bg1"/>
                          </a:solidFill>
                          <a:effectLst/>
                          <a:latin typeface="+mn-lt"/>
                          <a:ea typeface="MS PGothic" panose="020B0600070205080204" pitchFamily="34" charset="-128"/>
                        </a:rPr>
                        <a:t>% Demand</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228602">
                <a:tc rowSpan="5">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mn-lt"/>
                          <a:ea typeface="MS PGothic" panose="020B0600070205080204" pitchFamily="34" charset="-128"/>
                        </a:rPr>
                        <a:t>A</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mn-lt"/>
                          <a:ea typeface="MS PGothic" panose="020B0600070205080204" pitchFamily="34" charset="-128"/>
                        </a:rPr>
                        <a:t>335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mn-lt"/>
                          <a:ea typeface="MS PGothic" panose="020B0600070205080204" pitchFamily="34" charset="-128"/>
                        </a:rPr>
                        <a:t>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mn-lt"/>
                          <a:ea typeface="MS PGothic" panose="020B0600070205080204" pitchFamily="34" charset="-128"/>
                        </a:rPr>
                        <a:t>60%</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336</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337</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338</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339</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228602">
                <a:tc rowSpan="5">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mn-lt"/>
                          <a:ea typeface="MS PGothic" panose="020B0600070205080204" pitchFamily="34" charset="-128"/>
                        </a:rPr>
                        <a:t>B</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mn-lt"/>
                          <a:ea typeface="MS PGothic" panose="020B0600070205080204" pitchFamily="34" charset="-128"/>
                        </a:rPr>
                        <a:t>1740</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mn-lt"/>
                          <a:ea typeface="MS PGothic" panose="020B0600070205080204" pitchFamily="34" charset="-128"/>
                        </a:rPr>
                        <a:t>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mn-lt"/>
                          <a:ea typeface="MS PGothic" panose="020B0600070205080204" pitchFamily="34" charset="-128"/>
                        </a:rPr>
                        <a:t>20%</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1741</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7"/>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1742</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8"/>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1743</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9"/>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1744</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10"/>
                  </a:ext>
                </a:extLst>
              </a:tr>
              <a:tr h="228602">
                <a:tc rowSpan="3">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mn-lt"/>
                          <a:ea typeface="MS PGothic" panose="020B0600070205080204" pitchFamily="34" charset="-128"/>
                        </a:rPr>
                        <a:t>C</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a:ln>
                            <a:noFill/>
                          </a:ln>
                          <a:solidFill>
                            <a:schemeClr val="tx1"/>
                          </a:solidFill>
                          <a:effectLst/>
                          <a:latin typeface="+mn-lt"/>
                          <a:ea typeface="MS PGothic" panose="020B0600070205080204" pitchFamily="34" charset="-128"/>
                        </a:rPr>
                        <a:t>890-894 (5)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mn-lt"/>
                          <a:ea typeface="MS PGothic" panose="020B0600070205080204" pitchFamily="34" charset="-128"/>
                        </a:rPr>
                        <a:t>15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mn-lt"/>
                          <a:ea typeface="MS PGothic" panose="020B0600070205080204" pitchFamily="34" charset="-128"/>
                        </a:rPr>
                        <a:t>20%</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1153-1157 (5)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12"/>
                  </a:ext>
                </a:extLst>
              </a:tr>
              <a:tr h="228602">
                <a:tc vMerge="1">
                  <a:txBody>
                    <a:bodyPr/>
                    <a:lstStyle/>
                    <a:p>
                      <a:endParaRPr lang="en-US"/>
                    </a:p>
                  </a:txBody>
                  <a:tcPr/>
                </a:tc>
                <a:tc>
                  <a:txBody>
                    <a:bodyPr/>
                    <a:lstStyle>
                      <a:lvl1pPr algn="l">
                        <a:buClr>
                          <a:srgbClr val="006699"/>
                        </a:buClr>
                        <a:buSzPct val="80000"/>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lgn="l">
                        <a:buClr>
                          <a:srgbClr val="006699"/>
                        </a:buClr>
                        <a:buFont typeface="Wingdings" panose="05000000000000000000" pitchFamily="2" charset="2"/>
                        <a:defRPr sz="1200">
                          <a:solidFill>
                            <a:schemeClr val="tx1"/>
                          </a:solidFill>
                          <a:latin typeface="Arial" panose="020B0604020202020204" pitchFamily="34" charset="0"/>
                          <a:ea typeface="MS PGothic" panose="020B0600070205080204" pitchFamily="34" charset="-128"/>
                        </a:defRPr>
                      </a:lvl2pPr>
                      <a:lvl3pPr marL="1143000" indent="-228600" algn="l">
                        <a:buClr>
                          <a:srgbClr val="006699"/>
                        </a:buClr>
                        <a:buSzPct val="80000"/>
                        <a:defRPr sz="1000">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20000"/>
                        </a:spcBef>
                        <a:spcAft>
                          <a:spcPct val="0"/>
                        </a:spcAft>
                        <a:buClr>
                          <a:srgbClr val="006699"/>
                        </a:buClr>
                        <a:buSzPct val="80000"/>
                        <a:buFont typeface="Wingdings" panose="05000000000000000000" pitchFamily="2" charset="2"/>
                        <a:buNone/>
                        <a:tabLst/>
                      </a:pPr>
                      <a:r>
                        <a:rPr kumimoji="0" lang="en-US" altLang="en-US" sz="900" b="1" i="0" u="none" strike="noStrike" cap="none" normalizeH="0" baseline="0" dirty="0">
                          <a:ln>
                            <a:noFill/>
                          </a:ln>
                          <a:solidFill>
                            <a:schemeClr val="tx1"/>
                          </a:solidFill>
                          <a:effectLst/>
                          <a:latin typeface="+mn-lt"/>
                          <a:ea typeface="MS PGothic" panose="020B0600070205080204" pitchFamily="34" charset="-128"/>
                        </a:rPr>
                        <a:t>1802-1806 (5)</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13"/>
                  </a:ext>
                </a:extLst>
              </a:tr>
            </a:tbl>
          </a:graphicData>
        </a:graphic>
      </p:graphicFrame>
      <p:sp>
        <p:nvSpPr>
          <p:cNvPr id="5" name="Rectangle 51">
            <a:extLst>
              <a:ext uri="{FF2B5EF4-FFF2-40B4-BE49-F238E27FC236}">
                <a16:creationId xmlns:a16="http://schemas.microsoft.com/office/drawing/2014/main" id="{DC59482B-4F9D-4112-8F6C-96F757B3671F}"/>
              </a:ext>
            </a:extLst>
          </p:cNvPr>
          <p:cNvSpPr>
            <a:spLocks noChangeArrowheads="1"/>
          </p:cNvSpPr>
          <p:nvPr/>
        </p:nvSpPr>
        <p:spPr bwMode="auto">
          <a:xfrm>
            <a:off x="4957763" y="1968500"/>
            <a:ext cx="3908425"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6699"/>
              </a:buClr>
              <a:buSzPct val="80000"/>
              <a:buFont typeface="Wingdings" panose="05000000000000000000" pitchFamily="2" charset="2"/>
              <a:buChar char="n"/>
              <a:tabLst>
                <a:tab pos="3086100" algn="l"/>
              </a:tabLst>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tabLst>
                <a:tab pos="3086100" algn="l"/>
              </a:tabLst>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tabLst>
                <a:tab pos="3086100" algn="l"/>
              </a:tabLst>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60000"/>
              </a:spcBef>
              <a:buClrTx/>
              <a:buSzPct val="90000"/>
              <a:buFont typeface="Arial" panose="020B0604020202020204" pitchFamily="34" charset="0"/>
              <a:buChar char="•"/>
            </a:pPr>
            <a:r>
              <a:rPr lang="en-US" altLang="en-US" sz="1200" dirty="0">
                <a:latin typeface="+mn-lt"/>
              </a:rPr>
              <a:t>First critical step is to conduct a Lean ABC analysis to confirm order patterns</a:t>
            </a:r>
          </a:p>
          <a:p>
            <a:pPr eaLnBrk="1" hangingPunct="1">
              <a:spcBef>
                <a:spcPct val="60000"/>
              </a:spcBef>
              <a:buClrTx/>
              <a:buSzPct val="90000"/>
              <a:buFont typeface="Arial" panose="020B0604020202020204" pitchFamily="34" charset="0"/>
              <a:buChar char="•"/>
            </a:pPr>
            <a:r>
              <a:rPr lang="en-US" altLang="en-US" sz="1200" dirty="0">
                <a:latin typeface="+mn-lt"/>
              </a:rPr>
              <a:t>A</a:t>
            </a:r>
            <a:r>
              <a:rPr lang="ja-JP" altLang="en-US" sz="1200" dirty="0">
                <a:latin typeface="+mn-lt"/>
              </a:rPr>
              <a:t>’</a:t>
            </a:r>
            <a:r>
              <a:rPr lang="en-US" altLang="ja-JP" sz="1200" dirty="0">
                <a:latin typeface="+mn-lt"/>
              </a:rPr>
              <a:t>s are high runners with frequent orders (daily or several times per week)</a:t>
            </a:r>
          </a:p>
          <a:p>
            <a:pPr eaLnBrk="1" hangingPunct="1">
              <a:spcBef>
                <a:spcPct val="60000"/>
              </a:spcBef>
              <a:buClrTx/>
              <a:buSzPct val="90000"/>
              <a:buFont typeface="Arial" panose="020B0604020202020204" pitchFamily="34" charset="0"/>
              <a:buChar char="•"/>
            </a:pPr>
            <a:r>
              <a:rPr lang="en-US" altLang="en-US" sz="1200" dirty="0">
                <a:latin typeface="+mn-lt"/>
              </a:rPr>
              <a:t>B</a:t>
            </a:r>
            <a:r>
              <a:rPr lang="ja-JP" altLang="en-US" sz="1200" dirty="0">
                <a:latin typeface="+mn-lt"/>
              </a:rPr>
              <a:t>’</a:t>
            </a:r>
            <a:r>
              <a:rPr lang="en-US" altLang="ja-JP" sz="1200" dirty="0">
                <a:latin typeface="+mn-lt"/>
              </a:rPr>
              <a:t>s are medium runners with semi-frequent orders (several per week or month)</a:t>
            </a:r>
          </a:p>
          <a:p>
            <a:pPr eaLnBrk="1" hangingPunct="1">
              <a:spcBef>
                <a:spcPct val="60000"/>
              </a:spcBef>
              <a:buClrTx/>
              <a:buSzPct val="90000"/>
              <a:buFont typeface="Arial" panose="020B0604020202020204" pitchFamily="34" charset="0"/>
              <a:buChar char="•"/>
            </a:pPr>
            <a:r>
              <a:rPr lang="en-US" altLang="en-US" sz="1200" dirty="0">
                <a:latin typeface="+mn-lt"/>
              </a:rPr>
              <a:t>C</a:t>
            </a:r>
            <a:r>
              <a:rPr lang="ja-JP" altLang="en-US" sz="1200" dirty="0">
                <a:latin typeface="+mn-lt"/>
              </a:rPr>
              <a:t>’</a:t>
            </a:r>
            <a:r>
              <a:rPr lang="en-US" altLang="ja-JP" sz="1200" dirty="0">
                <a:latin typeface="+mn-lt"/>
              </a:rPr>
              <a:t>s are low runners with very infrequent order patterns including 2-3 times per month, odd configurations, etc.</a:t>
            </a:r>
          </a:p>
          <a:p>
            <a:pPr eaLnBrk="1" hangingPunct="1">
              <a:spcBef>
                <a:spcPct val="60000"/>
              </a:spcBef>
              <a:buClrTx/>
              <a:buSzPct val="90000"/>
              <a:buFont typeface="Arial" panose="020B0604020202020204" pitchFamily="34" charset="0"/>
              <a:buChar char="•"/>
            </a:pPr>
            <a:r>
              <a:rPr lang="en-US" altLang="en-US" sz="1200" dirty="0">
                <a:latin typeface="+mn-lt"/>
              </a:rPr>
              <a:t>Most common mistake is that production builds all three classes with the same centralized process with large finished goods inventories as buffers</a:t>
            </a:r>
          </a:p>
          <a:p>
            <a:pPr eaLnBrk="1" hangingPunct="1">
              <a:spcBef>
                <a:spcPct val="60000"/>
              </a:spcBef>
              <a:buClrTx/>
              <a:buSzPct val="90000"/>
              <a:buFont typeface="Arial" panose="020B0604020202020204" pitchFamily="34" charset="0"/>
              <a:buChar char="•"/>
            </a:pPr>
            <a:r>
              <a:rPr lang="en-US" altLang="en-US" sz="1200" dirty="0">
                <a:latin typeface="+mn-lt"/>
              </a:rPr>
              <a:t>With the ABC analysis, production team members can then determine what will be held in inventory and what will be build only upon order receipt</a:t>
            </a:r>
          </a:p>
        </p:txBody>
      </p:sp>
      <p:sp>
        <p:nvSpPr>
          <p:cNvPr id="15" name="Line 52">
            <a:extLst>
              <a:ext uri="{FF2B5EF4-FFF2-40B4-BE49-F238E27FC236}">
                <a16:creationId xmlns:a16="http://schemas.microsoft.com/office/drawing/2014/main" id="{4CA9D7B3-43F7-636A-7FDB-022FFB3C2707}"/>
              </a:ext>
            </a:extLst>
          </p:cNvPr>
          <p:cNvSpPr>
            <a:spLocks noChangeShapeType="1"/>
          </p:cNvSpPr>
          <p:nvPr/>
        </p:nvSpPr>
        <p:spPr bwMode="auto">
          <a:xfrm>
            <a:off x="5351463" y="5618159"/>
            <a:ext cx="3373437" cy="1587"/>
          </a:xfrm>
          <a:prstGeom prst="line">
            <a:avLst/>
          </a:prstGeom>
          <a:noFill/>
          <a:ln w="381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Rectangle 53">
            <a:extLst>
              <a:ext uri="{FF2B5EF4-FFF2-40B4-BE49-F238E27FC236}">
                <a16:creationId xmlns:a16="http://schemas.microsoft.com/office/drawing/2014/main" id="{523DD9C8-EEA0-F09E-E074-AE1E43A269ED}"/>
              </a:ext>
            </a:extLst>
          </p:cNvPr>
          <p:cNvSpPr>
            <a:spLocks noChangeArrowheads="1"/>
          </p:cNvSpPr>
          <p:nvPr/>
        </p:nvSpPr>
        <p:spPr bwMode="auto">
          <a:xfrm>
            <a:off x="5340350" y="5684834"/>
            <a:ext cx="3413125" cy="307975"/>
          </a:xfrm>
          <a:prstGeom prst="rect">
            <a:avLst/>
          </a:prstGeom>
          <a:solidFill>
            <a:schemeClr val="accent1"/>
          </a:solidFill>
          <a:ln>
            <a:noFill/>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300">
                <a:solidFill>
                  <a:schemeClr val="bg1"/>
                </a:solidFill>
                <a:latin typeface="+mn-lt"/>
              </a:rPr>
              <a:t>Serve From Buffer Or Build After Order</a:t>
            </a:r>
          </a:p>
        </p:txBody>
      </p:sp>
      <p:sp>
        <p:nvSpPr>
          <p:cNvPr id="17" name="AutoShape 54">
            <a:extLst>
              <a:ext uri="{FF2B5EF4-FFF2-40B4-BE49-F238E27FC236}">
                <a16:creationId xmlns:a16="http://schemas.microsoft.com/office/drawing/2014/main" id="{29C2EF79-8B17-05D1-BE42-02747B405E37}"/>
              </a:ext>
            </a:extLst>
          </p:cNvPr>
          <p:cNvSpPr>
            <a:spLocks noChangeArrowheads="1"/>
          </p:cNvSpPr>
          <p:nvPr/>
        </p:nvSpPr>
        <p:spPr bwMode="auto">
          <a:xfrm>
            <a:off x="4691063" y="2208213"/>
            <a:ext cx="241300" cy="2373312"/>
          </a:xfrm>
          <a:prstGeom prst="rightArrow">
            <a:avLst>
              <a:gd name="adj1" fmla="val 73509"/>
              <a:gd name="adj2" fmla="val 75657"/>
            </a:avLst>
          </a:prstGeom>
          <a:solidFill>
            <a:schemeClr val="accent1"/>
          </a:solidFill>
          <a:ln w="19050" cap="sq">
            <a:solidFill>
              <a:schemeClr val="tx1"/>
            </a:solidFill>
            <a:miter lim="800000"/>
            <a:headEnd/>
            <a:tailEnd/>
          </a:ln>
        </p:spPr>
        <p:txBody>
          <a:bodyPr wrap="none" anchor="ct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endParaRPr lang="en-US" altLang="en-US" sz="1000">
              <a:solidFill>
                <a:schemeClr val="bg1"/>
              </a:solidFill>
              <a:latin typeface="+mn-lt"/>
            </a:endParaRPr>
          </a:p>
        </p:txBody>
      </p:sp>
      <p:sp>
        <p:nvSpPr>
          <p:cNvPr id="23" name="Text Box 55">
            <a:extLst>
              <a:ext uri="{FF2B5EF4-FFF2-40B4-BE49-F238E27FC236}">
                <a16:creationId xmlns:a16="http://schemas.microsoft.com/office/drawing/2014/main" id="{FB178A8D-4245-8110-3269-AE2180884BF7}"/>
              </a:ext>
            </a:extLst>
          </p:cNvPr>
          <p:cNvSpPr txBox="1">
            <a:spLocks noChangeArrowheads="1"/>
          </p:cNvSpPr>
          <p:nvPr/>
        </p:nvSpPr>
        <p:spPr bwMode="auto">
          <a:xfrm>
            <a:off x="1291411" y="5386388"/>
            <a:ext cx="2433679"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6699"/>
              </a:buClr>
              <a:buSzPct val="80000"/>
              <a:buFont typeface="Wingdings" panose="05000000000000000000" pitchFamily="2" charset="2"/>
              <a:buChar char="n"/>
              <a:defRPr sz="16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rgbClr val="006699"/>
              </a:buClr>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rgbClr val="006699"/>
              </a:buClr>
              <a:buSzPct val="80000"/>
              <a:buChar char="–"/>
              <a:defRPr sz="12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buClrTx/>
              <a:buSzTx/>
              <a:buFontTx/>
              <a:buNone/>
            </a:pPr>
            <a:r>
              <a:rPr lang="en-US" altLang="en-US" sz="1400" i="1" dirty="0">
                <a:latin typeface="+mn-lt"/>
              </a:rPr>
              <a:t>Where Should Our Focus Be?</a:t>
            </a:r>
          </a:p>
        </p:txBody>
      </p:sp>
    </p:spTree>
    <p:extLst>
      <p:ext uri="{BB962C8B-B14F-4D97-AF65-F5344CB8AC3E}">
        <p14:creationId xmlns:p14="http://schemas.microsoft.com/office/powerpoint/2010/main" val="850799104"/>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LHC FONT">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14468</TotalTime>
  <Words>12197</Words>
  <Application>Microsoft Office PowerPoint</Application>
  <PresentationFormat>Widescreen</PresentationFormat>
  <Paragraphs>2841</Paragraphs>
  <Slides>79</Slides>
  <Notes>46</Notes>
  <HiddenSlides>7</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79</vt:i4>
      </vt:variant>
    </vt:vector>
  </HeadingPairs>
  <TitlesOfParts>
    <vt:vector size="90" baseType="lpstr">
      <vt:lpstr>Arial</vt:lpstr>
      <vt:lpstr>Baskerville</vt:lpstr>
      <vt:lpstr>Calibri</vt:lpstr>
      <vt:lpstr>Roboto</vt:lpstr>
      <vt:lpstr>Roboto Medium</vt:lpstr>
      <vt:lpstr>Times New Roman</vt:lpstr>
      <vt:lpstr>Wingdings</vt:lpstr>
      <vt:lpstr>Wingdings 2</vt:lpstr>
      <vt:lpstr>Office Theme</vt:lpstr>
      <vt:lpstr>Worksheet</vt:lpstr>
      <vt:lpstr>Microsoft Excel 97-2003 Worksheet</vt:lpstr>
      <vt:lpstr>PowerPoint Presentation</vt:lpstr>
      <vt:lpstr>PowerPoint Presentation</vt:lpstr>
      <vt:lpstr>PowerPoint Presentation</vt:lpstr>
      <vt:lpstr>Ground Rules for Event</vt:lpstr>
      <vt:lpstr>S&amp;OP Defined:   Integrated, “One Plan” Driving Entire Enterprise</vt:lpstr>
      <vt:lpstr>SIOP Defined:  Integrated, “One Plan” Driving Entire Enterprise</vt:lpstr>
      <vt:lpstr>Sales &amp; Operations Planning:   Synchronizing Supply &amp; Demand</vt:lpstr>
      <vt:lpstr>Supply-Demand Matching:   Optimizing All Drivers, Not One Over The Other</vt:lpstr>
      <vt:lpstr>De-Coupling Demand And Supply:  Understanding the S&amp;OP Hierarchy</vt:lpstr>
      <vt:lpstr>S&amp;OP Timing Schematic:  Clear, Predictable Path For Roadmap Creation</vt:lpstr>
      <vt:lpstr>S&amp;OP Summary:   Integrated, Disciplined Process To Meet Customer Needs</vt:lpstr>
      <vt:lpstr>S&amp;OP Flexibility Model:   Utilization Across Different Operating Platforms</vt:lpstr>
      <vt:lpstr>S&amp;OP Program Deliverables:   Turnkey S&amp;OP Process For Roll-Out</vt:lpstr>
      <vt:lpstr>Monthly Cycle Schematic:  Complete Cycle To Monthly S&amp;OP Success </vt:lpstr>
      <vt:lpstr>Demand Planning 1:   What Did The Last-Month Cycle Tell Us?</vt:lpstr>
      <vt:lpstr>Demand Planning 2:   Statistical Forecasts To Management Forecasts</vt:lpstr>
      <vt:lpstr>Sales &amp; Operations Planning</vt:lpstr>
      <vt:lpstr>Supply Planning Introduction:   Matching Resources To Demand</vt:lpstr>
      <vt:lpstr>Supply Planning Introduction:   Existing Resources To Meet Supply</vt:lpstr>
      <vt:lpstr>Supply Planning Commencement:   Last-Month Results, Next-Month Match</vt:lpstr>
      <vt:lpstr>Supply Planning Commencement:   Demand Against Available Resources</vt:lpstr>
      <vt:lpstr>Supply Planning &amp; Metrics Review:  Consolidated Scorecard Necessary</vt:lpstr>
      <vt:lpstr>Supply Planning &amp; Metrics Review:   Building The Scorecard Feeders</vt:lpstr>
      <vt:lpstr>Last-Month Demand Plan Analysis:   Confirm Next-Month Impacts</vt:lpstr>
      <vt:lpstr>On-Hand Inventory Analysis:   Sufficient, Deficient, or Excessive?</vt:lpstr>
      <vt:lpstr>On-Hand Inventory Analysis:   Continuous Requirements Analysis</vt:lpstr>
      <vt:lpstr>Demand Inputs:   Commencing The Supply Planning Analysis</vt:lpstr>
      <vt:lpstr>Supply Planning Pathway:   Matching Specific Resources To Products</vt:lpstr>
      <vt:lpstr>Demand Planning First Step:   Defining The Operating Environment</vt:lpstr>
      <vt:lpstr>Aligned Vs. Non-Aligned Resources:   Where Should Time Be Spent?</vt:lpstr>
      <vt:lpstr>Aligned Operating Environments:   Specific Product, Specific Platform</vt:lpstr>
      <vt:lpstr>Aligned Operating Environments:   Historical Output Analysis &amp; Capabilities</vt:lpstr>
      <vt:lpstr>Aligned Operating Environments:   Making The Final Supply-Demand Match</vt:lpstr>
      <vt:lpstr>Non-Aligned Operating Environments:   Need For Rough-Cut Planning</vt:lpstr>
      <vt:lpstr>Beginning The Rough-Cut Capacity Plan:  “Know Your Resources”</vt:lpstr>
      <vt:lpstr>Bill Of Materials:   Linking Non-Aligned Resources To Product Families</vt:lpstr>
      <vt:lpstr>Rough-Cut Capacity Plan Example:   Do We Have Sufficient Resources?</vt:lpstr>
      <vt:lpstr>Rough-Cut Capacity Plan Example:   Do We Have Sufficient Resources?</vt:lpstr>
      <vt:lpstr>Critical Resource Capacity Report Example:   How Bottlenecked Are We?</vt:lpstr>
      <vt:lpstr>Critical Resource Evaluation Process:   Identify, Confirm, Solve</vt:lpstr>
      <vt:lpstr>Critical Resource Evaluation Process:   Identify, Confirm, Solve</vt:lpstr>
      <vt:lpstr>Critical Resource Evaluation:   Importance Of Value Stream Mapping</vt:lpstr>
      <vt:lpstr>Supply Base Analysis:   Coverage, Excess or Potential Shortages?</vt:lpstr>
      <vt:lpstr>Supply Base Analysis:   Developing The Most Appropriate Supplier Plan</vt:lpstr>
      <vt:lpstr>Time Zone Planning:   What Is Fixed, What Is Flexible</vt:lpstr>
      <vt:lpstr>Error Code Development:   Ready-Made Solutions For A Mismatch</vt:lpstr>
      <vt:lpstr>Business Plan Evaluation:   On-Target For Next-Month Revenue Cycle?</vt:lpstr>
      <vt:lpstr>Supply Plan Summary Document:  The Plan, Assumptions &amp; Performance</vt:lpstr>
      <vt:lpstr>Supply Plan Completion:   Preparing The Production Engine</vt:lpstr>
      <vt:lpstr>Supply Planning Summary:   Right Inputs, Optimized Build Plan</vt:lpstr>
      <vt:lpstr>Supply-Demand Consensus Meeting:  Forging Agreement For Next Month</vt:lpstr>
      <vt:lpstr>Supply-Demand Consensus Meeting: Understanding All Impacts</vt:lpstr>
      <vt:lpstr>Sales &amp; Operations Planning</vt:lpstr>
      <vt:lpstr>Spreadsheet Building Blocks:   Complete Product Planning Snapshot</vt:lpstr>
      <vt:lpstr>Sample Completed S&amp;OP Spreadsheet:   MTS Environment</vt:lpstr>
      <vt:lpstr>Sample Completed S&amp;OP Spreadsheet:   One-Stop Planning Snapshot</vt:lpstr>
      <vt:lpstr>Sample Completed S&amp;OP Spreadsheet:   One-Stop Planning Snapshot</vt:lpstr>
      <vt:lpstr>Sample Completed S&amp;OP Spreadsheet:   MTO Environment</vt:lpstr>
      <vt:lpstr>MTO Spreadsheet Creation:   Understanding Backlog Calculations</vt:lpstr>
      <vt:lpstr>MTO Spreadsheet Creation:   Milestone Development Checklist</vt:lpstr>
      <vt:lpstr>MTO Spreadsheet Creation:   Milestone Development Checklist</vt:lpstr>
      <vt:lpstr>MTO Spreadsheet Creation:   Synchronizing Milestone Achievements</vt:lpstr>
      <vt:lpstr>MTO Spreadsheet Creation:   Building The S&amp;OP Policy Manual</vt:lpstr>
      <vt:lpstr>Adoption Of S&amp;OP Disciplines:   Enhancement Of Key Business Drivers</vt:lpstr>
      <vt:lpstr>Adoption Of S&amp;OP Disciplines:   Proven Performance Increases</vt:lpstr>
      <vt:lpstr>Integrated S&amp;OP Disciplines:   Profit By Design, Not By Accident</vt:lpstr>
      <vt:lpstr>Cross-Industry Successes:   Universal Appeal Of S&amp;OP Capabilities</vt:lpstr>
      <vt:lpstr>Cross-Industry Opportunities:   Deployment Of “Complete” S&amp;OP Disciplines</vt:lpstr>
      <vt:lpstr>S&amp;OP Inhibitors:   Does [Client] Face These Challenges?</vt:lpstr>
      <vt:lpstr>S&amp;OP Implementation Success Factors:  Right Message, Right Players</vt:lpstr>
      <vt:lpstr>S&amp;OP Implementation Journey:  Transformation To Best-In-Class Planning</vt:lpstr>
      <vt:lpstr>S&amp;OP Implementation Journey:   Best Practices For Complete Success</vt:lpstr>
      <vt:lpstr>PowerPoint Presentation</vt:lpstr>
      <vt:lpstr>PowerPoint Presentation</vt:lpstr>
      <vt:lpstr>From S&amp;OP To DDLP:   Translating Demand To Physical Production</vt:lpstr>
      <vt:lpstr>Basic Productions Models:   Cognitive Push And Reflexive Pull</vt:lpstr>
      <vt:lpstr>Push Vs. Pull:   Deploying Right Solution For Customer Service</vt:lpstr>
      <vt:lpstr>Beginning The DDLP Journey Through  Single Product Family Focus</vt:lpstr>
      <vt:lpstr>Build Decision:   What Is from Inventory Or Built From An Order?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455</cp:revision>
  <dcterms:created xsi:type="dcterms:W3CDTF">2023-02-08T22:10:20Z</dcterms:created>
  <dcterms:modified xsi:type="dcterms:W3CDTF">2023-12-05T22:45:44Z</dcterms:modified>
</cp:coreProperties>
</file>