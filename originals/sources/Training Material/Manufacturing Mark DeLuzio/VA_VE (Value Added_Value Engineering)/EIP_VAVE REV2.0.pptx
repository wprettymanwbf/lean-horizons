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351" r:id="rId3"/>
    <p:sldId id="352" r:id="rId4"/>
    <p:sldId id="353" r:id="rId5"/>
    <p:sldId id="354" r:id="rId6"/>
    <p:sldId id="355" r:id="rId7"/>
    <p:sldId id="356" r:id="rId8"/>
    <p:sldId id="3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FFB627"/>
    <a:srgbClr val="177E89"/>
    <a:srgbClr val="8EDCE6"/>
    <a:srgbClr val="F1BF98"/>
    <a:srgbClr val="2EC4B6"/>
    <a:srgbClr val="BDDBD0"/>
    <a:srgbClr val="2D7DD2"/>
    <a:srgbClr val="62929E"/>
    <a:srgbClr val="B3D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1849" autoAdjust="0"/>
  </p:normalViewPr>
  <p:slideViewPr>
    <p:cSldViewPr snapToGrid="0">
      <p:cViewPr varScale="1">
        <p:scale>
          <a:sx n="67" d="100"/>
          <a:sy n="67" d="100"/>
        </p:scale>
        <p:origin x="56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25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847F-0B94-F947-B172-F99DB13375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1B1ED-B2E3-19AE-DDFC-B157A0140513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B500-689F-3416-FFFA-6EFE369BF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C6D4273-7FC1-0947-B9FE-19CB3C0D1F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EIP_VAVE REV2.0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2023.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P1 VA/VE Training Material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F716D-CC64-6765-89C4-B03733484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95078" y="6386632"/>
            <a:ext cx="2743200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Lean-VA/VE Process Overview – </a:t>
            </a:r>
            <a:br>
              <a:rPr lang="en-US" dirty="0"/>
            </a:br>
            <a:r>
              <a:rPr lang="en-US" dirty="0"/>
              <a:t>Enterprise Improvement Program (P1-EIP)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2</a:t>
            </a:fld>
            <a:endParaRPr lang="en-US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11E8062-FEA9-E4EA-8F3B-B0CB53EE0445}"/>
              </a:ext>
            </a:extLst>
          </p:cNvPr>
          <p:cNvGrpSpPr/>
          <p:nvPr/>
        </p:nvGrpSpPr>
        <p:grpSpPr>
          <a:xfrm>
            <a:off x="838200" y="1771650"/>
            <a:ext cx="10638305" cy="4538997"/>
            <a:chOff x="47993" y="965918"/>
            <a:chExt cx="9241598" cy="5344729"/>
          </a:xfrm>
        </p:grpSpPr>
        <p:grpSp>
          <p:nvGrpSpPr>
            <p:cNvPr id="65" name="Group 142">
              <a:extLst>
                <a:ext uri="{FF2B5EF4-FFF2-40B4-BE49-F238E27FC236}">
                  <a16:creationId xmlns:a16="http://schemas.microsoft.com/office/drawing/2014/main" id="{3DE0F25A-7B81-2227-3BDC-F3CB755BA5BE}"/>
                </a:ext>
              </a:extLst>
            </p:cNvPr>
            <p:cNvGrpSpPr/>
            <p:nvPr/>
          </p:nvGrpSpPr>
          <p:grpSpPr>
            <a:xfrm>
              <a:off x="2200137" y="1865283"/>
              <a:ext cx="4638546" cy="942313"/>
              <a:chOff x="2045589" y="1865281"/>
              <a:chExt cx="4638546" cy="942313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A1ED554-CA2A-01EC-8AD4-1ED3BE688C26}"/>
                  </a:ext>
                </a:extLst>
              </p:cNvPr>
              <p:cNvSpPr/>
              <p:nvPr/>
            </p:nvSpPr>
            <p:spPr bwMode="auto">
              <a:xfrm>
                <a:off x="2045589" y="1865281"/>
                <a:ext cx="4638546" cy="233975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7" name="Freeform 6">
                <a:extLst>
                  <a:ext uri="{FF2B5EF4-FFF2-40B4-BE49-F238E27FC236}">
                    <a16:creationId xmlns:a16="http://schemas.microsoft.com/office/drawing/2014/main" id="{BADF2D86-22B1-AF54-F42E-878CEF41D8C1}"/>
                  </a:ext>
                </a:extLst>
              </p:cNvPr>
              <p:cNvSpPr/>
              <p:nvPr/>
            </p:nvSpPr>
            <p:spPr bwMode="auto">
              <a:xfrm>
                <a:off x="2060620" y="1996225"/>
                <a:ext cx="4610636" cy="695460"/>
              </a:xfrm>
              <a:custGeom>
                <a:avLst/>
                <a:gdLst>
                  <a:gd name="connsiteX0" fmla="*/ 0 w 4610636"/>
                  <a:gd name="connsiteY0" fmla="*/ 0 h 695460"/>
                  <a:gd name="connsiteX1" fmla="*/ 4610636 w 4610636"/>
                  <a:gd name="connsiteY1" fmla="*/ 0 h 695460"/>
                  <a:gd name="connsiteX2" fmla="*/ 4301543 w 4610636"/>
                  <a:gd name="connsiteY2" fmla="*/ 695460 h 695460"/>
                  <a:gd name="connsiteX3" fmla="*/ 283335 w 4610636"/>
                  <a:gd name="connsiteY3" fmla="*/ 695460 h 695460"/>
                  <a:gd name="connsiteX4" fmla="*/ 0 w 4610636"/>
                  <a:gd name="connsiteY4" fmla="*/ 0 h 695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10636" h="695460">
                    <a:moveTo>
                      <a:pt x="0" y="0"/>
                    </a:moveTo>
                    <a:lnTo>
                      <a:pt x="4610636" y="0"/>
                    </a:lnTo>
                    <a:lnTo>
                      <a:pt x="4301543" y="695460"/>
                    </a:lnTo>
                    <a:lnTo>
                      <a:pt x="283335" y="69546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F2B1B8B-EFC5-FF3C-19C2-43ECD1029DAF}"/>
                  </a:ext>
                </a:extLst>
              </p:cNvPr>
              <p:cNvSpPr/>
              <p:nvPr/>
            </p:nvSpPr>
            <p:spPr bwMode="auto">
              <a:xfrm>
                <a:off x="2354684" y="2547867"/>
                <a:ext cx="4007479" cy="259727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69" name="Group 143">
              <a:extLst>
                <a:ext uri="{FF2B5EF4-FFF2-40B4-BE49-F238E27FC236}">
                  <a16:creationId xmlns:a16="http://schemas.microsoft.com/office/drawing/2014/main" id="{DCB3CE90-7AA6-C943-F190-3E407C2D2A5B}"/>
                </a:ext>
              </a:extLst>
            </p:cNvPr>
            <p:cNvGrpSpPr/>
            <p:nvPr/>
          </p:nvGrpSpPr>
          <p:grpSpPr>
            <a:xfrm>
              <a:off x="2645534" y="2846235"/>
              <a:ext cx="3747752" cy="875761"/>
              <a:chOff x="2485623" y="2871991"/>
              <a:chExt cx="3747752" cy="875761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3BFBD1-EE94-CBEF-8675-B3F707A0AB7D}"/>
                  </a:ext>
                </a:extLst>
              </p:cNvPr>
              <p:cNvSpPr/>
              <p:nvPr/>
            </p:nvSpPr>
            <p:spPr bwMode="auto">
              <a:xfrm>
                <a:off x="2485623" y="2871991"/>
                <a:ext cx="3734873" cy="244696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1" name="Freeform 10">
                <a:extLst>
                  <a:ext uri="{FF2B5EF4-FFF2-40B4-BE49-F238E27FC236}">
                    <a16:creationId xmlns:a16="http://schemas.microsoft.com/office/drawing/2014/main" id="{EDBC2605-4494-949F-47C9-88117DFFC396}"/>
                  </a:ext>
                </a:extLst>
              </p:cNvPr>
              <p:cNvSpPr/>
              <p:nvPr/>
            </p:nvSpPr>
            <p:spPr bwMode="auto">
              <a:xfrm>
                <a:off x="2498501" y="3000777"/>
                <a:ext cx="3734874" cy="618186"/>
              </a:xfrm>
              <a:custGeom>
                <a:avLst/>
                <a:gdLst>
                  <a:gd name="connsiteX0" fmla="*/ 0 w 3734874"/>
                  <a:gd name="connsiteY0" fmla="*/ 0 h 618186"/>
                  <a:gd name="connsiteX1" fmla="*/ 3734874 w 3734874"/>
                  <a:gd name="connsiteY1" fmla="*/ 0 h 618186"/>
                  <a:gd name="connsiteX2" fmla="*/ 3464417 w 3734874"/>
                  <a:gd name="connsiteY2" fmla="*/ 618186 h 618186"/>
                  <a:gd name="connsiteX3" fmla="*/ 257578 w 3734874"/>
                  <a:gd name="connsiteY3" fmla="*/ 618186 h 618186"/>
                  <a:gd name="connsiteX4" fmla="*/ 0 w 3734874"/>
                  <a:gd name="connsiteY4" fmla="*/ 0 h 618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34874" h="618186">
                    <a:moveTo>
                      <a:pt x="0" y="0"/>
                    </a:moveTo>
                    <a:lnTo>
                      <a:pt x="3734874" y="0"/>
                    </a:lnTo>
                    <a:lnTo>
                      <a:pt x="3464417" y="618186"/>
                    </a:lnTo>
                    <a:lnTo>
                      <a:pt x="257578" y="61818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77B7EF45-520C-DF81-F9CA-18F6FBADD318}"/>
                  </a:ext>
                </a:extLst>
              </p:cNvPr>
              <p:cNvSpPr/>
              <p:nvPr/>
            </p:nvSpPr>
            <p:spPr bwMode="auto">
              <a:xfrm>
                <a:off x="2756082" y="3490183"/>
                <a:ext cx="3206836" cy="257569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73" name="Group 144">
              <a:extLst>
                <a:ext uri="{FF2B5EF4-FFF2-40B4-BE49-F238E27FC236}">
                  <a16:creationId xmlns:a16="http://schemas.microsoft.com/office/drawing/2014/main" id="{4CA841B0-BC76-8700-3FFC-326D98A4FB7A}"/>
                </a:ext>
              </a:extLst>
            </p:cNvPr>
            <p:cNvGrpSpPr/>
            <p:nvPr/>
          </p:nvGrpSpPr>
          <p:grpSpPr>
            <a:xfrm>
              <a:off x="3056585" y="3758487"/>
              <a:ext cx="2925650" cy="761999"/>
              <a:chOff x="2895601" y="3810001"/>
              <a:chExt cx="2925650" cy="761999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03A6764-773D-4F72-500B-6FF606C88CB8}"/>
                  </a:ext>
                </a:extLst>
              </p:cNvPr>
              <p:cNvSpPr/>
              <p:nvPr/>
            </p:nvSpPr>
            <p:spPr bwMode="auto">
              <a:xfrm>
                <a:off x="2895601" y="3810001"/>
                <a:ext cx="2912772" cy="246843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5" name="Freeform 14">
                <a:extLst>
                  <a:ext uri="{FF2B5EF4-FFF2-40B4-BE49-F238E27FC236}">
                    <a16:creationId xmlns:a16="http://schemas.microsoft.com/office/drawing/2014/main" id="{655C763B-2709-7001-0A8E-1A69B9928A5F}"/>
                  </a:ext>
                </a:extLst>
              </p:cNvPr>
              <p:cNvSpPr/>
              <p:nvPr/>
            </p:nvSpPr>
            <p:spPr bwMode="auto">
              <a:xfrm>
                <a:off x="2910625" y="3940935"/>
                <a:ext cx="2910626" cy="540913"/>
              </a:xfrm>
              <a:custGeom>
                <a:avLst/>
                <a:gdLst>
                  <a:gd name="connsiteX0" fmla="*/ 0 w 2910626"/>
                  <a:gd name="connsiteY0" fmla="*/ 0 h 540913"/>
                  <a:gd name="connsiteX1" fmla="*/ 2910626 w 2910626"/>
                  <a:gd name="connsiteY1" fmla="*/ 0 h 540913"/>
                  <a:gd name="connsiteX2" fmla="*/ 2665927 w 2910626"/>
                  <a:gd name="connsiteY2" fmla="*/ 540913 h 540913"/>
                  <a:gd name="connsiteX3" fmla="*/ 231820 w 2910626"/>
                  <a:gd name="connsiteY3" fmla="*/ 540913 h 540913"/>
                  <a:gd name="connsiteX4" fmla="*/ 0 w 2910626"/>
                  <a:gd name="connsiteY4" fmla="*/ 0 h 540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10626" h="540913">
                    <a:moveTo>
                      <a:pt x="0" y="0"/>
                    </a:moveTo>
                    <a:lnTo>
                      <a:pt x="2910626" y="0"/>
                    </a:lnTo>
                    <a:lnTo>
                      <a:pt x="2665927" y="540913"/>
                    </a:lnTo>
                    <a:lnTo>
                      <a:pt x="231820" y="540913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EACE206-6668-4C62-D01B-57128EB76B27}"/>
                  </a:ext>
                </a:extLst>
              </p:cNvPr>
              <p:cNvSpPr/>
              <p:nvPr/>
            </p:nvSpPr>
            <p:spPr bwMode="auto">
              <a:xfrm>
                <a:off x="3140297" y="4335892"/>
                <a:ext cx="2462013" cy="236108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77" name="Group 145">
              <a:extLst>
                <a:ext uri="{FF2B5EF4-FFF2-40B4-BE49-F238E27FC236}">
                  <a16:creationId xmlns:a16="http://schemas.microsoft.com/office/drawing/2014/main" id="{8BC52CDC-F713-20B4-687C-E5B381CAF817}"/>
                </a:ext>
              </a:extLst>
            </p:cNvPr>
            <p:cNvGrpSpPr/>
            <p:nvPr/>
          </p:nvGrpSpPr>
          <p:grpSpPr>
            <a:xfrm>
              <a:off x="3417194" y="4556975"/>
              <a:ext cx="2204432" cy="658968"/>
              <a:chOff x="3256210" y="4634249"/>
              <a:chExt cx="2204432" cy="658968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0A8E3D2-FE65-F232-D469-B2290CBB65A8}"/>
                  </a:ext>
                </a:extLst>
              </p:cNvPr>
              <p:cNvSpPr/>
              <p:nvPr/>
            </p:nvSpPr>
            <p:spPr bwMode="auto">
              <a:xfrm>
                <a:off x="3256210" y="4634249"/>
                <a:ext cx="2204432" cy="246843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9" name="Freeform 18">
                <a:extLst>
                  <a:ext uri="{FF2B5EF4-FFF2-40B4-BE49-F238E27FC236}">
                    <a16:creationId xmlns:a16="http://schemas.microsoft.com/office/drawing/2014/main" id="{873DE28A-82C0-1AFD-C5DA-825D485473BC}"/>
                  </a:ext>
                </a:extLst>
              </p:cNvPr>
              <p:cNvSpPr/>
              <p:nvPr/>
            </p:nvSpPr>
            <p:spPr bwMode="auto">
              <a:xfrm>
                <a:off x="3271234" y="4765183"/>
                <a:ext cx="2189408" cy="437882"/>
              </a:xfrm>
              <a:custGeom>
                <a:avLst/>
                <a:gdLst>
                  <a:gd name="connsiteX0" fmla="*/ 0 w 2189408"/>
                  <a:gd name="connsiteY0" fmla="*/ 0 h 437882"/>
                  <a:gd name="connsiteX1" fmla="*/ 2189408 w 2189408"/>
                  <a:gd name="connsiteY1" fmla="*/ 0 h 437882"/>
                  <a:gd name="connsiteX2" fmla="*/ 1996225 w 2189408"/>
                  <a:gd name="connsiteY2" fmla="*/ 437882 h 437882"/>
                  <a:gd name="connsiteX3" fmla="*/ 180304 w 2189408"/>
                  <a:gd name="connsiteY3" fmla="*/ 437882 h 437882"/>
                  <a:gd name="connsiteX4" fmla="*/ 0 w 2189408"/>
                  <a:gd name="connsiteY4" fmla="*/ 0 h 437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9408" h="437882">
                    <a:moveTo>
                      <a:pt x="0" y="0"/>
                    </a:moveTo>
                    <a:lnTo>
                      <a:pt x="2189408" y="0"/>
                    </a:lnTo>
                    <a:lnTo>
                      <a:pt x="1996225" y="437882"/>
                    </a:lnTo>
                    <a:lnTo>
                      <a:pt x="180304" y="43788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72FF2E7-B764-5430-12D1-F3B2C8482F71}"/>
                  </a:ext>
                </a:extLst>
              </p:cNvPr>
              <p:cNvSpPr/>
              <p:nvPr/>
            </p:nvSpPr>
            <p:spPr bwMode="auto">
              <a:xfrm>
                <a:off x="3451538" y="5072135"/>
                <a:ext cx="1828800" cy="221082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81" name="Group 146">
              <a:extLst>
                <a:ext uri="{FF2B5EF4-FFF2-40B4-BE49-F238E27FC236}">
                  <a16:creationId xmlns:a16="http://schemas.microsoft.com/office/drawing/2014/main" id="{BECDB4DA-241F-5FDA-ABEC-1C3E93C55121}"/>
                </a:ext>
              </a:extLst>
            </p:cNvPr>
            <p:cNvGrpSpPr/>
            <p:nvPr/>
          </p:nvGrpSpPr>
          <p:grpSpPr>
            <a:xfrm>
              <a:off x="3727361" y="5250294"/>
              <a:ext cx="1584101" cy="774877"/>
              <a:chOff x="3567448" y="5366203"/>
              <a:chExt cx="1584101" cy="774877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FCD99A00-766A-1B58-BD63-64DDF7748A0E}"/>
                  </a:ext>
                </a:extLst>
              </p:cNvPr>
              <p:cNvSpPr/>
              <p:nvPr/>
            </p:nvSpPr>
            <p:spPr bwMode="auto">
              <a:xfrm>
                <a:off x="3578181" y="5366203"/>
                <a:ext cx="1560490" cy="223228"/>
              </a:xfrm>
              <a:prstGeom prst="ellipse">
                <a:avLst/>
              </a:pr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83" name="Freeform 22">
                <a:extLst>
                  <a:ext uri="{FF2B5EF4-FFF2-40B4-BE49-F238E27FC236}">
                    <a16:creationId xmlns:a16="http://schemas.microsoft.com/office/drawing/2014/main" id="{3DBA9A4E-9B2D-488F-A995-B5A10A0DF8FD}"/>
                  </a:ext>
                </a:extLst>
              </p:cNvPr>
              <p:cNvSpPr/>
              <p:nvPr/>
            </p:nvSpPr>
            <p:spPr bwMode="auto">
              <a:xfrm>
                <a:off x="3567448" y="5486400"/>
                <a:ext cx="1584101" cy="553792"/>
              </a:xfrm>
              <a:custGeom>
                <a:avLst/>
                <a:gdLst>
                  <a:gd name="connsiteX0" fmla="*/ 12879 w 1584101"/>
                  <a:gd name="connsiteY0" fmla="*/ 0 h 553792"/>
                  <a:gd name="connsiteX1" fmla="*/ 1584101 w 1584101"/>
                  <a:gd name="connsiteY1" fmla="*/ 0 h 553792"/>
                  <a:gd name="connsiteX2" fmla="*/ 1571222 w 1584101"/>
                  <a:gd name="connsiteY2" fmla="*/ 553792 h 553792"/>
                  <a:gd name="connsiteX3" fmla="*/ 0 w 1584101"/>
                  <a:gd name="connsiteY3" fmla="*/ 553792 h 553792"/>
                  <a:gd name="connsiteX4" fmla="*/ 12879 w 1584101"/>
                  <a:gd name="connsiteY4" fmla="*/ 0 h 553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01" h="553792">
                    <a:moveTo>
                      <a:pt x="12879" y="0"/>
                    </a:moveTo>
                    <a:lnTo>
                      <a:pt x="1584101" y="0"/>
                    </a:lnTo>
                    <a:lnTo>
                      <a:pt x="1571222" y="553792"/>
                    </a:lnTo>
                    <a:lnTo>
                      <a:pt x="0" y="553792"/>
                    </a:lnTo>
                    <a:lnTo>
                      <a:pt x="1287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/>
                  </a:gs>
                </a:gsLst>
                <a:lin ang="0" scaled="0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74A661A-547C-A1F5-D5EC-556118A1D609}"/>
                  </a:ext>
                </a:extLst>
              </p:cNvPr>
              <p:cNvSpPr/>
              <p:nvPr/>
            </p:nvSpPr>
            <p:spPr bwMode="auto">
              <a:xfrm>
                <a:off x="3576033" y="5917852"/>
                <a:ext cx="1560490" cy="223228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71AA699-D97D-1C24-BA94-0D4FD3568F74}"/>
                </a:ext>
              </a:extLst>
            </p:cNvPr>
            <p:cNvSpPr txBox="1"/>
            <p:nvPr/>
          </p:nvSpPr>
          <p:spPr>
            <a:xfrm>
              <a:off x="7219310" y="1310998"/>
              <a:ext cx="189487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VSM / process mapping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ID waste, RMA, Field Issue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Component tech review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Sourcing review,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Standardization, Tooling review, Safety &amp; ROHS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Effort /benefit analysis (Pugh matrix), Cost &amp; revenue cube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Project Plan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8EB554-6FF7-0421-8367-AC63ED92B185}"/>
                </a:ext>
              </a:extLst>
            </p:cNvPr>
            <p:cNvSpPr txBox="1"/>
            <p:nvPr/>
          </p:nvSpPr>
          <p:spPr>
            <a:xfrm>
              <a:off x="7219310" y="2944964"/>
              <a:ext cx="2070281" cy="1195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Product line evaluation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Functionality / </a:t>
              </a:r>
              <a:r>
                <a:rPr lang="en-US" sz="1000" dirty="0" err="1">
                  <a:latin typeface="Roboto" panose="02000000000000000000" pitchFamily="2" charset="0"/>
                  <a:ea typeface="Roboto" panose="02000000000000000000" pitchFamily="2" charset="0"/>
                </a:rPr>
                <a:t>standization</a:t>
              </a: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 analysis, Complexity reduction, Internal approval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Order samples , Initial customer approval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ACE request, Plan sample order  build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D104980-9E10-21BF-2106-CD7AB820538F}"/>
                </a:ext>
              </a:extLst>
            </p:cNvPr>
            <p:cNvSpPr txBox="1"/>
            <p:nvPr/>
          </p:nvSpPr>
          <p:spPr>
            <a:xfrm>
              <a:off x="7186476" y="4784503"/>
              <a:ext cx="18813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Final customer approval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Production trial runs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1C3F346-69ED-F963-7BEC-E1D7E67AEFC5}"/>
                </a:ext>
              </a:extLst>
            </p:cNvPr>
            <p:cNvSpPr txBox="1"/>
            <p:nvPr/>
          </p:nvSpPr>
          <p:spPr>
            <a:xfrm>
              <a:off x="3661558" y="2109991"/>
              <a:ext cx="16899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W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eigh &amp; Qualify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8D1C0A8-EAF3-2560-0424-C75D55CB4058}"/>
                </a:ext>
              </a:extLst>
            </p:cNvPr>
            <p:cNvSpPr txBox="1"/>
            <p:nvPr/>
          </p:nvSpPr>
          <p:spPr>
            <a:xfrm>
              <a:off x="3710803" y="3035119"/>
              <a:ext cx="15914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R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efine &amp; Select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54E189A-6BE5-0CFB-BE8D-16822A71D84C}"/>
                </a:ext>
              </a:extLst>
            </p:cNvPr>
            <p:cNvSpPr txBox="1"/>
            <p:nvPr/>
          </p:nvSpPr>
          <p:spPr>
            <a:xfrm>
              <a:off x="3566375" y="3895852"/>
              <a:ext cx="1880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V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alidate Changes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10A0D94-2662-19A9-047A-657CDED94C27}"/>
                </a:ext>
              </a:extLst>
            </p:cNvPr>
            <p:cNvSpPr txBox="1"/>
            <p:nvPr/>
          </p:nvSpPr>
          <p:spPr>
            <a:xfrm>
              <a:off x="3878011" y="4602041"/>
              <a:ext cx="125704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A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pprove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92495FA-73B1-C0F9-4C57-D4D122407E71}"/>
                </a:ext>
              </a:extLst>
            </p:cNvPr>
            <p:cNvSpPr txBox="1"/>
            <p:nvPr/>
          </p:nvSpPr>
          <p:spPr>
            <a:xfrm>
              <a:off x="3869028" y="5398384"/>
              <a:ext cx="12750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R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amp-Up</a:t>
              </a:r>
            </a:p>
          </p:txBody>
        </p:sp>
        <p:sp>
          <p:nvSpPr>
            <p:cNvPr id="93" name="Pentagon 34">
              <a:extLst>
                <a:ext uri="{FF2B5EF4-FFF2-40B4-BE49-F238E27FC236}">
                  <a16:creationId xmlns:a16="http://schemas.microsoft.com/office/drawing/2014/main" id="{7667D2B8-9603-D2A3-4796-000C3079B545}"/>
                </a:ext>
              </a:extLst>
            </p:cNvPr>
            <p:cNvSpPr/>
            <p:nvPr/>
          </p:nvSpPr>
          <p:spPr bwMode="auto">
            <a:xfrm rot="5400000">
              <a:off x="867941" y="1148701"/>
              <a:ext cx="808795" cy="1267474"/>
            </a:xfrm>
            <a:prstGeom prst="homePlate">
              <a:avLst>
                <a:gd name="adj" fmla="val 24714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Pipeline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</a:rPr>
                <a:t>Bi</a:t>
              </a: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-weekly Event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3DC42E3-9035-55A7-A657-336EB13F99E5}"/>
                </a:ext>
              </a:extLst>
            </p:cNvPr>
            <p:cNvSpPr txBox="1"/>
            <p:nvPr/>
          </p:nvSpPr>
          <p:spPr>
            <a:xfrm>
              <a:off x="7222905" y="5257802"/>
              <a:ext cx="19210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Production ramp-up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Monitor/track bowler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Quality monitoring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Lessons learned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Close project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Team recognition </a:t>
              </a:r>
            </a:p>
          </p:txBody>
        </p:sp>
        <p:sp>
          <p:nvSpPr>
            <p:cNvPr id="95" name="Chevron 36">
              <a:extLst>
                <a:ext uri="{FF2B5EF4-FFF2-40B4-BE49-F238E27FC236}">
                  <a16:creationId xmlns:a16="http://schemas.microsoft.com/office/drawing/2014/main" id="{EB7FA2B0-FF94-EBC4-7E98-7F8C31B5E567}"/>
                </a:ext>
              </a:extLst>
            </p:cNvPr>
            <p:cNvSpPr/>
            <p:nvPr/>
          </p:nvSpPr>
          <p:spPr bwMode="auto">
            <a:xfrm rot="5400000">
              <a:off x="816892" y="1874799"/>
              <a:ext cx="914401" cy="1286046"/>
            </a:xfrm>
            <a:prstGeom prst="chevron">
              <a:avLst>
                <a:gd name="adj" fmla="val 20606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Weigh &amp; Qualify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3-4 weeks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6" name="Left Brace 95">
              <a:extLst>
                <a:ext uri="{FF2B5EF4-FFF2-40B4-BE49-F238E27FC236}">
                  <a16:creationId xmlns:a16="http://schemas.microsoft.com/office/drawing/2014/main" id="{B446297B-DF98-1246-8377-B952943D8D95}"/>
                </a:ext>
              </a:extLst>
            </p:cNvPr>
            <p:cNvSpPr/>
            <p:nvPr/>
          </p:nvSpPr>
          <p:spPr bwMode="auto">
            <a:xfrm>
              <a:off x="6981424" y="1313646"/>
              <a:ext cx="321972" cy="1658155"/>
            </a:xfrm>
            <a:prstGeom prst="leftBrace">
              <a:avLst>
                <a:gd name="adj1" fmla="val 8333"/>
                <a:gd name="adj2" fmla="val 69278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7" name="Chevron 38">
              <a:extLst>
                <a:ext uri="{FF2B5EF4-FFF2-40B4-BE49-F238E27FC236}">
                  <a16:creationId xmlns:a16="http://schemas.microsoft.com/office/drawing/2014/main" id="{E3F13EBB-9DB0-B635-A8C1-2F4F353F5AF7}"/>
                </a:ext>
              </a:extLst>
            </p:cNvPr>
            <p:cNvSpPr/>
            <p:nvPr/>
          </p:nvSpPr>
          <p:spPr bwMode="auto">
            <a:xfrm rot="5400000">
              <a:off x="827625" y="2658265"/>
              <a:ext cx="914401" cy="1286046"/>
            </a:xfrm>
            <a:prstGeom prst="chevron">
              <a:avLst>
                <a:gd name="adj" fmla="val 20606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Refine &amp; Select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2-3 weeks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8" name="Chevron 39">
              <a:extLst>
                <a:ext uri="{FF2B5EF4-FFF2-40B4-BE49-F238E27FC236}">
                  <a16:creationId xmlns:a16="http://schemas.microsoft.com/office/drawing/2014/main" id="{1C788A57-88AA-F7AF-5BAC-58AAFFABF24F}"/>
                </a:ext>
              </a:extLst>
            </p:cNvPr>
            <p:cNvSpPr/>
            <p:nvPr/>
          </p:nvSpPr>
          <p:spPr bwMode="auto">
            <a:xfrm rot="5400000">
              <a:off x="827625" y="3456754"/>
              <a:ext cx="914401" cy="1286046"/>
            </a:xfrm>
            <a:prstGeom prst="chevron">
              <a:avLst>
                <a:gd name="adj" fmla="val 20606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Validate Changes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6-10 weeks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9" name="Chevron 40">
              <a:extLst>
                <a:ext uri="{FF2B5EF4-FFF2-40B4-BE49-F238E27FC236}">
                  <a16:creationId xmlns:a16="http://schemas.microsoft.com/office/drawing/2014/main" id="{44E81FB7-FA1C-660B-9495-BB67B1B63578}"/>
                </a:ext>
              </a:extLst>
            </p:cNvPr>
            <p:cNvSpPr/>
            <p:nvPr/>
          </p:nvSpPr>
          <p:spPr bwMode="auto">
            <a:xfrm rot="5400000">
              <a:off x="840503" y="4242366"/>
              <a:ext cx="914401" cy="1286046"/>
            </a:xfrm>
            <a:prstGeom prst="chevron">
              <a:avLst>
                <a:gd name="adj" fmla="val 20606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Approve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3-4 weeks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0" name="Chevron 41">
              <a:extLst>
                <a:ext uri="{FF2B5EF4-FFF2-40B4-BE49-F238E27FC236}">
                  <a16:creationId xmlns:a16="http://schemas.microsoft.com/office/drawing/2014/main" id="{B5EEEE12-97BF-D7CB-A4D8-8BF75ABD6FAA}"/>
                </a:ext>
              </a:extLst>
            </p:cNvPr>
            <p:cNvSpPr/>
            <p:nvPr/>
          </p:nvSpPr>
          <p:spPr bwMode="auto">
            <a:xfrm rot="5400000">
              <a:off x="840503" y="5027978"/>
              <a:ext cx="914401" cy="1286046"/>
            </a:xfrm>
            <a:prstGeom prst="chevron">
              <a:avLst>
                <a:gd name="adj" fmla="val 20606"/>
              </a:avLst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vert270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Ramp-Up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8-12 weeks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1" name="Left Brace 100">
              <a:extLst>
                <a:ext uri="{FF2B5EF4-FFF2-40B4-BE49-F238E27FC236}">
                  <a16:creationId xmlns:a16="http://schemas.microsoft.com/office/drawing/2014/main" id="{DD15CAA1-58F4-5B8A-171F-73A1F49403B1}"/>
                </a:ext>
              </a:extLst>
            </p:cNvPr>
            <p:cNvSpPr/>
            <p:nvPr/>
          </p:nvSpPr>
          <p:spPr bwMode="auto">
            <a:xfrm>
              <a:off x="6981424" y="2971801"/>
              <a:ext cx="321972" cy="1110802"/>
            </a:xfrm>
            <a:prstGeom prst="leftBrace">
              <a:avLst>
                <a:gd name="adj1" fmla="val 8333"/>
                <a:gd name="adj2" fmla="val 22359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2" name="Left Brace 101">
              <a:extLst>
                <a:ext uri="{FF2B5EF4-FFF2-40B4-BE49-F238E27FC236}">
                  <a16:creationId xmlns:a16="http://schemas.microsoft.com/office/drawing/2014/main" id="{F4D2CE5A-EF79-71E6-8B54-47FA6C689DF1}"/>
                </a:ext>
              </a:extLst>
            </p:cNvPr>
            <p:cNvSpPr/>
            <p:nvPr/>
          </p:nvSpPr>
          <p:spPr bwMode="auto">
            <a:xfrm>
              <a:off x="6981424" y="5267459"/>
              <a:ext cx="321972" cy="1043188"/>
            </a:xfrm>
            <a:prstGeom prst="leftBrace">
              <a:avLst>
                <a:gd name="adj1" fmla="val 8333"/>
                <a:gd name="adj2" fmla="val 30866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130D716-C26E-CBD0-1EF0-5BA470102ACF}"/>
                </a:ext>
              </a:extLst>
            </p:cNvPr>
            <p:cNvSpPr txBox="1"/>
            <p:nvPr/>
          </p:nvSpPr>
          <p:spPr>
            <a:xfrm>
              <a:off x="4101162" y="965918"/>
              <a:ext cx="810740" cy="39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P</a:t>
              </a:r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ipeline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1FC5926-CFC4-5EE5-6779-34CB26F75F11}"/>
                </a:ext>
              </a:extLst>
            </p:cNvPr>
            <p:cNvSpPr txBox="1"/>
            <p:nvPr/>
          </p:nvSpPr>
          <p:spPr>
            <a:xfrm>
              <a:off x="7222905" y="4082604"/>
              <a:ext cx="19210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Design &amp; Process validation</a:t>
              </a:r>
            </a:p>
            <a:p>
              <a:pPr algn="l">
                <a:buFont typeface="Arial" pitchFamily="34" charset="0"/>
                <a:buChar char="•"/>
              </a:pPr>
              <a:r>
                <a:rPr lang="en-US" sz="1000" dirty="0">
                  <a:latin typeface="Roboto" panose="02000000000000000000" pitchFamily="2" charset="0"/>
                  <a:ea typeface="Roboto" panose="02000000000000000000" pitchFamily="2" charset="0"/>
                </a:rPr>
                <a:t>Kick-off tooling, Profit/ revenue growth bowler</a:t>
              </a:r>
            </a:p>
          </p:txBody>
        </p:sp>
        <p:sp>
          <p:nvSpPr>
            <p:cNvPr id="105" name="Left Brace 104">
              <a:extLst>
                <a:ext uri="{FF2B5EF4-FFF2-40B4-BE49-F238E27FC236}">
                  <a16:creationId xmlns:a16="http://schemas.microsoft.com/office/drawing/2014/main" id="{F40FBCDD-D4E4-F014-EC09-5E1B53C5A26D}"/>
                </a:ext>
              </a:extLst>
            </p:cNvPr>
            <p:cNvSpPr/>
            <p:nvPr/>
          </p:nvSpPr>
          <p:spPr bwMode="auto">
            <a:xfrm>
              <a:off x="6981424" y="4127688"/>
              <a:ext cx="321972" cy="521587"/>
            </a:xfrm>
            <a:prstGeom prst="leftBrace">
              <a:avLst>
                <a:gd name="adj1" fmla="val 8333"/>
                <a:gd name="adj2" fmla="val 23459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6" name="Left Brace 105">
              <a:extLst>
                <a:ext uri="{FF2B5EF4-FFF2-40B4-BE49-F238E27FC236}">
                  <a16:creationId xmlns:a16="http://schemas.microsoft.com/office/drawing/2014/main" id="{53C14959-DBC2-CAFF-FDB4-AF9D3A543758}"/>
                </a:ext>
              </a:extLst>
            </p:cNvPr>
            <p:cNvSpPr/>
            <p:nvPr/>
          </p:nvSpPr>
          <p:spPr bwMode="auto">
            <a:xfrm>
              <a:off x="6955132" y="4743728"/>
              <a:ext cx="374559" cy="446461"/>
            </a:xfrm>
            <a:prstGeom prst="leftBrace">
              <a:avLst>
                <a:gd name="adj1" fmla="val 8333"/>
                <a:gd name="adj2" fmla="val 43212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A712538-5BFD-E6D5-1A07-E898C3881F9E}"/>
                </a:ext>
              </a:extLst>
            </p:cNvPr>
            <p:cNvSpPr txBox="1"/>
            <p:nvPr/>
          </p:nvSpPr>
          <p:spPr>
            <a:xfrm>
              <a:off x="1957583" y="1598057"/>
              <a:ext cx="1172801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Process Excellence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7A5A34B-CE10-FD41-02CA-812EF745F6E5}"/>
                </a:ext>
              </a:extLst>
            </p:cNvPr>
            <p:cNvSpPr txBox="1"/>
            <p:nvPr/>
          </p:nvSpPr>
          <p:spPr>
            <a:xfrm>
              <a:off x="3302096" y="1598057"/>
              <a:ext cx="1662977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Mfg Material Standardization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E0795AD-2DA2-8510-E039-077297D41632}"/>
                </a:ext>
              </a:extLst>
            </p:cNvPr>
            <p:cNvSpPr txBox="1"/>
            <p:nvPr/>
          </p:nvSpPr>
          <p:spPr>
            <a:xfrm>
              <a:off x="2056314" y="1244959"/>
              <a:ext cx="1903887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Component Complexity Reduction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5BB1552-0945-B4AA-AB54-4CA15B4636FC}"/>
                </a:ext>
              </a:extLst>
            </p:cNvPr>
            <p:cNvSpPr txBox="1"/>
            <p:nvPr/>
          </p:nvSpPr>
          <p:spPr>
            <a:xfrm>
              <a:off x="4284370" y="1244959"/>
              <a:ext cx="1656013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Product Line Standardization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79B09F7-C0EB-9BBD-A260-F86E229EE403}"/>
                </a:ext>
              </a:extLst>
            </p:cNvPr>
            <p:cNvSpPr txBox="1"/>
            <p:nvPr/>
          </p:nvSpPr>
          <p:spPr>
            <a:xfrm>
              <a:off x="2161510" y="1427411"/>
              <a:ext cx="2423305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Convert Initial Tooling to Volume Production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07BC9BD-45CC-B8BE-D4ED-5AA694BAC91B}"/>
                </a:ext>
              </a:extLst>
            </p:cNvPr>
            <p:cNvSpPr txBox="1"/>
            <p:nvPr/>
          </p:nvSpPr>
          <p:spPr>
            <a:xfrm>
              <a:off x="5201246" y="1598057"/>
              <a:ext cx="1572461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Product Line re-fresh (EOL)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B408D11-B17B-083B-B9BA-C12F26B0C930}"/>
                </a:ext>
              </a:extLst>
            </p:cNvPr>
            <p:cNvSpPr txBox="1"/>
            <p:nvPr/>
          </p:nvSpPr>
          <p:spPr>
            <a:xfrm>
              <a:off x="6252682" y="1244959"/>
              <a:ext cx="550334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Quality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23BE2A4-5B50-07E9-19D0-6CC605FEFEB9}"/>
                </a:ext>
              </a:extLst>
            </p:cNvPr>
            <p:cNvSpPr txBox="1"/>
            <p:nvPr/>
          </p:nvSpPr>
          <p:spPr>
            <a:xfrm>
              <a:off x="4874653" y="1427411"/>
              <a:ext cx="1594742" cy="289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sz="1000" b="1" dirty="0">
                  <a:latin typeface="Roboto" panose="02000000000000000000" pitchFamily="2" charset="0"/>
                  <a:ea typeface="Roboto" panose="02000000000000000000" pitchFamily="2" charset="0"/>
                </a:rPr>
                <a:t>Commodity Standardization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ACB0EDF-F456-2342-62DA-AEDE6FBDE1E7}"/>
                </a:ext>
              </a:extLst>
            </p:cNvPr>
            <p:cNvSpPr txBox="1"/>
            <p:nvPr/>
          </p:nvSpPr>
          <p:spPr>
            <a:xfrm>
              <a:off x="399163" y="1017432"/>
              <a:ext cx="1740959" cy="4348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Roboto" panose="02000000000000000000" pitchFamily="2" charset="0"/>
                  <a:ea typeface="Roboto" panose="02000000000000000000" pitchFamily="2" charset="0"/>
                </a:rPr>
                <a:t>Phase &amp; Timeline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8F8A167-FE8A-5EED-BE19-A9CCB7EE56BA}"/>
                </a:ext>
              </a:extLst>
            </p:cNvPr>
            <p:cNvSpPr txBox="1"/>
            <p:nvPr/>
          </p:nvSpPr>
          <p:spPr>
            <a:xfrm>
              <a:off x="7198821" y="1017432"/>
              <a:ext cx="1505619" cy="4348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Roboto" panose="02000000000000000000" pitchFamily="2" charset="0"/>
                  <a:ea typeface="Roboto" panose="02000000000000000000" pitchFamily="2" charset="0"/>
                </a:rPr>
                <a:t>Events &amp; Tools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6039281-33A1-9AC4-F89A-9F194A1011D1}"/>
                </a:ext>
              </a:extLst>
            </p:cNvPr>
            <p:cNvSpPr txBox="1"/>
            <p:nvPr/>
          </p:nvSpPr>
          <p:spPr>
            <a:xfrm>
              <a:off x="60969" y="1465605"/>
              <a:ext cx="632298" cy="54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AB15343-0DB9-B786-E4B8-D35BBC1C7305}"/>
                </a:ext>
              </a:extLst>
            </p:cNvPr>
            <p:cNvSpPr txBox="1"/>
            <p:nvPr/>
          </p:nvSpPr>
          <p:spPr>
            <a:xfrm>
              <a:off x="47993" y="2250325"/>
              <a:ext cx="632298" cy="326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I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217AFE2-2BBC-921C-CA82-0294651FFFEE}"/>
                </a:ext>
              </a:extLst>
            </p:cNvPr>
            <p:cNvSpPr txBox="1"/>
            <p:nvPr/>
          </p:nvSpPr>
          <p:spPr>
            <a:xfrm>
              <a:off x="54473" y="2966949"/>
              <a:ext cx="632298" cy="54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II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86F42CD-BDD8-1CF7-C354-086FBA97158D}"/>
                </a:ext>
              </a:extLst>
            </p:cNvPr>
            <p:cNvSpPr txBox="1"/>
            <p:nvPr/>
          </p:nvSpPr>
          <p:spPr>
            <a:xfrm>
              <a:off x="60953" y="3771675"/>
              <a:ext cx="632298" cy="54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III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0F2CA68-E110-F833-2533-627FDD715B02}"/>
                </a:ext>
              </a:extLst>
            </p:cNvPr>
            <p:cNvSpPr txBox="1"/>
            <p:nvPr/>
          </p:nvSpPr>
          <p:spPr>
            <a:xfrm>
              <a:off x="57705" y="4605036"/>
              <a:ext cx="632298" cy="54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IV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1BC108E3-CFA5-91A2-E59D-D71652CBE81A}"/>
                </a:ext>
              </a:extLst>
            </p:cNvPr>
            <p:cNvSpPr txBox="1"/>
            <p:nvPr/>
          </p:nvSpPr>
          <p:spPr>
            <a:xfrm>
              <a:off x="73913" y="5370299"/>
              <a:ext cx="632298" cy="54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Phase V</a:t>
              </a:r>
            </a:p>
          </p:txBody>
        </p:sp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0AC7CF64-98CC-F81D-BA18-F564FC9ED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l="3372" t="6522" r="52729" b="6522"/>
            <a:stretch>
              <a:fillRect/>
            </a:stretch>
          </p:blipFill>
          <p:spPr bwMode="auto">
            <a:xfrm>
              <a:off x="2209800" y="4953000"/>
              <a:ext cx="12192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4" name="Picture 3">
              <a:extLst>
                <a:ext uri="{FF2B5EF4-FFF2-40B4-BE49-F238E27FC236}">
                  <a16:creationId xmlns:a16="http://schemas.microsoft.com/office/drawing/2014/main" id="{D183A7C6-736D-252F-FC46-B6431E9516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33600" y="4572000"/>
              <a:ext cx="1242478" cy="388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6732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EIP-VA/VE Event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3</a:t>
            </a:fld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62AF538-40EA-4EFD-EF14-5E4ECA4DACD4}"/>
              </a:ext>
            </a:extLst>
          </p:cNvPr>
          <p:cNvGrpSpPr/>
          <p:nvPr/>
        </p:nvGrpSpPr>
        <p:grpSpPr>
          <a:xfrm>
            <a:off x="838200" y="2033270"/>
            <a:ext cx="10660380" cy="4143693"/>
            <a:chOff x="1356360" y="2033270"/>
            <a:chExt cx="8737600" cy="3740280"/>
          </a:xfrm>
        </p:grpSpPr>
        <p:sp>
          <p:nvSpPr>
            <p:cNvPr id="3" name="Rectangle 184">
              <a:extLst>
                <a:ext uri="{FF2B5EF4-FFF2-40B4-BE49-F238E27FC236}">
                  <a16:creationId xmlns:a16="http://schemas.microsoft.com/office/drawing/2014/main" id="{18387D49-B4E4-194E-C9E2-6FC8928FB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673" y="2041208"/>
              <a:ext cx="2016125" cy="422405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noAutofit/>
            </a:bodyPr>
            <a:lstStyle/>
            <a:p>
              <a:pPr algn="ctr">
                <a:defRPr/>
              </a:pPr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</a:rPr>
                <a:t>II. Pre-Event Work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7E83F0-E137-5C6F-3431-915ABB394135}"/>
                </a:ext>
              </a:extLst>
            </p:cNvPr>
            <p:cNvSpPr/>
            <p:nvPr/>
          </p:nvSpPr>
          <p:spPr bwMode="auto">
            <a:xfrm>
              <a:off x="1356360" y="5351145"/>
              <a:ext cx="8737600" cy="422405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 anchor="ctr">
              <a:noAutofit/>
            </a:bodyPr>
            <a:lstStyle/>
            <a:p>
              <a:pPr algn="ctr">
                <a:defRPr/>
              </a:pPr>
              <a:r>
                <a:rPr lang="en-US" sz="2000" dirty="0">
                  <a:latin typeface="Roboto" panose="02000000000000000000" pitchFamily="2" charset="0"/>
                  <a:ea typeface="Roboto" panose="02000000000000000000" pitchFamily="2" charset="0"/>
                </a:rPr>
                <a:t>Post VA/VE Event- Phase III – Phase V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392E3C7-7DF0-6F4F-1164-A9F3B243D41B}"/>
                </a:ext>
              </a:extLst>
            </p:cNvPr>
            <p:cNvSpPr/>
            <p:nvPr/>
          </p:nvSpPr>
          <p:spPr bwMode="auto">
            <a:xfrm>
              <a:off x="6801485" y="2033270"/>
              <a:ext cx="3292475" cy="422405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72000" rIns="72000" bIns="72000" anchor="ctr">
              <a:noAutofit/>
            </a:bodyPr>
            <a:lstStyle/>
            <a:p>
              <a:pPr algn="ctr">
                <a:defRPr/>
              </a:pPr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</a:rPr>
                <a:t>III. Event Activities-Phase 1 &amp; II </a:t>
              </a:r>
            </a:p>
          </p:txBody>
        </p:sp>
        <p:sp>
          <p:nvSpPr>
            <p:cNvPr id="7" name="Rectangle 184">
              <a:extLst>
                <a:ext uri="{FF2B5EF4-FFF2-40B4-BE49-F238E27FC236}">
                  <a16:creationId xmlns:a16="http://schemas.microsoft.com/office/drawing/2014/main" id="{74355B37-8FC4-3924-E39B-7D3E5A60A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360" y="2048899"/>
              <a:ext cx="3357563" cy="414619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sz="1200" b="1" dirty="0">
                  <a:latin typeface="Roboto" panose="02000000000000000000" pitchFamily="2" charset="0"/>
                  <a:ea typeface="Roboto" panose="02000000000000000000" pitchFamily="2" charset="0"/>
                </a:rPr>
                <a:t>I. Phase 0- Project Selection from Pipeline And Target Setting Process</a:t>
              </a:r>
            </a:p>
          </p:txBody>
        </p:sp>
        <p:sp>
          <p:nvSpPr>
            <p:cNvPr id="11" name="Rectangle 53">
              <a:extLst>
                <a:ext uri="{FF2B5EF4-FFF2-40B4-BE49-F238E27FC236}">
                  <a16:creationId xmlns:a16="http://schemas.microsoft.com/office/drawing/2014/main" id="{8FD0381F-05FF-88D6-BC3D-4866536C5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448" y="3084650"/>
              <a:ext cx="914400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Profitability Analysis</a:t>
              </a:r>
            </a:p>
          </p:txBody>
        </p:sp>
        <p:sp>
          <p:nvSpPr>
            <p:cNvPr id="12" name="Rectangle 54">
              <a:extLst>
                <a:ext uri="{FF2B5EF4-FFF2-40B4-BE49-F238E27FC236}">
                  <a16:creationId xmlns:a16="http://schemas.microsoft.com/office/drawing/2014/main" id="{25EEB613-A484-B3EF-BE9A-EAFD6FDF7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448" y="3930885"/>
              <a:ext cx="914400" cy="568805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Cost Based Project Selection</a:t>
              </a:r>
            </a:p>
          </p:txBody>
        </p:sp>
        <p:sp>
          <p:nvSpPr>
            <p:cNvPr id="13" name="Rectangle 55">
              <a:extLst>
                <a:ext uri="{FF2B5EF4-FFF2-40B4-BE49-F238E27FC236}">
                  <a16:creationId xmlns:a16="http://schemas.microsoft.com/office/drawing/2014/main" id="{EEC09440-343C-2BAA-84D6-BBC47801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3798" y="3509306"/>
              <a:ext cx="960437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Project Prioritization</a:t>
              </a:r>
            </a:p>
          </p:txBody>
        </p:sp>
        <p:sp>
          <p:nvSpPr>
            <p:cNvPr id="14" name="Rectangle 79">
              <a:extLst>
                <a:ext uri="{FF2B5EF4-FFF2-40B4-BE49-F238E27FC236}">
                  <a16:creationId xmlns:a16="http://schemas.microsoft.com/office/drawing/2014/main" id="{BF1EE721-684E-E626-C42C-ABADDD99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1498" y="2895637"/>
              <a:ext cx="914400" cy="277102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VOC Analysis</a:t>
              </a:r>
            </a:p>
          </p:txBody>
        </p:sp>
        <p:sp>
          <p:nvSpPr>
            <p:cNvPr id="15" name="Rectangle 80">
              <a:extLst>
                <a:ext uri="{FF2B5EF4-FFF2-40B4-BE49-F238E27FC236}">
                  <a16:creationId xmlns:a16="http://schemas.microsoft.com/office/drawing/2014/main" id="{231FE2A6-08EF-9296-E466-557508C73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1498" y="3479143"/>
              <a:ext cx="914400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>
                  <a:latin typeface="Roboto" panose="02000000000000000000" pitchFamily="2" charset="0"/>
                  <a:ea typeface="Roboto" panose="02000000000000000000" pitchFamily="2" charset="0"/>
                </a:rPr>
                <a:t>Competitive Analysis</a:t>
              </a:r>
            </a:p>
          </p:txBody>
        </p:sp>
        <p:sp>
          <p:nvSpPr>
            <p:cNvPr id="16" name="Rectangle 81">
              <a:extLst>
                <a:ext uri="{FF2B5EF4-FFF2-40B4-BE49-F238E27FC236}">
                  <a16:creationId xmlns:a16="http://schemas.microsoft.com/office/drawing/2014/main" id="{32A4CCAE-D9AD-1A7C-FE69-CAEC2294E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1498" y="4142718"/>
              <a:ext cx="914400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Function Cost Analysis</a:t>
              </a:r>
            </a:p>
          </p:txBody>
        </p:sp>
        <p:sp>
          <p:nvSpPr>
            <p:cNvPr id="17" name="Rectangle 82">
              <a:extLst>
                <a:ext uri="{FF2B5EF4-FFF2-40B4-BE49-F238E27FC236}">
                  <a16:creationId xmlns:a16="http://schemas.microsoft.com/office/drawing/2014/main" id="{1266A21E-073C-AEF6-738E-0B3F2C6BA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0373" y="3010136"/>
              <a:ext cx="868362" cy="568805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Complexity Reduction Analysis</a:t>
              </a:r>
            </a:p>
          </p:txBody>
        </p:sp>
        <p:sp>
          <p:nvSpPr>
            <p:cNvPr id="18" name="Rectangle 83">
              <a:extLst>
                <a:ext uri="{FF2B5EF4-FFF2-40B4-BE49-F238E27FC236}">
                  <a16:creationId xmlns:a16="http://schemas.microsoft.com/office/drawing/2014/main" id="{D34191E0-7E47-B984-DF2D-53321297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0373" y="3859350"/>
              <a:ext cx="868362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VA/VE Idea Generation</a:t>
              </a:r>
            </a:p>
          </p:txBody>
        </p:sp>
        <p:sp>
          <p:nvSpPr>
            <p:cNvPr id="19" name="Rectangle 84">
              <a:extLst>
                <a:ext uri="{FF2B5EF4-FFF2-40B4-BE49-F238E27FC236}">
                  <a16:creationId xmlns:a16="http://schemas.microsoft.com/office/drawing/2014/main" id="{E8437341-B9C7-9BE0-209D-4043D23FB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3210" y="3496606"/>
              <a:ext cx="868363" cy="422954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Preliminary Proposals</a:t>
              </a:r>
            </a:p>
          </p:txBody>
        </p:sp>
        <p:sp>
          <p:nvSpPr>
            <p:cNvPr id="20" name="Rectangle 94">
              <a:extLst>
                <a:ext uri="{FF2B5EF4-FFF2-40B4-BE49-F238E27FC236}">
                  <a16:creationId xmlns:a16="http://schemas.microsoft.com/office/drawing/2014/main" id="{53B69243-93A0-D4EA-D7DE-4653ED7C1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8273" y="3405523"/>
              <a:ext cx="933450" cy="714657"/>
            </a:xfrm>
            <a:prstGeom prst="rect">
              <a:avLst/>
            </a:prstGeom>
            <a:solidFill>
              <a:schemeClr val="bg2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72000" tIns="72000" rIns="72000" bIns="72000" anchor="ctr">
              <a:spAutoFit/>
            </a:bodyPr>
            <a:lstStyle/>
            <a:p>
              <a:r>
                <a:rPr lang="en-US" sz="1050" b="1" dirty="0">
                  <a:latin typeface="Roboto" panose="02000000000000000000" pitchFamily="2" charset="0"/>
                  <a:ea typeface="Roboto" panose="02000000000000000000" pitchFamily="2" charset="0"/>
                </a:rPr>
                <a:t>Cost and Revenue Data Collection Across Plants</a:t>
              </a:r>
            </a:p>
          </p:txBody>
        </p:sp>
        <p:cxnSp>
          <p:nvCxnSpPr>
            <p:cNvPr id="21" name="Elbow Connector 50">
              <a:extLst>
                <a:ext uri="{FF2B5EF4-FFF2-40B4-BE49-F238E27FC236}">
                  <a16:creationId xmlns:a16="http://schemas.microsoft.com/office/drawing/2014/main" id="{DC04239B-3F76-47F7-A587-3380DE7D7473}"/>
                </a:ext>
              </a:extLst>
            </p:cNvPr>
            <p:cNvCxnSpPr>
              <a:cxnSpLocks noChangeShapeType="1"/>
              <a:stCxn id="20" idx="3"/>
              <a:endCxn id="11" idx="1"/>
            </p:cNvCxnSpPr>
            <p:nvPr/>
          </p:nvCxnSpPr>
          <p:spPr bwMode="auto">
            <a:xfrm flipV="1">
              <a:off x="2351722" y="3296127"/>
              <a:ext cx="212726" cy="466725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Elbow Connector 50">
              <a:extLst>
                <a:ext uri="{FF2B5EF4-FFF2-40B4-BE49-F238E27FC236}">
                  <a16:creationId xmlns:a16="http://schemas.microsoft.com/office/drawing/2014/main" id="{6A0343E8-36C2-6C2B-4661-1ED9E8C1F98E}"/>
                </a:ext>
              </a:extLst>
            </p:cNvPr>
            <p:cNvCxnSpPr>
              <a:cxnSpLocks noChangeShapeType="1"/>
              <a:stCxn id="12" idx="3"/>
              <a:endCxn id="13" idx="1"/>
            </p:cNvCxnSpPr>
            <p:nvPr/>
          </p:nvCxnSpPr>
          <p:spPr bwMode="auto">
            <a:xfrm flipV="1">
              <a:off x="3478848" y="3720783"/>
              <a:ext cx="234949" cy="494505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3" name="Elbow Connector 50">
              <a:extLst>
                <a:ext uri="{FF2B5EF4-FFF2-40B4-BE49-F238E27FC236}">
                  <a16:creationId xmlns:a16="http://schemas.microsoft.com/office/drawing/2014/main" id="{66BD8D2D-E66A-028A-34CF-B81928003D7D}"/>
                </a:ext>
              </a:extLst>
            </p:cNvPr>
            <p:cNvCxnSpPr>
              <a:cxnSpLocks noChangeShapeType="1"/>
              <a:stCxn id="16" idx="3"/>
              <a:endCxn id="18" idx="1"/>
            </p:cNvCxnSpPr>
            <p:nvPr/>
          </p:nvCxnSpPr>
          <p:spPr bwMode="auto">
            <a:xfrm flipV="1">
              <a:off x="7815898" y="4070827"/>
              <a:ext cx="244475" cy="283368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4" name="Elbow Connector 50">
              <a:extLst>
                <a:ext uri="{FF2B5EF4-FFF2-40B4-BE49-F238E27FC236}">
                  <a16:creationId xmlns:a16="http://schemas.microsoft.com/office/drawing/2014/main" id="{BBC8196B-AB40-07C8-886B-D9B67D6E8141}"/>
                </a:ext>
              </a:extLst>
            </p:cNvPr>
            <p:cNvCxnSpPr>
              <a:cxnSpLocks noChangeShapeType="1"/>
              <a:stCxn id="15" idx="3"/>
              <a:endCxn id="17" idx="1"/>
            </p:cNvCxnSpPr>
            <p:nvPr/>
          </p:nvCxnSpPr>
          <p:spPr bwMode="auto">
            <a:xfrm flipV="1">
              <a:off x="7815898" y="3294538"/>
              <a:ext cx="244475" cy="396082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5" name="Elbow Connector 50">
              <a:extLst>
                <a:ext uri="{FF2B5EF4-FFF2-40B4-BE49-F238E27FC236}">
                  <a16:creationId xmlns:a16="http://schemas.microsoft.com/office/drawing/2014/main" id="{A28D944C-2C23-E645-EF00-052BCE1FB907}"/>
                </a:ext>
              </a:extLst>
            </p:cNvPr>
            <p:cNvCxnSpPr>
              <a:cxnSpLocks noChangeShapeType="1"/>
              <a:stCxn id="14" idx="3"/>
              <a:endCxn id="17" idx="1"/>
            </p:cNvCxnSpPr>
            <p:nvPr/>
          </p:nvCxnSpPr>
          <p:spPr bwMode="auto">
            <a:xfrm>
              <a:off x="7815898" y="3034189"/>
              <a:ext cx="244475" cy="260350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6" name="Elbow Connector 50">
              <a:extLst>
                <a:ext uri="{FF2B5EF4-FFF2-40B4-BE49-F238E27FC236}">
                  <a16:creationId xmlns:a16="http://schemas.microsoft.com/office/drawing/2014/main" id="{7D363C9C-998A-5A8B-2521-DF846C6A51AD}"/>
                </a:ext>
              </a:extLst>
            </p:cNvPr>
            <p:cNvCxnSpPr>
              <a:cxnSpLocks noChangeShapeType="1"/>
              <a:stCxn id="15" idx="3"/>
              <a:endCxn id="18" idx="1"/>
            </p:cNvCxnSpPr>
            <p:nvPr/>
          </p:nvCxnSpPr>
          <p:spPr bwMode="auto">
            <a:xfrm>
              <a:off x="7815898" y="3690620"/>
              <a:ext cx="244475" cy="380206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7" name="Elbow Connector 50">
              <a:extLst>
                <a:ext uri="{FF2B5EF4-FFF2-40B4-BE49-F238E27FC236}">
                  <a16:creationId xmlns:a16="http://schemas.microsoft.com/office/drawing/2014/main" id="{23F23B7C-7A98-BD66-CF3D-66445C0257E8}"/>
                </a:ext>
              </a:extLst>
            </p:cNvPr>
            <p:cNvCxnSpPr>
              <a:cxnSpLocks noChangeShapeType="1"/>
              <a:endCxn id="16" idx="1"/>
            </p:cNvCxnSpPr>
            <p:nvPr/>
          </p:nvCxnSpPr>
          <p:spPr bwMode="auto">
            <a:xfrm rot="16200000" flipH="1">
              <a:off x="6441123" y="3893819"/>
              <a:ext cx="669924" cy="250826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8" name="Elbow Connector 50">
              <a:extLst>
                <a:ext uri="{FF2B5EF4-FFF2-40B4-BE49-F238E27FC236}">
                  <a16:creationId xmlns:a16="http://schemas.microsoft.com/office/drawing/2014/main" id="{51B37A87-14E3-CB50-5BB3-E409929ADCB6}"/>
                </a:ext>
              </a:extLst>
            </p:cNvPr>
            <p:cNvCxnSpPr>
              <a:cxnSpLocks noChangeShapeType="1"/>
              <a:endCxn id="15" idx="1"/>
            </p:cNvCxnSpPr>
            <p:nvPr/>
          </p:nvCxnSpPr>
          <p:spPr bwMode="auto">
            <a:xfrm>
              <a:off x="6650673" y="3684270"/>
              <a:ext cx="250825" cy="6350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9" name="Elbow Connector 50">
              <a:extLst>
                <a:ext uri="{FF2B5EF4-FFF2-40B4-BE49-F238E27FC236}">
                  <a16:creationId xmlns:a16="http://schemas.microsoft.com/office/drawing/2014/main" id="{1F9DE6D6-D02E-00BF-C903-62773FB7E651}"/>
                </a:ext>
              </a:extLst>
            </p:cNvPr>
            <p:cNvCxnSpPr>
              <a:cxnSpLocks noChangeShapeType="1"/>
              <a:endCxn id="14" idx="1"/>
            </p:cNvCxnSpPr>
            <p:nvPr/>
          </p:nvCxnSpPr>
          <p:spPr bwMode="auto">
            <a:xfrm rot="5400000" flipH="1" flipV="1">
              <a:off x="6451043" y="3233817"/>
              <a:ext cx="650082" cy="250827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0" name="Elbow Connector 50">
              <a:extLst>
                <a:ext uri="{FF2B5EF4-FFF2-40B4-BE49-F238E27FC236}">
                  <a16:creationId xmlns:a16="http://schemas.microsoft.com/office/drawing/2014/main" id="{2CA827B4-2D55-BC04-5A03-653E147EE40A}"/>
                </a:ext>
              </a:extLst>
            </p:cNvPr>
            <p:cNvCxnSpPr>
              <a:cxnSpLocks noChangeShapeType="1"/>
              <a:stCxn id="18" idx="3"/>
              <a:endCxn id="19" idx="1"/>
            </p:cNvCxnSpPr>
            <p:nvPr/>
          </p:nvCxnSpPr>
          <p:spPr bwMode="auto">
            <a:xfrm flipV="1">
              <a:off x="8928735" y="3708083"/>
              <a:ext cx="244474" cy="362744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1" name="Elbow Connector 50">
              <a:extLst>
                <a:ext uri="{FF2B5EF4-FFF2-40B4-BE49-F238E27FC236}">
                  <a16:creationId xmlns:a16="http://schemas.microsoft.com/office/drawing/2014/main" id="{10E71659-CBC8-5F0B-AEF7-D784BCCD5F62}"/>
                </a:ext>
              </a:extLst>
            </p:cNvPr>
            <p:cNvCxnSpPr>
              <a:cxnSpLocks noChangeShapeType="1"/>
              <a:stCxn id="17" idx="3"/>
              <a:endCxn id="19" idx="1"/>
            </p:cNvCxnSpPr>
            <p:nvPr/>
          </p:nvCxnSpPr>
          <p:spPr bwMode="auto">
            <a:xfrm>
              <a:off x="8928735" y="3294538"/>
              <a:ext cx="244474" cy="413545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2" name="Elbow Connector 50">
              <a:extLst>
                <a:ext uri="{FF2B5EF4-FFF2-40B4-BE49-F238E27FC236}">
                  <a16:creationId xmlns:a16="http://schemas.microsoft.com/office/drawing/2014/main" id="{AEA94D51-58CA-76A8-E0D0-E46A1E55126E}"/>
                </a:ext>
              </a:extLst>
            </p:cNvPr>
            <p:cNvCxnSpPr>
              <a:cxnSpLocks noChangeShapeType="1"/>
              <a:stCxn id="20" idx="3"/>
              <a:endCxn id="12" idx="1"/>
            </p:cNvCxnSpPr>
            <p:nvPr/>
          </p:nvCxnSpPr>
          <p:spPr bwMode="auto">
            <a:xfrm>
              <a:off x="2351722" y="3762852"/>
              <a:ext cx="212726" cy="452436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3" name="Elbow Connector 50">
              <a:extLst>
                <a:ext uri="{FF2B5EF4-FFF2-40B4-BE49-F238E27FC236}">
                  <a16:creationId xmlns:a16="http://schemas.microsoft.com/office/drawing/2014/main" id="{B483BC30-7E36-6C10-86BE-20637A2AC263}"/>
                </a:ext>
              </a:extLst>
            </p:cNvPr>
            <p:cNvCxnSpPr>
              <a:cxnSpLocks noChangeShapeType="1"/>
              <a:stCxn id="13" idx="3"/>
            </p:cNvCxnSpPr>
            <p:nvPr/>
          </p:nvCxnSpPr>
          <p:spPr bwMode="auto">
            <a:xfrm>
              <a:off x="4674235" y="3720783"/>
              <a:ext cx="163513" cy="1588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34" name="Elbow Connector 50">
              <a:extLst>
                <a:ext uri="{FF2B5EF4-FFF2-40B4-BE49-F238E27FC236}">
                  <a16:creationId xmlns:a16="http://schemas.microsoft.com/office/drawing/2014/main" id="{D8237EF7-FC41-FEEE-F78C-83D2F6BF08DF}"/>
                </a:ext>
              </a:extLst>
            </p:cNvPr>
            <p:cNvCxnSpPr>
              <a:cxnSpLocks noChangeShapeType="1"/>
              <a:stCxn id="11" idx="3"/>
              <a:endCxn id="13" idx="1"/>
            </p:cNvCxnSpPr>
            <p:nvPr/>
          </p:nvCxnSpPr>
          <p:spPr bwMode="auto">
            <a:xfrm>
              <a:off x="3478848" y="3296127"/>
              <a:ext cx="234949" cy="424656"/>
            </a:xfrm>
            <a:prstGeom prst="bentConnector3">
              <a:avLst>
                <a:gd name="adj1" fmla="val 5000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grpSp>
          <p:nvGrpSpPr>
            <p:cNvPr id="36" name="Group 74">
              <a:extLst>
                <a:ext uri="{FF2B5EF4-FFF2-40B4-BE49-F238E27FC236}">
                  <a16:creationId xmlns:a16="http://schemas.microsoft.com/office/drawing/2014/main" id="{71E87118-1837-C1C1-DF03-A7AAD0EBED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6634" y="2923793"/>
              <a:ext cx="1831976" cy="1513602"/>
              <a:chOff x="539571" y="1284754"/>
              <a:chExt cx="3986563" cy="4329176"/>
            </a:xfrm>
            <a:solidFill>
              <a:schemeClr val="bg2"/>
            </a:solidFill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2598897-4D77-BE51-1643-ED774837D250}"/>
                  </a:ext>
                </a:extLst>
              </p:cNvPr>
              <p:cNvSpPr/>
              <p:nvPr/>
            </p:nvSpPr>
            <p:spPr bwMode="auto">
              <a:xfrm>
                <a:off x="539573" y="1284754"/>
                <a:ext cx="3986561" cy="1208155"/>
              </a:xfrm>
              <a:prstGeom prst="rect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2000" tIns="72000" rIns="72000" bIns="72000" anchor="ctr">
                <a:spAutoFit/>
              </a:bodyPr>
              <a:lstStyle/>
              <a:p>
                <a:pPr>
                  <a:defRPr/>
                </a:pPr>
                <a:r>
                  <a:rPr lang="en-US" sz="1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VOC &amp; Customer Value Ratio Analysis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0221B48-1EF1-9CBF-7C84-627928295835}"/>
                  </a:ext>
                </a:extLst>
              </p:cNvPr>
              <p:cNvSpPr/>
              <p:nvPr/>
            </p:nvSpPr>
            <p:spPr bwMode="auto">
              <a:xfrm>
                <a:off x="539573" y="2337938"/>
                <a:ext cx="3986561" cy="772698"/>
              </a:xfrm>
              <a:prstGeom prst="rect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2000" tIns="72000" rIns="72000" bIns="72000" anchor="ctr">
                <a:spAutoFit/>
              </a:bodyPr>
              <a:lstStyle/>
              <a:p>
                <a:pPr>
                  <a:defRPr/>
                </a:pPr>
                <a:r>
                  <a:rPr lang="en-US" sz="1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Function / Cost Analysis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71F01B7-4F65-0AE3-E1B9-1A3E9C0E7B39}"/>
                  </a:ext>
                </a:extLst>
              </p:cNvPr>
              <p:cNvSpPr/>
              <p:nvPr/>
            </p:nvSpPr>
            <p:spPr bwMode="auto">
              <a:xfrm>
                <a:off x="539573" y="3171129"/>
                <a:ext cx="3986561" cy="772698"/>
              </a:xfrm>
              <a:prstGeom prst="rect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2000" tIns="72000" rIns="72000" bIns="72000" anchor="ctr">
                <a:spAutoFit/>
              </a:bodyPr>
              <a:lstStyle/>
              <a:p>
                <a:pPr>
                  <a:defRPr/>
                </a:pPr>
                <a:r>
                  <a:rPr lang="en-US" sz="1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Sub-System Boundary Mapping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6CA869D-3057-7D95-C311-FFB775365643}"/>
                  </a:ext>
                </a:extLst>
              </p:cNvPr>
              <p:cNvSpPr/>
              <p:nvPr/>
            </p:nvSpPr>
            <p:spPr bwMode="auto">
              <a:xfrm>
                <a:off x="539573" y="4004319"/>
                <a:ext cx="3986561" cy="772698"/>
              </a:xfrm>
              <a:prstGeom prst="rect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2000" tIns="72000" rIns="72000" bIns="72000" anchor="ctr">
                <a:spAutoFit/>
              </a:bodyPr>
              <a:lstStyle/>
              <a:p>
                <a:pPr>
                  <a:defRPr/>
                </a:pPr>
                <a:r>
                  <a:rPr lang="en-US" sz="1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Supplier Pre-Work Assignment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6CAB0CC-24E3-B6C3-E85F-B66FD096F58F}"/>
                  </a:ext>
                </a:extLst>
              </p:cNvPr>
              <p:cNvSpPr/>
              <p:nvPr/>
            </p:nvSpPr>
            <p:spPr bwMode="auto">
              <a:xfrm>
                <a:off x="539571" y="4841232"/>
                <a:ext cx="3986561" cy="772698"/>
              </a:xfrm>
              <a:prstGeom prst="rect">
                <a:avLst/>
              </a:prstGeom>
              <a:grp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72000" tIns="72000" rIns="72000" bIns="72000" anchor="ctr">
                <a:spAutoFit/>
              </a:bodyPr>
              <a:lstStyle/>
              <a:p>
                <a:pPr>
                  <a:defRPr/>
                </a:pPr>
                <a:r>
                  <a:rPr lang="en-US" sz="1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Preliminary Complexity Analysis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275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F4462-F7E9-B722-4A9D-64F0A6166E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9947B8-0D68-261C-47EE-57D1C22C6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13330" b="31690"/>
          <a:stretch>
            <a:fillRect/>
          </a:stretch>
        </p:blipFill>
        <p:spPr bwMode="auto">
          <a:xfrm>
            <a:off x="415290" y="609600"/>
            <a:ext cx="7772400" cy="30480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1B84F58-BC59-3A54-BE9C-CAB0EDE09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68310" r="52941" b="3169"/>
          <a:stretch/>
        </p:blipFill>
        <p:spPr bwMode="auto">
          <a:xfrm>
            <a:off x="415290" y="3657600"/>
            <a:ext cx="5161920" cy="246888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012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&amp; Cost Data Collection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5</a:t>
            </a:fld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B43279-7ACE-EC23-ABE8-B7265EACA0D4}"/>
              </a:ext>
            </a:extLst>
          </p:cNvPr>
          <p:cNvGrpSpPr/>
          <p:nvPr/>
        </p:nvGrpSpPr>
        <p:grpSpPr>
          <a:xfrm>
            <a:off x="1929430" y="1828800"/>
            <a:ext cx="8333140" cy="4617720"/>
            <a:chOff x="261938" y="1446694"/>
            <a:chExt cx="7758112" cy="4615487"/>
          </a:xfrm>
        </p:grpSpPr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085E4D50-F090-196D-BCF7-19F1450FC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1861031"/>
              <a:ext cx="1665287" cy="42011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101600" indent="-101600" algn="l" eaLnBrk="0" hangingPunct="0">
                <a:spcBef>
                  <a:spcPts val="300"/>
                </a:spcBef>
              </a:pPr>
              <a:r>
                <a:rPr lang="en-US" sz="12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NPS</a:t>
              </a:r>
            </a:p>
            <a:p>
              <a:pPr marL="101600" indent="-101600" algn="l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DC/DC BMP</a:t>
              </a:r>
            </a:p>
            <a:p>
              <a:pPr marL="101600" indent="-101600" algn="l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ABC</a:t>
              </a:r>
            </a:p>
            <a:p>
              <a:pPr marL="101600" indent="-101600" algn="l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XYZ</a:t>
              </a:r>
            </a:p>
            <a:p>
              <a:pPr marL="101600" indent="-101600" algn="l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AXY</a:t>
              </a:r>
            </a:p>
            <a:p>
              <a:pPr marL="101600" indent="-101600" algn="l" eaLnBrk="0" hangingPunct="0">
                <a:spcBef>
                  <a:spcPts val="300"/>
                </a:spcBef>
              </a:pPr>
              <a:endParaRPr lang="en-US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marL="101600" indent="-101600" algn="l" eaLnBrk="0" hangingPunct="0">
                <a:spcBef>
                  <a:spcPts val="300"/>
                </a:spcBef>
              </a:pPr>
              <a:r>
                <a:rPr lang="en-US" sz="12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SSN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ABC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XYZ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BMP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Etc</a:t>
              </a:r>
            </a:p>
            <a:p>
              <a:pPr marL="101600" indent="-101600" eaLnBrk="0" hangingPunct="0">
                <a:spcBef>
                  <a:spcPts val="300"/>
                </a:spcBef>
              </a:pPr>
              <a:endParaRPr lang="en-US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marL="101600" indent="-101600" eaLnBrk="0" hangingPunct="0">
                <a:spcBef>
                  <a:spcPts val="300"/>
                </a:spcBef>
              </a:pPr>
              <a:r>
                <a:rPr lang="en-US" sz="1200" b="1" u="sng" dirty="0">
                  <a:latin typeface="Roboto" panose="02000000000000000000" pitchFamily="2" charset="0"/>
                  <a:ea typeface="Roboto" panose="02000000000000000000" pitchFamily="2" charset="0"/>
                </a:rPr>
                <a:t>NPS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ABC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XYZ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BMP</a:t>
              </a:r>
            </a:p>
            <a:p>
              <a:pPr marL="101600" indent="-101600" eaLnBrk="0" hangingPunct="0">
                <a:spcBef>
                  <a:spcPts val="300"/>
                </a:spcBef>
                <a:buFontTx/>
                <a:buChar char="•"/>
              </a:pPr>
              <a:r>
                <a:rPr lang="en-US" sz="1200" dirty="0">
                  <a:latin typeface="Roboto" panose="02000000000000000000" pitchFamily="2" charset="0"/>
                  <a:ea typeface="Roboto" panose="02000000000000000000" pitchFamily="2" charset="0"/>
                </a:rPr>
                <a:t>etc</a:t>
              </a:r>
            </a:p>
            <a:p>
              <a:pPr marL="101600" indent="-101600" eaLnBrk="0" hangingPunct="0">
                <a:spcBef>
                  <a:spcPts val="300"/>
                </a:spcBef>
              </a:pPr>
              <a:endParaRPr lang="en-US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marL="101600" indent="-101600" algn="l" eaLnBrk="0" hangingPunct="0">
                <a:spcBef>
                  <a:spcPts val="300"/>
                </a:spcBef>
              </a:pPr>
              <a:endParaRPr lang="en-US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TextBox 71">
              <a:extLst>
                <a:ext uri="{FF2B5EF4-FFF2-40B4-BE49-F238E27FC236}">
                  <a16:creationId xmlns:a16="http://schemas.microsoft.com/office/drawing/2014/main" id="{DA7D0CE9-77B5-7FCA-0254-7F4C9A3A2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938" y="1446694"/>
              <a:ext cx="22526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1800" b="1" dirty="0">
                  <a:latin typeface="Roboto" panose="02000000000000000000" pitchFamily="2" charset="0"/>
                  <a:ea typeface="Roboto" panose="02000000000000000000" pitchFamily="2" charset="0"/>
                </a:rPr>
                <a:t>Product Lines</a:t>
              </a: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ED104689-A0A8-3521-0213-F39547BC9F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4000" y="1676400"/>
              <a:ext cx="6496050" cy="4048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947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Value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99E7887-3506-863A-ACB1-9069520AF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1150" y="1878318"/>
            <a:ext cx="90297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6553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7D53-AE4C-E910-8799-DEEA2CC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Value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78EF-C2ED-ABA5-0EEC-F0AB196925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C0FB96-3FA6-418E-05EC-B6B8E2216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1748" y="1932599"/>
            <a:ext cx="7629525" cy="4400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700D3F-6FC4-B987-73A1-BB2E70B57A8B}"/>
              </a:ext>
            </a:extLst>
          </p:cNvPr>
          <p:cNvSpPr/>
          <p:nvPr/>
        </p:nvSpPr>
        <p:spPr bwMode="auto">
          <a:xfrm>
            <a:off x="674370" y="1690688"/>
            <a:ext cx="689229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Consider conducting similar analysis by SKU within a product series.  Y-axis can be revenue as 2013 GDP is growth focus and X-axis can be margin $.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78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Template/training Needed ASAP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Cost cube analysis-let’s start with lab, OH, product material, packaging cost (incoming and FG), freight cost, MOQ (FG &amp; component), inventory</a:t>
            </a:r>
          </a:p>
          <a:p>
            <a:r>
              <a:rPr lang="en-US" dirty="0"/>
              <a:t>Functionality analysis.</a:t>
            </a:r>
          </a:p>
          <a:p>
            <a:r>
              <a:rPr lang="en-US" dirty="0"/>
              <a:t>Component &amp; FG complexity analysis</a:t>
            </a:r>
          </a:p>
          <a:p>
            <a:r>
              <a:rPr lang="en-US" dirty="0"/>
              <a:t>Component &amp; FG Standardization</a:t>
            </a:r>
          </a:p>
          <a:p>
            <a:r>
              <a:rPr lang="en-US" dirty="0"/>
              <a:t>Material value analysis-does it make sense to buy 0.1 gm aluminum stamped part for $1?</a:t>
            </a:r>
          </a:p>
          <a:p>
            <a:r>
              <a:rPr lang="en-US" dirty="0"/>
              <a:t>Supply Mapping/Vendor consolidation</a:t>
            </a:r>
          </a:p>
          <a:p>
            <a:r>
              <a:rPr lang="en-US" dirty="0"/>
              <a:t>Prioritization ideas</a:t>
            </a:r>
          </a:p>
          <a:p>
            <a:r>
              <a:rPr lang="en-US" dirty="0"/>
              <a:t>Material planning to minimize excess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</p:spPr>
        <p:txBody>
          <a:bodyPr/>
          <a:lstStyle/>
          <a:p>
            <a:fld id="{CC6D4273-7FC1-0947-B9FE-19CB3C0D1F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11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14039</TotalTime>
  <Words>424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Roboto</vt:lpstr>
      <vt:lpstr>Roboto Medium</vt:lpstr>
      <vt:lpstr>Office Theme</vt:lpstr>
      <vt:lpstr>PowerPoint Presentation</vt:lpstr>
      <vt:lpstr>Lean-VA/VE Process Overview –  Enterprise Improvement Program (P1-EIP)</vt:lpstr>
      <vt:lpstr>EIP-VA/VE Event Planning</vt:lpstr>
      <vt:lpstr>PowerPoint Presentation</vt:lpstr>
      <vt:lpstr>Revenue &amp; Cost Data Collection</vt:lpstr>
      <vt:lpstr>Strategic Value Matrix</vt:lpstr>
      <vt:lpstr>Strategic Value Matrix</vt:lpstr>
      <vt:lpstr>Template/training Needed ASAP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378</cp:revision>
  <dcterms:created xsi:type="dcterms:W3CDTF">2023-02-08T22:10:20Z</dcterms:created>
  <dcterms:modified xsi:type="dcterms:W3CDTF">2023-09-20T21:25:14Z</dcterms:modified>
</cp:coreProperties>
</file>