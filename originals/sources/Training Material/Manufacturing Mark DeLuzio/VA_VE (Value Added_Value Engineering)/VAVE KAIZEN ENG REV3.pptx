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1"/>
  </p:notesMasterIdLst>
  <p:sldIdLst>
    <p:sldId id="258" r:id="rId2"/>
    <p:sldId id="283" r:id="rId3"/>
    <p:sldId id="284" r:id="rId4"/>
    <p:sldId id="285"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5" r:id="rId29"/>
    <p:sldId id="376" r:id="rId30"/>
    <p:sldId id="377" r:id="rId31"/>
    <p:sldId id="378" r:id="rId32"/>
    <p:sldId id="379" r:id="rId33"/>
    <p:sldId id="380" r:id="rId34"/>
    <p:sldId id="381" r:id="rId35"/>
    <p:sldId id="382" r:id="rId36"/>
    <p:sldId id="383" r:id="rId37"/>
    <p:sldId id="384" r:id="rId38"/>
    <p:sldId id="385" r:id="rId39"/>
    <p:sldId id="386" r:id="rId40"/>
    <p:sldId id="387" r:id="rId41"/>
    <p:sldId id="388" r:id="rId42"/>
    <p:sldId id="389" r:id="rId43"/>
    <p:sldId id="390" r:id="rId44"/>
    <p:sldId id="391" r:id="rId45"/>
    <p:sldId id="392" r:id="rId46"/>
    <p:sldId id="393" r:id="rId47"/>
    <p:sldId id="394" r:id="rId48"/>
    <p:sldId id="395" r:id="rId49"/>
    <p:sldId id="396" r:id="rId50"/>
    <p:sldId id="397" r:id="rId51"/>
    <p:sldId id="398" r:id="rId52"/>
    <p:sldId id="399" r:id="rId53"/>
    <p:sldId id="400" r:id="rId54"/>
    <p:sldId id="401" r:id="rId55"/>
    <p:sldId id="402" r:id="rId56"/>
    <p:sldId id="403" r:id="rId57"/>
    <p:sldId id="404" r:id="rId58"/>
    <p:sldId id="405" r:id="rId59"/>
    <p:sldId id="406" r:id="rId60"/>
    <p:sldId id="407" r:id="rId61"/>
    <p:sldId id="408" r:id="rId62"/>
    <p:sldId id="409" r:id="rId63"/>
    <p:sldId id="410" r:id="rId64"/>
    <p:sldId id="411" r:id="rId65"/>
    <p:sldId id="412" r:id="rId66"/>
    <p:sldId id="413" r:id="rId67"/>
    <p:sldId id="414" r:id="rId68"/>
    <p:sldId id="415" r:id="rId69"/>
    <p:sldId id="416" r:id="rId70"/>
    <p:sldId id="417" r:id="rId71"/>
    <p:sldId id="418" r:id="rId72"/>
    <p:sldId id="419" r:id="rId73"/>
    <p:sldId id="420" r:id="rId74"/>
    <p:sldId id="421" r:id="rId75"/>
    <p:sldId id="422" r:id="rId76"/>
    <p:sldId id="423" r:id="rId77"/>
    <p:sldId id="424" r:id="rId78"/>
    <p:sldId id="425" r:id="rId79"/>
    <p:sldId id="426" r:id="rId80"/>
    <p:sldId id="427" r:id="rId81"/>
    <p:sldId id="428" r:id="rId82"/>
    <p:sldId id="429" r:id="rId83"/>
    <p:sldId id="430" r:id="rId84"/>
    <p:sldId id="431" r:id="rId85"/>
    <p:sldId id="432" r:id="rId86"/>
    <p:sldId id="433" r:id="rId87"/>
    <p:sldId id="434" r:id="rId88"/>
    <p:sldId id="435" r:id="rId89"/>
    <p:sldId id="436"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1849" autoAdjust="0"/>
  </p:normalViewPr>
  <p:slideViewPr>
    <p:cSldViewPr snapToGrid="0">
      <p:cViewPr varScale="1">
        <p:scale>
          <a:sx n="67" d="100"/>
          <a:sy n="67" d="100"/>
        </p:scale>
        <p:origin x="1046"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365422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80408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349362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975972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60843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518235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581694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3825680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832626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857551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5074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440324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588008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287893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157181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966282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2834589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8715944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a:t>
            </a:r>
            <a:r>
              <a:rPr lang="en-GB" dirty="0"/>
              <a:t> Can use SIPOC (Supplier, Input, Product/Process, Output, Customer) analysis or other relationship definition. The objective is to understand and have data on how the product/process will interact with and fit with other systems, sub-systems and components/processes.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6812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452760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4132863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Arial" pitchFamily="34" charset="0"/>
              </a:rPr>
              <a:t>Size usually 4 to 12 - 8 ideal but depends on size of problem</a:t>
            </a:r>
          </a:p>
          <a:p>
            <a:r>
              <a:rPr lang="en-GB" dirty="0">
                <a:latin typeface="Arial" pitchFamily="34" charset="0"/>
              </a:rPr>
              <a:t>Define authority and responsibilities i.e. give direction but scope to act as necessary</a:t>
            </a:r>
          </a:p>
          <a:p>
            <a:r>
              <a:rPr lang="en-GB" dirty="0">
                <a:latin typeface="Arial" pitchFamily="34" charset="0"/>
              </a:rPr>
              <a:t>Roles can be: gathering data, making jigs and fixtures, communicating with customer</a:t>
            </a:r>
          </a:p>
          <a:p>
            <a:r>
              <a:rPr lang="en-GB" dirty="0">
                <a:latin typeface="Arial" pitchFamily="34" charset="0"/>
              </a:rPr>
              <a:t>Age: a mix works well</a:t>
            </a:r>
          </a:p>
          <a:p>
            <a:r>
              <a:rPr lang="en-GB" dirty="0">
                <a:latin typeface="Arial" pitchFamily="34" charset="0"/>
              </a:rPr>
              <a:t>Mandatory/voluntary: sell the benefits and need for expertise. Make it a desirable thing to join a team</a:t>
            </a:r>
          </a:p>
          <a:p>
            <a:r>
              <a:rPr lang="en-GB" dirty="0">
                <a:latin typeface="Arial" pitchFamily="34" charset="0"/>
              </a:rPr>
              <a:t>Skills: Use a multi-disciplined group with appropriate skills for the job but throw in a couple of ‘wild cards’ to offer another perspective and for self development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1219012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Arial" pitchFamily="34" charset="0"/>
              </a:rPr>
              <a:t>DO</a:t>
            </a:r>
            <a:r>
              <a:rPr lang="en-GB" dirty="0">
                <a:latin typeface="Arial" pitchFamily="34" charset="0"/>
              </a:rPr>
              <a:t>: Describe the slide. Refer to the Problem Solving Worksheet.doc and the appropriate page in the A3 Reports.doc  as examples of a project charter format. Point out the other elements of a project charter could be the team members, project deliverables, the metric(s) you will use to show improvement, an overview of the project plan etc.</a:t>
            </a: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702653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Arial" pitchFamily="34" charset="0"/>
              </a:rPr>
              <a:t>SAY</a:t>
            </a:r>
            <a:r>
              <a:rPr lang="en-GB" dirty="0">
                <a:latin typeface="Arial" pitchFamily="34" charset="0"/>
              </a:rPr>
              <a:t>: Stakeholder management is about identifying who the project stakeholders are and managing their level of support to be favourable for the project.</a:t>
            </a: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8629923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171095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latin typeface="Arial" pitchFamily="34" charset="0"/>
              </a:rPr>
              <a:t>SAY</a:t>
            </a:r>
            <a:r>
              <a:rPr lang="en-GB" dirty="0">
                <a:latin typeface="Arial" pitchFamily="34" charset="0"/>
              </a:rPr>
              <a:t>: “A SIPOC can help the team to quickly get an overview of the process including the outputs and inputs and the process’ customers and suppliers.”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494070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SAY</a:t>
            </a:r>
            <a:r>
              <a:rPr lang="en-US" b="1" dirty="0"/>
              <a:t>: “A Value Stream Map is the “30,000-foot” view of the process. A Process Map is a tool that would take just one process box from a Value Stream Map, and explode that process into it’s detailed steps.</a:t>
            </a:r>
          </a:p>
          <a:p>
            <a:pPr eaLnBrk="1" hangingPunct="1"/>
            <a:r>
              <a:rPr lang="en-US" dirty="0"/>
              <a:t>SAY (regarding differences between Process Mapping and VSM):</a:t>
            </a:r>
            <a:r>
              <a:rPr lang="en-US" b="1" dirty="0"/>
              <a:t> “Process Maps do not show information flow nor do they look at people. Process Maps are focused more on settings and/or materials. Value Stream Maps look at the people in the process. With VSM there is a heavy emphasis on identifying and removing waste. In VSM we ultimately want to reduce Lead Time. Process Mapping does not look at Lead Time.” </a:t>
            </a:r>
            <a:endParaRPr lang="en-US" dirty="0"/>
          </a:p>
          <a:p>
            <a:pPr eaLnBrk="1" hangingPunct="1"/>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350560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10290246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itchFamily="34" charset="0"/>
              </a:rPr>
              <a:t>SAY</a:t>
            </a:r>
            <a:r>
              <a:rPr lang="en-US" dirty="0">
                <a:latin typeface="Arial" pitchFamily="34" charset="0"/>
              </a:rPr>
              <a:t>: “These are the basic elements of a process flow chart.”</a:t>
            </a:r>
          </a:p>
          <a:p>
            <a:pPr eaLnBrk="1" hangingPunct="1"/>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40385063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5384725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385209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11242606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4368905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68358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16332611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523511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14660668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4194889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8073750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11018111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5892732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27444536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24918805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a:t>
            </a:r>
            <a:r>
              <a:rPr lang="en-US" dirty="0"/>
              <a:t> </a:t>
            </a:r>
          </a:p>
          <a:p>
            <a:endParaRPr lang="en-US" dirty="0"/>
          </a:p>
          <a:p>
            <a:r>
              <a:rPr lang="en-US" dirty="0"/>
              <a:t>Features include: convex interior, ridge for stacking, base, cup walls</a:t>
            </a:r>
          </a:p>
          <a:p>
            <a:endParaRPr lang="en-US" dirty="0"/>
          </a:p>
          <a:p>
            <a:r>
              <a:rPr lang="en-US" dirty="0"/>
              <a:t>Functions include: hold liquid, stack cup, insulate liquid, lift base, </a:t>
            </a:r>
            <a:r>
              <a:rPr lang="en-US" dirty="0" err="1"/>
              <a:t>etc</a:t>
            </a:r>
            <a:endParaRPr lang="en-US" dirty="0"/>
          </a:p>
          <a:p>
            <a:endParaRPr lang="en-US" dirty="0"/>
          </a:p>
          <a:p>
            <a:r>
              <a:rPr lang="en-US" dirty="0"/>
              <a:t>Verb = action = hold, stack, insulate…</a:t>
            </a:r>
          </a:p>
          <a:p>
            <a:endParaRPr lang="en-US" dirty="0"/>
          </a:p>
          <a:p>
            <a:r>
              <a:rPr lang="en-US" dirty="0"/>
              <a:t>Noun = name of feature = liquid, cup, base…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6130100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5891349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18748795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35975771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16456241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6748532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9247152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4059284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2268891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US" dirty="0"/>
              <a:t>Begin the exercise considering the different </a:t>
            </a:r>
            <a:r>
              <a:rPr lang="en-US" b="1" i="1" dirty="0"/>
              <a:t>TYPES</a:t>
            </a:r>
            <a:r>
              <a:rPr lang="en-US" b="1" i="1" baseline="0" dirty="0"/>
              <a:t> OF COST</a:t>
            </a:r>
            <a:r>
              <a:rPr lang="en-US" dirty="0"/>
              <a:t>:</a:t>
            </a:r>
          </a:p>
          <a:p>
            <a:pPr marL="508000" lvl="0" indent="-285750">
              <a:lnSpc>
                <a:spcPct val="100000"/>
              </a:lnSpc>
              <a:spcBef>
                <a:spcPts val="600"/>
              </a:spcBef>
              <a:spcAft>
                <a:spcPts val="600"/>
              </a:spcAft>
              <a:buFont typeface="Arial" pitchFamily="34" charset="0"/>
              <a:buChar char="•"/>
            </a:pPr>
            <a:r>
              <a:rPr lang="en-US" sz="1800" dirty="0"/>
              <a:t>Types of Cost: Monetary, Time, Effort, Space, Opportunity</a:t>
            </a:r>
          </a:p>
          <a:p>
            <a:pPr marL="222250" lvl="0" indent="0">
              <a:lnSpc>
                <a:spcPct val="100000"/>
              </a:lnSpc>
              <a:spcBef>
                <a:spcPts val="600"/>
              </a:spcBef>
              <a:spcAft>
                <a:spcPts val="600"/>
              </a:spcAft>
              <a:buFont typeface="Arial" pitchFamily="34" charset="0"/>
              <a:buNone/>
            </a:pPr>
            <a:r>
              <a:rPr lang="en-US" dirty="0"/>
              <a:t>Continue</a:t>
            </a:r>
            <a:r>
              <a:rPr lang="en-US" baseline="0" dirty="0"/>
              <a:t> when considering </a:t>
            </a:r>
            <a:r>
              <a:rPr lang="en-US" b="1" i="1" baseline="0" dirty="0"/>
              <a:t>WHEN</a:t>
            </a:r>
            <a:r>
              <a:rPr lang="en-US" baseline="0" dirty="0"/>
              <a:t> the costs will be incurred:</a:t>
            </a:r>
          </a:p>
          <a:p>
            <a:pPr marL="393700" lvl="0" indent="-171450">
              <a:lnSpc>
                <a:spcPct val="100000"/>
              </a:lnSpc>
              <a:spcBef>
                <a:spcPts val="600"/>
              </a:spcBef>
              <a:spcAft>
                <a:spcPts val="600"/>
              </a:spcAft>
              <a:buFont typeface="Arial" pitchFamily="34" charset="0"/>
              <a:buChar char="•"/>
            </a:pPr>
            <a:r>
              <a:rPr lang="en-US" baseline="0" dirty="0"/>
              <a:t>Project Selection, Market Research, Design, Prototype, </a:t>
            </a:r>
            <a:r>
              <a:rPr lang="en-US" baseline="0" dirty="0" err="1"/>
              <a:t>Mfg</a:t>
            </a:r>
            <a:r>
              <a:rPr lang="en-US" baseline="0" dirty="0"/>
              <a:t> Ramp-Up, etc.</a:t>
            </a:r>
          </a:p>
          <a:p>
            <a:pPr marL="222250" lvl="0" indent="0">
              <a:lnSpc>
                <a:spcPct val="100000"/>
              </a:lnSpc>
              <a:spcBef>
                <a:spcPts val="600"/>
              </a:spcBef>
              <a:spcAft>
                <a:spcPts val="600"/>
              </a:spcAft>
              <a:buFont typeface="Arial" pitchFamily="34" charset="0"/>
              <a:buNone/>
            </a:pPr>
            <a:r>
              <a:rPr lang="en-US" baseline="0" dirty="0"/>
              <a:t>The final step is brainstorming </a:t>
            </a:r>
            <a:r>
              <a:rPr lang="en-US" b="1" i="1" baseline="0" dirty="0"/>
              <a:t>WHO</a:t>
            </a:r>
            <a:r>
              <a:rPr lang="en-US" baseline="0" dirty="0"/>
              <a:t> will incur the different costs and WHEN.</a:t>
            </a:r>
          </a:p>
          <a:p>
            <a:pPr marL="393700" lvl="0" indent="-171450">
              <a:lnSpc>
                <a:spcPct val="100000"/>
              </a:lnSpc>
              <a:spcBef>
                <a:spcPts val="600"/>
              </a:spcBef>
              <a:spcAft>
                <a:spcPts val="600"/>
              </a:spcAft>
              <a:buFont typeface="Arial" pitchFamily="34" charset="0"/>
              <a:buChar char="•"/>
            </a:pPr>
            <a:r>
              <a:rPr lang="en-US" baseline="0" dirty="0"/>
              <a:t>It may be useful to do a SIPOC or RACI to establish all stakeholders in a process to consider.</a:t>
            </a:r>
          </a:p>
          <a:p>
            <a:pPr marL="628650" lvl="1" indent="-171450">
              <a:lnSpc>
                <a:spcPct val="100000"/>
              </a:lnSpc>
              <a:spcBef>
                <a:spcPts val="600"/>
              </a:spcBef>
              <a:spcAft>
                <a:spcPts val="600"/>
              </a:spcAft>
              <a:buFont typeface="Arial" pitchFamily="34" charset="0"/>
              <a:buChar char="•"/>
            </a:pPr>
            <a:r>
              <a:rPr lang="en-US" baseline="0" dirty="0"/>
              <a:t>Corp SG&amp;A</a:t>
            </a:r>
          </a:p>
          <a:p>
            <a:pPr marL="628650" lvl="1" indent="-171450">
              <a:lnSpc>
                <a:spcPct val="100000"/>
              </a:lnSpc>
              <a:spcBef>
                <a:spcPts val="600"/>
              </a:spcBef>
              <a:spcAft>
                <a:spcPts val="600"/>
              </a:spcAft>
              <a:buFont typeface="Arial" pitchFamily="34" charset="0"/>
              <a:buChar char="•"/>
            </a:pPr>
            <a:r>
              <a:rPr lang="en-US" baseline="0" dirty="0"/>
              <a:t>R&amp;D</a:t>
            </a:r>
          </a:p>
          <a:p>
            <a:pPr marL="628650" lvl="1" indent="-171450">
              <a:lnSpc>
                <a:spcPct val="100000"/>
              </a:lnSpc>
              <a:spcBef>
                <a:spcPts val="600"/>
              </a:spcBef>
              <a:spcAft>
                <a:spcPts val="600"/>
              </a:spcAft>
              <a:buFont typeface="Arial" pitchFamily="34" charset="0"/>
              <a:buChar char="•"/>
            </a:pPr>
            <a:r>
              <a:rPr lang="en-US" baseline="0" dirty="0"/>
              <a:t>Marketing</a:t>
            </a:r>
          </a:p>
          <a:p>
            <a:pPr marL="628650" lvl="1" indent="-171450">
              <a:lnSpc>
                <a:spcPct val="100000"/>
              </a:lnSpc>
              <a:spcBef>
                <a:spcPts val="600"/>
              </a:spcBef>
              <a:spcAft>
                <a:spcPts val="600"/>
              </a:spcAft>
              <a:buFont typeface="Arial" pitchFamily="34" charset="0"/>
              <a:buChar char="•"/>
            </a:pPr>
            <a:r>
              <a:rPr lang="en-US" baseline="0" dirty="0"/>
              <a:t>Operations</a:t>
            </a:r>
          </a:p>
          <a:p>
            <a:pPr marL="628650" lvl="1" indent="-171450">
              <a:lnSpc>
                <a:spcPct val="100000"/>
              </a:lnSpc>
              <a:spcBef>
                <a:spcPts val="600"/>
              </a:spcBef>
              <a:spcAft>
                <a:spcPts val="600"/>
              </a:spcAft>
              <a:buFont typeface="Arial" pitchFamily="34" charset="0"/>
              <a:buChar char="•"/>
            </a:pPr>
            <a:r>
              <a:rPr lang="en-US" baseline="0" dirty="0"/>
              <a:t>Distribution</a:t>
            </a:r>
          </a:p>
          <a:p>
            <a:pPr marL="628650" lvl="1" indent="-171450">
              <a:lnSpc>
                <a:spcPct val="100000"/>
              </a:lnSpc>
              <a:spcBef>
                <a:spcPts val="600"/>
              </a:spcBef>
              <a:spcAft>
                <a:spcPts val="600"/>
              </a:spcAft>
              <a:buFont typeface="Arial" pitchFamily="34" charset="0"/>
              <a:buChar char="•"/>
            </a:pPr>
            <a:r>
              <a:rPr lang="en-US" baseline="0" dirty="0"/>
              <a:t>Sales Channel</a:t>
            </a:r>
          </a:p>
          <a:p>
            <a:pPr marL="628650" lvl="1" indent="-171450">
              <a:lnSpc>
                <a:spcPct val="100000"/>
              </a:lnSpc>
              <a:spcBef>
                <a:spcPts val="600"/>
              </a:spcBef>
              <a:spcAft>
                <a:spcPts val="600"/>
              </a:spcAft>
              <a:buFont typeface="Arial" pitchFamily="34" charset="0"/>
              <a:buChar char="•"/>
            </a:pPr>
            <a:r>
              <a:rPr lang="en-US" baseline="0" dirty="0"/>
              <a:t>End User</a:t>
            </a:r>
          </a:p>
          <a:p>
            <a:pPr marL="628650" lvl="1" indent="-171450">
              <a:lnSpc>
                <a:spcPct val="100000"/>
              </a:lnSpc>
              <a:spcBef>
                <a:spcPts val="600"/>
              </a:spcBef>
              <a:spcAft>
                <a:spcPts val="600"/>
              </a:spcAft>
              <a:buFont typeface="Arial" pitchFamily="34" charset="0"/>
              <a:buChar char="•"/>
            </a:pPr>
            <a:r>
              <a:rPr lang="en-US" baseline="0" dirty="0" err="1"/>
              <a:t>Etc</a:t>
            </a:r>
            <a:r>
              <a:rPr lang="en-US" baseline="0" dirty="0"/>
              <a:t>… </a:t>
            </a:r>
          </a:p>
          <a:p>
            <a:pPr marL="628650" lvl="1" indent="-171450">
              <a:lnSpc>
                <a:spcPct val="100000"/>
              </a:lnSpc>
              <a:spcBef>
                <a:spcPts val="600"/>
              </a:spcBef>
              <a:spcAft>
                <a:spcPts val="600"/>
              </a:spcAft>
              <a:buFont typeface="Arial" pitchFamily="34" charset="0"/>
              <a:buChar char="•"/>
            </a:pPr>
            <a:endParaRPr lang="en-US" baseline="0" dirty="0"/>
          </a:p>
          <a:p>
            <a:pPr marL="393700" lvl="0" indent="-171450">
              <a:lnSpc>
                <a:spcPct val="100000"/>
              </a:lnSpc>
              <a:spcBef>
                <a:spcPts val="600"/>
              </a:spcBef>
              <a:spcAft>
                <a:spcPts val="600"/>
              </a:spcAft>
              <a:buFont typeface="Arial" pitchFamily="34" charset="0"/>
              <a:buChar char="•"/>
            </a:pPr>
            <a:endParaRPr lang="en-US" baseline="0" dirty="0"/>
          </a:p>
          <a:p>
            <a:pPr marL="222250" lvl="0" indent="0">
              <a:lnSpc>
                <a:spcPct val="100000"/>
              </a:lnSpc>
              <a:spcBef>
                <a:spcPts val="600"/>
              </a:spcBef>
              <a:spcAft>
                <a:spcPts val="600"/>
              </a:spcAft>
              <a:buFont typeface="Arial" pitchFamily="34" charset="0"/>
              <a:buNone/>
            </a:pPr>
            <a:r>
              <a:rPr lang="en-US" baseline="0" dirty="0"/>
              <a:t>	</a:t>
            </a:r>
          </a:p>
          <a:p>
            <a:pPr marL="628650" lvl="1" indent="-171450">
              <a:lnSpc>
                <a:spcPct val="100000"/>
              </a:lnSpc>
              <a:spcBef>
                <a:spcPts val="600"/>
              </a:spcBef>
              <a:spcAft>
                <a:spcPts val="600"/>
              </a:spcAft>
              <a:buFont typeface="Arial" pitchFamily="34" charset="0"/>
              <a:buChar char="•"/>
            </a:pPr>
            <a:endParaRPr lang="en-US" dirty="0"/>
          </a:p>
          <a:p>
            <a:pPr marL="222250" lvl="0" indent="0">
              <a:lnSpc>
                <a:spcPct val="100000"/>
              </a:lnSpc>
              <a:spcBef>
                <a:spcPts val="600"/>
              </a:spcBef>
              <a:spcAft>
                <a:spcPts val="600"/>
              </a:spcAft>
              <a:buNone/>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4390814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4722933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16682254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6180230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5406508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28075227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24117492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 </a:t>
            </a:r>
            <a:r>
              <a:rPr lang="en-US" dirty="0"/>
              <a:t>Use blank paper and get the participants to make their own Dot matrix and solve the puzzles.</a:t>
            </a:r>
          </a:p>
          <a:p>
            <a:endParaRPr lang="en-US" dirty="0"/>
          </a:p>
          <a:p>
            <a:r>
              <a:rPr lang="en-US" dirty="0"/>
              <a:t>Give the participants 2 minutes to try to join the dots with 4 lines.</a:t>
            </a:r>
          </a:p>
          <a:p>
            <a:endParaRPr lang="en-US" dirty="0"/>
          </a:p>
          <a:p>
            <a:r>
              <a:rPr lang="en-US" dirty="0"/>
              <a:t>Then reveal the answer. Reinforce the idea of thinking outside the ‘self limiting’ box in order to get a solution.</a:t>
            </a:r>
          </a:p>
          <a:p>
            <a:endParaRPr lang="en-US" dirty="0"/>
          </a:p>
          <a:p>
            <a:r>
              <a:rPr lang="en-US" dirty="0"/>
              <a:t>Then ask how they could do it with 3 lines.</a:t>
            </a:r>
          </a:p>
          <a:p>
            <a:endParaRPr lang="en-US" dirty="0"/>
          </a:p>
          <a:p>
            <a:r>
              <a:rPr lang="en-US" dirty="0"/>
              <a:t>Reveal the answer as a ‘Z’ touching the top of the first dot of the first row, the middle of the second dot and the bottom of the third dot</a:t>
            </a:r>
            <a:r>
              <a:rPr lang="en-US" baseline="0" dirty="0"/>
              <a:t> and extending as far as required to Z back to the middle and bottom rows.</a:t>
            </a:r>
            <a:endParaRPr lang="en-US" dirty="0"/>
          </a:p>
          <a:p>
            <a:endParaRPr lang="en-US" dirty="0"/>
          </a:p>
          <a:p>
            <a:r>
              <a:rPr lang="en-US" dirty="0"/>
              <a:t>Finally ask how it could be done with 1 line?</a:t>
            </a:r>
          </a:p>
          <a:p>
            <a:endParaRPr lang="en-US" dirty="0"/>
          </a:p>
          <a:p>
            <a:r>
              <a:rPr lang="en-US" dirty="0"/>
              <a:t>Reveal the answer as,</a:t>
            </a:r>
            <a:r>
              <a:rPr lang="en-US" baseline="0" dirty="0"/>
              <a:t> if the dots were on a ball or the Earth and the line went all the way round and touched the dots in a helix as in the Z method above.</a:t>
            </a:r>
          </a:p>
          <a:p>
            <a:r>
              <a:rPr lang="en-US" baseline="0" dirty="0"/>
              <a:t>Alternatively one thick line could touch all dots.</a:t>
            </a:r>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246116826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28218154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39842079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30583537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8074466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latin typeface="Arial" pitchFamily="34" charset="0"/>
              </a:rPr>
              <a:t>DO</a:t>
            </a:r>
            <a:r>
              <a:rPr lang="en-GB" dirty="0">
                <a:latin typeface="Arial" pitchFamily="34" charset="0"/>
              </a:rPr>
              <a:t>: Explain the three phases of Brainstorming; 1) the initial ‘brain dump’, 2) incubation, 3) creative ideas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36299738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34614819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32"/>
              </a:spcBef>
              <a:spcAft>
                <a:spcPts val="0"/>
              </a:spcAft>
              <a:defRPr/>
            </a:pPr>
            <a:r>
              <a:rPr lang="en-GB" b="1" dirty="0"/>
              <a:t>Reversing Assumptions</a:t>
            </a:r>
            <a:r>
              <a:rPr lang="en-GB" dirty="0"/>
              <a:t>: </a:t>
            </a:r>
            <a:r>
              <a:rPr lang="en-GB" dirty="0">
                <a:latin typeface="Arial"/>
              </a:rPr>
              <a:t>List some of the basic assumptions that would be most provocative if not true. Reverse these assumptions and see where this leads the team e.g. it is often assumed that working faster leads to more mistakes. This is a fallacy as the extra discipline needed to work faster actually reduces mistakes (SMED)</a:t>
            </a:r>
            <a:endParaRPr lang="en-US" dirty="0">
              <a:latin typeface="Arial"/>
            </a:endParaRPr>
          </a:p>
          <a:p>
            <a:pPr>
              <a:defRPr/>
            </a:pPr>
            <a:endParaRPr lang="en-GB" dirty="0"/>
          </a:p>
          <a:p>
            <a:pPr eaLnBrk="1" hangingPunct="1">
              <a:spcBef>
                <a:spcPts val="432"/>
              </a:spcBef>
              <a:spcAft>
                <a:spcPts val="0"/>
              </a:spcAft>
              <a:defRPr/>
            </a:pPr>
            <a:r>
              <a:rPr lang="en-GB" b="1" dirty="0"/>
              <a:t>Forcing Associations</a:t>
            </a:r>
            <a:r>
              <a:rPr lang="en-GB" dirty="0"/>
              <a:t>: </a:t>
            </a:r>
            <a:r>
              <a:rPr lang="en-GB" dirty="0">
                <a:latin typeface="Arial"/>
              </a:rPr>
              <a:t>Pick a technology  or service  totally alien to the team &amp; consider how it tackles its basic challenges. See how analogous problems have been solved in this arena e.g. if you are an engineer look at service and vice-versa.</a:t>
            </a:r>
          </a:p>
          <a:p>
            <a:pPr eaLnBrk="1" hangingPunct="1">
              <a:spcBef>
                <a:spcPts val="432"/>
              </a:spcBef>
              <a:spcAft>
                <a:spcPts val="0"/>
              </a:spcAft>
              <a:defRPr/>
            </a:pPr>
            <a:endParaRPr lang="en-GB" dirty="0">
              <a:latin typeface="Arial"/>
            </a:endParaRPr>
          </a:p>
          <a:p>
            <a:pPr eaLnBrk="1" hangingPunct="1">
              <a:defRPr/>
            </a:pPr>
            <a:r>
              <a:rPr lang="en-GB" b="1" dirty="0">
                <a:latin typeface="Arial"/>
              </a:rPr>
              <a:t>Making Comparisons</a:t>
            </a:r>
            <a:r>
              <a:rPr lang="en-GB" dirty="0">
                <a:latin typeface="Arial"/>
              </a:rPr>
              <a:t>: </a:t>
            </a:r>
            <a:r>
              <a:rPr lang="en-GB" dirty="0"/>
              <a:t>Ask how unrelated systems (e.g. in nature) have dealt with the same basic challenge. See how the team might relate these ideas to their own problem e.g. r</a:t>
            </a:r>
            <a:r>
              <a:rPr lang="en-US" dirty="0"/>
              <a:t>educe drag on aerodynamic surfaces by adding riblets or 'shark-skin' protrusions </a:t>
            </a:r>
            <a:endParaRPr lang="en-GB" dirty="0"/>
          </a:p>
          <a:p>
            <a:pPr eaLnBrk="1" hangingPunct="1">
              <a:spcBef>
                <a:spcPts val="432"/>
              </a:spcBef>
              <a:spcAft>
                <a:spcPts val="0"/>
              </a:spcAft>
              <a:defRPr/>
            </a:pPr>
            <a:endParaRPr lang="en-US" dirty="0">
              <a:latin typeface="Arial"/>
            </a:endParaRPr>
          </a:p>
          <a:p>
            <a:pPr eaLnBrk="1" hangingPunct="1">
              <a:defRPr/>
            </a:pPr>
            <a:r>
              <a:rPr lang="en-US" b="1" dirty="0">
                <a:latin typeface="Arial"/>
              </a:rPr>
              <a:t>Other Points of View</a:t>
            </a:r>
            <a:r>
              <a:rPr lang="en-US" dirty="0">
                <a:latin typeface="Arial"/>
              </a:rPr>
              <a:t>: </a:t>
            </a:r>
            <a:r>
              <a:rPr lang="en-GB" dirty="0"/>
              <a:t>List the stake holders connected with the problem or opportunity. Deliberately look at the situation from their perspective and see what arises. Particularly useful in zones of conflict – e.g. industrial disputes. Try looking at business problems purely from a customer perspective – e.g. budget airlines.</a:t>
            </a:r>
          </a:p>
          <a:p>
            <a:pPr eaLnBrk="1" hangingPunct="1">
              <a:defRPr/>
            </a:pPr>
            <a:endParaRPr lang="en-GB" dirty="0"/>
          </a:p>
          <a:p>
            <a:pPr eaLnBrk="1" hangingPunct="1">
              <a:defRPr/>
            </a:pPr>
            <a:r>
              <a:rPr lang="en-GB" b="1" dirty="0"/>
              <a:t>Outrageous Idea</a:t>
            </a:r>
            <a:r>
              <a:rPr lang="en-GB" dirty="0"/>
              <a:t>: List some things we would never do. Push this to the point of absurdity. Look for useful concepts behind the absurd ideas</a:t>
            </a:r>
            <a:endParaRPr lang="en-US" dirty="0"/>
          </a:p>
          <a:p>
            <a:pPr eaLnBrk="1" hangingPunct="1">
              <a:defRPr/>
            </a:pPr>
            <a:r>
              <a:rPr lang="en-GB" dirty="0"/>
              <a:t>e.g. ‘Sailing’ in space = World wide web</a:t>
            </a:r>
            <a:endParaRPr lang="en-US" dirty="0"/>
          </a:p>
          <a:p>
            <a:pPr eaLnBrk="1" hangingPunct="1">
              <a:defRPr/>
            </a:pPr>
            <a:endParaRPr lang="en-US" dirty="0"/>
          </a:p>
          <a:p>
            <a:pPr eaLnBrk="1" hangingPunct="1">
              <a:spcBef>
                <a:spcPts val="432"/>
              </a:spcBef>
              <a:spcAft>
                <a:spcPts val="0"/>
              </a:spcAft>
              <a:defRPr/>
            </a:pPr>
            <a:endParaRPr lang="en-US" dirty="0">
              <a:latin typeface="Arial"/>
            </a:endParaRPr>
          </a:p>
          <a:p>
            <a:pPr>
              <a:defRPr/>
            </a:pPr>
            <a:endParaRPr lang="en-GB"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0232025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Arial" pitchFamily="34" charset="0"/>
              </a:rPr>
              <a:t>SAY:</a:t>
            </a:r>
            <a:r>
              <a:rPr lang="en-US" dirty="0">
                <a:latin typeface="Arial" pitchFamily="34" charset="0"/>
              </a:rPr>
              <a:t> “This listing is a great resource to refer to when brainstorming… it will help generate more ideas.”</a:t>
            </a:r>
          </a:p>
          <a:p>
            <a:endParaRPr lang="en-US"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23082442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2663073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itchFamily="34" charset="0"/>
              </a:rPr>
              <a:t>DO:</a:t>
            </a:r>
            <a:r>
              <a:rPr lang="en-US" dirty="0">
                <a:latin typeface="Arial" pitchFamily="34" charset="0"/>
              </a:rPr>
              <a:t> Explain the affinity process. Explain that the initial step of writing their own ideas down first is to allow all to contribute effectively. When they call them out and post them on the wall, others can add other ideas during this phase. Don’t go too quickly to miss the inputs. In step 2, stress the grouping in silence first and in step 3 after they have done the first ‘draft’ get them to discuss their groupings and rearrange if necessary, finally naming each grouping on a header Post it. After step 3 when you have the agreed groupings you now may need to use a selection process to decide which ideas to work on.</a:t>
            </a:r>
          </a:p>
          <a:p>
            <a:endParaRPr lang="en-US"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428945475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a:latin typeface="Arial" pitchFamily="34" charset="0"/>
                <a:ea typeface="MS PGothic" pitchFamily="34" charset="-128"/>
              </a:rPr>
              <a:t>SAY</a:t>
            </a:r>
            <a:r>
              <a:rPr lang="en-US" dirty="0">
                <a:latin typeface="Arial" pitchFamily="34" charset="0"/>
                <a:ea typeface="MS PGothic" pitchFamily="34" charset="-128"/>
              </a:rPr>
              <a:t>: “Make a copy of the headings from the Affinity Process and post in a rough circle on a wall or table. Then start at any heading and draw a line with an arrow to all other headings that are influenced by the heading you are considering. </a:t>
            </a:r>
            <a:r>
              <a:rPr lang="en-US" u="sng" dirty="0">
                <a:latin typeface="Arial" pitchFamily="34" charset="0"/>
                <a:ea typeface="MS PGothic" pitchFamily="34" charset="-128"/>
              </a:rPr>
              <a:t>Only use one way arrows. Do not draw a line if it is no influence</a:t>
            </a:r>
            <a:r>
              <a:rPr lang="en-US" dirty="0">
                <a:latin typeface="Arial" pitchFamily="34" charset="0"/>
                <a:ea typeface="MS PGothic" pitchFamily="34" charset="-128"/>
              </a:rPr>
              <a:t>. Then move the next heading and repeat the process until all headings have been completed.”</a:t>
            </a:r>
          </a:p>
          <a:p>
            <a:pPr eaLnBrk="1" hangingPunct="1"/>
            <a:r>
              <a:rPr lang="en-US" b="1" dirty="0">
                <a:latin typeface="Arial" pitchFamily="34" charset="0"/>
                <a:ea typeface="MS PGothic" pitchFamily="34" charset="-128"/>
              </a:rPr>
              <a:t>DO</a:t>
            </a:r>
            <a:r>
              <a:rPr lang="en-US" dirty="0">
                <a:latin typeface="Arial" pitchFamily="34" charset="0"/>
                <a:ea typeface="MS PGothic" pitchFamily="34" charset="-128"/>
              </a:rPr>
              <a:t>: Facilitate the process until step 1 is completed. Check for compliance to rules.</a:t>
            </a:r>
          </a:p>
          <a:p>
            <a:pPr eaLnBrk="1" hangingPunct="1"/>
            <a:r>
              <a:rPr lang="en-US" b="1" dirty="0">
                <a:latin typeface="Arial" pitchFamily="34" charset="0"/>
                <a:ea typeface="MS PGothic" pitchFamily="34" charset="-128"/>
              </a:rPr>
              <a:t>SAY</a:t>
            </a:r>
            <a:r>
              <a:rPr lang="en-US" dirty="0">
                <a:latin typeface="Arial" pitchFamily="34" charset="0"/>
                <a:ea typeface="MS PGothic" pitchFamily="34" charset="-128"/>
              </a:rPr>
              <a:t>: “Next, count how many ‘out’ arrows and how many ‘in’ arrows there are on each heading and write the scores as ‘out/in’ e.g. 3/2 on the Post-it.</a:t>
            </a:r>
          </a:p>
          <a:p>
            <a:pPr eaLnBrk="1" hangingPunct="1"/>
            <a:r>
              <a:rPr lang="en-US" b="1" dirty="0">
                <a:latin typeface="Arial" pitchFamily="34" charset="0"/>
                <a:ea typeface="MS PGothic" pitchFamily="34" charset="-128"/>
              </a:rPr>
              <a:t>DO</a:t>
            </a:r>
            <a:r>
              <a:rPr lang="en-US" dirty="0">
                <a:latin typeface="Arial" pitchFamily="34" charset="0"/>
                <a:ea typeface="MS PGothic" pitchFamily="34" charset="-128"/>
              </a:rPr>
              <a:t>: Wait until the team(s) have finished this part as some discussion is required to decide if there is a relationship or not. A refinement of the relationships could be a dotted line scores 0.5, a fill line scores 1.0 and a thick line scores 1.5 (Only use this if appropriate).</a:t>
            </a:r>
          </a:p>
          <a:p>
            <a:pPr eaLnBrk="1" hangingPunct="1"/>
            <a:r>
              <a:rPr lang="en-US" b="1" dirty="0">
                <a:latin typeface="Arial" pitchFamily="34" charset="0"/>
                <a:ea typeface="MS PGothic" pitchFamily="34" charset="-128"/>
              </a:rPr>
              <a:t>SAY</a:t>
            </a:r>
            <a:r>
              <a:rPr lang="en-US" dirty="0">
                <a:latin typeface="Arial" pitchFamily="34" charset="0"/>
                <a:ea typeface="MS PGothic" pitchFamily="34" charset="-128"/>
              </a:rPr>
              <a:t>: “Now arrange the headings vertically (or horizontally) starting with the one with the highest ‘out’s to the one with the lowest ‘out’s. If two headings have equal ‘out’s arrange them side by side or to reflect the relationship order.”</a:t>
            </a:r>
          </a:p>
          <a:p>
            <a:pPr eaLnBrk="1" hangingPunct="1"/>
            <a:r>
              <a:rPr lang="en-US" b="1" dirty="0">
                <a:latin typeface="Arial" pitchFamily="34" charset="0"/>
                <a:ea typeface="MS PGothic" pitchFamily="34" charset="-128"/>
              </a:rPr>
              <a:t>DO</a:t>
            </a:r>
            <a:r>
              <a:rPr lang="en-US" dirty="0">
                <a:latin typeface="Arial" pitchFamily="34" charset="0"/>
                <a:ea typeface="MS PGothic" pitchFamily="34" charset="-128"/>
              </a:rPr>
              <a:t>: Ask the group to review the relationships between the headings and make any conclusion about the interrelated nature of why problems occur. An example could be - (A) Business is complex, (D) People don’t know what to do (F) People make mistakes (B) Standards not followed (C) No proper training (E) Haven’t got time</a:t>
            </a:r>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22674906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7? – because 8 is too many and 6 is too few!!!! Answer given by</a:t>
            </a:r>
            <a:r>
              <a:rPr lang="en-GB" baseline="0" dirty="0"/>
              <a:t> the </a:t>
            </a:r>
            <a:r>
              <a:rPr lang="en-GB" sz="1000" b="0" i="0" kern="1200" dirty="0" err="1">
                <a:solidFill>
                  <a:schemeClr val="tx1"/>
                </a:solidFill>
                <a:latin typeface="Arial" pitchFamily="34" charset="0"/>
                <a:ea typeface="+mn-ea"/>
                <a:cs typeface="+mn-cs"/>
              </a:rPr>
              <a:t>Shingijutsu</a:t>
            </a:r>
            <a:r>
              <a:rPr lang="en-GB" sz="1000" b="0" i="0" kern="1200" dirty="0">
                <a:solidFill>
                  <a:schemeClr val="tx1"/>
                </a:solidFill>
                <a:latin typeface="Arial" pitchFamily="34" charset="0"/>
                <a:ea typeface="+mn-ea"/>
                <a:cs typeface="+mn-cs"/>
              </a:rPr>
              <a:t> Sensei</a:t>
            </a:r>
            <a:r>
              <a:rPr lang="en-GB" sz="1000" b="0" i="0" kern="1200" baseline="0" dirty="0">
                <a:solidFill>
                  <a:schemeClr val="tx1"/>
                </a:solidFill>
                <a:latin typeface="Arial" pitchFamily="34" charset="0"/>
                <a:ea typeface="+mn-ea"/>
                <a:cs typeface="+mn-cs"/>
              </a:rPr>
              <a:t> who developed 3P.</a:t>
            </a:r>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381135235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352637913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29533359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365200560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Toyota use checklists as a form of standard operation and as a training aid. This example is a composite extract from Toyota.</a:t>
            </a:r>
          </a:p>
          <a:p>
            <a:endParaRPr lang="en-US"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188722291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SAY:</a:t>
            </a:r>
            <a:r>
              <a:rPr lang="en-US" sz="1200" dirty="0"/>
              <a:t> “3P is largely a creative thinking event. Teams are challenged to keep the creative juices flowing as we strive to achieve breakthrough designs and processes. So it is appropriate that we kick the event off with a 3P style creative, team-building exercise. This is a competitive exercise and teams are competing against each other.”</a:t>
            </a:r>
          </a:p>
          <a:p>
            <a:endParaRPr lang="en-US" sz="1200" dirty="0"/>
          </a:p>
          <a:p>
            <a:r>
              <a:rPr lang="en-US" sz="1200" b="1" dirty="0"/>
              <a:t>MATERIALS REQUIRED:</a:t>
            </a:r>
            <a:r>
              <a:rPr lang="en-US" sz="1200" dirty="0"/>
              <a:t> 1 stopwatch as many sheets of 8.5x11” (or A4) paper per team as required. (Optional: Colored pencils)</a:t>
            </a:r>
          </a:p>
          <a:p>
            <a:endParaRPr lang="en-US" sz="1200" dirty="0"/>
          </a:p>
          <a:p>
            <a:r>
              <a:rPr lang="en-US" sz="1200" b="1" dirty="0"/>
              <a:t>DO:</a:t>
            </a:r>
            <a:r>
              <a:rPr lang="en-US" sz="1200" dirty="0"/>
              <a:t> Read the instructions aloud with the class on the slide. Have the materials prepared and the tables already assembled to facilitate working in small groups. </a:t>
            </a:r>
          </a:p>
          <a:p>
            <a:endParaRPr lang="en-US" sz="1200" dirty="0"/>
          </a:p>
          <a:p>
            <a:r>
              <a:rPr lang="en-US" sz="1200" b="1" dirty="0"/>
              <a:t>DO:</a:t>
            </a:r>
            <a:r>
              <a:rPr lang="en-US" sz="1200" dirty="0"/>
              <a:t> Encourage the teams to think about how things in nature achieve flight. Birds, flying squirrels, air borne seeds etc.</a:t>
            </a:r>
          </a:p>
          <a:p>
            <a:endParaRPr lang="en-US" sz="1200" dirty="0"/>
          </a:p>
          <a:p>
            <a:r>
              <a:rPr lang="en-US" sz="1200" b="1" dirty="0"/>
              <a:t>DO:</a:t>
            </a:r>
            <a:r>
              <a:rPr lang="en-US" sz="1200" dirty="0"/>
              <a:t> Ensure that they follow the 3P process of: </a:t>
            </a:r>
            <a:r>
              <a:rPr lang="en-US" sz="1200" dirty="0" err="1"/>
              <a:t>i</a:t>
            </a:r>
            <a:r>
              <a:rPr lang="en-US" sz="1200" dirty="0"/>
              <a:t>) individual drawn designs, ii) selecting the top three, iii) prototyping and then iv) final selection on the one best solution. Also ensure it is clear that they have 20 minutes in their teams to come up with their final airplane design and test it.</a:t>
            </a:r>
          </a:p>
          <a:p>
            <a:endParaRPr lang="en-US" sz="1200" dirty="0"/>
          </a:p>
          <a:p>
            <a:r>
              <a:rPr lang="en-US" sz="1200" b="1" dirty="0"/>
              <a:t>NOTE:</a:t>
            </a:r>
            <a:r>
              <a:rPr lang="en-US" sz="1200" dirty="0"/>
              <a:t> Allow the class to come up with their own method for how to determine the best design. Do not be too directive here. Also you may be asked what the criteria for “aesthetically pleasing” is. Just say that “it must look like an airplane or other type of aircraft (no floating flat pieces of paper!)”. Either select a “Customer” or you act as Customer and be the ultimate judge. The Customer can not participate in the team exercises.</a:t>
            </a:r>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9210162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SAY:</a:t>
            </a:r>
            <a:r>
              <a:rPr lang="en-GB" dirty="0"/>
              <a:t> “Why 7? The answer I was given is “because 6 is too few and 8 is too many” from my Japanese Sensei!”</a:t>
            </a:r>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36633221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88437852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Arial" pitchFamily="34" charset="0"/>
              </a:rPr>
              <a:t>DO</a:t>
            </a:r>
            <a:r>
              <a:rPr lang="en-GB" dirty="0">
                <a:latin typeface="Arial" pitchFamily="34" charset="0"/>
              </a:rPr>
              <a:t>: Explain that each participant has a number of votes to share between the ideas that they feel are the best ones. Limit the number of votes per person for any idea to 3. The total number of votes given is typically 10. However if there are a large number of ideas and few delegates this can be increased. A quick formula  5 x Number of Ideas ÷ number of participants will help for unusual situations. Example 20 ideas and 5 participants gives 5 x 20 / 5 = 20 votes each. </a:t>
            </a:r>
            <a:r>
              <a:rPr lang="en-GB">
                <a:latin typeface="Arial" pitchFamily="34" charset="0"/>
              </a:rPr>
              <a:t>Limit it a maximum of 20 and a minimum of 5 votes.</a:t>
            </a:r>
            <a:endParaRPr lang="en-GB"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34478707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latin typeface="Arial" pitchFamily="34" charset="0"/>
              </a:rPr>
              <a:t>SAY</a:t>
            </a:r>
            <a:r>
              <a:rPr lang="en-GB" dirty="0">
                <a:latin typeface="Arial" pitchFamily="34" charset="0"/>
              </a:rPr>
              <a:t>: “This can be done on chart paper or on a wall. The team are to assess where to place the ideas.”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7548016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288705839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Arial"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167119108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29655142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56848152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291824618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109729167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453084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en-US" sz="1000" dirty="0"/>
              <a:t>VAVE KAIZEN ENG REV3</a:t>
            </a: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8" Type="http://schemas.openxmlformats.org/officeDocument/2006/relationships/image" Target="../media/image36.jpeg"/><Relationship Id="rId13" Type="http://schemas.openxmlformats.org/officeDocument/2006/relationships/image" Target="../media/image41.jpeg"/><Relationship Id="rId3" Type="http://schemas.openxmlformats.org/officeDocument/2006/relationships/image" Target="../media/image31.jpg"/><Relationship Id="rId7" Type="http://schemas.openxmlformats.org/officeDocument/2006/relationships/image" Target="../media/image35.jpg"/><Relationship Id="rId12" Type="http://schemas.openxmlformats.org/officeDocument/2006/relationships/image" Target="../media/image40.jpeg"/><Relationship Id="rId17" Type="http://schemas.openxmlformats.org/officeDocument/2006/relationships/image" Target="../media/image45.jpeg"/><Relationship Id="rId2" Type="http://schemas.openxmlformats.org/officeDocument/2006/relationships/notesSlide" Target="../notesSlides/notesSlide70.xml"/><Relationship Id="rId16" Type="http://schemas.openxmlformats.org/officeDocument/2006/relationships/image" Target="../media/image44.jpeg"/><Relationship Id="rId1" Type="http://schemas.openxmlformats.org/officeDocument/2006/relationships/slideLayout" Target="../slideLayouts/slideLayout9.xml"/><Relationship Id="rId6" Type="http://schemas.openxmlformats.org/officeDocument/2006/relationships/image" Target="../media/image34.jpeg"/><Relationship Id="rId11" Type="http://schemas.openxmlformats.org/officeDocument/2006/relationships/image" Target="../media/image39.jpeg"/><Relationship Id="rId5" Type="http://schemas.openxmlformats.org/officeDocument/2006/relationships/image" Target="../media/image33.jpeg"/><Relationship Id="rId15" Type="http://schemas.openxmlformats.org/officeDocument/2006/relationships/image" Target="../media/image43.jpeg"/><Relationship Id="rId10" Type="http://schemas.openxmlformats.org/officeDocument/2006/relationships/image" Target="../media/image38.jpeg"/><Relationship Id="rId4" Type="http://schemas.openxmlformats.org/officeDocument/2006/relationships/image" Target="../media/image32.jpg"/><Relationship Id="rId9" Type="http://schemas.openxmlformats.org/officeDocument/2006/relationships/image" Target="../media/image37.jpeg"/><Relationship Id="rId14" Type="http://schemas.openxmlformats.org/officeDocument/2006/relationships/image" Target="../media/image42.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1.xml"/><Relationship Id="rId1" Type="http://schemas.openxmlformats.org/officeDocument/2006/relationships/slideLayout" Target="../slideLayouts/slideLayout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84.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9.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Value Analysis / Value Engineering</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
        <p:nvSpPr>
          <p:cNvPr id="2" name="Subtitle 2">
            <a:extLst>
              <a:ext uri="{FF2B5EF4-FFF2-40B4-BE49-F238E27FC236}">
                <a16:creationId xmlns:a16="http://schemas.microsoft.com/office/drawing/2014/main" id="{380A01BA-4CEA-B7B1-9AE3-F2C8AD2B8C38}"/>
              </a:ext>
            </a:extLst>
          </p:cNvPr>
          <p:cNvSpPr txBox="1">
            <a:spLocks/>
          </p:cNvSpPr>
          <p:nvPr/>
        </p:nvSpPr>
        <p:spPr>
          <a:xfrm>
            <a:off x="1524000" y="4953466"/>
            <a:ext cx="9144000" cy="4529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Information &amp; Evaluation Phases Kaizen Event</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etc.)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VA/VE Roadmap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29" name="Group 28">
            <a:extLst>
              <a:ext uri="{FF2B5EF4-FFF2-40B4-BE49-F238E27FC236}">
                <a16:creationId xmlns:a16="http://schemas.microsoft.com/office/drawing/2014/main" id="{78B55139-69F8-E0A4-A20C-A54803ADB7D3}"/>
              </a:ext>
            </a:extLst>
          </p:cNvPr>
          <p:cNvGrpSpPr/>
          <p:nvPr/>
        </p:nvGrpSpPr>
        <p:grpSpPr>
          <a:xfrm>
            <a:off x="1433513" y="1794510"/>
            <a:ext cx="9324975" cy="4383242"/>
            <a:chOff x="219075" y="1547813"/>
            <a:chExt cx="8618538" cy="4205287"/>
          </a:xfrm>
        </p:grpSpPr>
        <p:cxnSp>
          <p:nvCxnSpPr>
            <p:cNvPr id="3" name="AutoShape 17">
              <a:extLst>
                <a:ext uri="{FF2B5EF4-FFF2-40B4-BE49-F238E27FC236}">
                  <a16:creationId xmlns:a16="http://schemas.microsoft.com/office/drawing/2014/main" id="{B29DA602-94B4-E428-0D69-088D3D8A7538}"/>
                </a:ext>
              </a:extLst>
            </p:cNvPr>
            <p:cNvCxnSpPr>
              <a:cxnSpLocks noChangeShapeType="1"/>
              <a:stCxn id="21" idx="3"/>
              <a:endCxn id="24" idx="1"/>
            </p:cNvCxnSpPr>
            <p:nvPr/>
          </p:nvCxnSpPr>
          <p:spPr bwMode="auto">
            <a:xfrm>
              <a:off x="7086602" y="4718049"/>
              <a:ext cx="228599"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 name="AutoShape 17">
              <a:extLst>
                <a:ext uri="{FF2B5EF4-FFF2-40B4-BE49-F238E27FC236}">
                  <a16:creationId xmlns:a16="http://schemas.microsoft.com/office/drawing/2014/main" id="{B70E635F-F498-5F1C-2834-03AF271BA973}"/>
                </a:ext>
              </a:extLst>
            </p:cNvPr>
            <p:cNvCxnSpPr>
              <a:cxnSpLocks noChangeShapeType="1"/>
              <a:stCxn id="18" idx="3"/>
              <a:endCxn id="21" idx="1"/>
            </p:cNvCxnSpPr>
            <p:nvPr/>
          </p:nvCxnSpPr>
          <p:spPr bwMode="auto">
            <a:xfrm>
              <a:off x="5337177" y="4718049"/>
              <a:ext cx="228600"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6" name="Group 2">
              <a:extLst>
                <a:ext uri="{FF2B5EF4-FFF2-40B4-BE49-F238E27FC236}">
                  <a16:creationId xmlns:a16="http://schemas.microsoft.com/office/drawing/2014/main" id="{9E26AF4C-63BE-D7CD-55EE-9156E02433E9}"/>
                </a:ext>
              </a:extLst>
            </p:cNvPr>
            <p:cNvGrpSpPr>
              <a:grpSpLocks/>
            </p:cNvGrpSpPr>
            <p:nvPr/>
          </p:nvGrpSpPr>
          <p:grpSpPr bwMode="auto">
            <a:xfrm>
              <a:off x="219075" y="3686175"/>
              <a:ext cx="3482976" cy="2066925"/>
              <a:chOff x="1389" y="1410"/>
              <a:chExt cx="4116" cy="1795"/>
            </a:xfrm>
          </p:grpSpPr>
          <p:sp>
            <p:nvSpPr>
              <p:cNvPr id="7" name="Rectangle 3">
                <a:extLst>
                  <a:ext uri="{FF2B5EF4-FFF2-40B4-BE49-F238E27FC236}">
                    <a16:creationId xmlns:a16="http://schemas.microsoft.com/office/drawing/2014/main" id="{602257E3-F891-6345-FFBE-E45204132839}"/>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b"/>
              <a:lstStyle/>
              <a:p>
                <a:pPr algn="ctr"/>
                <a:r>
                  <a:rPr lang="en-GB" sz="1800" b="1" dirty="0">
                    <a:solidFill>
                      <a:schemeClr val="tx1"/>
                    </a:solidFill>
                  </a:rPr>
                  <a:t>THIS EVENT</a:t>
                </a:r>
              </a:p>
            </p:txBody>
          </p:sp>
          <p:sp>
            <p:nvSpPr>
              <p:cNvPr id="8" name="Text Box 4">
                <a:extLst>
                  <a:ext uri="{FF2B5EF4-FFF2-40B4-BE49-F238E27FC236}">
                    <a16:creationId xmlns:a16="http://schemas.microsoft.com/office/drawing/2014/main" id="{E5AD1B46-3DCC-CE06-710D-6BE205E649EC}"/>
                  </a:ext>
                </a:extLst>
              </p:cNvPr>
              <p:cNvSpPr txBox="1">
                <a:spLocks noChangeArrowheads="1"/>
              </p:cNvSpPr>
              <p:nvPr/>
            </p:nvSpPr>
            <p:spPr bwMode="auto">
              <a:xfrm>
                <a:off x="3401" y="1507"/>
                <a:ext cx="202" cy="276"/>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nSpc>
                    <a:spcPct val="100000"/>
                  </a:lnSpc>
                  <a:spcBef>
                    <a:spcPct val="30000"/>
                  </a:spcBef>
                </a:pPr>
                <a:endParaRPr lang="en-US" sz="1600" i="1" dirty="0">
                  <a:solidFill>
                    <a:srgbClr val="000066"/>
                  </a:solidFill>
                  <a:latin typeface="+mn-lt"/>
                </a:endParaRPr>
              </a:p>
            </p:txBody>
          </p:sp>
        </p:grpSp>
        <p:cxnSp>
          <p:nvCxnSpPr>
            <p:cNvPr id="9" name="AutoShape 16">
              <a:extLst>
                <a:ext uri="{FF2B5EF4-FFF2-40B4-BE49-F238E27FC236}">
                  <a16:creationId xmlns:a16="http://schemas.microsoft.com/office/drawing/2014/main" id="{665E4D44-FBCE-BD05-7579-35494E2CFB91}"/>
                </a:ext>
              </a:extLst>
            </p:cNvPr>
            <p:cNvCxnSpPr>
              <a:cxnSpLocks noChangeShapeType="1"/>
              <a:stCxn id="15" idx="3"/>
              <a:endCxn id="18" idx="1"/>
            </p:cNvCxnSpPr>
            <p:nvPr/>
          </p:nvCxnSpPr>
          <p:spPr bwMode="auto">
            <a:xfrm>
              <a:off x="3587750" y="4718049"/>
              <a:ext cx="228602"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 name="AutoShape 15">
              <a:extLst>
                <a:ext uri="{FF2B5EF4-FFF2-40B4-BE49-F238E27FC236}">
                  <a16:creationId xmlns:a16="http://schemas.microsoft.com/office/drawing/2014/main" id="{85DF46C4-C741-3474-B817-CAB9118309F8}"/>
                </a:ext>
              </a:extLst>
            </p:cNvPr>
            <p:cNvCxnSpPr>
              <a:cxnSpLocks noChangeShapeType="1"/>
              <a:stCxn id="12" idx="3"/>
              <a:endCxn id="15" idx="1"/>
            </p:cNvCxnSpPr>
            <p:nvPr/>
          </p:nvCxnSpPr>
          <p:spPr bwMode="auto">
            <a:xfrm flipV="1">
              <a:off x="1838327" y="4718049"/>
              <a:ext cx="228598" cy="1"/>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1" name="Group 10">
              <a:extLst>
                <a:ext uri="{FF2B5EF4-FFF2-40B4-BE49-F238E27FC236}">
                  <a16:creationId xmlns:a16="http://schemas.microsoft.com/office/drawing/2014/main" id="{4857E868-2844-A75F-F658-BC8A66966572}"/>
                </a:ext>
              </a:extLst>
            </p:cNvPr>
            <p:cNvGrpSpPr/>
            <p:nvPr/>
          </p:nvGrpSpPr>
          <p:grpSpPr>
            <a:xfrm>
              <a:off x="317500" y="3916362"/>
              <a:ext cx="1522412" cy="1341438"/>
              <a:chOff x="317500" y="2209801"/>
              <a:chExt cx="1522412" cy="1341438"/>
            </a:xfrm>
          </p:grpSpPr>
          <p:sp>
            <p:nvSpPr>
              <p:cNvPr id="12" name="Rectangle 7">
                <a:extLst>
                  <a:ext uri="{FF2B5EF4-FFF2-40B4-BE49-F238E27FC236}">
                    <a16:creationId xmlns:a16="http://schemas.microsoft.com/office/drawing/2014/main" id="{B6F1AFF9-0B79-9F70-44CD-0A7AB9ECEDC8}"/>
                  </a:ext>
                </a:extLst>
              </p:cNvPr>
              <p:cNvSpPr>
                <a:spLocks noChangeArrowheads="1"/>
              </p:cNvSpPr>
              <p:nvPr/>
            </p:nvSpPr>
            <p:spPr bwMode="auto">
              <a:xfrm>
                <a:off x="317502" y="2471739"/>
                <a:ext cx="1520825" cy="1079500"/>
              </a:xfrm>
              <a:prstGeom prst="rect">
                <a:avLst/>
              </a:prstGeom>
              <a:solidFill>
                <a:schemeClr val="bg1"/>
              </a:solidFill>
              <a:ln w="12700" cap="sq" algn="ctr">
                <a:solidFill>
                  <a:schemeClr val="tx1"/>
                </a:solidFill>
                <a:miter lim="800000"/>
                <a:headEnd/>
                <a:tailEnd/>
              </a:ln>
            </p:spPr>
            <p:txBody>
              <a:bodyPr anchor="ctr"/>
              <a:lstStyle/>
              <a:p>
                <a:r>
                  <a:rPr lang="en-US" sz="1600" b="1" dirty="0">
                    <a:solidFill>
                      <a:schemeClr val="tx1"/>
                    </a:solidFill>
                  </a:rPr>
                  <a:t>Charter, baseline data, schedule</a:t>
                </a:r>
              </a:p>
            </p:txBody>
          </p:sp>
          <p:sp>
            <p:nvSpPr>
              <p:cNvPr id="13" name="Rectangle 8">
                <a:extLst>
                  <a:ext uri="{FF2B5EF4-FFF2-40B4-BE49-F238E27FC236}">
                    <a16:creationId xmlns:a16="http://schemas.microsoft.com/office/drawing/2014/main" id="{A0D0BF0C-4A30-1539-11B5-9F284A44F18E}"/>
                  </a:ext>
                </a:extLst>
              </p:cNvPr>
              <p:cNvSpPr>
                <a:spLocks noChangeArrowheads="1"/>
              </p:cNvSpPr>
              <p:nvPr/>
            </p:nvSpPr>
            <p:spPr bwMode="auto">
              <a:xfrm>
                <a:off x="317500" y="2209801"/>
                <a:ext cx="1522412" cy="252413"/>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CONCEPT</a:t>
                </a:r>
              </a:p>
            </p:txBody>
          </p:sp>
        </p:grpSp>
        <p:grpSp>
          <p:nvGrpSpPr>
            <p:cNvPr id="14" name="Group 13">
              <a:extLst>
                <a:ext uri="{FF2B5EF4-FFF2-40B4-BE49-F238E27FC236}">
                  <a16:creationId xmlns:a16="http://schemas.microsoft.com/office/drawing/2014/main" id="{6971FCC6-B21E-DCDA-6943-B7DCE0D4DC29}"/>
                </a:ext>
              </a:extLst>
            </p:cNvPr>
            <p:cNvGrpSpPr/>
            <p:nvPr/>
          </p:nvGrpSpPr>
          <p:grpSpPr>
            <a:xfrm>
              <a:off x="2066925" y="3916363"/>
              <a:ext cx="1522413" cy="1341436"/>
              <a:chOff x="2112963" y="2205039"/>
              <a:chExt cx="1522413" cy="1341436"/>
            </a:xfrm>
          </p:grpSpPr>
          <p:sp>
            <p:nvSpPr>
              <p:cNvPr id="15" name="Rectangle 9">
                <a:extLst>
                  <a:ext uri="{FF2B5EF4-FFF2-40B4-BE49-F238E27FC236}">
                    <a16:creationId xmlns:a16="http://schemas.microsoft.com/office/drawing/2014/main" id="{9B56848F-E9DF-A80E-A003-D2EA3E640A8D}"/>
                  </a:ext>
                </a:extLst>
              </p:cNvPr>
              <p:cNvSpPr>
                <a:spLocks noChangeArrowheads="1"/>
              </p:cNvSpPr>
              <p:nvPr/>
            </p:nvSpPr>
            <p:spPr bwMode="auto">
              <a:xfrm>
                <a:off x="2112963" y="2466975"/>
                <a:ext cx="1520825" cy="1079500"/>
              </a:xfrm>
              <a:prstGeom prst="rect">
                <a:avLst/>
              </a:prstGeom>
              <a:solidFill>
                <a:schemeClr val="bg1"/>
              </a:solidFill>
              <a:ln w="12700" cap="sq" algn="ctr">
                <a:solidFill>
                  <a:schemeClr val="tx1"/>
                </a:solidFill>
                <a:miter lim="800000"/>
                <a:headEnd/>
                <a:tailEnd/>
              </a:ln>
            </p:spPr>
            <p:txBody>
              <a:bodyPr anchor="ctr"/>
              <a:lstStyle/>
              <a:p>
                <a:r>
                  <a:rPr lang="en-US" sz="1600" b="1" dirty="0">
                    <a:solidFill>
                      <a:schemeClr val="tx1"/>
                    </a:solidFill>
                  </a:rPr>
                  <a:t>Generate ideas, evaluate , select, action plan</a:t>
                </a:r>
              </a:p>
            </p:txBody>
          </p:sp>
          <p:sp>
            <p:nvSpPr>
              <p:cNvPr id="16" name="Rectangle 10">
                <a:extLst>
                  <a:ext uri="{FF2B5EF4-FFF2-40B4-BE49-F238E27FC236}">
                    <a16:creationId xmlns:a16="http://schemas.microsoft.com/office/drawing/2014/main" id="{8A22E053-94F5-4070-BD90-F71D10ABDEA3}"/>
                  </a:ext>
                </a:extLst>
              </p:cNvPr>
              <p:cNvSpPr>
                <a:spLocks noChangeArrowheads="1"/>
              </p:cNvSpPr>
              <p:nvPr/>
            </p:nvSpPr>
            <p:spPr bwMode="auto">
              <a:xfrm>
                <a:off x="2112963" y="2205039"/>
                <a:ext cx="1522413"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EVALUATION</a:t>
                </a:r>
              </a:p>
            </p:txBody>
          </p:sp>
        </p:grpSp>
        <p:grpSp>
          <p:nvGrpSpPr>
            <p:cNvPr id="17" name="Group 16">
              <a:extLst>
                <a:ext uri="{FF2B5EF4-FFF2-40B4-BE49-F238E27FC236}">
                  <a16:creationId xmlns:a16="http://schemas.microsoft.com/office/drawing/2014/main" id="{89DE17AA-61FF-4840-2B58-16CF163ABDC0}"/>
                </a:ext>
              </a:extLst>
            </p:cNvPr>
            <p:cNvGrpSpPr/>
            <p:nvPr/>
          </p:nvGrpSpPr>
          <p:grpSpPr>
            <a:xfrm>
              <a:off x="3816351" y="3916363"/>
              <a:ext cx="1522412" cy="1341436"/>
              <a:chOff x="3927476" y="2205039"/>
              <a:chExt cx="1522412" cy="1341436"/>
            </a:xfrm>
          </p:grpSpPr>
          <p:sp>
            <p:nvSpPr>
              <p:cNvPr id="18" name="Rectangle 11">
                <a:extLst>
                  <a:ext uri="{FF2B5EF4-FFF2-40B4-BE49-F238E27FC236}">
                    <a16:creationId xmlns:a16="http://schemas.microsoft.com/office/drawing/2014/main" id="{002C67BC-A621-C02B-6AE6-55A310E606E8}"/>
                  </a:ext>
                </a:extLst>
              </p:cNvPr>
              <p:cNvSpPr>
                <a:spLocks noChangeArrowheads="1"/>
              </p:cNvSpPr>
              <p:nvPr/>
            </p:nvSpPr>
            <p:spPr bwMode="auto">
              <a:xfrm>
                <a:off x="3927477" y="2466975"/>
                <a:ext cx="1520825" cy="1079500"/>
              </a:xfrm>
              <a:prstGeom prst="rect">
                <a:avLst/>
              </a:prstGeom>
              <a:solidFill>
                <a:schemeClr val="bg1"/>
              </a:solidFill>
              <a:ln w="12700" cap="sq" algn="ctr">
                <a:solidFill>
                  <a:schemeClr val="tx1"/>
                </a:solidFill>
                <a:miter lim="800000"/>
                <a:headEnd/>
                <a:tailEnd/>
              </a:ln>
            </p:spPr>
            <p:txBody>
              <a:bodyPr anchor="ctr"/>
              <a:lstStyle/>
              <a:p>
                <a:r>
                  <a:rPr lang="en-US" sz="1600" b="1" dirty="0">
                    <a:solidFill>
                      <a:schemeClr val="tx1"/>
                    </a:solidFill>
                  </a:rPr>
                  <a:t>Specifications, detailed design, production process</a:t>
                </a:r>
              </a:p>
            </p:txBody>
          </p:sp>
          <p:sp>
            <p:nvSpPr>
              <p:cNvPr id="19" name="Rectangle 12">
                <a:extLst>
                  <a:ext uri="{FF2B5EF4-FFF2-40B4-BE49-F238E27FC236}">
                    <a16:creationId xmlns:a16="http://schemas.microsoft.com/office/drawing/2014/main" id="{9BAEDF72-086A-AC0F-41A8-A813083AB961}"/>
                  </a:ext>
                </a:extLst>
              </p:cNvPr>
              <p:cNvSpPr>
                <a:spLocks noChangeArrowheads="1"/>
              </p:cNvSpPr>
              <p:nvPr/>
            </p:nvSpPr>
            <p:spPr bwMode="auto">
              <a:xfrm>
                <a:off x="3927476" y="2205039"/>
                <a:ext cx="1522412"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DESIGN</a:t>
                </a:r>
              </a:p>
            </p:txBody>
          </p:sp>
        </p:grpSp>
        <p:grpSp>
          <p:nvGrpSpPr>
            <p:cNvPr id="20" name="Group 19">
              <a:extLst>
                <a:ext uri="{FF2B5EF4-FFF2-40B4-BE49-F238E27FC236}">
                  <a16:creationId xmlns:a16="http://schemas.microsoft.com/office/drawing/2014/main" id="{DA1E762D-6860-B996-4BF1-608634EF5E9C}"/>
                </a:ext>
              </a:extLst>
            </p:cNvPr>
            <p:cNvGrpSpPr/>
            <p:nvPr/>
          </p:nvGrpSpPr>
          <p:grpSpPr>
            <a:xfrm>
              <a:off x="5565776" y="3916363"/>
              <a:ext cx="1522413" cy="1341436"/>
              <a:chOff x="5741988" y="2205039"/>
              <a:chExt cx="1522413" cy="1341436"/>
            </a:xfrm>
          </p:grpSpPr>
          <p:sp>
            <p:nvSpPr>
              <p:cNvPr id="21" name="Rectangle 13">
                <a:extLst>
                  <a:ext uri="{FF2B5EF4-FFF2-40B4-BE49-F238E27FC236}">
                    <a16:creationId xmlns:a16="http://schemas.microsoft.com/office/drawing/2014/main" id="{3B1905A4-A9C1-87A6-0AC4-97FA7B6AC506}"/>
                  </a:ext>
                </a:extLst>
              </p:cNvPr>
              <p:cNvSpPr>
                <a:spLocks noChangeArrowheads="1"/>
              </p:cNvSpPr>
              <p:nvPr/>
            </p:nvSpPr>
            <p:spPr bwMode="auto">
              <a:xfrm>
                <a:off x="5741989" y="2466975"/>
                <a:ext cx="1520825" cy="1079500"/>
              </a:xfrm>
              <a:prstGeom prst="rect">
                <a:avLst/>
              </a:prstGeom>
              <a:solidFill>
                <a:schemeClr val="bg1"/>
              </a:solidFill>
              <a:ln w="12700" cap="sq" algn="ctr">
                <a:solidFill>
                  <a:schemeClr val="tx1"/>
                </a:solidFill>
                <a:miter lim="800000"/>
                <a:headEnd/>
                <a:tailEnd/>
              </a:ln>
            </p:spPr>
            <p:txBody>
              <a:bodyPr anchor="ctr"/>
              <a:lstStyle/>
              <a:p>
                <a:r>
                  <a:rPr lang="en-US" sz="1600" b="1" dirty="0">
                    <a:solidFill>
                      <a:schemeClr val="tx1"/>
                    </a:solidFill>
                  </a:rPr>
                  <a:t>Components, Customer</a:t>
                </a:r>
              </a:p>
            </p:txBody>
          </p:sp>
          <p:sp>
            <p:nvSpPr>
              <p:cNvPr id="22" name="Rectangle 14">
                <a:extLst>
                  <a:ext uri="{FF2B5EF4-FFF2-40B4-BE49-F238E27FC236}">
                    <a16:creationId xmlns:a16="http://schemas.microsoft.com/office/drawing/2014/main" id="{C66B18A1-F042-E82E-F020-BB2EA8B8D070}"/>
                  </a:ext>
                </a:extLst>
              </p:cNvPr>
              <p:cNvSpPr>
                <a:spLocks noChangeArrowheads="1"/>
              </p:cNvSpPr>
              <p:nvPr/>
            </p:nvSpPr>
            <p:spPr bwMode="auto">
              <a:xfrm>
                <a:off x="5741988" y="2205039"/>
                <a:ext cx="1522413"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QUALIFICATION</a:t>
                </a:r>
              </a:p>
            </p:txBody>
          </p:sp>
        </p:grpSp>
        <p:grpSp>
          <p:nvGrpSpPr>
            <p:cNvPr id="23" name="Group 22">
              <a:extLst>
                <a:ext uri="{FF2B5EF4-FFF2-40B4-BE49-F238E27FC236}">
                  <a16:creationId xmlns:a16="http://schemas.microsoft.com/office/drawing/2014/main" id="{73710074-F71C-F889-4B9A-986CA380B459}"/>
                </a:ext>
              </a:extLst>
            </p:cNvPr>
            <p:cNvGrpSpPr/>
            <p:nvPr/>
          </p:nvGrpSpPr>
          <p:grpSpPr>
            <a:xfrm>
              <a:off x="7315200" y="3916363"/>
              <a:ext cx="1522413" cy="1341436"/>
              <a:chOff x="7467599" y="2209803"/>
              <a:chExt cx="1522413" cy="1341436"/>
            </a:xfrm>
          </p:grpSpPr>
          <p:sp>
            <p:nvSpPr>
              <p:cNvPr id="24" name="Rectangle 13">
                <a:extLst>
                  <a:ext uri="{FF2B5EF4-FFF2-40B4-BE49-F238E27FC236}">
                    <a16:creationId xmlns:a16="http://schemas.microsoft.com/office/drawing/2014/main" id="{8E27402C-8166-DED0-4949-4CDA7A4DF668}"/>
                  </a:ext>
                </a:extLst>
              </p:cNvPr>
              <p:cNvSpPr>
                <a:spLocks noChangeArrowheads="1"/>
              </p:cNvSpPr>
              <p:nvPr/>
            </p:nvSpPr>
            <p:spPr bwMode="auto">
              <a:xfrm>
                <a:off x="7467600" y="2471739"/>
                <a:ext cx="1520825" cy="1079500"/>
              </a:xfrm>
              <a:prstGeom prst="rect">
                <a:avLst/>
              </a:prstGeom>
              <a:solidFill>
                <a:schemeClr val="bg1"/>
              </a:solidFill>
              <a:ln w="12700" cap="sq" algn="ctr">
                <a:solidFill>
                  <a:schemeClr val="tx1"/>
                </a:solidFill>
                <a:miter lim="800000"/>
                <a:headEnd/>
                <a:tailEnd/>
              </a:ln>
            </p:spPr>
            <p:txBody>
              <a:bodyPr anchor="ctr"/>
              <a:lstStyle/>
              <a:p>
                <a:r>
                  <a:rPr lang="en-US" sz="1600" b="1" dirty="0">
                    <a:solidFill>
                      <a:schemeClr val="tx1"/>
                    </a:solidFill>
                  </a:rPr>
                  <a:t>ECO (PCN), stock run-out, volume</a:t>
                </a:r>
              </a:p>
            </p:txBody>
          </p:sp>
          <p:sp>
            <p:nvSpPr>
              <p:cNvPr id="25" name="Rectangle 14">
                <a:extLst>
                  <a:ext uri="{FF2B5EF4-FFF2-40B4-BE49-F238E27FC236}">
                    <a16:creationId xmlns:a16="http://schemas.microsoft.com/office/drawing/2014/main" id="{9D81046A-25E2-A5F9-EC39-E4ABC7E63E38}"/>
                  </a:ext>
                </a:extLst>
              </p:cNvPr>
              <p:cNvSpPr>
                <a:spLocks noChangeArrowheads="1"/>
              </p:cNvSpPr>
              <p:nvPr/>
            </p:nvSpPr>
            <p:spPr bwMode="auto">
              <a:xfrm>
                <a:off x="7467599" y="2209803"/>
                <a:ext cx="1522413"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RAMP-UP</a:t>
                </a:r>
              </a:p>
            </p:txBody>
          </p:sp>
        </p:grpSp>
        <p:sp>
          <p:nvSpPr>
            <p:cNvPr id="26" name="Rectangle 6">
              <a:extLst>
                <a:ext uri="{FF2B5EF4-FFF2-40B4-BE49-F238E27FC236}">
                  <a16:creationId xmlns:a16="http://schemas.microsoft.com/office/drawing/2014/main" id="{320AD010-8CE9-908B-CD13-446832607A54}"/>
                </a:ext>
              </a:extLst>
            </p:cNvPr>
            <p:cNvSpPr>
              <a:spLocks noChangeArrowheads="1"/>
            </p:cNvSpPr>
            <p:nvPr/>
          </p:nvSpPr>
          <p:spPr bwMode="auto">
            <a:xfrm>
              <a:off x="455613" y="1687513"/>
              <a:ext cx="8256587" cy="1792287"/>
            </a:xfrm>
            <a:prstGeom prst="rect">
              <a:avLst/>
            </a:prstGeom>
            <a:noFill/>
            <a:ln w="19050" algn="ctr">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lstStyle/>
            <a:p>
              <a:pPr algn="l">
                <a:lnSpc>
                  <a:spcPct val="115000"/>
                </a:lnSpc>
                <a:spcAft>
                  <a:spcPct val="50000"/>
                </a:spcAft>
              </a:pPr>
              <a:r>
                <a:rPr lang="en-US" sz="1800" dirty="0">
                  <a:solidFill>
                    <a:schemeClr val="tx1"/>
                  </a:solidFill>
                </a:rPr>
                <a:t>Develop the lowest cost product without affecting quality or function with the shortest development leadtime</a:t>
              </a:r>
            </a:p>
          </p:txBody>
        </p:sp>
        <p:sp>
          <p:nvSpPr>
            <p:cNvPr id="27" name="Text Box 7">
              <a:extLst>
                <a:ext uri="{FF2B5EF4-FFF2-40B4-BE49-F238E27FC236}">
                  <a16:creationId xmlns:a16="http://schemas.microsoft.com/office/drawing/2014/main" id="{BDF522B1-7418-3248-6CBD-B5D712F6CB5F}"/>
                </a:ext>
              </a:extLst>
            </p:cNvPr>
            <p:cNvSpPr txBox="1">
              <a:spLocks noChangeArrowheads="1"/>
            </p:cNvSpPr>
            <p:nvPr/>
          </p:nvSpPr>
          <p:spPr bwMode="auto">
            <a:xfrm>
              <a:off x="588963" y="1547813"/>
              <a:ext cx="2182639" cy="346200"/>
            </a:xfrm>
            <a:prstGeom prst="rect">
              <a:avLst/>
            </a:prstGeom>
            <a:solidFill>
              <a:schemeClr val="bg1"/>
            </a:solidFill>
            <a:ln>
              <a:noFill/>
            </a:ln>
            <a:extLst>
              <a:ext uri="{91240B29-F687-4F45-9708-019B960494DF}">
                <a14:hiddenLine xmlns:a14="http://schemas.microsoft.com/office/drawing/2010/main" w="12700" cap="sq" algn="ctr">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US" sz="1800" dirty="0">
                  <a:solidFill>
                    <a:schemeClr val="tx1"/>
                  </a:solidFill>
                  <a:latin typeface="+mn-lt"/>
                </a:rPr>
                <a:t>Goal of VA/VE Event:</a:t>
              </a:r>
            </a:p>
          </p:txBody>
        </p:sp>
      </p:grpSp>
    </p:spTree>
    <p:extLst>
      <p:ext uri="{BB962C8B-B14F-4D97-AF65-F5344CB8AC3E}">
        <p14:creationId xmlns:p14="http://schemas.microsoft.com/office/powerpoint/2010/main" val="2946819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VA/VE Methodology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71" name="Group 70">
            <a:extLst>
              <a:ext uri="{FF2B5EF4-FFF2-40B4-BE49-F238E27FC236}">
                <a16:creationId xmlns:a16="http://schemas.microsoft.com/office/drawing/2014/main" id="{F0D630B0-8BE6-455A-AB5E-00CD844DA930}"/>
              </a:ext>
            </a:extLst>
          </p:cNvPr>
          <p:cNvGrpSpPr/>
          <p:nvPr/>
        </p:nvGrpSpPr>
        <p:grpSpPr>
          <a:xfrm>
            <a:off x="533400" y="1828799"/>
            <a:ext cx="9616440" cy="4504348"/>
            <a:chOff x="533400" y="1321137"/>
            <a:chExt cx="7122536" cy="5034308"/>
          </a:xfrm>
        </p:grpSpPr>
        <p:cxnSp>
          <p:nvCxnSpPr>
            <p:cNvPr id="28" name="AutoShape 17">
              <a:extLst>
                <a:ext uri="{FF2B5EF4-FFF2-40B4-BE49-F238E27FC236}">
                  <a16:creationId xmlns:a16="http://schemas.microsoft.com/office/drawing/2014/main" id="{7E8E828B-9128-BC7F-4040-09BBA4BCEEE7}"/>
                </a:ext>
              </a:extLst>
            </p:cNvPr>
            <p:cNvCxnSpPr>
              <a:cxnSpLocks noChangeShapeType="1"/>
              <a:stCxn id="39" idx="3"/>
              <a:endCxn id="42" idx="1"/>
            </p:cNvCxnSpPr>
            <p:nvPr/>
          </p:nvCxnSpPr>
          <p:spPr bwMode="auto">
            <a:xfrm>
              <a:off x="2486478" y="2217071"/>
              <a:ext cx="148824"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AutoShape 17">
              <a:extLst>
                <a:ext uri="{FF2B5EF4-FFF2-40B4-BE49-F238E27FC236}">
                  <a16:creationId xmlns:a16="http://schemas.microsoft.com/office/drawing/2014/main" id="{776E9864-38E6-2E9C-6F5D-FAFFE9EB1E29}"/>
                </a:ext>
              </a:extLst>
            </p:cNvPr>
            <p:cNvCxnSpPr>
              <a:cxnSpLocks noChangeShapeType="1"/>
              <a:stCxn id="63" idx="3"/>
              <a:endCxn id="66" idx="1"/>
            </p:cNvCxnSpPr>
            <p:nvPr/>
          </p:nvCxnSpPr>
          <p:spPr bwMode="auto">
            <a:xfrm>
              <a:off x="4155885" y="5521702"/>
              <a:ext cx="14830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 name="AutoShape 17">
              <a:extLst>
                <a:ext uri="{FF2B5EF4-FFF2-40B4-BE49-F238E27FC236}">
                  <a16:creationId xmlns:a16="http://schemas.microsoft.com/office/drawing/2014/main" id="{7DBC8383-5336-933D-503F-60A9467C871A}"/>
                </a:ext>
              </a:extLst>
            </p:cNvPr>
            <p:cNvCxnSpPr>
              <a:cxnSpLocks noChangeShapeType="1"/>
              <a:stCxn id="60" idx="3"/>
              <a:endCxn id="63" idx="1"/>
            </p:cNvCxnSpPr>
            <p:nvPr/>
          </p:nvCxnSpPr>
          <p:spPr bwMode="auto">
            <a:xfrm>
              <a:off x="2484639" y="5521702"/>
              <a:ext cx="14883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 name="AutoShape 17">
              <a:extLst>
                <a:ext uri="{FF2B5EF4-FFF2-40B4-BE49-F238E27FC236}">
                  <a16:creationId xmlns:a16="http://schemas.microsoft.com/office/drawing/2014/main" id="{415AC993-A1A0-0EE3-D91F-9BADD7412A2B}"/>
                </a:ext>
              </a:extLst>
            </p:cNvPr>
            <p:cNvCxnSpPr>
              <a:cxnSpLocks noChangeShapeType="1"/>
              <a:stCxn id="57" idx="3"/>
            </p:cNvCxnSpPr>
            <p:nvPr/>
          </p:nvCxnSpPr>
          <p:spPr bwMode="auto">
            <a:xfrm>
              <a:off x="7507100" y="3872086"/>
              <a:ext cx="148836"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 name="AutoShape 17">
              <a:extLst>
                <a:ext uri="{FF2B5EF4-FFF2-40B4-BE49-F238E27FC236}">
                  <a16:creationId xmlns:a16="http://schemas.microsoft.com/office/drawing/2014/main" id="{988EA2A1-17E3-3337-3BC5-65FE76FC16CB}"/>
                </a:ext>
              </a:extLst>
            </p:cNvPr>
            <p:cNvCxnSpPr>
              <a:cxnSpLocks noChangeShapeType="1"/>
              <a:stCxn id="51" idx="3"/>
              <a:endCxn id="54" idx="1"/>
            </p:cNvCxnSpPr>
            <p:nvPr/>
          </p:nvCxnSpPr>
          <p:spPr bwMode="auto">
            <a:xfrm>
              <a:off x="4155686" y="3862561"/>
              <a:ext cx="160928" cy="9525"/>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7">
              <a:extLst>
                <a:ext uri="{FF2B5EF4-FFF2-40B4-BE49-F238E27FC236}">
                  <a16:creationId xmlns:a16="http://schemas.microsoft.com/office/drawing/2014/main" id="{20447B64-913A-3B33-E285-BED2647BA483}"/>
                </a:ext>
              </a:extLst>
            </p:cNvPr>
            <p:cNvCxnSpPr>
              <a:cxnSpLocks noChangeShapeType="1"/>
              <a:stCxn id="48" idx="3"/>
              <a:endCxn id="51" idx="1"/>
            </p:cNvCxnSpPr>
            <p:nvPr/>
          </p:nvCxnSpPr>
          <p:spPr bwMode="auto">
            <a:xfrm>
              <a:off x="2484437" y="3862561"/>
              <a:ext cx="150424"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17">
              <a:extLst>
                <a:ext uri="{FF2B5EF4-FFF2-40B4-BE49-F238E27FC236}">
                  <a16:creationId xmlns:a16="http://schemas.microsoft.com/office/drawing/2014/main" id="{D7E5278C-C04F-306B-1DE0-95B3BB91A194}"/>
                </a:ext>
              </a:extLst>
            </p:cNvPr>
            <p:cNvCxnSpPr>
              <a:cxnSpLocks noChangeShapeType="1"/>
              <a:stCxn id="45" idx="3"/>
            </p:cNvCxnSpPr>
            <p:nvPr/>
          </p:nvCxnSpPr>
          <p:spPr bwMode="auto">
            <a:xfrm>
              <a:off x="5830549" y="2217071"/>
              <a:ext cx="15042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17">
              <a:extLst>
                <a:ext uri="{FF2B5EF4-FFF2-40B4-BE49-F238E27FC236}">
                  <a16:creationId xmlns:a16="http://schemas.microsoft.com/office/drawing/2014/main" id="{0BBDB5A1-018D-5470-7789-DD79E45E47C8}"/>
                </a:ext>
              </a:extLst>
            </p:cNvPr>
            <p:cNvCxnSpPr>
              <a:cxnSpLocks noChangeShapeType="1"/>
              <a:stCxn id="42" idx="3"/>
              <a:endCxn id="45" idx="1"/>
            </p:cNvCxnSpPr>
            <p:nvPr/>
          </p:nvCxnSpPr>
          <p:spPr bwMode="auto">
            <a:xfrm>
              <a:off x="4157713" y="2217071"/>
              <a:ext cx="15042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7">
              <a:extLst>
                <a:ext uri="{FF2B5EF4-FFF2-40B4-BE49-F238E27FC236}">
                  <a16:creationId xmlns:a16="http://schemas.microsoft.com/office/drawing/2014/main" id="{0B9FB42D-4C0A-578D-3118-CB5AB2843562}"/>
                </a:ext>
              </a:extLst>
            </p:cNvPr>
            <p:cNvCxnSpPr>
              <a:cxnSpLocks noChangeShapeType="1"/>
              <a:stCxn id="54" idx="3"/>
              <a:endCxn id="57" idx="1"/>
            </p:cNvCxnSpPr>
            <p:nvPr/>
          </p:nvCxnSpPr>
          <p:spPr bwMode="auto">
            <a:xfrm>
              <a:off x="5839025" y="3872086"/>
              <a:ext cx="147250"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38" name="Group 37">
              <a:extLst>
                <a:ext uri="{FF2B5EF4-FFF2-40B4-BE49-F238E27FC236}">
                  <a16:creationId xmlns:a16="http://schemas.microsoft.com/office/drawing/2014/main" id="{E9EE60CC-954D-3E68-D6BD-CF82719F3244}"/>
                </a:ext>
              </a:extLst>
            </p:cNvPr>
            <p:cNvGrpSpPr/>
            <p:nvPr/>
          </p:nvGrpSpPr>
          <p:grpSpPr>
            <a:xfrm>
              <a:off x="965652" y="1324268"/>
              <a:ext cx="1522412" cy="1500312"/>
              <a:chOff x="487614" y="1324268"/>
              <a:chExt cx="1522412" cy="1500312"/>
            </a:xfrm>
          </p:grpSpPr>
          <p:sp>
            <p:nvSpPr>
              <p:cNvPr id="39" name="Rectangle 11">
                <a:extLst>
                  <a:ext uri="{FF2B5EF4-FFF2-40B4-BE49-F238E27FC236}">
                    <a16:creationId xmlns:a16="http://schemas.microsoft.com/office/drawing/2014/main" id="{9D5FF1ED-42E4-C88C-703B-90691F47DAD9}"/>
                  </a:ext>
                </a:extLst>
              </p:cNvPr>
              <p:cNvSpPr>
                <a:spLocks noChangeArrowheads="1"/>
              </p:cNvSpPr>
              <p:nvPr/>
            </p:nvSpPr>
            <p:spPr bwMode="auto">
              <a:xfrm>
                <a:off x="487615" y="1609562"/>
                <a:ext cx="1520825"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Identify Product, Component, System, or Service for Evaluation</a:t>
                </a:r>
              </a:p>
            </p:txBody>
          </p:sp>
          <p:sp>
            <p:nvSpPr>
              <p:cNvPr id="40" name="Rectangle 12">
                <a:extLst>
                  <a:ext uri="{FF2B5EF4-FFF2-40B4-BE49-F238E27FC236}">
                    <a16:creationId xmlns:a16="http://schemas.microsoft.com/office/drawing/2014/main" id="{2344A638-22EE-4C6E-270D-22B80BE0E09A}"/>
                  </a:ext>
                </a:extLst>
              </p:cNvPr>
              <p:cNvSpPr>
                <a:spLocks noChangeArrowheads="1"/>
              </p:cNvSpPr>
              <p:nvPr/>
            </p:nvSpPr>
            <p:spPr bwMode="auto">
              <a:xfrm>
                <a:off x="487614" y="1324268"/>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Selection</a:t>
                </a:r>
              </a:p>
            </p:txBody>
          </p:sp>
        </p:grpSp>
        <p:grpSp>
          <p:nvGrpSpPr>
            <p:cNvPr id="41" name="Group 40">
              <a:extLst>
                <a:ext uri="{FF2B5EF4-FFF2-40B4-BE49-F238E27FC236}">
                  <a16:creationId xmlns:a16="http://schemas.microsoft.com/office/drawing/2014/main" id="{120B9A07-9C7D-D807-603D-AE5E2BC4D2AA}"/>
                </a:ext>
              </a:extLst>
            </p:cNvPr>
            <p:cNvGrpSpPr/>
            <p:nvPr/>
          </p:nvGrpSpPr>
          <p:grpSpPr>
            <a:xfrm>
              <a:off x="2635301" y="1333793"/>
              <a:ext cx="1522412" cy="1490787"/>
              <a:chOff x="492964" y="2979283"/>
              <a:chExt cx="1522412" cy="1490787"/>
            </a:xfrm>
          </p:grpSpPr>
          <p:sp>
            <p:nvSpPr>
              <p:cNvPr id="42" name="Rectangle 11">
                <a:extLst>
                  <a:ext uri="{FF2B5EF4-FFF2-40B4-BE49-F238E27FC236}">
                    <a16:creationId xmlns:a16="http://schemas.microsoft.com/office/drawing/2014/main" id="{1E821EC5-7D47-A489-585D-0D5096C34B7C}"/>
                  </a:ext>
                </a:extLst>
              </p:cNvPr>
              <p:cNvSpPr>
                <a:spLocks noChangeArrowheads="1"/>
              </p:cNvSpPr>
              <p:nvPr/>
            </p:nvSpPr>
            <p:spPr bwMode="auto">
              <a:xfrm>
                <a:off x="492965" y="3255052"/>
                <a:ext cx="1522411"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BOM</a:t>
                </a:r>
              </a:p>
              <a:p>
                <a:pPr>
                  <a:lnSpc>
                    <a:spcPct val="85000"/>
                  </a:lnSpc>
                  <a:spcBef>
                    <a:spcPts val="0"/>
                  </a:spcBef>
                </a:pPr>
                <a:r>
                  <a:rPr lang="en-US" sz="1600" dirty="0">
                    <a:solidFill>
                      <a:schemeClr val="tx1"/>
                    </a:solidFill>
                  </a:rPr>
                  <a:t>Direct Cost</a:t>
                </a:r>
              </a:p>
              <a:p>
                <a:pPr>
                  <a:lnSpc>
                    <a:spcPct val="85000"/>
                  </a:lnSpc>
                  <a:spcBef>
                    <a:spcPts val="0"/>
                  </a:spcBef>
                </a:pPr>
                <a:r>
                  <a:rPr lang="en-US" sz="1600" dirty="0">
                    <a:solidFill>
                      <a:schemeClr val="tx1"/>
                    </a:solidFill>
                  </a:rPr>
                  <a:t>Indirect Cost</a:t>
                </a:r>
              </a:p>
            </p:txBody>
          </p:sp>
          <p:sp>
            <p:nvSpPr>
              <p:cNvPr id="43" name="Rectangle 12">
                <a:extLst>
                  <a:ext uri="{FF2B5EF4-FFF2-40B4-BE49-F238E27FC236}">
                    <a16:creationId xmlns:a16="http://schemas.microsoft.com/office/drawing/2014/main" id="{26B4D12D-4E84-F6E9-0E76-4F44C717E72F}"/>
                  </a:ext>
                </a:extLst>
              </p:cNvPr>
              <p:cNvSpPr>
                <a:spLocks noChangeArrowheads="1"/>
              </p:cNvSpPr>
              <p:nvPr/>
            </p:nvSpPr>
            <p:spPr bwMode="auto">
              <a:xfrm>
                <a:off x="492964" y="2979283"/>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Content Detail</a:t>
                </a:r>
              </a:p>
            </p:txBody>
          </p:sp>
        </p:grpSp>
        <p:grpSp>
          <p:nvGrpSpPr>
            <p:cNvPr id="44" name="Group 43">
              <a:extLst>
                <a:ext uri="{FF2B5EF4-FFF2-40B4-BE49-F238E27FC236}">
                  <a16:creationId xmlns:a16="http://schemas.microsoft.com/office/drawing/2014/main" id="{AE37481F-EB5F-E2B5-C117-07EAC095E1A6}"/>
                </a:ext>
              </a:extLst>
            </p:cNvPr>
            <p:cNvGrpSpPr/>
            <p:nvPr/>
          </p:nvGrpSpPr>
          <p:grpSpPr>
            <a:xfrm>
              <a:off x="4308137" y="1333793"/>
              <a:ext cx="1522412" cy="1490787"/>
              <a:chOff x="2182733" y="2979283"/>
              <a:chExt cx="1522412" cy="1490787"/>
            </a:xfrm>
          </p:grpSpPr>
          <p:sp>
            <p:nvSpPr>
              <p:cNvPr id="45" name="Rectangle 44">
                <a:extLst>
                  <a:ext uri="{FF2B5EF4-FFF2-40B4-BE49-F238E27FC236}">
                    <a16:creationId xmlns:a16="http://schemas.microsoft.com/office/drawing/2014/main" id="{DB4972E8-A6D1-956D-3660-C8550A405CC8}"/>
                  </a:ext>
                </a:extLst>
              </p:cNvPr>
              <p:cNvSpPr>
                <a:spLocks noChangeArrowheads="1"/>
              </p:cNvSpPr>
              <p:nvPr/>
            </p:nvSpPr>
            <p:spPr bwMode="auto">
              <a:xfrm>
                <a:off x="2182734" y="3255052"/>
                <a:ext cx="1522411"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Functions &amp;  Performance, Specification, Regulatory Requirements</a:t>
                </a:r>
              </a:p>
            </p:txBody>
          </p:sp>
          <p:sp>
            <p:nvSpPr>
              <p:cNvPr id="46" name="Rectangle 45">
                <a:extLst>
                  <a:ext uri="{FF2B5EF4-FFF2-40B4-BE49-F238E27FC236}">
                    <a16:creationId xmlns:a16="http://schemas.microsoft.com/office/drawing/2014/main" id="{5864752A-5620-9DEE-E3DB-684E86464726}"/>
                  </a:ext>
                </a:extLst>
              </p:cNvPr>
              <p:cNvSpPr>
                <a:spLocks noChangeArrowheads="1"/>
              </p:cNvSpPr>
              <p:nvPr/>
            </p:nvSpPr>
            <p:spPr bwMode="auto">
              <a:xfrm>
                <a:off x="2182733" y="2979283"/>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Function Detail</a:t>
                </a:r>
              </a:p>
            </p:txBody>
          </p:sp>
        </p:grpSp>
        <p:grpSp>
          <p:nvGrpSpPr>
            <p:cNvPr id="47" name="Group 46">
              <a:extLst>
                <a:ext uri="{FF2B5EF4-FFF2-40B4-BE49-F238E27FC236}">
                  <a16:creationId xmlns:a16="http://schemas.microsoft.com/office/drawing/2014/main" id="{06B41A04-283B-DE27-5E93-C5BF0C952B1C}"/>
                </a:ext>
              </a:extLst>
            </p:cNvPr>
            <p:cNvGrpSpPr/>
            <p:nvPr/>
          </p:nvGrpSpPr>
          <p:grpSpPr>
            <a:xfrm>
              <a:off x="962025" y="2979283"/>
              <a:ext cx="1522412" cy="1490787"/>
              <a:chOff x="3853787" y="2979283"/>
              <a:chExt cx="1522412" cy="1490787"/>
            </a:xfrm>
          </p:grpSpPr>
          <p:sp>
            <p:nvSpPr>
              <p:cNvPr id="48" name="Rectangle 11">
                <a:extLst>
                  <a:ext uri="{FF2B5EF4-FFF2-40B4-BE49-F238E27FC236}">
                    <a16:creationId xmlns:a16="http://schemas.microsoft.com/office/drawing/2014/main" id="{B69F6DC4-D2E0-E4AB-BA50-7BFFDFFB7F84}"/>
                  </a:ext>
                </a:extLst>
              </p:cNvPr>
              <p:cNvSpPr>
                <a:spLocks noChangeArrowheads="1"/>
              </p:cNvSpPr>
              <p:nvPr/>
            </p:nvSpPr>
            <p:spPr bwMode="auto">
              <a:xfrm>
                <a:off x="3853788" y="3255052"/>
                <a:ext cx="1522411"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Process Analysis</a:t>
                </a:r>
              </a:p>
            </p:txBody>
          </p:sp>
          <p:sp>
            <p:nvSpPr>
              <p:cNvPr id="49" name="Rectangle 12">
                <a:extLst>
                  <a:ext uri="{FF2B5EF4-FFF2-40B4-BE49-F238E27FC236}">
                    <a16:creationId xmlns:a16="http://schemas.microsoft.com/office/drawing/2014/main" id="{A2170408-226A-B823-93F8-16F8A7E8E97B}"/>
                  </a:ext>
                </a:extLst>
              </p:cNvPr>
              <p:cNvSpPr>
                <a:spLocks noChangeArrowheads="1"/>
              </p:cNvSpPr>
              <p:nvPr/>
            </p:nvSpPr>
            <p:spPr bwMode="auto">
              <a:xfrm>
                <a:off x="3853787" y="2979283"/>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Process Detail</a:t>
                </a:r>
              </a:p>
            </p:txBody>
          </p:sp>
        </p:grpSp>
        <p:grpSp>
          <p:nvGrpSpPr>
            <p:cNvPr id="50" name="Group 49">
              <a:extLst>
                <a:ext uri="{FF2B5EF4-FFF2-40B4-BE49-F238E27FC236}">
                  <a16:creationId xmlns:a16="http://schemas.microsoft.com/office/drawing/2014/main" id="{3865F31D-40BC-250B-1180-DD67009E35B3}"/>
                </a:ext>
              </a:extLst>
            </p:cNvPr>
            <p:cNvGrpSpPr/>
            <p:nvPr/>
          </p:nvGrpSpPr>
          <p:grpSpPr>
            <a:xfrm>
              <a:off x="2634860" y="2979283"/>
              <a:ext cx="1522412" cy="1490787"/>
              <a:chOff x="5511471" y="2979283"/>
              <a:chExt cx="1522412" cy="1490787"/>
            </a:xfrm>
          </p:grpSpPr>
          <p:sp>
            <p:nvSpPr>
              <p:cNvPr id="51" name="Rectangle 11">
                <a:extLst>
                  <a:ext uri="{FF2B5EF4-FFF2-40B4-BE49-F238E27FC236}">
                    <a16:creationId xmlns:a16="http://schemas.microsoft.com/office/drawing/2014/main" id="{6F95A4B8-9C5D-C230-332E-CDF3FF7C975A}"/>
                  </a:ext>
                </a:extLst>
              </p:cNvPr>
              <p:cNvSpPr>
                <a:spLocks noChangeArrowheads="1"/>
              </p:cNvSpPr>
              <p:nvPr/>
            </p:nvSpPr>
            <p:spPr bwMode="auto">
              <a:xfrm>
                <a:off x="5511472" y="3255052"/>
                <a:ext cx="1520825"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VOC</a:t>
                </a:r>
              </a:p>
              <a:p>
                <a:pPr>
                  <a:lnSpc>
                    <a:spcPct val="85000"/>
                  </a:lnSpc>
                  <a:spcBef>
                    <a:spcPts val="0"/>
                  </a:spcBef>
                </a:pPr>
                <a:r>
                  <a:rPr lang="en-US" sz="1600" dirty="0">
                    <a:solidFill>
                      <a:schemeClr val="tx1"/>
                    </a:solidFill>
                  </a:rPr>
                  <a:t>V = F /C</a:t>
                </a:r>
              </a:p>
            </p:txBody>
          </p:sp>
          <p:sp>
            <p:nvSpPr>
              <p:cNvPr id="52" name="Rectangle 12">
                <a:extLst>
                  <a:ext uri="{FF2B5EF4-FFF2-40B4-BE49-F238E27FC236}">
                    <a16:creationId xmlns:a16="http://schemas.microsoft.com/office/drawing/2014/main" id="{10658253-D6A0-4B8B-8AD1-453E2831B0F9}"/>
                  </a:ext>
                </a:extLst>
              </p:cNvPr>
              <p:cNvSpPr>
                <a:spLocks noChangeArrowheads="1"/>
              </p:cNvSpPr>
              <p:nvPr/>
            </p:nvSpPr>
            <p:spPr bwMode="auto">
              <a:xfrm>
                <a:off x="5511471" y="2979283"/>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Define Value</a:t>
                </a:r>
              </a:p>
            </p:txBody>
          </p:sp>
        </p:grpSp>
        <p:grpSp>
          <p:nvGrpSpPr>
            <p:cNvPr id="53" name="Group 52">
              <a:extLst>
                <a:ext uri="{FF2B5EF4-FFF2-40B4-BE49-F238E27FC236}">
                  <a16:creationId xmlns:a16="http://schemas.microsoft.com/office/drawing/2014/main" id="{3F8E65C3-8CED-31BF-90B6-618EDFF02A4F}"/>
                </a:ext>
              </a:extLst>
            </p:cNvPr>
            <p:cNvGrpSpPr/>
            <p:nvPr/>
          </p:nvGrpSpPr>
          <p:grpSpPr>
            <a:xfrm>
              <a:off x="4316613" y="2979283"/>
              <a:ext cx="1522412" cy="1500312"/>
              <a:chOff x="484948" y="4628899"/>
              <a:chExt cx="1522412" cy="1500312"/>
            </a:xfrm>
          </p:grpSpPr>
          <p:sp>
            <p:nvSpPr>
              <p:cNvPr id="54" name="Rectangle 11">
                <a:extLst>
                  <a:ext uri="{FF2B5EF4-FFF2-40B4-BE49-F238E27FC236}">
                    <a16:creationId xmlns:a16="http://schemas.microsoft.com/office/drawing/2014/main" id="{D8036FD7-8BC8-CF79-7535-D383445D14A9}"/>
                  </a:ext>
                </a:extLst>
              </p:cNvPr>
              <p:cNvSpPr>
                <a:spLocks noChangeArrowheads="1"/>
              </p:cNvSpPr>
              <p:nvPr/>
            </p:nvSpPr>
            <p:spPr bwMode="auto">
              <a:xfrm>
                <a:off x="484949" y="4914193"/>
                <a:ext cx="1522411" cy="1215018"/>
              </a:xfrm>
              <a:prstGeom prst="rect">
                <a:avLst/>
              </a:prstGeom>
              <a:solidFill>
                <a:schemeClr val="bg1"/>
              </a:solidFill>
              <a:ln w="12700" cap="sq" algn="ctr">
                <a:solidFill>
                  <a:schemeClr val="tx1"/>
                </a:solidFill>
                <a:miter lim="800000"/>
                <a:headEnd/>
                <a:tailEnd/>
              </a:ln>
            </p:spPr>
            <p:txBody>
              <a:bodyPr anchor="ctr"/>
              <a:lstStyle/>
              <a:p>
                <a:pPr algn="l">
                  <a:lnSpc>
                    <a:spcPct val="85000"/>
                  </a:lnSpc>
                  <a:spcBef>
                    <a:spcPts val="0"/>
                  </a:spcBef>
                </a:pPr>
                <a:r>
                  <a:rPr lang="en-US" sz="1600" dirty="0">
                    <a:solidFill>
                      <a:schemeClr val="tx1"/>
                    </a:solidFill>
                  </a:rPr>
                  <a:t>Cost Summary</a:t>
                </a:r>
              </a:p>
              <a:p>
                <a:pPr algn="l">
                  <a:lnSpc>
                    <a:spcPct val="85000"/>
                  </a:lnSpc>
                  <a:spcBef>
                    <a:spcPts val="0"/>
                  </a:spcBef>
                </a:pPr>
                <a:r>
                  <a:rPr lang="en-US" sz="1600" dirty="0">
                    <a:solidFill>
                      <a:schemeClr val="tx1"/>
                    </a:solidFill>
                  </a:rPr>
                  <a:t>Cost Cube:</a:t>
                </a:r>
                <a:endParaRPr lang="en-US" sz="1400" dirty="0">
                  <a:solidFill>
                    <a:schemeClr val="tx1"/>
                  </a:solidFill>
                </a:endParaRPr>
              </a:p>
              <a:p>
                <a:pPr marL="180975" indent="-180975" algn="l">
                  <a:lnSpc>
                    <a:spcPct val="85000"/>
                  </a:lnSpc>
                  <a:spcBef>
                    <a:spcPts val="0"/>
                  </a:spcBef>
                  <a:buFont typeface="Arial"/>
                  <a:buChar char="•"/>
                </a:pPr>
                <a:r>
                  <a:rPr lang="en-US" sz="1400" dirty="0">
                    <a:solidFill>
                      <a:schemeClr val="tx1"/>
                    </a:solidFill>
                  </a:rPr>
                  <a:t>Type of Cost</a:t>
                </a:r>
              </a:p>
              <a:p>
                <a:pPr marL="180975" indent="-180975" algn="l">
                  <a:lnSpc>
                    <a:spcPct val="85000"/>
                  </a:lnSpc>
                  <a:spcBef>
                    <a:spcPts val="0"/>
                  </a:spcBef>
                  <a:buFont typeface="Arial"/>
                  <a:buChar char="•"/>
                </a:pPr>
                <a:r>
                  <a:rPr lang="en-US" sz="1400" dirty="0">
                    <a:solidFill>
                      <a:schemeClr val="tx1"/>
                    </a:solidFill>
                  </a:rPr>
                  <a:t>Cost to Whom</a:t>
                </a:r>
              </a:p>
              <a:p>
                <a:pPr marL="180975" indent="-180975" algn="l">
                  <a:lnSpc>
                    <a:spcPct val="85000"/>
                  </a:lnSpc>
                  <a:spcBef>
                    <a:spcPts val="0"/>
                  </a:spcBef>
                  <a:buFont typeface="Arial"/>
                  <a:buChar char="•"/>
                </a:pPr>
                <a:r>
                  <a:rPr lang="en-US" sz="1400" dirty="0">
                    <a:solidFill>
                      <a:schemeClr val="tx1"/>
                    </a:solidFill>
                  </a:rPr>
                  <a:t>Cost When</a:t>
                </a:r>
              </a:p>
            </p:txBody>
          </p:sp>
          <p:sp>
            <p:nvSpPr>
              <p:cNvPr id="55" name="Rectangle 12">
                <a:extLst>
                  <a:ext uri="{FF2B5EF4-FFF2-40B4-BE49-F238E27FC236}">
                    <a16:creationId xmlns:a16="http://schemas.microsoft.com/office/drawing/2014/main" id="{AA83C4F3-24F7-9F7D-A05F-425DD0A07C29}"/>
                  </a:ext>
                </a:extLst>
              </p:cNvPr>
              <p:cNvSpPr>
                <a:spLocks noChangeArrowheads="1"/>
              </p:cNvSpPr>
              <p:nvPr/>
            </p:nvSpPr>
            <p:spPr bwMode="auto">
              <a:xfrm>
                <a:off x="484948" y="4628899"/>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Cost Analysis</a:t>
                </a:r>
              </a:p>
            </p:txBody>
          </p:sp>
        </p:grpSp>
        <p:grpSp>
          <p:nvGrpSpPr>
            <p:cNvPr id="56" name="Group 55">
              <a:extLst>
                <a:ext uri="{FF2B5EF4-FFF2-40B4-BE49-F238E27FC236}">
                  <a16:creationId xmlns:a16="http://schemas.microsoft.com/office/drawing/2014/main" id="{4714FA8D-331E-2D8D-9753-8BCB7AF5463A}"/>
                </a:ext>
              </a:extLst>
            </p:cNvPr>
            <p:cNvGrpSpPr/>
            <p:nvPr/>
          </p:nvGrpSpPr>
          <p:grpSpPr>
            <a:xfrm>
              <a:off x="5986274" y="2979283"/>
              <a:ext cx="1522412" cy="1500312"/>
              <a:chOff x="2174717" y="4628899"/>
              <a:chExt cx="1522412" cy="1500312"/>
            </a:xfrm>
          </p:grpSpPr>
          <p:sp>
            <p:nvSpPr>
              <p:cNvPr id="57" name="Rectangle 56">
                <a:extLst>
                  <a:ext uri="{FF2B5EF4-FFF2-40B4-BE49-F238E27FC236}">
                    <a16:creationId xmlns:a16="http://schemas.microsoft.com/office/drawing/2014/main" id="{B231EA08-28EC-0B61-ECDA-83A2A680FF3A}"/>
                  </a:ext>
                </a:extLst>
              </p:cNvPr>
              <p:cNvSpPr>
                <a:spLocks noChangeArrowheads="1"/>
              </p:cNvSpPr>
              <p:nvPr/>
            </p:nvSpPr>
            <p:spPr bwMode="auto">
              <a:xfrm>
                <a:off x="2174718" y="4914193"/>
                <a:ext cx="1520825"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Competitive Analysis</a:t>
                </a:r>
              </a:p>
            </p:txBody>
          </p:sp>
          <p:sp>
            <p:nvSpPr>
              <p:cNvPr id="58" name="Rectangle 57">
                <a:extLst>
                  <a:ext uri="{FF2B5EF4-FFF2-40B4-BE49-F238E27FC236}">
                    <a16:creationId xmlns:a16="http://schemas.microsoft.com/office/drawing/2014/main" id="{396623A7-4029-8808-21F7-1B0A93699D89}"/>
                  </a:ext>
                </a:extLst>
              </p:cNvPr>
              <p:cNvSpPr>
                <a:spLocks noChangeArrowheads="1"/>
              </p:cNvSpPr>
              <p:nvPr/>
            </p:nvSpPr>
            <p:spPr bwMode="auto">
              <a:xfrm>
                <a:off x="2174717" y="4628899"/>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Alternatives</a:t>
                </a:r>
              </a:p>
            </p:txBody>
          </p:sp>
        </p:grpSp>
        <p:grpSp>
          <p:nvGrpSpPr>
            <p:cNvPr id="59" name="Group 58">
              <a:extLst>
                <a:ext uri="{FF2B5EF4-FFF2-40B4-BE49-F238E27FC236}">
                  <a16:creationId xmlns:a16="http://schemas.microsoft.com/office/drawing/2014/main" id="{BE3CB85F-F6E4-A2E9-8DF1-CC6DED3C9E60}"/>
                </a:ext>
              </a:extLst>
            </p:cNvPr>
            <p:cNvGrpSpPr/>
            <p:nvPr/>
          </p:nvGrpSpPr>
          <p:grpSpPr>
            <a:xfrm>
              <a:off x="963813" y="4628899"/>
              <a:ext cx="1522412" cy="1500312"/>
              <a:chOff x="3845771" y="4628899"/>
              <a:chExt cx="1522412" cy="1500312"/>
            </a:xfrm>
          </p:grpSpPr>
          <p:sp>
            <p:nvSpPr>
              <p:cNvPr id="60" name="Rectangle 11">
                <a:extLst>
                  <a:ext uri="{FF2B5EF4-FFF2-40B4-BE49-F238E27FC236}">
                    <a16:creationId xmlns:a16="http://schemas.microsoft.com/office/drawing/2014/main" id="{60719014-753F-D37F-57FF-CD3E8724BE30}"/>
                  </a:ext>
                </a:extLst>
              </p:cNvPr>
              <p:cNvSpPr>
                <a:spLocks noChangeArrowheads="1"/>
              </p:cNvSpPr>
              <p:nvPr/>
            </p:nvSpPr>
            <p:spPr bwMode="auto">
              <a:xfrm>
                <a:off x="3845772" y="4914193"/>
                <a:ext cx="1520825"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7 Alternatives</a:t>
                </a:r>
              </a:p>
              <a:p>
                <a:pPr>
                  <a:lnSpc>
                    <a:spcPct val="85000"/>
                  </a:lnSpc>
                  <a:spcBef>
                    <a:spcPts val="0"/>
                  </a:spcBef>
                </a:pPr>
                <a:r>
                  <a:rPr lang="en-US" sz="1600" dirty="0">
                    <a:solidFill>
                      <a:schemeClr val="tx1"/>
                    </a:solidFill>
                  </a:rPr>
                  <a:t>Function &amp; Process Analysis</a:t>
                </a:r>
              </a:p>
            </p:txBody>
          </p:sp>
          <p:sp>
            <p:nvSpPr>
              <p:cNvPr id="61" name="Rectangle 12">
                <a:extLst>
                  <a:ext uri="{FF2B5EF4-FFF2-40B4-BE49-F238E27FC236}">
                    <a16:creationId xmlns:a16="http://schemas.microsoft.com/office/drawing/2014/main" id="{11340A84-0A77-D0CD-6D81-4E14B691C4B5}"/>
                  </a:ext>
                </a:extLst>
              </p:cNvPr>
              <p:cNvSpPr>
                <a:spLocks noChangeArrowheads="1"/>
              </p:cNvSpPr>
              <p:nvPr/>
            </p:nvSpPr>
            <p:spPr bwMode="auto">
              <a:xfrm>
                <a:off x="3845771" y="4628899"/>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Brainstorming</a:t>
                </a:r>
              </a:p>
            </p:txBody>
          </p:sp>
        </p:grpSp>
        <p:grpSp>
          <p:nvGrpSpPr>
            <p:cNvPr id="62" name="Group 61">
              <a:extLst>
                <a:ext uri="{FF2B5EF4-FFF2-40B4-BE49-F238E27FC236}">
                  <a16:creationId xmlns:a16="http://schemas.microsoft.com/office/drawing/2014/main" id="{4FFFAFC0-F701-6910-BFA5-003108B04A9B}"/>
                </a:ext>
              </a:extLst>
            </p:cNvPr>
            <p:cNvGrpSpPr/>
            <p:nvPr/>
          </p:nvGrpSpPr>
          <p:grpSpPr>
            <a:xfrm>
              <a:off x="2633473" y="4628899"/>
              <a:ext cx="1522412" cy="1500312"/>
              <a:chOff x="5503455" y="4628899"/>
              <a:chExt cx="1522412" cy="1500312"/>
            </a:xfrm>
          </p:grpSpPr>
          <p:sp>
            <p:nvSpPr>
              <p:cNvPr id="63" name="Rectangle 11">
                <a:extLst>
                  <a:ext uri="{FF2B5EF4-FFF2-40B4-BE49-F238E27FC236}">
                    <a16:creationId xmlns:a16="http://schemas.microsoft.com/office/drawing/2014/main" id="{773B8187-CC7B-96CE-DF63-98E93A967766}"/>
                  </a:ext>
                </a:extLst>
              </p:cNvPr>
              <p:cNvSpPr>
                <a:spLocks noChangeArrowheads="1"/>
              </p:cNvSpPr>
              <p:nvPr/>
            </p:nvSpPr>
            <p:spPr bwMode="auto">
              <a:xfrm>
                <a:off x="5503456" y="4914193"/>
                <a:ext cx="1522411"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400" dirty="0">
                    <a:solidFill>
                      <a:schemeClr val="tx1"/>
                    </a:solidFill>
                  </a:rPr>
                  <a:t>Cost Alternatives</a:t>
                </a:r>
              </a:p>
              <a:p>
                <a:pPr>
                  <a:lnSpc>
                    <a:spcPct val="85000"/>
                  </a:lnSpc>
                  <a:spcBef>
                    <a:spcPts val="0"/>
                  </a:spcBef>
                </a:pPr>
                <a:r>
                  <a:rPr lang="en-US" sz="1400" dirty="0">
                    <a:solidFill>
                      <a:schemeClr val="tx1"/>
                    </a:solidFill>
                  </a:rPr>
                  <a:t>Ease / Impact</a:t>
                </a:r>
              </a:p>
              <a:p>
                <a:pPr>
                  <a:lnSpc>
                    <a:spcPct val="85000"/>
                  </a:lnSpc>
                  <a:spcBef>
                    <a:spcPts val="0"/>
                  </a:spcBef>
                </a:pPr>
                <a:r>
                  <a:rPr lang="en-US" sz="1400" dirty="0">
                    <a:solidFill>
                      <a:schemeClr val="tx1"/>
                    </a:solidFill>
                  </a:rPr>
                  <a:t>Technical Process</a:t>
                </a:r>
              </a:p>
              <a:p>
                <a:pPr>
                  <a:lnSpc>
                    <a:spcPct val="85000"/>
                  </a:lnSpc>
                  <a:spcBef>
                    <a:spcPts val="0"/>
                  </a:spcBef>
                </a:pPr>
                <a:r>
                  <a:rPr lang="en-US" sz="1400" dirty="0">
                    <a:solidFill>
                      <a:schemeClr val="tx1"/>
                    </a:solidFill>
                  </a:rPr>
                  <a:t>Selection Matrix</a:t>
                </a:r>
              </a:p>
              <a:p>
                <a:pPr>
                  <a:lnSpc>
                    <a:spcPct val="85000"/>
                  </a:lnSpc>
                  <a:spcBef>
                    <a:spcPts val="0"/>
                  </a:spcBef>
                </a:pPr>
                <a:r>
                  <a:rPr lang="en-US" sz="1400" dirty="0">
                    <a:solidFill>
                      <a:schemeClr val="tx1"/>
                    </a:solidFill>
                  </a:rPr>
                  <a:t>Pugh Matrix</a:t>
                </a:r>
              </a:p>
            </p:txBody>
          </p:sp>
          <p:sp>
            <p:nvSpPr>
              <p:cNvPr id="64" name="Rectangle 12">
                <a:extLst>
                  <a:ext uri="{FF2B5EF4-FFF2-40B4-BE49-F238E27FC236}">
                    <a16:creationId xmlns:a16="http://schemas.microsoft.com/office/drawing/2014/main" id="{61332D94-878D-A039-FADC-E1D78E34C6C0}"/>
                  </a:ext>
                </a:extLst>
              </p:cNvPr>
              <p:cNvSpPr>
                <a:spLocks noChangeArrowheads="1"/>
              </p:cNvSpPr>
              <p:nvPr/>
            </p:nvSpPr>
            <p:spPr bwMode="auto">
              <a:xfrm>
                <a:off x="5503455" y="4628899"/>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Evaluation</a:t>
                </a:r>
              </a:p>
            </p:txBody>
          </p:sp>
        </p:grpSp>
        <p:grpSp>
          <p:nvGrpSpPr>
            <p:cNvPr id="65" name="Group 64">
              <a:extLst>
                <a:ext uri="{FF2B5EF4-FFF2-40B4-BE49-F238E27FC236}">
                  <a16:creationId xmlns:a16="http://schemas.microsoft.com/office/drawing/2014/main" id="{CF049838-4C27-8723-166E-1C4919107134}"/>
                </a:ext>
              </a:extLst>
            </p:cNvPr>
            <p:cNvGrpSpPr/>
            <p:nvPr/>
          </p:nvGrpSpPr>
          <p:grpSpPr>
            <a:xfrm>
              <a:off x="4304192" y="4628899"/>
              <a:ext cx="1522412" cy="1500312"/>
              <a:chOff x="7193224" y="4628899"/>
              <a:chExt cx="1522412" cy="1500312"/>
            </a:xfrm>
          </p:grpSpPr>
          <p:sp>
            <p:nvSpPr>
              <p:cNvPr id="66" name="Rectangle 11">
                <a:extLst>
                  <a:ext uri="{FF2B5EF4-FFF2-40B4-BE49-F238E27FC236}">
                    <a16:creationId xmlns:a16="http://schemas.microsoft.com/office/drawing/2014/main" id="{3A3D0E1A-AAB4-210B-9103-C3DF003647E4}"/>
                  </a:ext>
                </a:extLst>
              </p:cNvPr>
              <p:cNvSpPr>
                <a:spLocks noChangeArrowheads="1"/>
              </p:cNvSpPr>
              <p:nvPr/>
            </p:nvSpPr>
            <p:spPr bwMode="auto">
              <a:xfrm>
                <a:off x="7193225" y="4914193"/>
                <a:ext cx="1520825" cy="1215018"/>
              </a:xfrm>
              <a:prstGeom prst="rect">
                <a:avLst/>
              </a:prstGeom>
              <a:solidFill>
                <a:schemeClr val="bg1"/>
              </a:solidFill>
              <a:ln w="12700" cap="sq" algn="ctr">
                <a:solidFill>
                  <a:schemeClr val="tx1"/>
                </a:solidFill>
                <a:miter lim="800000"/>
                <a:headEnd/>
                <a:tailEnd/>
              </a:ln>
            </p:spPr>
            <p:txBody>
              <a:bodyPr anchor="ctr"/>
              <a:lstStyle/>
              <a:p>
                <a:pPr>
                  <a:lnSpc>
                    <a:spcPct val="85000"/>
                  </a:lnSpc>
                  <a:spcBef>
                    <a:spcPts val="0"/>
                  </a:spcBef>
                </a:pPr>
                <a:r>
                  <a:rPr lang="en-US" sz="1600" dirty="0">
                    <a:solidFill>
                      <a:schemeClr val="tx1"/>
                    </a:solidFill>
                  </a:rPr>
                  <a:t>Alternative Refinement</a:t>
                </a:r>
              </a:p>
              <a:p>
                <a:pPr>
                  <a:lnSpc>
                    <a:spcPct val="85000"/>
                  </a:lnSpc>
                  <a:spcBef>
                    <a:spcPts val="0"/>
                  </a:spcBef>
                </a:pPr>
                <a:r>
                  <a:rPr lang="en-US" sz="1600" dirty="0">
                    <a:solidFill>
                      <a:schemeClr val="tx1"/>
                    </a:solidFill>
                  </a:rPr>
                  <a:t>Decision</a:t>
                </a:r>
              </a:p>
              <a:p>
                <a:pPr>
                  <a:lnSpc>
                    <a:spcPct val="85000"/>
                  </a:lnSpc>
                  <a:spcBef>
                    <a:spcPts val="0"/>
                  </a:spcBef>
                </a:pPr>
                <a:r>
                  <a:rPr lang="en-US" sz="1600" dirty="0">
                    <a:solidFill>
                      <a:schemeClr val="tx1"/>
                    </a:solidFill>
                  </a:rPr>
                  <a:t>Action Planning</a:t>
                </a:r>
              </a:p>
            </p:txBody>
          </p:sp>
          <p:sp>
            <p:nvSpPr>
              <p:cNvPr id="67" name="Rectangle 12">
                <a:extLst>
                  <a:ext uri="{FF2B5EF4-FFF2-40B4-BE49-F238E27FC236}">
                    <a16:creationId xmlns:a16="http://schemas.microsoft.com/office/drawing/2014/main" id="{329EB70C-BD78-BBEE-F535-1D2259C94383}"/>
                  </a:ext>
                </a:extLst>
              </p:cNvPr>
              <p:cNvSpPr>
                <a:spLocks noChangeArrowheads="1"/>
              </p:cNvSpPr>
              <p:nvPr/>
            </p:nvSpPr>
            <p:spPr bwMode="auto">
              <a:xfrm>
                <a:off x="7193224" y="4628899"/>
                <a:ext cx="1522412" cy="284099"/>
              </a:xfrm>
              <a:prstGeom prst="rect">
                <a:avLst/>
              </a:prstGeom>
              <a:solidFill>
                <a:schemeClr val="accent1"/>
              </a:solidFill>
              <a:ln w="12700" cap="sq" algn="ctr">
                <a:solidFill>
                  <a:schemeClr val="tx1"/>
                </a:solidFill>
                <a:miter lim="800000"/>
                <a:headEnd/>
                <a:tailEnd/>
              </a:ln>
            </p:spPr>
            <p:txBody>
              <a:bodyPr wrap="none" anchor="ctr" anchorCtr="1"/>
              <a:lstStyle/>
              <a:p>
                <a:r>
                  <a:rPr lang="en-US" sz="1600" b="1" dirty="0">
                    <a:solidFill>
                      <a:schemeClr val="bg1"/>
                    </a:solidFill>
                  </a:rPr>
                  <a:t>Development</a:t>
                </a:r>
              </a:p>
            </p:txBody>
          </p:sp>
        </p:grpSp>
        <p:sp>
          <p:nvSpPr>
            <p:cNvPr id="68" name="Right Arrow 13">
              <a:extLst>
                <a:ext uri="{FF2B5EF4-FFF2-40B4-BE49-F238E27FC236}">
                  <a16:creationId xmlns:a16="http://schemas.microsoft.com/office/drawing/2014/main" id="{AAFE9342-679E-271D-811C-8C36D5CCB691}"/>
                </a:ext>
              </a:extLst>
            </p:cNvPr>
            <p:cNvSpPr/>
            <p:nvPr/>
          </p:nvSpPr>
          <p:spPr bwMode="auto">
            <a:xfrm>
              <a:off x="533400" y="1321137"/>
              <a:ext cx="304800" cy="1715262"/>
            </a:xfrm>
            <a:prstGeom prst="rightArrow">
              <a:avLst>
                <a:gd name="adj1" fmla="val 62671"/>
                <a:gd name="adj2" fmla="val 50000"/>
              </a:avLst>
            </a:prstGeom>
            <a:solidFill>
              <a:srgbClr val="002060"/>
            </a:solidFill>
            <a:ln w="12700" cap="sq" cmpd="sng" algn="ctr">
              <a:solidFill>
                <a:schemeClr val="tx1"/>
              </a:solidFill>
              <a:prstDash val="solid"/>
              <a:round/>
              <a:headEnd type="none" w="med" len="med"/>
              <a:tailEnd type="none" w="med" len="med"/>
            </a:ln>
            <a:effectLst/>
          </p:spPr>
          <p:txBody>
            <a:bodyPr vert="vert270"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lang="en-GB" sz="1000" b="1" dirty="0">
                  <a:solidFill>
                    <a:schemeClr val="bg1"/>
                  </a:solidFill>
                </a:rPr>
                <a:t>INFORMATION</a:t>
              </a:r>
              <a:endParaRPr kumimoji="0" lang="en-GB" sz="400" b="1" i="0" u="none" strike="noStrike" cap="none" normalizeH="0" baseline="0" dirty="0">
                <a:ln>
                  <a:noFill/>
                </a:ln>
                <a:solidFill>
                  <a:schemeClr val="bg1"/>
                </a:solidFill>
                <a:effectLst/>
                <a:latin typeface="Arial" charset="0"/>
              </a:endParaRPr>
            </a:p>
          </p:txBody>
        </p:sp>
        <p:sp>
          <p:nvSpPr>
            <p:cNvPr id="69" name="Right Arrow 47">
              <a:extLst>
                <a:ext uri="{FF2B5EF4-FFF2-40B4-BE49-F238E27FC236}">
                  <a16:creationId xmlns:a16="http://schemas.microsoft.com/office/drawing/2014/main" id="{DCFC48ED-61E3-FE2E-D65B-2E7A0B096DFB}"/>
                </a:ext>
              </a:extLst>
            </p:cNvPr>
            <p:cNvSpPr/>
            <p:nvPr/>
          </p:nvSpPr>
          <p:spPr bwMode="auto">
            <a:xfrm>
              <a:off x="533400" y="2993742"/>
              <a:ext cx="304800" cy="1715262"/>
            </a:xfrm>
            <a:prstGeom prst="rightArrow">
              <a:avLst>
                <a:gd name="adj1" fmla="val 62671"/>
                <a:gd name="adj2" fmla="val 50000"/>
              </a:avLst>
            </a:prstGeom>
            <a:solidFill>
              <a:srgbClr val="002060"/>
            </a:solidFill>
            <a:ln w="12700" cap="sq" cmpd="sng" algn="ctr">
              <a:solidFill>
                <a:schemeClr val="tx1"/>
              </a:solidFill>
              <a:prstDash val="solid"/>
              <a:round/>
              <a:headEnd type="none" w="med" len="med"/>
              <a:tailEnd type="none" w="med" len="med"/>
            </a:ln>
            <a:effectLst/>
          </p:spPr>
          <p:txBody>
            <a:bodyPr vert="vert270"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lang="en-GB" sz="1050" b="1" dirty="0">
                  <a:solidFill>
                    <a:schemeClr val="bg1"/>
                  </a:solidFill>
                </a:rPr>
                <a:t>ANALYSIS</a:t>
              </a:r>
              <a:endParaRPr kumimoji="0" lang="en-GB" sz="400" b="1" i="0" u="none" strike="noStrike" cap="none" normalizeH="0" baseline="0" dirty="0">
                <a:ln>
                  <a:noFill/>
                </a:ln>
                <a:solidFill>
                  <a:schemeClr val="bg1"/>
                </a:solidFill>
                <a:effectLst/>
                <a:latin typeface="Arial" charset="0"/>
              </a:endParaRPr>
            </a:p>
          </p:txBody>
        </p:sp>
        <p:sp>
          <p:nvSpPr>
            <p:cNvPr id="70" name="Right Arrow 48">
              <a:extLst>
                <a:ext uri="{FF2B5EF4-FFF2-40B4-BE49-F238E27FC236}">
                  <a16:creationId xmlns:a16="http://schemas.microsoft.com/office/drawing/2014/main" id="{5367123B-92BB-14BA-F21D-766ABB0C7D01}"/>
                </a:ext>
              </a:extLst>
            </p:cNvPr>
            <p:cNvSpPr/>
            <p:nvPr/>
          </p:nvSpPr>
          <p:spPr bwMode="auto">
            <a:xfrm>
              <a:off x="533400" y="4640183"/>
              <a:ext cx="304800" cy="1715262"/>
            </a:xfrm>
            <a:prstGeom prst="rightArrow">
              <a:avLst>
                <a:gd name="adj1" fmla="val 62671"/>
                <a:gd name="adj2" fmla="val 50000"/>
              </a:avLst>
            </a:prstGeom>
            <a:solidFill>
              <a:srgbClr val="002060"/>
            </a:solidFill>
            <a:ln w="12700" cap="sq" cmpd="sng" algn="ctr">
              <a:solidFill>
                <a:schemeClr val="tx1"/>
              </a:solidFill>
              <a:prstDash val="solid"/>
              <a:round/>
              <a:headEnd type="none" w="med" len="med"/>
              <a:tailEnd type="none" w="med" len="med"/>
            </a:ln>
            <a:effectLst/>
          </p:spPr>
          <p:txBody>
            <a:bodyPr vert="vert270"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lang="en-GB" sz="1050" b="1" dirty="0">
                  <a:solidFill>
                    <a:schemeClr val="bg1"/>
                  </a:solidFill>
                </a:rPr>
                <a:t>SELECTION</a:t>
              </a:r>
              <a:endParaRPr kumimoji="0" lang="en-GB" sz="400" b="1" i="0" u="none" strike="noStrike" cap="none" normalizeH="0" baseline="0" dirty="0">
                <a:ln>
                  <a:noFill/>
                </a:ln>
                <a:solidFill>
                  <a:schemeClr val="bg1"/>
                </a:solidFill>
                <a:effectLst/>
                <a:latin typeface="Arial" charset="0"/>
              </a:endParaRPr>
            </a:p>
          </p:txBody>
        </p:sp>
      </p:grpSp>
    </p:spTree>
    <p:extLst>
      <p:ext uri="{BB962C8B-B14F-4D97-AF65-F5344CB8AC3E}">
        <p14:creationId xmlns:p14="http://schemas.microsoft.com/office/powerpoint/2010/main" val="3539147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Value Analysis / Value Engineering</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lstStyle/>
          <a:p>
            <a:r>
              <a:rPr lang="en-US" dirty="0"/>
              <a:t>Value Analysis – Typically existing product or service</a:t>
            </a:r>
          </a:p>
          <a:p>
            <a:r>
              <a:rPr lang="en-US" dirty="0"/>
              <a:t>Value Engineering – Typically new product or service</a:t>
            </a:r>
          </a:p>
          <a:p>
            <a:r>
              <a:rPr lang="en-US" dirty="0"/>
              <a:t>Value = Function / Cost</a:t>
            </a:r>
          </a:p>
          <a:p>
            <a:pPr lvl="1"/>
            <a:r>
              <a:rPr lang="en-US" dirty="0"/>
              <a:t>Increasing performance if customer needs, wants, and willing to pay for more performance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pic>
        <p:nvPicPr>
          <p:cNvPr id="5" name="Content Placeholder 7">
            <a:extLst>
              <a:ext uri="{FF2B5EF4-FFF2-40B4-BE49-F238E27FC236}">
                <a16:creationId xmlns:a16="http://schemas.microsoft.com/office/drawing/2014/main" id="{CA960A55-6A67-990F-7C62-264FBB419C2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727200" y="2870994"/>
            <a:ext cx="3403600" cy="2260600"/>
          </a:xfrm>
        </p:spPr>
      </p:pic>
    </p:spTree>
    <p:extLst>
      <p:ext uri="{BB962C8B-B14F-4D97-AF65-F5344CB8AC3E}">
        <p14:creationId xmlns:p14="http://schemas.microsoft.com/office/powerpoint/2010/main" val="376879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What is the Difference between VA and VE?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VA – VALUE ANALYSIS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lstStyle/>
          <a:p>
            <a:pPr marL="514350" indent="-514350">
              <a:buFont typeface="+mj-lt"/>
              <a:buAutoNum type="arabicPeriod"/>
            </a:pPr>
            <a:r>
              <a:rPr lang="en-US" dirty="0"/>
              <a:t>Existing product or service</a:t>
            </a:r>
          </a:p>
          <a:p>
            <a:pPr marL="514350" indent="-514350">
              <a:buFont typeface="+mj-lt"/>
              <a:buAutoNum type="arabicPeriod"/>
            </a:pPr>
            <a:r>
              <a:rPr lang="en-US" dirty="0"/>
              <a:t>Manufacture, Aftersales</a:t>
            </a:r>
          </a:p>
          <a:p>
            <a:pPr marL="514350" indent="-514350">
              <a:buFont typeface="+mj-lt"/>
              <a:buAutoNum type="arabicPeriod"/>
            </a:pPr>
            <a:r>
              <a:rPr lang="en-US" dirty="0"/>
              <a:t>Process innovation</a:t>
            </a:r>
          </a:p>
          <a:p>
            <a:pPr marL="514350" indent="-514350">
              <a:buFont typeface="+mj-lt"/>
              <a:buAutoNum type="arabicPeriod"/>
            </a:pPr>
            <a:r>
              <a:rPr lang="en-US" dirty="0"/>
              <a:t>Unnecessary cost, Improvement performance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VE – VALUE ENGINEERING</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pPr marL="514350" indent="-514350">
              <a:buFont typeface="+mj-lt"/>
              <a:buAutoNum type="arabicPeriod"/>
            </a:pPr>
            <a:r>
              <a:rPr lang="en-US" dirty="0"/>
              <a:t>New product or service</a:t>
            </a:r>
          </a:p>
          <a:p>
            <a:pPr marL="514350" indent="-514350">
              <a:buFont typeface="+mj-lt"/>
              <a:buAutoNum type="arabicPeriod"/>
            </a:pPr>
            <a:r>
              <a:rPr lang="en-US" dirty="0"/>
              <a:t>Prototyping, Design or Pre-manufacture</a:t>
            </a:r>
          </a:p>
          <a:p>
            <a:pPr marL="514350" indent="-514350">
              <a:buFont typeface="+mj-lt"/>
              <a:buAutoNum type="arabicPeriod"/>
            </a:pPr>
            <a:r>
              <a:rPr lang="en-US" dirty="0"/>
              <a:t>Function breakthrough</a:t>
            </a:r>
          </a:p>
          <a:p>
            <a:pPr marL="514350" indent="-514350">
              <a:buFont typeface="+mj-lt"/>
              <a:buAutoNum type="arabicPeriod"/>
            </a:pPr>
            <a:r>
              <a:rPr lang="en-US" dirty="0"/>
              <a:t>Increase Value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spTree>
    <p:extLst>
      <p:ext uri="{BB962C8B-B14F-4D97-AF65-F5344CB8AC3E}">
        <p14:creationId xmlns:p14="http://schemas.microsoft.com/office/powerpoint/2010/main" val="202825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What is the Difference between VA and VE?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8" name="Group 7">
            <a:extLst>
              <a:ext uri="{FF2B5EF4-FFF2-40B4-BE49-F238E27FC236}">
                <a16:creationId xmlns:a16="http://schemas.microsoft.com/office/drawing/2014/main" id="{05C0FBC2-0205-A3E2-8026-B7A7B02FE6C1}"/>
              </a:ext>
            </a:extLst>
          </p:cNvPr>
          <p:cNvGrpSpPr/>
          <p:nvPr/>
        </p:nvGrpSpPr>
        <p:grpSpPr>
          <a:xfrm>
            <a:off x="1112889" y="1774190"/>
            <a:ext cx="9966220" cy="4241070"/>
            <a:chOff x="1112889" y="1774190"/>
            <a:chExt cx="8172046" cy="4241070"/>
          </a:xfrm>
        </p:grpSpPr>
        <p:graphicFrame>
          <p:nvGraphicFramePr>
            <p:cNvPr id="3" name="Content Placeholder 7">
              <a:extLst>
                <a:ext uri="{FF2B5EF4-FFF2-40B4-BE49-F238E27FC236}">
                  <a16:creationId xmlns:a16="http://schemas.microsoft.com/office/drawing/2014/main" id="{0C244049-447C-6D98-65BF-5687A74337EA}"/>
                </a:ext>
              </a:extLst>
            </p:cNvPr>
            <p:cNvGraphicFramePr>
              <a:graphicFrameLocks/>
            </p:cNvGraphicFramePr>
            <p:nvPr>
              <p:extLst>
                <p:ext uri="{D42A27DB-BD31-4B8C-83A1-F6EECF244321}">
                  <p14:modId xmlns:p14="http://schemas.microsoft.com/office/powerpoint/2010/main" val="2503830034"/>
                </p:ext>
              </p:extLst>
            </p:nvPr>
          </p:nvGraphicFramePr>
          <p:xfrm>
            <a:off x="1117600" y="1774190"/>
            <a:ext cx="8167335" cy="4241070"/>
          </p:xfrm>
          <a:graphic>
            <a:graphicData uri="http://schemas.openxmlformats.org/drawingml/2006/table">
              <a:tbl>
                <a:tblPr firstRow="1" bandRow="1">
                  <a:tableStyleId>{5C22544A-7EE6-4342-B048-85BDC9FD1C3A}</a:tableStyleId>
                </a:tblPr>
                <a:tblGrid>
                  <a:gridCol w="1992095">
                    <a:extLst>
                      <a:ext uri="{9D8B030D-6E8A-4147-A177-3AD203B41FA5}">
                        <a16:colId xmlns:a16="http://schemas.microsoft.com/office/drawing/2014/main" val="20000"/>
                      </a:ext>
                    </a:extLst>
                  </a:gridCol>
                  <a:gridCol w="1992095">
                    <a:extLst>
                      <a:ext uri="{9D8B030D-6E8A-4147-A177-3AD203B41FA5}">
                        <a16:colId xmlns:a16="http://schemas.microsoft.com/office/drawing/2014/main" val="20001"/>
                      </a:ext>
                    </a:extLst>
                  </a:gridCol>
                  <a:gridCol w="1992095">
                    <a:extLst>
                      <a:ext uri="{9D8B030D-6E8A-4147-A177-3AD203B41FA5}">
                        <a16:colId xmlns:a16="http://schemas.microsoft.com/office/drawing/2014/main" val="20002"/>
                      </a:ext>
                    </a:extLst>
                  </a:gridCol>
                  <a:gridCol w="1992095">
                    <a:extLst>
                      <a:ext uri="{9D8B030D-6E8A-4147-A177-3AD203B41FA5}">
                        <a16:colId xmlns:a16="http://schemas.microsoft.com/office/drawing/2014/main" val="20003"/>
                      </a:ext>
                    </a:extLst>
                  </a:gridCol>
                  <a:gridCol w="1992095">
                    <a:extLst>
                      <a:ext uri="{9D8B030D-6E8A-4147-A177-3AD203B41FA5}">
                        <a16:colId xmlns:a16="http://schemas.microsoft.com/office/drawing/2014/main" val="20004"/>
                      </a:ext>
                    </a:extLst>
                  </a:gridCol>
                </a:tblGrid>
                <a:tr h="774700">
                  <a:tc>
                    <a:txBody>
                      <a:bodyPr/>
                      <a:lstStyle/>
                      <a:p>
                        <a:pPr algn="ctr"/>
                        <a:r>
                          <a:rPr lang="en-GB" dirty="0"/>
                          <a:t>Prototyping</a:t>
                        </a:r>
                      </a:p>
                    </a:txBody>
                    <a:tcPr anchor="ctr"/>
                  </a:tc>
                  <a:tc>
                    <a:txBody>
                      <a:bodyPr/>
                      <a:lstStyle/>
                      <a:p>
                        <a:pPr algn="ctr"/>
                        <a:r>
                          <a:rPr lang="en-GB" dirty="0"/>
                          <a:t>Design</a:t>
                        </a:r>
                      </a:p>
                    </a:txBody>
                    <a:tcPr anchor="ctr"/>
                  </a:tc>
                  <a:tc>
                    <a:txBody>
                      <a:bodyPr/>
                      <a:lstStyle/>
                      <a:p>
                        <a:pPr algn="ctr"/>
                        <a:r>
                          <a:rPr lang="en-GB" dirty="0"/>
                          <a:t>Pre-manufacture</a:t>
                        </a:r>
                      </a:p>
                    </a:txBody>
                    <a:tcPr anchor="ctr"/>
                  </a:tc>
                  <a:tc>
                    <a:txBody>
                      <a:bodyPr/>
                      <a:lstStyle/>
                      <a:p>
                        <a:pPr algn="ctr"/>
                        <a:r>
                          <a:rPr lang="en-GB" dirty="0"/>
                          <a:t>Manufacture</a:t>
                        </a:r>
                      </a:p>
                    </a:txBody>
                    <a:tcPr anchor="ctr"/>
                  </a:tc>
                  <a:tc>
                    <a:txBody>
                      <a:bodyPr/>
                      <a:lstStyle/>
                      <a:p>
                        <a:pPr algn="ctr"/>
                        <a:r>
                          <a:rPr lang="en-GB" dirty="0"/>
                          <a:t>Aftersales</a:t>
                        </a:r>
                      </a:p>
                    </a:txBody>
                    <a:tcPr anchor="ctr"/>
                  </a:tc>
                  <a:extLst>
                    <a:ext uri="{0D108BD9-81ED-4DB2-BD59-A6C34878D82A}">
                      <a16:rowId xmlns:a16="http://schemas.microsoft.com/office/drawing/2014/main" val="10000"/>
                    </a:ext>
                  </a:extLst>
                </a:tr>
                <a:tr h="3466370">
                  <a:tc>
                    <a:txBody>
                      <a:bodyPr/>
                      <a:lstStyle/>
                      <a:p>
                        <a:endParaRPr lang="en-GB" dirty="0"/>
                      </a:p>
                    </a:txBody>
                    <a:tcPr>
                      <a:solidFill>
                        <a:schemeClr val="bg2"/>
                      </a:solidFill>
                    </a:tcPr>
                  </a:tc>
                  <a:tc>
                    <a:txBody>
                      <a:bodyPr/>
                      <a:lstStyle/>
                      <a:p>
                        <a:endParaRPr lang="en-GB" dirty="0"/>
                      </a:p>
                    </a:txBody>
                    <a:tcPr>
                      <a:solidFill>
                        <a:schemeClr val="bg2"/>
                      </a:solidFill>
                    </a:tcPr>
                  </a:tc>
                  <a:tc>
                    <a:txBody>
                      <a:bodyPr/>
                      <a:lstStyle/>
                      <a:p>
                        <a:endParaRPr lang="en-GB" dirty="0"/>
                      </a:p>
                    </a:txBody>
                    <a:tcPr>
                      <a:solidFill>
                        <a:schemeClr val="bg2"/>
                      </a:solidFill>
                    </a:tcPr>
                  </a:tc>
                  <a:tc>
                    <a:txBody>
                      <a:bodyPr/>
                      <a:lstStyle/>
                      <a:p>
                        <a:endParaRPr lang="en-GB" dirty="0"/>
                      </a:p>
                    </a:txBody>
                    <a:tcPr>
                      <a:solidFill>
                        <a:schemeClr val="bg2"/>
                      </a:solidFill>
                    </a:tcPr>
                  </a:tc>
                  <a:tc>
                    <a:txBody>
                      <a:bodyPr/>
                      <a:lstStyle/>
                      <a:p>
                        <a:endParaRPr lang="en-GB" dirty="0"/>
                      </a:p>
                    </a:txBody>
                    <a:tcPr>
                      <a:solidFill>
                        <a:schemeClr val="bg2"/>
                      </a:solidFill>
                    </a:tcPr>
                  </a:tc>
                  <a:extLst>
                    <a:ext uri="{0D108BD9-81ED-4DB2-BD59-A6C34878D82A}">
                      <a16:rowId xmlns:a16="http://schemas.microsoft.com/office/drawing/2014/main" val="10001"/>
                    </a:ext>
                  </a:extLst>
                </a:tr>
              </a:tbl>
            </a:graphicData>
          </a:graphic>
        </p:graphicFrame>
        <p:sp>
          <p:nvSpPr>
            <p:cNvPr id="5" name="Left-Right Arrow 8">
              <a:extLst>
                <a:ext uri="{FF2B5EF4-FFF2-40B4-BE49-F238E27FC236}">
                  <a16:creationId xmlns:a16="http://schemas.microsoft.com/office/drawing/2014/main" id="{E9EDF67E-ACC3-CC64-AD27-048FA4C52711}"/>
                </a:ext>
              </a:extLst>
            </p:cNvPr>
            <p:cNvSpPr/>
            <p:nvPr/>
          </p:nvSpPr>
          <p:spPr bwMode="auto">
            <a:xfrm>
              <a:off x="1112890" y="2853690"/>
              <a:ext cx="6543915" cy="609600"/>
            </a:xfrm>
            <a:prstGeom prst="leftRightArrow">
              <a:avLst/>
            </a:prstGeom>
            <a:solidFill>
              <a:schemeClr val="accent1"/>
            </a:solidFill>
            <a:ln w="12700" cap="sq" cmpd="sng" algn="ctr">
              <a:solidFill>
                <a:schemeClr val="tx1"/>
              </a:solidFill>
              <a:prstDash val="solid"/>
              <a:round/>
              <a:headEnd type="none" w="med" len="med"/>
              <a:tailEnd type="none" w="med" len="med"/>
            </a:ln>
            <a:effectLst/>
          </p:spPr>
          <p:txBody>
            <a:bodyPr vert="horz" wrap="none" lIns="91440" tIns="72000" rIns="91440" bIns="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kumimoji="0" lang="en-GB" sz="2000" b="1" i="0" u="none" strike="noStrike" cap="none" normalizeH="0" baseline="0" dirty="0">
                  <a:ln>
                    <a:noFill/>
                  </a:ln>
                  <a:solidFill>
                    <a:schemeClr val="bg1"/>
                  </a:solidFill>
                  <a:effectLst/>
                  <a:latin typeface="Arial" charset="0"/>
                </a:rPr>
                <a:t>VE</a:t>
              </a:r>
            </a:p>
          </p:txBody>
        </p:sp>
        <p:sp>
          <p:nvSpPr>
            <p:cNvPr id="6" name="Left-Right Arrow 10">
              <a:extLst>
                <a:ext uri="{FF2B5EF4-FFF2-40B4-BE49-F238E27FC236}">
                  <a16:creationId xmlns:a16="http://schemas.microsoft.com/office/drawing/2014/main" id="{C4301C3B-CF57-42EC-A650-3EDF874C3BB3}"/>
                </a:ext>
              </a:extLst>
            </p:cNvPr>
            <p:cNvSpPr/>
            <p:nvPr/>
          </p:nvSpPr>
          <p:spPr bwMode="auto">
            <a:xfrm>
              <a:off x="5992421" y="3888535"/>
              <a:ext cx="3271958" cy="609600"/>
            </a:xfrm>
            <a:prstGeom prst="leftRightArrow">
              <a:avLst/>
            </a:prstGeom>
            <a:solidFill>
              <a:schemeClr val="accent6"/>
            </a:solidFill>
            <a:ln w="12700" cap="sq" cmpd="sng" algn="ctr">
              <a:solidFill>
                <a:schemeClr val="tx1"/>
              </a:solidFill>
              <a:prstDash val="solid"/>
              <a:round/>
              <a:headEnd type="none" w="med" len="med"/>
              <a:tailEnd type="none" w="med" len="med"/>
            </a:ln>
            <a:effectLst/>
          </p:spPr>
          <p:txBody>
            <a:bodyPr vert="horz" wrap="none" lIns="91440" tIns="72000" rIns="91440" bIns="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kumimoji="0" lang="en-GB" sz="2000" b="1" i="0" u="none" strike="noStrike" cap="none" normalizeH="0" baseline="0" dirty="0">
                  <a:ln>
                    <a:noFill/>
                  </a:ln>
                  <a:solidFill>
                    <a:schemeClr val="bg1"/>
                  </a:solidFill>
                  <a:effectLst/>
                  <a:latin typeface="Arial" charset="0"/>
                </a:rPr>
                <a:t>VA</a:t>
              </a:r>
            </a:p>
          </p:txBody>
        </p:sp>
        <p:sp>
          <p:nvSpPr>
            <p:cNvPr id="7" name="Left-Right Arrow 11">
              <a:extLst>
                <a:ext uri="{FF2B5EF4-FFF2-40B4-BE49-F238E27FC236}">
                  <a16:creationId xmlns:a16="http://schemas.microsoft.com/office/drawing/2014/main" id="{74ACC912-010A-FBC9-88B8-48FA0AA71097}"/>
                </a:ext>
              </a:extLst>
            </p:cNvPr>
            <p:cNvSpPr/>
            <p:nvPr/>
          </p:nvSpPr>
          <p:spPr bwMode="auto">
            <a:xfrm>
              <a:off x="1112889" y="4923380"/>
              <a:ext cx="8151490" cy="609600"/>
            </a:xfrm>
            <a:prstGeom prst="leftRightArrow">
              <a:avLst/>
            </a:prstGeom>
            <a:solidFill>
              <a:schemeClr val="accent1"/>
            </a:solidFill>
            <a:ln w="12700" cap="sq" cmpd="sng" algn="ctr">
              <a:solidFill>
                <a:schemeClr val="tx1"/>
              </a:solidFill>
              <a:prstDash val="solid"/>
              <a:round/>
              <a:headEnd type="none" w="med" len="med"/>
              <a:tailEnd type="none" w="med" len="med"/>
            </a:ln>
            <a:effectLst/>
          </p:spPr>
          <p:txBody>
            <a:bodyPr vert="horz" wrap="none" lIns="91440" tIns="72000" rIns="91440" bIns="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kumimoji="0" lang="en-GB" sz="2000" b="1" i="0" u="none" strike="noStrike" cap="none" normalizeH="0" baseline="0" dirty="0">
                  <a:ln>
                    <a:noFill/>
                  </a:ln>
                  <a:solidFill>
                    <a:schemeClr val="bg1"/>
                  </a:solidFill>
                  <a:effectLst/>
                  <a:latin typeface="Arial" charset="0"/>
                </a:rPr>
                <a:t>VE/VA</a:t>
              </a:r>
            </a:p>
          </p:txBody>
        </p:sp>
      </p:grpSp>
    </p:spTree>
    <p:extLst>
      <p:ext uri="{BB962C8B-B14F-4D97-AF65-F5344CB8AC3E}">
        <p14:creationId xmlns:p14="http://schemas.microsoft.com/office/powerpoint/2010/main" val="1113163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Cost Analysis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lstStyle/>
          <a:p>
            <a:r>
              <a:rPr lang="en-US" dirty="0"/>
              <a:t>Are Costs: Excessive, Quite High, Acceptable, or Cheap?</a:t>
            </a:r>
          </a:p>
          <a:p>
            <a:r>
              <a:rPr lang="en-US" dirty="0"/>
              <a:t>How costly is it compared to alternatives which achieve similar or greater value? </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pic>
        <p:nvPicPr>
          <p:cNvPr id="8" name="Content Placeholder 7">
            <a:extLst>
              <a:ext uri="{FF2B5EF4-FFF2-40B4-BE49-F238E27FC236}">
                <a16:creationId xmlns:a16="http://schemas.microsoft.com/office/drawing/2014/main" id="{9805C8A0-035F-69C8-C3B4-119D62EAA33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032000" y="2661444"/>
            <a:ext cx="2794000" cy="2679700"/>
          </a:xfrm>
        </p:spPr>
      </p:pic>
    </p:spTree>
    <p:extLst>
      <p:ext uri="{BB962C8B-B14F-4D97-AF65-F5344CB8AC3E}">
        <p14:creationId xmlns:p14="http://schemas.microsoft.com/office/powerpoint/2010/main" val="4019796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dirty="0"/>
              <a:t>VA/VE Roadmap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pSp>
        <p:nvGrpSpPr>
          <p:cNvPr id="38" name="Group 37">
            <a:extLst>
              <a:ext uri="{FF2B5EF4-FFF2-40B4-BE49-F238E27FC236}">
                <a16:creationId xmlns:a16="http://schemas.microsoft.com/office/drawing/2014/main" id="{035D2E48-1A64-8AE7-5EEF-B257C7E88B6F}"/>
              </a:ext>
            </a:extLst>
          </p:cNvPr>
          <p:cNvGrpSpPr/>
          <p:nvPr/>
        </p:nvGrpSpPr>
        <p:grpSpPr>
          <a:xfrm>
            <a:off x="333374" y="1802130"/>
            <a:ext cx="10799445" cy="4149726"/>
            <a:chOff x="219075" y="1562100"/>
            <a:chExt cx="8618538" cy="4149726"/>
          </a:xfrm>
        </p:grpSpPr>
        <p:cxnSp>
          <p:nvCxnSpPr>
            <p:cNvPr id="9" name="Straight Connector 8">
              <a:extLst>
                <a:ext uri="{FF2B5EF4-FFF2-40B4-BE49-F238E27FC236}">
                  <a16:creationId xmlns:a16="http://schemas.microsoft.com/office/drawing/2014/main" id="{22CD1EEB-8494-EC36-30D8-A8B9B040C52B}"/>
                </a:ext>
              </a:extLst>
            </p:cNvPr>
            <p:cNvCxnSpPr/>
            <p:nvPr/>
          </p:nvCxnSpPr>
          <p:spPr bwMode="auto">
            <a:xfrm>
              <a:off x="3702051" y="3629025"/>
              <a:ext cx="4660899" cy="676276"/>
            </a:xfrm>
            <a:prstGeom prst="line">
              <a:avLst/>
            </a:prstGeom>
            <a:solidFill>
              <a:srgbClr val="808080"/>
            </a:solidFill>
            <a:ln w="12700" cap="sq" cmpd="sng" algn="ctr">
              <a:solidFill>
                <a:schemeClr val="tx1"/>
              </a:solidFill>
              <a:prstDash val="solid"/>
              <a:round/>
              <a:headEnd type="none" w="med" len="med"/>
              <a:tailEnd type="none" w="med" len="med"/>
            </a:ln>
            <a:effectLst/>
          </p:spPr>
        </p:cxnSp>
        <p:sp>
          <p:nvSpPr>
            <p:cNvPr id="10" name="Rectangle 3">
              <a:extLst>
                <a:ext uri="{FF2B5EF4-FFF2-40B4-BE49-F238E27FC236}">
                  <a16:creationId xmlns:a16="http://schemas.microsoft.com/office/drawing/2014/main" id="{D54B3A05-4EC9-5D03-4DEA-266DC22F417A}"/>
                </a:ext>
              </a:extLst>
            </p:cNvPr>
            <p:cNvSpPr>
              <a:spLocks noChangeArrowheads="1"/>
            </p:cNvSpPr>
            <p:nvPr/>
          </p:nvSpPr>
          <p:spPr bwMode="auto">
            <a:xfrm>
              <a:off x="219075" y="1562100"/>
              <a:ext cx="3482976" cy="2066925"/>
            </a:xfrm>
            <a:prstGeom prst="rect">
              <a:avLst/>
            </a:prstGeom>
            <a:solidFill>
              <a:srgbClr val="EAEAEA"/>
            </a:solidFill>
            <a:ln w="12700" cap="sq">
              <a:solidFill>
                <a:srgbClr val="0033CC"/>
              </a:solidFill>
              <a:miter lim="800000"/>
              <a:headEnd type="none" w="sm" len="sm"/>
              <a:tailEnd type="none" w="sm" len="sm"/>
            </a:ln>
          </p:spPr>
          <p:txBody>
            <a:bodyPr wrap="none" anchor="b"/>
            <a:lstStyle/>
            <a:p>
              <a:pPr algn="ctr"/>
              <a:r>
                <a:rPr lang="en-US" dirty="0"/>
                <a:t>THIS EVENT</a:t>
              </a:r>
            </a:p>
          </p:txBody>
        </p:sp>
        <p:grpSp>
          <p:nvGrpSpPr>
            <p:cNvPr id="11" name="Group 10">
              <a:extLst>
                <a:ext uri="{FF2B5EF4-FFF2-40B4-BE49-F238E27FC236}">
                  <a16:creationId xmlns:a16="http://schemas.microsoft.com/office/drawing/2014/main" id="{26E9FE5B-2396-3123-688C-A2020513CF76}"/>
                </a:ext>
              </a:extLst>
            </p:cNvPr>
            <p:cNvGrpSpPr/>
            <p:nvPr/>
          </p:nvGrpSpPr>
          <p:grpSpPr>
            <a:xfrm>
              <a:off x="317500" y="1778795"/>
              <a:ext cx="1522412" cy="1341438"/>
              <a:chOff x="317500" y="2209801"/>
              <a:chExt cx="1522412" cy="1341438"/>
            </a:xfrm>
          </p:grpSpPr>
          <p:sp>
            <p:nvSpPr>
              <p:cNvPr id="12" name="Rectangle 7">
                <a:extLst>
                  <a:ext uri="{FF2B5EF4-FFF2-40B4-BE49-F238E27FC236}">
                    <a16:creationId xmlns:a16="http://schemas.microsoft.com/office/drawing/2014/main" id="{B356B076-5D6B-81D1-39DD-BCC08B16E276}"/>
                  </a:ext>
                </a:extLst>
              </p:cNvPr>
              <p:cNvSpPr>
                <a:spLocks noChangeArrowheads="1"/>
              </p:cNvSpPr>
              <p:nvPr/>
            </p:nvSpPr>
            <p:spPr bwMode="auto">
              <a:xfrm>
                <a:off x="317502" y="2471739"/>
                <a:ext cx="1520825" cy="1079500"/>
              </a:xfrm>
              <a:prstGeom prst="rect">
                <a:avLst/>
              </a:prstGeom>
              <a:solidFill>
                <a:schemeClr val="bg1"/>
              </a:solidFill>
              <a:ln w="12700" cap="sq" algn="ctr">
                <a:solidFill>
                  <a:schemeClr val="tx1"/>
                </a:solidFill>
                <a:miter lim="800000"/>
                <a:headEnd/>
                <a:tailEnd/>
              </a:ln>
            </p:spPr>
            <p:txBody>
              <a:bodyPr anchor="ctr"/>
              <a:lstStyle/>
              <a:p>
                <a:r>
                  <a:rPr lang="en-US" sz="1400" b="1" dirty="0">
                    <a:solidFill>
                      <a:schemeClr val="tx1"/>
                    </a:solidFill>
                  </a:rPr>
                  <a:t>Charter, baseline data, schedule</a:t>
                </a:r>
              </a:p>
            </p:txBody>
          </p:sp>
          <p:sp>
            <p:nvSpPr>
              <p:cNvPr id="13" name="Rectangle 8">
                <a:extLst>
                  <a:ext uri="{FF2B5EF4-FFF2-40B4-BE49-F238E27FC236}">
                    <a16:creationId xmlns:a16="http://schemas.microsoft.com/office/drawing/2014/main" id="{CAF3DC07-EF21-779F-8EAA-A2FF842A4063}"/>
                  </a:ext>
                </a:extLst>
              </p:cNvPr>
              <p:cNvSpPr>
                <a:spLocks noChangeArrowheads="1"/>
              </p:cNvSpPr>
              <p:nvPr/>
            </p:nvSpPr>
            <p:spPr bwMode="auto">
              <a:xfrm>
                <a:off x="317500" y="2209801"/>
                <a:ext cx="1522412" cy="252413"/>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CONCEPT</a:t>
                </a:r>
              </a:p>
            </p:txBody>
          </p:sp>
        </p:grpSp>
        <p:grpSp>
          <p:nvGrpSpPr>
            <p:cNvPr id="14" name="Group 13">
              <a:extLst>
                <a:ext uri="{FF2B5EF4-FFF2-40B4-BE49-F238E27FC236}">
                  <a16:creationId xmlns:a16="http://schemas.microsoft.com/office/drawing/2014/main" id="{312374AB-2D85-F601-E704-70E7E7DE8371}"/>
                </a:ext>
              </a:extLst>
            </p:cNvPr>
            <p:cNvGrpSpPr/>
            <p:nvPr/>
          </p:nvGrpSpPr>
          <p:grpSpPr>
            <a:xfrm>
              <a:off x="2066925" y="1778796"/>
              <a:ext cx="1522413" cy="1341436"/>
              <a:chOff x="2112963" y="2205039"/>
              <a:chExt cx="1522413" cy="1341436"/>
            </a:xfrm>
          </p:grpSpPr>
          <p:sp>
            <p:nvSpPr>
              <p:cNvPr id="15" name="Rectangle 9">
                <a:extLst>
                  <a:ext uri="{FF2B5EF4-FFF2-40B4-BE49-F238E27FC236}">
                    <a16:creationId xmlns:a16="http://schemas.microsoft.com/office/drawing/2014/main" id="{B692BAE9-4198-D7EB-7724-142407C1B808}"/>
                  </a:ext>
                </a:extLst>
              </p:cNvPr>
              <p:cNvSpPr>
                <a:spLocks noChangeArrowheads="1"/>
              </p:cNvSpPr>
              <p:nvPr/>
            </p:nvSpPr>
            <p:spPr bwMode="auto">
              <a:xfrm>
                <a:off x="2112963" y="2466975"/>
                <a:ext cx="1520825" cy="1079500"/>
              </a:xfrm>
              <a:prstGeom prst="rect">
                <a:avLst/>
              </a:prstGeom>
              <a:solidFill>
                <a:schemeClr val="bg1"/>
              </a:solidFill>
              <a:ln w="12700" cap="sq" algn="ctr">
                <a:solidFill>
                  <a:schemeClr val="tx1"/>
                </a:solidFill>
                <a:miter lim="800000"/>
                <a:headEnd/>
                <a:tailEnd/>
              </a:ln>
            </p:spPr>
            <p:txBody>
              <a:bodyPr anchor="ctr"/>
              <a:lstStyle/>
              <a:p>
                <a:r>
                  <a:rPr lang="en-US" sz="1400" b="1" dirty="0">
                    <a:solidFill>
                      <a:schemeClr val="tx1"/>
                    </a:solidFill>
                  </a:rPr>
                  <a:t>Generate ideas, evaluate , select, action plan</a:t>
                </a:r>
              </a:p>
            </p:txBody>
          </p:sp>
          <p:sp>
            <p:nvSpPr>
              <p:cNvPr id="16" name="Rectangle 10">
                <a:extLst>
                  <a:ext uri="{FF2B5EF4-FFF2-40B4-BE49-F238E27FC236}">
                    <a16:creationId xmlns:a16="http://schemas.microsoft.com/office/drawing/2014/main" id="{9A9E840F-5B38-ADDB-485F-587BDF9E1FF0}"/>
                  </a:ext>
                </a:extLst>
              </p:cNvPr>
              <p:cNvSpPr>
                <a:spLocks noChangeArrowheads="1"/>
              </p:cNvSpPr>
              <p:nvPr/>
            </p:nvSpPr>
            <p:spPr bwMode="auto">
              <a:xfrm>
                <a:off x="2112963" y="2205039"/>
                <a:ext cx="1522413"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EVALUATION</a:t>
                </a:r>
              </a:p>
            </p:txBody>
          </p:sp>
        </p:grpSp>
        <p:grpSp>
          <p:nvGrpSpPr>
            <p:cNvPr id="17" name="Group 16">
              <a:extLst>
                <a:ext uri="{FF2B5EF4-FFF2-40B4-BE49-F238E27FC236}">
                  <a16:creationId xmlns:a16="http://schemas.microsoft.com/office/drawing/2014/main" id="{2A43AB48-6C3C-3B0E-5CE7-857B2F7BED08}"/>
                </a:ext>
              </a:extLst>
            </p:cNvPr>
            <p:cNvGrpSpPr/>
            <p:nvPr/>
          </p:nvGrpSpPr>
          <p:grpSpPr>
            <a:xfrm>
              <a:off x="3816351" y="1778796"/>
              <a:ext cx="1522412" cy="1341436"/>
              <a:chOff x="3927476" y="2205039"/>
              <a:chExt cx="1522412" cy="1341436"/>
            </a:xfrm>
          </p:grpSpPr>
          <p:sp>
            <p:nvSpPr>
              <p:cNvPr id="18" name="Rectangle 11">
                <a:extLst>
                  <a:ext uri="{FF2B5EF4-FFF2-40B4-BE49-F238E27FC236}">
                    <a16:creationId xmlns:a16="http://schemas.microsoft.com/office/drawing/2014/main" id="{DDA68B3C-558D-8F6C-02AD-AE0FBC3C6E0F}"/>
                  </a:ext>
                </a:extLst>
              </p:cNvPr>
              <p:cNvSpPr>
                <a:spLocks noChangeArrowheads="1"/>
              </p:cNvSpPr>
              <p:nvPr/>
            </p:nvSpPr>
            <p:spPr bwMode="auto">
              <a:xfrm>
                <a:off x="3927477" y="2466975"/>
                <a:ext cx="1520825" cy="1079500"/>
              </a:xfrm>
              <a:prstGeom prst="rect">
                <a:avLst/>
              </a:prstGeom>
              <a:solidFill>
                <a:schemeClr val="bg1"/>
              </a:solidFill>
              <a:ln w="12700" cap="sq" algn="ctr">
                <a:solidFill>
                  <a:schemeClr val="tx1"/>
                </a:solidFill>
                <a:miter lim="800000"/>
                <a:headEnd/>
                <a:tailEnd/>
              </a:ln>
            </p:spPr>
            <p:txBody>
              <a:bodyPr anchor="ctr"/>
              <a:lstStyle/>
              <a:p>
                <a:r>
                  <a:rPr lang="en-US" sz="1400" b="1" dirty="0">
                    <a:solidFill>
                      <a:schemeClr val="tx1"/>
                    </a:solidFill>
                  </a:rPr>
                  <a:t>Specifications, detailed design, production process</a:t>
                </a:r>
              </a:p>
            </p:txBody>
          </p:sp>
          <p:sp>
            <p:nvSpPr>
              <p:cNvPr id="19" name="Rectangle 12">
                <a:extLst>
                  <a:ext uri="{FF2B5EF4-FFF2-40B4-BE49-F238E27FC236}">
                    <a16:creationId xmlns:a16="http://schemas.microsoft.com/office/drawing/2014/main" id="{817CCA0A-1560-7AF9-F334-1C4624598326}"/>
                  </a:ext>
                </a:extLst>
              </p:cNvPr>
              <p:cNvSpPr>
                <a:spLocks noChangeArrowheads="1"/>
              </p:cNvSpPr>
              <p:nvPr/>
            </p:nvSpPr>
            <p:spPr bwMode="auto">
              <a:xfrm>
                <a:off x="3927476" y="2205039"/>
                <a:ext cx="1522412"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DESIGN</a:t>
                </a:r>
              </a:p>
            </p:txBody>
          </p:sp>
        </p:grpSp>
        <p:grpSp>
          <p:nvGrpSpPr>
            <p:cNvPr id="20" name="Group 19">
              <a:extLst>
                <a:ext uri="{FF2B5EF4-FFF2-40B4-BE49-F238E27FC236}">
                  <a16:creationId xmlns:a16="http://schemas.microsoft.com/office/drawing/2014/main" id="{8D860206-4B94-19BB-5CFB-C954B6643B09}"/>
                </a:ext>
              </a:extLst>
            </p:cNvPr>
            <p:cNvGrpSpPr/>
            <p:nvPr/>
          </p:nvGrpSpPr>
          <p:grpSpPr>
            <a:xfrm>
              <a:off x="5565776" y="1778796"/>
              <a:ext cx="1522413" cy="1341436"/>
              <a:chOff x="5741988" y="2205039"/>
              <a:chExt cx="1522413" cy="1341436"/>
            </a:xfrm>
          </p:grpSpPr>
          <p:sp>
            <p:nvSpPr>
              <p:cNvPr id="21" name="Rectangle 13">
                <a:extLst>
                  <a:ext uri="{FF2B5EF4-FFF2-40B4-BE49-F238E27FC236}">
                    <a16:creationId xmlns:a16="http://schemas.microsoft.com/office/drawing/2014/main" id="{5EB00DF2-1402-F749-2951-CFA5FB469535}"/>
                  </a:ext>
                </a:extLst>
              </p:cNvPr>
              <p:cNvSpPr>
                <a:spLocks noChangeArrowheads="1"/>
              </p:cNvSpPr>
              <p:nvPr/>
            </p:nvSpPr>
            <p:spPr bwMode="auto">
              <a:xfrm>
                <a:off x="5741989" y="2466975"/>
                <a:ext cx="1520825" cy="1079500"/>
              </a:xfrm>
              <a:prstGeom prst="rect">
                <a:avLst/>
              </a:prstGeom>
              <a:solidFill>
                <a:schemeClr val="bg1"/>
              </a:solidFill>
              <a:ln w="12700" cap="sq" algn="ctr">
                <a:solidFill>
                  <a:schemeClr val="tx1"/>
                </a:solidFill>
                <a:miter lim="800000"/>
                <a:headEnd/>
                <a:tailEnd/>
              </a:ln>
            </p:spPr>
            <p:txBody>
              <a:bodyPr anchor="ctr"/>
              <a:lstStyle/>
              <a:p>
                <a:r>
                  <a:rPr lang="en-US" sz="1400" b="1" dirty="0">
                    <a:solidFill>
                      <a:schemeClr val="tx1"/>
                    </a:solidFill>
                  </a:rPr>
                  <a:t>Components, Customer</a:t>
                </a:r>
              </a:p>
            </p:txBody>
          </p:sp>
          <p:sp>
            <p:nvSpPr>
              <p:cNvPr id="22" name="Rectangle 14">
                <a:extLst>
                  <a:ext uri="{FF2B5EF4-FFF2-40B4-BE49-F238E27FC236}">
                    <a16:creationId xmlns:a16="http://schemas.microsoft.com/office/drawing/2014/main" id="{B31F85BF-BC80-2BFC-14ED-9F9B679B1C0C}"/>
                  </a:ext>
                </a:extLst>
              </p:cNvPr>
              <p:cNvSpPr>
                <a:spLocks noChangeArrowheads="1"/>
              </p:cNvSpPr>
              <p:nvPr/>
            </p:nvSpPr>
            <p:spPr bwMode="auto">
              <a:xfrm>
                <a:off x="5741988" y="2205039"/>
                <a:ext cx="1522413"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QUALIFICATION</a:t>
                </a:r>
              </a:p>
            </p:txBody>
          </p:sp>
        </p:grpSp>
        <p:cxnSp>
          <p:nvCxnSpPr>
            <p:cNvPr id="23" name="AutoShape 15">
              <a:extLst>
                <a:ext uri="{FF2B5EF4-FFF2-40B4-BE49-F238E27FC236}">
                  <a16:creationId xmlns:a16="http://schemas.microsoft.com/office/drawing/2014/main" id="{471CAA3E-CE9A-AFDE-4970-0685CD57AC2E}"/>
                </a:ext>
              </a:extLst>
            </p:cNvPr>
            <p:cNvCxnSpPr>
              <a:cxnSpLocks noChangeShapeType="1"/>
              <a:stCxn id="12" idx="3"/>
              <a:endCxn id="15" idx="1"/>
            </p:cNvCxnSpPr>
            <p:nvPr/>
          </p:nvCxnSpPr>
          <p:spPr bwMode="auto">
            <a:xfrm flipV="1">
              <a:off x="1838327" y="2580482"/>
              <a:ext cx="228598" cy="1"/>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16">
              <a:extLst>
                <a:ext uri="{FF2B5EF4-FFF2-40B4-BE49-F238E27FC236}">
                  <a16:creationId xmlns:a16="http://schemas.microsoft.com/office/drawing/2014/main" id="{7E2E24CD-AB9E-4369-8B81-94B030BDCF56}"/>
                </a:ext>
              </a:extLst>
            </p:cNvPr>
            <p:cNvCxnSpPr>
              <a:cxnSpLocks noChangeShapeType="1"/>
              <a:stCxn id="15" idx="3"/>
              <a:endCxn id="18" idx="1"/>
            </p:cNvCxnSpPr>
            <p:nvPr/>
          </p:nvCxnSpPr>
          <p:spPr bwMode="auto">
            <a:xfrm>
              <a:off x="3587750" y="2580482"/>
              <a:ext cx="228602"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17">
              <a:extLst>
                <a:ext uri="{FF2B5EF4-FFF2-40B4-BE49-F238E27FC236}">
                  <a16:creationId xmlns:a16="http://schemas.microsoft.com/office/drawing/2014/main" id="{80005A29-264C-F92D-E1C4-18E6729FE4AB}"/>
                </a:ext>
              </a:extLst>
            </p:cNvPr>
            <p:cNvCxnSpPr>
              <a:cxnSpLocks noChangeShapeType="1"/>
              <a:stCxn id="18" idx="3"/>
              <a:endCxn id="21" idx="1"/>
            </p:cNvCxnSpPr>
            <p:nvPr/>
          </p:nvCxnSpPr>
          <p:spPr bwMode="auto">
            <a:xfrm>
              <a:off x="5337177" y="2580482"/>
              <a:ext cx="228600"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6" name="Group 25">
              <a:extLst>
                <a:ext uri="{FF2B5EF4-FFF2-40B4-BE49-F238E27FC236}">
                  <a16:creationId xmlns:a16="http://schemas.microsoft.com/office/drawing/2014/main" id="{044E024B-AA41-7140-6063-7AF14F79C757}"/>
                </a:ext>
              </a:extLst>
            </p:cNvPr>
            <p:cNvGrpSpPr/>
            <p:nvPr/>
          </p:nvGrpSpPr>
          <p:grpSpPr>
            <a:xfrm>
              <a:off x="7315200" y="1778796"/>
              <a:ext cx="1522413" cy="1341436"/>
              <a:chOff x="7467599" y="2209803"/>
              <a:chExt cx="1522413" cy="1341436"/>
            </a:xfrm>
          </p:grpSpPr>
          <p:sp>
            <p:nvSpPr>
              <p:cNvPr id="27" name="Rectangle 13">
                <a:extLst>
                  <a:ext uri="{FF2B5EF4-FFF2-40B4-BE49-F238E27FC236}">
                    <a16:creationId xmlns:a16="http://schemas.microsoft.com/office/drawing/2014/main" id="{39565F48-1B41-19AC-93FF-28DA172F1E17}"/>
                  </a:ext>
                </a:extLst>
              </p:cNvPr>
              <p:cNvSpPr>
                <a:spLocks noChangeArrowheads="1"/>
              </p:cNvSpPr>
              <p:nvPr/>
            </p:nvSpPr>
            <p:spPr bwMode="auto">
              <a:xfrm>
                <a:off x="7467600" y="2471739"/>
                <a:ext cx="1520825" cy="1079500"/>
              </a:xfrm>
              <a:prstGeom prst="rect">
                <a:avLst/>
              </a:prstGeom>
              <a:solidFill>
                <a:schemeClr val="bg1"/>
              </a:solidFill>
              <a:ln w="12700" cap="sq" algn="ctr">
                <a:solidFill>
                  <a:schemeClr val="tx1"/>
                </a:solidFill>
                <a:miter lim="800000"/>
                <a:headEnd/>
                <a:tailEnd/>
              </a:ln>
            </p:spPr>
            <p:txBody>
              <a:bodyPr anchor="ctr"/>
              <a:lstStyle/>
              <a:p>
                <a:r>
                  <a:rPr lang="en-US" sz="1400" b="1" dirty="0">
                    <a:solidFill>
                      <a:schemeClr val="tx1"/>
                    </a:solidFill>
                  </a:rPr>
                  <a:t>ECO (PCN), stock run-out, volume</a:t>
                </a:r>
              </a:p>
            </p:txBody>
          </p:sp>
          <p:sp>
            <p:nvSpPr>
              <p:cNvPr id="28" name="Rectangle 14">
                <a:extLst>
                  <a:ext uri="{FF2B5EF4-FFF2-40B4-BE49-F238E27FC236}">
                    <a16:creationId xmlns:a16="http://schemas.microsoft.com/office/drawing/2014/main" id="{55D217EA-907E-479D-BF10-FC538E3673C2}"/>
                  </a:ext>
                </a:extLst>
              </p:cNvPr>
              <p:cNvSpPr>
                <a:spLocks noChangeArrowheads="1"/>
              </p:cNvSpPr>
              <p:nvPr/>
            </p:nvSpPr>
            <p:spPr bwMode="auto">
              <a:xfrm>
                <a:off x="7467599" y="2209803"/>
                <a:ext cx="1522413" cy="252412"/>
              </a:xfrm>
              <a:prstGeom prst="rect">
                <a:avLst/>
              </a:prstGeom>
              <a:solidFill>
                <a:schemeClr val="accent1"/>
              </a:solidFill>
              <a:ln w="12700" cap="sq" algn="ctr">
                <a:solidFill>
                  <a:schemeClr val="tx1"/>
                </a:solidFill>
                <a:miter lim="800000"/>
                <a:headEnd/>
                <a:tailEnd/>
              </a:ln>
            </p:spPr>
            <p:txBody>
              <a:bodyPr wrap="none" anchor="ctr" anchorCtr="1"/>
              <a:lstStyle/>
              <a:p>
                <a:r>
                  <a:rPr lang="en-US" sz="1200" b="1" dirty="0">
                    <a:solidFill>
                      <a:schemeClr val="bg1"/>
                    </a:solidFill>
                  </a:rPr>
                  <a:t>RAMP-UP</a:t>
                </a:r>
              </a:p>
            </p:txBody>
          </p:sp>
        </p:grpSp>
        <p:cxnSp>
          <p:nvCxnSpPr>
            <p:cNvPr id="29" name="AutoShape 17">
              <a:extLst>
                <a:ext uri="{FF2B5EF4-FFF2-40B4-BE49-F238E27FC236}">
                  <a16:creationId xmlns:a16="http://schemas.microsoft.com/office/drawing/2014/main" id="{DCC1A078-3B97-FA4C-C6F1-48BF326E639A}"/>
                </a:ext>
              </a:extLst>
            </p:cNvPr>
            <p:cNvCxnSpPr>
              <a:cxnSpLocks noChangeShapeType="1"/>
              <a:stCxn id="21" idx="3"/>
              <a:endCxn id="27" idx="1"/>
            </p:cNvCxnSpPr>
            <p:nvPr/>
          </p:nvCxnSpPr>
          <p:spPr bwMode="auto">
            <a:xfrm>
              <a:off x="7086602" y="2580482"/>
              <a:ext cx="228599"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Straight Connector 29">
              <a:extLst>
                <a:ext uri="{FF2B5EF4-FFF2-40B4-BE49-F238E27FC236}">
                  <a16:creationId xmlns:a16="http://schemas.microsoft.com/office/drawing/2014/main" id="{B9A928C8-0930-03E6-0644-BB71EC2D6B05}"/>
                </a:ext>
              </a:extLst>
            </p:cNvPr>
            <p:cNvCxnSpPr/>
            <p:nvPr/>
          </p:nvCxnSpPr>
          <p:spPr bwMode="auto">
            <a:xfrm>
              <a:off x="219075" y="3629025"/>
              <a:ext cx="269877" cy="676276"/>
            </a:xfrm>
            <a:prstGeom prst="line">
              <a:avLst/>
            </a:prstGeom>
            <a:solidFill>
              <a:srgbClr val="808080"/>
            </a:solidFill>
            <a:ln w="12700" cap="sq" cmpd="sng" algn="ctr">
              <a:solidFill>
                <a:schemeClr val="tx1"/>
              </a:solidFill>
              <a:prstDash val="solid"/>
              <a:round/>
              <a:headEnd type="none" w="med" len="med"/>
              <a:tailEnd type="none" w="med" len="med"/>
            </a:ln>
            <a:effectLst/>
          </p:spPr>
        </p:cxnSp>
        <p:grpSp>
          <p:nvGrpSpPr>
            <p:cNvPr id="31" name="Group 30">
              <a:extLst>
                <a:ext uri="{FF2B5EF4-FFF2-40B4-BE49-F238E27FC236}">
                  <a16:creationId xmlns:a16="http://schemas.microsoft.com/office/drawing/2014/main" id="{1CB72483-AB06-5819-0925-A5DC0130F35F}"/>
                </a:ext>
              </a:extLst>
            </p:cNvPr>
            <p:cNvGrpSpPr>
              <a:grpSpLocks/>
            </p:cNvGrpSpPr>
            <p:nvPr/>
          </p:nvGrpSpPr>
          <p:grpSpPr bwMode="auto">
            <a:xfrm>
              <a:off x="488952" y="4305301"/>
              <a:ext cx="8291513" cy="1406525"/>
              <a:chOff x="1350" y="2060"/>
              <a:chExt cx="3035" cy="208"/>
            </a:xfrm>
          </p:grpSpPr>
          <p:sp>
            <p:nvSpPr>
              <p:cNvPr id="32" name="AutoShape 22">
                <a:extLst>
                  <a:ext uri="{FF2B5EF4-FFF2-40B4-BE49-F238E27FC236}">
                    <a16:creationId xmlns:a16="http://schemas.microsoft.com/office/drawing/2014/main" id="{86A5C65A-5EDB-8B25-5809-94CC45302886}"/>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lgn="ctr">
                <a:solidFill>
                  <a:schemeClr val="tx1"/>
                </a:solidFill>
                <a:miter lim="800000"/>
                <a:headEnd/>
                <a:tailEnd/>
              </a:ln>
            </p:spPr>
            <p:txBody>
              <a:bodyPr lIns="180000" rIns="0" anchor="ctr"/>
              <a:lstStyle/>
              <a:p>
                <a:pPr algn="ctr">
                  <a:spcBef>
                    <a:spcPct val="0"/>
                  </a:spcBef>
                </a:pPr>
                <a:r>
                  <a:rPr lang="en-US" sz="1600" b="1" dirty="0">
                    <a:solidFill>
                      <a:schemeClr val="bg1"/>
                    </a:solidFill>
                  </a:rPr>
                  <a:t>Activity Action Plan</a:t>
                </a:r>
              </a:p>
            </p:txBody>
          </p:sp>
          <p:sp>
            <p:nvSpPr>
              <p:cNvPr id="33" name="AutoShape 23">
                <a:extLst>
                  <a:ext uri="{FF2B5EF4-FFF2-40B4-BE49-F238E27FC236}">
                    <a16:creationId xmlns:a16="http://schemas.microsoft.com/office/drawing/2014/main" id="{33737CB9-87D9-8365-F199-445722ECDD01}"/>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lgn="ctr">
                <a:solidFill>
                  <a:schemeClr val="tx1"/>
                </a:solidFill>
                <a:miter lim="800000"/>
                <a:headEnd/>
                <a:tailEnd/>
              </a:ln>
            </p:spPr>
            <p:txBody>
              <a:bodyPr lIns="180000" rIns="0" anchor="ctr"/>
              <a:lstStyle/>
              <a:p>
                <a:pPr algn="ctr">
                  <a:spcBef>
                    <a:spcPct val="0"/>
                  </a:spcBef>
                </a:pPr>
                <a:r>
                  <a:rPr lang="en-US" sz="1600" b="1" dirty="0">
                    <a:solidFill>
                      <a:schemeClr val="bg1"/>
                    </a:solidFill>
                  </a:rPr>
                  <a:t>Evaluation of Alternatives</a:t>
                </a:r>
              </a:p>
            </p:txBody>
          </p:sp>
          <p:sp>
            <p:nvSpPr>
              <p:cNvPr id="34" name="AutoShape 24">
                <a:extLst>
                  <a:ext uri="{FF2B5EF4-FFF2-40B4-BE49-F238E27FC236}">
                    <a16:creationId xmlns:a16="http://schemas.microsoft.com/office/drawing/2014/main" id="{0FD83C84-E8F3-8C97-B173-1D48ADC2D6C3}"/>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lgn="ctr">
                <a:solidFill>
                  <a:schemeClr val="tx1"/>
                </a:solidFill>
                <a:miter lim="800000"/>
                <a:headEnd/>
                <a:tailEnd/>
              </a:ln>
            </p:spPr>
            <p:txBody>
              <a:bodyPr lIns="180000" rIns="0" anchor="ctr"/>
              <a:lstStyle/>
              <a:p>
                <a:pPr algn="ctr">
                  <a:spcBef>
                    <a:spcPct val="0"/>
                  </a:spcBef>
                </a:pPr>
                <a:r>
                  <a:rPr lang="en-US" sz="1600" b="1" dirty="0">
                    <a:solidFill>
                      <a:schemeClr val="bg1"/>
                    </a:solidFill>
                  </a:rPr>
                  <a:t>Generation of Alternatives</a:t>
                </a:r>
              </a:p>
            </p:txBody>
          </p:sp>
          <p:sp>
            <p:nvSpPr>
              <p:cNvPr id="35" name="AutoShape 25">
                <a:extLst>
                  <a:ext uri="{FF2B5EF4-FFF2-40B4-BE49-F238E27FC236}">
                    <a16:creationId xmlns:a16="http://schemas.microsoft.com/office/drawing/2014/main" id="{268139E7-D703-57E9-7501-FD786DE86958}"/>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lgn="ctr">
                <a:solidFill>
                  <a:schemeClr val="tx1"/>
                </a:solidFill>
                <a:miter lim="800000"/>
                <a:headEnd/>
                <a:tailEnd/>
              </a:ln>
            </p:spPr>
            <p:txBody>
              <a:bodyPr lIns="144000" rIns="0" anchor="ctr"/>
              <a:lstStyle/>
              <a:p>
                <a:pPr algn="ctr">
                  <a:spcBef>
                    <a:spcPct val="0"/>
                  </a:spcBef>
                </a:pPr>
                <a:r>
                  <a:rPr lang="en-US" sz="1600" b="1" dirty="0">
                    <a:solidFill>
                      <a:schemeClr val="bg1"/>
                    </a:solidFill>
                  </a:rPr>
                  <a:t>Analysis of Current State</a:t>
                </a:r>
              </a:p>
            </p:txBody>
          </p:sp>
          <p:sp>
            <p:nvSpPr>
              <p:cNvPr id="36" name="AutoShape 26">
                <a:extLst>
                  <a:ext uri="{FF2B5EF4-FFF2-40B4-BE49-F238E27FC236}">
                    <a16:creationId xmlns:a16="http://schemas.microsoft.com/office/drawing/2014/main" id="{C9083475-7D9C-8F4D-2A26-D36F03F0ED27}"/>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lgn="ctr">
                <a:solidFill>
                  <a:schemeClr val="tx1"/>
                </a:solidFill>
                <a:miter lim="800000"/>
                <a:headEnd/>
                <a:tailEnd/>
              </a:ln>
            </p:spPr>
            <p:txBody>
              <a:bodyPr anchor="ctr"/>
              <a:lstStyle/>
              <a:p>
                <a:pPr algn="ctr">
                  <a:spcBef>
                    <a:spcPct val="0"/>
                  </a:spcBef>
                </a:pPr>
                <a:r>
                  <a:rPr lang="en-US" sz="1600" b="1" dirty="0">
                    <a:solidFill>
                      <a:schemeClr val="bg1"/>
                    </a:solidFill>
                  </a:rPr>
                  <a:t>Confirm Charter and Review Information</a:t>
                </a:r>
              </a:p>
            </p:txBody>
          </p:sp>
        </p:grpSp>
      </p:grpSp>
    </p:spTree>
    <p:extLst>
      <p:ext uri="{BB962C8B-B14F-4D97-AF65-F5344CB8AC3E}">
        <p14:creationId xmlns:p14="http://schemas.microsoft.com/office/powerpoint/2010/main" val="119138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VA/VE Kaizen Event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Kaizen event preparation</a:t>
            </a:r>
          </a:p>
          <a:p>
            <a:r>
              <a:rPr lang="en-US" dirty="0"/>
              <a:t>Content Detail</a:t>
            </a:r>
          </a:p>
          <a:p>
            <a:r>
              <a:rPr lang="en-US" dirty="0"/>
              <a:t>Function Detail</a:t>
            </a:r>
          </a:p>
          <a:p>
            <a:r>
              <a:rPr lang="en-US" dirty="0"/>
              <a:t>Confirm project charter</a:t>
            </a:r>
          </a:p>
          <a:p>
            <a:r>
              <a:rPr lang="en-US" dirty="0"/>
              <a:t>Stakeholder management assessment</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Evaluation of Alternatives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Charter &amp; Information</a:t>
                </a:r>
              </a:p>
            </p:txBody>
          </p:sp>
        </p:grpSp>
      </p:grpSp>
    </p:spTree>
    <p:extLst>
      <p:ext uri="{BB962C8B-B14F-4D97-AF65-F5344CB8AC3E}">
        <p14:creationId xmlns:p14="http://schemas.microsoft.com/office/powerpoint/2010/main" val="493905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Identify product/component/system or service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Selection must be made by business need</a:t>
            </a:r>
          </a:p>
          <a:p>
            <a:pPr lvl="1"/>
            <a:r>
              <a:rPr lang="en-US" dirty="0"/>
              <a:t>Safety</a:t>
            </a:r>
          </a:p>
          <a:p>
            <a:pPr lvl="1"/>
            <a:r>
              <a:rPr lang="en-US" dirty="0"/>
              <a:t>Quality</a:t>
            </a:r>
          </a:p>
          <a:p>
            <a:pPr lvl="1"/>
            <a:r>
              <a:rPr lang="en-US" dirty="0"/>
              <a:t>Delivery</a:t>
            </a:r>
          </a:p>
          <a:p>
            <a:pPr lvl="1"/>
            <a:r>
              <a:rPr lang="en-US" dirty="0"/>
              <a:t>Cost</a:t>
            </a:r>
          </a:p>
          <a:p>
            <a:pPr lvl="1"/>
            <a:r>
              <a:rPr lang="en-US" dirty="0"/>
              <a:t>Growth</a:t>
            </a:r>
          </a:p>
          <a:p>
            <a:endParaRPr lang="en-US" dirty="0"/>
          </a:p>
          <a:p>
            <a:r>
              <a:rPr lang="en-US" dirty="0"/>
              <a:t>Selection Hierarchy</a:t>
            </a:r>
          </a:p>
          <a:p>
            <a:pPr lvl="1"/>
            <a:r>
              <a:rPr lang="en-US" dirty="0"/>
              <a:t>Strategy Deployment</a:t>
            </a:r>
          </a:p>
          <a:p>
            <a:pPr lvl="1"/>
            <a:r>
              <a:rPr lang="en-US" dirty="0"/>
              <a:t>Strategic Value Matrix</a:t>
            </a:r>
          </a:p>
          <a:p>
            <a:pPr lvl="1"/>
            <a:r>
              <a:rPr lang="en-US" dirty="0"/>
              <a:t>VOC</a:t>
            </a:r>
          </a:p>
          <a:p>
            <a:pPr lvl="1"/>
            <a:r>
              <a:rPr lang="en-US" dirty="0"/>
              <a:t>Market Need</a:t>
            </a:r>
          </a:p>
          <a:p>
            <a:pPr lvl="1"/>
            <a:r>
              <a:rPr lang="en-US" dirty="0"/>
              <a:t>‘Inspired’ Business Need</a:t>
            </a:r>
          </a:p>
          <a:p>
            <a:pPr lvl="1"/>
            <a:r>
              <a:rPr lang="en-US" dirty="0" err="1"/>
              <a:t>etc</a:t>
            </a:r>
            <a:r>
              <a:rPr lang="en-US" dirty="0"/>
              <a: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4" name="Group 3">
            <a:extLst>
              <a:ext uri="{FF2B5EF4-FFF2-40B4-BE49-F238E27FC236}">
                <a16:creationId xmlns:a16="http://schemas.microsoft.com/office/drawing/2014/main" id="{1351DFD3-051D-003D-1A6D-D8CF1065ED59}"/>
              </a:ext>
            </a:extLst>
          </p:cNvPr>
          <p:cNvGrpSpPr/>
          <p:nvPr/>
        </p:nvGrpSpPr>
        <p:grpSpPr>
          <a:xfrm>
            <a:off x="838200" y="297639"/>
            <a:ext cx="3848100" cy="307138"/>
            <a:chOff x="838200" y="297639"/>
            <a:chExt cx="3848100" cy="307138"/>
          </a:xfrm>
        </p:grpSpPr>
        <p:grpSp>
          <p:nvGrpSpPr>
            <p:cNvPr id="6" name="Group 5">
              <a:extLst>
                <a:ext uri="{FF2B5EF4-FFF2-40B4-BE49-F238E27FC236}">
                  <a16:creationId xmlns:a16="http://schemas.microsoft.com/office/drawing/2014/main" id="{4DD01361-A92D-9144-F4E2-0F04B2A9FD98}"/>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7782E577-6807-FE51-221F-25392DDC290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37F2548A-66A9-AB70-9F60-7A905233543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14E2DF77-7331-E26C-E9E1-F2ED6527A5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5508CCA7-C623-EB13-849A-859885B3E23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D020472-DB97-FFFA-924A-363AF290442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25C39D27-5EC4-85AC-50EB-41791C48100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34107D92-EDBA-B136-DFDE-3B02689726C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sp>
        <p:nvSpPr>
          <p:cNvPr id="14" name="Right Brace 13">
            <a:extLst>
              <a:ext uri="{FF2B5EF4-FFF2-40B4-BE49-F238E27FC236}">
                <a16:creationId xmlns:a16="http://schemas.microsoft.com/office/drawing/2014/main" id="{43B00912-66F2-7E99-8B69-9C08AF4545DC}"/>
              </a:ext>
            </a:extLst>
          </p:cNvPr>
          <p:cNvSpPr/>
          <p:nvPr/>
        </p:nvSpPr>
        <p:spPr bwMode="auto">
          <a:xfrm>
            <a:off x="2800350" y="2143787"/>
            <a:ext cx="304800" cy="1066800"/>
          </a:xfrm>
          <a:prstGeom prst="rightBrace">
            <a:avLst/>
          </a:prstGeom>
          <a:noFill/>
          <a:ln w="28575" cap="sq" cmpd="sng" algn="ctr">
            <a:solidFill>
              <a:schemeClr val="tx1"/>
            </a:solidFill>
            <a:prstDash val="solid"/>
            <a:round/>
            <a:headEnd type="none" w="med" len="med"/>
            <a:tailEnd type="none" w="med" len="med"/>
          </a:ln>
          <a:effectLst/>
        </p:spPr>
        <p:txBody>
          <a:bodyPr/>
          <a:lstStyle/>
          <a:p>
            <a:endParaRPr lang="en-US" dirty="0"/>
          </a:p>
        </p:txBody>
      </p:sp>
      <p:sp>
        <p:nvSpPr>
          <p:cNvPr id="15" name="TextBox 14">
            <a:extLst>
              <a:ext uri="{FF2B5EF4-FFF2-40B4-BE49-F238E27FC236}">
                <a16:creationId xmlns:a16="http://schemas.microsoft.com/office/drawing/2014/main" id="{6F3A4F5B-FD67-F23D-2C73-207A821BC2CC}"/>
              </a:ext>
            </a:extLst>
          </p:cNvPr>
          <p:cNvSpPr txBox="1"/>
          <p:nvPr/>
        </p:nvSpPr>
        <p:spPr>
          <a:xfrm>
            <a:off x="3215640" y="2437121"/>
            <a:ext cx="4373511" cy="480131"/>
          </a:xfrm>
          <a:prstGeom prst="rect">
            <a:avLst/>
          </a:prstGeom>
          <a:noFill/>
        </p:spPr>
        <p:txBody>
          <a:bodyPr wrap="square" rtlCol="0">
            <a:spAutoFit/>
          </a:bodyPr>
          <a:lstStyle/>
          <a:p>
            <a:pPr algn="l"/>
            <a:r>
              <a:rPr lang="en-US" sz="1400" dirty="0">
                <a:solidFill>
                  <a:srgbClr val="000000"/>
                </a:solidFill>
              </a:rPr>
              <a:t>Typically VA – Existing Products</a:t>
            </a:r>
          </a:p>
          <a:p>
            <a:pPr algn="l"/>
            <a:r>
              <a:rPr lang="en-US" sz="1400" dirty="0">
                <a:solidFill>
                  <a:srgbClr val="000000"/>
                </a:solidFill>
              </a:rPr>
              <a:t>May be a combination of factors driving need</a:t>
            </a:r>
          </a:p>
        </p:txBody>
      </p:sp>
      <p:sp>
        <p:nvSpPr>
          <p:cNvPr id="16" name="TextBox 15">
            <a:extLst>
              <a:ext uri="{FF2B5EF4-FFF2-40B4-BE49-F238E27FC236}">
                <a16:creationId xmlns:a16="http://schemas.microsoft.com/office/drawing/2014/main" id="{252EC8E4-ACA4-5018-63D6-B470D4BF74B0}"/>
              </a:ext>
            </a:extLst>
          </p:cNvPr>
          <p:cNvSpPr txBox="1"/>
          <p:nvPr/>
        </p:nvSpPr>
        <p:spPr>
          <a:xfrm>
            <a:off x="3467100" y="3210587"/>
            <a:ext cx="3236398" cy="264688"/>
          </a:xfrm>
          <a:prstGeom prst="rect">
            <a:avLst/>
          </a:prstGeom>
          <a:noFill/>
        </p:spPr>
        <p:txBody>
          <a:bodyPr wrap="square" rtlCol="0">
            <a:spAutoFit/>
          </a:bodyPr>
          <a:lstStyle/>
          <a:p>
            <a:pPr algn="l"/>
            <a:r>
              <a:rPr lang="en-US" sz="1400" dirty="0">
                <a:solidFill>
                  <a:schemeClr val="tx1"/>
                </a:solidFill>
              </a:rPr>
              <a:t>Typically VE – New Products</a:t>
            </a:r>
          </a:p>
        </p:txBody>
      </p:sp>
      <p:sp>
        <p:nvSpPr>
          <p:cNvPr id="17" name="Left Arrow 5">
            <a:extLst>
              <a:ext uri="{FF2B5EF4-FFF2-40B4-BE49-F238E27FC236}">
                <a16:creationId xmlns:a16="http://schemas.microsoft.com/office/drawing/2014/main" id="{9FB4F8C9-B2FB-6C50-9D5B-5786938CE4EC}"/>
              </a:ext>
            </a:extLst>
          </p:cNvPr>
          <p:cNvSpPr/>
          <p:nvPr/>
        </p:nvSpPr>
        <p:spPr bwMode="auto">
          <a:xfrm>
            <a:off x="2800350" y="3250193"/>
            <a:ext cx="609600" cy="228600"/>
          </a:xfrm>
          <a:prstGeom prst="leftArrow">
            <a:avLst/>
          </a:prstGeom>
          <a:solidFill>
            <a:srgbClr val="808080"/>
          </a:solidFill>
          <a:ln w="12700" cap="sq"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endParaRPr kumimoji="0" lang="en-US" sz="900" b="1"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829253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Strategic Value Matrix</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3" name="Group 2">
            <a:extLst>
              <a:ext uri="{FF2B5EF4-FFF2-40B4-BE49-F238E27FC236}">
                <a16:creationId xmlns:a16="http://schemas.microsoft.com/office/drawing/2014/main" id="{FFF82B1C-8B70-69B5-B3B5-3E9BBE1B4B82}"/>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66513607-CFBE-0DF5-35F0-C20C9D884D64}"/>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B1A02E4-0C1D-FF84-89AF-AC7EDE55F05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E034BB5-B935-6EB9-3554-8DD4CB20C3E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CC3AE7CE-7DF0-F76E-B47F-1035F68E9FC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000A977-2E68-8CFF-EF4C-A24DF30141D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9C78B1C-4069-9608-EC01-ACF6E519F7E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3ACFF69D-4DD8-9093-1F82-8C9F55D9F38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90511B00-177E-6AAF-A38E-FF83694AFD2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grpSp>
        <p:nvGrpSpPr>
          <p:cNvPr id="51" name="Group 50">
            <a:extLst>
              <a:ext uri="{FF2B5EF4-FFF2-40B4-BE49-F238E27FC236}">
                <a16:creationId xmlns:a16="http://schemas.microsoft.com/office/drawing/2014/main" id="{713292BF-45A3-633C-4497-226BDC318CA0}"/>
              </a:ext>
            </a:extLst>
          </p:cNvPr>
          <p:cNvGrpSpPr/>
          <p:nvPr/>
        </p:nvGrpSpPr>
        <p:grpSpPr>
          <a:xfrm>
            <a:off x="981606" y="1690688"/>
            <a:ext cx="10219793" cy="4285975"/>
            <a:chOff x="981607" y="1690688"/>
            <a:chExt cx="8221834" cy="4285975"/>
          </a:xfrm>
        </p:grpSpPr>
        <p:cxnSp>
          <p:nvCxnSpPr>
            <p:cNvPr id="13" name="Straight Connector 12">
              <a:extLst>
                <a:ext uri="{FF2B5EF4-FFF2-40B4-BE49-F238E27FC236}">
                  <a16:creationId xmlns:a16="http://schemas.microsoft.com/office/drawing/2014/main" id="{65F1446C-1E9C-0927-0CCA-2B1A5EC9A344}"/>
                </a:ext>
              </a:extLst>
            </p:cNvPr>
            <p:cNvCxnSpPr>
              <a:endCxn id="36" idx="0"/>
            </p:cNvCxnSpPr>
            <p:nvPr/>
          </p:nvCxnSpPr>
          <p:spPr bwMode="auto">
            <a:xfrm>
              <a:off x="2667426" y="3642376"/>
              <a:ext cx="1069391" cy="0"/>
            </a:xfrm>
            <a:prstGeom prst="line">
              <a:avLst/>
            </a:prstGeom>
            <a:solidFill>
              <a:srgbClr val="808080"/>
            </a:solidFill>
            <a:ln w="12700" cap="sq" cmpd="sng" algn="ctr">
              <a:solidFill>
                <a:schemeClr val="tx1"/>
              </a:solidFill>
              <a:prstDash val="solid"/>
              <a:round/>
              <a:headEnd type="none" w="med" len="med"/>
              <a:tailEnd type="none" w="med" len="med"/>
            </a:ln>
            <a:effectLst/>
          </p:spPr>
        </p:cxnSp>
        <p:grpSp>
          <p:nvGrpSpPr>
            <p:cNvPr id="14" name="Group 13">
              <a:extLst>
                <a:ext uri="{FF2B5EF4-FFF2-40B4-BE49-F238E27FC236}">
                  <a16:creationId xmlns:a16="http://schemas.microsoft.com/office/drawing/2014/main" id="{01B4AF1A-72C7-17FE-8759-4BE167E0761E}"/>
                </a:ext>
              </a:extLst>
            </p:cNvPr>
            <p:cNvGrpSpPr/>
            <p:nvPr/>
          </p:nvGrpSpPr>
          <p:grpSpPr>
            <a:xfrm>
              <a:off x="2261161" y="1690688"/>
              <a:ext cx="6340932" cy="4285975"/>
              <a:chOff x="1769671" y="1374243"/>
              <a:chExt cx="6340932" cy="4285975"/>
            </a:xfrm>
          </p:grpSpPr>
          <p:grpSp>
            <p:nvGrpSpPr>
              <p:cNvPr id="15" name="Group 14">
                <a:extLst>
                  <a:ext uri="{FF2B5EF4-FFF2-40B4-BE49-F238E27FC236}">
                    <a16:creationId xmlns:a16="http://schemas.microsoft.com/office/drawing/2014/main" id="{857D689D-B9CD-B33E-3408-F7D0ACABA4CB}"/>
                  </a:ext>
                </a:extLst>
              </p:cNvPr>
              <p:cNvGrpSpPr/>
              <p:nvPr/>
            </p:nvGrpSpPr>
            <p:grpSpPr>
              <a:xfrm>
                <a:off x="2160265" y="4985427"/>
                <a:ext cx="4224571" cy="674791"/>
                <a:chOff x="2160265" y="4985427"/>
                <a:chExt cx="4224571" cy="674791"/>
              </a:xfrm>
            </p:grpSpPr>
            <p:sp>
              <p:nvSpPr>
                <p:cNvPr id="37" name="TextBox 36">
                  <a:extLst>
                    <a:ext uri="{FF2B5EF4-FFF2-40B4-BE49-F238E27FC236}">
                      <a16:creationId xmlns:a16="http://schemas.microsoft.com/office/drawing/2014/main" id="{C344F3B1-5E62-FF4E-899B-0AFE621EA1B2}"/>
                    </a:ext>
                  </a:extLst>
                </p:cNvPr>
                <p:cNvSpPr txBox="1"/>
                <p:nvPr/>
              </p:nvSpPr>
              <p:spPr>
                <a:xfrm rot="5400000">
                  <a:off x="2018803" y="5126889"/>
                  <a:ext cx="461665" cy="178742"/>
                </a:xfrm>
                <a:prstGeom prst="rect">
                  <a:avLst/>
                </a:prstGeom>
                <a:noFill/>
              </p:spPr>
              <p:txBody>
                <a:bodyPr vert="vert270" wrap="none" rtlCol="0">
                  <a:spAutoFit/>
                </a:bodyPr>
                <a:lstStyle/>
                <a:p>
                  <a:r>
                    <a:rPr lang="en-US" sz="1800" dirty="0">
                      <a:solidFill>
                        <a:schemeClr val="tx1"/>
                      </a:solidFill>
                    </a:rPr>
                    <a:t>1</a:t>
                  </a:r>
                </a:p>
              </p:txBody>
            </p:sp>
            <p:sp>
              <p:nvSpPr>
                <p:cNvPr id="38" name="TextBox 37">
                  <a:extLst>
                    <a:ext uri="{FF2B5EF4-FFF2-40B4-BE49-F238E27FC236}">
                      <a16:creationId xmlns:a16="http://schemas.microsoft.com/office/drawing/2014/main" id="{72B07599-E2C6-B96F-474C-68D022F7195B}"/>
                    </a:ext>
                  </a:extLst>
                </p:cNvPr>
                <p:cNvSpPr txBox="1"/>
                <p:nvPr/>
              </p:nvSpPr>
              <p:spPr>
                <a:xfrm rot="5400000">
                  <a:off x="6071417" y="5105973"/>
                  <a:ext cx="406265" cy="220573"/>
                </a:xfrm>
                <a:prstGeom prst="rect">
                  <a:avLst/>
                </a:prstGeom>
                <a:noFill/>
              </p:spPr>
              <p:txBody>
                <a:bodyPr vert="vert270" wrap="none" rtlCol="0">
                  <a:spAutoFit/>
                </a:bodyPr>
                <a:lstStyle/>
                <a:p>
                  <a:r>
                    <a:rPr lang="en-US" sz="1800" dirty="0">
                      <a:solidFill>
                        <a:schemeClr val="tx1"/>
                      </a:solidFill>
                    </a:rPr>
                    <a:t>5</a:t>
                  </a:r>
                </a:p>
              </p:txBody>
            </p:sp>
            <p:sp>
              <p:nvSpPr>
                <p:cNvPr id="39" name="TextBox 38">
                  <a:extLst>
                    <a:ext uri="{FF2B5EF4-FFF2-40B4-BE49-F238E27FC236}">
                      <a16:creationId xmlns:a16="http://schemas.microsoft.com/office/drawing/2014/main" id="{1291277A-7EAE-FD6A-72A2-AE127E890EAC}"/>
                    </a:ext>
                  </a:extLst>
                </p:cNvPr>
                <p:cNvSpPr txBox="1"/>
                <p:nvPr/>
              </p:nvSpPr>
              <p:spPr>
                <a:xfrm rot="5400000">
                  <a:off x="4058392" y="4767425"/>
                  <a:ext cx="461665" cy="1323922"/>
                </a:xfrm>
                <a:prstGeom prst="rect">
                  <a:avLst/>
                </a:prstGeom>
                <a:noFill/>
              </p:spPr>
              <p:txBody>
                <a:bodyPr vert="vert270" wrap="none" rtlCol="0">
                  <a:spAutoFit/>
                </a:bodyPr>
                <a:lstStyle/>
                <a:p>
                  <a:r>
                    <a:rPr lang="en-US" sz="1800" dirty="0">
                      <a:solidFill>
                        <a:schemeClr val="tx1"/>
                      </a:solidFill>
                    </a:rPr>
                    <a:t>Strategic Value</a:t>
                  </a:r>
                </a:p>
              </p:txBody>
            </p:sp>
            <p:cxnSp>
              <p:nvCxnSpPr>
                <p:cNvPr id="40" name="Straight Arrow Connector 39">
                  <a:extLst>
                    <a:ext uri="{FF2B5EF4-FFF2-40B4-BE49-F238E27FC236}">
                      <a16:creationId xmlns:a16="http://schemas.microsoft.com/office/drawing/2014/main" id="{188EAF40-9EED-1421-8ED9-190B0887DB53}"/>
                    </a:ext>
                  </a:extLst>
                </p:cNvPr>
                <p:cNvCxnSpPr/>
                <p:nvPr/>
              </p:nvCxnSpPr>
              <p:spPr bwMode="auto">
                <a:xfrm>
                  <a:off x="2359922" y="5195115"/>
                  <a:ext cx="3804341" cy="0"/>
                </a:xfrm>
                <a:prstGeom prst="straightConnector1">
                  <a:avLst/>
                </a:prstGeom>
                <a:solidFill>
                  <a:srgbClr val="808080"/>
                </a:solidFill>
                <a:ln w="25400" cap="sq" cmpd="sng" algn="ctr">
                  <a:solidFill>
                    <a:schemeClr val="tx1"/>
                  </a:solidFill>
                  <a:prstDash val="solid"/>
                  <a:round/>
                  <a:headEnd type="none" w="med" len="med"/>
                  <a:tailEnd type="triangle"/>
                </a:ln>
                <a:effectLst/>
              </p:spPr>
            </p:cxnSp>
          </p:grpSp>
          <p:grpSp>
            <p:nvGrpSpPr>
              <p:cNvPr id="16" name="Group 15">
                <a:extLst>
                  <a:ext uri="{FF2B5EF4-FFF2-40B4-BE49-F238E27FC236}">
                    <a16:creationId xmlns:a16="http://schemas.microsoft.com/office/drawing/2014/main" id="{63E2E3DB-485F-BD61-2B09-90EF51A6B85A}"/>
                  </a:ext>
                </a:extLst>
              </p:cNvPr>
              <p:cNvGrpSpPr/>
              <p:nvPr/>
            </p:nvGrpSpPr>
            <p:grpSpPr>
              <a:xfrm>
                <a:off x="1769671" y="1374243"/>
                <a:ext cx="6340932" cy="3547924"/>
                <a:chOff x="1769671" y="1374243"/>
                <a:chExt cx="6340932" cy="3547924"/>
              </a:xfrm>
            </p:grpSpPr>
            <p:grpSp>
              <p:nvGrpSpPr>
                <p:cNvPr id="17" name="Group 16">
                  <a:extLst>
                    <a:ext uri="{FF2B5EF4-FFF2-40B4-BE49-F238E27FC236}">
                      <a16:creationId xmlns:a16="http://schemas.microsoft.com/office/drawing/2014/main" id="{1ED7D3C2-D11C-971A-03B5-2CFB4D3FEC2E}"/>
                    </a:ext>
                  </a:extLst>
                </p:cNvPr>
                <p:cNvGrpSpPr/>
                <p:nvPr/>
              </p:nvGrpSpPr>
              <p:grpSpPr>
                <a:xfrm>
                  <a:off x="1769671" y="1374243"/>
                  <a:ext cx="5804521" cy="3547924"/>
                  <a:chOff x="1769671" y="1374243"/>
                  <a:chExt cx="5804521" cy="3547924"/>
                </a:xfrm>
              </p:grpSpPr>
              <p:sp>
                <p:nvSpPr>
                  <p:cNvPr id="19" name="TextBox 18">
                    <a:extLst>
                      <a:ext uri="{FF2B5EF4-FFF2-40B4-BE49-F238E27FC236}">
                        <a16:creationId xmlns:a16="http://schemas.microsoft.com/office/drawing/2014/main" id="{F4D1FF6C-F658-4162-5637-FD0892EB1371}"/>
                      </a:ext>
                    </a:extLst>
                  </p:cNvPr>
                  <p:cNvSpPr txBox="1"/>
                  <p:nvPr/>
                </p:nvSpPr>
                <p:spPr>
                  <a:xfrm>
                    <a:off x="1769671" y="2401461"/>
                    <a:ext cx="371410" cy="1652055"/>
                  </a:xfrm>
                  <a:prstGeom prst="rect">
                    <a:avLst/>
                  </a:prstGeom>
                  <a:noFill/>
                </p:spPr>
                <p:txBody>
                  <a:bodyPr vert="vert270" wrap="none" rtlCol="0">
                    <a:spAutoFit/>
                  </a:bodyPr>
                  <a:lstStyle/>
                  <a:p>
                    <a:r>
                      <a:rPr lang="en-US" sz="1800" dirty="0">
                        <a:solidFill>
                          <a:schemeClr val="tx1"/>
                        </a:solidFill>
                      </a:rPr>
                      <a:t>Profitability (%)</a:t>
                    </a:r>
                  </a:p>
                </p:txBody>
              </p:sp>
              <p:grpSp>
                <p:nvGrpSpPr>
                  <p:cNvPr id="20" name="Group 19">
                    <a:extLst>
                      <a:ext uri="{FF2B5EF4-FFF2-40B4-BE49-F238E27FC236}">
                        <a16:creationId xmlns:a16="http://schemas.microsoft.com/office/drawing/2014/main" id="{89D9585E-31D8-5B74-FC9D-5F0FB5C86C74}"/>
                      </a:ext>
                    </a:extLst>
                  </p:cNvPr>
                  <p:cNvGrpSpPr/>
                  <p:nvPr/>
                </p:nvGrpSpPr>
                <p:grpSpPr>
                  <a:xfrm>
                    <a:off x="2225216" y="1374243"/>
                    <a:ext cx="5348976" cy="3547924"/>
                    <a:chOff x="2225216" y="1374243"/>
                    <a:chExt cx="5348976" cy="3547924"/>
                  </a:xfrm>
                </p:grpSpPr>
                <p:grpSp>
                  <p:nvGrpSpPr>
                    <p:cNvPr id="21" name="Group 20">
                      <a:extLst>
                        <a:ext uri="{FF2B5EF4-FFF2-40B4-BE49-F238E27FC236}">
                          <a16:creationId xmlns:a16="http://schemas.microsoft.com/office/drawing/2014/main" id="{3C83ECA3-7ABD-CEC9-429D-B5AF91F30CA4}"/>
                        </a:ext>
                      </a:extLst>
                    </p:cNvPr>
                    <p:cNvGrpSpPr/>
                    <p:nvPr/>
                  </p:nvGrpSpPr>
                  <p:grpSpPr>
                    <a:xfrm>
                      <a:off x="2225216" y="1374243"/>
                      <a:ext cx="5348976" cy="3547924"/>
                      <a:chOff x="2225216" y="1374243"/>
                      <a:chExt cx="5348976" cy="3547924"/>
                    </a:xfrm>
                  </p:grpSpPr>
                  <p:sp>
                    <p:nvSpPr>
                      <p:cNvPr id="27" name="Rectangle 26">
                        <a:extLst>
                          <a:ext uri="{FF2B5EF4-FFF2-40B4-BE49-F238E27FC236}">
                            <a16:creationId xmlns:a16="http://schemas.microsoft.com/office/drawing/2014/main" id="{68F53A9F-438E-AB35-CFF1-649DBD66E8AF}"/>
                          </a:ext>
                        </a:extLst>
                      </p:cNvPr>
                      <p:cNvSpPr/>
                      <p:nvPr/>
                    </p:nvSpPr>
                    <p:spPr bwMode="auto">
                      <a:xfrm>
                        <a:off x="4265438" y="3325931"/>
                        <a:ext cx="2040222" cy="1596236"/>
                      </a:xfrm>
                      <a:prstGeom prst="rect">
                        <a:avLst/>
                      </a:prstGeom>
                      <a:gradFill flip="none" rotWithShape="1">
                        <a:gsLst>
                          <a:gs pos="0">
                            <a:schemeClr val="accent1"/>
                          </a:gs>
                          <a:gs pos="85000">
                            <a:schemeClr val="bg1"/>
                          </a:gs>
                          <a:gs pos="100000">
                            <a:schemeClr val="bg1">
                              <a:shade val="100000"/>
                              <a:satMod val="115000"/>
                            </a:schemeClr>
                          </a:gs>
                        </a:gsLst>
                        <a:lin ang="0" scaled="1"/>
                        <a:tileRect/>
                      </a:gradFill>
                      <a:ln w="12700" cap="sq"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kumimoji="0" lang="en-US" sz="1400" b="1" i="0" u="none" strike="noStrike" cap="none" normalizeH="0" baseline="0" dirty="0">
                            <a:ln>
                              <a:noFill/>
                            </a:ln>
                            <a:effectLst/>
                          </a:rPr>
                          <a:t>Evaluate</a:t>
                        </a:r>
                      </a:p>
                    </p:txBody>
                  </p:sp>
                  <p:grpSp>
                    <p:nvGrpSpPr>
                      <p:cNvPr id="28" name="Group 27">
                        <a:extLst>
                          <a:ext uri="{FF2B5EF4-FFF2-40B4-BE49-F238E27FC236}">
                            <a16:creationId xmlns:a16="http://schemas.microsoft.com/office/drawing/2014/main" id="{D50C7676-9BBC-D438-75DE-B168201B1E7F}"/>
                          </a:ext>
                        </a:extLst>
                      </p:cNvPr>
                      <p:cNvGrpSpPr/>
                      <p:nvPr/>
                    </p:nvGrpSpPr>
                    <p:grpSpPr>
                      <a:xfrm>
                        <a:off x="2225216" y="1374243"/>
                        <a:ext cx="5348976" cy="3547924"/>
                        <a:chOff x="2225216" y="1374243"/>
                        <a:chExt cx="5348976" cy="3547924"/>
                      </a:xfrm>
                    </p:grpSpPr>
                    <p:grpSp>
                      <p:nvGrpSpPr>
                        <p:cNvPr id="29" name="Group 28">
                          <a:extLst>
                            <a:ext uri="{FF2B5EF4-FFF2-40B4-BE49-F238E27FC236}">
                              <a16:creationId xmlns:a16="http://schemas.microsoft.com/office/drawing/2014/main" id="{21CB3468-04C4-57DB-C40C-2EDA622C0617}"/>
                            </a:ext>
                          </a:extLst>
                        </p:cNvPr>
                        <p:cNvGrpSpPr/>
                        <p:nvPr/>
                      </p:nvGrpSpPr>
                      <p:grpSpPr>
                        <a:xfrm>
                          <a:off x="2225216" y="1729695"/>
                          <a:ext cx="5348976" cy="3192472"/>
                          <a:chOff x="2225216" y="1729695"/>
                          <a:chExt cx="5348976" cy="3192472"/>
                        </a:xfrm>
                      </p:grpSpPr>
                      <p:grpSp>
                        <p:nvGrpSpPr>
                          <p:cNvPr id="32" name="Group 31">
                            <a:extLst>
                              <a:ext uri="{FF2B5EF4-FFF2-40B4-BE49-F238E27FC236}">
                                <a16:creationId xmlns:a16="http://schemas.microsoft.com/office/drawing/2014/main" id="{3CE9F1EE-5A38-ABBD-9C73-8C1369D21E0E}"/>
                              </a:ext>
                            </a:extLst>
                          </p:cNvPr>
                          <p:cNvGrpSpPr/>
                          <p:nvPr/>
                        </p:nvGrpSpPr>
                        <p:grpSpPr>
                          <a:xfrm>
                            <a:off x="2225216" y="1729695"/>
                            <a:ext cx="4080444" cy="3192472"/>
                            <a:chOff x="2225216" y="1729695"/>
                            <a:chExt cx="4080444" cy="3192472"/>
                          </a:xfrm>
                        </p:grpSpPr>
                        <p:sp>
                          <p:nvSpPr>
                            <p:cNvPr id="34" name="Rectangle 33">
                              <a:extLst>
                                <a:ext uri="{FF2B5EF4-FFF2-40B4-BE49-F238E27FC236}">
                                  <a16:creationId xmlns:a16="http://schemas.microsoft.com/office/drawing/2014/main" id="{32CF5B04-055D-BB84-1A02-CACF559C7757}"/>
                                </a:ext>
                              </a:extLst>
                            </p:cNvPr>
                            <p:cNvSpPr/>
                            <p:nvPr/>
                          </p:nvSpPr>
                          <p:spPr bwMode="auto">
                            <a:xfrm>
                              <a:off x="2225216" y="1729695"/>
                              <a:ext cx="2040222" cy="1596236"/>
                            </a:xfrm>
                            <a:prstGeom prst="rect">
                              <a:avLst/>
                            </a:prstGeom>
                            <a:gradFill flip="none" rotWithShape="1">
                              <a:gsLst>
                                <a:gs pos="0">
                                  <a:schemeClr val="accent1"/>
                                </a:gs>
                                <a:gs pos="85000">
                                  <a:schemeClr val="bg1"/>
                                </a:gs>
                                <a:gs pos="100000">
                                  <a:schemeClr val="bg1">
                                    <a:shade val="100000"/>
                                    <a:satMod val="115000"/>
                                  </a:schemeClr>
                                </a:gs>
                              </a:gsLst>
                              <a:lin ang="16200000" scaled="1"/>
                              <a:tileRect/>
                            </a:gradFill>
                            <a:ln w="12700" cap="sq"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rPr>
                                <a:t>Maintain &amp; Monitor</a:t>
                              </a:r>
                            </a:p>
                          </p:txBody>
                        </p:sp>
                        <p:sp>
                          <p:nvSpPr>
                            <p:cNvPr id="35" name="Rectangle 34">
                              <a:extLst>
                                <a:ext uri="{FF2B5EF4-FFF2-40B4-BE49-F238E27FC236}">
                                  <a16:creationId xmlns:a16="http://schemas.microsoft.com/office/drawing/2014/main" id="{737EF835-B2D8-68E6-DD95-DBAE7F4DEA2C}"/>
                                </a:ext>
                              </a:extLst>
                            </p:cNvPr>
                            <p:cNvSpPr/>
                            <p:nvPr/>
                          </p:nvSpPr>
                          <p:spPr bwMode="auto">
                            <a:xfrm>
                              <a:off x="4265438" y="1729695"/>
                              <a:ext cx="2040222" cy="1596236"/>
                            </a:xfrm>
                            <a:prstGeom prst="rect">
                              <a:avLst/>
                            </a:prstGeom>
                            <a:solidFill>
                              <a:schemeClr val="bg1"/>
                            </a:solidFill>
                            <a:ln w="12700" cap="sq"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rPr>
                                <a:t>Maintain &amp; Grow</a:t>
                              </a:r>
                            </a:p>
                          </p:txBody>
                        </p:sp>
                        <p:sp>
                          <p:nvSpPr>
                            <p:cNvPr id="36" name="Rectangle 35">
                              <a:extLst>
                                <a:ext uri="{FF2B5EF4-FFF2-40B4-BE49-F238E27FC236}">
                                  <a16:creationId xmlns:a16="http://schemas.microsoft.com/office/drawing/2014/main" id="{57AF8923-E952-D4C2-C29F-FF9F41261391}"/>
                                </a:ext>
                              </a:extLst>
                            </p:cNvPr>
                            <p:cNvSpPr/>
                            <p:nvPr/>
                          </p:nvSpPr>
                          <p:spPr bwMode="auto">
                            <a:xfrm>
                              <a:off x="2225216" y="3325931"/>
                              <a:ext cx="2040222" cy="1596236"/>
                            </a:xfrm>
                            <a:prstGeom prst="rect">
                              <a:avLst/>
                            </a:prstGeom>
                            <a:solidFill>
                              <a:schemeClr val="accent1"/>
                            </a:solidFill>
                            <a:ln w="12700" cap="sq"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r>
                                <a:rPr lang="en-US" sz="1400" b="1" dirty="0">
                                  <a:solidFill>
                                    <a:schemeClr val="bg1"/>
                                  </a:solidFill>
                                </a:rPr>
                                <a:t>Rationalize/Reposition</a:t>
                              </a:r>
                              <a:endParaRPr kumimoji="0" lang="en-US" sz="1400" b="1" i="0" u="none" strike="noStrike" cap="none" normalizeH="0" baseline="0" dirty="0">
                                <a:ln>
                                  <a:noFill/>
                                </a:ln>
                                <a:solidFill>
                                  <a:schemeClr val="bg1"/>
                                </a:solidFill>
                                <a:effectLst/>
                              </a:endParaRPr>
                            </a:p>
                          </p:txBody>
                        </p:sp>
                      </p:grpSp>
                      <p:cxnSp>
                        <p:nvCxnSpPr>
                          <p:cNvPr id="33" name="Straight Connector 32">
                            <a:extLst>
                              <a:ext uri="{FF2B5EF4-FFF2-40B4-BE49-F238E27FC236}">
                                <a16:creationId xmlns:a16="http://schemas.microsoft.com/office/drawing/2014/main" id="{F4EB2990-7A3C-B1FE-7BE0-3D9D5436EC9B}"/>
                              </a:ext>
                            </a:extLst>
                          </p:cNvPr>
                          <p:cNvCxnSpPr/>
                          <p:nvPr/>
                        </p:nvCxnSpPr>
                        <p:spPr bwMode="auto">
                          <a:xfrm>
                            <a:off x="2249635" y="3320645"/>
                            <a:ext cx="5324557" cy="5286"/>
                          </a:xfrm>
                          <a:prstGeom prst="line">
                            <a:avLst/>
                          </a:prstGeom>
                          <a:solidFill>
                            <a:srgbClr val="808080"/>
                          </a:solidFill>
                          <a:ln w="25400" cap="sq" cmpd="sng" algn="ctr">
                            <a:solidFill>
                              <a:schemeClr val="tx1"/>
                            </a:solidFill>
                            <a:prstDash val="solid"/>
                            <a:round/>
                            <a:headEnd type="none" w="med" len="med"/>
                            <a:tailEnd type="none" w="med" len="med"/>
                          </a:ln>
                          <a:effectLst/>
                        </p:spPr>
                      </p:cxnSp>
                    </p:grpSp>
                    <p:cxnSp>
                      <p:nvCxnSpPr>
                        <p:cNvPr id="30" name="Straight Arrow Connector 29">
                          <a:extLst>
                            <a:ext uri="{FF2B5EF4-FFF2-40B4-BE49-F238E27FC236}">
                              <a16:creationId xmlns:a16="http://schemas.microsoft.com/office/drawing/2014/main" id="{69E85134-3FF0-01B9-C992-24BDD7EF09D4}"/>
                            </a:ext>
                          </a:extLst>
                        </p:cNvPr>
                        <p:cNvCxnSpPr/>
                        <p:nvPr/>
                      </p:nvCxnSpPr>
                      <p:spPr bwMode="auto">
                        <a:xfrm flipV="1">
                          <a:off x="2225216" y="1374243"/>
                          <a:ext cx="0" cy="3547924"/>
                        </a:xfrm>
                        <a:prstGeom prst="straightConnector1">
                          <a:avLst/>
                        </a:prstGeom>
                        <a:solidFill>
                          <a:srgbClr val="808080"/>
                        </a:solidFill>
                        <a:ln w="25400" cap="sq"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CB64E1E-9DFD-74FC-AD36-0E301D2B99FC}"/>
                            </a:ext>
                          </a:extLst>
                        </p:cNvPr>
                        <p:cNvCxnSpPr/>
                        <p:nvPr/>
                      </p:nvCxnSpPr>
                      <p:spPr bwMode="auto">
                        <a:xfrm>
                          <a:off x="2225216" y="4922167"/>
                          <a:ext cx="4424005" cy="0"/>
                        </a:xfrm>
                        <a:prstGeom prst="straightConnector1">
                          <a:avLst/>
                        </a:prstGeom>
                        <a:solidFill>
                          <a:srgbClr val="808080"/>
                        </a:solidFill>
                        <a:ln w="25400" cap="sq" cmpd="sng" algn="ctr">
                          <a:solidFill>
                            <a:schemeClr val="tx1"/>
                          </a:solidFill>
                          <a:prstDash val="solid"/>
                          <a:round/>
                          <a:headEnd type="none" w="med" len="med"/>
                          <a:tailEnd type="triangle"/>
                        </a:ln>
                        <a:effectLst/>
                      </p:spPr>
                    </p:cxnSp>
                  </p:grpSp>
                </p:grpSp>
                <p:sp>
                  <p:nvSpPr>
                    <p:cNvPr id="22" name="Oval 21">
                      <a:extLst>
                        <a:ext uri="{FF2B5EF4-FFF2-40B4-BE49-F238E27FC236}">
                          <a16:creationId xmlns:a16="http://schemas.microsoft.com/office/drawing/2014/main" id="{31DABC47-A1BD-B954-B2C4-66C9F04675B6}"/>
                        </a:ext>
                      </a:extLst>
                    </p:cNvPr>
                    <p:cNvSpPr/>
                    <p:nvPr/>
                  </p:nvSpPr>
                  <p:spPr bwMode="auto">
                    <a:xfrm>
                      <a:off x="2419350" y="2928194"/>
                      <a:ext cx="1650523" cy="348846"/>
                    </a:xfrm>
                    <a:prstGeom prst="ellipse">
                      <a:avLst/>
                    </a:prstGeom>
                    <a:noFill/>
                    <a:ln w="25400" cap="sq" cmpd="sng" algn="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0"/>
                      </a:gradFill>
                      <a:prstDash val="sys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endParaRPr kumimoji="0" lang="en-US" sz="900" b="1" i="0" u="none" strike="noStrike" cap="none" normalizeH="0" baseline="0" dirty="0">
                        <a:ln>
                          <a:noFill/>
                        </a:ln>
                        <a:solidFill>
                          <a:schemeClr val="bg1"/>
                        </a:solidFill>
                        <a:effectLst/>
                        <a:latin typeface="Arial" charset="0"/>
                      </a:endParaRPr>
                    </a:p>
                  </p:txBody>
                </p:sp>
                <p:sp>
                  <p:nvSpPr>
                    <p:cNvPr id="23" name="Oval 22">
                      <a:extLst>
                        <a:ext uri="{FF2B5EF4-FFF2-40B4-BE49-F238E27FC236}">
                          <a16:creationId xmlns:a16="http://schemas.microsoft.com/office/drawing/2014/main" id="{C1DD993C-AF99-75F8-7053-85FAD90227AB}"/>
                        </a:ext>
                      </a:extLst>
                    </p:cNvPr>
                    <p:cNvSpPr/>
                    <p:nvPr/>
                  </p:nvSpPr>
                  <p:spPr bwMode="auto">
                    <a:xfrm rot="5400000">
                      <a:off x="3738760" y="3937179"/>
                      <a:ext cx="1449776" cy="348846"/>
                    </a:xfrm>
                    <a:prstGeom prst="ellipse">
                      <a:avLst/>
                    </a:prstGeom>
                    <a:noFill/>
                    <a:ln w="25400" cap="sq" cmpd="sng" algn="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0"/>
                      </a:gradFill>
                      <a:prstDash val="sys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20000"/>
                        </a:spcBef>
                        <a:spcAft>
                          <a:spcPct val="0"/>
                        </a:spcAft>
                        <a:buClrTx/>
                        <a:buSzTx/>
                        <a:buFontTx/>
                        <a:buNone/>
                        <a:tabLst/>
                      </a:pPr>
                      <a:endParaRPr kumimoji="0" lang="en-US" sz="900" b="1" i="0" u="none" strike="noStrike" cap="none" normalizeH="0" baseline="0" dirty="0">
                        <a:ln>
                          <a:noFill/>
                        </a:ln>
                        <a:solidFill>
                          <a:schemeClr val="bg1"/>
                        </a:solidFill>
                        <a:effectLst/>
                        <a:latin typeface="Arial" charset="0"/>
                      </a:endParaRPr>
                    </a:p>
                  </p:txBody>
                </p:sp>
                <p:sp>
                  <p:nvSpPr>
                    <p:cNvPr id="24" name="TextBox 23">
                      <a:extLst>
                        <a:ext uri="{FF2B5EF4-FFF2-40B4-BE49-F238E27FC236}">
                          <a16:creationId xmlns:a16="http://schemas.microsoft.com/office/drawing/2014/main" id="{96586AAF-10F7-C49D-169B-8EEB606B77FE}"/>
                        </a:ext>
                      </a:extLst>
                    </p:cNvPr>
                    <p:cNvSpPr txBox="1"/>
                    <p:nvPr/>
                  </p:nvSpPr>
                  <p:spPr>
                    <a:xfrm>
                      <a:off x="4452102" y="2825618"/>
                      <a:ext cx="995785" cy="221599"/>
                    </a:xfrm>
                    <a:prstGeom prst="rect">
                      <a:avLst/>
                    </a:prstGeom>
                    <a:noFill/>
                  </p:spPr>
                  <p:txBody>
                    <a:bodyPr wrap="none" rtlCol="0">
                      <a:spAutoFit/>
                    </a:bodyPr>
                    <a:lstStyle/>
                    <a:p>
                      <a:r>
                        <a:rPr lang="en-US" sz="1050" i="1" dirty="0">
                          <a:solidFill>
                            <a:schemeClr val="tx1"/>
                          </a:solidFill>
                        </a:rPr>
                        <a:t>“Watch List”</a:t>
                      </a:r>
                    </a:p>
                  </p:txBody>
                </p:sp>
                <p:cxnSp>
                  <p:nvCxnSpPr>
                    <p:cNvPr id="25" name="Straight Arrow Connector 24">
                      <a:extLst>
                        <a:ext uri="{FF2B5EF4-FFF2-40B4-BE49-F238E27FC236}">
                          <a16:creationId xmlns:a16="http://schemas.microsoft.com/office/drawing/2014/main" id="{89C3126F-4660-5270-E45D-A42581F37AB1}"/>
                        </a:ext>
                      </a:extLst>
                    </p:cNvPr>
                    <p:cNvCxnSpPr/>
                    <p:nvPr/>
                  </p:nvCxnSpPr>
                  <p:spPr bwMode="auto">
                    <a:xfrm flipH="1">
                      <a:off x="3721027" y="2991817"/>
                      <a:ext cx="850974" cy="110800"/>
                    </a:xfrm>
                    <a:prstGeom prst="straightConnector1">
                      <a:avLst/>
                    </a:prstGeom>
                    <a:solidFill>
                      <a:srgbClr val="808080"/>
                    </a:solidFill>
                    <a:ln w="12700" cap="sq" cmpd="sng" algn="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round/>
                      <a:headEnd type="none" w="med" len="med"/>
                      <a:tailEnd type="arrow"/>
                    </a:ln>
                    <a:effectLst/>
                  </p:spPr>
                </p:cxnSp>
                <p:cxnSp>
                  <p:nvCxnSpPr>
                    <p:cNvPr id="26" name="Straight Arrow Connector 25">
                      <a:extLst>
                        <a:ext uri="{FF2B5EF4-FFF2-40B4-BE49-F238E27FC236}">
                          <a16:creationId xmlns:a16="http://schemas.microsoft.com/office/drawing/2014/main" id="{0B5151D0-F82D-C04F-3F15-A0C523E9F122}"/>
                        </a:ext>
                      </a:extLst>
                    </p:cNvPr>
                    <p:cNvCxnSpPr/>
                    <p:nvPr/>
                  </p:nvCxnSpPr>
                  <p:spPr bwMode="auto">
                    <a:xfrm flipH="1">
                      <a:off x="4453705" y="3000968"/>
                      <a:ext cx="108352" cy="649925"/>
                    </a:xfrm>
                    <a:prstGeom prst="straightConnector1">
                      <a:avLst/>
                    </a:prstGeom>
                    <a:solidFill>
                      <a:srgbClr val="808080"/>
                    </a:solidFill>
                    <a:ln w="12700" cap="sq" cmpd="sng" algn="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round/>
                      <a:headEnd type="none" w="med" len="med"/>
                      <a:tailEnd type="arrow"/>
                    </a:ln>
                    <a:effectLst/>
                  </p:spPr>
                </p:cxnSp>
              </p:grpSp>
            </p:grpSp>
            <p:sp>
              <p:nvSpPr>
                <p:cNvPr id="18" name="TextBox 17">
                  <a:extLst>
                    <a:ext uri="{FF2B5EF4-FFF2-40B4-BE49-F238E27FC236}">
                      <a16:creationId xmlns:a16="http://schemas.microsoft.com/office/drawing/2014/main" id="{9B828BC1-A0AA-8966-3D05-EC6E8AEA4890}"/>
                    </a:ext>
                  </a:extLst>
                </p:cNvPr>
                <p:cNvSpPr txBox="1"/>
                <p:nvPr/>
              </p:nvSpPr>
              <p:spPr>
                <a:xfrm>
                  <a:off x="6384837" y="3040610"/>
                  <a:ext cx="1725766" cy="307777"/>
                </a:xfrm>
                <a:prstGeom prst="rect">
                  <a:avLst/>
                </a:prstGeom>
                <a:noFill/>
              </p:spPr>
              <p:txBody>
                <a:bodyPr wrap="none" rtlCol="0">
                  <a:spAutoFit/>
                </a:bodyPr>
                <a:lstStyle/>
                <a:p>
                  <a:r>
                    <a:rPr lang="en-US" sz="1400" b="1" i="1" dirty="0">
                      <a:solidFill>
                        <a:schemeClr val="tx1"/>
                      </a:solidFill>
                    </a:rPr>
                    <a:t>Corporate Margin Target</a:t>
                  </a:r>
                </a:p>
              </p:txBody>
            </p:sp>
          </p:grpSp>
        </p:grpSp>
        <p:cxnSp>
          <p:nvCxnSpPr>
            <p:cNvPr id="41" name="Straight Connector 40">
              <a:extLst>
                <a:ext uri="{FF2B5EF4-FFF2-40B4-BE49-F238E27FC236}">
                  <a16:creationId xmlns:a16="http://schemas.microsoft.com/office/drawing/2014/main" id="{09954156-2443-ED9C-BF5F-2C2E9CFCC4A9}"/>
                </a:ext>
              </a:extLst>
            </p:cNvPr>
            <p:cNvCxnSpPr/>
            <p:nvPr/>
          </p:nvCxnSpPr>
          <p:spPr bwMode="auto">
            <a:xfrm>
              <a:off x="2741125" y="3967338"/>
              <a:ext cx="4056025" cy="0"/>
            </a:xfrm>
            <a:prstGeom prst="line">
              <a:avLst/>
            </a:prstGeom>
            <a:solidFill>
              <a:srgbClr val="808080"/>
            </a:solidFill>
            <a:ln w="15875" cap="sq" cmpd="sng" algn="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ysDash"/>
              <a:round/>
              <a:headEnd type="none" w="med" len="med"/>
              <a:tailEnd type="none" w="med" len="med"/>
            </a:ln>
            <a:effectLst/>
          </p:spPr>
        </p:cxnSp>
        <p:sp>
          <p:nvSpPr>
            <p:cNvPr id="42" name="TextBox 41">
              <a:extLst>
                <a:ext uri="{FF2B5EF4-FFF2-40B4-BE49-F238E27FC236}">
                  <a16:creationId xmlns:a16="http://schemas.microsoft.com/office/drawing/2014/main" id="{0FB92C49-E72E-2DDB-E052-BFF17B5F6B7E}"/>
                </a:ext>
              </a:extLst>
            </p:cNvPr>
            <p:cNvSpPr txBox="1"/>
            <p:nvPr/>
          </p:nvSpPr>
          <p:spPr>
            <a:xfrm>
              <a:off x="2686987" y="3783545"/>
              <a:ext cx="289133" cy="253916"/>
            </a:xfrm>
            <a:prstGeom prst="rect">
              <a:avLst/>
            </a:prstGeom>
            <a:noFill/>
          </p:spPr>
          <p:txBody>
            <a:bodyPr wrap="none" rtlCol="0">
              <a:spAutoFit/>
            </a:bodyPr>
            <a:lstStyle/>
            <a:p>
              <a:r>
                <a:rPr lang="en-US" sz="1050" dirty="0">
                  <a:solidFill>
                    <a:schemeClr val="bg1"/>
                  </a:solidFill>
                </a:rPr>
                <a:t>0%</a:t>
              </a:r>
            </a:p>
          </p:txBody>
        </p:sp>
        <p:sp>
          <p:nvSpPr>
            <p:cNvPr id="43" name="TextBox 42">
              <a:extLst>
                <a:ext uri="{FF2B5EF4-FFF2-40B4-BE49-F238E27FC236}">
                  <a16:creationId xmlns:a16="http://schemas.microsoft.com/office/drawing/2014/main" id="{3DDAF0C5-8AF7-2CE7-D82B-23A8F03C0913}"/>
                </a:ext>
              </a:extLst>
            </p:cNvPr>
            <p:cNvSpPr txBox="1"/>
            <p:nvPr/>
          </p:nvSpPr>
          <p:spPr>
            <a:xfrm>
              <a:off x="981607" y="1783336"/>
              <a:ext cx="1382573" cy="2246769"/>
            </a:xfrm>
            <a:prstGeom prst="rect">
              <a:avLst/>
            </a:prstGeom>
            <a:noFill/>
          </p:spPr>
          <p:txBody>
            <a:bodyPr wrap="square" rtlCol="0">
              <a:spAutoFit/>
            </a:bodyPr>
            <a:lstStyle/>
            <a:p>
              <a:pPr algn="l">
                <a:lnSpc>
                  <a:spcPct val="100000"/>
                </a:lnSpc>
              </a:pPr>
              <a:r>
                <a:rPr lang="en-US" sz="1400" b="1" dirty="0">
                  <a:solidFill>
                    <a:schemeClr val="tx1"/>
                  </a:solidFill>
                </a:rPr>
                <a:t>SKUs to monitor for changing profitability and marketability</a:t>
              </a:r>
            </a:p>
            <a:p>
              <a:pPr marL="171450" indent="-171450" algn="l">
                <a:lnSpc>
                  <a:spcPct val="100000"/>
                </a:lnSpc>
                <a:buFont typeface="Arial" pitchFamily="34" charset="0"/>
                <a:buChar char="•"/>
              </a:pPr>
              <a:r>
                <a:rPr lang="en-US" sz="1200" b="0" dirty="0">
                  <a:solidFill>
                    <a:schemeClr val="tx1"/>
                  </a:solidFill>
                </a:rPr>
                <a:t>May be candidates for rationalization if more profitable and/or strategic substitution can be made, or if product line is too “full”.</a:t>
              </a:r>
            </a:p>
          </p:txBody>
        </p:sp>
        <p:sp>
          <p:nvSpPr>
            <p:cNvPr id="44" name="TextBox 43">
              <a:extLst>
                <a:ext uri="{FF2B5EF4-FFF2-40B4-BE49-F238E27FC236}">
                  <a16:creationId xmlns:a16="http://schemas.microsoft.com/office/drawing/2014/main" id="{BB76024A-1AA7-4332-220C-1E18F0CE1058}"/>
                </a:ext>
              </a:extLst>
            </p:cNvPr>
            <p:cNvSpPr txBox="1"/>
            <p:nvPr/>
          </p:nvSpPr>
          <p:spPr>
            <a:xfrm>
              <a:off x="1081720" y="4440494"/>
              <a:ext cx="1382573" cy="738664"/>
            </a:xfrm>
            <a:prstGeom prst="rect">
              <a:avLst/>
            </a:prstGeom>
            <a:noFill/>
          </p:spPr>
          <p:txBody>
            <a:bodyPr wrap="square" rtlCol="0">
              <a:spAutoFit/>
            </a:bodyPr>
            <a:lstStyle/>
            <a:p>
              <a:pPr algn="l">
                <a:lnSpc>
                  <a:spcPct val="100000"/>
                </a:lnSpc>
              </a:pPr>
              <a:r>
                <a:rPr lang="en-US" sz="1400" b="1" dirty="0">
                  <a:solidFill>
                    <a:schemeClr val="tx1"/>
                  </a:solidFill>
                </a:rPr>
                <a:t>Candidates for rationalization / repositioning</a:t>
              </a:r>
              <a:endParaRPr lang="en-US" sz="2800" b="1" dirty="0">
                <a:solidFill>
                  <a:schemeClr val="tx1"/>
                </a:solidFill>
              </a:endParaRPr>
            </a:p>
          </p:txBody>
        </p:sp>
        <p:cxnSp>
          <p:nvCxnSpPr>
            <p:cNvPr id="45" name="Straight Arrow Connector 44">
              <a:extLst>
                <a:ext uri="{FF2B5EF4-FFF2-40B4-BE49-F238E27FC236}">
                  <a16:creationId xmlns:a16="http://schemas.microsoft.com/office/drawing/2014/main" id="{ABCBC4AB-E6C4-8390-1FF9-52DC83A282FC}"/>
                </a:ext>
              </a:extLst>
            </p:cNvPr>
            <p:cNvCxnSpPr/>
            <p:nvPr/>
          </p:nvCxnSpPr>
          <p:spPr bwMode="auto">
            <a:xfrm>
              <a:off x="2115464" y="2203767"/>
              <a:ext cx="1250900" cy="460857"/>
            </a:xfrm>
            <a:prstGeom prst="straightConnector1">
              <a:avLst/>
            </a:prstGeom>
            <a:solidFill>
              <a:srgbClr val="808080"/>
            </a:solidFill>
            <a:ln w="12700" cap="sq" cmpd="sng" algn="ctr">
              <a:solidFill>
                <a:schemeClr val="tx1"/>
              </a:solidFill>
              <a:prstDash val="solid"/>
              <a:round/>
              <a:headEnd type="none" w="med" len="med"/>
              <a:tailEnd type="arrow"/>
            </a:ln>
            <a:effectLst/>
          </p:spPr>
        </p:cxnSp>
        <p:sp>
          <p:nvSpPr>
            <p:cNvPr id="46" name="TextBox 45">
              <a:extLst>
                <a:ext uri="{FF2B5EF4-FFF2-40B4-BE49-F238E27FC236}">
                  <a16:creationId xmlns:a16="http://schemas.microsoft.com/office/drawing/2014/main" id="{885D97DB-5D2F-4408-6BEC-98A375427F84}"/>
                </a:ext>
              </a:extLst>
            </p:cNvPr>
            <p:cNvSpPr txBox="1"/>
            <p:nvPr/>
          </p:nvSpPr>
          <p:spPr>
            <a:xfrm>
              <a:off x="7031279" y="1785972"/>
              <a:ext cx="2166062" cy="1231106"/>
            </a:xfrm>
            <a:prstGeom prst="rect">
              <a:avLst/>
            </a:prstGeom>
            <a:noFill/>
          </p:spPr>
          <p:txBody>
            <a:bodyPr wrap="square" rtlCol="0">
              <a:spAutoFit/>
            </a:bodyPr>
            <a:lstStyle/>
            <a:p>
              <a:pPr algn="l">
                <a:lnSpc>
                  <a:spcPct val="100000"/>
                </a:lnSpc>
              </a:pPr>
              <a:r>
                <a:rPr lang="en-US" sz="1400" b="1" dirty="0">
                  <a:solidFill>
                    <a:schemeClr val="tx1"/>
                  </a:solidFill>
                </a:rPr>
                <a:t>Core SKUs of the product line</a:t>
              </a:r>
            </a:p>
            <a:p>
              <a:pPr marL="171450" indent="-171450" algn="l">
                <a:lnSpc>
                  <a:spcPct val="100000"/>
                </a:lnSpc>
                <a:buFont typeface="Arial" pitchFamily="34" charset="0"/>
                <a:buChar char="•"/>
              </a:pPr>
              <a:r>
                <a:rPr lang="en-US" sz="1200" b="0" dirty="0">
                  <a:solidFill>
                    <a:schemeClr val="tx1"/>
                  </a:solidFill>
                </a:rPr>
                <a:t>Activities should focus on maintaining and improving position in the marketplace.</a:t>
              </a:r>
            </a:p>
            <a:p>
              <a:pPr marL="171450" indent="-171450" algn="l">
                <a:lnSpc>
                  <a:spcPct val="100000"/>
                </a:lnSpc>
                <a:buFont typeface="Arial" pitchFamily="34" charset="0"/>
                <a:buChar char="•"/>
              </a:pPr>
              <a:r>
                <a:rPr lang="en-US" sz="1200" b="0" dirty="0">
                  <a:solidFill>
                    <a:schemeClr val="tx1"/>
                  </a:solidFill>
                </a:rPr>
                <a:t>Product innovation and extension activities</a:t>
              </a:r>
            </a:p>
          </p:txBody>
        </p:sp>
        <p:sp>
          <p:nvSpPr>
            <p:cNvPr id="47" name="TextBox 46">
              <a:extLst>
                <a:ext uri="{FF2B5EF4-FFF2-40B4-BE49-F238E27FC236}">
                  <a16:creationId xmlns:a16="http://schemas.microsoft.com/office/drawing/2014/main" id="{89035DC5-8287-A4E1-83D3-79A4EF62CDBF}"/>
                </a:ext>
              </a:extLst>
            </p:cNvPr>
            <p:cNvSpPr txBox="1"/>
            <p:nvPr/>
          </p:nvSpPr>
          <p:spPr>
            <a:xfrm>
              <a:off x="7037379" y="3891477"/>
              <a:ext cx="2166062" cy="1600438"/>
            </a:xfrm>
            <a:prstGeom prst="rect">
              <a:avLst/>
            </a:prstGeom>
            <a:noFill/>
          </p:spPr>
          <p:txBody>
            <a:bodyPr wrap="square" rtlCol="0">
              <a:spAutoFit/>
            </a:bodyPr>
            <a:lstStyle/>
            <a:p>
              <a:pPr algn="l">
                <a:lnSpc>
                  <a:spcPct val="100000"/>
                </a:lnSpc>
              </a:pPr>
              <a:r>
                <a:rPr lang="en-US" sz="1400" b="1" dirty="0">
                  <a:solidFill>
                    <a:schemeClr val="tx1"/>
                  </a:solidFill>
                </a:rPr>
                <a:t>Improve profitability for high “strategic value” SKUs</a:t>
              </a:r>
            </a:p>
            <a:p>
              <a:pPr marL="171450" indent="-171450" algn="l">
                <a:lnSpc>
                  <a:spcPct val="100000"/>
                </a:lnSpc>
                <a:buFont typeface="Arial" pitchFamily="34" charset="0"/>
                <a:buChar char="•"/>
              </a:pPr>
              <a:r>
                <a:rPr lang="en-US" sz="1400" b="0" dirty="0">
                  <a:solidFill>
                    <a:schemeClr val="tx1"/>
                  </a:solidFill>
                </a:rPr>
                <a:t>Modify/improve cost structure</a:t>
              </a:r>
            </a:p>
            <a:p>
              <a:pPr marL="171450" indent="-171450" algn="l">
                <a:lnSpc>
                  <a:spcPct val="100000"/>
                </a:lnSpc>
                <a:buFont typeface="Arial" pitchFamily="34" charset="0"/>
                <a:buChar char="•"/>
              </a:pPr>
              <a:r>
                <a:rPr lang="en-US" sz="1400" b="0" dirty="0">
                  <a:solidFill>
                    <a:schemeClr val="tx1"/>
                  </a:solidFill>
                </a:rPr>
                <a:t>Re-price</a:t>
              </a:r>
            </a:p>
            <a:p>
              <a:pPr marL="171450" indent="-171450" algn="l">
                <a:lnSpc>
                  <a:spcPct val="100000"/>
                </a:lnSpc>
                <a:buFont typeface="Arial" pitchFamily="34" charset="0"/>
                <a:buChar char="•"/>
              </a:pPr>
              <a:r>
                <a:rPr lang="en-US" sz="1400" b="0" dirty="0">
                  <a:solidFill>
                    <a:schemeClr val="tx1"/>
                  </a:solidFill>
                </a:rPr>
                <a:t>Maintain as tactical SKU</a:t>
              </a:r>
            </a:p>
            <a:p>
              <a:pPr marL="171450" indent="-171450" algn="l">
                <a:lnSpc>
                  <a:spcPct val="100000"/>
                </a:lnSpc>
                <a:buFont typeface="Arial" pitchFamily="34" charset="0"/>
                <a:buChar char="•"/>
              </a:pPr>
              <a:r>
                <a:rPr lang="en-US" sz="1400" b="0" dirty="0">
                  <a:solidFill>
                    <a:schemeClr val="tx1"/>
                  </a:solidFill>
                </a:rPr>
                <a:t>Substitute and eliminate</a:t>
              </a:r>
            </a:p>
          </p:txBody>
        </p:sp>
        <p:cxnSp>
          <p:nvCxnSpPr>
            <p:cNvPr id="48" name="Straight Arrow Connector 47">
              <a:extLst>
                <a:ext uri="{FF2B5EF4-FFF2-40B4-BE49-F238E27FC236}">
                  <a16:creationId xmlns:a16="http://schemas.microsoft.com/office/drawing/2014/main" id="{046E8287-98EE-3826-B7DF-66217A761E20}"/>
                </a:ext>
              </a:extLst>
            </p:cNvPr>
            <p:cNvCxnSpPr/>
            <p:nvPr/>
          </p:nvCxnSpPr>
          <p:spPr bwMode="auto">
            <a:xfrm flipV="1">
              <a:off x="2261161" y="4654359"/>
              <a:ext cx="806058" cy="74675"/>
            </a:xfrm>
            <a:prstGeom prst="straightConnector1">
              <a:avLst/>
            </a:prstGeom>
            <a:solidFill>
              <a:srgbClr val="808080"/>
            </a:solidFill>
            <a:ln w="12700" cap="sq" cmpd="sng" algn="ctr">
              <a:solidFill>
                <a:schemeClr val="tx1"/>
              </a:solidFill>
              <a:prstDash val="solid"/>
              <a:round/>
              <a:headEnd type="none" w="med" len="med"/>
              <a:tailEnd type="arrow"/>
            </a:ln>
            <a:effectLst/>
          </p:spPr>
        </p:cxnSp>
        <p:cxnSp>
          <p:nvCxnSpPr>
            <p:cNvPr id="49" name="Straight Arrow Connector 48">
              <a:extLst>
                <a:ext uri="{FF2B5EF4-FFF2-40B4-BE49-F238E27FC236}">
                  <a16:creationId xmlns:a16="http://schemas.microsoft.com/office/drawing/2014/main" id="{20F1CD1F-AAE8-3166-1275-CABACAF55066}"/>
                </a:ext>
              </a:extLst>
            </p:cNvPr>
            <p:cNvCxnSpPr/>
            <p:nvPr/>
          </p:nvCxnSpPr>
          <p:spPr bwMode="auto">
            <a:xfrm flipH="1">
              <a:off x="6307075" y="1984311"/>
              <a:ext cx="730304" cy="449884"/>
            </a:xfrm>
            <a:prstGeom prst="straightConnector1">
              <a:avLst/>
            </a:prstGeom>
            <a:solidFill>
              <a:srgbClr val="808080"/>
            </a:solidFill>
            <a:ln w="12700" cap="sq" cmpd="sng" algn="ctr">
              <a:solidFill>
                <a:schemeClr val="tx1"/>
              </a:solidFill>
              <a:prstDash val="solid"/>
              <a:round/>
              <a:headEnd type="none" w="med" len="med"/>
              <a:tailEnd type="arrow"/>
            </a:ln>
            <a:effectLst/>
          </p:spPr>
        </p:cxnSp>
        <p:cxnSp>
          <p:nvCxnSpPr>
            <p:cNvPr id="50" name="Straight Arrow Connector 49">
              <a:extLst>
                <a:ext uri="{FF2B5EF4-FFF2-40B4-BE49-F238E27FC236}">
                  <a16:creationId xmlns:a16="http://schemas.microsoft.com/office/drawing/2014/main" id="{EE524679-6541-1FC9-5DFD-DF1339B26F68}"/>
                </a:ext>
              </a:extLst>
            </p:cNvPr>
            <p:cNvCxnSpPr/>
            <p:nvPr/>
          </p:nvCxnSpPr>
          <p:spPr bwMode="auto">
            <a:xfrm flipH="1">
              <a:off x="6307075" y="4095665"/>
              <a:ext cx="730304" cy="90521"/>
            </a:xfrm>
            <a:prstGeom prst="straightConnector1">
              <a:avLst/>
            </a:prstGeom>
            <a:solidFill>
              <a:srgbClr val="808080"/>
            </a:solidFill>
            <a:ln w="12700" cap="sq"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2833522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a:bodyPr>
          <a:lstStyle/>
          <a:p>
            <a:r>
              <a:rPr lang="en-US" sz="3600" dirty="0"/>
              <a:t>Gather Information – Example Data to Collect</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Part Data</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ormAutofit fontScale="77500" lnSpcReduction="20000"/>
          </a:bodyPr>
          <a:lstStyle/>
          <a:p>
            <a:pPr>
              <a:buFont typeface="Wingdings" panose="05000000000000000000" pitchFamily="2" charset="2"/>
              <a:buChar char="q"/>
            </a:pPr>
            <a:r>
              <a:rPr lang="en-US" dirty="0"/>
              <a:t>Part Numbers</a:t>
            </a:r>
          </a:p>
          <a:p>
            <a:pPr>
              <a:buFont typeface="Wingdings" panose="05000000000000000000" pitchFamily="2" charset="2"/>
              <a:buChar char="q"/>
            </a:pPr>
            <a:r>
              <a:rPr lang="en-US" dirty="0"/>
              <a:t>Drawings</a:t>
            </a:r>
          </a:p>
          <a:p>
            <a:pPr>
              <a:buFont typeface="Wingdings" panose="05000000000000000000" pitchFamily="2" charset="2"/>
              <a:buChar char="q"/>
            </a:pPr>
            <a:r>
              <a:rPr lang="en-US" dirty="0"/>
              <a:t>Samples</a:t>
            </a:r>
          </a:p>
          <a:p>
            <a:pPr>
              <a:buFont typeface="Wingdings" panose="05000000000000000000" pitchFamily="2" charset="2"/>
              <a:buChar char="q"/>
            </a:pPr>
            <a:r>
              <a:rPr lang="en-US" dirty="0"/>
              <a:t>Specifications</a:t>
            </a:r>
          </a:p>
          <a:p>
            <a:pPr>
              <a:buFont typeface="Wingdings" panose="05000000000000000000" pitchFamily="2" charset="2"/>
              <a:buChar char="q"/>
            </a:pPr>
            <a:r>
              <a:rPr lang="en-US" dirty="0"/>
              <a:t>Standards</a:t>
            </a:r>
          </a:p>
          <a:p>
            <a:pPr>
              <a:buFont typeface="Wingdings" panose="05000000000000000000" pitchFamily="2" charset="2"/>
              <a:buChar char="q"/>
            </a:pPr>
            <a:r>
              <a:rPr lang="en-US" dirty="0"/>
              <a:t>Interfaces</a:t>
            </a:r>
          </a:p>
          <a:p>
            <a:pPr>
              <a:buFont typeface="Wingdings" panose="05000000000000000000" pitchFamily="2" charset="2"/>
              <a:buChar char="q"/>
            </a:pPr>
            <a:r>
              <a:rPr lang="en-US" dirty="0"/>
              <a:t>Reliability</a:t>
            </a:r>
          </a:p>
          <a:p>
            <a:pPr>
              <a:buFont typeface="Wingdings" panose="05000000000000000000" pitchFamily="2" charset="2"/>
              <a:buChar char="q"/>
            </a:pPr>
            <a:r>
              <a:rPr lang="en-US" dirty="0"/>
              <a:t>Costs – fixed and variable, direct and indirect, controllable</a:t>
            </a:r>
          </a:p>
          <a:p>
            <a:pPr>
              <a:buFont typeface="Wingdings" panose="05000000000000000000" pitchFamily="2" charset="2"/>
              <a:buChar char="q"/>
            </a:pPr>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Production Data</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77500" lnSpcReduction="20000"/>
          </a:bodyPr>
          <a:lstStyle/>
          <a:p>
            <a:pPr>
              <a:buFont typeface="Wingdings" panose="05000000000000000000" pitchFamily="2" charset="2"/>
              <a:buChar char="q"/>
            </a:pPr>
            <a:r>
              <a:rPr lang="en-US" dirty="0"/>
              <a:t>Process steps or maps</a:t>
            </a:r>
          </a:p>
          <a:p>
            <a:pPr>
              <a:buFont typeface="Wingdings" panose="05000000000000000000" pitchFamily="2" charset="2"/>
              <a:buChar char="q"/>
            </a:pPr>
            <a:r>
              <a:rPr lang="en-US" dirty="0"/>
              <a:t>Process times</a:t>
            </a:r>
          </a:p>
          <a:p>
            <a:pPr>
              <a:buFont typeface="Wingdings" panose="05000000000000000000" pitchFamily="2" charset="2"/>
              <a:buChar char="q"/>
            </a:pPr>
            <a:r>
              <a:rPr lang="en-US" dirty="0"/>
              <a:t>Changeover times/frequency</a:t>
            </a:r>
          </a:p>
          <a:p>
            <a:pPr>
              <a:buFont typeface="Wingdings" panose="05000000000000000000" pitchFamily="2" charset="2"/>
              <a:buChar char="q"/>
            </a:pPr>
            <a:r>
              <a:rPr lang="en-US" dirty="0"/>
              <a:t>Volumes</a:t>
            </a:r>
          </a:p>
          <a:p>
            <a:pPr>
              <a:buFont typeface="Wingdings" panose="05000000000000000000" pitchFamily="2" charset="2"/>
              <a:buChar char="q"/>
            </a:pPr>
            <a:r>
              <a:rPr lang="en-US" dirty="0"/>
              <a:t>Typical batch sizes</a:t>
            </a:r>
          </a:p>
          <a:p>
            <a:pPr>
              <a:buFont typeface="Wingdings" panose="05000000000000000000" pitchFamily="2" charset="2"/>
              <a:buChar char="q"/>
            </a:pPr>
            <a:r>
              <a:rPr lang="en-US" dirty="0"/>
              <a:t>Quality (process outputs)</a:t>
            </a:r>
          </a:p>
          <a:p>
            <a:pPr>
              <a:buFont typeface="Wingdings" panose="05000000000000000000" pitchFamily="2" charset="2"/>
              <a:buChar char="q"/>
            </a:pPr>
            <a:r>
              <a:rPr lang="en-US" dirty="0"/>
              <a:t>Takt time</a:t>
            </a:r>
          </a:p>
          <a:p>
            <a:pPr>
              <a:buFont typeface="Wingdings" panose="05000000000000000000" pitchFamily="2" charset="2"/>
              <a:buChar char="q"/>
            </a:pPr>
            <a:r>
              <a:rPr lang="en-US" dirty="0"/>
              <a:t>Stock/WIP</a:t>
            </a:r>
          </a:p>
          <a:p>
            <a:pPr>
              <a:buFont typeface="Wingdings" panose="05000000000000000000" pitchFamily="2" charset="2"/>
              <a:buChar char="q"/>
            </a:pPr>
            <a:r>
              <a:rPr lang="en-US" dirty="0"/>
              <a:t>Replenishment times</a:t>
            </a:r>
          </a:p>
          <a:p>
            <a:pPr>
              <a:buFont typeface="Wingdings" panose="05000000000000000000" pitchFamily="2" charset="2"/>
              <a:buChar char="q"/>
            </a:pPr>
            <a:r>
              <a:rPr lang="en-US" dirty="0"/>
              <a:t>Layouts and people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7" name="Group 6">
            <a:extLst>
              <a:ext uri="{FF2B5EF4-FFF2-40B4-BE49-F238E27FC236}">
                <a16:creationId xmlns:a16="http://schemas.microsoft.com/office/drawing/2014/main" id="{BF833411-A98A-28CC-1DA9-A95536E80CB3}"/>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69362C10-B384-84F2-BE4C-D03604149800}"/>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1925A9DE-1594-7C2F-1713-C15753C6D33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FCEC2DF4-86EB-72E3-A004-6F4336E7B6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48A05701-F7A1-F917-8858-98EE5D0C3054}"/>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07896EAF-C322-4302-4588-2683332653D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7FFCB252-9F61-7771-2977-25E012245AA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A954646F-9509-0218-AE5A-FFDD7A6F89D7}"/>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81701B12-8FDD-ECDA-51BE-9D8163750140}"/>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spTree>
    <p:extLst>
      <p:ext uri="{BB962C8B-B14F-4D97-AF65-F5344CB8AC3E}">
        <p14:creationId xmlns:p14="http://schemas.microsoft.com/office/powerpoint/2010/main" val="976723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Diagrams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grpSp>
        <p:nvGrpSpPr>
          <p:cNvPr id="3" name="Group 2">
            <a:extLst>
              <a:ext uri="{FF2B5EF4-FFF2-40B4-BE49-F238E27FC236}">
                <a16:creationId xmlns:a16="http://schemas.microsoft.com/office/drawing/2014/main" id="{3B68444D-808A-C04C-0361-690BADF14AF3}"/>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2079E672-C3FC-D76C-C215-505A094D7876}"/>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994D799-1EF3-3FC0-DE39-8539EA2F982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BC0DD814-291B-DD2D-E9C8-5D8572A3A61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9BCAB7B-8B61-E9A5-C86F-163A30E4640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5CE6791-88D2-BC93-145F-13663AEF07A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E43E4558-2A6B-9358-07C7-E7B2A58A703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58090014-4128-8EEF-C586-585616A07F7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B94E6484-0B6C-52C2-C1CC-14DE4702FE0C}"/>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grpSp>
        <p:nvGrpSpPr>
          <p:cNvPr id="40" name="Group 39">
            <a:extLst>
              <a:ext uri="{FF2B5EF4-FFF2-40B4-BE49-F238E27FC236}">
                <a16:creationId xmlns:a16="http://schemas.microsoft.com/office/drawing/2014/main" id="{DB1B19A8-BBA8-4945-9B81-38628F954217}"/>
              </a:ext>
            </a:extLst>
          </p:cNvPr>
          <p:cNvGrpSpPr/>
          <p:nvPr/>
        </p:nvGrpSpPr>
        <p:grpSpPr>
          <a:xfrm>
            <a:off x="1870075" y="1766948"/>
            <a:ext cx="8451850" cy="4635500"/>
            <a:chOff x="457201" y="1536700"/>
            <a:chExt cx="8451850" cy="4635500"/>
          </a:xfrm>
        </p:grpSpPr>
        <p:sp>
          <p:nvSpPr>
            <p:cNvPr id="13" name="Line 8">
              <a:extLst>
                <a:ext uri="{FF2B5EF4-FFF2-40B4-BE49-F238E27FC236}">
                  <a16:creationId xmlns:a16="http://schemas.microsoft.com/office/drawing/2014/main" id="{FB0B48FD-6EF5-1D8A-DD57-31E88674046B}"/>
                </a:ext>
              </a:extLst>
            </p:cNvPr>
            <p:cNvSpPr>
              <a:spLocks noChangeShapeType="1"/>
            </p:cNvSpPr>
            <p:nvPr/>
          </p:nvSpPr>
          <p:spPr bwMode="auto">
            <a:xfrm>
              <a:off x="471488" y="2717800"/>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4" name="Line 9">
              <a:extLst>
                <a:ext uri="{FF2B5EF4-FFF2-40B4-BE49-F238E27FC236}">
                  <a16:creationId xmlns:a16="http://schemas.microsoft.com/office/drawing/2014/main" id="{F16DF7DD-1DDD-0865-2778-EA98A8507F62}"/>
                </a:ext>
              </a:extLst>
            </p:cNvPr>
            <p:cNvSpPr>
              <a:spLocks noChangeShapeType="1"/>
            </p:cNvSpPr>
            <p:nvPr/>
          </p:nvSpPr>
          <p:spPr bwMode="auto">
            <a:xfrm>
              <a:off x="487364" y="3600450"/>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5" name="Line 10">
              <a:extLst>
                <a:ext uri="{FF2B5EF4-FFF2-40B4-BE49-F238E27FC236}">
                  <a16:creationId xmlns:a16="http://schemas.microsoft.com/office/drawing/2014/main" id="{69E69291-4010-C5AD-1B2D-E772DC0C3A05}"/>
                </a:ext>
              </a:extLst>
            </p:cNvPr>
            <p:cNvSpPr>
              <a:spLocks noChangeShapeType="1"/>
            </p:cNvSpPr>
            <p:nvPr/>
          </p:nvSpPr>
          <p:spPr bwMode="auto">
            <a:xfrm>
              <a:off x="457201" y="4462463"/>
              <a:ext cx="8235951"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6" name="Line 11">
              <a:extLst>
                <a:ext uri="{FF2B5EF4-FFF2-40B4-BE49-F238E27FC236}">
                  <a16:creationId xmlns:a16="http://schemas.microsoft.com/office/drawing/2014/main" id="{CD08640E-8461-F713-4DD2-71BCDDBA29BB}"/>
                </a:ext>
              </a:extLst>
            </p:cNvPr>
            <p:cNvSpPr>
              <a:spLocks noChangeShapeType="1"/>
            </p:cNvSpPr>
            <p:nvPr/>
          </p:nvSpPr>
          <p:spPr bwMode="auto">
            <a:xfrm>
              <a:off x="473076" y="5299075"/>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nvGrpSpPr>
            <p:cNvPr id="17" name="Group 16">
              <a:extLst>
                <a:ext uri="{FF2B5EF4-FFF2-40B4-BE49-F238E27FC236}">
                  <a16:creationId xmlns:a16="http://schemas.microsoft.com/office/drawing/2014/main" id="{3C026E40-8D55-01CA-7027-2243F4FB687A}"/>
                </a:ext>
              </a:extLst>
            </p:cNvPr>
            <p:cNvGrpSpPr/>
            <p:nvPr/>
          </p:nvGrpSpPr>
          <p:grpSpPr>
            <a:xfrm>
              <a:off x="1196977" y="1971676"/>
              <a:ext cx="7412036" cy="568325"/>
              <a:chOff x="1196977" y="1971676"/>
              <a:chExt cx="7412036" cy="568325"/>
            </a:xfrm>
          </p:grpSpPr>
          <p:sp>
            <p:nvSpPr>
              <p:cNvPr id="18" name="Rectangle 4">
                <a:extLst>
                  <a:ext uri="{FF2B5EF4-FFF2-40B4-BE49-F238E27FC236}">
                    <a16:creationId xmlns:a16="http://schemas.microsoft.com/office/drawing/2014/main" id="{BF96AF60-0E73-E70F-A471-A32E6CA265C8}"/>
                  </a:ext>
                </a:extLst>
              </p:cNvPr>
              <p:cNvSpPr>
                <a:spLocks noChangeArrowheads="1"/>
              </p:cNvSpPr>
              <p:nvPr/>
            </p:nvSpPr>
            <p:spPr bwMode="auto">
              <a:xfrm>
                <a:off x="1196977" y="1971676"/>
                <a:ext cx="1908175" cy="568325"/>
              </a:xfrm>
              <a:prstGeom prst="rect">
                <a:avLst/>
              </a:prstGeom>
              <a:solidFill>
                <a:schemeClr val="bg1"/>
              </a:solidFill>
              <a:ln w="12700" cap="sq" algn="ctr">
                <a:solidFill>
                  <a:schemeClr val="tx1"/>
                </a:solidFill>
                <a:miter lim="800000"/>
                <a:headEnd/>
                <a:tailEnd/>
              </a:ln>
            </p:spPr>
            <p:txBody>
              <a:bodyPr anchor="ctr"/>
              <a:lstStyle/>
              <a:p>
                <a:pPr algn="ctr"/>
                <a:r>
                  <a:rPr lang="en-US" sz="1400" dirty="0"/>
                  <a:t>Fishbone Diagram</a:t>
                </a:r>
              </a:p>
            </p:txBody>
          </p:sp>
          <p:sp>
            <p:nvSpPr>
              <p:cNvPr id="19" name="Rectangle 12">
                <a:extLst>
                  <a:ext uri="{FF2B5EF4-FFF2-40B4-BE49-F238E27FC236}">
                    <a16:creationId xmlns:a16="http://schemas.microsoft.com/office/drawing/2014/main" id="{CE8FE46B-B18D-B176-E825-F2052304D4CF}"/>
                  </a:ext>
                </a:extLst>
              </p:cNvPr>
              <p:cNvSpPr>
                <a:spLocks noChangeArrowheads="1"/>
              </p:cNvSpPr>
              <p:nvPr/>
            </p:nvSpPr>
            <p:spPr bwMode="auto">
              <a:xfrm>
                <a:off x="3641725" y="2019301"/>
                <a:ext cx="4967288"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p>
                <a:pPr marL="285750" indent="-285750" algn="l" defTabSz="708025">
                  <a:lnSpc>
                    <a:spcPct val="100000"/>
                  </a:lnSpc>
                  <a:spcBef>
                    <a:spcPct val="45000"/>
                  </a:spcBef>
                  <a:buClr>
                    <a:schemeClr val="tx1"/>
                  </a:buClr>
                  <a:buSzPct val="90000"/>
                  <a:buFont typeface="Arial" panose="020B0604020202020204" pitchFamily="34" charset="0"/>
                  <a:buChar char="•"/>
                </a:pPr>
                <a:r>
                  <a:rPr lang="en-US" sz="1400" b="1" dirty="0">
                    <a:solidFill>
                      <a:schemeClr val="tx1"/>
                    </a:solidFill>
                  </a:rPr>
                  <a:t>6 M’s or critical factors</a:t>
                </a:r>
              </a:p>
            </p:txBody>
          </p:sp>
        </p:grpSp>
        <p:grpSp>
          <p:nvGrpSpPr>
            <p:cNvPr id="20" name="Group 19">
              <a:extLst>
                <a:ext uri="{FF2B5EF4-FFF2-40B4-BE49-F238E27FC236}">
                  <a16:creationId xmlns:a16="http://schemas.microsoft.com/office/drawing/2014/main" id="{873329F9-0A21-EC6D-89E5-5B8254DBE7CC}"/>
                </a:ext>
              </a:extLst>
            </p:cNvPr>
            <p:cNvGrpSpPr/>
            <p:nvPr/>
          </p:nvGrpSpPr>
          <p:grpSpPr>
            <a:xfrm>
              <a:off x="1196977" y="2841626"/>
              <a:ext cx="7712074" cy="568325"/>
              <a:chOff x="1196977" y="2851151"/>
              <a:chExt cx="7712074" cy="568325"/>
            </a:xfrm>
          </p:grpSpPr>
          <p:sp>
            <p:nvSpPr>
              <p:cNvPr id="21" name="Rectangle 5">
                <a:extLst>
                  <a:ext uri="{FF2B5EF4-FFF2-40B4-BE49-F238E27FC236}">
                    <a16:creationId xmlns:a16="http://schemas.microsoft.com/office/drawing/2014/main" id="{C9995215-7172-4A29-52A4-62D87F24BCDE}"/>
                  </a:ext>
                </a:extLst>
              </p:cNvPr>
              <p:cNvSpPr>
                <a:spLocks noChangeArrowheads="1"/>
              </p:cNvSpPr>
              <p:nvPr/>
            </p:nvSpPr>
            <p:spPr bwMode="auto">
              <a:xfrm>
                <a:off x="1196977" y="2851151"/>
                <a:ext cx="1908175" cy="568325"/>
              </a:xfrm>
              <a:prstGeom prst="rect">
                <a:avLst/>
              </a:prstGeom>
              <a:solidFill>
                <a:srgbClr val="DDDDDD"/>
              </a:solidFill>
              <a:ln w="12700" cap="sq" algn="ctr">
                <a:solidFill>
                  <a:schemeClr val="tx1"/>
                </a:solidFill>
                <a:miter lim="800000"/>
                <a:headEnd/>
                <a:tailEnd/>
              </a:ln>
            </p:spPr>
            <p:txBody>
              <a:bodyPr anchor="ctr"/>
              <a:lstStyle/>
              <a:p>
                <a:pPr algn="ctr"/>
                <a:r>
                  <a:rPr lang="en-US" sz="1400" dirty="0"/>
                  <a:t>Process Layout</a:t>
                </a:r>
              </a:p>
            </p:txBody>
          </p:sp>
          <p:sp>
            <p:nvSpPr>
              <p:cNvPr id="22" name="Rectangle 13">
                <a:extLst>
                  <a:ext uri="{FF2B5EF4-FFF2-40B4-BE49-F238E27FC236}">
                    <a16:creationId xmlns:a16="http://schemas.microsoft.com/office/drawing/2014/main" id="{7996E9FF-66B9-1EFC-D1A6-CA30E00E38C1}"/>
                  </a:ext>
                </a:extLst>
              </p:cNvPr>
              <p:cNvSpPr>
                <a:spLocks noChangeArrowheads="1"/>
              </p:cNvSpPr>
              <p:nvPr/>
            </p:nvSpPr>
            <p:spPr bwMode="auto">
              <a:xfrm>
                <a:off x="3643314" y="2921000"/>
                <a:ext cx="5265737"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p>
                <a:pPr marL="285750" indent="-285750" algn="l" defTabSz="708025">
                  <a:lnSpc>
                    <a:spcPct val="100000"/>
                  </a:lnSpc>
                  <a:spcBef>
                    <a:spcPct val="45000"/>
                  </a:spcBef>
                  <a:buClr>
                    <a:schemeClr val="tx1"/>
                  </a:buClr>
                  <a:buSzPct val="90000"/>
                  <a:buFont typeface="Arial" panose="020B0604020202020204" pitchFamily="34" charset="0"/>
                  <a:buChar char="•"/>
                </a:pPr>
                <a:r>
                  <a:rPr lang="en-US" sz="1400" b="1" dirty="0">
                    <a:solidFill>
                      <a:schemeClr val="tx1"/>
                    </a:solidFill>
                  </a:rPr>
                  <a:t>Sequence of build with components, and processes </a:t>
                </a:r>
              </a:p>
            </p:txBody>
          </p:sp>
        </p:grpSp>
        <p:grpSp>
          <p:nvGrpSpPr>
            <p:cNvPr id="23" name="Group 22">
              <a:extLst>
                <a:ext uri="{FF2B5EF4-FFF2-40B4-BE49-F238E27FC236}">
                  <a16:creationId xmlns:a16="http://schemas.microsoft.com/office/drawing/2014/main" id="{F6D48378-632E-736F-624A-57E2C2E745E4}"/>
                </a:ext>
              </a:extLst>
            </p:cNvPr>
            <p:cNvGrpSpPr/>
            <p:nvPr/>
          </p:nvGrpSpPr>
          <p:grpSpPr>
            <a:xfrm>
              <a:off x="1196977" y="4581526"/>
              <a:ext cx="7415211" cy="568325"/>
              <a:chOff x="1196977" y="3721101"/>
              <a:chExt cx="7415211" cy="568325"/>
            </a:xfrm>
          </p:grpSpPr>
          <p:sp>
            <p:nvSpPr>
              <p:cNvPr id="24" name="Rectangle 6">
                <a:extLst>
                  <a:ext uri="{FF2B5EF4-FFF2-40B4-BE49-F238E27FC236}">
                    <a16:creationId xmlns:a16="http://schemas.microsoft.com/office/drawing/2014/main" id="{C9F6082B-611F-A927-8A7A-F689CE8CBC5A}"/>
                  </a:ext>
                </a:extLst>
              </p:cNvPr>
              <p:cNvSpPr>
                <a:spLocks noChangeArrowheads="1"/>
              </p:cNvSpPr>
              <p:nvPr/>
            </p:nvSpPr>
            <p:spPr bwMode="auto">
              <a:xfrm>
                <a:off x="1196977" y="3721101"/>
                <a:ext cx="1908175" cy="568325"/>
              </a:xfrm>
              <a:prstGeom prst="rect">
                <a:avLst/>
              </a:prstGeom>
              <a:solidFill>
                <a:schemeClr val="accent3"/>
              </a:solidFill>
              <a:ln w="12700" cap="sq" algn="ctr">
                <a:solidFill>
                  <a:schemeClr val="tx1"/>
                </a:solidFill>
                <a:miter lim="800000"/>
                <a:headEnd/>
                <a:tailEnd/>
              </a:ln>
            </p:spPr>
            <p:txBody>
              <a:bodyPr anchor="ctr"/>
              <a:lstStyle/>
              <a:p>
                <a:pPr algn="ctr"/>
                <a:r>
                  <a:rPr lang="en-US" sz="1400" dirty="0">
                    <a:solidFill>
                      <a:schemeClr val="bg1"/>
                    </a:solidFill>
                  </a:rPr>
                  <a:t>Exploded Assembly</a:t>
                </a:r>
              </a:p>
            </p:txBody>
          </p:sp>
          <p:sp>
            <p:nvSpPr>
              <p:cNvPr id="25" name="Rectangle 14">
                <a:extLst>
                  <a:ext uri="{FF2B5EF4-FFF2-40B4-BE49-F238E27FC236}">
                    <a16:creationId xmlns:a16="http://schemas.microsoft.com/office/drawing/2014/main" id="{C14DD319-873E-0D9C-D279-E0A68ECEE336}"/>
                  </a:ext>
                </a:extLst>
              </p:cNvPr>
              <p:cNvSpPr>
                <a:spLocks noChangeArrowheads="1"/>
              </p:cNvSpPr>
              <p:nvPr/>
            </p:nvSpPr>
            <p:spPr bwMode="auto">
              <a:xfrm>
                <a:off x="3651249" y="3790951"/>
                <a:ext cx="4960939"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p>
                <a:pPr marL="285750" indent="-285750" algn="l" defTabSz="708025">
                  <a:lnSpc>
                    <a:spcPct val="100000"/>
                  </a:lnSpc>
                  <a:spcBef>
                    <a:spcPct val="45000"/>
                  </a:spcBef>
                  <a:buClr>
                    <a:schemeClr val="tx1"/>
                  </a:buClr>
                  <a:buSzPct val="90000"/>
                  <a:buFont typeface="Arial" panose="020B0604020202020204" pitchFamily="34" charset="0"/>
                  <a:buChar char="•"/>
                </a:pPr>
                <a:r>
                  <a:rPr lang="en-US" sz="1400" b="1" dirty="0">
                    <a:solidFill>
                      <a:schemeClr val="tx1"/>
                    </a:solidFill>
                  </a:rPr>
                  <a:t>Illustration of all assemblies </a:t>
                </a:r>
              </a:p>
            </p:txBody>
          </p:sp>
        </p:grpSp>
        <p:grpSp>
          <p:nvGrpSpPr>
            <p:cNvPr id="26" name="Group 25">
              <a:extLst>
                <a:ext uri="{FF2B5EF4-FFF2-40B4-BE49-F238E27FC236}">
                  <a16:creationId xmlns:a16="http://schemas.microsoft.com/office/drawing/2014/main" id="{C97A9AD0-02B6-E560-2738-0EF8C8797F1E}"/>
                </a:ext>
              </a:extLst>
            </p:cNvPr>
            <p:cNvGrpSpPr/>
            <p:nvPr/>
          </p:nvGrpSpPr>
          <p:grpSpPr>
            <a:xfrm>
              <a:off x="1196977" y="5451475"/>
              <a:ext cx="7415211" cy="568325"/>
              <a:chOff x="1196977" y="4586289"/>
              <a:chExt cx="7415211" cy="568325"/>
            </a:xfrm>
          </p:grpSpPr>
          <p:sp>
            <p:nvSpPr>
              <p:cNvPr id="27" name="Rectangle 7">
                <a:extLst>
                  <a:ext uri="{FF2B5EF4-FFF2-40B4-BE49-F238E27FC236}">
                    <a16:creationId xmlns:a16="http://schemas.microsoft.com/office/drawing/2014/main" id="{1AC643FB-E492-7BF1-9410-4633CB2CE118}"/>
                  </a:ext>
                </a:extLst>
              </p:cNvPr>
              <p:cNvSpPr>
                <a:spLocks noChangeArrowheads="1"/>
              </p:cNvSpPr>
              <p:nvPr/>
            </p:nvSpPr>
            <p:spPr bwMode="auto">
              <a:xfrm>
                <a:off x="1196977" y="4586289"/>
                <a:ext cx="1908175" cy="568325"/>
              </a:xfrm>
              <a:prstGeom prst="rect">
                <a:avLst/>
              </a:prstGeom>
              <a:solidFill>
                <a:schemeClr val="tx2"/>
              </a:solidFill>
              <a:ln w="12700" cap="sq" algn="ctr">
                <a:solidFill>
                  <a:schemeClr val="tx1"/>
                </a:solidFill>
                <a:miter lim="800000"/>
                <a:headEnd/>
                <a:tailEnd/>
              </a:ln>
            </p:spPr>
            <p:txBody>
              <a:bodyPr anchor="ctr"/>
              <a:lstStyle/>
              <a:p>
                <a:pPr algn="ctr"/>
                <a:r>
                  <a:rPr lang="en-US" sz="1400" dirty="0">
                    <a:solidFill>
                      <a:schemeClr val="bg1"/>
                    </a:solidFill>
                  </a:rPr>
                  <a:t>Design Diagram And System Hierarchy</a:t>
                </a:r>
              </a:p>
            </p:txBody>
          </p:sp>
          <p:sp>
            <p:nvSpPr>
              <p:cNvPr id="28" name="Rectangle 15">
                <a:extLst>
                  <a:ext uri="{FF2B5EF4-FFF2-40B4-BE49-F238E27FC236}">
                    <a16:creationId xmlns:a16="http://schemas.microsoft.com/office/drawing/2014/main" id="{7462D35E-D2BA-528F-BA31-2E177346FDD0}"/>
                  </a:ext>
                </a:extLst>
              </p:cNvPr>
              <p:cNvSpPr>
                <a:spLocks noChangeArrowheads="1"/>
              </p:cNvSpPr>
              <p:nvPr/>
            </p:nvSpPr>
            <p:spPr bwMode="auto">
              <a:xfrm>
                <a:off x="3651249" y="4643439"/>
                <a:ext cx="4960939"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p>
                <a:pPr marL="285750" indent="-285750" algn="l" defTabSz="708025">
                  <a:lnSpc>
                    <a:spcPct val="100000"/>
                  </a:lnSpc>
                  <a:spcBef>
                    <a:spcPct val="45000"/>
                  </a:spcBef>
                  <a:buClr>
                    <a:schemeClr val="tx1"/>
                  </a:buClr>
                  <a:buSzPct val="90000"/>
                  <a:buFont typeface="Arial" panose="020B0604020202020204" pitchFamily="34" charset="0"/>
                  <a:buChar char="•"/>
                </a:pPr>
                <a:r>
                  <a:rPr lang="en-US" sz="1400" b="1" dirty="0">
                    <a:solidFill>
                      <a:schemeClr val="tx1"/>
                    </a:solidFill>
                  </a:rPr>
                  <a:t>The whole system and system hierarchy</a:t>
                </a:r>
              </a:p>
            </p:txBody>
          </p:sp>
        </p:grpSp>
        <p:sp>
          <p:nvSpPr>
            <p:cNvPr id="29" name="Line 16">
              <a:extLst>
                <a:ext uri="{FF2B5EF4-FFF2-40B4-BE49-F238E27FC236}">
                  <a16:creationId xmlns:a16="http://schemas.microsoft.com/office/drawing/2014/main" id="{03101837-CBD4-0C37-3E9A-B158118533F3}"/>
                </a:ext>
              </a:extLst>
            </p:cNvPr>
            <p:cNvSpPr>
              <a:spLocks noChangeShapeType="1"/>
            </p:cNvSpPr>
            <p:nvPr/>
          </p:nvSpPr>
          <p:spPr bwMode="auto">
            <a:xfrm flipV="1">
              <a:off x="461964" y="1824039"/>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30" name="Text Box 17">
              <a:extLst>
                <a:ext uri="{FF2B5EF4-FFF2-40B4-BE49-F238E27FC236}">
                  <a16:creationId xmlns:a16="http://schemas.microsoft.com/office/drawing/2014/main" id="{38954E7B-C31F-5F20-A32B-CE8C3FCC1953}"/>
                </a:ext>
              </a:extLst>
            </p:cNvPr>
            <p:cNvSpPr txBox="1">
              <a:spLocks noChangeArrowheads="1"/>
            </p:cNvSpPr>
            <p:nvPr/>
          </p:nvSpPr>
          <p:spPr bwMode="auto">
            <a:xfrm>
              <a:off x="471488" y="1536700"/>
              <a:ext cx="44903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US" sz="1800" dirty="0">
                  <a:solidFill>
                    <a:schemeClr val="tx1"/>
                  </a:solidFill>
                  <a:latin typeface="+mn-lt"/>
                </a:rPr>
                <a:t>Points		           	      Description</a:t>
              </a:r>
            </a:p>
          </p:txBody>
        </p:sp>
        <p:sp>
          <p:nvSpPr>
            <p:cNvPr id="31" name="Oval 18">
              <a:extLst>
                <a:ext uri="{FF2B5EF4-FFF2-40B4-BE49-F238E27FC236}">
                  <a16:creationId xmlns:a16="http://schemas.microsoft.com/office/drawing/2014/main" id="{826CE2E0-3573-A817-BB07-320B4C9D85B1}"/>
                </a:ext>
              </a:extLst>
            </p:cNvPr>
            <p:cNvSpPr>
              <a:spLocks noChangeArrowheads="1"/>
            </p:cNvSpPr>
            <p:nvPr/>
          </p:nvSpPr>
          <p:spPr bwMode="auto">
            <a:xfrm>
              <a:off x="519113" y="2079626"/>
              <a:ext cx="400051" cy="366713"/>
            </a:xfrm>
            <a:prstGeom prst="ellipse">
              <a:avLst/>
            </a:prstGeom>
            <a:solidFill>
              <a:schemeClr val="accent1"/>
            </a:solidFill>
            <a:ln w="12700" cap="sq" algn="ctr">
              <a:solidFill>
                <a:srgbClr val="800000"/>
              </a:solidFill>
              <a:round/>
              <a:headEnd/>
              <a:tailEnd/>
            </a:ln>
          </p:spPr>
          <p:txBody>
            <a:bodyPr wrap="none" anchor="ctr"/>
            <a:lstStyle/>
            <a:p>
              <a:r>
                <a:rPr lang="en-US" sz="1400" dirty="0">
                  <a:solidFill>
                    <a:schemeClr val="bg1"/>
                  </a:solidFill>
                </a:rPr>
                <a:t>1</a:t>
              </a:r>
            </a:p>
          </p:txBody>
        </p:sp>
        <p:sp>
          <p:nvSpPr>
            <p:cNvPr id="32" name="Oval 19">
              <a:extLst>
                <a:ext uri="{FF2B5EF4-FFF2-40B4-BE49-F238E27FC236}">
                  <a16:creationId xmlns:a16="http://schemas.microsoft.com/office/drawing/2014/main" id="{9C5F9EED-A485-A999-5C23-56E2C5824C68}"/>
                </a:ext>
              </a:extLst>
            </p:cNvPr>
            <p:cNvSpPr>
              <a:spLocks noChangeArrowheads="1"/>
            </p:cNvSpPr>
            <p:nvPr/>
          </p:nvSpPr>
          <p:spPr bwMode="auto">
            <a:xfrm>
              <a:off x="519113" y="2962276"/>
              <a:ext cx="400051" cy="366713"/>
            </a:xfrm>
            <a:prstGeom prst="ellipse">
              <a:avLst/>
            </a:prstGeom>
            <a:solidFill>
              <a:schemeClr val="accent1"/>
            </a:solidFill>
            <a:ln w="12700" cap="sq" algn="ctr">
              <a:solidFill>
                <a:srgbClr val="800000"/>
              </a:solidFill>
              <a:round/>
              <a:headEnd/>
              <a:tailEnd/>
            </a:ln>
          </p:spPr>
          <p:txBody>
            <a:bodyPr wrap="none" anchor="ctr"/>
            <a:lstStyle/>
            <a:p>
              <a:r>
                <a:rPr lang="en-US" sz="1400" dirty="0">
                  <a:solidFill>
                    <a:schemeClr val="bg1"/>
                  </a:solidFill>
                </a:rPr>
                <a:t>2</a:t>
              </a:r>
            </a:p>
          </p:txBody>
        </p:sp>
        <p:sp>
          <p:nvSpPr>
            <p:cNvPr id="33" name="Oval 20">
              <a:extLst>
                <a:ext uri="{FF2B5EF4-FFF2-40B4-BE49-F238E27FC236}">
                  <a16:creationId xmlns:a16="http://schemas.microsoft.com/office/drawing/2014/main" id="{1023A26B-7881-6349-C02E-13CC684021CC}"/>
                </a:ext>
              </a:extLst>
            </p:cNvPr>
            <p:cNvSpPr>
              <a:spLocks noChangeArrowheads="1"/>
            </p:cNvSpPr>
            <p:nvPr/>
          </p:nvSpPr>
          <p:spPr bwMode="auto">
            <a:xfrm>
              <a:off x="519113" y="3829051"/>
              <a:ext cx="400051" cy="366713"/>
            </a:xfrm>
            <a:prstGeom prst="ellipse">
              <a:avLst/>
            </a:prstGeom>
            <a:solidFill>
              <a:schemeClr val="accent1"/>
            </a:solidFill>
            <a:ln w="12700" cap="sq" algn="ctr">
              <a:solidFill>
                <a:srgbClr val="800000"/>
              </a:solidFill>
              <a:round/>
              <a:headEnd/>
              <a:tailEnd/>
            </a:ln>
          </p:spPr>
          <p:txBody>
            <a:bodyPr wrap="none" anchor="ctr"/>
            <a:lstStyle/>
            <a:p>
              <a:r>
                <a:rPr lang="en-US" sz="1400" dirty="0">
                  <a:solidFill>
                    <a:schemeClr val="bg1"/>
                  </a:solidFill>
                </a:rPr>
                <a:t>3</a:t>
              </a:r>
            </a:p>
          </p:txBody>
        </p:sp>
        <p:sp>
          <p:nvSpPr>
            <p:cNvPr id="34" name="Oval 21">
              <a:extLst>
                <a:ext uri="{FF2B5EF4-FFF2-40B4-BE49-F238E27FC236}">
                  <a16:creationId xmlns:a16="http://schemas.microsoft.com/office/drawing/2014/main" id="{70D1B5BB-0AA4-8E9F-FD4C-EBBDE171B7E4}"/>
                </a:ext>
              </a:extLst>
            </p:cNvPr>
            <p:cNvSpPr>
              <a:spLocks noChangeArrowheads="1"/>
            </p:cNvSpPr>
            <p:nvPr/>
          </p:nvSpPr>
          <p:spPr bwMode="auto">
            <a:xfrm>
              <a:off x="519113" y="4683126"/>
              <a:ext cx="400051" cy="366713"/>
            </a:xfrm>
            <a:prstGeom prst="ellipse">
              <a:avLst/>
            </a:prstGeom>
            <a:solidFill>
              <a:schemeClr val="accent1"/>
            </a:solidFill>
            <a:ln w="12700" cap="sq" algn="ctr">
              <a:solidFill>
                <a:srgbClr val="800000"/>
              </a:solidFill>
              <a:round/>
              <a:headEnd/>
              <a:tailEnd/>
            </a:ln>
          </p:spPr>
          <p:txBody>
            <a:bodyPr wrap="none" anchor="ctr"/>
            <a:lstStyle/>
            <a:p>
              <a:r>
                <a:rPr lang="en-US" sz="1400" dirty="0">
                  <a:solidFill>
                    <a:schemeClr val="bg1"/>
                  </a:solidFill>
                </a:rPr>
                <a:t>4</a:t>
              </a:r>
            </a:p>
          </p:txBody>
        </p:sp>
        <p:grpSp>
          <p:nvGrpSpPr>
            <p:cNvPr id="35" name="Group 34">
              <a:extLst>
                <a:ext uri="{FF2B5EF4-FFF2-40B4-BE49-F238E27FC236}">
                  <a16:creationId xmlns:a16="http://schemas.microsoft.com/office/drawing/2014/main" id="{01F13DDA-9D46-EC0A-C75E-6BE3637C1475}"/>
                </a:ext>
              </a:extLst>
            </p:cNvPr>
            <p:cNvGrpSpPr/>
            <p:nvPr/>
          </p:nvGrpSpPr>
          <p:grpSpPr>
            <a:xfrm>
              <a:off x="1187451" y="3711576"/>
              <a:ext cx="7415213" cy="568325"/>
              <a:chOff x="1187451" y="5427664"/>
              <a:chExt cx="7415213" cy="568325"/>
            </a:xfrm>
          </p:grpSpPr>
          <p:sp>
            <p:nvSpPr>
              <p:cNvPr id="36" name="Rectangle 7">
                <a:extLst>
                  <a:ext uri="{FF2B5EF4-FFF2-40B4-BE49-F238E27FC236}">
                    <a16:creationId xmlns:a16="http://schemas.microsoft.com/office/drawing/2014/main" id="{F73DD158-B94F-9D77-7598-F81A079A2F90}"/>
                  </a:ext>
                </a:extLst>
              </p:cNvPr>
              <p:cNvSpPr>
                <a:spLocks noChangeArrowheads="1"/>
              </p:cNvSpPr>
              <p:nvPr/>
            </p:nvSpPr>
            <p:spPr bwMode="auto">
              <a:xfrm>
                <a:off x="1187451" y="5427664"/>
                <a:ext cx="1908175" cy="568325"/>
              </a:xfrm>
              <a:prstGeom prst="rect">
                <a:avLst/>
              </a:prstGeom>
              <a:solidFill>
                <a:schemeClr val="accent4"/>
              </a:solidFill>
              <a:ln w="12700" cap="sq" algn="ctr">
                <a:solidFill>
                  <a:schemeClr val="tx1"/>
                </a:solidFill>
                <a:miter lim="800000"/>
                <a:headEnd/>
                <a:tailEnd/>
              </a:ln>
            </p:spPr>
            <p:txBody>
              <a:bodyPr anchor="ctr"/>
              <a:lstStyle/>
              <a:p>
                <a:pPr algn="ctr"/>
                <a:r>
                  <a:rPr lang="en-US" sz="1400" dirty="0">
                    <a:solidFill>
                      <a:schemeClr val="bg1"/>
                    </a:solidFill>
                  </a:rPr>
                  <a:t>Process Map</a:t>
                </a:r>
              </a:p>
            </p:txBody>
          </p:sp>
          <p:sp>
            <p:nvSpPr>
              <p:cNvPr id="37" name="Rectangle 15">
                <a:extLst>
                  <a:ext uri="{FF2B5EF4-FFF2-40B4-BE49-F238E27FC236}">
                    <a16:creationId xmlns:a16="http://schemas.microsoft.com/office/drawing/2014/main" id="{B164CB52-187E-D498-C260-1AEAFA25167B}"/>
                  </a:ext>
                </a:extLst>
              </p:cNvPr>
              <p:cNvSpPr>
                <a:spLocks noChangeArrowheads="1"/>
              </p:cNvSpPr>
              <p:nvPr/>
            </p:nvSpPr>
            <p:spPr bwMode="auto">
              <a:xfrm>
                <a:off x="3641725" y="5484814"/>
                <a:ext cx="4960939"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p>
                <a:pPr marL="285750" indent="-285750" algn="l" defTabSz="708025">
                  <a:lnSpc>
                    <a:spcPct val="100000"/>
                  </a:lnSpc>
                  <a:spcBef>
                    <a:spcPct val="45000"/>
                  </a:spcBef>
                  <a:buClr>
                    <a:schemeClr val="tx1"/>
                  </a:buClr>
                  <a:buSzPct val="90000"/>
                  <a:buFont typeface="Arial" panose="020B0604020202020204" pitchFamily="34" charset="0"/>
                  <a:buChar char="•"/>
                </a:pPr>
                <a:r>
                  <a:rPr lang="en-US" sz="1400" b="1" dirty="0">
                    <a:solidFill>
                      <a:schemeClr val="tx1"/>
                    </a:solidFill>
                  </a:rPr>
                  <a:t>The whole system or sub-process</a:t>
                </a:r>
              </a:p>
            </p:txBody>
          </p:sp>
        </p:grpSp>
        <p:sp>
          <p:nvSpPr>
            <p:cNvPr id="38" name="Oval 21">
              <a:extLst>
                <a:ext uri="{FF2B5EF4-FFF2-40B4-BE49-F238E27FC236}">
                  <a16:creationId xmlns:a16="http://schemas.microsoft.com/office/drawing/2014/main" id="{749D9CF2-260D-5EB5-7AF2-CB2689786A3C}"/>
                </a:ext>
              </a:extLst>
            </p:cNvPr>
            <p:cNvSpPr>
              <a:spLocks noChangeArrowheads="1"/>
            </p:cNvSpPr>
            <p:nvPr/>
          </p:nvSpPr>
          <p:spPr bwMode="auto">
            <a:xfrm>
              <a:off x="509588" y="5524501"/>
              <a:ext cx="400051" cy="366713"/>
            </a:xfrm>
            <a:prstGeom prst="ellipse">
              <a:avLst/>
            </a:prstGeom>
            <a:solidFill>
              <a:schemeClr val="accent1"/>
            </a:solidFill>
            <a:ln w="12700" cap="sq" algn="ctr">
              <a:solidFill>
                <a:srgbClr val="800000"/>
              </a:solidFill>
              <a:round/>
              <a:headEnd/>
              <a:tailEnd/>
            </a:ln>
          </p:spPr>
          <p:txBody>
            <a:bodyPr wrap="none" anchor="ctr"/>
            <a:lstStyle/>
            <a:p>
              <a:r>
                <a:rPr lang="en-US" sz="1400" dirty="0">
                  <a:solidFill>
                    <a:schemeClr val="bg1"/>
                  </a:solidFill>
                </a:rPr>
                <a:t>5</a:t>
              </a:r>
            </a:p>
          </p:txBody>
        </p:sp>
        <p:sp>
          <p:nvSpPr>
            <p:cNvPr id="39" name="Line 11">
              <a:extLst>
                <a:ext uri="{FF2B5EF4-FFF2-40B4-BE49-F238E27FC236}">
                  <a16:creationId xmlns:a16="http://schemas.microsoft.com/office/drawing/2014/main" id="{FA69DFB8-4268-0712-419B-616F5CCE4414}"/>
                </a:ext>
              </a:extLst>
            </p:cNvPr>
            <p:cNvSpPr>
              <a:spLocks noChangeShapeType="1"/>
            </p:cNvSpPr>
            <p:nvPr/>
          </p:nvSpPr>
          <p:spPr bwMode="auto">
            <a:xfrm>
              <a:off x="457201" y="6172200"/>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Tree>
    <p:extLst>
      <p:ext uri="{BB962C8B-B14F-4D97-AF65-F5344CB8AC3E}">
        <p14:creationId xmlns:p14="http://schemas.microsoft.com/office/powerpoint/2010/main" val="83051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Fishbone and Process Map</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lstStyle/>
          <a:p>
            <a:r>
              <a:rPr lang="en-US" dirty="0"/>
              <a:t>Determine the key functions of the process to be studied from the diagram(s)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3" name="Group 2">
            <a:extLst>
              <a:ext uri="{FF2B5EF4-FFF2-40B4-BE49-F238E27FC236}">
                <a16:creationId xmlns:a16="http://schemas.microsoft.com/office/drawing/2014/main" id="{9C27CEC4-7223-D5B0-7FD9-AE4A686E3405}"/>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9073EEC9-05B6-E6DA-8C1F-43AAC0076187}"/>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051CCF8-3113-1282-EAB9-7A8FC5D12F0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EDFAA9B-3C75-298F-791E-0EC42F3A49B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08F3A457-F27F-DFAA-7CBB-55E6992654C3}"/>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35F9C09B-F7FE-8B31-8231-83BD6EB839C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E76C5D5-5A6A-E576-A987-2DCA669EA7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CF5488B4-4093-2E03-5FB3-A12C08B2DF3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90CEFDC6-0747-91A8-BC2E-82C325AE2C5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pic>
        <p:nvPicPr>
          <p:cNvPr id="17" name="Content Placeholder 16">
            <a:extLst>
              <a:ext uri="{FF2B5EF4-FFF2-40B4-BE49-F238E27FC236}">
                <a16:creationId xmlns:a16="http://schemas.microsoft.com/office/drawing/2014/main" id="{1462344C-4034-E7C5-7FF8-DF6EFEBA4840}"/>
              </a:ext>
            </a:extLst>
          </p:cNvPr>
          <p:cNvPicPr>
            <a:picLocks noGrp="1" noChangeAspect="1"/>
          </p:cNvPicPr>
          <p:nvPr>
            <p:ph sz="half" idx="1"/>
          </p:nvPr>
        </p:nvPicPr>
        <p:blipFill>
          <a:blip r:embed="rId3"/>
          <a:stretch>
            <a:fillRect/>
          </a:stretch>
        </p:blipFill>
        <p:spPr>
          <a:xfrm>
            <a:off x="1550140" y="1825625"/>
            <a:ext cx="3757719" cy="4351338"/>
          </a:xfrm>
          <a:prstGeom prst="rect">
            <a:avLst/>
          </a:prstGeom>
        </p:spPr>
      </p:pic>
    </p:spTree>
    <p:extLst>
      <p:ext uri="{BB962C8B-B14F-4D97-AF65-F5344CB8AC3E}">
        <p14:creationId xmlns:p14="http://schemas.microsoft.com/office/powerpoint/2010/main" val="3700850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Process Layout Example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3" name="Group 2">
            <a:extLst>
              <a:ext uri="{FF2B5EF4-FFF2-40B4-BE49-F238E27FC236}">
                <a16:creationId xmlns:a16="http://schemas.microsoft.com/office/drawing/2014/main" id="{FFF82B1C-8B70-69B5-B3B5-3E9BBE1B4B82}"/>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66513607-CFBE-0DF5-35F0-C20C9D884D64}"/>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B1A02E4-0C1D-FF84-89AF-AC7EDE55F05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E034BB5-B935-6EB9-3554-8DD4CB20C3E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CC3AE7CE-7DF0-F76E-B47F-1035F68E9FC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000A977-2E68-8CFF-EF4C-A24DF30141D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9C78B1C-4069-9608-EC01-ACF6E519F7E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3ACFF69D-4DD8-9093-1F82-8C9F55D9F38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90511B00-177E-6AAF-A38E-FF83694AFD2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grpSp>
        <p:nvGrpSpPr>
          <p:cNvPr id="52" name="Group 198">
            <a:extLst>
              <a:ext uri="{FF2B5EF4-FFF2-40B4-BE49-F238E27FC236}">
                <a16:creationId xmlns:a16="http://schemas.microsoft.com/office/drawing/2014/main" id="{E5567A65-8773-87B1-54C8-5FA41164B271}"/>
              </a:ext>
            </a:extLst>
          </p:cNvPr>
          <p:cNvGrpSpPr>
            <a:grpSpLocks/>
          </p:cNvGrpSpPr>
          <p:nvPr/>
        </p:nvGrpSpPr>
        <p:grpSpPr bwMode="auto">
          <a:xfrm>
            <a:off x="1339533" y="1717973"/>
            <a:ext cx="9512934" cy="4447134"/>
            <a:chOff x="381" y="376"/>
            <a:chExt cx="4997" cy="3269"/>
          </a:xfrm>
        </p:grpSpPr>
        <p:sp>
          <p:nvSpPr>
            <p:cNvPr id="53" name="Line 3">
              <a:extLst>
                <a:ext uri="{FF2B5EF4-FFF2-40B4-BE49-F238E27FC236}">
                  <a16:creationId xmlns:a16="http://schemas.microsoft.com/office/drawing/2014/main" id="{164AE683-AC7A-0D1E-8C6E-8F2E806ADA2D}"/>
                </a:ext>
              </a:extLst>
            </p:cNvPr>
            <p:cNvSpPr>
              <a:spLocks noChangeShapeType="1"/>
            </p:cNvSpPr>
            <p:nvPr/>
          </p:nvSpPr>
          <p:spPr bwMode="auto">
            <a:xfrm>
              <a:off x="387" y="424"/>
              <a:ext cx="18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54" name="Rectangle 4">
              <a:extLst>
                <a:ext uri="{FF2B5EF4-FFF2-40B4-BE49-F238E27FC236}">
                  <a16:creationId xmlns:a16="http://schemas.microsoft.com/office/drawing/2014/main" id="{C79F9E0E-6700-22D2-EC9B-42AFD58DD876}"/>
                </a:ext>
              </a:extLst>
            </p:cNvPr>
            <p:cNvSpPr>
              <a:spLocks noChangeArrowheads="1"/>
            </p:cNvSpPr>
            <p:nvPr/>
          </p:nvSpPr>
          <p:spPr bwMode="auto">
            <a:xfrm>
              <a:off x="387" y="424"/>
              <a:ext cx="18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5" name="Line 5">
              <a:extLst>
                <a:ext uri="{FF2B5EF4-FFF2-40B4-BE49-F238E27FC236}">
                  <a16:creationId xmlns:a16="http://schemas.microsoft.com/office/drawing/2014/main" id="{CD99ACB1-3B09-8F5C-41A0-4D9BE24C728A}"/>
                </a:ext>
              </a:extLst>
            </p:cNvPr>
            <p:cNvSpPr>
              <a:spLocks noChangeShapeType="1"/>
            </p:cNvSpPr>
            <p:nvPr/>
          </p:nvSpPr>
          <p:spPr bwMode="auto">
            <a:xfrm>
              <a:off x="720" y="526"/>
              <a:ext cx="149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56" name="Rectangle 6">
              <a:extLst>
                <a:ext uri="{FF2B5EF4-FFF2-40B4-BE49-F238E27FC236}">
                  <a16:creationId xmlns:a16="http://schemas.microsoft.com/office/drawing/2014/main" id="{C035B59A-DEA6-7360-E966-D68E80C6FAB5}"/>
                </a:ext>
              </a:extLst>
            </p:cNvPr>
            <p:cNvSpPr>
              <a:spLocks noChangeArrowheads="1"/>
            </p:cNvSpPr>
            <p:nvPr/>
          </p:nvSpPr>
          <p:spPr bwMode="auto">
            <a:xfrm>
              <a:off x="720" y="526"/>
              <a:ext cx="14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7" name="Line 7">
              <a:extLst>
                <a:ext uri="{FF2B5EF4-FFF2-40B4-BE49-F238E27FC236}">
                  <a16:creationId xmlns:a16="http://schemas.microsoft.com/office/drawing/2014/main" id="{C3B3CB86-03A1-B269-28FB-4D2AF9A81517}"/>
                </a:ext>
              </a:extLst>
            </p:cNvPr>
            <p:cNvSpPr>
              <a:spLocks noChangeShapeType="1"/>
            </p:cNvSpPr>
            <p:nvPr/>
          </p:nvSpPr>
          <p:spPr bwMode="auto">
            <a:xfrm>
              <a:off x="387" y="627"/>
              <a:ext cx="18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58" name="Rectangle 8">
              <a:extLst>
                <a:ext uri="{FF2B5EF4-FFF2-40B4-BE49-F238E27FC236}">
                  <a16:creationId xmlns:a16="http://schemas.microsoft.com/office/drawing/2014/main" id="{DC43D38F-F67B-1A0F-22AB-368291F23DA4}"/>
                </a:ext>
              </a:extLst>
            </p:cNvPr>
            <p:cNvSpPr>
              <a:spLocks noChangeArrowheads="1"/>
            </p:cNvSpPr>
            <p:nvPr/>
          </p:nvSpPr>
          <p:spPr bwMode="auto">
            <a:xfrm>
              <a:off x="387" y="627"/>
              <a:ext cx="1830"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9" name="Line 9">
              <a:extLst>
                <a:ext uri="{FF2B5EF4-FFF2-40B4-BE49-F238E27FC236}">
                  <a16:creationId xmlns:a16="http://schemas.microsoft.com/office/drawing/2014/main" id="{5E46C160-9090-569E-3DAF-D3F9B4D0F407}"/>
                </a:ext>
              </a:extLst>
            </p:cNvPr>
            <p:cNvSpPr>
              <a:spLocks noChangeShapeType="1"/>
            </p:cNvSpPr>
            <p:nvPr/>
          </p:nvSpPr>
          <p:spPr bwMode="auto">
            <a:xfrm>
              <a:off x="4047" y="424"/>
              <a:ext cx="13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60" name="Rectangle 10">
              <a:extLst>
                <a:ext uri="{FF2B5EF4-FFF2-40B4-BE49-F238E27FC236}">
                  <a16:creationId xmlns:a16="http://schemas.microsoft.com/office/drawing/2014/main" id="{949AF193-755A-DF61-E48D-DF8103DADA42}"/>
                </a:ext>
              </a:extLst>
            </p:cNvPr>
            <p:cNvSpPr>
              <a:spLocks noChangeArrowheads="1"/>
            </p:cNvSpPr>
            <p:nvPr/>
          </p:nvSpPr>
          <p:spPr bwMode="auto">
            <a:xfrm>
              <a:off x="4047" y="424"/>
              <a:ext cx="13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1" name="Line 11">
              <a:extLst>
                <a:ext uri="{FF2B5EF4-FFF2-40B4-BE49-F238E27FC236}">
                  <a16:creationId xmlns:a16="http://schemas.microsoft.com/office/drawing/2014/main" id="{D75EB1BF-22F9-6D93-62A5-7760127D7A1B}"/>
                </a:ext>
              </a:extLst>
            </p:cNvPr>
            <p:cNvSpPr>
              <a:spLocks noChangeShapeType="1"/>
            </p:cNvSpPr>
            <p:nvPr/>
          </p:nvSpPr>
          <p:spPr bwMode="auto">
            <a:xfrm>
              <a:off x="4047" y="526"/>
              <a:ext cx="133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62" name="Rectangle 12">
              <a:extLst>
                <a:ext uri="{FF2B5EF4-FFF2-40B4-BE49-F238E27FC236}">
                  <a16:creationId xmlns:a16="http://schemas.microsoft.com/office/drawing/2014/main" id="{E78AAD85-3BCD-D996-5449-F0A0DA379E30}"/>
                </a:ext>
              </a:extLst>
            </p:cNvPr>
            <p:cNvSpPr>
              <a:spLocks noChangeArrowheads="1"/>
            </p:cNvSpPr>
            <p:nvPr/>
          </p:nvSpPr>
          <p:spPr bwMode="auto">
            <a:xfrm>
              <a:off x="4047" y="526"/>
              <a:ext cx="13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3" name="Line 13">
              <a:extLst>
                <a:ext uri="{FF2B5EF4-FFF2-40B4-BE49-F238E27FC236}">
                  <a16:creationId xmlns:a16="http://schemas.microsoft.com/office/drawing/2014/main" id="{2937ECB8-DF2C-D15C-9564-A7601E68E0A7}"/>
                </a:ext>
              </a:extLst>
            </p:cNvPr>
            <p:cNvSpPr>
              <a:spLocks noChangeShapeType="1"/>
            </p:cNvSpPr>
            <p:nvPr/>
          </p:nvSpPr>
          <p:spPr bwMode="auto">
            <a:xfrm>
              <a:off x="4047" y="627"/>
              <a:ext cx="13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64" name="Rectangle 14">
              <a:extLst>
                <a:ext uri="{FF2B5EF4-FFF2-40B4-BE49-F238E27FC236}">
                  <a16:creationId xmlns:a16="http://schemas.microsoft.com/office/drawing/2014/main" id="{F36C4460-D101-0C8E-59E9-C93B8A49AC03}"/>
                </a:ext>
              </a:extLst>
            </p:cNvPr>
            <p:cNvSpPr>
              <a:spLocks noChangeArrowheads="1"/>
            </p:cNvSpPr>
            <p:nvPr/>
          </p:nvSpPr>
          <p:spPr bwMode="auto">
            <a:xfrm>
              <a:off x="4047" y="627"/>
              <a:ext cx="13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5" name="Line 15">
              <a:extLst>
                <a:ext uri="{FF2B5EF4-FFF2-40B4-BE49-F238E27FC236}">
                  <a16:creationId xmlns:a16="http://schemas.microsoft.com/office/drawing/2014/main" id="{9F6E83BD-13AA-A0CD-EFEF-9637E97381C2}"/>
                </a:ext>
              </a:extLst>
            </p:cNvPr>
            <p:cNvSpPr>
              <a:spLocks noChangeShapeType="1"/>
            </p:cNvSpPr>
            <p:nvPr/>
          </p:nvSpPr>
          <p:spPr bwMode="auto">
            <a:xfrm>
              <a:off x="387" y="750"/>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66" name="Rectangle 16">
              <a:extLst>
                <a:ext uri="{FF2B5EF4-FFF2-40B4-BE49-F238E27FC236}">
                  <a16:creationId xmlns:a16="http://schemas.microsoft.com/office/drawing/2014/main" id="{4C8E5409-B68E-3CBE-B796-55A554B61306}"/>
                </a:ext>
              </a:extLst>
            </p:cNvPr>
            <p:cNvSpPr>
              <a:spLocks noChangeArrowheads="1"/>
            </p:cNvSpPr>
            <p:nvPr/>
          </p:nvSpPr>
          <p:spPr bwMode="auto">
            <a:xfrm>
              <a:off x="387" y="750"/>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7" name="Line 17">
              <a:extLst>
                <a:ext uri="{FF2B5EF4-FFF2-40B4-BE49-F238E27FC236}">
                  <a16:creationId xmlns:a16="http://schemas.microsoft.com/office/drawing/2014/main" id="{FDD5E16E-5552-05BD-A1B9-7CBA274AAF15}"/>
                </a:ext>
              </a:extLst>
            </p:cNvPr>
            <p:cNvSpPr>
              <a:spLocks noChangeShapeType="1"/>
            </p:cNvSpPr>
            <p:nvPr/>
          </p:nvSpPr>
          <p:spPr bwMode="auto">
            <a:xfrm>
              <a:off x="387" y="886"/>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68" name="Rectangle 18">
              <a:extLst>
                <a:ext uri="{FF2B5EF4-FFF2-40B4-BE49-F238E27FC236}">
                  <a16:creationId xmlns:a16="http://schemas.microsoft.com/office/drawing/2014/main" id="{87682443-AF48-20B9-6184-0C47DF0D89DD}"/>
                </a:ext>
              </a:extLst>
            </p:cNvPr>
            <p:cNvSpPr>
              <a:spLocks noChangeArrowheads="1"/>
            </p:cNvSpPr>
            <p:nvPr/>
          </p:nvSpPr>
          <p:spPr bwMode="auto">
            <a:xfrm>
              <a:off x="387" y="886"/>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9" name="Line 19">
              <a:extLst>
                <a:ext uri="{FF2B5EF4-FFF2-40B4-BE49-F238E27FC236}">
                  <a16:creationId xmlns:a16="http://schemas.microsoft.com/office/drawing/2014/main" id="{FCBF0782-1D14-EAC2-81C8-B885CD34D459}"/>
                </a:ext>
              </a:extLst>
            </p:cNvPr>
            <p:cNvSpPr>
              <a:spLocks noChangeShapeType="1"/>
            </p:cNvSpPr>
            <p:nvPr/>
          </p:nvSpPr>
          <p:spPr bwMode="auto">
            <a:xfrm>
              <a:off x="387" y="102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70" name="Rectangle 20">
              <a:extLst>
                <a:ext uri="{FF2B5EF4-FFF2-40B4-BE49-F238E27FC236}">
                  <a16:creationId xmlns:a16="http://schemas.microsoft.com/office/drawing/2014/main" id="{3A7A632B-C8DB-5A8D-619B-2793A1CE6B27}"/>
                </a:ext>
              </a:extLst>
            </p:cNvPr>
            <p:cNvSpPr>
              <a:spLocks noChangeArrowheads="1"/>
            </p:cNvSpPr>
            <p:nvPr/>
          </p:nvSpPr>
          <p:spPr bwMode="auto">
            <a:xfrm>
              <a:off x="387" y="1022"/>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1" name="Line 21">
              <a:extLst>
                <a:ext uri="{FF2B5EF4-FFF2-40B4-BE49-F238E27FC236}">
                  <a16:creationId xmlns:a16="http://schemas.microsoft.com/office/drawing/2014/main" id="{F1B0F261-0F20-A5C6-082B-B1B649ACD37C}"/>
                </a:ext>
              </a:extLst>
            </p:cNvPr>
            <p:cNvSpPr>
              <a:spLocks noChangeShapeType="1"/>
            </p:cNvSpPr>
            <p:nvPr/>
          </p:nvSpPr>
          <p:spPr bwMode="auto">
            <a:xfrm>
              <a:off x="387" y="1158"/>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72" name="Rectangle 22">
              <a:extLst>
                <a:ext uri="{FF2B5EF4-FFF2-40B4-BE49-F238E27FC236}">
                  <a16:creationId xmlns:a16="http://schemas.microsoft.com/office/drawing/2014/main" id="{300E80C2-200A-79F3-F658-6B766DD8780A}"/>
                </a:ext>
              </a:extLst>
            </p:cNvPr>
            <p:cNvSpPr>
              <a:spLocks noChangeArrowheads="1"/>
            </p:cNvSpPr>
            <p:nvPr/>
          </p:nvSpPr>
          <p:spPr bwMode="auto">
            <a:xfrm>
              <a:off x="387" y="1158"/>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3" name="Line 23">
              <a:extLst>
                <a:ext uri="{FF2B5EF4-FFF2-40B4-BE49-F238E27FC236}">
                  <a16:creationId xmlns:a16="http://schemas.microsoft.com/office/drawing/2014/main" id="{119A5905-3C01-4284-3814-730FF1002D7E}"/>
                </a:ext>
              </a:extLst>
            </p:cNvPr>
            <p:cNvSpPr>
              <a:spLocks noChangeShapeType="1"/>
            </p:cNvSpPr>
            <p:nvPr/>
          </p:nvSpPr>
          <p:spPr bwMode="auto">
            <a:xfrm>
              <a:off x="387" y="1293"/>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74" name="Rectangle 24">
              <a:extLst>
                <a:ext uri="{FF2B5EF4-FFF2-40B4-BE49-F238E27FC236}">
                  <a16:creationId xmlns:a16="http://schemas.microsoft.com/office/drawing/2014/main" id="{101FB3D3-894E-37FF-568F-51770CCD0712}"/>
                </a:ext>
              </a:extLst>
            </p:cNvPr>
            <p:cNvSpPr>
              <a:spLocks noChangeArrowheads="1"/>
            </p:cNvSpPr>
            <p:nvPr/>
          </p:nvSpPr>
          <p:spPr bwMode="auto">
            <a:xfrm>
              <a:off x="387" y="1293"/>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5" name="Line 25">
              <a:extLst>
                <a:ext uri="{FF2B5EF4-FFF2-40B4-BE49-F238E27FC236}">
                  <a16:creationId xmlns:a16="http://schemas.microsoft.com/office/drawing/2014/main" id="{0A0C2D62-1C26-0EB8-184D-76B7F96D797A}"/>
                </a:ext>
              </a:extLst>
            </p:cNvPr>
            <p:cNvSpPr>
              <a:spLocks noChangeShapeType="1"/>
            </p:cNvSpPr>
            <p:nvPr/>
          </p:nvSpPr>
          <p:spPr bwMode="auto">
            <a:xfrm>
              <a:off x="387" y="1429"/>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76" name="Rectangle 26">
              <a:extLst>
                <a:ext uri="{FF2B5EF4-FFF2-40B4-BE49-F238E27FC236}">
                  <a16:creationId xmlns:a16="http://schemas.microsoft.com/office/drawing/2014/main" id="{81FF61C6-90DD-714B-3804-6741E407BEDA}"/>
                </a:ext>
              </a:extLst>
            </p:cNvPr>
            <p:cNvSpPr>
              <a:spLocks noChangeArrowheads="1"/>
            </p:cNvSpPr>
            <p:nvPr/>
          </p:nvSpPr>
          <p:spPr bwMode="auto">
            <a:xfrm>
              <a:off x="387" y="1429"/>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7" name="Line 27">
              <a:extLst>
                <a:ext uri="{FF2B5EF4-FFF2-40B4-BE49-F238E27FC236}">
                  <a16:creationId xmlns:a16="http://schemas.microsoft.com/office/drawing/2014/main" id="{07545038-174C-D009-88E9-6BAA69ACB162}"/>
                </a:ext>
              </a:extLst>
            </p:cNvPr>
            <p:cNvSpPr>
              <a:spLocks noChangeShapeType="1"/>
            </p:cNvSpPr>
            <p:nvPr/>
          </p:nvSpPr>
          <p:spPr bwMode="auto">
            <a:xfrm>
              <a:off x="387" y="1565"/>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78" name="Rectangle 28">
              <a:extLst>
                <a:ext uri="{FF2B5EF4-FFF2-40B4-BE49-F238E27FC236}">
                  <a16:creationId xmlns:a16="http://schemas.microsoft.com/office/drawing/2014/main" id="{E0F3EEA2-0ED1-4AFC-A581-B15776060F66}"/>
                </a:ext>
              </a:extLst>
            </p:cNvPr>
            <p:cNvSpPr>
              <a:spLocks noChangeArrowheads="1"/>
            </p:cNvSpPr>
            <p:nvPr/>
          </p:nvSpPr>
          <p:spPr bwMode="auto">
            <a:xfrm>
              <a:off x="387" y="1565"/>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9" name="Line 29">
              <a:extLst>
                <a:ext uri="{FF2B5EF4-FFF2-40B4-BE49-F238E27FC236}">
                  <a16:creationId xmlns:a16="http://schemas.microsoft.com/office/drawing/2014/main" id="{18E82D7E-702A-4158-1843-9509B41E6531}"/>
                </a:ext>
              </a:extLst>
            </p:cNvPr>
            <p:cNvSpPr>
              <a:spLocks noChangeShapeType="1"/>
            </p:cNvSpPr>
            <p:nvPr/>
          </p:nvSpPr>
          <p:spPr bwMode="auto">
            <a:xfrm>
              <a:off x="387" y="1701"/>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80" name="Rectangle 30">
              <a:extLst>
                <a:ext uri="{FF2B5EF4-FFF2-40B4-BE49-F238E27FC236}">
                  <a16:creationId xmlns:a16="http://schemas.microsoft.com/office/drawing/2014/main" id="{4D2910EB-C6A7-C57A-B131-BD8AD8330C54}"/>
                </a:ext>
              </a:extLst>
            </p:cNvPr>
            <p:cNvSpPr>
              <a:spLocks noChangeArrowheads="1"/>
            </p:cNvSpPr>
            <p:nvPr/>
          </p:nvSpPr>
          <p:spPr bwMode="auto">
            <a:xfrm>
              <a:off x="387" y="1701"/>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81" name="Line 31">
              <a:extLst>
                <a:ext uri="{FF2B5EF4-FFF2-40B4-BE49-F238E27FC236}">
                  <a16:creationId xmlns:a16="http://schemas.microsoft.com/office/drawing/2014/main" id="{AD1DF66E-C471-ACAC-8087-6A6DA7EBA21F}"/>
                </a:ext>
              </a:extLst>
            </p:cNvPr>
            <p:cNvSpPr>
              <a:spLocks noChangeShapeType="1"/>
            </p:cNvSpPr>
            <p:nvPr/>
          </p:nvSpPr>
          <p:spPr bwMode="auto">
            <a:xfrm>
              <a:off x="387" y="1837"/>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82" name="Rectangle 32">
              <a:extLst>
                <a:ext uri="{FF2B5EF4-FFF2-40B4-BE49-F238E27FC236}">
                  <a16:creationId xmlns:a16="http://schemas.microsoft.com/office/drawing/2014/main" id="{BB7E74F5-3481-E050-B24D-4FE5DFFD42E4}"/>
                </a:ext>
              </a:extLst>
            </p:cNvPr>
            <p:cNvSpPr>
              <a:spLocks noChangeArrowheads="1"/>
            </p:cNvSpPr>
            <p:nvPr/>
          </p:nvSpPr>
          <p:spPr bwMode="auto">
            <a:xfrm>
              <a:off x="387" y="1837"/>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83" name="Line 33">
              <a:extLst>
                <a:ext uri="{FF2B5EF4-FFF2-40B4-BE49-F238E27FC236}">
                  <a16:creationId xmlns:a16="http://schemas.microsoft.com/office/drawing/2014/main" id="{D2AA4F15-29C3-9176-548E-9C067C26DD87}"/>
                </a:ext>
              </a:extLst>
            </p:cNvPr>
            <p:cNvSpPr>
              <a:spLocks noChangeShapeType="1"/>
            </p:cNvSpPr>
            <p:nvPr/>
          </p:nvSpPr>
          <p:spPr bwMode="auto">
            <a:xfrm>
              <a:off x="387" y="197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84" name="Rectangle 34">
              <a:extLst>
                <a:ext uri="{FF2B5EF4-FFF2-40B4-BE49-F238E27FC236}">
                  <a16:creationId xmlns:a16="http://schemas.microsoft.com/office/drawing/2014/main" id="{810E1817-57CE-D6AD-F1C5-CF8D34C67F4D}"/>
                </a:ext>
              </a:extLst>
            </p:cNvPr>
            <p:cNvSpPr>
              <a:spLocks noChangeArrowheads="1"/>
            </p:cNvSpPr>
            <p:nvPr/>
          </p:nvSpPr>
          <p:spPr bwMode="auto">
            <a:xfrm>
              <a:off x="387" y="1972"/>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85" name="Line 35">
              <a:extLst>
                <a:ext uri="{FF2B5EF4-FFF2-40B4-BE49-F238E27FC236}">
                  <a16:creationId xmlns:a16="http://schemas.microsoft.com/office/drawing/2014/main" id="{1DF1FB90-7093-FEE7-A96D-37A53C773ECA}"/>
                </a:ext>
              </a:extLst>
            </p:cNvPr>
            <p:cNvSpPr>
              <a:spLocks noChangeShapeType="1"/>
            </p:cNvSpPr>
            <p:nvPr/>
          </p:nvSpPr>
          <p:spPr bwMode="auto">
            <a:xfrm>
              <a:off x="387" y="2108"/>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86" name="Rectangle 36">
              <a:extLst>
                <a:ext uri="{FF2B5EF4-FFF2-40B4-BE49-F238E27FC236}">
                  <a16:creationId xmlns:a16="http://schemas.microsoft.com/office/drawing/2014/main" id="{21F5E6F2-9C84-4219-A5A4-FB79505BD43C}"/>
                </a:ext>
              </a:extLst>
            </p:cNvPr>
            <p:cNvSpPr>
              <a:spLocks noChangeArrowheads="1"/>
            </p:cNvSpPr>
            <p:nvPr/>
          </p:nvSpPr>
          <p:spPr bwMode="auto">
            <a:xfrm>
              <a:off x="387" y="2108"/>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87" name="Line 37">
              <a:extLst>
                <a:ext uri="{FF2B5EF4-FFF2-40B4-BE49-F238E27FC236}">
                  <a16:creationId xmlns:a16="http://schemas.microsoft.com/office/drawing/2014/main" id="{9C8D36D7-627F-B49A-1BBB-BB3D96D79431}"/>
                </a:ext>
              </a:extLst>
            </p:cNvPr>
            <p:cNvSpPr>
              <a:spLocks noChangeShapeType="1"/>
            </p:cNvSpPr>
            <p:nvPr/>
          </p:nvSpPr>
          <p:spPr bwMode="auto">
            <a:xfrm>
              <a:off x="387" y="2244"/>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88" name="Rectangle 38">
              <a:extLst>
                <a:ext uri="{FF2B5EF4-FFF2-40B4-BE49-F238E27FC236}">
                  <a16:creationId xmlns:a16="http://schemas.microsoft.com/office/drawing/2014/main" id="{1B865BB0-C02D-9684-CF91-BEA418722E14}"/>
                </a:ext>
              </a:extLst>
            </p:cNvPr>
            <p:cNvSpPr>
              <a:spLocks noChangeArrowheads="1"/>
            </p:cNvSpPr>
            <p:nvPr/>
          </p:nvSpPr>
          <p:spPr bwMode="auto">
            <a:xfrm>
              <a:off x="387" y="2244"/>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89" name="Line 39">
              <a:extLst>
                <a:ext uri="{FF2B5EF4-FFF2-40B4-BE49-F238E27FC236}">
                  <a16:creationId xmlns:a16="http://schemas.microsoft.com/office/drawing/2014/main" id="{771A0DBB-15D0-13F9-35E3-FC0F1B6EF444}"/>
                </a:ext>
              </a:extLst>
            </p:cNvPr>
            <p:cNvSpPr>
              <a:spLocks noChangeShapeType="1"/>
            </p:cNvSpPr>
            <p:nvPr/>
          </p:nvSpPr>
          <p:spPr bwMode="auto">
            <a:xfrm>
              <a:off x="387" y="2380"/>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90" name="Rectangle 40">
              <a:extLst>
                <a:ext uri="{FF2B5EF4-FFF2-40B4-BE49-F238E27FC236}">
                  <a16:creationId xmlns:a16="http://schemas.microsoft.com/office/drawing/2014/main" id="{5708443F-7ECA-16B2-5639-D376787F661C}"/>
                </a:ext>
              </a:extLst>
            </p:cNvPr>
            <p:cNvSpPr>
              <a:spLocks noChangeArrowheads="1"/>
            </p:cNvSpPr>
            <p:nvPr/>
          </p:nvSpPr>
          <p:spPr bwMode="auto">
            <a:xfrm>
              <a:off x="387" y="2380"/>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1" name="Line 41">
              <a:extLst>
                <a:ext uri="{FF2B5EF4-FFF2-40B4-BE49-F238E27FC236}">
                  <a16:creationId xmlns:a16="http://schemas.microsoft.com/office/drawing/2014/main" id="{27CD9377-FFE8-0B93-B66A-3BD11ED52A36}"/>
                </a:ext>
              </a:extLst>
            </p:cNvPr>
            <p:cNvSpPr>
              <a:spLocks noChangeShapeType="1"/>
            </p:cNvSpPr>
            <p:nvPr/>
          </p:nvSpPr>
          <p:spPr bwMode="auto">
            <a:xfrm>
              <a:off x="387" y="2515"/>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92" name="Rectangle 42">
              <a:extLst>
                <a:ext uri="{FF2B5EF4-FFF2-40B4-BE49-F238E27FC236}">
                  <a16:creationId xmlns:a16="http://schemas.microsoft.com/office/drawing/2014/main" id="{D4B2168C-AAA9-D18D-8E69-CAD43C11334C}"/>
                </a:ext>
              </a:extLst>
            </p:cNvPr>
            <p:cNvSpPr>
              <a:spLocks noChangeArrowheads="1"/>
            </p:cNvSpPr>
            <p:nvPr/>
          </p:nvSpPr>
          <p:spPr bwMode="auto">
            <a:xfrm>
              <a:off x="387" y="2515"/>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3" name="Line 43">
              <a:extLst>
                <a:ext uri="{FF2B5EF4-FFF2-40B4-BE49-F238E27FC236}">
                  <a16:creationId xmlns:a16="http://schemas.microsoft.com/office/drawing/2014/main" id="{F6590EBA-09A8-2583-26EE-6810E896286A}"/>
                </a:ext>
              </a:extLst>
            </p:cNvPr>
            <p:cNvSpPr>
              <a:spLocks noChangeShapeType="1"/>
            </p:cNvSpPr>
            <p:nvPr/>
          </p:nvSpPr>
          <p:spPr bwMode="auto">
            <a:xfrm>
              <a:off x="387" y="2651"/>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94" name="Rectangle 44">
              <a:extLst>
                <a:ext uri="{FF2B5EF4-FFF2-40B4-BE49-F238E27FC236}">
                  <a16:creationId xmlns:a16="http://schemas.microsoft.com/office/drawing/2014/main" id="{6F9E84EC-C969-BEB7-2D6B-B70297647BAC}"/>
                </a:ext>
              </a:extLst>
            </p:cNvPr>
            <p:cNvSpPr>
              <a:spLocks noChangeArrowheads="1"/>
            </p:cNvSpPr>
            <p:nvPr/>
          </p:nvSpPr>
          <p:spPr bwMode="auto">
            <a:xfrm>
              <a:off x="387" y="2651"/>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5" name="Line 45">
              <a:extLst>
                <a:ext uri="{FF2B5EF4-FFF2-40B4-BE49-F238E27FC236}">
                  <a16:creationId xmlns:a16="http://schemas.microsoft.com/office/drawing/2014/main" id="{E1DC3830-6243-8A6A-97C5-3B32FB72653B}"/>
                </a:ext>
              </a:extLst>
            </p:cNvPr>
            <p:cNvSpPr>
              <a:spLocks noChangeShapeType="1"/>
            </p:cNvSpPr>
            <p:nvPr/>
          </p:nvSpPr>
          <p:spPr bwMode="auto">
            <a:xfrm>
              <a:off x="387" y="2787"/>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96" name="Rectangle 46">
              <a:extLst>
                <a:ext uri="{FF2B5EF4-FFF2-40B4-BE49-F238E27FC236}">
                  <a16:creationId xmlns:a16="http://schemas.microsoft.com/office/drawing/2014/main" id="{E1B7BC5C-C00A-3ED3-9A8B-4DE61DD0A75B}"/>
                </a:ext>
              </a:extLst>
            </p:cNvPr>
            <p:cNvSpPr>
              <a:spLocks noChangeArrowheads="1"/>
            </p:cNvSpPr>
            <p:nvPr/>
          </p:nvSpPr>
          <p:spPr bwMode="auto">
            <a:xfrm>
              <a:off x="387" y="2787"/>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7" name="Line 47">
              <a:extLst>
                <a:ext uri="{FF2B5EF4-FFF2-40B4-BE49-F238E27FC236}">
                  <a16:creationId xmlns:a16="http://schemas.microsoft.com/office/drawing/2014/main" id="{650FB7B1-B2EA-1F51-2AA7-68DAC281025D}"/>
                </a:ext>
              </a:extLst>
            </p:cNvPr>
            <p:cNvSpPr>
              <a:spLocks noChangeShapeType="1"/>
            </p:cNvSpPr>
            <p:nvPr/>
          </p:nvSpPr>
          <p:spPr bwMode="auto">
            <a:xfrm>
              <a:off x="387" y="292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98" name="Rectangle 48">
              <a:extLst>
                <a:ext uri="{FF2B5EF4-FFF2-40B4-BE49-F238E27FC236}">
                  <a16:creationId xmlns:a16="http://schemas.microsoft.com/office/drawing/2014/main" id="{941580A8-62AD-0EE4-6A5E-2DCBA9E38F8B}"/>
                </a:ext>
              </a:extLst>
            </p:cNvPr>
            <p:cNvSpPr>
              <a:spLocks noChangeArrowheads="1"/>
            </p:cNvSpPr>
            <p:nvPr/>
          </p:nvSpPr>
          <p:spPr bwMode="auto">
            <a:xfrm>
              <a:off x="387" y="2922"/>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9" name="Line 49">
              <a:extLst>
                <a:ext uri="{FF2B5EF4-FFF2-40B4-BE49-F238E27FC236}">
                  <a16:creationId xmlns:a16="http://schemas.microsoft.com/office/drawing/2014/main" id="{CDCA7AFD-CB47-1C4F-CA77-C3BC81C7280B}"/>
                </a:ext>
              </a:extLst>
            </p:cNvPr>
            <p:cNvSpPr>
              <a:spLocks noChangeShapeType="1"/>
            </p:cNvSpPr>
            <p:nvPr/>
          </p:nvSpPr>
          <p:spPr bwMode="auto">
            <a:xfrm>
              <a:off x="387" y="3058"/>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00" name="Rectangle 50">
              <a:extLst>
                <a:ext uri="{FF2B5EF4-FFF2-40B4-BE49-F238E27FC236}">
                  <a16:creationId xmlns:a16="http://schemas.microsoft.com/office/drawing/2014/main" id="{BA6CD198-7DDB-CE24-1449-56E48F999DC7}"/>
                </a:ext>
              </a:extLst>
            </p:cNvPr>
            <p:cNvSpPr>
              <a:spLocks noChangeArrowheads="1"/>
            </p:cNvSpPr>
            <p:nvPr/>
          </p:nvSpPr>
          <p:spPr bwMode="auto">
            <a:xfrm>
              <a:off x="387" y="3058"/>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1" name="Line 51">
              <a:extLst>
                <a:ext uri="{FF2B5EF4-FFF2-40B4-BE49-F238E27FC236}">
                  <a16:creationId xmlns:a16="http://schemas.microsoft.com/office/drawing/2014/main" id="{E7E5B74F-ACC5-65C4-C0B1-1F376580933C}"/>
                </a:ext>
              </a:extLst>
            </p:cNvPr>
            <p:cNvSpPr>
              <a:spLocks noChangeShapeType="1"/>
            </p:cNvSpPr>
            <p:nvPr/>
          </p:nvSpPr>
          <p:spPr bwMode="auto">
            <a:xfrm>
              <a:off x="387" y="3194"/>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02" name="Rectangle 52">
              <a:extLst>
                <a:ext uri="{FF2B5EF4-FFF2-40B4-BE49-F238E27FC236}">
                  <a16:creationId xmlns:a16="http://schemas.microsoft.com/office/drawing/2014/main" id="{01AD6019-57C0-03EC-B177-95FC0F9EC81C}"/>
                </a:ext>
              </a:extLst>
            </p:cNvPr>
            <p:cNvSpPr>
              <a:spLocks noChangeArrowheads="1"/>
            </p:cNvSpPr>
            <p:nvPr/>
          </p:nvSpPr>
          <p:spPr bwMode="auto">
            <a:xfrm>
              <a:off x="387" y="3194"/>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3" name="Line 53">
              <a:extLst>
                <a:ext uri="{FF2B5EF4-FFF2-40B4-BE49-F238E27FC236}">
                  <a16:creationId xmlns:a16="http://schemas.microsoft.com/office/drawing/2014/main" id="{75C0BF40-A304-BB67-9DD9-E8A4D44AC6DE}"/>
                </a:ext>
              </a:extLst>
            </p:cNvPr>
            <p:cNvSpPr>
              <a:spLocks noChangeShapeType="1"/>
            </p:cNvSpPr>
            <p:nvPr/>
          </p:nvSpPr>
          <p:spPr bwMode="auto">
            <a:xfrm>
              <a:off x="387" y="3329"/>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04" name="Rectangle 54">
              <a:extLst>
                <a:ext uri="{FF2B5EF4-FFF2-40B4-BE49-F238E27FC236}">
                  <a16:creationId xmlns:a16="http://schemas.microsoft.com/office/drawing/2014/main" id="{8CBDE286-AAEC-B581-00D2-788D45B9B7C9}"/>
                </a:ext>
              </a:extLst>
            </p:cNvPr>
            <p:cNvSpPr>
              <a:spLocks noChangeArrowheads="1"/>
            </p:cNvSpPr>
            <p:nvPr/>
          </p:nvSpPr>
          <p:spPr bwMode="auto">
            <a:xfrm>
              <a:off x="387" y="3329"/>
              <a:ext cx="499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5" name="Line 55">
              <a:extLst>
                <a:ext uri="{FF2B5EF4-FFF2-40B4-BE49-F238E27FC236}">
                  <a16:creationId xmlns:a16="http://schemas.microsoft.com/office/drawing/2014/main" id="{B7281267-01DA-4746-1A7F-E695E30C1529}"/>
                </a:ext>
              </a:extLst>
            </p:cNvPr>
            <p:cNvSpPr>
              <a:spLocks noChangeShapeType="1"/>
            </p:cNvSpPr>
            <p:nvPr/>
          </p:nvSpPr>
          <p:spPr bwMode="auto">
            <a:xfrm>
              <a:off x="387" y="341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06" name="Rectangle 56">
              <a:extLst>
                <a:ext uri="{FF2B5EF4-FFF2-40B4-BE49-F238E27FC236}">
                  <a16:creationId xmlns:a16="http://schemas.microsoft.com/office/drawing/2014/main" id="{5F59EEDB-69CA-A79E-579E-AA0D9DABEBEB}"/>
                </a:ext>
              </a:extLst>
            </p:cNvPr>
            <p:cNvSpPr>
              <a:spLocks noChangeArrowheads="1"/>
            </p:cNvSpPr>
            <p:nvPr/>
          </p:nvSpPr>
          <p:spPr bwMode="auto">
            <a:xfrm>
              <a:off x="387" y="3412"/>
              <a:ext cx="499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7" name="Line 57">
              <a:extLst>
                <a:ext uri="{FF2B5EF4-FFF2-40B4-BE49-F238E27FC236}">
                  <a16:creationId xmlns:a16="http://schemas.microsoft.com/office/drawing/2014/main" id="{63EFCBA8-CFE9-8A3C-6D7B-4EFB5668993B}"/>
                </a:ext>
              </a:extLst>
            </p:cNvPr>
            <p:cNvSpPr>
              <a:spLocks noChangeShapeType="1"/>
            </p:cNvSpPr>
            <p:nvPr/>
          </p:nvSpPr>
          <p:spPr bwMode="auto">
            <a:xfrm>
              <a:off x="387" y="3583"/>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08" name="Rectangle 58">
              <a:extLst>
                <a:ext uri="{FF2B5EF4-FFF2-40B4-BE49-F238E27FC236}">
                  <a16:creationId xmlns:a16="http://schemas.microsoft.com/office/drawing/2014/main" id="{4DDC4EE8-37A3-C807-9C0E-411C9C350466}"/>
                </a:ext>
              </a:extLst>
            </p:cNvPr>
            <p:cNvSpPr>
              <a:spLocks noChangeArrowheads="1"/>
            </p:cNvSpPr>
            <p:nvPr/>
          </p:nvSpPr>
          <p:spPr bwMode="auto">
            <a:xfrm>
              <a:off x="387" y="3583"/>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9" name="Rectangle 59">
              <a:extLst>
                <a:ext uri="{FF2B5EF4-FFF2-40B4-BE49-F238E27FC236}">
                  <a16:creationId xmlns:a16="http://schemas.microsoft.com/office/drawing/2014/main" id="{BD47125E-C875-DB76-1465-E26138FDFE0B}"/>
                </a:ext>
              </a:extLst>
            </p:cNvPr>
            <p:cNvSpPr>
              <a:spLocks noChangeArrowheads="1"/>
            </p:cNvSpPr>
            <p:nvPr/>
          </p:nvSpPr>
          <p:spPr bwMode="auto">
            <a:xfrm>
              <a:off x="390" y="445"/>
              <a:ext cx="32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800" b="0" dirty="0">
                  <a:solidFill>
                    <a:srgbClr val="000000"/>
                  </a:solidFill>
                </a:rPr>
                <a:t>Operation Sequence </a:t>
              </a:r>
              <a:endParaRPr lang="en-US" sz="1000" b="0" dirty="0"/>
            </a:p>
          </p:txBody>
        </p:sp>
        <p:sp>
          <p:nvSpPr>
            <p:cNvPr id="110" name="Rectangle 60">
              <a:extLst>
                <a:ext uri="{FF2B5EF4-FFF2-40B4-BE49-F238E27FC236}">
                  <a16:creationId xmlns:a16="http://schemas.microsoft.com/office/drawing/2014/main" id="{6D4C622F-B0A7-C4B7-9743-6ECABF645AAD}"/>
                </a:ext>
              </a:extLst>
            </p:cNvPr>
            <p:cNvSpPr>
              <a:spLocks noChangeArrowheads="1"/>
            </p:cNvSpPr>
            <p:nvPr/>
          </p:nvSpPr>
          <p:spPr bwMode="auto">
            <a:xfrm>
              <a:off x="724" y="420"/>
              <a:ext cx="168"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900" b="0" dirty="0">
                  <a:solidFill>
                    <a:srgbClr val="000000"/>
                  </a:solidFill>
                </a:rPr>
                <a:t>From:</a:t>
              </a:r>
              <a:endParaRPr lang="en-US" sz="1050" b="0" dirty="0"/>
            </a:p>
          </p:txBody>
        </p:sp>
        <p:sp>
          <p:nvSpPr>
            <p:cNvPr id="111" name="Rectangle 61">
              <a:extLst>
                <a:ext uri="{FF2B5EF4-FFF2-40B4-BE49-F238E27FC236}">
                  <a16:creationId xmlns:a16="http://schemas.microsoft.com/office/drawing/2014/main" id="{80C22BCC-07FD-2C32-3404-806CC9FC2C96}"/>
                </a:ext>
              </a:extLst>
            </p:cNvPr>
            <p:cNvSpPr>
              <a:spLocks noChangeArrowheads="1"/>
            </p:cNvSpPr>
            <p:nvPr/>
          </p:nvSpPr>
          <p:spPr bwMode="auto">
            <a:xfrm>
              <a:off x="2611" y="447"/>
              <a:ext cx="92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dirty="0">
                  <a:solidFill>
                    <a:srgbClr val="000000"/>
                  </a:solidFill>
                </a:rPr>
                <a:t>STANDARD WORK SHEET</a:t>
              </a:r>
              <a:endParaRPr lang="en-US" sz="2400" b="0" dirty="0"/>
            </a:p>
          </p:txBody>
        </p:sp>
        <p:sp>
          <p:nvSpPr>
            <p:cNvPr id="112" name="Rectangle 62">
              <a:extLst>
                <a:ext uri="{FF2B5EF4-FFF2-40B4-BE49-F238E27FC236}">
                  <a16:creationId xmlns:a16="http://schemas.microsoft.com/office/drawing/2014/main" id="{1EF28CE2-1A89-51A0-5914-1FB93BFF6B80}"/>
                </a:ext>
              </a:extLst>
            </p:cNvPr>
            <p:cNvSpPr>
              <a:spLocks noChangeArrowheads="1"/>
            </p:cNvSpPr>
            <p:nvPr/>
          </p:nvSpPr>
          <p:spPr bwMode="auto">
            <a:xfrm>
              <a:off x="4053" y="417"/>
              <a:ext cx="289"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100" b="0" dirty="0">
                  <a:solidFill>
                    <a:srgbClr val="000000"/>
                  </a:solidFill>
                </a:rPr>
                <a:t>Part No. </a:t>
              </a:r>
              <a:endParaRPr lang="en-US" sz="1400" b="0" dirty="0"/>
            </a:p>
          </p:txBody>
        </p:sp>
        <p:sp>
          <p:nvSpPr>
            <p:cNvPr id="114" name="Rectangle 64">
              <a:extLst>
                <a:ext uri="{FF2B5EF4-FFF2-40B4-BE49-F238E27FC236}">
                  <a16:creationId xmlns:a16="http://schemas.microsoft.com/office/drawing/2014/main" id="{7901B857-CFFC-C8C0-CA95-CF9EA514B9EC}"/>
                </a:ext>
              </a:extLst>
            </p:cNvPr>
            <p:cNvSpPr>
              <a:spLocks noChangeArrowheads="1"/>
            </p:cNvSpPr>
            <p:nvPr/>
          </p:nvSpPr>
          <p:spPr bwMode="auto">
            <a:xfrm>
              <a:off x="725" y="534"/>
              <a:ext cx="149"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900" b="0" dirty="0">
                  <a:solidFill>
                    <a:srgbClr val="000000"/>
                  </a:solidFill>
                </a:rPr>
                <a:t>To:</a:t>
              </a:r>
              <a:endParaRPr lang="en-US" sz="1050" b="0" dirty="0"/>
            </a:p>
          </p:txBody>
        </p:sp>
        <p:sp>
          <p:nvSpPr>
            <p:cNvPr id="115" name="Rectangle 65">
              <a:extLst>
                <a:ext uri="{FF2B5EF4-FFF2-40B4-BE49-F238E27FC236}">
                  <a16:creationId xmlns:a16="http://schemas.microsoft.com/office/drawing/2014/main" id="{4B79900F-49FC-0FCB-66CA-1C6469B71BF2}"/>
                </a:ext>
              </a:extLst>
            </p:cNvPr>
            <p:cNvSpPr>
              <a:spLocks noChangeArrowheads="1"/>
            </p:cNvSpPr>
            <p:nvPr/>
          </p:nvSpPr>
          <p:spPr bwMode="auto">
            <a:xfrm>
              <a:off x="4057" y="539"/>
              <a:ext cx="301"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b="0" dirty="0">
                  <a:solidFill>
                    <a:srgbClr val="000000"/>
                  </a:solidFill>
                </a:rPr>
                <a:t>Part Name:</a:t>
              </a:r>
              <a:endParaRPr lang="en-US" sz="1050" b="0" dirty="0"/>
            </a:p>
          </p:txBody>
        </p:sp>
        <p:sp>
          <p:nvSpPr>
            <p:cNvPr id="116" name="Line 66">
              <a:extLst>
                <a:ext uri="{FF2B5EF4-FFF2-40B4-BE49-F238E27FC236}">
                  <a16:creationId xmlns:a16="http://schemas.microsoft.com/office/drawing/2014/main" id="{6C292D39-898E-ADC7-0393-25806872F63E}"/>
                </a:ext>
              </a:extLst>
            </p:cNvPr>
            <p:cNvSpPr>
              <a:spLocks noChangeShapeType="1"/>
            </p:cNvSpPr>
            <p:nvPr/>
          </p:nvSpPr>
          <p:spPr bwMode="auto">
            <a:xfrm>
              <a:off x="381"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17" name="Rectangle 67">
              <a:extLst>
                <a:ext uri="{FF2B5EF4-FFF2-40B4-BE49-F238E27FC236}">
                  <a16:creationId xmlns:a16="http://schemas.microsoft.com/office/drawing/2014/main" id="{9BF39595-DE3E-323E-A336-534BA7771746}"/>
                </a:ext>
              </a:extLst>
            </p:cNvPr>
            <p:cNvSpPr>
              <a:spLocks noChangeArrowheads="1"/>
            </p:cNvSpPr>
            <p:nvPr/>
          </p:nvSpPr>
          <p:spPr bwMode="auto">
            <a:xfrm>
              <a:off x="381"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18" name="Line 68">
              <a:extLst>
                <a:ext uri="{FF2B5EF4-FFF2-40B4-BE49-F238E27FC236}">
                  <a16:creationId xmlns:a16="http://schemas.microsoft.com/office/drawing/2014/main" id="{5D517713-1B33-AD42-FBB0-A6F92F40C891}"/>
                </a:ext>
              </a:extLst>
            </p:cNvPr>
            <p:cNvSpPr>
              <a:spLocks noChangeShapeType="1"/>
            </p:cNvSpPr>
            <p:nvPr/>
          </p:nvSpPr>
          <p:spPr bwMode="auto">
            <a:xfrm>
              <a:off x="714"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19" name="Rectangle 69">
              <a:extLst>
                <a:ext uri="{FF2B5EF4-FFF2-40B4-BE49-F238E27FC236}">
                  <a16:creationId xmlns:a16="http://schemas.microsoft.com/office/drawing/2014/main" id="{E10FB00E-AC5E-166A-BFF9-937A17CE4566}"/>
                </a:ext>
              </a:extLst>
            </p:cNvPr>
            <p:cNvSpPr>
              <a:spLocks noChangeArrowheads="1"/>
            </p:cNvSpPr>
            <p:nvPr/>
          </p:nvSpPr>
          <p:spPr bwMode="auto">
            <a:xfrm>
              <a:off x="714"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0" name="Line 70">
              <a:extLst>
                <a:ext uri="{FF2B5EF4-FFF2-40B4-BE49-F238E27FC236}">
                  <a16:creationId xmlns:a16="http://schemas.microsoft.com/office/drawing/2014/main" id="{F7C3B528-113F-6DBB-65DF-B20738B676CF}"/>
                </a:ext>
              </a:extLst>
            </p:cNvPr>
            <p:cNvSpPr>
              <a:spLocks noChangeShapeType="1"/>
            </p:cNvSpPr>
            <p:nvPr/>
          </p:nvSpPr>
          <p:spPr bwMode="auto">
            <a:xfrm>
              <a:off x="880"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1" name="Rectangle 71">
              <a:extLst>
                <a:ext uri="{FF2B5EF4-FFF2-40B4-BE49-F238E27FC236}">
                  <a16:creationId xmlns:a16="http://schemas.microsoft.com/office/drawing/2014/main" id="{FA756322-B4BB-6387-2FA3-C1B110C4A262}"/>
                </a:ext>
              </a:extLst>
            </p:cNvPr>
            <p:cNvSpPr>
              <a:spLocks noChangeArrowheads="1"/>
            </p:cNvSpPr>
            <p:nvPr/>
          </p:nvSpPr>
          <p:spPr bwMode="auto">
            <a:xfrm>
              <a:off x="880" y="424"/>
              <a:ext cx="7"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2" name="Line 72">
              <a:extLst>
                <a:ext uri="{FF2B5EF4-FFF2-40B4-BE49-F238E27FC236}">
                  <a16:creationId xmlns:a16="http://schemas.microsoft.com/office/drawing/2014/main" id="{34C87994-3F39-CB54-8868-70A56886EB9B}"/>
                </a:ext>
              </a:extLst>
            </p:cNvPr>
            <p:cNvSpPr>
              <a:spLocks noChangeShapeType="1"/>
            </p:cNvSpPr>
            <p:nvPr/>
          </p:nvSpPr>
          <p:spPr bwMode="auto">
            <a:xfrm>
              <a:off x="2211"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3" name="Rectangle 73">
              <a:extLst>
                <a:ext uri="{FF2B5EF4-FFF2-40B4-BE49-F238E27FC236}">
                  <a16:creationId xmlns:a16="http://schemas.microsoft.com/office/drawing/2014/main" id="{92DCAEBF-3AB7-8C55-64CB-FB801B46D895}"/>
                </a:ext>
              </a:extLst>
            </p:cNvPr>
            <p:cNvSpPr>
              <a:spLocks noChangeArrowheads="1"/>
            </p:cNvSpPr>
            <p:nvPr/>
          </p:nvSpPr>
          <p:spPr bwMode="auto">
            <a:xfrm>
              <a:off x="2211"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4" name="Line 74">
              <a:extLst>
                <a:ext uri="{FF2B5EF4-FFF2-40B4-BE49-F238E27FC236}">
                  <a16:creationId xmlns:a16="http://schemas.microsoft.com/office/drawing/2014/main" id="{9571B9D0-24FE-D2C6-C5D2-9FA307F8ECB9}"/>
                </a:ext>
              </a:extLst>
            </p:cNvPr>
            <p:cNvSpPr>
              <a:spLocks noChangeShapeType="1"/>
            </p:cNvSpPr>
            <p:nvPr/>
          </p:nvSpPr>
          <p:spPr bwMode="auto">
            <a:xfrm>
              <a:off x="4040"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5" name="Rectangle 75">
              <a:extLst>
                <a:ext uri="{FF2B5EF4-FFF2-40B4-BE49-F238E27FC236}">
                  <a16:creationId xmlns:a16="http://schemas.microsoft.com/office/drawing/2014/main" id="{D4B7452B-C482-8D98-D57C-3B854B37B071}"/>
                </a:ext>
              </a:extLst>
            </p:cNvPr>
            <p:cNvSpPr>
              <a:spLocks noChangeArrowheads="1"/>
            </p:cNvSpPr>
            <p:nvPr/>
          </p:nvSpPr>
          <p:spPr bwMode="auto">
            <a:xfrm>
              <a:off x="4040" y="424"/>
              <a:ext cx="7"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6" name="Line 76">
              <a:extLst>
                <a:ext uri="{FF2B5EF4-FFF2-40B4-BE49-F238E27FC236}">
                  <a16:creationId xmlns:a16="http://schemas.microsoft.com/office/drawing/2014/main" id="{E4A8D726-3081-BD72-E0E0-7A6585697EB9}"/>
                </a:ext>
              </a:extLst>
            </p:cNvPr>
            <p:cNvSpPr>
              <a:spLocks noChangeShapeType="1"/>
            </p:cNvSpPr>
            <p:nvPr/>
          </p:nvSpPr>
          <p:spPr bwMode="auto">
            <a:xfrm>
              <a:off x="4373"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7" name="Rectangle 77">
              <a:extLst>
                <a:ext uri="{FF2B5EF4-FFF2-40B4-BE49-F238E27FC236}">
                  <a16:creationId xmlns:a16="http://schemas.microsoft.com/office/drawing/2014/main" id="{C81FE585-05EC-6FB4-5CED-79F342A2ED87}"/>
                </a:ext>
              </a:extLst>
            </p:cNvPr>
            <p:cNvSpPr>
              <a:spLocks noChangeArrowheads="1"/>
            </p:cNvSpPr>
            <p:nvPr/>
          </p:nvSpPr>
          <p:spPr bwMode="auto">
            <a:xfrm>
              <a:off x="4373" y="424"/>
              <a:ext cx="7"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8" name="Line 78">
              <a:extLst>
                <a:ext uri="{FF2B5EF4-FFF2-40B4-BE49-F238E27FC236}">
                  <a16:creationId xmlns:a16="http://schemas.microsoft.com/office/drawing/2014/main" id="{748B1480-2C99-0404-3DD9-5938F1C4EF17}"/>
                </a:ext>
              </a:extLst>
            </p:cNvPr>
            <p:cNvSpPr>
              <a:spLocks noChangeShapeType="1"/>
            </p:cNvSpPr>
            <p:nvPr/>
          </p:nvSpPr>
          <p:spPr bwMode="auto">
            <a:xfrm>
              <a:off x="5372"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9" name="Rectangle 79">
              <a:extLst>
                <a:ext uri="{FF2B5EF4-FFF2-40B4-BE49-F238E27FC236}">
                  <a16:creationId xmlns:a16="http://schemas.microsoft.com/office/drawing/2014/main" id="{0A2A3452-C8A5-B520-9819-68CA2078F8E4}"/>
                </a:ext>
              </a:extLst>
            </p:cNvPr>
            <p:cNvSpPr>
              <a:spLocks noChangeArrowheads="1"/>
            </p:cNvSpPr>
            <p:nvPr/>
          </p:nvSpPr>
          <p:spPr bwMode="auto">
            <a:xfrm>
              <a:off x="5372"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30" name="Rectangle 80">
              <a:extLst>
                <a:ext uri="{FF2B5EF4-FFF2-40B4-BE49-F238E27FC236}">
                  <a16:creationId xmlns:a16="http://schemas.microsoft.com/office/drawing/2014/main" id="{E9E76555-605C-BE6E-64A5-818105CA0EDE}"/>
                </a:ext>
              </a:extLst>
            </p:cNvPr>
            <p:cNvSpPr>
              <a:spLocks noChangeArrowheads="1"/>
            </p:cNvSpPr>
            <p:nvPr/>
          </p:nvSpPr>
          <p:spPr bwMode="auto">
            <a:xfrm>
              <a:off x="627" y="3314"/>
              <a:ext cx="40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0" dirty="0">
                  <a:solidFill>
                    <a:srgbClr val="000000"/>
                  </a:solidFill>
                </a:rPr>
                <a:t>Quality Check</a:t>
              </a:r>
              <a:endParaRPr lang="en-US" sz="2400" b="0" dirty="0"/>
            </a:p>
          </p:txBody>
        </p:sp>
        <p:sp>
          <p:nvSpPr>
            <p:cNvPr id="131" name="Rectangle 81">
              <a:extLst>
                <a:ext uri="{FF2B5EF4-FFF2-40B4-BE49-F238E27FC236}">
                  <a16:creationId xmlns:a16="http://schemas.microsoft.com/office/drawing/2014/main" id="{12CB3113-BFE6-2911-B92A-9141764FC042}"/>
                </a:ext>
              </a:extLst>
            </p:cNvPr>
            <p:cNvSpPr>
              <a:spLocks noChangeArrowheads="1"/>
            </p:cNvSpPr>
            <p:nvPr/>
          </p:nvSpPr>
          <p:spPr bwMode="auto">
            <a:xfrm>
              <a:off x="1412" y="3314"/>
              <a:ext cx="53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0" dirty="0">
                  <a:solidFill>
                    <a:srgbClr val="000000"/>
                  </a:solidFill>
                </a:rPr>
                <a:t>Safety Precaution</a:t>
              </a:r>
              <a:endParaRPr lang="en-US" sz="2400" b="0" dirty="0"/>
            </a:p>
          </p:txBody>
        </p:sp>
        <p:sp>
          <p:nvSpPr>
            <p:cNvPr id="132" name="Rectangle 82">
              <a:extLst>
                <a:ext uri="{FF2B5EF4-FFF2-40B4-BE49-F238E27FC236}">
                  <a16:creationId xmlns:a16="http://schemas.microsoft.com/office/drawing/2014/main" id="{8145A5CC-3D71-E650-F4A6-508524A28502}"/>
                </a:ext>
              </a:extLst>
            </p:cNvPr>
            <p:cNvSpPr>
              <a:spLocks noChangeArrowheads="1"/>
            </p:cNvSpPr>
            <p:nvPr/>
          </p:nvSpPr>
          <p:spPr bwMode="auto">
            <a:xfrm>
              <a:off x="2300" y="3315"/>
              <a:ext cx="40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0" dirty="0">
                  <a:solidFill>
                    <a:srgbClr val="000000"/>
                  </a:solidFill>
                </a:rPr>
                <a:t>Standard WIP</a:t>
              </a:r>
              <a:endParaRPr lang="en-US" sz="2400" b="0" dirty="0"/>
            </a:p>
          </p:txBody>
        </p:sp>
        <p:sp>
          <p:nvSpPr>
            <p:cNvPr id="133" name="Rectangle 83">
              <a:extLst>
                <a:ext uri="{FF2B5EF4-FFF2-40B4-BE49-F238E27FC236}">
                  <a16:creationId xmlns:a16="http://schemas.microsoft.com/office/drawing/2014/main" id="{F6281593-5F4F-3D7A-E993-1AF5F7CAE494}"/>
                </a:ext>
              </a:extLst>
            </p:cNvPr>
            <p:cNvSpPr>
              <a:spLocks noChangeArrowheads="1"/>
            </p:cNvSpPr>
            <p:nvPr/>
          </p:nvSpPr>
          <p:spPr bwMode="auto">
            <a:xfrm>
              <a:off x="3129" y="3314"/>
              <a:ext cx="39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0" dirty="0">
                  <a:solidFill>
                    <a:srgbClr val="000000"/>
                  </a:solidFill>
                </a:rPr>
                <a:t># Pieces WIP</a:t>
              </a:r>
              <a:endParaRPr lang="en-US" sz="2400" b="0" dirty="0"/>
            </a:p>
          </p:txBody>
        </p:sp>
        <p:sp>
          <p:nvSpPr>
            <p:cNvPr id="134" name="Rectangle 84">
              <a:extLst>
                <a:ext uri="{FF2B5EF4-FFF2-40B4-BE49-F238E27FC236}">
                  <a16:creationId xmlns:a16="http://schemas.microsoft.com/office/drawing/2014/main" id="{A4EB654A-0636-7078-3105-0A0E2DB6ECC4}"/>
                </a:ext>
              </a:extLst>
            </p:cNvPr>
            <p:cNvSpPr>
              <a:spLocks noChangeArrowheads="1"/>
            </p:cNvSpPr>
            <p:nvPr/>
          </p:nvSpPr>
          <p:spPr bwMode="auto">
            <a:xfrm>
              <a:off x="3985" y="3319"/>
              <a:ext cx="33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0" dirty="0">
                  <a:solidFill>
                    <a:srgbClr val="000000"/>
                  </a:solidFill>
                </a:rPr>
                <a:t>TAKT Time</a:t>
              </a:r>
              <a:endParaRPr lang="en-US" sz="2400" b="0" dirty="0"/>
            </a:p>
          </p:txBody>
        </p:sp>
        <p:sp>
          <p:nvSpPr>
            <p:cNvPr id="135" name="Rectangle 85">
              <a:extLst>
                <a:ext uri="{FF2B5EF4-FFF2-40B4-BE49-F238E27FC236}">
                  <a16:creationId xmlns:a16="http://schemas.microsoft.com/office/drawing/2014/main" id="{68BB36F5-1A65-9919-9F45-C44A404F5EE4}"/>
                </a:ext>
              </a:extLst>
            </p:cNvPr>
            <p:cNvSpPr>
              <a:spLocks noChangeArrowheads="1"/>
            </p:cNvSpPr>
            <p:nvPr/>
          </p:nvSpPr>
          <p:spPr bwMode="auto">
            <a:xfrm>
              <a:off x="4820" y="3318"/>
              <a:ext cx="33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0" dirty="0">
                  <a:solidFill>
                    <a:srgbClr val="000000"/>
                  </a:solidFill>
                </a:rPr>
                <a:t>Cycle Time</a:t>
              </a:r>
              <a:endParaRPr lang="en-US" sz="2400" b="0" dirty="0"/>
            </a:p>
          </p:txBody>
        </p:sp>
        <p:sp>
          <p:nvSpPr>
            <p:cNvPr id="136" name="Rectangle 86">
              <a:extLst>
                <a:ext uri="{FF2B5EF4-FFF2-40B4-BE49-F238E27FC236}">
                  <a16:creationId xmlns:a16="http://schemas.microsoft.com/office/drawing/2014/main" id="{F9A17546-F39E-6EA5-57AB-A4EDD0B17DC2}"/>
                </a:ext>
              </a:extLst>
            </p:cNvPr>
            <p:cNvSpPr>
              <a:spLocks noChangeArrowheads="1"/>
            </p:cNvSpPr>
            <p:nvPr/>
          </p:nvSpPr>
          <p:spPr bwMode="auto">
            <a:xfrm>
              <a:off x="1590" y="3385"/>
              <a:ext cx="8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300" b="0" dirty="0">
                  <a:solidFill>
                    <a:srgbClr val="000000"/>
                  </a:solidFill>
                </a:rPr>
                <a:t>+</a:t>
              </a:r>
              <a:endParaRPr lang="en-US" sz="2400" b="0" dirty="0"/>
            </a:p>
          </p:txBody>
        </p:sp>
        <p:sp>
          <p:nvSpPr>
            <p:cNvPr id="137" name="Line 88">
              <a:extLst>
                <a:ext uri="{FF2B5EF4-FFF2-40B4-BE49-F238E27FC236}">
                  <a16:creationId xmlns:a16="http://schemas.microsoft.com/office/drawing/2014/main" id="{9EE1BD21-E119-5AF8-EDF2-E1AEB4D39D5B}"/>
                </a:ext>
              </a:extLst>
            </p:cNvPr>
            <p:cNvSpPr>
              <a:spLocks noChangeShapeType="1"/>
            </p:cNvSpPr>
            <p:nvPr/>
          </p:nvSpPr>
          <p:spPr bwMode="auto">
            <a:xfrm>
              <a:off x="381"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38" name="Rectangle 89">
              <a:extLst>
                <a:ext uri="{FF2B5EF4-FFF2-40B4-BE49-F238E27FC236}">
                  <a16:creationId xmlns:a16="http://schemas.microsoft.com/office/drawing/2014/main" id="{36806B02-1070-77F4-409D-0AA42DAB62F5}"/>
                </a:ext>
              </a:extLst>
            </p:cNvPr>
            <p:cNvSpPr>
              <a:spLocks noChangeArrowheads="1"/>
            </p:cNvSpPr>
            <p:nvPr/>
          </p:nvSpPr>
          <p:spPr bwMode="auto">
            <a:xfrm>
              <a:off x="381"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39" name="Line 90">
              <a:extLst>
                <a:ext uri="{FF2B5EF4-FFF2-40B4-BE49-F238E27FC236}">
                  <a16:creationId xmlns:a16="http://schemas.microsoft.com/office/drawing/2014/main" id="{519DBFAA-F422-98E3-4FEF-F48B7A546281}"/>
                </a:ext>
              </a:extLst>
            </p:cNvPr>
            <p:cNvSpPr>
              <a:spLocks noChangeShapeType="1"/>
            </p:cNvSpPr>
            <p:nvPr/>
          </p:nvSpPr>
          <p:spPr bwMode="auto">
            <a:xfrm>
              <a:off x="714"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0" name="Rectangle 91">
              <a:extLst>
                <a:ext uri="{FF2B5EF4-FFF2-40B4-BE49-F238E27FC236}">
                  <a16:creationId xmlns:a16="http://schemas.microsoft.com/office/drawing/2014/main" id="{83AC7151-0FF1-D6F0-CDE6-C23557F30673}"/>
                </a:ext>
              </a:extLst>
            </p:cNvPr>
            <p:cNvSpPr>
              <a:spLocks noChangeArrowheads="1"/>
            </p:cNvSpPr>
            <p:nvPr/>
          </p:nvSpPr>
          <p:spPr bwMode="auto">
            <a:xfrm>
              <a:off x="714"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41" name="Line 92">
              <a:extLst>
                <a:ext uri="{FF2B5EF4-FFF2-40B4-BE49-F238E27FC236}">
                  <a16:creationId xmlns:a16="http://schemas.microsoft.com/office/drawing/2014/main" id="{E3120D85-2D00-8C71-2572-DDDDC5A91BD6}"/>
                </a:ext>
              </a:extLst>
            </p:cNvPr>
            <p:cNvSpPr>
              <a:spLocks noChangeShapeType="1"/>
            </p:cNvSpPr>
            <p:nvPr/>
          </p:nvSpPr>
          <p:spPr bwMode="auto">
            <a:xfrm>
              <a:off x="880"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2" name="Rectangle 93">
              <a:extLst>
                <a:ext uri="{FF2B5EF4-FFF2-40B4-BE49-F238E27FC236}">
                  <a16:creationId xmlns:a16="http://schemas.microsoft.com/office/drawing/2014/main" id="{AD9DF5C9-CE59-61D1-6EED-697D924940D4}"/>
                </a:ext>
              </a:extLst>
            </p:cNvPr>
            <p:cNvSpPr>
              <a:spLocks noChangeArrowheads="1"/>
            </p:cNvSpPr>
            <p:nvPr/>
          </p:nvSpPr>
          <p:spPr bwMode="auto">
            <a:xfrm>
              <a:off x="880"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43" name="Line 94">
              <a:extLst>
                <a:ext uri="{FF2B5EF4-FFF2-40B4-BE49-F238E27FC236}">
                  <a16:creationId xmlns:a16="http://schemas.microsoft.com/office/drawing/2014/main" id="{25BE9389-4FAC-A24F-3EBF-7F8D080562FE}"/>
                </a:ext>
              </a:extLst>
            </p:cNvPr>
            <p:cNvSpPr>
              <a:spLocks noChangeShapeType="1"/>
            </p:cNvSpPr>
            <p:nvPr/>
          </p:nvSpPr>
          <p:spPr bwMode="auto">
            <a:xfrm>
              <a:off x="2211"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4" name="Rectangle 95">
              <a:extLst>
                <a:ext uri="{FF2B5EF4-FFF2-40B4-BE49-F238E27FC236}">
                  <a16:creationId xmlns:a16="http://schemas.microsoft.com/office/drawing/2014/main" id="{E2163078-5747-7F3C-6F13-E093526F227E}"/>
                </a:ext>
              </a:extLst>
            </p:cNvPr>
            <p:cNvSpPr>
              <a:spLocks noChangeArrowheads="1"/>
            </p:cNvSpPr>
            <p:nvPr/>
          </p:nvSpPr>
          <p:spPr bwMode="auto">
            <a:xfrm>
              <a:off x="2211"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45" name="Line 96">
              <a:extLst>
                <a:ext uri="{FF2B5EF4-FFF2-40B4-BE49-F238E27FC236}">
                  <a16:creationId xmlns:a16="http://schemas.microsoft.com/office/drawing/2014/main" id="{9B0295A8-EC4B-ED49-C573-C4332AB5A3D7}"/>
                </a:ext>
              </a:extLst>
            </p:cNvPr>
            <p:cNvSpPr>
              <a:spLocks noChangeShapeType="1"/>
            </p:cNvSpPr>
            <p:nvPr/>
          </p:nvSpPr>
          <p:spPr bwMode="auto">
            <a:xfrm>
              <a:off x="4040"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6" name="Rectangle 97">
              <a:extLst>
                <a:ext uri="{FF2B5EF4-FFF2-40B4-BE49-F238E27FC236}">
                  <a16:creationId xmlns:a16="http://schemas.microsoft.com/office/drawing/2014/main" id="{08DC2E1A-7C8F-EE96-812B-083F10320A82}"/>
                </a:ext>
              </a:extLst>
            </p:cNvPr>
            <p:cNvSpPr>
              <a:spLocks noChangeArrowheads="1"/>
            </p:cNvSpPr>
            <p:nvPr/>
          </p:nvSpPr>
          <p:spPr bwMode="auto">
            <a:xfrm>
              <a:off x="4040"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47" name="Line 98">
              <a:extLst>
                <a:ext uri="{FF2B5EF4-FFF2-40B4-BE49-F238E27FC236}">
                  <a16:creationId xmlns:a16="http://schemas.microsoft.com/office/drawing/2014/main" id="{C7E5A5E0-B048-B055-46CA-6B671EFE0F8F}"/>
                </a:ext>
              </a:extLst>
            </p:cNvPr>
            <p:cNvSpPr>
              <a:spLocks noChangeShapeType="1"/>
            </p:cNvSpPr>
            <p:nvPr/>
          </p:nvSpPr>
          <p:spPr bwMode="auto">
            <a:xfrm>
              <a:off x="4373"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8" name="Rectangle 99">
              <a:extLst>
                <a:ext uri="{FF2B5EF4-FFF2-40B4-BE49-F238E27FC236}">
                  <a16:creationId xmlns:a16="http://schemas.microsoft.com/office/drawing/2014/main" id="{1FB743DE-55B8-D514-86B1-5E34E3201F8B}"/>
                </a:ext>
              </a:extLst>
            </p:cNvPr>
            <p:cNvSpPr>
              <a:spLocks noChangeArrowheads="1"/>
            </p:cNvSpPr>
            <p:nvPr/>
          </p:nvSpPr>
          <p:spPr bwMode="auto">
            <a:xfrm>
              <a:off x="4373"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49" name="Line 100">
              <a:extLst>
                <a:ext uri="{FF2B5EF4-FFF2-40B4-BE49-F238E27FC236}">
                  <a16:creationId xmlns:a16="http://schemas.microsoft.com/office/drawing/2014/main" id="{E013D3B5-7BFC-3F6D-0353-1C56827EF95B}"/>
                </a:ext>
              </a:extLst>
            </p:cNvPr>
            <p:cNvSpPr>
              <a:spLocks noChangeShapeType="1"/>
            </p:cNvSpPr>
            <p:nvPr/>
          </p:nvSpPr>
          <p:spPr bwMode="auto">
            <a:xfrm>
              <a:off x="5372"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0" name="Rectangle 101">
              <a:extLst>
                <a:ext uri="{FF2B5EF4-FFF2-40B4-BE49-F238E27FC236}">
                  <a16:creationId xmlns:a16="http://schemas.microsoft.com/office/drawing/2014/main" id="{C4BE807D-0B8D-DD57-D986-6EECEB2DF8F8}"/>
                </a:ext>
              </a:extLst>
            </p:cNvPr>
            <p:cNvSpPr>
              <a:spLocks noChangeArrowheads="1"/>
            </p:cNvSpPr>
            <p:nvPr/>
          </p:nvSpPr>
          <p:spPr bwMode="auto">
            <a:xfrm>
              <a:off x="5372"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1" name="Line 102">
              <a:extLst>
                <a:ext uri="{FF2B5EF4-FFF2-40B4-BE49-F238E27FC236}">
                  <a16:creationId xmlns:a16="http://schemas.microsoft.com/office/drawing/2014/main" id="{541E3FE0-DE71-6374-B25D-CA61AAE81DC4}"/>
                </a:ext>
              </a:extLst>
            </p:cNvPr>
            <p:cNvSpPr>
              <a:spLocks noChangeShapeType="1"/>
            </p:cNvSpPr>
            <p:nvPr/>
          </p:nvSpPr>
          <p:spPr bwMode="auto">
            <a:xfrm>
              <a:off x="548"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2" name="Rectangle 103">
              <a:extLst>
                <a:ext uri="{FF2B5EF4-FFF2-40B4-BE49-F238E27FC236}">
                  <a16:creationId xmlns:a16="http://schemas.microsoft.com/office/drawing/2014/main" id="{EE8735B7-045F-8739-741C-48A3DCF77428}"/>
                </a:ext>
              </a:extLst>
            </p:cNvPr>
            <p:cNvSpPr>
              <a:spLocks noChangeArrowheads="1"/>
            </p:cNvSpPr>
            <p:nvPr/>
          </p:nvSpPr>
          <p:spPr bwMode="auto">
            <a:xfrm>
              <a:off x="548"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3" name="Line 104">
              <a:extLst>
                <a:ext uri="{FF2B5EF4-FFF2-40B4-BE49-F238E27FC236}">
                  <a16:creationId xmlns:a16="http://schemas.microsoft.com/office/drawing/2014/main" id="{B76B1539-587E-9E9E-688C-0F8CB1EAE2FA}"/>
                </a:ext>
              </a:extLst>
            </p:cNvPr>
            <p:cNvSpPr>
              <a:spLocks noChangeShapeType="1"/>
            </p:cNvSpPr>
            <p:nvPr/>
          </p:nvSpPr>
          <p:spPr bwMode="auto">
            <a:xfrm>
              <a:off x="1046"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4" name="Rectangle 105">
              <a:extLst>
                <a:ext uri="{FF2B5EF4-FFF2-40B4-BE49-F238E27FC236}">
                  <a16:creationId xmlns:a16="http://schemas.microsoft.com/office/drawing/2014/main" id="{476E9A21-6CC7-07DC-BE39-2F8B39198663}"/>
                </a:ext>
              </a:extLst>
            </p:cNvPr>
            <p:cNvSpPr>
              <a:spLocks noChangeArrowheads="1"/>
            </p:cNvSpPr>
            <p:nvPr/>
          </p:nvSpPr>
          <p:spPr bwMode="auto">
            <a:xfrm>
              <a:off x="1046"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5" name="Line 106">
              <a:extLst>
                <a:ext uri="{FF2B5EF4-FFF2-40B4-BE49-F238E27FC236}">
                  <a16:creationId xmlns:a16="http://schemas.microsoft.com/office/drawing/2014/main" id="{6A93125D-E863-B6BF-5E12-74E4BF96BFCF}"/>
                </a:ext>
              </a:extLst>
            </p:cNvPr>
            <p:cNvSpPr>
              <a:spLocks noChangeShapeType="1"/>
            </p:cNvSpPr>
            <p:nvPr/>
          </p:nvSpPr>
          <p:spPr bwMode="auto">
            <a:xfrm>
              <a:off x="1213"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6" name="Rectangle 107">
              <a:extLst>
                <a:ext uri="{FF2B5EF4-FFF2-40B4-BE49-F238E27FC236}">
                  <a16:creationId xmlns:a16="http://schemas.microsoft.com/office/drawing/2014/main" id="{9F6C8235-FD54-EEE3-989E-1D35AF95E9E2}"/>
                </a:ext>
              </a:extLst>
            </p:cNvPr>
            <p:cNvSpPr>
              <a:spLocks noChangeArrowheads="1"/>
            </p:cNvSpPr>
            <p:nvPr/>
          </p:nvSpPr>
          <p:spPr bwMode="auto">
            <a:xfrm>
              <a:off x="1213"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7" name="Line 108">
              <a:extLst>
                <a:ext uri="{FF2B5EF4-FFF2-40B4-BE49-F238E27FC236}">
                  <a16:creationId xmlns:a16="http://schemas.microsoft.com/office/drawing/2014/main" id="{FE948E81-511D-F351-E0EE-4DB8C0723FAF}"/>
                </a:ext>
              </a:extLst>
            </p:cNvPr>
            <p:cNvSpPr>
              <a:spLocks noChangeShapeType="1"/>
            </p:cNvSpPr>
            <p:nvPr/>
          </p:nvSpPr>
          <p:spPr bwMode="auto">
            <a:xfrm>
              <a:off x="1379"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8" name="Rectangle 109">
              <a:extLst>
                <a:ext uri="{FF2B5EF4-FFF2-40B4-BE49-F238E27FC236}">
                  <a16:creationId xmlns:a16="http://schemas.microsoft.com/office/drawing/2014/main" id="{BE99140E-619D-46BB-CAF7-D06726A104B8}"/>
                </a:ext>
              </a:extLst>
            </p:cNvPr>
            <p:cNvSpPr>
              <a:spLocks noChangeArrowheads="1"/>
            </p:cNvSpPr>
            <p:nvPr/>
          </p:nvSpPr>
          <p:spPr bwMode="auto">
            <a:xfrm>
              <a:off x="1379"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9" name="Line 110">
              <a:extLst>
                <a:ext uri="{FF2B5EF4-FFF2-40B4-BE49-F238E27FC236}">
                  <a16:creationId xmlns:a16="http://schemas.microsoft.com/office/drawing/2014/main" id="{F78E9056-2B29-4AC6-01C3-7C43B6688ECE}"/>
                </a:ext>
              </a:extLst>
            </p:cNvPr>
            <p:cNvSpPr>
              <a:spLocks noChangeShapeType="1"/>
            </p:cNvSpPr>
            <p:nvPr/>
          </p:nvSpPr>
          <p:spPr bwMode="auto">
            <a:xfrm>
              <a:off x="1546"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60" name="Rectangle 111">
              <a:extLst>
                <a:ext uri="{FF2B5EF4-FFF2-40B4-BE49-F238E27FC236}">
                  <a16:creationId xmlns:a16="http://schemas.microsoft.com/office/drawing/2014/main" id="{085C068C-4026-471B-7080-72C378A6CBDD}"/>
                </a:ext>
              </a:extLst>
            </p:cNvPr>
            <p:cNvSpPr>
              <a:spLocks noChangeArrowheads="1"/>
            </p:cNvSpPr>
            <p:nvPr/>
          </p:nvSpPr>
          <p:spPr bwMode="auto">
            <a:xfrm>
              <a:off x="1546"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61" name="Line 112">
              <a:extLst>
                <a:ext uri="{FF2B5EF4-FFF2-40B4-BE49-F238E27FC236}">
                  <a16:creationId xmlns:a16="http://schemas.microsoft.com/office/drawing/2014/main" id="{2C7E267C-D80C-ADE1-73C8-A9F7411DE334}"/>
                </a:ext>
              </a:extLst>
            </p:cNvPr>
            <p:cNvSpPr>
              <a:spLocks noChangeShapeType="1"/>
            </p:cNvSpPr>
            <p:nvPr/>
          </p:nvSpPr>
          <p:spPr bwMode="auto">
            <a:xfrm>
              <a:off x="171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62" name="Rectangle 113">
              <a:extLst>
                <a:ext uri="{FF2B5EF4-FFF2-40B4-BE49-F238E27FC236}">
                  <a16:creationId xmlns:a16="http://schemas.microsoft.com/office/drawing/2014/main" id="{107C44CF-E5DE-20F3-BF94-58F1E5789917}"/>
                </a:ext>
              </a:extLst>
            </p:cNvPr>
            <p:cNvSpPr>
              <a:spLocks noChangeArrowheads="1"/>
            </p:cNvSpPr>
            <p:nvPr/>
          </p:nvSpPr>
          <p:spPr bwMode="auto">
            <a:xfrm>
              <a:off x="1712"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63" name="Line 114">
              <a:extLst>
                <a:ext uri="{FF2B5EF4-FFF2-40B4-BE49-F238E27FC236}">
                  <a16:creationId xmlns:a16="http://schemas.microsoft.com/office/drawing/2014/main" id="{F2E0AAA2-072B-6734-247F-EA4006EE50FF}"/>
                </a:ext>
              </a:extLst>
            </p:cNvPr>
            <p:cNvSpPr>
              <a:spLocks noChangeShapeType="1"/>
            </p:cNvSpPr>
            <p:nvPr/>
          </p:nvSpPr>
          <p:spPr bwMode="auto">
            <a:xfrm>
              <a:off x="1878"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64" name="Rectangle 115">
              <a:extLst>
                <a:ext uri="{FF2B5EF4-FFF2-40B4-BE49-F238E27FC236}">
                  <a16:creationId xmlns:a16="http://schemas.microsoft.com/office/drawing/2014/main" id="{B9214FB4-5EFA-46FE-D242-03812A088421}"/>
                </a:ext>
              </a:extLst>
            </p:cNvPr>
            <p:cNvSpPr>
              <a:spLocks noChangeArrowheads="1"/>
            </p:cNvSpPr>
            <p:nvPr/>
          </p:nvSpPr>
          <p:spPr bwMode="auto">
            <a:xfrm>
              <a:off x="1878"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65" name="Line 116">
              <a:extLst>
                <a:ext uri="{FF2B5EF4-FFF2-40B4-BE49-F238E27FC236}">
                  <a16:creationId xmlns:a16="http://schemas.microsoft.com/office/drawing/2014/main" id="{DFCAAA37-B6C5-1882-05EB-E2B6F45A1203}"/>
                </a:ext>
              </a:extLst>
            </p:cNvPr>
            <p:cNvSpPr>
              <a:spLocks noChangeShapeType="1"/>
            </p:cNvSpPr>
            <p:nvPr/>
          </p:nvSpPr>
          <p:spPr bwMode="auto">
            <a:xfrm>
              <a:off x="2044"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66" name="Rectangle 117">
              <a:extLst>
                <a:ext uri="{FF2B5EF4-FFF2-40B4-BE49-F238E27FC236}">
                  <a16:creationId xmlns:a16="http://schemas.microsoft.com/office/drawing/2014/main" id="{5180F5C0-8F7F-36FD-CD37-440CE84ADD0D}"/>
                </a:ext>
              </a:extLst>
            </p:cNvPr>
            <p:cNvSpPr>
              <a:spLocks noChangeArrowheads="1"/>
            </p:cNvSpPr>
            <p:nvPr/>
          </p:nvSpPr>
          <p:spPr bwMode="auto">
            <a:xfrm>
              <a:off x="2044" y="750"/>
              <a:ext cx="8"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67" name="Line 118">
              <a:extLst>
                <a:ext uri="{FF2B5EF4-FFF2-40B4-BE49-F238E27FC236}">
                  <a16:creationId xmlns:a16="http://schemas.microsoft.com/office/drawing/2014/main" id="{5DE31B5C-4503-DF14-0979-77C293159970}"/>
                </a:ext>
              </a:extLst>
            </p:cNvPr>
            <p:cNvSpPr>
              <a:spLocks noChangeShapeType="1"/>
            </p:cNvSpPr>
            <p:nvPr/>
          </p:nvSpPr>
          <p:spPr bwMode="auto">
            <a:xfrm>
              <a:off x="2377"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68" name="Rectangle 119">
              <a:extLst>
                <a:ext uri="{FF2B5EF4-FFF2-40B4-BE49-F238E27FC236}">
                  <a16:creationId xmlns:a16="http://schemas.microsoft.com/office/drawing/2014/main" id="{A4F97E84-4D66-8C1E-7F99-531CC8E37D2E}"/>
                </a:ext>
              </a:extLst>
            </p:cNvPr>
            <p:cNvSpPr>
              <a:spLocks noChangeArrowheads="1"/>
            </p:cNvSpPr>
            <p:nvPr/>
          </p:nvSpPr>
          <p:spPr bwMode="auto">
            <a:xfrm>
              <a:off x="2377"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69" name="Line 120">
              <a:extLst>
                <a:ext uri="{FF2B5EF4-FFF2-40B4-BE49-F238E27FC236}">
                  <a16:creationId xmlns:a16="http://schemas.microsoft.com/office/drawing/2014/main" id="{9EE77C16-7257-D692-0408-F536FD35BC35}"/>
                </a:ext>
              </a:extLst>
            </p:cNvPr>
            <p:cNvSpPr>
              <a:spLocks noChangeShapeType="1"/>
            </p:cNvSpPr>
            <p:nvPr/>
          </p:nvSpPr>
          <p:spPr bwMode="auto">
            <a:xfrm>
              <a:off x="2544"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70" name="Rectangle 121">
              <a:extLst>
                <a:ext uri="{FF2B5EF4-FFF2-40B4-BE49-F238E27FC236}">
                  <a16:creationId xmlns:a16="http://schemas.microsoft.com/office/drawing/2014/main" id="{8ABFD3A0-79FB-6D10-C7E8-03F88A808035}"/>
                </a:ext>
              </a:extLst>
            </p:cNvPr>
            <p:cNvSpPr>
              <a:spLocks noChangeArrowheads="1"/>
            </p:cNvSpPr>
            <p:nvPr/>
          </p:nvSpPr>
          <p:spPr bwMode="auto">
            <a:xfrm>
              <a:off x="2544"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1" name="Line 122">
              <a:extLst>
                <a:ext uri="{FF2B5EF4-FFF2-40B4-BE49-F238E27FC236}">
                  <a16:creationId xmlns:a16="http://schemas.microsoft.com/office/drawing/2014/main" id="{850D9CAD-4527-B699-8B87-5B90C0902A85}"/>
                </a:ext>
              </a:extLst>
            </p:cNvPr>
            <p:cNvSpPr>
              <a:spLocks noChangeShapeType="1"/>
            </p:cNvSpPr>
            <p:nvPr/>
          </p:nvSpPr>
          <p:spPr bwMode="auto">
            <a:xfrm>
              <a:off x="2710" y="750"/>
              <a:ext cx="0"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72" name="Rectangle 123">
              <a:extLst>
                <a:ext uri="{FF2B5EF4-FFF2-40B4-BE49-F238E27FC236}">
                  <a16:creationId xmlns:a16="http://schemas.microsoft.com/office/drawing/2014/main" id="{795DE054-E5EF-BBCF-334E-F469929868FA}"/>
                </a:ext>
              </a:extLst>
            </p:cNvPr>
            <p:cNvSpPr>
              <a:spLocks noChangeArrowheads="1"/>
            </p:cNvSpPr>
            <p:nvPr/>
          </p:nvSpPr>
          <p:spPr bwMode="auto">
            <a:xfrm>
              <a:off x="2710"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 name="Line 124">
              <a:extLst>
                <a:ext uri="{FF2B5EF4-FFF2-40B4-BE49-F238E27FC236}">
                  <a16:creationId xmlns:a16="http://schemas.microsoft.com/office/drawing/2014/main" id="{221880F9-F2A9-CD3D-D6FC-0595FEC1E998}"/>
                </a:ext>
              </a:extLst>
            </p:cNvPr>
            <p:cNvSpPr>
              <a:spLocks noChangeShapeType="1"/>
            </p:cNvSpPr>
            <p:nvPr/>
          </p:nvSpPr>
          <p:spPr bwMode="auto">
            <a:xfrm>
              <a:off x="2876"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74" name="Rectangle 125">
              <a:extLst>
                <a:ext uri="{FF2B5EF4-FFF2-40B4-BE49-F238E27FC236}">
                  <a16:creationId xmlns:a16="http://schemas.microsoft.com/office/drawing/2014/main" id="{C503D463-457E-C24E-3AD5-612C3B87064D}"/>
                </a:ext>
              </a:extLst>
            </p:cNvPr>
            <p:cNvSpPr>
              <a:spLocks noChangeArrowheads="1"/>
            </p:cNvSpPr>
            <p:nvPr/>
          </p:nvSpPr>
          <p:spPr bwMode="auto">
            <a:xfrm>
              <a:off x="2876" y="750"/>
              <a:ext cx="7"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5" name="Line 126">
              <a:extLst>
                <a:ext uri="{FF2B5EF4-FFF2-40B4-BE49-F238E27FC236}">
                  <a16:creationId xmlns:a16="http://schemas.microsoft.com/office/drawing/2014/main" id="{1520F67E-B7D8-DA6E-5EDB-7296182CFF23}"/>
                </a:ext>
              </a:extLst>
            </p:cNvPr>
            <p:cNvSpPr>
              <a:spLocks noChangeShapeType="1"/>
            </p:cNvSpPr>
            <p:nvPr/>
          </p:nvSpPr>
          <p:spPr bwMode="auto">
            <a:xfrm>
              <a:off x="304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76" name="Rectangle 127">
              <a:extLst>
                <a:ext uri="{FF2B5EF4-FFF2-40B4-BE49-F238E27FC236}">
                  <a16:creationId xmlns:a16="http://schemas.microsoft.com/office/drawing/2014/main" id="{DB78D57D-E440-1E46-9F18-140724C41A64}"/>
                </a:ext>
              </a:extLst>
            </p:cNvPr>
            <p:cNvSpPr>
              <a:spLocks noChangeArrowheads="1"/>
            </p:cNvSpPr>
            <p:nvPr/>
          </p:nvSpPr>
          <p:spPr bwMode="auto">
            <a:xfrm>
              <a:off x="3042"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7" name="Line 128">
              <a:extLst>
                <a:ext uri="{FF2B5EF4-FFF2-40B4-BE49-F238E27FC236}">
                  <a16:creationId xmlns:a16="http://schemas.microsoft.com/office/drawing/2014/main" id="{C1D43C74-53DC-E92A-DF4A-1EA6729BD953}"/>
                </a:ext>
              </a:extLst>
            </p:cNvPr>
            <p:cNvSpPr>
              <a:spLocks noChangeShapeType="1"/>
            </p:cNvSpPr>
            <p:nvPr/>
          </p:nvSpPr>
          <p:spPr bwMode="auto">
            <a:xfrm>
              <a:off x="3209"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78" name="Rectangle 129">
              <a:extLst>
                <a:ext uri="{FF2B5EF4-FFF2-40B4-BE49-F238E27FC236}">
                  <a16:creationId xmlns:a16="http://schemas.microsoft.com/office/drawing/2014/main" id="{3567E0C8-D7D8-9507-6667-13CE441FB484}"/>
                </a:ext>
              </a:extLst>
            </p:cNvPr>
            <p:cNvSpPr>
              <a:spLocks noChangeArrowheads="1"/>
            </p:cNvSpPr>
            <p:nvPr/>
          </p:nvSpPr>
          <p:spPr bwMode="auto">
            <a:xfrm>
              <a:off x="3209"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9" name="Line 130">
              <a:extLst>
                <a:ext uri="{FF2B5EF4-FFF2-40B4-BE49-F238E27FC236}">
                  <a16:creationId xmlns:a16="http://schemas.microsoft.com/office/drawing/2014/main" id="{CA955A16-D480-1609-2F21-53383AAB7A00}"/>
                </a:ext>
              </a:extLst>
            </p:cNvPr>
            <p:cNvSpPr>
              <a:spLocks noChangeShapeType="1"/>
            </p:cNvSpPr>
            <p:nvPr/>
          </p:nvSpPr>
          <p:spPr bwMode="auto">
            <a:xfrm>
              <a:off x="3375"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80" name="Rectangle 131">
              <a:extLst>
                <a:ext uri="{FF2B5EF4-FFF2-40B4-BE49-F238E27FC236}">
                  <a16:creationId xmlns:a16="http://schemas.microsoft.com/office/drawing/2014/main" id="{4C95571C-34E2-6F95-113C-EBD4627280EF}"/>
                </a:ext>
              </a:extLst>
            </p:cNvPr>
            <p:cNvSpPr>
              <a:spLocks noChangeArrowheads="1"/>
            </p:cNvSpPr>
            <p:nvPr/>
          </p:nvSpPr>
          <p:spPr bwMode="auto">
            <a:xfrm>
              <a:off x="3375"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81" name="Line 132">
              <a:extLst>
                <a:ext uri="{FF2B5EF4-FFF2-40B4-BE49-F238E27FC236}">
                  <a16:creationId xmlns:a16="http://schemas.microsoft.com/office/drawing/2014/main" id="{3D2DF2A5-9D76-E72B-112A-D3954701CFF3}"/>
                </a:ext>
              </a:extLst>
            </p:cNvPr>
            <p:cNvSpPr>
              <a:spLocks noChangeShapeType="1"/>
            </p:cNvSpPr>
            <p:nvPr/>
          </p:nvSpPr>
          <p:spPr bwMode="auto">
            <a:xfrm>
              <a:off x="354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82" name="Rectangle 133">
              <a:extLst>
                <a:ext uri="{FF2B5EF4-FFF2-40B4-BE49-F238E27FC236}">
                  <a16:creationId xmlns:a16="http://schemas.microsoft.com/office/drawing/2014/main" id="{66167B9A-6E6C-8B85-282E-84C9286593F3}"/>
                </a:ext>
              </a:extLst>
            </p:cNvPr>
            <p:cNvSpPr>
              <a:spLocks noChangeArrowheads="1"/>
            </p:cNvSpPr>
            <p:nvPr/>
          </p:nvSpPr>
          <p:spPr bwMode="auto">
            <a:xfrm>
              <a:off x="3542"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83" name="Line 134">
              <a:extLst>
                <a:ext uri="{FF2B5EF4-FFF2-40B4-BE49-F238E27FC236}">
                  <a16:creationId xmlns:a16="http://schemas.microsoft.com/office/drawing/2014/main" id="{4A78E592-C9E3-06C0-5A40-42B8DCD0751F}"/>
                </a:ext>
              </a:extLst>
            </p:cNvPr>
            <p:cNvSpPr>
              <a:spLocks noChangeShapeType="1"/>
            </p:cNvSpPr>
            <p:nvPr/>
          </p:nvSpPr>
          <p:spPr bwMode="auto">
            <a:xfrm>
              <a:off x="3707"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84" name="Rectangle 135">
              <a:extLst>
                <a:ext uri="{FF2B5EF4-FFF2-40B4-BE49-F238E27FC236}">
                  <a16:creationId xmlns:a16="http://schemas.microsoft.com/office/drawing/2014/main" id="{A0AF7A95-5AC5-DDE6-DF0C-FE4B5BB7887A}"/>
                </a:ext>
              </a:extLst>
            </p:cNvPr>
            <p:cNvSpPr>
              <a:spLocks noChangeArrowheads="1"/>
            </p:cNvSpPr>
            <p:nvPr/>
          </p:nvSpPr>
          <p:spPr bwMode="auto">
            <a:xfrm>
              <a:off x="3707" y="750"/>
              <a:ext cx="8"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85" name="Line 136">
              <a:extLst>
                <a:ext uri="{FF2B5EF4-FFF2-40B4-BE49-F238E27FC236}">
                  <a16:creationId xmlns:a16="http://schemas.microsoft.com/office/drawing/2014/main" id="{A413FF65-011A-C944-0AB2-681D7639F849}"/>
                </a:ext>
              </a:extLst>
            </p:cNvPr>
            <p:cNvSpPr>
              <a:spLocks noChangeShapeType="1"/>
            </p:cNvSpPr>
            <p:nvPr/>
          </p:nvSpPr>
          <p:spPr bwMode="auto">
            <a:xfrm>
              <a:off x="3874"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86" name="Rectangle 137">
              <a:extLst>
                <a:ext uri="{FF2B5EF4-FFF2-40B4-BE49-F238E27FC236}">
                  <a16:creationId xmlns:a16="http://schemas.microsoft.com/office/drawing/2014/main" id="{DF8C13E9-1F96-110F-253C-350137CDA8F4}"/>
                </a:ext>
              </a:extLst>
            </p:cNvPr>
            <p:cNvSpPr>
              <a:spLocks noChangeArrowheads="1"/>
            </p:cNvSpPr>
            <p:nvPr/>
          </p:nvSpPr>
          <p:spPr bwMode="auto">
            <a:xfrm>
              <a:off x="3874"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87" name="Line 138">
              <a:extLst>
                <a:ext uri="{FF2B5EF4-FFF2-40B4-BE49-F238E27FC236}">
                  <a16:creationId xmlns:a16="http://schemas.microsoft.com/office/drawing/2014/main" id="{42605959-6548-621E-FEA6-382329799AFF}"/>
                </a:ext>
              </a:extLst>
            </p:cNvPr>
            <p:cNvSpPr>
              <a:spLocks noChangeShapeType="1"/>
            </p:cNvSpPr>
            <p:nvPr/>
          </p:nvSpPr>
          <p:spPr bwMode="auto">
            <a:xfrm>
              <a:off x="4207"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88" name="Rectangle 139">
              <a:extLst>
                <a:ext uri="{FF2B5EF4-FFF2-40B4-BE49-F238E27FC236}">
                  <a16:creationId xmlns:a16="http://schemas.microsoft.com/office/drawing/2014/main" id="{5B0E5AB3-0D53-0F57-87E1-81DEC831D4A3}"/>
                </a:ext>
              </a:extLst>
            </p:cNvPr>
            <p:cNvSpPr>
              <a:spLocks noChangeArrowheads="1"/>
            </p:cNvSpPr>
            <p:nvPr/>
          </p:nvSpPr>
          <p:spPr bwMode="auto">
            <a:xfrm>
              <a:off x="4207"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89" name="Line 140">
              <a:extLst>
                <a:ext uri="{FF2B5EF4-FFF2-40B4-BE49-F238E27FC236}">
                  <a16:creationId xmlns:a16="http://schemas.microsoft.com/office/drawing/2014/main" id="{732094AC-7ED8-43F5-DB56-C54E41C29FB2}"/>
                </a:ext>
              </a:extLst>
            </p:cNvPr>
            <p:cNvSpPr>
              <a:spLocks noChangeShapeType="1"/>
            </p:cNvSpPr>
            <p:nvPr/>
          </p:nvSpPr>
          <p:spPr bwMode="auto">
            <a:xfrm>
              <a:off x="4540" y="750"/>
              <a:ext cx="0"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0" name="Rectangle 141">
              <a:extLst>
                <a:ext uri="{FF2B5EF4-FFF2-40B4-BE49-F238E27FC236}">
                  <a16:creationId xmlns:a16="http://schemas.microsoft.com/office/drawing/2014/main" id="{84BAAA66-4428-A660-D00F-372DEEFA537D}"/>
                </a:ext>
              </a:extLst>
            </p:cNvPr>
            <p:cNvSpPr>
              <a:spLocks noChangeArrowheads="1"/>
            </p:cNvSpPr>
            <p:nvPr/>
          </p:nvSpPr>
          <p:spPr bwMode="auto">
            <a:xfrm>
              <a:off x="4540"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91" name="Line 142">
              <a:extLst>
                <a:ext uri="{FF2B5EF4-FFF2-40B4-BE49-F238E27FC236}">
                  <a16:creationId xmlns:a16="http://schemas.microsoft.com/office/drawing/2014/main" id="{80F5E49A-F879-BD9B-0AE3-DF6891FB1966}"/>
                </a:ext>
              </a:extLst>
            </p:cNvPr>
            <p:cNvSpPr>
              <a:spLocks noChangeShapeType="1"/>
            </p:cNvSpPr>
            <p:nvPr/>
          </p:nvSpPr>
          <p:spPr bwMode="auto">
            <a:xfrm>
              <a:off x="4706"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2" name="Rectangle 143">
              <a:extLst>
                <a:ext uri="{FF2B5EF4-FFF2-40B4-BE49-F238E27FC236}">
                  <a16:creationId xmlns:a16="http://schemas.microsoft.com/office/drawing/2014/main" id="{984E6C39-91BD-319C-5B23-4CAF7D0BF803}"/>
                </a:ext>
              </a:extLst>
            </p:cNvPr>
            <p:cNvSpPr>
              <a:spLocks noChangeArrowheads="1"/>
            </p:cNvSpPr>
            <p:nvPr/>
          </p:nvSpPr>
          <p:spPr bwMode="auto">
            <a:xfrm>
              <a:off x="4706"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93" name="Line 144">
              <a:extLst>
                <a:ext uri="{FF2B5EF4-FFF2-40B4-BE49-F238E27FC236}">
                  <a16:creationId xmlns:a16="http://schemas.microsoft.com/office/drawing/2014/main" id="{5DFBD106-7CA4-5925-DC3B-1BFD981273DC}"/>
                </a:ext>
              </a:extLst>
            </p:cNvPr>
            <p:cNvSpPr>
              <a:spLocks noChangeShapeType="1"/>
            </p:cNvSpPr>
            <p:nvPr/>
          </p:nvSpPr>
          <p:spPr bwMode="auto">
            <a:xfrm>
              <a:off x="487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4" name="Rectangle 145">
              <a:extLst>
                <a:ext uri="{FF2B5EF4-FFF2-40B4-BE49-F238E27FC236}">
                  <a16:creationId xmlns:a16="http://schemas.microsoft.com/office/drawing/2014/main" id="{23D6E0DB-EA5B-B9A3-31BE-3A84EA68B48F}"/>
                </a:ext>
              </a:extLst>
            </p:cNvPr>
            <p:cNvSpPr>
              <a:spLocks noChangeArrowheads="1"/>
            </p:cNvSpPr>
            <p:nvPr/>
          </p:nvSpPr>
          <p:spPr bwMode="auto">
            <a:xfrm>
              <a:off x="4872"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95" name="Line 146">
              <a:extLst>
                <a:ext uri="{FF2B5EF4-FFF2-40B4-BE49-F238E27FC236}">
                  <a16:creationId xmlns:a16="http://schemas.microsoft.com/office/drawing/2014/main" id="{AC0BC118-19F4-1083-1F01-902A86089A8C}"/>
                </a:ext>
              </a:extLst>
            </p:cNvPr>
            <p:cNvSpPr>
              <a:spLocks noChangeShapeType="1"/>
            </p:cNvSpPr>
            <p:nvPr/>
          </p:nvSpPr>
          <p:spPr bwMode="auto">
            <a:xfrm>
              <a:off x="5039"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6" name="Rectangle 147">
              <a:extLst>
                <a:ext uri="{FF2B5EF4-FFF2-40B4-BE49-F238E27FC236}">
                  <a16:creationId xmlns:a16="http://schemas.microsoft.com/office/drawing/2014/main" id="{CDAECAEE-6E8E-3C17-C1AB-3EA5F1662067}"/>
                </a:ext>
              </a:extLst>
            </p:cNvPr>
            <p:cNvSpPr>
              <a:spLocks noChangeArrowheads="1"/>
            </p:cNvSpPr>
            <p:nvPr/>
          </p:nvSpPr>
          <p:spPr bwMode="auto">
            <a:xfrm>
              <a:off x="5039"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97" name="Line 148">
              <a:extLst>
                <a:ext uri="{FF2B5EF4-FFF2-40B4-BE49-F238E27FC236}">
                  <a16:creationId xmlns:a16="http://schemas.microsoft.com/office/drawing/2014/main" id="{E5D891FF-9BFD-408A-5014-35F5126EB28D}"/>
                </a:ext>
              </a:extLst>
            </p:cNvPr>
            <p:cNvSpPr>
              <a:spLocks noChangeShapeType="1"/>
            </p:cNvSpPr>
            <p:nvPr/>
          </p:nvSpPr>
          <p:spPr bwMode="auto">
            <a:xfrm>
              <a:off x="5205"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8" name="Rectangle 149">
              <a:extLst>
                <a:ext uri="{FF2B5EF4-FFF2-40B4-BE49-F238E27FC236}">
                  <a16:creationId xmlns:a16="http://schemas.microsoft.com/office/drawing/2014/main" id="{F4C0FA47-71D8-9E1E-BD93-48B0B12866D2}"/>
                </a:ext>
              </a:extLst>
            </p:cNvPr>
            <p:cNvSpPr>
              <a:spLocks noChangeArrowheads="1"/>
            </p:cNvSpPr>
            <p:nvPr/>
          </p:nvSpPr>
          <p:spPr bwMode="auto">
            <a:xfrm>
              <a:off x="5205"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99" name="Oval 150" descr="Narrow horizontal">
              <a:extLst>
                <a:ext uri="{FF2B5EF4-FFF2-40B4-BE49-F238E27FC236}">
                  <a16:creationId xmlns:a16="http://schemas.microsoft.com/office/drawing/2014/main" id="{531E5D0A-B163-AE97-7296-CFEDB3C20418}"/>
                </a:ext>
              </a:extLst>
            </p:cNvPr>
            <p:cNvSpPr>
              <a:spLocks noChangeArrowheads="1"/>
            </p:cNvSpPr>
            <p:nvPr/>
          </p:nvSpPr>
          <p:spPr bwMode="auto">
            <a:xfrm>
              <a:off x="2363" y="3453"/>
              <a:ext cx="255" cy="112"/>
            </a:xfrm>
            <a:prstGeom prst="ellipse">
              <a:avLst/>
            </a:prstGeom>
            <a:pattFill prst="narHorz">
              <a:fgClr>
                <a:schemeClr val="accent2"/>
              </a:fgClr>
              <a:bgClr>
                <a:schemeClr val="bg1"/>
              </a:bgClr>
            </a:pattFill>
            <a:ln w="12700">
              <a:solidFill>
                <a:schemeClr val="tx1"/>
              </a:solidFill>
              <a:round/>
              <a:headEnd/>
              <a:tailEnd/>
            </a:ln>
          </p:spPr>
          <p:txBody>
            <a:bodyPr wrap="none" anchor="ctr"/>
            <a:lstStyle/>
            <a:p>
              <a:endParaRPr lang="en-US" dirty="0"/>
            </a:p>
          </p:txBody>
        </p:sp>
        <p:grpSp>
          <p:nvGrpSpPr>
            <p:cNvPr id="200" name="Group 151">
              <a:extLst>
                <a:ext uri="{FF2B5EF4-FFF2-40B4-BE49-F238E27FC236}">
                  <a16:creationId xmlns:a16="http://schemas.microsoft.com/office/drawing/2014/main" id="{AD487C0C-F450-8C02-70AB-0149F9345C6E}"/>
                </a:ext>
              </a:extLst>
            </p:cNvPr>
            <p:cNvGrpSpPr>
              <a:grpSpLocks/>
            </p:cNvGrpSpPr>
            <p:nvPr/>
          </p:nvGrpSpPr>
          <p:grpSpPr bwMode="auto">
            <a:xfrm>
              <a:off x="712" y="3453"/>
              <a:ext cx="157" cy="121"/>
              <a:chOff x="496" y="3892"/>
              <a:chExt cx="172" cy="148"/>
            </a:xfrm>
          </p:grpSpPr>
          <p:sp>
            <p:nvSpPr>
              <p:cNvPr id="245" name="Rectangle 152">
                <a:extLst>
                  <a:ext uri="{FF2B5EF4-FFF2-40B4-BE49-F238E27FC236}">
                    <a16:creationId xmlns:a16="http://schemas.microsoft.com/office/drawing/2014/main" id="{7F18E8E6-1DDD-43D1-FF06-07F3F0066CFA}"/>
                  </a:ext>
                </a:extLst>
              </p:cNvPr>
              <p:cNvSpPr>
                <a:spLocks noChangeArrowheads="1"/>
              </p:cNvSpPr>
              <p:nvPr/>
            </p:nvSpPr>
            <p:spPr bwMode="auto">
              <a:xfrm>
                <a:off x="496" y="3892"/>
                <a:ext cx="172" cy="148"/>
              </a:xfrm>
              <a:prstGeom prst="rect">
                <a:avLst/>
              </a:prstGeom>
              <a:solidFill>
                <a:schemeClr val="accent4"/>
              </a:solidFill>
              <a:ln w="12700">
                <a:solidFill>
                  <a:schemeClr val="tx1"/>
                </a:solidFill>
                <a:miter lim="800000"/>
                <a:headEnd/>
                <a:tailEnd/>
              </a:ln>
            </p:spPr>
            <p:txBody>
              <a:bodyPr wrap="none" anchor="ctr"/>
              <a:lstStyle/>
              <a:p>
                <a:endParaRPr lang="en-US" dirty="0"/>
              </a:p>
            </p:txBody>
          </p:sp>
          <p:sp>
            <p:nvSpPr>
              <p:cNvPr id="246" name="AutoShape 153">
                <a:extLst>
                  <a:ext uri="{FF2B5EF4-FFF2-40B4-BE49-F238E27FC236}">
                    <a16:creationId xmlns:a16="http://schemas.microsoft.com/office/drawing/2014/main" id="{EDB3213B-BD8C-8CD6-D5F9-61300D848412}"/>
                  </a:ext>
                </a:extLst>
              </p:cNvPr>
              <p:cNvSpPr>
                <a:spLocks noChangeArrowheads="1"/>
              </p:cNvSpPr>
              <p:nvPr/>
            </p:nvSpPr>
            <p:spPr bwMode="auto">
              <a:xfrm>
                <a:off x="519" y="3892"/>
                <a:ext cx="137" cy="148"/>
              </a:xfrm>
              <a:prstGeom prst="diamond">
                <a:avLst/>
              </a:prstGeom>
              <a:solidFill>
                <a:schemeClr val="accent4"/>
              </a:solidFill>
              <a:ln w="12700">
                <a:solidFill>
                  <a:schemeClr val="tx1"/>
                </a:solidFill>
                <a:miter lim="800000"/>
                <a:headEnd/>
                <a:tailEnd/>
              </a:ln>
            </p:spPr>
            <p:txBody>
              <a:bodyPr wrap="none" anchor="ctr"/>
              <a:lstStyle/>
              <a:p>
                <a:endParaRPr lang="en-US" dirty="0"/>
              </a:p>
            </p:txBody>
          </p:sp>
        </p:grpSp>
        <p:sp>
          <p:nvSpPr>
            <p:cNvPr id="201" name="Text Box 154">
              <a:extLst>
                <a:ext uri="{FF2B5EF4-FFF2-40B4-BE49-F238E27FC236}">
                  <a16:creationId xmlns:a16="http://schemas.microsoft.com/office/drawing/2014/main" id="{E11FB20D-C7C8-3853-AA3C-416EC49A6E76}"/>
                </a:ext>
              </a:extLst>
            </p:cNvPr>
            <p:cNvSpPr txBox="1">
              <a:spLocks noChangeArrowheads="1"/>
            </p:cNvSpPr>
            <p:nvPr/>
          </p:nvSpPr>
          <p:spPr bwMode="auto">
            <a:xfrm>
              <a:off x="862" y="376"/>
              <a:ext cx="5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100" dirty="0">
                  <a:solidFill>
                    <a:schemeClr val="tx1"/>
                  </a:solidFill>
                  <a:latin typeface="+mn-lt"/>
                </a:rPr>
                <a:t>Raw Material</a:t>
              </a:r>
            </a:p>
          </p:txBody>
        </p:sp>
        <p:sp>
          <p:nvSpPr>
            <p:cNvPr id="202" name="Text Box 155">
              <a:extLst>
                <a:ext uri="{FF2B5EF4-FFF2-40B4-BE49-F238E27FC236}">
                  <a16:creationId xmlns:a16="http://schemas.microsoft.com/office/drawing/2014/main" id="{115AE303-0486-CBE7-8F0E-5630F5EB38AC}"/>
                </a:ext>
              </a:extLst>
            </p:cNvPr>
            <p:cNvSpPr txBox="1">
              <a:spLocks noChangeArrowheads="1"/>
            </p:cNvSpPr>
            <p:nvPr/>
          </p:nvSpPr>
          <p:spPr bwMode="auto">
            <a:xfrm>
              <a:off x="862" y="490"/>
              <a:ext cx="6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100" dirty="0">
                  <a:solidFill>
                    <a:schemeClr val="tx1"/>
                  </a:solidFill>
                  <a:latin typeface="+mn-lt"/>
                </a:rPr>
                <a:t>Assembly</a:t>
              </a:r>
            </a:p>
          </p:txBody>
        </p:sp>
        <p:sp>
          <p:nvSpPr>
            <p:cNvPr id="203" name="Text Box 156">
              <a:extLst>
                <a:ext uri="{FF2B5EF4-FFF2-40B4-BE49-F238E27FC236}">
                  <a16:creationId xmlns:a16="http://schemas.microsoft.com/office/drawing/2014/main" id="{74CA9129-5550-4C22-6CD7-7308C3A65A84}"/>
                </a:ext>
              </a:extLst>
            </p:cNvPr>
            <p:cNvSpPr txBox="1">
              <a:spLocks noChangeArrowheads="1"/>
            </p:cNvSpPr>
            <p:nvPr/>
          </p:nvSpPr>
          <p:spPr bwMode="auto">
            <a:xfrm>
              <a:off x="4359" y="382"/>
              <a:ext cx="30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100" dirty="0">
                  <a:solidFill>
                    <a:schemeClr val="tx1"/>
                  </a:solidFill>
                  <a:latin typeface="+mn-lt"/>
                </a:rPr>
                <a:t>123-A</a:t>
              </a:r>
            </a:p>
          </p:txBody>
        </p:sp>
        <p:sp>
          <p:nvSpPr>
            <p:cNvPr id="204" name="Text Box 157">
              <a:extLst>
                <a:ext uri="{FF2B5EF4-FFF2-40B4-BE49-F238E27FC236}">
                  <a16:creationId xmlns:a16="http://schemas.microsoft.com/office/drawing/2014/main" id="{59169919-8479-9E1C-1ED1-A2210A77916D}"/>
                </a:ext>
              </a:extLst>
            </p:cNvPr>
            <p:cNvSpPr txBox="1">
              <a:spLocks noChangeArrowheads="1"/>
            </p:cNvSpPr>
            <p:nvPr/>
          </p:nvSpPr>
          <p:spPr bwMode="auto">
            <a:xfrm>
              <a:off x="4362" y="491"/>
              <a:ext cx="35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100" dirty="0">
                  <a:solidFill>
                    <a:schemeClr val="tx1"/>
                  </a:solidFill>
                  <a:latin typeface="+mn-lt"/>
                </a:rPr>
                <a:t>Bracket</a:t>
              </a:r>
            </a:p>
          </p:txBody>
        </p:sp>
        <p:sp>
          <p:nvSpPr>
            <p:cNvPr id="205" name="Rectangle 158">
              <a:extLst>
                <a:ext uri="{FF2B5EF4-FFF2-40B4-BE49-F238E27FC236}">
                  <a16:creationId xmlns:a16="http://schemas.microsoft.com/office/drawing/2014/main" id="{705B8E8D-5F82-6EF0-2D1C-5A3D1F2AECAF}"/>
                </a:ext>
              </a:extLst>
            </p:cNvPr>
            <p:cNvSpPr>
              <a:spLocks noChangeArrowheads="1"/>
            </p:cNvSpPr>
            <p:nvPr/>
          </p:nvSpPr>
          <p:spPr bwMode="auto">
            <a:xfrm>
              <a:off x="3536" y="1222"/>
              <a:ext cx="700" cy="511"/>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Mill</a:t>
              </a:r>
            </a:p>
          </p:txBody>
        </p:sp>
        <p:sp>
          <p:nvSpPr>
            <p:cNvPr id="206" name="Rectangle 159">
              <a:extLst>
                <a:ext uri="{FF2B5EF4-FFF2-40B4-BE49-F238E27FC236}">
                  <a16:creationId xmlns:a16="http://schemas.microsoft.com/office/drawing/2014/main" id="{2E96AB19-DAF0-B975-2F20-A35D3935A8D6}"/>
                </a:ext>
              </a:extLst>
            </p:cNvPr>
            <p:cNvSpPr>
              <a:spLocks noChangeArrowheads="1"/>
            </p:cNvSpPr>
            <p:nvPr/>
          </p:nvSpPr>
          <p:spPr bwMode="auto">
            <a:xfrm>
              <a:off x="2530" y="1222"/>
              <a:ext cx="700" cy="511"/>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Drill</a:t>
              </a:r>
            </a:p>
          </p:txBody>
        </p:sp>
        <p:sp>
          <p:nvSpPr>
            <p:cNvPr id="207" name="Rectangle 160">
              <a:extLst>
                <a:ext uri="{FF2B5EF4-FFF2-40B4-BE49-F238E27FC236}">
                  <a16:creationId xmlns:a16="http://schemas.microsoft.com/office/drawing/2014/main" id="{878D12B0-40B1-697B-2394-129396EA1B4C}"/>
                </a:ext>
              </a:extLst>
            </p:cNvPr>
            <p:cNvSpPr>
              <a:spLocks noChangeArrowheads="1"/>
            </p:cNvSpPr>
            <p:nvPr/>
          </p:nvSpPr>
          <p:spPr bwMode="auto">
            <a:xfrm>
              <a:off x="1436" y="1222"/>
              <a:ext cx="700" cy="511"/>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Tap</a:t>
              </a:r>
            </a:p>
          </p:txBody>
        </p:sp>
        <p:sp>
          <p:nvSpPr>
            <p:cNvPr id="208" name="Rectangle 161">
              <a:extLst>
                <a:ext uri="{FF2B5EF4-FFF2-40B4-BE49-F238E27FC236}">
                  <a16:creationId xmlns:a16="http://schemas.microsoft.com/office/drawing/2014/main" id="{54F904E5-3799-213F-C074-1CD492521A9D}"/>
                </a:ext>
              </a:extLst>
            </p:cNvPr>
            <p:cNvSpPr>
              <a:spLocks noChangeArrowheads="1"/>
            </p:cNvSpPr>
            <p:nvPr/>
          </p:nvSpPr>
          <p:spPr bwMode="auto">
            <a:xfrm>
              <a:off x="561" y="1930"/>
              <a:ext cx="700" cy="511"/>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Grind</a:t>
              </a:r>
            </a:p>
          </p:txBody>
        </p:sp>
        <p:sp>
          <p:nvSpPr>
            <p:cNvPr id="209" name="Rectangle 162">
              <a:extLst>
                <a:ext uri="{FF2B5EF4-FFF2-40B4-BE49-F238E27FC236}">
                  <a16:creationId xmlns:a16="http://schemas.microsoft.com/office/drawing/2014/main" id="{2C5AE388-3BFA-C103-8E03-79A50379F6D8}"/>
                </a:ext>
              </a:extLst>
            </p:cNvPr>
            <p:cNvSpPr>
              <a:spLocks noChangeArrowheads="1"/>
            </p:cNvSpPr>
            <p:nvPr/>
          </p:nvSpPr>
          <p:spPr bwMode="auto">
            <a:xfrm>
              <a:off x="1393" y="2677"/>
              <a:ext cx="962" cy="354"/>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Assembly</a:t>
              </a:r>
            </a:p>
          </p:txBody>
        </p:sp>
        <p:sp>
          <p:nvSpPr>
            <p:cNvPr id="210" name="Rectangle 163">
              <a:extLst>
                <a:ext uri="{FF2B5EF4-FFF2-40B4-BE49-F238E27FC236}">
                  <a16:creationId xmlns:a16="http://schemas.microsoft.com/office/drawing/2014/main" id="{45E08D5A-F5C5-0ABD-34F2-D3FE29D13253}"/>
                </a:ext>
              </a:extLst>
            </p:cNvPr>
            <p:cNvSpPr>
              <a:spLocks noChangeArrowheads="1"/>
            </p:cNvSpPr>
            <p:nvPr/>
          </p:nvSpPr>
          <p:spPr bwMode="auto">
            <a:xfrm>
              <a:off x="2712" y="2638"/>
              <a:ext cx="569" cy="393"/>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Test</a:t>
              </a:r>
            </a:p>
          </p:txBody>
        </p:sp>
        <p:sp>
          <p:nvSpPr>
            <p:cNvPr id="211" name="Rectangle 164">
              <a:extLst>
                <a:ext uri="{FF2B5EF4-FFF2-40B4-BE49-F238E27FC236}">
                  <a16:creationId xmlns:a16="http://schemas.microsoft.com/office/drawing/2014/main" id="{785E5FED-6E03-4ED5-8338-1E7526FB8760}"/>
                </a:ext>
              </a:extLst>
            </p:cNvPr>
            <p:cNvSpPr>
              <a:spLocks noChangeArrowheads="1"/>
            </p:cNvSpPr>
            <p:nvPr/>
          </p:nvSpPr>
          <p:spPr bwMode="auto">
            <a:xfrm>
              <a:off x="3711" y="2644"/>
              <a:ext cx="481" cy="354"/>
            </a:xfrm>
            <a:prstGeom prst="rect">
              <a:avLst/>
            </a:prstGeom>
            <a:solidFill>
              <a:schemeClr val="accent4"/>
            </a:solidFill>
            <a:ln w="28575">
              <a:solidFill>
                <a:schemeClr val="tx1"/>
              </a:solidFill>
              <a:miter lim="800000"/>
              <a:headEnd/>
              <a:tailEnd/>
            </a:ln>
          </p:spPr>
          <p:txBody>
            <a:bodyPr wrap="none" anchor="ctr"/>
            <a:lstStyle/>
            <a:p>
              <a:r>
                <a:rPr lang="en-US" sz="1400" b="1" dirty="0">
                  <a:solidFill>
                    <a:schemeClr val="bg1"/>
                  </a:solidFill>
                </a:rPr>
                <a:t>Pack</a:t>
              </a:r>
            </a:p>
          </p:txBody>
        </p:sp>
        <p:sp>
          <p:nvSpPr>
            <p:cNvPr id="212" name="AutoShape 165">
              <a:extLst>
                <a:ext uri="{FF2B5EF4-FFF2-40B4-BE49-F238E27FC236}">
                  <a16:creationId xmlns:a16="http://schemas.microsoft.com/office/drawing/2014/main" id="{58F9DF14-3E15-71EB-321C-06AEF550D252}"/>
                </a:ext>
              </a:extLst>
            </p:cNvPr>
            <p:cNvSpPr>
              <a:spLocks noChangeArrowheads="1"/>
            </p:cNvSpPr>
            <p:nvPr/>
          </p:nvSpPr>
          <p:spPr bwMode="auto">
            <a:xfrm>
              <a:off x="4367" y="1183"/>
              <a:ext cx="700" cy="590"/>
            </a:xfrm>
            <a:prstGeom prst="flowChartDecision">
              <a:avLst/>
            </a:prstGeom>
            <a:solidFill>
              <a:schemeClr val="accent5"/>
            </a:solidFill>
            <a:ln w="57150">
              <a:solidFill>
                <a:schemeClr val="tx1"/>
              </a:solidFill>
              <a:miter lim="800000"/>
              <a:headEnd/>
              <a:tailEnd/>
            </a:ln>
          </p:spPr>
          <p:txBody>
            <a:bodyPr wrap="none" anchor="ctr"/>
            <a:lstStyle/>
            <a:p>
              <a:pPr algn="ctr"/>
              <a:r>
                <a:rPr lang="en-US" sz="1400" b="1" dirty="0">
                  <a:solidFill>
                    <a:schemeClr val="bg1"/>
                  </a:solidFill>
                </a:rPr>
                <a:t>Raw</a:t>
              </a:r>
            </a:p>
            <a:p>
              <a:pPr algn="ctr"/>
              <a:r>
                <a:rPr lang="en-US" sz="1400" b="1" dirty="0">
                  <a:solidFill>
                    <a:schemeClr val="bg1"/>
                  </a:solidFill>
                </a:rPr>
                <a:t>Material</a:t>
              </a:r>
            </a:p>
          </p:txBody>
        </p:sp>
        <p:sp>
          <p:nvSpPr>
            <p:cNvPr id="213" name="AutoShape 166">
              <a:extLst>
                <a:ext uri="{FF2B5EF4-FFF2-40B4-BE49-F238E27FC236}">
                  <a16:creationId xmlns:a16="http://schemas.microsoft.com/office/drawing/2014/main" id="{3902A728-613D-71EE-9A4F-24A7F5BD26C2}"/>
                </a:ext>
              </a:extLst>
            </p:cNvPr>
            <p:cNvSpPr>
              <a:spLocks noChangeArrowheads="1"/>
            </p:cNvSpPr>
            <p:nvPr/>
          </p:nvSpPr>
          <p:spPr bwMode="auto">
            <a:xfrm>
              <a:off x="4367" y="2520"/>
              <a:ext cx="700" cy="589"/>
            </a:xfrm>
            <a:prstGeom prst="flowChartDecision">
              <a:avLst/>
            </a:prstGeom>
            <a:solidFill>
              <a:schemeClr val="accent5"/>
            </a:solidFill>
            <a:ln w="57150">
              <a:solidFill>
                <a:schemeClr val="tx1"/>
              </a:solidFill>
              <a:miter lim="800000"/>
              <a:headEnd/>
              <a:tailEnd/>
            </a:ln>
          </p:spPr>
          <p:txBody>
            <a:bodyPr wrap="none" anchor="ctr"/>
            <a:lstStyle/>
            <a:p>
              <a:pPr algn="ctr"/>
              <a:r>
                <a:rPr lang="en-US" sz="1400" b="1" dirty="0">
                  <a:solidFill>
                    <a:schemeClr val="bg1"/>
                  </a:solidFill>
                </a:rPr>
                <a:t>Finished</a:t>
              </a:r>
            </a:p>
            <a:p>
              <a:pPr algn="ctr"/>
              <a:r>
                <a:rPr lang="en-US" sz="1400" b="1" dirty="0">
                  <a:solidFill>
                    <a:schemeClr val="bg1"/>
                  </a:solidFill>
                </a:rPr>
                <a:t>Goods</a:t>
              </a:r>
            </a:p>
          </p:txBody>
        </p:sp>
        <p:sp>
          <p:nvSpPr>
            <p:cNvPr id="214" name="Oval 167" descr="Narrow horizontal">
              <a:extLst>
                <a:ext uri="{FF2B5EF4-FFF2-40B4-BE49-F238E27FC236}">
                  <a16:creationId xmlns:a16="http://schemas.microsoft.com/office/drawing/2014/main" id="{306B1C8D-B9FD-4A90-986F-EB0A3197115F}"/>
                </a:ext>
              </a:extLst>
            </p:cNvPr>
            <p:cNvSpPr>
              <a:spLocks noChangeArrowheads="1"/>
            </p:cNvSpPr>
            <p:nvPr/>
          </p:nvSpPr>
          <p:spPr bwMode="auto">
            <a:xfrm>
              <a:off x="3624" y="1576"/>
              <a:ext cx="255" cy="112"/>
            </a:xfrm>
            <a:prstGeom prst="ellipse">
              <a:avLst/>
            </a:prstGeom>
            <a:pattFill prst="narHorz">
              <a:fgClr>
                <a:schemeClr val="accent2"/>
              </a:fgClr>
              <a:bgClr>
                <a:schemeClr val="bg1"/>
              </a:bgClr>
            </a:pattFill>
            <a:ln w="12700">
              <a:solidFill>
                <a:schemeClr val="tx1"/>
              </a:solidFill>
              <a:round/>
              <a:headEnd/>
              <a:tailEnd/>
            </a:ln>
          </p:spPr>
          <p:txBody>
            <a:bodyPr wrap="none" anchor="ctr"/>
            <a:lstStyle/>
            <a:p>
              <a:endParaRPr lang="en-US" dirty="0"/>
            </a:p>
          </p:txBody>
        </p:sp>
        <p:sp>
          <p:nvSpPr>
            <p:cNvPr id="215" name="Oval 168" descr="Narrow horizontal">
              <a:extLst>
                <a:ext uri="{FF2B5EF4-FFF2-40B4-BE49-F238E27FC236}">
                  <a16:creationId xmlns:a16="http://schemas.microsoft.com/office/drawing/2014/main" id="{F82B17D2-2410-4763-843F-0992C370AF6B}"/>
                </a:ext>
              </a:extLst>
            </p:cNvPr>
            <p:cNvSpPr>
              <a:spLocks noChangeArrowheads="1"/>
            </p:cNvSpPr>
            <p:nvPr/>
          </p:nvSpPr>
          <p:spPr bwMode="auto">
            <a:xfrm>
              <a:off x="2603" y="1576"/>
              <a:ext cx="255" cy="112"/>
            </a:xfrm>
            <a:prstGeom prst="ellipse">
              <a:avLst/>
            </a:prstGeom>
            <a:pattFill prst="narHorz">
              <a:fgClr>
                <a:schemeClr val="accent2"/>
              </a:fgClr>
              <a:bgClr>
                <a:schemeClr val="bg1"/>
              </a:bgClr>
            </a:pattFill>
            <a:ln w="12700">
              <a:solidFill>
                <a:schemeClr val="tx1"/>
              </a:solidFill>
              <a:round/>
              <a:headEnd/>
              <a:tailEnd/>
            </a:ln>
          </p:spPr>
          <p:txBody>
            <a:bodyPr wrap="none" anchor="ctr"/>
            <a:lstStyle/>
            <a:p>
              <a:endParaRPr lang="en-US" dirty="0"/>
            </a:p>
          </p:txBody>
        </p:sp>
        <p:sp>
          <p:nvSpPr>
            <p:cNvPr id="216" name="Oval 169" descr="Narrow horizontal">
              <a:extLst>
                <a:ext uri="{FF2B5EF4-FFF2-40B4-BE49-F238E27FC236}">
                  <a16:creationId xmlns:a16="http://schemas.microsoft.com/office/drawing/2014/main" id="{48DA5FC9-6032-184E-A3CD-EE3A2999BD72}"/>
                </a:ext>
              </a:extLst>
            </p:cNvPr>
            <p:cNvSpPr>
              <a:spLocks noChangeArrowheads="1"/>
            </p:cNvSpPr>
            <p:nvPr/>
          </p:nvSpPr>
          <p:spPr bwMode="auto">
            <a:xfrm>
              <a:off x="1480" y="1576"/>
              <a:ext cx="255" cy="112"/>
            </a:xfrm>
            <a:prstGeom prst="ellipse">
              <a:avLst/>
            </a:prstGeom>
            <a:pattFill prst="narHorz">
              <a:fgClr>
                <a:schemeClr val="accent2"/>
              </a:fgClr>
              <a:bgClr>
                <a:schemeClr val="bg1"/>
              </a:bgClr>
            </a:pattFill>
            <a:ln w="12700">
              <a:solidFill>
                <a:schemeClr val="tx1"/>
              </a:solidFill>
              <a:round/>
              <a:headEnd/>
              <a:tailEnd/>
            </a:ln>
          </p:spPr>
          <p:txBody>
            <a:bodyPr wrap="none" anchor="ctr"/>
            <a:lstStyle/>
            <a:p>
              <a:endParaRPr lang="en-US" dirty="0"/>
            </a:p>
          </p:txBody>
        </p:sp>
        <p:sp>
          <p:nvSpPr>
            <p:cNvPr id="217" name="Oval 170" descr="Narrow horizontal">
              <a:extLst>
                <a:ext uri="{FF2B5EF4-FFF2-40B4-BE49-F238E27FC236}">
                  <a16:creationId xmlns:a16="http://schemas.microsoft.com/office/drawing/2014/main" id="{4069CBFF-92A6-8F30-1081-B851C0AB8865}"/>
                </a:ext>
              </a:extLst>
            </p:cNvPr>
            <p:cNvSpPr>
              <a:spLocks noChangeArrowheads="1"/>
            </p:cNvSpPr>
            <p:nvPr/>
          </p:nvSpPr>
          <p:spPr bwMode="auto">
            <a:xfrm>
              <a:off x="649" y="2284"/>
              <a:ext cx="255" cy="111"/>
            </a:xfrm>
            <a:prstGeom prst="ellipse">
              <a:avLst/>
            </a:prstGeom>
            <a:pattFill prst="narHorz">
              <a:fgClr>
                <a:schemeClr val="accent2"/>
              </a:fgClr>
              <a:bgClr>
                <a:schemeClr val="bg1"/>
              </a:bgClr>
            </a:pattFill>
            <a:ln w="12700">
              <a:solidFill>
                <a:schemeClr val="tx1"/>
              </a:solidFill>
              <a:round/>
              <a:headEnd/>
              <a:tailEnd/>
            </a:ln>
          </p:spPr>
          <p:txBody>
            <a:bodyPr wrap="none" anchor="ctr"/>
            <a:lstStyle/>
            <a:p>
              <a:endParaRPr lang="en-US" dirty="0"/>
            </a:p>
          </p:txBody>
        </p:sp>
        <p:sp>
          <p:nvSpPr>
            <p:cNvPr id="218" name="Text Box 171">
              <a:extLst>
                <a:ext uri="{FF2B5EF4-FFF2-40B4-BE49-F238E27FC236}">
                  <a16:creationId xmlns:a16="http://schemas.microsoft.com/office/drawing/2014/main" id="{D8123DF7-C6C0-7891-74D5-E93E92FC138D}"/>
                </a:ext>
              </a:extLst>
            </p:cNvPr>
            <p:cNvSpPr txBox="1">
              <a:spLocks noChangeArrowheads="1"/>
            </p:cNvSpPr>
            <p:nvPr/>
          </p:nvSpPr>
          <p:spPr bwMode="auto">
            <a:xfrm>
              <a:off x="1887" y="1498"/>
              <a:ext cx="185"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2400" dirty="0">
                  <a:latin typeface="+mn-lt"/>
                </a:rPr>
                <a:t>+</a:t>
              </a:r>
            </a:p>
          </p:txBody>
        </p:sp>
        <p:sp>
          <p:nvSpPr>
            <p:cNvPr id="219" name="Text Box 172">
              <a:extLst>
                <a:ext uri="{FF2B5EF4-FFF2-40B4-BE49-F238E27FC236}">
                  <a16:creationId xmlns:a16="http://schemas.microsoft.com/office/drawing/2014/main" id="{B3DA2C6C-BE65-9BC5-9A7E-1B0BDE07C39A}"/>
                </a:ext>
              </a:extLst>
            </p:cNvPr>
            <p:cNvSpPr txBox="1">
              <a:spLocks noChangeArrowheads="1"/>
            </p:cNvSpPr>
            <p:nvPr/>
          </p:nvSpPr>
          <p:spPr bwMode="auto">
            <a:xfrm>
              <a:off x="3011" y="1498"/>
              <a:ext cx="185"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2400" dirty="0">
                  <a:latin typeface="+mn-lt"/>
                </a:rPr>
                <a:t>+</a:t>
              </a:r>
            </a:p>
          </p:txBody>
        </p:sp>
        <p:sp>
          <p:nvSpPr>
            <p:cNvPr id="220" name="Text Box 173">
              <a:extLst>
                <a:ext uri="{FF2B5EF4-FFF2-40B4-BE49-F238E27FC236}">
                  <a16:creationId xmlns:a16="http://schemas.microsoft.com/office/drawing/2014/main" id="{3E4BD712-B92F-D570-F93F-2ADD98229B5A}"/>
                </a:ext>
              </a:extLst>
            </p:cNvPr>
            <p:cNvSpPr txBox="1">
              <a:spLocks noChangeArrowheads="1"/>
            </p:cNvSpPr>
            <p:nvPr/>
          </p:nvSpPr>
          <p:spPr bwMode="auto">
            <a:xfrm>
              <a:off x="3986" y="1498"/>
              <a:ext cx="185"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2400" dirty="0">
                  <a:latin typeface="+mn-lt"/>
                </a:rPr>
                <a:t>+</a:t>
              </a:r>
            </a:p>
          </p:txBody>
        </p:sp>
        <p:sp>
          <p:nvSpPr>
            <p:cNvPr id="221" name="Text Box 174">
              <a:extLst>
                <a:ext uri="{FF2B5EF4-FFF2-40B4-BE49-F238E27FC236}">
                  <a16:creationId xmlns:a16="http://schemas.microsoft.com/office/drawing/2014/main" id="{1C8DDF74-A76E-CECB-C726-E1989BC3C3E0}"/>
                </a:ext>
              </a:extLst>
            </p:cNvPr>
            <p:cNvSpPr txBox="1">
              <a:spLocks noChangeArrowheads="1"/>
            </p:cNvSpPr>
            <p:nvPr/>
          </p:nvSpPr>
          <p:spPr bwMode="auto">
            <a:xfrm>
              <a:off x="1055" y="2225"/>
              <a:ext cx="185"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2400" dirty="0">
                  <a:latin typeface="+mn-lt"/>
                </a:rPr>
                <a:t>+</a:t>
              </a:r>
            </a:p>
          </p:txBody>
        </p:sp>
        <p:grpSp>
          <p:nvGrpSpPr>
            <p:cNvPr id="222" name="Group 175">
              <a:extLst>
                <a:ext uri="{FF2B5EF4-FFF2-40B4-BE49-F238E27FC236}">
                  <a16:creationId xmlns:a16="http://schemas.microsoft.com/office/drawing/2014/main" id="{E06EB40E-A21E-583C-F157-36E37EFD091B}"/>
                </a:ext>
              </a:extLst>
            </p:cNvPr>
            <p:cNvGrpSpPr>
              <a:grpSpLocks/>
            </p:cNvGrpSpPr>
            <p:nvPr/>
          </p:nvGrpSpPr>
          <p:grpSpPr bwMode="auto">
            <a:xfrm>
              <a:off x="2268" y="1498"/>
              <a:ext cx="156" cy="121"/>
              <a:chOff x="496" y="3892"/>
              <a:chExt cx="172" cy="148"/>
            </a:xfrm>
          </p:grpSpPr>
          <p:sp>
            <p:nvSpPr>
              <p:cNvPr id="243" name="Rectangle 176">
                <a:extLst>
                  <a:ext uri="{FF2B5EF4-FFF2-40B4-BE49-F238E27FC236}">
                    <a16:creationId xmlns:a16="http://schemas.microsoft.com/office/drawing/2014/main" id="{FEFCB7FF-20ED-F950-ED82-1C45E2B2F1EF}"/>
                  </a:ext>
                </a:extLst>
              </p:cNvPr>
              <p:cNvSpPr>
                <a:spLocks noChangeArrowheads="1"/>
              </p:cNvSpPr>
              <p:nvPr/>
            </p:nvSpPr>
            <p:spPr bwMode="auto">
              <a:xfrm>
                <a:off x="496" y="3892"/>
                <a:ext cx="172" cy="148"/>
              </a:xfrm>
              <a:prstGeom prst="rect">
                <a:avLst/>
              </a:prstGeom>
              <a:solidFill>
                <a:schemeClr val="accent4"/>
              </a:solidFill>
              <a:ln w="12700">
                <a:solidFill>
                  <a:schemeClr val="tx1"/>
                </a:solidFill>
                <a:miter lim="800000"/>
                <a:headEnd/>
                <a:tailEnd/>
              </a:ln>
            </p:spPr>
            <p:txBody>
              <a:bodyPr wrap="none" anchor="ctr"/>
              <a:lstStyle/>
              <a:p>
                <a:endParaRPr lang="en-US" dirty="0"/>
              </a:p>
            </p:txBody>
          </p:sp>
          <p:sp>
            <p:nvSpPr>
              <p:cNvPr id="244" name="AutoShape 177">
                <a:extLst>
                  <a:ext uri="{FF2B5EF4-FFF2-40B4-BE49-F238E27FC236}">
                    <a16:creationId xmlns:a16="http://schemas.microsoft.com/office/drawing/2014/main" id="{071C8B5E-63B1-9C9E-66FD-3212C2F81DCC}"/>
                  </a:ext>
                </a:extLst>
              </p:cNvPr>
              <p:cNvSpPr>
                <a:spLocks noChangeArrowheads="1"/>
              </p:cNvSpPr>
              <p:nvPr/>
            </p:nvSpPr>
            <p:spPr bwMode="auto">
              <a:xfrm>
                <a:off x="519" y="3892"/>
                <a:ext cx="137" cy="148"/>
              </a:xfrm>
              <a:prstGeom prst="diamond">
                <a:avLst/>
              </a:prstGeom>
              <a:solidFill>
                <a:schemeClr val="accent4"/>
              </a:solidFill>
              <a:ln w="12700">
                <a:solidFill>
                  <a:schemeClr val="tx1"/>
                </a:solidFill>
                <a:miter lim="800000"/>
                <a:headEnd/>
                <a:tailEnd/>
              </a:ln>
            </p:spPr>
            <p:txBody>
              <a:bodyPr wrap="none" anchor="ctr"/>
              <a:lstStyle/>
              <a:p>
                <a:endParaRPr lang="en-US" dirty="0"/>
              </a:p>
            </p:txBody>
          </p:sp>
        </p:grpSp>
        <p:sp>
          <p:nvSpPr>
            <p:cNvPr id="223" name="Oval 178">
              <a:extLst>
                <a:ext uri="{FF2B5EF4-FFF2-40B4-BE49-F238E27FC236}">
                  <a16:creationId xmlns:a16="http://schemas.microsoft.com/office/drawing/2014/main" id="{671B58A4-2EE8-9452-0443-5F16C4736D3B}"/>
                </a:ext>
              </a:extLst>
            </p:cNvPr>
            <p:cNvSpPr>
              <a:spLocks noChangeArrowheads="1"/>
            </p:cNvSpPr>
            <p:nvPr/>
          </p:nvSpPr>
          <p:spPr bwMode="auto">
            <a:xfrm>
              <a:off x="4608" y="1845"/>
              <a:ext cx="219" cy="196"/>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1</a:t>
              </a:r>
            </a:p>
          </p:txBody>
        </p:sp>
        <p:sp>
          <p:nvSpPr>
            <p:cNvPr id="224" name="Oval 179">
              <a:extLst>
                <a:ext uri="{FF2B5EF4-FFF2-40B4-BE49-F238E27FC236}">
                  <a16:creationId xmlns:a16="http://schemas.microsoft.com/office/drawing/2014/main" id="{EB4D5153-EF96-F666-9E77-7F8FB1A9F06C}"/>
                </a:ext>
              </a:extLst>
            </p:cNvPr>
            <p:cNvSpPr>
              <a:spLocks noChangeArrowheads="1"/>
            </p:cNvSpPr>
            <p:nvPr/>
          </p:nvSpPr>
          <p:spPr bwMode="auto">
            <a:xfrm>
              <a:off x="3777" y="1845"/>
              <a:ext cx="218" cy="196"/>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2</a:t>
              </a:r>
            </a:p>
          </p:txBody>
        </p:sp>
        <p:sp>
          <p:nvSpPr>
            <p:cNvPr id="225" name="Oval 180">
              <a:extLst>
                <a:ext uri="{FF2B5EF4-FFF2-40B4-BE49-F238E27FC236}">
                  <a16:creationId xmlns:a16="http://schemas.microsoft.com/office/drawing/2014/main" id="{954B9BE9-0D5E-1077-0200-E10B3942771F}"/>
                </a:ext>
              </a:extLst>
            </p:cNvPr>
            <p:cNvSpPr>
              <a:spLocks noChangeArrowheads="1"/>
            </p:cNvSpPr>
            <p:nvPr/>
          </p:nvSpPr>
          <p:spPr bwMode="auto">
            <a:xfrm>
              <a:off x="2771" y="1845"/>
              <a:ext cx="218" cy="196"/>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3</a:t>
              </a:r>
            </a:p>
          </p:txBody>
        </p:sp>
        <p:sp>
          <p:nvSpPr>
            <p:cNvPr id="226" name="Oval 181">
              <a:extLst>
                <a:ext uri="{FF2B5EF4-FFF2-40B4-BE49-F238E27FC236}">
                  <a16:creationId xmlns:a16="http://schemas.microsoft.com/office/drawing/2014/main" id="{E896F159-104C-5542-A255-AB6CC2AF7FA7}"/>
                </a:ext>
              </a:extLst>
            </p:cNvPr>
            <p:cNvSpPr>
              <a:spLocks noChangeArrowheads="1"/>
            </p:cNvSpPr>
            <p:nvPr/>
          </p:nvSpPr>
          <p:spPr bwMode="auto">
            <a:xfrm>
              <a:off x="2268" y="1845"/>
              <a:ext cx="218" cy="196"/>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4</a:t>
              </a:r>
            </a:p>
          </p:txBody>
        </p:sp>
        <p:sp>
          <p:nvSpPr>
            <p:cNvPr id="227" name="Oval 182">
              <a:extLst>
                <a:ext uri="{FF2B5EF4-FFF2-40B4-BE49-F238E27FC236}">
                  <a16:creationId xmlns:a16="http://schemas.microsoft.com/office/drawing/2014/main" id="{31CDFAB3-8503-641F-5F5D-0B1A12FB3768}"/>
                </a:ext>
              </a:extLst>
            </p:cNvPr>
            <p:cNvSpPr>
              <a:spLocks noChangeArrowheads="1"/>
            </p:cNvSpPr>
            <p:nvPr/>
          </p:nvSpPr>
          <p:spPr bwMode="auto">
            <a:xfrm>
              <a:off x="1655" y="1845"/>
              <a:ext cx="219" cy="196"/>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5</a:t>
              </a:r>
            </a:p>
          </p:txBody>
        </p:sp>
        <p:sp>
          <p:nvSpPr>
            <p:cNvPr id="228" name="Oval 183">
              <a:extLst>
                <a:ext uri="{FF2B5EF4-FFF2-40B4-BE49-F238E27FC236}">
                  <a16:creationId xmlns:a16="http://schemas.microsoft.com/office/drawing/2014/main" id="{22733ECA-80D9-8207-42CB-7DBBB97F8C63}"/>
                </a:ext>
              </a:extLst>
            </p:cNvPr>
            <p:cNvSpPr>
              <a:spLocks noChangeArrowheads="1"/>
            </p:cNvSpPr>
            <p:nvPr/>
          </p:nvSpPr>
          <p:spPr bwMode="auto">
            <a:xfrm>
              <a:off x="1743" y="2385"/>
              <a:ext cx="218" cy="196"/>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7</a:t>
              </a:r>
            </a:p>
          </p:txBody>
        </p:sp>
        <p:sp>
          <p:nvSpPr>
            <p:cNvPr id="229" name="Oval 184">
              <a:extLst>
                <a:ext uri="{FF2B5EF4-FFF2-40B4-BE49-F238E27FC236}">
                  <a16:creationId xmlns:a16="http://schemas.microsoft.com/office/drawing/2014/main" id="{9675C09F-03F5-0122-B550-9B83F327ABA9}"/>
                </a:ext>
              </a:extLst>
            </p:cNvPr>
            <p:cNvSpPr>
              <a:spLocks noChangeArrowheads="1"/>
            </p:cNvSpPr>
            <p:nvPr/>
          </p:nvSpPr>
          <p:spPr bwMode="auto">
            <a:xfrm>
              <a:off x="1327" y="2074"/>
              <a:ext cx="219" cy="197"/>
            </a:xfrm>
            <a:prstGeom prst="ellipse">
              <a:avLst/>
            </a:prstGeom>
            <a:solidFill>
              <a:schemeClr val="bg1"/>
            </a:solidFill>
            <a:ln w="19050">
              <a:solidFill>
                <a:schemeClr val="tx1"/>
              </a:solidFill>
              <a:round/>
              <a:headEnd/>
              <a:tailEnd/>
            </a:ln>
          </p:spPr>
          <p:txBody>
            <a:bodyPr wrap="none" anchor="ctr"/>
            <a:lstStyle/>
            <a:p>
              <a:r>
                <a:rPr lang="en-US" sz="2000" b="0" dirty="0">
                  <a:solidFill>
                    <a:schemeClr val="tx1"/>
                  </a:solidFill>
                </a:rPr>
                <a:t>6</a:t>
              </a:r>
            </a:p>
          </p:txBody>
        </p:sp>
        <p:sp>
          <p:nvSpPr>
            <p:cNvPr id="230" name="Freeform 185">
              <a:extLst>
                <a:ext uri="{FF2B5EF4-FFF2-40B4-BE49-F238E27FC236}">
                  <a16:creationId xmlns:a16="http://schemas.microsoft.com/office/drawing/2014/main" id="{081A97BE-18EC-32D7-6DF7-DAC2EFC44583}"/>
                </a:ext>
              </a:extLst>
            </p:cNvPr>
            <p:cNvSpPr>
              <a:spLocks/>
            </p:cNvSpPr>
            <p:nvPr/>
          </p:nvSpPr>
          <p:spPr bwMode="auto">
            <a:xfrm>
              <a:off x="4017" y="1930"/>
              <a:ext cx="613" cy="157"/>
            </a:xfrm>
            <a:custGeom>
              <a:avLst/>
              <a:gdLst>
                <a:gd name="T0" fmla="*/ 236654395 w 672"/>
                <a:gd name="T1" fmla="*/ 0 h 192"/>
                <a:gd name="T2" fmla="*/ 236654395 w 672"/>
                <a:gd name="T3" fmla="*/ 17150954 h 192"/>
                <a:gd name="T4" fmla="*/ 0 w 672"/>
                <a:gd name="T5" fmla="*/ 0 h 192"/>
                <a:gd name="T6" fmla="*/ 0 60000 65536"/>
                <a:gd name="T7" fmla="*/ 0 60000 65536"/>
                <a:gd name="T8" fmla="*/ 0 60000 65536"/>
                <a:gd name="T9" fmla="*/ 0 w 672"/>
                <a:gd name="T10" fmla="*/ 0 h 192"/>
                <a:gd name="T11" fmla="*/ 672 w 672"/>
                <a:gd name="T12" fmla="*/ 192 h 192"/>
              </a:gdLst>
              <a:ahLst/>
              <a:cxnLst>
                <a:cxn ang="T6">
                  <a:pos x="T0" y="T1"/>
                </a:cxn>
                <a:cxn ang="T7">
                  <a:pos x="T2" y="T3"/>
                </a:cxn>
                <a:cxn ang="T8">
                  <a:pos x="T4" y="T5"/>
                </a:cxn>
              </a:cxnLst>
              <a:rect l="T9" t="T10" r="T11" b="T12"/>
              <a:pathLst>
                <a:path w="672" h="192">
                  <a:moveTo>
                    <a:pt x="672" y="0"/>
                  </a:moveTo>
                  <a:cubicBezTo>
                    <a:pt x="584" y="96"/>
                    <a:pt x="496" y="192"/>
                    <a:pt x="384" y="192"/>
                  </a:cubicBezTo>
                  <a:cubicBezTo>
                    <a:pt x="272" y="192"/>
                    <a:pt x="64" y="32"/>
                    <a:pt x="0" y="0"/>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sp>
          <p:nvSpPr>
            <p:cNvPr id="231" name="Freeform 186">
              <a:extLst>
                <a:ext uri="{FF2B5EF4-FFF2-40B4-BE49-F238E27FC236}">
                  <a16:creationId xmlns:a16="http://schemas.microsoft.com/office/drawing/2014/main" id="{54FB8461-0A77-610E-4049-52ABE60311AE}"/>
                </a:ext>
              </a:extLst>
            </p:cNvPr>
            <p:cNvSpPr>
              <a:spLocks/>
            </p:cNvSpPr>
            <p:nvPr/>
          </p:nvSpPr>
          <p:spPr bwMode="auto">
            <a:xfrm>
              <a:off x="3011" y="1930"/>
              <a:ext cx="744" cy="157"/>
            </a:xfrm>
            <a:custGeom>
              <a:avLst/>
              <a:gdLst>
                <a:gd name="T0" fmla="*/ 233944865 w 816"/>
                <a:gd name="T1" fmla="*/ 0 h 192"/>
                <a:gd name="T2" fmla="*/ 233944865 w 816"/>
                <a:gd name="T3" fmla="*/ 17150954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0"/>
                  </a:moveTo>
                  <a:cubicBezTo>
                    <a:pt x="692" y="96"/>
                    <a:pt x="568" y="192"/>
                    <a:pt x="432" y="192"/>
                  </a:cubicBezTo>
                  <a:cubicBezTo>
                    <a:pt x="296" y="192"/>
                    <a:pt x="148" y="96"/>
                    <a:pt x="0" y="0"/>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sp>
          <p:nvSpPr>
            <p:cNvPr id="232" name="Freeform 187">
              <a:extLst>
                <a:ext uri="{FF2B5EF4-FFF2-40B4-BE49-F238E27FC236}">
                  <a16:creationId xmlns:a16="http://schemas.microsoft.com/office/drawing/2014/main" id="{1EC9F02E-D1A9-6943-9E2D-38EAEE4A5E0D}"/>
                </a:ext>
              </a:extLst>
            </p:cNvPr>
            <p:cNvSpPr>
              <a:spLocks/>
            </p:cNvSpPr>
            <p:nvPr/>
          </p:nvSpPr>
          <p:spPr bwMode="auto">
            <a:xfrm>
              <a:off x="2494" y="1969"/>
              <a:ext cx="262" cy="158"/>
            </a:xfrm>
            <a:custGeom>
              <a:avLst/>
              <a:gdLst>
                <a:gd name="T0" fmla="*/ 221684909 w 288"/>
                <a:gd name="T1" fmla="*/ 0 h 192"/>
                <a:gd name="T2" fmla="*/ 221684909 w 288"/>
                <a:gd name="T3" fmla="*/ 19974135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sp>
          <p:nvSpPr>
            <p:cNvPr id="233" name="Freeform 188">
              <a:extLst>
                <a:ext uri="{FF2B5EF4-FFF2-40B4-BE49-F238E27FC236}">
                  <a16:creationId xmlns:a16="http://schemas.microsoft.com/office/drawing/2014/main" id="{F6C17ACC-7A57-4048-1E63-927E5DECDFD1}"/>
                </a:ext>
              </a:extLst>
            </p:cNvPr>
            <p:cNvSpPr>
              <a:spLocks/>
            </p:cNvSpPr>
            <p:nvPr/>
          </p:nvSpPr>
          <p:spPr bwMode="auto">
            <a:xfrm>
              <a:off x="1881" y="1930"/>
              <a:ext cx="387" cy="216"/>
            </a:xfrm>
            <a:custGeom>
              <a:avLst/>
              <a:gdLst>
                <a:gd name="T0" fmla="*/ 2147483647 w 288"/>
                <a:gd name="T1" fmla="*/ 0 h 192"/>
                <a:gd name="T2" fmla="*/ 2147483647 w 288"/>
                <a:gd name="T3" fmla="*/ 2147483647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sp>
          <p:nvSpPr>
            <p:cNvPr id="234" name="Freeform 189">
              <a:extLst>
                <a:ext uri="{FF2B5EF4-FFF2-40B4-BE49-F238E27FC236}">
                  <a16:creationId xmlns:a16="http://schemas.microsoft.com/office/drawing/2014/main" id="{B078A4A8-4C26-29FA-D23E-065B7EF1F5DB}"/>
                </a:ext>
              </a:extLst>
            </p:cNvPr>
            <p:cNvSpPr>
              <a:spLocks/>
            </p:cNvSpPr>
            <p:nvPr/>
          </p:nvSpPr>
          <p:spPr bwMode="auto">
            <a:xfrm rot="-2126059">
              <a:off x="1575" y="2127"/>
              <a:ext cx="386" cy="157"/>
            </a:xfrm>
            <a:custGeom>
              <a:avLst/>
              <a:gdLst>
                <a:gd name="T0" fmla="*/ 2147483647 w 288"/>
                <a:gd name="T1" fmla="*/ 0 h 192"/>
                <a:gd name="T2" fmla="*/ 2147483647 w 288"/>
                <a:gd name="T3" fmla="*/ 17150954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sp>
          <p:nvSpPr>
            <p:cNvPr id="235" name="Freeform 190">
              <a:extLst>
                <a:ext uri="{FF2B5EF4-FFF2-40B4-BE49-F238E27FC236}">
                  <a16:creationId xmlns:a16="http://schemas.microsoft.com/office/drawing/2014/main" id="{B014EC3E-45C9-2AB8-1E89-3438C78E0E6E}"/>
                </a:ext>
              </a:extLst>
            </p:cNvPr>
            <p:cNvSpPr>
              <a:spLocks/>
            </p:cNvSpPr>
            <p:nvPr/>
          </p:nvSpPr>
          <p:spPr bwMode="auto">
            <a:xfrm rot="2490185">
              <a:off x="1312" y="2362"/>
              <a:ext cx="387" cy="217"/>
            </a:xfrm>
            <a:custGeom>
              <a:avLst/>
              <a:gdLst>
                <a:gd name="T0" fmla="*/ 2147483647 w 288"/>
                <a:gd name="T1" fmla="*/ 0 h 192"/>
                <a:gd name="T2" fmla="*/ 2147483647 w 288"/>
                <a:gd name="T3" fmla="*/ 2147483647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sp>
          <p:nvSpPr>
            <p:cNvPr id="236" name="Line 191">
              <a:extLst>
                <a:ext uri="{FF2B5EF4-FFF2-40B4-BE49-F238E27FC236}">
                  <a16:creationId xmlns:a16="http://schemas.microsoft.com/office/drawing/2014/main" id="{39C0FF8F-000E-F861-5577-73B6F739A24C}"/>
                </a:ext>
              </a:extLst>
            </p:cNvPr>
            <p:cNvSpPr>
              <a:spLocks noChangeShapeType="1"/>
            </p:cNvSpPr>
            <p:nvPr/>
          </p:nvSpPr>
          <p:spPr bwMode="auto">
            <a:xfrm flipV="1">
              <a:off x="2005" y="2048"/>
              <a:ext cx="2712" cy="432"/>
            </a:xfrm>
            <a:prstGeom prst="line">
              <a:avLst/>
            </a:prstGeom>
            <a:noFill/>
            <a:ln w="57150">
              <a:solidFill>
                <a:schemeClr val="accent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7" name="Text Box 192">
              <a:extLst>
                <a:ext uri="{FF2B5EF4-FFF2-40B4-BE49-F238E27FC236}">
                  <a16:creationId xmlns:a16="http://schemas.microsoft.com/office/drawing/2014/main" id="{00C58B3C-8EFF-F74D-FAE8-196D253FB350}"/>
                </a:ext>
              </a:extLst>
            </p:cNvPr>
            <p:cNvSpPr txBox="1">
              <a:spLocks noChangeArrowheads="1"/>
            </p:cNvSpPr>
            <p:nvPr/>
          </p:nvSpPr>
          <p:spPr bwMode="auto">
            <a:xfrm>
              <a:off x="3202" y="3396"/>
              <a:ext cx="15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400" dirty="0">
                  <a:solidFill>
                    <a:schemeClr val="tx1"/>
                  </a:solidFill>
                  <a:latin typeface="+mn-lt"/>
                </a:rPr>
                <a:t>4</a:t>
              </a:r>
            </a:p>
          </p:txBody>
        </p:sp>
        <p:sp>
          <p:nvSpPr>
            <p:cNvPr id="238" name="Text Box 193">
              <a:extLst>
                <a:ext uri="{FF2B5EF4-FFF2-40B4-BE49-F238E27FC236}">
                  <a16:creationId xmlns:a16="http://schemas.microsoft.com/office/drawing/2014/main" id="{4FAF50B7-4D51-EB5E-77EA-9833449D736A}"/>
                </a:ext>
              </a:extLst>
            </p:cNvPr>
            <p:cNvSpPr txBox="1">
              <a:spLocks noChangeArrowheads="1"/>
            </p:cNvSpPr>
            <p:nvPr/>
          </p:nvSpPr>
          <p:spPr bwMode="auto">
            <a:xfrm>
              <a:off x="4020" y="3410"/>
              <a:ext cx="24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400" dirty="0">
                  <a:solidFill>
                    <a:schemeClr val="accent1"/>
                  </a:solidFill>
                  <a:latin typeface="+mn-lt"/>
                </a:rPr>
                <a:t>77”</a:t>
              </a:r>
            </a:p>
          </p:txBody>
        </p:sp>
        <p:sp>
          <p:nvSpPr>
            <p:cNvPr id="239" name="Text Box 194">
              <a:extLst>
                <a:ext uri="{FF2B5EF4-FFF2-40B4-BE49-F238E27FC236}">
                  <a16:creationId xmlns:a16="http://schemas.microsoft.com/office/drawing/2014/main" id="{336F45CA-E732-19F7-4083-72C0BD7BCF18}"/>
                </a:ext>
              </a:extLst>
            </p:cNvPr>
            <p:cNvSpPr txBox="1">
              <a:spLocks noChangeArrowheads="1"/>
            </p:cNvSpPr>
            <p:nvPr/>
          </p:nvSpPr>
          <p:spPr bwMode="auto">
            <a:xfrm>
              <a:off x="4808" y="3399"/>
              <a:ext cx="24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r>
                <a:rPr lang="en-US" sz="1400" dirty="0">
                  <a:solidFill>
                    <a:schemeClr val="tx1"/>
                  </a:solidFill>
                  <a:latin typeface="+mn-lt"/>
                </a:rPr>
                <a:t>70”</a:t>
              </a:r>
            </a:p>
          </p:txBody>
        </p:sp>
        <p:grpSp>
          <p:nvGrpSpPr>
            <p:cNvPr id="240" name="Group 195">
              <a:extLst>
                <a:ext uri="{FF2B5EF4-FFF2-40B4-BE49-F238E27FC236}">
                  <a16:creationId xmlns:a16="http://schemas.microsoft.com/office/drawing/2014/main" id="{8B00936E-F771-184D-EBDA-0DA3AADF4811}"/>
                </a:ext>
              </a:extLst>
            </p:cNvPr>
            <p:cNvGrpSpPr>
              <a:grpSpLocks/>
            </p:cNvGrpSpPr>
            <p:nvPr/>
          </p:nvGrpSpPr>
          <p:grpSpPr bwMode="auto">
            <a:xfrm>
              <a:off x="2224" y="2127"/>
              <a:ext cx="306" cy="196"/>
              <a:chOff x="3519" y="2637"/>
              <a:chExt cx="534" cy="345"/>
            </a:xfrm>
          </p:grpSpPr>
          <p:sp>
            <p:nvSpPr>
              <p:cNvPr id="241" name="Oval 196">
                <a:extLst>
                  <a:ext uri="{FF2B5EF4-FFF2-40B4-BE49-F238E27FC236}">
                    <a16:creationId xmlns:a16="http://schemas.microsoft.com/office/drawing/2014/main" id="{A8C50DD8-18E6-E3C9-9CC0-172BF90069F2}"/>
                  </a:ext>
                </a:extLst>
              </p:cNvPr>
              <p:cNvSpPr>
                <a:spLocks noChangeArrowheads="1"/>
              </p:cNvSpPr>
              <p:nvPr/>
            </p:nvSpPr>
            <p:spPr bwMode="auto">
              <a:xfrm>
                <a:off x="3621" y="2637"/>
                <a:ext cx="342" cy="341"/>
              </a:xfrm>
              <a:prstGeom prst="ellipse">
                <a:avLst/>
              </a:prstGeom>
              <a:solidFill>
                <a:schemeClr val="accent5"/>
              </a:solidFill>
              <a:ln w="28575">
                <a:solidFill>
                  <a:srgbClr val="000000"/>
                </a:solidFill>
                <a:round/>
                <a:headEnd/>
                <a:tailEnd/>
              </a:ln>
            </p:spPr>
            <p:txBody>
              <a:bodyPr wrap="none" anchor="ctr"/>
              <a:lstStyle/>
              <a:p>
                <a:endParaRPr lang="en-US" dirty="0"/>
              </a:p>
            </p:txBody>
          </p:sp>
          <p:sp>
            <p:nvSpPr>
              <p:cNvPr id="242" name="Freeform 197">
                <a:extLst>
                  <a:ext uri="{FF2B5EF4-FFF2-40B4-BE49-F238E27FC236}">
                    <a16:creationId xmlns:a16="http://schemas.microsoft.com/office/drawing/2014/main" id="{1260155D-AE63-8179-E57F-BA3C377D1191}"/>
                  </a:ext>
                </a:extLst>
              </p:cNvPr>
              <p:cNvSpPr>
                <a:spLocks/>
              </p:cNvSpPr>
              <p:nvPr/>
            </p:nvSpPr>
            <p:spPr bwMode="auto">
              <a:xfrm>
                <a:off x="3519" y="2682"/>
                <a:ext cx="534" cy="300"/>
              </a:xfrm>
              <a:custGeom>
                <a:avLst/>
                <a:gdLst>
                  <a:gd name="T0" fmla="*/ 1 w 534"/>
                  <a:gd name="T1" fmla="*/ 12 h 300"/>
                  <a:gd name="T2" fmla="*/ 0 w 534"/>
                  <a:gd name="T3" fmla="*/ 40 h 300"/>
                  <a:gd name="T4" fmla="*/ 2 w 534"/>
                  <a:gd name="T5" fmla="*/ 69 h 300"/>
                  <a:gd name="T6" fmla="*/ 15 w 534"/>
                  <a:gd name="T7" fmla="*/ 123 h 300"/>
                  <a:gd name="T8" fmla="*/ 38 w 534"/>
                  <a:gd name="T9" fmla="*/ 171 h 300"/>
                  <a:gd name="T10" fmla="*/ 72 w 534"/>
                  <a:gd name="T11" fmla="*/ 215 h 300"/>
                  <a:gd name="T12" fmla="*/ 113 w 534"/>
                  <a:gd name="T13" fmla="*/ 250 h 300"/>
                  <a:gd name="T14" fmla="*/ 161 w 534"/>
                  <a:gd name="T15" fmla="*/ 277 h 300"/>
                  <a:gd name="T16" fmla="*/ 214 w 534"/>
                  <a:gd name="T17" fmla="*/ 294 h 300"/>
                  <a:gd name="T18" fmla="*/ 243 w 534"/>
                  <a:gd name="T19" fmla="*/ 298 h 300"/>
                  <a:gd name="T20" fmla="*/ 258 w 534"/>
                  <a:gd name="T21" fmla="*/ 298 h 300"/>
                  <a:gd name="T22" fmla="*/ 272 w 534"/>
                  <a:gd name="T23" fmla="*/ 299 h 300"/>
                  <a:gd name="T24" fmla="*/ 329 w 534"/>
                  <a:gd name="T25" fmla="*/ 292 h 300"/>
                  <a:gd name="T26" fmla="*/ 382 w 534"/>
                  <a:gd name="T27" fmla="*/ 273 h 300"/>
                  <a:gd name="T28" fmla="*/ 428 w 534"/>
                  <a:gd name="T29" fmla="*/ 245 h 300"/>
                  <a:gd name="T30" fmla="*/ 468 w 534"/>
                  <a:gd name="T31" fmla="*/ 207 h 300"/>
                  <a:gd name="T32" fmla="*/ 499 w 534"/>
                  <a:gd name="T33" fmla="*/ 163 h 300"/>
                  <a:gd name="T34" fmla="*/ 521 w 534"/>
                  <a:gd name="T35" fmla="*/ 113 h 300"/>
                  <a:gd name="T36" fmla="*/ 532 w 534"/>
                  <a:gd name="T37" fmla="*/ 59 h 300"/>
                  <a:gd name="T38" fmla="*/ 533 w 534"/>
                  <a:gd name="T39" fmla="*/ 30 h 300"/>
                  <a:gd name="T40" fmla="*/ 533 w 534"/>
                  <a:gd name="T41" fmla="*/ 15 h 300"/>
                  <a:gd name="T42" fmla="*/ 531 w 534"/>
                  <a:gd name="T43" fmla="*/ 0 h 3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4"/>
                  <a:gd name="T67" fmla="*/ 0 h 300"/>
                  <a:gd name="T68" fmla="*/ 534 w 534"/>
                  <a:gd name="T69" fmla="*/ 300 h 3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4" h="300">
                    <a:moveTo>
                      <a:pt x="1" y="12"/>
                    </a:moveTo>
                    <a:lnTo>
                      <a:pt x="0" y="40"/>
                    </a:lnTo>
                    <a:lnTo>
                      <a:pt x="2" y="69"/>
                    </a:lnTo>
                    <a:lnTo>
                      <a:pt x="15" y="123"/>
                    </a:lnTo>
                    <a:lnTo>
                      <a:pt x="38" y="171"/>
                    </a:lnTo>
                    <a:lnTo>
                      <a:pt x="72" y="215"/>
                    </a:lnTo>
                    <a:lnTo>
                      <a:pt x="113" y="250"/>
                    </a:lnTo>
                    <a:lnTo>
                      <a:pt x="161" y="277"/>
                    </a:lnTo>
                    <a:lnTo>
                      <a:pt x="214" y="294"/>
                    </a:lnTo>
                    <a:lnTo>
                      <a:pt x="243" y="298"/>
                    </a:lnTo>
                    <a:lnTo>
                      <a:pt x="258" y="298"/>
                    </a:lnTo>
                    <a:lnTo>
                      <a:pt x="272" y="299"/>
                    </a:lnTo>
                    <a:lnTo>
                      <a:pt x="329" y="292"/>
                    </a:lnTo>
                    <a:lnTo>
                      <a:pt x="382" y="273"/>
                    </a:lnTo>
                    <a:lnTo>
                      <a:pt x="428" y="245"/>
                    </a:lnTo>
                    <a:lnTo>
                      <a:pt x="468" y="207"/>
                    </a:lnTo>
                    <a:lnTo>
                      <a:pt x="499" y="163"/>
                    </a:lnTo>
                    <a:lnTo>
                      <a:pt x="521" y="113"/>
                    </a:lnTo>
                    <a:lnTo>
                      <a:pt x="532" y="59"/>
                    </a:lnTo>
                    <a:lnTo>
                      <a:pt x="533" y="30"/>
                    </a:lnTo>
                    <a:lnTo>
                      <a:pt x="533" y="15"/>
                    </a:lnTo>
                    <a:lnTo>
                      <a:pt x="531" y="0"/>
                    </a:lnTo>
                  </a:path>
                </a:pathLst>
              </a:custGeom>
              <a:noFill/>
              <a:ln w="28575"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GB" dirty="0"/>
              </a:p>
            </p:txBody>
          </p:sp>
        </p:grpSp>
      </p:grpSp>
    </p:spTree>
    <p:extLst>
      <p:ext uri="{BB962C8B-B14F-4D97-AF65-F5344CB8AC3E}">
        <p14:creationId xmlns:p14="http://schemas.microsoft.com/office/powerpoint/2010/main" val="2928714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Exploded Assemblies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5" name="Group 4">
            <a:extLst>
              <a:ext uri="{FF2B5EF4-FFF2-40B4-BE49-F238E27FC236}">
                <a16:creationId xmlns:a16="http://schemas.microsoft.com/office/drawing/2014/main" id="{AED76D86-28DD-A492-7AEB-0EFD75D40B58}"/>
              </a:ext>
            </a:extLst>
          </p:cNvPr>
          <p:cNvGrpSpPr/>
          <p:nvPr/>
        </p:nvGrpSpPr>
        <p:grpSpPr>
          <a:xfrm>
            <a:off x="838200" y="297639"/>
            <a:ext cx="3848100" cy="307138"/>
            <a:chOff x="838200" y="297639"/>
            <a:chExt cx="3848100" cy="307138"/>
          </a:xfrm>
        </p:grpSpPr>
        <p:grpSp>
          <p:nvGrpSpPr>
            <p:cNvPr id="7" name="Group 6">
              <a:extLst>
                <a:ext uri="{FF2B5EF4-FFF2-40B4-BE49-F238E27FC236}">
                  <a16:creationId xmlns:a16="http://schemas.microsoft.com/office/drawing/2014/main" id="{DB67F30F-9919-BA1A-C664-CE08A0F3A0D1}"/>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AD7FF117-9909-0F56-FCEE-76578B6BD13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6EF91-F38A-53D0-2599-D6C0FBE9C2C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922C6621-B6FF-F4EF-2CBB-01BB117B17CC}"/>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CF1843A5-8FA2-2A8A-512B-A05ECC92A0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26A71FD-87D2-6621-8176-82D2E58CBD9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B44BF741-3DEF-77C1-8175-4AE3FD04E4F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04B116D7-0215-0CFC-E393-AC391EFE3ED0}"/>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pic>
        <p:nvPicPr>
          <p:cNvPr id="15" name="Content Placeholder 14">
            <a:extLst>
              <a:ext uri="{FF2B5EF4-FFF2-40B4-BE49-F238E27FC236}">
                <a16:creationId xmlns:a16="http://schemas.microsoft.com/office/drawing/2014/main" id="{B8F0DC53-3F73-2F83-158E-646EFA3142E9}"/>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835150" y="2559844"/>
            <a:ext cx="3187700" cy="2882900"/>
          </a:xfrm>
          <a:prstGeom prst="rect">
            <a:avLst/>
          </a:prstGeom>
        </p:spPr>
      </p:pic>
      <p:pic>
        <p:nvPicPr>
          <p:cNvPr id="16" name="Content Placeholder 15">
            <a:extLst>
              <a:ext uri="{FF2B5EF4-FFF2-40B4-BE49-F238E27FC236}">
                <a16:creationId xmlns:a16="http://schemas.microsoft.com/office/drawing/2014/main" id="{3F4A6ADF-8180-0BB0-74E6-87AAA05272FC}"/>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870700" y="2261394"/>
            <a:ext cx="3784600" cy="3479800"/>
          </a:xfrm>
          <a:prstGeom prst="rect">
            <a:avLst/>
          </a:prstGeom>
        </p:spPr>
      </p:pic>
      <p:sp>
        <p:nvSpPr>
          <p:cNvPr id="17" name="Content Placeholder 14">
            <a:extLst>
              <a:ext uri="{FF2B5EF4-FFF2-40B4-BE49-F238E27FC236}">
                <a16:creationId xmlns:a16="http://schemas.microsoft.com/office/drawing/2014/main" id="{4E988B90-BBBA-AEEC-A156-ECB534DBC1CB}"/>
              </a:ext>
            </a:extLst>
          </p:cNvPr>
          <p:cNvSpPr txBox="1">
            <a:spLocks/>
          </p:cNvSpPr>
          <p:nvPr/>
        </p:nvSpPr>
        <p:spPr>
          <a:xfrm>
            <a:off x="1368283" y="5834673"/>
            <a:ext cx="10095857" cy="68103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Use drawings and exploded views to visualize product or process</a:t>
            </a:r>
            <a:endParaRPr lang="en-GB" dirty="0"/>
          </a:p>
        </p:txBody>
      </p:sp>
    </p:spTree>
    <p:extLst>
      <p:ext uri="{BB962C8B-B14F-4D97-AF65-F5344CB8AC3E}">
        <p14:creationId xmlns:p14="http://schemas.microsoft.com/office/powerpoint/2010/main" val="3405942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Design Interrelationship Diagram Example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5" name="Group 4">
            <a:extLst>
              <a:ext uri="{FF2B5EF4-FFF2-40B4-BE49-F238E27FC236}">
                <a16:creationId xmlns:a16="http://schemas.microsoft.com/office/drawing/2014/main" id="{AED76D86-28DD-A492-7AEB-0EFD75D40B58}"/>
              </a:ext>
            </a:extLst>
          </p:cNvPr>
          <p:cNvGrpSpPr/>
          <p:nvPr/>
        </p:nvGrpSpPr>
        <p:grpSpPr>
          <a:xfrm>
            <a:off x="838200" y="297639"/>
            <a:ext cx="3848100" cy="307138"/>
            <a:chOff x="838200" y="297639"/>
            <a:chExt cx="3848100" cy="307138"/>
          </a:xfrm>
        </p:grpSpPr>
        <p:grpSp>
          <p:nvGrpSpPr>
            <p:cNvPr id="7" name="Group 6">
              <a:extLst>
                <a:ext uri="{FF2B5EF4-FFF2-40B4-BE49-F238E27FC236}">
                  <a16:creationId xmlns:a16="http://schemas.microsoft.com/office/drawing/2014/main" id="{DB67F30F-9919-BA1A-C664-CE08A0F3A0D1}"/>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AD7FF117-9909-0F56-FCEE-76578B6BD13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6EF91-F38A-53D0-2599-D6C0FBE9C2C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922C6621-B6FF-F4EF-2CBB-01BB117B17CC}"/>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CF1843A5-8FA2-2A8A-512B-A05ECC92A0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26A71FD-87D2-6621-8176-82D2E58CBD9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B44BF741-3DEF-77C1-8175-4AE3FD04E4F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04B116D7-0215-0CFC-E393-AC391EFE3ED0}"/>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sp>
        <p:nvSpPr>
          <p:cNvPr id="4" name="Content Placeholder 3">
            <a:extLst>
              <a:ext uri="{FF2B5EF4-FFF2-40B4-BE49-F238E27FC236}">
                <a16:creationId xmlns:a16="http://schemas.microsoft.com/office/drawing/2014/main" id="{CFBEAE80-680B-B3D4-719C-E9A53FBA4070}"/>
              </a:ext>
            </a:extLst>
          </p:cNvPr>
          <p:cNvSpPr>
            <a:spLocks noGrp="1"/>
          </p:cNvSpPr>
          <p:nvPr>
            <p:ph sz="half" idx="2"/>
          </p:nvPr>
        </p:nvSpPr>
        <p:spPr/>
        <p:txBody>
          <a:bodyPr anchor="ctr"/>
          <a:lstStyle/>
          <a:p>
            <a:r>
              <a:rPr lang="en-GB" dirty="0"/>
              <a:t>Draw the relationship diagram of the product/process to the system</a:t>
            </a:r>
          </a:p>
          <a:p>
            <a:r>
              <a:rPr lang="en-GB" dirty="0"/>
              <a:t>Show the number of inputs and outputs e.g. 1/3 input/output</a:t>
            </a:r>
          </a:p>
          <a:p>
            <a:r>
              <a:rPr lang="en-GB" dirty="0"/>
              <a:t>Define the interfaces</a:t>
            </a:r>
          </a:p>
          <a:p>
            <a:r>
              <a:rPr lang="en-GB" dirty="0"/>
              <a:t>Describe the requirements for each interface</a:t>
            </a:r>
          </a:p>
        </p:txBody>
      </p:sp>
      <p:grpSp>
        <p:nvGrpSpPr>
          <p:cNvPr id="38" name="Group 37">
            <a:extLst>
              <a:ext uri="{FF2B5EF4-FFF2-40B4-BE49-F238E27FC236}">
                <a16:creationId xmlns:a16="http://schemas.microsoft.com/office/drawing/2014/main" id="{142A29B4-FCAC-D702-5394-E9300DC69210}"/>
              </a:ext>
            </a:extLst>
          </p:cNvPr>
          <p:cNvGrpSpPr/>
          <p:nvPr/>
        </p:nvGrpSpPr>
        <p:grpSpPr>
          <a:xfrm>
            <a:off x="1151875" y="1986548"/>
            <a:ext cx="4024613" cy="4029491"/>
            <a:chOff x="414337" y="1516063"/>
            <a:chExt cx="4024613" cy="4029491"/>
          </a:xfrm>
        </p:grpSpPr>
        <p:sp>
          <p:nvSpPr>
            <p:cNvPr id="20" name="Rectangle 5">
              <a:extLst>
                <a:ext uri="{FF2B5EF4-FFF2-40B4-BE49-F238E27FC236}">
                  <a16:creationId xmlns:a16="http://schemas.microsoft.com/office/drawing/2014/main" id="{3B477F9B-3BAC-1A6D-753E-32E2FF2EB4C3}"/>
                </a:ext>
              </a:extLst>
            </p:cNvPr>
            <p:cNvSpPr>
              <a:spLocks noChangeArrowheads="1"/>
            </p:cNvSpPr>
            <p:nvPr/>
          </p:nvSpPr>
          <p:spPr bwMode="auto">
            <a:xfrm>
              <a:off x="1928813" y="1887539"/>
              <a:ext cx="944563" cy="534987"/>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p>
          </p:txBody>
        </p:sp>
        <p:sp>
          <p:nvSpPr>
            <p:cNvPr id="21" name="Rectangle 15">
              <a:extLst>
                <a:ext uri="{FF2B5EF4-FFF2-40B4-BE49-F238E27FC236}">
                  <a16:creationId xmlns:a16="http://schemas.microsoft.com/office/drawing/2014/main" id="{816D5B5A-9961-96AD-3C4A-2776FFC100ED}"/>
                </a:ext>
              </a:extLst>
            </p:cNvPr>
            <p:cNvSpPr>
              <a:spLocks noChangeArrowheads="1"/>
            </p:cNvSpPr>
            <p:nvPr/>
          </p:nvSpPr>
          <p:spPr bwMode="auto">
            <a:xfrm>
              <a:off x="414337" y="3222625"/>
              <a:ext cx="944563" cy="533400"/>
            </a:xfrm>
            <a:prstGeom prst="rect">
              <a:avLst/>
            </a:prstGeom>
            <a:solidFill>
              <a:schemeClr val="bg2"/>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p>
          </p:txBody>
        </p:sp>
        <p:sp>
          <p:nvSpPr>
            <p:cNvPr id="22" name="Rectangle 16">
              <a:extLst>
                <a:ext uri="{FF2B5EF4-FFF2-40B4-BE49-F238E27FC236}">
                  <a16:creationId xmlns:a16="http://schemas.microsoft.com/office/drawing/2014/main" id="{293D6563-73C8-93DB-FC72-C557DD55ED90}"/>
                </a:ext>
              </a:extLst>
            </p:cNvPr>
            <p:cNvSpPr>
              <a:spLocks noChangeArrowheads="1"/>
            </p:cNvSpPr>
            <p:nvPr/>
          </p:nvSpPr>
          <p:spPr bwMode="auto">
            <a:xfrm>
              <a:off x="3443288" y="3222625"/>
              <a:ext cx="944563" cy="533400"/>
            </a:xfrm>
            <a:prstGeom prst="rect">
              <a:avLst/>
            </a:prstGeom>
            <a:solidFill>
              <a:schemeClr val="accent2"/>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p>
          </p:txBody>
        </p:sp>
        <p:sp>
          <p:nvSpPr>
            <p:cNvPr id="23" name="Rectangle 17">
              <a:extLst>
                <a:ext uri="{FF2B5EF4-FFF2-40B4-BE49-F238E27FC236}">
                  <a16:creationId xmlns:a16="http://schemas.microsoft.com/office/drawing/2014/main" id="{6BEEF56D-9558-04D2-232A-1888CAAF76EC}"/>
                </a:ext>
              </a:extLst>
            </p:cNvPr>
            <p:cNvSpPr>
              <a:spLocks noChangeArrowheads="1"/>
            </p:cNvSpPr>
            <p:nvPr/>
          </p:nvSpPr>
          <p:spPr bwMode="auto">
            <a:xfrm>
              <a:off x="2681288" y="4633913"/>
              <a:ext cx="944563" cy="533400"/>
            </a:xfrm>
            <a:prstGeom prst="rect">
              <a:avLst/>
            </a:prstGeom>
            <a:solidFill>
              <a:schemeClr val="accent3"/>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p>
          </p:txBody>
        </p:sp>
        <p:sp>
          <p:nvSpPr>
            <p:cNvPr id="24" name="Rectangle 23">
              <a:extLst>
                <a:ext uri="{FF2B5EF4-FFF2-40B4-BE49-F238E27FC236}">
                  <a16:creationId xmlns:a16="http://schemas.microsoft.com/office/drawing/2014/main" id="{EF01119B-7185-4D65-D4C2-B3AD42C2B496}"/>
                </a:ext>
              </a:extLst>
            </p:cNvPr>
            <p:cNvSpPr/>
            <p:nvPr/>
          </p:nvSpPr>
          <p:spPr bwMode="auto">
            <a:xfrm>
              <a:off x="1211263" y="4633913"/>
              <a:ext cx="944563" cy="533400"/>
            </a:xfrm>
            <a:prstGeom prst="rect">
              <a:avLst/>
            </a:prstGeom>
            <a:solidFill>
              <a:schemeClr val="accent5"/>
            </a:solidFill>
            <a:ln w="12700" cap="sq" cmpd="sng" algn="ctr">
              <a:noFill/>
              <a:prstDash val="solid"/>
              <a:round/>
              <a:headEnd type="none" w="med" len="med"/>
              <a:tailEnd type="none" w="med" len="med"/>
            </a:ln>
            <a:effectLst/>
          </p:spPr>
          <p:txBody>
            <a:bodyPr lIns="36000" tIns="36000" rIns="36000" bIns="36000" anchor="ctr"/>
            <a:lstStyle/>
            <a:p>
              <a:pPr>
                <a:defRPr/>
              </a:pPr>
              <a:endParaRPr lang="en-GB" sz="1200" dirty="0"/>
            </a:p>
          </p:txBody>
        </p:sp>
        <p:cxnSp>
          <p:nvCxnSpPr>
            <p:cNvPr id="25" name="Straight Arrow Connector 22">
              <a:extLst>
                <a:ext uri="{FF2B5EF4-FFF2-40B4-BE49-F238E27FC236}">
                  <a16:creationId xmlns:a16="http://schemas.microsoft.com/office/drawing/2014/main" id="{4389F694-B256-D442-9FB5-327930D1DAE3}"/>
                </a:ext>
              </a:extLst>
            </p:cNvPr>
            <p:cNvCxnSpPr>
              <a:cxnSpLocks noChangeShapeType="1"/>
              <a:stCxn id="20" idx="2"/>
              <a:endCxn id="24" idx="0"/>
            </p:cNvCxnSpPr>
            <p:nvPr/>
          </p:nvCxnSpPr>
          <p:spPr bwMode="auto">
            <a:xfrm rot="5400000">
              <a:off x="936626" y="3168650"/>
              <a:ext cx="2211388" cy="719139"/>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6" name="Straight Arrow Connector 24">
              <a:extLst>
                <a:ext uri="{FF2B5EF4-FFF2-40B4-BE49-F238E27FC236}">
                  <a16:creationId xmlns:a16="http://schemas.microsoft.com/office/drawing/2014/main" id="{A844121E-A858-DF4A-487F-A492DDA84F2D}"/>
                </a:ext>
              </a:extLst>
            </p:cNvPr>
            <p:cNvCxnSpPr>
              <a:cxnSpLocks noChangeShapeType="1"/>
              <a:stCxn id="20" idx="2"/>
              <a:endCxn id="23" idx="0"/>
            </p:cNvCxnSpPr>
            <p:nvPr/>
          </p:nvCxnSpPr>
          <p:spPr bwMode="auto">
            <a:xfrm rot="16200000" flipH="1">
              <a:off x="1671639" y="3152776"/>
              <a:ext cx="2211388" cy="750887"/>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7" name="Straight Arrow Connector 29">
              <a:extLst>
                <a:ext uri="{FF2B5EF4-FFF2-40B4-BE49-F238E27FC236}">
                  <a16:creationId xmlns:a16="http://schemas.microsoft.com/office/drawing/2014/main" id="{58D006DB-B1C0-CE73-F476-B9AFB67D92F7}"/>
                </a:ext>
              </a:extLst>
            </p:cNvPr>
            <p:cNvCxnSpPr>
              <a:cxnSpLocks noChangeShapeType="1"/>
              <a:stCxn id="20" idx="3"/>
              <a:endCxn id="22" idx="0"/>
            </p:cNvCxnSpPr>
            <p:nvPr/>
          </p:nvCxnSpPr>
          <p:spPr bwMode="auto">
            <a:xfrm>
              <a:off x="2873375" y="2154239"/>
              <a:ext cx="1041400" cy="1068387"/>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8" name="Straight Arrow Connector 31">
              <a:extLst>
                <a:ext uri="{FF2B5EF4-FFF2-40B4-BE49-F238E27FC236}">
                  <a16:creationId xmlns:a16="http://schemas.microsoft.com/office/drawing/2014/main" id="{4F2898DB-D42A-0769-CA6A-E1AACCB25040}"/>
                </a:ext>
              </a:extLst>
            </p:cNvPr>
            <p:cNvCxnSpPr>
              <a:cxnSpLocks noChangeShapeType="1"/>
              <a:stCxn id="22" idx="1"/>
              <a:endCxn id="21" idx="3"/>
            </p:cNvCxnSpPr>
            <p:nvPr/>
          </p:nvCxnSpPr>
          <p:spPr bwMode="auto">
            <a:xfrm rot="10800000">
              <a:off x="1358901" y="3489326"/>
              <a:ext cx="2084388" cy="1588"/>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9" name="Straight Arrow Connector 33">
              <a:extLst>
                <a:ext uri="{FF2B5EF4-FFF2-40B4-BE49-F238E27FC236}">
                  <a16:creationId xmlns:a16="http://schemas.microsoft.com/office/drawing/2014/main" id="{3227DA6C-3442-6A89-AE2C-B1BD222790B7}"/>
                </a:ext>
              </a:extLst>
            </p:cNvPr>
            <p:cNvCxnSpPr>
              <a:cxnSpLocks noChangeShapeType="1"/>
              <a:stCxn id="21" idx="0"/>
              <a:endCxn id="20" idx="1"/>
            </p:cNvCxnSpPr>
            <p:nvPr/>
          </p:nvCxnSpPr>
          <p:spPr bwMode="auto">
            <a:xfrm rot="5400000" flipH="1" flipV="1">
              <a:off x="873920" y="2167732"/>
              <a:ext cx="1068387" cy="1041400"/>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0" name="Straight Arrow Connector 35">
              <a:extLst>
                <a:ext uri="{FF2B5EF4-FFF2-40B4-BE49-F238E27FC236}">
                  <a16:creationId xmlns:a16="http://schemas.microsoft.com/office/drawing/2014/main" id="{5C47725D-142E-8855-4EEE-6E12EC1D07EA}"/>
                </a:ext>
              </a:extLst>
            </p:cNvPr>
            <p:cNvCxnSpPr>
              <a:cxnSpLocks noChangeShapeType="1"/>
              <a:stCxn id="24" idx="1"/>
              <a:endCxn id="21" idx="2"/>
            </p:cNvCxnSpPr>
            <p:nvPr/>
          </p:nvCxnSpPr>
          <p:spPr bwMode="auto">
            <a:xfrm rot="10800000">
              <a:off x="887413" y="3756026"/>
              <a:ext cx="323851" cy="1144588"/>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1" name="Straight Arrow Connector 37">
              <a:extLst>
                <a:ext uri="{FF2B5EF4-FFF2-40B4-BE49-F238E27FC236}">
                  <a16:creationId xmlns:a16="http://schemas.microsoft.com/office/drawing/2014/main" id="{771B5EB9-AD45-DBC2-F8F3-84974C52007E}"/>
                </a:ext>
              </a:extLst>
            </p:cNvPr>
            <p:cNvCxnSpPr>
              <a:cxnSpLocks noChangeShapeType="1"/>
              <a:stCxn id="24" idx="3"/>
              <a:endCxn id="23" idx="1"/>
            </p:cNvCxnSpPr>
            <p:nvPr/>
          </p:nvCxnSpPr>
          <p:spPr bwMode="auto">
            <a:xfrm>
              <a:off x="2155826" y="4900613"/>
              <a:ext cx="525463" cy="1587"/>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2" name="Straight Arrow Connector 39">
              <a:extLst>
                <a:ext uri="{FF2B5EF4-FFF2-40B4-BE49-F238E27FC236}">
                  <a16:creationId xmlns:a16="http://schemas.microsoft.com/office/drawing/2014/main" id="{258D03AD-A0B5-A61E-E5BA-D308912C3DDE}"/>
                </a:ext>
              </a:extLst>
            </p:cNvPr>
            <p:cNvCxnSpPr>
              <a:cxnSpLocks noChangeShapeType="1"/>
              <a:stCxn id="22" idx="2"/>
              <a:endCxn id="23" idx="3"/>
            </p:cNvCxnSpPr>
            <p:nvPr/>
          </p:nvCxnSpPr>
          <p:spPr bwMode="auto">
            <a:xfrm rot="5400000">
              <a:off x="3198019" y="4183857"/>
              <a:ext cx="1144588" cy="288925"/>
            </a:xfrm>
            <a:prstGeom prst="straightConnector1">
              <a:avLst/>
            </a:prstGeom>
            <a:noFill/>
            <a:ln w="28575" cap="sq"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33" name="TextBox 16">
              <a:extLst>
                <a:ext uri="{FF2B5EF4-FFF2-40B4-BE49-F238E27FC236}">
                  <a16:creationId xmlns:a16="http://schemas.microsoft.com/office/drawing/2014/main" id="{6726A422-4890-7071-9127-6FEF6E84EF1C}"/>
                </a:ext>
              </a:extLst>
            </p:cNvPr>
            <p:cNvSpPr txBox="1">
              <a:spLocks noChangeArrowheads="1"/>
            </p:cNvSpPr>
            <p:nvPr/>
          </p:nvSpPr>
          <p:spPr bwMode="auto">
            <a:xfrm>
              <a:off x="2193876" y="1516063"/>
              <a:ext cx="4956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nSpc>
                  <a:spcPct val="100000"/>
                </a:lnSpc>
                <a:spcBef>
                  <a:spcPct val="0"/>
                </a:spcBef>
              </a:pPr>
              <a:r>
                <a:rPr lang="en-GB" sz="1600" dirty="0">
                  <a:solidFill>
                    <a:schemeClr val="tx1"/>
                  </a:solidFill>
                  <a:latin typeface="+mn-lt"/>
                </a:rPr>
                <a:t>1/3</a:t>
              </a:r>
            </a:p>
          </p:txBody>
        </p:sp>
        <p:sp>
          <p:nvSpPr>
            <p:cNvPr id="34" name="TextBox 17">
              <a:extLst>
                <a:ext uri="{FF2B5EF4-FFF2-40B4-BE49-F238E27FC236}">
                  <a16:creationId xmlns:a16="http://schemas.microsoft.com/office/drawing/2014/main" id="{077D1F62-0F9E-2C3F-96F1-91EE480CBDE4}"/>
                </a:ext>
              </a:extLst>
            </p:cNvPr>
            <p:cNvSpPr txBox="1">
              <a:spLocks noChangeArrowheads="1"/>
            </p:cNvSpPr>
            <p:nvPr/>
          </p:nvSpPr>
          <p:spPr bwMode="auto">
            <a:xfrm>
              <a:off x="3943301" y="2876550"/>
              <a:ext cx="4956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nSpc>
                  <a:spcPct val="100000"/>
                </a:lnSpc>
                <a:spcBef>
                  <a:spcPct val="0"/>
                </a:spcBef>
              </a:pPr>
              <a:r>
                <a:rPr lang="en-GB" sz="1600" dirty="0">
                  <a:solidFill>
                    <a:schemeClr val="tx1"/>
                  </a:solidFill>
                  <a:latin typeface="+mn-lt"/>
                </a:rPr>
                <a:t>1/2</a:t>
              </a:r>
            </a:p>
          </p:txBody>
        </p:sp>
        <p:sp>
          <p:nvSpPr>
            <p:cNvPr id="35" name="TextBox 19">
              <a:extLst>
                <a:ext uri="{FF2B5EF4-FFF2-40B4-BE49-F238E27FC236}">
                  <a16:creationId xmlns:a16="http://schemas.microsoft.com/office/drawing/2014/main" id="{A0267328-1E80-2EB0-A992-8E3DCC2285CD}"/>
                </a:ext>
              </a:extLst>
            </p:cNvPr>
            <p:cNvSpPr txBox="1">
              <a:spLocks noChangeArrowheads="1"/>
            </p:cNvSpPr>
            <p:nvPr/>
          </p:nvSpPr>
          <p:spPr bwMode="auto">
            <a:xfrm>
              <a:off x="2973338" y="5207000"/>
              <a:ext cx="4956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nSpc>
                  <a:spcPct val="100000"/>
                </a:lnSpc>
                <a:spcBef>
                  <a:spcPct val="0"/>
                </a:spcBef>
              </a:pPr>
              <a:r>
                <a:rPr lang="en-GB" sz="1600" dirty="0">
                  <a:solidFill>
                    <a:schemeClr val="tx1"/>
                  </a:solidFill>
                  <a:latin typeface="+mn-lt"/>
                </a:rPr>
                <a:t>3/0</a:t>
              </a:r>
            </a:p>
          </p:txBody>
        </p:sp>
        <p:sp>
          <p:nvSpPr>
            <p:cNvPr id="36" name="TextBox 20">
              <a:extLst>
                <a:ext uri="{FF2B5EF4-FFF2-40B4-BE49-F238E27FC236}">
                  <a16:creationId xmlns:a16="http://schemas.microsoft.com/office/drawing/2014/main" id="{8C8777F6-8336-F546-BE96-5F29D59C7145}"/>
                </a:ext>
              </a:extLst>
            </p:cNvPr>
            <p:cNvSpPr txBox="1">
              <a:spLocks noChangeArrowheads="1"/>
            </p:cNvSpPr>
            <p:nvPr/>
          </p:nvSpPr>
          <p:spPr bwMode="auto">
            <a:xfrm>
              <a:off x="1479501" y="5207000"/>
              <a:ext cx="4956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nSpc>
                  <a:spcPct val="100000"/>
                </a:lnSpc>
                <a:spcBef>
                  <a:spcPct val="0"/>
                </a:spcBef>
              </a:pPr>
              <a:r>
                <a:rPr lang="en-GB" sz="1600" dirty="0">
                  <a:solidFill>
                    <a:schemeClr val="tx1"/>
                  </a:solidFill>
                  <a:latin typeface="+mn-lt"/>
                </a:rPr>
                <a:t>1/2</a:t>
              </a:r>
            </a:p>
          </p:txBody>
        </p:sp>
        <p:sp>
          <p:nvSpPr>
            <p:cNvPr id="37" name="TextBox 21">
              <a:extLst>
                <a:ext uri="{FF2B5EF4-FFF2-40B4-BE49-F238E27FC236}">
                  <a16:creationId xmlns:a16="http://schemas.microsoft.com/office/drawing/2014/main" id="{3D1C44A0-30DA-458E-4ADC-184747EADF45}"/>
                </a:ext>
              </a:extLst>
            </p:cNvPr>
            <p:cNvSpPr txBox="1">
              <a:spLocks noChangeArrowheads="1"/>
            </p:cNvSpPr>
            <p:nvPr/>
          </p:nvSpPr>
          <p:spPr bwMode="auto">
            <a:xfrm>
              <a:off x="498426" y="2898775"/>
              <a:ext cx="4956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nSpc>
                  <a:spcPct val="100000"/>
                </a:lnSpc>
                <a:spcBef>
                  <a:spcPct val="0"/>
                </a:spcBef>
              </a:pPr>
              <a:r>
                <a:rPr lang="en-GB" sz="1600" dirty="0">
                  <a:solidFill>
                    <a:schemeClr val="tx1"/>
                  </a:solidFill>
                  <a:latin typeface="+mn-lt"/>
                </a:rPr>
                <a:t>2/1</a:t>
              </a:r>
            </a:p>
          </p:txBody>
        </p:sp>
      </p:grpSp>
    </p:spTree>
    <p:extLst>
      <p:ext uri="{BB962C8B-B14F-4D97-AF65-F5344CB8AC3E}">
        <p14:creationId xmlns:p14="http://schemas.microsoft.com/office/powerpoint/2010/main" val="3607544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System Hierarchy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3" name="Group 2">
            <a:extLst>
              <a:ext uri="{FF2B5EF4-FFF2-40B4-BE49-F238E27FC236}">
                <a16:creationId xmlns:a16="http://schemas.microsoft.com/office/drawing/2014/main" id="{84BA2257-5425-BFA9-FF7C-F2928CB895AB}"/>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0A949E55-4BF1-2434-AAE7-F4E7DD1BAA50}"/>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48F2DB8C-E6DB-C154-DFB4-1BF17B0D1DF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C5B1D0E-9944-089C-21D7-7D6EC3111AC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163E3C00-6CF6-2504-D94E-3AA0B0C87E94}"/>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8C67BAC-9076-75F4-C2C9-16E63347439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F8D9BCF8-66CD-58ED-485F-75DD291A269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2596F85C-F5B5-3279-282C-C5D12B463A5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B99931D9-E5C7-C8CF-7039-2E91376E982A}"/>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grpSp>
        <p:nvGrpSpPr>
          <p:cNvPr id="40" name="Group 39">
            <a:extLst>
              <a:ext uri="{FF2B5EF4-FFF2-40B4-BE49-F238E27FC236}">
                <a16:creationId xmlns:a16="http://schemas.microsoft.com/office/drawing/2014/main" id="{C3115ED0-2909-0796-AF41-218D8A91D832}"/>
              </a:ext>
            </a:extLst>
          </p:cNvPr>
          <p:cNvGrpSpPr/>
          <p:nvPr/>
        </p:nvGrpSpPr>
        <p:grpSpPr>
          <a:xfrm>
            <a:off x="488952" y="1783429"/>
            <a:ext cx="11236202" cy="4147471"/>
            <a:chOff x="488952" y="1385889"/>
            <a:chExt cx="8164513" cy="4545011"/>
          </a:xfrm>
        </p:grpSpPr>
        <p:sp>
          <p:nvSpPr>
            <p:cNvPr id="13" name="Content Placeholder 2">
              <a:extLst>
                <a:ext uri="{FF2B5EF4-FFF2-40B4-BE49-F238E27FC236}">
                  <a16:creationId xmlns:a16="http://schemas.microsoft.com/office/drawing/2014/main" id="{966B9604-F143-4764-0EAF-A994A7B1DB7B}"/>
                </a:ext>
              </a:extLst>
            </p:cNvPr>
            <p:cNvSpPr txBox="1">
              <a:spLocks/>
            </p:cNvSpPr>
            <p:nvPr/>
          </p:nvSpPr>
          <p:spPr>
            <a:xfrm>
              <a:off x="488952" y="5205413"/>
              <a:ext cx="8164513" cy="7254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mn-lt"/>
                </a:rPr>
                <a:t>Understand the system architecture and define the relationship of the product/process to be Leaned as a part of the total system</a:t>
              </a:r>
            </a:p>
          </p:txBody>
        </p:sp>
        <p:sp>
          <p:nvSpPr>
            <p:cNvPr id="14" name="Rectangle 3">
              <a:extLst>
                <a:ext uri="{FF2B5EF4-FFF2-40B4-BE49-F238E27FC236}">
                  <a16:creationId xmlns:a16="http://schemas.microsoft.com/office/drawing/2014/main" id="{48D56355-CB5F-1C8D-8266-FDCA6D116C1D}"/>
                </a:ext>
              </a:extLst>
            </p:cNvPr>
            <p:cNvSpPr>
              <a:spLocks noChangeArrowheads="1"/>
            </p:cNvSpPr>
            <p:nvPr/>
          </p:nvSpPr>
          <p:spPr bwMode="auto">
            <a:xfrm>
              <a:off x="3794126" y="1385889"/>
              <a:ext cx="1504951" cy="766762"/>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400" b="1" dirty="0"/>
                <a:t>Complete Product or Process</a:t>
              </a:r>
            </a:p>
          </p:txBody>
        </p:sp>
        <p:sp>
          <p:nvSpPr>
            <p:cNvPr id="15" name="Rectangle 4">
              <a:extLst>
                <a:ext uri="{FF2B5EF4-FFF2-40B4-BE49-F238E27FC236}">
                  <a16:creationId xmlns:a16="http://schemas.microsoft.com/office/drawing/2014/main" id="{3F905BF0-5513-6F31-16DA-1D05B1CC8A41}"/>
                </a:ext>
              </a:extLst>
            </p:cNvPr>
            <p:cNvSpPr>
              <a:spLocks noChangeArrowheads="1"/>
            </p:cNvSpPr>
            <p:nvPr/>
          </p:nvSpPr>
          <p:spPr bwMode="auto">
            <a:xfrm>
              <a:off x="1419225" y="2424114"/>
              <a:ext cx="1136651" cy="574675"/>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400" b="1" dirty="0"/>
                <a:t>Major System A</a:t>
              </a:r>
            </a:p>
          </p:txBody>
        </p:sp>
        <p:sp>
          <p:nvSpPr>
            <p:cNvPr id="16" name="Rectangle 5">
              <a:extLst>
                <a:ext uri="{FF2B5EF4-FFF2-40B4-BE49-F238E27FC236}">
                  <a16:creationId xmlns:a16="http://schemas.microsoft.com/office/drawing/2014/main" id="{7AC3CAF4-F0EC-F906-6CB4-6251846B56DC}"/>
                </a:ext>
              </a:extLst>
            </p:cNvPr>
            <p:cNvSpPr>
              <a:spLocks noChangeArrowheads="1"/>
            </p:cNvSpPr>
            <p:nvPr/>
          </p:nvSpPr>
          <p:spPr bwMode="auto">
            <a:xfrm>
              <a:off x="3140075" y="2424114"/>
              <a:ext cx="1136651" cy="574675"/>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400" b="1" dirty="0"/>
                <a:t>Major System B</a:t>
              </a:r>
            </a:p>
          </p:txBody>
        </p:sp>
        <p:sp>
          <p:nvSpPr>
            <p:cNvPr id="17" name="Rectangle 6">
              <a:extLst>
                <a:ext uri="{FF2B5EF4-FFF2-40B4-BE49-F238E27FC236}">
                  <a16:creationId xmlns:a16="http://schemas.microsoft.com/office/drawing/2014/main" id="{2B621C45-797C-8255-15D1-0B6D19136754}"/>
                </a:ext>
              </a:extLst>
            </p:cNvPr>
            <p:cNvSpPr>
              <a:spLocks noChangeArrowheads="1"/>
            </p:cNvSpPr>
            <p:nvPr/>
          </p:nvSpPr>
          <p:spPr bwMode="auto">
            <a:xfrm>
              <a:off x="4860925" y="2424114"/>
              <a:ext cx="1136651" cy="574675"/>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400" b="1" dirty="0"/>
                <a:t>Major System C</a:t>
              </a:r>
            </a:p>
          </p:txBody>
        </p:sp>
        <p:sp>
          <p:nvSpPr>
            <p:cNvPr id="18" name="Rectangle 7">
              <a:extLst>
                <a:ext uri="{FF2B5EF4-FFF2-40B4-BE49-F238E27FC236}">
                  <a16:creationId xmlns:a16="http://schemas.microsoft.com/office/drawing/2014/main" id="{4CEEB4B2-449C-B8D8-29FD-C406BEEF4540}"/>
                </a:ext>
              </a:extLst>
            </p:cNvPr>
            <p:cNvSpPr>
              <a:spLocks noChangeArrowheads="1"/>
            </p:cNvSpPr>
            <p:nvPr/>
          </p:nvSpPr>
          <p:spPr bwMode="auto">
            <a:xfrm>
              <a:off x="6581777" y="2424114"/>
              <a:ext cx="1135063" cy="574675"/>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400" b="1" dirty="0"/>
                <a:t>Major System D</a:t>
              </a:r>
            </a:p>
          </p:txBody>
        </p:sp>
        <p:sp>
          <p:nvSpPr>
            <p:cNvPr id="19" name="Rectangle 8">
              <a:extLst>
                <a:ext uri="{FF2B5EF4-FFF2-40B4-BE49-F238E27FC236}">
                  <a16:creationId xmlns:a16="http://schemas.microsoft.com/office/drawing/2014/main" id="{8D531C1A-87B6-344E-9673-19C4FFD7287F}"/>
                </a:ext>
              </a:extLst>
            </p:cNvPr>
            <p:cNvSpPr>
              <a:spLocks noChangeArrowheads="1"/>
            </p:cNvSpPr>
            <p:nvPr/>
          </p:nvSpPr>
          <p:spPr bwMode="auto">
            <a:xfrm>
              <a:off x="1822449" y="3281364"/>
              <a:ext cx="984251" cy="403225"/>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Sub-system/ Module B1</a:t>
              </a:r>
            </a:p>
          </p:txBody>
        </p:sp>
        <p:sp>
          <p:nvSpPr>
            <p:cNvPr id="20" name="Rectangle 9">
              <a:extLst>
                <a:ext uri="{FF2B5EF4-FFF2-40B4-BE49-F238E27FC236}">
                  <a16:creationId xmlns:a16="http://schemas.microsoft.com/office/drawing/2014/main" id="{FEB7E94A-ADE5-76FE-20FF-1F4C9B41687A}"/>
                </a:ext>
              </a:extLst>
            </p:cNvPr>
            <p:cNvSpPr>
              <a:spLocks noChangeArrowheads="1"/>
            </p:cNvSpPr>
            <p:nvPr/>
          </p:nvSpPr>
          <p:spPr bwMode="auto">
            <a:xfrm>
              <a:off x="3241677" y="3281364"/>
              <a:ext cx="982663" cy="403225"/>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200" b="1" dirty="0"/>
                <a:t>Sub-system/ Module B2</a:t>
              </a:r>
            </a:p>
          </p:txBody>
        </p:sp>
        <p:sp>
          <p:nvSpPr>
            <p:cNvPr id="21" name="Rectangle 10">
              <a:extLst>
                <a:ext uri="{FF2B5EF4-FFF2-40B4-BE49-F238E27FC236}">
                  <a16:creationId xmlns:a16="http://schemas.microsoft.com/office/drawing/2014/main" id="{278610BE-3B16-E4BD-A05B-3C7BF59B1FD6}"/>
                </a:ext>
              </a:extLst>
            </p:cNvPr>
            <p:cNvSpPr>
              <a:spLocks noChangeArrowheads="1"/>
            </p:cNvSpPr>
            <p:nvPr/>
          </p:nvSpPr>
          <p:spPr bwMode="auto">
            <a:xfrm>
              <a:off x="4659313" y="3281364"/>
              <a:ext cx="984251" cy="403225"/>
            </a:xfrm>
            <a:prstGeom prst="rect">
              <a:avLst/>
            </a:prstGeom>
            <a:solidFill>
              <a:schemeClr val="bg2"/>
            </a:solidFill>
            <a:ln w="12700" cap="sq" algn="ctr">
              <a:solidFill>
                <a:schemeClr val="tx1"/>
              </a:solidFill>
              <a:miter lim="800000"/>
              <a:headEnd/>
              <a:tailEnd/>
            </a:ln>
          </p:spPr>
          <p:txBody>
            <a:bodyPr lIns="36000" rIns="36000" anchor="ctr"/>
            <a:lstStyle/>
            <a:p>
              <a:pPr algn="ctr">
                <a:spcBef>
                  <a:spcPct val="0"/>
                </a:spcBef>
              </a:pPr>
              <a:r>
                <a:rPr lang="en-GB" sz="1200" b="1" dirty="0"/>
                <a:t>Sub-system/ Module B3</a:t>
              </a:r>
            </a:p>
          </p:txBody>
        </p:sp>
        <p:sp>
          <p:nvSpPr>
            <p:cNvPr id="22" name="Rectangle 12">
              <a:extLst>
                <a:ext uri="{FF2B5EF4-FFF2-40B4-BE49-F238E27FC236}">
                  <a16:creationId xmlns:a16="http://schemas.microsoft.com/office/drawing/2014/main" id="{18DBBDC5-2180-2D12-0624-78388AC08ABC}"/>
                </a:ext>
              </a:extLst>
            </p:cNvPr>
            <p:cNvSpPr>
              <a:spLocks noChangeArrowheads="1"/>
            </p:cNvSpPr>
            <p:nvPr/>
          </p:nvSpPr>
          <p:spPr bwMode="auto">
            <a:xfrm>
              <a:off x="973138" y="4076700"/>
              <a:ext cx="800100" cy="342900"/>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Sub-assy B1.1</a:t>
              </a:r>
            </a:p>
          </p:txBody>
        </p:sp>
        <p:sp>
          <p:nvSpPr>
            <p:cNvPr id="23" name="Rectangle 13">
              <a:extLst>
                <a:ext uri="{FF2B5EF4-FFF2-40B4-BE49-F238E27FC236}">
                  <a16:creationId xmlns:a16="http://schemas.microsoft.com/office/drawing/2014/main" id="{09AB9EE8-CC66-435C-E4AD-C9D074E264D0}"/>
                </a:ext>
              </a:extLst>
            </p:cNvPr>
            <p:cNvSpPr>
              <a:spLocks noChangeArrowheads="1"/>
            </p:cNvSpPr>
            <p:nvPr/>
          </p:nvSpPr>
          <p:spPr bwMode="auto">
            <a:xfrm>
              <a:off x="2030414" y="4076700"/>
              <a:ext cx="801687" cy="342900"/>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Sub-assy B1.2</a:t>
              </a:r>
            </a:p>
          </p:txBody>
        </p:sp>
        <p:sp>
          <p:nvSpPr>
            <p:cNvPr id="24" name="Rectangle 14">
              <a:extLst>
                <a:ext uri="{FF2B5EF4-FFF2-40B4-BE49-F238E27FC236}">
                  <a16:creationId xmlns:a16="http://schemas.microsoft.com/office/drawing/2014/main" id="{479751CA-8BEB-F768-2F1D-86C9027BFB7B}"/>
                </a:ext>
              </a:extLst>
            </p:cNvPr>
            <p:cNvSpPr>
              <a:spLocks noChangeArrowheads="1"/>
            </p:cNvSpPr>
            <p:nvPr/>
          </p:nvSpPr>
          <p:spPr bwMode="auto">
            <a:xfrm>
              <a:off x="3089275" y="4076700"/>
              <a:ext cx="801688" cy="342900"/>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Sub-assy B1.3</a:t>
              </a:r>
            </a:p>
          </p:txBody>
        </p:sp>
        <p:sp>
          <p:nvSpPr>
            <p:cNvPr id="25" name="Rectangle 15">
              <a:extLst>
                <a:ext uri="{FF2B5EF4-FFF2-40B4-BE49-F238E27FC236}">
                  <a16:creationId xmlns:a16="http://schemas.microsoft.com/office/drawing/2014/main" id="{306F9FFB-39D2-1031-1700-74D6FE2F7738}"/>
                </a:ext>
              </a:extLst>
            </p:cNvPr>
            <p:cNvSpPr>
              <a:spLocks noChangeArrowheads="1"/>
            </p:cNvSpPr>
            <p:nvPr/>
          </p:nvSpPr>
          <p:spPr bwMode="auto">
            <a:xfrm>
              <a:off x="4148139" y="4076700"/>
              <a:ext cx="800100" cy="342900"/>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Sub-assy B1.4</a:t>
              </a:r>
            </a:p>
          </p:txBody>
        </p:sp>
        <p:sp>
          <p:nvSpPr>
            <p:cNvPr id="26" name="Rectangle 16">
              <a:extLst>
                <a:ext uri="{FF2B5EF4-FFF2-40B4-BE49-F238E27FC236}">
                  <a16:creationId xmlns:a16="http://schemas.microsoft.com/office/drawing/2014/main" id="{C8F1D493-BEF9-BCED-6D2A-5E17E1FDD703}"/>
                </a:ext>
              </a:extLst>
            </p:cNvPr>
            <p:cNvSpPr>
              <a:spLocks noChangeArrowheads="1"/>
            </p:cNvSpPr>
            <p:nvPr/>
          </p:nvSpPr>
          <p:spPr bwMode="auto">
            <a:xfrm>
              <a:off x="5205414" y="4076700"/>
              <a:ext cx="801687" cy="342900"/>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Sub-assy B1.5</a:t>
              </a:r>
            </a:p>
          </p:txBody>
        </p:sp>
        <p:sp>
          <p:nvSpPr>
            <p:cNvPr id="27" name="Rectangle 17">
              <a:extLst>
                <a:ext uri="{FF2B5EF4-FFF2-40B4-BE49-F238E27FC236}">
                  <a16:creationId xmlns:a16="http://schemas.microsoft.com/office/drawing/2014/main" id="{47A35B30-720E-8D4D-75F4-36D14BD116AF}"/>
                </a:ext>
              </a:extLst>
            </p:cNvPr>
            <p:cNvSpPr>
              <a:spLocks noChangeArrowheads="1"/>
            </p:cNvSpPr>
            <p:nvPr/>
          </p:nvSpPr>
          <p:spPr bwMode="auto">
            <a:xfrm>
              <a:off x="2928939" y="4721224"/>
              <a:ext cx="676275" cy="423344"/>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Comp. B1.4.1</a:t>
              </a:r>
            </a:p>
          </p:txBody>
        </p:sp>
        <p:sp>
          <p:nvSpPr>
            <p:cNvPr id="28" name="Rectangle 18">
              <a:extLst>
                <a:ext uri="{FF2B5EF4-FFF2-40B4-BE49-F238E27FC236}">
                  <a16:creationId xmlns:a16="http://schemas.microsoft.com/office/drawing/2014/main" id="{133CDD3B-EC1C-A298-8A43-15344920884B}"/>
                </a:ext>
              </a:extLst>
            </p:cNvPr>
            <p:cNvSpPr>
              <a:spLocks noChangeArrowheads="1"/>
            </p:cNvSpPr>
            <p:nvPr/>
          </p:nvSpPr>
          <p:spPr bwMode="auto">
            <a:xfrm>
              <a:off x="3805239" y="4721224"/>
              <a:ext cx="676275" cy="423344"/>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Comp. B1.4.1</a:t>
              </a:r>
            </a:p>
          </p:txBody>
        </p:sp>
        <p:sp>
          <p:nvSpPr>
            <p:cNvPr id="29" name="Rectangle 19">
              <a:extLst>
                <a:ext uri="{FF2B5EF4-FFF2-40B4-BE49-F238E27FC236}">
                  <a16:creationId xmlns:a16="http://schemas.microsoft.com/office/drawing/2014/main" id="{397B8393-F1E1-7F1C-D07D-D76CF5E1AA27}"/>
                </a:ext>
              </a:extLst>
            </p:cNvPr>
            <p:cNvSpPr>
              <a:spLocks noChangeArrowheads="1"/>
            </p:cNvSpPr>
            <p:nvPr/>
          </p:nvSpPr>
          <p:spPr bwMode="auto">
            <a:xfrm>
              <a:off x="4681539" y="4721224"/>
              <a:ext cx="676275" cy="423344"/>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Comp. B1.4.1</a:t>
              </a:r>
            </a:p>
          </p:txBody>
        </p:sp>
        <p:sp>
          <p:nvSpPr>
            <p:cNvPr id="30" name="Rectangle 20">
              <a:extLst>
                <a:ext uri="{FF2B5EF4-FFF2-40B4-BE49-F238E27FC236}">
                  <a16:creationId xmlns:a16="http://schemas.microsoft.com/office/drawing/2014/main" id="{20425B05-52E7-88ED-64E1-51A1F87D61F9}"/>
                </a:ext>
              </a:extLst>
            </p:cNvPr>
            <p:cNvSpPr>
              <a:spLocks noChangeArrowheads="1"/>
            </p:cNvSpPr>
            <p:nvPr/>
          </p:nvSpPr>
          <p:spPr bwMode="auto">
            <a:xfrm>
              <a:off x="5557839" y="4721224"/>
              <a:ext cx="676275" cy="423344"/>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Comp. B1.4.1</a:t>
              </a:r>
            </a:p>
          </p:txBody>
        </p:sp>
        <p:sp>
          <p:nvSpPr>
            <p:cNvPr id="31" name="Rectangle 21">
              <a:extLst>
                <a:ext uri="{FF2B5EF4-FFF2-40B4-BE49-F238E27FC236}">
                  <a16:creationId xmlns:a16="http://schemas.microsoft.com/office/drawing/2014/main" id="{2B6F6F77-F2EF-127F-B190-532A17D95FEB}"/>
                </a:ext>
              </a:extLst>
            </p:cNvPr>
            <p:cNvSpPr>
              <a:spLocks noChangeArrowheads="1"/>
            </p:cNvSpPr>
            <p:nvPr/>
          </p:nvSpPr>
          <p:spPr bwMode="auto">
            <a:xfrm>
              <a:off x="6434139" y="4721224"/>
              <a:ext cx="676275" cy="423344"/>
            </a:xfrm>
            <a:prstGeom prst="rect">
              <a:avLst/>
            </a:prstGeom>
            <a:solidFill>
              <a:schemeClr val="accent4"/>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pPr algn="ctr"/>
              <a:r>
                <a:rPr lang="en-GB" sz="1200" dirty="0">
                  <a:solidFill>
                    <a:schemeClr val="bg1"/>
                  </a:solidFill>
                </a:rPr>
                <a:t>Comp. B1.4.1</a:t>
              </a:r>
            </a:p>
          </p:txBody>
        </p:sp>
        <p:sp>
          <p:nvSpPr>
            <p:cNvPr id="32" name="Line 27">
              <a:extLst>
                <a:ext uri="{FF2B5EF4-FFF2-40B4-BE49-F238E27FC236}">
                  <a16:creationId xmlns:a16="http://schemas.microsoft.com/office/drawing/2014/main" id="{6B50BB11-7807-37B8-CBB4-62691C4F1310}"/>
                </a:ext>
              </a:extLst>
            </p:cNvPr>
            <p:cNvSpPr>
              <a:spLocks noChangeShapeType="1"/>
            </p:cNvSpPr>
            <p:nvPr/>
          </p:nvSpPr>
          <p:spPr bwMode="auto">
            <a:xfrm flipH="1">
              <a:off x="1435101" y="2168526"/>
              <a:ext cx="2359025" cy="250825"/>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3" name="Line 27">
              <a:extLst>
                <a:ext uri="{FF2B5EF4-FFF2-40B4-BE49-F238E27FC236}">
                  <a16:creationId xmlns:a16="http://schemas.microsoft.com/office/drawing/2014/main" id="{AAAFBDBF-31F1-1954-4909-783933755071}"/>
                </a:ext>
              </a:extLst>
            </p:cNvPr>
            <p:cNvSpPr>
              <a:spLocks noChangeShapeType="1"/>
            </p:cNvSpPr>
            <p:nvPr/>
          </p:nvSpPr>
          <p:spPr bwMode="auto">
            <a:xfrm>
              <a:off x="5299076" y="2152651"/>
              <a:ext cx="2403475" cy="252413"/>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4" name="Line 27">
              <a:extLst>
                <a:ext uri="{FF2B5EF4-FFF2-40B4-BE49-F238E27FC236}">
                  <a16:creationId xmlns:a16="http://schemas.microsoft.com/office/drawing/2014/main" id="{A20D0856-B20A-A2B8-A938-A3E794EDCF58}"/>
                </a:ext>
              </a:extLst>
            </p:cNvPr>
            <p:cNvSpPr>
              <a:spLocks noChangeShapeType="1"/>
            </p:cNvSpPr>
            <p:nvPr/>
          </p:nvSpPr>
          <p:spPr bwMode="auto">
            <a:xfrm flipH="1">
              <a:off x="1803401" y="2994025"/>
              <a:ext cx="1341439" cy="280988"/>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5" name="Line 27">
              <a:extLst>
                <a:ext uri="{FF2B5EF4-FFF2-40B4-BE49-F238E27FC236}">
                  <a16:creationId xmlns:a16="http://schemas.microsoft.com/office/drawing/2014/main" id="{46383E3D-D425-EDDB-1DC8-FB1F4CD5D811}"/>
                </a:ext>
              </a:extLst>
            </p:cNvPr>
            <p:cNvSpPr>
              <a:spLocks noChangeShapeType="1"/>
            </p:cNvSpPr>
            <p:nvPr/>
          </p:nvSpPr>
          <p:spPr bwMode="auto">
            <a:xfrm>
              <a:off x="4267200" y="3009901"/>
              <a:ext cx="1355725" cy="265113"/>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6" name="Line 27">
              <a:extLst>
                <a:ext uri="{FF2B5EF4-FFF2-40B4-BE49-F238E27FC236}">
                  <a16:creationId xmlns:a16="http://schemas.microsoft.com/office/drawing/2014/main" id="{3CB8440B-AE79-C698-373C-EB8C022CD130}"/>
                </a:ext>
              </a:extLst>
            </p:cNvPr>
            <p:cNvSpPr>
              <a:spLocks noChangeShapeType="1"/>
            </p:cNvSpPr>
            <p:nvPr/>
          </p:nvSpPr>
          <p:spPr bwMode="auto">
            <a:xfrm flipH="1">
              <a:off x="977901" y="3687764"/>
              <a:ext cx="869951" cy="396875"/>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7" name="Line 27">
              <a:extLst>
                <a:ext uri="{FF2B5EF4-FFF2-40B4-BE49-F238E27FC236}">
                  <a16:creationId xmlns:a16="http://schemas.microsoft.com/office/drawing/2014/main" id="{475D2D2F-8B0B-54FE-05FA-F9EAFD7684A6}"/>
                </a:ext>
              </a:extLst>
            </p:cNvPr>
            <p:cNvSpPr>
              <a:spLocks noChangeShapeType="1"/>
            </p:cNvSpPr>
            <p:nvPr/>
          </p:nvSpPr>
          <p:spPr bwMode="auto">
            <a:xfrm>
              <a:off x="2776537" y="3671889"/>
              <a:ext cx="3230563" cy="398462"/>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8" name="Line 27">
              <a:extLst>
                <a:ext uri="{FF2B5EF4-FFF2-40B4-BE49-F238E27FC236}">
                  <a16:creationId xmlns:a16="http://schemas.microsoft.com/office/drawing/2014/main" id="{CDA0530E-13D3-9809-AD5F-9BC3526CE53A}"/>
                </a:ext>
              </a:extLst>
            </p:cNvPr>
            <p:cNvSpPr>
              <a:spLocks noChangeShapeType="1"/>
            </p:cNvSpPr>
            <p:nvPr/>
          </p:nvSpPr>
          <p:spPr bwMode="auto">
            <a:xfrm flipH="1">
              <a:off x="2968626" y="4424363"/>
              <a:ext cx="1165225" cy="295275"/>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39" name="Line 27">
              <a:extLst>
                <a:ext uri="{FF2B5EF4-FFF2-40B4-BE49-F238E27FC236}">
                  <a16:creationId xmlns:a16="http://schemas.microsoft.com/office/drawing/2014/main" id="{E73E3C60-7EDB-D3B2-8F2E-7FF45B647E30}"/>
                </a:ext>
              </a:extLst>
            </p:cNvPr>
            <p:cNvSpPr>
              <a:spLocks noChangeShapeType="1"/>
            </p:cNvSpPr>
            <p:nvPr/>
          </p:nvSpPr>
          <p:spPr bwMode="auto">
            <a:xfrm>
              <a:off x="4945064" y="4424364"/>
              <a:ext cx="2168525" cy="279400"/>
            </a:xfrm>
            <a:prstGeom prst="line">
              <a:avLst/>
            </a:prstGeom>
            <a:solidFill>
              <a:schemeClr val="accent4"/>
            </a:solidFill>
            <a:ln w="28575" cap="sq">
              <a:solidFill>
                <a:schemeClr val="tx1"/>
              </a:solidFill>
              <a:round/>
              <a:headEnd/>
              <a:tailEnd type="triangle" w="med" len="med"/>
            </a:ln>
          </p:spPr>
          <p:txBody>
            <a:bodyPr wrap="none" anchor="ctr"/>
            <a:lstStyle/>
            <a:p>
              <a:pPr algn="ctr"/>
              <a:endParaRPr lang="en-GB" dirty="0">
                <a:solidFill>
                  <a:schemeClr val="bg1"/>
                </a:solidFill>
              </a:endParaRPr>
            </a:p>
          </p:txBody>
        </p:sp>
      </p:grpSp>
    </p:spTree>
    <p:extLst>
      <p:ext uri="{BB962C8B-B14F-4D97-AF65-F5344CB8AC3E}">
        <p14:creationId xmlns:p14="http://schemas.microsoft.com/office/powerpoint/2010/main" val="3448521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Product and Process Information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57459" y="2254025"/>
            <a:ext cx="972234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gather and understand the product and process information and how they interface to other products and systems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57459" y="3139040"/>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711591"/>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Gather product and process information.</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System architecture and hierarchy and detail the product/process.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a Relationship Diagram or similar to define the interfaces.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Summarize the key elements and interfaces.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98509" y="3128601"/>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98509" y="4351598"/>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98509" y="3712122"/>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98509" y="4800887"/>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Capture your summary in a presentable format.</a:t>
            </a:r>
          </a:p>
        </p:txBody>
      </p:sp>
      <p:grpSp>
        <p:nvGrpSpPr>
          <p:cNvPr id="3" name="Group 2">
            <a:extLst>
              <a:ext uri="{FF2B5EF4-FFF2-40B4-BE49-F238E27FC236}">
                <a16:creationId xmlns:a16="http://schemas.microsoft.com/office/drawing/2014/main" id="{644AD78E-57D3-A3B8-9F9B-A1521390867C}"/>
              </a:ext>
            </a:extLst>
          </p:cNvPr>
          <p:cNvGrpSpPr/>
          <p:nvPr/>
        </p:nvGrpSpPr>
        <p:grpSpPr>
          <a:xfrm>
            <a:off x="838200" y="297639"/>
            <a:ext cx="3848100" cy="307138"/>
            <a:chOff x="838200" y="297639"/>
            <a:chExt cx="3848100" cy="307138"/>
          </a:xfrm>
        </p:grpSpPr>
        <p:grpSp>
          <p:nvGrpSpPr>
            <p:cNvPr id="4" name="Group 3">
              <a:extLst>
                <a:ext uri="{FF2B5EF4-FFF2-40B4-BE49-F238E27FC236}">
                  <a16:creationId xmlns:a16="http://schemas.microsoft.com/office/drawing/2014/main" id="{2198B868-9479-552E-4C6F-AAC1750FF7F7}"/>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34811A0D-B445-AD69-448B-36B19B7CBBD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A2804207-1EA7-A6B0-62BD-ACCD971AF0E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1CBC9EE4-296D-0959-B2FF-1683CB8CACF4}"/>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18C633D-B712-B6AB-59ED-24B7F2E7128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65B130E9-C3B8-9266-8B4E-1E8F89F4DC6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B1730D05-6414-7C0D-3639-D98C03231EA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310489D1-0960-0280-8717-D08D9138EDD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spTree>
    <p:extLst>
      <p:ext uri="{BB962C8B-B14F-4D97-AF65-F5344CB8AC3E}">
        <p14:creationId xmlns:p14="http://schemas.microsoft.com/office/powerpoint/2010/main" val="2016118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Forming the Team - Team Make Up</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lstStyle/>
          <a:p>
            <a:r>
              <a:rPr lang="en-US" dirty="0"/>
              <a:t>Size</a:t>
            </a:r>
          </a:p>
          <a:p>
            <a:r>
              <a:rPr lang="en-US" dirty="0"/>
              <a:t>Authority and Responsibility</a:t>
            </a:r>
          </a:p>
          <a:p>
            <a:r>
              <a:rPr lang="en-US" dirty="0"/>
              <a:t>Roles</a:t>
            </a:r>
          </a:p>
          <a:p>
            <a:r>
              <a:rPr lang="en-US" dirty="0"/>
              <a:t>Age</a:t>
            </a:r>
          </a:p>
          <a:p>
            <a:r>
              <a:rPr lang="en-US" dirty="0"/>
              <a:t>Mandatory/Voluntary?</a:t>
            </a:r>
          </a:p>
          <a:p>
            <a:r>
              <a:rPr lang="en-US" dirty="0"/>
              <a:t>Skills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3" name="Group 2">
            <a:extLst>
              <a:ext uri="{FF2B5EF4-FFF2-40B4-BE49-F238E27FC236}">
                <a16:creationId xmlns:a16="http://schemas.microsoft.com/office/drawing/2014/main" id="{9C27CEC4-7223-D5B0-7FD9-AE4A686E3405}"/>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9073EEC9-05B6-E6DA-8C1F-43AAC0076187}"/>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051CCF8-3113-1282-EAB9-7A8FC5D12F0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EDFAA9B-3C75-298F-791E-0EC42F3A49B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08F3A457-F27F-DFAA-7CBB-55E6992654C3}"/>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35F9C09B-F7FE-8B31-8231-83BD6EB839C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E76C5D5-5A6A-E576-A987-2DCA669EA7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CF5488B4-4093-2E03-5FB3-A12C08B2DF3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90CEFDC6-0747-91A8-BC2E-82C325AE2C5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pic>
        <p:nvPicPr>
          <p:cNvPr id="16" name="Content Placeholder 4">
            <a:extLst>
              <a:ext uri="{FF2B5EF4-FFF2-40B4-BE49-F238E27FC236}">
                <a16:creationId xmlns:a16="http://schemas.microsoft.com/office/drawing/2014/main" id="{3004D1C9-2C4D-32F0-ACC6-6176347D7F5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266950" y="2267744"/>
            <a:ext cx="2324100" cy="3467100"/>
          </a:xfrm>
        </p:spPr>
      </p:pic>
    </p:spTree>
    <p:extLst>
      <p:ext uri="{BB962C8B-B14F-4D97-AF65-F5344CB8AC3E}">
        <p14:creationId xmlns:p14="http://schemas.microsoft.com/office/powerpoint/2010/main" val="3551564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Describe &amp; Quantify the Problem - Project Charter</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lstStyle/>
          <a:p>
            <a:r>
              <a:rPr lang="en-US" dirty="0"/>
              <a:t>Typical Project Charter contains:</a:t>
            </a:r>
          </a:p>
          <a:p>
            <a:pPr lvl="1"/>
            <a:r>
              <a:rPr lang="en-US" dirty="0"/>
              <a:t>Background to problem or reason for project</a:t>
            </a:r>
          </a:p>
          <a:p>
            <a:pPr lvl="1"/>
            <a:r>
              <a:rPr lang="en-US" dirty="0"/>
              <a:t>Sketch or photo of problem</a:t>
            </a:r>
          </a:p>
          <a:p>
            <a:pPr lvl="1"/>
            <a:r>
              <a:rPr lang="en-US" dirty="0"/>
              <a:t>In Scope / Out Scope</a:t>
            </a:r>
          </a:p>
          <a:p>
            <a:pPr lvl="1"/>
            <a:r>
              <a:rPr lang="en-US" dirty="0"/>
              <a:t>Problem definition</a:t>
            </a:r>
          </a:p>
          <a:p>
            <a:pPr lvl="1"/>
            <a:r>
              <a:rPr lang="en-US" dirty="0"/>
              <a:t>Goal statement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3" name="Group 2">
            <a:extLst>
              <a:ext uri="{FF2B5EF4-FFF2-40B4-BE49-F238E27FC236}">
                <a16:creationId xmlns:a16="http://schemas.microsoft.com/office/drawing/2014/main" id="{9C27CEC4-7223-D5B0-7FD9-AE4A686E3405}"/>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9073EEC9-05B6-E6DA-8C1F-43AAC0076187}"/>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051CCF8-3113-1282-EAB9-7A8FC5D12F0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EDFAA9B-3C75-298F-791E-0EC42F3A49B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08F3A457-F27F-DFAA-7CBB-55E6992654C3}"/>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35F9C09B-F7FE-8B31-8231-83BD6EB839C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E76C5D5-5A6A-E576-A987-2DCA669EA7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CF5488B4-4093-2E03-5FB3-A12C08B2DF3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90CEFDC6-0747-91A8-BC2E-82C325AE2C5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grpSp>
        <p:nvGrpSpPr>
          <p:cNvPr id="17" name="Group 16">
            <a:extLst>
              <a:ext uri="{FF2B5EF4-FFF2-40B4-BE49-F238E27FC236}">
                <a16:creationId xmlns:a16="http://schemas.microsoft.com/office/drawing/2014/main" id="{E1C53DE1-B420-28EA-14A0-85A3401834E7}"/>
              </a:ext>
            </a:extLst>
          </p:cNvPr>
          <p:cNvGrpSpPr/>
          <p:nvPr/>
        </p:nvGrpSpPr>
        <p:grpSpPr>
          <a:xfrm>
            <a:off x="1465550" y="1825625"/>
            <a:ext cx="3225800" cy="4419600"/>
            <a:chOff x="524671" y="1489076"/>
            <a:chExt cx="3225800" cy="4419600"/>
          </a:xfrm>
        </p:grpSpPr>
        <p:pic>
          <p:nvPicPr>
            <p:cNvPr id="18" name="Picture 17">
              <a:extLst>
                <a:ext uri="{FF2B5EF4-FFF2-40B4-BE49-F238E27FC236}">
                  <a16:creationId xmlns:a16="http://schemas.microsoft.com/office/drawing/2014/main" id="{33539850-4196-1F82-4DDE-BDD73A0B50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671" y="1489076"/>
              <a:ext cx="3225800" cy="4419600"/>
            </a:xfrm>
            <a:prstGeom prst="rect">
              <a:avLst/>
            </a:prstGeom>
          </p:spPr>
        </p:pic>
        <p:grpSp>
          <p:nvGrpSpPr>
            <p:cNvPr id="19" name="Group 22">
              <a:extLst>
                <a:ext uri="{FF2B5EF4-FFF2-40B4-BE49-F238E27FC236}">
                  <a16:creationId xmlns:a16="http://schemas.microsoft.com/office/drawing/2014/main" id="{40A98F1E-8A8F-FDA5-F33A-BE9ABF6C29E4}"/>
                </a:ext>
              </a:extLst>
            </p:cNvPr>
            <p:cNvGrpSpPr>
              <a:grpSpLocks/>
            </p:cNvGrpSpPr>
            <p:nvPr/>
          </p:nvGrpSpPr>
          <p:grpSpPr bwMode="auto">
            <a:xfrm>
              <a:off x="858840" y="2448734"/>
              <a:ext cx="2557462" cy="3037667"/>
              <a:chOff x="1058008" y="2402238"/>
              <a:chExt cx="2339208" cy="3037667"/>
            </a:xfrm>
          </p:grpSpPr>
          <p:sp>
            <p:nvSpPr>
              <p:cNvPr id="20" name="TextBox 28">
                <a:extLst>
                  <a:ext uri="{FF2B5EF4-FFF2-40B4-BE49-F238E27FC236}">
                    <a16:creationId xmlns:a16="http://schemas.microsoft.com/office/drawing/2014/main" id="{6BD7CD94-A8F3-40F0-0C06-0481884091AE}"/>
                  </a:ext>
                </a:extLst>
              </p:cNvPr>
              <p:cNvSpPr txBox="1">
                <a:spLocks noChangeArrowheads="1"/>
              </p:cNvSpPr>
              <p:nvPr/>
            </p:nvSpPr>
            <p:spPr bwMode="auto">
              <a:xfrm>
                <a:off x="1071749" y="2402238"/>
                <a:ext cx="2256779"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solidFill>
                      <a:schemeClr val="tx1"/>
                    </a:solidFill>
                  </a:rPr>
                  <a:t>PROJECT CHARTER</a:t>
                </a:r>
              </a:p>
            </p:txBody>
          </p:sp>
          <p:sp>
            <p:nvSpPr>
              <p:cNvPr id="21" name="Rectangle 20">
                <a:extLst>
                  <a:ext uri="{FF2B5EF4-FFF2-40B4-BE49-F238E27FC236}">
                    <a16:creationId xmlns:a16="http://schemas.microsoft.com/office/drawing/2014/main" id="{A0B57D0E-91DE-A3E9-8164-2E5DC69AB359}"/>
                  </a:ext>
                </a:extLst>
              </p:cNvPr>
              <p:cNvSpPr/>
              <p:nvPr/>
            </p:nvSpPr>
            <p:spPr bwMode="auto">
              <a:xfrm>
                <a:off x="1058008" y="2790368"/>
                <a:ext cx="2339208" cy="346075"/>
              </a:xfrm>
              <a:prstGeom prst="rect">
                <a:avLst/>
              </a:prstGeom>
              <a:noFill/>
              <a:ln w="12700" cap="sq" algn="ctr">
                <a:solidFill>
                  <a:schemeClr val="tx1"/>
                </a:solidFill>
                <a:miter lim="800000"/>
                <a:headEnd/>
                <a:tailEnd/>
              </a:ln>
              <a:effectLst/>
            </p:spPr>
            <p:txBody>
              <a:bodyPr lIns="126000" rIns="36000"/>
              <a:lstStyle/>
              <a:p>
                <a:pPr algn="l">
                  <a:defRPr/>
                </a:pPr>
                <a:r>
                  <a:rPr lang="en-GB" sz="1050" b="1" dirty="0"/>
                  <a:t>Background</a:t>
                </a:r>
              </a:p>
            </p:txBody>
          </p:sp>
          <p:sp>
            <p:nvSpPr>
              <p:cNvPr id="22" name="Rectangle 21">
                <a:extLst>
                  <a:ext uri="{FF2B5EF4-FFF2-40B4-BE49-F238E27FC236}">
                    <a16:creationId xmlns:a16="http://schemas.microsoft.com/office/drawing/2014/main" id="{A4D5CA4F-7342-FEDD-7BE7-B739C4CAB39A}"/>
                  </a:ext>
                </a:extLst>
              </p:cNvPr>
              <p:cNvSpPr/>
              <p:nvPr/>
            </p:nvSpPr>
            <p:spPr bwMode="auto">
              <a:xfrm>
                <a:off x="1058008" y="4603293"/>
                <a:ext cx="2339208" cy="346075"/>
              </a:xfrm>
              <a:prstGeom prst="rect">
                <a:avLst/>
              </a:prstGeom>
              <a:noFill/>
              <a:ln w="12700" cap="sq" algn="ctr">
                <a:solidFill>
                  <a:schemeClr val="tx1"/>
                </a:solidFill>
                <a:miter lim="800000"/>
                <a:headEnd/>
                <a:tailEnd/>
              </a:ln>
              <a:effectLst/>
            </p:spPr>
            <p:txBody>
              <a:bodyPr lIns="126000" rIns="36000"/>
              <a:lstStyle/>
              <a:p>
                <a:pPr algn="l">
                  <a:defRPr/>
                </a:pPr>
                <a:r>
                  <a:rPr lang="en-GB" sz="1050" b="1" dirty="0"/>
                  <a:t>Problem Definition</a:t>
                </a:r>
              </a:p>
            </p:txBody>
          </p:sp>
          <p:sp>
            <p:nvSpPr>
              <p:cNvPr id="23" name="Rectangle 22">
                <a:extLst>
                  <a:ext uri="{FF2B5EF4-FFF2-40B4-BE49-F238E27FC236}">
                    <a16:creationId xmlns:a16="http://schemas.microsoft.com/office/drawing/2014/main" id="{5B281B78-9D81-680C-CF8D-64CB666338D6}"/>
                  </a:ext>
                </a:extLst>
              </p:cNvPr>
              <p:cNvSpPr/>
              <p:nvPr/>
            </p:nvSpPr>
            <p:spPr bwMode="auto">
              <a:xfrm>
                <a:off x="1058008" y="5093830"/>
                <a:ext cx="2339208" cy="346075"/>
              </a:xfrm>
              <a:prstGeom prst="rect">
                <a:avLst/>
              </a:prstGeom>
              <a:noFill/>
              <a:ln w="12700" cap="sq" algn="ctr">
                <a:solidFill>
                  <a:schemeClr val="tx1"/>
                </a:solidFill>
                <a:miter lim="800000"/>
                <a:headEnd/>
                <a:tailEnd/>
              </a:ln>
              <a:effectLst/>
            </p:spPr>
            <p:txBody>
              <a:bodyPr lIns="126000" rIns="36000"/>
              <a:lstStyle/>
              <a:p>
                <a:pPr algn="l">
                  <a:defRPr/>
                </a:pPr>
                <a:r>
                  <a:rPr lang="en-GB" sz="1050" b="1" dirty="0"/>
                  <a:t>Goal Statement</a:t>
                </a:r>
              </a:p>
            </p:txBody>
          </p:sp>
          <p:sp>
            <p:nvSpPr>
              <p:cNvPr id="24" name="Rectangle 23">
                <a:extLst>
                  <a:ext uri="{FF2B5EF4-FFF2-40B4-BE49-F238E27FC236}">
                    <a16:creationId xmlns:a16="http://schemas.microsoft.com/office/drawing/2014/main" id="{D2E5EF31-2769-5CC5-F91B-5225A1171641}"/>
                  </a:ext>
                </a:extLst>
              </p:cNvPr>
              <p:cNvSpPr/>
              <p:nvPr/>
            </p:nvSpPr>
            <p:spPr bwMode="auto">
              <a:xfrm>
                <a:off x="1058008" y="4111168"/>
                <a:ext cx="2339208" cy="346075"/>
              </a:xfrm>
              <a:prstGeom prst="rect">
                <a:avLst/>
              </a:prstGeom>
              <a:noFill/>
              <a:ln w="12700" cap="sq" algn="ctr">
                <a:solidFill>
                  <a:schemeClr val="tx1"/>
                </a:solidFill>
                <a:miter lim="800000"/>
                <a:headEnd/>
                <a:tailEnd/>
              </a:ln>
              <a:effectLst/>
            </p:spPr>
            <p:txBody>
              <a:bodyPr lIns="126000" rIns="36000"/>
              <a:lstStyle/>
              <a:p>
                <a:pPr algn="l">
                  <a:defRPr/>
                </a:pPr>
                <a:r>
                  <a:rPr lang="en-GB" sz="1050" b="1" dirty="0"/>
                  <a:t>In Scope / Out Scope</a:t>
                </a:r>
              </a:p>
            </p:txBody>
          </p:sp>
          <p:sp>
            <p:nvSpPr>
              <p:cNvPr id="25" name="Rectangle 24">
                <a:extLst>
                  <a:ext uri="{FF2B5EF4-FFF2-40B4-BE49-F238E27FC236}">
                    <a16:creationId xmlns:a16="http://schemas.microsoft.com/office/drawing/2014/main" id="{84D40BBF-DD1B-A792-7E1E-4081BAE5D27B}"/>
                  </a:ext>
                </a:extLst>
              </p:cNvPr>
              <p:cNvSpPr/>
              <p:nvPr/>
            </p:nvSpPr>
            <p:spPr bwMode="auto">
              <a:xfrm>
                <a:off x="1058008" y="3280905"/>
                <a:ext cx="2339208" cy="685800"/>
              </a:xfrm>
              <a:prstGeom prst="rect">
                <a:avLst/>
              </a:prstGeom>
              <a:noFill/>
              <a:ln w="12700" cap="sq" algn="ctr">
                <a:solidFill>
                  <a:schemeClr val="tx1"/>
                </a:solidFill>
                <a:miter lim="800000"/>
                <a:headEnd/>
                <a:tailEnd/>
              </a:ln>
              <a:effectLst/>
            </p:spPr>
            <p:txBody>
              <a:bodyPr lIns="126000" rIns="36000"/>
              <a:lstStyle/>
              <a:p>
                <a:pPr algn="l">
                  <a:defRPr/>
                </a:pPr>
                <a:r>
                  <a:rPr lang="en-GB" sz="1050" b="1" dirty="0"/>
                  <a:t>Sketch / Photo of Problem</a:t>
                </a:r>
              </a:p>
            </p:txBody>
          </p:sp>
        </p:grpSp>
      </p:grpSp>
    </p:spTree>
    <p:extLst>
      <p:ext uri="{BB962C8B-B14F-4D97-AF65-F5344CB8AC3E}">
        <p14:creationId xmlns:p14="http://schemas.microsoft.com/office/powerpoint/2010/main" val="3298529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4000" dirty="0"/>
              <a:t>Stakeholder Management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normAutofit lnSpcReduction="10000"/>
          </a:bodyPr>
          <a:lstStyle/>
          <a:p>
            <a:r>
              <a:rPr lang="en-US" dirty="0"/>
              <a:t>Identify project stakeholders (individuals or groups)</a:t>
            </a:r>
          </a:p>
          <a:p>
            <a:r>
              <a:rPr lang="en-US" dirty="0"/>
              <a:t>Define the current level of support &amp; influence for each stakeholder</a:t>
            </a:r>
          </a:p>
          <a:p>
            <a:r>
              <a:rPr lang="en-US" dirty="0"/>
              <a:t>Define an influencing strategy to deliver and sustain the necessary stakeholder support</a:t>
            </a:r>
          </a:p>
          <a:p>
            <a:r>
              <a:rPr lang="en-US" dirty="0"/>
              <a:t>Create action and communications plans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pSp>
        <p:nvGrpSpPr>
          <p:cNvPr id="3" name="Group 2">
            <a:extLst>
              <a:ext uri="{FF2B5EF4-FFF2-40B4-BE49-F238E27FC236}">
                <a16:creationId xmlns:a16="http://schemas.microsoft.com/office/drawing/2014/main" id="{9C27CEC4-7223-D5B0-7FD9-AE4A686E3405}"/>
              </a:ext>
            </a:extLst>
          </p:cNvPr>
          <p:cNvGrpSpPr/>
          <p:nvPr/>
        </p:nvGrpSpPr>
        <p:grpSpPr>
          <a:xfrm>
            <a:off x="838200" y="297639"/>
            <a:ext cx="3848100" cy="307138"/>
            <a:chOff x="838200" y="297639"/>
            <a:chExt cx="3848100" cy="307138"/>
          </a:xfrm>
        </p:grpSpPr>
        <p:grpSp>
          <p:nvGrpSpPr>
            <p:cNvPr id="5" name="Group 4">
              <a:extLst>
                <a:ext uri="{FF2B5EF4-FFF2-40B4-BE49-F238E27FC236}">
                  <a16:creationId xmlns:a16="http://schemas.microsoft.com/office/drawing/2014/main" id="{9073EEC9-05B6-E6DA-8C1F-43AAC0076187}"/>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051CCF8-3113-1282-EAB9-7A8FC5D12F0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EDFAA9B-3C75-298F-791E-0EC42F3A49B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08F3A457-F27F-DFAA-7CBB-55E6992654C3}"/>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35F9C09B-F7FE-8B31-8231-83BD6EB839C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E76C5D5-5A6A-E576-A987-2DCA669EA7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CF5488B4-4093-2E03-5FB3-A12C08B2DF3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90CEFDC6-0747-91A8-BC2E-82C325AE2C59}"/>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Charter &amp; Information</a:t>
              </a:r>
            </a:p>
          </p:txBody>
        </p:sp>
      </p:grpSp>
      <p:sp>
        <p:nvSpPr>
          <p:cNvPr id="8" name="AutoShape 3">
            <a:extLst>
              <a:ext uri="{FF2B5EF4-FFF2-40B4-BE49-F238E27FC236}">
                <a16:creationId xmlns:a16="http://schemas.microsoft.com/office/drawing/2014/main" id="{970BED39-6FD6-801B-652B-BFDAE8D06353}"/>
              </a:ext>
            </a:extLst>
          </p:cNvPr>
          <p:cNvSpPr>
            <a:spLocks noChangeArrowheads="1"/>
          </p:cNvSpPr>
          <p:nvPr/>
        </p:nvSpPr>
        <p:spPr bwMode="auto">
          <a:xfrm rot="5400000">
            <a:off x="3085306" y="2702718"/>
            <a:ext cx="285750" cy="2493963"/>
          </a:xfrm>
          <a:prstGeom prst="rightArrow">
            <a:avLst>
              <a:gd name="adj1" fmla="val 67278"/>
              <a:gd name="adj2" fmla="val 72222"/>
            </a:avLst>
          </a:prstGeom>
          <a:solidFill>
            <a:schemeClr val="accent1"/>
          </a:solidFill>
          <a:ln w="19050" cap="sq" algn="ctr">
            <a:solidFill>
              <a:schemeClr val="tx1"/>
            </a:solidFill>
            <a:miter lim="800000"/>
            <a:headEnd/>
            <a:tailEnd/>
          </a:ln>
        </p:spPr>
        <p:txBody>
          <a:bodyPr wrap="none" anchor="ctr"/>
          <a:lstStyle/>
          <a:p>
            <a:endParaRPr lang="en-GB" dirty="0"/>
          </a:p>
        </p:txBody>
      </p:sp>
      <p:pic>
        <p:nvPicPr>
          <p:cNvPr id="15" name="Picture 14">
            <a:extLst>
              <a:ext uri="{FF2B5EF4-FFF2-40B4-BE49-F238E27FC236}">
                <a16:creationId xmlns:a16="http://schemas.microsoft.com/office/drawing/2014/main" id="{02F35F16-6D8F-10CB-BCE7-F5A64FA597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231" y="1825625"/>
            <a:ext cx="1231900" cy="1739900"/>
          </a:xfrm>
          <a:prstGeom prst="rect">
            <a:avLst/>
          </a:prstGeom>
        </p:spPr>
      </p:pic>
      <p:pic>
        <p:nvPicPr>
          <p:cNvPr id="16" name="Picture 15">
            <a:extLst>
              <a:ext uri="{FF2B5EF4-FFF2-40B4-BE49-F238E27FC236}">
                <a16:creationId xmlns:a16="http://schemas.microsoft.com/office/drawing/2014/main" id="{B44E0425-0532-260C-A514-1730E76FCF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9531" y="4419600"/>
            <a:ext cx="1244600" cy="1739900"/>
          </a:xfrm>
          <a:prstGeom prst="rect">
            <a:avLst/>
          </a:prstGeom>
        </p:spPr>
      </p:pic>
    </p:spTree>
    <p:extLst>
      <p:ext uri="{BB962C8B-B14F-4D97-AF65-F5344CB8AC3E}">
        <p14:creationId xmlns:p14="http://schemas.microsoft.com/office/powerpoint/2010/main" val="3980624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VA/VE Kaizen Event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Process detail analysis</a:t>
            </a:r>
          </a:p>
          <a:p>
            <a:r>
              <a:rPr lang="en-US" dirty="0"/>
              <a:t>Define value &amp; understand Voice of Customer</a:t>
            </a:r>
          </a:p>
          <a:p>
            <a:r>
              <a:rPr lang="en-US" dirty="0"/>
              <a:t>Cost analysis</a:t>
            </a:r>
          </a:p>
          <a:p>
            <a:r>
              <a:rPr lang="en-US" dirty="0"/>
              <a:t>Competitive analysis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Evaluation of Alternatives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Analysis of Current State</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Charter &amp; Information</a:t>
                </a:r>
              </a:p>
            </p:txBody>
          </p:sp>
        </p:grpSp>
      </p:grpSp>
    </p:spTree>
    <p:extLst>
      <p:ext uri="{BB962C8B-B14F-4D97-AF65-F5344CB8AC3E}">
        <p14:creationId xmlns:p14="http://schemas.microsoft.com/office/powerpoint/2010/main" val="3633881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Understand the Interconnections of your Process - SIPOC</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3" name="Group 2">
            <a:extLst>
              <a:ext uri="{FF2B5EF4-FFF2-40B4-BE49-F238E27FC236}">
                <a16:creationId xmlns:a16="http://schemas.microsoft.com/office/drawing/2014/main" id="{AFADC662-75DD-C317-EB08-05A91D2DAF98}"/>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38B87845-699A-494C-FB22-8F578F1CE272}"/>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AE76CC8-35E8-7144-2620-A326A257251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FE36A77-EB7A-D5D5-CC7C-8D13D0B1D5D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AE0D06B8-84BE-7444-8E1F-B86552944AB8}"/>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BE238932-D52C-D280-E083-8F3F5B5470A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C2C71023-72B0-44CB-9B47-2249825F3FC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1E27FACC-590B-EC87-3EDB-66A23AA8F0E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02E69A3-A238-477E-6A26-887221C0356D}"/>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aphicFrame>
        <p:nvGraphicFramePr>
          <p:cNvPr id="13" name="Group 88">
            <a:extLst>
              <a:ext uri="{FF2B5EF4-FFF2-40B4-BE49-F238E27FC236}">
                <a16:creationId xmlns:a16="http://schemas.microsoft.com/office/drawing/2014/main" id="{7D2FA8AF-00B4-C940-04FC-879B99840863}"/>
              </a:ext>
            </a:extLst>
          </p:cNvPr>
          <p:cNvGraphicFramePr>
            <a:graphicFrameLocks noGrp="1"/>
          </p:cNvGraphicFramePr>
          <p:nvPr>
            <p:extLst>
              <p:ext uri="{D42A27DB-BD31-4B8C-83A1-F6EECF244321}">
                <p14:modId xmlns:p14="http://schemas.microsoft.com/office/powerpoint/2010/main" val="2878150425"/>
              </p:ext>
            </p:extLst>
          </p:nvPr>
        </p:nvGraphicFramePr>
        <p:xfrm>
          <a:off x="1779225" y="1927844"/>
          <a:ext cx="8347075" cy="4146567"/>
        </p:xfrm>
        <a:graphic>
          <a:graphicData uri="http://schemas.openxmlformats.org/drawingml/2006/table">
            <a:tbl>
              <a:tblPr/>
              <a:tblGrid>
                <a:gridCol w="1669415">
                  <a:extLst>
                    <a:ext uri="{9D8B030D-6E8A-4147-A177-3AD203B41FA5}">
                      <a16:colId xmlns:a16="http://schemas.microsoft.com/office/drawing/2014/main" val="20000"/>
                    </a:ext>
                  </a:extLst>
                </a:gridCol>
                <a:gridCol w="1669415">
                  <a:extLst>
                    <a:ext uri="{9D8B030D-6E8A-4147-A177-3AD203B41FA5}">
                      <a16:colId xmlns:a16="http://schemas.microsoft.com/office/drawing/2014/main" val="20001"/>
                    </a:ext>
                  </a:extLst>
                </a:gridCol>
                <a:gridCol w="1669415">
                  <a:extLst>
                    <a:ext uri="{9D8B030D-6E8A-4147-A177-3AD203B41FA5}">
                      <a16:colId xmlns:a16="http://schemas.microsoft.com/office/drawing/2014/main" val="20002"/>
                    </a:ext>
                  </a:extLst>
                </a:gridCol>
                <a:gridCol w="1669415">
                  <a:extLst>
                    <a:ext uri="{9D8B030D-6E8A-4147-A177-3AD203B41FA5}">
                      <a16:colId xmlns:a16="http://schemas.microsoft.com/office/drawing/2014/main" val="20003"/>
                    </a:ext>
                  </a:extLst>
                </a:gridCol>
                <a:gridCol w="1669415">
                  <a:extLst>
                    <a:ext uri="{9D8B030D-6E8A-4147-A177-3AD203B41FA5}">
                      <a16:colId xmlns:a16="http://schemas.microsoft.com/office/drawing/2014/main" val="20004"/>
                    </a:ext>
                  </a:extLst>
                </a:gridCol>
              </a:tblGrid>
              <a:tr h="50943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800" b="1" i="0" u="none" strike="noStrike" cap="none" normalizeH="0" baseline="0" dirty="0">
                          <a:ln>
                            <a:noFill/>
                          </a:ln>
                          <a:solidFill>
                            <a:schemeClr val="bg1"/>
                          </a:solidFill>
                          <a:effectLst/>
                          <a:latin typeface="+mn-lt"/>
                        </a:rPr>
                        <a:t>S</a:t>
                      </a:r>
                    </a:p>
                  </a:txBody>
                  <a:tcPr marL="92567" marR="92567" marT="44976" marB="449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800" b="1" i="0" u="none" strike="noStrike" cap="none" normalizeH="0" baseline="0" dirty="0">
                          <a:ln>
                            <a:noFill/>
                          </a:ln>
                          <a:solidFill>
                            <a:schemeClr val="bg1"/>
                          </a:solidFill>
                          <a:effectLst/>
                          <a:latin typeface="+mn-lt"/>
                        </a:rPr>
                        <a:t>I</a:t>
                      </a:r>
                    </a:p>
                  </a:txBody>
                  <a:tcPr marL="92567" marR="92567" marT="44976" marB="449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800" b="1" i="0" u="none" strike="noStrike" cap="none" normalizeH="0" baseline="0" dirty="0">
                          <a:ln>
                            <a:noFill/>
                          </a:ln>
                          <a:solidFill>
                            <a:schemeClr val="bg1"/>
                          </a:solidFill>
                          <a:effectLst/>
                          <a:latin typeface="+mn-lt"/>
                        </a:rPr>
                        <a:t>P</a:t>
                      </a:r>
                    </a:p>
                  </a:txBody>
                  <a:tcPr marL="92567" marR="92567" marT="44976" marB="449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800" b="1" i="0" u="none" strike="noStrike" cap="none" normalizeH="0" baseline="0" dirty="0">
                          <a:ln>
                            <a:noFill/>
                          </a:ln>
                          <a:solidFill>
                            <a:schemeClr val="bg1"/>
                          </a:solidFill>
                          <a:effectLst/>
                          <a:latin typeface="+mn-lt"/>
                        </a:rPr>
                        <a:t>O</a:t>
                      </a:r>
                    </a:p>
                  </a:txBody>
                  <a:tcPr marL="92567" marR="92567" marT="44976" marB="449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800" b="1" i="0" u="none" strike="noStrike" cap="none" normalizeH="0" baseline="0" dirty="0">
                          <a:ln>
                            <a:noFill/>
                          </a:ln>
                          <a:solidFill>
                            <a:schemeClr val="bg1"/>
                          </a:solidFill>
                          <a:effectLst/>
                          <a:latin typeface="+mn-lt"/>
                        </a:rPr>
                        <a:t>C</a:t>
                      </a:r>
                    </a:p>
                  </a:txBody>
                  <a:tcPr marL="92567" marR="92567" marT="44976" marB="449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7001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600" b="1" i="0" u="none" strike="noStrike" cap="none" normalizeH="0" baseline="0" dirty="0">
                          <a:ln>
                            <a:noFill/>
                          </a:ln>
                          <a:solidFill>
                            <a:schemeClr val="bg1"/>
                          </a:solidFill>
                          <a:effectLst/>
                          <a:latin typeface="+mn-lt"/>
                        </a:rPr>
                        <a:t>Suppliers</a:t>
                      </a:r>
                    </a:p>
                  </a:txBody>
                  <a:tcPr marL="92567" marR="92567" marT="44976" marB="449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600" b="1" i="0" u="none" strike="noStrike" cap="none" normalizeH="0" baseline="0" dirty="0">
                          <a:ln>
                            <a:noFill/>
                          </a:ln>
                          <a:solidFill>
                            <a:schemeClr val="bg1"/>
                          </a:solidFill>
                          <a:effectLst/>
                          <a:latin typeface="+mn-lt"/>
                        </a:rPr>
                        <a:t>Inputs</a:t>
                      </a:r>
                    </a:p>
                  </a:txBody>
                  <a:tcPr marL="92567" marR="92567" marT="44976" marB="449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600" b="1" i="0" u="none" strike="noStrike" cap="none" normalizeH="0" baseline="0" dirty="0">
                          <a:ln>
                            <a:noFill/>
                          </a:ln>
                          <a:solidFill>
                            <a:schemeClr val="bg1"/>
                          </a:solidFill>
                          <a:effectLst/>
                          <a:latin typeface="+mn-lt"/>
                        </a:rPr>
                        <a:t>Process</a:t>
                      </a:r>
                    </a:p>
                  </a:txBody>
                  <a:tcPr marL="92567" marR="92567" marT="44976" marB="449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600" b="1" i="0" u="none" strike="noStrike" cap="none" normalizeH="0" baseline="0" dirty="0">
                          <a:ln>
                            <a:noFill/>
                          </a:ln>
                          <a:solidFill>
                            <a:schemeClr val="bg1"/>
                          </a:solidFill>
                          <a:effectLst/>
                          <a:latin typeface="+mn-lt"/>
                        </a:rPr>
                        <a:t>Outputs</a:t>
                      </a:r>
                    </a:p>
                  </a:txBody>
                  <a:tcPr marL="92567" marR="92567" marT="44976" marB="449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Arial" pitchFamily="34" charset="0"/>
                        <a:buNone/>
                        <a:tabLst/>
                      </a:pPr>
                      <a:r>
                        <a:rPr kumimoji="0" lang="en-US" sz="1600" b="1" i="0" u="none" strike="noStrike" cap="none" normalizeH="0" baseline="0" dirty="0">
                          <a:ln>
                            <a:noFill/>
                          </a:ln>
                          <a:solidFill>
                            <a:schemeClr val="bg1"/>
                          </a:solidFill>
                          <a:effectLst/>
                          <a:latin typeface="+mn-lt"/>
                        </a:rPr>
                        <a:t>Customers</a:t>
                      </a:r>
                    </a:p>
                  </a:txBody>
                  <a:tcPr marL="92567" marR="92567" marT="44976" marB="449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3787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3787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3985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3787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3787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3787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3787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Arial" pitchFamily="34" charset="0"/>
                        <a:buNone/>
                        <a:tabLst/>
                      </a:pPr>
                      <a:endParaRPr kumimoji="0" lang="en-GB" sz="1000" b="0" i="0" u="none" strike="noStrike" cap="none" normalizeH="0" baseline="0" dirty="0">
                        <a:ln>
                          <a:noFill/>
                        </a:ln>
                        <a:solidFill>
                          <a:schemeClr val="tx1"/>
                        </a:solidFill>
                        <a:effectLst/>
                        <a:latin typeface="+mn-lt"/>
                      </a:endParaRPr>
                    </a:p>
                  </a:txBody>
                  <a:tcPr marL="92567" marR="92567" marT="44976" marB="449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
        <p:nvSpPr>
          <p:cNvPr id="14" name="Rectangle 162">
            <a:extLst>
              <a:ext uri="{FF2B5EF4-FFF2-40B4-BE49-F238E27FC236}">
                <a16:creationId xmlns:a16="http://schemas.microsoft.com/office/drawing/2014/main" id="{4224C309-B309-390D-353F-B99047E35B5C}"/>
              </a:ext>
            </a:extLst>
          </p:cNvPr>
          <p:cNvSpPr>
            <a:spLocks noChangeArrowheads="1"/>
          </p:cNvSpPr>
          <p:nvPr/>
        </p:nvSpPr>
        <p:spPr bwMode="auto">
          <a:xfrm>
            <a:off x="1864951" y="3985245"/>
            <a:ext cx="1482725" cy="831631"/>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p:spPr>
        <p:txBody>
          <a:bodyPr lIns="92068" tIns="46034" rIns="92068" bIns="46034">
            <a:spAutoFit/>
          </a:bodyPr>
          <a:lstStyle/>
          <a:p>
            <a:pPr algn="l" defTabSz="915018">
              <a:defRPr/>
            </a:pPr>
            <a:r>
              <a:rPr lang="en-US" sz="1600" b="1" dirty="0">
                <a:solidFill>
                  <a:schemeClr val="bg1"/>
                </a:solidFill>
              </a:rPr>
              <a:t>6. Who is the supplier of each input?</a:t>
            </a:r>
          </a:p>
        </p:txBody>
      </p:sp>
      <p:sp>
        <p:nvSpPr>
          <p:cNvPr id="15" name="Rectangle 163">
            <a:extLst>
              <a:ext uri="{FF2B5EF4-FFF2-40B4-BE49-F238E27FC236}">
                <a16:creationId xmlns:a16="http://schemas.microsoft.com/office/drawing/2014/main" id="{6EB6520E-E953-285E-2DAC-52EB8B6852D7}"/>
              </a:ext>
            </a:extLst>
          </p:cNvPr>
          <p:cNvSpPr>
            <a:spLocks noChangeArrowheads="1"/>
          </p:cNvSpPr>
          <p:nvPr/>
        </p:nvSpPr>
        <p:spPr bwMode="auto">
          <a:xfrm>
            <a:off x="3544525" y="3985245"/>
            <a:ext cx="1473200" cy="1570295"/>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p:spPr>
        <p:txBody>
          <a:bodyPr lIns="92068" tIns="46034" rIns="92068" bIns="46034">
            <a:spAutoFit/>
          </a:bodyPr>
          <a:lstStyle/>
          <a:p>
            <a:pPr algn="l" defTabSz="915018">
              <a:defRPr/>
            </a:pPr>
            <a:r>
              <a:rPr lang="en-US" sz="1600" b="1" dirty="0">
                <a:solidFill>
                  <a:schemeClr val="bg1"/>
                </a:solidFill>
              </a:rPr>
              <a:t>5. What Inputs are required to enable this process to occur?</a:t>
            </a:r>
          </a:p>
        </p:txBody>
      </p:sp>
      <p:sp>
        <p:nvSpPr>
          <p:cNvPr id="16" name="Rectangle 165">
            <a:extLst>
              <a:ext uri="{FF2B5EF4-FFF2-40B4-BE49-F238E27FC236}">
                <a16:creationId xmlns:a16="http://schemas.microsoft.com/office/drawing/2014/main" id="{6EABDFF0-BAF8-7D2B-541E-07BD8894233F}"/>
              </a:ext>
            </a:extLst>
          </p:cNvPr>
          <p:cNvSpPr>
            <a:spLocks noChangeArrowheads="1"/>
          </p:cNvSpPr>
          <p:nvPr/>
        </p:nvSpPr>
        <p:spPr bwMode="auto">
          <a:xfrm>
            <a:off x="5211401" y="3996358"/>
            <a:ext cx="1463675" cy="804862"/>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p:spPr>
        <p:txBody>
          <a:bodyPr lIns="92068" tIns="46034" rIns="92068" bIns="46034"/>
          <a:lstStyle/>
          <a:p>
            <a:pPr algn="l" defTabSz="915018">
              <a:defRPr/>
            </a:pPr>
            <a:r>
              <a:rPr lang="en-US" sz="1600" b="1" dirty="0">
                <a:solidFill>
                  <a:schemeClr val="bg1"/>
                </a:solidFill>
              </a:rPr>
              <a:t>1. What is the process?</a:t>
            </a:r>
          </a:p>
        </p:txBody>
      </p:sp>
      <p:sp>
        <p:nvSpPr>
          <p:cNvPr id="17" name="Rectangle 166">
            <a:extLst>
              <a:ext uri="{FF2B5EF4-FFF2-40B4-BE49-F238E27FC236}">
                <a16:creationId xmlns:a16="http://schemas.microsoft.com/office/drawing/2014/main" id="{5E5F6C94-F35E-D331-00CE-E039C8DB55EE}"/>
              </a:ext>
            </a:extLst>
          </p:cNvPr>
          <p:cNvSpPr>
            <a:spLocks noChangeArrowheads="1"/>
          </p:cNvSpPr>
          <p:nvPr/>
        </p:nvSpPr>
        <p:spPr bwMode="auto">
          <a:xfrm>
            <a:off x="6894149" y="3985245"/>
            <a:ext cx="1466851" cy="1077852"/>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p:spPr>
        <p:txBody>
          <a:bodyPr lIns="92068" tIns="46034" rIns="92068" bIns="46034">
            <a:spAutoFit/>
          </a:bodyPr>
          <a:lstStyle/>
          <a:p>
            <a:pPr algn="l" defTabSz="915018">
              <a:defRPr/>
            </a:pPr>
            <a:r>
              <a:rPr lang="en-US" sz="1600" b="1" dirty="0">
                <a:solidFill>
                  <a:schemeClr val="bg1"/>
                </a:solidFill>
              </a:rPr>
              <a:t>3. What are the outputs from the process? </a:t>
            </a:r>
          </a:p>
        </p:txBody>
      </p:sp>
      <p:sp>
        <p:nvSpPr>
          <p:cNvPr id="18" name="Rectangle 168">
            <a:extLst>
              <a:ext uri="{FF2B5EF4-FFF2-40B4-BE49-F238E27FC236}">
                <a16:creationId xmlns:a16="http://schemas.microsoft.com/office/drawing/2014/main" id="{59AEFEB4-BA02-6AD2-62B0-45C99799BCD6}"/>
              </a:ext>
            </a:extLst>
          </p:cNvPr>
          <p:cNvSpPr>
            <a:spLocks noChangeArrowheads="1"/>
          </p:cNvSpPr>
          <p:nvPr/>
        </p:nvSpPr>
        <p:spPr bwMode="auto">
          <a:xfrm>
            <a:off x="8578489" y="3985245"/>
            <a:ext cx="1412875" cy="831631"/>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p:spPr>
        <p:txBody>
          <a:bodyPr lIns="92068" tIns="46034" rIns="92068" bIns="46034">
            <a:spAutoFit/>
          </a:bodyPr>
          <a:lstStyle/>
          <a:p>
            <a:pPr algn="l" defTabSz="915018">
              <a:defRPr/>
            </a:pPr>
            <a:r>
              <a:rPr lang="en-US" sz="1600" b="1" dirty="0">
                <a:solidFill>
                  <a:schemeClr val="bg1"/>
                </a:solidFill>
              </a:rPr>
              <a:t>4. Who is the customer of each output? </a:t>
            </a:r>
          </a:p>
        </p:txBody>
      </p:sp>
      <p:sp>
        <p:nvSpPr>
          <p:cNvPr id="19" name="Oval 169">
            <a:extLst>
              <a:ext uri="{FF2B5EF4-FFF2-40B4-BE49-F238E27FC236}">
                <a16:creationId xmlns:a16="http://schemas.microsoft.com/office/drawing/2014/main" id="{ADBAB6D5-440E-ECD4-561E-D4B17477762A}"/>
              </a:ext>
            </a:extLst>
          </p:cNvPr>
          <p:cNvSpPr>
            <a:spLocks noChangeArrowheads="1"/>
          </p:cNvSpPr>
          <p:nvPr/>
        </p:nvSpPr>
        <p:spPr bwMode="auto">
          <a:xfrm>
            <a:off x="5189176" y="3029569"/>
            <a:ext cx="1477963" cy="666750"/>
          </a:xfrm>
          <a:prstGeom prst="ellipse">
            <a:avLst/>
          </a:prstGeom>
          <a:solidFill>
            <a:schemeClr val="accent4"/>
          </a:solidFill>
          <a:ln w="12700">
            <a:solidFill>
              <a:srgbClr val="000000"/>
            </a:solidFill>
            <a:round/>
            <a:headEnd/>
            <a:tailEnd/>
          </a:ln>
          <a:effectLst>
            <a:outerShdw blurRad="50800" dist="38100" dir="2700000" algn="tl" rotWithShape="0">
              <a:prstClr val="black">
                <a:alpha val="40000"/>
              </a:prstClr>
            </a:outerShdw>
          </a:effectLst>
        </p:spPr>
        <p:txBody>
          <a:bodyPr lIns="70819" tIns="35410" rIns="35410" bIns="35410" anchor="ctr"/>
          <a:lstStyle/>
          <a:p>
            <a:pPr algn="l" defTabSz="915018">
              <a:defRPr/>
            </a:pPr>
            <a:r>
              <a:rPr lang="en-US" sz="1600" b="1" dirty="0">
                <a:solidFill>
                  <a:schemeClr val="bg1"/>
                </a:solidFill>
              </a:rPr>
              <a:t>2. Start</a:t>
            </a:r>
          </a:p>
        </p:txBody>
      </p:sp>
      <p:sp>
        <p:nvSpPr>
          <p:cNvPr id="20" name="Oval 169">
            <a:extLst>
              <a:ext uri="{FF2B5EF4-FFF2-40B4-BE49-F238E27FC236}">
                <a16:creationId xmlns:a16="http://schemas.microsoft.com/office/drawing/2014/main" id="{3250AC7C-2D83-B1A5-6E97-22C463C9E3DA}"/>
              </a:ext>
            </a:extLst>
          </p:cNvPr>
          <p:cNvSpPr>
            <a:spLocks noChangeArrowheads="1"/>
          </p:cNvSpPr>
          <p:nvPr/>
        </p:nvSpPr>
        <p:spPr bwMode="auto">
          <a:xfrm>
            <a:off x="5189176" y="5185394"/>
            <a:ext cx="1477963" cy="666750"/>
          </a:xfrm>
          <a:prstGeom prst="ellipse">
            <a:avLst/>
          </a:prstGeom>
          <a:solidFill>
            <a:schemeClr val="accent4"/>
          </a:solidFill>
          <a:ln w="12700">
            <a:solidFill>
              <a:srgbClr val="000000"/>
            </a:solidFill>
            <a:round/>
            <a:headEnd/>
            <a:tailEnd/>
          </a:ln>
          <a:effectLst>
            <a:outerShdw blurRad="50800" dist="38100" dir="2700000" algn="tl" rotWithShape="0">
              <a:prstClr val="black">
                <a:alpha val="40000"/>
              </a:prstClr>
            </a:outerShdw>
          </a:effectLst>
        </p:spPr>
        <p:txBody>
          <a:bodyPr lIns="70819" tIns="35410" rIns="35410" bIns="35410" anchor="ctr"/>
          <a:lstStyle/>
          <a:p>
            <a:pPr algn="l" defTabSz="915018">
              <a:defRPr/>
            </a:pPr>
            <a:r>
              <a:rPr lang="en-US" sz="1600" b="1" dirty="0">
                <a:solidFill>
                  <a:schemeClr val="bg1"/>
                </a:solidFill>
              </a:rPr>
              <a:t>2. End</a:t>
            </a:r>
          </a:p>
        </p:txBody>
      </p:sp>
    </p:spTree>
    <p:extLst>
      <p:ext uri="{BB962C8B-B14F-4D97-AF65-F5344CB8AC3E}">
        <p14:creationId xmlns:p14="http://schemas.microsoft.com/office/powerpoint/2010/main" val="4225421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 and Process Map Distinction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72" name="Group 71">
            <a:extLst>
              <a:ext uri="{FF2B5EF4-FFF2-40B4-BE49-F238E27FC236}">
                <a16:creationId xmlns:a16="http://schemas.microsoft.com/office/drawing/2014/main" id="{EF01F14C-FD01-E435-9637-9ADD356FA8BB}"/>
              </a:ext>
            </a:extLst>
          </p:cNvPr>
          <p:cNvGrpSpPr/>
          <p:nvPr/>
        </p:nvGrpSpPr>
        <p:grpSpPr>
          <a:xfrm>
            <a:off x="931545" y="1874520"/>
            <a:ext cx="10328910" cy="4297680"/>
            <a:chOff x="381000" y="1535113"/>
            <a:chExt cx="8342313" cy="4637087"/>
          </a:xfrm>
        </p:grpSpPr>
        <p:sp>
          <p:nvSpPr>
            <p:cNvPr id="3" name="AutoShape 2">
              <a:extLst>
                <a:ext uri="{FF2B5EF4-FFF2-40B4-BE49-F238E27FC236}">
                  <a16:creationId xmlns:a16="http://schemas.microsoft.com/office/drawing/2014/main" id="{2C16AACA-F229-6258-66B9-5A8868FF9D02}"/>
                </a:ext>
              </a:extLst>
            </p:cNvPr>
            <p:cNvSpPr>
              <a:spLocks noChangeArrowheads="1"/>
            </p:cNvSpPr>
            <p:nvPr/>
          </p:nvSpPr>
          <p:spPr bwMode="auto">
            <a:xfrm>
              <a:off x="381000" y="4508500"/>
              <a:ext cx="4432300" cy="1663700"/>
            </a:xfrm>
            <a:prstGeom prst="upArrow">
              <a:avLst>
                <a:gd name="adj1" fmla="val 83704"/>
                <a:gd name="adj2" fmla="val 30343"/>
              </a:avLst>
            </a:prstGeom>
            <a:solidFill>
              <a:schemeClr val="accent3"/>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a:latin typeface="Roboto" panose="02000000000000000000" pitchFamily="2" charset="0"/>
                  <a:ea typeface="Roboto" panose="02000000000000000000" pitchFamily="2" charset="0"/>
                </a:rPr>
                <a:t>High-level snapshot of end-to-end business</a:t>
              </a:r>
              <a:br>
                <a:rPr lang="en-US" altLang="en-US" sz="1200">
                  <a:latin typeface="Roboto" panose="02000000000000000000" pitchFamily="2" charset="0"/>
                  <a:ea typeface="Roboto" panose="02000000000000000000" pitchFamily="2" charset="0"/>
                </a:rPr>
              </a:br>
              <a:endParaRPr lang="en-US" altLang="en-US" sz="1200">
                <a:latin typeface="Roboto" panose="02000000000000000000" pitchFamily="2" charset="0"/>
                <a:ea typeface="Roboto" panose="02000000000000000000" pitchFamily="2" charset="0"/>
              </a:endParaRPr>
            </a:p>
            <a:p>
              <a:pPr algn="l">
                <a:buFontTx/>
                <a:buChar char="•"/>
              </a:pPr>
              <a:r>
                <a:rPr lang="en-US" altLang="en-US" sz="1200">
                  <a:latin typeface="Roboto" panose="02000000000000000000" pitchFamily="2" charset="0"/>
                  <a:ea typeface="Roboto" panose="02000000000000000000" pitchFamily="2" charset="0"/>
                </a:rPr>
                <a:t>Used to identify where opportunities for </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improvement exist</a:t>
              </a:r>
              <a:br>
                <a:rPr lang="en-US" altLang="en-US" sz="1200">
                  <a:latin typeface="Roboto" panose="02000000000000000000" pitchFamily="2" charset="0"/>
                  <a:ea typeface="Roboto" panose="02000000000000000000" pitchFamily="2" charset="0"/>
                </a:rPr>
              </a:br>
              <a:endParaRPr lang="en-US" altLang="en-US" sz="1200">
                <a:latin typeface="Roboto" panose="02000000000000000000" pitchFamily="2" charset="0"/>
                <a:ea typeface="Roboto" panose="02000000000000000000" pitchFamily="2" charset="0"/>
              </a:endParaRPr>
            </a:p>
            <a:p>
              <a:pPr algn="l">
                <a:buFontTx/>
                <a:buChar char="•"/>
              </a:pPr>
              <a:r>
                <a:rPr lang="en-US" altLang="en-US" sz="1200">
                  <a:latin typeface="Roboto" panose="02000000000000000000" pitchFamily="2" charset="0"/>
                  <a:ea typeface="Roboto" panose="02000000000000000000" pitchFamily="2" charset="0"/>
                </a:rPr>
                <a:t>Does not incorporate decision loops</a:t>
              </a:r>
            </a:p>
          </p:txBody>
        </p:sp>
        <p:grpSp>
          <p:nvGrpSpPr>
            <p:cNvPr id="5" name="Group 3">
              <a:extLst>
                <a:ext uri="{FF2B5EF4-FFF2-40B4-BE49-F238E27FC236}">
                  <a16:creationId xmlns:a16="http://schemas.microsoft.com/office/drawing/2014/main" id="{A2E66ABE-96B7-373B-446D-B02BD090CF39}"/>
                </a:ext>
              </a:extLst>
            </p:cNvPr>
            <p:cNvGrpSpPr>
              <a:grpSpLocks/>
            </p:cNvGrpSpPr>
            <p:nvPr/>
          </p:nvGrpSpPr>
          <p:grpSpPr bwMode="auto">
            <a:xfrm>
              <a:off x="485775" y="1535113"/>
              <a:ext cx="4264025" cy="2870200"/>
              <a:chOff x="68" y="876"/>
              <a:chExt cx="3244" cy="1908"/>
            </a:xfrm>
          </p:grpSpPr>
          <p:sp>
            <p:nvSpPr>
              <p:cNvPr id="6" name="Rectangle 4">
                <a:extLst>
                  <a:ext uri="{FF2B5EF4-FFF2-40B4-BE49-F238E27FC236}">
                    <a16:creationId xmlns:a16="http://schemas.microsoft.com/office/drawing/2014/main" id="{11A097DD-4FB5-7141-55BE-8335BA72BBE4}"/>
                  </a:ext>
                </a:extLst>
              </p:cNvPr>
              <p:cNvSpPr>
                <a:spLocks noChangeArrowheads="1"/>
              </p:cNvSpPr>
              <p:nvPr/>
            </p:nvSpPr>
            <p:spPr bwMode="auto">
              <a:xfrm>
                <a:off x="68" y="876"/>
                <a:ext cx="3244" cy="1908"/>
              </a:xfrm>
              <a:prstGeom prst="rect">
                <a:avLst/>
              </a:prstGeom>
              <a:solidFill>
                <a:schemeClr val="bg2"/>
              </a:solidFill>
              <a:ln w="12700" cap="sq">
                <a:solidFill>
                  <a:schemeClr val="tx1"/>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nvGrpSpPr>
              <p:cNvPr id="7" name="Group 5">
                <a:extLst>
                  <a:ext uri="{FF2B5EF4-FFF2-40B4-BE49-F238E27FC236}">
                    <a16:creationId xmlns:a16="http://schemas.microsoft.com/office/drawing/2014/main" id="{564C8143-5347-120C-26C7-A21E55470ACD}"/>
                  </a:ext>
                </a:extLst>
              </p:cNvPr>
              <p:cNvGrpSpPr>
                <a:grpSpLocks/>
              </p:cNvGrpSpPr>
              <p:nvPr/>
            </p:nvGrpSpPr>
            <p:grpSpPr bwMode="auto">
              <a:xfrm>
                <a:off x="144" y="1008"/>
                <a:ext cx="581" cy="367"/>
                <a:chOff x="933" y="2179"/>
                <a:chExt cx="658" cy="463"/>
              </a:xfrm>
            </p:grpSpPr>
            <p:sp>
              <p:nvSpPr>
                <p:cNvPr id="56" name="Rectangle 6">
                  <a:extLst>
                    <a:ext uri="{FF2B5EF4-FFF2-40B4-BE49-F238E27FC236}">
                      <a16:creationId xmlns:a16="http://schemas.microsoft.com/office/drawing/2014/main" id="{E5A79A5E-2E5D-BE36-72E6-02A37387087B}"/>
                    </a:ext>
                  </a:extLst>
                </p:cNvPr>
                <p:cNvSpPr>
                  <a:spLocks noChangeArrowheads="1"/>
                </p:cNvSpPr>
                <p:nvPr/>
              </p:nvSpPr>
              <p:spPr bwMode="auto">
                <a:xfrm>
                  <a:off x="1545" y="2179"/>
                  <a:ext cx="41" cy="250"/>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7" name="Rectangle 7">
                  <a:extLst>
                    <a:ext uri="{FF2B5EF4-FFF2-40B4-BE49-F238E27FC236}">
                      <a16:creationId xmlns:a16="http://schemas.microsoft.com/office/drawing/2014/main" id="{0504077E-971C-6BD7-A5BB-7CC95DE99450}"/>
                    </a:ext>
                  </a:extLst>
                </p:cNvPr>
                <p:cNvSpPr>
                  <a:spLocks noChangeArrowheads="1"/>
                </p:cNvSpPr>
                <p:nvPr/>
              </p:nvSpPr>
              <p:spPr bwMode="auto">
                <a:xfrm>
                  <a:off x="933" y="2435"/>
                  <a:ext cx="658" cy="208"/>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8" name="AutoShape 8">
                  <a:extLst>
                    <a:ext uri="{FF2B5EF4-FFF2-40B4-BE49-F238E27FC236}">
                      <a16:creationId xmlns:a16="http://schemas.microsoft.com/office/drawing/2014/main" id="{E2D5AB62-5223-6C91-F8D8-B4DC40544D3F}"/>
                    </a:ext>
                  </a:extLst>
                </p:cNvPr>
                <p:cNvSpPr>
                  <a:spLocks noChangeArrowheads="1"/>
                </p:cNvSpPr>
                <p:nvPr/>
              </p:nvSpPr>
              <p:spPr bwMode="auto">
                <a:xfrm>
                  <a:off x="1342"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9" name="AutoShape 9">
                  <a:extLst>
                    <a:ext uri="{FF2B5EF4-FFF2-40B4-BE49-F238E27FC236}">
                      <a16:creationId xmlns:a16="http://schemas.microsoft.com/office/drawing/2014/main" id="{6535A95A-890A-0082-A7C5-A3C62D122F65}"/>
                    </a:ext>
                  </a:extLst>
                </p:cNvPr>
                <p:cNvSpPr>
                  <a:spLocks noChangeArrowheads="1"/>
                </p:cNvSpPr>
                <p:nvPr/>
              </p:nvSpPr>
              <p:spPr bwMode="auto">
                <a:xfrm>
                  <a:off x="1138"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0" name="AutoShape 10">
                  <a:extLst>
                    <a:ext uri="{FF2B5EF4-FFF2-40B4-BE49-F238E27FC236}">
                      <a16:creationId xmlns:a16="http://schemas.microsoft.com/office/drawing/2014/main" id="{71CECD7C-5536-E054-BF37-D69829BA797A}"/>
                    </a:ext>
                  </a:extLst>
                </p:cNvPr>
                <p:cNvSpPr>
                  <a:spLocks noChangeArrowheads="1"/>
                </p:cNvSpPr>
                <p:nvPr/>
              </p:nvSpPr>
              <p:spPr bwMode="auto">
                <a:xfrm>
                  <a:off x="934" y="2245"/>
                  <a:ext cx="201"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1" name="Rectangle 11">
                  <a:extLst>
                    <a:ext uri="{FF2B5EF4-FFF2-40B4-BE49-F238E27FC236}">
                      <a16:creationId xmlns:a16="http://schemas.microsoft.com/office/drawing/2014/main" id="{0D5702EA-290C-8A6C-1F83-3963FD3C0C54}"/>
                    </a:ext>
                  </a:extLst>
                </p:cNvPr>
                <p:cNvSpPr>
                  <a:spLocks noChangeArrowheads="1"/>
                </p:cNvSpPr>
                <p:nvPr/>
              </p:nvSpPr>
              <p:spPr bwMode="auto">
                <a:xfrm>
                  <a:off x="974"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2" name="Rectangle 12">
                  <a:extLst>
                    <a:ext uri="{FF2B5EF4-FFF2-40B4-BE49-F238E27FC236}">
                      <a16:creationId xmlns:a16="http://schemas.microsoft.com/office/drawing/2014/main" id="{B9147FD4-3DBA-CF0F-974A-4167C56D4D2C}"/>
                    </a:ext>
                  </a:extLst>
                </p:cNvPr>
                <p:cNvSpPr>
                  <a:spLocks noChangeArrowheads="1"/>
                </p:cNvSpPr>
                <p:nvPr/>
              </p:nvSpPr>
              <p:spPr bwMode="auto">
                <a:xfrm>
                  <a:off x="118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3" name="Rectangle 13">
                  <a:extLst>
                    <a:ext uri="{FF2B5EF4-FFF2-40B4-BE49-F238E27FC236}">
                      <a16:creationId xmlns:a16="http://schemas.microsoft.com/office/drawing/2014/main" id="{5407EF25-CA80-99AA-43A5-22D55492D9C6}"/>
                    </a:ext>
                  </a:extLst>
                </p:cNvPr>
                <p:cNvSpPr>
                  <a:spLocks noChangeArrowheads="1"/>
                </p:cNvSpPr>
                <p:nvPr/>
              </p:nvSpPr>
              <p:spPr bwMode="auto">
                <a:xfrm>
                  <a:off x="139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8" name="Group 14">
                <a:extLst>
                  <a:ext uri="{FF2B5EF4-FFF2-40B4-BE49-F238E27FC236}">
                    <a16:creationId xmlns:a16="http://schemas.microsoft.com/office/drawing/2014/main" id="{31E8548D-F045-9514-792E-AD9BF907947F}"/>
                  </a:ext>
                </a:extLst>
              </p:cNvPr>
              <p:cNvGrpSpPr>
                <a:grpSpLocks/>
              </p:cNvGrpSpPr>
              <p:nvPr/>
            </p:nvGrpSpPr>
            <p:grpSpPr bwMode="auto">
              <a:xfrm>
                <a:off x="2592" y="1008"/>
                <a:ext cx="581" cy="367"/>
                <a:chOff x="933" y="2179"/>
                <a:chExt cx="658" cy="463"/>
              </a:xfrm>
            </p:grpSpPr>
            <p:sp>
              <p:nvSpPr>
                <p:cNvPr id="48" name="Rectangle 15">
                  <a:extLst>
                    <a:ext uri="{FF2B5EF4-FFF2-40B4-BE49-F238E27FC236}">
                      <a16:creationId xmlns:a16="http://schemas.microsoft.com/office/drawing/2014/main" id="{8F57F6AC-EBE3-56EF-30A7-4681869E792C}"/>
                    </a:ext>
                  </a:extLst>
                </p:cNvPr>
                <p:cNvSpPr>
                  <a:spLocks noChangeArrowheads="1"/>
                </p:cNvSpPr>
                <p:nvPr/>
              </p:nvSpPr>
              <p:spPr bwMode="auto">
                <a:xfrm>
                  <a:off x="1545" y="2179"/>
                  <a:ext cx="41" cy="250"/>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9" name="Rectangle 16">
                  <a:extLst>
                    <a:ext uri="{FF2B5EF4-FFF2-40B4-BE49-F238E27FC236}">
                      <a16:creationId xmlns:a16="http://schemas.microsoft.com/office/drawing/2014/main" id="{7DF7DEA5-9F80-E7B6-8997-3B948F9CC27C}"/>
                    </a:ext>
                  </a:extLst>
                </p:cNvPr>
                <p:cNvSpPr>
                  <a:spLocks noChangeArrowheads="1"/>
                </p:cNvSpPr>
                <p:nvPr/>
              </p:nvSpPr>
              <p:spPr bwMode="auto">
                <a:xfrm>
                  <a:off x="933" y="2435"/>
                  <a:ext cx="658" cy="208"/>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0" name="AutoShape 17">
                  <a:extLst>
                    <a:ext uri="{FF2B5EF4-FFF2-40B4-BE49-F238E27FC236}">
                      <a16:creationId xmlns:a16="http://schemas.microsoft.com/office/drawing/2014/main" id="{F540BFE2-DE37-FAB1-47C5-F98CD908FAC7}"/>
                    </a:ext>
                  </a:extLst>
                </p:cNvPr>
                <p:cNvSpPr>
                  <a:spLocks noChangeArrowheads="1"/>
                </p:cNvSpPr>
                <p:nvPr/>
              </p:nvSpPr>
              <p:spPr bwMode="auto">
                <a:xfrm>
                  <a:off x="1342"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1" name="AutoShape 18">
                  <a:extLst>
                    <a:ext uri="{FF2B5EF4-FFF2-40B4-BE49-F238E27FC236}">
                      <a16:creationId xmlns:a16="http://schemas.microsoft.com/office/drawing/2014/main" id="{BB9DBB5A-FD22-17BB-4550-557E50E42C44}"/>
                    </a:ext>
                  </a:extLst>
                </p:cNvPr>
                <p:cNvSpPr>
                  <a:spLocks noChangeArrowheads="1"/>
                </p:cNvSpPr>
                <p:nvPr/>
              </p:nvSpPr>
              <p:spPr bwMode="auto">
                <a:xfrm>
                  <a:off x="1138"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2" name="AutoShape 19">
                  <a:extLst>
                    <a:ext uri="{FF2B5EF4-FFF2-40B4-BE49-F238E27FC236}">
                      <a16:creationId xmlns:a16="http://schemas.microsoft.com/office/drawing/2014/main" id="{B505DA99-6BAE-6ADB-4283-F53C95DF5512}"/>
                    </a:ext>
                  </a:extLst>
                </p:cNvPr>
                <p:cNvSpPr>
                  <a:spLocks noChangeArrowheads="1"/>
                </p:cNvSpPr>
                <p:nvPr/>
              </p:nvSpPr>
              <p:spPr bwMode="auto">
                <a:xfrm>
                  <a:off x="935" y="2245"/>
                  <a:ext cx="201"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3" name="Rectangle 20">
                  <a:extLst>
                    <a:ext uri="{FF2B5EF4-FFF2-40B4-BE49-F238E27FC236}">
                      <a16:creationId xmlns:a16="http://schemas.microsoft.com/office/drawing/2014/main" id="{BC1B55C6-93DD-4CE3-E975-B51AB7E428C9}"/>
                    </a:ext>
                  </a:extLst>
                </p:cNvPr>
                <p:cNvSpPr>
                  <a:spLocks noChangeArrowheads="1"/>
                </p:cNvSpPr>
                <p:nvPr/>
              </p:nvSpPr>
              <p:spPr bwMode="auto">
                <a:xfrm>
                  <a:off x="974"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4" name="Rectangle 21">
                  <a:extLst>
                    <a:ext uri="{FF2B5EF4-FFF2-40B4-BE49-F238E27FC236}">
                      <a16:creationId xmlns:a16="http://schemas.microsoft.com/office/drawing/2014/main" id="{43958262-B9CC-3CCB-721E-8E1EBA64A9F4}"/>
                    </a:ext>
                  </a:extLst>
                </p:cNvPr>
                <p:cNvSpPr>
                  <a:spLocks noChangeArrowheads="1"/>
                </p:cNvSpPr>
                <p:nvPr/>
              </p:nvSpPr>
              <p:spPr bwMode="auto">
                <a:xfrm>
                  <a:off x="118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5" name="Rectangle 22">
                  <a:extLst>
                    <a:ext uri="{FF2B5EF4-FFF2-40B4-BE49-F238E27FC236}">
                      <a16:creationId xmlns:a16="http://schemas.microsoft.com/office/drawing/2014/main" id="{F14D5A54-F707-E64D-6CA2-08E7F51A74FD}"/>
                    </a:ext>
                  </a:extLst>
                </p:cNvPr>
                <p:cNvSpPr>
                  <a:spLocks noChangeArrowheads="1"/>
                </p:cNvSpPr>
                <p:nvPr/>
              </p:nvSpPr>
              <p:spPr bwMode="auto">
                <a:xfrm>
                  <a:off x="1396"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9" name="Rectangle 23">
                <a:extLst>
                  <a:ext uri="{FF2B5EF4-FFF2-40B4-BE49-F238E27FC236}">
                    <a16:creationId xmlns:a16="http://schemas.microsoft.com/office/drawing/2014/main" id="{7FF13EF5-1081-CE79-8D0A-55714C12E9BA}"/>
                  </a:ext>
                </a:extLst>
              </p:cNvPr>
              <p:cNvSpPr>
                <a:spLocks noChangeArrowheads="1"/>
              </p:cNvSpPr>
              <p:nvPr/>
            </p:nvSpPr>
            <p:spPr bwMode="auto">
              <a:xfrm>
                <a:off x="720" y="1818"/>
                <a:ext cx="269"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 name="Rectangle 24">
                <a:extLst>
                  <a:ext uri="{FF2B5EF4-FFF2-40B4-BE49-F238E27FC236}">
                    <a16:creationId xmlns:a16="http://schemas.microsoft.com/office/drawing/2014/main" id="{B89431D1-314C-09B5-6093-9FDA47D54C77}"/>
                  </a:ext>
                </a:extLst>
              </p:cNvPr>
              <p:cNvSpPr>
                <a:spLocks noChangeArrowheads="1"/>
              </p:cNvSpPr>
              <p:nvPr/>
            </p:nvSpPr>
            <p:spPr bwMode="auto">
              <a:xfrm>
                <a:off x="1454" y="1818"/>
                <a:ext cx="268"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 name="Rectangle 25">
                <a:extLst>
                  <a:ext uri="{FF2B5EF4-FFF2-40B4-BE49-F238E27FC236}">
                    <a16:creationId xmlns:a16="http://schemas.microsoft.com/office/drawing/2014/main" id="{F9D4239C-9DFE-C0A6-E3AD-21BEDFE40AA1}"/>
                  </a:ext>
                </a:extLst>
              </p:cNvPr>
              <p:cNvSpPr>
                <a:spLocks noChangeArrowheads="1"/>
              </p:cNvSpPr>
              <p:nvPr/>
            </p:nvSpPr>
            <p:spPr bwMode="auto">
              <a:xfrm>
                <a:off x="2169" y="1818"/>
                <a:ext cx="269"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 name="Line 26">
                <a:extLst>
                  <a:ext uri="{FF2B5EF4-FFF2-40B4-BE49-F238E27FC236}">
                    <a16:creationId xmlns:a16="http://schemas.microsoft.com/office/drawing/2014/main" id="{45775A94-75D3-4367-996B-1896F0BCA6D0}"/>
                  </a:ext>
                </a:extLst>
              </p:cNvPr>
              <p:cNvSpPr>
                <a:spLocks noChangeShapeType="1"/>
              </p:cNvSpPr>
              <p:nvPr/>
            </p:nvSpPr>
            <p:spPr bwMode="auto">
              <a:xfrm>
                <a:off x="726" y="1914"/>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 name="Line 27">
                <a:extLst>
                  <a:ext uri="{FF2B5EF4-FFF2-40B4-BE49-F238E27FC236}">
                    <a16:creationId xmlns:a16="http://schemas.microsoft.com/office/drawing/2014/main" id="{A6936DAC-9974-B89D-8A6D-DC77D6276BE9}"/>
                  </a:ext>
                </a:extLst>
              </p:cNvPr>
              <p:cNvSpPr>
                <a:spLocks noChangeShapeType="1"/>
              </p:cNvSpPr>
              <p:nvPr/>
            </p:nvSpPr>
            <p:spPr bwMode="auto">
              <a:xfrm>
                <a:off x="1452" y="1908"/>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 name="Line 28">
                <a:extLst>
                  <a:ext uri="{FF2B5EF4-FFF2-40B4-BE49-F238E27FC236}">
                    <a16:creationId xmlns:a16="http://schemas.microsoft.com/office/drawing/2014/main" id="{E46B518B-BCF2-8E04-4DAD-0D18A94061C2}"/>
                  </a:ext>
                </a:extLst>
              </p:cNvPr>
              <p:cNvSpPr>
                <a:spLocks noChangeShapeType="1"/>
              </p:cNvSpPr>
              <p:nvPr/>
            </p:nvSpPr>
            <p:spPr bwMode="auto">
              <a:xfrm>
                <a:off x="2172" y="1902"/>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15" name="Group 29">
                <a:extLst>
                  <a:ext uri="{FF2B5EF4-FFF2-40B4-BE49-F238E27FC236}">
                    <a16:creationId xmlns:a16="http://schemas.microsoft.com/office/drawing/2014/main" id="{63729E60-C657-CC24-EE2B-B0D16C440664}"/>
                  </a:ext>
                </a:extLst>
              </p:cNvPr>
              <p:cNvGrpSpPr>
                <a:grpSpLocks/>
              </p:cNvGrpSpPr>
              <p:nvPr/>
            </p:nvGrpSpPr>
            <p:grpSpPr bwMode="auto">
              <a:xfrm>
                <a:off x="726" y="2271"/>
                <a:ext cx="269" cy="301"/>
                <a:chOff x="1702" y="2990"/>
                <a:chExt cx="269" cy="301"/>
              </a:xfrm>
            </p:grpSpPr>
            <p:sp>
              <p:nvSpPr>
                <p:cNvPr id="41" name="Rectangle 30">
                  <a:extLst>
                    <a:ext uri="{FF2B5EF4-FFF2-40B4-BE49-F238E27FC236}">
                      <a16:creationId xmlns:a16="http://schemas.microsoft.com/office/drawing/2014/main" id="{6D5C0FA3-2C44-9251-33AB-D62AE951484E}"/>
                    </a:ext>
                  </a:extLst>
                </p:cNvPr>
                <p:cNvSpPr>
                  <a:spLocks noChangeArrowheads="1"/>
                </p:cNvSpPr>
                <p:nvPr/>
              </p:nvSpPr>
              <p:spPr bwMode="auto">
                <a:xfrm>
                  <a:off x="1702" y="2990"/>
                  <a:ext cx="269" cy="301"/>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 name="Line 31">
                  <a:extLst>
                    <a:ext uri="{FF2B5EF4-FFF2-40B4-BE49-F238E27FC236}">
                      <a16:creationId xmlns:a16="http://schemas.microsoft.com/office/drawing/2014/main" id="{3412584B-31C3-0A78-A7EC-38E05546568D}"/>
                    </a:ext>
                  </a:extLst>
                </p:cNvPr>
                <p:cNvSpPr>
                  <a:spLocks noChangeShapeType="1"/>
                </p:cNvSpPr>
                <p:nvPr/>
              </p:nvSpPr>
              <p:spPr bwMode="auto">
                <a:xfrm>
                  <a:off x="1741" y="3046"/>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3" name="Line 32">
                  <a:extLst>
                    <a:ext uri="{FF2B5EF4-FFF2-40B4-BE49-F238E27FC236}">
                      <a16:creationId xmlns:a16="http://schemas.microsoft.com/office/drawing/2014/main" id="{F5C3C822-A2AF-1410-2115-B2EB0D74E737}"/>
                    </a:ext>
                  </a:extLst>
                </p:cNvPr>
                <p:cNvSpPr>
                  <a:spLocks noChangeShapeType="1"/>
                </p:cNvSpPr>
                <p:nvPr/>
              </p:nvSpPr>
              <p:spPr bwMode="auto">
                <a:xfrm>
                  <a:off x="1741"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4" name="Line 33">
                  <a:extLst>
                    <a:ext uri="{FF2B5EF4-FFF2-40B4-BE49-F238E27FC236}">
                      <a16:creationId xmlns:a16="http://schemas.microsoft.com/office/drawing/2014/main" id="{DED497FC-7DF4-F42B-C462-5A1948E07C9E}"/>
                    </a:ext>
                  </a:extLst>
                </p:cNvPr>
                <p:cNvSpPr>
                  <a:spLocks noChangeShapeType="1"/>
                </p:cNvSpPr>
                <p:nvPr/>
              </p:nvSpPr>
              <p:spPr bwMode="auto">
                <a:xfrm>
                  <a:off x="1741"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5" name="Line 34">
                  <a:extLst>
                    <a:ext uri="{FF2B5EF4-FFF2-40B4-BE49-F238E27FC236}">
                      <a16:creationId xmlns:a16="http://schemas.microsoft.com/office/drawing/2014/main" id="{6088FF97-B17B-CCEA-CB7B-60BF368FB23B}"/>
                    </a:ext>
                  </a:extLst>
                </p:cNvPr>
                <p:cNvSpPr>
                  <a:spLocks noChangeShapeType="1"/>
                </p:cNvSpPr>
                <p:nvPr/>
              </p:nvSpPr>
              <p:spPr bwMode="auto">
                <a:xfrm>
                  <a:off x="1741"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6" name="Line 35">
                  <a:extLst>
                    <a:ext uri="{FF2B5EF4-FFF2-40B4-BE49-F238E27FC236}">
                      <a16:creationId xmlns:a16="http://schemas.microsoft.com/office/drawing/2014/main" id="{9A1E9AA8-8961-A569-AF54-D071A18D9033}"/>
                    </a:ext>
                  </a:extLst>
                </p:cNvPr>
                <p:cNvSpPr>
                  <a:spLocks noChangeShapeType="1"/>
                </p:cNvSpPr>
                <p:nvPr/>
              </p:nvSpPr>
              <p:spPr bwMode="auto">
                <a:xfrm>
                  <a:off x="1741"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7" name="Line 36">
                  <a:extLst>
                    <a:ext uri="{FF2B5EF4-FFF2-40B4-BE49-F238E27FC236}">
                      <a16:creationId xmlns:a16="http://schemas.microsoft.com/office/drawing/2014/main" id="{5D6F15C8-2B86-E037-E532-420044F823F5}"/>
                    </a:ext>
                  </a:extLst>
                </p:cNvPr>
                <p:cNvSpPr>
                  <a:spLocks noChangeShapeType="1"/>
                </p:cNvSpPr>
                <p:nvPr/>
              </p:nvSpPr>
              <p:spPr bwMode="auto">
                <a:xfrm>
                  <a:off x="1741" y="3256"/>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6" name="Group 37">
                <a:extLst>
                  <a:ext uri="{FF2B5EF4-FFF2-40B4-BE49-F238E27FC236}">
                    <a16:creationId xmlns:a16="http://schemas.microsoft.com/office/drawing/2014/main" id="{70ABFE9C-898B-097A-B99B-DF5F43DC3D1D}"/>
                  </a:ext>
                </a:extLst>
              </p:cNvPr>
              <p:cNvGrpSpPr>
                <a:grpSpLocks/>
              </p:cNvGrpSpPr>
              <p:nvPr/>
            </p:nvGrpSpPr>
            <p:grpSpPr bwMode="auto">
              <a:xfrm>
                <a:off x="1454" y="2291"/>
                <a:ext cx="269" cy="301"/>
                <a:chOff x="1702" y="2990"/>
                <a:chExt cx="269" cy="301"/>
              </a:xfrm>
            </p:grpSpPr>
            <p:sp>
              <p:nvSpPr>
                <p:cNvPr id="34" name="Rectangle 38">
                  <a:extLst>
                    <a:ext uri="{FF2B5EF4-FFF2-40B4-BE49-F238E27FC236}">
                      <a16:creationId xmlns:a16="http://schemas.microsoft.com/office/drawing/2014/main" id="{1AB41A95-1479-676C-D01D-C43DF9A8A5F5}"/>
                    </a:ext>
                  </a:extLst>
                </p:cNvPr>
                <p:cNvSpPr>
                  <a:spLocks noChangeArrowheads="1"/>
                </p:cNvSpPr>
                <p:nvPr/>
              </p:nvSpPr>
              <p:spPr bwMode="auto">
                <a:xfrm>
                  <a:off x="1702" y="2990"/>
                  <a:ext cx="268" cy="301"/>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 name="Line 39">
                  <a:extLst>
                    <a:ext uri="{FF2B5EF4-FFF2-40B4-BE49-F238E27FC236}">
                      <a16:creationId xmlns:a16="http://schemas.microsoft.com/office/drawing/2014/main" id="{6E76D850-A6DA-5A4B-51DB-16DC682C280A}"/>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6" name="Line 40">
                  <a:extLst>
                    <a:ext uri="{FF2B5EF4-FFF2-40B4-BE49-F238E27FC236}">
                      <a16:creationId xmlns:a16="http://schemas.microsoft.com/office/drawing/2014/main" id="{C687F9F6-534A-7802-42FC-2FAD95F4366C}"/>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7" name="Line 41">
                  <a:extLst>
                    <a:ext uri="{FF2B5EF4-FFF2-40B4-BE49-F238E27FC236}">
                      <a16:creationId xmlns:a16="http://schemas.microsoft.com/office/drawing/2014/main" id="{C8CE85AF-52D7-111F-C9BB-1B80BD3A976B}"/>
                    </a:ext>
                  </a:extLst>
                </p:cNvPr>
                <p:cNvSpPr>
                  <a:spLocks noChangeShapeType="1"/>
                </p:cNvSpPr>
                <p:nvPr/>
              </p:nvSpPr>
              <p:spPr bwMode="auto">
                <a:xfrm>
                  <a:off x="1741" y="3131"/>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8" name="Line 42">
                  <a:extLst>
                    <a:ext uri="{FF2B5EF4-FFF2-40B4-BE49-F238E27FC236}">
                      <a16:creationId xmlns:a16="http://schemas.microsoft.com/office/drawing/2014/main" id="{075043B2-B03E-B8A0-D99E-7C3730F426C2}"/>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9" name="Line 43">
                  <a:extLst>
                    <a:ext uri="{FF2B5EF4-FFF2-40B4-BE49-F238E27FC236}">
                      <a16:creationId xmlns:a16="http://schemas.microsoft.com/office/drawing/2014/main" id="{4ABB85D6-DA80-8114-117B-04C2E29F4320}"/>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0" name="Line 44">
                  <a:extLst>
                    <a:ext uri="{FF2B5EF4-FFF2-40B4-BE49-F238E27FC236}">
                      <a16:creationId xmlns:a16="http://schemas.microsoft.com/office/drawing/2014/main" id="{4EBBC744-DE7A-ACAE-948E-3060EF40320A}"/>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7" name="Group 45">
                <a:extLst>
                  <a:ext uri="{FF2B5EF4-FFF2-40B4-BE49-F238E27FC236}">
                    <a16:creationId xmlns:a16="http://schemas.microsoft.com/office/drawing/2014/main" id="{FB023B24-C3C7-1FCB-1ADE-CC7A06D8F987}"/>
                  </a:ext>
                </a:extLst>
              </p:cNvPr>
              <p:cNvGrpSpPr>
                <a:grpSpLocks/>
              </p:cNvGrpSpPr>
              <p:nvPr/>
            </p:nvGrpSpPr>
            <p:grpSpPr bwMode="auto">
              <a:xfrm>
                <a:off x="2171" y="2280"/>
                <a:ext cx="269" cy="301"/>
                <a:chOff x="1702" y="2990"/>
                <a:chExt cx="269" cy="301"/>
              </a:xfrm>
            </p:grpSpPr>
            <p:sp>
              <p:nvSpPr>
                <p:cNvPr id="27" name="Rectangle 46">
                  <a:extLst>
                    <a:ext uri="{FF2B5EF4-FFF2-40B4-BE49-F238E27FC236}">
                      <a16:creationId xmlns:a16="http://schemas.microsoft.com/office/drawing/2014/main" id="{035AE14F-F509-663A-C5BB-81CC16C97B1C}"/>
                    </a:ext>
                  </a:extLst>
                </p:cNvPr>
                <p:cNvSpPr>
                  <a:spLocks noChangeArrowheads="1"/>
                </p:cNvSpPr>
                <p:nvPr/>
              </p:nvSpPr>
              <p:spPr bwMode="auto">
                <a:xfrm>
                  <a:off x="1702" y="2990"/>
                  <a:ext cx="269" cy="302"/>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 name="Line 47">
                  <a:extLst>
                    <a:ext uri="{FF2B5EF4-FFF2-40B4-BE49-F238E27FC236}">
                      <a16:creationId xmlns:a16="http://schemas.microsoft.com/office/drawing/2014/main" id="{84284AAE-E8BF-7DC4-3868-E8CE05D1703D}"/>
                    </a:ext>
                  </a:extLst>
                </p:cNvPr>
                <p:cNvSpPr>
                  <a:spLocks noChangeShapeType="1"/>
                </p:cNvSpPr>
                <p:nvPr/>
              </p:nvSpPr>
              <p:spPr bwMode="auto">
                <a:xfrm>
                  <a:off x="1740" y="3045"/>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 name="Line 48">
                  <a:extLst>
                    <a:ext uri="{FF2B5EF4-FFF2-40B4-BE49-F238E27FC236}">
                      <a16:creationId xmlns:a16="http://schemas.microsoft.com/office/drawing/2014/main" id="{C9CB5CEF-072D-16E8-0154-663FB86EC23A}"/>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0" name="Line 49">
                  <a:extLst>
                    <a:ext uri="{FF2B5EF4-FFF2-40B4-BE49-F238E27FC236}">
                      <a16:creationId xmlns:a16="http://schemas.microsoft.com/office/drawing/2014/main" id="{612A0E9F-6157-2357-1D7C-0364FCE70633}"/>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1" name="Line 50">
                  <a:extLst>
                    <a:ext uri="{FF2B5EF4-FFF2-40B4-BE49-F238E27FC236}">
                      <a16:creationId xmlns:a16="http://schemas.microsoft.com/office/drawing/2014/main" id="{5695A728-A863-0E72-C9F6-B67476A32EB0}"/>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2" name="Line 51">
                  <a:extLst>
                    <a:ext uri="{FF2B5EF4-FFF2-40B4-BE49-F238E27FC236}">
                      <a16:creationId xmlns:a16="http://schemas.microsoft.com/office/drawing/2014/main" id="{7A3E4E80-145B-0486-0FED-DF0E3EC0D142}"/>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 name="Line 52">
                  <a:extLst>
                    <a:ext uri="{FF2B5EF4-FFF2-40B4-BE49-F238E27FC236}">
                      <a16:creationId xmlns:a16="http://schemas.microsoft.com/office/drawing/2014/main" id="{77A72D01-EBA6-49FB-31B3-5965461B53EC}"/>
                    </a:ext>
                  </a:extLst>
                </p:cNvPr>
                <p:cNvSpPr>
                  <a:spLocks noChangeShapeType="1"/>
                </p:cNvSpPr>
                <p:nvPr/>
              </p:nvSpPr>
              <p:spPr bwMode="auto">
                <a:xfrm>
                  <a:off x="1740" y="3257"/>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8" name="Line 53">
                <a:extLst>
                  <a:ext uri="{FF2B5EF4-FFF2-40B4-BE49-F238E27FC236}">
                    <a16:creationId xmlns:a16="http://schemas.microsoft.com/office/drawing/2014/main" id="{3AA34B78-9F92-07DF-714F-AC2629507458}"/>
                  </a:ext>
                </a:extLst>
              </p:cNvPr>
              <p:cNvSpPr>
                <a:spLocks noChangeShapeType="1"/>
              </p:cNvSpPr>
              <p:nvPr/>
            </p:nvSpPr>
            <p:spPr bwMode="auto">
              <a:xfrm flipV="1">
                <a:off x="996" y="2001"/>
                <a:ext cx="459" cy="13"/>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9" name="AutoShape 54">
                <a:extLst>
                  <a:ext uri="{FF2B5EF4-FFF2-40B4-BE49-F238E27FC236}">
                    <a16:creationId xmlns:a16="http://schemas.microsoft.com/office/drawing/2014/main" id="{11BAD4AC-8D98-7112-9BA1-AE11F065F75F}"/>
                  </a:ext>
                </a:extLst>
              </p:cNvPr>
              <p:cNvSpPr>
                <a:spLocks noChangeArrowheads="1"/>
              </p:cNvSpPr>
              <p:nvPr/>
            </p:nvSpPr>
            <p:spPr bwMode="auto">
              <a:xfrm>
                <a:off x="1142" y="1919"/>
                <a:ext cx="147" cy="160"/>
              </a:xfrm>
              <a:prstGeom prst="triangle">
                <a:avLst>
                  <a:gd name="adj" fmla="val 5000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0" name="Line 55">
                <a:extLst>
                  <a:ext uri="{FF2B5EF4-FFF2-40B4-BE49-F238E27FC236}">
                    <a16:creationId xmlns:a16="http://schemas.microsoft.com/office/drawing/2014/main" id="{D639BAB7-472E-46FE-CF04-D43A9D4F32E3}"/>
                  </a:ext>
                </a:extLst>
              </p:cNvPr>
              <p:cNvSpPr>
                <a:spLocks noChangeShapeType="1"/>
              </p:cNvSpPr>
              <p:nvPr/>
            </p:nvSpPr>
            <p:spPr bwMode="auto">
              <a:xfrm flipV="1">
                <a:off x="1743" y="2001"/>
                <a:ext cx="460" cy="13"/>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 name="AutoShape 56">
                <a:extLst>
                  <a:ext uri="{FF2B5EF4-FFF2-40B4-BE49-F238E27FC236}">
                    <a16:creationId xmlns:a16="http://schemas.microsoft.com/office/drawing/2014/main" id="{7134A658-514E-E93C-643F-704DE4063927}"/>
                  </a:ext>
                </a:extLst>
              </p:cNvPr>
              <p:cNvSpPr>
                <a:spLocks noChangeArrowheads="1"/>
              </p:cNvSpPr>
              <p:nvPr/>
            </p:nvSpPr>
            <p:spPr bwMode="auto">
              <a:xfrm>
                <a:off x="1872" y="1919"/>
                <a:ext cx="146" cy="160"/>
              </a:xfrm>
              <a:prstGeom prst="triangle">
                <a:avLst>
                  <a:gd name="adj" fmla="val 5000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2" name="AutoShape 57">
                <a:extLst>
                  <a:ext uri="{FF2B5EF4-FFF2-40B4-BE49-F238E27FC236}">
                    <a16:creationId xmlns:a16="http://schemas.microsoft.com/office/drawing/2014/main" id="{F65A7A05-5267-A900-C45C-0C1312630A5A}"/>
                  </a:ext>
                </a:extLst>
              </p:cNvPr>
              <p:cNvSpPr>
                <a:spLocks noChangeArrowheads="1"/>
              </p:cNvSpPr>
              <p:nvPr/>
            </p:nvSpPr>
            <p:spPr bwMode="auto">
              <a:xfrm rot="-2700000">
                <a:off x="2400" y="1536"/>
                <a:ext cx="624" cy="192"/>
              </a:xfrm>
              <a:prstGeom prst="rightArrow">
                <a:avLst>
                  <a:gd name="adj1" fmla="val 50000"/>
                  <a:gd name="adj2" fmla="val 8125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3" name="AutoShape 58">
                <a:extLst>
                  <a:ext uri="{FF2B5EF4-FFF2-40B4-BE49-F238E27FC236}">
                    <a16:creationId xmlns:a16="http://schemas.microsoft.com/office/drawing/2014/main" id="{1C75E71A-C23B-12CB-C333-45CDC88D0CB3}"/>
                  </a:ext>
                </a:extLst>
              </p:cNvPr>
              <p:cNvSpPr>
                <a:spLocks noChangeArrowheads="1"/>
              </p:cNvSpPr>
              <p:nvPr/>
            </p:nvSpPr>
            <p:spPr bwMode="auto">
              <a:xfrm rot="2772363">
                <a:off x="168" y="1560"/>
                <a:ext cx="625" cy="192"/>
              </a:xfrm>
              <a:prstGeom prst="rightArrow">
                <a:avLst>
                  <a:gd name="adj1" fmla="val 50000"/>
                  <a:gd name="adj2" fmla="val 81245"/>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 name="AutoShape 59">
                <a:extLst>
                  <a:ext uri="{FF2B5EF4-FFF2-40B4-BE49-F238E27FC236}">
                    <a16:creationId xmlns:a16="http://schemas.microsoft.com/office/drawing/2014/main" id="{C5F89813-BE5E-48F9-AF03-96DDA5C0D7A0}"/>
                  </a:ext>
                </a:extLst>
              </p:cNvPr>
              <p:cNvSpPr>
                <a:spLocks noChangeArrowheads="1"/>
              </p:cNvSpPr>
              <p:nvPr/>
            </p:nvSpPr>
            <p:spPr bwMode="auto">
              <a:xfrm>
                <a:off x="576" y="2208"/>
                <a:ext cx="479" cy="337"/>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5" name="AutoShape 60">
                <a:extLst>
                  <a:ext uri="{FF2B5EF4-FFF2-40B4-BE49-F238E27FC236}">
                    <a16:creationId xmlns:a16="http://schemas.microsoft.com/office/drawing/2014/main" id="{04E9EBD2-0EEC-F439-81B5-3EFBC7561A40}"/>
                  </a:ext>
                </a:extLst>
              </p:cNvPr>
              <p:cNvSpPr>
                <a:spLocks noChangeArrowheads="1"/>
              </p:cNvSpPr>
              <p:nvPr/>
            </p:nvSpPr>
            <p:spPr bwMode="auto">
              <a:xfrm>
                <a:off x="1200" y="1680"/>
                <a:ext cx="481" cy="336"/>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 name="AutoShape 61">
                <a:extLst>
                  <a:ext uri="{FF2B5EF4-FFF2-40B4-BE49-F238E27FC236}">
                    <a16:creationId xmlns:a16="http://schemas.microsoft.com/office/drawing/2014/main" id="{D25EAB2C-6520-47D5-17FF-A6AFD5EA6930}"/>
                  </a:ext>
                </a:extLst>
              </p:cNvPr>
              <p:cNvSpPr>
                <a:spLocks noChangeArrowheads="1"/>
              </p:cNvSpPr>
              <p:nvPr/>
            </p:nvSpPr>
            <p:spPr bwMode="auto">
              <a:xfrm>
                <a:off x="1968" y="2016"/>
                <a:ext cx="481" cy="337"/>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64" name="Text Box 64">
              <a:extLst>
                <a:ext uri="{FF2B5EF4-FFF2-40B4-BE49-F238E27FC236}">
                  <a16:creationId xmlns:a16="http://schemas.microsoft.com/office/drawing/2014/main" id="{3EE1FAFC-87FC-8F41-4983-BD01FFAB4042}"/>
                </a:ext>
              </a:extLst>
            </p:cNvPr>
            <p:cNvSpPr txBox="1">
              <a:spLocks noChangeArrowheads="1"/>
            </p:cNvSpPr>
            <p:nvPr/>
          </p:nvSpPr>
          <p:spPr bwMode="auto">
            <a:xfrm>
              <a:off x="1846309" y="1638300"/>
              <a:ext cx="1363569" cy="26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solidFill>
                    <a:schemeClr val="tx1"/>
                  </a:solidFill>
                  <a:latin typeface="Roboto" panose="02000000000000000000" pitchFamily="2" charset="0"/>
                  <a:ea typeface="Roboto" panose="02000000000000000000" pitchFamily="2" charset="0"/>
                </a:rPr>
                <a:t>VALUE STREAM MAP</a:t>
              </a:r>
            </a:p>
          </p:txBody>
        </p:sp>
        <p:grpSp>
          <p:nvGrpSpPr>
            <p:cNvPr id="65" name="Group 65">
              <a:extLst>
                <a:ext uri="{FF2B5EF4-FFF2-40B4-BE49-F238E27FC236}">
                  <a16:creationId xmlns:a16="http://schemas.microsoft.com/office/drawing/2014/main" id="{A01351F3-2E98-94F9-2C0E-ABEC9957AAFD}"/>
                </a:ext>
              </a:extLst>
            </p:cNvPr>
            <p:cNvGrpSpPr>
              <a:grpSpLocks/>
            </p:cNvGrpSpPr>
            <p:nvPr/>
          </p:nvGrpSpPr>
          <p:grpSpPr bwMode="auto">
            <a:xfrm>
              <a:off x="2846388" y="1536700"/>
              <a:ext cx="5876925" cy="4484688"/>
              <a:chOff x="1793" y="968"/>
              <a:chExt cx="3702" cy="2825"/>
            </a:xfrm>
          </p:grpSpPr>
          <p:pic>
            <p:nvPicPr>
              <p:cNvPr id="66" name="Picture 66" descr="image001">
                <a:extLst>
                  <a:ext uri="{FF2B5EF4-FFF2-40B4-BE49-F238E27FC236}">
                    <a16:creationId xmlns:a16="http://schemas.microsoft.com/office/drawing/2014/main" id="{33CC6D7B-4919-96D6-370D-81EB07AB2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1" y="1970"/>
                <a:ext cx="2682" cy="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Group 67">
                <a:extLst>
                  <a:ext uri="{FF2B5EF4-FFF2-40B4-BE49-F238E27FC236}">
                    <a16:creationId xmlns:a16="http://schemas.microsoft.com/office/drawing/2014/main" id="{E999105B-1D43-75D7-FFBF-0E33604CE975}"/>
                  </a:ext>
                </a:extLst>
              </p:cNvPr>
              <p:cNvGrpSpPr>
                <a:grpSpLocks/>
              </p:cNvGrpSpPr>
              <p:nvPr/>
            </p:nvGrpSpPr>
            <p:grpSpPr bwMode="auto">
              <a:xfrm>
                <a:off x="1793" y="1807"/>
                <a:ext cx="672" cy="1584"/>
                <a:chOff x="1968" y="1728"/>
                <a:chExt cx="672" cy="1584"/>
              </a:xfrm>
            </p:grpSpPr>
            <p:sp>
              <p:nvSpPr>
                <p:cNvPr id="70" name="Rectangle 68">
                  <a:extLst>
                    <a:ext uri="{FF2B5EF4-FFF2-40B4-BE49-F238E27FC236}">
                      <a16:creationId xmlns:a16="http://schemas.microsoft.com/office/drawing/2014/main" id="{EBC1FFA3-BB8E-F68D-7416-B46FAE262780}"/>
                    </a:ext>
                  </a:extLst>
                </p:cNvPr>
                <p:cNvSpPr>
                  <a:spLocks noChangeArrowheads="1"/>
                </p:cNvSpPr>
                <p:nvPr/>
              </p:nvSpPr>
              <p:spPr bwMode="auto">
                <a:xfrm>
                  <a:off x="1968" y="1728"/>
                  <a:ext cx="672" cy="864"/>
                </a:xfrm>
                <a:prstGeom prst="rect">
                  <a:avLst/>
                </a:prstGeom>
                <a:noFill/>
                <a:ln w="762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1" name="Line 69">
                  <a:extLst>
                    <a:ext uri="{FF2B5EF4-FFF2-40B4-BE49-F238E27FC236}">
                      <a16:creationId xmlns:a16="http://schemas.microsoft.com/office/drawing/2014/main" id="{78392276-FA3C-C607-0E99-7AD8D41ACE94}"/>
                    </a:ext>
                  </a:extLst>
                </p:cNvPr>
                <p:cNvSpPr>
                  <a:spLocks noChangeShapeType="1"/>
                </p:cNvSpPr>
                <p:nvPr/>
              </p:nvSpPr>
              <p:spPr bwMode="auto">
                <a:xfrm>
                  <a:off x="2304" y="2592"/>
                  <a:ext cx="0" cy="720"/>
                </a:xfrm>
                <a:prstGeom prst="line">
                  <a:avLst/>
                </a:prstGeom>
                <a:noFill/>
                <a:ln w="762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68" name="Line 70">
                <a:extLst>
                  <a:ext uri="{FF2B5EF4-FFF2-40B4-BE49-F238E27FC236}">
                    <a16:creationId xmlns:a16="http://schemas.microsoft.com/office/drawing/2014/main" id="{32D64081-9153-B655-A4E5-94379960049E}"/>
                  </a:ext>
                </a:extLst>
              </p:cNvPr>
              <p:cNvSpPr>
                <a:spLocks noChangeShapeType="1"/>
              </p:cNvSpPr>
              <p:nvPr/>
            </p:nvSpPr>
            <p:spPr bwMode="auto">
              <a:xfrm>
                <a:off x="2129" y="3391"/>
                <a:ext cx="953" cy="0"/>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9" name="AutoShape 71">
                <a:extLst>
                  <a:ext uri="{FF2B5EF4-FFF2-40B4-BE49-F238E27FC236}">
                    <a16:creationId xmlns:a16="http://schemas.microsoft.com/office/drawing/2014/main" id="{AE948074-B3F0-A309-647A-A70AFC8248AF}"/>
                  </a:ext>
                </a:extLst>
              </p:cNvPr>
              <p:cNvSpPr>
                <a:spLocks noChangeArrowheads="1"/>
              </p:cNvSpPr>
              <p:nvPr/>
            </p:nvSpPr>
            <p:spPr bwMode="auto">
              <a:xfrm rot="-5400000">
                <a:off x="3717" y="178"/>
                <a:ext cx="988" cy="2568"/>
              </a:xfrm>
              <a:prstGeom prst="leftArrow">
                <a:avLst>
                  <a:gd name="adj1" fmla="val 78509"/>
                  <a:gd name="adj2" fmla="val 30565"/>
                </a:avLst>
              </a:prstGeom>
              <a:solidFill>
                <a:schemeClr val="accent3"/>
              </a:solidFill>
              <a:ln w="12700" cap="sq">
                <a:solidFill>
                  <a:schemeClr val="tx1"/>
                </a:solidFill>
                <a:miter lim="800000"/>
                <a:headEnd/>
                <a:tailEnd/>
              </a:ln>
            </p:spPr>
            <p:txBody>
              <a:bodyPr vert="eaVert" wrap="squar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rPr>
                  <a:t>Detailed graphical depiction of a manufacturing or business process</a:t>
                </a:r>
                <a:br>
                  <a:rPr lang="en-US" altLang="en-US" sz="1200" dirty="0">
                    <a:latin typeface="Roboto" panose="02000000000000000000" pitchFamily="2" charset="0"/>
                    <a:ea typeface="Roboto" panose="02000000000000000000" pitchFamily="2" charset="0"/>
                  </a:rPr>
                </a:br>
                <a:endParaRPr lang="en-US" altLang="en-US" sz="1200" dirty="0">
                  <a:latin typeface="Roboto" panose="02000000000000000000" pitchFamily="2" charset="0"/>
                  <a:ea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rPr>
                </a:br>
                <a:endParaRPr lang="en-US" altLang="en-US" sz="1200" dirty="0">
                  <a:latin typeface="Roboto" panose="02000000000000000000" pitchFamily="2" charset="0"/>
                  <a:ea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rPr>
                  <a:t>Incorporates decision loops within the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process </a:t>
                </a:r>
              </a:p>
            </p:txBody>
          </p:sp>
        </p:grpSp>
      </p:grpSp>
      <p:grpSp>
        <p:nvGrpSpPr>
          <p:cNvPr id="73" name="Group 72">
            <a:extLst>
              <a:ext uri="{FF2B5EF4-FFF2-40B4-BE49-F238E27FC236}">
                <a16:creationId xmlns:a16="http://schemas.microsoft.com/office/drawing/2014/main" id="{596290AF-C587-1087-1893-90325826FF95}"/>
              </a:ext>
            </a:extLst>
          </p:cNvPr>
          <p:cNvGrpSpPr/>
          <p:nvPr/>
        </p:nvGrpSpPr>
        <p:grpSpPr>
          <a:xfrm>
            <a:off x="838200" y="297639"/>
            <a:ext cx="4451430" cy="307138"/>
            <a:chOff x="838200" y="297639"/>
            <a:chExt cx="4451430" cy="307138"/>
          </a:xfrm>
        </p:grpSpPr>
        <p:grpSp>
          <p:nvGrpSpPr>
            <p:cNvPr id="74" name="Group 73">
              <a:extLst>
                <a:ext uri="{FF2B5EF4-FFF2-40B4-BE49-F238E27FC236}">
                  <a16:creationId xmlns:a16="http://schemas.microsoft.com/office/drawing/2014/main" id="{55420A0E-1716-D817-5D49-673A6791BCBA}"/>
                </a:ext>
              </a:extLst>
            </p:cNvPr>
            <p:cNvGrpSpPr/>
            <p:nvPr/>
          </p:nvGrpSpPr>
          <p:grpSpPr>
            <a:xfrm>
              <a:off x="838200" y="297639"/>
              <a:ext cx="1687517" cy="290657"/>
              <a:chOff x="838200" y="297639"/>
              <a:chExt cx="1687517" cy="290657"/>
            </a:xfrm>
          </p:grpSpPr>
          <p:sp>
            <p:nvSpPr>
              <p:cNvPr id="76" name="AutoShape 9">
                <a:extLst>
                  <a:ext uri="{FF2B5EF4-FFF2-40B4-BE49-F238E27FC236}">
                    <a16:creationId xmlns:a16="http://schemas.microsoft.com/office/drawing/2014/main" id="{6074AD7D-C0A3-C405-8EFE-14F55A84C09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7" name="AutoShape 9">
                <a:extLst>
                  <a:ext uri="{FF2B5EF4-FFF2-40B4-BE49-F238E27FC236}">
                    <a16:creationId xmlns:a16="http://schemas.microsoft.com/office/drawing/2014/main" id="{495591B8-ED53-108D-70AB-857D2357221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8" name="Group 77">
                <a:extLst>
                  <a:ext uri="{FF2B5EF4-FFF2-40B4-BE49-F238E27FC236}">
                    <a16:creationId xmlns:a16="http://schemas.microsoft.com/office/drawing/2014/main" id="{A309B071-970D-7F6F-2D90-6C25D07E5896}"/>
                  </a:ext>
                </a:extLst>
              </p:cNvPr>
              <p:cNvGrpSpPr/>
              <p:nvPr/>
            </p:nvGrpSpPr>
            <p:grpSpPr>
              <a:xfrm>
                <a:off x="838200" y="297639"/>
                <a:ext cx="1060167" cy="290657"/>
                <a:chOff x="826426" y="4041857"/>
                <a:chExt cx="1060167" cy="290657"/>
              </a:xfrm>
            </p:grpSpPr>
            <p:sp>
              <p:nvSpPr>
                <p:cNvPr id="79" name="AutoShape 9">
                  <a:extLst>
                    <a:ext uri="{FF2B5EF4-FFF2-40B4-BE49-F238E27FC236}">
                      <a16:creationId xmlns:a16="http://schemas.microsoft.com/office/drawing/2014/main" id="{53CC701B-01B3-2326-9C4B-E6943BDA6FC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0" name="AutoShape 11">
                  <a:extLst>
                    <a:ext uri="{FF2B5EF4-FFF2-40B4-BE49-F238E27FC236}">
                      <a16:creationId xmlns:a16="http://schemas.microsoft.com/office/drawing/2014/main" id="{0483702F-E9D3-2DA3-CAAC-03A6548B6D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1" name="AutoShape 10">
                  <a:extLst>
                    <a:ext uri="{FF2B5EF4-FFF2-40B4-BE49-F238E27FC236}">
                      <a16:creationId xmlns:a16="http://schemas.microsoft.com/office/drawing/2014/main" id="{6D4D359F-0C72-711E-375E-E91618E44D0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5" name="TextBox 74">
              <a:extLst>
                <a:ext uri="{FF2B5EF4-FFF2-40B4-BE49-F238E27FC236}">
                  <a16:creationId xmlns:a16="http://schemas.microsoft.com/office/drawing/2014/main" id="{BB900A69-B31E-463E-6DC0-AD680F4BF772}"/>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952652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dirty="0"/>
              <a:t>Value Stream Map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73" name="Group 72">
            <a:extLst>
              <a:ext uri="{FF2B5EF4-FFF2-40B4-BE49-F238E27FC236}">
                <a16:creationId xmlns:a16="http://schemas.microsoft.com/office/drawing/2014/main" id="{596290AF-C587-1087-1893-90325826FF95}"/>
              </a:ext>
            </a:extLst>
          </p:cNvPr>
          <p:cNvGrpSpPr/>
          <p:nvPr/>
        </p:nvGrpSpPr>
        <p:grpSpPr>
          <a:xfrm>
            <a:off x="838200" y="297639"/>
            <a:ext cx="4451430" cy="307138"/>
            <a:chOff x="838200" y="297639"/>
            <a:chExt cx="4451430" cy="307138"/>
          </a:xfrm>
        </p:grpSpPr>
        <p:grpSp>
          <p:nvGrpSpPr>
            <p:cNvPr id="74" name="Group 73">
              <a:extLst>
                <a:ext uri="{FF2B5EF4-FFF2-40B4-BE49-F238E27FC236}">
                  <a16:creationId xmlns:a16="http://schemas.microsoft.com/office/drawing/2014/main" id="{55420A0E-1716-D817-5D49-673A6791BCBA}"/>
                </a:ext>
              </a:extLst>
            </p:cNvPr>
            <p:cNvGrpSpPr/>
            <p:nvPr/>
          </p:nvGrpSpPr>
          <p:grpSpPr>
            <a:xfrm>
              <a:off x="838200" y="297639"/>
              <a:ext cx="1687517" cy="290657"/>
              <a:chOff x="838200" y="297639"/>
              <a:chExt cx="1687517" cy="290657"/>
            </a:xfrm>
          </p:grpSpPr>
          <p:sp>
            <p:nvSpPr>
              <p:cNvPr id="76" name="AutoShape 9">
                <a:extLst>
                  <a:ext uri="{FF2B5EF4-FFF2-40B4-BE49-F238E27FC236}">
                    <a16:creationId xmlns:a16="http://schemas.microsoft.com/office/drawing/2014/main" id="{6074AD7D-C0A3-C405-8EFE-14F55A84C09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7" name="AutoShape 9">
                <a:extLst>
                  <a:ext uri="{FF2B5EF4-FFF2-40B4-BE49-F238E27FC236}">
                    <a16:creationId xmlns:a16="http://schemas.microsoft.com/office/drawing/2014/main" id="{495591B8-ED53-108D-70AB-857D2357221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8" name="Group 77">
                <a:extLst>
                  <a:ext uri="{FF2B5EF4-FFF2-40B4-BE49-F238E27FC236}">
                    <a16:creationId xmlns:a16="http://schemas.microsoft.com/office/drawing/2014/main" id="{A309B071-970D-7F6F-2D90-6C25D07E5896}"/>
                  </a:ext>
                </a:extLst>
              </p:cNvPr>
              <p:cNvGrpSpPr/>
              <p:nvPr/>
            </p:nvGrpSpPr>
            <p:grpSpPr>
              <a:xfrm>
                <a:off x="838200" y="297639"/>
                <a:ext cx="1060167" cy="290657"/>
                <a:chOff x="826426" y="4041857"/>
                <a:chExt cx="1060167" cy="290657"/>
              </a:xfrm>
            </p:grpSpPr>
            <p:sp>
              <p:nvSpPr>
                <p:cNvPr id="79" name="AutoShape 9">
                  <a:extLst>
                    <a:ext uri="{FF2B5EF4-FFF2-40B4-BE49-F238E27FC236}">
                      <a16:creationId xmlns:a16="http://schemas.microsoft.com/office/drawing/2014/main" id="{53CC701B-01B3-2326-9C4B-E6943BDA6FC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0" name="AutoShape 11">
                  <a:extLst>
                    <a:ext uri="{FF2B5EF4-FFF2-40B4-BE49-F238E27FC236}">
                      <a16:creationId xmlns:a16="http://schemas.microsoft.com/office/drawing/2014/main" id="{0483702F-E9D3-2DA3-CAAC-03A6548B6D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1" name="AutoShape 10">
                  <a:extLst>
                    <a:ext uri="{FF2B5EF4-FFF2-40B4-BE49-F238E27FC236}">
                      <a16:creationId xmlns:a16="http://schemas.microsoft.com/office/drawing/2014/main" id="{6D4D359F-0C72-711E-375E-E91618E44D0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5" name="TextBox 74">
              <a:extLst>
                <a:ext uri="{FF2B5EF4-FFF2-40B4-BE49-F238E27FC236}">
                  <a16:creationId xmlns:a16="http://schemas.microsoft.com/office/drawing/2014/main" id="{BB900A69-B31E-463E-6DC0-AD680F4BF772}"/>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293" name="Group 292">
            <a:extLst>
              <a:ext uri="{FF2B5EF4-FFF2-40B4-BE49-F238E27FC236}">
                <a16:creationId xmlns:a16="http://schemas.microsoft.com/office/drawing/2014/main" id="{0D803D3A-B253-0744-B1F6-4BF597A653ED}"/>
              </a:ext>
            </a:extLst>
          </p:cNvPr>
          <p:cNvGrpSpPr/>
          <p:nvPr/>
        </p:nvGrpSpPr>
        <p:grpSpPr>
          <a:xfrm>
            <a:off x="786838" y="1619916"/>
            <a:ext cx="10618324" cy="4713232"/>
            <a:chOff x="400775" y="1619916"/>
            <a:chExt cx="8485187" cy="4795838"/>
          </a:xfrm>
        </p:grpSpPr>
        <p:sp>
          <p:nvSpPr>
            <p:cNvPr id="82" name="Rectangle 214">
              <a:extLst>
                <a:ext uri="{FF2B5EF4-FFF2-40B4-BE49-F238E27FC236}">
                  <a16:creationId xmlns:a16="http://schemas.microsoft.com/office/drawing/2014/main" id="{11E22D4B-B54C-5B5B-35EF-60594483D3DC}"/>
                </a:ext>
              </a:extLst>
            </p:cNvPr>
            <p:cNvSpPr>
              <a:spLocks noChangeArrowheads="1"/>
            </p:cNvSpPr>
            <p:nvPr/>
          </p:nvSpPr>
          <p:spPr bwMode="auto">
            <a:xfrm>
              <a:off x="551587" y="1783429"/>
              <a:ext cx="8207375" cy="4632325"/>
            </a:xfrm>
            <a:prstGeom prst="rect">
              <a:avLst/>
            </a:prstGeom>
            <a:solidFill>
              <a:schemeClr val="bg2"/>
            </a:solidFill>
            <a:ln w="12700" cap="sq">
              <a:solidFill>
                <a:schemeClr val="tx1"/>
              </a:solidFill>
              <a:miter lim="800000"/>
              <a:headEnd type="none" w="sm" len="sm"/>
              <a:tailEnd type="none" w="sm" len="sm"/>
            </a:ln>
            <a:effectLst>
              <a:outerShdw dist="63500" dir="3187806" algn="ctr" rotWithShape="0">
                <a:schemeClr val="tx1"/>
              </a:outerShdw>
            </a:effectLst>
          </p:spPr>
          <p:txBody>
            <a:bodyPr wrap="none" anchor="ctr"/>
            <a:lstStyle/>
            <a:p>
              <a:pPr>
                <a:defRPr/>
              </a:pPr>
              <a:endParaRPr lang="en-US" dirty="0"/>
            </a:p>
          </p:txBody>
        </p:sp>
        <p:sp>
          <p:nvSpPr>
            <p:cNvPr id="83" name="Text Box 215">
              <a:extLst>
                <a:ext uri="{FF2B5EF4-FFF2-40B4-BE49-F238E27FC236}">
                  <a16:creationId xmlns:a16="http://schemas.microsoft.com/office/drawing/2014/main" id="{7708A8B7-B4DF-C3EB-4E73-9CE57F37C491}"/>
                </a:ext>
              </a:extLst>
            </p:cNvPr>
            <p:cNvSpPr txBox="1">
              <a:spLocks noChangeArrowheads="1"/>
            </p:cNvSpPr>
            <p:nvPr/>
          </p:nvSpPr>
          <p:spPr bwMode="auto">
            <a:xfrm>
              <a:off x="7750899" y="2486692"/>
              <a:ext cx="11350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58738" indent="-58738">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gn="l">
                <a:lnSpc>
                  <a:spcPct val="100000"/>
                </a:lnSpc>
                <a:spcBef>
                  <a:spcPct val="0"/>
                </a:spcBef>
                <a:buFontTx/>
                <a:buChar char="•"/>
              </a:pPr>
              <a:r>
                <a:rPr lang="en-US" sz="800" b="0" dirty="0">
                  <a:solidFill>
                    <a:schemeClr val="tx1"/>
                  </a:solidFill>
                </a:rPr>
                <a:t>Demand = 30,000 Enclosures/month</a:t>
              </a:r>
            </a:p>
            <a:p>
              <a:pPr algn="l">
                <a:lnSpc>
                  <a:spcPct val="100000"/>
                </a:lnSpc>
                <a:spcBef>
                  <a:spcPct val="0"/>
                </a:spcBef>
                <a:buFontTx/>
                <a:buChar char="•"/>
              </a:pPr>
              <a:r>
                <a:rPr lang="en-US" sz="800" b="0" dirty="0">
                  <a:solidFill>
                    <a:schemeClr val="tx1"/>
                  </a:solidFill>
                </a:rPr>
                <a:t>1 Shift</a:t>
              </a:r>
            </a:p>
          </p:txBody>
        </p:sp>
        <p:grpSp>
          <p:nvGrpSpPr>
            <p:cNvPr id="84" name="Group 216">
              <a:extLst>
                <a:ext uri="{FF2B5EF4-FFF2-40B4-BE49-F238E27FC236}">
                  <a16:creationId xmlns:a16="http://schemas.microsoft.com/office/drawing/2014/main" id="{933DDE6C-CD2A-EC29-2632-7D289F260C8B}"/>
                </a:ext>
              </a:extLst>
            </p:cNvPr>
            <p:cNvGrpSpPr>
              <a:grpSpLocks/>
            </p:cNvGrpSpPr>
            <p:nvPr/>
          </p:nvGrpSpPr>
          <p:grpSpPr bwMode="auto">
            <a:xfrm>
              <a:off x="7134949" y="5771229"/>
              <a:ext cx="1654175" cy="446088"/>
              <a:chOff x="4584" y="3386"/>
              <a:chExt cx="1042" cy="281"/>
            </a:xfrm>
          </p:grpSpPr>
          <p:grpSp>
            <p:nvGrpSpPr>
              <p:cNvPr id="85" name="Group 217">
                <a:extLst>
                  <a:ext uri="{FF2B5EF4-FFF2-40B4-BE49-F238E27FC236}">
                    <a16:creationId xmlns:a16="http://schemas.microsoft.com/office/drawing/2014/main" id="{C3080111-8041-C4E0-515D-0B47D2731AA1}"/>
                  </a:ext>
                </a:extLst>
              </p:cNvPr>
              <p:cNvGrpSpPr>
                <a:grpSpLocks/>
              </p:cNvGrpSpPr>
              <p:nvPr/>
            </p:nvGrpSpPr>
            <p:grpSpPr bwMode="auto">
              <a:xfrm>
                <a:off x="4584" y="3402"/>
                <a:ext cx="1033" cy="235"/>
                <a:chOff x="4471" y="3427"/>
                <a:chExt cx="1033" cy="235"/>
              </a:xfrm>
            </p:grpSpPr>
            <p:sp>
              <p:nvSpPr>
                <p:cNvPr id="87" name="Text Box 218">
                  <a:extLst>
                    <a:ext uri="{FF2B5EF4-FFF2-40B4-BE49-F238E27FC236}">
                      <a16:creationId xmlns:a16="http://schemas.microsoft.com/office/drawing/2014/main" id="{B40962BA-0588-0EB5-918B-FC8EBEA202CF}"/>
                    </a:ext>
                  </a:extLst>
                </p:cNvPr>
                <p:cNvSpPr txBox="1">
                  <a:spLocks noChangeArrowheads="1"/>
                </p:cNvSpPr>
                <p:nvPr/>
              </p:nvSpPr>
              <p:spPr bwMode="auto">
                <a:xfrm>
                  <a:off x="4471" y="3427"/>
                  <a:ext cx="103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gn="r">
                    <a:lnSpc>
                      <a:spcPct val="100000"/>
                    </a:lnSpc>
                    <a:spcBef>
                      <a:spcPct val="30000"/>
                    </a:spcBef>
                  </a:pPr>
                  <a:r>
                    <a:rPr lang="en-US" sz="800" b="0" dirty="0">
                      <a:solidFill>
                        <a:schemeClr val="tx1"/>
                      </a:solidFill>
                    </a:rPr>
                    <a:t>Production L.T. =  19.7 days    </a:t>
                  </a:r>
                </a:p>
                <a:p>
                  <a:pPr algn="r">
                    <a:lnSpc>
                      <a:spcPct val="100000"/>
                    </a:lnSpc>
                    <a:spcBef>
                      <a:spcPct val="30000"/>
                    </a:spcBef>
                  </a:pPr>
                  <a:r>
                    <a:rPr lang="en-US" sz="800" b="0" dirty="0">
                      <a:solidFill>
                        <a:schemeClr val="tx1"/>
                      </a:solidFill>
                    </a:rPr>
                    <a:t>Processing Time = 275 seconds</a:t>
                  </a:r>
                </a:p>
              </p:txBody>
            </p:sp>
            <p:sp>
              <p:nvSpPr>
                <p:cNvPr id="88" name="Line 219">
                  <a:extLst>
                    <a:ext uri="{FF2B5EF4-FFF2-40B4-BE49-F238E27FC236}">
                      <a16:creationId xmlns:a16="http://schemas.microsoft.com/office/drawing/2014/main" id="{EC9BC7CF-B09E-A209-5781-C82E5D585F77}"/>
                    </a:ext>
                  </a:extLst>
                </p:cNvPr>
                <p:cNvSpPr>
                  <a:spLocks noChangeShapeType="1"/>
                </p:cNvSpPr>
                <p:nvPr/>
              </p:nvSpPr>
              <p:spPr bwMode="auto">
                <a:xfrm flipV="1">
                  <a:off x="4550" y="3539"/>
                  <a:ext cx="893"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sp>
            <p:nvSpPr>
              <p:cNvPr id="86" name="Rectangle 220">
                <a:extLst>
                  <a:ext uri="{FF2B5EF4-FFF2-40B4-BE49-F238E27FC236}">
                    <a16:creationId xmlns:a16="http://schemas.microsoft.com/office/drawing/2014/main" id="{6EC04D9B-08A8-0E77-D126-079916902551}"/>
                  </a:ext>
                </a:extLst>
              </p:cNvPr>
              <p:cNvSpPr>
                <a:spLocks noChangeArrowheads="1"/>
              </p:cNvSpPr>
              <p:nvPr/>
            </p:nvSpPr>
            <p:spPr bwMode="auto">
              <a:xfrm>
                <a:off x="4589" y="3386"/>
                <a:ext cx="1037" cy="281"/>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grpSp>
        <p:grpSp>
          <p:nvGrpSpPr>
            <p:cNvPr id="89" name="Group 3">
              <a:extLst>
                <a:ext uri="{FF2B5EF4-FFF2-40B4-BE49-F238E27FC236}">
                  <a16:creationId xmlns:a16="http://schemas.microsoft.com/office/drawing/2014/main" id="{8AD391A3-11E9-4E89-FCCF-0762BE836724}"/>
                </a:ext>
              </a:extLst>
            </p:cNvPr>
            <p:cNvGrpSpPr>
              <a:grpSpLocks/>
            </p:cNvGrpSpPr>
            <p:nvPr/>
          </p:nvGrpSpPr>
          <p:grpSpPr bwMode="auto">
            <a:xfrm>
              <a:off x="1616799" y="4205954"/>
              <a:ext cx="879475" cy="1420813"/>
              <a:chOff x="983" y="2380"/>
              <a:chExt cx="554" cy="895"/>
            </a:xfrm>
          </p:grpSpPr>
          <p:grpSp>
            <p:nvGrpSpPr>
              <p:cNvPr id="90" name="Group 4">
                <a:extLst>
                  <a:ext uri="{FF2B5EF4-FFF2-40B4-BE49-F238E27FC236}">
                    <a16:creationId xmlns:a16="http://schemas.microsoft.com/office/drawing/2014/main" id="{BA952DC3-DC37-0C44-E997-F069C65AEC7F}"/>
                  </a:ext>
                </a:extLst>
              </p:cNvPr>
              <p:cNvGrpSpPr>
                <a:grpSpLocks/>
              </p:cNvGrpSpPr>
              <p:nvPr/>
            </p:nvGrpSpPr>
            <p:grpSpPr bwMode="auto">
              <a:xfrm>
                <a:off x="1008" y="2380"/>
                <a:ext cx="525" cy="390"/>
                <a:chOff x="1367" y="2370"/>
                <a:chExt cx="434" cy="390"/>
              </a:xfrm>
            </p:grpSpPr>
            <p:grpSp>
              <p:nvGrpSpPr>
                <p:cNvPr id="94" name="Group 5">
                  <a:extLst>
                    <a:ext uri="{FF2B5EF4-FFF2-40B4-BE49-F238E27FC236}">
                      <a16:creationId xmlns:a16="http://schemas.microsoft.com/office/drawing/2014/main" id="{8E69EC26-3604-1F7D-F18C-E213ECD6D092}"/>
                    </a:ext>
                  </a:extLst>
                </p:cNvPr>
                <p:cNvGrpSpPr>
                  <a:grpSpLocks/>
                </p:cNvGrpSpPr>
                <p:nvPr/>
              </p:nvGrpSpPr>
              <p:grpSpPr bwMode="auto">
                <a:xfrm>
                  <a:off x="1367" y="2395"/>
                  <a:ext cx="434" cy="365"/>
                  <a:chOff x="418" y="2981"/>
                  <a:chExt cx="352" cy="365"/>
                </a:xfrm>
              </p:grpSpPr>
              <p:sp>
                <p:nvSpPr>
                  <p:cNvPr id="100" name="Rectangle 6">
                    <a:extLst>
                      <a:ext uri="{FF2B5EF4-FFF2-40B4-BE49-F238E27FC236}">
                        <a16:creationId xmlns:a16="http://schemas.microsoft.com/office/drawing/2014/main" id="{1741C5A9-FF6E-B447-FE82-FC716E2B5922}"/>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sp>
                <p:nvSpPr>
                  <p:cNvPr id="101" name="Line 7">
                    <a:extLst>
                      <a:ext uri="{FF2B5EF4-FFF2-40B4-BE49-F238E27FC236}">
                        <a16:creationId xmlns:a16="http://schemas.microsoft.com/office/drawing/2014/main" id="{F8346150-269D-0F32-0634-D374EF95BB21}"/>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grpSp>
              <p:nvGrpSpPr>
                <p:cNvPr id="95" name="Group 8">
                  <a:extLst>
                    <a:ext uri="{FF2B5EF4-FFF2-40B4-BE49-F238E27FC236}">
                      <a16:creationId xmlns:a16="http://schemas.microsoft.com/office/drawing/2014/main" id="{BE446DFA-2219-9866-F7A6-644DC7F8F54D}"/>
                    </a:ext>
                  </a:extLst>
                </p:cNvPr>
                <p:cNvGrpSpPr>
                  <a:grpSpLocks/>
                </p:cNvGrpSpPr>
                <p:nvPr/>
              </p:nvGrpSpPr>
              <p:grpSpPr bwMode="auto">
                <a:xfrm flipV="1">
                  <a:off x="1462" y="2586"/>
                  <a:ext cx="96" cy="112"/>
                  <a:chOff x="720" y="3354"/>
                  <a:chExt cx="192" cy="198"/>
                </a:xfrm>
              </p:grpSpPr>
              <p:sp>
                <p:nvSpPr>
                  <p:cNvPr id="98" name="Oval 9">
                    <a:extLst>
                      <a:ext uri="{FF2B5EF4-FFF2-40B4-BE49-F238E27FC236}">
                        <a16:creationId xmlns:a16="http://schemas.microsoft.com/office/drawing/2014/main" id="{96A6DA81-E3D3-D720-ED6D-DA0B750DE33E}"/>
                      </a:ext>
                    </a:extLst>
                  </p:cNvPr>
                  <p:cNvSpPr>
                    <a:spLocks noChangeArrowheads="1"/>
                  </p:cNvSpPr>
                  <p:nvPr/>
                </p:nvSpPr>
                <p:spPr bwMode="auto">
                  <a:xfrm>
                    <a:off x="768" y="3408"/>
                    <a:ext cx="96"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99" name="AutoShape 10">
                    <a:extLst>
                      <a:ext uri="{FF2B5EF4-FFF2-40B4-BE49-F238E27FC236}">
                        <a16:creationId xmlns:a16="http://schemas.microsoft.com/office/drawing/2014/main" id="{B095EBF2-8F2F-2804-867A-05BE1F3456E8}"/>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grpSp>
            <p:sp>
              <p:nvSpPr>
                <p:cNvPr id="96" name="Text Box 11">
                  <a:extLst>
                    <a:ext uri="{FF2B5EF4-FFF2-40B4-BE49-F238E27FC236}">
                      <a16:creationId xmlns:a16="http://schemas.microsoft.com/office/drawing/2014/main" id="{CAD8F2A0-9E60-C5A1-41F1-FB9E4AE8B3A2}"/>
                    </a:ext>
                  </a:extLst>
                </p:cNvPr>
                <p:cNvSpPr txBox="1">
                  <a:spLocks noChangeArrowheads="1"/>
                </p:cNvSpPr>
                <p:nvPr/>
              </p:nvSpPr>
              <p:spPr bwMode="auto">
                <a:xfrm>
                  <a:off x="1562" y="258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 5</a:t>
                  </a:r>
                </a:p>
              </p:txBody>
            </p:sp>
            <p:sp>
              <p:nvSpPr>
                <p:cNvPr id="97" name="Text Box 12">
                  <a:extLst>
                    <a:ext uri="{FF2B5EF4-FFF2-40B4-BE49-F238E27FC236}">
                      <a16:creationId xmlns:a16="http://schemas.microsoft.com/office/drawing/2014/main" id="{E2102E96-A5A5-13FD-5D53-CCEFA4924FF9}"/>
                    </a:ext>
                  </a:extLst>
                </p:cNvPr>
                <p:cNvSpPr txBox="1">
                  <a:spLocks noChangeArrowheads="1"/>
                </p:cNvSpPr>
                <p:nvPr/>
              </p:nvSpPr>
              <p:spPr bwMode="auto">
                <a:xfrm>
                  <a:off x="1382" y="2370"/>
                  <a:ext cx="4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Cut</a:t>
                  </a:r>
                </a:p>
              </p:txBody>
            </p:sp>
          </p:grpSp>
          <p:grpSp>
            <p:nvGrpSpPr>
              <p:cNvPr id="91" name="Group 13">
                <a:extLst>
                  <a:ext uri="{FF2B5EF4-FFF2-40B4-BE49-F238E27FC236}">
                    <a16:creationId xmlns:a16="http://schemas.microsoft.com/office/drawing/2014/main" id="{D6C74878-4576-98D8-B7E7-69937F0A9387}"/>
                  </a:ext>
                </a:extLst>
              </p:cNvPr>
              <p:cNvGrpSpPr>
                <a:grpSpLocks/>
              </p:cNvGrpSpPr>
              <p:nvPr/>
            </p:nvGrpSpPr>
            <p:grpSpPr bwMode="auto">
              <a:xfrm>
                <a:off x="983" y="2832"/>
                <a:ext cx="554" cy="443"/>
                <a:chOff x="983" y="2832"/>
                <a:chExt cx="554" cy="443"/>
              </a:xfrm>
            </p:grpSpPr>
            <p:sp>
              <p:nvSpPr>
                <p:cNvPr id="92" name="Rectangle 14">
                  <a:extLst>
                    <a:ext uri="{FF2B5EF4-FFF2-40B4-BE49-F238E27FC236}">
                      <a16:creationId xmlns:a16="http://schemas.microsoft.com/office/drawing/2014/main" id="{6CB33714-C964-A914-1CEA-ACCA8D1F5BEB}"/>
                    </a:ext>
                  </a:extLst>
                </p:cNvPr>
                <p:cNvSpPr>
                  <a:spLocks noChangeArrowheads="1"/>
                </p:cNvSpPr>
                <p:nvPr/>
              </p:nvSpPr>
              <p:spPr bwMode="auto">
                <a:xfrm>
                  <a:off x="1012" y="2832"/>
                  <a:ext cx="525" cy="432"/>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sp>
              <p:nvSpPr>
                <p:cNvPr id="93" name="Text Box 15">
                  <a:extLst>
                    <a:ext uri="{FF2B5EF4-FFF2-40B4-BE49-F238E27FC236}">
                      <a16:creationId xmlns:a16="http://schemas.microsoft.com/office/drawing/2014/main" id="{B56F904A-FB17-B830-BFF2-195D304DA9A8}"/>
                    </a:ext>
                  </a:extLst>
                </p:cNvPr>
                <p:cNvSpPr txBox="1">
                  <a:spLocks noChangeArrowheads="1"/>
                </p:cNvSpPr>
                <p:nvPr/>
              </p:nvSpPr>
              <p:spPr bwMode="auto">
                <a:xfrm>
                  <a:off x="983" y="2832"/>
                  <a:ext cx="553"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gn="l">
                    <a:lnSpc>
                      <a:spcPct val="100000"/>
                    </a:lnSpc>
                    <a:spcBef>
                      <a:spcPct val="0"/>
                    </a:spcBef>
                  </a:pPr>
                  <a:r>
                    <a:rPr lang="en-US" sz="800" b="0" dirty="0">
                      <a:solidFill>
                        <a:schemeClr val="tx1"/>
                      </a:solidFill>
                    </a:rPr>
                    <a:t>DOI = 12”</a:t>
                  </a:r>
                </a:p>
                <a:p>
                  <a:pPr algn="l">
                    <a:lnSpc>
                      <a:spcPct val="100000"/>
                    </a:lnSpc>
                    <a:spcBef>
                      <a:spcPct val="0"/>
                    </a:spcBef>
                  </a:pPr>
                  <a:r>
                    <a:rPr lang="en-US" sz="800" b="0" dirty="0">
                      <a:solidFill>
                        <a:schemeClr val="tx1"/>
                      </a:solidFill>
                    </a:rPr>
                    <a:t>C/O Time = 30’</a:t>
                  </a:r>
                </a:p>
                <a:p>
                  <a:pPr algn="l">
                    <a:lnSpc>
                      <a:spcPct val="100000"/>
                    </a:lnSpc>
                    <a:spcBef>
                      <a:spcPct val="0"/>
                    </a:spcBef>
                  </a:pPr>
                  <a:r>
                    <a:rPr lang="en-US" sz="800" b="0" dirty="0">
                      <a:solidFill>
                        <a:schemeClr val="tx1"/>
                      </a:solidFill>
                    </a:rPr>
                    <a:t>Uptime = 99%</a:t>
                  </a:r>
                </a:p>
                <a:p>
                  <a:pPr algn="l">
                    <a:lnSpc>
                      <a:spcPct val="100000"/>
                    </a:lnSpc>
                    <a:spcBef>
                      <a:spcPct val="0"/>
                    </a:spcBef>
                  </a:pPr>
                  <a:r>
                    <a:rPr lang="en-US" sz="800" b="0" dirty="0">
                      <a:solidFill>
                        <a:schemeClr val="tx1"/>
                      </a:solidFill>
                    </a:rPr>
                    <a:t>Quality = 99%</a:t>
                  </a:r>
                </a:p>
                <a:p>
                  <a:pPr algn="l">
                    <a:lnSpc>
                      <a:spcPct val="100000"/>
                    </a:lnSpc>
                    <a:spcBef>
                      <a:spcPct val="0"/>
                    </a:spcBef>
                  </a:pPr>
                  <a:r>
                    <a:rPr lang="en-US" sz="800" b="0" dirty="0">
                      <a:solidFill>
                        <a:schemeClr val="tx1"/>
                      </a:solidFill>
                    </a:rPr>
                    <a:t>5 Machines</a:t>
                  </a:r>
                </a:p>
              </p:txBody>
            </p:sp>
          </p:grpSp>
        </p:grpSp>
        <p:sp>
          <p:nvSpPr>
            <p:cNvPr id="102" name="Line 17">
              <a:extLst>
                <a:ext uri="{FF2B5EF4-FFF2-40B4-BE49-F238E27FC236}">
                  <a16:creationId xmlns:a16="http://schemas.microsoft.com/office/drawing/2014/main" id="{FE9D8CC4-0DD8-052B-8D9C-2F07109F9097}"/>
                </a:ext>
              </a:extLst>
            </p:cNvPr>
            <p:cNvSpPr>
              <a:spLocks noChangeShapeType="1"/>
            </p:cNvSpPr>
            <p:nvPr/>
          </p:nvSpPr>
          <p:spPr bwMode="auto">
            <a:xfrm flipV="1">
              <a:off x="2513737" y="4529804"/>
              <a:ext cx="981075" cy="1270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103" name="AutoShape 18">
              <a:extLst>
                <a:ext uri="{FF2B5EF4-FFF2-40B4-BE49-F238E27FC236}">
                  <a16:creationId xmlns:a16="http://schemas.microsoft.com/office/drawing/2014/main" id="{5D247B17-00F8-54C7-5F59-11C6E2794B84}"/>
                </a:ext>
              </a:extLst>
            </p:cNvPr>
            <p:cNvSpPr>
              <a:spLocks noChangeArrowheads="1"/>
            </p:cNvSpPr>
            <p:nvPr/>
          </p:nvSpPr>
          <p:spPr bwMode="auto">
            <a:xfrm>
              <a:off x="2789962" y="4347242"/>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p>
              <a:pPr>
                <a:lnSpc>
                  <a:spcPct val="100000"/>
                </a:lnSpc>
                <a:spcBef>
                  <a:spcPct val="30000"/>
                </a:spcBef>
              </a:pPr>
              <a:r>
                <a:rPr lang="en-US" sz="1200" dirty="0">
                  <a:solidFill>
                    <a:schemeClr val="tx1"/>
                  </a:solidFill>
                  <a:latin typeface="Times New Roman" pitchFamily="18" charset="0"/>
                </a:rPr>
                <a:t>I</a:t>
              </a:r>
            </a:p>
          </p:txBody>
        </p:sp>
        <p:sp>
          <p:nvSpPr>
            <p:cNvPr id="104" name="Line 19">
              <a:extLst>
                <a:ext uri="{FF2B5EF4-FFF2-40B4-BE49-F238E27FC236}">
                  <a16:creationId xmlns:a16="http://schemas.microsoft.com/office/drawing/2014/main" id="{6351E86C-C605-EBE3-99D0-906BDA1E9A02}"/>
                </a:ext>
              </a:extLst>
            </p:cNvPr>
            <p:cNvSpPr>
              <a:spLocks noChangeShapeType="1"/>
            </p:cNvSpPr>
            <p:nvPr/>
          </p:nvSpPr>
          <p:spPr bwMode="auto">
            <a:xfrm>
              <a:off x="1134199" y="2939129"/>
              <a:ext cx="7938" cy="1389063"/>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GB" dirty="0"/>
            </a:p>
          </p:txBody>
        </p:sp>
        <p:sp>
          <p:nvSpPr>
            <p:cNvPr id="105" name="Line 20">
              <a:extLst>
                <a:ext uri="{FF2B5EF4-FFF2-40B4-BE49-F238E27FC236}">
                  <a16:creationId xmlns:a16="http://schemas.microsoft.com/office/drawing/2014/main" id="{50458737-4DBC-67A4-22E7-5026176C9820}"/>
                </a:ext>
              </a:extLst>
            </p:cNvPr>
            <p:cNvSpPr>
              <a:spLocks noChangeShapeType="1"/>
            </p:cNvSpPr>
            <p:nvPr/>
          </p:nvSpPr>
          <p:spPr bwMode="auto">
            <a:xfrm flipH="1" flipV="1">
              <a:off x="7431812" y="2916904"/>
              <a:ext cx="1587" cy="1296988"/>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GB" dirty="0"/>
            </a:p>
          </p:txBody>
        </p:sp>
        <p:grpSp>
          <p:nvGrpSpPr>
            <p:cNvPr id="106" name="Group 21">
              <a:extLst>
                <a:ext uri="{FF2B5EF4-FFF2-40B4-BE49-F238E27FC236}">
                  <a16:creationId xmlns:a16="http://schemas.microsoft.com/office/drawing/2014/main" id="{E3E0ABCA-E025-04EC-F502-1A7D02D6B1BD}"/>
                </a:ext>
              </a:extLst>
            </p:cNvPr>
            <p:cNvGrpSpPr>
              <a:grpSpLocks/>
            </p:cNvGrpSpPr>
            <p:nvPr/>
          </p:nvGrpSpPr>
          <p:grpSpPr bwMode="auto">
            <a:xfrm>
              <a:off x="3413849" y="4166267"/>
              <a:ext cx="890588" cy="1314450"/>
              <a:chOff x="2155" y="2375"/>
              <a:chExt cx="561" cy="828"/>
            </a:xfrm>
          </p:grpSpPr>
          <p:sp>
            <p:nvSpPr>
              <p:cNvPr id="107" name="Rectangle 22">
                <a:extLst>
                  <a:ext uri="{FF2B5EF4-FFF2-40B4-BE49-F238E27FC236}">
                    <a16:creationId xmlns:a16="http://schemas.microsoft.com/office/drawing/2014/main" id="{07F39750-BD6A-A208-7E96-36C6DFA0E925}"/>
                  </a:ext>
                </a:extLst>
              </p:cNvPr>
              <p:cNvSpPr>
                <a:spLocks noChangeArrowheads="1"/>
              </p:cNvSpPr>
              <p:nvPr/>
            </p:nvSpPr>
            <p:spPr bwMode="auto">
              <a:xfrm>
                <a:off x="2191" y="2827"/>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grpSp>
            <p:nvGrpSpPr>
              <p:cNvPr id="108" name="Group 23">
                <a:extLst>
                  <a:ext uri="{FF2B5EF4-FFF2-40B4-BE49-F238E27FC236}">
                    <a16:creationId xmlns:a16="http://schemas.microsoft.com/office/drawing/2014/main" id="{479B6362-3FEE-3F55-831B-F7203F6A1460}"/>
                  </a:ext>
                </a:extLst>
              </p:cNvPr>
              <p:cNvGrpSpPr>
                <a:grpSpLocks/>
              </p:cNvGrpSpPr>
              <p:nvPr/>
            </p:nvGrpSpPr>
            <p:grpSpPr bwMode="auto">
              <a:xfrm>
                <a:off x="2187" y="2375"/>
                <a:ext cx="525" cy="390"/>
                <a:chOff x="1367" y="2370"/>
                <a:chExt cx="434" cy="390"/>
              </a:xfrm>
            </p:grpSpPr>
            <p:grpSp>
              <p:nvGrpSpPr>
                <p:cNvPr id="110" name="Group 24">
                  <a:extLst>
                    <a:ext uri="{FF2B5EF4-FFF2-40B4-BE49-F238E27FC236}">
                      <a16:creationId xmlns:a16="http://schemas.microsoft.com/office/drawing/2014/main" id="{BE9F02D6-1721-420D-0960-B0F47625DB42}"/>
                    </a:ext>
                  </a:extLst>
                </p:cNvPr>
                <p:cNvGrpSpPr>
                  <a:grpSpLocks/>
                </p:cNvGrpSpPr>
                <p:nvPr/>
              </p:nvGrpSpPr>
              <p:grpSpPr bwMode="auto">
                <a:xfrm>
                  <a:off x="1367" y="2395"/>
                  <a:ext cx="434" cy="365"/>
                  <a:chOff x="418" y="2981"/>
                  <a:chExt cx="352" cy="365"/>
                </a:xfrm>
              </p:grpSpPr>
              <p:sp>
                <p:nvSpPr>
                  <p:cNvPr id="116" name="Rectangle 25">
                    <a:extLst>
                      <a:ext uri="{FF2B5EF4-FFF2-40B4-BE49-F238E27FC236}">
                        <a16:creationId xmlns:a16="http://schemas.microsoft.com/office/drawing/2014/main" id="{FE45C835-FB0E-035F-5865-B496664ECC1B}"/>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sp>
                <p:nvSpPr>
                  <p:cNvPr id="117" name="Line 26">
                    <a:extLst>
                      <a:ext uri="{FF2B5EF4-FFF2-40B4-BE49-F238E27FC236}">
                        <a16:creationId xmlns:a16="http://schemas.microsoft.com/office/drawing/2014/main" id="{069503B6-F215-76BF-3081-45EBC2C44830}"/>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grpSp>
              <p:nvGrpSpPr>
                <p:cNvPr id="111" name="Group 27">
                  <a:extLst>
                    <a:ext uri="{FF2B5EF4-FFF2-40B4-BE49-F238E27FC236}">
                      <a16:creationId xmlns:a16="http://schemas.microsoft.com/office/drawing/2014/main" id="{C73F683D-F477-F3C8-2A3B-0831F5F5F80C}"/>
                    </a:ext>
                  </a:extLst>
                </p:cNvPr>
                <p:cNvGrpSpPr>
                  <a:grpSpLocks/>
                </p:cNvGrpSpPr>
                <p:nvPr/>
              </p:nvGrpSpPr>
              <p:grpSpPr bwMode="auto">
                <a:xfrm flipV="1">
                  <a:off x="1462" y="2586"/>
                  <a:ext cx="96" cy="112"/>
                  <a:chOff x="720" y="3354"/>
                  <a:chExt cx="192" cy="198"/>
                </a:xfrm>
              </p:grpSpPr>
              <p:sp>
                <p:nvSpPr>
                  <p:cNvPr id="114" name="Oval 28">
                    <a:extLst>
                      <a:ext uri="{FF2B5EF4-FFF2-40B4-BE49-F238E27FC236}">
                        <a16:creationId xmlns:a16="http://schemas.microsoft.com/office/drawing/2014/main" id="{90B9AE43-EFA8-2986-1484-5A63B6861C66}"/>
                      </a:ext>
                    </a:extLst>
                  </p:cNvPr>
                  <p:cNvSpPr>
                    <a:spLocks noChangeArrowheads="1"/>
                  </p:cNvSpPr>
                  <p:nvPr/>
                </p:nvSpPr>
                <p:spPr bwMode="auto">
                  <a:xfrm>
                    <a:off x="768" y="3408"/>
                    <a:ext cx="96"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115" name="AutoShape 29">
                    <a:extLst>
                      <a:ext uri="{FF2B5EF4-FFF2-40B4-BE49-F238E27FC236}">
                        <a16:creationId xmlns:a16="http://schemas.microsoft.com/office/drawing/2014/main" id="{D9DD4ADE-9EF9-259E-6C66-5788C906E30B}"/>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grpSp>
            <p:sp>
              <p:nvSpPr>
                <p:cNvPr id="112" name="Text Box 30">
                  <a:extLst>
                    <a:ext uri="{FF2B5EF4-FFF2-40B4-BE49-F238E27FC236}">
                      <a16:creationId xmlns:a16="http://schemas.microsoft.com/office/drawing/2014/main" id="{A0BD3519-005B-A6E6-FFF3-2CD29CE4BCDE}"/>
                    </a:ext>
                  </a:extLst>
                </p:cNvPr>
                <p:cNvSpPr txBox="1">
                  <a:spLocks noChangeArrowheads="1"/>
                </p:cNvSpPr>
                <p:nvPr/>
              </p:nvSpPr>
              <p:spPr bwMode="auto">
                <a:xfrm>
                  <a:off x="1562" y="258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 1</a:t>
                  </a:r>
                </a:p>
              </p:txBody>
            </p:sp>
            <p:sp>
              <p:nvSpPr>
                <p:cNvPr id="113" name="Text Box 31">
                  <a:extLst>
                    <a:ext uri="{FF2B5EF4-FFF2-40B4-BE49-F238E27FC236}">
                      <a16:creationId xmlns:a16="http://schemas.microsoft.com/office/drawing/2014/main" id="{2895EF62-ED3A-00AC-EA41-236AE7216E08}"/>
                    </a:ext>
                  </a:extLst>
                </p:cNvPr>
                <p:cNvSpPr txBox="1">
                  <a:spLocks noChangeArrowheads="1"/>
                </p:cNvSpPr>
                <p:nvPr/>
              </p:nvSpPr>
              <p:spPr bwMode="auto">
                <a:xfrm>
                  <a:off x="1382" y="2370"/>
                  <a:ext cx="4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Stamp</a:t>
                  </a:r>
                </a:p>
              </p:txBody>
            </p:sp>
          </p:grpSp>
          <p:sp>
            <p:nvSpPr>
              <p:cNvPr id="109" name="Text Box 32">
                <a:extLst>
                  <a:ext uri="{FF2B5EF4-FFF2-40B4-BE49-F238E27FC236}">
                    <a16:creationId xmlns:a16="http://schemas.microsoft.com/office/drawing/2014/main" id="{B0D6E9AD-D6F2-1575-1973-C694FD23FCB0}"/>
                  </a:ext>
                </a:extLst>
              </p:cNvPr>
              <p:cNvSpPr txBox="1">
                <a:spLocks noChangeArrowheads="1"/>
              </p:cNvSpPr>
              <p:nvPr/>
            </p:nvSpPr>
            <p:spPr bwMode="auto">
              <a:xfrm>
                <a:off x="2155" y="2837"/>
                <a:ext cx="55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gn="l">
                  <a:lnSpc>
                    <a:spcPct val="100000"/>
                  </a:lnSpc>
                  <a:spcBef>
                    <a:spcPct val="0"/>
                  </a:spcBef>
                </a:pPr>
                <a:r>
                  <a:rPr lang="en-US" sz="800" b="0" dirty="0">
                    <a:solidFill>
                      <a:schemeClr val="tx1"/>
                    </a:solidFill>
                  </a:rPr>
                  <a:t>DOI = 15”</a:t>
                </a:r>
              </a:p>
              <a:p>
                <a:pPr algn="l">
                  <a:lnSpc>
                    <a:spcPct val="100000"/>
                  </a:lnSpc>
                  <a:spcBef>
                    <a:spcPct val="0"/>
                  </a:spcBef>
                </a:pPr>
                <a:r>
                  <a:rPr lang="en-US" sz="800" b="0" dirty="0">
                    <a:solidFill>
                      <a:schemeClr val="tx1"/>
                    </a:solidFill>
                  </a:rPr>
                  <a:t>C/O Time = 30’</a:t>
                </a:r>
              </a:p>
              <a:p>
                <a:pPr algn="l">
                  <a:lnSpc>
                    <a:spcPct val="100000"/>
                  </a:lnSpc>
                  <a:spcBef>
                    <a:spcPct val="0"/>
                  </a:spcBef>
                </a:pPr>
                <a:r>
                  <a:rPr lang="en-US" sz="800" b="0" dirty="0">
                    <a:solidFill>
                      <a:schemeClr val="tx1"/>
                    </a:solidFill>
                  </a:rPr>
                  <a:t>Uptime = 99%</a:t>
                </a:r>
              </a:p>
              <a:p>
                <a:pPr algn="l">
                  <a:lnSpc>
                    <a:spcPct val="100000"/>
                  </a:lnSpc>
                  <a:spcBef>
                    <a:spcPct val="0"/>
                  </a:spcBef>
                </a:pPr>
                <a:r>
                  <a:rPr lang="en-US" sz="800" b="0" dirty="0">
                    <a:solidFill>
                      <a:schemeClr val="tx1"/>
                    </a:solidFill>
                  </a:rPr>
                  <a:t>Quality = 98%</a:t>
                </a:r>
              </a:p>
            </p:txBody>
          </p:sp>
        </p:grpSp>
        <p:grpSp>
          <p:nvGrpSpPr>
            <p:cNvPr id="118" name="Group 33">
              <a:extLst>
                <a:ext uri="{FF2B5EF4-FFF2-40B4-BE49-F238E27FC236}">
                  <a16:creationId xmlns:a16="http://schemas.microsoft.com/office/drawing/2014/main" id="{44F41B11-4DF9-4562-9AEA-70BFAFB79626}"/>
                </a:ext>
              </a:extLst>
            </p:cNvPr>
            <p:cNvGrpSpPr>
              <a:grpSpLocks/>
            </p:cNvGrpSpPr>
            <p:nvPr/>
          </p:nvGrpSpPr>
          <p:grpSpPr bwMode="auto">
            <a:xfrm>
              <a:off x="5222012" y="4158329"/>
              <a:ext cx="960437" cy="1314450"/>
              <a:chOff x="3253" y="2370"/>
              <a:chExt cx="605" cy="828"/>
            </a:xfrm>
          </p:grpSpPr>
          <p:sp>
            <p:nvSpPr>
              <p:cNvPr id="119" name="Rectangle 34">
                <a:extLst>
                  <a:ext uri="{FF2B5EF4-FFF2-40B4-BE49-F238E27FC236}">
                    <a16:creationId xmlns:a16="http://schemas.microsoft.com/office/drawing/2014/main" id="{BA711C5F-B934-B9C1-5A54-2CF17EBEC799}"/>
                  </a:ext>
                </a:extLst>
              </p:cNvPr>
              <p:cNvSpPr>
                <a:spLocks noChangeArrowheads="1"/>
              </p:cNvSpPr>
              <p:nvPr/>
            </p:nvSpPr>
            <p:spPr bwMode="auto">
              <a:xfrm>
                <a:off x="3289" y="2822"/>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grpSp>
            <p:nvGrpSpPr>
              <p:cNvPr id="120" name="Group 35">
                <a:extLst>
                  <a:ext uri="{FF2B5EF4-FFF2-40B4-BE49-F238E27FC236}">
                    <a16:creationId xmlns:a16="http://schemas.microsoft.com/office/drawing/2014/main" id="{FD975AC5-27F1-A054-B108-AA13DA74326A}"/>
                  </a:ext>
                </a:extLst>
              </p:cNvPr>
              <p:cNvGrpSpPr>
                <a:grpSpLocks/>
              </p:cNvGrpSpPr>
              <p:nvPr/>
            </p:nvGrpSpPr>
            <p:grpSpPr bwMode="auto">
              <a:xfrm>
                <a:off x="3285" y="2370"/>
                <a:ext cx="525" cy="390"/>
                <a:chOff x="1367" y="2370"/>
                <a:chExt cx="434" cy="390"/>
              </a:xfrm>
            </p:grpSpPr>
            <p:grpSp>
              <p:nvGrpSpPr>
                <p:cNvPr id="122" name="Group 36">
                  <a:extLst>
                    <a:ext uri="{FF2B5EF4-FFF2-40B4-BE49-F238E27FC236}">
                      <a16:creationId xmlns:a16="http://schemas.microsoft.com/office/drawing/2014/main" id="{588B0E1E-13A1-DBCF-3EB8-988DD190FE69}"/>
                    </a:ext>
                  </a:extLst>
                </p:cNvPr>
                <p:cNvGrpSpPr>
                  <a:grpSpLocks/>
                </p:cNvGrpSpPr>
                <p:nvPr/>
              </p:nvGrpSpPr>
              <p:grpSpPr bwMode="auto">
                <a:xfrm>
                  <a:off x="1367" y="2395"/>
                  <a:ext cx="434" cy="365"/>
                  <a:chOff x="418" y="2981"/>
                  <a:chExt cx="352" cy="365"/>
                </a:xfrm>
              </p:grpSpPr>
              <p:sp>
                <p:nvSpPr>
                  <p:cNvPr id="128" name="Rectangle 37">
                    <a:extLst>
                      <a:ext uri="{FF2B5EF4-FFF2-40B4-BE49-F238E27FC236}">
                        <a16:creationId xmlns:a16="http://schemas.microsoft.com/office/drawing/2014/main" id="{83378E69-A875-C9F2-7269-26B3F1E5555F}"/>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sp>
                <p:nvSpPr>
                  <p:cNvPr id="129" name="Line 38">
                    <a:extLst>
                      <a:ext uri="{FF2B5EF4-FFF2-40B4-BE49-F238E27FC236}">
                        <a16:creationId xmlns:a16="http://schemas.microsoft.com/office/drawing/2014/main" id="{A119A1E6-1B47-E428-C6C1-E3C52841F6E4}"/>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grpSp>
              <p:nvGrpSpPr>
                <p:cNvPr id="123" name="Group 39">
                  <a:extLst>
                    <a:ext uri="{FF2B5EF4-FFF2-40B4-BE49-F238E27FC236}">
                      <a16:creationId xmlns:a16="http://schemas.microsoft.com/office/drawing/2014/main" id="{A7B03435-1E09-A6C4-B644-F097E484E635}"/>
                    </a:ext>
                  </a:extLst>
                </p:cNvPr>
                <p:cNvGrpSpPr>
                  <a:grpSpLocks/>
                </p:cNvGrpSpPr>
                <p:nvPr/>
              </p:nvGrpSpPr>
              <p:grpSpPr bwMode="auto">
                <a:xfrm flipV="1">
                  <a:off x="1462" y="2586"/>
                  <a:ext cx="96" cy="112"/>
                  <a:chOff x="720" y="3354"/>
                  <a:chExt cx="192" cy="198"/>
                </a:xfrm>
              </p:grpSpPr>
              <p:sp>
                <p:nvSpPr>
                  <p:cNvPr id="126" name="Oval 40">
                    <a:extLst>
                      <a:ext uri="{FF2B5EF4-FFF2-40B4-BE49-F238E27FC236}">
                        <a16:creationId xmlns:a16="http://schemas.microsoft.com/office/drawing/2014/main" id="{B2EBEFD4-8832-612C-57A8-BB06D35E6D7A}"/>
                      </a:ext>
                    </a:extLst>
                  </p:cNvPr>
                  <p:cNvSpPr>
                    <a:spLocks noChangeArrowheads="1"/>
                  </p:cNvSpPr>
                  <p:nvPr/>
                </p:nvSpPr>
                <p:spPr bwMode="auto">
                  <a:xfrm>
                    <a:off x="768" y="3408"/>
                    <a:ext cx="96"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127" name="AutoShape 41">
                    <a:extLst>
                      <a:ext uri="{FF2B5EF4-FFF2-40B4-BE49-F238E27FC236}">
                        <a16:creationId xmlns:a16="http://schemas.microsoft.com/office/drawing/2014/main" id="{D75F9964-1B54-B9F6-6448-A89DF6442F20}"/>
                      </a:ext>
                    </a:extLst>
                  </p:cNvPr>
                  <p:cNvSpPr>
                    <a:spLocks noChangeArrowheads="1"/>
                  </p:cNvSpPr>
                  <p:nvPr/>
                </p:nvSpPr>
                <p:spPr bwMode="auto">
                  <a:xfrm>
                    <a:off x="720" y="3354"/>
                    <a:ext cx="192" cy="198"/>
                  </a:xfrm>
                  <a:custGeom>
                    <a:avLst/>
                    <a:gdLst>
                      <a:gd name="T0" fmla="*/ 1 w 21600"/>
                      <a:gd name="T1" fmla="*/ 0 h 21600"/>
                      <a:gd name="T2" fmla="*/ 0 w 21600"/>
                      <a:gd name="T3" fmla="*/ 1 h 21600"/>
                      <a:gd name="T4" fmla="*/ 1 w 21600"/>
                      <a:gd name="T5" fmla="*/ 0 h 21600"/>
                      <a:gd name="T6" fmla="*/ 1 w 21600"/>
                      <a:gd name="T7" fmla="*/ 1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grpSp>
            <p:sp>
              <p:nvSpPr>
                <p:cNvPr id="124" name="Text Box 42">
                  <a:extLst>
                    <a:ext uri="{FF2B5EF4-FFF2-40B4-BE49-F238E27FC236}">
                      <a16:creationId xmlns:a16="http://schemas.microsoft.com/office/drawing/2014/main" id="{8686BAE8-EA4F-6D68-48FF-3B7528DCF085}"/>
                    </a:ext>
                  </a:extLst>
                </p:cNvPr>
                <p:cNvSpPr txBox="1">
                  <a:spLocks noChangeArrowheads="1"/>
                </p:cNvSpPr>
                <p:nvPr/>
              </p:nvSpPr>
              <p:spPr bwMode="auto">
                <a:xfrm>
                  <a:off x="1562" y="258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 1</a:t>
                  </a:r>
                </a:p>
              </p:txBody>
            </p:sp>
            <p:sp>
              <p:nvSpPr>
                <p:cNvPr id="125" name="Text Box 43">
                  <a:extLst>
                    <a:ext uri="{FF2B5EF4-FFF2-40B4-BE49-F238E27FC236}">
                      <a16:creationId xmlns:a16="http://schemas.microsoft.com/office/drawing/2014/main" id="{713DEACD-1AE5-2B40-6652-7DDB5D237E78}"/>
                    </a:ext>
                  </a:extLst>
                </p:cNvPr>
                <p:cNvSpPr txBox="1">
                  <a:spLocks noChangeArrowheads="1"/>
                </p:cNvSpPr>
                <p:nvPr/>
              </p:nvSpPr>
              <p:spPr bwMode="auto">
                <a:xfrm>
                  <a:off x="1382" y="2370"/>
                  <a:ext cx="4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Brake Form</a:t>
                  </a:r>
                </a:p>
              </p:txBody>
            </p:sp>
          </p:grpSp>
          <p:sp>
            <p:nvSpPr>
              <p:cNvPr id="121" name="Text Box 44">
                <a:extLst>
                  <a:ext uri="{FF2B5EF4-FFF2-40B4-BE49-F238E27FC236}">
                    <a16:creationId xmlns:a16="http://schemas.microsoft.com/office/drawing/2014/main" id="{ACD686FA-5EF3-C034-7B39-F3EE1B56E0CD}"/>
                  </a:ext>
                </a:extLst>
              </p:cNvPr>
              <p:cNvSpPr txBox="1">
                <a:spLocks noChangeArrowheads="1"/>
              </p:cNvSpPr>
              <p:nvPr/>
            </p:nvSpPr>
            <p:spPr bwMode="auto">
              <a:xfrm>
                <a:off x="3253" y="2832"/>
                <a:ext cx="60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gn="l">
                  <a:lnSpc>
                    <a:spcPct val="100000"/>
                  </a:lnSpc>
                  <a:spcBef>
                    <a:spcPct val="0"/>
                  </a:spcBef>
                </a:pPr>
                <a:r>
                  <a:rPr lang="en-US" sz="800" b="0" dirty="0">
                    <a:solidFill>
                      <a:schemeClr val="tx1"/>
                    </a:solidFill>
                  </a:rPr>
                  <a:t>DOI = 20”</a:t>
                </a:r>
              </a:p>
              <a:p>
                <a:pPr algn="l">
                  <a:lnSpc>
                    <a:spcPct val="100000"/>
                  </a:lnSpc>
                  <a:spcBef>
                    <a:spcPct val="0"/>
                  </a:spcBef>
                </a:pPr>
                <a:r>
                  <a:rPr lang="en-US" sz="800" b="0" dirty="0">
                    <a:solidFill>
                      <a:schemeClr val="tx1"/>
                    </a:solidFill>
                  </a:rPr>
                  <a:t>C/O Time = 120’</a:t>
                </a:r>
              </a:p>
              <a:p>
                <a:pPr algn="l">
                  <a:lnSpc>
                    <a:spcPct val="100000"/>
                  </a:lnSpc>
                  <a:spcBef>
                    <a:spcPct val="0"/>
                  </a:spcBef>
                </a:pPr>
                <a:r>
                  <a:rPr lang="en-US" sz="800" b="0" dirty="0">
                    <a:solidFill>
                      <a:schemeClr val="tx1"/>
                    </a:solidFill>
                  </a:rPr>
                  <a:t>Uptime = 99%</a:t>
                </a:r>
              </a:p>
              <a:p>
                <a:pPr algn="l">
                  <a:lnSpc>
                    <a:spcPct val="100000"/>
                  </a:lnSpc>
                  <a:spcBef>
                    <a:spcPct val="0"/>
                  </a:spcBef>
                </a:pPr>
                <a:r>
                  <a:rPr lang="en-US" sz="800" b="0" dirty="0">
                    <a:solidFill>
                      <a:schemeClr val="tx1"/>
                    </a:solidFill>
                  </a:rPr>
                  <a:t>Quality = 85%</a:t>
                </a:r>
              </a:p>
            </p:txBody>
          </p:sp>
        </p:grpSp>
        <p:grpSp>
          <p:nvGrpSpPr>
            <p:cNvPr id="130" name="Group 45">
              <a:extLst>
                <a:ext uri="{FF2B5EF4-FFF2-40B4-BE49-F238E27FC236}">
                  <a16:creationId xmlns:a16="http://schemas.microsoft.com/office/drawing/2014/main" id="{A6623275-AE2C-723D-9DC6-20EAB74EED83}"/>
                </a:ext>
              </a:extLst>
            </p:cNvPr>
            <p:cNvGrpSpPr>
              <a:grpSpLocks/>
            </p:cNvGrpSpPr>
            <p:nvPr/>
          </p:nvGrpSpPr>
          <p:grpSpPr bwMode="auto">
            <a:xfrm>
              <a:off x="7080974" y="4182142"/>
              <a:ext cx="833438" cy="619125"/>
              <a:chOff x="4424" y="2385"/>
              <a:chExt cx="525" cy="390"/>
            </a:xfrm>
          </p:grpSpPr>
          <p:grpSp>
            <p:nvGrpSpPr>
              <p:cNvPr id="131" name="Group 46">
                <a:extLst>
                  <a:ext uri="{FF2B5EF4-FFF2-40B4-BE49-F238E27FC236}">
                    <a16:creationId xmlns:a16="http://schemas.microsoft.com/office/drawing/2014/main" id="{FDA6B816-97B5-A782-BB74-A1CAEA0B4B69}"/>
                  </a:ext>
                </a:extLst>
              </p:cNvPr>
              <p:cNvGrpSpPr>
                <a:grpSpLocks/>
              </p:cNvGrpSpPr>
              <p:nvPr/>
            </p:nvGrpSpPr>
            <p:grpSpPr bwMode="auto">
              <a:xfrm>
                <a:off x="4424" y="2410"/>
                <a:ext cx="525" cy="365"/>
                <a:chOff x="418" y="2981"/>
                <a:chExt cx="352" cy="365"/>
              </a:xfrm>
            </p:grpSpPr>
            <p:sp>
              <p:nvSpPr>
                <p:cNvPr id="133" name="Rectangle 47">
                  <a:extLst>
                    <a:ext uri="{FF2B5EF4-FFF2-40B4-BE49-F238E27FC236}">
                      <a16:creationId xmlns:a16="http://schemas.microsoft.com/office/drawing/2014/main" id="{DE3D37A8-3537-CECD-AA7F-93C018ED4B26}"/>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sp>
              <p:nvSpPr>
                <p:cNvPr id="134" name="Line 48">
                  <a:extLst>
                    <a:ext uri="{FF2B5EF4-FFF2-40B4-BE49-F238E27FC236}">
                      <a16:creationId xmlns:a16="http://schemas.microsoft.com/office/drawing/2014/main" id="{A02C4379-C21B-120A-ECE6-BF1AA4F4C0C4}"/>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sp>
            <p:nvSpPr>
              <p:cNvPr id="132" name="Text Box 49">
                <a:extLst>
                  <a:ext uri="{FF2B5EF4-FFF2-40B4-BE49-F238E27FC236}">
                    <a16:creationId xmlns:a16="http://schemas.microsoft.com/office/drawing/2014/main" id="{98BA7AB9-2972-A77F-0925-3A32F709A99E}"/>
                  </a:ext>
                </a:extLst>
              </p:cNvPr>
              <p:cNvSpPr txBox="1">
                <a:spLocks noChangeArrowheads="1"/>
              </p:cNvSpPr>
              <p:nvPr/>
            </p:nvSpPr>
            <p:spPr bwMode="auto">
              <a:xfrm>
                <a:off x="4442" y="2385"/>
                <a:ext cx="4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Ship</a:t>
                </a:r>
              </a:p>
            </p:txBody>
          </p:sp>
        </p:grpSp>
        <p:sp>
          <p:nvSpPr>
            <p:cNvPr id="135" name="Line 50">
              <a:extLst>
                <a:ext uri="{FF2B5EF4-FFF2-40B4-BE49-F238E27FC236}">
                  <a16:creationId xmlns:a16="http://schemas.microsoft.com/office/drawing/2014/main" id="{15DF91B8-ADA6-0135-2F84-73D655DF568E}"/>
                </a:ext>
              </a:extLst>
            </p:cNvPr>
            <p:cNvSpPr>
              <a:spLocks noChangeShapeType="1"/>
            </p:cNvSpPr>
            <p:nvPr/>
          </p:nvSpPr>
          <p:spPr bwMode="auto">
            <a:xfrm flipV="1">
              <a:off x="4320312" y="4529804"/>
              <a:ext cx="950912" cy="1270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136" name="Line 51">
              <a:extLst>
                <a:ext uri="{FF2B5EF4-FFF2-40B4-BE49-F238E27FC236}">
                  <a16:creationId xmlns:a16="http://schemas.microsoft.com/office/drawing/2014/main" id="{1BE2528D-D9F5-C1B4-663C-552CBCC68836}"/>
                </a:ext>
              </a:extLst>
            </p:cNvPr>
            <p:cNvSpPr>
              <a:spLocks noChangeShapeType="1"/>
            </p:cNvSpPr>
            <p:nvPr/>
          </p:nvSpPr>
          <p:spPr bwMode="auto">
            <a:xfrm flipV="1">
              <a:off x="6126887" y="4529804"/>
              <a:ext cx="950912" cy="1270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grpSp>
          <p:nvGrpSpPr>
            <p:cNvPr id="137" name="Group 52">
              <a:extLst>
                <a:ext uri="{FF2B5EF4-FFF2-40B4-BE49-F238E27FC236}">
                  <a16:creationId xmlns:a16="http://schemas.microsoft.com/office/drawing/2014/main" id="{21BA6E5A-2837-937B-A4BF-44391A93768F}"/>
                </a:ext>
              </a:extLst>
            </p:cNvPr>
            <p:cNvGrpSpPr>
              <a:grpSpLocks/>
            </p:cNvGrpSpPr>
            <p:nvPr/>
          </p:nvGrpSpPr>
          <p:grpSpPr bwMode="auto">
            <a:xfrm>
              <a:off x="676999" y="2375567"/>
              <a:ext cx="925513" cy="584200"/>
              <a:chOff x="435" y="1322"/>
              <a:chExt cx="583" cy="368"/>
            </a:xfrm>
          </p:grpSpPr>
          <p:grpSp>
            <p:nvGrpSpPr>
              <p:cNvPr id="138" name="Group 53">
                <a:extLst>
                  <a:ext uri="{FF2B5EF4-FFF2-40B4-BE49-F238E27FC236}">
                    <a16:creationId xmlns:a16="http://schemas.microsoft.com/office/drawing/2014/main" id="{1660B81B-EA04-8C2A-D431-842DB911B160}"/>
                  </a:ext>
                </a:extLst>
              </p:cNvPr>
              <p:cNvGrpSpPr>
                <a:grpSpLocks/>
              </p:cNvGrpSpPr>
              <p:nvPr/>
            </p:nvGrpSpPr>
            <p:grpSpPr bwMode="auto">
              <a:xfrm>
                <a:off x="474" y="1322"/>
                <a:ext cx="508" cy="348"/>
                <a:chOff x="536" y="1322"/>
                <a:chExt cx="446" cy="348"/>
              </a:xfrm>
            </p:grpSpPr>
            <p:sp>
              <p:nvSpPr>
                <p:cNvPr id="140" name="Rectangle 54">
                  <a:extLst>
                    <a:ext uri="{FF2B5EF4-FFF2-40B4-BE49-F238E27FC236}">
                      <a16:creationId xmlns:a16="http://schemas.microsoft.com/office/drawing/2014/main" id="{3A5F581E-E478-2076-2CE9-6C5D00D172C5}"/>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sp>
              <p:nvSpPr>
                <p:cNvPr id="141" name="Rectangle 55">
                  <a:extLst>
                    <a:ext uri="{FF2B5EF4-FFF2-40B4-BE49-F238E27FC236}">
                      <a16:creationId xmlns:a16="http://schemas.microsoft.com/office/drawing/2014/main" id="{97F6AEB7-04F2-7633-1521-AE16A6057040}"/>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p>
                  <a:pPr>
                    <a:lnSpc>
                      <a:spcPct val="100000"/>
                    </a:lnSpc>
                    <a:spcBef>
                      <a:spcPct val="0"/>
                    </a:spcBef>
                  </a:pPr>
                  <a:endParaRPr lang="en-US" sz="1400" b="0" dirty="0">
                    <a:solidFill>
                      <a:srgbClr val="FF0000"/>
                    </a:solidFill>
                  </a:endParaRPr>
                </a:p>
              </p:txBody>
            </p:sp>
            <p:sp>
              <p:nvSpPr>
                <p:cNvPr id="142" name="AutoShape 56">
                  <a:extLst>
                    <a:ext uri="{FF2B5EF4-FFF2-40B4-BE49-F238E27FC236}">
                      <a16:creationId xmlns:a16="http://schemas.microsoft.com/office/drawing/2014/main" id="{406CF750-D706-F49D-B6F4-2954C52937B9}"/>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p>
                  <a:endParaRPr lang="en-US" dirty="0"/>
                </a:p>
              </p:txBody>
            </p:sp>
            <p:sp>
              <p:nvSpPr>
                <p:cNvPr id="143" name="AutoShape 57">
                  <a:extLst>
                    <a:ext uri="{FF2B5EF4-FFF2-40B4-BE49-F238E27FC236}">
                      <a16:creationId xmlns:a16="http://schemas.microsoft.com/office/drawing/2014/main" id="{43B364C0-6704-A6F7-8B67-C10CD0DB39A3}"/>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p>
                  <a:endParaRPr lang="en-US" dirty="0"/>
                </a:p>
              </p:txBody>
            </p:sp>
            <p:sp>
              <p:nvSpPr>
                <p:cNvPr id="144" name="AutoShape 58">
                  <a:extLst>
                    <a:ext uri="{FF2B5EF4-FFF2-40B4-BE49-F238E27FC236}">
                      <a16:creationId xmlns:a16="http://schemas.microsoft.com/office/drawing/2014/main" id="{939D32E3-7F4C-3A03-0B75-7F639AB633D6}"/>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p>
                  <a:endParaRPr lang="en-US" dirty="0"/>
                </a:p>
              </p:txBody>
            </p:sp>
            <p:sp>
              <p:nvSpPr>
                <p:cNvPr id="145" name="Rectangle 59">
                  <a:extLst>
                    <a:ext uri="{FF2B5EF4-FFF2-40B4-BE49-F238E27FC236}">
                      <a16:creationId xmlns:a16="http://schemas.microsoft.com/office/drawing/2014/main" id="{D9EEE00D-ABF7-8B7C-6BF6-254CE9853F48}"/>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sp>
              <p:nvSpPr>
                <p:cNvPr id="146" name="Rectangle 60">
                  <a:extLst>
                    <a:ext uri="{FF2B5EF4-FFF2-40B4-BE49-F238E27FC236}">
                      <a16:creationId xmlns:a16="http://schemas.microsoft.com/office/drawing/2014/main" id="{6E76B4BC-E72D-A00E-4F0D-509A2961EF5E}"/>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sp>
              <p:nvSpPr>
                <p:cNvPr id="147" name="Rectangle 61">
                  <a:extLst>
                    <a:ext uri="{FF2B5EF4-FFF2-40B4-BE49-F238E27FC236}">
                      <a16:creationId xmlns:a16="http://schemas.microsoft.com/office/drawing/2014/main" id="{F8743D09-F7F9-A38B-1C1D-E1E961AE756E}"/>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grpSp>
          <p:sp>
            <p:nvSpPr>
              <p:cNvPr id="139" name="Text Box 62">
                <a:extLst>
                  <a:ext uri="{FF2B5EF4-FFF2-40B4-BE49-F238E27FC236}">
                    <a16:creationId xmlns:a16="http://schemas.microsoft.com/office/drawing/2014/main" id="{78BFCE4E-B553-96F8-AEB1-F20AFBA83139}"/>
                  </a:ext>
                </a:extLst>
              </p:cNvPr>
              <p:cNvSpPr txBox="1">
                <a:spLocks noChangeArrowheads="1"/>
              </p:cNvSpPr>
              <p:nvPr/>
            </p:nvSpPr>
            <p:spPr bwMode="auto">
              <a:xfrm>
                <a:off x="435" y="1494"/>
                <a:ext cx="5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90000"/>
                  </a:lnSpc>
                  <a:spcBef>
                    <a:spcPct val="0"/>
                  </a:spcBef>
                </a:pPr>
                <a:r>
                  <a:rPr lang="en-US" sz="800" b="0" dirty="0">
                    <a:solidFill>
                      <a:schemeClr val="tx1"/>
                    </a:solidFill>
                  </a:rPr>
                  <a:t>Acme</a:t>
                </a:r>
              </a:p>
              <a:p>
                <a:pPr>
                  <a:lnSpc>
                    <a:spcPct val="90000"/>
                  </a:lnSpc>
                  <a:spcBef>
                    <a:spcPct val="0"/>
                  </a:spcBef>
                </a:pPr>
                <a:r>
                  <a:rPr lang="en-US" sz="800" b="0" dirty="0">
                    <a:solidFill>
                      <a:schemeClr val="tx1"/>
                    </a:solidFill>
                  </a:rPr>
                  <a:t>Sheet Metal Co.</a:t>
                </a:r>
              </a:p>
            </p:txBody>
          </p:sp>
        </p:grpSp>
        <p:grpSp>
          <p:nvGrpSpPr>
            <p:cNvPr id="148" name="Group 63">
              <a:extLst>
                <a:ext uri="{FF2B5EF4-FFF2-40B4-BE49-F238E27FC236}">
                  <a16:creationId xmlns:a16="http://schemas.microsoft.com/office/drawing/2014/main" id="{C4A33379-8FAC-B9FD-C54A-A89AD20A131F}"/>
                </a:ext>
              </a:extLst>
            </p:cNvPr>
            <p:cNvGrpSpPr>
              <a:grpSpLocks/>
            </p:cNvGrpSpPr>
            <p:nvPr/>
          </p:nvGrpSpPr>
          <p:grpSpPr bwMode="auto">
            <a:xfrm>
              <a:off x="6936512" y="2335879"/>
              <a:ext cx="925512" cy="584200"/>
              <a:chOff x="435" y="1322"/>
              <a:chExt cx="583" cy="368"/>
            </a:xfrm>
          </p:grpSpPr>
          <p:grpSp>
            <p:nvGrpSpPr>
              <p:cNvPr id="149" name="Group 64">
                <a:extLst>
                  <a:ext uri="{FF2B5EF4-FFF2-40B4-BE49-F238E27FC236}">
                    <a16:creationId xmlns:a16="http://schemas.microsoft.com/office/drawing/2014/main" id="{F4DFDFA0-E3F2-F376-56D8-8438124239D9}"/>
                  </a:ext>
                </a:extLst>
              </p:cNvPr>
              <p:cNvGrpSpPr>
                <a:grpSpLocks/>
              </p:cNvGrpSpPr>
              <p:nvPr/>
            </p:nvGrpSpPr>
            <p:grpSpPr bwMode="auto">
              <a:xfrm>
                <a:off x="474" y="1322"/>
                <a:ext cx="508" cy="348"/>
                <a:chOff x="536" y="1322"/>
                <a:chExt cx="446" cy="348"/>
              </a:xfrm>
            </p:grpSpPr>
            <p:sp>
              <p:nvSpPr>
                <p:cNvPr id="151" name="Rectangle 65">
                  <a:extLst>
                    <a:ext uri="{FF2B5EF4-FFF2-40B4-BE49-F238E27FC236}">
                      <a16:creationId xmlns:a16="http://schemas.microsoft.com/office/drawing/2014/main" id="{A5AD0818-DA08-8A70-81AF-62EC3E3B52D3}"/>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sp>
              <p:nvSpPr>
                <p:cNvPr id="152" name="Rectangle 66">
                  <a:extLst>
                    <a:ext uri="{FF2B5EF4-FFF2-40B4-BE49-F238E27FC236}">
                      <a16:creationId xmlns:a16="http://schemas.microsoft.com/office/drawing/2014/main" id="{78B7142A-1CBB-D93F-2CE6-882ED7DC9F5B}"/>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p>
                  <a:pPr>
                    <a:lnSpc>
                      <a:spcPct val="100000"/>
                    </a:lnSpc>
                    <a:spcBef>
                      <a:spcPct val="0"/>
                    </a:spcBef>
                  </a:pPr>
                  <a:endParaRPr lang="en-US" sz="1400" b="0" dirty="0">
                    <a:solidFill>
                      <a:srgbClr val="FF0000"/>
                    </a:solidFill>
                  </a:endParaRPr>
                </a:p>
              </p:txBody>
            </p:sp>
            <p:sp>
              <p:nvSpPr>
                <p:cNvPr id="153" name="AutoShape 67">
                  <a:extLst>
                    <a:ext uri="{FF2B5EF4-FFF2-40B4-BE49-F238E27FC236}">
                      <a16:creationId xmlns:a16="http://schemas.microsoft.com/office/drawing/2014/main" id="{1752367B-4B30-52ED-BD13-13E95477CB9A}"/>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p>
                  <a:endParaRPr lang="en-US" dirty="0"/>
                </a:p>
              </p:txBody>
            </p:sp>
            <p:sp>
              <p:nvSpPr>
                <p:cNvPr id="154" name="AutoShape 68">
                  <a:extLst>
                    <a:ext uri="{FF2B5EF4-FFF2-40B4-BE49-F238E27FC236}">
                      <a16:creationId xmlns:a16="http://schemas.microsoft.com/office/drawing/2014/main" id="{96D6B424-5AE8-B716-77A7-1AA8D702900C}"/>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p>
                  <a:endParaRPr lang="en-US" dirty="0"/>
                </a:p>
              </p:txBody>
            </p:sp>
            <p:sp>
              <p:nvSpPr>
                <p:cNvPr id="155" name="AutoShape 69">
                  <a:extLst>
                    <a:ext uri="{FF2B5EF4-FFF2-40B4-BE49-F238E27FC236}">
                      <a16:creationId xmlns:a16="http://schemas.microsoft.com/office/drawing/2014/main" id="{43A4138B-3FC9-EF68-B8E7-CC5DA9441FD6}"/>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p>
                  <a:endParaRPr lang="en-US" dirty="0"/>
                </a:p>
              </p:txBody>
            </p:sp>
            <p:sp>
              <p:nvSpPr>
                <p:cNvPr id="156" name="Rectangle 70">
                  <a:extLst>
                    <a:ext uri="{FF2B5EF4-FFF2-40B4-BE49-F238E27FC236}">
                      <a16:creationId xmlns:a16="http://schemas.microsoft.com/office/drawing/2014/main" id="{157EE397-0608-8397-8BE6-8296BED471AD}"/>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sp>
              <p:nvSpPr>
                <p:cNvPr id="157" name="Rectangle 71">
                  <a:extLst>
                    <a:ext uri="{FF2B5EF4-FFF2-40B4-BE49-F238E27FC236}">
                      <a16:creationId xmlns:a16="http://schemas.microsoft.com/office/drawing/2014/main" id="{17EB03E2-A7EB-F758-6BDA-FC4AAFA04904}"/>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sp>
              <p:nvSpPr>
                <p:cNvPr id="158" name="Rectangle 72">
                  <a:extLst>
                    <a:ext uri="{FF2B5EF4-FFF2-40B4-BE49-F238E27FC236}">
                      <a16:creationId xmlns:a16="http://schemas.microsoft.com/office/drawing/2014/main" id="{B1D29DFD-14BA-380A-7990-EBD2B1935330}"/>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p>
                  <a:endParaRPr lang="en-US" dirty="0"/>
                </a:p>
              </p:txBody>
            </p:sp>
          </p:grpSp>
          <p:sp>
            <p:nvSpPr>
              <p:cNvPr id="150" name="Text Box 73">
                <a:extLst>
                  <a:ext uri="{FF2B5EF4-FFF2-40B4-BE49-F238E27FC236}">
                    <a16:creationId xmlns:a16="http://schemas.microsoft.com/office/drawing/2014/main" id="{08A87550-5997-12BB-BD91-82AC80E51C4F}"/>
                  </a:ext>
                </a:extLst>
              </p:cNvPr>
              <p:cNvSpPr txBox="1">
                <a:spLocks noChangeArrowheads="1"/>
              </p:cNvSpPr>
              <p:nvPr/>
            </p:nvSpPr>
            <p:spPr bwMode="auto">
              <a:xfrm>
                <a:off x="435" y="1494"/>
                <a:ext cx="5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90000"/>
                  </a:lnSpc>
                  <a:spcBef>
                    <a:spcPct val="0"/>
                  </a:spcBef>
                </a:pPr>
                <a:r>
                  <a:rPr lang="en-US" sz="800" b="0" dirty="0">
                    <a:solidFill>
                      <a:schemeClr val="tx1"/>
                    </a:solidFill>
                  </a:rPr>
                  <a:t>Ed’s Electrical Supply</a:t>
                </a:r>
              </a:p>
            </p:txBody>
          </p:sp>
        </p:grpSp>
        <p:sp>
          <p:nvSpPr>
            <p:cNvPr id="159" name="Text Box 74">
              <a:extLst>
                <a:ext uri="{FF2B5EF4-FFF2-40B4-BE49-F238E27FC236}">
                  <a16:creationId xmlns:a16="http://schemas.microsoft.com/office/drawing/2014/main" id="{050ABC04-30F5-C5CC-9EBC-87AC838E871E}"/>
                </a:ext>
              </a:extLst>
            </p:cNvPr>
            <p:cNvSpPr txBox="1">
              <a:spLocks noChangeArrowheads="1"/>
            </p:cNvSpPr>
            <p:nvPr/>
          </p:nvSpPr>
          <p:spPr bwMode="auto">
            <a:xfrm>
              <a:off x="3188424" y="1889792"/>
              <a:ext cx="281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sz="1400" dirty="0">
                  <a:solidFill>
                    <a:schemeClr val="tx1"/>
                  </a:solidFill>
                </a:rPr>
                <a:t>Mike’s Metal Enclosures (MME)</a:t>
              </a:r>
            </a:p>
          </p:txBody>
        </p:sp>
        <p:sp>
          <p:nvSpPr>
            <p:cNvPr id="160" name="AutoShape 75">
              <a:extLst>
                <a:ext uri="{FF2B5EF4-FFF2-40B4-BE49-F238E27FC236}">
                  <a16:creationId xmlns:a16="http://schemas.microsoft.com/office/drawing/2014/main" id="{BC0C4FFE-65B3-4035-A7D3-4BAD3F661889}"/>
                </a:ext>
              </a:extLst>
            </p:cNvPr>
            <p:cNvSpPr>
              <a:spLocks noChangeArrowheads="1"/>
            </p:cNvSpPr>
            <p:nvPr/>
          </p:nvSpPr>
          <p:spPr bwMode="auto">
            <a:xfrm>
              <a:off x="4596537" y="4347242"/>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p>
              <a:pPr>
                <a:lnSpc>
                  <a:spcPct val="100000"/>
                </a:lnSpc>
                <a:spcBef>
                  <a:spcPct val="30000"/>
                </a:spcBef>
              </a:pPr>
              <a:r>
                <a:rPr lang="en-US" sz="1200" dirty="0">
                  <a:solidFill>
                    <a:schemeClr val="tx1"/>
                  </a:solidFill>
                  <a:latin typeface="Times New Roman" pitchFamily="18" charset="0"/>
                </a:rPr>
                <a:t>I</a:t>
              </a:r>
            </a:p>
          </p:txBody>
        </p:sp>
        <p:sp>
          <p:nvSpPr>
            <p:cNvPr id="161" name="AutoShape 76">
              <a:extLst>
                <a:ext uri="{FF2B5EF4-FFF2-40B4-BE49-F238E27FC236}">
                  <a16:creationId xmlns:a16="http://schemas.microsoft.com/office/drawing/2014/main" id="{BE1C3C85-1508-D9F8-8EF3-EA27398B4FC7}"/>
                </a:ext>
              </a:extLst>
            </p:cNvPr>
            <p:cNvSpPr>
              <a:spLocks noChangeArrowheads="1"/>
            </p:cNvSpPr>
            <p:nvPr/>
          </p:nvSpPr>
          <p:spPr bwMode="auto">
            <a:xfrm>
              <a:off x="6403112" y="4347242"/>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p>
              <a:pPr>
                <a:lnSpc>
                  <a:spcPct val="100000"/>
                </a:lnSpc>
                <a:spcBef>
                  <a:spcPct val="30000"/>
                </a:spcBef>
              </a:pPr>
              <a:r>
                <a:rPr lang="en-US" sz="1200" dirty="0">
                  <a:solidFill>
                    <a:schemeClr val="tx1"/>
                  </a:solidFill>
                  <a:latin typeface="Times New Roman" pitchFamily="18" charset="0"/>
                </a:rPr>
                <a:t>I</a:t>
              </a:r>
            </a:p>
          </p:txBody>
        </p:sp>
        <p:sp>
          <p:nvSpPr>
            <p:cNvPr id="162" name="Line 77">
              <a:extLst>
                <a:ext uri="{FF2B5EF4-FFF2-40B4-BE49-F238E27FC236}">
                  <a16:creationId xmlns:a16="http://schemas.microsoft.com/office/drawing/2014/main" id="{64D9F882-56DE-4613-84D5-2324C0306B1F}"/>
                </a:ext>
              </a:extLst>
            </p:cNvPr>
            <p:cNvSpPr>
              <a:spLocks noChangeShapeType="1"/>
            </p:cNvSpPr>
            <p:nvPr/>
          </p:nvSpPr>
          <p:spPr bwMode="auto">
            <a:xfrm flipV="1">
              <a:off x="1231037" y="4531392"/>
              <a:ext cx="425450"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163" name="AutoShape 78">
              <a:extLst>
                <a:ext uri="{FF2B5EF4-FFF2-40B4-BE49-F238E27FC236}">
                  <a16:creationId xmlns:a16="http://schemas.microsoft.com/office/drawing/2014/main" id="{B396EFCB-E99C-3B6D-0EC0-5DC718C7A6AD}"/>
                </a:ext>
              </a:extLst>
            </p:cNvPr>
            <p:cNvSpPr>
              <a:spLocks noChangeArrowheads="1"/>
            </p:cNvSpPr>
            <p:nvPr/>
          </p:nvSpPr>
          <p:spPr bwMode="auto">
            <a:xfrm>
              <a:off x="977037" y="4340892"/>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p>
              <a:pPr>
                <a:lnSpc>
                  <a:spcPct val="100000"/>
                </a:lnSpc>
                <a:spcBef>
                  <a:spcPct val="30000"/>
                </a:spcBef>
              </a:pPr>
              <a:r>
                <a:rPr lang="en-US" sz="1200" dirty="0">
                  <a:solidFill>
                    <a:schemeClr val="tx1"/>
                  </a:solidFill>
                  <a:latin typeface="Times New Roman" pitchFamily="18" charset="0"/>
                </a:rPr>
                <a:t>I</a:t>
              </a:r>
            </a:p>
          </p:txBody>
        </p:sp>
        <p:grpSp>
          <p:nvGrpSpPr>
            <p:cNvPr id="164" name="Group 80">
              <a:extLst>
                <a:ext uri="{FF2B5EF4-FFF2-40B4-BE49-F238E27FC236}">
                  <a16:creationId xmlns:a16="http://schemas.microsoft.com/office/drawing/2014/main" id="{4FCCF1BE-E730-4BD3-6A7B-C6341854A417}"/>
                </a:ext>
              </a:extLst>
            </p:cNvPr>
            <p:cNvGrpSpPr>
              <a:grpSpLocks/>
            </p:cNvGrpSpPr>
            <p:nvPr/>
          </p:nvGrpSpPr>
          <p:grpSpPr bwMode="auto">
            <a:xfrm>
              <a:off x="840512" y="3418554"/>
              <a:ext cx="593725" cy="409575"/>
              <a:chOff x="513" y="2099"/>
              <a:chExt cx="374" cy="258"/>
            </a:xfrm>
          </p:grpSpPr>
          <p:grpSp>
            <p:nvGrpSpPr>
              <p:cNvPr id="165" name="Group 81">
                <a:extLst>
                  <a:ext uri="{FF2B5EF4-FFF2-40B4-BE49-F238E27FC236}">
                    <a16:creationId xmlns:a16="http://schemas.microsoft.com/office/drawing/2014/main" id="{FCBB938B-37BD-F247-4576-5055437ED49C}"/>
                  </a:ext>
                </a:extLst>
              </p:cNvPr>
              <p:cNvGrpSpPr>
                <a:grpSpLocks/>
              </p:cNvGrpSpPr>
              <p:nvPr/>
            </p:nvGrpSpPr>
            <p:grpSpPr bwMode="auto">
              <a:xfrm>
                <a:off x="550" y="2121"/>
                <a:ext cx="337" cy="236"/>
                <a:chOff x="536" y="3744"/>
                <a:chExt cx="415" cy="261"/>
              </a:xfrm>
            </p:grpSpPr>
            <p:sp>
              <p:nvSpPr>
                <p:cNvPr id="167" name="Rectangle 82">
                  <a:extLst>
                    <a:ext uri="{FF2B5EF4-FFF2-40B4-BE49-F238E27FC236}">
                      <a16:creationId xmlns:a16="http://schemas.microsoft.com/office/drawing/2014/main" id="{DD85228A-7989-CC59-F2FF-1059304859C7}"/>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p>
                  <a:endParaRPr lang="en-US" dirty="0"/>
                </a:p>
              </p:txBody>
            </p:sp>
            <p:sp>
              <p:nvSpPr>
                <p:cNvPr id="168" name="Rectangle 83">
                  <a:extLst>
                    <a:ext uri="{FF2B5EF4-FFF2-40B4-BE49-F238E27FC236}">
                      <a16:creationId xmlns:a16="http://schemas.microsoft.com/office/drawing/2014/main" id="{58D14B1A-E078-FE84-4F25-1462855690A7}"/>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p>
                  <a:endParaRPr lang="en-US" dirty="0"/>
                </a:p>
              </p:txBody>
            </p:sp>
            <p:sp>
              <p:nvSpPr>
                <p:cNvPr id="169" name="Oval 84">
                  <a:extLst>
                    <a:ext uri="{FF2B5EF4-FFF2-40B4-BE49-F238E27FC236}">
                      <a16:creationId xmlns:a16="http://schemas.microsoft.com/office/drawing/2014/main" id="{46F0236A-CA66-90D9-92D8-08C1BC86C548}"/>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p>
                  <a:endParaRPr lang="en-US" dirty="0"/>
                </a:p>
              </p:txBody>
            </p:sp>
            <p:sp>
              <p:nvSpPr>
                <p:cNvPr id="170" name="Oval 85">
                  <a:extLst>
                    <a:ext uri="{FF2B5EF4-FFF2-40B4-BE49-F238E27FC236}">
                      <a16:creationId xmlns:a16="http://schemas.microsoft.com/office/drawing/2014/main" id="{692397EF-2E64-D18A-701C-941AE5023DC6}"/>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p>
                  <a:endParaRPr lang="en-US" dirty="0"/>
                </a:p>
              </p:txBody>
            </p:sp>
          </p:grpSp>
          <p:sp>
            <p:nvSpPr>
              <p:cNvPr id="166" name="Text Box 86">
                <a:extLst>
                  <a:ext uri="{FF2B5EF4-FFF2-40B4-BE49-F238E27FC236}">
                    <a16:creationId xmlns:a16="http://schemas.microsoft.com/office/drawing/2014/main" id="{4DC840E3-6B36-1BF9-C13C-24C9B0E9B4BA}"/>
                  </a:ext>
                </a:extLst>
              </p:cNvPr>
              <p:cNvSpPr txBox="1">
                <a:spLocks noChangeArrowheads="1"/>
              </p:cNvSpPr>
              <p:nvPr/>
            </p:nvSpPr>
            <p:spPr bwMode="auto">
              <a:xfrm>
                <a:off x="513" y="2099"/>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0"/>
                  </a:spcBef>
                </a:pPr>
                <a:r>
                  <a:rPr lang="en-US" sz="800" b="0" dirty="0">
                    <a:solidFill>
                      <a:schemeClr val="tx1"/>
                    </a:solidFill>
                  </a:rPr>
                  <a:t>1X</a:t>
                </a:r>
              </a:p>
              <a:p>
                <a:pPr>
                  <a:lnSpc>
                    <a:spcPct val="100000"/>
                  </a:lnSpc>
                  <a:spcBef>
                    <a:spcPct val="0"/>
                  </a:spcBef>
                </a:pPr>
                <a:r>
                  <a:rPr lang="en-US" sz="800" b="0" dirty="0">
                    <a:solidFill>
                      <a:schemeClr val="tx1"/>
                    </a:solidFill>
                  </a:rPr>
                  <a:t>Week</a:t>
                </a:r>
              </a:p>
            </p:txBody>
          </p:sp>
        </p:grpSp>
        <p:grpSp>
          <p:nvGrpSpPr>
            <p:cNvPr id="171" name="Group 87">
              <a:extLst>
                <a:ext uri="{FF2B5EF4-FFF2-40B4-BE49-F238E27FC236}">
                  <a16:creationId xmlns:a16="http://schemas.microsoft.com/office/drawing/2014/main" id="{AE2746B9-984A-0BF8-0E07-D333AFEA61A2}"/>
                </a:ext>
              </a:extLst>
            </p:cNvPr>
            <p:cNvGrpSpPr>
              <a:grpSpLocks/>
            </p:cNvGrpSpPr>
            <p:nvPr/>
          </p:nvGrpSpPr>
          <p:grpSpPr bwMode="auto">
            <a:xfrm>
              <a:off x="7147649" y="3578892"/>
              <a:ext cx="593725" cy="409575"/>
              <a:chOff x="513" y="2099"/>
              <a:chExt cx="374" cy="258"/>
            </a:xfrm>
          </p:grpSpPr>
          <p:grpSp>
            <p:nvGrpSpPr>
              <p:cNvPr id="172" name="Group 88">
                <a:extLst>
                  <a:ext uri="{FF2B5EF4-FFF2-40B4-BE49-F238E27FC236}">
                    <a16:creationId xmlns:a16="http://schemas.microsoft.com/office/drawing/2014/main" id="{E8EEEAA4-43D7-D4A0-27C3-3682F9DCDB3F}"/>
                  </a:ext>
                </a:extLst>
              </p:cNvPr>
              <p:cNvGrpSpPr>
                <a:grpSpLocks/>
              </p:cNvGrpSpPr>
              <p:nvPr/>
            </p:nvGrpSpPr>
            <p:grpSpPr bwMode="auto">
              <a:xfrm>
                <a:off x="550" y="2121"/>
                <a:ext cx="337" cy="236"/>
                <a:chOff x="536" y="3744"/>
                <a:chExt cx="415" cy="261"/>
              </a:xfrm>
            </p:grpSpPr>
            <p:sp>
              <p:nvSpPr>
                <p:cNvPr id="174" name="Rectangle 89">
                  <a:extLst>
                    <a:ext uri="{FF2B5EF4-FFF2-40B4-BE49-F238E27FC236}">
                      <a16:creationId xmlns:a16="http://schemas.microsoft.com/office/drawing/2014/main" id="{CA7B384E-5E30-C06C-DF05-04BF47615B79}"/>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p>
                  <a:endParaRPr lang="en-US" dirty="0"/>
                </a:p>
              </p:txBody>
            </p:sp>
            <p:sp>
              <p:nvSpPr>
                <p:cNvPr id="175" name="Rectangle 90">
                  <a:extLst>
                    <a:ext uri="{FF2B5EF4-FFF2-40B4-BE49-F238E27FC236}">
                      <a16:creationId xmlns:a16="http://schemas.microsoft.com/office/drawing/2014/main" id="{ADCE32E3-FE81-C4DA-A05D-A3897D17AF89}"/>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p>
                  <a:endParaRPr lang="en-US" dirty="0"/>
                </a:p>
              </p:txBody>
            </p:sp>
            <p:sp>
              <p:nvSpPr>
                <p:cNvPr id="176" name="Oval 91">
                  <a:extLst>
                    <a:ext uri="{FF2B5EF4-FFF2-40B4-BE49-F238E27FC236}">
                      <a16:creationId xmlns:a16="http://schemas.microsoft.com/office/drawing/2014/main" id="{4554C1D5-EB43-1D57-7937-92B64DDFAB23}"/>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p>
                  <a:endParaRPr lang="en-US" dirty="0"/>
                </a:p>
              </p:txBody>
            </p:sp>
            <p:sp>
              <p:nvSpPr>
                <p:cNvPr id="177" name="Oval 92">
                  <a:extLst>
                    <a:ext uri="{FF2B5EF4-FFF2-40B4-BE49-F238E27FC236}">
                      <a16:creationId xmlns:a16="http://schemas.microsoft.com/office/drawing/2014/main" id="{7374E493-D0D4-5823-7AC2-5F9500C41092}"/>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p>
                  <a:endParaRPr lang="en-US" dirty="0"/>
                </a:p>
              </p:txBody>
            </p:sp>
          </p:grpSp>
          <p:sp>
            <p:nvSpPr>
              <p:cNvPr id="173" name="Text Box 93">
                <a:extLst>
                  <a:ext uri="{FF2B5EF4-FFF2-40B4-BE49-F238E27FC236}">
                    <a16:creationId xmlns:a16="http://schemas.microsoft.com/office/drawing/2014/main" id="{E8397620-D0C2-440B-FC9E-6F524DE57CE1}"/>
                  </a:ext>
                </a:extLst>
              </p:cNvPr>
              <p:cNvSpPr txBox="1">
                <a:spLocks noChangeArrowheads="1"/>
              </p:cNvSpPr>
              <p:nvPr/>
            </p:nvSpPr>
            <p:spPr bwMode="auto">
              <a:xfrm>
                <a:off x="513" y="2099"/>
                <a:ext cx="30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0"/>
                  </a:spcBef>
                </a:pPr>
                <a:r>
                  <a:rPr lang="en-US" sz="800" b="0" dirty="0">
                    <a:solidFill>
                      <a:schemeClr val="tx1"/>
                    </a:solidFill>
                  </a:rPr>
                  <a:t>Daily</a:t>
                </a:r>
              </a:p>
            </p:txBody>
          </p:sp>
        </p:grpSp>
        <p:grpSp>
          <p:nvGrpSpPr>
            <p:cNvPr id="178" name="Group 94">
              <a:extLst>
                <a:ext uri="{FF2B5EF4-FFF2-40B4-BE49-F238E27FC236}">
                  <a16:creationId xmlns:a16="http://schemas.microsoft.com/office/drawing/2014/main" id="{0ECDD948-EF1A-F934-2614-320DD550E379}"/>
                </a:ext>
              </a:extLst>
            </p:cNvPr>
            <p:cNvGrpSpPr>
              <a:grpSpLocks/>
            </p:cNvGrpSpPr>
            <p:nvPr/>
          </p:nvGrpSpPr>
          <p:grpSpPr bwMode="auto">
            <a:xfrm>
              <a:off x="5525224" y="2901029"/>
              <a:ext cx="1741488" cy="582613"/>
              <a:chOff x="3444" y="1578"/>
              <a:chExt cx="1097" cy="367"/>
            </a:xfrm>
          </p:grpSpPr>
          <p:sp>
            <p:nvSpPr>
              <p:cNvPr id="179" name="Rectangle 95">
                <a:extLst>
                  <a:ext uri="{FF2B5EF4-FFF2-40B4-BE49-F238E27FC236}">
                    <a16:creationId xmlns:a16="http://schemas.microsoft.com/office/drawing/2014/main" id="{4CB2F640-F969-57B6-2650-664321E4C015}"/>
                  </a:ext>
                </a:extLst>
              </p:cNvPr>
              <p:cNvSpPr>
                <a:spLocks noChangeArrowheads="1"/>
              </p:cNvSpPr>
              <p:nvPr/>
            </p:nvSpPr>
            <p:spPr bwMode="auto">
              <a:xfrm>
                <a:off x="3503" y="1604"/>
                <a:ext cx="984" cy="341"/>
              </a:xfrm>
              <a:prstGeom prst="rect">
                <a:avLst/>
              </a:prstGeom>
              <a:solidFill>
                <a:schemeClr val="bg1"/>
              </a:solidFill>
              <a:ln w="12700" cap="sq">
                <a:solidFill>
                  <a:schemeClr val="tx1"/>
                </a:solidFill>
                <a:miter lim="800000"/>
                <a:headEnd type="none" w="sm" len="sm"/>
                <a:tailEnd type="none" w="sm" len="sm"/>
              </a:ln>
            </p:spPr>
            <p:txBody>
              <a:bodyPr wrap="none" anchor="ctr"/>
              <a:lstStyle/>
              <a:p>
                <a:endParaRPr lang="en-US" dirty="0"/>
              </a:p>
            </p:txBody>
          </p:sp>
          <p:sp>
            <p:nvSpPr>
              <p:cNvPr id="180" name="Text Box 96">
                <a:extLst>
                  <a:ext uri="{FF2B5EF4-FFF2-40B4-BE49-F238E27FC236}">
                    <a16:creationId xmlns:a16="http://schemas.microsoft.com/office/drawing/2014/main" id="{D3052948-88A2-EF46-F24D-CB2F51AAE28A}"/>
                  </a:ext>
                </a:extLst>
              </p:cNvPr>
              <p:cNvSpPr txBox="1">
                <a:spLocks noChangeArrowheads="1"/>
              </p:cNvSpPr>
              <p:nvPr/>
            </p:nvSpPr>
            <p:spPr bwMode="auto">
              <a:xfrm>
                <a:off x="3444" y="1689"/>
                <a:ext cx="63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5000"/>
                  </a:spcBef>
                </a:pPr>
                <a:r>
                  <a:rPr lang="en-US" sz="800" b="0" dirty="0">
                    <a:solidFill>
                      <a:schemeClr val="tx1"/>
                    </a:solidFill>
                  </a:rPr>
                  <a:t>27,000 Seconds</a:t>
                </a:r>
              </a:p>
              <a:p>
                <a:pPr>
                  <a:lnSpc>
                    <a:spcPct val="100000"/>
                  </a:lnSpc>
                  <a:spcBef>
                    <a:spcPct val="35000"/>
                  </a:spcBef>
                </a:pPr>
                <a:r>
                  <a:rPr lang="en-US" sz="800" b="0" dirty="0">
                    <a:solidFill>
                      <a:schemeClr val="tx1"/>
                    </a:solidFill>
                  </a:rPr>
                  <a:t>1,500 Pieces</a:t>
                </a:r>
              </a:p>
            </p:txBody>
          </p:sp>
          <p:sp>
            <p:nvSpPr>
              <p:cNvPr id="181" name="Line 97">
                <a:extLst>
                  <a:ext uri="{FF2B5EF4-FFF2-40B4-BE49-F238E27FC236}">
                    <a16:creationId xmlns:a16="http://schemas.microsoft.com/office/drawing/2014/main" id="{1308CE7C-8657-D1DA-589A-4BA137D36300}"/>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sp>
            <p:nvSpPr>
              <p:cNvPr id="182" name="Rectangle 98">
                <a:extLst>
                  <a:ext uri="{FF2B5EF4-FFF2-40B4-BE49-F238E27FC236}">
                    <a16:creationId xmlns:a16="http://schemas.microsoft.com/office/drawing/2014/main" id="{90D20053-0683-519E-A9C7-9865734A1A9F}"/>
                  </a:ext>
                </a:extLst>
              </p:cNvPr>
              <p:cNvSpPr>
                <a:spLocks noChangeArrowheads="1"/>
              </p:cNvSpPr>
              <p:nvPr/>
            </p:nvSpPr>
            <p:spPr bwMode="auto">
              <a:xfrm>
                <a:off x="3729" y="1578"/>
                <a:ext cx="52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1200" dirty="0">
                    <a:solidFill>
                      <a:schemeClr val="tx1"/>
                    </a:solidFill>
                  </a:rPr>
                  <a:t>Takt Time</a:t>
                </a:r>
              </a:p>
            </p:txBody>
          </p:sp>
          <p:sp>
            <p:nvSpPr>
              <p:cNvPr id="183" name="Text Box 99">
                <a:extLst>
                  <a:ext uri="{FF2B5EF4-FFF2-40B4-BE49-F238E27FC236}">
                    <a16:creationId xmlns:a16="http://schemas.microsoft.com/office/drawing/2014/main" id="{CE48CF32-249C-2D37-1867-C4A61643A0C8}"/>
                  </a:ext>
                </a:extLst>
              </p:cNvPr>
              <p:cNvSpPr txBox="1">
                <a:spLocks noChangeArrowheads="1"/>
              </p:cNvSpPr>
              <p:nvPr/>
            </p:nvSpPr>
            <p:spPr bwMode="auto">
              <a:xfrm>
                <a:off x="3949" y="1713"/>
                <a:ext cx="59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gn="l">
                  <a:lnSpc>
                    <a:spcPct val="100000"/>
                  </a:lnSpc>
                  <a:spcBef>
                    <a:spcPct val="0"/>
                  </a:spcBef>
                </a:pPr>
                <a:r>
                  <a:rPr lang="en-US" sz="800" b="0" dirty="0">
                    <a:solidFill>
                      <a:schemeClr val="tx1"/>
                    </a:solidFill>
                  </a:rPr>
                  <a:t>= </a:t>
                </a:r>
                <a:r>
                  <a:rPr lang="en-US" sz="800" dirty="0">
                    <a:solidFill>
                      <a:srgbClr val="FF0000"/>
                    </a:solidFill>
                  </a:rPr>
                  <a:t>18 seconds</a:t>
                </a:r>
              </a:p>
            </p:txBody>
          </p:sp>
        </p:grpSp>
        <p:grpSp>
          <p:nvGrpSpPr>
            <p:cNvPr id="184" name="Group 100">
              <a:extLst>
                <a:ext uri="{FF2B5EF4-FFF2-40B4-BE49-F238E27FC236}">
                  <a16:creationId xmlns:a16="http://schemas.microsoft.com/office/drawing/2014/main" id="{7706C821-4919-BB9A-83D0-3FD14F17E86A}"/>
                </a:ext>
              </a:extLst>
            </p:cNvPr>
            <p:cNvGrpSpPr>
              <a:grpSpLocks/>
            </p:cNvGrpSpPr>
            <p:nvPr/>
          </p:nvGrpSpPr>
          <p:grpSpPr bwMode="auto">
            <a:xfrm>
              <a:off x="942112" y="5780754"/>
              <a:ext cx="6276975" cy="422275"/>
              <a:chOff x="557" y="3392"/>
              <a:chExt cx="3954" cy="266"/>
            </a:xfrm>
          </p:grpSpPr>
          <p:grpSp>
            <p:nvGrpSpPr>
              <p:cNvPr id="185" name="Group 101">
                <a:extLst>
                  <a:ext uri="{FF2B5EF4-FFF2-40B4-BE49-F238E27FC236}">
                    <a16:creationId xmlns:a16="http://schemas.microsoft.com/office/drawing/2014/main" id="{8B30A369-D251-305B-586F-D90C85B365FB}"/>
                  </a:ext>
                </a:extLst>
              </p:cNvPr>
              <p:cNvGrpSpPr>
                <a:grpSpLocks/>
              </p:cNvGrpSpPr>
              <p:nvPr/>
            </p:nvGrpSpPr>
            <p:grpSpPr bwMode="auto">
              <a:xfrm>
                <a:off x="587" y="3500"/>
                <a:ext cx="3916" cy="141"/>
                <a:chOff x="577" y="3222"/>
                <a:chExt cx="3916" cy="141"/>
              </a:xfrm>
            </p:grpSpPr>
            <p:sp>
              <p:nvSpPr>
                <p:cNvPr id="193" name="Line 102">
                  <a:extLst>
                    <a:ext uri="{FF2B5EF4-FFF2-40B4-BE49-F238E27FC236}">
                      <a16:creationId xmlns:a16="http://schemas.microsoft.com/office/drawing/2014/main" id="{4B71E723-0774-4A33-44A2-B1352C529F26}"/>
                    </a:ext>
                  </a:extLst>
                </p:cNvPr>
                <p:cNvSpPr>
                  <a:spLocks noChangeShapeType="1"/>
                </p:cNvSpPr>
                <p:nvPr/>
              </p:nvSpPr>
              <p:spPr bwMode="auto">
                <a:xfrm flipV="1">
                  <a:off x="577" y="3226"/>
                  <a:ext cx="4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4" name="Line 103">
                  <a:extLst>
                    <a:ext uri="{FF2B5EF4-FFF2-40B4-BE49-F238E27FC236}">
                      <a16:creationId xmlns:a16="http://schemas.microsoft.com/office/drawing/2014/main" id="{635BE900-3234-834B-9391-29BA5B6F6B61}"/>
                    </a:ext>
                  </a:extLst>
                </p:cNvPr>
                <p:cNvSpPr>
                  <a:spLocks noChangeShapeType="1"/>
                </p:cNvSpPr>
                <p:nvPr/>
              </p:nvSpPr>
              <p:spPr bwMode="auto">
                <a:xfrm>
                  <a:off x="1014"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5" name="Line 104">
                  <a:extLst>
                    <a:ext uri="{FF2B5EF4-FFF2-40B4-BE49-F238E27FC236}">
                      <a16:creationId xmlns:a16="http://schemas.microsoft.com/office/drawing/2014/main" id="{1E761FC8-B4C1-05E9-84E4-1065426B3688}"/>
                    </a:ext>
                  </a:extLst>
                </p:cNvPr>
                <p:cNvSpPr>
                  <a:spLocks noChangeShapeType="1"/>
                </p:cNvSpPr>
                <p:nvPr/>
              </p:nvSpPr>
              <p:spPr bwMode="auto">
                <a:xfrm flipV="1">
                  <a:off x="1009" y="3362"/>
                  <a:ext cx="5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6" name="Line 105">
                  <a:extLst>
                    <a:ext uri="{FF2B5EF4-FFF2-40B4-BE49-F238E27FC236}">
                      <a16:creationId xmlns:a16="http://schemas.microsoft.com/office/drawing/2014/main" id="{DF6AE5FB-E89C-EF70-C0DC-B4E5914F5A09}"/>
                    </a:ext>
                  </a:extLst>
                </p:cNvPr>
                <p:cNvSpPr>
                  <a:spLocks noChangeShapeType="1"/>
                </p:cNvSpPr>
                <p:nvPr/>
              </p:nvSpPr>
              <p:spPr bwMode="auto">
                <a:xfrm>
                  <a:off x="1536"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7" name="Line 106">
                  <a:extLst>
                    <a:ext uri="{FF2B5EF4-FFF2-40B4-BE49-F238E27FC236}">
                      <a16:creationId xmlns:a16="http://schemas.microsoft.com/office/drawing/2014/main" id="{DBFB1C6F-9A87-A90B-FB08-F69186BDEF82}"/>
                    </a:ext>
                  </a:extLst>
                </p:cNvPr>
                <p:cNvSpPr>
                  <a:spLocks noChangeShapeType="1"/>
                </p:cNvSpPr>
                <p:nvPr/>
              </p:nvSpPr>
              <p:spPr bwMode="auto">
                <a:xfrm>
                  <a:off x="2148"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8" name="Line 107">
                  <a:extLst>
                    <a:ext uri="{FF2B5EF4-FFF2-40B4-BE49-F238E27FC236}">
                      <a16:creationId xmlns:a16="http://schemas.microsoft.com/office/drawing/2014/main" id="{9AAD540F-D330-ED05-FC10-A64D102A6F0E}"/>
                    </a:ext>
                  </a:extLst>
                </p:cNvPr>
                <p:cNvSpPr>
                  <a:spLocks noChangeShapeType="1"/>
                </p:cNvSpPr>
                <p:nvPr/>
              </p:nvSpPr>
              <p:spPr bwMode="auto">
                <a:xfrm>
                  <a:off x="1538" y="3226"/>
                  <a:ext cx="606"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99" name="Line 108">
                  <a:extLst>
                    <a:ext uri="{FF2B5EF4-FFF2-40B4-BE49-F238E27FC236}">
                      <a16:creationId xmlns:a16="http://schemas.microsoft.com/office/drawing/2014/main" id="{99A11E56-A522-DD87-3663-64552BB5D259}"/>
                    </a:ext>
                  </a:extLst>
                </p:cNvPr>
                <p:cNvSpPr>
                  <a:spLocks noChangeShapeType="1"/>
                </p:cNvSpPr>
                <p:nvPr/>
              </p:nvSpPr>
              <p:spPr bwMode="auto">
                <a:xfrm>
                  <a:off x="2673"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00" name="Line 109">
                  <a:extLst>
                    <a:ext uri="{FF2B5EF4-FFF2-40B4-BE49-F238E27FC236}">
                      <a16:creationId xmlns:a16="http://schemas.microsoft.com/office/drawing/2014/main" id="{4CAF12A3-67C2-4E38-AD54-3F4481E312A1}"/>
                    </a:ext>
                  </a:extLst>
                </p:cNvPr>
                <p:cNvSpPr>
                  <a:spLocks noChangeShapeType="1"/>
                </p:cNvSpPr>
                <p:nvPr/>
              </p:nvSpPr>
              <p:spPr bwMode="auto">
                <a:xfrm>
                  <a:off x="3285"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01" name="Line 110">
                  <a:extLst>
                    <a:ext uri="{FF2B5EF4-FFF2-40B4-BE49-F238E27FC236}">
                      <a16:creationId xmlns:a16="http://schemas.microsoft.com/office/drawing/2014/main" id="{1A174933-EB56-B1CD-95EF-4BEDC1D4A2A6}"/>
                    </a:ext>
                  </a:extLst>
                </p:cNvPr>
                <p:cNvSpPr>
                  <a:spLocks noChangeShapeType="1"/>
                </p:cNvSpPr>
                <p:nvPr/>
              </p:nvSpPr>
              <p:spPr bwMode="auto">
                <a:xfrm>
                  <a:off x="3813"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02" name="Line 111">
                  <a:extLst>
                    <a:ext uri="{FF2B5EF4-FFF2-40B4-BE49-F238E27FC236}">
                      <a16:creationId xmlns:a16="http://schemas.microsoft.com/office/drawing/2014/main" id="{95822889-AEFE-04D0-06D6-A4830041AE13}"/>
                    </a:ext>
                  </a:extLst>
                </p:cNvPr>
                <p:cNvSpPr>
                  <a:spLocks noChangeShapeType="1"/>
                </p:cNvSpPr>
                <p:nvPr/>
              </p:nvSpPr>
              <p:spPr bwMode="auto">
                <a:xfrm flipV="1">
                  <a:off x="2146" y="3362"/>
                  <a:ext cx="5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03" name="Line 112">
                  <a:extLst>
                    <a:ext uri="{FF2B5EF4-FFF2-40B4-BE49-F238E27FC236}">
                      <a16:creationId xmlns:a16="http://schemas.microsoft.com/office/drawing/2014/main" id="{3F51E0F4-145C-F45F-3C26-1ACBF3BB0DBF}"/>
                    </a:ext>
                  </a:extLst>
                </p:cNvPr>
                <p:cNvSpPr>
                  <a:spLocks noChangeShapeType="1"/>
                </p:cNvSpPr>
                <p:nvPr/>
              </p:nvSpPr>
              <p:spPr bwMode="auto">
                <a:xfrm flipV="1">
                  <a:off x="3289" y="3362"/>
                  <a:ext cx="5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04" name="Line 113">
                  <a:extLst>
                    <a:ext uri="{FF2B5EF4-FFF2-40B4-BE49-F238E27FC236}">
                      <a16:creationId xmlns:a16="http://schemas.microsoft.com/office/drawing/2014/main" id="{55544084-CEA4-D5DE-DE7D-7DE4F2F4EC6D}"/>
                    </a:ext>
                  </a:extLst>
                </p:cNvPr>
                <p:cNvSpPr>
                  <a:spLocks noChangeShapeType="1"/>
                </p:cNvSpPr>
                <p:nvPr/>
              </p:nvSpPr>
              <p:spPr bwMode="auto">
                <a:xfrm>
                  <a:off x="2671" y="3226"/>
                  <a:ext cx="611"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05" name="Line 114">
                  <a:extLst>
                    <a:ext uri="{FF2B5EF4-FFF2-40B4-BE49-F238E27FC236}">
                      <a16:creationId xmlns:a16="http://schemas.microsoft.com/office/drawing/2014/main" id="{382BAEAA-5A37-1FAF-918C-21785ACFCBAA}"/>
                    </a:ext>
                  </a:extLst>
                </p:cNvPr>
                <p:cNvSpPr>
                  <a:spLocks noChangeShapeType="1"/>
                </p:cNvSpPr>
                <p:nvPr/>
              </p:nvSpPr>
              <p:spPr bwMode="auto">
                <a:xfrm>
                  <a:off x="3819" y="3226"/>
                  <a:ext cx="67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p>
              </p:txBody>
            </p:sp>
          </p:grpSp>
          <p:sp>
            <p:nvSpPr>
              <p:cNvPr id="186" name="Rectangle 115">
                <a:extLst>
                  <a:ext uri="{FF2B5EF4-FFF2-40B4-BE49-F238E27FC236}">
                    <a16:creationId xmlns:a16="http://schemas.microsoft.com/office/drawing/2014/main" id="{A47BD92F-51F6-2D21-DBA1-E3EFAE57751D}"/>
                  </a:ext>
                </a:extLst>
              </p:cNvPr>
              <p:cNvSpPr>
                <a:spLocks noChangeArrowheads="1"/>
              </p:cNvSpPr>
              <p:nvPr/>
            </p:nvSpPr>
            <p:spPr bwMode="auto">
              <a:xfrm>
                <a:off x="557" y="3392"/>
                <a:ext cx="46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8.5 days</a:t>
                </a:r>
              </a:p>
            </p:txBody>
          </p:sp>
          <p:sp>
            <p:nvSpPr>
              <p:cNvPr id="187" name="Rectangle 116">
                <a:extLst>
                  <a:ext uri="{FF2B5EF4-FFF2-40B4-BE49-F238E27FC236}">
                    <a16:creationId xmlns:a16="http://schemas.microsoft.com/office/drawing/2014/main" id="{59F14349-0E94-D3AA-4070-CD19683D1E05}"/>
                  </a:ext>
                </a:extLst>
              </p:cNvPr>
              <p:cNvSpPr>
                <a:spLocks noChangeArrowheads="1"/>
              </p:cNvSpPr>
              <p:nvPr/>
            </p:nvSpPr>
            <p:spPr bwMode="auto">
              <a:xfrm>
                <a:off x="1537" y="3392"/>
                <a:ext cx="61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3.5 days</a:t>
                </a:r>
              </a:p>
            </p:txBody>
          </p:sp>
          <p:sp>
            <p:nvSpPr>
              <p:cNvPr id="188" name="Rectangle 117">
                <a:extLst>
                  <a:ext uri="{FF2B5EF4-FFF2-40B4-BE49-F238E27FC236}">
                    <a16:creationId xmlns:a16="http://schemas.microsoft.com/office/drawing/2014/main" id="{0FE10C18-122D-CEC8-9FA3-C2DF52DB660B}"/>
                  </a:ext>
                </a:extLst>
              </p:cNvPr>
              <p:cNvSpPr>
                <a:spLocks noChangeArrowheads="1"/>
              </p:cNvSpPr>
              <p:nvPr/>
            </p:nvSpPr>
            <p:spPr bwMode="auto">
              <a:xfrm>
                <a:off x="2668" y="3392"/>
                <a:ext cx="63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6.2 days</a:t>
                </a:r>
              </a:p>
            </p:txBody>
          </p:sp>
          <p:sp>
            <p:nvSpPr>
              <p:cNvPr id="189" name="Rectangle 118">
                <a:extLst>
                  <a:ext uri="{FF2B5EF4-FFF2-40B4-BE49-F238E27FC236}">
                    <a16:creationId xmlns:a16="http://schemas.microsoft.com/office/drawing/2014/main" id="{993A4CC7-DD8B-768E-6877-868327691C5B}"/>
                  </a:ext>
                </a:extLst>
              </p:cNvPr>
              <p:cNvSpPr>
                <a:spLocks noChangeArrowheads="1"/>
              </p:cNvSpPr>
              <p:nvPr/>
            </p:nvSpPr>
            <p:spPr bwMode="auto">
              <a:xfrm>
                <a:off x="3823" y="3392"/>
                <a:ext cx="68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1.5 days</a:t>
                </a:r>
              </a:p>
            </p:txBody>
          </p:sp>
          <p:sp>
            <p:nvSpPr>
              <p:cNvPr id="190" name="Rectangle 119">
                <a:extLst>
                  <a:ext uri="{FF2B5EF4-FFF2-40B4-BE49-F238E27FC236}">
                    <a16:creationId xmlns:a16="http://schemas.microsoft.com/office/drawing/2014/main" id="{40740976-06A0-9AA7-D0D8-7D7752DC430B}"/>
                  </a:ext>
                </a:extLst>
              </p:cNvPr>
              <p:cNvSpPr>
                <a:spLocks noChangeArrowheads="1"/>
              </p:cNvSpPr>
              <p:nvPr/>
            </p:nvSpPr>
            <p:spPr bwMode="auto">
              <a:xfrm>
                <a:off x="1004" y="3523"/>
                <a:ext cx="55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240 sec</a:t>
                </a:r>
              </a:p>
            </p:txBody>
          </p:sp>
          <p:sp>
            <p:nvSpPr>
              <p:cNvPr id="191" name="Rectangle 120">
                <a:extLst>
                  <a:ext uri="{FF2B5EF4-FFF2-40B4-BE49-F238E27FC236}">
                    <a16:creationId xmlns:a16="http://schemas.microsoft.com/office/drawing/2014/main" id="{701EF81A-8E33-749D-0AEC-FA0367D0A431}"/>
                  </a:ext>
                </a:extLst>
              </p:cNvPr>
              <p:cNvSpPr>
                <a:spLocks noChangeArrowheads="1"/>
              </p:cNvSpPr>
              <p:nvPr/>
            </p:nvSpPr>
            <p:spPr bwMode="auto">
              <a:xfrm>
                <a:off x="2131" y="3523"/>
                <a:ext cx="567"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15 sec</a:t>
                </a:r>
              </a:p>
            </p:txBody>
          </p:sp>
          <p:sp>
            <p:nvSpPr>
              <p:cNvPr id="192" name="Rectangle 121">
                <a:extLst>
                  <a:ext uri="{FF2B5EF4-FFF2-40B4-BE49-F238E27FC236}">
                    <a16:creationId xmlns:a16="http://schemas.microsoft.com/office/drawing/2014/main" id="{F8FAF56A-2A21-BB6D-73A2-50BCC728133F}"/>
                  </a:ext>
                </a:extLst>
              </p:cNvPr>
              <p:cNvSpPr>
                <a:spLocks noChangeArrowheads="1"/>
              </p:cNvSpPr>
              <p:nvPr/>
            </p:nvSpPr>
            <p:spPr bwMode="auto">
              <a:xfrm>
                <a:off x="3296" y="3523"/>
                <a:ext cx="51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00000"/>
                  </a:lnSpc>
                  <a:spcBef>
                    <a:spcPct val="0"/>
                  </a:spcBef>
                </a:pPr>
                <a:r>
                  <a:rPr lang="en-US" sz="800" b="0" dirty="0">
                    <a:solidFill>
                      <a:schemeClr val="tx1"/>
                    </a:solidFill>
                  </a:rPr>
                  <a:t>20 sec</a:t>
                </a:r>
              </a:p>
            </p:txBody>
          </p:sp>
        </p:grpSp>
        <p:grpSp>
          <p:nvGrpSpPr>
            <p:cNvPr id="206" name="Group 122">
              <a:extLst>
                <a:ext uri="{FF2B5EF4-FFF2-40B4-BE49-F238E27FC236}">
                  <a16:creationId xmlns:a16="http://schemas.microsoft.com/office/drawing/2014/main" id="{63713214-4934-862D-401D-F3B9141263B8}"/>
                </a:ext>
              </a:extLst>
            </p:cNvPr>
            <p:cNvGrpSpPr>
              <a:grpSpLocks/>
            </p:cNvGrpSpPr>
            <p:nvPr/>
          </p:nvGrpSpPr>
          <p:grpSpPr bwMode="auto">
            <a:xfrm>
              <a:off x="1561237" y="2670842"/>
              <a:ext cx="2368550" cy="271462"/>
              <a:chOff x="947" y="1433"/>
              <a:chExt cx="1492" cy="171"/>
            </a:xfrm>
          </p:grpSpPr>
          <p:grpSp>
            <p:nvGrpSpPr>
              <p:cNvPr id="207" name="Group 123">
                <a:extLst>
                  <a:ext uri="{FF2B5EF4-FFF2-40B4-BE49-F238E27FC236}">
                    <a16:creationId xmlns:a16="http://schemas.microsoft.com/office/drawing/2014/main" id="{4AB62AB3-1970-18B9-7D44-A0C06E2AA31C}"/>
                  </a:ext>
                </a:extLst>
              </p:cNvPr>
              <p:cNvGrpSpPr>
                <a:grpSpLocks/>
              </p:cNvGrpSpPr>
              <p:nvPr/>
            </p:nvGrpSpPr>
            <p:grpSpPr bwMode="auto">
              <a:xfrm>
                <a:off x="947" y="1481"/>
                <a:ext cx="1492" cy="51"/>
                <a:chOff x="947" y="1576"/>
                <a:chExt cx="1492" cy="51"/>
              </a:xfrm>
            </p:grpSpPr>
            <p:sp>
              <p:nvSpPr>
                <p:cNvPr id="209" name="Line 124">
                  <a:extLst>
                    <a:ext uri="{FF2B5EF4-FFF2-40B4-BE49-F238E27FC236}">
                      <a16:creationId xmlns:a16="http://schemas.microsoft.com/office/drawing/2014/main" id="{DA5638CD-2FC7-B642-34D2-3CF5AADB92B5}"/>
                    </a:ext>
                  </a:extLst>
                </p:cNvPr>
                <p:cNvSpPr>
                  <a:spLocks noChangeShapeType="1"/>
                </p:cNvSpPr>
                <p:nvPr/>
              </p:nvSpPr>
              <p:spPr bwMode="auto">
                <a:xfrm flipH="1">
                  <a:off x="947" y="1576"/>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210" name="Line 125">
                  <a:extLst>
                    <a:ext uri="{FF2B5EF4-FFF2-40B4-BE49-F238E27FC236}">
                      <a16:creationId xmlns:a16="http://schemas.microsoft.com/office/drawing/2014/main" id="{B7F13890-3644-2D06-2B56-25EDAE2AC3D5}"/>
                    </a:ext>
                  </a:extLst>
                </p:cNvPr>
                <p:cNvSpPr>
                  <a:spLocks noChangeShapeType="1"/>
                </p:cNvSpPr>
                <p:nvPr/>
              </p:nvSpPr>
              <p:spPr bwMode="auto">
                <a:xfrm flipV="1">
                  <a:off x="1556" y="1626"/>
                  <a:ext cx="883"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sp>
              <p:nvSpPr>
                <p:cNvPr id="211" name="Line 126">
                  <a:extLst>
                    <a:ext uri="{FF2B5EF4-FFF2-40B4-BE49-F238E27FC236}">
                      <a16:creationId xmlns:a16="http://schemas.microsoft.com/office/drawing/2014/main" id="{95455B6F-33B7-977B-9320-4F446C6D6F14}"/>
                    </a:ext>
                  </a:extLst>
                </p:cNvPr>
                <p:cNvSpPr>
                  <a:spLocks noChangeShapeType="1"/>
                </p:cNvSpPr>
                <p:nvPr/>
              </p:nvSpPr>
              <p:spPr bwMode="auto">
                <a:xfrm flipV="1">
                  <a:off x="1551" y="1584"/>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sp>
            <p:nvSpPr>
              <p:cNvPr id="208" name="Rectangle 127">
                <a:extLst>
                  <a:ext uri="{FF2B5EF4-FFF2-40B4-BE49-F238E27FC236}">
                    <a16:creationId xmlns:a16="http://schemas.microsoft.com/office/drawing/2014/main" id="{D90FEDB7-3771-9085-54D7-FD335BC81928}"/>
                  </a:ext>
                </a:extLst>
              </p:cNvPr>
              <p:cNvSpPr>
                <a:spLocks noChangeArrowheads="1"/>
              </p:cNvSpPr>
              <p:nvPr/>
            </p:nvSpPr>
            <p:spPr bwMode="auto">
              <a:xfrm>
                <a:off x="1700" y="1433"/>
                <a:ext cx="395" cy="171"/>
              </a:xfrm>
              <a:prstGeom prst="rect">
                <a:avLst/>
              </a:prstGeom>
              <a:solidFill>
                <a:schemeClr val="bg1"/>
              </a:solidFill>
              <a:ln w="9525" cap="sq">
                <a:solidFill>
                  <a:schemeClr val="tx1"/>
                </a:solidFill>
                <a:miter lim="800000"/>
                <a:headEnd type="none" w="sm" len="sm"/>
                <a:tailEnd type="none" w="sm" len="sm"/>
              </a:ln>
            </p:spPr>
            <p:txBody>
              <a:bodyPr wrap="none" anchor="ctr"/>
              <a:lstStyle/>
              <a:p>
                <a:pPr>
                  <a:lnSpc>
                    <a:spcPct val="90000"/>
                  </a:lnSpc>
                  <a:spcBef>
                    <a:spcPct val="0"/>
                  </a:spcBef>
                </a:pPr>
                <a:r>
                  <a:rPr lang="en-US" sz="800" b="0" dirty="0">
                    <a:solidFill>
                      <a:schemeClr val="tx1"/>
                    </a:solidFill>
                  </a:rPr>
                  <a:t>Monthly P.O.</a:t>
                </a:r>
              </a:p>
              <a:p>
                <a:pPr>
                  <a:lnSpc>
                    <a:spcPct val="90000"/>
                  </a:lnSpc>
                  <a:spcBef>
                    <a:spcPct val="0"/>
                  </a:spcBef>
                </a:pPr>
                <a:r>
                  <a:rPr lang="en-US" sz="800" b="0" dirty="0">
                    <a:solidFill>
                      <a:schemeClr val="tx1"/>
                    </a:solidFill>
                  </a:rPr>
                  <a:t>(Faxed)</a:t>
                </a:r>
              </a:p>
            </p:txBody>
          </p:sp>
        </p:grpSp>
        <p:grpSp>
          <p:nvGrpSpPr>
            <p:cNvPr id="212" name="Group 128">
              <a:extLst>
                <a:ext uri="{FF2B5EF4-FFF2-40B4-BE49-F238E27FC236}">
                  <a16:creationId xmlns:a16="http://schemas.microsoft.com/office/drawing/2014/main" id="{E8E316CF-BD00-CF72-1227-C932A8598648}"/>
                </a:ext>
              </a:extLst>
            </p:cNvPr>
            <p:cNvGrpSpPr>
              <a:grpSpLocks/>
            </p:cNvGrpSpPr>
            <p:nvPr/>
          </p:nvGrpSpPr>
          <p:grpSpPr bwMode="auto">
            <a:xfrm>
              <a:off x="4898162" y="2602579"/>
              <a:ext cx="2109787" cy="260350"/>
              <a:chOff x="3049" y="1390"/>
              <a:chExt cx="1329" cy="164"/>
            </a:xfrm>
          </p:grpSpPr>
          <p:grpSp>
            <p:nvGrpSpPr>
              <p:cNvPr id="213" name="Group 129">
                <a:extLst>
                  <a:ext uri="{FF2B5EF4-FFF2-40B4-BE49-F238E27FC236}">
                    <a16:creationId xmlns:a16="http://schemas.microsoft.com/office/drawing/2014/main" id="{9E5948BB-155D-BACB-EC49-7171105BD4CF}"/>
                  </a:ext>
                </a:extLst>
              </p:cNvPr>
              <p:cNvGrpSpPr>
                <a:grpSpLocks/>
              </p:cNvGrpSpPr>
              <p:nvPr/>
            </p:nvGrpSpPr>
            <p:grpSpPr bwMode="auto">
              <a:xfrm>
                <a:off x="3049" y="1442"/>
                <a:ext cx="1329" cy="51"/>
                <a:chOff x="3049" y="1442"/>
                <a:chExt cx="1329" cy="51"/>
              </a:xfrm>
            </p:grpSpPr>
            <p:sp>
              <p:nvSpPr>
                <p:cNvPr id="215" name="Line 130">
                  <a:extLst>
                    <a:ext uri="{FF2B5EF4-FFF2-40B4-BE49-F238E27FC236}">
                      <a16:creationId xmlns:a16="http://schemas.microsoft.com/office/drawing/2014/main" id="{D7F64546-800E-464C-A055-4E1276D4CBB0}"/>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216" name="Line 131">
                  <a:extLst>
                    <a:ext uri="{FF2B5EF4-FFF2-40B4-BE49-F238E27FC236}">
                      <a16:creationId xmlns:a16="http://schemas.microsoft.com/office/drawing/2014/main" id="{8B17CBDA-CB93-B546-915F-294E02D73F3D}"/>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sp>
              <p:nvSpPr>
                <p:cNvPr id="217" name="Line 132">
                  <a:extLst>
                    <a:ext uri="{FF2B5EF4-FFF2-40B4-BE49-F238E27FC236}">
                      <a16:creationId xmlns:a16="http://schemas.microsoft.com/office/drawing/2014/main" id="{8D046A62-27FC-CA80-8AF5-83D178F6272A}"/>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GB" dirty="0"/>
                </a:p>
              </p:txBody>
            </p:sp>
          </p:grpSp>
          <p:sp>
            <p:nvSpPr>
              <p:cNvPr id="214" name="Rectangle 133">
                <a:extLst>
                  <a:ext uri="{FF2B5EF4-FFF2-40B4-BE49-F238E27FC236}">
                    <a16:creationId xmlns:a16="http://schemas.microsoft.com/office/drawing/2014/main" id="{0E397D04-4D8D-491F-5003-FB7B92250A4A}"/>
                  </a:ext>
                </a:extLst>
              </p:cNvPr>
              <p:cNvSpPr>
                <a:spLocks noChangeArrowheads="1"/>
              </p:cNvSpPr>
              <p:nvPr/>
            </p:nvSpPr>
            <p:spPr bwMode="auto">
              <a:xfrm>
                <a:off x="3784" y="1390"/>
                <a:ext cx="404" cy="164"/>
              </a:xfrm>
              <a:prstGeom prst="rect">
                <a:avLst/>
              </a:prstGeom>
              <a:solidFill>
                <a:schemeClr val="bg1"/>
              </a:solidFill>
              <a:ln w="9525" cap="sq">
                <a:solidFill>
                  <a:schemeClr val="tx1"/>
                </a:solidFill>
                <a:miter lim="800000"/>
                <a:headEnd type="none" w="sm" len="sm"/>
                <a:tailEnd type="none" w="sm" len="sm"/>
              </a:ln>
            </p:spPr>
            <p:txBody>
              <a:bodyPr wrap="none" anchor="ctr"/>
              <a:lstStyle/>
              <a:p>
                <a:pPr>
                  <a:lnSpc>
                    <a:spcPct val="90000"/>
                  </a:lnSpc>
                  <a:spcBef>
                    <a:spcPct val="0"/>
                  </a:spcBef>
                </a:pPr>
                <a:r>
                  <a:rPr lang="en-US" sz="800" b="0" dirty="0">
                    <a:solidFill>
                      <a:schemeClr val="tx1"/>
                    </a:solidFill>
                  </a:rPr>
                  <a:t>Daily Orders</a:t>
                </a:r>
              </a:p>
              <a:p>
                <a:pPr>
                  <a:lnSpc>
                    <a:spcPct val="90000"/>
                  </a:lnSpc>
                  <a:spcBef>
                    <a:spcPct val="0"/>
                  </a:spcBef>
                </a:pPr>
                <a:r>
                  <a:rPr lang="en-US" sz="800" b="0" dirty="0">
                    <a:solidFill>
                      <a:schemeClr val="tx1"/>
                    </a:solidFill>
                  </a:rPr>
                  <a:t>(EDI)</a:t>
                </a:r>
              </a:p>
            </p:txBody>
          </p:sp>
        </p:grpSp>
        <p:grpSp>
          <p:nvGrpSpPr>
            <p:cNvPr id="218" name="Group 134">
              <a:extLst>
                <a:ext uri="{FF2B5EF4-FFF2-40B4-BE49-F238E27FC236}">
                  <a16:creationId xmlns:a16="http://schemas.microsoft.com/office/drawing/2014/main" id="{E0C85C39-A5E0-A1A0-3095-580506E3BE69}"/>
                </a:ext>
              </a:extLst>
            </p:cNvPr>
            <p:cNvGrpSpPr>
              <a:grpSpLocks/>
            </p:cNvGrpSpPr>
            <p:nvPr/>
          </p:nvGrpSpPr>
          <p:grpSpPr bwMode="auto">
            <a:xfrm>
              <a:off x="3850412" y="2423192"/>
              <a:ext cx="1130300" cy="711200"/>
              <a:chOff x="2389" y="1277"/>
              <a:chExt cx="712" cy="448"/>
            </a:xfrm>
          </p:grpSpPr>
          <p:sp>
            <p:nvSpPr>
              <p:cNvPr id="219" name="Rectangle 135">
                <a:extLst>
                  <a:ext uri="{FF2B5EF4-FFF2-40B4-BE49-F238E27FC236}">
                    <a16:creationId xmlns:a16="http://schemas.microsoft.com/office/drawing/2014/main" id="{E188F85C-223D-9354-ECDE-4336EFAE5605}"/>
                  </a:ext>
                </a:extLst>
              </p:cNvPr>
              <p:cNvSpPr>
                <a:spLocks noChangeArrowheads="1"/>
              </p:cNvSpPr>
              <p:nvPr/>
            </p:nvSpPr>
            <p:spPr bwMode="auto">
              <a:xfrm>
                <a:off x="2440" y="1277"/>
                <a:ext cx="614" cy="447"/>
              </a:xfrm>
              <a:prstGeom prst="rect">
                <a:avLst/>
              </a:prstGeom>
              <a:solidFill>
                <a:schemeClr val="bg1"/>
              </a:solidFill>
              <a:ln w="12700" cap="sq">
                <a:solidFill>
                  <a:schemeClr val="tx1"/>
                </a:solidFill>
                <a:miter lim="800000"/>
                <a:headEnd type="none" w="sm" len="sm"/>
                <a:tailEnd type="none" w="sm" len="sm"/>
              </a:ln>
            </p:spPr>
            <p:txBody>
              <a:bodyPr wrap="none" anchor="ctr"/>
              <a:lstStyle/>
              <a:p>
                <a:pPr>
                  <a:lnSpc>
                    <a:spcPct val="100000"/>
                  </a:lnSpc>
                  <a:spcBef>
                    <a:spcPct val="0"/>
                  </a:spcBef>
                </a:pPr>
                <a:endParaRPr lang="en-US" sz="1200" b="0" dirty="0">
                  <a:solidFill>
                    <a:schemeClr val="tx1"/>
                  </a:solidFill>
                </a:endParaRPr>
              </a:p>
            </p:txBody>
          </p:sp>
          <p:sp>
            <p:nvSpPr>
              <p:cNvPr id="220" name="Rectangle 136">
                <a:extLst>
                  <a:ext uri="{FF2B5EF4-FFF2-40B4-BE49-F238E27FC236}">
                    <a16:creationId xmlns:a16="http://schemas.microsoft.com/office/drawing/2014/main" id="{36AECC13-B29C-4098-BAF3-823AFB9C39A7}"/>
                  </a:ext>
                </a:extLst>
              </p:cNvPr>
              <p:cNvSpPr>
                <a:spLocks noChangeArrowheads="1"/>
              </p:cNvSpPr>
              <p:nvPr/>
            </p:nvSpPr>
            <p:spPr bwMode="auto">
              <a:xfrm>
                <a:off x="2501" y="1566"/>
                <a:ext cx="490" cy="159"/>
              </a:xfrm>
              <a:prstGeom prst="rect">
                <a:avLst/>
              </a:prstGeom>
              <a:solidFill>
                <a:schemeClr val="bg1"/>
              </a:solidFill>
              <a:ln w="12700" cap="sq">
                <a:solidFill>
                  <a:schemeClr val="tx1"/>
                </a:solidFill>
                <a:miter lim="800000"/>
                <a:headEnd type="none" w="sm" len="sm"/>
                <a:tailEnd type="none" w="sm" len="sm"/>
              </a:ln>
            </p:spPr>
            <p:txBody>
              <a:bodyPr wrap="none" anchor="ctr"/>
              <a:lstStyle/>
              <a:p>
                <a:pPr algn="ctr">
                  <a:lnSpc>
                    <a:spcPct val="90000"/>
                  </a:lnSpc>
                  <a:spcBef>
                    <a:spcPct val="0"/>
                  </a:spcBef>
                </a:pPr>
                <a:r>
                  <a:rPr lang="en-US" sz="1200" b="0" dirty="0">
                    <a:solidFill>
                      <a:schemeClr val="tx1"/>
                    </a:solidFill>
                  </a:rPr>
                  <a:t>MRP</a:t>
                </a:r>
              </a:p>
              <a:p>
                <a:pPr algn="ctr">
                  <a:lnSpc>
                    <a:spcPct val="90000"/>
                  </a:lnSpc>
                  <a:spcBef>
                    <a:spcPct val="0"/>
                  </a:spcBef>
                </a:pPr>
                <a:r>
                  <a:rPr lang="en-US" sz="1200" b="0" dirty="0">
                    <a:solidFill>
                      <a:schemeClr val="tx1"/>
                    </a:solidFill>
                  </a:rPr>
                  <a:t>System</a:t>
                </a:r>
              </a:p>
            </p:txBody>
          </p:sp>
          <p:sp>
            <p:nvSpPr>
              <p:cNvPr id="221" name="Text Box 137">
                <a:extLst>
                  <a:ext uri="{FF2B5EF4-FFF2-40B4-BE49-F238E27FC236}">
                    <a16:creationId xmlns:a16="http://schemas.microsoft.com/office/drawing/2014/main" id="{3FE89671-2D7F-E55B-1D94-9EBEF3403830}"/>
                  </a:ext>
                </a:extLst>
              </p:cNvPr>
              <p:cNvSpPr txBox="1">
                <a:spLocks noChangeArrowheads="1"/>
              </p:cNvSpPr>
              <p:nvPr/>
            </p:nvSpPr>
            <p:spPr bwMode="auto">
              <a:xfrm>
                <a:off x="2389" y="1283"/>
                <a:ext cx="71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pPr>
                  <a:lnSpc>
                    <a:spcPct val="100000"/>
                  </a:lnSpc>
                  <a:spcBef>
                    <a:spcPct val="30000"/>
                  </a:spcBef>
                </a:pPr>
                <a:r>
                  <a:rPr lang="en-US" b="0" dirty="0">
                    <a:solidFill>
                      <a:schemeClr val="tx1"/>
                    </a:solidFill>
                  </a:rPr>
                  <a:t>Production Control</a:t>
                </a:r>
              </a:p>
            </p:txBody>
          </p:sp>
        </p:grpSp>
        <p:grpSp>
          <p:nvGrpSpPr>
            <p:cNvPr id="222" name="Group 138">
              <a:extLst>
                <a:ext uri="{FF2B5EF4-FFF2-40B4-BE49-F238E27FC236}">
                  <a16:creationId xmlns:a16="http://schemas.microsoft.com/office/drawing/2014/main" id="{C0580C0B-2AF5-A065-1BA5-62205AA2FBBD}"/>
                </a:ext>
              </a:extLst>
            </p:cNvPr>
            <p:cNvGrpSpPr>
              <a:grpSpLocks/>
            </p:cNvGrpSpPr>
            <p:nvPr/>
          </p:nvGrpSpPr>
          <p:grpSpPr bwMode="auto">
            <a:xfrm>
              <a:off x="2481987" y="3132804"/>
              <a:ext cx="3176587" cy="1084263"/>
              <a:chOff x="1527" y="1724"/>
              <a:chExt cx="2001" cy="683"/>
            </a:xfrm>
          </p:grpSpPr>
          <p:sp>
            <p:nvSpPr>
              <p:cNvPr id="223" name="Line 139">
                <a:extLst>
                  <a:ext uri="{FF2B5EF4-FFF2-40B4-BE49-F238E27FC236}">
                    <a16:creationId xmlns:a16="http://schemas.microsoft.com/office/drawing/2014/main" id="{2D27C563-B89E-FB1F-8D5D-CBAB518C3DAD}"/>
                  </a:ext>
                </a:extLst>
              </p:cNvPr>
              <p:cNvSpPr>
                <a:spLocks noChangeShapeType="1"/>
              </p:cNvSpPr>
              <p:nvPr/>
            </p:nvSpPr>
            <p:spPr bwMode="auto">
              <a:xfrm flipH="1">
                <a:off x="1527" y="1724"/>
                <a:ext cx="995" cy="681"/>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224" name="Line 140">
                <a:extLst>
                  <a:ext uri="{FF2B5EF4-FFF2-40B4-BE49-F238E27FC236}">
                    <a16:creationId xmlns:a16="http://schemas.microsoft.com/office/drawing/2014/main" id="{8793A8B1-7BB8-3712-A27F-9D9FCA5990E7}"/>
                  </a:ext>
                </a:extLst>
              </p:cNvPr>
              <p:cNvSpPr>
                <a:spLocks noChangeShapeType="1"/>
              </p:cNvSpPr>
              <p:nvPr/>
            </p:nvSpPr>
            <p:spPr bwMode="auto">
              <a:xfrm flipH="1">
                <a:off x="2424" y="1727"/>
                <a:ext cx="245" cy="68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225" name="Line 141">
                <a:extLst>
                  <a:ext uri="{FF2B5EF4-FFF2-40B4-BE49-F238E27FC236}">
                    <a16:creationId xmlns:a16="http://schemas.microsoft.com/office/drawing/2014/main" id="{37890D4C-0BF8-39D3-C940-AF582B7FFC10}"/>
                  </a:ext>
                </a:extLst>
              </p:cNvPr>
              <p:cNvSpPr>
                <a:spLocks noChangeShapeType="1"/>
              </p:cNvSpPr>
              <p:nvPr/>
            </p:nvSpPr>
            <p:spPr bwMode="auto">
              <a:xfrm>
                <a:off x="2818" y="1731"/>
                <a:ext cx="710" cy="666"/>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226" name="Rectangle 142">
                <a:extLst>
                  <a:ext uri="{FF2B5EF4-FFF2-40B4-BE49-F238E27FC236}">
                    <a16:creationId xmlns:a16="http://schemas.microsoft.com/office/drawing/2014/main" id="{86DDAB0A-94F0-D184-6796-F326E92EAFCA}"/>
                  </a:ext>
                </a:extLst>
              </p:cNvPr>
              <p:cNvSpPr>
                <a:spLocks noChangeArrowheads="1"/>
              </p:cNvSpPr>
              <p:nvPr/>
            </p:nvSpPr>
            <p:spPr bwMode="auto">
              <a:xfrm>
                <a:off x="1670" y="2079"/>
                <a:ext cx="395" cy="203"/>
              </a:xfrm>
              <a:prstGeom prst="rect">
                <a:avLst/>
              </a:prstGeom>
              <a:solidFill>
                <a:schemeClr val="bg1"/>
              </a:solidFill>
              <a:ln w="9525" cap="sq">
                <a:solidFill>
                  <a:schemeClr val="tx1"/>
                </a:solidFill>
                <a:miter lim="800000"/>
                <a:headEnd type="none" w="sm" len="sm"/>
                <a:tailEnd type="none" w="sm" len="sm"/>
              </a:ln>
            </p:spPr>
            <p:txBody>
              <a:bodyPr wrap="none" anchor="ctr"/>
              <a:lstStyle/>
              <a:p>
                <a:pPr>
                  <a:lnSpc>
                    <a:spcPct val="90000"/>
                  </a:lnSpc>
                  <a:spcBef>
                    <a:spcPct val="0"/>
                  </a:spcBef>
                </a:pPr>
                <a:r>
                  <a:rPr lang="en-US" sz="800" b="0" dirty="0">
                    <a:solidFill>
                      <a:schemeClr val="tx1"/>
                    </a:solidFill>
                  </a:rPr>
                  <a:t>Weekly Build</a:t>
                </a:r>
              </a:p>
              <a:p>
                <a:pPr>
                  <a:lnSpc>
                    <a:spcPct val="90000"/>
                  </a:lnSpc>
                  <a:spcBef>
                    <a:spcPct val="0"/>
                  </a:spcBef>
                </a:pPr>
                <a:r>
                  <a:rPr lang="en-US" sz="800" b="0" dirty="0">
                    <a:solidFill>
                      <a:schemeClr val="tx1"/>
                    </a:solidFill>
                  </a:rPr>
                  <a:t>Schedule</a:t>
                </a:r>
              </a:p>
              <a:p>
                <a:pPr>
                  <a:lnSpc>
                    <a:spcPct val="90000"/>
                  </a:lnSpc>
                  <a:spcBef>
                    <a:spcPct val="0"/>
                  </a:spcBef>
                </a:pPr>
                <a:r>
                  <a:rPr lang="en-US" sz="800" b="0" dirty="0">
                    <a:solidFill>
                      <a:schemeClr val="tx1"/>
                    </a:solidFill>
                  </a:rPr>
                  <a:t>(Paper)</a:t>
                </a:r>
              </a:p>
            </p:txBody>
          </p:sp>
          <p:sp>
            <p:nvSpPr>
              <p:cNvPr id="227" name="Rectangle 143">
                <a:extLst>
                  <a:ext uri="{FF2B5EF4-FFF2-40B4-BE49-F238E27FC236}">
                    <a16:creationId xmlns:a16="http://schemas.microsoft.com/office/drawing/2014/main" id="{CC1182EB-0814-5319-F845-4E46AC1DAC1D}"/>
                  </a:ext>
                </a:extLst>
              </p:cNvPr>
              <p:cNvSpPr>
                <a:spLocks noChangeArrowheads="1"/>
              </p:cNvSpPr>
              <p:nvPr/>
            </p:nvSpPr>
            <p:spPr bwMode="auto">
              <a:xfrm>
                <a:off x="2317" y="2085"/>
                <a:ext cx="401" cy="203"/>
              </a:xfrm>
              <a:prstGeom prst="rect">
                <a:avLst/>
              </a:prstGeom>
              <a:solidFill>
                <a:schemeClr val="bg1"/>
              </a:solidFill>
              <a:ln w="9525" cap="sq">
                <a:solidFill>
                  <a:schemeClr val="tx1"/>
                </a:solidFill>
                <a:miter lim="800000"/>
                <a:headEnd type="none" w="sm" len="sm"/>
                <a:tailEnd type="none" w="sm" len="sm"/>
              </a:ln>
            </p:spPr>
            <p:txBody>
              <a:bodyPr wrap="none" anchor="ctr"/>
              <a:lstStyle/>
              <a:p>
                <a:pPr>
                  <a:lnSpc>
                    <a:spcPct val="90000"/>
                  </a:lnSpc>
                  <a:spcBef>
                    <a:spcPct val="0"/>
                  </a:spcBef>
                </a:pPr>
                <a:r>
                  <a:rPr lang="en-US" sz="800" b="0" dirty="0">
                    <a:solidFill>
                      <a:schemeClr val="tx1"/>
                    </a:solidFill>
                  </a:rPr>
                  <a:t>Weekly Build</a:t>
                </a:r>
              </a:p>
              <a:p>
                <a:pPr>
                  <a:lnSpc>
                    <a:spcPct val="90000"/>
                  </a:lnSpc>
                  <a:spcBef>
                    <a:spcPct val="0"/>
                  </a:spcBef>
                </a:pPr>
                <a:r>
                  <a:rPr lang="en-US" sz="800" b="0" dirty="0">
                    <a:solidFill>
                      <a:schemeClr val="tx1"/>
                    </a:solidFill>
                  </a:rPr>
                  <a:t>Schedule</a:t>
                </a:r>
              </a:p>
              <a:p>
                <a:pPr>
                  <a:lnSpc>
                    <a:spcPct val="90000"/>
                  </a:lnSpc>
                  <a:spcBef>
                    <a:spcPct val="0"/>
                  </a:spcBef>
                </a:pPr>
                <a:r>
                  <a:rPr lang="en-US" sz="800" b="0" dirty="0">
                    <a:solidFill>
                      <a:schemeClr val="tx1"/>
                    </a:solidFill>
                  </a:rPr>
                  <a:t>(Paper)</a:t>
                </a:r>
              </a:p>
            </p:txBody>
          </p:sp>
          <p:sp>
            <p:nvSpPr>
              <p:cNvPr id="228" name="Rectangle 144">
                <a:extLst>
                  <a:ext uri="{FF2B5EF4-FFF2-40B4-BE49-F238E27FC236}">
                    <a16:creationId xmlns:a16="http://schemas.microsoft.com/office/drawing/2014/main" id="{C1B1464E-18B0-AC25-79CA-E900AC1B7B4A}"/>
                  </a:ext>
                </a:extLst>
              </p:cNvPr>
              <p:cNvSpPr>
                <a:spLocks noChangeArrowheads="1"/>
              </p:cNvSpPr>
              <p:nvPr/>
            </p:nvSpPr>
            <p:spPr bwMode="auto">
              <a:xfrm>
                <a:off x="3068" y="2085"/>
                <a:ext cx="395" cy="203"/>
              </a:xfrm>
              <a:prstGeom prst="rect">
                <a:avLst/>
              </a:prstGeom>
              <a:solidFill>
                <a:schemeClr val="bg1"/>
              </a:solidFill>
              <a:ln w="9525" cap="sq">
                <a:solidFill>
                  <a:schemeClr val="tx1"/>
                </a:solidFill>
                <a:miter lim="800000"/>
                <a:headEnd type="none" w="sm" len="sm"/>
                <a:tailEnd type="none" w="sm" len="sm"/>
              </a:ln>
            </p:spPr>
            <p:txBody>
              <a:bodyPr wrap="none" anchor="ctr"/>
              <a:lstStyle/>
              <a:p>
                <a:pPr>
                  <a:lnSpc>
                    <a:spcPct val="90000"/>
                  </a:lnSpc>
                  <a:spcBef>
                    <a:spcPct val="0"/>
                  </a:spcBef>
                </a:pPr>
                <a:r>
                  <a:rPr lang="en-US" sz="800" b="0" dirty="0">
                    <a:solidFill>
                      <a:schemeClr val="tx1"/>
                    </a:solidFill>
                  </a:rPr>
                  <a:t>Weekly Build</a:t>
                </a:r>
              </a:p>
              <a:p>
                <a:pPr>
                  <a:lnSpc>
                    <a:spcPct val="90000"/>
                  </a:lnSpc>
                  <a:spcBef>
                    <a:spcPct val="0"/>
                  </a:spcBef>
                </a:pPr>
                <a:r>
                  <a:rPr lang="en-US" sz="800" b="0" dirty="0">
                    <a:solidFill>
                      <a:schemeClr val="tx1"/>
                    </a:solidFill>
                  </a:rPr>
                  <a:t>Schedule</a:t>
                </a:r>
              </a:p>
              <a:p>
                <a:pPr>
                  <a:lnSpc>
                    <a:spcPct val="90000"/>
                  </a:lnSpc>
                  <a:spcBef>
                    <a:spcPct val="0"/>
                  </a:spcBef>
                </a:pPr>
                <a:r>
                  <a:rPr lang="en-US" sz="800" b="0" dirty="0">
                    <a:solidFill>
                      <a:schemeClr val="tx1"/>
                    </a:solidFill>
                  </a:rPr>
                  <a:t>Paper</a:t>
                </a:r>
              </a:p>
            </p:txBody>
          </p:sp>
        </p:grpSp>
        <p:grpSp>
          <p:nvGrpSpPr>
            <p:cNvPr id="229" name="Group 145">
              <a:extLst>
                <a:ext uri="{FF2B5EF4-FFF2-40B4-BE49-F238E27FC236}">
                  <a16:creationId xmlns:a16="http://schemas.microsoft.com/office/drawing/2014/main" id="{A597F250-E147-7F86-C291-B4A5E323B0B1}"/>
                </a:ext>
              </a:extLst>
            </p:cNvPr>
            <p:cNvGrpSpPr>
              <a:grpSpLocks/>
            </p:cNvGrpSpPr>
            <p:nvPr/>
          </p:nvGrpSpPr>
          <p:grpSpPr bwMode="auto">
            <a:xfrm>
              <a:off x="4780687" y="3135979"/>
              <a:ext cx="2311400" cy="1285875"/>
              <a:chOff x="2957" y="1720"/>
              <a:chExt cx="1456" cy="810"/>
            </a:xfrm>
          </p:grpSpPr>
          <p:sp>
            <p:nvSpPr>
              <p:cNvPr id="230" name="Line 146">
                <a:extLst>
                  <a:ext uri="{FF2B5EF4-FFF2-40B4-BE49-F238E27FC236}">
                    <a16:creationId xmlns:a16="http://schemas.microsoft.com/office/drawing/2014/main" id="{ADD715AF-8B50-629A-7842-795679B901CD}"/>
                  </a:ext>
                </a:extLst>
              </p:cNvPr>
              <p:cNvSpPr>
                <a:spLocks noChangeShapeType="1"/>
              </p:cNvSpPr>
              <p:nvPr/>
            </p:nvSpPr>
            <p:spPr bwMode="auto">
              <a:xfrm>
                <a:off x="2957" y="1720"/>
                <a:ext cx="1456" cy="81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GB" dirty="0"/>
              </a:p>
            </p:txBody>
          </p:sp>
          <p:sp>
            <p:nvSpPr>
              <p:cNvPr id="231" name="Rectangle 147">
                <a:extLst>
                  <a:ext uri="{FF2B5EF4-FFF2-40B4-BE49-F238E27FC236}">
                    <a16:creationId xmlns:a16="http://schemas.microsoft.com/office/drawing/2014/main" id="{80EC08A8-E8A4-97DD-1F1B-C769FD55C45B}"/>
                  </a:ext>
                </a:extLst>
              </p:cNvPr>
              <p:cNvSpPr>
                <a:spLocks noChangeArrowheads="1"/>
              </p:cNvSpPr>
              <p:nvPr/>
            </p:nvSpPr>
            <p:spPr bwMode="auto">
              <a:xfrm>
                <a:off x="3600" y="2091"/>
                <a:ext cx="395" cy="196"/>
              </a:xfrm>
              <a:prstGeom prst="rect">
                <a:avLst/>
              </a:prstGeom>
              <a:solidFill>
                <a:schemeClr val="bg1"/>
              </a:solidFill>
              <a:ln w="9525" cap="sq">
                <a:solidFill>
                  <a:schemeClr val="tx1"/>
                </a:solidFill>
                <a:miter lim="800000"/>
                <a:headEnd type="none" w="sm" len="sm"/>
                <a:tailEnd type="none" w="sm" len="sm"/>
              </a:ln>
            </p:spPr>
            <p:txBody>
              <a:bodyPr wrap="none" anchor="ctr"/>
              <a:lstStyle/>
              <a:p>
                <a:pPr>
                  <a:lnSpc>
                    <a:spcPct val="90000"/>
                  </a:lnSpc>
                  <a:spcBef>
                    <a:spcPct val="0"/>
                  </a:spcBef>
                </a:pPr>
                <a:r>
                  <a:rPr lang="en-US" sz="800" b="0" dirty="0">
                    <a:solidFill>
                      <a:schemeClr val="tx1"/>
                    </a:solidFill>
                  </a:rPr>
                  <a:t>Daily Ship</a:t>
                </a:r>
              </a:p>
              <a:p>
                <a:pPr>
                  <a:lnSpc>
                    <a:spcPct val="90000"/>
                  </a:lnSpc>
                  <a:spcBef>
                    <a:spcPct val="0"/>
                  </a:spcBef>
                </a:pPr>
                <a:r>
                  <a:rPr lang="en-US" sz="800" b="0" dirty="0">
                    <a:solidFill>
                      <a:schemeClr val="tx1"/>
                    </a:solidFill>
                  </a:rPr>
                  <a:t>Schedule</a:t>
                </a:r>
              </a:p>
              <a:p>
                <a:pPr>
                  <a:lnSpc>
                    <a:spcPct val="90000"/>
                  </a:lnSpc>
                  <a:spcBef>
                    <a:spcPct val="0"/>
                  </a:spcBef>
                </a:pPr>
                <a:r>
                  <a:rPr lang="en-US" sz="800" b="0" dirty="0">
                    <a:solidFill>
                      <a:schemeClr val="tx1"/>
                    </a:solidFill>
                  </a:rPr>
                  <a:t>(Paper)</a:t>
                </a:r>
              </a:p>
            </p:txBody>
          </p:sp>
        </p:grpSp>
        <p:sp>
          <p:nvSpPr>
            <p:cNvPr id="232" name="Rectangle 148">
              <a:extLst>
                <a:ext uri="{FF2B5EF4-FFF2-40B4-BE49-F238E27FC236}">
                  <a16:creationId xmlns:a16="http://schemas.microsoft.com/office/drawing/2014/main" id="{EE538AAB-F3EB-A924-778F-84B9B93C3FD4}"/>
                </a:ext>
              </a:extLst>
            </p:cNvPr>
            <p:cNvSpPr>
              <a:spLocks noChangeArrowheads="1"/>
            </p:cNvSpPr>
            <p:nvPr/>
          </p:nvSpPr>
          <p:spPr bwMode="auto">
            <a:xfrm>
              <a:off x="762724" y="4629817"/>
              <a:ext cx="8175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100000"/>
                </a:lnSpc>
                <a:spcBef>
                  <a:spcPct val="0"/>
                </a:spcBef>
              </a:pPr>
              <a:r>
                <a:rPr lang="en-US" sz="800" b="0" dirty="0">
                  <a:solidFill>
                    <a:schemeClr val="tx1"/>
                  </a:solidFill>
                </a:rPr>
                <a:t>3,200 Sheets</a:t>
              </a:r>
              <a:r>
                <a:rPr lang="en-US" sz="800" b="0" dirty="0">
                  <a:solidFill>
                    <a:srgbClr val="FF0000"/>
                  </a:solidFill>
                </a:rPr>
                <a:t> </a:t>
              </a:r>
            </a:p>
          </p:txBody>
        </p:sp>
        <p:sp>
          <p:nvSpPr>
            <p:cNvPr id="233" name="Rectangle 149">
              <a:extLst>
                <a:ext uri="{FF2B5EF4-FFF2-40B4-BE49-F238E27FC236}">
                  <a16:creationId xmlns:a16="http://schemas.microsoft.com/office/drawing/2014/main" id="{0E6FBAAD-206F-DEE7-25C6-620BA6F4120C}"/>
                </a:ext>
              </a:extLst>
            </p:cNvPr>
            <p:cNvSpPr>
              <a:spLocks noChangeArrowheads="1"/>
            </p:cNvSpPr>
            <p:nvPr/>
          </p:nvSpPr>
          <p:spPr bwMode="auto">
            <a:xfrm>
              <a:off x="2589937" y="4629817"/>
              <a:ext cx="7762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100000"/>
                </a:lnSpc>
                <a:spcBef>
                  <a:spcPct val="0"/>
                </a:spcBef>
              </a:pPr>
              <a:r>
                <a:rPr lang="en-US" sz="800" b="0" dirty="0">
                  <a:solidFill>
                    <a:schemeClr val="tx1"/>
                  </a:solidFill>
                </a:rPr>
                <a:t>5,250 Pieces</a:t>
              </a:r>
              <a:endParaRPr lang="en-US" sz="800" b="0" dirty="0">
                <a:solidFill>
                  <a:srgbClr val="FF0000"/>
                </a:solidFill>
              </a:endParaRPr>
            </a:p>
          </p:txBody>
        </p:sp>
        <p:sp>
          <p:nvSpPr>
            <p:cNvPr id="234" name="Rectangle 150">
              <a:extLst>
                <a:ext uri="{FF2B5EF4-FFF2-40B4-BE49-F238E27FC236}">
                  <a16:creationId xmlns:a16="http://schemas.microsoft.com/office/drawing/2014/main" id="{18974772-0FEF-BAC3-7E09-B5FE198A37BB}"/>
                </a:ext>
              </a:extLst>
            </p:cNvPr>
            <p:cNvSpPr>
              <a:spLocks noChangeArrowheads="1"/>
            </p:cNvSpPr>
            <p:nvPr/>
          </p:nvSpPr>
          <p:spPr bwMode="auto">
            <a:xfrm>
              <a:off x="4380637" y="4629817"/>
              <a:ext cx="7762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100000"/>
                </a:lnSpc>
                <a:spcBef>
                  <a:spcPct val="0"/>
                </a:spcBef>
              </a:pPr>
              <a:r>
                <a:rPr lang="en-US" sz="800" b="0" dirty="0">
                  <a:solidFill>
                    <a:schemeClr val="tx1"/>
                  </a:solidFill>
                </a:rPr>
                <a:t>9,300 Pieces</a:t>
              </a:r>
              <a:endParaRPr lang="en-US" sz="800" b="0" dirty="0">
                <a:solidFill>
                  <a:srgbClr val="FF0000"/>
                </a:solidFill>
              </a:endParaRPr>
            </a:p>
          </p:txBody>
        </p:sp>
        <p:sp>
          <p:nvSpPr>
            <p:cNvPr id="235" name="Rectangle 151">
              <a:extLst>
                <a:ext uri="{FF2B5EF4-FFF2-40B4-BE49-F238E27FC236}">
                  <a16:creationId xmlns:a16="http://schemas.microsoft.com/office/drawing/2014/main" id="{644FFD50-742F-8456-A994-91038D67EDC7}"/>
                </a:ext>
              </a:extLst>
            </p:cNvPr>
            <p:cNvSpPr>
              <a:spLocks noChangeArrowheads="1"/>
            </p:cNvSpPr>
            <p:nvPr/>
          </p:nvSpPr>
          <p:spPr bwMode="auto">
            <a:xfrm>
              <a:off x="6111012" y="4629817"/>
              <a:ext cx="9747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100000"/>
                </a:lnSpc>
                <a:spcBef>
                  <a:spcPct val="0"/>
                </a:spcBef>
              </a:pPr>
              <a:r>
                <a:rPr lang="en-US" sz="800" b="0" dirty="0">
                  <a:solidFill>
                    <a:schemeClr val="tx1"/>
                  </a:solidFill>
                </a:rPr>
                <a:t>2,300 Enclosures</a:t>
              </a:r>
              <a:endParaRPr lang="en-US" sz="800" b="0" dirty="0">
                <a:solidFill>
                  <a:srgbClr val="FF0000"/>
                </a:solidFill>
              </a:endParaRPr>
            </a:p>
          </p:txBody>
        </p:sp>
        <p:sp>
          <p:nvSpPr>
            <p:cNvPr id="236" name="Rectangle 152">
              <a:extLst>
                <a:ext uri="{FF2B5EF4-FFF2-40B4-BE49-F238E27FC236}">
                  <a16:creationId xmlns:a16="http://schemas.microsoft.com/office/drawing/2014/main" id="{B277F88C-A9BE-5CA6-6B1D-BD53726C03FE}"/>
                </a:ext>
              </a:extLst>
            </p:cNvPr>
            <p:cNvSpPr>
              <a:spLocks noChangeArrowheads="1"/>
            </p:cNvSpPr>
            <p:nvPr/>
          </p:nvSpPr>
          <p:spPr bwMode="auto">
            <a:xfrm>
              <a:off x="618262" y="4977479"/>
              <a:ext cx="873125" cy="336550"/>
            </a:xfrm>
            <a:prstGeom prst="rect">
              <a:avLst/>
            </a:prstGeom>
            <a:solidFill>
              <a:schemeClr val="bg1"/>
            </a:solidFill>
            <a:ln>
              <a:solidFill>
                <a:schemeClr val="tx1"/>
              </a:solidFill>
            </a:ln>
          </p:spPr>
          <p:txBody>
            <a:bodyPr>
              <a:spAutoFit/>
            </a:bodyPr>
            <a:lstStyle/>
            <a:p>
              <a:pPr>
                <a:lnSpc>
                  <a:spcPct val="100000"/>
                </a:lnSpc>
                <a:spcBef>
                  <a:spcPct val="0"/>
                </a:spcBef>
              </a:pPr>
              <a:r>
                <a:rPr lang="en-US" sz="800" b="0" dirty="0">
                  <a:solidFill>
                    <a:schemeClr val="tx1"/>
                  </a:solidFill>
                </a:rPr>
                <a:t>1 sheet yields 4 pieces</a:t>
              </a:r>
              <a:r>
                <a:rPr lang="en-US" sz="800" b="0" dirty="0">
                  <a:solidFill>
                    <a:srgbClr val="FF0000"/>
                  </a:solidFill>
                </a:rPr>
                <a:t> </a:t>
              </a:r>
            </a:p>
          </p:txBody>
        </p:sp>
        <p:grpSp>
          <p:nvGrpSpPr>
            <p:cNvPr id="237" name="Group 158">
              <a:extLst>
                <a:ext uri="{FF2B5EF4-FFF2-40B4-BE49-F238E27FC236}">
                  <a16:creationId xmlns:a16="http://schemas.microsoft.com/office/drawing/2014/main" id="{47B3D074-98D3-7EB4-BAA2-AC7CB34293C7}"/>
                </a:ext>
              </a:extLst>
            </p:cNvPr>
            <p:cNvGrpSpPr>
              <a:grpSpLocks/>
            </p:cNvGrpSpPr>
            <p:nvPr/>
          </p:nvGrpSpPr>
          <p:grpSpPr bwMode="auto">
            <a:xfrm>
              <a:off x="4528274" y="4367879"/>
              <a:ext cx="381000" cy="381000"/>
              <a:chOff x="4896" y="3312"/>
              <a:chExt cx="240" cy="240"/>
            </a:xfrm>
          </p:grpSpPr>
          <p:sp>
            <p:nvSpPr>
              <p:cNvPr id="238" name="Oval 159">
                <a:extLst>
                  <a:ext uri="{FF2B5EF4-FFF2-40B4-BE49-F238E27FC236}">
                    <a16:creationId xmlns:a16="http://schemas.microsoft.com/office/drawing/2014/main" id="{37AA6C96-A6BF-17E0-7D11-80C89ECCA653}"/>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39" name="Line 160">
                <a:extLst>
                  <a:ext uri="{FF2B5EF4-FFF2-40B4-BE49-F238E27FC236}">
                    <a16:creationId xmlns:a16="http://schemas.microsoft.com/office/drawing/2014/main" id="{952932D0-B275-D70E-1255-5215F1F1305B}"/>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sp>
          <p:nvSpPr>
            <p:cNvPr id="240" name="Rectangle 161">
              <a:extLst>
                <a:ext uri="{FF2B5EF4-FFF2-40B4-BE49-F238E27FC236}">
                  <a16:creationId xmlns:a16="http://schemas.microsoft.com/office/drawing/2014/main" id="{B705D064-3A3E-C40F-9F3C-74426C4EFB46}"/>
                </a:ext>
              </a:extLst>
            </p:cNvPr>
            <p:cNvSpPr>
              <a:spLocks noChangeArrowheads="1"/>
            </p:cNvSpPr>
            <p:nvPr/>
          </p:nvSpPr>
          <p:spPr bwMode="auto">
            <a:xfrm>
              <a:off x="3342412" y="4183729"/>
              <a:ext cx="2813050" cy="1262063"/>
            </a:xfrm>
            <a:prstGeom prst="rect">
              <a:avLst/>
            </a:prstGeom>
            <a:noFill/>
            <a:ln w="28575">
              <a:solidFill>
                <a:srgbClr val="FF0000"/>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grpSp>
          <p:nvGrpSpPr>
            <p:cNvPr id="241" name="Group 162">
              <a:extLst>
                <a:ext uri="{FF2B5EF4-FFF2-40B4-BE49-F238E27FC236}">
                  <a16:creationId xmlns:a16="http://schemas.microsoft.com/office/drawing/2014/main" id="{B9DB9156-D849-8FF3-2309-8A527641764F}"/>
                </a:ext>
              </a:extLst>
            </p:cNvPr>
            <p:cNvGrpSpPr>
              <a:grpSpLocks/>
            </p:cNvGrpSpPr>
            <p:nvPr/>
          </p:nvGrpSpPr>
          <p:grpSpPr bwMode="auto">
            <a:xfrm>
              <a:off x="2916962" y="4167854"/>
              <a:ext cx="3713162" cy="266700"/>
              <a:chOff x="1801" y="2735"/>
              <a:chExt cx="2339" cy="168"/>
            </a:xfrm>
          </p:grpSpPr>
          <p:grpSp>
            <p:nvGrpSpPr>
              <p:cNvPr id="242" name="Group 163">
                <a:extLst>
                  <a:ext uri="{FF2B5EF4-FFF2-40B4-BE49-F238E27FC236}">
                    <a16:creationId xmlns:a16="http://schemas.microsoft.com/office/drawing/2014/main" id="{65B0358C-4ACB-6F9C-13BC-B02CADF7B059}"/>
                  </a:ext>
                </a:extLst>
              </p:cNvPr>
              <p:cNvGrpSpPr>
                <a:grpSpLocks/>
              </p:cNvGrpSpPr>
              <p:nvPr/>
            </p:nvGrpSpPr>
            <p:grpSpPr bwMode="auto">
              <a:xfrm>
                <a:off x="1801" y="2735"/>
                <a:ext cx="161" cy="168"/>
                <a:chOff x="594" y="1362"/>
                <a:chExt cx="161" cy="168"/>
              </a:xfrm>
            </p:grpSpPr>
            <p:sp>
              <p:nvSpPr>
                <p:cNvPr id="247" name="Oval 164">
                  <a:extLst>
                    <a:ext uri="{FF2B5EF4-FFF2-40B4-BE49-F238E27FC236}">
                      <a16:creationId xmlns:a16="http://schemas.microsoft.com/office/drawing/2014/main" id="{B62F447A-2F92-4156-95CD-5A914F6CF072}"/>
                    </a:ext>
                  </a:extLst>
                </p:cNvPr>
                <p:cNvSpPr>
                  <a:spLocks noChangeArrowheads="1"/>
                </p:cNvSpPr>
                <p:nvPr/>
              </p:nvSpPr>
              <p:spPr bwMode="auto">
                <a:xfrm>
                  <a:off x="594" y="1383"/>
                  <a:ext cx="146" cy="147"/>
                </a:xfrm>
                <a:prstGeom prst="ellipse">
                  <a:avLst/>
                </a:prstGeom>
                <a:solidFill>
                  <a:schemeClr val="bg1"/>
                </a:solidFill>
                <a:ln w="19050">
                  <a:solidFill>
                    <a:srgbClr val="FF0000"/>
                  </a:solidFill>
                  <a:round/>
                  <a:headEnd/>
                  <a:tailEnd/>
                </a:ln>
              </p:spPr>
              <p:txBody>
                <a:bodyPr wrap="none" anchor="ctr"/>
                <a:lstStyle/>
                <a:p>
                  <a:endParaRPr lang="en-US" dirty="0"/>
                </a:p>
              </p:txBody>
            </p:sp>
            <p:sp>
              <p:nvSpPr>
                <p:cNvPr id="248" name="Rectangle 165">
                  <a:extLst>
                    <a:ext uri="{FF2B5EF4-FFF2-40B4-BE49-F238E27FC236}">
                      <a16:creationId xmlns:a16="http://schemas.microsoft.com/office/drawing/2014/main" id="{506D6678-B5F4-A704-73E0-7B72A9394683}"/>
                    </a:ext>
                  </a:extLst>
                </p:cNvPr>
                <p:cNvSpPr>
                  <a:spLocks noChangeArrowheads="1"/>
                </p:cNvSpPr>
                <p:nvPr/>
              </p:nvSpPr>
              <p:spPr bwMode="auto">
                <a:xfrm>
                  <a:off x="678" y="1362"/>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sp>
              <p:nvSpPr>
                <p:cNvPr id="249" name="Line 166">
                  <a:extLst>
                    <a:ext uri="{FF2B5EF4-FFF2-40B4-BE49-F238E27FC236}">
                      <a16:creationId xmlns:a16="http://schemas.microsoft.com/office/drawing/2014/main" id="{59C45E1D-B07F-80C6-FE07-F032445AD856}"/>
                    </a:ext>
                  </a:extLst>
                </p:cNvPr>
                <p:cNvSpPr>
                  <a:spLocks noChangeShapeType="1"/>
                </p:cNvSpPr>
                <p:nvPr/>
              </p:nvSpPr>
              <p:spPr bwMode="auto">
                <a:xfrm rot="18086501" flipV="1">
                  <a:off x="720" y="1425"/>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GB" dirty="0"/>
                </a:p>
              </p:txBody>
            </p:sp>
          </p:grpSp>
          <p:grpSp>
            <p:nvGrpSpPr>
              <p:cNvPr id="243" name="Group 167">
                <a:extLst>
                  <a:ext uri="{FF2B5EF4-FFF2-40B4-BE49-F238E27FC236}">
                    <a16:creationId xmlns:a16="http://schemas.microsoft.com/office/drawing/2014/main" id="{F98FFA6E-978C-3A10-EBA0-3FA29400C577}"/>
                  </a:ext>
                </a:extLst>
              </p:cNvPr>
              <p:cNvGrpSpPr>
                <a:grpSpLocks/>
              </p:cNvGrpSpPr>
              <p:nvPr/>
            </p:nvGrpSpPr>
            <p:grpSpPr bwMode="auto">
              <a:xfrm>
                <a:off x="3979" y="2735"/>
                <a:ext cx="161" cy="168"/>
                <a:chOff x="594" y="1362"/>
                <a:chExt cx="161" cy="168"/>
              </a:xfrm>
            </p:grpSpPr>
            <p:sp>
              <p:nvSpPr>
                <p:cNvPr id="244" name="Oval 168">
                  <a:extLst>
                    <a:ext uri="{FF2B5EF4-FFF2-40B4-BE49-F238E27FC236}">
                      <a16:creationId xmlns:a16="http://schemas.microsoft.com/office/drawing/2014/main" id="{93C73D33-83A2-DE3F-F64C-F964C6F87D37}"/>
                    </a:ext>
                  </a:extLst>
                </p:cNvPr>
                <p:cNvSpPr>
                  <a:spLocks noChangeArrowheads="1"/>
                </p:cNvSpPr>
                <p:nvPr/>
              </p:nvSpPr>
              <p:spPr bwMode="auto">
                <a:xfrm>
                  <a:off x="594" y="1383"/>
                  <a:ext cx="146" cy="147"/>
                </a:xfrm>
                <a:prstGeom prst="ellipse">
                  <a:avLst/>
                </a:prstGeom>
                <a:solidFill>
                  <a:schemeClr val="bg1"/>
                </a:solidFill>
                <a:ln w="19050">
                  <a:solidFill>
                    <a:srgbClr val="FF0000"/>
                  </a:solidFill>
                  <a:round/>
                  <a:headEnd/>
                  <a:tailEnd/>
                </a:ln>
              </p:spPr>
              <p:txBody>
                <a:bodyPr wrap="none" anchor="ctr"/>
                <a:lstStyle/>
                <a:p>
                  <a:endParaRPr lang="en-US" dirty="0"/>
                </a:p>
              </p:txBody>
            </p:sp>
            <p:sp>
              <p:nvSpPr>
                <p:cNvPr id="245" name="Rectangle 169">
                  <a:extLst>
                    <a:ext uri="{FF2B5EF4-FFF2-40B4-BE49-F238E27FC236}">
                      <a16:creationId xmlns:a16="http://schemas.microsoft.com/office/drawing/2014/main" id="{088802DE-1082-A976-05F6-D33CF5B0F222}"/>
                    </a:ext>
                  </a:extLst>
                </p:cNvPr>
                <p:cNvSpPr>
                  <a:spLocks noChangeArrowheads="1"/>
                </p:cNvSpPr>
                <p:nvPr/>
              </p:nvSpPr>
              <p:spPr bwMode="auto">
                <a:xfrm>
                  <a:off x="678" y="1362"/>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sp>
              <p:nvSpPr>
                <p:cNvPr id="246" name="Line 170">
                  <a:extLst>
                    <a:ext uri="{FF2B5EF4-FFF2-40B4-BE49-F238E27FC236}">
                      <a16:creationId xmlns:a16="http://schemas.microsoft.com/office/drawing/2014/main" id="{1C22082B-88F6-99AE-5C54-26EF28331A84}"/>
                    </a:ext>
                  </a:extLst>
                </p:cNvPr>
                <p:cNvSpPr>
                  <a:spLocks noChangeShapeType="1"/>
                </p:cNvSpPr>
                <p:nvPr/>
              </p:nvSpPr>
              <p:spPr bwMode="auto">
                <a:xfrm rot="18086501" flipV="1">
                  <a:off x="720" y="1425"/>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GB" dirty="0"/>
                </a:p>
              </p:txBody>
            </p:sp>
          </p:grpSp>
        </p:grpSp>
        <p:grpSp>
          <p:nvGrpSpPr>
            <p:cNvPr id="250" name="Group 171">
              <a:extLst>
                <a:ext uri="{FF2B5EF4-FFF2-40B4-BE49-F238E27FC236}">
                  <a16:creationId xmlns:a16="http://schemas.microsoft.com/office/drawing/2014/main" id="{59C1FDD1-859D-D4E6-2396-E5CEEA4450F9}"/>
                </a:ext>
              </a:extLst>
            </p:cNvPr>
            <p:cNvGrpSpPr>
              <a:grpSpLocks/>
            </p:cNvGrpSpPr>
            <p:nvPr/>
          </p:nvGrpSpPr>
          <p:grpSpPr bwMode="auto">
            <a:xfrm>
              <a:off x="2877274" y="3636042"/>
              <a:ext cx="381000" cy="381000"/>
              <a:chOff x="4896" y="3312"/>
              <a:chExt cx="240" cy="240"/>
            </a:xfrm>
          </p:grpSpPr>
          <p:sp>
            <p:nvSpPr>
              <p:cNvPr id="251" name="Oval 172">
                <a:extLst>
                  <a:ext uri="{FF2B5EF4-FFF2-40B4-BE49-F238E27FC236}">
                    <a16:creationId xmlns:a16="http://schemas.microsoft.com/office/drawing/2014/main" id="{A6B5D3CA-620B-4944-E071-CEF4CC911F55}"/>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52" name="Line 173">
                <a:extLst>
                  <a:ext uri="{FF2B5EF4-FFF2-40B4-BE49-F238E27FC236}">
                    <a16:creationId xmlns:a16="http://schemas.microsoft.com/office/drawing/2014/main" id="{B616EE95-2C28-7B81-F9BA-8D2469174AF5}"/>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53" name="Group 174">
              <a:extLst>
                <a:ext uri="{FF2B5EF4-FFF2-40B4-BE49-F238E27FC236}">
                  <a16:creationId xmlns:a16="http://schemas.microsoft.com/office/drawing/2014/main" id="{92D96AC0-C03A-1599-BC79-1931BBDB50A7}"/>
                </a:ext>
              </a:extLst>
            </p:cNvPr>
            <p:cNvGrpSpPr>
              <a:grpSpLocks/>
            </p:cNvGrpSpPr>
            <p:nvPr/>
          </p:nvGrpSpPr>
          <p:grpSpPr bwMode="auto">
            <a:xfrm>
              <a:off x="3809137" y="3653504"/>
              <a:ext cx="381000" cy="381000"/>
              <a:chOff x="4896" y="3312"/>
              <a:chExt cx="240" cy="240"/>
            </a:xfrm>
          </p:grpSpPr>
          <p:sp>
            <p:nvSpPr>
              <p:cNvPr id="254" name="Oval 175">
                <a:extLst>
                  <a:ext uri="{FF2B5EF4-FFF2-40B4-BE49-F238E27FC236}">
                    <a16:creationId xmlns:a16="http://schemas.microsoft.com/office/drawing/2014/main" id="{3B1FFDE5-FFA8-8B8F-A472-774D318536B6}"/>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55" name="Line 176">
                <a:extLst>
                  <a:ext uri="{FF2B5EF4-FFF2-40B4-BE49-F238E27FC236}">
                    <a16:creationId xmlns:a16="http://schemas.microsoft.com/office/drawing/2014/main" id="{FD7FA889-D2DA-0BB7-1C82-5FE6945DD454}"/>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56" name="Group 177">
              <a:extLst>
                <a:ext uri="{FF2B5EF4-FFF2-40B4-BE49-F238E27FC236}">
                  <a16:creationId xmlns:a16="http://schemas.microsoft.com/office/drawing/2014/main" id="{976B083B-61B5-79EC-6C97-221C4FCABA4D}"/>
                </a:ext>
              </a:extLst>
            </p:cNvPr>
            <p:cNvGrpSpPr>
              <a:grpSpLocks/>
            </p:cNvGrpSpPr>
            <p:nvPr/>
          </p:nvGrpSpPr>
          <p:grpSpPr bwMode="auto">
            <a:xfrm>
              <a:off x="4939437" y="3672554"/>
              <a:ext cx="381000" cy="381000"/>
              <a:chOff x="4896" y="3312"/>
              <a:chExt cx="240" cy="240"/>
            </a:xfrm>
          </p:grpSpPr>
          <p:sp>
            <p:nvSpPr>
              <p:cNvPr id="257" name="Oval 178">
                <a:extLst>
                  <a:ext uri="{FF2B5EF4-FFF2-40B4-BE49-F238E27FC236}">
                    <a16:creationId xmlns:a16="http://schemas.microsoft.com/office/drawing/2014/main" id="{036C0464-537C-2C48-92BF-3B74FFC871B1}"/>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58" name="Line 179">
                <a:extLst>
                  <a:ext uri="{FF2B5EF4-FFF2-40B4-BE49-F238E27FC236}">
                    <a16:creationId xmlns:a16="http://schemas.microsoft.com/office/drawing/2014/main" id="{4CA2D04D-F1E4-2BA0-B782-ED7CE3E53685}"/>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59" name="Group 180">
              <a:extLst>
                <a:ext uri="{FF2B5EF4-FFF2-40B4-BE49-F238E27FC236}">
                  <a16:creationId xmlns:a16="http://schemas.microsoft.com/office/drawing/2014/main" id="{FE8FC59A-937E-C8F9-C645-922F801D06E2}"/>
                </a:ext>
              </a:extLst>
            </p:cNvPr>
            <p:cNvGrpSpPr>
              <a:grpSpLocks/>
            </p:cNvGrpSpPr>
            <p:nvPr/>
          </p:nvGrpSpPr>
          <p:grpSpPr bwMode="auto">
            <a:xfrm>
              <a:off x="1056412" y="4437729"/>
              <a:ext cx="276225" cy="277813"/>
              <a:chOff x="4896" y="3312"/>
              <a:chExt cx="240" cy="240"/>
            </a:xfrm>
          </p:grpSpPr>
          <p:sp>
            <p:nvSpPr>
              <p:cNvPr id="260" name="Oval 181">
                <a:extLst>
                  <a:ext uri="{FF2B5EF4-FFF2-40B4-BE49-F238E27FC236}">
                    <a16:creationId xmlns:a16="http://schemas.microsoft.com/office/drawing/2014/main" id="{105C05DC-F85C-0AD6-D80A-B7E6E693D556}"/>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61" name="Line 182">
                <a:extLst>
                  <a:ext uri="{FF2B5EF4-FFF2-40B4-BE49-F238E27FC236}">
                    <a16:creationId xmlns:a16="http://schemas.microsoft.com/office/drawing/2014/main" id="{76E6BE15-03C2-8D8C-B228-A958FC57F764}"/>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62" name="Group 183">
              <a:extLst>
                <a:ext uri="{FF2B5EF4-FFF2-40B4-BE49-F238E27FC236}">
                  <a16:creationId xmlns:a16="http://schemas.microsoft.com/office/drawing/2014/main" id="{B74DF789-55F8-918D-8E23-253B46303AEF}"/>
                </a:ext>
              </a:extLst>
            </p:cNvPr>
            <p:cNvGrpSpPr>
              <a:grpSpLocks/>
            </p:cNvGrpSpPr>
            <p:nvPr/>
          </p:nvGrpSpPr>
          <p:grpSpPr bwMode="auto">
            <a:xfrm>
              <a:off x="2558187" y="4261517"/>
              <a:ext cx="147637" cy="346075"/>
              <a:chOff x="1336" y="1152"/>
              <a:chExt cx="296" cy="720"/>
            </a:xfrm>
          </p:grpSpPr>
          <p:sp>
            <p:nvSpPr>
              <p:cNvPr id="263" name="Line 184">
                <a:extLst>
                  <a:ext uri="{FF2B5EF4-FFF2-40B4-BE49-F238E27FC236}">
                    <a16:creationId xmlns:a16="http://schemas.microsoft.com/office/drawing/2014/main" id="{0607AA07-1DB9-EC3A-264A-6273612B622E}"/>
                  </a:ext>
                </a:extLst>
              </p:cNvPr>
              <p:cNvSpPr>
                <a:spLocks noChangeShapeType="1"/>
              </p:cNvSpPr>
              <p:nvPr/>
            </p:nvSpPr>
            <p:spPr bwMode="auto">
              <a:xfrm>
                <a:off x="1344" y="115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64" name="Line 185">
                <a:extLst>
                  <a:ext uri="{FF2B5EF4-FFF2-40B4-BE49-F238E27FC236}">
                    <a16:creationId xmlns:a16="http://schemas.microsoft.com/office/drawing/2014/main" id="{359209D3-9CBF-E0F1-EC24-AFCE72EC958E}"/>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65" name="Line 186">
                <a:extLst>
                  <a:ext uri="{FF2B5EF4-FFF2-40B4-BE49-F238E27FC236}">
                    <a16:creationId xmlns:a16="http://schemas.microsoft.com/office/drawing/2014/main" id="{971F93D9-3648-E197-0B58-B7D3EAC5181E}"/>
                  </a:ext>
                </a:extLst>
              </p:cNvPr>
              <p:cNvSpPr>
                <a:spLocks noChangeShapeType="1"/>
              </p:cNvSpPr>
              <p:nvPr/>
            </p:nvSpPr>
            <p:spPr bwMode="auto">
              <a:xfrm>
                <a:off x="1336" y="139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66" name="Line 187">
                <a:extLst>
                  <a:ext uri="{FF2B5EF4-FFF2-40B4-BE49-F238E27FC236}">
                    <a16:creationId xmlns:a16="http://schemas.microsoft.com/office/drawing/2014/main" id="{75653046-E3E1-4E1D-D6DF-45BE22F93855}"/>
                  </a:ext>
                </a:extLst>
              </p:cNvPr>
              <p:cNvSpPr>
                <a:spLocks noChangeShapeType="1"/>
              </p:cNvSpPr>
              <p:nvPr/>
            </p:nvSpPr>
            <p:spPr bwMode="auto">
              <a:xfrm>
                <a:off x="1336" y="163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67" name="Line 188">
                <a:extLst>
                  <a:ext uri="{FF2B5EF4-FFF2-40B4-BE49-F238E27FC236}">
                    <a16:creationId xmlns:a16="http://schemas.microsoft.com/office/drawing/2014/main" id="{2FDFA08E-DF92-12D5-5064-1E8058C60F0A}"/>
                  </a:ext>
                </a:extLst>
              </p:cNvPr>
              <p:cNvSpPr>
                <a:spLocks noChangeShapeType="1"/>
              </p:cNvSpPr>
              <p:nvPr/>
            </p:nvSpPr>
            <p:spPr bwMode="auto">
              <a:xfrm>
                <a:off x="1344" y="187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68" name="Group 189">
              <a:extLst>
                <a:ext uri="{FF2B5EF4-FFF2-40B4-BE49-F238E27FC236}">
                  <a16:creationId xmlns:a16="http://schemas.microsoft.com/office/drawing/2014/main" id="{A704A230-8A0E-6D3F-5F00-FE97BAD21EC2}"/>
                </a:ext>
              </a:extLst>
            </p:cNvPr>
            <p:cNvGrpSpPr>
              <a:grpSpLocks/>
            </p:cNvGrpSpPr>
            <p:nvPr/>
          </p:nvGrpSpPr>
          <p:grpSpPr bwMode="auto">
            <a:xfrm>
              <a:off x="6111012" y="4309142"/>
              <a:ext cx="179387" cy="366712"/>
              <a:chOff x="1336" y="1152"/>
              <a:chExt cx="296" cy="720"/>
            </a:xfrm>
          </p:grpSpPr>
          <p:sp>
            <p:nvSpPr>
              <p:cNvPr id="269" name="Line 190">
                <a:extLst>
                  <a:ext uri="{FF2B5EF4-FFF2-40B4-BE49-F238E27FC236}">
                    <a16:creationId xmlns:a16="http://schemas.microsoft.com/office/drawing/2014/main" id="{D0520893-FEFD-B378-F059-389A3D5F4F5A}"/>
                  </a:ext>
                </a:extLst>
              </p:cNvPr>
              <p:cNvSpPr>
                <a:spLocks noChangeShapeType="1"/>
              </p:cNvSpPr>
              <p:nvPr/>
            </p:nvSpPr>
            <p:spPr bwMode="auto">
              <a:xfrm>
                <a:off x="1344" y="115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0" name="Line 191">
                <a:extLst>
                  <a:ext uri="{FF2B5EF4-FFF2-40B4-BE49-F238E27FC236}">
                    <a16:creationId xmlns:a16="http://schemas.microsoft.com/office/drawing/2014/main" id="{C4807B5F-1D59-4C50-102D-99DC4368261B}"/>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1" name="Line 192">
                <a:extLst>
                  <a:ext uri="{FF2B5EF4-FFF2-40B4-BE49-F238E27FC236}">
                    <a16:creationId xmlns:a16="http://schemas.microsoft.com/office/drawing/2014/main" id="{4AF55131-8FAB-890C-DB2F-B4068D36973A}"/>
                  </a:ext>
                </a:extLst>
              </p:cNvPr>
              <p:cNvSpPr>
                <a:spLocks noChangeShapeType="1"/>
              </p:cNvSpPr>
              <p:nvPr/>
            </p:nvSpPr>
            <p:spPr bwMode="auto">
              <a:xfrm>
                <a:off x="1336" y="139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2" name="Line 193">
                <a:extLst>
                  <a:ext uri="{FF2B5EF4-FFF2-40B4-BE49-F238E27FC236}">
                    <a16:creationId xmlns:a16="http://schemas.microsoft.com/office/drawing/2014/main" id="{E3369F13-3C27-FA18-75D7-91EDBE4800FA}"/>
                  </a:ext>
                </a:extLst>
              </p:cNvPr>
              <p:cNvSpPr>
                <a:spLocks noChangeShapeType="1"/>
              </p:cNvSpPr>
              <p:nvPr/>
            </p:nvSpPr>
            <p:spPr bwMode="auto">
              <a:xfrm>
                <a:off x="1336" y="163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3" name="Line 194">
                <a:extLst>
                  <a:ext uri="{FF2B5EF4-FFF2-40B4-BE49-F238E27FC236}">
                    <a16:creationId xmlns:a16="http://schemas.microsoft.com/office/drawing/2014/main" id="{9D1E295D-F30D-BEF4-C63E-E6F991A6387B}"/>
                  </a:ext>
                </a:extLst>
              </p:cNvPr>
              <p:cNvSpPr>
                <a:spLocks noChangeShapeType="1"/>
              </p:cNvSpPr>
              <p:nvPr/>
            </p:nvSpPr>
            <p:spPr bwMode="auto">
              <a:xfrm>
                <a:off x="1344" y="187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74" name="Group 195">
              <a:extLst>
                <a:ext uri="{FF2B5EF4-FFF2-40B4-BE49-F238E27FC236}">
                  <a16:creationId xmlns:a16="http://schemas.microsoft.com/office/drawing/2014/main" id="{37CEFE44-59EA-D3FA-EBB4-120AEBAB286E}"/>
                </a:ext>
              </a:extLst>
            </p:cNvPr>
            <p:cNvGrpSpPr>
              <a:grpSpLocks/>
            </p:cNvGrpSpPr>
            <p:nvPr/>
          </p:nvGrpSpPr>
          <p:grpSpPr bwMode="auto">
            <a:xfrm>
              <a:off x="819874" y="4258342"/>
              <a:ext cx="168275" cy="366712"/>
              <a:chOff x="1336" y="1152"/>
              <a:chExt cx="296" cy="720"/>
            </a:xfrm>
          </p:grpSpPr>
          <p:sp>
            <p:nvSpPr>
              <p:cNvPr id="275" name="Line 196">
                <a:extLst>
                  <a:ext uri="{FF2B5EF4-FFF2-40B4-BE49-F238E27FC236}">
                    <a16:creationId xmlns:a16="http://schemas.microsoft.com/office/drawing/2014/main" id="{B463E48C-67EA-7847-9C16-3C18658630D1}"/>
                  </a:ext>
                </a:extLst>
              </p:cNvPr>
              <p:cNvSpPr>
                <a:spLocks noChangeShapeType="1"/>
              </p:cNvSpPr>
              <p:nvPr/>
            </p:nvSpPr>
            <p:spPr bwMode="auto">
              <a:xfrm>
                <a:off x="1344" y="115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6" name="Line 197">
                <a:extLst>
                  <a:ext uri="{FF2B5EF4-FFF2-40B4-BE49-F238E27FC236}">
                    <a16:creationId xmlns:a16="http://schemas.microsoft.com/office/drawing/2014/main" id="{1733BE01-D5E0-970E-8739-58DB42AF46F1}"/>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7" name="Line 198">
                <a:extLst>
                  <a:ext uri="{FF2B5EF4-FFF2-40B4-BE49-F238E27FC236}">
                    <a16:creationId xmlns:a16="http://schemas.microsoft.com/office/drawing/2014/main" id="{8448C992-F302-7F7A-F1D4-E45C26C1D52D}"/>
                  </a:ext>
                </a:extLst>
              </p:cNvPr>
              <p:cNvSpPr>
                <a:spLocks noChangeShapeType="1"/>
              </p:cNvSpPr>
              <p:nvPr/>
            </p:nvSpPr>
            <p:spPr bwMode="auto">
              <a:xfrm>
                <a:off x="1336" y="139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8" name="Line 199">
                <a:extLst>
                  <a:ext uri="{FF2B5EF4-FFF2-40B4-BE49-F238E27FC236}">
                    <a16:creationId xmlns:a16="http://schemas.microsoft.com/office/drawing/2014/main" id="{55EC0060-EC21-A64D-4AA8-74CCB91BACD1}"/>
                  </a:ext>
                </a:extLst>
              </p:cNvPr>
              <p:cNvSpPr>
                <a:spLocks noChangeShapeType="1"/>
              </p:cNvSpPr>
              <p:nvPr/>
            </p:nvSpPr>
            <p:spPr bwMode="auto">
              <a:xfrm>
                <a:off x="1336" y="163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279" name="Line 200">
                <a:extLst>
                  <a:ext uri="{FF2B5EF4-FFF2-40B4-BE49-F238E27FC236}">
                    <a16:creationId xmlns:a16="http://schemas.microsoft.com/office/drawing/2014/main" id="{21B62130-A4CE-FDDE-A09B-69893843A085}"/>
                  </a:ext>
                </a:extLst>
              </p:cNvPr>
              <p:cNvSpPr>
                <a:spLocks noChangeShapeType="1"/>
              </p:cNvSpPr>
              <p:nvPr/>
            </p:nvSpPr>
            <p:spPr bwMode="auto">
              <a:xfrm>
                <a:off x="1344" y="187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80" name="Group 201">
              <a:extLst>
                <a:ext uri="{FF2B5EF4-FFF2-40B4-BE49-F238E27FC236}">
                  <a16:creationId xmlns:a16="http://schemas.microsoft.com/office/drawing/2014/main" id="{EF4B5E53-9057-623B-7EC0-E4711718360A}"/>
                </a:ext>
              </a:extLst>
            </p:cNvPr>
            <p:cNvGrpSpPr>
              <a:grpSpLocks/>
            </p:cNvGrpSpPr>
            <p:nvPr/>
          </p:nvGrpSpPr>
          <p:grpSpPr bwMode="auto">
            <a:xfrm>
              <a:off x="2767737" y="4455192"/>
              <a:ext cx="276225" cy="277812"/>
              <a:chOff x="4896" y="3312"/>
              <a:chExt cx="240" cy="240"/>
            </a:xfrm>
          </p:grpSpPr>
          <p:sp>
            <p:nvSpPr>
              <p:cNvPr id="281" name="Oval 202">
                <a:extLst>
                  <a:ext uri="{FF2B5EF4-FFF2-40B4-BE49-F238E27FC236}">
                    <a16:creationId xmlns:a16="http://schemas.microsoft.com/office/drawing/2014/main" id="{DCF60F90-9723-DF30-169B-726C771F5689}"/>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82" name="Line 203">
                <a:extLst>
                  <a:ext uri="{FF2B5EF4-FFF2-40B4-BE49-F238E27FC236}">
                    <a16:creationId xmlns:a16="http://schemas.microsoft.com/office/drawing/2014/main" id="{D4FAE9AC-7D81-453C-0086-8BF8C774F8C7}"/>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grpSp>
          <p:nvGrpSpPr>
            <p:cNvPr id="283" name="Group 204">
              <a:extLst>
                <a:ext uri="{FF2B5EF4-FFF2-40B4-BE49-F238E27FC236}">
                  <a16:creationId xmlns:a16="http://schemas.microsoft.com/office/drawing/2014/main" id="{3A4713E1-18A1-30DC-C158-E669584E8CDE}"/>
                </a:ext>
              </a:extLst>
            </p:cNvPr>
            <p:cNvGrpSpPr>
              <a:grpSpLocks/>
            </p:cNvGrpSpPr>
            <p:nvPr/>
          </p:nvGrpSpPr>
          <p:grpSpPr bwMode="auto">
            <a:xfrm>
              <a:off x="6334849" y="4461542"/>
              <a:ext cx="276225" cy="277812"/>
              <a:chOff x="4896" y="3312"/>
              <a:chExt cx="240" cy="240"/>
            </a:xfrm>
          </p:grpSpPr>
          <p:sp>
            <p:nvSpPr>
              <p:cNvPr id="284" name="Oval 205">
                <a:extLst>
                  <a:ext uri="{FF2B5EF4-FFF2-40B4-BE49-F238E27FC236}">
                    <a16:creationId xmlns:a16="http://schemas.microsoft.com/office/drawing/2014/main" id="{9E4B6363-AAAB-779F-B8B5-E7F991724C16}"/>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85" name="Line 206">
                <a:extLst>
                  <a:ext uri="{FF2B5EF4-FFF2-40B4-BE49-F238E27FC236}">
                    <a16:creationId xmlns:a16="http://schemas.microsoft.com/office/drawing/2014/main" id="{AAC23B85-1B06-F326-697B-561A2AF204F6}"/>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dirty="0"/>
              </a:p>
            </p:txBody>
          </p:sp>
        </p:grpSp>
        <p:sp>
          <p:nvSpPr>
            <p:cNvPr id="286" name="AutoShape 208">
              <a:extLst>
                <a:ext uri="{FF2B5EF4-FFF2-40B4-BE49-F238E27FC236}">
                  <a16:creationId xmlns:a16="http://schemas.microsoft.com/office/drawing/2014/main" id="{192FD50C-83C5-A452-F17D-3ED8F5930820}"/>
                </a:ext>
              </a:extLst>
            </p:cNvPr>
            <p:cNvSpPr>
              <a:spLocks noChangeArrowheads="1"/>
            </p:cNvSpPr>
            <p:nvPr/>
          </p:nvSpPr>
          <p:spPr bwMode="auto">
            <a:xfrm>
              <a:off x="6001474" y="1996154"/>
              <a:ext cx="990600" cy="685800"/>
            </a:xfrm>
            <a:prstGeom prst="irregularSeal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0"/>
                </a:spcBef>
              </a:pPr>
              <a:r>
                <a:rPr lang="en-US" sz="800" b="0" dirty="0">
                  <a:solidFill>
                    <a:srgbClr val="FF0000"/>
                  </a:solidFill>
                  <a:latin typeface="Comic Sans MS" pitchFamily="66" charset="0"/>
                </a:rPr>
                <a:t>30/60/90</a:t>
              </a:r>
            </a:p>
            <a:p>
              <a:pPr>
                <a:lnSpc>
                  <a:spcPct val="100000"/>
                </a:lnSpc>
                <a:spcBef>
                  <a:spcPct val="0"/>
                </a:spcBef>
              </a:pPr>
              <a:r>
                <a:rPr lang="en-US" sz="800" b="0" dirty="0">
                  <a:solidFill>
                    <a:srgbClr val="FF0000"/>
                  </a:solidFill>
                  <a:latin typeface="Comic Sans MS" pitchFamily="66" charset="0"/>
                </a:rPr>
                <a:t>Forecast</a:t>
              </a:r>
            </a:p>
          </p:txBody>
        </p:sp>
        <p:sp>
          <p:nvSpPr>
            <p:cNvPr id="287" name="AutoShape 209">
              <a:extLst>
                <a:ext uri="{FF2B5EF4-FFF2-40B4-BE49-F238E27FC236}">
                  <a16:creationId xmlns:a16="http://schemas.microsoft.com/office/drawing/2014/main" id="{135F3269-C783-1048-2493-A7C79C9D84DE}"/>
                </a:ext>
              </a:extLst>
            </p:cNvPr>
            <p:cNvSpPr>
              <a:spLocks noChangeArrowheads="1"/>
            </p:cNvSpPr>
            <p:nvPr/>
          </p:nvSpPr>
          <p:spPr bwMode="auto">
            <a:xfrm>
              <a:off x="2267674" y="2224754"/>
              <a:ext cx="838200" cy="6096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0"/>
                </a:spcBef>
              </a:pPr>
              <a:r>
                <a:rPr lang="en-US" sz="800" b="0" dirty="0">
                  <a:solidFill>
                    <a:srgbClr val="FF0000"/>
                  </a:solidFill>
                  <a:latin typeface="Comic Sans MS" pitchFamily="66" charset="0"/>
                </a:rPr>
                <a:t>Weekly</a:t>
              </a:r>
            </a:p>
            <a:p>
              <a:pPr>
                <a:lnSpc>
                  <a:spcPct val="100000"/>
                </a:lnSpc>
                <a:spcBef>
                  <a:spcPct val="0"/>
                </a:spcBef>
              </a:pPr>
              <a:r>
                <a:rPr lang="en-US" sz="800" b="0" dirty="0">
                  <a:solidFill>
                    <a:srgbClr val="FF0000"/>
                  </a:solidFill>
                  <a:latin typeface="Comic Sans MS" pitchFamily="66" charset="0"/>
                </a:rPr>
                <a:t>Fax</a:t>
              </a:r>
            </a:p>
          </p:txBody>
        </p:sp>
        <p:sp>
          <p:nvSpPr>
            <p:cNvPr id="288" name="AutoShape 210">
              <a:extLst>
                <a:ext uri="{FF2B5EF4-FFF2-40B4-BE49-F238E27FC236}">
                  <a16:creationId xmlns:a16="http://schemas.microsoft.com/office/drawing/2014/main" id="{D0992AB7-7CA9-65A4-5EFE-AEC6C6289C08}"/>
                </a:ext>
              </a:extLst>
            </p:cNvPr>
            <p:cNvSpPr>
              <a:spLocks noChangeArrowheads="1"/>
            </p:cNvSpPr>
            <p:nvPr/>
          </p:nvSpPr>
          <p:spPr bwMode="auto">
            <a:xfrm>
              <a:off x="1429474" y="4553617"/>
              <a:ext cx="9144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0"/>
                </a:spcBef>
              </a:pPr>
              <a:r>
                <a:rPr lang="en-US" sz="800" b="0" dirty="0">
                  <a:solidFill>
                    <a:srgbClr val="FF0000"/>
                  </a:solidFill>
                  <a:latin typeface="Comic Sans MS" pitchFamily="66" charset="0"/>
                </a:rPr>
                <a:t>Reduce</a:t>
              </a:r>
            </a:p>
            <a:p>
              <a:pPr>
                <a:lnSpc>
                  <a:spcPct val="100000"/>
                </a:lnSpc>
                <a:spcBef>
                  <a:spcPct val="0"/>
                </a:spcBef>
              </a:pPr>
              <a:r>
                <a:rPr lang="en-US" sz="800" b="0" dirty="0">
                  <a:solidFill>
                    <a:srgbClr val="FF0000"/>
                  </a:solidFill>
                  <a:latin typeface="Comic Sans MS" pitchFamily="66" charset="0"/>
                </a:rPr>
                <a:t>Manpower</a:t>
              </a:r>
            </a:p>
          </p:txBody>
        </p:sp>
        <p:sp>
          <p:nvSpPr>
            <p:cNvPr id="289" name="AutoShape 211">
              <a:extLst>
                <a:ext uri="{FF2B5EF4-FFF2-40B4-BE49-F238E27FC236}">
                  <a16:creationId xmlns:a16="http://schemas.microsoft.com/office/drawing/2014/main" id="{BA9ABB59-3935-DCB0-23A0-2873A5BDB429}"/>
                </a:ext>
              </a:extLst>
            </p:cNvPr>
            <p:cNvSpPr>
              <a:spLocks noChangeArrowheads="1"/>
            </p:cNvSpPr>
            <p:nvPr/>
          </p:nvSpPr>
          <p:spPr bwMode="auto">
            <a:xfrm>
              <a:off x="5407749" y="5348954"/>
              <a:ext cx="898525"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0"/>
                </a:spcBef>
              </a:pPr>
              <a:r>
                <a:rPr lang="en-US" sz="800" b="0" dirty="0">
                  <a:solidFill>
                    <a:srgbClr val="FF0000"/>
                  </a:solidFill>
                  <a:latin typeface="Comic Sans MS" pitchFamily="66" charset="0"/>
                </a:rPr>
                <a:t>Improve</a:t>
              </a:r>
            </a:p>
            <a:p>
              <a:pPr>
                <a:lnSpc>
                  <a:spcPct val="100000"/>
                </a:lnSpc>
                <a:spcBef>
                  <a:spcPct val="0"/>
                </a:spcBef>
              </a:pPr>
              <a:r>
                <a:rPr lang="en-US" sz="800" b="0" dirty="0">
                  <a:solidFill>
                    <a:srgbClr val="FF0000"/>
                  </a:solidFill>
                  <a:latin typeface="Comic Sans MS" pitchFamily="66" charset="0"/>
                </a:rPr>
                <a:t>Quality</a:t>
              </a:r>
            </a:p>
          </p:txBody>
        </p:sp>
        <p:sp>
          <p:nvSpPr>
            <p:cNvPr id="290" name="AutoShape 212">
              <a:extLst>
                <a:ext uri="{FF2B5EF4-FFF2-40B4-BE49-F238E27FC236}">
                  <a16:creationId xmlns:a16="http://schemas.microsoft.com/office/drawing/2014/main" id="{55648660-3481-CFDE-07F8-C5B536AE9777}"/>
                </a:ext>
              </a:extLst>
            </p:cNvPr>
            <p:cNvSpPr>
              <a:spLocks noChangeArrowheads="1"/>
            </p:cNvSpPr>
            <p:nvPr/>
          </p:nvSpPr>
          <p:spPr bwMode="auto">
            <a:xfrm>
              <a:off x="2864574" y="5088604"/>
              <a:ext cx="746125"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30000"/>
                </a:spcBef>
              </a:pPr>
              <a:r>
                <a:rPr lang="en-US" sz="800" b="0" dirty="0">
                  <a:solidFill>
                    <a:srgbClr val="FF0000"/>
                  </a:solidFill>
                  <a:latin typeface="Comic Sans MS" pitchFamily="66" charset="0"/>
                </a:rPr>
                <a:t>1 pc Flow</a:t>
              </a:r>
            </a:p>
          </p:txBody>
        </p:sp>
        <p:sp>
          <p:nvSpPr>
            <p:cNvPr id="291" name="AutoShape 213">
              <a:extLst>
                <a:ext uri="{FF2B5EF4-FFF2-40B4-BE49-F238E27FC236}">
                  <a16:creationId xmlns:a16="http://schemas.microsoft.com/office/drawing/2014/main" id="{344390BD-A1B4-82EF-8E3D-F6194DB592AE}"/>
                </a:ext>
              </a:extLst>
            </p:cNvPr>
            <p:cNvSpPr>
              <a:spLocks noChangeArrowheads="1"/>
            </p:cNvSpPr>
            <p:nvPr/>
          </p:nvSpPr>
          <p:spPr bwMode="auto">
            <a:xfrm>
              <a:off x="5849074" y="4739354"/>
              <a:ext cx="9906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0"/>
                </a:spcBef>
              </a:pPr>
              <a:r>
                <a:rPr lang="en-US" sz="800" b="0" dirty="0">
                  <a:solidFill>
                    <a:srgbClr val="FF0000"/>
                  </a:solidFill>
                  <a:latin typeface="Comic Sans MS" pitchFamily="66" charset="0"/>
                </a:rPr>
                <a:t>Improve</a:t>
              </a:r>
            </a:p>
            <a:p>
              <a:pPr>
                <a:lnSpc>
                  <a:spcPct val="100000"/>
                </a:lnSpc>
                <a:spcBef>
                  <a:spcPct val="0"/>
                </a:spcBef>
              </a:pPr>
              <a:r>
                <a:rPr lang="en-US" sz="800" b="0" dirty="0">
                  <a:solidFill>
                    <a:srgbClr val="FF0000"/>
                  </a:solidFill>
                  <a:latin typeface="Comic Sans MS" pitchFamily="66" charset="0"/>
                </a:rPr>
                <a:t>DOI</a:t>
              </a:r>
            </a:p>
          </p:txBody>
        </p:sp>
        <p:sp>
          <p:nvSpPr>
            <p:cNvPr id="292" name="Content Placeholder 5">
              <a:extLst>
                <a:ext uri="{FF2B5EF4-FFF2-40B4-BE49-F238E27FC236}">
                  <a16:creationId xmlns:a16="http://schemas.microsoft.com/office/drawing/2014/main" id="{E16B1094-F455-936A-7899-14A37205693A}"/>
                </a:ext>
              </a:extLst>
            </p:cNvPr>
            <p:cNvSpPr txBox="1">
              <a:spLocks/>
            </p:cNvSpPr>
            <p:nvPr/>
          </p:nvSpPr>
          <p:spPr>
            <a:xfrm>
              <a:off x="400775" y="1619916"/>
              <a:ext cx="2111376" cy="795337"/>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itchFamily="2" charset="2"/>
                <a:buNone/>
              </a:pPr>
              <a:r>
                <a:rPr lang="en-GB" sz="1400">
                  <a:solidFill>
                    <a:schemeClr val="bg1"/>
                  </a:solidFill>
                </a:rPr>
                <a:t>Business Level VSM</a:t>
              </a:r>
              <a:br>
                <a:rPr lang="en-GB" sz="1400">
                  <a:solidFill>
                    <a:schemeClr val="bg1"/>
                  </a:solidFill>
                </a:rPr>
              </a:br>
              <a:r>
                <a:rPr lang="en-GB" sz="1400">
                  <a:solidFill>
                    <a:schemeClr val="bg1"/>
                  </a:solidFill>
                </a:rPr>
                <a:t>Highlighting Project Opportunities</a:t>
              </a:r>
              <a:endParaRPr lang="en-GB" sz="1400" dirty="0">
                <a:solidFill>
                  <a:schemeClr val="bg1"/>
                </a:solidFill>
              </a:endParaRPr>
            </a:p>
          </p:txBody>
        </p:sp>
      </p:grpSp>
    </p:spTree>
    <p:extLst>
      <p:ext uri="{BB962C8B-B14F-4D97-AF65-F5344CB8AC3E}">
        <p14:creationId xmlns:p14="http://schemas.microsoft.com/office/powerpoint/2010/main" val="1115979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dirty="0"/>
              <a:t>Mapping the Current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73" name="Group 72">
            <a:extLst>
              <a:ext uri="{FF2B5EF4-FFF2-40B4-BE49-F238E27FC236}">
                <a16:creationId xmlns:a16="http://schemas.microsoft.com/office/drawing/2014/main" id="{596290AF-C587-1087-1893-90325826FF95}"/>
              </a:ext>
            </a:extLst>
          </p:cNvPr>
          <p:cNvGrpSpPr/>
          <p:nvPr/>
        </p:nvGrpSpPr>
        <p:grpSpPr>
          <a:xfrm>
            <a:off x="838200" y="297639"/>
            <a:ext cx="4451430" cy="307138"/>
            <a:chOff x="838200" y="297639"/>
            <a:chExt cx="4451430" cy="307138"/>
          </a:xfrm>
        </p:grpSpPr>
        <p:grpSp>
          <p:nvGrpSpPr>
            <p:cNvPr id="74" name="Group 73">
              <a:extLst>
                <a:ext uri="{FF2B5EF4-FFF2-40B4-BE49-F238E27FC236}">
                  <a16:creationId xmlns:a16="http://schemas.microsoft.com/office/drawing/2014/main" id="{55420A0E-1716-D817-5D49-673A6791BCBA}"/>
                </a:ext>
              </a:extLst>
            </p:cNvPr>
            <p:cNvGrpSpPr/>
            <p:nvPr/>
          </p:nvGrpSpPr>
          <p:grpSpPr>
            <a:xfrm>
              <a:off x="838200" y="297639"/>
              <a:ext cx="1687517" cy="290657"/>
              <a:chOff x="838200" y="297639"/>
              <a:chExt cx="1687517" cy="290657"/>
            </a:xfrm>
          </p:grpSpPr>
          <p:sp>
            <p:nvSpPr>
              <p:cNvPr id="76" name="AutoShape 9">
                <a:extLst>
                  <a:ext uri="{FF2B5EF4-FFF2-40B4-BE49-F238E27FC236}">
                    <a16:creationId xmlns:a16="http://schemas.microsoft.com/office/drawing/2014/main" id="{6074AD7D-C0A3-C405-8EFE-14F55A84C09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7" name="AutoShape 9">
                <a:extLst>
                  <a:ext uri="{FF2B5EF4-FFF2-40B4-BE49-F238E27FC236}">
                    <a16:creationId xmlns:a16="http://schemas.microsoft.com/office/drawing/2014/main" id="{495591B8-ED53-108D-70AB-857D2357221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8" name="Group 77">
                <a:extLst>
                  <a:ext uri="{FF2B5EF4-FFF2-40B4-BE49-F238E27FC236}">
                    <a16:creationId xmlns:a16="http://schemas.microsoft.com/office/drawing/2014/main" id="{A309B071-970D-7F6F-2D90-6C25D07E5896}"/>
                  </a:ext>
                </a:extLst>
              </p:cNvPr>
              <p:cNvGrpSpPr/>
              <p:nvPr/>
            </p:nvGrpSpPr>
            <p:grpSpPr>
              <a:xfrm>
                <a:off x="838200" y="297639"/>
                <a:ext cx="1060167" cy="290657"/>
                <a:chOff x="826426" y="4041857"/>
                <a:chExt cx="1060167" cy="290657"/>
              </a:xfrm>
            </p:grpSpPr>
            <p:sp>
              <p:nvSpPr>
                <p:cNvPr id="79" name="AutoShape 9">
                  <a:extLst>
                    <a:ext uri="{FF2B5EF4-FFF2-40B4-BE49-F238E27FC236}">
                      <a16:creationId xmlns:a16="http://schemas.microsoft.com/office/drawing/2014/main" id="{53CC701B-01B3-2326-9C4B-E6943BDA6FC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0" name="AutoShape 11">
                  <a:extLst>
                    <a:ext uri="{FF2B5EF4-FFF2-40B4-BE49-F238E27FC236}">
                      <a16:creationId xmlns:a16="http://schemas.microsoft.com/office/drawing/2014/main" id="{0483702F-E9D3-2DA3-CAAC-03A6548B6D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1" name="AutoShape 10">
                  <a:extLst>
                    <a:ext uri="{FF2B5EF4-FFF2-40B4-BE49-F238E27FC236}">
                      <a16:creationId xmlns:a16="http://schemas.microsoft.com/office/drawing/2014/main" id="{6D4D359F-0C72-711E-375E-E91618E44D0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5" name="TextBox 74">
              <a:extLst>
                <a:ext uri="{FF2B5EF4-FFF2-40B4-BE49-F238E27FC236}">
                  <a16:creationId xmlns:a16="http://schemas.microsoft.com/office/drawing/2014/main" id="{BB900A69-B31E-463E-6DC0-AD680F4BF772}"/>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23" name="Group 22">
            <a:extLst>
              <a:ext uri="{FF2B5EF4-FFF2-40B4-BE49-F238E27FC236}">
                <a16:creationId xmlns:a16="http://schemas.microsoft.com/office/drawing/2014/main" id="{8DC68480-E69D-6A1D-1B97-9245F6FAD0B5}"/>
              </a:ext>
            </a:extLst>
          </p:cNvPr>
          <p:cNvGrpSpPr/>
          <p:nvPr/>
        </p:nvGrpSpPr>
        <p:grpSpPr>
          <a:xfrm>
            <a:off x="1372334" y="1819276"/>
            <a:ext cx="9447332" cy="3840527"/>
            <a:chOff x="773114" y="1819276"/>
            <a:chExt cx="7947025" cy="3481388"/>
          </a:xfrm>
        </p:grpSpPr>
        <p:sp>
          <p:nvSpPr>
            <p:cNvPr id="3" name="AutoShape 3">
              <a:extLst>
                <a:ext uri="{FF2B5EF4-FFF2-40B4-BE49-F238E27FC236}">
                  <a16:creationId xmlns:a16="http://schemas.microsoft.com/office/drawing/2014/main" id="{0C0C23FD-F9F5-B971-FDDA-1A8CED729D39}"/>
                </a:ext>
              </a:extLst>
            </p:cNvPr>
            <p:cNvSpPr>
              <a:spLocks noChangeArrowheads="1"/>
            </p:cNvSpPr>
            <p:nvPr/>
          </p:nvSpPr>
          <p:spPr bwMode="auto">
            <a:xfrm>
              <a:off x="4611689" y="2597150"/>
              <a:ext cx="285751" cy="2493963"/>
            </a:xfrm>
            <a:prstGeom prst="rightArrow">
              <a:avLst>
                <a:gd name="adj1" fmla="val 67278"/>
                <a:gd name="adj2" fmla="val 72222"/>
              </a:avLst>
            </a:prstGeom>
            <a:solidFill>
              <a:schemeClr val="accent1"/>
            </a:solidFill>
            <a:ln w="19050" cap="sq" algn="ctr">
              <a:solidFill>
                <a:schemeClr val="tx1"/>
              </a:solidFill>
              <a:miter lim="800000"/>
              <a:headEnd/>
              <a:tailEnd/>
            </a:ln>
          </p:spPr>
          <p:txBody>
            <a:bodyPr wrap="none" anchor="ctr"/>
            <a:lstStyle/>
            <a:p>
              <a:endParaRPr lang="en-GB" dirty="0"/>
            </a:p>
          </p:txBody>
        </p:sp>
        <p:sp>
          <p:nvSpPr>
            <p:cNvPr id="5" name="Rectangle 5">
              <a:extLst>
                <a:ext uri="{FF2B5EF4-FFF2-40B4-BE49-F238E27FC236}">
                  <a16:creationId xmlns:a16="http://schemas.microsoft.com/office/drawing/2014/main" id="{A23E61A4-7A16-FF96-0B6C-08E9B57AAF20}"/>
                </a:ext>
              </a:extLst>
            </p:cNvPr>
            <p:cNvSpPr>
              <a:spLocks noChangeArrowheads="1"/>
            </p:cNvSpPr>
            <p:nvPr/>
          </p:nvSpPr>
          <p:spPr bwMode="auto">
            <a:xfrm>
              <a:off x="5218114" y="1970089"/>
              <a:ext cx="3502025" cy="2746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p>
              <a:pPr marL="285750" indent="-285750" algn="l" defTabSz="708025">
                <a:lnSpc>
                  <a:spcPct val="115000"/>
                </a:lnSpc>
                <a:spcAft>
                  <a:spcPct val="20000"/>
                </a:spcAft>
                <a:buClr>
                  <a:schemeClr val="tx1"/>
                </a:buClr>
                <a:buSzPct val="90000"/>
                <a:buFont typeface="Arial" panose="020B0604020202020204" pitchFamily="34" charset="0"/>
                <a:buChar char="•"/>
              </a:pPr>
              <a:r>
                <a:rPr lang="en-US" sz="1800" b="1" dirty="0">
                  <a:solidFill>
                    <a:schemeClr val="tx1"/>
                  </a:solidFill>
                </a:rPr>
                <a:t>Flowchart</a:t>
              </a:r>
            </a:p>
            <a:p>
              <a:pPr marL="285750" indent="-285750" algn="l" defTabSz="708025">
                <a:lnSpc>
                  <a:spcPct val="115000"/>
                </a:lnSpc>
                <a:spcAft>
                  <a:spcPct val="20000"/>
                </a:spcAft>
                <a:buClr>
                  <a:schemeClr val="tx1"/>
                </a:buClr>
                <a:buSzPct val="90000"/>
                <a:buFont typeface="Arial" panose="020B0604020202020204" pitchFamily="34" charset="0"/>
                <a:buChar char="•"/>
              </a:pPr>
              <a:r>
                <a:rPr lang="en-US" sz="1800" b="1" dirty="0">
                  <a:solidFill>
                    <a:schemeClr val="tx1"/>
                  </a:solidFill>
                </a:rPr>
                <a:t>To understand the process involved in the problem situation as it exists today use a flowchart to document the steps</a:t>
              </a:r>
            </a:p>
            <a:p>
              <a:pPr marL="285750" indent="-285750" algn="l" defTabSz="708025">
                <a:lnSpc>
                  <a:spcPct val="115000"/>
                </a:lnSpc>
                <a:spcAft>
                  <a:spcPct val="20000"/>
                </a:spcAft>
                <a:buClr>
                  <a:schemeClr val="tx1"/>
                </a:buClr>
                <a:buSzPct val="90000"/>
                <a:buFont typeface="Arial" panose="020B0604020202020204" pitchFamily="34" charset="0"/>
                <a:buChar char="•"/>
              </a:pPr>
              <a:r>
                <a:rPr lang="en-US" sz="1800" b="1" dirty="0">
                  <a:solidFill>
                    <a:schemeClr val="tx1"/>
                  </a:solidFill>
                </a:rPr>
                <a:t>Since the problem and solution both affect a supplier and customer, be sure they are represented on the problem solving team</a:t>
              </a:r>
            </a:p>
          </p:txBody>
        </p:sp>
        <p:grpSp>
          <p:nvGrpSpPr>
            <p:cNvPr id="6" name="Group 25">
              <a:extLst>
                <a:ext uri="{FF2B5EF4-FFF2-40B4-BE49-F238E27FC236}">
                  <a16:creationId xmlns:a16="http://schemas.microsoft.com/office/drawing/2014/main" id="{EF8E7127-394D-0003-8D9A-90421ECED72A}"/>
                </a:ext>
              </a:extLst>
            </p:cNvPr>
            <p:cNvGrpSpPr>
              <a:grpSpLocks/>
            </p:cNvGrpSpPr>
            <p:nvPr/>
          </p:nvGrpSpPr>
          <p:grpSpPr bwMode="auto">
            <a:xfrm>
              <a:off x="773114" y="1819276"/>
              <a:ext cx="3243263" cy="3481388"/>
              <a:chOff x="487" y="1146"/>
              <a:chExt cx="2043" cy="2193"/>
            </a:xfrm>
          </p:grpSpPr>
          <p:sp>
            <p:nvSpPr>
              <p:cNvPr id="7" name="Oval 7">
                <a:extLst>
                  <a:ext uri="{FF2B5EF4-FFF2-40B4-BE49-F238E27FC236}">
                    <a16:creationId xmlns:a16="http://schemas.microsoft.com/office/drawing/2014/main" id="{C430A9BD-457E-A8C6-C7C9-6DED94203803}"/>
                  </a:ext>
                </a:extLst>
              </p:cNvPr>
              <p:cNvSpPr>
                <a:spLocks noChangeAspect="1" noChangeArrowheads="1"/>
              </p:cNvSpPr>
              <p:nvPr/>
            </p:nvSpPr>
            <p:spPr bwMode="auto">
              <a:xfrm>
                <a:off x="502" y="1146"/>
                <a:ext cx="1353" cy="382"/>
              </a:xfrm>
              <a:prstGeom prst="ellipse">
                <a:avLst/>
              </a:prstGeom>
              <a:solidFill>
                <a:schemeClr val="accent5"/>
              </a:solidFill>
              <a:ln w="9525">
                <a:solidFill>
                  <a:schemeClr val="tx1"/>
                </a:solidFill>
                <a:round/>
                <a:headEnd/>
                <a:tailEnd/>
              </a:ln>
            </p:spPr>
            <p:txBody>
              <a:bodyPr wrap="none" anchor="ctr"/>
              <a:lstStyle/>
              <a:p>
                <a:pPr algn="ctr"/>
                <a:r>
                  <a:rPr lang="en-GB" b="1" dirty="0">
                    <a:solidFill>
                      <a:schemeClr val="bg1"/>
                    </a:solidFill>
                  </a:rPr>
                  <a:t>Input</a:t>
                </a:r>
              </a:p>
            </p:txBody>
          </p:sp>
          <p:sp>
            <p:nvSpPr>
              <p:cNvPr id="8" name="AutoShape 8">
                <a:extLst>
                  <a:ext uri="{FF2B5EF4-FFF2-40B4-BE49-F238E27FC236}">
                    <a16:creationId xmlns:a16="http://schemas.microsoft.com/office/drawing/2014/main" id="{8662CC38-437F-4517-2F76-2F92D83AC6D4}"/>
                  </a:ext>
                </a:extLst>
              </p:cNvPr>
              <p:cNvSpPr>
                <a:spLocks noChangeAspect="1" noChangeArrowheads="1"/>
              </p:cNvSpPr>
              <p:nvPr/>
            </p:nvSpPr>
            <p:spPr bwMode="auto">
              <a:xfrm>
                <a:off x="614" y="1757"/>
                <a:ext cx="1109" cy="253"/>
              </a:xfrm>
              <a:prstGeom prst="flowChartProcess">
                <a:avLst/>
              </a:prstGeom>
              <a:solidFill>
                <a:schemeClr val="accent2"/>
              </a:solidFill>
              <a:ln w="9525">
                <a:solidFill>
                  <a:schemeClr val="tx1"/>
                </a:solidFill>
                <a:miter lim="800000"/>
                <a:headEnd/>
                <a:tailEnd/>
              </a:ln>
            </p:spPr>
            <p:txBody>
              <a:bodyPr wrap="none" anchor="ctr"/>
              <a:lstStyle/>
              <a:p>
                <a:pPr algn="ctr"/>
                <a:r>
                  <a:rPr lang="en-GB" b="1" dirty="0"/>
                  <a:t>Process</a:t>
                </a:r>
              </a:p>
            </p:txBody>
          </p:sp>
          <p:sp>
            <p:nvSpPr>
              <p:cNvPr id="9" name="AutoShape 9">
                <a:extLst>
                  <a:ext uri="{FF2B5EF4-FFF2-40B4-BE49-F238E27FC236}">
                    <a16:creationId xmlns:a16="http://schemas.microsoft.com/office/drawing/2014/main" id="{D916C6AA-C945-5E78-68E3-8BB37F8CD0F9}"/>
                  </a:ext>
                </a:extLst>
              </p:cNvPr>
              <p:cNvSpPr>
                <a:spLocks noChangeAspect="1" noChangeArrowheads="1"/>
              </p:cNvSpPr>
              <p:nvPr/>
            </p:nvSpPr>
            <p:spPr bwMode="auto">
              <a:xfrm>
                <a:off x="649" y="2242"/>
                <a:ext cx="1033" cy="558"/>
              </a:xfrm>
              <a:prstGeom prst="diamond">
                <a:avLst/>
              </a:prstGeom>
              <a:solidFill>
                <a:schemeClr val="accent3"/>
              </a:solidFill>
              <a:ln w="9525">
                <a:solidFill>
                  <a:schemeClr val="tx1"/>
                </a:solidFill>
                <a:miter lim="800000"/>
                <a:headEnd/>
                <a:tailEnd/>
              </a:ln>
            </p:spPr>
            <p:txBody>
              <a:bodyPr wrap="none" anchor="ctr"/>
              <a:lstStyle/>
              <a:p>
                <a:pPr algn="ctr"/>
                <a:r>
                  <a:rPr lang="en-GB" b="1" dirty="0">
                    <a:solidFill>
                      <a:schemeClr val="bg1"/>
                    </a:solidFill>
                  </a:rPr>
                  <a:t>Decision</a:t>
                </a:r>
              </a:p>
            </p:txBody>
          </p:sp>
          <p:sp>
            <p:nvSpPr>
              <p:cNvPr id="10" name="Oval 10">
                <a:extLst>
                  <a:ext uri="{FF2B5EF4-FFF2-40B4-BE49-F238E27FC236}">
                    <a16:creationId xmlns:a16="http://schemas.microsoft.com/office/drawing/2014/main" id="{8F636095-5DBB-6F7B-25C2-C9922E6840CA}"/>
                  </a:ext>
                </a:extLst>
              </p:cNvPr>
              <p:cNvSpPr>
                <a:spLocks noChangeAspect="1" noChangeArrowheads="1"/>
              </p:cNvSpPr>
              <p:nvPr/>
            </p:nvSpPr>
            <p:spPr bwMode="auto">
              <a:xfrm>
                <a:off x="487" y="2957"/>
                <a:ext cx="1353" cy="382"/>
              </a:xfrm>
              <a:prstGeom prst="ellipse">
                <a:avLst/>
              </a:prstGeom>
              <a:solidFill>
                <a:schemeClr val="accent4"/>
              </a:solidFill>
              <a:ln w="9525">
                <a:solidFill>
                  <a:schemeClr val="tx1"/>
                </a:solidFill>
                <a:round/>
                <a:headEnd/>
                <a:tailEnd/>
              </a:ln>
            </p:spPr>
            <p:txBody>
              <a:bodyPr wrap="none" anchor="ctr"/>
              <a:lstStyle/>
              <a:p>
                <a:pPr algn="ctr"/>
                <a:r>
                  <a:rPr lang="en-US" b="1" dirty="0">
                    <a:solidFill>
                      <a:schemeClr val="bg1"/>
                    </a:solidFill>
                  </a:rPr>
                  <a:t>Output</a:t>
                </a:r>
              </a:p>
            </p:txBody>
          </p:sp>
          <p:sp>
            <p:nvSpPr>
              <p:cNvPr id="11" name="Line 11">
                <a:extLst>
                  <a:ext uri="{FF2B5EF4-FFF2-40B4-BE49-F238E27FC236}">
                    <a16:creationId xmlns:a16="http://schemas.microsoft.com/office/drawing/2014/main" id="{371187BD-04BD-2572-F51A-E2EE9E37961D}"/>
                  </a:ext>
                </a:extLst>
              </p:cNvPr>
              <p:cNvSpPr>
                <a:spLocks noChangeShapeType="1"/>
              </p:cNvSpPr>
              <p:nvPr/>
            </p:nvSpPr>
            <p:spPr bwMode="auto">
              <a:xfrm>
                <a:off x="1173" y="1536"/>
                <a:ext cx="0" cy="2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12" name="Line 12">
                <a:extLst>
                  <a:ext uri="{FF2B5EF4-FFF2-40B4-BE49-F238E27FC236}">
                    <a16:creationId xmlns:a16="http://schemas.microsoft.com/office/drawing/2014/main" id="{2E310408-B099-A8A9-0CFD-A2E160004773}"/>
                  </a:ext>
                </a:extLst>
              </p:cNvPr>
              <p:cNvSpPr>
                <a:spLocks noChangeShapeType="1"/>
              </p:cNvSpPr>
              <p:nvPr/>
            </p:nvSpPr>
            <p:spPr bwMode="auto">
              <a:xfrm>
                <a:off x="1168" y="2021"/>
                <a:ext cx="0" cy="2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13" name="Line 13">
                <a:extLst>
                  <a:ext uri="{FF2B5EF4-FFF2-40B4-BE49-F238E27FC236}">
                    <a16:creationId xmlns:a16="http://schemas.microsoft.com/office/drawing/2014/main" id="{00D46028-944E-547F-3335-73D95AD36EA9}"/>
                  </a:ext>
                </a:extLst>
              </p:cNvPr>
              <p:cNvSpPr>
                <a:spLocks noChangeShapeType="1"/>
              </p:cNvSpPr>
              <p:nvPr/>
            </p:nvSpPr>
            <p:spPr bwMode="auto">
              <a:xfrm>
                <a:off x="1668" y="2486"/>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4" name="Line 14">
                <a:extLst>
                  <a:ext uri="{FF2B5EF4-FFF2-40B4-BE49-F238E27FC236}">
                    <a16:creationId xmlns:a16="http://schemas.microsoft.com/office/drawing/2014/main" id="{90B42400-0A9D-702F-F2FF-171328DFAC4D}"/>
                  </a:ext>
                </a:extLst>
              </p:cNvPr>
              <p:cNvSpPr>
                <a:spLocks noChangeShapeType="1"/>
              </p:cNvSpPr>
              <p:nvPr/>
            </p:nvSpPr>
            <p:spPr bwMode="auto">
              <a:xfrm>
                <a:off x="2530" y="1894"/>
                <a:ext cx="0" cy="5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5" name="Line 15">
                <a:extLst>
                  <a:ext uri="{FF2B5EF4-FFF2-40B4-BE49-F238E27FC236}">
                    <a16:creationId xmlns:a16="http://schemas.microsoft.com/office/drawing/2014/main" id="{362F58E7-B547-FC8E-9D4D-F9B8AAFCC64F}"/>
                  </a:ext>
                </a:extLst>
              </p:cNvPr>
              <p:cNvSpPr>
                <a:spLocks noChangeShapeType="1"/>
              </p:cNvSpPr>
              <p:nvPr/>
            </p:nvSpPr>
            <p:spPr bwMode="auto">
              <a:xfrm flipH="1">
                <a:off x="1746" y="1894"/>
                <a:ext cx="7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19" name="Line 19">
                <a:extLst>
                  <a:ext uri="{FF2B5EF4-FFF2-40B4-BE49-F238E27FC236}">
                    <a16:creationId xmlns:a16="http://schemas.microsoft.com/office/drawing/2014/main" id="{ED72EF0C-10FA-E6FF-092C-66AFC5162BF0}"/>
                  </a:ext>
                </a:extLst>
              </p:cNvPr>
              <p:cNvSpPr>
                <a:spLocks noChangeShapeType="1"/>
              </p:cNvSpPr>
              <p:nvPr/>
            </p:nvSpPr>
            <p:spPr bwMode="auto">
              <a:xfrm>
                <a:off x="1168" y="2816"/>
                <a:ext cx="0" cy="1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dirty="0"/>
              </a:p>
            </p:txBody>
          </p:sp>
          <p:sp>
            <p:nvSpPr>
              <p:cNvPr id="21" name="Text Box 21">
                <a:extLst>
                  <a:ext uri="{FF2B5EF4-FFF2-40B4-BE49-F238E27FC236}">
                    <a16:creationId xmlns:a16="http://schemas.microsoft.com/office/drawing/2014/main" id="{1466EAF5-857B-0487-339C-07849DEF8838}"/>
                  </a:ext>
                </a:extLst>
              </p:cNvPr>
              <p:cNvSpPr txBox="1">
                <a:spLocks noChangeArrowheads="1"/>
              </p:cNvSpPr>
              <p:nvPr/>
            </p:nvSpPr>
            <p:spPr bwMode="auto">
              <a:xfrm>
                <a:off x="1904" y="2289"/>
                <a:ext cx="39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pPr algn="l">
                  <a:lnSpc>
                    <a:spcPct val="100000"/>
                  </a:lnSpc>
                  <a:spcBef>
                    <a:spcPct val="0"/>
                  </a:spcBef>
                </a:pPr>
                <a:r>
                  <a:rPr lang="en-US" b="1" dirty="0">
                    <a:solidFill>
                      <a:schemeClr val="tx1"/>
                    </a:solidFill>
                    <a:latin typeface="+mn-lt"/>
                  </a:rPr>
                  <a:t>No</a:t>
                </a:r>
              </a:p>
            </p:txBody>
          </p:sp>
          <p:sp>
            <p:nvSpPr>
              <p:cNvPr id="22" name="Text Box 22">
                <a:extLst>
                  <a:ext uri="{FF2B5EF4-FFF2-40B4-BE49-F238E27FC236}">
                    <a16:creationId xmlns:a16="http://schemas.microsoft.com/office/drawing/2014/main" id="{8F6FE06C-DCA8-2CD5-D114-7F31E9CDD125}"/>
                  </a:ext>
                </a:extLst>
              </p:cNvPr>
              <p:cNvSpPr txBox="1">
                <a:spLocks noChangeArrowheads="1"/>
              </p:cNvSpPr>
              <p:nvPr/>
            </p:nvSpPr>
            <p:spPr bwMode="auto">
              <a:xfrm>
                <a:off x="1266" y="2738"/>
                <a:ext cx="234"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pPr algn="l">
                  <a:lnSpc>
                    <a:spcPct val="100000"/>
                  </a:lnSpc>
                  <a:spcBef>
                    <a:spcPct val="0"/>
                  </a:spcBef>
                </a:pPr>
                <a:r>
                  <a:rPr lang="en-US" b="1" dirty="0">
                    <a:solidFill>
                      <a:schemeClr val="tx1"/>
                    </a:solidFill>
                    <a:latin typeface="+mn-lt"/>
                  </a:rPr>
                  <a:t>Yes</a:t>
                </a:r>
              </a:p>
            </p:txBody>
          </p:sp>
        </p:grpSp>
      </p:grpSp>
    </p:spTree>
    <p:extLst>
      <p:ext uri="{BB962C8B-B14F-4D97-AF65-F5344CB8AC3E}">
        <p14:creationId xmlns:p14="http://schemas.microsoft.com/office/powerpoint/2010/main" val="4007419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dirty="0"/>
              <a:t>Example Process Mapping Symbols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73" name="Group 72">
            <a:extLst>
              <a:ext uri="{FF2B5EF4-FFF2-40B4-BE49-F238E27FC236}">
                <a16:creationId xmlns:a16="http://schemas.microsoft.com/office/drawing/2014/main" id="{596290AF-C587-1087-1893-90325826FF95}"/>
              </a:ext>
            </a:extLst>
          </p:cNvPr>
          <p:cNvGrpSpPr/>
          <p:nvPr/>
        </p:nvGrpSpPr>
        <p:grpSpPr>
          <a:xfrm>
            <a:off x="838200" y="297639"/>
            <a:ext cx="4451430" cy="307138"/>
            <a:chOff x="838200" y="297639"/>
            <a:chExt cx="4451430" cy="307138"/>
          </a:xfrm>
        </p:grpSpPr>
        <p:grpSp>
          <p:nvGrpSpPr>
            <p:cNvPr id="74" name="Group 73">
              <a:extLst>
                <a:ext uri="{FF2B5EF4-FFF2-40B4-BE49-F238E27FC236}">
                  <a16:creationId xmlns:a16="http://schemas.microsoft.com/office/drawing/2014/main" id="{55420A0E-1716-D817-5D49-673A6791BCBA}"/>
                </a:ext>
              </a:extLst>
            </p:cNvPr>
            <p:cNvGrpSpPr/>
            <p:nvPr/>
          </p:nvGrpSpPr>
          <p:grpSpPr>
            <a:xfrm>
              <a:off x="838200" y="297639"/>
              <a:ext cx="1687517" cy="290657"/>
              <a:chOff x="838200" y="297639"/>
              <a:chExt cx="1687517" cy="290657"/>
            </a:xfrm>
          </p:grpSpPr>
          <p:sp>
            <p:nvSpPr>
              <p:cNvPr id="76" name="AutoShape 9">
                <a:extLst>
                  <a:ext uri="{FF2B5EF4-FFF2-40B4-BE49-F238E27FC236}">
                    <a16:creationId xmlns:a16="http://schemas.microsoft.com/office/drawing/2014/main" id="{6074AD7D-C0A3-C405-8EFE-14F55A84C09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7" name="AutoShape 9">
                <a:extLst>
                  <a:ext uri="{FF2B5EF4-FFF2-40B4-BE49-F238E27FC236}">
                    <a16:creationId xmlns:a16="http://schemas.microsoft.com/office/drawing/2014/main" id="{495591B8-ED53-108D-70AB-857D2357221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8" name="Group 77">
                <a:extLst>
                  <a:ext uri="{FF2B5EF4-FFF2-40B4-BE49-F238E27FC236}">
                    <a16:creationId xmlns:a16="http://schemas.microsoft.com/office/drawing/2014/main" id="{A309B071-970D-7F6F-2D90-6C25D07E5896}"/>
                  </a:ext>
                </a:extLst>
              </p:cNvPr>
              <p:cNvGrpSpPr/>
              <p:nvPr/>
            </p:nvGrpSpPr>
            <p:grpSpPr>
              <a:xfrm>
                <a:off x="838200" y="297639"/>
                <a:ext cx="1060167" cy="290657"/>
                <a:chOff x="826426" y="4041857"/>
                <a:chExt cx="1060167" cy="290657"/>
              </a:xfrm>
            </p:grpSpPr>
            <p:sp>
              <p:nvSpPr>
                <p:cNvPr id="79" name="AutoShape 9">
                  <a:extLst>
                    <a:ext uri="{FF2B5EF4-FFF2-40B4-BE49-F238E27FC236}">
                      <a16:creationId xmlns:a16="http://schemas.microsoft.com/office/drawing/2014/main" id="{53CC701B-01B3-2326-9C4B-E6943BDA6FC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0" name="AutoShape 11">
                  <a:extLst>
                    <a:ext uri="{FF2B5EF4-FFF2-40B4-BE49-F238E27FC236}">
                      <a16:creationId xmlns:a16="http://schemas.microsoft.com/office/drawing/2014/main" id="{0483702F-E9D3-2DA3-CAAC-03A6548B6D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1" name="AutoShape 10">
                  <a:extLst>
                    <a:ext uri="{FF2B5EF4-FFF2-40B4-BE49-F238E27FC236}">
                      <a16:creationId xmlns:a16="http://schemas.microsoft.com/office/drawing/2014/main" id="{6D4D359F-0C72-711E-375E-E91618E44D0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5" name="TextBox 74">
              <a:extLst>
                <a:ext uri="{FF2B5EF4-FFF2-40B4-BE49-F238E27FC236}">
                  <a16:creationId xmlns:a16="http://schemas.microsoft.com/office/drawing/2014/main" id="{BB900A69-B31E-463E-6DC0-AD680F4BF772}"/>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39" name="Group 38">
            <a:extLst>
              <a:ext uri="{FF2B5EF4-FFF2-40B4-BE49-F238E27FC236}">
                <a16:creationId xmlns:a16="http://schemas.microsoft.com/office/drawing/2014/main" id="{103D905D-C77D-8485-FD74-69E3395B5773}"/>
              </a:ext>
            </a:extLst>
          </p:cNvPr>
          <p:cNvGrpSpPr/>
          <p:nvPr/>
        </p:nvGrpSpPr>
        <p:grpSpPr>
          <a:xfrm>
            <a:off x="2016211" y="1783429"/>
            <a:ext cx="8159578" cy="4558607"/>
            <a:chOff x="457200" y="1542603"/>
            <a:chExt cx="8159578" cy="4558607"/>
          </a:xfrm>
        </p:grpSpPr>
        <p:sp>
          <p:nvSpPr>
            <p:cNvPr id="16" name="AutoShape 49">
              <a:extLst>
                <a:ext uri="{FF2B5EF4-FFF2-40B4-BE49-F238E27FC236}">
                  <a16:creationId xmlns:a16="http://schemas.microsoft.com/office/drawing/2014/main" id="{FAC9FE6B-F791-DCDF-1BBA-F59BE5B6A8A1}"/>
                </a:ext>
              </a:extLst>
            </p:cNvPr>
            <p:cNvSpPr>
              <a:spLocks noChangeArrowheads="1"/>
            </p:cNvSpPr>
            <p:nvPr/>
          </p:nvSpPr>
          <p:spPr bwMode="auto">
            <a:xfrm>
              <a:off x="4605337" y="1762126"/>
              <a:ext cx="976312" cy="485775"/>
            </a:xfrm>
            <a:prstGeom prst="rightArrow">
              <a:avLst>
                <a:gd name="adj1" fmla="val 50000"/>
                <a:gd name="adj2" fmla="val 50245"/>
              </a:avLst>
            </a:prstGeom>
            <a:solidFill>
              <a:srgbClr val="FFFFFF"/>
            </a:solidFill>
            <a:ln w="19050">
              <a:solidFill>
                <a:schemeClr val="tx1"/>
              </a:solidFill>
              <a:miter lim="800000"/>
              <a:headEnd/>
              <a:tailEnd/>
            </a:ln>
          </p:spPr>
          <p:txBody>
            <a:bodyPr wrap="none" anchor="ctr"/>
            <a:lstStyle/>
            <a:p>
              <a:endParaRPr lang="en-GB" dirty="0"/>
            </a:p>
          </p:txBody>
        </p:sp>
        <p:grpSp>
          <p:nvGrpSpPr>
            <p:cNvPr id="17" name="Group 50">
              <a:extLst>
                <a:ext uri="{FF2B5EF4-FFF2-40B4-BE49-F238E27FC236}">
                  <a16:creationId xmlns:a16="http://schemas.microsoft.com/office/drawing/2014/main" id="{CC9D22F0-E6BC-4792-AC3C-3542511DD7F2}"/>
                </a:ext>
              </a:extLst>
            </p:cNvPr>
            <p:cNvGrpSpPr>
              <a:grpSpLocks/>
            </p:cNvGrpSpPr>
            <p:nvPr/>
          </p:nvGrpSpPr>
          <p:grpSpPr bwMode="auto">
            <a:xfrm>
              <a:off x="608013" y="1604963"/>
              <a:ext cx="3344863" cy="914400"/>
              <a:chOff x="383" y="1056"/>
              <a:chExt cx="2107" cy="576"/>
            </a:xfrm>
          </p:grpSpPr>
          <p:sp>
            <p:nvSpPr>
              <p:cNvPr id="18" name="Oval 51">
                <a:extLst>
                  <a:ext uri="{FF2B5EF4-FFF2-40B4-BE49-F238E27FC236}">
                    <a16:creationId xmlns:a16="http://schemas.microsoft.com/office/drawing/2014/main" id="{148DC542-23F2-DAEA-E4C8-656D273E59C7}"/>
                  </a:ext>
                </a:extLst>
              </p:cNvPr>
              <p:cNvSpPr>
                <a:spLocks noChangeArrowheads="1"/>
              </p:cNvSpPr>
              <p:nvPr/>
            </p:nvSpPr>
            <p:spPr bwMode="auto">
              <a:xfrm>
                <a:off x="383" y="1056"/>
                <a:ext cx="576" cy="576"/>
              </a:xfrm>
              <a:prstGeom prst="ellipse">
                <a:avLst/>
              </a:prstGeom>
              <a:solidFill>
                <a:srgbClr val="FFFFFF"/>
              </a:solidFill>
              <a:ln w="19050">
                <a:solidFill>
                  <a:schemeClr val="tx1"/>
                </a:solidFill>
                <a:round/>
                <a:headEnd/>
                <a:tailEnd/>
              </a:ln>
            </p:spPr>
            <p:txBody>
              <a:bodyPr wrap="none" anchor="ctr"/>
              <a:lstStyle/>
              <a:p>
                <a:endParaRPr lang="en-GB" dirty="0"/>
              </a:p>
            </p:txBody>
          </p:sp>
          <p:sp>
            <p:nvSpPr>
              <p:cNvPr id="20" name="Text Box 52">
                <a:extLst>
                  <a:ext uri="{FF2B5EF4-FFF2-40B4-BE49-F238E27FC236}">
                    <a16:creationId xmlns:a16="http://schemas.microsoft.com/office/drawing/2014/main" id="{206A7265-8480-F37C-FA51-E04606994F25}"/>
                  </a:ext>
                </a:extLst>
              </p:cNvPr>
              <p:cNvSpPr txBox="1">
                <a:spLocks noChangeArrowheads="1"/>
              </p:cNvSpPr>
              <p:nvPr/>
            </p:nvSpPr>
            <p:spPr bwMode="auto">
              <a:xfrm>
                <a:off x="1152" y="1073"/>
                <a:ext cx="133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Operation</a:t>
                </a:r>
              </a:p>
              <a:p>
                <a:pPr algn="l">
                  <a:lnSpc>
                    <a:spcPct val="100000"/>
                  </a:lnSpc>
                  <a:spcBef>
                    <a:spcPct val="0"/>
                  </a:spcBef>
                </a:pPr>
                <a:r>
                  <a:rPr lang="en-US" sz="1600" b="0" dirty="0">
                    <a:solidFill>
                      <a:schemeClr val="tx1"/>
                    </a:solidFill>
                  </a:rPr>
                  <a:t>A Step in the process</a:t>
                </a:r>
              </a:p>
              <a:p>
                <a:pPr algn="l">
                  <a:lnSpc>
                    <a:spcPct val="100000"/>
                  </a:lnSpc>
                  <a:spcBef>
                    <a:spcPct val="0"/>
                  </a:spcBef>
                </a:pPr>
                <a:r>
                  <a:rPr lang="en-US" sz="1600" b="0" dirty="0">
                    <a:solidFill>
                      <a:schemeClr val="tx1"/>
                    </a:solidFill>
                  </a:rPr>
                  <a:t> that adds value.</a:t>
                </a:r>
              </a:p>
            </p:txBody>
          </p:sp>
        </p:grpSp>
        <p:grpSp>
          <p:nvGrpSpPr>
            <p:cNvPr id="24" name="Group 53">
              <a:extLst>
                <a:ext uri="{FF2B5EF4-FFF2-40B4-BE49-F238E27FC236}">
                  <a16:creationId xmlns:a16="http://schemas.microsoft.com/office/drawing/2014/main" id="{11BD593C-9B9C-F206-0044-85649564D1AA}"/>
                </a:ext>
              </a:extLst>
            </p:cNvPr>
            <p:cNvGrpSpPr>
              <a:grpSpLocks/>
            </p:cNvGrpSpPr>
            <p:nvPr/>
          </p:nvGrpSpPr>
          <p:grpSpPr bwMode="auto">
            <a:xfrm>
              <a:off x="608014" y="2881317"/>
              <a:ext cx="3697288" cy="1077913"/>
              <a:chOff x="383" y="2118"/>
              <a:chExt cx="2329" cy="679"/>
            </a:xfrm>
          </p:grpSpPr>
          <p:sp>
            <p:nvSpPr>
              <p:cNvPr id="25" name="Rectangle 54">
                <a:extLst>
                  <a:ext uri="{FF2B5EF4-FFF2-40B4-BE49-F238E27FC236}">
                    <a16:creationId xmlns:a16="http://schemas.microsoft.com/office/drawing/2014/main" id="{0A5CC86C-0B4D-D151-2B7D-605093128C2A}"/>
                  </a:ext>
                </a:extLst>
              </p:cNvPr>
              <p:cNvSpPr>
                <a:spLocks noChangeArrowheads="1"/>
              </p:cNvSpPr>
              <p:nvPr/>
            </p:nvSpPr>
            <p:spPr bwMode="auto">
              <a:xfrm>
                <a:off x="383" y="2160"/>
                <a:ext cx="576" cy="576"/>
              </a:xfrm>
              <a:prstGeom prst="rect">
                <a:avLst/>
              </a:prstGeom>
              <a:solidFill>
                <a:srgbClr val="FFFFFF"/>
              </a:solidFill>
              <a:ln w="19050">
                <a:solidFill>
                  <a:schemeClr val="tx1"/>
                </a:solidFill>
                <a:miter lim="800000"/>
                <a:headEnd/>
                <a:tailEnd/>
              </a:ln>
            </p:spPr>
            <p:txBody>
              <a:bodyPr wrap="none" anchor="ctr"/>
              <a:lstStyle/>
              <a:p>
                <a:endParaRPr lang="en-GB" dirty="0"/>
              </a:p>
            </p:txBody>
          </p:sp>
          <p:sp>
            <p:nvSpPr>
              <p:cNvPr id="26" name="Text Box 55">
                <a:extLst>
                  <a:ext uri="{FF2B5EF4-FFF2-40B4-BE49-F238E27FC236}">
                    <a16:creationId xmlns:a16="http://schemas.microsoft.com/office/drawing/2014/main" id="{73810788-631A-97C7-FB9B-750CFD9D7378}"/>
                  </a:ext>
                </a:extLst>
              </p:cNvPr>
              <p:cNvSpPr txBox="1">
                <a:spLocks noChangeArrowheads="1"/>
              </p:cNvSpPr>
              <p:nvPr/>
            </p:nvSpPr>
            <p:spPr bwMode="auto">
              <a:xfrm>
                <a:off x="1152" y="2118"/>
                <a:ext cx="1560"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Measurement</a:t>
                </a:r>
                <a:endParaRPr lang="en-US" sz="1600" b="0" dirty="0">
                  <a:solidFill>
                    <a:schemeClr val="tx1"/>
                  </a:solidFill>
                </a:endParaRPr>
              </a:p>
              <a:p>
                <a:pPr algn="l">
                  <a:lnSpc>
                    <a:spcPct val="100000"/>
                  </a:lnSpc>
                  <a:spcBef>
                    <a:spcPct val="0"/>
                  </a:spcBef>
                </a:pPr>
                <a:r>
                  <a:rPr lang="en-US" sz="1600" b="0" dirty="0">
                    <a:solidFill>
                      <a:schemeClr val="tx1"/>
                    </a:solidFill>
                  </a:rPr>
                  <a:t>To inspect, verify, count,</a:t>
                </a:r>
              </a:p>
              <a:p>
                <a:pPr algn="l">
                  <a:lnSpc>
                    <a:spcPct val="100000"/>
                  </a:lnSpc>
                  <a:spcBef>
                    <a:spcPct val="0"/>
                  </a:spcBef>
                </a:pPr>
                <a:r>
                  <a:rPr lang="en-US" sz="1600" b="0" dirty="0">
                    <a:solidFill>
                      <a:schemeClr val="tx1"/>
                    </a:solidFill>
                  </a:rPr>
                  <a:t>examine, gage for quality</a:t>
                </a:r>
              </a:p>
              <a:p>
                <a:pPr algn="l">
                  <a:lnSpc>
                    <a:spcPct val="100000"/>
                  </a:lnSpc>
                  <a:spcBef>
                    <a:spcPct val="0"/>
                  </a:spcBef>
                </a:pPr>
                <a:r>
                  <a:rPr lang="en-US" sz="1600" b="0" dirty="0">
                    <a:solidFill>
                      <a:schemeClr val="tx1"/>
                    </a:solidFill>
                  </a:rPr>
                  <a:t>or quantity.</a:t>
                </a:r>
              </a:p>
            </p:txBody>
          </p:sp>
        </p:grpSp>
        <p:sp>
          <p:nvSpPr>
            <p:cNvPr id="27" name="Text Box 56">
              <a:extLst>
                <a:ext uri="{FF2B5EF4-FFF2-40B4-BE49-F238E27FC236}">
                  <a16:creationId xmlns:a16="http://schemas.microsoft.com/office/drawing/2014/main" id="{C0E2078B-6D9D-662A-6078-29463C9F7F53}"/>
                </a:ext>
              </a:extLst>
            </p:cNvPr>
            <p:cNvSpPr txBox="1">
              <a:spLocks noChangeArrowheads="1"/>
            </p:cNvSpPr>
            <p:nvPr/>
          </p:nvSpPr>
          <p:spPr bwMode="auto">
            <a:xfrm>
              <a:off x="5680075" y="1542603"/>
              <a:ext cx="260488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Transportation</a:t>
              </a:r>
              <a:endParaRPr lang="en-US" sz="1600" b="0" dirty="0">
                <a:solidFill>
                  <a:schemeClr val="tx1"/>
                </a:solidFill>
              </a:endParaRPr>
            </a:p>
            <a:p>
              <a:pPr algn="l">
                <a:lnSpc>
                  <a:spcPct val="100000"/>
                </a:lnSpc>
                <a:spcBef>
                  <a:spcPct val="0"/>
                </a:spcBef>
              </a:pPr>
              <a:r>
                <a:rPr lang="en-US" sz="1600" b="0" dirty="0">
                  <a:solidFill>
                    <a:schemeClr val="tx1"/>
                  </a:solidFill>
                </a:rPr>
                <a:t>To move from one place to</a:t>
              </a:r>
            </a:p>
            <a:p>
              <a:pPr algn="l">
                <a:lnSpc>
                  <a:spcPct val="100000"/>
                </a:lnSpc>
                <a:spcBef>
                  <a:spcPct val="0"/>
                </a:spcBef>
              </a:pPr>
              <a:r>
                <a:rPr lang="en-US" sz="1600" b="0" dirty="0">
                  <a:solidFill>
                    <a:schemeClr val="tx1"/>
                  </a:solidFill>
                </a:rPr>
                <a:t>another. (Not part of an </a:t>
              </a:r>
            </a:p>
            <a:p>
              <a:pPr algn="l">
                <a:lnSpc>
                  <a:spcPct val="100000"/>
                </a:lnSpc>
                <a:spcBef>
                  <a:spcPct val="0"/>
                </a:spcBef>
              </a:pPr>
              <a:r>
                <a:rPr lang="en-US" sz="1600" b="0" dirty="0">
                  <a:solidFill>
                    <a:schemeClr val="tx1"/>
                  </a:solidFill>
                </a:rPr>
                <a:t>operation or inspection.</a:t>
              </a:r>
            </a:p>
          </p:txBody>
        </p:sp>
        <p:grpSp>
          <p:nvGrpSpPr>
            <p:cNvPr id="28" name="Group 57">
              <a:extLst>
                <a:ext uri="{FF2B5EF4-FFF2-40B4-BE49-F238E27FC236}">
                  <a16:creationId xmlns:a16="http://schemas.microsoft.com/office/drawing/2014/main" id="{8FDEB268-3DBB-18D5-CE4D-35DE17C1F4A1}"/>
                </a:ext>
              </a:extLst>
            </p:cNvPr>
            <p:cNvGrpSpPr>
              <a:grpSpLocks/>
            </p:cNvGrpSpPr>
            <p:nvPr/>
          </p:nvGrpSpPr>
          <p:grpSpPr bwMode="auto">
            <a:xfrm>
              <a:off x="4605337" y="2895601"/>
              <a:ext cx="976312" cy="485775"/>
              <a:chOff x="4416" y="1488"/>
              <a:chExt cx="615" cy="306"/>
            </a:xfrm>
          </p:grpSpPr>
          <p:sp>
            <p:nvSpPr>
              <p:cNvPr id="29" name="AutoShape 58">
                <a:extLst>
                  <a:ext uri="{FF2B5EF4-FFF2-40B4-BE49-F238E27FC236}">
                    <a16:creationId xmlns:a16="http://schemas.microsoft.com/office/drawing/2014/main" id="{772D908C-65AA-AF94-67F4-23313C44343B}"/>
                  </a:ext>
                </a:extLst>
              </p:cNvPr>
              <p:cNvSpPr>
                <a:spLocks noChangeArrowheads="1"/>
              </p:cNvSpPr>
              <p:nvPr/>
            </p:nvSpPr>
            <p:spPr bwMode="auto">
              <a:xfrm>
                <a:off x="4416" y="1488"/>
                <a:ext cx="615" cy="306"/>
              </a:xfrm>
              <a:prstGeom prst="rightArrow">
                <a:avLst>
                  <a:gd name="adj1" fmla="val 50000"/>
                  <a:gd name="adj2" fmla="val 50245"/>
                </a:avLst>
              </a:prstGeom>
              <a:solidFill>
                <a:srgbClr val="FFFFFF"/>
              </a:solidFill>
              <a:ln w="19050">
                <a:solidFill>
                  <a:schemeClr val="tx1"/>
                </a:solidFill>
                <a:miter lim="800000"/>
                <a:headEnd/>
                <a:tailEnd/>
              </a:ln>
            </p:spPr>
            <p:txBody>
              <a:bodyPr wrap="none" anchor="ctr"/>
              <a:lstStyle/>
              <a:p>
                <a:endParaRPr lang="en-GB" dirty="0"/>
              </a:p>
            </p:txBody>
          </p:sp>
          <p:sp>
            <p:nvSpPr>
              <p:cNvPr id="30" name="Freeform 59">
                <a:extLst>
                  <a:ext uri="{FF2B5EF4-FFF2-40B4-BE49-F238E27FC236}">
                    <a16:creationId xmlns:a16="http://schemas.microsoft.com/office/drawing/2014/main" id="{CA4308F9-C79D-BE99-6114-8DFABE9D916A}"/>
                  </a:ext>
                </a:extLst>
              </p:cNvPr>
              <p:cNvSpPr>
                <a:spLocks/>
              </p:cNvSpPr>
              <p:nvPr/>
            </p:nvSpPr>
            <p:spPr bwMode="auto">
              <a:xfrm>
                <a:off x="4542" y="1566"/>
                <a:ext cx="70" cy="155"/>
              </a:xfrm>
              <a:custGeom>
                <a:avLst/>
                <a:gdLst>
                  <a:gd name="T0" fmla="*/ 48 w 70"/>
                  <a:gd name="T1" fmla="*/ 0 h 155"/>
                  <a:gd name="T2" fmla="*/ 42 w 70"/>
                  <a:gd name="T3" fmla="*/ 42 h 155"/>
                  <a:gd name="T4" fmla="*/ 0 w 70"/>
                  <a:gd name="T5" fmla="*/ 78 h 155"/>
                  <a:gd name="T6" fmla="*/ 48 w 70"/>
                  <a:gd name="T7" fmla="*/ 84 h 155"/>
                  <a:gd name="T8" fmla="*/ 24 w 70"/>
                  <a:gd name="T9" fmla="*/ 108 h 155"/>
                  <a:gd name="T10" fmla="*/ 48 w 70"/>
                  <a:gd name="T11" fmla="*/ 132 h 155"/>
                  <a:gd name="T12" fmla="*/ 30 w 70"/>
                  <a:gd name="T13" fmla="*/ 144 h 155"/>
                  <a:gd name="T14" fmla="*/ 0 60000 65536"/>
                  <a:gd name="T15" fmla="*/ 0 60000 65536"/>
                  <a:gd name="T16" fmla="*/ 0 60000 65536"/>
                  <a:gd name="T17" fmla="*/ 0 60000 65536"/>
                  <a:gd name="T18" fmla="*/ 0 60000 65536"/>
                  <a:gd name="T19" fmla="*/ 0 60000 65536"/>
                  <a:gd name="T20" fmla="*/ 0 60000 65536"/>
                  <a:gd name="T21" fmla="*/ 0 w 70"/>
                  <a:gd name="T22" fmla="*/ 0 h 155"/>
                  <a:gd name="T23" fmla="*/ 70 w 70"/>
                  <a:gd name="T24" fmla="*/ 155 h 1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155">
                    <a:moveTo>
                      <a:pt x="48" y="0"/>
                    </a:moveTo>
                    <a:cubicBezTo>
                      <a:pt x="36" y="35"/>
                      <a:pt x="7" y="19"/>
                      <a:pt x="42" y="42"/>
                    </a:cubicBezTo>
                    <a:cubicBezTo>
                      <a:pt x="20" y="57"/>
                      <a:pt x="25" y="70"/>
                      <a:pt x="0" y="78"/>
                    </a:cubicBezTo>
                    <a:cubicBezTo>
                      <a:pt x="16" y="80"/>
                      <a:pt x="34" y="76"/>
                      <a:pt x="48" y="84"/>
                    </a:cubicBezTo>
                    <a:cubicBezTo>
                      <a:pt x="70" y="96"/>
                      <a:pt x="32" y="105"/>
                      <a:pt x="24" y="108"/>
                    </a:cubicBezTo>
                    <a:cubicBezTo>
                      <a:pt x="8" y="155"/>
                      <a:pt x="22" y="93"/>
                      <a:pt x="48" y="132"/>
                    </a:cubicBezTo>
                    <a:cubicBezTo>
                      <a:pt x="52" y="138"/>
                      <a:pt x="30" y="144"/>
                      <a:pt x="30" y="14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dirty="0"/>
              </a:p>
            </p:txBody>
          </p:sp>
        </p:grpSp>
        <p:sp>
          <p:nvSpPr>
            <p:cNvPr id="31" name="Text Box 60">
              <a:extLst>
                <a:ext uri="{FF2B5EF4-FFF2-40B4-BE49-F238E27FC236}">
                  <a16:creationId xmlns:a16="http://schemas.microsoft.com/office/drawing/2014/main" id="{C9DD84CC-7AB8-6DB4-A9EC-C91E98983A19}"/>
                </a:ext>
              </a:extLst>
            </p:cNvPr>
            <p:cNvSpPr txBox="1">
              <a:spLocks noChangeArrowheads="1"/>
            </p:cNvSpPr>
            <p:nvPr/>
          </p:nvSpPr>
          <p:spPr bwMode="auto">
            <a:xfrm>
              <a:off x="5680076" y="2770615"/>
              <a:ext cx="22490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Transmission</a:t>
              </a:r>
              <a:endParaRPr lang="en-US" sz="1600" b="0" dirty="0">
                <a:solidFill>
                  <a:schemeClr val="tx1"/>
                </a:solidFill>
              </a:endParaRPr>
            </a:p>
            <a:p>
              <a:pPr algn="l">
                <a:lnSpc>
                  <a:spcPct val="100000"/>
                </a:lnSpc>
                <a:spcBef>
                  <a:spcPct val="0"/>
                </a:spcBef>
              </a:pPr>
              <a:r>
                <a:rPr lang="en-US" sz="1600" b="0" dirty="0">
                  <a:solidFill>
                    <a:schemeClr val="tx1"/>
                  </a:solidFill>
                </a:rPr>
                <a:t>To send information by</a:t>
              </a:r>
            </a:p>
            <a:p>
              <a:pPr algn="l">
                <a:lnSpc>
                  <a:spcPct val="100000"/>
                </a:lnSpc>
                <a:spcBef>
                  <a:spcPct val="0"/>
                </a:spcBef>
              </a:pPr>
              <a:r>
                <a:rPr lang="en-US" sz="1600" b="0" dirty="0">
                  <a:solidFill>
                    <a:schemeClr val="tx1"/>
                  </a:solidFill>
                </a:rPr>
                <a:t>electronic means.</a:t>
              </a:r>
            </a:p>
          </p:txBody>
        </p:sp>
        <p:sp>
          <p:nvSpPr>
            <p:cNvPr id="32" name="AutoShape 61">
              <a:extLst>
                <a:ext uri="{FF2B5EF4-FFF2-40B4-BE49-F238E27FC236}">
                  <a16:creationId xmlns:a16="http://schemas.microsoft.com/office/drawing/2014/main" id="{FA2119D8-29A7-3483-A16F-34A1A84D7306}"/>
                </a:ext>
              </a:extLst>
            </p:cNvPr>
            <p:cNvSpPr>
              <a:spLocks noChangeArrowheads="1"/>
            </p:cNvSpPr>
            <p:nvPr/>
          </p:nvSpPr>
          <p:spPr bwMode="auto">
            <a:xfrm>
              <a:off x="4751388" y="4130675"/>
              <a:ext cx="685800" cy="685800"/>
            </a:xfrm>
            <a:prstGeom prst="flowChartMerge">
              <a:avLst/>
            </a:prstGeom>
            <a:solidFill>
              <a:srgbClr val="FFFFFF"/>
            </a:solidFill>
            <a:ln w="19050">
              <a:solidFill>
                <a:schemeClr val="tx1"/>
              </a:solidFill>
              <a:miter lim="800000"/>
              <a:headEnd/>
              <a:tailEnd/>
            </a:ln>
          </p:spPr>
          <p:txBody>
            <a:bodyPr wrap="none" anchor="ctr"/>
            <a:lstStyle/>
            <a:p>
              <a:endParaRPr lang="en-GB" dirty="0"/>
            </a:p>
          </p:txBody>
        </p:sp>
        <p:sp>
          <p:nvSpPr>
            <p:cNvPr id="33" name="Text Box 62">
              <a:extLst>
                <a:ext uri="{FF2B5EF4-FFF2-40B4-BE49-F238E27FC236}">
                  <a16:creationId xmlns:a16="http://schemas.microsoft.com/office/drawing/2014/main" id="{00AA0991-0E0A-9D1B-5DD6-A93BF7E17D09}"/>
                </a:ext>
              </a:extLst>
            </p:cNvPr>
            <p:cNvSpPr txBox="1">
              <a:spLocks noChangeArrowheads="1"/>
            </p:cNvSpPr>
            <p:nvPr/>
          </p:nvSpPr>
          <p:spPr bwMode="auto">
            <a:xfrm>
              <a:off x="5680076" y="3943777"/>
              <a:ext cx="21031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Storage</a:t>
              </a:r>
              <a:endParaRPr lang="en-US" sz="1600" b="0" dirty="0">
                <a:solidFill>
                  <a:schemeClr val="tx1"/>
                </a:solidFill>
              </a:endParaRPr>
            </a:p>
            <a:p>
              <a:pPr algn="l">
                <a:lnSpc>
                  <a:spcPct val="100000"/>
                </a:lnSpc>
                <a:spcBef>
                  <a:spcPct val="0"/>
                </a:spcBef>
              </a:pPr>
              <a:r>
                <a:rPr lang="en-US" sz="1600" b="0" dirty="0">
                  <a:solidFill>
                    <a:schemeClr val="tx1"/>
                  </a:solidFill>
                </a:rPr>
                <a:t>To hold for later use. </a:t>
              </a:r>
              <a:br>
                <a:rPr lang="en-US" sz="1600" b="0" dirty="0">
                  <a:solidFill>
                    <a:schemeClr val="tx1"/>
                  </a:solidFill>
                </a:rPr>
              </a:br>
              <a:r>
                <a:rPr lang="en-US" sz="1600" b="0" dirty="0">
                  <a:solidFill>
                    <a:schemeClr val="tx1"/>
                  </a:solidFill>
                </a:rPr>
                <a:t>(I.e., in a queue).</a:t>
              </a:r>
            </a:p>
          </p:txBody>
        </p:sp>
        <p:sp>
          <p:nvSpPr>
            <p:cNvPr id="34" name="AutoShape 63">
              <a:extLst>
                <a:ext uri="{FF2B5EF4-FFF2-40B4-BE49-F238E27FC236}">
                  <a16:creationId xmlns:a16="http://schemas.microsoft.com/office/drawing/2014/main" id="{95A94E2A-46AA-9BCB-12FE-BDFB61C2ACF1}"/>
                </a:ext>
              </a:extLst>
            </p:cNvPr>
            <p:cNvSpPr>
              <a:spLocks noChangeArrowheads="1"/>
            </p:cNvSpPr>
            <p:nvPr/>
          </p:nvSpPr>
          <p:spPr bwMode="auto">
            <a:xfrm>
              <a:off x="4789488" y="5273675"/>
              <a:ext cx="609600" cy="609600"/>
            </a:xfrm>
            <a:prstGeom prst="flowChartDelay">
              <a:avLst/>
            </a:prstGeom>
            <a:solidFill>
              <a:srgbClr val="FFFFFF"/>
            </a:solidFill>
            <a:ln w="19050">
              <a:solidFill>
                <a:schemeClr val="tx1"/>
              </a:solidFill>
              <a:miter lim="800000"/>
              <a:headEnd/>
              <a:tailEnd/>
            </a:ln>
          </p:spPr>
          <p:txBody>
            <a:bodyPr wrap="none" anchor="ctr"/>
            <a:lstStyle/>
            <a:p>
              <a:endParaRPr lang="en-GB" dirty="0"/>
            </a:p>
          </p:txBody>
        </p:sp>
        <p:grpSp>
          <p:nvGrpSpPr>
            <p:cNvPr id="35" name="Group 64">
              <a:extLst>
                <a:ext uri="{FF2B5EF4-FFF2-40B4-BE49-F238E27FC236}">
                  <a16:creationId xmlns:a16="http://schemas.microsoft.com/office/drawing/2014/main" id="{BF3C0EAC-1CE0-15E7-00A5-3E8A40FBF3AF}"/>
                </a:ext>
              </a:extLst>
            </p:cNvPr>
            <p:cNvGrpSpPr>
              <a:grpSpLocks/>
            </p:cNvGrpSpPr>
            <p:nvPr/>
          </p:nvGrpSpPr>
          <p:grpSpPr bwMode="auto">
            <a:xfrm>
              <a:off x="457200" y="4095752"/>
              <a:ext cx="4114800" cy="1311275"/>
              <a:chOff x="288" y="3174"/>
              <a:chExt cx="2592" cy="826"/>
            </a:xfrm>
          </p:grpSpPr>
          <p:sp>
            <p:nvSpPr>
              <p:cNvPr id="36" name="AutoShape 65">
                <a:extLst>
                  <a:ext uri="{FF2B5EF4-FFF2-40B4-BE49-F238E27FC236}">
                    <a16:creationId xmlns:a16="http://schemas.microsoft.com/office/drawing/2014/main" id="{CC8BF75B-678E-95E4-2327-236724BD9016}"/>
                  </a:ext>
                </a:extLst>
              </p:cNvPr>
              <p:cNvSpPr>
                <a:spLocks noChangeArrowheads="1"/>
              </p:cNvSpPr>
              <p:nvPr/>
            </p:nvSpPr>
            <p:spPr bwMode="auto">
              <a:xfrm>
                <a:off x="288" y="3235"/>
                <a:ext cx="765" cy="765"/>
              </a:xfrm>
              <a:prstGeom prst="diamond">
                <a:avLst/>
              </a:prstGeom>
              <a:solidFill>
                <a:srgbClr val="FFFFFF"/>
              </a:solidFill>
              <a:ln w="19050">
                <a:solidFill>
                  <a:schemeClr val="tx1"/>
                </a:solidFill>
                <a:miter lim="800000"/>
                <a:headEnd/>
                <a:tailEnd/>
              </a:ln>
            </p:spPr>
            <p:txBody>
              <a:bodyPr wrap="none" anchor="ctr"/>
              <a:lstStyle/>
              <a:p>
                <a:endParaRPr lang="en-GB" dirty="0"/>
              </a:p>
            </p:txBody>
          </p:sp>
          <p:sp>
            <p:nvSpPr>
              <p:cNvPr id="37" name="Text Box 66">
                <a:extLst>
                  <a:ext uri="{FF2B5EF4-FFF2-40B4-BE49-F238E27FC236}">
                    <a16:creationId xmlns:a16="http://schemas.microsoft.com/office/drawing/2014/main" id="{59011B0B-5FF0-9BE6-4381-CA624E4763CE}"/>
                  </a:ext>
                </a:extLst>
              </p:cNvPr>
              <p:cNvSpPr txBox="1">
                <a:spLocks noChangeArrowheads="1"/>
              </p:cNvSpPr>
              <p:nvPr/>
            </p:nvSpPr>
            <p:spPr bwMode="auto">
              <a:xfrm>
                <a:off x="1152" y="3174"/>
                <a:ext cx="1728"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Decision</a:t>
                </a:r>
                <a:endParaRPr lang="en-US" sz="1600" b="0" dirty="0">
                  <a:solidFill>
                    <a:schemeClr val="tx1"/>
                  </a:solidFill>
                </a:endParaRPr>
              </a:p>
              <a:p>
                <a:pPr algn="l">
                  <a:lnSpc>
                    <a:spcPct val="100000"/>
                  </a:lnSpc>
                  <a:spcBef>
                    <a:spcPct val="0"/>
                  </a:spcBef>
                </a:pPr>
                <a:r>
                  <a:rPr lang="en-US" sz="1600" b="0" dirty="0">
                    <a:solidFill>
                      <a:schemeClr val="tx1"/>
                    </a:solidFill>
                  </a:rPr>
                  <a:t>A step in the process where </a:t>
                </a:r>
              </a:p>
              <a:p>
                <a:pPr algn="l">
                  <a:lnSpc>
                    <a:spcPct val="100000"/>
                  </a:lnSpc>
                  <a:spcBef>
                    <a:spcPct val="0"/>
                  </a:spcBef>
                </a:pPr>
                <a:r>
                  <a:rPr lang="en-US" sz="1600" b="0" dirty="0">
                    <a:solidFill>
                      <a:schemeClr val="tx1"/>
                    </a:solidFill>
                  </a:rPr>
                  <a:t>a change in the flow may </a:t>
                </a:r>
              </a:p>
              <a:p>
                <a:pPr algn="l">
                  <a:lnSpc>
                    <a:spcPct val="100000"/>
                  </a:lnSpc>
                  <a:spcBef>
                    <a:spcPct val="0"/>
                  </a:spcBef>
                </a:pPr>
                <a:r>
                  <a:rPr lang="en-US" sz="1600" b="0" dirty="0">
                    <a:solidFill>
                      <a:schemeClr val="tx1"/>
                    </a:solidFill>
                  </a:rPr>
                  <a:t>occur. </a:t>
                </a:r>
              </a:p>
            </p:txBody>
          </p:sp>
        </p:grpSp>
        <p:sp>
          <p:nvSpPr>
            <p:cNvPr id="38" name="Text Box 67">
              <a:extLst>
                <a:ext uri="{FF2B5EF4-FFF2-40B4-BE49-F238E27FC236}">
                  <a16:creationId xmlns:a16="http://schemas.microsoft.com/office/drawing/2014/main" id="{A5567C87-6161-CC8F-59D1-DA1C40118207}"/>
                </a:ext>
              </a:extLst>
            </p:cNvPr>
            <p:cNvSpPr txBox="1">
              <a:spLocks noChangeArrowheads="1"/>
            </p:cNvSpPr>
            <p:nvPr/>
          </p:nvSpPr>
          <p:spPr bwMode="auto">
            <a:xfrm>
              <a:off x="5680077" y="5023992"/>
              <a:ext cx="293670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lnSpc>
                  <a:spcPct val="100000"/>
                </a:lnSpc>
                <a:spcBef>
                  <a:spcPct val="0"/>
                </a:spcBef>
              </a:pPr>
              <a:r>
                <a:rPr lang="en-US" sz="1600" dirty="0">
                  <a:solidFill>
                    <a:schemeClr val="tx1"/>
                  </a:solidFill>
                </a:rPr>
                <a:t>Delay</a:t>
              </a:r>
              <a:endParaRPr lang="en-US" sz="1600" b="0" dirty="0">
                <a:solidFill>
                  <a:schemeClr val="tx1"/>
                </a:solidFill>
              </a:endParaRPr>
            </a:p>
            <a:p>
              <a:pPr algn="l">
                <a:lnSpc>
                  <a:spcPct val="100000"/>
                </a:lnSpc>
                <a:spcBef>
                  <a:spcPct val="0"/>
                </a:spcBef>
              </a:pPr>
              <a:r>
                <a:rPr lang="en-US" sz="1600" b="0" dirty="0">
                  <a:solidFill>
                    <a:schemeClr val="tx1"/>
                  </a:solidFill>
                </a:rPr>
                <a:t>To wait for the next operation. </a:t>
              </a:r>
            </a:p>
            <a:p>
              <a:pPr algn="l">
                <a:lnSpc>
                  <a:spcPct val="100000"/>
                </a:lnSpc>
                <a:spcBef>
                  <a:spcPct val="0"/>
                </a:spcBef>
              </a:pPr>
              <a:r>
                <a:rPr lang="en-US" sz="1600" b="0" dirty="0">
                  <a:solidFill>
                    <a:schemeClr val="tx1"/>
                  </a:solidFill>
                </a:rPr>
                <a:t>(I.e., in a queue).</a:t>
              </a:r>
            </a:p>
            <a:p>
              <a:pPr algn="l">
                <a:lnSpc>
                  <a:spcPct val="100000"/>
                </a:lnSpc>
                <a:spcBef>
                  <a:spcPct val="0"/>
                </a:spcBef>
              </a:pPr>
              <a:r>
                <a:rPr lang="en-US" sz="1600" b="0" dirty="0">
                  <a:solidFill>
                    <a:schemeClr val="tx1"/>
                  </a:solidFill>
                </a:rPr>
                <a:t>No value added.</a:t>
              </a:r>
            </a:p>
          </p:txBody>
        </p:sp>
      </p:grpSp>
    </p:spTree>
    <p:extLst>
      <p:ext uri="{BB962C8B-B14F-4D97-AF65-F5344CB8AC3E}">
        <p14:creationId xmlns:p14="http://schemas.microsoft.com/office/powerpoint/2010/main" val="1603749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Mapping the Process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map the product Value Stream and Key processes.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Walk the process and list all the steps.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Layout the steps using Post-It notes.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Check all steps are included.</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Walk the process and capture the information.</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Mark the information on the map.</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Check for sufficiency and logic.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Capture your summary in a presentable format.</a:t>
            </a:r>
          </a:p>
        </p:txBody>
      </p:sp>
      <p:grpSp>
        <p:nvGrpSpPr>
          <p:cNvPr id="3" name="Group 2">
            <a:extLst>
              <a:ext uri="{FF2B5EF4-FFF2-40B4-BE49-F238E27FC236}">
                <a16:creationId xmlns:a16="http://schemas.microsoft.com/office/drawing/2014/main" id="{7461F6A2-CD21-BE52-7698-3E0A28F8E9F1}"/>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7E9D9D47-87D6-FBEA-1AEB-4AA06912F797}"/>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BFCE668-32BC-BA7A-DEFD-CC4F39B958A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C67C75E-C25E-8BF1-8A27-A818D847A2F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97C8C51-1432-F27D-BEE4-83DF1955AFA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F95F70B-5AA4-9167-ACA8-AFA90B81D2B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0B7ACBFB-0CE4-E326-5A91-20F60A3ED70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DCB1B71D-F1C6-5B79-D43F-FC984D997D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7705E398-D743-F3AF-C7FF-EB5AF150C021}"/>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3649030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Voice Of Customer</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chor="ctr">
            <a:normAutofit fontScale="92500" lnSpcReduction="20000"/>
          </a:bodyPr>
          <a:lstStyle/>
          <a:p>
            <a:r>
              <a:rPr lang="en-US" dirty="0"/>
              <a:t>Listening to customer needs and wants (external &amp; internal)</a:t>
            </a:r>
          </a:p>
          <a:p>
            <a:r>
              <a:rPr lang="en-US" dirty="0"/>
              <a:t>Internal feedback</a:t>
            </a:r>
          </a:p>
          <a:p>
            <a:pPr lvl="1"/>
            <a:r>
              <a:rPr lang="en-US" dirty="0"/>
              <a:t>Engineering Change log</a:t>
            </a:r>
          </a:p>
          <a:p>
            <a:pPr lvl="1"/>
            <a:r>
              <a:rPr lang="en-US" dirty="0"/>
              <a:t>Concession notes</a:t>
            </a:r>
          </a:p>
          <a:p>
            <a:pPr lvl="1"/>
            <a:r>
              <a:rPr lang="en-US" dirty="0"/>
              <a:t>Cost of Quality</a:t>
            </a:r>
          </a:p>
          <a:p>
            <a:r>
              <a:rPr lang="en-US" dirty="0"/>
              <a:t>Customer feedback</a:t>
            </a:r>
          </a:p>
          <a:p>
            <a:pPr lvl="1"/>
            <a:r>
              <a:rPr lang="en-US" dirty="0"/>
              <a:t>surveys</a:t>
            </a:r>
          </a:p>
          <a:p>
            <a:pPr lvl="1"/>
            <a:r>
              <a:rPr lang="en-US" dirty="0"/>
              <a:t>feedback forms</a:t>
            </a:r>
          </a:p>
          <a:p>
            <a:pPr lvl="1"/>
            <a:r>
              <a:rPr lang="en-US" dirty="0"/>
              <a:t>focus groups</a:t>
            </a:r>
          </a:p>
          <a:p>
            <a:r>
              <a:rPr lang="en-US" dirty="0"/>
              <a:t>Specifications</a:t>
            </a:r>
          </a:p>
          <a:p>
            <a:r>
              <a:rPr lang="en-US" dirty="0"/>
              <a:t>Standards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pic>
        <p:nvPicPr>
          <p:cNvPr id="15" name="Content Placeholder 14">
            <a:extLst>
              <a:ext uri="{FF2B5EF4-FFF2-40B4-BE49-F238E27FC236}">
                <a16:creationId xmlns:a16="http://schemas.microsoft.com/office/drawing/2014/main" id="{FDB4FAE1-8704-5D28-DE74-A5BCF9E6943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34150" y="2528094"/>
            <a:ext cx="4457700" cy="2946400"/>
          </a:xfrm>
          <a:prstGeom prst="rect">
            <a:avLst/>
          </a:prstGeom>
        </p:spPr>
      </p:pic>
    </p:spTree>
    <p:extLst>
      <p:ext uri="{BB962C8B-B14F-4D97-AF65-F5344CB8AC3E}">
        <p14:creationId xmlns:p14="http://schemas.microsoft.com/office/powerpoint/2010/main" val="2458451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Quality Function Deployment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6" name="Content Placeholder 15">
            <a:extLst>
              <a:ext uri="{FF2B5EF4-FFF2-40B4-BE49-F238E27FC236}">
                <a16:creationId xmlns:a16="http://schemas.microsoft.com/office/drawing/2014/main" id="{AF95410F-6098-9D56-A805-A0A7E5F829C6}"/>
              </a:ext>
            </a:extLst>
          </p:cNvPr>
          <p:cNvSpPr>
            <a:spLocks noGrp="1"/>
          </p:cNvSpPr>
          <p:nvPr>
            <p:ph sz="half" idx="2"/>
          </p:nvPr>
        </p:nvSpPr>
        <p:spPr/>
        <p:txBody>
          <a:bodyPr anchor="ctr">
            <a:normAutofit fontScale="77500" lnSpcReduction="20000"/>
          </a:bodyPr>
          <a:lstStyle/>
          <a:p>
            <a:pPr>
              <a:lnSpc>
                <a:spcPct val="85000"/>
              </a:lnSpc>
              <a:spcBef>
                <a:spcPts val="600"/>
              </a:spcBef>
              <a:spcAft>
                <a:spcPts val="600"/>
              </a:spcAft>
            </a:pPr>
            <a:r>
              <a:rPr lang="en-GB" dirty="0"/>
              <a:t>List “What” the customer needs are and ratings</a:t>
            </a:r>
          </a:p>
          <a:p>
            <a:pPr>
              <a:lnSpc>
                <a:spcPct val="85000"/>
              </a:lnSpc>
              <a:spcBef>
                <a:spcPts val="600"/>
              </a:spcBef>
              <a:spcAft>
                <a:spcPts val="600"/>
              </a:spcAft>
            </a:pPr>
            <a:r>
              <a:rPr lang="en-GB" dirty="0"/>
              <a:t>Decide “How” the needs will be met (Design Features) and their measures “How Much”</a:t>
            </a:r>
          </a:p>
          <a:p>
            <a:pPr>
              <a:lnSpc>
                <a:spcPct val="85000"/>
              </a:lnSpc>
              <a:spcBef>
                <a:spcPts val="600"/>
              </a:spcBef>
              <a:spcAft>
                <a:spcPts val="600"/>
              </a:spcAft>
            </a:pPr>
            <a:r>
              <a:rPr lang="en-GB" dirty="0"/>
              <a:t>Determine the relationships</a:t>
            </a:r>
          </a:p>
          <a:p>
            <a:pPr>
              <a:lnSpc>
                <a:spcPct val="85000"/>
              </a:lnSpc>
              <a:spcBef>
                <a:spcPts val="600"/>
              </a:spcBef>
              <a:spcAft>
                <a:spcPts val="600"/>
              </a:spcAft>
            </a:pPr>
            <a:r>
              <a:rPr lang="en-GB" dirty="0"/>
              <a:t>Calculate importance ratings What’s to How’s via Relationships scores</a:t>
            </a:r>
          </a:p>
          <a:p>
            <a:pPr>
              <a:lnSpc>
                <a:spcPct val="85000"/>
              </a:lnSpc>
              <a:spcBef>
                <a:spcPts val="600"/>
              </a:spcBef>
              <a:spcAft>
                <a:spcPts val="600"/>
              </a:spcAft>
            </a:pPr>
            <a:r>
              <a:rPr lang="en-GB" dirty="0"/>
              <a:t>Benchmark current performance by plotting relative positions</a:t>
            </a:r>
          </a:p>
          <a:p>
            <a:pPr>
              <a:lnSpc>
                <a:spcPct val="85000"/>
              </a:lnSpc>
              <a:spcBef>
                <a:spcPts val="600"/>
              </a:spcBef>
              <a:spcAft>
                <a:spcPts val="600"/>
              </a:spcAft>
            </a:pPr>
            <a:r>
              <a:rPr lang="en-GB" dirty="0"/>
              <a:t>Set targets</a:t>
            </a:r>
          </a:p>
          <a:p>
            <a:pPr>
              <a:lnSpc>
                <a:spcPct val="85000"/>
              </a:lnSpc>
              <a:spcBef>
                <a:spcPts val="600"/>
              </a:spcBef>
              <a:spcAft>
                <a:spcPts val="600"/>
              </a:spcAft>
            </a:pPr>
            <a:r>
              <a:rPr lang="en-GB" dirty="0"/>
              <a:t>Identify Conflicts in the How’s</a:t>
            </a:r>
          </a:p>
          <a:p>
            <a:pPr>
              <a:lnSpc>
                <a:spcPct val="85000"/>
              </a:lnSpc>
              <a:spcBef>
                <a:spcPts val="600"/>
              </a:spcBef>
              <a:spcAft>
                <a:spcPts val="600"/>
              </a:spcAft>
            </a:pPr>
            <a:r>
              <a:rPr lang="en-GB" dirty="0"/>
              <a:t>Identify Conflicts in the Relationships between Benchmarks</a:t>
            </a:r>
          </a:p>
        </p:txBody>
      </p:sp>
      <p:grpSp>
        <p:nvGrpSpPr>
          <p:cNvPr id="49" name="Group 48">
            <a:extLst>
              <a:ext uri="{FF2B5EF4-FFF2-40B4-BE49-F238E27FC236}">
                <a16:creationId xmlns:a16="http://schemas.microsoft.com/office/drawing/2014/main" id="{0C316677-CD8F-9F55-A9BE-B16915F87033}"/>
              </a:ext>
            </a:extLst>
          </p:cNvPr>
          <p:cNvGrpSpPr/>
          <p:nvPr/>
        </p:nvGrpSpPr>
        <p:grpSpPr>
          <a:xfrm>
            <a:off x="1468334" y="1783429"/>
            <a:ext cx="3259185" cy="4320192"/>
            <a:chOff x="332547" y="1343025"/>
            <a:chExt cx="3767622" cy="4744115"/>
          </a:xfrm>
        </p:grpSpPr>
        <p:grpSp>
          <p:nvGrpSpPr>
            <p:cNvPr id="17" name="Group 67">
              <a:extLst>
                <a:ext uri="{FF2B5EF4-FFF2-40B4-BE49-F238E27FC236}">
                  <a16:creationId xmlns:a16="http://schemas.microsoft.com/office/drawing/2014/main" id="{8CF9FC1A-FF06-5A87-DFA9-53869FA6463E}"/>
                </a:ext>
              </a:extLst>
            </p:cNvPr>
            <p:cNvGrpSpPr>
              <a:grpSpLocks/>
            </p:cNvGrpSpPr>
            <p:nvPr/>
          </p:nvGrpSpPr>
          <p:grpSpPr bwMode="auto">
            <a:xfrm>
              <a:off x="442792" y="1512291"/>
              <a:ext cx="1370254" cy="1166022"/>
              <a:chOff x="284021" y="528916"/>
              <a:chExt cx="818447" cy="743839"/>
            </a:xfrm>
          </p:grpSpPr>
          <p:grpSp>
            <p:nvGrpSpPr>
              <p:cNvPr id="18" name="Group 55">
                <a:extLst>
                  <a:ext uri="{FF2B5EF4-FFF2-40B4-BE49-F238E27FC236}">
                    <a16:creationId xmlns:a16="http://schemas.microsoft.com/office/drawing/2014/main" id="{00ABA060-22AF-C9C9-6368-4D917A5452F7}"/>
                  </a:ext>
                </a:extLst>
              </p:cNvPr>
              <p:cNvGrpSpPr>
                <a:grpSpLocks/>
              </p:cNvGrpSpPr>
              <p:nvPr/>
            </p:nvGrpSpPr>
            <p:grpSpPr bwMode="auto">
              <a:xfrm>
                <a:off x="293093" y="1100074"/>
                <a:ext cx="139902" cy="137871"/>
                <a:chOff x="291438" y="1093589"/>
                <a:chExt cx="139902" cy="137871"/>
              </a:xfrm>
            </p:grpSpPr>
            <p:cxnSp>
              <p:nvCxnSpPr>
                <p:cNvPr id="23" name="Straight Connector 22">
                  <a:extLst>
                    <a:ext uri="{FF2B5EF4-FFF2-40B4-BE49-F238E27FC236}">
                      <a16:creationId xmlns:a16="http://schemas.microsoft.com/office/drawing/2014/main" id="{D5CC04A3-FA7C-4020-F4C7-6EB2A85EA50F}"/>
                    </a:ext>
                  </a:extLst>
                </p:cNvPr>
                <p:cNvCxnSpPr/>
                <p:nvPr/>
              </p:nvCxnSpPr>
              <p:spPr>
                <a:xfrm rot="10800000" flipH="1" flipV="1">
                  <a:off x="291438" y="1126869"/>
                  <a:ext cx="104926" cy="104591"/>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236CCB6-57A8-0C22-6803-ADD743DCBD24}"/>
                    </a:ext>
                  </a:extLst>
                </p:cNvPr>
                <p:cNvCxnSpPr/>
                <p:nvPr/>
              </p:nvCxnSpPr>
              <p:spPr>
                <a:xfrm rot="10800000" flipH="1" flipV="1">
                  <a:off x="326414" y="1093589"/>
                  <a:ext cx="104926" cy="104591"/>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C850CDB-6C8B-CF7B-4B9B-C012E8520048}"/>
                    </a:ext>
                  </a:extLst>
                </p:cNvPr>
                <p:cNvCxnSpPr/>
                <p:nvPr/>
              </p:nvCxnSpPr>
              <p:spPr>
                <a:xfrm rot="16200000" flipH="1" flipV="1">
                  <a:off x="294785" y="1098176"/>
                  <a:ext cx="104591" cy="10492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D59631-CFBF-4B65-12A0-8BE0DA2D249D}"/>
                    </a:ext>
                  </a:extLst>
                </p:cNvPr>
                <p:cNvCxnSpPr/>
                <p:nvPr/>
              </p:nvCxnSpPr>
              <p:spPr>
                <a:xfrm rot="16200000" flipH="1" flipV="1">
                  <a:off x="324991" y="1126700"/>
                  <a:ext cx="104591" cy="10492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2CF5DC5C-8A5F-FA1E-ACCE-C8AD46ABEB32}"/>
                  </a:ext>
                </a:extLst>
              </p:cNvPr>
              <p:cNvSpPr/>
              <p:nvPr/>
            </p:nvSpPr>
            <p:spPr>
              <a:xfrm>
                <a:off x="326479" y="766553"/>
                <a:ext cx="81080" cy="80820"/>
              </a:xfrm>
              <a:prstGeom prst="ellipse">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800" dirty="0">
                  <a:solidFill>
                    <a:schemeClr val="tx1"/>
                  </a:solidFill>
                </a:endParaRPr>
              </a:p>
            </p:txBody>
          </p:sp>
          <p:sp>
            <p:nvSpPr>
              <p:cNvPr id="20" name="Donut 19">
                <a:extLst>
                  <a:ext uri="{FF2B5EF4-FFF2-40B4-BE49-F238E27FC236}">
                    <a16:creationId xmlns:a16="http://schemas.microsoft.com/office/drawing/2014/main" id="{7C0C7AB1-ECA3-91B8-66A1-D0586DB062B1}"/>
                  </a:ext>
                </a:extLst>
              </p:cNvPr>
              <p:cNvSpPr/>
              <p:nvPr/>
            </p:nvSpPr>
            <p:spPr>
              <a:xfrm>
                <a:off x="296273" y="556054"/>
                <a:ext cx="131954" cy="126776"/>
              </a:xfrm>
              <a:prstGeom prst="donut">
                <a:avLst>
                  <a:gd name="adj" fmla="val 25000"/>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800" dirty="0">
                  <a:solidFill>
                    <a:schemeClr val="tx1"/>
                  </a:solidFill>
                </a:endParaRPr>
              </a:p>
            </p:txBody>
          </p:sp>
          <p:sp>
            <p:nvSpPr>
              <p:cNvPr id="21" name="Multiply 23">
                <a:extLst>
                  <a:ext uri="{FF2B5EF4-FFF2-40B4-BE49-F238E27FC236}">
                    <a16:creationId xmlns:a16="http://schemas.microsoft.com/office/drawing/2014/main" id="{504E8322-C7EA-031B-BED5-6903073318A3}"/>
                  </a:ext>
                </a:extLst>
              </p:cNvPr>
              <p:cNvSpPr/>
              <p:nvPr/>
            </p:nvSpPr>
            <p:spPr>
              <a:xfrm>
                <a:off x="284021" y="916247"/>
                <a:ext cx="160569" cy="160055"/>
              </a:xfrm>
              <a:prstGeom prst="mathMultiply">
                <a:avLst>
                  <a:gd name="adj1" fmla="val 5639"/>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800" dirty="0">
                  <a:solidFill>
                    <a:schemeClr val="tx1"/>
                  </a:solidFill>
                </a:endParaRPr>
              </a:p>
            </p:txBody>
          </p:sp>
          <p:sp>
            <p:nvSpPr>
              <p:cNvPr id="22" name="TextBox 34">
                <a:extLst>
                  <a:ext uri="{FF2B5EF4-FFF2-40B4-BE49-F238E27FC236}">
                    <a16:creationId xmlns:a16="http://schemas.microsoft.com/office/drawing/2014/main" id="{8723A4A5-93B9-265F-5DDC-565B38D545E6}"/>
                  </a:ext>
                </a:extLst>
              </p:cNvPr>
              <p:cNvSpPr txBox="1">
                <a:spLocks noChangeArrowheads="1"/>
              </p:cNvSpPr>
              <p:nvPr/>
            </p:nvSpPr>
            <p:spPr bwMode="auto">
              <a:xfrm>
                <a:off x="440987" y="528916"/>
                <a:ext cx="661481" cy="74383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900">
                    <a:solidFill>
                      <a:schemeClr val="tx1"/>
                    </a:solidFill>
                    <a:latin typeface="Arial" pitchFamily="34" charset="0"/>
                    <a:cs typeface="Arial" pitchFamily="34" charset="0"/>
                  </a:defRPr>
                </a:lvl1pPr>
                <a:lvl2pPr marL="742950" indent="-285750" eaLnBrk="0" hangingPunct="0">
                  <a:defRPr sz="900">
                    <a:solidFill>
                      <a:schemeClr val="tx1"/>
                    </a:solidFill>
                    <a:latin typeface="Arial" pitchFamily="34" charset="0"/>
                    <a:cs typeface="Arial" pitchFamily="34" charset="0"/>
                  </a:defRPr>
                </a:lvl2pPr>
                <a:lvl3pPr marL="1143000" indent="-228600" eaLnBrk="0" hangingPunct="0">
                  <a:defRPr sz="900">
                    <a:solidFill>
                      <a:schemeClr val="tx1"/>
                    </a:solidFill>
                    <a:latin typeface="Arial" pitchFamily="34" charset="0"/>
                    <a:cs typeface="Arial" pitchFamily="34" charset="0"/>
                  </a:defRPr>
                </a:lvl3pPr>
                <a:lvl4pPr marL="1600200" indent="-228600" eaLnBrk="0" hangingPunct="0">
                  <a:defRPr sz="900">
                    <a:solidFill>
                      <a:schemeClr val="tx1"/>
                    </a:solidFill>
                    <a:latin typeface="Arial" pitchFamily="34" charset="0"/>
                    <a:cs typeface="Arial" pitchFamily="34" charset="0"/>
                  </a:defRPr>
                </a:lvl4pPr>
                <a:lvl5pPr marL="2057400" indent="-228600" eaLnBrk="0" hangingPunct="0">
                  <a:defRPr sz="900">
                    <a:solidFill>
                      <a:schemeClr val="tx1"/>
                    </a:solidFill>
                    <a:latin typeface="Arial" pitchFamily="34" charset="0"/>
                    <a:cs typeface="Arial" pitchFamily="34" charset="0"/>
                  </a:defRPr>
                </a:lvl5pPr>
                <a:lvl6pPr marL="2514600" indent="-228600" defTabSz="463550" eaLnBrk="0" fontAlgn="base" hangingPunct="0">
                  <a:spcBef>
                    <a:spcPct val="0"/>
                  </a:spcBef>
                  <a:spcAft>
                    <a:spcPct val="0"/>
                  </a:spcAft>
                  <a:defRPr sz="900">
                    <a:solidFill>
                      <a:schemeClr val="tx1"/>
                    </a:solidFill>
                    <a:latin typeface="Arial" pitchFamily="34" charset="0"/>
                    <a:cs typeface="Arial" pitchFamily="34" charset="0"/>
                  </a:defRPr>
                </a:lvl6pPr>
                <a:lvl7pPr marL="2971800" indent="-228600" defTabSz="463550" eaLnBrk="0" fontAlgn="base" hangingPunct="0">
                  <a:spcBef>
                    <a:spcPct val="0"/>
                  </a:spcBef>
                  <a:spcAft>
                    <a:spcPct val="0"/>
                  </a:spcAft>
                  <a:defRPr sz="900">
                    <a:solidFill>
                      <a:schemeClr val="tx1"/>
                    </a:solidFill>
                    <a:latin typeface="Arial" pitchFamily="34" charset="0"/>
                    <a:cs typeface="Arial" pitchFamily="34" charset="0"/>
                  </a:defRPr>
                </a:lvl7pPr>
                <a:lvl8pPr marL="3429000" indent="-228600" defTabSz="463550" eaLnBrk="0" fontAlgn="base" hangingPunct="0">
                  <a:spcBef>
                    <a:spcPct val="0"/>
                  </a:spcBef>
                  <a:spcAft>
                    <a:spcPct val="0"/>
                  </a:spcAft>
                  <a:defRPr sz="900">
                    <a:solidFill>
                      <a:schemeClr val="tx1"/>
                    </a:solidFill>
                    <a:latin typeface="Arial" pitchFamily="34" charset="0"/>
                    <a:cs typeface="Arial" pitchFamily="34" charset="0"/>
                  </a:defRPr>
                </a:lvl8pPr>
                <a:lvl9pPr marL="3886200" indent="-228600" defTabSz="463550" eaLnBrk="0" fontAlgn="base" hangingPunct="0">
                  <a:spcBef>
                    <a:spcPct val="0"/>
                  </a:spcBef>
                  <a:spcAft>
                    <a:spcPct val="0"/>
                  </a:spcAft>
                  <a:defRPr sz="900">
                    <a:solidFill>
                      <a:schemeClr val="tx1"/>
                    </a:solidFill>
                    <a:latin typeface="Arial" pitchFamily="34" charset="0"/>
                    <a:cs typeface="Arial" pitchFamily="34" charset="0"/>
                  </a:defRPr>
                </a:lvl9pPr>
              </a:lstStyle>
              <a:p>
                <a:pPr algn="l" eaLnBrk="1" hangingPunct="1">
                  <a:spcBef>
                    <a:spcPts val="590"/>
                  </a:spcBef>
                </a:pPr>
                <a:r>
                  <a:rPr lang="en-GB" sz="1200" dirty="0">
                    <a:latin typeface="+mn-lt"/>
                  </a:rPr>
                  <a:t>Strong Pos</a:t>
                </a:r>
              </a:p>
              <a:p>
                <a:pPr algn="l" eaLnBrk="1" hangingPunct="1">
                  <a:spcBef>
                    <a:spcPts val="590"/>
                  </a:spcBef>
                </a:pPr>
                <a:r>
                  <a:rPr lang="en-GB" sz="1200" dirty="0">
                    <a:latin typeface="+mn-lt"/>
                  </a:rPr>
                  <a:t>Positive</a:t>
                </a:r>
              </a:p>
              <a:p>
                <a:pPr algn="l" eaLnBrk="1" hangingPunct="1">
                  <a:spcBef>
                    <a:spcPts val="590"/>
                  </a:spcBef>
                </a:pPr>
                <a:r>
                  <a:rPr lang="en-GB" sz="1200" dirty="0">
                    <a:latin typeface="+mn-lt"/>
                  </a:rPr>
                  <a:t>Negative</a:t>
                </a:r>
              </a:p>
              <a:p>
                <a:pPr algn="l" eaLnBrk="1" hangingPunct="1">
                  <a:spcBef>
                    <a:spcPts val="590"/>
                  </a:spcBef>
                </a:pPr>
                <a:r>
                  <a:rPr lang="en-GB" sz="1200" dirty="0">
                    <a:latin typeface="+mn-lt"/>
                  </a:rPr>
                  <a:t>Strong Neg</a:t>
                </a:r>
              </a:p>
            </p:txBody>
          </p:sp>
        </p:grpSp>
        <p:cxnSp>
          <p:nvCxnSpPr>
            <p:cNvPr id="27" name="Straight Arrow Connector 26">
              <a:extLst>
                <a:ext uri="{FF2B5EF4-FFF2-40B4-BE49-F238E27FC236}">
                  <a16:creationId xmlns:a16="http://schemas.microsoft.com/office/drawing/2014/main" id="{2E43BC71-946B-CD03-9D3C-C00096C82869}"/>
                </a:ext>
              </a:extLst>
            </p:cNvPr>
            <p:cNvCxnSpPr>
              <a:stCxn id="22" idx="3"/>
            </p:cNvCxnSpPr>
            <p:nvPr/>
          </p:nvCxnSpPr>
          <p:spPr>
            <a:xfrm flipV="1">
              <a:off x="1813047" y="1760709"/>
              <a:ext cx="967185" cy="334592"/>
            </a:xfrm>
            <a:prstGeom prst="straightConnector1">
              <a:avLst/>
            </a:prstGeom>
            <a:ln w="19050">
              <a:solidFill>
                <a:schemeClr val="accent5"/>
              </a:solidFill>
              <a:headEnd type="none" w="med" len="med"/>
              <a:tailEnd type="triangle" w="med" len="sm"/>
            </a:ln>
          </p:spPr>
          <p:style>
            <a:lnRef idx="1">
              <a:schemeClr val="accent1"/>
            </a:lnRef>
            <a:fillRef idx="0">
              <a:schemeClr val="accent1"/>
            </a:fillRef>
            <a:effectRef idx="0">
              <a:schemeClr val="accent1"/>
            </a:effectRef>
            <a:fontRef idx="minor">
              <a:schemeClr val="tx1"/>
            </a:fontRef>
          </p:style>
        </p:cxnSp>
        <p:grpSp>
          <p:nvGrpSpPr>
            <p:cNvPr id="28" name="Group 65">
              <a:extLst>
                <a:ext uri="{FF2B5EF4-FFF2-40B4-BE49-F238E27FC236}">
                  <a16:creationId xmlns:a16="http://schemas.microsoft.com/office/drawing/2014/main" id="{36D26E12-E80E-99CD-0CBD-C975FAD989FD}"/>
                </a:ext>
              </a:extLst>
            </p:cNvPr>
            <p:cNvGrpSpPr>
              <a:grpSpLocks/>
            </p:cNvGrpSpPr>
            <p:nvPr/>
          </p:nvGrpSpPr>
          <p:grpSpPr bwMode="auto">
            <a:xfrm>
              <a:off x="332547" y="4941142"/>
              <a:ext cx="1427913" cy="878740"/>
              <a:chOff x="307716" y="2405805"/>
              <a:chExt cx="762328" cy="539193"/>
            </a:xfrm>
          </p:grpSpPr>
          <p:sp>
            <p:nvSpPr>
              <p:cNvPr id="29" name="Isosceles Triangle 28">
                <a:extLst>
                  <a:ext uri="{FF2B5EF4-FFF2-40B4-BE49-F238E27FC236}">
                    <a16:creationId xmlns:a16="http://schemas.microsoft.com/office/drawing/2014/main" id="{AAE1BEBE-723A-AEB0-B4FB-AD486992D02B}"/>
                  </a:ext>
                </a:extLst>
              </p:cNvPr>
              <p:cNvSpPr/>
              <p:nvPr/>
            </p:nvSpPr>
            <p:spPr>
              <a:xfrm>
                <a:off x="324909" y="2457623"/>
                <a:ext cx="109604" cy="93421"/>
              </a:xfrm>
              <a:prstGeom prst="triangle">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800" dirty="0">
                  <a:solidFill>
                    <a:schemeClr val="tx1"/>
                  </a:solidFill>
                </a:endParaRPr>
              </a:p>
            </p:txBody>
          </p:sp>
          <p:sp>
            <p:nvSpPr>
              <p:cNvPr id="30" name="Oval 29">
                <a:extLst>
                  <a:ext uri="{FF2B5EF4-FFF2-40B4-BE49-F238E27FC236}">
                    <a16:creationId xmlns:a16="http://schemas.microsoft.com/office/drawing/2014/main" id="{E7893005-9DEB-E082-4F12-7D767608D9C0}"/>
                  </a:ext>
                </a:extLst>
              </p:cNvPr>
              <p:cNvSpPr/>
              <p:nvPr/>
            </p:nvSpPr>
            <p:spPr>
              <a:xfrm>
                <a:off x="331414" y="2630943"/>
                <a:ext cx="81011" cy="79171"/>
              </a:xfrm>
              <a:prstGeom prst="ellipse">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800" dirty="0">
                  <a:solidFill>
                    <a:schemeClr val="tx1"/>
                  </a:solidFill>
                </a:endParaRPr>
              </a:p>
            </p:txBody>
          </p:sp>
          <p:sp>
            <p:nvSpPr>
              <p:cNvPr id="31" name="TextBox 41">
                <a:extLst>
                  <a:ext uri="{FF2B5EF4-FFF2-40B4-BE49-F238E27FC236}">
                    <a16:creationId xmlns:a16="http://schemas.microsoft.com/office/drawing/2014/main" id="{F8B9C74F-6F8E-27F2-A203-908145BB62E0}"/>
                  </a:ext>
                </a:extLst>
              </p:cNvPr>
              <p:cNvSpPr txBox="1">
                <a:spLocks noChangeArrowheads="1"/>
              </p:cNvSpPr>
              <p:nvPr/>
            </p:nvSpPr>
            <p:spPr bwMode="auto">
              <a:xfrm>
                <a:off x="450146" y="2405805"/>
                <a:ext cx="619898" cy="53919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900">
                    <a:solidFill>
                      <a:schemeClr val="tx1"/>
                    </a:solidFill>
                    <a:latin typeface="Arial" pitchFamily="34" charset="0"/>
                    <a:cs typeface="Arial" pitchFamily="34" charset="0"/>
                  </a:defRPr>
                </a:lvl1pPr>
                <a:lvl2pPr marL="742950" indent="-285750" eaLnBrk="0" hangingPunct="0">
                  <a:defRPr sz="900">
                    <a:solidFill>
                      <a:schemeClr val="tx1"/>
                    </a:solidFill>
                    <a:latin typeface="Arial" pitchFamily="34" charset="0"/>
                    <a:cs typeface="Arial" pitchFamily="34" charset="0"/>
                  </a:defRPr>
                </a:lvl2pPr>
                <a:lvl3pPr marL="1143000" indent="-228600" eaLnBrk="0" hangingPunct="0">
                  <a:defRPr sz="900">
                    <a:solidFill>
                      <a:schemeClr val="tx1"/>
                    </a:solidFill>
                    <a:latin typeface="Arial" pitchFamily="34" charset="0"/>
                    <a:cs typeface="Arial" pitchFamily="34" charset="0"/>
                  </a:defRPr>
                </a:lvl3pPr>
                <a:lvl4pPr marL="1600200" indent="-228600" eaLnBrk="0" hangingPunct="0">
                  <a:defRPr sz="900">
                    <a:solidFill>
                      <a:schemeClr val="tx1"/>
                    </a:solidFill>
                    <a:latin typeface="Arial" pitchFamily="34" charset="0"/>
                    <a:cs typeface="Arial" pitchFamily="34" charset="0"/>
                  </a:defRPr>
                </a:lvl4pPr>
                <a:lvl5pPr marL="2057400" indent="-228600" eaLnBrk="0" hangingPunct="0">
                  <a:defRPr sz="900">
                    <a:solidFill>
                      <a:schemeClr val="tx1"/>
                    </a:solidFill>
                    <a:latin typeface="Arial" pitchFamily="34" charset="0"/>
                    <a:cs typeface="Arial" pitchFamily="34" charset="0"/>
                  </a:defRPr>
                </a:lvl5pPr>
                <a:lvl6pPr marL="2514600" indent="-228600" defTabSz="463550" eaLnBrk="0" fontAlgn="base" hangingPunct="0">
                  <a:spcBef>
                    <a:spcPct val="0"/>
                  </a:spcBef>
                  <a:spcAft>
                    <a:spcPct val="0"/>
                  </a:spcAft>
                  <a:defRPr sz="900">
                    <a:solidFill>
                      <a:schemeClr val="tx1"/>
                    </a:solidFill>
                    <a:latin typeface="Arial" pitchFamily="34" charset="0"/>
                    <a:cs typeface="Arial" pitchFamily="34" charset="0"/>
                  </a:defRPr>
                </a:lvl6pPr>
                <a:lvl7pPr marL="2971800" indent="-228600" defTabSz="463550" eaLnBrk="0" fontAlgn="base" hangingPunct="0">
                  <a:spcBef>
                    <a:spcPct val="0"/>
                  </a:spcBef>
                  <a:spcAft>
                    <a:spcPct val="0"/>
                  </a:spcAft>
                  <a:defRPr sz="900">
                    <a:solidFill>
                      <a:schemeClr val="tx1"/>
                    </a:solidFill>
                    <a:latin typeface="Arial" pitchFamily="34" charset="0"/>
                    <a:cs typeface="Arial" pitchFamily="34" charset="0"/>
                  </a:defRPr>
                </a:lvl7pPr>
                <a:lvl8pPr marL="3429000" indent="-228600" defTabSz="463550" eaLnBrk="0" fontAlgn="base" hangingPunct="0">
                  <a:spcBef>
                    <a:spcPct val="0"/>
                  </a:spcBef>
                  <a:spcAft>
                    <a:spcPct val="0"/>
                  </a:spcAft>
                  <a:defRPr sz="900">
                    <a:solidFill>
                      <a:schemeClr val="tx1"/>
                    </a:solidFill>
                    <a:latin typeface="Arial" pitchFamily="34" charset="0"/>
                    <a:cs typeface="Arial" pitchFamily="34" charset="0"/>
                  </a:defRPr>
                </a:lvl8pPr>
                <a:lvl9pPr marL="3886200" indent="-228600" defTabSz="463550" eaLnBrk="0" fontAlgn="base" hangingPunct="0">
                  <a:spcBef>
                    <a:spcPct val="0"/>
                  </a:spcBef>
                  <a:spcAft>
                    <a:spcPct val="0"/>
                  </a:spcAft>
                  <a:defRPr sz="900">
                    <a:solidFill>
                      <a:schemeClr val="tx1"/>
                    </a:solidFill>
                    <a:latin typeface="Arial" pitchFamily="34" charset="0"/>
                    <a:cs typeface="Arial" pitchFamily="34" charset="0"/>
                  </a:defRPr>
                </a:lvl9pPr>
              </a:lstStyle>
              <a:p>
                <a:pPr algn="l" eaLnBrk="1" hangingPunct="1">
                  <a:spcBef>
                    <a:spcPts val="590"/>
                  </a:spcBef>
                </a:pPr>
                <a:r>
                  <a:rPr lang="en-GB" sz="1200" dirty="0">
                    <a:latin typeface="+mn-lt"/>
                  </a:rPr>
                  <a:t>= 1 Weak</a:t>
                </a:r>
              </a:p>
              <a:p>
                <a:pPr algn="l" eaLnBrk="1" hangingPunct="1">
                  <a:spcBef>
                    <a:spcPts val="590"/>
                  </a:spcBef>
                </a:pPr>
                <a:r>
                  <a:rPr lang="en-GB" sz="1200" dirty="0">
                    <a:latin typeface="+mn-lt"/>
                  </a:rPr>
                  <a:t>= 3 Medium</a:t>
                </a:r>
              </a:p>
              <a:p>
                <a:pPr algn="l" eaLnBrk="1" hangingPunct="1">
                  <a:spcBef>
                    <a:spcPts val="590"/>
                  </a:spcBef>
                </a:pPr>
                <a:r>
                  <a:rPr lang="en-GB" sz="1200" dirty="0">
                    <a:latin typeface="+mn-lt"/>
                  </a:rPr>
                  <a:t>= 9 Strong</a:t>
                </a:r>
              </a:p>
            </p:txBody>
          </p:sp>
          <p:sp>
            <p:nvSpPr>
              <p:cNvPr id="32" name="Donut 56">
                <a:extLst>
                  <a:ext uri="{FF2B5EF4-FFF2-40B4-BE49-F238E27FC236}">
                    <a16:creationId xmlns:a16="http://schemas.microsoft.com/office/drawing/2014/main" id="{59B2DD85-DCF0-BF63-C6CB-AF744C40D042}"/>
                  </a:ext>
                </a:extLst>
              </p:cNvPr>
              <p:cNvSpPr/>
              <p:nvPr/>
            </p:nvSpPr>
            <p:spPr>
              <a:xfrm>
                <a:off x="307716" y="2785862"/>
                <a:ext cx="131841" cy="126673"/>
              </a:xfrm>
              <a:prstGeom prst="donu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800" dirty="0">
                  <a:solidFill>
                    <a:schemeClr val="tx1"/>
                  </a:solidFill>
                </a:endParaRPr>
              </a:p>
            </p:txBody>
          </p:sp>
        </p:grpSp>
        <p:grpSp>
          <p:nvGrpSpPr>
            <p:cNvPr id="33" name="Group 69">
              <a:extLst>
                <a:ext uri="{FF2B5EF4-FFF2-40B4-BE49-F238E27FC236}">
                  <a16:creationId xmlns:a16="http://schemas.microsoft.com/office/drawing/2014/main" id="{CF30BA20-FF72-23B6-10D0-2514E2EB3721}"/>
                </a:ext>
              </a:extLst>
            </p:cNvPr>
            <p:cNvGrpSpPr>
              <a:grpSpLocks/>
            </p:cNvGrpSpPr>
            <p:nvPr/>
          </p:nvGrpSpPr>
          <p:grpSpPr bwMode="auto">
            <a:xfrm>
              <a:off x="1000409" y="1343025"/>
              <a:ext cx="3099760" cy="4744115"/>
              <a:chOff x="531778" y="484590"/>
              <a:chExt cx="1647214" cy="2423981"/>
            </a:xfrm>
          </p:grpSpPr>
          <p:sp>
            <p:nvSpPr>
              <p:cNvPr id="34" name="Freeform 16">
                <a:extLst>
                  <a:ext uri="{FF2B5EF4-FFF2-40B4-BE49-F238E27FC236}">
                    <a16:creationId xmlns:a16="http://schemas.microsoft.com/office/drawing/2014/main" id="{77456684-43BD-B814-675E-073ADEA944A3}"/>
                  </a:ext>
                </a:extLst>
              </p:cNvPr>
              <p:cNvSpPr/>
              <p:nvPr/>
            </p:nvSpPr>
            <p:spPr>
              <a:xfrm>
                <a:off x="2010779" y="1213213"/>
                <a:ext cx="115844" cy="823868"/>
              </a:xfrm>
              <a:custGeom>
                <a:avLst/>
                <a:gdLst>
                  <a:gd name="connsiteX0" fmla="*/ 19455 w 116732"/>
                  <a:gd name="connsiteY0" fmla="*/ 0 h 823609"/>
                  <a:gd name="connsiteX1" fmla="*/ 116732 w 116732"/>
                  <a:gd name="connsiteY1" fmla="*/ 90792 h 823609"/>
                  <a:gd name="connsiteX2" fmla="*/ 6485 w 116732"/>
                  <a:gd name="connsiteY2" fmla="*/ 181583 h 823609"/>
                  <a:gd name="connsiteX3" fmla="*/ 116732 w 116732"/>
                  <a:gd name="connsiteY3" fmla="*/ 220494 h 823609"/>
                  <a:gd name="connsiteX4" fmla="*/ 97276 w 116732"/>
                  <a:gd name="connsiteY4" fmla="*/ 304800 h 823609"/>
                  <a:gd name="connsiteX5" fmla="*/ 12970 w 116732"/>
                  <a:gd name="connsiteY5" fmla="*/ 389107 h 823609"/>
                  <a:gd name="connsiteX6" fmla="*/ 19455 w 116732"/>
                  <a:gd name="connsiteY6" fmla="*/ 499354 h 823609"/>
                  <a:gd name="connsiteX7" fmla="*/ 110247 w 116732"/>
                  <a:gd name="connsiteY7" fmla="*/ 557720 h 823609"/>
                  <a:gd name="connsiteX8" fmla="*/ 71336 w 116732"/>
                  <a:gd name="connsiteY8" fmla="*/ 667966 h 823609"/>
                  <a:gd name="connsiteX9" fmla="*/ 0 w 116732"/>
                  <a:gd name="connsiteY9" fmla="*/ 752273 h 823609"/>
                  <a:gd name="connsiteX10" fmla="*/ 97276 w 116732"/>
                  <a:gd name="connsiteY10" fmla="*/ 823609 h 823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32" h="823609">
                    <a:moveTo>
                      <a:pt x="19455" y="0"/>
                    </a:moveTo>
                    <a:lnTo>
                      <a:pt x="116732" y="90792"/>
                    </a:lnTo>
                    <a:lnTo>
                      <a:pt x="6485" y="181583"/>
                    </a:lnTo>
                    <a:lnTo>
                      <a:pt x="116732" y="220494"/>
                    </a:lnTo>
                    <a:lnTo>
                      <a:pt x="97276" y="304800"/>
                    </a:lnTo>
                    <a:lnTo>
                      <a:pt x="12970" y="389107"/>
                    </a:lnTo>
                    <a:lnTo>
                      <a:pt x="19455" y="499354"/>
                    </a:lnTo>
                    <a:lnTo>
                      <a:pt x="110247" y="557720"/>
                    </a:lnTo>
                    <a:lnTo>
                      <a:pt x="71336" y="667966"/>
                    </a:lnTo>
                    <a:lnTo>
                      <a:pt x="0" y="752273"/>
                    </a:lnTo>
                    <a:lnTo>
                      <a:pt x="97276" y="823609"/>
                    </a:lnTo>
                  </a:path>
                </a:pathLst>
              </a:custGeom>
              <a:ln>
                <a:solidFill>
                  <a:schemeClr val="accent5"/>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sz="1400" dirty="0"/>
              </a:p>
            </p:txBody>
          </p:sp>
          <p:sp>
            <p:nvSpPr>
              <p:cNvPr id="35" name="Freeform 15">
                <a:extLst>
                  <a:ext uri="{FF2B5EF4-FFF2-40B4-BE49-F238E27FC236}">
                    <a16:creationId xmlns:a16="http://schemas.microsoft.com/office/drawing/2014/main" id="{8BD92D59-192D-5115-9017-855220AAC544}"/>
                  </a:ext>
                </a:extLst>
              </p:cNvPr>
              <p:cNvSpPr/>
              <p:nvPr/>
            </p:nvSpPr>
            <p:spPr>
              <a:xfrm>
                <a:off x="1082435" y="2581564"/>
                <a:ext cx="888671" cy="115882"/>
              </a:xfrm>
              <a:custGeom>
                <a:avLst/>
                <a:gdLst>
                  <a:gd name="connsiteX0" fmla="*/ 0 w 888459"/>
                  <a:gd name="connsiteY0" fmla="*/ 103761 h 116731"/>
                  <a:gd name="connsiteX1" fmla="*/ 97276 w 888459"/>
                  <a:gd name="connsiteY1" fmla="*/ 6485 h 116731"/>
                  <a:gd name="connsiteX2" fmla="*/ 136187 w 888459"/>
                  <a:gd name="connsiteY2" fmla="*/ 45395 h 116731"/>
                  <a:gd name="connsiteX3" fmla="*/ 239948 w 888459"/>
                  <a:gd name="connsiteY3" fmla="*/ 0 h 116731"/>
                  <a:gd name="connsiteX4" fmla="*/ 369651 w 888459"/>
                  <a:gd name="connsiteY4" fmla="*/ 116731 h 116731"/>
                  <a:gd name="connsiteX5" fmla="*/ 466927 w 888459"/>
                  <a:gd name="connsiteY5" fmla="*/ 0 h 116731"/>
                  <a:gd name="connsiteX6" fmla="*/ 603114 w 888459"/>
                  <a:gd name="connsiteY6" fmla="*/ 116731 h 116731"/>
                  <a:gd name="connsiteX7" fmla="*/ 680936 w 888459"/>
                  <a:gd name="connsiteY7" fmla="*/ 45395 h 116731"/>
                  <a:gd name="connsiteX8" fmla="*/ 778212 w 888459"/>
                  <a:gd name="connsiteY8" fmla="*/ 58366 h 116731"/>
                  <a:gd name="connsiteX9" fmla="*/ 836578 w 888459"/>
                  <a:gd name="connsiteY9" fmla="*/ 12970 h 116731"/>
                  <a:gd name="connsiteX10" fmla="*/ 888459 w 888459"/>
                  <a:gd name="connsiteY10" fmla="*/ 38910 h 11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8459" h="116731">
                    <a:moveTo>
                      <a:pt x="0" y="103761"/>
                    </a:moveTo>
                    <a:lnTo>
                      <a:pt x="97276" y="6485"/>
                    </a:lnTo>
                    <a:lnTo>
                      <a:pt x="136187" y="45395"/>
                    </a:lnTo>
                    <a:lnTo>
                      <a:pt x="239948" y="0"/>
                    </a:lnTo>
                    <a:lnTo>
                      <a:pt x="369651" y="116731"/>
                    </a:lnTo>
                    <a:lnTo>
                      <a:pt x="466927" y="0"/>
                    </a:lnTo>
                    <a:lnTo>
                      <a:pt x="603114" y="116731"/>
                    </a:lnTo>
                    <a:lnTo>
                      <a:pt x="680936" y="45395"/>
                    </a:lnTo>
                    <a:lnTo>
                      <a:pt x="778212" y="58366"/>
                    </a:lnTo>
                    <a:lnTo>
                      <a:pt x="836578" y="12970"/>
                    </a:lnTo>
                    <a:lnTo>
                      <a:pt x="888459" y="38910"/>
                    </a:lnTo>
                  </a:path>
                </a:pathLst>
              </a:custGeom>
              <a:ln>
                <a:solidFill>
                  <a:schemeClr val="accent5"/>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sz="1400" dirty="0"/>
              </a:p>
            </p:txBody>
          </p:sp>
          <p:sp>
            <p:nvSpPr>
              <p:cNvPr id="36" name="Rectangle 35">
                <a:extLst>
                  <a:ext uri="{FF2B5EF4-FFF2-40B4-BE49-F238E27FC236}">
                    <a16:creationId xmlns:a16="http://schemas.microsoft.com/office/drawing/2014/main" id="{0ADDC0B4-B3D0-9BC4-AC31-AFCFD4D8DB9C}"/>
                  </a:ext>
                </a:extLst>
              </p:cNvPr>
              <p:cNvSpPr/>
              <p:nvPr/>
            </p:nvSpPr>
            <p:spPr>
              <a:xfrm>
                <a:off x="1050697" y="1179877"/>
                <a:ext cx="926757" cy="927050"/>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400" dirty="0">
                    <a:solidFill>
                      <a:schemeClr val="tx1"/>
                    </a:solidFill>
                  </a:rPr>
                  <a:t>Relationships</a:t>
                </a:r>
              </a:p>
            </p:txBody>
          </p:sp>
          <p:sp>
            <p:nvSpPr>
              <p:cNvPr id="37" name="Rectangle 36">
                <a:extLst>
                  <a:ext uri="{FF2B5EF4-FFF2-40B4-BE49-F238E27FC236}">
                    <a16:creationId xmlns:a16="http://schemas.microsoft.com/office/drawing/2014/main" id="{B5326204-E639-1177-8DB5-F4B9B6D2E083}"/>
                  </a:ext>
                </a:extLst>
              </p:cNvPr>
              <p:cNvSpPr/>
              <p:nvPr/>
            </p:nvSpPr>
            <p:spPr>
              <a:xfrm rot="16200000">
                <a:off x="514174" y="1564056"/>
                <a:ext cx="927050" cy="152344"/>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400" dirty="0">
                    <a:solidFill>
                      <a:schemeClr val="tx1"/>
                    </a:solidFill>
                  </a:rPr>
                  <a:t>Ratings</a:t>
                </a:r>
              </a:p>
            </p:txBody>
          </p:sp>
          <p:sp>
            <p:nvSpPr>
              <p:cNvPr id="38" name="Rectangle 37">
                <a:extLst>
                  <a:ext uri="{FF2B5EF4-FFF2-40B4-BE49-F238E27FC236}">
                    <a16:creationId xmlns:a16="http://schemas.microsoft.com/office/drawing/2014/main" id="{039BE9DC-1B5C-BB0A-B9C2-D6381156F48D}"/>
                  </a:ext>
                </a:extLst>
              </p:cNvPr>
              <p:cNvSpPr/>
              <p:nvPr/>
            </p:nvSpPr>
            <p:spPr>
              <a:xfrm rot="16200000">
                <a:off x="253128" y="1458527"/>
                <a:ext cx="927050" cy="369750"/>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0" anchor="ctr"/>
              <a:lstStyle/>
              <a:p>
                <a:pPr algn="ctr">
                  <a:defRPr/>
                </a:pPr>
                <a:r>
                  <a:rPr lang="en-GB" sz="1400" dirty="0">
                    <a:solidFill>
                      <a:schemeClr val="tx1"/>
                    </a:solidFill>
                  </a:rPr>
                  <a:t>Customer Needs</a:t>
                </a:r>
              </a:p>
              <a:p>
                <a:pPr algn="ctr">
                  <a:defRPr/>
                </a:pPr>
                <a:r>
                  <a:rPr lang="en-GB" sz="1400" dirty="0">
                    <a:solidFill>
                      <a:schemeClr val="tx1"/>
                    </a:solidFill>
                  </a:rPr>
                  <a:t>“What”</a:t>
                </a:r>
              </a:p>
            </p:txBody>
          </p:sp>
          <p:sp>
            <p:nvSpPr>
              <p:cNvPr id="39" name="Rectangle 38">
                <a:extLst>
                  <a:ext uri="{FF2B5EF4-FFF2-40B4-BE49-F238E27FC236}">
                    <a16:creationId xmlns:a16="http://schemas.microsoft.com/office/drawing/2014/main" id="{AE69CAD0-0410-4FBE-828D-2E8A251EC74D}"/>
                  </a:ext>
                </a:extLst>
              </p:cNvPr>
              <p:cNvSpPr/>
              <p:nvPr/>
            </p:nvSpPr>
            <p:spPr>
              <a:xfrm>
                <a:off x="1053871" y="887793"/>
                <a:ext cx="926757" cy="288909"/>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rIns="36000" anchor="ctr"/>
              <a:lstStyle/>
              <a:p>
                <a:pPr algn="ctr">
                  <a:defRPr/>
                </a:pPr>
                <a:r>
                  <a:rPr lang="en-GB" sz="1400" dirty="0">
                    <a:solidFill>
                      <a:schemeClr val="tx1"/>
                    </a:solidFill>
                  </a:rPr>
                  <a:t>Design Features</a:t>
                </a:r>
              </a:p>
              <a:p>
                <a:pPr algn="ctr">
                  <a:defRPr/>
                </a:pPr>
                <a:r>
                  <a:rPr lang="en-GB" sz="1400" dirty="0">
                    <a:solidFill>
                      <a:schemeClr val="tx1"/>
                    </a:solidFill>
                  </a:rPr>
                  <a:t>“How”</a:t>
                </a:r>
              </a:p>
            </p:txBody>
          </p:sp>
          <p:sp>
            <p:nvSpPr>
              <p:cNvPr id="40" name="Rectangle 39">
                <a:extLst>
                  <a:ext uri="{FF2B5EF4-FFF2-40B4-BE49-F238E27FC236}">
                    <a16:creationId xmlns:a16="http://schemas.microsoft.com/office/drawing/2014/main" id="{A4D909B2-08D4-2B23-52D1-6DB9269F4906}"/>
                  </a:ext>
                </a:extLst>
              </p:cNvPr>
              <p:cNvSpPr/>
              <p:nvPr/>
            </p:nvSpPr>
            <p:spPr>
              <a:xfrm>
                <a:off x="1050697" y="2246620"/>
                <a:ext cx="926757" cy="288909"/>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GB" sz="1400" dirty="0">
                    <a:solidFill>
                      <a:schemeClr val="tx1"/>
                    </a:solidFill>
                  </a:rPr>
                  <a:t>Measures</a:t>
                </a:r>
              </a:p>
              <a:p>
                <a:pPr algn="ctr">
                  <a:defRPr/>
                </a:pPr>
                <a:r>
                  <a:rPr lang="en-GB" sz="1400" dirty="0">
                    <a:solidFill>
                      <a:schemeClr val="tx1"/>
                    </a:solidFill>
                  </a:rPr>
                  <a:t>“How Much”</a:t>
                </a:r>
              </a:p>
            </p:txBody>
          </p:sp>
          <p:sp>
            <p:nvSpPr>
              <p:cNvPr id="41" name="Rectangle 40">
                <a:extLst>
                  <a:ext uri="{FF2B5EF4-FFF2-40B4-BE49-F238E27FC236}">
                    <a16:creationId xmlns:a16="http://schemas.microsoft.com/office/drawing/2014/main" id="{24B5394F-3718-E4F1-6EAC-A2EE2BDFC52A}"/>
                  </a:ext>
                </a:extLst>
              </p:cNvPr>
              <p:cNvSpPr/>
              <p:nvPr/>
            </p:nvSpPr>
            <p:spPr>
              <a:xfrm>
                <a:off x="1053871" y="2535529"/>
                <a:ext cx="926757" cy="188902"/>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GB" sz="1400" dirty="0">
                    <a:solidFill>
                      <a:schemeClr val="tx1"/>
                    </a:solidFill>
                  </a:rPr>
                  <a:t>Benchmarks</a:t>
                </a:r>
              </a:p>
            </p:txBody>
          </p:sp>
          <p:sp>
            <p:nvSpPr>
              <p:cNvPr id="42" name="Rectangle 41">
                <a:extLst>
                  <a:ext uri="{FF2B5EF4-FFF2-40B4-BE49-F238E27FC236}">
                    <a16:creationId xmlns:a16="http://schemas.microsoft.com/office/drawing/2014/main" id="{B5A2CA64-6359-D7AE-4E63-EDF885D44428}"/>
                  </a:ext>
                </a:extLst>
              </p:cNvPr>
              <p:cNvSpPr/>
              <p:nvPr/>
            </p:nvSpPr>
            <p:spPr>
              <a:xfrm rot="16200000">
                <a:off x="1613111" y="1547394"/>
                <a:ext cx="927050" cy="192017"/>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400" dirty="0">
                    <a:solidFill>
                      <a:schemeClr val="tx1"/>
                    </a:solidFill>
                  </a:rPr>
                  <a:t>Benchmarks</a:t>
                </a:r>
              </a:p>
            </p:txBody>
          </p:sp>
          <p:cxnSp>
            <p:nvCxnSpPr>
              <p:cNvPr id="43" name="Straight Arrow Connector 42">
                <a:extLst>
                  <a:ext uri="{FF2B5EF4-FFF2-40B4-BE49-F238E27FC236}">
                    <a16:creationId xmlns:a16="http://schemas.microsoft.com/office/drawing/2014/main" id="{F8FA29B7-6C8A-B925-26D9-CA06DDEBC241}"/>
                  </a:ext>
                </a:extLst>
              </p:cNvPr>
              <p:cNvCxnSpPr/>
              <p:nvPr/>
            </p:nvCxnSpPr>
            <p:spPr>
              <a:xfrm rot="5400000" flipH="1" flipV="1">
                <a:off x="1956005" y="2623631"/>
                <a:ext cx="161916" cy="1586"/>
              </a:xfrm>
              <a:prstGeom prst="straightConnector1">
                <a:avLst/>
              </a:prstGeom>
              <a:ln w="19050">
                <a:solidFill>
                  <a:schemeClr val="accent5"/>
                </a:solidFill>
                <a:headEnd type="none" w="med" len="med"/>
                <a:tailEnd type="triangle" w="med"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673E124-F0AC-7AEE-9FE8-0E7753878827}"/>
                  </a:ext>
                </a:extLst>
              </p:cNvPr>
              <p:cNvCxnSpPr/>
              <p:nvPr/>
            </p:nvCxnSpPr>
            <p:spPr>
              <a:xfrm flipV="1">
                <a:off x="1999670" y="2159311"/>
                <a:ext cx="179322" cy="4763"/>
              </a:xfrm>
              <a:prstGeom prst="straightConnector1">
                <a:avLst/>
              </a:prstGeom>
              <a:ln w="19050">
                <a:solidFill>
                  <a:schemeClr val="accent5"/>
                </a:solidFill>
                <a:headEnd type="none" w="med" len="med"/>
                <a:tailEnd type="triangle" w="med" len="sm"/>
              </a:ln>
            </p:spPr>
            <p:style>
              <a:lnRef idx="1">
                <a:schemeClr val="accent1"/>
              </a:lnRef>
              <a:fillRef idx="0">
                <a:schemeClr val="accent1"/>
              </a:fillRef>
              <a:effectRef idx="0">
                <a:schemeClr val="accent1"/>
              </a:effectRef>
              <a:fontRef idx="minor">
                <a:schemeClr val="tx1"/>
              </a:fontRef>
            </p:style>
          </p:cxnSp>
          <p:sp>
            <p:nvSpPr>
              <p:cNvPr id="45" name="Isosceles Triangle 44">
                <a:extLst>
                  <a:ext uri="{FF2B5EF4-FFF2-40B4-BE49-F238E27FC236}">
                    <a16:creationId xmlns:a16="http://schemas.microsoft.com/office/drawing/2014/main" id="{8577AD9E-5AE9-D631-AB51-886B1BD4E884}"/>
                  </a:ext>
                </a:extLst>
              </p:cNvPr>
              <p:cNvSpPr/>
              <p:nvPr/>
            </p:nvSpPr>
            <p:spPr>
              <a:xfrm>
                <a:off x="1050697" y="484590"/>
                <a:ext cx="926757" cy="403203"/>
              </a:xfrm>
              <a:prstGeom prst="triangle">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GB" sz="1400" dirty="0">
                    <a:solidFill>
                      <a:schemeClr val="tx1"/>
                    </a:solidFill>
                  </a:rPr>
                  <a:t>Conflicts</a:t>
                </a:r>
              </a:p>
            </p:txBody>
          </p:sp>
          <p:sp>
            <p:nvSpPr>
              <p:cNvPr id="46" name="Rectangle 45">
                <a:extLst>
                  <a:ext uri="{FF2B5EF4-FFF2-40B4-BE49-F238E27FC236}">
                    <a16:creationId xmlns:a16="http://schemas.microsoft.com/office/drawing/2014/main" id="{9093D82C-82BE-1C19-E10F-144FF35A4943}"/>
                  </a:ext>
                </a:extLst>
              </p:cNvPr>
              <p:cNvSpPr/>
              <p:nvPr/>
            </p:nvSpPr>
            <p:spPr>
              <a:xfrm>
                <a:off x="1050697" y="2721256"/>
                <a:ext cx="926757" cy="187315"/>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GB" sz="1400" dirty="0">
                    <a:solidFill>
                      <a:schemeClr val="tx1"/>
                    </a:solidFill>
                  </a:rPr>
                  <a:t>Targets</a:t>
                </a:r>
              </a:p>
            </p:txBody>
          </p:sp>
          <p:sp>
            <p:nvSpPr>
              <p:cNvPr id="47" name="Rectangle 46">
                <a:extLst>
                  <a:ext uri="{FF2B5EF4-FFF2-40B4-BE49-F238E27FC236}">
                    <a16:creationId xmlns:a16="http://schemas.microsoft.com/office/drawing/2014/main" id="{5D1E84EC-F5ED-AD16-4C84-B9ADCFC82F88}"/>
                  </a:ext>
                </a:extLst>
              </p:cNvPr>
              <p:cNvSpPr/>
              <p:nvPr/>
            </p:nvSpPr>
            <p:spPr>
              <a:xfrm>
                <a:off x="1053871" y="2106927"/>
                <a:ext cx="926757" cy="142867"/>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GB" sz="1400" dirty="0">
                    <a:solidFill>
                      <a:schemeClr val="tx1"/>
                    </a:solidFill>
                  </a:rPr>
                  <a:t>Importance Rating</a:t>
                </a:r>
              </a:p>
            </p:txBody>
          </p:sp>
        </p:grpSp>
        <p:cxnSp>
          <p:nvCxnSpPr>
            <p:cNvPr id="48" name="Straight Arrow Connector 47">
              <a:extLst>
                <a:ext uri="{FF2B5EF4-FFF2-40B4-BE49-F238E27FC236}">
                  <a16:creationId xmlns:a16="http://schemas.microsoft.com/office/drawing/2014/main" id="{F2C2EBB0-26A6-F0F0-580B-47D76D1D2208}"/>
                </a:ext>
              </a:extLst>
            </p:cNvPr>
            <p:cNvCxnSpPr>
              <a:stCxn id="31" idx="0"/>
            </p:cNvCxnSpPr>
            <p:nvPr/>
          </p:nvCxnSpPr>
          <p:spPr>
            <a:xfrm flipV="1">
              <a:off x="1179896" y="3880885"/>
              <a:ext cx="1334556" cy="1060258"/>
            </a:xfrm>
            <a:prstGeom prst="straightConnector1">
              <a:avLst/>
            </a:prstGeom>
            <a:ln w="19050">
              <a:solidFill>
                <a:schemeClr val="accent5"/>
              </a:solidFill>
              <a:headEnd type="none" w="med" len="med"/>
              <a:tailEnd type="triangle" w="med"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4128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Quality Function Deployment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grpSp>
        <p:nvGrpSpPr>
          <p:cNvPr id="3" name="Group 2">
            <a:extLst>
              <a:ext uri="{FF2B5EF4-FFF2-40B4-BE49-F238E27FC236}">
                <a16:creationId xmlns:a16="http://schemas.microsoft.com/office/drawing/2014/main" id="{793125F8-15CD-6D1F-3E28-129DF76ACD1C}"/>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1E7AD0AA-8AAD-4D18-ED2C-81E8CB358D3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4188146-7D9D-D43A-166F-889354F418F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CC0E18A-E5DF-D0B9-A202-5A42D9AB49E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ECF7D020-3A14-2853-7F4F-B316F5D4A44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1CF7BB1A-9E79-880C-8068-6996C6B125C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E9A37DC-5800-ADD9-C8C7-F6FCB42F9AE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3D6626D7-146B-B0A3-73EC-D7C8F35E2F3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44183ED-D9A0-E010-7F65-DDF60BC9986D}"/>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34" name="Group 33">
            <a:extLst>
              <a:ext uri="{FF2B5EF4-FFF2-40B4-BE49-F238E27FC236}">
                <a16:creationId xmlns:a16="http://schemas.microsoft.com/office/drawing/2014/main" id="{F30DA9E4-0F38-6B02-0E34-35C3604EE4D1}"/>
              </a:ext>
            </a:extLst>
          </p:cNvPr>
          <p:cNvGrpSpPr/>
          <p:nvPr/>
        </p:nvGrpSpPr>
        <p:grpSpPr>
          <a:xfrm>
            <a:off x="352380" y="1766947"/>
            <a:ext cx="10037489" cy="3738125"/>
            <a:chOff x="352381" y="1291921"/>
            <a:chExt cx="7955460" cy="4213152"/>
          </a:xfrm>
        </p:grpSpPr>
        <p:grpSp>
          <p:nvGrpSpPr>
            <p:cNvPr id="13" name="Group 39">
              <a:extLst>
                <a:ext uri="{FF2B5EF4-FFF2-40B4-BE49-F238E27FC236}">
                  <a16:creationId xmlns:a16="http://schemas.microsoft.com/office/drawing/2014/main" id="{1D218305-02F7-5623-D71B-EAF623A489D1}"/>
                </a:ext>
              </a:extLst>
            </p:cNvPr>
            <p:cNvGrpSpPr>
              <a:grpSpLocks/>
            </p:cNvGrpSpPr>
            <p:nvPr/>
          </p:nvGrpSpPr>
          <p:grpSpPr bwMode="auto">
            <a:xfrm>
              <a:off x="352381" y="1291921"/>
              <a:ext cx="1863441" cy="2405616"/>
              <a:chOff x="175094" y="625483"/>
              <a:chExt cx="1297022" cy="1506113"/>
            </a:xfrm>
          </p:grpSpPr>
          <p:sp>
            <p:nvSpPr>
              <p:cNvPr id="14" name="Rectangle 13">
                <a:extLst>
                  <a:ext uri="{FF2B5EF4-FFF2-40B4-BE49-F238E27FC236}">
                    <a16:creationId xmlns:a16="http://schemas.microsoft.com/office/drawing/2014/main" id="{5B2C6ACB-670F-F7D0-4E35-36E2BA45631D}"/>
                  </a:ext>
                </a:extLst>
              </p:cNvPr>
              <p:cNvSpPr/>
              <p:nvPr/>
            </p:nvSpPr>
            <p:spPr>
              <a:xfrm>
                <a:off x="545078" y="914639"/>
                <a:ext cx="927038" cy="927799"/>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400" dirty="0">
                  <a:solidFill>
                    <a:schemeClr val="tx1"/>
                  </a:solidFill>
                  <a:cs typeface="Arial" pitchFamily="34" charset="0"/>
                </a:endParaRPr>
              </a:p>
            </p:txBody>
          </p:sp>
          <p:sp>
            <p:nvSpPr>
              <p:cNvPr id="15" name="Rectangle 14">
                <a:extLst>
                  <a:ext uri="{FF2B5EF4-FFF2-40B4-BE49-F238E27FC236}">
                    <a16:creationId xmlns:a16="http://schemas.microsoft.com/office/drawing/2014/main" id="{58CBBA2D-9D65-1BCD-8763-7AD581DBD6B7}"/>
                  </a:ext>
                </a:extLst>
              </p:cNvPr>
              <p:cNvSpPr/>
              <p:nvPr/>
            </p:nvSpPr>
            <p:spPr>
              <a:xfrm rot="16200000">
                <a:off x="-103814" y="1193547"/>
                <a:ext cx="927799" cy="369984"/>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0" anchor="ctr"/>
              <a:lstStyle/>
              <a:p>
                <a:pPr algn="ctr">
                  <a:defRPr/>
                </a:pPr>
                <a:r>
                  <a:rPr lang="en-GB" sz="1400" dirty="0">
                    <a:solidFill>
                      <a:schemeClr val="tx1"/>
                    </a:solidFill>
                    <a:cs typeface="Arial" pitchFamily="34" charset="0"/>
                  </a:rPr>
                  <a:t>Customer Needs</a:t>
                </a:r>
              </a:p>
            </p:txBody>
          </p:sp>
          <p:sp>
            <p:nvSpPr>
              <p:cNvPr id="16" name="Rectangle 15">
                <a:extLst>
                  <a:ext uri="{FF2B5EF4-FFF2-40B4-BE49-F238E27FC236}">
                    <a16:creationId xmlns:a16="http://schemas.microsoft.com/office/drawing/2014/main" id="{04E0E85D-072D-E51C-DE29-5F307672F906}"/>
                  </a:ext>
                </a:extLst>
              </p:cNvPr>
              <p:cNvSpPr/>
              <p:nvPr/>
            </p:nvSpPr>
            <p:spPr>
              <a:xfrm>
                <a:off x="543000" y="625483"/>
                <a:ext cx="927038" cy="28915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anchor="ctr"/>
              <a:lstStyle/>
              <a:p>
                <a:pPr algn="ctr">
                  <a:defRPr/>
                </a:pPr>
                <a:r>
                  <a:rPr lang="en-GB" sz="1400" dirty="0">
                    <a:solidFill>
                      <a:schemeClr val="tx1"/>
                    </a:solidFill>
                    <a:cs typeface="Arial" pitchFamily="34" charset="0"/>
                  </a:rPr>
                  <a:t>Design Features</a:t>
                </a:r>
              </a:p>
            </p:txBody>
          </p:sp>
          <p:sp>
            <p:nvSpPr>
              <p:cNvPr id="17" name="Rectangle 16">
                <a:extLst>
                  <a:ext uri="{FF2B5EF4-FFF2-40B4-BE49-F238E27FC236}">
                    <a16:creationId xmlns:a16="http://schemas.microsoft.com/office/drawing/2014/main" id="{588D245D-5F3C-FFE7-11E2-51C0B330B8E4}"/>
                  </a:ext>
                </a:extLst>
              </p:cNvPr>
              <p:cNvSpPr/>
              <p:nvPr/>
            </p:nvSpPr>
            <p:spPr>
              <a:xfrm>
                <a:off x="545078" y="1842438"/>
                <a:ext cx="927038" cy="28915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1400" dirty="0">
                  <a:solidFill>
                    <a:schemeClr val="tx1"/>
                  </a:solidFill>
                  <a:cs typeface="Arial" pitchFamily="34" charset="0"/>
                </a:endParaRPr>
              </a:p>
            </p:txBody>
          </p:sp>
        </p:grpSp>
        <p:grpSp>
          <p:nvGrpSpPr>
            <p:cNvPr id="18" name="Group 55">
              <a:extLst>
                <a:ext uri="{FF2B5EF4-FFF2-40B4-BE49-F238E27FC236}">
                  <a16:creationId xmlns:a16="http://schemas.microsoft.com/office/drawing/2014/main" id="{63E9E4DB-4FB9-06A5-2A86-CD7AB1348D00}"/>
                </a:ext>
              </a:extLst>
            </p:cNvPr>
            <p:cNvGrpSpPr>
              <a:grpSpLocks/>
            </p:cNvGrpSpPr>
            <p:nvPr/>
          </p:nvGrpSpPr>
          <p:grpSpPr bwMode="auto">
            <a:xfrm>
              <a:off x="2386041" y="1903293"/>
              <a:ext cx="1860454" cy="2405616"/>
              <a:chOff x="175094" y="629506"/>
              <a:chExt cx="1297022" cy="1506110"/>
            </a:xfrm>
          </p:grpSpPr>
          <p:sp>
            <p:nvSpPr>
              <p:cNvPr id="19" name="Rectangle 18">
                <a:extLst>
                  <a:ext uri="{FF2B5EF4-FFF2-40B4-BE49-F238E27FC236}">
                    <a16:creationId xmlns:a16="http://schemas.microsoft.com/office/drawing/2014/main" id="{03398B07-81BA-03D1-412B-C0F82A397EF4}"/>
                  </a:ext>
                </a:extLst>
              </p:cNvPr>
              <p:cNvSpPr/>
              <p:nvPr/>
            </p:nvSpPr>
            <p:spPr>
              <a:xfrm>
                <a:off x="545672" y="914501"/>
                <a:ext cx="926444" cy="927797"/>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400" dirty="0">
                  <a:solidFill>
                    <a:schemeClr val="tx1"/>
                  </a:solidFill>
                  <a:cs typeface="Arial" pitchFamily="34" charset="0"/>
                </a:endParaRPr>
              </a:p>
            </p:txBody>
          </p:sp>
          <p:sp>
            <p:nvSpPr>
              <p:cNvPr id="20" name="Rectangle 19">
                <a:extLst>
                  <a:ext uri="{FF2B5EF4-FFF2-40B4-BE49-F238E27FC236}">
                    <a16:creationId xmlns:a16="http://schemas.microsoft.com/office/drawing/2014/main" id="{B4FEDDAB-644E-DA8E-BF8C-F74BF242B734}"/>
                  </a:ext>
                </a:extLst>
              </p:cNvPr>
              <p:cNvSpPr/>
              <p:nvPr/>
            </p:nvSpPr>
            <p:spPr>
              <a:xfrm rot="16200000">
                <a:off x="-103516" y="1193111"/>
                <a:ext cx="927797" cy="37057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0" anchor="ctr"/>
              <a:lstStyle/>
              <a:p>
                <a:pPr algn="ctr">
                  <a:defRPr/>
                </a:pPr>
                <a:r>
                  <a:rPr lang="en-GB" sz="1400" dirty="0">
                    <a:solidFill>
                      <a:schemeClr val="tx1"/>
                    </a:solidFill>
                    <a:cs typeface="Arial" pitchFamily="34" charset="0"/>
                  </a:rPr>
                  <a:t>Design Features</a:t>
                </a:r>
              </a:p>
            </p:txBody>
          </p:sp>
          <p:sp>
            <p:nvSpPr>
              <p:cNvPr id="21" name="Rectangle 20">
                <a:extLst>
                  <a:ext uri="{FF2B5EF4-FFF2-40B4-BE49-F238E27FC236}">
                    <a16:creationId xmlns:a16="http://schemas.microsoft.com/office/drawing/2014/main" id="{4170C9D0-5434-10FC-9538-C8B7863F8873}"/>
                  </a:ext>
                </a:extLst>
              </p:cNvPr>
              <p:cNvSpPr/>
              <p:nvPr/>
            </p:nvSpPr>
            <p:spPr>
              <a:xfrm>
                <a:off x="543589" y="629506"/>
                <a:ext cx="926445" cy="28915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anchor="ctr"/>
              <a:lstStyle/>
              <a:p>
                <a:pPr algn="ctr">
                  <a:defRPr/>
                </a:pPr>
                <a:r>
                  <a:rPr lang="en-GB" sz="1400" dirty="0">
                    <a:solidFill>
                      <a:schemeClr val="tx1"/>
                    </a:solidFill>
                    <a:cs typeface="Arial" pitchFamily="34" charset="0"/>
                  </a:rPr>
                  <a:t>Part Characteristics</a:t>
                </a:r>
              </a:p>
            </p:txBody>
          </p:sp>
          <p:sp>
            <p:nvSpPr>
              <p:cNvPr id="22" name="Rectangle 21">
                <a:extLst>
                  <a:ext uri="{FF2B5EF4-FFF2-40B4-BE49-F238E27FC236}">
                    <a16:creationId xmlns:a16="http://schemas.microsoft.com/office/drawing/2014/main" id="{CECF7546-5006-285E-1117-836412A2A568}"/>
                  </a:ext>
                </a:extLst>
              </p:cNvPr>
              <p:cNvSpPr/>
              <p:nvPr/>
            </p:nvSpPr>
            <p:spPr>
              <a:xfrm>
                <a:off x="545672" y="1846459"/>
                <a:ext cx="926444" cy="289157"/>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1400" dirty="0">
                  <a:solidFill>
                    <a:schemeClr val="tx1"/>
                  </a:solidFill>
                  <a:cs typeface="Arial" pitchFamily="34" charset="0"/>
                </a:endParaRPr>
              </a:p>
            </p:txBody>
          </p:sp>
        </p:grpSp>
        <p:grpSp>
          <p:nvGrpSpPr>
            <p:cNvPr id="23" name="Group 64">
              <a:extLst>
                <a:ext uri="{FF2B5EF4-FFF2-40B4-BE49-F238E27FC236}">
                  <a16:creationId xmlns:a16="http://schemas.microsoft.com/office/drawing/2014/main" id="{90B306DA-A583-8489-FD6B-121F081FB02C}"/>
                </a:ext>
              </a:extLst>
            </p:cNvPr>
            <p:cNvGrpSpPr>
              <a:grpSpLocks/>
            </p:cNvGrpSpPr>
            <p:nvPr/>
          </p:nvGrpSpPr>
          <p:grpSpPr bwMode="auto">
            <a:xfrm>
              <a:off x="4416714" y="2501375"/>
              <a:ext cx="1860454" cy="2398971"/>
              <a:chOff x="175094" y="625483"/>
              <a:chExt cx="1297022" cy="1502093"/>
            </a:xfrm>
          </p:grpSpPr>
          <p:sp>
            <p:nvSpPr>
              <p:cNvPr id="24" name="Rectangle 23">
                <a:extLst>
                  <a:ext uri="{FF2B5EF4-FFF2-40B4-BE49-F238E27FC236}">
                    <a16:creationId xmlns:a16="http://schemas.microsoft.com/office/drawing/2014/main" id="{66C99C03-3354-E91F-4537-741902812B89}"/>
                  </a:ext>
                </a:extLst>
              </p:cNvPr>
              <p:cNvSpPr/>
              <p:nvPr/>
            </p:nvSpPr>
            <p:spPr>
              <a:xfrm>
                <a:off x="545672" y="914666"/>
                <a:ext cx="926444" cy="92788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400" dirty="0">
                  <a:solidFill>
                    <a:schemeClr val="tx1"/>
                  </a:solidFill>
                  <a:cs typeface="Arial" pitchFamily="34" charset="0"/>
                </a:endParaRPr>
              </a:p>
            </p:txBody>
          </p:sp>
          <p:sp>
            <p:nvSpPr>
              <p:cNvPr id="25" name="Rectangle 24">
                <a:extLst>
                  <a:ext uri="{FF2B5EF4-FFF2-40B4-BE49-F238E27FC236}">
                    <a16:creationId xmlns:a16="http://schemas.microsoft.com/office/drawing/2014/main" id="{8349DD4C-7CFD-1E6B-886A-F9577664C49F}"/>
                  </a:ext>
                </a:extLst>
              </p:cNvPr>
              <p:cNvSpPr/>
              <p:nvPr/>
            </p:nvSpPr>
            <p:spPr>
              <a:xfrm rot="16200000">
                <a:off x="-103560" y="1193320"/>
                <a:ext cx="927886" cy="37057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0" anchor="ctr"/>
              <a:lstStyle/>
              <a:p>
                <a:pPr algn="ctr">
                  <a:defRPr/>
                </a:pPr>
                <a:r>
                  <a:rPr lang="en-GB" sz="1400" dirty="0">
                    <a:solidFill>
                      <a:schemeClr val="tx1"/>
                    </a:solidFill>
                    <a:cs typeface="Arial" pitchFamily="34" charset="0"/>
                  </a:rPr>
                  <a:t>Part Characteristics</a:t>
                </a:r>
              </a:p>
            </p:txBody>
          </p:sp>
          <p:sp>
            <p:nvSpPr>
              <p:cNvPr id="26" name="Rectangle 25">
                <a:extLst>
                  <a:ext uri="{FF2B5EF4-FFF2-40B4-BE49-F238E27FC236}">
                    <a16:creationId xmlns:a16="http://schemas.microsoft.com/office/drawing/2014/main" id="{AA8295CB-8443-674D-028F-A620B10F0AF3}"/>
                  </a:ext>
                </a:extLst>
              </p:cNvPr>
              <p:cNvSpPr/>
              <p:nvPr/>
            </p:nvSpPr>
            <p:spPr>
              <a:xfrm>
                <a:off x="543589" y="625483"/>
                <a:ext cx="926445" cy="28918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anchor="ctr"/>
              <a:lstStyle/>
              <a:p>
                <a:pPr algn="ctr">
                  <a:defRPr/>
                </a:pPr>
                <a:r>
                  <a:rPr lang="en-GB" sz="1400" dirty="0">
                    <a:solidFill>
                      <a:schemeClr val="tx1"/>
                    </a:solidFill>
                    <a:cs typeface="Arial" pitchFamily="34" charset="0"/>
                  </a:rPr>
                  <a:t>Production</a:t>
                </a:r>
              </a:p>
              <a:p>
                <a:pPr algn="ctr">
                  <a:defRPr/>
                </a:pPr>
                <a:r>
                  <a:rPr lang="en-GB" sz="1400" dirty="0">
                    <a:solidFill>
                      <a:schemeClr val="tx1"/>
                    </a:solidFill>
                    <a:cs typeface="Arial" pitchFamily="34" charset="0"/>
                  </a:rPr>
                  <a:t>Requirements</a:t>
                </a:r>
              </a:p>
            </p:txBody>
          </p:sp>
          <p:sp>
            <p:nvSpPr>
              <p:cNvPr id="27" name="Rectangle 26">
                <a:extLst>
                  <a:ext uri="{FF2B5EF4-FFF2-40B4-BE49-F238E27FC236}">
                    <a16:creationId xmlns:a16="http://schemas.microsoft.com/office/drawing/2014/main" id="{B0A639E0-98F2-14D2-878C-46C45C747EB2}"/>
                  </a:ext>
                </a:extLst>
              </p:cNvPr>
              <p:cNvSpPr/>
              <p:nvPr/>
            </p:nvSpPr>
            <p:spPr>
              <a:xfrm>
                <a:off x="545672" y="1838391"/>
                <a:ext cx="926444" cy="28918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1400" dirty="0">
                  <a:solidFill>
                    <a:schemeClr val="tx1"/>
                  </a:solidFill>
                  <a:cs typeface="Arial" pitchFamily="34" charset="0"/>
                </a:endParaRPr>
              </a:p>
            </p:txBody>
          </p:sp>
        </p:grpSp>
        <p:grpSp>
          <p:nvGrpSpPr>
            <p:cNvPr id="28" name="Group 70">
              <a:extLst>
                <a:ext uri="{FF2B5EF4-FFF2-40B4-BE49-F238E27FC236}">
                  <a16:creationId xmlns:a16="http://schemas.microsoft.com/office/drawing/2014/main" id="{22E5F4D6-7173-E300-6604-E21020853158}"/>
                </a:ext>
              </a:extLst>
            </p:cNvPr>
            <p:cNvGrpSpPr>
              <a:grpSpLocks/>
            </p:cNvGrpSpPr>
            <p:nvPr/>
          </p:nvGrpSpPr>
          <p:grpSpPr bwMode="auto">
            <a:xfrm>
              <a:off x="6447387" y="3106102"/>
              <a:ext cx="1860454" cy="2398971"/>
              <a:chOff x="175094" y="625483"/>
              <a:chExt cx="1297022" cy="1502093"/>
            </a:xfrm>
          </p:grpSpPr>
          <p:sp>
            <p:nvSpPr>
              <p:cNvPr id="29" name="Rectangle 28">
                <a:extLst>
                  <a:ext uri="{FF2B5EF4-FFF2-40B4-BE49-F238E27FC236}">
                    <a16:creationId xmlns:a16="http://schemas.microsoft.com/office/drawing/2014/main" id="{25FD2253-211D-4747-0445-C24815B56892}"/>
                  </a:ext>
                </a:extLst>
              </p:cNvPr>
              <p:cNvSpPr/>
              <p:nvPr/>
            </p:nvSpPr>
            <p:spPr>
              <a:xfrm>
                <a:off x="545672" y="914666"/>
                <a:ext cx="926444" cy="92788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400" dirty="0">
                  <a:solidFill>
                    <a:schemeClr val="tx1"/>
                  </a:solidFill>
                  <a:cs typeface="Arial" pitchFamily="34" charset="0"/>
                </a:endParaRPr>
              </a:p>
            </p:txBody>
          </p:sp>
          <p:sp>
            <p:nvSpPr>
              <p:cNvPr id="30" name="Rectangle 29">
                <a:extLst>
                  <a:ext uri="{FF2B5EF4-FFF2-40B4-BE49-F238E27FC236}">
                    <a16:creationId xmlns:a16="http://schemas.microsoft.com/office/drawing/2014/main" id="{DE8E9F48-0317-3F04-9778-05BA15D6BED5}"/>
                  </a:ext>
                </a:extLst>
              </p:cNvPr>
              <p:cNvSpPr/>
              <p:nvPr/>
            </p:nvSpPr>
            <p:spPr>
              <a:xfrm rot="16200000">
                <a:off x="-103560" y="1193320"/>
                <a:ext cx="927886" cy="37057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0" anchor="ctr"/>
              <a:lstStyle/>
              <a:p>
                <a:pPr algn="ctr">
                  <a:defRPr/>
                </a:pPr>
                <a:r>
                  <a:rPr lang="en-GB" sz="1400" dirty="0">
                    <a:solidFill>
                      <a:schemeClr val="tx1"/>
                    </a:solidFill>
                    <a:cs typeface="Arial" pitchFamily="34" charset="0"/>
                  </a:rPr>
                  <a:t>Production Requirements</a:t>
                </a:r>
              </a:p>
            </p:txBody>
          </p:sp>
          <p:sp>
            <p:nvSpPr>
              <p:cNvPr id="31" name="Rectangle 30">
                <a:extLst>
                  <a:ext uri="{FF2B5EF4-FFF2-40B4-BE49-F238E27FC236}">
                    <a16:creationId xmlns:a16="http://schemas.microsoft.com/office/drawing/2014/main" id="{75724CD3-9FF6-B595-FB17-8910D89DAAF3}"/>
                  </a:ext>
                </a:extLst>
              </p:cNvPr>
              <p:cNvSpPr/>
              <p:nvPr/>
            </p:nvSpPr>
            <p:spPr>
              <a:xfrm>
                <a:off x="543589" y="625483"/>
                <a:ext cx="926445" cy="28918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anchor="ctr"/>
              <a:lstStyle/>
              <a:p>
                <a:pPr algn="ctr">
                  <a:defRPr/>
                </a:pPr>
                <a:r>
                  <a:rPr lang="en-GB" sz="1400" dirty="0">
                    <a:solidFill>
                      <a:schemeClr val="tx1"/>
                    </a:solidFill>
                    <a:cs typeface="Arial" pitchFamily="34" charset="0"/>
                  </a:rPr>
                  <a:t>Supply</a:t>
                </a:r>
              </a:p>
              <a:p>
                <a:pPr algn="ctr">
                  <a:defRPr/>
                </a:pPr>
                <a:r>
                  <a:rPr lang="en-GB" sz="1400" dirty="0">
                    <a:solidFill>
                      <a:schemeClr val="tx1"/>
                    </a:solidFill>
                    <a:cs typeface="Arial" pitchFamily="34" charset="0"/>
                  </a:rPr>
                  <a:t>Requirements</a:t>
                </a:r>
              </a:p>
            </p:txBody>
          </p:sp>
          <p:sp>
            <p:nvSpPr>
              <p:cNvPr id="32" name="Rectangle 31">
                <a:extLst>
                  <a:ext uri="{FF2B5EF4-FFF2-40B4-BE49-F238E27FC236}">
                    <a16:creationId xmlns:a16="http://schemas.microsoft.com/office/drawing/2014/main" id="{335B7EB8-46AB-2E6B-4E85-AAE26CEA7809}"/>
                  </a:ext>
                </a:extLst>
              </p:cNvPr>
              <p:cNvSpPr/>
              <p:nvPr/>
            </p:nvSpPr>
            <p:spPr>
              <a:xfrm>
                <a:off x="545672" y="1838391"/>
                <a:ext cx="926444" cy="28918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endParaRPr lang="en-GB" sz="1400" dirty="0">
                  <a:solidFill>
                    <a:schemeClr val="tx1"/>
                  </a:solidFill>
                  <a:cs typeface="Arial" pitchFamily="34" charset="0"/>
                </a:endParaRPr>
              </a:p>
            </p:txBody>
          </p:sp>
        </p:grpSp>
        <p:sp>
          <p:nvSpPr>
            <p:cNvPr id="33" name="Right Arrow 25">
              <a:extLst>
                <a:ext uri="{FF2B5EF4-FFF2-40B4-BE49-F238E27FC236}">
                  <a16:creationId xmlns:a16="http://schemas.microsoft.com/office/drawing/2014/main" id="{25760D7E-6F35-AFDD-E768-5D064C4E5237}"/>
                </a:ext>
              </a:extLst>
            </p:cNvPr>
            <p:cNvSpPr>
              <a:spLocks noChangeArrowheads="1"/>
            </p:cNvSpPr>
            <p:nvPr/>
          </p:nvSpPr>
          <p:spPr bwMode="auto">
            <a:xfrm rot="550319">
              <a:off x="385231" y="4813957"/>
              <a:ext cx="7728502" cy="627984"/>
            </a:xfrm>
            <a:prstGeom prst="rightArrow">
              <a:avLst>
                <a:gd name="adj1" fmla="val 64704"/>
                <a:gd name="adj2" fmla="val 53188"/>
              </a:avLst>
            </a:prstGeom>
            <a:solidFill>
              <a:schemeClr val="accent4"/>
            </a:solidFill>
            <a:ln w="9525" algn="ctr">
              <a:solidFill>
                <a:schemeClr val="tx1"/>
              </a:solidFill>
              <a:round/>
              <a:headEnd/>
              <a:tailEnd/>
            </a:ln>
          </p:spPr>
          <p:txBody>
            <a:bodyPr lIns="70790" tIns="0" rIns="0" bIns="0" anchor="ctr"/>
            <a:lstStyle/>
            <a:p>
              <a:pPr algn="ctr"/>
              <a:r>
                <a:rPr lang="en-GB" sz="2000" b="1" dirty="0">
                  <a:solidFill>
                    <a:schemeClr val="bg1"/>
                  </a:solidFill>
                </a:rPr>
                <a:t>Translating Customer Inputs to Business Outputs</a:t>
              </a:r>
            </a:p>
          </p:txBody>
        </p:sp>
      </p:grpSp>
    </p:spTree>
    <p:extLst>
      <p:ext uri="{BB962C8B-B14F-4D97-AF65-F5344CB8AC3E}">
        <p14:creationId xmlns:p14="http://schemas.microsoft.com/office/powerpoint/2010/main" val="641007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QFD Architecture Example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793125F8-15CD-6D1F-3E28-129DF76ACD1C}"/>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1E7AD0AA-8AAD-4D18-ED2C-81E8CB358D3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4188146-7D9D-D43A-166F-889354F418F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CC0E18A-E5DF-D0B9-A202-5A42D9AB49E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ECF7D020-3A14-2853-7F4F-B316F5D4A44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1CF7BB1A-9E79-880C-8068-6996C6B125C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E9A37DC-5800-ADD9-C8C7-F6FCB42F9AE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3D6626D7-146B-B0A3-73EC-D7C8F35E2F3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44183ED-D9A0-E010-7F65-DDF60BC9986D}"/>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pic>
        <p:nvPicPr>
          <p:cNvPr id="37" name="Picture 36">
            <a:extLst>
              <a:ext uri="{FF2B5EF4-FFF2-40B4-BE49-F238E27FC236}">
                <a16:creationId xmlns:a16="http://schemas.microsoft.com/office/drawing/2014/main" id="{635EF9EF-8D88-BF16-A727-B5EED07FC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9225" y="1766949"/>
            <a:ext cx="8964975" cy="4566200"/>
          </a:xfrm>
          <a:prstGeom prst="rect">
            <a:avLst/>
          </a:prstGeom>
        </p:spPr>
      </p:pic>
    </p:spTree>
    <p:extLst>
      <p:ext uri="{BB962C8B-B14F-4D97-AF65-F5344CB8AC3E}">
        <p14:creationId xmlns:p14="http://schemas.microsoft.com/office/powerpoint/2010/main" val="3596699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What is Value?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grpSp>
        <p:nvGrpSpPr>
          <p:cNvPr id="3" name="Group 2">
            <a:extLst>
              <a:ext uri="{FF2B5EF4-FFF2-40B4-BE49-F238E27FC236}">
                <a16:creationId xmlns:a16="http://schemas.microsoft.com/office/drawing/2014/main" id="{793125F8-15CD-6D1F-3E28-129DF76ACD1C}"/>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1E7AD0AA-8AAD-4D18-ED2C-81E8CB358D3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4188146-7D9D-D43A-166F-889354F418F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CC0E18A-E5DF-D0B9-A202-5A42D9AB49E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ECF7D020-3A14-2853-7F4F-B316F5D4A44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1CF7BB1A-9E79-880C-8068-6996C6B125C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E9A37DC-5800-ADD9-C8C7-F6FCB42F9AE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3D6626D7-146B-B0A3-73EC-D7C8F35E2F3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44183ED-D9A0-E010-7F65-DDF60BC9986D}"/>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55" name="Group 54">
            <a:extLst>
              <a:ext uri="{FF2B5EF4-FFF2-40B4-BE49-F238E27FC236}">
                <a16:creationId xmlns:a16="http://schemas.microsoft.com/office/drawing/2014/main" id="{602E3532-84D3-8CDC-C02A-819217CCC40C}"/>
              </a:ext>
            </a:extLst>
          </p:cNvPr>
          <p:cNvGrpSpPr/>
          <p:nvPr/>
        </p:nvGrpSpPr>
        <p:grpSpPr>
          <a:xfrm>
            <a:off x="838200" y="1783429"/>
            <a:ext cx="10515600" cy="4160172"/>
            <a:chOff x="609600" y="1511301"/>
            <a:chExt cx="8043864" cy="4432300"/>
          </a:xfrm>
        </p:grpSpPr>
        <p:sp>
          <p:nvSpPr>
            <p:cNvPr id="13" name="Content Placeholder 11">
              <a:extLst>
                <a:ext uri="{FF2B5EF4-FFF2-40B4-BE49-F238E27FC236}">
                  <a16:creationId xmlns:a16="http://schemas.microsoft.com/office/drawing/2014/main" id="{D16AF611-E68B-ADBD-CFF8-C128470FBF1F}"/>
                </a:ext>
              </a:extLst>
            </p:cNvPr>
            <p:cNvSpPr txBox="1">
              <a:spLocks/>
            </p:cNvSpPr>
            <p:nvPr/>
          </p:nvSpPr>
          <p:spPr>
            <a:xfrm>
              <a:off x="4646613" y="1511301"/>
              <a:ext cx="4006851" cy="443230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t>A product or service is generally considered to have good value if that product or service has appropriate Function (performance) and Cost</a:t>
              </a:r>
            </a:p>
            <a:p>
              <a:r>
                <a:rPr lang="en-GB" sz="2400" dirty="0"/>
                <a:t>Value increases when costs decrease, while maintaining performance</a:t>
              </a:r>
            </a:p>
            <a:p>
              <a:r>
                <a:rPr lang="en-GB" sz="2400" dirty="0"/>
                <a:t>Value increases when performance improves if the customer needs and wants and is willing to pay for it</a:t>
              </a:r>
            </a:p>
          </p:txBody>
        </p:sp>
        <p:grpSp>
          <p:nvGrpSpPr>
            <p:cNvPr id="14" name="Group 13">
              <a:extLst>
                <a:ext uri="{FF2B5EF4-FFF2-40B4-BE49-F238E27FC236}">
                  <a16:creationId xmlns:a16="http://schemas.microsoft.com/office/drawing/2014/main" id="{6D0108F9-4A36-3428-7194-3AC24622CA16}"/>
                </a:ext>
              </a:extLst>
            </p:cNvPr>
            <p:cNvGrpSpPr/>
            <p:nvPr/>
          </p:nvGrpSpPr>
          <p:grpSpPr>
            <a:xfrm>
              <a:off x="609600" y="1746215"/>
              <a:ext cx="3276600" cy="831624"/>
              <a:chOff x="152400" y="2098640"/>
              <a:chExt cx="3276600" cy="831624"/>
            </a:xfrm>
          </p:grpSpPr>
          <p:grpSp>
            <p:nvGrpSpPr>
              <p:cNvPr id="15" name="Group 14">
                <a:extLst>
                  <a:ext uri="{FF2B5EF4-FFF2-40B4-BE49-F238E27FC236}">
                    <a16:creationId xmlns:a16="http://schemas.microsoft.com/office/drawing/2014/main" id="{C75D10A5-601D-A327-62D0-03DA806C2C07}"/>
                  </a:ext>
                </a:extLst>
              </p:cNvPr>
              <p:cNvGrpSpPr/>
              <p:nvPr/>
            </p:nvGrpSpPr>
            <p:grpSpPr>
              <a:xfrm>
                <a:off x="533400" y="2133600"/>
                <a:ext cx="2895600" cy="796664"/>
                <a:chOff x="609600" y="2133600"/>
                <a:chExt cx="2895600" cy="796664"/>
              </a:xfrm>
            </p:grpSpPr>
            <p:sp>
              <p:nvSpPr>
                <p:cNvPr id="19" name="TextBox 18">
                  <a:extLst>
                    <a:ext uri="{FF2B5EF4-FFF2-40B4-BE49-F238E27FC236}">
                      <a16:creationId xmlns:a16="http://schemas.microsoft.com/office/drawing/2014/main" id="{5AF0141C-5CB3-96F4-1124-44B27E698FFB}"/>
                    </a:ext>
                  </a:extLst>
                </p:cNvPr>
                <p:cNvSpPr txBox="1"/>
                <p:nvPr/>
              </p:nvSpPr>
              <p:spPr>
                <a:xfrm>
                  <a:off x="609600" y="2286000"/>
                  <a:ext cx="1295400" cy="400110"/>
                </a:xfrm>
                <a:prstGeom prst="rect">
                  <a:avLst/>
                </a:prstGeom>
                <a:noFill/>
              </p:spPr>
              <p:txBody>
                <a:bodyPr wrap="square" rtlCol="0">
                  <a:spAutoFit/>
                </a:bodyPr>
                <a:lstStyle/>
                <a:p>
                  <a:r>
                    <a:rPr lang="en-US" sz="2400" dirty="0">
                      <a:solidFill>
                        <a:srgbClr val="000000"/>
                      </a:solidFill>
                    </a:rPr>
                    <a:t>Value =</a:t>
                  </a:r>
                </a:p>
              </p:txBody>
            </p:sp>
            <p:sp>
              <p:nvSpPr>
                <p:cNvPr id="20" name="TextBox 19">
                  <a:extLst>
                    <a:ext uri="{FF2B5EF4-FFF2-40B4-BE49-F238E27FC236}">
                      <a16:creationId xmlns:a16="http://schemas.microsoft.com/office/drawing/2014/main" id="{71EAC2F0-3ADE-B4EE-73A1-57A8443A008A}"/>
                    </a:ext>
                  </a:extLst>
                </p:cNvPr>
                <p:cNvSpPr txBox="1"/>
                <p:nvPr/>
              </p:nvSpPr>
              <p:spPr>
                <a:xfrm>
                  <a:off x="1764513" y="2438400"/>
                  <a:ext cx="1435887" cy="491864"/>
                </a:xfrm>
                <a:prstGeom prst="rect">
                  <a:avLst/>
                </a:prstGeom>
                <a:noFill/>
              </p:spPr>
              <p:txBody>
                <a:bodyPr wrap="square" rtlCol="0">
                  <a:spAutoFit/>
                </a:bodyPr>
                <a:lstStyle/>
                <a:p>
                  <a:r>
                    <a:rPr lang="en-US" sz="2400" dirty="0">
                      <a:solidFill>
                        <a:srgbClr val="000000"/>
                      </a:solidFill>
                    </a:rPr>
                    <a:t>Cost</a:t>
                  </a:r>
                </a:p>
              </p:txBody>
            </p:sp>
            <p:sp>
              <p:nvSpPr>
                <p:cNvPr id="21" name="TextBox 20">
                  <a:extLst>
                    <a:ext uri="{FF2B5EF4-FFF2-40B4-BE49-F238E27FC236}">
                      <a16:creationId xmlns:a16="http://schemas.microsoft.com/office/drawing/2014/main" id="{354A303C-39D5-6AD6-5273-ECEBFB7C761A}"/>
                    </a:ext>
                  </a:extLst>
                </p:cNvPr>
                <p:cNvSpPr txBox="1"/>
                <p:nvPr/>
              </p:nvSpPr>
              <p:spPr>
                <a:xfrm>
                  <a:off x="1600200" y="2133600"/>
                  <a:ext cx="1905000" cy="400110"/>
                </a:xfrm>
                <a:prstGeom prst="rect">
                  <a:avLst/>
                </a:prstGeom>
                <a:noFill/>
              </p:spPr>
              <p:txBody>
                <a:bodyPr wrap="square" rtlCol="0">
                  <a:spAutoFit/>
                </a:bodyPr>
                <a:lstStyle/>
                <a:p>
                  <a:r>
                    <a:rPr lang="en-US" sz="2400" u="sng" dirty="0">
                      <a:solidFill>
                        <a:srgbClr val="000000"/>
                      </a:solidFill>
                    </a:rPr>
                    <a:t>Function</a:t>
                  </a:r>
                </a:p>
              </p:txBody>
            </p:sp>
          </p:grpSp>
          <p:sp>
            <p:nvSpPr>
              <p:cNvPr id="16" name="Rectangle 15">
                <a:extLst>
                  <a:ext uri="{FF2B5EF4-FFF2-40B4-BE49-F238E27FC236}">
                    <a16:creationId xmlns:a16="http://schemas.microsoft.com/office/drawing/2014/main" id="{4DB24FB4-4E46-CAF2-EE6E-EB0D6CB5878F}"/>
                  </a:ext>
                </a:extLst>
              </p:cNvPr>
              <p:cNvSpPr/>
              <p:nvPr/>
            </p:nvSpPr>
            <p:spPr>
              <a:xfrm>
                <a:off x="2438400" y="2098640"/>
                <a:ext cx="609600" cy="426282"/>
              </a:xfrm>
              <a:prstGeom prst="rect">
                <a:avLst/>
              </a:prstGeom>
            </p:spPr>
            <p:txBody>
              <a:bodyPr wrap="square" anchor="ctr">
                <a:spAutoFit/>
              </a:bodyPr>
              <a:lstStyle/>
              <a:p>
                <a:pPr algn="ctr"/>
                <a:r>
                  <a:rPr lang="en-US" sz="2000" dirty="0">
                    <a:solidFill>
                      <a:schemeClr val="accent6"/>
                    </a:solidFill>
                    <a:latin typeface="Wingdings"/>
                    <a:ea typeface="Wingdings"/>
                    <a:cs typeface="Wingdings"/>
                    <a:sym typeface="Wingdings"/>
                  </a:rPr>
                  <a:t></a:t>
                </a:r>
                <a:endParaRPr lang="en-US" sz="2000" dirty="0">
                  <a:solidFill>
                    <a:schemeClr val="accent6"/>
                  </a:solidFill>
                </a:endParaRPr>
              </a:p>
            </p:txBody>
          </p:sp>
          <p:sp>
            <p:nvSpPr>
              <p:cNvPr id="18" name="Rectangle 17">
                <a:extLst>
                  <a:ext uri="{FF2B5EF4-FFF2-40B4-BE49-F238E27FC236}">
                    <a16:creationId xmlns:a16="http://schemas.microsoft.com/office/drawing/2014/main" id="{7ED2419E-D16A-AAC2-626E-60A625343EA2}"/>
                  </a:ext>
                </a:extLst>
              </p:cNvPr>
              <p:cNvSpPr/>
              <p:nvPr/>
            </p:nvSpPr>
            <p:spPr>
              <a:xfrm>
                <a:off x="152400" y="2286000"/>
                <a:ext cx="609600" cy="348813"/>
              </a:xfrm>
              <a:prstGeom prst="rect">
                <a:avLst/>
              </a:prstGeom>
            </p:spPr>
            <p:txBody>
              <a:bodyPr wrap="square">
                <a:spAutoFit/>
              </a:bodyPr>
              <a:lstStyle/>
              <a:p>
                <a:r>
                  <a:rPr lang="en-US" sz="2000" dirty="0">
                    <a:solidFill>
                      <a:srgbClr val="000000"/>
                    </a:solidFill>
                    <a:latin typeface="Wingdings"/>
                    <a:ea typeface="Wingdings"/>
                    <a:cs typeface="Wingdings"/>
                    <a:sym typeface="Wingdings"/>
                  </a:rPr>
                  <a:t></a:t>
                </a:r>
                <a:endParaRPr lang="en-US" sz="2000" dirty="0">
                  <a:solidFill>
                    <a:srgbClr val="000000"/>
                  </a:solidFill>
                </a:endParaRPr>
              </a:p>
            </p:txBody>
          </p:sp>
        </p:grpSp>
        <p:grpSp>
          <p:nvGrpSpPr>
            <p:cNvPr id="22" name="Group 21">
              <a:extLst>
                <a:ext uri="{FF2B5EF4-FFF2-40B4-BE49-F238E27FC236}">
                  <a16:creationId xmlns:a16="http://schemas.microsoft.com/office/drawing/2014/main" id="{C8FD524C-B47E-B368-7B85-AA5F273582D9}"/>
                </a:ext>
              </a:extLst>
            </p:cNvPr>
            <p:cNvGrpSpPr/>
            <p:nvPr/>
          </p:nvGrpSpPr>
          <p:grpSpPr>
            <a:xfrm>
              <a:off x="609600" y="2619375"/>
              <a:ext cx="3276600" cy="796664"/>
              <a:chOff x="152400" y="2133600"/>
              <a:chExt cx="3276600" cy="796664"/>
            </a:xfrm>
          </p:grpSpPr>
          <p:grpSp>
            <p:nvGrpSpPr>
              <p:cNvPr id="23" name="Group 22">
                <a:extLst>
                  <a:ext uri="{FF2B5EF4-FFF2-40B4-BE49-F238E27FC236}">
                    <a16:creationId xmlns:a16="http://schemas.microsoft.com/office/drawing/2014/main" id="{E3F15A0A-9662-21FC-43D4-E3B14D67EB07}"/>
                  </a:ext>
                </a:extLst>
              </p:cNvPr>
              <p:cNvGrpSpPr/>
              <p:nvPr/>
            </p:nvGrpSpPr>
            <p:grpSpPr>
              <a:xfrm>
                <a:off x="533400" y="2133600"/>
                <a:ext cx="2895600" cy="796664"/>
                <a:chOff x="609600" y="2133600"/>
                <a:chExt cx="2895600" cy="796664"/>
              </a:xfrm>
            </p:grpSpPr>
            <p:sp>
              <p:nvSpPr>
                <p:cNvPr id="27" name="TextBox 26">
                  <a:extLst>
                    <a:ext uri="{FF2B5EF4-FFF2-40B4-BE49-F238E27FC236}">
                      <a16:creationId xmlns:a16="http://schemas.microsoft.com/office/drawing/2014/main" id="{4CBEC9B2-9001-4A28-850C-04E23A08278B}"/>
                    </a:ext>
                  </a:extLst>
                </p:cNvPr>
                <p:cNvSpPr txBox="1"/>
                <p:nvPr/>
              </p:nvSpPr>
              <p:spPr>
                <a:xfrm>
                  <a:off x="609600" y="2286000"/>
                  <a:ext cx="1295400" cy="400110"/>
                </a:xfrm>
                <a:prstGeom prst="rect">
                  <a:avLst/>
                </a:prstGeom>
                <a:noFill/>
              </p:spPr>
              <p:txBody>
                <a:bodyPr wrap="square" rtlCol="0">
                  <a:spAutoFit/>
                </a:bodyPr>
                <a:lstStyle/>
                <a:p>
                  <a:r>
                    <a:rPr lang="en-US" sz="2400" dirty="0">
                      <a:solidFill>
                        <a:srgbClr val="000000"/>
                      </a:solidFill>
                    </a:rPr>
                    <a:t>Value =</a:t>
                  </a:r>
                </a:p>
              </p:txBody>
            </p:sp>
            <p:sp>
              <p:nvSpPr>
                <p:cNvPr id="28" name="TextBox 27">
                  <a:extLst>
                    <a:ext uri="{FF2B5EF4-FFF2-40B4-BE49-F238E27FC236}">
                      <a16:creationId xmlns:a16="http://schemas.microsoft.com/office/drawing/2014/main" id="{85AEA94E-CAC2-05F0-2644-72C3730BC4A4}"/>
                    </a:ext>
                  </a:extLst>
                </p:cNvPr>
                <p:cNvSpPr txBox="1"/>
                <p:nvPr/>
              </p:nvSpPr>
              <p:spPr>
                <a:xfrm>
                  <a:off x="1764513" y="2438400"/>
                  <a:ext cx="1435887" cy="491864"/>
                </a:xfrm>
                <a:prstGeom prst="rect">
                  <a:avLst/>
                </a:prstGeom>
                <a:noFill/>
              </p:spPr>
              <p:txBody>
                <a:bodyPr wrap="square" rtlCol="0">
                  <a:spAutoFit/>
                </a:bodyPr>
                <a:lstStyle/>
                <a:p>
                  <a:r>
                    <a:rPr lang="en-US" sz="2400" dirty="0">
                      <a:solidFill>
                        <a:srgbClr val="000000"/>
                      </a:solidFill>
                    </a:rPr>
                    <a:t>Cost</a:t>
                  </a:r>
                </a:p>
              </p:txBody>
            </p:sp>
            <p:sp>
              <p:nvSpPr>
                <p:cNvPr id="29" name="TextBox 28">
                  <a:extLst>
                    <a:ext uri="{FF2B5EF4-FFF2-40B4-BE49-F238E27FC236}">
                      <a16:creationId xmlns:a16="http://schemas.microsoft.com/office/drawing/2014/main" id="{54211121-EFDB-7A44-3486-810B6D81FC14}"/>
                    </a:ext>
                  </a:extLst>
                </p:cNvPr>
                <p:cNvSpPr txBox="1"/>
                <p:nvPr/>
              </p:nvSpPr>
              <p:spPr>
                <a:xfrm>
                  <a:off x="1600200" y="2133600"/>
                  <a:ext cx="1905000" cy="400110"/>
                </a:xfrm>
                <a:prstGeom prst="rect">
                  <a:avLst/>
                </a:prstGeom>
                <a:noFill/>
              </p:spPr>
              <p:txBody>
                <a:bodyPr wrap="square" rtlCol="0">
                  <a:spAutoFit/>
                </a:bodyPr>
                <a:lstStyle/>
                <a:p>
                  <a:r>
                    <a:rPr lang="en-US" sz="2400" u="sng" dirty="0">
                      <a:solidFill>
                        <a:srgbClr val="000000"/>
                      </a:solidFill>
                    </a:rPr>
                    <a:t>Function</a:t>
                  </a:r>
                </a:p>
              </p:txBody>
            </p:sp>
          </p:grpSp>
          <p:sp>
            <p:nvSpPr>
              <p:cNvPr id="26" name="Rectangle 25">
                <a:extLst>
                  <a:ext uri="{FF2B5EF4-FFF2-40B4-BE49-F238E27FC236}">
                    <a16:creationId xmlns:a16="http://schemas.microsoft.com/office/drawing/2014/main" id="{2AC142A4-6439-A7D5-82F0-CB21874CBA3C}"/>
                  </a:ext>
                </a:extLst>
              </p:cNvPr>
              <p:cNvSpPr/>
              <p:nvPr/>
            </p:nvSpPr>
            <p:spPr>
              <a:xfrm>
                <a:off x="152400" y="2286000"/>
                <a:ext cx="609600" cy="348813"/>
              </a:xfrm>
              <a:prstGeom prst="rect">
                <a:avLst/>
              </a:prstGeom>
            </p:spPr>
            <p:txBody>
              <a:bodyPr wrap="square">
                <a:spAutoFit/>
              </a:bodyPr>
              <a:lstStyle/>
              <a:p>
                <a:r>
                  <a:rPr lang="en-US" sz="2000" dirty="0">
                    <a:solidFill>
                      <a:srgbClr val="000000"/>
                    </a:solidFill>
                    <a:latin typeface="Wingdings"/>
                    <a:ea typeface="Wingdings"/>
                    <a:cs typeface="Wingdings"/>
                    <a:sym typeface="Wingdings"/>
                  </a:rPr>
                  <a:t></a:t>
                </a:r>
                <a:endParaRPr lang="en-US" sz="2000" dirty="0">
                  <a:solidFill>
                    <a:srgbClr val="000000"/>
                  </a:solidFill>
                </a:endParaRPr>
              </a:p>
            </p:txBody>
          </p:sp>
        </p:grpSp>
        <p:grpSp>
          <p:nvGrpSpPr>
            <p:cNvPr id="30" name="Group 29">
              <a:extLst>
                <a:ext uri="{FF2B5EF4-FFF2-40B4-BE49-F238E27FC236}">
                  <a16:creationId xmlns:a16="http://schemas.microsoft.com/office/drawing/2014/main" id="{B5BC8DF7-9550-A69D-AA2B-984E46A61CFF}"/>
                </a:ext>
              </a:extLst>
            </p:cNvPr>
            <p:cNvGrpSpPr/>
            <p:nvPr/>
          </p:nvGrpSpPr>
          <p:grpSpPr>
            <a:xfrm>
              <a:off x="609600" y="4937562"/>
              <a:ext cx="3276600" cy="796664"/>
              <a:chOff x="152400" y="2133600"/>
              <a:chExt cx="3276600" cy="796664"/>
            </a:xfrm>
          </p:grpSpPr>
          <p:grpSp>
            <p:nvGrpSpPr>
              <p:cNvPr id="31" name="Group 30">
                <a:extLst>
                  <a:ext uri="{FF2B5EF4-FFF2-40B4-BE49-F238E27FC236}">
                    <a16:creationId xmlns:a16="http://schemas.microsoft.com/office/drawing/2014/main" id="{90214B59-F836-26A6-0F24-B1E8CC836A07}"/>
                  </a:ext>
                </a:extLst>
              </p:cNvPr>
              <p:cNvGrpSpPr/>
              <p:nvPr/>
            </p:nvGrpSpPr>
            <p:grpSpPr>
              <a:xfrm>
                <a:off x="533400" y="2133600"/>
                <a:ext cx="2895600" cy="796664"/>
                <a:chOff x="609600" y="2133600"/>
                <a:chExt cx="2895600" cy="796664"/>
              </a:xfrm>
            </p:grpSpPr>
            <p:sp>
              <p:nvSpPr>
                <p:cNvPr id="35" name="TextBox 34">
                  <a:extLst>
                    <a:ext uri="{FF2B5EF4-FFF2-40B4-BE49-F238E27FC236}">
                      <a16:creationId xmlns:a16="http://schemas.microsoft.com/office/drawing/2014/main" id="{F5F03AA0-73F9-B79B-A6AB-1826DA24CB0A}"/>
                    </a:ext>
                  </a:extLst>
                </p:cNvPr>
                <p:cNvSpPr txBox="1"/>
                <p:nvPr/>
              </p:nvSpPr>
              <p:spPr>
                <a:xfrm>
                  <a:off x="609600" y="2286000"/>
                  <a:ext cx="1295400" cy="400110"/>
                </a:xfrm>
                <a:prstGeom prst="rect">
                  <a:avLst/>
                </a:prstGeom>
                <a:noFill/>
              </p:spPr>
              <p:txBody>
                <a:bodyPr wrap="square" rtlCol="0">
                  <a:spAutoFit/>
                </a:bodyPr>
                <a:lstStyle/>
                <a:p>
                  <a:r>
                    <a:rPr lang="en-US" sz="2400" dirty="0">
                      <a:solidFill>
                        <a:srgbClr val="000000"/>
                      </a:solidFill>
                    </a:rPr>
                    <a:t>Value =</a:t>
                  </a:r>
                </a:p>
              </p:txBody>
            </p:sp>
            <p:sp>
              <p:nvSpPr>
                <p:cNvPr id="36" name="TextBox 35">
                  <a:extLst>
                    <a:ext uri="{FF2B5EF4-FFF2-40B4-BE49-F238E27FC236}">
                      <a16:creationId xmlns:a16="http://schemas.microsoft.com/office/drawing/2014/main" id="{4A6A3DA7-F30E-79A9-A7B9-78FADBDC98AE}"/>
                    </a:ext>
                  </a:extLst>
                </p:cNvPr>
                <p:cNvSpPr txBox="1"/>
                <p:nvPr/>
              </p:nvSpPr>
              <p:spPr>
                <a:xfrm>
                  <a:off x="1764513" y="2438400"/>
                  <a:ext cx="1435887" cy="491864"/>
                </a:xfrm>
                <a:prstGeom prst="rect">
                  <a:avLst/>
                </a:prstGeom>
                <a:noFill/>
              </p:spPr>
              <p:txBody>
                <a:bodyPr wrap="square" rtlCol="0">
                  <a:spAutoFit/>
                </a:bodyPr>
                <a:lstStyle/>
                <a:p>
                  <a:r>
                    <a:rPr lang="en-US" sz="2400" dirty="0">
                      <a:solidFill>
                        <a:srgbClr val="000000"/>
                      </a:solidFill>
                    </a:rPr>
                    <a:t>Cost</a:t>
                  </a:r>
                </a:p>
              </p:txBody>
            </p:sp>
            <p:sp>
              <p:nvSpPr>
                <p:cNvPr id="38" name="TextBox 37">
                  <a:extLst>
                    <a:ext uri="{FF2B5EF4-FFF2-40B4-BE49-F238E27FC236}">
                      <a16:creationId xmlns:a16="http://schemas.microsoft.com/office/drawing/2014/main" id="{EAE19082-E2D5-5BF7-E281-95F392BE03E1}"/>
                    </a:ext>
                  </a:extLst>
                </p:cNvPr>
                <p:cNvSpPr txBox="1"/>
                <p:nvPr/>
              </p:nvSpPr>
              <p:spPr>
                <a:xfrm>
                  <a:off x="1600200" y="2133600"/>
                  <a:ext cx="1905000" cy="400110"/>
                </a:xfrm>
                <a:prstGeom prst="rect">
                  <a:avLst/>
                </a:prstGeom>
                <a:noFill/>
              </p:spPr>
              <p:txBody>
                <a:bodyPr wrap="square" rtlCol="0">
                  <a:spAutoFit/>
                </a:bodyPr>
                <a:lstStyle/>
                <a:p>
                  <a:r>
                    <a:rPr lang="en-US" sz="2400" u="sng" dirty="0">
                      <a:solidFill>
                        <a:srgbClr val="000000"/>
                      </a:solidFill>
                    </a:rPr>
                    <a:t>Function</a:t>
                  </a:r>
                </a:p>
              </p:txBody>
            </p:sp>
          </p:grpSp>
          <p:sp>
            <p:nvSpPr>
              <p:cNvPr id="34" name="Rectangle 33">
                <a:extLst>
                  <a:ext uri="{FF2B5EF4-FFF2-40B4-BE49-F238E27FC236}">
                    <a16:creationId xmlns:a16="http://schemas.microsoft.com/office/drawing/2014/main" id="{0AA72164-1093-823D-4B84-1D9249235DAF}"/>
                  </a:ext>
                </a:extLst>
              </p:cNvPr>
              <p:cNvSpPr/>
              <p:nvPr/>
            </p:nvSpPr>
            <p:spPr>
              <a:xfrm>
                <a:off x="152400" y="2286000"/>
                <a:ext cx="609600" cy="348813"/>
              </a:xfrm>
              <a:prstGeom prst="rect">
                <a:avLst/>
              </a:prstGeom>
            </p:spPr>
            <p:txBody>
              <a:bodyPr wrap="square">
                <a:spAutoFit/>
              </a:bodyPr>
              <a:lstStyle/>
              <a:p>
                <a:r>
                  <a:rPr lang="en-US" sz="2000" dirty="0">
                    <a:solidFill>
                      <a:srgbClr val="000000"/>
                    </a:solidFill>
                    <a:latin typeface="Wingdings"/>
                    <a:ea typeface="Wingdings"/>
                    <a:cs typeface="Wingdings"/>
                    <a:sym typeface="Wingdings"/>
                  </a:rPr>
                  <a:t></a:t>
                </a:r>
                <a:endParaRPr lang="en-US" sz="2000" dirty="0">
                  <a:solidFill>
                    <a:srgbClr val="000000"/>
                  </a:solidFill>
                </a:endParaRPr>
              </a:p>
            </p:txBody>
          </p:sp>
        </p:grpSp>
        <p:grpSp>
          <p:nvGrpSpPr>
            <p:cNvPr id="39" name="Group 38">
              <a:extLst>
                <a:ext uri="{FF2B5EF4-FFF2-40B4-BE49-F238E27FC236}">
                  <a16:creationId xmlns:a16="http://schemas.microsoft.com/office/drawing/2014/main" id="{C8314792-B580-34F7-D8B7-6FFCC025F1CC}"/>
                </a:ext>
              </a:extLst>
            </p:cNvPr>
            <p:cNvGrpSpPr/>
            <p:nvPr/>
          </p:nvGrpSpPr>
          <p:grpSpPr>
            <a:xfrm>
              <a:off x="609600" y="4143375"/>
              <a:ext cx="3276600" cy="796664"/>
              <a:chOff x="152400" y="2133600"/>
              <a:chExt cx="3276600" cy="796664"/>
            </a:xfrm>
          </p:grpSpPr>
          <p:grpSp>
            <p:nvGrpSpPr>
              <p:cNvPr id="40" name="Group 39">
                <a:extLst>
                  <a:ext uri="{FF2B5EF4-FFF2-40B4-BE49-F238E27FC236}">
                    <a16:creationId xmlns:a16="http://schemas.microsoft.com/office/drawing/2014/main" id="{4FD04A15-1667-6EDF-86B3-9D8754AF067E}"/>
                  </a:ext>
                </a:extLst>
              </p:cNvPr>
              <p:cNvGrpSpPr/>
              <p:nvPr/>
            </p:nvGrpSpPr>
            <p:grpSpPr>
              <a:xfrm>
                <a:off x="533400" y="2133600"/>
                <a:ext cx="2895600" cy="796664"/>
                <a:chOff x="609600" y="2133600"/>
                <a:chExt cx="2895600" cy="796664"/>
              </a:xfrm>
            </p:grpSpPr>
            <p:sp>
              <p:nvSpPr>
                <p:cNvPr id="44" name="TextBox 43">
                  <a:extLst>
                    <a:ext uri="{FF2B5EF4-FFF2-40B4-BE49-F238E27FC236}">
                      <a16:creationId xmlns:a16="http://schemas.microsoft.com/office/drawing/2014/main" id="{BAA2AE51-69CB-6B6D-4D7A-D3AB166B0FFE}"/>
                    </a:ext>
                  </a:extLst>
                </p:cNvPr>
                <p:cNvSpPr txBox="1"/>
                <p:nvPr/>
              </p:nvSpPr>
              <p:spPr>
                <a:xfrm>
                  <a:off x="609600" y="2286000"/>
                  <a:ext cx="1295400" cy="400110"/>
                </a:xfrm>
                <a:prstGeom prst="rect">
                  <a:avLst/>
                </a:prstGeom>
                <a:noFill/>
              </p:spPr>
              <p:txBody>
                <a:bodyPr wrap="square" rtlCol="0">
                  <a:spAutoFit/>
                </a:bodyPr>
                <a:lstStyle/>
                <a:p>
                  <a:r>
                    <a:rPr lang="en-US" sz="2400" dirty="0">
                      <a:solidFill>
                        <a:srgbClr val="000000"/>
                      </a:solidFill>
                    </a:rPr>
                    <a:t>Value =</a:t>
                  </a:r>
                </a:p>
              </p:txBody>
            </p:sp>
            <p:sp>
              <p:nvSpPr>
                <p:cNvPr id="45" name="TextBox 44">
                  <a:extLst>
                    <a:ext uri="{FF2B5EF4-FFF2-40B4-BE49-F238E27FC236}">
                      <a16:creationId xmlns:a16="http://schemas.microsoft.com/office/drawing/2014/main" id="{23176297-7385-F265-F998-5392AB835550}"/>
                    </a:ext>
                  </a:extLst>
                </p:cNvPr>
                <p:cNvSpPr txBox="1"/>
                <p:nvPr/>
              </p:nvSpPr>
              <p:spPr>
                <a:xfrm>
                  <a:off x="1764513" y="2438400"/>
                  <a:ext cx="1435887" cy="491864"/>
                </a:xfrm>
                <a:prstGeom prst="rect">
                  <a:avLst/>
                </a:prstGeom>
                <a:noFill/>
              </p:spPr>
              <p:txBody>
                <a:bodyPr wrap="square" rtlCol="0">
                  <a:spAutoFit/>
                </a:bodyPr>
                <a:lstStyle/>
                <a:p>
                  <a:r>
                    <a:rPr lang="en-US" sz="2400" dirty="0">
                      <a:solidFill>
                        <a:srgbClr val="000000"/>
                      </a:solidFill>
                    </a:rPr>
                    <a:t>Cost</a:t>
                  </a:r>
                </a:p>
              </p:txBody>
            </p:sp>
            <p:sp>
              <p:nvSpPr>
                <p:cNvPr id="46" name="TextBox 45">
                  <a:extLst>
                    <a:ext uri="{FF2B5EF4-FFF2-40B4-BE49-F238E27FC236}">
                      <a16:creationId xmlns:a16="http://schemas.microsoft.com/office/drawing/2014/main" id="{5B9C48DB-81A4-C0E9-F4BE-E39D8AA5CF57}"/>
                    </a:ext>
                  </a:extLst>
                </p:cNvPr>
                <p:cNvSpPr txBox="1"/>
                <p:nvPr/>
              </p:nvSpPr>
              <p:spPr>
                <a:xfrm>
                  <a:off x="1600200" y="2133600"/>
                  <a:ext cx="1905000" cy="400110"/>
                </a:xfrm>
                <a:prstGeom prst="rect">
                  <a:avLst/>
                </a:prstGeom>
                <a:noFill/>
              </p:spPr>
              <p:txBody>
                <a:bodyPr wrap="square" rtlCol="0">
                  <a:spAutoFit/>
                </a:bodyPr>
                <a:lstStyle/>
                <a:p>
                  <a:r>
                    <a:rPr lang="en-US" sz="2400" u="sng" dirty="0">
                      <a:solidFill>
                        <a:srgbClr val="000000"/>
                      </a:solidFill>
                    </a:rPr>
                    <a:t>Function</a:t>
                  </a:r>
                </a:p>
              </p:txBody>
            </p:sp>
          </p:grpSp>
          <p:sp>
            <p:nvSpPr>
              <p:cNvPr id="43" name="Rectangle 42">
                <a:extLst>
                  <a:ext uri="{FF2B5EF4-FFF2-40B4-BE49-F238E27FC236}">
                    <a16:creationId xmlns:a16="http://schemas.microsoft.com/office/drawing/2014/main" id="{686C3271-45DF-128D-5BFE-39360FAD9A20}"/>
                  </a:ext>
                </a:extLst>
              </p:cNvPr>
              <p:cNvSpPr/>
              <p:nvPr/>
            </p:nvSpPr>
            <p:spPr>
              <a:xfrm>
                <a:off x="152400" y="2286000"/>
                <a:ext cx="609600" cy="348813"/>
              </a:xfrm>
              <a:prstGeom prst="rect">
                <a:avLst/>
              </a:prstGeom>
            </p:spPr>
            <p:txBody>
              <a:bodyPr wrap="square">
                <a:spAutoFit/>
              </a:bodyPr>
              <a:lstStyle/>
              <a:p>
                <a:r>
                  <a:rPr lang="en-US" sz="2000" dirty="0">
                    <a:solidFill>
                      <a:srgbClr val="000000"/>
                    </a:solidFill>
                    <a:latin typeface="Wingdings"/>
                    <a:ea typeface="Wingdings"/>
                    <a:cs typeface="Wingdings"/>
                    <a:sym typeface="Wingdings"/>
                  </a:rPr>
                  <a:t></a:t>
                </a:r>
                <a:endParaRPr lang="en-US" sz="2000" dirty="0">
                  <a:solidFill>
                    <a:srgbClr val="000000"/>
                  </a:solidFill>
                </a:endParaRPr>
              </a:p>
            </p:txBody>
          </p:sp>
        </p:grpSp>
        <p:grpSp>
          <p:nvGrpSpPr>
            <p:cNvPr id="47" name="Group 46">
              <a:extLst>
                <a:ext uri="{FF2B5EF4-FFF2-40B4-BE49-F238E27FC236}">
                  <a16:creationId xmlns:a16="http://schemas.microsoft.com/office/drawing/2014/main" id="{DEFC648D-6A5B-9D33-848D-6787150AD700}"/>
                </a:ext>
              </a:extLst>
            </p:cNvPr>
            <p:cNvGrpSpPr/>
            <p:nvPr/>
          </p:nvGrpSpPr>
          <p:grpSpPr>
            <a:xfrm>
              <a:off x="609600" y="3381375"/>
              <a:ext cx="3276600" cy="796664"/>
              <a:chOff x="152400" y="2133600"/>
              <a:chExt cx="3276600" cy="796664"/>
            </a:xfrm>
          </p:grpSpPr>
          <p:grpSp>
            <p:nvGrpSpPr>
              <p:cNvPr id="48" name="Group 47">
                <a:extLst>
                  <a:ext uri="{FF2B5EF4-FFF2-40B4-BE49-F238E27FC236}">
                    <a16:creationId xmlns:a16="http://schemas.microsoft.com/office/drawing/2014/main" id="{D29A21A0-80B3-B0A0-4870-5D3B149320CA}"/>
                  </a:ext>
                </a:extLst>
              </p:cNvPr>
              <p:cNvGrpSpPr/>
              <p:nvPr/>
            </p:nvGrpSpPr>
            <p:grpSpPr>
              <a:xfrm>
                <a:off x="533400" y="2133600"/>
                <a:ext cx="2895600" cy="796664"/>
                <a:chOff x="609600" y="2133600"/>
                <a:chExt cx="2895600" cy="796664"/>
              </a:xfrm>
            </p:grpSpPr>
            <p:sp>
              <p:nvSpPr>
                <p:cNvPr id="52" name="TextBox 51">
                  <a:extLst>
                    <a:ext uri="{FF2B5EF4-FFF2-40B4-BE49-F238E27FC236}">
                      <a16:creationId xmlns:a16="http://schemas.microsoft.com/office/drawing/2014/main" id="{48B6E0D2-3F80-1CC5-3A2A-1DC59A274D32}"/>
                    </a:ext>
                  </a:extLst>
                </p:cNvPr>
                <p:cNvSpPr txBox="1"/>
                <p:nvPr/>
              </p:nvSpPr>
              <p:spPr>
                <a:xfrm>
                  <a:off x="609600" y="2286000"/>
                  <a:ext cx="1295400" cy="400110"/>
                </a:xfrm>
                <a:prstGeom prst="rect">
                  <a:avLst/>
                </a:prstGeom>
                <a:noFill/>
              </p:spPr>
              <p:txBody>
                <a:bodyPr wrap="square" rtlCol="0">
                  <a:spAutoFit/>
                </a:bodyPr>
                <a:lstStyle/>
                <a:p>
                  <a:r>
                    <a:rPr lang="en-US" sz="2400" dirty="0">
                      <a:solidFill>
                        <a:srgbClr val="000000"/>
                      </a:solidFill>
                    </a:rPr>
                    <a:t>Value =</a:t>
                  </a:r>
                </a:p>
              </p:txBody>
            </p:sp>
            <p:sp>
              <p:nvSpPr>
                <p:cNvPr id="53" name="TextBox 52">
                  <a:extLst>
                    <a:ext uri="{FF2B5EF4-FFF2-40B4-BE49-F238E27FC236}">
                      <a16:creationId xmlns:a16="http://schemas.microsoft.com/office/drawing/2014/main" id="{8B812454-33BA-C262-6357-61AE9FC29D62}"/>
                    </a:ext>
                  </a:extLst>
                </p:cNvPr>
                <p:cNvSpPr txBox="1"/>
                <p:nvPr/>
              </p:nvSpPr>
              <p:spPr>
                <a:xfrm>
                  <a:off x="1764513" y="2438400"/>
                  <a:ext cx="1435887" cy="491864"/>
                </a:xfrm>
                <a:prstGeom prst="rect">
                  <a:avLst/>
                </a:prstGeom>
                <a:noFill/>
              </p:spPr>
              <p:txBody>
                <a:bodyPr wrap="square" rtlCol="0">
                  <a:spAutoFit/>
                </a:bodyPr>
                <a:lstStyle/>
                <a:p>
                  <a:r>
                    <a:rPr lang="en-US" sz="2400" dirty="0">
                      <a:solidFill>
                        <a:srgbClr val="000000"/>
                      </a:solidFill>
                    </a:rPr>
                    <a:t>Cost</a:t>
                  </a:r>
                </a:p>
              </p:txBody>
            </p:sp>
            <p:sp>
              <p:nvSpPr>
                <p:cNvPr id="54" name="TextBox 53">
                  <a:extLst>
                    <a:ext uri="{FF2B5EF4-FFF2-40B4-BE49-F238E27FC236}">
                      <a16:creationId xmlns:a16="http://schemas.microsoft.com/office/drawing/2014/main" id="{D33069CD-EA18-469E-1EAD-B24AD1DF0B61}"/>
                    </a:ext>
                  </a:extLst>
                </p:cNvPr>
                <p:cNvSpPr txBox="1"/>
                <p:nvPr/>
              </p:nvSpPr>
              <p:spPr>
                <a:xfrm>
                  <a:off x="1600200" y="2133600"/>
                  <a:ext cx="1905000" cy="400110"/>
                </a:xfrm>
                <a:prstGeom prst="rect">
                  <a:avLst/>
                </a:prstGeom>
                <a:noFill/>
              </p:spPr>
              <p:txBody>
                <a:bodyPr wrap="square" rtlCol="0">
                  <a:spAutoFit/>
                </a:bodyPr>
                <a:lstStyle/>
                <a:p>
                  <a:r>
                    <a:rPr lang="en-US" sz="2400" u="sng" dirty="0">
                      <a:solidFill>
                        <a:srgbClr val="000000"/>
                      </a:solidFill>
                    </a:rPr>
                    <a:t>Function</a:t>
                  </a:r>
                </a:p>
              </p:txBody>
            </p:sp>
          </p:grpSp>
          <p:sp>
            <p:nvSpPr>
              <p:cNvPr id="51" name="Rectangle 50">
                <a:extLst>
                  <a:ext uri="{FF2B5EF4-FFF2-40B4-BE49-F238E27FC236}">
                    <a16:creationId xmlns:a16="http://schemas.microsoft.com/office/drawing/2014/main" id="{FF0C3571-5BEE-8B94-49CE-C0ECB23205AC}"/>
                  </a:ext>
                </a:extLst>
              </p:cNvPr>
              <p:cNvSpPr/>
              <p:nvPr/>
            </p:nvSpPr>
            <p:spPr>
              <a:xfrm>
                <a:off x="152400" y="2286000"/>
                <a:ext cx="609600" cy="348813"/>
              </a:xfrm>
              <a:prstGeom prst="rect">
                <a:avLst/>
              </a:prstGeom>
            </p:spPr>
            <p:txBody>
              <a:bodyPr wrap="square">
                <a:spAutoFit/>
              </a:bodyPr>
              <a:lstStyle/>
              <a:p>
                <a:r>
                  <a:rPr lang="en-US" sz="2000" dirty="0">
                    <a:solidFill>
                      <a:srgbClr val="000000"/>
                    </a:solidFill>
                    <a:latin typeface="Wingdings"/>
                    <a:ea typeface="Wingdings"/>
                    <a:cs typeface="Wingdings"/>
                    <a:sym typeface="Wingdings"/>
                  </a:rPr>
                  <a:t></a:t>
                </a:r>
                <a:endParaRPr lang="en-US" sz="2000" dirty="0">
                  <a:solidFill>
                    <a:srgbClr val="000000"/>
                  </a:solidFill>
                </a:endParaRPr>
              </a:p>
            </p:txBody>
          </p:sp>
        </p:grpSp>
      </p:grpSp>
      <p:sp>
        <p:nvSpPr>
          <p:cNvPr id="56" name="Rectangle 55">
            <a:extLst>
              <a:ext uri="{FF2B5EF4-FFF2-40B4-BE49-F238E27FC236}">
                <a16:creationId xmlns:a16="http://schemas.microsoft.com/office/drawing/2014/main" id="{49E6980A-492C-F14D-5858-3F024BE9C40D}"/>
              </a:ext>
            </a:extLst>
          </p:cNvPr>
          <p:cNvSpPr/>
          <p:nvPr/>
        </p:nvSpPr>
        <p:spPr>
          <a:xfrm>
            <a:off x="3821714" y="3177718"/>
            <a:ext cx="796919" cy="400110"/>
          </a:xfrm>
          <a:prstGeom prst="rect">
            <a:avLst/>
          </a:prstGeom>
        </p:spPr>
        <p:txBody>
          <a:bodyPr wrap="square" anchor="ctr">
            <a:spAutoFit/>
          </a:bodyPr>
          <a:lstStyle/>
          <a:p>
            <a:pPr algn="ctr"/>
            <a:r>
              <a:rPr lang="en-US" sz="2000" dirty="0">
                <a:solidFill>
                  <a:schemeClr val="accent6"/>
                </a:solidFill>
                <a:latin typeface="Wingdings"/>
                <a:ea typeface="Wingdings"/>
                <a:cs typeface="Wingdings"/>
                <a:sym typeface="Wingdings"/>
              </a:rPr>
              <a:t></a:t>
            </a:r>
            <a:endParaRPr lang="en-US" sz="2000" dirty="0">
              <a:solidFill>
                <a:schemeClr val="accent6"/>
              </a:solidFill>
            </a:endParaRPr>
          </a:p>
        </p:txBody>
      </p:sp>
      <p:sp>
        <p:nvSpPr>
          <p:cNvPr id="57" name="Rectangle 56">
            <a:extLst>
              <a:ext uri="{FF2B5EF4-FFF2-40B4-BE49-F238E27FC236}">
                <a16:creationId xmlns:a16="http://schemas.microsoft.com/office/drawing/2014/main" id="{76FFBB41-8477-8C43-2EF5-A1FF813D50B1}"/>
              </a:ext>
            </a:extLst>
          </p:cNvPr>
          <p:cNvSpPr/>
          <p:nvPr/>
        </p:nvSpPr>
        <p:spPr>
          <a:xfrm>
            <a:off x="3826645" y="3555203"/>
            <a:ext cx="796919" cy="400110"/>
          </a:xfrm>
          <a:prstGeom prst="rect">
            <a:avLst/>
          </a:prstGeom>
        </p:spPr>
        <p:txBody>
          <a:bodyPr wrap="square" anchor="ctr">
            <a:spAutoFit/>
          </a:bodyPr>
          <a:lstStyle/>
          <a:p>
            <a:pPr algn="ctr"/>
            <a:r>
              <a:rPr lang="en-US" sz="2000" dirty="0">
                <a:solidFill>
                  <a:schemeClr val="accent6"/>
                </a:solidFill>
                <a:latin typeface="Wingdings"/>
                <a:ea typeface="Wingdings"/>
                <a:cs typeface="Wingdings"/>
                <a:sym typeface="Wingdings"/>
              </a:rPr>
              <a:t></a:t>
            </a:r>
            <a:endParaRPr lang="en-US" sz="2000" dirty="0">
              <a:solidFill>
                <a:schemeClr val="accent6"/>
              </a:solidFill>
            </a:endParaRPr>
          </a:p>
        </p:txBody>
      </p:sp>
      <p:sp>
        <p:nvSpPr>
          <p:cNvPr id="58" name="Rectangle 57">
            <a:extLst>
              <a:ext uri="{FF2B5EF4-FFF2-40B4-BE49-F238E27FC236}">
                <a16:creationId xmlns:a16="http://schemas.microsoft.com/office/drawing/2014/main" id="{195A1E61-3155-7026-A6C3-5E1679CDD690}"/>
              </a:ext>
            </a:extLst>
          </p:cNvPr>
          <p:cNvSpPr/>
          <p:nvPr/>
        </p:nvSpPr>
        <p:spPr>
          <a:xfrm>
            <a:off x="3821713" y="3898301"/>
            <a:ext cx="796919" cy="400110"/>
          </a:xfrm>
          <a:prstGeom prst="rect">
            <a:avLst/>
          </a:prstGeom>
        </p:spPr>
        <p:txBody>
          <a:bodyPr wrap="square" anchor="ctr">
            <a:spAutoFit/>
          </a:bodyPr>
          <a:lstStyle/>
          <a:p>
            <a:pPr algn="ctr"/>
            <a:r>
              <a:rPr lang="en-US" sz="2000" dirty="0">
                <a:solidFill>
                  <a:schemeClr val="accent6"/>
                </a:solidFill>
                <a:latin typeface="Wingdings"/>
                <a:ea typeface="Wingdings"/>
                <a:cs typeface="Wingdings"/>
                <a:sym typeface="Wingdings"/>
              </a:rPr>
              <a:t></a:t>
            </a:r>
            <a:endParaRPr lang="en-US" sz="2000" dirty="0">
              <a:solidFill>
                <a:schemeClr val="accent6"/>
              </a:solidFill>
            </a:endParaRPr>
          </a:p>
        </p:txBody>
      </p:sp>
      <p:sp>
        <p:nvSpPr>
          <p:cNvPr id="59" name="Rectangle 58">
            <a:extLst>
              <a:ext uri="{FF2B5EF4-FFF2-40B4-BE49-F238E27FC236}">
                <a16:creationId xmlns:a16="http://schemas.microsoft.com/office/drawing/2014/main" id="{0DEBC833-AA8B-1F2A-504F-E7D1C98D3DC2}"/>
              </a:ext>
            </a:extLst>
          </p:cNvPr>
          <p:cNvSpPr/>
          <p:nvPr/>
        </p:nvSpPr>
        <p:spPr>
          <a:xfrm>
            <a:off x="3821713" y="4636919"/>
            <a:ext cx="796919" cy="400110"/>
          </a:xfrm>
          <a:prstGeom prst="rect">
            <a:avLst/>
          </a:prstGeom>
        </p:spPr>
        <p:txBody>
          <a:bodyPr wrap="square" anchor="ctr">
            <a:spAutoFit/>
          </a:bodyPr>
          <a:lstStyle/>
          <a:p>
            <a:pPr algn="ctr"/>
            <a:r>
              <a:rPr lang="en-US" sz="2000" dirty="0">
                <a:solidFill>
                  <a:schemeClr val="accent6"/>
                </a:solidFill>
                <a:latin typeface="Wingdings"/>
                <a:ea typeface="Wingdings"/>
                <a:cs typeface="Wingdings"/>
                <a:sym typeface="Wingdings"/>
              </a:rPr>
              <a:t></a:t>
            </a:r>
            <a:endParaRPr lang="en-US" sz="2000" dirty="0">
              <a:solidFill>
                <a:schemeClr val="accent6"/>
              </a:solidFill>
            </a:endParaRPr>
          </a:p>
        </p:txBody>
      </p:sp>
      <p:sp>
        <p:nvSpPr>
          <p:cNvPr id="60" name="Rectangle 59">
            <a:extLst>
              <a:ext uri="{FF2B5EF4-FFF2-40B4-BE49-F238E27FC236}">
                <a16:creationId xmlns:a16="http://schemas.microsoft.com/office/drawing/2014/main" id="{93719633-7A9B-119A-0D55-BC03C56C2681}"/>
              </a:ext>
            </a:extLst>
          </p:cNvPr>
          <p:cNvSpPr/>
          <p:nvPr/>
        </p:nvSpPr>
        <p:spPr>
          <a:xfrm>
            <a:off x="3824771" y="4999329"/>
            <a:ext cx="796919" cy="400110"/>
          </a:xfrm>
          <a:prstGeom prst="rect">
            <a:avLst/>
          </a:prstGeom>
        </p:spPr>
        <p:txBody>
          <a:bodyPr wrap="square" anchor="ctr">
            <a:spAutoFit/>
          </a:bodyPr>
          <a:lstStyle/>
          <a:p>
            <a:pPr algn="ctr"/>
            <a:r>
              <a:rPr lang="en-US" sz="2000" dirty="0">
                <a:solidFill>
                  <a:schemeClr val="accent6"/>
                </a:solidFill>
                <a:latin typeface="Wingdings"/>
                <a:ea typeface="Wingdings"/>
                <a:cs typeface="Wingdings"/>
                <a:sym typeface="Wingdings"/>
              </a:rPr>
              <a:t></a:t>
            </a:r>
            <a:endParaRPr lang="en-US" sz="2000" dirty="0">
              <a:solidFill>
                <a:schemeClr val="accent6"/>
              </a:solidFill>
            </a:endParaRPr>
          </a:p>
        </p:txBody>
      </p:sp>
      <p:sp>
        <p:nvSpPr>
          <p:cNvPr id="61" name="Rectangle 60">
            <a:extLst>
              <a:ext uri="{FF2B5EF4-FFF2-40B4-BE49-F238E27FC236}">
                <a16:creationId xmlns:a16="http://schemas.microsoft.com/office/drawing/2014/main" id="{2342F5C1-6FDD-F796-9F1E-C61427FD47F3}"/>
              </a:ext>
            </a:extLst>
          </p:cNvPr>
          <p:cNvSpPr/>
          <p:nvPr/>
        </p:nvSpPr>
        <p:spPr>
          <a:xfrm>
            <a:off x="3821713" y="5285415"/>
            <a:ext cx="796919" cy="400110"/>
          </a:xfrm>
          <a:prstGeom prst="rect">
            <a:avLst/>
          </a:prstGeom>
        </p:spPr>
        <p:txBody>
          <a:bodyPr wrap="square" anchor="ctr">
            <a:spAutoFit/>
          </a:bodyPr>
          <a:lstStyle/>
          <a:p>
            <a:pPr algn="ctr"/>
            <a:r>
              <a:rPr lang="en-US" sz="2000" dirty="0">
                <a:solidFill>
                  <a:schemeClr val="accent1"/>
                </a:solidFill>
                <a:latin typeface="Wingdings"/>
                <a:ea typeface="Wingdings"/>
                <a:cs typeface="Wingdings"/>
                <a:sym typeface="Wingdings"/>
              </a:rPr>
              <a:t></a:t>
            </a:r>
            <a:endParaRPr lang="en-US" sz="2000" dirty="0">
              <a:solidFill>
                <a:schemeClr val="accent1"/>
              </a:solidFill>
            </a:endParaRPr>
          </a:p>
        </p:txBody>
      </p:sp>
      <p:sp>
        <p:nvSpPr>
          <p:cNvPr id="62" name="Rectangle 61">
            <a:extLst>
              <a:ext uri="{FF2B5EF4-FFF2-40B4-BE49-F238E27FC236}">
                <a16:creationId xmlns:a16="http://schemas.microsoft.com/office/drawing/2014/main" id="{8ECA63A2-A8FC-9933-54DF-2605454833EC}"/>
              </a:ext>
            </a:extLst>
          </p:cNvPr>
          <p:cNvSpPr/>
          <p:nvPr/>
        </p:nvSpPr>
        <p:spPr>
          <a:xfrm>
            <a:off x="3829703" y="4294984"/>
            <a:ext cx="796919" cy="400110"/>
          </a:xfrm>
          <a:prstGeom prst="rect">
            <a:avLst/>
          </a:prstGeom>
        </p:spPr>
        <p:txBody>
          <a:bodyPr wrap="square" anchor="ctr">
            <a:spAutoFit/>
          </a:bodyPr>
          <a:lstStyle/>
          <a:p>
            <a:pPr algn="ctr"/>
            <a:r>
              <a:rPr lang="en-US" sz="2000" dirty="0">
                <a:solidFill>
                  <a:schemeClr val="accent1"/>
                </a:solidFill>
                <a:latin typeface="Wingdings"/>
                <a:ea typeface="Wingdings"/>
                <a:cs typeface="Wingdings"/>
                <a:sym typeface="Wingdings"/>
              </a:rPr>
              <a:t></a:t>
            </a:r>
          </a:p>
        </p:txBody>
      </p:sp>
      <p:sp>
        <p:nvSpPr>
          <p:cNvPr id="63" name="Rectangle 62">
            <a:extLst>
              <a:ext uri="{FF2B5EF4-FFF2-40B4-BE49-F238E27FC236}">
                <a16:creationId xmlns:a16="http://schemas.microsoft.com/office/drawing/2014/main" id="{44959319-B80F-50A1-4920-0577741BA3FA}"/>
              </a:ext>
            </a:extLst>
          </p:cNvPr>
          <p:cNvSpPr/>
          <p:nvPr/>
        </p:nvSpPr>
        <p:spPr>
          <a:xfrm>
            <a:off x="3826646" y="2360706"/>
            <a:ext cx="796919" cy="400110"/>
          </a:xfrm>
          <a:prstGeom prst="rect">
            <a:avLst/>
          </a:prstGeom>
        </p:spPr>
        <p:txBody>
          <a:bodyPr wrap="square" anchor="ctr">
            <a:spAutoFit/>
          </a:bodyPr>
          <a:lstStyle/>
          <a:p>
            <a:pPr algn="ctr"/>
            <a:r>
              <a:rPr lang="en-US" sz="2000" dirty="0">
                <a:solidFill>
                  <a:schemeClr val="accent5"/>
                </a:solidFill>
                <a:latin typeface="Wingdings"/>
                <a:ea typeface="Wingdings"/>
                <a:cs typeface="Wingdings"/>
                <a:sym typeface="Wingdings"/>
              </a:rPr>
              <a:t></a:t>
            </a:r>
            <a:endParaRPr lang="en-US" sz="2000" dirty="0">
              <a:solidFill>
                <a:schemeClr val="accent5"/>
              </a:solidFill>
            </a:endParaRPr>
          </a:p>
        </p:txBody>
      </p:sp>
      <p:sp>
        <p:nvSpPr>
          <p:cNvPr id="64" name="Rectangle 63">
            <a:extLst>
              <a:ext uri="{FF2B5EF4-FFF2-40B4-BE49-F238E27FC236}">
                <a16:creationId xmlns:a16="http://schemas.microsoft.com/office/drawing/2014/main" id="{F8F32EA3-E0FB-8CC9-9757-E6B0A0F5BE97}"/>
              </a:ext>
            </a:extLst>
          </p:cNvPr>
          <p:cNvSpPr/>
          <p:nvPr/>
        </p:nvSpPr>
        <p:spPr>
          <a:xfrm>
            <a:off x="3826645" y="2807837"/>
            <a:ext cx="796919" cy="400110"/>
          </a:xfrm>
          <a:prstGeom prst="rect">
            <a:avLst/>
          </a:prstGeom>
        </p:spPr>
        <p:txBody>
          <a:bodyPr wrap="square" anchor="ctr">
            <a:spAutoFit/>
          </a:bodyPr>
          <a:lstStyle/>
          <a:p>
            <a:pPr algn="ctr"/>
            <a:r>
              <a:rPr lang="en-US" sz="2000" dirty="0">
                <a:solidFill>
                  <a:schemeClr val="accent5"/>
                </a:solidFill>
                <a:latin typeface="Wingdings"/>
                <a:ea typeface="Wingdings"/>
                <a:cs typeface="Wingdings"/>
                <a:sym typeface="Wingdings"/>
              </a:rPr>
              <a:t></a:t>
            </a:r>
            <a:endParaRPr lang="en-US" sz="2000" dirty="0">
              <a:solidFill>
                <a:schemeClr val="accent5"/>
              </a:solidFill>
            </a:endParaRPr>
          </a:p>
        </p:txBody>
      </p:sp>
    </p:spTree>
    <p:extLst>
      <p:ext uri="{BB962C8B-B14F-4D97-AF65-F5344CB8AC3E}">
        <p14:creationId xmlns:p14="http://schemas.microsoft.com/office/powerpoint/2010/main" val="3418687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What is Function?</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pic>
        <p:nvPicPr>
          <p:cNvPr id="4" name="Content Placeholder 19">
            <a:extLst>
              <a:ext uri="{FF2B5EF4-FFF2-40B4-BE49-F238E27FC236}">
                <a16:creationId xmlns:a16="http://schemas.microsoft.com/office/drawing/2014/main" id="{70919CA1-1FB8-A66B-137C-93734198629E}"/>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1584692" y="2528094"/>
            <a:ext cx="3170612" cy="2636495"/>
          </a:xfrm>
        </p:spPr>
      </p:pic>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lstStyle/>
          <a:p>
            <a:r>
              <a:rPr lang="en-GB" dirty="0"/>
              <a:t>The basic purpose of each cost, whether it be for hardware, the work of a group of people, a procedure, is to accomplish a function.</a:t>
            </a:r>
          </a:p>
          <a:p>
            <a:endParaRPr lang="en-US" dirty="0"/>
          </a:p>
        </p:txBody>
      </p:sp>
    </p:spTree>
    <p:extLst>
      <p:ext uri="{BB962C8B-B14F-4D97-AF65-F5344CB8AC3E}">
        <p14:creationId xmlns:p14="http://schemas.microsoft.com/office/powerpoint/2010/main" val="4282579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Different Functions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lstStyle/>
          <a:p>
            <a:r>
              <a:rPr lang="en-US" dirty="0"/>
              <a:t>Use of function</a:t>
            </a:r>
          </a:p>
          <a:p>
            <a:r>
              <a:rPr lang="en-US" dirty="0"/>
              <a:t>Aesthetic function</a:t>
            </a:r>
          </a:p>
          <a:p>
            <a:r>
              <a:rPr lang="en-US" dirty="0"/>
              <a:t>Basic function</a:t>
            </a:r>
          </a:p>
          <a:p>
            <a:r>
              <a:rPr lang="en-US" dirty="0"/>
              <a:t>Secondary function</a:t>
            </a:r>
          </a:p>
        </p:txBody>
      </p:sp>
      <p:pic>
        <p:nvPicPr>
          <p:cNvPr id="18" name="Content Placeholder 1">
            <a:extLst>
              <a:ext uri="{FF2B5EF4-FFF2-40B4-BE49-F238E27FC236}">
                <a16:creationId xmlns:a16="http://schemas.microsoft.com/office/drawing/2014/main" id="{626991D1-D89F-A58F-10E3-F9741091001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89000" y="2096294"/>
            <a:ext cx="5080000" cy="3810000"/>
          </a:xfrm>
        </p:spPr>
      </p:pic>
    </p:spTree>
    <p:extLst>
      <p:ext uri="{BB962C8B-B14F-4D97-AF65-F5344CB8AC3E}">
        <p14:creationId xmlns:p14="http://schemas.microsoft.com/office/powerpoint/2010/main" val="248752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Function Analysis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lstStyle/>
          <a:p>
            <a:r>
              <a:rPr lang="en-US" dirty="0"/>
              <a:t>Identify Functions</a:t>
            </a:r>
          </a:p>
          <a:p>
            <a:r>
              <a:rPr lang="en-US" dirty="0"/>
              <a:t>Characterize Functions</a:t>
            </a:r>
          </a:p>
          <a:p>
            <a:pPr lvl="1"/>
            <a:r>
              <a:rPr lang="en-US" dirty="0"/>
              <a:t>“Must Have”</a:t>
            </a:r>
          </a:p>
          <a:p>
            <a:pPr lvl="1"/>
            <a:r>
              <a:rPr lang="en-US" dirty="0"/>
              <a:t>“Nice to Have”</a:t>
            </a:r>
          </a:p>
          <a:p>
            <a:r>
              <a:rPr lang="en-US" dirty="0"/>
              <a:t>For Each Function, list all alternative means to achieve the Function</a:t>
            </a:r>
          </a:p>
        </p:txBody>
      </p:sp>
      <p:pic>
        <p:nvPicPr>
          <p:cNvPr id="21" name="Content Placeholder 15">
            <a:extLst>
              <a:ext uri="{FF2B5EF4-FFF2-40B4-BE49-F238E27FC236}">
                <a16:creationId xmlns:a16="http://schemas.microsoft.com/office/drawing/2014/main" id="{A5640C4A-B5B1-CA79-7968-D59A81C805D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838524" y="2413992"/>
            <a:ext cx="1180952" cy="3174603"/>
          </a:xfrm>
        </p:spPr>
      </p:pic>
    </p:spTree>
    <p:extLst>
      <p:ext uri="{BB962C8B-B14F-4D97-AF65-F5344CB8AC3E}">
        <p14:creationId xmlns:p14="http://schemas.microsoft.com/office/powerpoint/2010/main" val="932990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Develop a Broad Definition of the Function</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Broad</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lstStyle/>
          <a:p>
            <a:r>
              <a:rPr lang="en-US" dirty="0"/>
              <a:t>Reduce speed by X:Y</a:t>
            </a:r>
          </a:p>
          <a:p>
            <a:r>
              <a:rPr lang="en-US" dirty="0"/>
              <a:t>Secure A &amp; B for XYZ loading</a:t>
            </a:r>
          </a:p>
          <a:p>
            <a:r>
              <a:rPr lang="en-US" dirty="0"/>
              <a:t>Move material from A  B</a:t>
            </a:r>
          </a:p>
          <a:p>
            <a:r>
              <a:rPr lang="en-US" dirty="0"/>
              <a:t>Raise X Kg Y m high</a:t>
            </a:r>
          </a:p>
          <a:p>
            <a:r>
              <a:rPr lang="en-US" dirty="0"/>
              <a:t>Protect electronics from environment</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Narrow</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Gearing ratio X:Y</a:t>
            </a:r>
          </a:p>
          <a:p>
            <a:r>
              <a:rPr lang="en-US" dirty="0"/>
              <a:t>Bolt A to B with D </a:t>
            </a:r>
            <a:r>
              <a:rPr lang="en-US" dirty="0" err="1"/>
              <a:t>dia</a:t>
            </a:r>
            <a:r>
              <a:rPr lang="en-US" dirty="0"/>
              <a:t> fasteners</a:t>
            </a:r>
          </a:p>
          <a:p>
            <a:r>
              <a:rPr lang="en-US" dirty="0"/>
              <a:t>Fill bins &amp; transport X per pallet</a:t>
            </a:r>
          </a:p>
          <a:p>
            <a:r>
              <a:rPr lang="en-US" dirty="0"/>
              <a:t>Crane X Kg SWL load Y m lift</a:t>
            </a:r>
          </a:p>
          <a:p>
            <a:r>
              <a:rPr lang="en-US" dirty="0"/>
              <a:t>Electrical cabinet</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17" name="Group 16">
            <a:extLst>
              <a:ext uri="{FF2B5EF4-FFF2-40B4-BE49-F238E27FC236}">
                <a16:creationId xmlns:a16="http://schemas.microsoft.com/office/drawing/2014/main" id="{E2376855-8663-C441-F755-54BBDA0605F3}"/>
              </a:ext>
            </a:extLst>
          </p:cNvPr>
          <p:cNvGrpSpPr/>
          <p:nvPr/>
        </p:nvGrpSpPr>
        <p:grpSpPr>
          <a:xfrm>
            <a:off x="838200" y="297639"/>
            <a:ext cx="4451430" cy="307138"/>
            <a:chOff x="838200" y="297639"/>
            <a:chExt cx="4451430" cy="307138"/>
          </a:xfrm>
        </p:grpSpPr>
        <p:grpSp>
          <p:nvGrpSpPr>
            <p:cNvPr id="18" name="Group 17">
              <a:extLst>
                <a:ext uri="{FF2B5EF4-FFF2-40B4-BE49-F238E27FC236}">
                  <a16:creationId xmlns:a16="http://schemas.microsoft.com/office/drawing/2014/main" id="{8EEA06CE-BE21-1B0E-A7A4-5AA12D23ACEA}"/>
                </a:ext>
              </a:extLst>
            </p:cNvPr>
            <p:cNvGrpSpPr/>
            <p:nvPr/>
          </p:nvGrpSpPr>
          <p:grpSpPr>
            <a:xfrm>
              <a:off x="838200" y="297639"/>
              <a:ext cx="1687517" cy="290657"/>
              <a:chOff x="838200" y="297639"/>
              <a:chExt cx="1687517" cy="290657"/>
            </a:xfrm>
          </p:grpSpPr>
          <p:sp>
            <p:nvSpPr>
              <p:cNvPr id="20" name="AutoShape 9">
                <a:extLst>
                  <a:ext uri="{FF2B5EF4-FFF2-40B4-BE49-F238E27FC236}">
                    <a16:creationId xmlns:a16="http://schemas.microsoft.com/office/drawing/2014/main" id="{06604BF2-18CD-B95B-3910-82516406C4F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835608E6-32A3-58A5-32A5-7410199F410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DA64C940-9F62-8F62-BC23-54376D1D2689}"/>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2D1BB64C-4C2C-890E-BF5C-BE7675781CE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D9F14025-4A28-066F-32BA-5E5AF618B1F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440CCEA7-1B2E-94D5-7F50-3B244F02E53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190609BC-77BC-10BB-BC81-B8B836890CA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7554638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Function Analysis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fontScale="92500" lnSpcReduction="10000"/>
          </a:bodyPr>
          <a:lstStyle/>
          <a:p>
            <a:r>
              <a:rPr lang="en-US" dirty="0"/>
              <a:t>Method for analyzing and developing a function structure</a:t>
            </a:r>
          </a:p>
          <a:p>
            <a:r>
              <a:rPr lang="en-US" dirty="0"/>
              <a:t>Function structure is an abstract model of the new product</a:t>
            </a:r>
          </a:p>
          <a:p>
            <a:r>
              <a:rPr lang="en-US" dirty="0"/>
              <a:t>Describes the functions of the product and its parts and indicates the mutual relations</a:t>
            </a:r>
          </a:p>
          <a:p>
            <a:r>
              <a:rPr lang="en-US" dirty="0"/>
              <a:t>Thinking about the product in an abstract way stimulates creativity, and prevents you from ‘jumping to solutions’</a:t>
            </a:r>
          </a:p>
        </p:txBody>
      </p:sp>
      <p:pic>
        <p:nvPicPr>
          <p:cNvPr id="15" name="Content Placeholder 14">
            <a:extLst>
              <a:ext uri="{FF2B5EF4-FFF2-40B4-BE49-F238E27FC236}">
                <a16:creationId xmlns:a16="http://schemas.microsoft.com/office/drawing/2014/main" id="{3E4C860D-CB6D-7F80-9498-5D0A50CCF61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285875" y="2196306"/>
            <a:ext cx="4286250" cy="3609975"/>
          </a:xfrm>
          <a:prstGeom prst="rect">
            <a:avLst/>
          </a:prstGeom>
        </p:spPr>
      </p:pic>
    </p:spTree>
    <p:extLst>
      <p:ext uri="{BB962C8B-B14F-4D97-AF65-F5344CB8AC3E}">
        <p14:creationId xmlns:p14="http://schemas.microsoft.com/office/powerpoint/2010/main" val="935837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Identify key words for each function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3" name="Group 2">
            <a:extLst>
              <a:ext uri="{FF2B5EF4-FFF2-40B4-BE49-F238E27FC236}">
                <a16:creationId xmlns:a16="http://schemas.microsoft.com/office/drawing/2014/main" id="{0F0EC624-4F9D-C45D-3EA5-729F2C814CA0}"/>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0424BEB6-F0A5-19DF-733F-68E3CDED949B}"/>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BA7E7C9-6EE7-0307-D932-1F7A10E1115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658CF36-D18F-F821-1905-3F6B32DC57D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CA2FCE1-68C8-44C4-8178-7B927910C6A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E0F322A3-F2B3-E66A-7149-3D0A92ABDE2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60E7A548-B40C-7BB6-BA70-F3BE1055298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4D01A6C-C3E2-F9C8-FA1D-026E40284FF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C3E4FDDB-618C-9476-9E4D-5C918C76266E}"/>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31" name="Group 30">
            <a:extLst>
              <a:ext uri="{FF2B5EF4-FFF2-40B4-BE49-F238E27FC236}">
                <a16:creationId xmlns:a16="http://schemas.microsoft.com/office/drawing/2014/main" id="{B534C0C5-5D86-FEA5-D017-8A179A89D802}"/>
              </a:ext>
            </a:extLst>
          </p:cNvPr>
          <p:cNvGrpSpPr/>
          <p:nvPr/>
        </p:nvGrpSpPr>
        <p:grpSpPr>
          <a:xfrm>
            <a:off x="1999261" y="2091537"/>
            <a:ext cx="8138977" cy="3868461"/>
            <a:chOff x="496644" y="1879600"/>
            <a:chExt cx="8138977" cy="3868461"/>
          </a:xfrm>
        </p:grpSpPr>
        <p:sp>
          <p:nvSpPr>
            <p:cNvPr id="13" name="Text Box 11">
              <a:extLst>
                <a:ext uri="{FF2B5EF4-FFF2-40B4-BE49-F238E27FC236}">
                  <a16:creationId xmlns:a16="http://schemas.microsoft.com/office/drawing/2014/main" id="{B25B8BD9-7145-84A4-78F2-1730806A4C99}"/>
                </a:ext>
              </a:extLst>
            </p:cNvPr>
            <p:cNvSpPr txBox="1">
              <a:spLocks noChangeArrowheads="1"/>
            </p:cNvSpPr>
            <p:nvPr/>
          </p:nvSpPr>
          <p:spPr bwMode="auto">
            <a:xfrm>
              <a:off x="3771606" y="5378729"/>
              <a:ext cx="14622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rgbClr val="000000"/>
                  </a:solidFill>
                  <a:latin typeface="+mn-lt"/>
                  <a:ea typeface="MS PGothic" pitchFamily="34" charset="-128"/>
                </a:rPr>
                <a:t>KEY WORDS</a:t>
              </a:r>
              <a:endParaRPr lang="en-US" altLang="ja-JP" sz="1800" dirty="0">
                <a:latin typeface="+mn-lt"/>
                <a:ea typeface="MS PGothic" pitchFamily="34" charset="-128"/>
              </a:endParaRPr>
            </a:p>
          </p:txBody>
        </p:sp>
        <p:sp>
          <p:nvSpPr>
            <p:cNvPr id="14" name="Text Box 12">
              <a:extLst>
                <a:ext uri="{FF2B5EF4-FFF2-40B4-BE49-F238E27FC236}">
                  <a16:creationId xmlns:a16="http://schemas.microsoft.com/office/drawing/2014/main" id="{9D775426-E82C-2AFE-9ADD-035AB5CF8DB1}"/>
                </a:ext>
              </a:extLst>
            </p:cNvPr>
            <p:cNvSpPr txBox="1">
              <a:spLocks noChangeArrowheads="1"/>
            </p:cNvSpPr>
            <p:nvPr/>
          </p:nvSpPr>
          <p:spPr bwMode="auto">
            <a:xfrm>
              <a:off x="496644" y="1915598"/>
              <a:ext cx="7873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6"/>
                  </a:solidFill>
                  <a:latin typeface="+mn-lt"/>
                  <a:ea typeface="MS PGothic" pitchFamily="34" charset="-128"/>
                </a:rPr>
                <a:t>Guide</a:t>
              </a:r>
            </a:p>
          </p:txBody>
        </p:sp>
        <p:sp>
          <p:nvSpPr>
            <p:cNvPr id="15" name="Text Box 13">
              <a:extLst>
                <a:ext uri="{FF2B5EF4-FFF2-40B4-BE49-F238E27FC236}">
                  <a16:creationId xmlns:a16="http://schemas.microsoft.com/office/drawing/2014/main" id="{7F1FFFD2-DAE9-FB1A-EF77-DCD15AA9F330}"/>
                </a:ext>
              </a:extLst>
            </p:cNvPr>
            <p:cNvSpPr txBox="1">
              <a:spLocks noChangeArrowheads="1"/>
            </p:cNvSpPr>
            <p:nvPr/>
          </p:nvSpPr>
          <p:spPr bwMode="auto">
            <a:xfrm>
              <a:off x="497155" y="3439598"/>
              <a:ext cx="671979" cy="369332"/>
            </a:xfrm>
            <a:prstGeom prst="rect">
              <a:avLst/>
            </a:prstGeom>
            <a:noFill/>
            <a:ln w="19050">
              <a:noFill/>
              <a:miter lim="800000"/>
              <a:headEnd/>
              <a:tailEnd/>
            </a:ln>
            <a:effectLst/>
          </p:spPr>
          <p:txBody>
            <a:bodyPr wrap="none" anchor="ctr">
              <a:spAutoFit/>
            </a:bodyPr>
            <a:lstStyle/>
            <a:p>
              <a:pPr>
                <a:defRPr/>
              </a:pPr>
              <a:r>
                <a:rPr lang="en-US" altLang="ja-JP" sz="1800" b="1" dirty="0">
                  <a:solidFill>
                    <a:schemeClr val="tx2"/>
                  </a:solidFill>
                </a:rPr>
                <a:t>Turn</a:t>
              </a:r>
            </a:p>
          </p:txBody>
        </p:sp>
        <p:sp>
          <p:nvSpPr>
            <p:cNvPr id="16" name="Text Box 14">
              <a:extLst>
                <a:ext uri="{FF2B5EF4-FFF2-40B4-BE49-F238E27FC236}">
                  <a16:creationId xmlns:a16="http://schemas.microsoft.com/office/drawing/2014/main" id="{30C18F00-72B5-242D-C1FC-2789A80D6A24}"/>
                </a:ext>
              </a:extLst>
            </p:cNvPr>
            <p:cNvSpPr txBox="1">
              <a:spLocks noChangeArrowheads="1"/>
            </p:cNvSpPr>
            <p:nvPr/>
          </p:nvSpPr>
          <p:spPr bwMode="auto">
            <a:xfrm>
              <a:off x="496841" y="4239698"/>
              <a:ext cx="6030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5"/>
                  </a:solidFill>
                  <a:latin typeface="+mn-lt"/>
                  <a:ea typeface="MS PGothic" pitchFamily="34" charset="-128"/>
                </a:rPr>
                <a:t>Drill</a:t>
              </a:r>
            </a:p>
          </p:txBody>
        </p:sp>
        <p:sp>
          <p:nvSpPr>
            <p:cNvPr id="17" name="Text Box 15">
              <a:extLst>
                <a:ext uri="{FF2B5EF4-FFF2-40B4-BE49-F238E27FC236}">
                  <a16:creationId xmlns:a16="http://schemas.microsoft.com/office/drawing/2014/main" id="{14E70954-C75A-ADDA-2A07-765CC618E5FD}"/>
                </a:ext>
              </a:extLst>
            </p:cNvPr>
            <p:cNvSpPr txBox="1">
              <a:spLocks noChangeArrowheads="1"/>
            </p:cNvSpPr>
            <p:nvPr/>
          </p:nvSpPr>
          <p:spPr bwMode="auto">
            <a:xfrm>
              <a:off x="2209816" y="3477698"/>
              <a:ext cx="5838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tx1"/>
                  </a:solidFill>
                  <a:latin typeface="+mn-lt"/>
                  <a:ea typeface="MS PGothic" pitchFamily="34" charset="-128"/>
                </a:rPr>
                <a:t>Roll</a:t>
              </a:r>
            </a:p>
          </p:txBody>
        </p:sp>
        <p:sp>
          <p:nvSpPr>
            <p:cNvPr id="18" name="Text Box 16">
              <a:extLst>
                <a:ext uri="{FF2B5EF4-FFF2-40B4-BE49-F238E27FC236}">
                  <a16:creationId xmlns:a16="http://schemas.microsoft.com/office/drawing/2014/main" id="{51B3B4F1-679A-009E-E320-7D2EA71FB2C9}"/>
                </a:ext>
              </a:extLst>
            </p:cNvPr>
            <p:cNvSpPr txBox="1">
              <a:spLocks noChangeArrowheads="1"/>
            </p:cNvSpPr>
            <p:nvPr/>
          </p:nvSpPr>
          <p:spPr bwMode="auto">
            <a:xfrm>
              <a:off x="2210101" y="1915598"/>
              <a:ext cx="849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tx1"/>
                  </a:solidFill>
                  <a:latin typeface="+mn-lt"/>
                  <a:ea typeface="MS PGothic" pitchFamily="34" charset="-128"/>
                </a:rPr>
                <a:t>Clamp</a:t>
              </a:r>
            </a:p>
          </p:txBody>
        </p:sp>
        <p:sp>
          <p:nvSpPr>
            <p:cNvPr id="19" name="Text Box 17">
              <a:extLst>
                <a:ext uri="{FF2B5EF4-FFF2-40B4-BE49-F238E27FC236}">
                  <a16:creationId xmlns:a16="http://schemas.microsoft.com/office/drawing/2014/main" id="{C8304AB7-C8F7-ED5C-059C-299C267DE734}"/>
                </a:ext>
              </a:extLst>
            </p:cNvPr>
            <p:cNvSpPr txBox="1">
              <a:spLocks noChangeArrowheads="1"/>
            </p:cNvSpPr>
            <p:nvPr/>
          </p:nvSpPr>
          <p:spPr bwMode="auto">
            <a:xfrm>
              <a:off x="2209420" y="2715698"/>
              <a:ext cx="970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2"/>
                  </a:solidFill>
                  <a:latin typeface="+mn-lt"/>
                  <a:ea typeface="MS PGothic" pitchFamily="34" charset="-128"/>
                </a:rPr>
                <a:t>Rigidity</a:t>
              </a:r>
            </a:p>
          </p:txBody>
        </p:sp>
        <p:sp>
          <p:nvSpPr>
            <p:cNvPr id="20" name="Text Box 18">
              <a:extLst>
                <a:ext uri="{FF2B5EF4-FFF2-40B4-BE49-F238E27FC236}">
                  <a16:creationId xmlns:a16="http://schemas.microsoft.com/office/drawing/2014/main" id="{8B2EC863-B9E8-C310-583F-A4F5B193BE11}"/>
                </a:ext>
              </a:extLst>
            </p:cNvPr>
            <p:cNvSpPr txBox="1">
              <a:spLocks noChangeArrowheads="1"/>
            </p:cNvSpPr>
            <p:nvPr/>
          </p:nvSpPr>
          <p:spPr bwMode="auto">
            <a:xfrm>
              <a:off x="2209617" y="4249223"/>
              <a:ext cx="7906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1"/>
                  </a:solidFill>
                  <a:latin typeface="+mn-lt"/>
                  <a:ea typeface="MS PGothic" pitchFamily="34" charset="-128"/>
                </a:rPr>
                <a:t>Shear</a:t>
              </a:r>
            </a:p>
          </p:txBody>
        </p:sp>
        <p:sp>
          <p:nvSpPr>
            <p:cNvPr id="21" name="Text Box 19">
              <a:extLst>
                <a:ext uri="{FF2B5EF4-FFF2-40B4-BE49-F238E27FC236}">
                  <a16:creationId xmlns:a16="http://schemas.microsoft.com/office/drawing/2014/main" id="{471E2E48-611F-C07D-AE34-5928E4F50906}"/>
                </a:ext>
              </a:extLst>
            </p:cNvPr>
            <p:cNvSpPr txBox="1">
              <a:spLocks noChangeArrowheads="1"/>
            </p:cNvSpPr>
            <p:nvPr/>
          </p:nvSpPr>
          <p:spPr bwMode="auto">
            <a:xfrm>
              <a:off x="5391390" y="1915598"/>
              <a:ext cx="8611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tx1"/>
                  </a:solidFill>
                  <a:latin typeface="+mn-lt"/>
                  <a:ea typeface="MS PGothic" pitchFamily="34" charset="-128"/>
                </a:rPr>
                <a:t>Swivel</a:t>
              </a:r>
            </a:p>
          </p:txBody>
        </p:sp>
        <p:sp>
          <p:nvSpPr>
            <p:cNvPr id="22" name="Text Box 20">
              <a:extLst>
                <a:ext uri="{FF2B5EF4-FFF2-40B4-BE49-F238E27FC236}">
                  <a16:creationId xmlns:a16="http://schemas.microsoft.com/office/drawing/2014/main" id="{892B741C-0FB2-13CB-7D5E-10203243B272}"/>
                </a:ext>
              </a:extLst>
            </p:cNvPr>
            <p:cNvSpPr txBox="1">
              <a:spLocks noChangeArrowheads="1"/>
            </p:cNvSpPr>
            <p:nvPr/>
          </p:nvSpPr>
          <p:spPr bwMode="auto">
            <a:xfrm>
              <a:off x="5391267" y="4239698"/>
              <a:ext cx="886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2"/>
                  </a:solidFill>
                  <a:latin typeface="+mn-lt"/>
                  <a:ea typeface="MS PGothic" pitchFamily="34" charset="-128"/>
                </a:rPr>
                <a:t>Fasten</a:t>
              </a:r>
            </a:p>
          </p:txBody>
        </p:sp>
        <p:sp>
          <p:nvSpPr>
            <p:cNvPr id="23" name="Text Box 21">
              <a:extLst>
                <a:ext uri="{FF2B5EF4-FFF2-40B4-BE49-F238E27FC236}">
                  <a16:creationId xmlns:a16="http://schemas.microsoft.com/office/drawing/2014/main" id="{0357D63D-A23D-9742-40FF-767730677641}"/>
                </a:ext>
              </a:extLst>
            </p:cNvPr>
            <p:cNvSpPr txBox="1">
              <a:spLocks noChangeArrowheads="1"/>
            </p:cNvSpPr>
            <p:nvPr/>
          </p:nvSpPr>
          <p:spPr bwMode="auto">
            <a:xfrm>
              <a:off x="5390857" y="2639498"/>
              <a:ext cx="6479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tx2"/>
                  </a:solidFill>
                  <a:latin typeface="+mn-lt"/>
                  <a:ea typeface="MS PGothic" pitchFamily="34" charset="-128"/>
                </a:rPr>
                <a:t>Spin</a:t>
              </a:r>
            </a:p>
          </p:txBody>
        </p:sp>
        <p:sp>
          <p:nvSpPr>
            <p:cNvPr id="24" name="Text Box 22">
              <a:extLst>
                <a:ext uri="{FF2B5EF4-FFF2-40B4-BE49-F238E27FC236}">
                  <a16:creationId xmlns:a16="http://schemas.microsoft.com/office/drawing/2014/main" id="{FD248ACC-71C3-B700-C15B-BDE30BEEDEC3}"/>
                </a:ext>
              </a:extLst>
            </p:cNvPr>
            <p:cNvSpPr txBox="1">
              <a:spLocks noChangeArrowheads="1"/>
            </p:cNvSpPr>
            <p:nvPr/>
          </p:nvSpPr>
          <p:spPr bwMode="auto">
            <a:xfrm>
              <a:off x="5390968" y="3401498"/>
              <a:ext cx="7889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tx1"/>
                  </a:solidFill>
                  <a:latin typeface="+mn-lt"/>
                  <a:ea typeface="MS PGothic" pitchFamily="34" charset="-128"/>
                </a:rPr>
                <a:t>Brake</a:t>
              </a:r>
            </a:p>
          </p:txBody>
        </p:sp>
        <p:sp>
          <p:nvSpPr>
            <p:cNvPr id="25" name="Text Box 23">
              <a:extLst>
                <a:ext uri="{FF2B5EF4-FFF2-40B4-BE49-F238E27FC236}">
                  <a16:creationId xmlns:a16="http://schemas.microsoft.com/office/drawing/2014/main" id="{B8406A0E-24CC-1A5A-8023-67339575342E}"/>
                </a:ext>
              </a:extLst>
            </p:cNvPr>
            <p:cNvSpPr txBox="1">
              <a:spLocks noChangeArrowheads="1"/>
            </p:cNvSpPr>
            <p:nvPr/>
          </p:nvSpPr>
          <p:spPr bwMode="auto">
            <a:xfrm>
              <a:off x="7544052" y="4249223"/>
              <a:ext cx="7040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1"/>
                  </a:solidFill>
                  <a:latin typeface="+mn-lt"/>
                  <a:ea typeface="MS PGothic" pitchFamily="34" charset="-128"/>
                </a:rPr>
                <a:t>Slide</a:t>
              </a:r>
            </a:p>
          </p:txBody>
        </p:sp>
        <p:sp>
          <p:nvSpPr>
            <p:cNvPr id="26" name="Text Box 24">
              <a:extLst>
                <a:ext uri="{FF2B5EF4-FFF2-40B4-BE49-F238E27FC236}">
                  <a16:creationId xmlns:a16="http://schemas.microsoft.com/office/drawing/2014/main" id="{0D6628A7-C9F4-C05E-57A6-58D4C104C15A}"/>
                </a:ext>
              </a:extLst>
            </p:cNvPr>
            <p:cNvSpPr txBox="1">
              <a:spLocks noChangeArrowheads="1"/>
            </p:cNvSpPr>
            <p:nvPr/>
          </p:nvSpPr>
          <p:spPr bwMode="auto">
            <a:xfrm>
              <a:off x="7543655" y="1906073"/>
              <a:ext cx="10919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6"/>
                  </a:solidFill>
                  <a:latin typeface="+mn-lt"/>
                  <a:ea typeface="MS PGothic" pitchFamily="34" charset="-128"/>
                </a:rPr>
                <a:t>Oscillate</a:t>
              </a:r>
            </a:p>
          </p:txBody>
        </p:sp>
        <p:sp>
          <p:nvSpPr>
            <p:cNvPr id="27" name="Text Box 25">
              <a:extLst>
                <a:ext uri="{FF2B5EF4-FFF2-40B4-BE49-F238E27FC236}">
                  <a16:creationId xmlns:a16="http://schemas.microsoft.com/office/drawing/2014/main" id="{BD3428CE-5F17-6D8C-359F-A008A28AEC6C}"/>
                </a:ext>
              </a:extLst>
            </p:cNvPr>
            <p:cNvSpPr txBox="1">
              <a:spLocks noChangeArrowheads="1"/>
            </p:cNvSpPr>
            <p:nvPr/>
          </p:nvSpPr>
          <p:spPr bwMode="auto">
            <a:xfrm>
              <a:off x="7543680" y="2639498"/>
              <a:ext cx="780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5"/>
                  </a:solidFill>
                  <a:latin typeface="+mn-lt"/>
                  <a:ea typeface="MS PGothic" pitchFamily="34" charset="-128"/>
                </a:rPr>
                <a:t>Press</a:t>
              </a:r>
            </a:p>
          </p:txBody>
        </p:sp>
        <p:sp>
          <p:nvSpPr>
            <p:cNvPr id="28" name="Text Box 26">
              <a:extLst>
                <a:ext uri="{FF2B5EF4-FFF2-40B4-BE49-F238E27FC236}">
                  <a16:creationId xmlns:a16="http://schemas.microsoft.com/office/drawing/2014/main" id="{6B81C77C-FE5F-2FA7-E82E-9395C1214CA7}"/>
                </a:ext>
              </a:extLst>
            </p:cNvPr>
            <p:cNvSpPr txBox="1">
              <a:spLocks noChangeArrowheads="1"/>
            </p:cNvSpPr>
            <p:nvPr/>
          </p:nvSpPr>
          <p:spPr bwMode="auto">
            <a:xfrm>
              <a:off x="497201" y="2658548"/>
              <a:ext cx="683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accent1"/>
                  </a:solidFill>
                  <a:latin typeface="+mn-lt"/>
                  <a:ea typeface="MS PGothic" pitchFamily="34" charset="-128"/>
                </a:rPr>
                <a:t>Lock</a:t>
              </a:r>
            </a:p>
          </p:txBody>
        </p:sp>
        <p:sp>
          <p:nvSpPr>
            <p:cNvPr id="29" name="Text Box 27">
              <a:extLst>
                <a:ext uri="{FF2B5EF4-FFF2-40B4-BE49-F238E27FC236}">
                  <a16:creationId xmlns:a16="http://schemas.microsoft.com/office/drawing/2014/main" id="{2CB97B56-BA67-883F-1B4A-B65C6E13CA38}"/>
                </a:ext>
              </a:extLst>
            </p:cNvPr>
            <p:cNvSpPr txBox="1">
              <a:spLocks noChangeArrowheads="1"/>
            </p:cNvSpPr>
            <p:nvPr/>
          </p:nvSpPr>
          <p:spPr bwMode="auto">
            <a:xfrm>
              <a:off x="7543865" y="3249098"/>
              <a:ext cx="7216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1800" dirty="0">
                  <a:solidFill>
                    <a:schemeClr val="tx1"/>
                  </a:solidFill>
                  <a:latin typeface="+mn-lt"/>
                  <a:ea typeface="MS PGothic" pitchFamily="34" charset="-128"/>
                </a:rPr>
                <a:t>Bond</a:t>
              </a:r>
            </a:p>
          </p:txBody>
        </p:sp>
        <p:pic>
          <p:nvPicPr>
            <p:cNvPr id="30" name="Picture 29">
              <a:extLst>
                <a:ext uri="{FF2B5EF4-FFF2-40B4-BE49-F238E27FC236}">
                  <a16:creationId xmlns:a16="http://schemas.microsoft.com/office/drawing/2014/main" id="{EC9CCD0D-EE44-4F53-CA82-A37AE4B207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0" y="1879600"/>
              <a:ext cx="1460500" cy="3098800"/>
            </a:xfrm>
            <a:prstGeom prst="rect">
              <a:avLst/>
            </a:prstGeom>
          </p:spPr>
        </p:pic>
      </p:grpSp>
    </p:spTree>
    <p:extLst>
      <p:ext uri="{BB962C8B-B14F-4D97-AF65-F5344CB8AC3E}">
        <p14:creationId xmlns:p14="http://schemas.microsoft.com/office/powerpoint/2010/main" val="3048603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Determine Function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key functions.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example provided on the following page, determine the key functions for the product.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customer needs.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does it add value to the customer?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key functions, value added, and customer needs.</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299084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Define Function Exercise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a:bodyPr>
          <a:lstStyle/>
          <a:p>
            <a:r>
              <a:rPr lang="en-US" dirty="0"/>
              <a:t>How would you describe the product: Styrofoam cup</a:t>
            </a:r>
          </a:p>
          <a:p>
            <a:r>
              <a:rPr lang="en-US" dirty="0"/>
              <a:t>What does it do? List the customer needs. Name the features or characteristics.  How does it add value to the customer?  </a:t>
            </a:r>
          </a:p>
          <a:p>
            <a:r>
              <a:rPr lang="en-US" dirty="0"/>
              <a:t>Verb-Noun Functions</a:t>
            </a:r>
          </a:p>
        </p:txBody>
      </p:sp>
      <p:pic>
        <p:nvPicPr>
          <p:cNvPr id="16" name="Content Placeholder 15">
            <a:extLst>
              <a:ext uri="{FF2B5EF4-FFF2-40B4-BE49-F238E27FC236}">
                <a16:creationId xmlns:a16="http://schemas.microsoft.com/office/drawing/2014/main" id="{41D016D8-D123-EEA7-3D6D-6FA881B1F1B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600200" y="1962944"/>
            <a:ext cx="3657600" cy="4076700"/>
          </a:xfrm>
          <a:prstGeom prst="rect">
            <a:avLst/>
          </a:prstGeom>
        </p:spPr>
      </p:pic>
    </p:spTree>
    <p:extLst>
      <p:ext uri="{BB962C8B-B14F-4D97-AF65-F5344CB8AC3E}">
        <p14:creationId xmlns:p14="http://schemas.microsoft.com/office/powerpoint/2010/main" val="3542958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Determine Product Functions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key product functions.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a function structure.</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the key functions.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Describe the key functions of the product.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Evaluate key functions for cost and technical performance.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key functions, value added, and customer needs.</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1360908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Cost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dirty="0"/>
              <a:t>Using the output of the Function Analysis:</a:t>
            </a:r>
          </a:p>
          <a:p>
            <a:r>
              <a:rPr lang="en-US" dirty="0"/>
              <a:t>Determine the cost of each function</a:t>
            </a:r>
          </a:p>
          <a:p>
            <a:pPr lvl="1"/>
            <a:r>
              <a:rPr lang="en-US" dirty="0"/>
              <a:t>Refer to your BOM, Direct Costs, Indirect Costs from the Information Phase</a:t>
            </a:r>
          </a:p>
          <a:p>
            <a:pPr lvl="1"/>
            <a:r>
              <a:rPr lang="en-US" dirty="0"/>
              <a:t>Populate a Cost Cube (optional)</a:t>
            </a:r>
          </a:p>
          <a:p>
            <a:pPr lvl="2"/>
            <a:r>
              <a:rPr lang="en-US" dirty="0"/>
              <a:t>A useful tool for making sure all important costs are considered, especially non-monetary costs</a:t>
            </a:r>
          </a:p>
          <a:p>
            <a:r>
              <a:rPr lang="en-US" dirty="0"/>
              <a:t>For each Function, list all alternative means to achieve the Function</a:t>
            </a:r>
          </a:p>
          <a:p>
            <a:pPr lvl="1"/>
            <a:r>
              <a:rPr lang="en-US" dirty="0"/>
              <a:t>Estimate the costs of each alternative mean</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grpSp>
        <p:nvGrpSpPr>
          <p:cNvPr id="4" name="Group 3">
            <a:extLst>
              <a:ext uri="{FF2B5EF4-FFF2-40B4-BE49-F238E27FC236}">
                <a16:creationId xmlns:a16="http://schemas.microsoft.com/office/drawing/2014/main" id="{7B625DAF-3AE7-55F1-05F9-6AC54DDE4BA8}"/>
              </a:ext>
            </a:extLst>
          </p:cNvPr>
          <p:cNvGrpSpPr/>
          <p:nvPr/>
        </p:nvGrpSpPr>
        <p:grpSpPr>
          <a:xfrm>
            <a:off x="838200" y="297639"/>
            <a:ext cx="4451430" cy="307138"/>
            <a:chOff x="838200" y="297639"/>
            <a:chExt cx="4451430" cy="307138"/>
          </a:xfrm>
        </p:grpSpPr>
        <p:grpSp>
          <p:nvGrpSpPr>
            <p:cNvPr id="6" name="Group 5">
              <a:extLst>
                <a:ext uri="{FF2B5EF4-FFF2-40B4-BE49-F238E27FC236}">
                  <a16:creationId xmlns:a16="http://schemas.microsoft.com/office/drawing/2014/main" id="{662741FB-F91B-235F-AB04-7E170BEF8BA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D1E8CF58-DB8F-A6B2-F3E5-4090C3398D6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B5EC981-D78C-B283-659C-E1EA83FFE0D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AFFD8669-A4D9-8820-99B7-C6C40842EB5B}"/>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E63FB557-EE5E-7D1F-B2CE-F109C049031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6451D605-3322-7FCD-4D9C-58890361122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07B7732B-8F1C-0730-B685-1214C067C29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AA57B06-1CBA-5071-64E2-5253C9D43A9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2036537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Cost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dirty="0"/>
              <a:t>Using the output of the Function Analysis:</a:t>
            </a:r>
          </a:p>
          <a:p>
            <a:r>
              <a:rPr lang="en-US" dirty="0"/>
              <a:t>Are the Costs?</a:t>
            </a:r>
          </a:p>
          <a:p>
            <a:pPr lvl="1"/>
            <a:r>
              <a:rPr lang="en-US" dirty="0"/>
              <a:t>Excessive</a:t>
            </a:r>
          </a:p>
          <a:p>
            <a:pPr lvl="1"/>
            <a:r>
              <a:rPr lang="en-US" dirty="0"/>
              <a:t>Quite High</a:t>
            </a:r>
          </a:p>
          <a:p>
            <a:pPr lvl="1"/>
            <a:r>
              <a:rPr lang="en-US" dirty="0"/>
              <a:t>Acceptable</a:t>
            </a:r>
          </a:p>
          <a:p>
            <a:pPr lvl="1"/>
            <a:r>
              <a:rPr lang="en-US" dirty="0"/>
              <a:t>Cheap</a:t>
            </a:r>
          </a:p>
          <a:p>
            <a:r>
              <a:rPr lang="en-US" dirty="0"/>
              <a:t>How costly is it to deliver each current functional outcome compared to the alternatives?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4" name="Group 3">
            <a:extLst>
              <a:ext uri="{FF2B5EF4-FFF2-40B4-BE49-F238E27FC236}">
                <a16:creationId xmlns:a16="http://schemas.microsoft.com/office/drawing/2014/main" id="{7B625DAF-3AE7-55F1-05F9-6AC54DDE4BA8}"/>
              </a:ext>
            </a:extLst>
          </p:cNvPr>
          <p:cNvGrpSpPr/>
          <p:nvPr/>
        </p:nvGrpSpPr>
        <p:grpSpPr>
          <a:xfrm>
            <a:off x="838200" y="297639"/>
            <a:ext cx="4451430" cy="307138"/>
            <a:chOff x="838200" y="297639"/>
            <a:chExt cx="4451430" cy="307138"/>
          </a:xfrm>
        </p:grpSpPr>
        <p:grpSp>
          <p:nvGrpSpPr>
            <p:cNvPr id="6" name="Group 5">
              <a:extLst>
                <a:ext uri="{FF2B5EF4-FFF2-40B4-BE49-F238E27FC236}">
                  <a16:creationId xmlns:a16="http://schemas.microsoft.com/office/drawing/2014/main" id="{662741FB-F91B-235F-AB04-7E170BEF8BA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D1E8CF58-DB8F-A6B2-F3E5-4090C3398D6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B5EC981-D78C-B283-659C-E1EA83FFE0D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AFFD8669-A4D9-8820-99B7-C6C40842EB5B}"/>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E63FB557-EE5E-7D1F-B2CE-F109C049031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6451D605-3322-7FCD-4D9C-58890361122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07B7732B-8F1C-0730-B685-1214C067C29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AA57B06-1CBA-5071-64E2-5253C9D43A9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3938211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Cost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marL="0" indent="0">
              <a:buNone/>
            </a:pPr>
            <a:r>
              <a:rPr lang="en-US" dirty="0"/>
              <a:t>Using the output of the Function Analysis:</a:t>
            </a:r>
          </a:p>
          <a:p>
            <a:r>
              <a:rPr lang="en-US" dirty="0"/>
              <a:t>Select the Functional options which Deliver the best Value</a:t>
            </a:r>
          </a:p>
          <a:p>
            <a:r>
              <a:rPr lang="en-US" dirty="0"/>
              <a:t>Focus on maximizing </a:t>
            </a:r>
            <a:r>
              <a:rPr lang="en-US" u="sng" dirty="0"/>
              <a:t>Value</a:t>
            </a:r>
            <a:r>
              <a:rPr lang="en-US" dirty="0"/>
              <a:t>!</a:t>
            </a:r>
          </a:p>
          <a:p>
            <a:r>
              <a:rPr lang="en-US" dirty="0"/>
              <a:t>Remember, there are several types of Cost, not just Monetary Cost</a:t>
            </a:r>
          </a:p>
          <a:p>
            <a:pPr lvl="1"/>
            <a:r>
              <a:rPr lang="en-US" dirty="0"/>
              <a:t>Types of cost</a:t>
            </a:r>
          </a:p>
          <a:p>
            <a:pPr lvl="2"/>
            <a:r>
              <a:rPr lang="en-US" dirty="0"/>
              <a:t>Monetary</a:t>
            </a:r>
          </a:p>
          <a:p>
            <a:pPr lvl="2"/>
            <a:r>
              <a:rPr lang="en-US" dirty="0"/>
              <a:t>Time</a:t>
            </a:r>
          </a:p>
          <a:p>
            <a:pPr lvl="2"/>
            <a:r>
              <a:rPr lang="en-US" dirty="0"/>
              <a:t>Effort</a:t>
            </a:r>
          </a:p>
          <a:p>
            <a:pPr lvl="2"/>
            <a:r>
              <a:rPr lang="en-US" dirty="0"/>
              <a:t>Space</a:t>
            </a:r>
          </a:p>
          <a:p>
            <a:pPr lvl="2"/>
            <a:r>
              <a:rPr lang="en-US" dirty="0"/>
              <a:t>Opportunity</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4" name="Group 3">
            <a:extLst>
              <a:ext uri="{FF2B5EF4-FFF2-40B4-BE49-F238E27FC236}">
                <a16:creationId xmlns:a16="http://schemas.microsoft.com/office/drawing/2014/main" id="{7B625DAF-3AE7-55F1-05F9-6AC54DDE4BA8}"/>
              </a:ext>
            </a:extLst>
          </p:cNvPr>
          <p:cNvGrpSpPr/>
          <p:nvPr/>
        </p:nvGrpSpPr>
        <p:grpSpPr>
          <a:xfrm>
            <a:off x="838200" y="297639"/>
            <a:ext cx="4451430" cy="307138"/>
            <a:chOff x="838200" y="297639"/>
            <a:chExt cx="4451430" cy="307138"/>
          </a:xfrm>
        </p:grpSpPr>
        <p:grpSp>
          <p:nvGrpSpPr>
            <p:cNvPr id="6" name="Group 5">
              <a:extLst>
                <a:ext uri="{FF2B5EF4-FFF2-40B4-BE49-F238E27FC236}">
                  <a16:creationId xmlns:a16="http://schemas.microsoft.com/office/drawing/2014/main" id="{662741FB-F91B-235F-AB04-7E170BEF8BA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D1E8CF58-DB8F-A6B2-F3E5-4090C3398D6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B5EC981-D78C-B283-659C-E1EA83FFE0D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AFFD8669-A4D9-8820-99B7-C6C40842EB5B}"/>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E63FB557-EE5E-7D1F-B2CE-F109C049031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6451D605-3322-7FCD-4D9C-58890361122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07B7732B-8F1C-0730-B685-1214C067C29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AA57B06-1CBA-5071-64E2-5253C9D43A9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14" name="Group 13">
            <a:extLst>
              <a:ext uri="{FF2B5EF4-FFF2-40B4-BE49-F238E27FC236}">
                <a16:creationId xmlns:a16="http://schemas.microsoft.com/office/drawing/2014/main" id="{71BE7ADA-F232-EBC0-6A46-FA4E2EBFCAC7}"/>
              </a:ext>
            </a:extLst>
          </p:cNvPr>
          <p:cNvGrpSpPr/>
          <p:nvPr/>
        </p:nvGrpSpPr>
        <p:grpSpPr>
          <a:xfrm>
            <a:off x="6704171" y="2583992"/>
            <a:ext cx="2386229" cy="719554"/>
            <a:chOff x="35461" y="2133600"/>
            <a:chExt cx="3622139" cy="719554"/>
          </a:xfrm>
        </p:grpSpPr>
        <p:grpSp>
          <p:nvGrpSpPr>
            <p:cNvPr id="15" name="Group 14">
              <a:extLst>
                <a:ext uri="{FF2B5EF4-FFF2-40B4-BE49-F238E27FC236}">
                  <a16:creationId xmlns:a16="http://schemas.microsoft.com/office/drawing/2014/main" id="{FEDBBE7E-AD65-7DDF-BD67-F09EBF02D0E3}"/>
                </a:ext>
              </a:extLst>
            </p:cNvPr>
            <p:cNvGrpSpPr/>
            <p:nvPr/>
          </p:nvGrpSpPr>
          <p:grpSpPr>
            <a:xfrm>
              <a:off x="35461" y="2133600"/>
              <a:ext cx="3361602" cy="674132"/>
              <a:chOff x="111661" y="2133600"/>
              <a:chExt cx="3361602" cy="674132"/>
            </a:xfrm>
          </p:grpSpPr>
          <p:sp>
            <p:nvSpPr>
              <p:cNvPr id="19" name="TextBox 18">
                <a:extLst>
                  <a:ext uri="{FF2B5EF4-FFF2-40B4-BE49-F238E27FC236}">
                    <a16:creationId xmlns:a16="http://schemas.microsoft.com/office/drawing/2014/main" id="{FAA3EF47-6B29-3D6D-5634-22BC07142B01}"/>
                  </a:ext>
                </a:extLst>
              </p:cNvPr>
              <p:cNvSpPr txBox="1"/>
              <p:nvPr/>
            </p:nvSpPr>
            <p:spPr>
              <a:xfrm>
                <a:off x="111661" y="2286000"/>
                <a:ext cx="1793341" cy="369332"/>
              </a:xfrm>
              <a:prstGeom prst="rect">
                <a:avLst/>
              </a:prstGeom>
              <a:noFill/>
            </p:spPr>
            <p:txBody>
              <a:bodyPr wrap="square" rtlCol="0">
                <a:spAutoFit/>
              </a:bodyPr>
              <a:lstStyle/>
              <a:p>
                <a:r>
                  <a:rPr lang="en-US" sz="1800" b="1" dirty="0">
                    <a:solidFill>
                      <a:srgbClr val="000000"/>
                    </a:solidFill>
                  </a:rPr>
                  <a:t>Value =</a:t>
                </a:r>
              </a:p>
            </p:txBody>
          </p:sp>
          <p:sp>
            <p:nvSpPr>
              <p:cNvPr id="20" name="TextBox 19">
                <a:extLst>
                  <a:ext uri="{FF2B5EF4-FFF2-40B4-BE49-F238E27FC236}">
                    <a16:creationId xmlns:a16="http://schemas.microsoft.com/office/drawing/2014/main" id="{9653E4AD-B7D4-08A9-386F-68EDE62E58A1}"/>
                  </a:ext>
                </a:extLst>
              </p:cNvPr>
              <p:cNvSpPr txBox="1"/>
              <p:nvPr/>
            </p:nvSpPr>
            <p:spPr>
              <a:xfrm>
                <a:off x="1873067" y="2438400"/>
                <a:ext cx="1295399" cy="369332"/>
              </a:xfrm>
              <a:prstGeom prst="rect">
                <a:avLst/>
              </a:prstGeom>
              <a:noFill/>
            </p:spPr>
            <p:txBody>
              <a:bodyPr wrap="square" rtlCol="0">
                <a:spAutoFit/>
              </a:bodyPr>
              <a:lstStyle/>
              <a:p>
                <a:r>
                  <a:rPr lang="en-US" sz="1800" b="1" dirty="0">
                    <a:solidFill>
                      <a:srgbClr val="000000"/>
                    </a:solidFill>
                  </a:rPr>
                  <a:t>Cost</a:t>
                </a:r>
              </a:p>
            </p:txBody>
          </p:sp>
          <p:sp>
            <p:nvSpPr>
              <p:cNvPr id="21" name="TextBox 20">
                <a:extLst>
                  <a:ext uri="{FF2B5EF4-FFF2-40B4-BE49-F238E27FC236}">
                    <a16:creationId xmlns:a16="http://schemas.microsoft.com/office/drawing/2014/main" id="{29D072C8-0B7B-A8E1-A0A1-7F6D67711B2F}"/>
                  </a:ext>
                </a:extLst>
              </p:cNvPr>
              <p:cNvSpPr txBox="1"/>
              <p:nvPr/>
            </p:nvSpPr>
            <p:spPr>
              <a:xfrm>
                <a:off x="1568266" y="2133600"/>
                <a:ext cx="1904997" cy="369332"/>
              </a:xfrm>
              <a:prstGeom prst="rect">
                <a:avLst/>
              </a:prstGeom>
              <a:noFill/>
            </p:spPr>
            <p:txBody>
              <a:bodyPr wrap="square" rtlCol="0">
                <a:spAutoFit/>
              </a:bodyPr>
              <a:lstStyle/>
              <a:p>
                <a:r>
                  <a:rPr lang="en-US" sz="1800" b="1" u="sng" dirty="0">
                    <a:solidFill>
                      <a:srgbClr val="000000"/>
                    </a:solidFill>
                  </a:rPr>
                  <a:t>Function</a:t>
                </a:r>
              </a:p>
            </p:txBody>
          </p:sp>
        </p:grpSp>
        <p:sp>
          <p:nvSpPr>
            <p:cNvPr id="16" name="Rectangle 15">
              <a:extLst>
                <a:ext uri="{FF2B5EF4-FFF2-40B4-BE49-F238E27FC236}">
                  <a16:creationId xmlns:a16="http://schemas.microsoft.com/office/drawing/2014/main" id="{A89BD63B-3194-93B7-F65F-D60BDD4D2806}"/>
                </a:ext>
              </a:extLst>
            </p:cNvPr>
            <p:cNvSpPr/>
            <p:nvPr/>
          </p:nvSpPr>
          <p:spPr>
            <a:xfrm>
              <a:off x="3048001" y="2133600"/>
              <a:ext cx="609599" cy="338554"/>
            </a:xfrm>
            <a:prstGeom prst="rect">
              <a:avLst/>
            </a:prstGeom>
          </p:spPr>
          <p:txBody>
            <a:bodyPr wrap="square">
              <a:spAutoFit/>
            </a:bodyPr>
            <a:lstStyle/>
            <a:p>
              <a:endParaRPr lang="en-US" sz="1600" b="1" dirty="0">
                <a:solidFill>
                  <a:srgbClr val="000000"/>
                </a:solidFill>
              </a:endParaRPr>
            </a:p>
          </p:txBody>
        </p:sp>
        <p:sp>
          <p:nvSpPr>
            <p:cNvPr id="17" name="Rectangle 16">
              <a:extLst>
                <a:ext uri="{FF2B5EF4-FFF2-40B4-BE49-F238E27FC236}">
                  <a16:creationId xmlns:a16="http://schemas.microsoft.com/office/drawing/2014/main" id="{E21F2F14-057C-B4F8-FB59-37C5004C1307}"/>
                </a:ext>
              </a:extLst>
            </p:cNvPr>
            <p:cNvSpPr/>
            <p:nvPr/>
          </p:nvSpPr>
          <p:spPr>
            <a:xfrm>
              <a:off x="3124199" y="2514600"/>
              <a:ext cx="481625" cy="338554"/>
            </a:xfrm>
            <a:prstGeom prst="rect">
              <a:avLst/>
            </a:prstGeom>
          </p:spPr>
          <p:txBody>
            <a:bodyPr wrap="square">
              <a:spAutoFit/>
            </a:bodyPr>
            <a:lstStyle/>
            <a:p>
              <a:endParaRPr lang="en-US" sz="1600" b="1" dirty="0">
                <a:solidFill>
                  <a:srgbClr val="000000"/>
                </a:solidFill>
              </a:endParaRPr>
            </a:p>
          </p:txBody>
        </p:sp>
        <p:sp>
          <p:nvSpPr>
            <p:cNvPr id="18" name="Rectangle 17">
              <a:extLst>
                <a:ext uri="{FF2B5EF4-FFF2-40B4-BE49-F238E27FC236}">
                  <a16:creationId xmlns:a16="http://schemas.microsoft.com/office/drawing/2014/main" id="{62C387D0-1483-6693-3431-AD1B084948E3}"/>
                </a:ext>
              </a:extLst>
            </p:cNvPr>
            <p:cNvSpPr/>
            <p:nvPr/>
          </p:nvSpPr>
          <p:spPr>
            <a:xfrm>
              <a:off x="152400" y="2286000"/>
              <a:ext cx="609599" cy="338554"/>
            </a:xfrm>
            <a:prstGeom prst="rect">
              <a:avLst/>
            </a:prstGeom>
          </p:spPr>
          <p:txBody>
            <a:bodyPr wrap="square">
              <a:spAutoFit/>
            </a:bodyPr>
            <a:lstStyle/>
            <a:p>
              <a:endParaRPr lang="en-US" sz="1600" b="1" dirty="0">
                <a:solidFill>
                  <a:srgbClr val="000000"/>
                </a:solidFill>
              </a:endParaRPr>
            </a:p>
          </p:txBody>
        </p:sp>
      </p:grpSp>
    </p:spTree>
    <p:extLst>
      <p:ext uri="{BB962C8B-B14F-4D97-AF65-F5344CB8AC3E}">
        <p14:creationId xmlns:p14="http://schemas.microsoft.com/office/powerpoint/2010/main" val="3144123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5A74DC6C-B53E-8AED-586E-D3EAABC4FDC1}"/>
              </a:ext>
            </a:extLst>
          </p:cNvPr>
          <p:cNvGraphicFramePr>
            <a:graphicFrameLocks noGrp="1"/>
          </p:cNvGraphicFramePr>
          <p:nvPr>
            <p:extLst>
              <p:ext uri="{D42A27DB-BD31-4B8C-83A1-F6EECF244321}">
                <p14:modId xmlns:p14="http://schemas.microsoft.com/office/powerpoint/2010/main" val="3312071547"/>
              </p:ext>
            </p:extLst>
          </p:nvPr>
        </p:nvGraphicFramePr>
        <p:xfrm>
          <a:off x="2233448" y="1905911"/>
          <a:ext cx="7725103" cy="3733764"/>
        </p:xfrm>
        <a:graphic>
          <a:graphicData uri="http://schemas.openxmlformats.org/drawingml/2006/table">
            <a:tbl>
              <a:tblPr firstRow="1" bandRow="1">
                <a:tableStyleId>{5940675A-B579-460E-94D1-54222C63F5DA}</a:tableStyleId>
              </a:tblPr>
              <a:tblGrid>
                <a:gridCol w="420415">
                  <a:extLst>
                    <a:ext uri="{9D8B030D-6E8A-4147-A177-3AD203B41FA5}">
                      <a16:colId xmlns:a16="http://schemas.microsoft.com/office/drawing/2014/main" val="20000"/>
                    </a:ext>
                  </a:extLst>
                </a:gridCol>
                <a:gridCol w="2154620">
                  <a:extLst>
                    <a:ext uri="{9D8B030D-6E8A-4147-A177-3AD203B41FA5}">
                      <a16:colId xmlns:a16="http://schemas.microsoft.com/office/drawing/2014/main" val="20001"/>
                    </a:ext>
                  </a:extLst>
                </a:gridCol>
                <a:gridCol w="1287517">
                  <a:extLst>
                    <a:ext uri="{9D8B030D-6E8A-4147-A177-3AD203B41FA5}">
                      <a16:colId xmlns:a16="http://schemas.microsoft.com/office/drawing/2014/main" val="20002"/>
                    </a:ext>
                  </a:extLst>
                </a:gridCol>
                <a:gridCol w="1287517">
                  <a:extLst>
                    <a:ext uri="{9D8B030D-6E8A-4147-A177-3AD203B41FA5}">
                      <a16:colId xmlns:a16="http://schemas.microsoft.com/office/drawing/2014/main" val="20003"/>
                    </a:ext>
                  </a:extLst>
                </a:gridCol>
                <a:gridCol w="1287517">
                  <a:extLst>
                    <a:ext uri="{9D8B030D-6E8A-4147-A177-3AD203B41FA5}">
                      <a16:colId xmlns:a16="http://schemas.microsoft.com/office/drawing/2014/main" val="20004"/>
                    </a:ext>
                  </a:extLst>
                </a:gridCol>
                <a:gridCol w="1287517">
                  <a:extLst>
                    <a:ext uri="{9D8B030D-6E8A-4147-A177-3AD203B41FA5}">
                      <a16:colId xmlns:a16="http://schemas.microsoft.com/office/drawing/2014/main" val="20005"/>
                    </a:ext>
                  </a:extLst>
                </a:gridCol>
              </a:tblGrid>
              <a:tr h="676274">
                <a:tc>
                  <a:txBody>
                    <a:bodyPr/>
                    <a:lstStyle/>
                    <a:p>
                      <a:r>
                        <a:rPr lang="en-GB" sz="1600" dirty="0"/>
                        <a:t>#</a:t>
                      </a:r>
                    </a:p>
                  </a:txBody>
                  <a:tcPr anchor="ctr"/>
                </a:tc>
                <a:tc>
                  <a:txBody>
                    <a:bodyPr/>
                    <a:lstStyle/>
                    <a:p>
                      <a:r>
                        <a:rPr lang="en-GB" sz="1600" dirty="0"/>
                        <a:t>                     Solution</a:t>
                      </a:r>
                      <a:r>
                        <a:rPr lang="en-GB" sz="1600" baseline="0" dirty="0"/>
                        <a:t> </a:t>
                      </a:r>
                    </a:p>
                    <a:p>
                      <a:r>
                        <a:rPr lang="en-GB" sz="1600" baseline="0" dirty="0"/>
                        <a:t>Function</a:t>
                      </a:r>
                      <a:endParaRPr lang="en-GB" sz="1600" dirty="0"/>
                    </a:p>
                  </a:txBody>
                  <a:tcPr anchor="ctr"/>
                </a:tc>
                <a:tc>
                  <a:txBody>
                    <a:bodyPr/>
                    <a:lstStyle/>
                    <a:p>
                      <a:pPr algn="ctr"/>
                      <a:r>
                        <a:rPr lang="en-GB" sz="1600" dirty="0"/>
                        <a:t>1</a:t>
                      </a:r>
                    </a:p>
                  </a:txBody>
                  <a:tcPr anchor="ctr"/>
                </a:tc>
                <a:tc>
                  <a:txBody>
                    <a:bodyPr/>
                    <a:lstStyle/>
                    <a:p>
                      <a:pPr algn="ctr"/>
                      <a:r>
                        <a:rPr lang="en-GB" sz="1600" dirty="0"/>
                        <a:t>2</a:t>
                      </a:r>
                    </a:p>
                  </a:txBody>
                  <a:tcPr anchor="ctr"/>
                </a:tc>
                <a:tc>
                  <a:txBody>
                    <a:bodyPr/>
                    <a:lstStyle/>
                    <a:p>
                      <a:pPr algn="ctr"/>
                      <a:r>
                        <a:rPr lang="en-GB" sz="1600" dirty="0"/>
                        <a:t>3</a:t>
                      </a:r>
                    </a:p>
                  </a:txBody>
                  <a:tcPr anchor="ctr"/>
                </a:tc>
                <a:tc>
                  <a:txBody>
                    <a:bodyPr/>
                    <a:lstStyle/>
                    <a:p>
                      <a:pPr algn="ctr"/>
                      <a:r>
                        <a:rPr lang="en-GB" sz="1600" dirty="0"/>
                        <a:t>n</a:t>
                      </a:r>
                    </a:p>
                  </a:txBody>
                  <a:tcPr anchor="ctr"/>
                </a:tc>
                <a:extLst>
                  <a:ext uri="{0D108BD9-81ED-4DB2-BD59-A6C34878D82A}">
                    <a16:rowId xmlns:a16="http://schemas.microsoft.com/office/drawing/2014/main" val="10000"/>
                  </a:ext>
                </a:extLst>
              </a:tr>
              <a:tr h="611498">
                <a:tc>
                  <a:txBody>
                    <a:bodyPr/>
                    <a:lstStyle/>
                    <a:p>
                      <a:r>
                        <a:rPr lang="en-GB" sz="1600" dirty="0"/>
                        <a:t>1</a:t>
                      </a:r>
                    </a:p>
                  </a:txBody>
                  <a:tcPr anchor="ctr"/>
                </a:tc>
                <a:tc>
                  <a:txBody>
                    <a:bodyPr/>
                    <a:lstStyle/>
                    <a:p>
                      <a:r>
                        <a:rPr lang="en-GB" sz="1600" dirty="0"/>
                        <a:t>Function 1</a:t>
                      </a:r>
                    </a:p>
                  </a:txBody>
                  <a:tcPr anchor="ctr"/>
                </a:tc>
                <a:tc>
                  <a:txBody>
                    <a:bodyPr/>
                    <a:lstStyle/>
                    <a:p>
                      <a:pPr algn="ctr"/>
                      <a:r>
                        <a:rPr lang="en-GB" sz="1600" dirty="0"/>
                        <a:t>Solution 1</a:t>
                      </a:r>
                    </a:p>
                  </a:txBody>
                  <a:tcPr anchor="ctr"/>
                </a:tc>
                <a:tc>
                  <a:txBody>
                    <a:bodyPr/>
                    <a:lstStyle/>
                    <a:p>
                      <a:pPr algn="ctr"/>
                      <a:r>
                        <a:rPr lang="en-GB" sz="1600" dirty="0"/>
                        <a:t>Solution 2</a:t>
                      </a:r>
                    </a:p>
                  </a:txBody>
                  <a:tcPr anchor="ctr"/>
                </a:tc>
                <a:tc>
                  <a:txBody>
                    <a:bodyPr/>
                    <a:lstStyle/>
                    <a:p>
                      <a:pPr algn="ctr"/>
                      <a:r>
                        <a:rPr lang="en-GB" sz="1600" dirty="0"/>
                        <a:t>Solution 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n</a:t>
                      </a:r>
                    </a:p>
                  </a:txBody>
                  <a:tcPr anchor="ctr"/>
                </a:tc>
                <a:extLst>
                  <a:ext uri="{0D108BD9-81ED-4DB2-BD59-A6C34878D82A}">
                    <a16:rowId xmlns:a16="http://schemas.microsoft.com/office/drawing/2014/main" val="10001"/>
                  </a:ext>
                </a:extLst>
              </a:tr>
              <a:tr h="611498">
                <a:tc>
                  <a:txBody>
                    <a:bodyPr/>
                    <a:lstStyle/>
                    <a:p>
                      <a:r>
                        <a:rPr lang="en-GB" sz="1600" dirty="0"/>
                        <a:t>2</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Function 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1</a:t>
                      </a:r>
                    </a:p>
                  </a:txBody>
                  <a:tcPr anchor="ctr"/>
                </a:tc>
                <a:tc>
                  <a:txBody>
                    <a:bodyPr/>
                    <a:lstStyle/>
                    <a:p>
                      <a:pPr algn="ctr"/>
                      <a:r>
                        <a:rPr lang="en-GB" sz="1600" dirty="0"/>
                        <a:t>Solution 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600" dirty="0"/>
                    </a:p>
                  </a:txBody>
                  <a:tcPr anchor="ctr"/>
                </a:tc>
                <a:tc>
                  <a:txBody>
                    <a:bodyPr/>
                    <a:lstStyle/>
                    <a:p>
                      <a:pPr algn="ctr"/>
                      <a:endParaRPr lang="en-GB" sz="1600" dirty="0"/>
                    </a:p>
                  </a:txBody>
                  <a:tcPr anchor="ctr"/>
                </a:tc>
                <a:extLst>
                  <a:ext uri="{0D108BD9-81ED-4DB2-BD59-A6C34878D82A}">
                    <a16:rowId xmlns:a16="http://schemas.microsoft.com/office/drawing/2014/main" val="10002"/>
                  </a:ext>
                </a:extLst>
              </a:tr>
              <a:tr h="611498">
                <a:tc>
                  <a:txBody>
                    <a:bodyPr/>
                    <a:lstStyle/>
                    <a:p>
                      <a:r>
                        <a:rPr lang="en-GB" sz="1600" dirty="0"/>
                        <a:t>3</a:t>
                      </a:r>
                    </a:p>
                  </a:txBody>
                  <a:tcPr anchor="ctr"/>
                </a:tc>
                <a:tc>
                  <a:txBody>
                    <a:bodyPr/>
                    <a:lstStyle/>
                    <a:p>
                      <a:r>
                        <a:rPr lang="en-GB" sz="1600" dirty="0"/>
                        <a:t>Function 3</a:t>
                      </a:r>
                    </a:p>
                  </a:txBody>
                  <a:tcPr anchor="ctr"/>
                </a:tc>
                <a:tc>
                  <a:txBody>
                    <a:bodyPr/>
                    <a:lstStyle/>
                    <a:p>
                      <a:pPr algn="ctr"/>
                      <a:r>
                        <a:rPr lang="en-GB" sz="1600" dirty="0"/>
                        <a:t>Solution 1</a:t>
                      </a:r>
                    </a:p>
                  </a:txBody>
                  <a:tcPr anchor="ctr"/>
                </a:tc>
                <a:tc>
                  <a:txBody>
                    <a:bodyPr/>
                    <a:lstStyle/>
                    <a:p>
                      <a:pPr algn="ctr"/>
                      <a:r>
                        <a:rPr lang="en-GB" sz="1600" dirty="0"/>
                        <a:t>Solution 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n</a:t>
                      </a:r>
                    </a:p>
                  </a:txBody>
                  <a:tcPr anchor="ctr"/>
                </a:tc>
                <a:extLst>
                  <a:ext uri="{0D108BD9-81ED-4DB2-BD59-A6C34878D82A}">
                    <a16:rowId xmlns:a16="http://schemas.microsoft.com/office/drawing/2014/main" val="10003"/>
                  </a:ext>
                </a:extLst>
              </a:tr>
              <a:tr h="611498">
                <a:tc>
                  <a:txBody>
                    <a:bodyPr/>
                    <a:lstStyle/>
                    <a:p>
                      <a:r>
                        <a:rPr lang="en-GB" sz="1600" dirty="0"/>
                        <a:t>4</a:t>
                      </a:r>
                    </a:p>
                  </a:txBody>
                  <a:tcPr anchor="ctr"/>
                </a:tc>
                <a:tc>
                  <a:txBody>
                    <a:bodyPr/>
                    <a:lstStyle/>
                    <a:p>
                      <a:r>
                        <a:rPr lang="en-GB" sz="1600" dirty="0"/>
                        <a:t>Function 4</a:t>
                      </a:r>
                    </a:p>
                  </a:txBody>
                  <a:tcPr anchor="ctr"/>
                </a:tc>
                <a:tc>
                  <a:txBody>
                    <a:bodyPr/>
                    <a:lstStyle/>
                    <a:p>
                      <a:pPr algn="ctr"/>
                      <a:r>
                        <a:rPr lang="en-GB" sz="1600" dirty="0"/>
                        <a:t>Solution 1</a:t>
                      </a:r>
                    </a:p>
                  </a:txBody>
                  <a:tcPr anchor="ctr"/>
                </a:tc>
                <a:tc>
                  <a:txBody>
                    <a:bodyPr/>
                    <a:lstStyle/>
                    <a:p>
                      <a:pPr algn="ctr"/>
                      <a:r>
                        <a:rPr lang="en-GB" sz="1600" dirty="0"/>
                        <a:t>Solution 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n</a:t>
                      </a:r>
                    </a:p>
                  </a:txBody>
                  <a:tcPr anchor="ctr"/>
                </a:tc>
                <a:extLst>
                  <a:ext uri="{0D108BD9-81ED-4DB2-BD59-A6C34878D82A}">
                    <a16:rowId xmlns:a16="http://schemas.microsoft.com/office/drawing/2014/main" val="10004"/>
                  </a:ext>
                </a:extLst>
              </a:tr>
              <a:tr h="611498">
                <a:tc>
                  <a:txBody>
                    <a:bodyPr/>
                    <a:lstStyle/>
                    <a:p>
                      <a:r>
                        <a:rPr lang="en-GB" sz="1600" dirty="0"/>
                        <a:t>n</a:t>
                      </a:r>
                    </a:p>
                  </a:txBody>
                  <a:tcPr anchor="ctr"/>
                </a:tc>
                <a:tc>
                  <a:txBody>
                    <a:bodyPr/>
                    <a:lstStyle/>
                    <a:p>
                      <a:r>
                        <a:rPr lang="en-GB" sz="1600" dirty="0"/>
                        <a:t>Function n</a:t>
                      </a:r>
                    </a:p>
                  </a:txBody>
                  <a:tcPr anchor="ctr"/>
                </a:tc>
                <a:tc>
                  <a:txBody>
                    <a:bodyPr/>
                    <a:lstStyle/>
                    <a:p>
                      <a:pPr algn="ctr"/>
                      <a:r>
                        <a:rPr lang="en-GB" sz="1600" dirty="0"/>
                        <a:t>Solution 1</a:t>
                      </a:r>
                    </a:p>
                  </a:txBody>
                  <a:tcPr anchor="ctr"/>
                </a:tc>
                <a:tc>
                  <a:txBody>
                    <a:bodyPr/>
                    <a:lstStyle/>
                    <a:p>
                      <a:pPr algn="ctr"/>
                      <a:r>
                        <a:rPr lang="en-GB" sz="1600" dirty="0"/>
                        <a:t>Solution 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Solution 3</a:t>
                      </a:r>
                    </a:p>
                  </a:txBody>
                  <a:tcPr anchor="ctr"/>
                </a:tc>
                <a:tc>
                  <a:txBody>
                    <a:bodyPr/>
                    <a:lstStyle/>
                    <a:p>
                      <a:pPr algn="ctr"/>
                      <a:endParaRPr lang="en-GB" sz="1600" dirty="0"/>
                    </a:p>
                  </a:txBody>
                  <a:tcPr anchor="ct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Alternative Solutions for each Function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3" name="Group 2">
            <a:extLst>
              <a:ext uri="{FF2B5EF4-FFF2-40B4-BE49-F238E27FC236}">
                <a16:creationId xmlns:a16="http://schemas.microsoft.com/office/drawing/2014/main" id="{7C2FA21E-3563-DB09-4ADD-60CD1CDF39DB}"/>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3C20B7C-6BBF-3F9F-F6EA-3FCA34C5C80E}"/>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C70E1B07-C4AB-6C00-A6E2-00F4DC455B2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DA4C01F-C9B7-1A63-59C4-B9F9495649F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D29C43B-137D-FACA-AC27-B1B8AFF4E928}"/>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3DFDCB98-7E67-07C6-A34A-3B8EFF18BC8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6075E64C-CD16-3E89-C682-03BB7348314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C7813579-3CD2-C532-F95D-613AE7542F9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AB78821-3C2E-21A0-8ADC-C3001B05E9D5}"/>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3" name="Freeform 5">
            <a:extLst>
              <a:ext uri="{FF2B5EF4-FFF2-40B4-BE49-F238E27FC236}">
                <a16:creationId xmlns:a16="http://schemas.microsoft.com/office/drawing/2014/main" id="{408DBAD1-C6E6-8C63-DCAB-B49FE5BA9FFB}"/>
              </a:ext>
            </a:extLst>
          </p:cNvPr>
          <p:cNvSpPr>
            <a:spLocks/>
          </p:cNvSpPr>
          <p:nvPr/>
        </p:nvSpPr>
        <p:spPr bwMode="auto">
          <a:xfrm>
            <a:off x="5438612" y="2842535"/>
            <a:ext cx="3900487" cy="2438400"/>
          </a:xfrm>
          <a:custGeom>
            <a:avLst/>
            <a:gdLst>
              <a:gd name="T0" fmla="*/ 1292772 w 3899338"/>
              <a:gd name="T1" fmla="*/ 0 h 2438400"/>
              <a:gd name="T2" fmla="*/ 0 w 3899338"/>
              <a:gd name="T3" fmla="*/ 662152 h 2438400"/>
              <a:gd name="T4" fmla="*/ 2554012 w 3899338"/>
              <a:gd name="T5" fmla="*/ 1219200 h 2438400"/>
              <a:gd name="T6" fmla="*/ 3899338 w 3899338"/>
              <a:gd name="T7" fmla="*/ 1828800 h 2438400"/>
              <a:gd name="T8" fmla="*/ 1292772 w 3899338"/>
              <a:gd name="T9" fmla="*/ 2438400 h 2438400"/>
              <a:gd name="T10" fmla="*/ 1292772 w 3899338"/>
              <a:gd name="T11" fmla="*/ 2438400 h 24384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99338" h="2438400">
                <a:moveTo>
                  <a:pt x="1292772" y="0"/>
                </a:moveTo>
                <a:lnTo>
                  <a:pt x="0" y="662152"/>
                </a:lnTo>
                <a:lnTo>
                  <a:pt x="2554013" y="1219200"/>
                </a:lnTo>
                <a:lnTo>
                  <a:pt x="3899338" y="1828800"/>
                </a:lnTo>
                <a:lnTo>
                  <a:pt x="1292772" y="2438400"/>
                </a:lnTo>
              </a:path>
            </a:pathLst>
          </a:custGeom>
          <a:noFill/>
          <a:ln w="76200" cap="sq" cmpd="sng" algn="ctr">
            <a:solidFill>
              <a:schemeClr val="accent5"/>
            </a:solidFill>
            <a:prstDash val="solid"/>
            <a:round/>
            <a:headEnd type="none" w="med" len="med"/>
            <a:tailEnd type="none" w="med" len="med"/>
          </a:ln>
        </p:spPr>
        <p:txBody>
          <a:bodyPr lIns="91433" tIns="45717" rIns="91433" bIns="45717" anchor="ctr"/>
          <a:lstStyle/>
          <a:p>
            <a:endParaRPr lang="en-GB" dirty="0"/>
          </a:p>
        </p:txBody>
      </p:sp>
      <p:cxnSp>
        <p:nvCxnSpPr>
          <p:cNvPr id="15" name="Straight Connector 4">
            <a:extLst>
              <a:ext uri="{FF2B5EF4-FFF2-40B4-BE49-F238E27FC236}">
                <a16:creationId xmlns:a16="http://schemas.microsoft.com/office/drawing/2014/main" id="{62B68AEA-1B71-0F22-98B0-1D4842918213}"/>
              </a:ext>
            </a:extLst>
          </p:cNvPr>
          <p:cNvCxnSpPr>
            <a:cxnSpLocks noChangeShapeType="1"/>
          </p:cNvCxnSpPr>
          <p:nvPr/>
        </p:nvCxnSpPr>
        <p:spPr bwMode="auto">
          <a:xfrm>
            <a:off x="2654137" y="1896385"/>
            <a:ext cx="2154237" cy="620712"/>
          </a:xfrm>
          <a:prstGeom prst="line">
            <a:avLst/>
          </a:prstGeom>
          <a:noFill/>
          <a:ln w="12700" cap="sq" algn="ctr">
            <a:solidFill>
              <a:schemeClr val="tx1"/>
            </a:solidFill>
            <a:round/>
            <a:headEnd/>
            <a:tailEnd/>
          </a:ln>
        </p:spPr>
      </p:cxnSp>
      <p:sp>
        <p:nvSpPr>
          <p:cNvPr id="16" name="Rectangle 15">
            <a:extLst>
              <a:ext uri="{FF2B5EF4-FFF2-40B4-BE49-F238E27FC236}">
                <a16:creationId xmlns:a16="http://schemas.microsoft.com/office/drawing/2014/main" id="{0F2FAE39-DD92-522F-BC87-E2928B440768}"/>
              </a:ext>
            </a:extLst>
          </p:cNvPr>
          <p:cNvSpPr>
            <a:spLocks noChangeArrowheads="1"/>
          </p:cNvSpPr>
          <p:nvPr/>
        </p:nvSpPr>
        <p:spPr bwMode="auto">
          <a:xfrm>
            <a:off x="2092900" y="5776293"/>
            <a:ext cx="8144501" cy="369310"/>
          </a:xfrm>
          <a:prstGeom prst="rect">
            <a:avLst/>
          </a:prstGeom>
          <a:solidFill>
            <a:schemeClr val="tx2"/>
          </a:solidFill>
          <a:ln w="9525">
            <a:noFill/>
            <a:miter lim="800000"/>
            <a:headEnd/>
            <a:tailEnd/>
          </a:ln>
          <a:effectLst>
            <a:outerShdw blurRad="50800" dist="38100" dir="2700000" algn="tl" rotWithShape="0">
              <a:prstClr val="black">
                <a:alpha val="40000"/>
              </a:prstClr>
            </a:outerShdw>
          </a:effectLst>
        </p:spPr>
        <p:txBody>
          <a:bodyPr lIns="91417" tIns="45709" rIns="91417" bIns="45709" anchor="b" anchorCtr="1">
            <a:spAutoFit/>
          </a:bodyPr>
          <a:lstStyle/>
          <a:p>
            <a:pPr defTabSz="914856"/>
            <a:r>
              <a:rPr lang="en-GB" sz="1800" b="1" dirty="0">
                <a:solidFill>
                  <a:schemeClr val="bg1"/>
                </a:solidFill>
                <a:latin typeface="+mn-lt"/>
              </a:rPr>
              <a:t>Known as a morphological matrix</a:t>
            </a:r>
          </a:p>
        </p:txBody>
      </p:sp>
    </p:spTree>
    <p:extLst>
      <p:ext uri="{BB962C8B-B14F-4D97-AF65-F5344CB8AC3E}">
        <p14:creationId xmlns:p14="http://schemas.microsoft.com/office/powerpoint/2010/main" val="35036195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Cost Cube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fontScale="92500" lnSpcReduction="10000"/>
          </a:bodyPr>
          <a:lstStyle/>
          <a:p>
            <a:r>
              <a:rPr lang="en-US" dirty="0"/>
              <a:t>A Cost Cube can be a useful tool for making sure all important costs are considered:</a:t>
            </a:r>
          </a:p>
          <a:p>
            <a:pPr marL="514350" indent="-514350">
              <a:buFont typeface="+mj-lt"/>
              <a:buAutoNum type="arabicPeriod"/>
            </a:pPr>
            <a:r>
              <a:rPr lang="en-US" dirty="0"/>
              <a:t>When: cost controllability in the short, medium and long term (horizontal or x axis)</a:t>
            </a:r>
          </a:p>
          <a:p>
            <a:pPr marL="514350" indent="-514350">
              <a:buFont typeface="+mj-lt"/>
              <a:buAutoNum type="arabicPeriod"/>
            </a:pPr>
            <a:r>
              <a:rPr lang="en-US" dirty="0"/>
              <a:t>Type: fixed, variable/ proportional etc. costs (vertical or y axis)</a:t>
            </a:r>
          </a:p>
          <a:p>
            <a:pPr marL="514350" indent="-514350">
              <a:buFont typeface="+mj-lt"/>
              <a:buAutoNum type="arabicPeriod"/>
            </a:pPr>
            <a:r>
              <a:rPr lang="en-US" dirty="0"/>
              <a:t>Who: direct and indirect costs (3rd dimension or z axis)</a:t>
            </a:r>
          </a:p>
        </p:txBody>
      </p:sp>
      <p:pic>
        <p:nvPicPr>
          <p:cNvPr id="15" name="Content Placeholder 3">
            <a:extLst>
              <a:ext uri="{FF2B5EF4-FFF2-40B4-BE49-F238E27FC236}">
                <a16:creationId xmlns:a16="http://schemas.microsoft.com/office/drawing/2014/main" id="{CAAF77F3-D22C-7E0D-4782-55F24AC04A5A}"/>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054608" y="1766948"/>
            <a:ext cx="4641056" cy="4566200"/>
          </a:xfrm>
        </p:spPr>
      </p:pic>
    </p:spTree>
    <p:extLst>
      <p:ext uri="{BB962C8B-B14F-4D97-AF65-F5344CB8AC3E}">
        <p14:creationId xmlns:p14="http://schemas.microsoft.com/office/powerpoint/2010/main" val="3424385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Cost Cube Construction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A Cost Cube considers three dimensions of cost:</a:t>
            </a:r>
          </a:p>
          <a:p>
            <a:pPr marL="914400" lvl="1" indent="-457200">
              <a:buFont typeface="+mj-lt"/>
              <a:buAutoNum type="arabicPeriod"/>
            </a:pPr>
            <a:r>
              <a:rPr lang="en-US" sz="2800" dirty="0"/>
              <a:t>Costs When</a:t>
            </a:r>
          </a:p>
          <a:p>
            <a:pPr lvl="2"/>
            <a:r>
              <a:rPr lang="en-US" sz="2400" dirty="0"/>
              <a:t>Costs may be incurred at different times.  Such as phases of a construction project, or New Product Development project</a:t>
            </a:r>
          </a:p>
          <a:p>
            <a:pPr marL="914400" lvl="1" indent="-457200">
              <a:buFont typeface="+mj-lt"/>
              <a:buAutoNum type="arabicPeriod"/>
            </a:pPr>
            <a:r>
              <a:rPr lang="en-US" sz="2800" dirty="0"/>
              <a:t>Types of Cost</a:t>
            </a:r>
          </a:p>
          <a:p>
            <a:pPr lvl="2"/>
            <a:r>
              <a:rPr lang="en-US" sz="2400" dirty="0"/>
              <a:t>Monetary, Time, Effort, Space, Opportunity</a:t>
            </a:r>
          </a:p>
          <a:p>
            <a:pPr marL="914400" lvl="1" indent="-457200">
              <a:buFont typeface="+mj-lt"/>
              <a:buAutoNum type="arabicPeriod"/>
            </a:pPr>
            <a:r>
              <a:rPr lang="en-US" sz="2800" dirty="0"/>
              <a:t>Costs to Whom</a:t>
            </a:r>
          </a:p>
          <a:p>
            <a:pPr lvl="2"/>
            <a:r>
              <a:rPr lang="en-US" sz="2400" dirty="0"/>
              <a:t>Not all ‘to whom’ parties in a cost cube will incur each type of cost, therefore there may not be a cost element in the cube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4" name="Group 3">
            <a:extLst>
              <a:ext uri="{FF2B5EF4-FFF2-40B4-BE49-F238E27FC236}">
                <a16:creationId xmlns:a16="http://schemas.microsoft.com/office/drawing/2014/main" id="{7B625DAF-3AE7-55F1-05F9-6AC54DDE4BA8}"/>
              </a:ext>
            </a:extLst>
          </p:cNvPr>
          <p:cNvGrpSpPr/>
          <p:nvPr/>
        </p:nvGrpSpPr>
        <p:grpSpPr>
          <a:xfrm>
            <a:off x="838200" y="297639"/>
            <a:ext cx="4451430" cy="307138"/>
            <a:chOff x="838200" y="297639"/>
            <a:chExt cx="4451430" cy="307138"/>
          </a:xfrm>
        </p:grpSpPr>
        <p:grpSp>
          <p:nvGrpSpPr>
            <p:cNvPr id="6" name="Group 5">
              <a:extLst>
                <a:ext uri="{FF2B5EF4-FFF2-40B4-BE49-F238E27FC236}">
                  <a16:creationId xmlns:a16="http://schemas.microsoft.com/office/drawing/2014/main" id="{662741FB-F91B-235F-AB04-7E170BEF8BA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D1E8CF58-DB8F-A6B2-F3E5-4090C3398D6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B5EC981-D78C-B283-659C-E1EA83FFE0D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AFFD8669-A4D9-8820-99B7-C6C40842EB5B}"/>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E63FB557-EE5E-7D1F-B2CE-F109C049031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6451D605-3322-7FCD-4D9C-58890361122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07B7732B-8F1C-0730-B685-1214C067C29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AA57B06-1CBA-5071-64E2-5253C9D43A9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1827867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Cost Cube Example: New Product Development Project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3" name="Group 2">
            <a:extLst>
              <a:ext uri="{FF2B5EF4-FFF2-40B4-BE49-F238E27FC236}">
                <a16:creationId xmlns:a16="http://schemas.microsoft.com/office/drawing/2014/main" id="{B327B447-2A23-5A60-FD65-D9584024FC5F}"/>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13636E74-5503-DA6E-0B23-CCFF8C987D55}"/>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157C079A-7A98-6F92-25BA-51EAEE72B5B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183F7C0-AD24-6598-9B2F-3D0F0955D84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49600F6-7BC3-28CE-1C89-8EC9718D343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E3932C0C-D064-F788-9A86-0C836E70807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4F6F070-61F9-0D1D-7EC2-428F1EAB6AB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0F9BA06B-2CBF-9276-BA93-A7F3615E5A1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3F52A2A-750B-ACF2-9CD9-D6999E884359}"/>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grpSp>
        <p:nvGrpSpPr>
          <p:cNvPr id="20" name="Group 19">
            <a:extLst>
              <a:ext uri="{FF2B5EF4-FFF2-40B4-BE49-F238E27FC236}">
                <a16:creationId xmlns:a16="http://schemas.microsoft.com/office/drawing/2014/main" id="{44F76DB4-932A-D6E9-A6E6-4EBFB98E81DE}"/>
              </a:ext>
            </a:extLst>
          </p:cNvPr>
          <p:cNvGrpSpPr/>
          <p:nvPr/>
        </p:nvGrpSpPr>
        <p:grpSpPr>
          <a:xfrm>
            <a:off x="1028700" y="1908810"/>
            <a:ext cx="10134600" cy="4036378"/>
            <a:chOff x="495300" y="1584325"/>
            <a:chExt cx="8091487" cy="4360863"/>
          </a:xfrm>
        </p:grpSpPr>
        <p:sp>
          <p:nvSpPr>
            <p:cNvPr id="13" name="Rectangle 2">
              <a:extLst>
                <a:ext uri="{FF2B5EF4-FFF2-40B4-BE49-F238E27FC236}">
                  <a16:creationId xmlns:a16="http://schemas.microsoft.com/office/drawing/2014/main" id="{A2BC3726-7A62-4A05-CDBF-FF6256D9F8E4}"/>
                </a:ext>
              </a:extLst>
            </p:cNvPr>
            <p:cNvSpPr>
              <a:spLocks noChangeArrowheads="1"/>
            </p:cNvSpPr>
            <p:nvPr/>
          </p:nvSpPr>
          <p:spPr bwMode="auto">
            <a:xfrm>
              <a:off x="495300" y="1919287"/>
              <a:ext cx="8091487" cy="4025901"/>
            </a:xfrm>
            <a:prstGeom prst="rect">
              <a:avLst/>
            </a:prstGeom>
            <a:noFill/>
            <a:ln w="19050" algn="ctr">
              <a:solidFill>
                <a:schemeClr val="tx1"/>
              </a:solidFill>
              <a:prstDash val="sysDot"/>
              <a:miter lim="800000"/>
              <a:headEnd/>
              <a:tailEnd/>
            </a:ln>
            <a:effectLst/>
          </p:spPr>
          <p:txBody>
            <a:bodyPr anchor="ctr"/>
            <a:lstStyle/>
            <a:p>
              <a:endParaRPr lang="en-US" sz="1800" dirty="0">
                <a:solidFill>
                  <a:schemeClr val="tx1"/>
                </a:solidFill>
              </a:endParaRPr>
            </a:p>
          </p:txBody>
        </p:sp>
        <p:sp>
          <p:nvSpPr>
            <p:cNvPr id="14" name="Rectangle 3">
              <a:extLst>
                <a:ext uri="{FF2B5EF4-FFF2-40B4-BE49-F238E27FC236}">
                  <a16:creationId xmlns:a16="http://schemas.microsoft.com/office/drawing/2014/main" id="{C5A5E96B-E881-1EED-1E08-672B43D0DF6B}"/>
                </a:ext>
              </a:extLst>
            </p:cNvPr>
            <p:cNvSpPr>
              <a:spLocks noChangeArrowheads="1"/>
            </p:cNvSpPr>
            <p:nvPr/>
          </p:nvSpPr>
          <p:spPr bwMode="auto">
            <a:xfrm>
              <a:off x="823119" y="1584325"/>
              <a:ext cx="1719263" cy="669925"/>
            </a:xfrm>
            <a:prstGeom prst="rect">
              <a:avLst/>
            </a:prstGeom>
            <a:solidFill>
              <a:schemeClr val="accent1"/>
            </a:solidFill>
            <a:ln w="12700"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1600" b="1" dirty="0">
                  <a:solidFill>
                    <a:schemeClr val="bg1"/>
                  </a:solidFill>
                </a:rPr>
                <a:t>Cost When</a:t>
              </a:r>
            </a:p>
          </p:txBody>
        </p:sp>
        <p:sp>
          <p:nvSpPr>
            <p:cNvPr id="15" name="Rectangle 4">
              <a:extLst>
                <a:ext uri="{FF2B5EF4-FFF2-40B4-BE49-F238E27FC236}">
                  <a16:creationId xmlns:a16="http://schemas.microsoft.com/office/drawing/2014/main" id="{8255DDE3-5505-A183-C530-EE87121691EB}"/>
                </a:ext>
              </a:extLst>
            </p:cNvPr>
            <p:cNvSpPr>
              <a:spLocks noChangeArrowheads="1"/>
            </p:cNvSpPr>
            <p:nvPr/>
          </p:nvSpPr>
          <p:spPr bwMode="auto">
            <a:xfrm>
              <a:off x="3681412" y="1598613"/>
              <a:ext cx="1719263" cy="655637"/>
            </a:xfrm>
            <a:prstGeom prst="rect">
              <a:avLst/>
            </a:prstGeom>
            <a:solidFill>
              <a:schemeClr val="accent1"/>
            </a:solidFill>
            <a:ln w="12700"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1600" b="1" dirty="0">
                  <a:solidFill>
                    <a:schemeClr val="bg1"/>
                  </a:solidFill>
                </a:rPr>
                <a:t>Cost Type</a:t>
              </a:r>
            </a:p>
          </p:txBody>
        </p:sp>
        <p:sp>
          <p:nvSpPr>
            <p:cNvPr id="16" name="Rectangle 5">
              <a:extLst>
                <a:ext uri="{FF2B5EF4-FFF2-40B4-BE49-F238E27FC236}">
                  <a16:creationId xmlns:a16="http://schemas.microsoft.com/office/drawing/2014/main" id="{8F7D8841-6CAA-2678-B54C-903202A29616}"/>
                </a:ext>
              </a:extLst>
            </p:cNvPr>
            <p:cNvSpPr>
              <a:spLocks noChangeArrowheads="1"/>
            </p:cNvSpPr>
            <p:nvPr/>
          </p:nvSpPr>
          <p:spPr bwMode="auto">
            <a:xfrm>
              <a:off x="6564313" y="1598613"/>
              <a:ext cx="1719262" cy="655637"/>
            </a:xfrm>
            <a:prstGeom prst="rect">
              <a:avLst/>
            </a:prstGeom>
            <a:solidFill>
              <a:schemeClr val="accent1"/>
            </a:solidFill>
            <a:ln w="12700"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1600" b="1" dirty="0">
                  <a:solidFill>
                    <a:schemeClr val="bg1"/>
                  </a:solidFill>
                </a:rPr>
                <a:t>Cost to Whom</a:t>
              </a:r>
            </a:p>
          </p:txBody>
        </p:sp>
        <p:sp>
          <p:nvSpPr>
            <p:cNvPr id="17" name="Rectangle 7">
              <a:extLst>
                <a:ext uri="{FF2B5EF4-FFF2-40B4-BE49-F238E27FC236}">
                  <a16:creationId xmlns:a16="http://schemas.microsoft.com/office/drawing/2014/main" id="{4C617DFE-7253-FD74-BD78-28C9314F991C}"/>
                </a:ext>
              </a:extLst>
            </p:cNvPr>
            <p:cNvSpPr>
              <a:spLocks noChangeArrowheads="1"/>
            </p:cNvSpPr>
            <p:nvPr/>
          </p:nvSpPr>
          <p:spPr bwMode="auto">
            <a:xfrm>
              <a:off x="692150" y="2473325"/>
              <a:ext cx="1981200" cy="1888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438" tIns="36513" rIns="71438" bIns="36513">
              <a:spAutoFit/>
            </a:bodyPr>
            <a:lstStyle/>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Design</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Prototype</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Production Process Design</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Production Ramp-up</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Go to Market</a:t>
              </a:r>
            </a:p>
          </p:txBody>
        </p:sp>
        <p:sp>
          <p:nvSpPr>
            <p:cNvPr id="18" name="Rectangle 8">
              <a:extLst>
                <a:ext uri="{FF2B5EF4-FFF2-40B4-BE49-F238E27FC236}">
                  <a16:creationId xmlns:a16="http://schemas.microsoft.com/office/drawing/2014/main" id="{87701B86-94DF-853A-C9EE-AE9887F3D9D4}"/>
                </a:ext>
              </a:extLst>
            </p:cNvPr>
            <p:cNvSpPr>
              <a:spLocks noChangeArrowheads="1"/>
            </p:cNvSpPr>
            <p:nvPr/>
          </p:nvSpPr>
          <p:spPr bwMode="auto">
            <a:xfrm>
              <a:off x="3550443" y="2465387"/>
              <a:ext cx="1981200" cy="2473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438" tIns="36513" rIns="71438" bIns="36513">
              <a:spAutoFit/>
            </a:bodyPr>
            <a:lstStyle/>
            <a:p>
              <a:pPr marL="285750" indent="-285750" algn="l" defTabSz="708025">
                <a:lnSpc>
                  <a:spcPct val="100000"/>
                </a:lnSpc>
                <a:spcBef>
                  <a:spcPct val="40000"/>
                </a:spcBef>
                <a:buClr>
                  <a:schemeClr val="tx1"/>
                </a:buClr>
                <a:buSzPct val="90000"/>
                <a:buFont typeface="Arial" panose="020B0604020202020204" pitchFamily="34" charset="0"/>
                <a:buChar char="•"/>
              </a:pPr>
              <a:r>
                <a:rPr lang="en-US" sz="1600" b="1" dirty="0">
                  <a:solidFill>
                    <a:schemeClr val="tx1"/>
                  </a:solidFill>
                </a:rPr>
                <a:t>Money</a:t>
              </a:r>
            </a:p>
            <a:p>
              <a:pPr marL="285750" indent="-285750" algn="l" defTabSz="708025">
                <a:lnSpc>
                  <a:spcPct val="100000"/>
                </a:lnSpc>
                <a:spcBef>
                  <a:spcPct val="40000"/>
                </a:spcBef>
                <a:buClr>
                  <a:schemeClr val="tx1"/>
                </a:buClr>
                <a:buSzPct val="90000"/>
                <a:buFont typeface="Arial" panose="020B0604020202020204" pitchFamily="34" charset="0"/>
                <a:buChar char="•"/>
              </a:pPr>
              <a:r>
                <a:rPr lang="en-US" sz="1600" b="1" dirty="0">
                  <a:solidFill>
                    <a:schemeClr val="tx1"/>
                  </a:solidFill>
                </a:rPr>
                <a:t>Engineering Resources</a:t>
              </a:r>
            </a:p>
            <a:p>
              <a:pPr marL="285750" indent="-285750" algn="l" defTabSz="708025">
                <a:lnSpc>
                  <a:spcPct val="100000"/>
                </a:lnSpc>
                <a:spcBef>
                  <a:spcPct val="40000"/>
                </a:spcBef>
                <a:buClr>
                  <a:schemeClr val="tx1"/>
                </a:buClr>
                <a:buSzPct val="90000"/>
                <a:buFont typeface="Arial" panose="020B0604020202020204" pitchFamily="34" charset="0"/>
                <a:buChar char="•"/>
              </a:pPr>
              <a:r>
                <a:rPr lang="en-US" sz="1600" b="1" dirty="0">
                  <a:solidFill>
                    <a:schemeClr val="tx1"/>
                  </a:solidFill>
                </a:rPr>
                <a:t>R&amp;D Lab Time</a:t>
              </a:r>
            </a:p>
            <a:p>
              <a:pPr marL="285750" indent="-285750" algn="l" defTabSz="708025">
                <a:lnSpc>
                  <a:spcPct val="100000"/>
                </a:lnSpc>
                <a:spcBef>
                  <a:spcPct val="40000"/>
                </a:spcBef>
                <a:buClr>
                  <a:schemeClr val="tx1"/>
                </a:buClr>
                <a:buSzPct val="90000"/>
                <a:buFont typeface="Arial" panose="020B0604020202020204" pitchFamily="34" charset="0"/>
                <a:buChar char="•"/>
              </a:pPr>
              <a:r>
                <a:rPr lang="en-US" sz="1600" b="1" dirty="0">
                  <a:solidFill>
                    <a:schemeClr val="tx1"/>
                  </a:solidFill>
                </a:rPr>
                <a:t>Marketing Resources</a:t>
              </a:r>
            </a:p>
            <a:p>
              <a:pPr marL="285750" indent="-285750" algn="l" defTabSz="708025">
                <a:lnSpc>
                  <a:spcPct val="100000"/>
                </a:lnSpc>
                <a:spcBef>
                  <a:spcPct val="40000"/>
                </a:spcBef>
                <a:buClr>
                  <a:schemeClr val="tx1"/>
                </a:buClr>
                <a:buSzPct val="90000"/>
                <a:buFont typeface="Arial" panose="020B0604020202020204" pitchFamily="34" charset="0"/>
                <a:buChar char="•"/>
              </a:pPr>
              <a:r>
                <a:rPr lang="en-US" sz="1600" b="1" dirty="0">
                  <a:solidFill>
                    <a:schemeClr val="tx1"/>
                  </a:solidFill>
                </a:rPr>
                <a:t>Factory Space</a:t>
              </a:r>
            </a:p>
            <a:p>
              <a:pPr marL="285750" indent="-285750" algn="l" defTabSz="708025">
                <a:lnSpc>
                  <a:spcPct val="100000"/>
                </a:lnSpc>
                <a:spcBef>
                  <a:spcPct val="40000"/>
                </a:spcBef>
                <a:buClr>
                  <a:schemeClr val="tx1"/>
                </a:buClr>
                <a:buSzPct val="90000"/>
                <a:buFont typeface="Arial" panose="020B0604020202020204" pitchFamily="34" charset="0"/>
                <a:buChar char="•"/>
              </a:pPr>
              <a:r>
                <a:rPr lang="en-US" sz="1600" b="1" dirty="0">
                  <a:solidFill>
                    <a:schemeClr val="tx1"/>
                  </a:solidFill>
                </a:rPr>
                <a:t>Opportunity Cost</a:t>
              </a:r>
            </a:p>
          </p:txBody>
        </p:sp>
        <p:sp>
          <p:nvSpPr>
            <p:cNvPr id="19" name="Rectangle 9">
              <a:extLst>
                <a:ext uri="{FF2B5EF4-FFF2-40B4-BE49-F238E27FC236}">
                  <a16:creationId xmlns:a16="http://schemas.microsoft.com/office/drawing/2014/main" id="{B9A8FA75-95BD-219F-C948-793CC772E9B1}"/>
                </a:ext>
              </a:extLst>
            </p:cNvPr>
            <p:cNvSpPr>
              <a:spLocks noChangeArrowheads="1"/>
            </p:cNvSpPr>
            <p:nvPr/>
          </p:nvSpPr>
          <p:spPr bwMode="auto">
            <a:xfrm>
              <a:off x="6432551" y="2465387"/>
              <a:ext cx="1982787" cy="1941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438" tIns="36513" rIns="71438" bIns="36513">
              <a:spAutoFit/>
            </a:bodyPr>
            <a:lstStyle/>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Corp SG&amp;A</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R&amp;D</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Marketing</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Operations</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Distribution</a:t>
              </a:r>
            </a:p>
            <a:p>
              <a:pPr marL="285750" indent="-285750" algn="l" defTabSz="708025">
                <a:lnSpc>
                  <a:spcPct val="100000"/>
                </a:lnSpc>
                <a:spcAft>
                  <a:spcPct val="20000"/>
                </a:spcAft>
                <a:buClr>
                  <a:schemeClr val="tx1"/>
                </a:buClr>
                <a:buSzPct val="90000"/>
                <a:buFont typeface="Arial" panose="020B0604020202020204" pitchFamily="34" charset="0"/>
                <a:buChar char="•"/>
              </a:pPr>
              <a:r>
                <a:rPr lang="en-US" sz="1600" b="1" dirty="0">
                  <a:solidFill>
                    <a:schemeClr val="tx1"/>
                  </a:solidFill>
                </a:rPr>
                <a:t>Sales Channel</a:t>
              </a:r>
            </a:p>
          </p:txBody>
        </p:sp>
      </p:grpSp>
    </p:spTree>
    <p:extLst>
      <p:ext uri="{BB962C8B-B14F-4D97-AF65-F5344CB8AC3E}">
        <p14:creationId xmlns:p14="http://schemas.microsoft.com/office/powerpoint/2010/main" val="5566378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Cost Cube 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a Cost Cube for a Styrofoam Cup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Post-It Notes, Develop a matrix of all costs involved in the design and manufacture of Styrofoam cups</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Types of Cost</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Costs When</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Costs to Whom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157992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Comprehensive matrix which considers all types of cost associated with this example project.</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3348175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Cost and Alternatives Selection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57459" y="2356005"/>
            <a:ext cx="9722342" cy="718145"/>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Cost for Functionality and for Alternatives Means of Achieving Key Functionality</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57459" y="3032844"/>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605395"/>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cost of each function</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 Each Function, list all alternative means to achieve the Function</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Estimate the cost of each alternative means</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the Functional Options which Deliver the best Value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98509" y="3022405"/>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98509" y="424540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98509" y="3605926"/>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98509" y="4778881"/>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selected alternatives which optimize value.</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10399113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Competitive Analysis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a:bodyPr>
          <a:lstStyle/>
          <a:p>
            <a:r>
              <a:rPr lang="en-US" dirty="0"/>
              <a:t>Identify all critical competitive alternatives to your solutions</a:t>
            </a:r>
          </a:p>
          <a:p>
            <a:r>
              <a:rPr lang="en-US" dirty="0"/>
              <a:t>Complete a Value Analysis for Functionality and Cost</a:t>
            </a:r>
          </a:p>
          <a:p>
            <a:r>
              <a:rPr lang="en-US" dirty="0"/>
              <a:t> Are the Competitive Costs?</a:t>
            </a:r>
          </a:p>
          <a:p>
            <a:pPr lvl="1"/>
            <a:r>
              <a:rPr lang="en-US" dirty="0"/>
              <a:t>Excessive</a:t>
            </a:r>
          </a:p>
          <a:p>
            <a:pPr lvl="1"/>
            <a:r>
              <a:rPr lang="en-US" dirty="0"/>
              <a:t>Quite High</a:t>
            </a:r>
          </a:p>
          <a:p>
            <a:pPr lvl="1"/>
            <a:r>
              <a:rPr lang="en-US" dirty="0"/>
              <a:t>Acceptable</a:t>
            </a:r>
          </a:p>
          <a:p>
            <a:pPr lvl="1"/>
            <a:r>
              <a:rPr lang="en-US" dirty="0"/>
              <a:t>Cheap</a:t>
            </a:r>
          </a:p>
        </p:txBody>
      </p:sp>
      <p:pic>
        <p:nvPicPr>
          <p:cNvPr id="16" name="Picture 4" descr="C:\Users\Scott DeLuzio\AppData\Local\Microsoft\Windows\Temporary Internet Files\Content.IE5\OZM9PUEU\MP910216359[1].png">
            <a:extLst>
              <a:ext uri="{FF2B5EF4-FFF2-40B4-BE49-F238E27FC236}">
                <a16:creationId xmlns:a16="http://schemas.microsoft.com/office/drawing/2014/main" id="{55B15A72-43C9-A00B-F88B-86684505BC1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247775" y="2101056"/>
            <a:ext cx="4362450"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821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Competitive Analysis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fontScale="92500" lnSpcReduction="20000"/>
          </a:bodyPr>
          <a:lstStyle/>
          <a:p>
            <a:pPr marL="0" indent="0">
              <a:buNone/>
            </a:pPr>
            <a:r>
              <a:rPr lang="en-US" b="1" dirty="0"/>
              <a:t>Consider the alternatives in four broad categories:</a:t>
            </a:r>
          </a:p>
          <a:p>
            <a:pPr marL="514350" indent="-514350">
              <a:buFont typeface="+mj-lt"/>
              <a:buAutoNum type="arabicPeriod"/>
            </a:pPr>
            <a:r>
              <a:rPr lang="en-US" dirty="0"/>
              <a:t>The “Rolls Royce” – what is widely regarded as best practice, or state of the art.</a:t>
            </a:r>
          </a:p>
          <a:p>
            <a:pPr marL="514350" indent="-514350">
              <a:buFont typeface="+mj-lt"/>
              <a:buAutoNum type="arabicPeriod"/>
            </a:pPr>
            <a:r>
              <a:rPr lang="en-US" dirty="0"/>
              <a:t>The “Shoestring” – a creative low-budget option</a:t>
            </a:r>
          </a:p>
          <a:p>
            <a:pPr marL="514350" indent="-514350">
              <a:buFont typeface="+mj-lt"/>
              <a:buAutoNum type="arabicPeriod"/>
            </a:pPr>
            <a:r>
              <a:rPr lang="en-US" dirty="0"/>
              <a:t>“A Little More” – an option that is marginally better</a:t>
            </a:r>
          </a:p>
          <a:p>
            <a:pPr marL="514350" indent="-514350">
              <a:buFont typeface="+mj-lt"/>
              <a:buAutoNum type="arabicPeriod"/>
            </a:pPr>
            <a:r>
              <a:rPr lang="en-US" dirty="0"/>
              <a:t>“A Little Less” – a slightly stripped down, or economical version</a:t>
            </a:r>
          </a:p>
        </p:txBody>
      </p:sp>
      <p:pic>
        <p:nvPicPr>
          <p:cNvPr id="15" name="Content Placeholder 4">
            <a:extLst>
              <a:ext uri="{FF2B5EF4-FFF2-40B4-BE49-F238E27FC236}">
                <a16:creationId xmlns:a16="http://schemas.microsoft.com/office/drawing/2014/main" id="{D5784B1D-35D9-4D47-A919-51C922CA70A4}"/>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841500" y="2413794"/>
            <a:ext cx="3175000" cy="3175000"/>
          </a:xfrm>
        </p:spPr>
      </p:pic>
    </p:spTree>
    <p:extLst>
      <p:ext uri="{BB962C8B-B14F-4D97-AF65-F5344CB8AC3E}">
        <p14:creationId xmlns:p14="http://schemas.microsoft.com/office/powerpoint/2010/main" val="23011757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Competitive Analysis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5" name="Group 4">
            <a:extLst>
              <a:ext uri="{FF2B5EF4-FFF2-40B4-BE49-F238E27FC236}">
                <a16:creationId xmlns:a16="http://schemas.microsoft.com/office/drawing/2014/main" id="{7315807B-C885-5C65-109C-EE9D70F7E8D7}"/>
              </a:ext>
            </a:extLst>
          </p:cNvPr>
          <p:cNvGrpSpPr/>
          <p:nvPr/>
        </p:nvGrpSpPr>
        <p:grpSpPr>
          <a:xfrm>
            <a:off x="838200" y="297639"/>
            <a:ext cx="4451430" cy="307138"/>
            <a:chOff x="838200" y="297639"/>
            <a:chExt cx="4451430" cy="307138"/>
          </a:xfrm>
        </p:grpSpPr>
        <p:grpSp>
          <p:nvGrpSpPr>
            <p:cNvPr id="7" name="Group 6">
              <a:extLst>
                <a:ext uri="{FF2B5EF4-FFF2-40B4-BE49-F238E27FC236}">
                  <a16:creationId xmlns:a16="http://schemas.microsoft.com/office/drawing/2014/main" id="{FF720058-5C7E-3D13-A4E4-3DDCAF7743D9}"/>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3541B43-6373-4B0C-A9B8-AE9E0A3D545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819C737-1992-B6FC-295D-990D8A4DB50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E398D0BD-2571-DE57-B434-581F1DD1173A}"/>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395CD3E-A137-FEC4-9C78-9BD36756AB8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369A195-7A19-CFDF-8026-9C22296EA47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430D9F4E-FB65-DE3C-4D81-6BE87238128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6DD2AA0-CB84-9D35-E2B6-19233487950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fontScale="92500" lnSpcReduction="10000"/>
          </a:bodyPr>
          <a:lstStyle/>
          <a:p>
            <a:pPr marL="0" indent="0">
              <a:buNone/>
            </a:pPr>
            <a:r>
              <a:rPr lang="en-US" b="1" dirty="0"/>
              <a:t>Comparative Cost-Effectiveness </a:t>
            </a:r>
          </a:p>
          <a:p>
            <a:r>
              <a:rPr lang="en-US" dirty="0"/>
              <a:t>The Cost Cube provides a three-dimensional tool for identifying important descriptive data</a:t>
            </a:r>
          </a:p>
          <a:p>
            <a:r>
              <a:rPr lang="en-US" dirty="0"/>
              <a:t>The list of competitive alternatives allow us to place the costs in the context of what else is available </a:t>
            </a:r>
          </a:p>
          <a:p>
            <a:r>
              <a:rPr lang="en-US" dirty="0"/>
              <a:t>We are then able to perform a merit determination for selecting our options</a:t>
            </a:r>
          </a:p>
        </p:txBody>
      </p:sp>
      <p:pic>
        <p:nvPicPr>
          <p:cNvPr id="16" name="Picture 11" descr="C:\Users\Scott DeLuzio\AppData\Local\Microsoft\Windows\Temporary Internet Files\Content.IE5\7OX38JW0\MP900177838[1].jpg">
            <a:extLst>
              <a:ext uri="{FF2B5EF4-FFF2-40B4-BE49-F238E27FC236}">
                <a16:creationId xmlns:a16="http://schemas.microsoft.com/office/drawing/2014/main" id="{91FCB6F8-971B-64E1-61F8-DEE60FBFCE6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27509" y="2400300"/>
            <a:ext cx="4436031" cy="2957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1461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Determine Cost &amp; Competitive Analysis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cost and competitive analysis for your items.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cost cube and competitive analysis for this event.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Cost &amp; competitive analysis</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Analysis of Current State</a:t>
              </a:r>
            </a:p>
          </p:txBody>
        </p:sp>
      </p:grpSp>
    </p:spTree>
    <p:extLst>
      <p:ext uri="{BB962C8B-B14F-4D97-AF65-F5344CB8AC3E}">
        <p14:creationId xmlns:p14="http://schemas.microsoft.com/office/powerpoint/2010/main" val="30693475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VA/VE Kaizen Event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Brainstorming</a:t>
            </a:r>
          </a:p>
          <a:p>
            <a:r>
              <a:rPr lang="en-US" dirty="0"/>
              <a:t>Affinity diagram</a:t>
            </a:r>
          </a:p>
          <a:p>
            <a:r>
              <a:rPr lang="en-US" dirty="0"/>
              <a:t>7 Alternatives</a:t>
            </a:r>
          </a:p>
          <a:p>
            <a:r>
              <a:rPr lang="en-US" dirty="0"/>
              <a:t>Function &amp; Process Analysis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Evaluation of Alternatives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Generation of Alternatives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Analysis of Current State</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Charter &amp; Information</a:t>
                </a:r>
              </a:p>
            </p:txBody>
          </p:sp>
        </p:grpSp>
      </p:grpSp>
    </p:spTree>
    <p:extLst>
      <p:ext uri="{BB962C8B-B14F-4D97-AF65-F5344CB8AC3E}">
        <p14:creationId xmlns:p14="http://schemas.microsoft.com/office/powerpoint/2010/main" val="5967845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Thinking Outside The Box</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61</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Stimulate the team to think laterally about solutions.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Join the Dots using 4 straight lines and without taking the pen off the paper.</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Review how this has parallels to creative design. </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grpSp>
        <p:nvGrpSpPr>
          <p:cNvPr id="21" name="Group 22">
            <a:extLst>
              <a:ext uri="{FF2B5EF4-FFF2-40B4-BE49-F238E27FC236}">
                <a16:creationId xmlns:a16="http://schemas.microsoft.com/office/drawing/2014/main" id="{E785B48A-31EB-0860-704E-3CD750A87990}"/>
              </a:ext>
            </a:extLst>
          </p:cNvPr>
          <p:cNvGrpSpPr>
            <a:grpSpLocks/>
          </p:cNvGrpSpPr>
          <p:nvPr/>
        </p:nvGrpSpPr>
        <p:grpSpPr bwMode="auto">
          <a:xfrm>
            <a:off x="2286514" y="4465671"/>
            <a:ext cx="1149351" cy="1136650"/>
            <a:chOff x="2934113" y="4411221"/>
            <a:chExt cx="1148861" cy="1136302"/>
          </a:xfrm>
          <a:solidFill>
            <a:schemeClr val="bg1"/>
          </a:solidFill>
        </p:grpSpPr>
        <p:sp>
          <p:nvSpPr>
            <p:cNvPr id="22" name="Oval 12">
              <a:extLst>
                <a:ext uri="{FF2B5EF4-FFF2-40B4-BE49-F238E27FC236}">
                  <a16:creationId xmlns:a16="http://schemas.microsoft.com/office/drawing/2014/main" id="{C5BA8750-2A33-81AC-582C-8D3831E64120}"/>
                </a:ext>
              </a:extLst>
            </p:cNvPr>
            <p:cNvSpPr>
              <a:spLocks noChangeArrowheads="1"/>
            </p:cNvSpPr>
            <p:nvPr/>
          </p:nvSpPr>
          <p:spPr bwMode="auto">
            <a:xfrm>
              <a:off x="2934113" y="4411221"/>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3" name="Oval 13">
              <a:extLst>
                <a:ext uri="{FF2B5EF4-FFF2-40B4-BE49-F238E27FC236}">
                  <a16:creationId xmlns:a16="http://schemas.microsoft.com/office/drawing/2014/main" id="{5C923473-6273-0E9B-72F0-EB55C4432B93}"/>
                </a:ext>
              </a:extLst>
            </p:cNvPr>
            <p:cNvSpPr>
              <a:spLocks noChangeArrowheads="1"/>
            </p:cNvSpPr>
            <p:nvPr/>
          </p:nvSpPr>
          <p:spPr bwMode="auto">
            <a:xfrm>
              <a:off x="3423132" y="4411221"/>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4" name="Oval 14">
              <a:extLst>
                <a:ext uri="{FF2B5EF4-FFF2-40B4-BE49-F238E27FC236}">
                  <a16:creationId xmlns:a16="http://schemas.microsoft.com/office/drawing/2014/main" id="{FB2817D4-8B0D-1356-2E91-CCF72C2812DE}"/>
                </a:ext>
              </a:extLst>
            </p:cNvPr>
            <p:cNvSpPr>
              <a:spLocks noChangeArrowheads="1"/>
            </p:cNvSpPr>
            <p:nvPr/>
          </p:nvSpPr>
          <p:spPr bwMode="auto">
            <a:xfrm>
              <a:off x="3912152" y="4411221"/>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5" name="Oval 15">
              <a:extLst>
                <a:ext uri="{FF2B5EF4-FFF2-40B4-BE49-F238E27FC236}">
                  <a16:creationId xmlns:a16="http://schemas.microsoft.com/office/drawing/2014/main" id="{E70271B0-A868-1FEB-A3CC-C6D3187CE241}"/>
                </a:ext>
              </a:extLst>
            </p:cNvPr>
            <p:cNvSpPr>
              <a:spLocks noChangeArrowheads="1"/>
            </p:cNvSpPr>
            <p:nvPr/>
          </p:nvSpPr>
          <p:spPr bwMode="auto">
            <a:xfrm>
              <a:off x="2934113" y="4909033"/>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6" name="Oval 16">
              <a:extLst>
                <a:ext uri="{FF2B5EF4-FFF2-40B4-BE49-F238E27FC236}">
                  <a16:creationId xmlns:a16="http://schemas.microsoft.com/office/drawing/2014/main" id="{3FB9C6C6-CF7A-951F-C9CA-B24C4DD5AF02}"/>
                </a:ext>
              </a:extLst>
            </p:cNvPr>
            <p:cNvSpPr>
              <a:spLocks noChangeArrowheads="1"/>
            </p:cNvSpPr>
            <p:nvPr/>
          </p:nvSpPr>
          <p:spPr bwMode="auto">
            <a:xfrm>
              <a:off x="3425645" y="4909033"/>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7" name="Oval 17">
              <a:extLst>
                <a:ext uri="{FF2B5EF4-FFF2-40B4-BE49-F238E27FC236}">
                  <a16:creationId xmlns:a16="http://schemas.microsoft.com/office/drawing/2014/main" id="{7890EB1E-792D-A8A4-9546-E4E2F7140212}"/>
                </a:ext>
              </a:extLst>
            </p:cNvPr>
            <p:cNvSpPr>
              <a:spLocks noChangeArrowheads="1"/>
            </p:cNvSpPr>
            <p:nvPr/>
          </p:nvSpPr>
          <p:spPr bwMode="auto">
            <a:xfrm>
              <a:off x="3917177" y="4909033"/>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8" name="Oval 18">
              <a:extLst>
                <a:ext uri="{FF2B5EF4-FFF2-40B4-BE49-F238E27FC236}">
                  <a16:creationId xmlns:a16="http://schemas.microsoft.com/office/drawing/2014/main" id="{EF9D852F-DE6C-907E-B64A-5EB9572F7696}"/>
                </a:ext>
              </a:extLst>
            </p:cNvPr>
            <p:cNvSpPr>
              <a:spLocks noChangeArrowheads="1"/>
            </p:cNvSpPr>
            <p:nvPr/>
          </p:nvSpPr>
          <p:spPr bwMode="auto">
            <a:xfrm>
              <a:off x="2934113" y="5406846"/>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29" name="Oval 19">
              <a:extLst>
                <a:ext uri="{FF2B5EF4-FFF2-40B4-BE49-F238E27FC236}">
                  <a16:creationId xmlns:a16="http://schemas.microsoft.com/office/drawing/2014/main" id="{30B9AD36-BCCC-44C0-97DE-C422268055DE}"/>
                </a:ext>
              </a:extLst>
            </p:cNvPr>
            <p:cNvSpPr>
              <a:spLocks noChangeArrowheads="1"/>
            </p:cNvSpPr>
            <p:nvPr/>
          </p:nvSpPr>
          <p:spPr bwMode="auto">
            <a:xfrm>
              <a:off x="3438205" y="5406846"/>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sp>
          <p:nvSpPr>
            <p:cNvPr id="30" name="Oval 20">
              <a:extLst>
                <a:ext uri="{FF2B5EF4-FFF2-40B4-BE49-F238E27FC236}">
                  <a16:creationId xmlns:a16="http://schemas.microsoft.com/office/drawing/2014/main" id="{61FF7D50-17B0-33CE-8FEB-1EDB7AAE922A}"/>
                </a:ext>
              </a:extLst>
            </p:cNvPr>
            <p:cNvSpPr>
              <a:spLocks noChangeArrowheads="1"/>
            </p:cNvSpPr>
            <p:nvPr/>
          </p:nvSpPr>
          <p:spPr bwMode="auto">
            <a:xfrm>
              <a:off x="3942297" y="5406846"/>
              <a:ext cx="140677" cy="140677"/>
            </a:xfrm>
            <a:prstGeom prst="ellipse">
              <a:avLst/>
            </a:prstGeom>
            <a:grpFill/>
            <a:ln>
              <a:noFill/>
            </a:ln>
            <a:extLst>
              <a:ext uri="{91240B29-F687-4F45-9708-019B960494DF}">
                <a14:hiddenLine xmlns:a14="http://schemas.microsoft.com/office/drawing/2010/main" w="12700" cap="sq" algn="ctr">
                  <a:solidFill>
                    <a:srgbClr val="000000"/>
                  </a:solidFill>
                  <a:round/>
                  <a:headEnd/>
                  <a:tailEnd/>
                </a14:hiddenLine>
              </a:ext>
            </a:extLst>
          </p:spPr>
          <p:txBody>
            <a:bodyPr lIns="36000" tIns="36000" rIns="36000" bIns="36000" anchor="ctr"/>
            <a:lstStyle/>
            <a:p>
              <a:endParaRPr lang="en-GB" sz="1200" dirty="0">
                <a:solidFill>
                  <a:schemeClr val="tx1"/>
                </a:solidFill>
              </a:endParaRPr>
            </a:p>
          </p:txBody>
        </p:sp>
      </p:grpSp>
    </p:spTree>
    <p:extLst>
      <p:ext uri="{BB962C8B-B14F-4D97-AF65-F5344CB8AC3E}">
        <p14:creationId xmlns:p14="http://schemas.microsoft.com/office/powerpoint/2010/main" val="23285032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Determine Potential Solutions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ctr">
            <a:normAutofit fontScale="92500" lnSpcReduction="10000"/>
          </a:bodyPr>
          <a:lstStyle/>
          <a:p>
            <a:r>
              <a:rPr lang="en-US" dirty="0"/>
              <a:t>This phase of the problem solving process is about generating potential solutions</a:t>
            </a:r>
          </a:p>
          <a:p>
            <a:r>
              <a:rPr lang="en-US" dirty="0"/>
              <a:t>Several potential alternatives should be considered</a:t>
            </a:r>
          </a:p>
          <a:p>
            <a:r>
              <a:rPr lang="en-US" dirty="0"/>
              <a:t>Not considering a number of solutions could lead to jumping to a suboptimal or ‘pet’ solution</a:t>
            </a:r>
          </a:p>
          <a:p>
            <a:r>
              <a:rPr lang="en-US" dirty="0"/>
              <a:t>Several sources and tools can be used to generate potential solutions</a:t>
            </a:r>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pic>
        <p:nvPicPr>
          <p:cNvPr id="25" name="Picture 2" descr="C:\Users\David Cowburn\Documents\c4c\ZIMAGES\Graphics\spreading.gif">
            <a:extLst>
              <a:ext uri="{FF2B5EF4-FFF2-40B4-BE49-F238E27FC236}">
                <a16:creationId xmlns:a16="http://schemas.microsoft.com/office/drawing/2014/main" id="{5F791147-BF0D-F222-6417-E90E1622B1BB}"/>
              </a:ext>
            </a:extLst>
          </p:cNvPr>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1151875" y="2252103"/>
            <a:ext cx="3948112" cy="3449403"/>
          </a:xfrm>
          <a:noFill/>
        </p:spPr>
      </p:pic>
    </p:spTree>
    <p:extLst>
      <p:ext uri="{BB962C8B-B14F-4D97-AF65-F5344CB8AC3E}">
        <p14:creationId xmlns:p14="http://schemas.microsoft.com/office/powerpoint/2010/main" val="2427207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Potential Sources for Solutions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sp>
        <p:nvSpPr>
          <p:cNvPr id="17" name="Content Placeholder 16">
            <a:extLst>
              <a:ext uri="{FF2B5EF4-FFF2-40B4-BE49-F238E27FC236}">
                <a16:creationId xmlns:a16="http://schemas.microsoft.com/office/drawing/2014/main" id="{B3016DFB-3A6F-CC4F-08D6-BD01A23B7214}"/>
              </a:ext>
            </a:extLst>
          </p:cNvPr>
          <p:cNvSpPr>
            <a:spLocks noGrp="1"/>
          </p:cNvSpPr>
          <p:nvPr>
            <p:ph sz="half" idx="2"/>
          </p:nvPr>
        </p:nvSpPr>
        <p:spPr/>
        <p:txBody>
          <a:bodyPr anchor="t">
            <a:normAutofit fontScale="92500"/>
          </a:bodyPr>
          <a:lstStyle/>
          <a:p>
            <a:r>
              <a:rPr lang="en-US" dirty="0"/>
              <a:t>Back to nature solutions</a:t>
            </a:r>
          </a:p>
          <a:p>
            <a:r>
              <a:rPr lang="en-US" dirty="0"/>
              <a:t>Study the way others have solved things and list the key words for each function</a:t>
            </a:r>
          </a:p>
          <a:p>
            <a:r>
              <a:rPr lang="en-US" dirty="0"/>
              <a:t>Solve design conflicts</a:t>
            </a:r>
          </a:p>
          <a:p>
            <a:r>
              <a:rPr lang="en-US" dirty="0"/>
              <a:t>Generate new ideas</a:t>
            </a:r>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7" name="Content Placeholder 6">
            <a:extLst>
              <a:ext uri="{FF2B5EF4-FFF2-40B4-BE49-F238E27FC236}">
                <a16:creationId xmlns:a16="http://schemas.microsoft.com/office/drawing/2014/main" id="{3BF73212-7B23-6AAE-5D4E-2F9BE644CE6A}"/>
              </a:ext>
            </a:extLst>
          </p:cNvPr>
          <p:cNvSpPr>
            <a:spLocks noGrp="1"/>
          </p:cNvSpPr>
          <p:nvPr>
            <p:ph sz="half" idx="1"/>
          </p:nvPr>
        </p:nvSpPr>
        <p:spPr/>
        <p:txBody>
          <a:bodyPr>
            <a:normAutofit fontScale="92500"/>
          </a:bodyPr>
          <a:lstStyle/>
          <a:p>
            <a:r>
              <a:rPr lang="en-US" dirty="0"/>
              <a:t>Competitors</a:t>
            </a:r>
          </a:p>
          <a:p>
            <a:pPr lvl="1"/>
            <a:r>
              <a:rPr lang="en-US" dirty="0"/>
              <a:t>Copy, adapt and improve</a:t>
            </a:r>
          </a:p>
          <a:p>
            <a:r>
              <a:rPr lang="en-US" dirty="0"/>
              <a:t>Other industries</a:t>
            </a:r>
          </a:p>
          <a:p>
            <a:pPr lvl="1"/>
            <a:r>
              <a:rPr lang="en-US" dirty="0"/>
              <a:t>Food vs. process</a:t>
            </a:r>
          </a:p>
          <a:p>
            <a:pPr lvl="1"/>
            <a:r>
              <a:rPr lang="en-US" dirty="0"/>
              <a:t>Auto vs. Aero</a:t>
            </a:r>
          </a:p>
          <a:p>
            <a:r>
              <a:rPr lang="en-US" dirty="0"/>
              <a:t>Inventive Problem Solving TRIZ</a:t>
            </a:r>
          </a:p>
          <a:p>
            <a:r>
              <a:rPr lang="en-US" dirty="0"/>
              <a:t>Pattern Breaking tools</a:t>
            </a:r>
          </a:p>
          <a:p>
            <a:pPr lvl="1"/>
            <a:r>
              <a:rPr lang="en-US" dirty="0"/>
              <a:t>Reverse assumptions, forcing associations, making comparisons, other points of view, blue sky</a:t>
            </a:r>
          </a:p>
          <a:p>
            <a:endParaRPr lang="en-US" dirty="0"/>
          </a:p>
        </p:txBody>
      </p:sp>
    </p:spTree>
    <p:extLst>
      <p:ext uri="{BB962C8B-B14F-4D97-AF65-F5344CB8AC3E}">
        <p14:creationId xmlns:p14="http://schemas.microsoft.com/office/powerpoint/2010/main" val="25059491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Designing Out Cost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64</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7" name="Content Placeholder 6">
            <a:extLst>
              <a:ext uri="{FF2B5EF4-FFF2-40B4-BE49-F238E27FC236}">
                <a16:creationId xmlns:a16="http://schemas.microsoft.com/office/drawing/2014/main" id="{3BF73212-7B23-6AAE-5D4E-2F9BE644CE6A}"/>
              </a:ext>
            </a:extLst>
          </p:cNvPr>
          <p:cNvSpPr>
            <a:spLocks noGrp="1"/>
          </p:cNvSpPr>
          <p:nvPr>
            <p:ph sz="half" idx="1"/>
          </p:nvPr>
        </p:nvSpPr>
        <p:spPr/>
        <p:txBody>
          <a:bodyPr>
            <a:normAutofit/>
          </a:bodyPr>
          <a:lstStyle/>
          <a:p>
            <a:r>
              <a:rPr lang="en-US" dirty="0"/>
              <a:t>Costs must be designed out of a product</a:t>
            </a:r>
          </a:p>
          <a:p>
            <a:r>
              <a:rPr lang="en-US" dirty="0"/>
              <a:t>Removing costs after the product has been designed is very difficult</a:t>
            </a:r>
          </a:p>
          <a:p>
            <a:r>
              <a:rPr lang="en-US" dirty="0"/>
              <a:t>Design for the total supply chain and lifetime cost</a:t>
            </a:r>
          </a:p>
          <a:p>
            <a:r>
              <a:rPr lang="en-US" dirty="0"/>
              <a:t>Focus on the cost to the customer</a:t>
            </a:r>
          </a:p>
        </p:txBody>
      </p:sp>
      <p:pic>
        <p:nvPicPr>
          <p:cNvPr id="5" name="Content Placeholder 4">
            <a:extLst>
              <a:ext uri="{FF2B5EF4-FFF2-40B4-BE49-F238E27FC236}">
                <a16:creationId xmlns:a16="http://schemas.microsoft.com/office/drawing/2014/main" id="{EDC89616-97A2-DD67-3704-EF50109FE6A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36762" y="2308860"/>
            <a:ext cx="4116631" cy="2978944"/>
          </a:xfrm>
          <a:prstGeom prst="rect">
            <a:avLst/>
          </a:prstGeom>
        </p:spPr>
      </p:pic>
    </p:spTree>
    <p:extLst>
      <p:ext uri="{BB962C8B-B14F-4D97-AF65-F5344CB8AC3E}">
        <p14:creationId xmlns:p14="http://schemas.microsoft.com/office/powerpoint/2010/main" val="16975759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Eight Cost Reduction Strategies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7" name="Content Placeholder 6">
            <a:extLst>
              <a:ext uri="{FF2B5EF4-FFF2-40B4-BE49-F238E27FC236}">
                <a16:creationId xmlns:a16="http://schemas.microsoft.com/office/drawing/2014/main" id="{3BF73212-7B23-6AAE-5D4E-2F9BE644CE6A}"/>
              </a:ext>
            </a:extLst>
          </p:cNvPr>
          <p:cNvSpPr>
            <a:spLocks noGrp="1"/>
          </p:cNvSpPr>
          <p:nvPr>
            <p:ph sz="half" idx="1"/>
          </p:nvPr>
        </p:nvSpPr>
        <p:spPr/>
        <p:txBody>
          <a:bodyPr>
            <a:normAutofit fontScale="77500" lnSpcReduction="20000"/>
          </a:bodyPr>
          <a:lstStyle/>
          <a:p>
            <a:pPr marL="514350" indent="-514350">
              <a:buFont typeface="+mj-lt"/>
              <a:buAutoNum type="arabicPeriod"/>
            </a:pPr>
            <a:r>
              <a:rPr lang="en-US" b="1" dirty="0"/>
              <a:t>Design Cost	</a:t>
            </a:r>
          </a:p>
          <a:p>
            <a:pPr lvl="1"/>
            <a:r>
              <a:rPr lang="en-US" dirty="0"/>
              <a:t>design cost is 80% incurred but only 8% spent. Use more time and resources to reduce design cost. Concurrent engineering.</a:t>
            </a:r>
          </a:p>
          <a:p>
            <a:pPr marL="514350" indent="-514350">
              <a:buFont typeface="+mj-lt"/>
              <a:buAutoNum type="arabicPeriod"/>
            </a:pPr>
            <a:r>
              <a:rPr lang="en-US" b="1" dirty="0"/>
              <a:t>Lean Production Cost</a:t>
            </a:r>
          </a:p>
          <a:p>
            <a:pPr lvl="1"/>
            <a:r>
              <a:rPr lang="en-US" dirty="0"/>
              <a:t>eliminate waste, cut throughput times and improve quality, design for manufacturability, 3P.</a:t>
            </a:r>
          </a:p>
          <a:p>
            <a:pPr marL="514350" indent="-514350">
              <a:buFont typeface="+mj-lt"/>
              <a:buAutoNum type="arabicPeriod"/>
            </a:pPr>
            <a:r>
              <a:rPr lang="en-US" b="1" dirty="0"/>
              <a:t>Overhead Cost</a:t>
            </a:r>
          </a:p>
          <a:p>
            <a:pPr lvl="1"/>
            <a:r>
              <a:rPr lang="en-US" dirty="0"/>
              <a:t>build to order and reduce inventory.</a:t>
            </a:r>
          </a:p>
          <a:p>
            <a:pPr marL="514350" indent="-514350">
              <a:buFont typeface="+mj-lt"/>
              <a:buAutoNum type="arabicPeriod"/>
            </a:pPr>
            <a:r>
              <a:rPr lang="en-US" b="1" dirty="0"/>
              <a:t>Standardization</a:t>
            </a:r>
          </a:p>
          <a:p>
            <a:pPr lvl="1"/>
            <a:r>
              <a:rPr lang="en-US" dirty="0"/>
              <a:t>use standard parts, get economies of scale, reduce inventory cost, reduce purchasing overhead cost, reduce manufacturing cost, free up time for other cost down activities .</a:t>
            </a:r>
          </a:p>
        </p:txBody>
      </p:sp>
      <p:sp>
        <p:nvSpPr>
          <p:cNvPr id="9" name="Content Placeholder 8">
            <a:extLst>
              <a:ext uri="{FF2B5EF4-FFF2-40B4-BE49-F238E27FC236}">
                <a16:creationId xmlns:a16="http://schemas.microsoft.com/office/drawing/2014/main" id="{A7DFAC64-E353-A1D4-0939-74A626C4FA84}"/>
              </a:ext>
            </a:extLst>
          </p:cNvPr>
          <p:cNvSpPr>
            <a:spLocks noGrp="1"/>
          </p:cNvSpPr>
          <p:nvPr>
            <p:ph sz="half" idx="2"/>
          </p:nvPr>
        </p:nvSpPr>
        <p:spPr/>
        <p:txBody>
          <a:bodyPr>
            <a:normAutofit fontScale="77500" lnSpcReduction="20000"/>
          </a:bodyPr>
          <a:lstStyle/>
          <a:p>
            <a:pPr marL="514350" indent="-514350">
              <a:buFont typeface="+mj-lt"/>
              <a:buAutoNum type="arabicPeriod" startAt="5"/>
            </a:pPr>
            <a:r>
              <a:rPr lang="en-US" b="1" dirty="0"/>
              <a:t>Product Line Rationalization</a:t>
            </a:r>
          </a:p>
          <a:p>
            <a:pPr lvl="1"/>
            <a:r>
              <a:rPr lang="en-US" dirty="0"/>
              <a:t>use current products or off the shelf products with modifications, simplify supply chain management</a:t>
            </a:r>
          </a:p>
          <a:p>
            <a:pPr marL="514350" indent="-514350">
              <a:buFont typeface="+mj-lt"/>
              <a:buAutoNum type="arabicPeriod" startAt="5"/>
            </a:pPr>
            <a:r>
              <a:rPr lang="en-US" b="1" dirty="0"/>
              <a:t>Supply Chain Cost</a:t>
            </a:r>
          </a:p>
          <a:p>
            <a:pPr lvl="1"/>
            <a:r>
              <a:rPr lang="en-US" dirty="0"/>
              <a:t>co-locate suppliers, pre-select suppliers, avoid outsourcing for cost, avoid long supply chains and low-bidding</a:t>
            </a:r>
          </a:p>
          <a:p>
            <a:pPr marL="514350" indent="-514350">
              <a:buFont typeface="+mj-lt"/>
              <a:buAutoNum type="arabicPeriod" startAt="5"/>
            </a:pPr>
            <a:r>
              <a:rPr lang="en-US" b="1" dirty="0"/>
              <a:t>Quality Cost</a:t>
            </a:r>
          </a:p>
          <a:p>
            <a:pPr lvl="1"/>
            <a:r>
              <a:rPr lang="en-US" dirty="0"/>
              <a:t>cost of quality can be 25-45% of cost, avoid past mistakes, clearly define the requirement, design in quality – Poka Yoke, select quality parts, simplify.</a:t>
            </a:r>
          </a:p>
          <a:p>
            <a:pPr marL="514350" indent="-514350">
              <a:buFont typeface="+mj-lt"/>
              <a:buAutoNum type="arabicPeriod" startAt="5"/>
            </a:pPr>
            <a:r>
              <a:rPr lang="en-US" b="1" dirty="0"/>
              <a:t>Total Cost Management</a:t>
            </a:r>
          </a:p>
          <a:p>
            <a:pPr lvl="1"/>
            <a:r>
              <a:rPr lang="en-US" dirty="0"/>
              <a:t>measure and manage cost drivers.</a:t>
            </a:r>
          </a:p>
          <a:p>
            <a:endParaRPr lang="en-US" dirty="0"/>
          </a:p>
        </p:txBody>
      </p:sp>
    </p:spTree>
    <p:extLst>
      <p:ext uri="{BB962C8B-B14F-4D97-AF65-F5344CB8AC3E}">
        <p14:creationId xmlns:p14="http://schemas.microsoft.com/office/powerpoint/2010/main" val="18759785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Brainstorming Phases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66</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9" name="Content Placeholder 8">
            <a:extLst>
              <a:ext uri="{FF2B5EF4-FFF2-40B4-BE49-F238E27FC236}">
                <a16:creationId xmlns:a16="http://schemas.microsoft.com/office/drawing/2014/main" id="{A7DFAC64-E353-A1D4-0939-74A626C4FA84}"/>
              </a:ext>
            </a:extLst>
          </p:cNvPr>
          <p:cNvSpPr>
            <a:spLocks noGrp="1"/>
          </p:cNvSpPr>
          <p:nvPr>
            <p:ph sz="half" idx="2"/>
          </p:nvPr>
        </p:nvSpPr>
        <p:spPr/>
        <p:txBody>
          <a:bodyPr anchor="ctr">
            <a:normAutofit/>
          </a:bodyPr>
          <a:lstStyle/>
          <a:p>
            <a:pPr marL="514350" indent="-514350">
              <a:buFont typeface="+mj-lt"/>
              <a:buAutoNum type="arabicPeriod"/>
            </a:pPr>
            <a:r>
              <a:rPr lang="en-US" dirty="0"/>
              <a:t>Initial ideas</a:t>
            </a:r>
          </a:p>
          <a:p>
            <a:pPr marL="514350" indent="-514350">
              <a:buFont typeface="+mj-lt"/>
              <a:buAutoNum type="arabicPeriod"/>
            </a:pPr>
            <a:r>
              <a:rPr lang="en-US" dirty="0"/>
              <a:t>Incubation period</a:t>
            </a:r>
          </a:p>
          <a:p>
            <a:pPr marL="514350" indent="-514350">
              <a:buFont typeface="+mj-lt"/>
              <a:buAutoNum type="arabicPeriod"/>
            </a:pPr>
            <a:r>
              <a:rPr lang="en-US" dirty="0"/>
              <a:t>Creative ideas</a:t>
            </a:r>
          </a:p>
        </p:txBody>
      </p:sp>
      <p:grpSp>
        <p:nvGrpSpPr>
          <p:cNvPr id="5" name="Group 24">
            <a:extLst>
              <a:ext uri="{FF2B5EF4-FFF2-40B4-BE49-F238E27FC236}">
                <a16:creationId xmlns:a16="http://schemas.microsoft.com/office/drawing/2014/main" id="{7234C9DD-4DED-5B1B-093B-6629DE670C4F}"/>
              </a:ext>
            </a:extLst>
          </p:cNvPr>
          <p:cNvGrpSpPr>
            <a:grpSpLocks/>
          </p:cNvGrpSpPr>
          <p:nvPr/>
        </p:nvGrpSpPr>
        <p:grpSpPr bwMode="auto">
          <a:xfrm>
            <a:off x="1151875" y="1825625"/>
            <a:ext cx="4011625" cy="3435522"/>
            <a:chOff x="4341641" y="1641827"/>
            <a:chExt cx="4011784" cy="3434810"/>
          </a:xfrm>
        </p:grpSpPr>
        <p:cxnSp>
          <p:nvCxnSpPr>
            <p:cNvPr id="8" name="Straight Arrow Connector 4">
              <a:extLst>
                <a:ext uri="{FF2B5EF4-FFF2-40B4-BE49-F238E27FC236}">
                  <a16:creationId xmlns:a16="http://schemas.microsoft.com/office/drawing/2014/main" id="{444D728D-C7A0-F9C4-6CFB-ADF288A56DEF}"/>
                </a:ext>
              </a:extLst>
            </p:cNvPr>
            <p:cNvCxnSpPr>
              <a:cxnSpLocks noChangeShapeType="1"/>
            </p:cNvCxnSpPr>
            <p:nvPr/>
          </p:nvCxnSpPr>
          <p:spPr bwMode="auto">
            <a:xfrm rot="5400000" flipH="1" flipV="1">
              <a:off x="3182144" y="3321844"/>
              <a:ext cx="2873375" cy="1587"/>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24E89902-858B-504A-1A49-FC59F7D50AB9}"/>
                </a:ext>
              </a:extLst>
            </p:cNvPr>
            <p:cNvCxnSpPr>
              <a:cxnSpLocks noChangeShapeType="1"/>
            </p:cNvCxnSpPr>
            <p:nvPr/>
          </p:nvCxnSpPr>
          <p:spPr bwMode="auto">
            <a:xfrm>
              <a:off x="4619625" y="4732338"/>
              <a:ext cx="3733800" cy="0"/>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Freeform 10">
              <a:extLst>
                <a:ext uri="{FF2B5EF4-FFF2-40B4-BE49-F238E27FC236}">
                  <a16:creationId xmlns:a16="http://schemas.microsoft.com/office/drawing/2014/main" id="{440E2C0D-AB19-6C48-A382-36A254A09773}"/>
                </a:ext>
              </a:extLst>
            </p:cNvPr>
            <p:cNvSpPr>
              <a:spLocks/>
            </p:cNvSpPr>
            <p:nvPr/>
          </p:nvSpPr>
          <p:spPr bwMode="auto">
            <a:xfrm>
              <a:off x="4619625" y="2232025"/>
              <a:ext cx="3390900" cy="2513013"/>
            </a:xfrm>
            <a:custGeom>
              <a:avLst/>
              <a:gdLst>
                <a:gd name="T0" fmla="*/ 0 w 2120348"/>
                <a:gd name="T1" fmla="*/ 1341780 h 2597426"/>
                <a:gd name="T2" fmla="*/ 2147483647 w 2120348"/>
                <a:gd name="T3" fmla="*/ 643507 h 2597426"/>
                <a:gd name="T4" fmla="*/ 2147483647 w 2120348"/>
                <a:gd name="T5" fmla="*/ 527128 h 2597426"/>
                <a:gd name="T6" fmla="*/ 2147483647 w 2120348"/>
                <a:gd name="T7" fmla="*/ 0 h 2597426"/>
                <a:gd name="T8" fmla="*/ 0 60000 65536"/>
                <a:gd name="T9" fmla="*/ 0 60000 65536"/>
                <a:gd name="T10" fmla="*/ 0 60000 65536"/>
                <a:gd name="T11" fmla="*/ 0 60000 65536"/>
                <a:gd name="T12" fmla="*/ 0 w 2120348"/>
                <a:gd name="T13" fmla="*/ 0 h 2597426"/>
                <a:gd name="T14" fmla="*/ 2120348 w 2120348"/>
                <a:gd name="T15" fmla="*/ 2597426 h 2597426"/>
              </a:gdLst>
              <a:ahLst/>
              <a:cxnLst>
                <a:cxn ang="T8">
                  <a:pos x="T0" y="T1"/>
                </a:cxn>
                <a:cxn ang="T9">
                  <a:pos x="T2" y="T3"/>
                </a:cxn>
                <a:cxn ang="T10">
                  <a:pos x="T4" y="T5"/>
                </a:cxn>
                <a:cxn ang="T11">
                  <a:pos x="T6" y="T7"/>
                </a:cxn>
              </a:cxnLst>
              <a:rect l="T12" t="T13" r="T14" b="T15"/>
              <a:pathLst>
                <a:path w="2120348" h="2597426">
                  <a:moveTo>
                    <a:pt x="0" y="2597426"/>
                  </a:moveTo>
                  <a:cubicBezTo>
                    <a:pt x="101600" y="2052983"/>
                    <a:pt x="203200" y="1508540"/>
                    <a:pt x="437322" y="1245705"/>
                  </a:cubicBezTo>
                  <a:cubicBezTo>
                    <a:pt x="671444" y="982870"/>
                    <a:pt x="1124226" y="1228035"/>
                    <a:pt x="1404730" y="1020418"/>
                  </a:cubicBezTo>
                  <a:cubicBezTo>
                    <a:pt x="1685234" y="812801"/>
                    <a:pt x="1902791" y="406400"/>
                    <a:pt x="2120348" y="0"/>
                  </a:cubicBezTo>
                </a:path>
              </a:pathLst>
            </a:custGeom>
            <a:noFill/>
            <a:ln w="57150" cap="flat" cmpd="sng" algn="ctr">
              <a:solidFill>
                <a:schemeClr val="accent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4862" tIns="47429" rIns="94862" bIns="47429"/>
            <a:lstStyle/>
            <a:p>
              <a:endParaRPr lang="en-GB" dirty="0"/>
            </a:p>
          </p:txBody>
        </p:sp>
        <p:sp>
          <p:nvSpPr>
            <p:cNvPr id="12" name="TextBox 13">
              <a:extLst>
                <a:ext uri="{FF2B5EF4-FFF2-40B4-BE49-F238E27FC236}">
                  <a16:creationId xmlns:a16="http://schemas.microsoft.com/office/drawing/2014/main" id="{5F7B93F7-29DD-7404-D50F-C7F12225F2AF}"/>
                </a:ext>
              </a:extLst>
            </p:cNvPr>
            <p:cNvSpPr txBox="1">
              <a:spLocks noChangeArrowheads="1"/>
            </p:cNvSpPr>
            <p:nvPr/>
          </p:nvSpPr>
          <p:spPr bwMode="auto">
            <a:xfrm>
              <a:off x="7697851" y="4770438"/>
              <a:ext cx="593633" cy="30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40" tIns="44970" rIns="89940" bIns="4497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400" b="1" dirty="0">
                  <a:solidFill>
                    <a:schemeClr val="tx1"/>
                  </a:solidFill>
                  <a:latin typeface="+mn-lt"/>
                </a:rPr>
                <a:t>Time</a:t>
              </a:r>
            </a:p>
          </p:txBody>
        </p:sp>
        <p:sp>
          <p:nvSpPr>
            <p:cNvPr id="13" name="TextBox 14">
              <a:extLst>
                <a:ext uri="{FF2B5EF4-FFF2-40B4-BE49-F238E27FC236}">
                  <a16:creationId xmlns:a16="http://schemas.microsoft.com/office/drawing/2014/main" id="{FE6DC645-3FC6-F816-BA3B-F52B20C4D0CD}"/>
                </a:ext>
              </a:extLst>
            </p:cNvPr>
            <p:cNvSpPr txBox="1">
              <a:spLocks noChangeArrowheads="1"/>
            </p:cNvSpPr>
            <p:nvPr/>
          </p:nvSpPr>
          <p:spPr bwMode="auto">
            <a:xfrm>
              <a:off x="4341641" y="1641827"/>
              <a:ext cx="622488" cy="30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40" tIns="44970" rIns="89940" bIns="4497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400" b="1" dirty="0">
                  <a:solidFill>
                    <a:schemeClr val="tx1"/>
                  </a:solidFill>
                  <a:latin typeface="+mn-lt"/>
                </a:rPr>
                <a:t>Ideas</a:t>
              </a:r>
            </a:p>
          </p:txBody>
        </p:sp>
        <p:cxnSp>
          <p:nvCxnSpPr>
            <p:cNvPr id="14" name="Straight Connector 16">
              <a:extLst>
                <a:ext uri="{FF2B5EF4-FFF2-40B4-BE49-F238E27FC236}">
                  <a16:creationId xmlns:a16="http://schemas.microsoft.com/office/drawing/2014/main" id="{BAD6E4B4-3B37-79D0-E774-22F7AA93DAD6}"/>
                </a:ext>
              </a:extLst>
            </p:cNvPr>
            <p:cNvCxnSpPr>
              <a:cxnSpLocks noChangeShapeType="1"/>
              <a:stCxn id="11" idx="1"/>
            </p:cNvCxnSpPr>
            <p:nvPr/>
          </p:nvCxnSpPr>
          <p:spPr bwMode="auto">
            <a:xfrm>
              <a:off x="5318125" y="3436938"/>
              <a:ext cx="14288" cy="1295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 name="Straight Connector 19">
              <a:extLst>
                <a:ext uri="{FF2B5EF4-FFF2-40B4-BE49-F238E27FC236}">
                  <a16:creationId xmlns:a16="http://schemas.microsoft.com/office/drawing/2014/main" id="{82CB75EB-E593-87A7-263C-71506F60EC24}"/>
                </a:ext>
              </a:extLst>
            </p:cNvPr>
            <p:cNvCxnSpPr>
              <a:cxnSpLocks noChangeShapeType="1"/>
            </p:cNvCxnSpPr>
            <p:nvPr/>
          </p:nvCxnSpPr>
          <p:spPr bwMode="auto">
            <a:xfrm rot="5400000">
              <a:off x="5734844" y="4026694"/>
              <a:ext cx="141128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7" name="TextBox 20">
              <a:extLst>
                <a:ext uri="{FF2B5EF4-FFF2-40B4-BE49-F238E27FC236}">
                  <a16:creationId xmlns:a16="http://schemas.microsoft.com/office/drawing/2014/main" id="{A5652FB1-BA26-E880-27F5-F01B2B136072}"/>
                </a:ext>
              </a:extLst>
            </p:cNvPr>
            <p:cNvSpPr txBox="1">
              <a:spLocks noChangeArrowheads="1"/>
            </p:cNvSpPr>
            <p:nvPr/>
          </p:nvSpPr>
          <p:spPr bwMode="auto">
            <a:xfrm rot="16200000">
              <a:off x="4634050" y="4073274"/>
              <a:ext cx="925238" cy="33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40" tIns="44970" rIns="89940" bIns="4497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600" b="1" dirty="0">
                  <a:solidFill>
                    <a:schemeClr val="tx1"/>
                  </a:solidFill>
                  <a:latin typeface="+mn-lt"/>
                </a:rPr>
                <a:t>Phase 1</a:t>
              </a:r>
            </a:p>
          </p:txBody>
        </p:sp>
        <p:sp>
          <p:nvSpPr>
            <p:cNvPr id="24" name="TextBox 21">
              <a:extLst>
                <a:ext uri="{FF2B5EF4-FFF2-40B4-BE49-F238E27FC236}">
                  <a16:creationId xmlns:a16="http://schemas.microsoft.com/office/drawing/2014/main" id="{16D528E6-1CFE-E9CD-0DBB-09561D3BBC0F}"/>
                </a:ext>
              </a:extLst>
            </p:cNvPr>
            <p:cNvSpPr txBox="1">
              <a:spLocks noChangeArrowheads="1"/>
            </p:cNvSpPr>
            <p:nvPr/>
          </p:nvSpPr>
          <p:spPr bwMode="auto">
            <a:xfrm rot="16200000">
              <a:off x="5419070" y="4073273"/>
              <a:ext cx="925238" cy="33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40" tIns="44970" rIns="89940" bIns="4497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600" b="1" dirty="0">
                  <a:solidFill>
                    <a:schemeClr val="tx1"/>
                  </a:solidFill>
                  <a:latin typeface="+mn-lt"/>
                </a:rPr>
                <a:t>Phase 2</a:t>
              </a:r>
            </a:p>
          </p:txBody>
        </p:sp>
        <p:sp>
          <p:nvSpPr>
            <p:cNvPr id="25" name="TextBox 22">
              <a:extLst>
                <a:ext uri="{FF2B5EF4-FFF2-40B4-BE49-F238E27FC236}">
                  <a16:creationId xmlns:a16="http://schemas.microsoft.com/office/drawing/2014/main" id="{BD6D8F60-1602-4ABA-F2A9-4BB95DC60849}"/>
                </a:ext>
              </a:extLst>
            </p:cNvPr>
            <p:cNvSpPr txBox="1">
              <a:spLocks noChangeArrowheads="1"/>
            </p:cNvSpPr>
            <p:nvPr/>
          </p:nvSpPr>
          <p:spPr bwMode="auto">
            <a:xfrm rot="16200000">
              <a:off x="6442212" y="4073273"/>
              <a:ext cx="925238" cy="33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40" tIns="44970" rIns="89940" bIns="4497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600" b="1" dirty="0">
                  <a:solidFill>
                    <a:schemeClr val="tx1"/>
                  </a:solidFill>
                  <a:latin typeface="+mn-lt"/>
                </a:rPr>
                <a:t>Phase 3</a:t>
              </a:r>
            </a:p>
          </p:txBody>
        </p:sp>
      </p:grpSp>
      <p:sp>
        <p:nvSpPr>
          <p:cNvPr id="26" name="Rectangle 3">
            <a:extLst>
              <a:ext uri="{FF2B5EF4-FFF2-40B4-BE49-F238E27FC236}">
                <a16:creationId xmlns:a16="http://schemas.microsoft.com/office/drawing/2014/main" id="{8F822BCB-9968-41A6-9564-B8B34546B192}"/>
              </a:ext>
            </a:extLst>
          </p:cNvPr>
          <p:cNvSpPr>
            <a:spLocks noChangeArrowheads="1"/>
          </p:cNvSpPr>
          <p:nvPr/>
        </p:nvSpPr>
        <p:spPr bwMode="auto">
          <a:xfrm>
            <a:off x="2050771" y="5701091"/>
            <a:ext cx="8153400" cy="369310"/>
          </a:xfrm>
          <a:prstGeom prst="rect">
            <a:avLst/>
          </a:prstGeom>
          <a:solidFill>
            <a:schemeClr val="tx2"/>
          </a:solidFill>
          <a:ln w="9525">
            <a:noFill/>
            <a:miter lim="800000"/>
            <a:headEnd/>
            <a:tailEnd/>
          </a:ln>
          <a:effectLst>
            <a:outerShdw blurRad="50800" dist="38100" dir="2700000" algn="tl" rotWithShape="0">
              <a:prstClr val="black">
                <a:alpha val="40000"/>
              </a:prstClr>
            </a:outerShdw>
          </a:effectLst>
        </p:spPr>
        <p:txBody>
          <a:bodyPr lIns="91417" tIns="45709" rIns="91417" bIns="45709" anchor="b" anchorCtr="1">
            <a:spAutoFit/>
          </a:bodyPr>
          <a:lstStyle/>
          <a:p>
            <a:pPr>
              <a:lnSpc>
                <a:spcPct val="100000"/>
              </a:lnSpc>
              <a:spcBef>
                <a:spcPct val="0"/>
              </a:spcBef>
            </a:pPr>
            <a:r>
              <a:rPr lang="en-US" sz="1800" dirty="0">
                <a:solidFill>
                  <a:schemeClr val="bg1"/>
                </a:solidFill>
              </a:rPr>
              <a:t>Brainstorm to rebellion!</a:t>
            </a:r>
          </a:p>
        </p:txBody>
      </p:sp>
    </p:spTree>
    <p:extLst>
      <p:ext uri="{BB962C8B-B14F-4D97-AF65-F5344CB8AC3E}">
        <p14:creationId xmlns:p14="http://schemas.microsoft.com/office/powerpoint/2010/main" val="18362322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Rules for Brainstorming</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67</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9" name="Content Placeholder 8">
            <a:extLst>
              <a:ext uri="{FF2B5EF4-FFF2-40B4-BE49-F238E27FC236}">
                <a16:creationId xmlns:a16="http://schemas.microsoft.com/office/drawing/2014/main" id="{52175B85-A261-3DBB-D0FA-6C9B954BFDEC}"/>
              </a:ext>
            </a:extLst>
          </p:cNvPr>
          <p:cNvSpPr>
            <a:spLocks noGrp="1"/>
          </p:cNvSpPr>
          <p:nvPr>
            <p:ph sz="half" idx="2"/>
          </p:nvPr>
        </p:nvSpPr>
        <p:spPr/>
        <p:txBody>
          <a:bodyPr anchor="ctr">
            <a:normAutofit fontScale="70000" lnSpcReduction="20000"/>
          </a:bodyPr>
          <a:lstStyle/>
          <a:p>
            <a:r>
              <a:rPr lang="en-US" dirty="0"/>
              <a:t>Choose a facilitator - to scribe, involve and operate ‘rules’</a:t>
            </a:r>
          </a:p>
          <a:p>
            <a:r>
              <a:rPr lang="en-US" dirty="0"/>
              <a:t>Define the problem/concern - write it down</a:t>
            </a:r>
          </a:p>
          <a:p>
            <a:r>
              <a:rPr lang="en-US" dirty="0"/>
              <a:t>Generate as many ideas as possible - </a:t>
            </a:r>
            <a:r>
              <a:rPr lang="en-US" u="sng" dirty="0"/>
              <a:t>quantity</a:t>
            </a:r>
            <a:r>
              <a:rPr lang="en-US" dirty="0"/>
              <a:t> not quality</a:t>
            </a:r>
          </a:p>
          <a:p>
            <a:r>
              <a:rPr lang="en-US" dirty="0"/>
              <a:t>Encourage freewheeling - don’t reject “silly” ideas</a:t>
            </a:r>
          </a:p>
          <a:p>
            <a:r>
              <a:rPr lang="en-US" dirty="0"/>
              <a:t>No criticism - evaluate later</a:t>
            </a:r>
          </a:p>
          <a:p>
            <a:r>
              <a:rPr lang="en-US" u="sng" dirty="0"/>
              <a:t>Everyone</a:t>
            </a:r>
            <a:r>
              <a:rPr lang="en-US" dirty="0"/>
              <a:t> to participate - take turns if necessary</a:t>
            </a:r>
          </a:p>
          <a:p>
            <a:r>
              <a:rPr lang="en-US" dirty="0"/>
              <a:t>Write everything down - don’t edit or interpret</a:t>
            </a:r>
          </a:p>
          <a:p>
            <a:r>
              <a:rPr lang="en-US" dirty="0"/>
              <a:t>Let ideas incubate - allow them to ‘hatch’</a:t>
            </a:r>
          </a:p>
        </p:txBody>
      </p:sp>
      <p:pic>
        <p:nvPicPr>
          <p:cNvPr id="10" name="Content Placeholder 3">
            <a:extLst>
              <a:ext uri="{FF2B5EF4-FFF2-40B4-BE49-F238E27FC236}">
                <a16:creationId xmlns:a16="http://schemas.microsoft.com/office/drawing/2014/main" id="{A0205071-6ED0-1EC0-2D2A-A6321A8DEC7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465550" y="2514971"/>
            <a:ext cx="3978925" cy="2716953"/>
          </a:xfrm>
        </p:spPr>
      </p:pic>
    </p:spTree>
    <p:extLst>
      <p:ext uri="{BB962C8B-B14F-4D97-AF65-F5344CB8AC3E}">
        <p14:creationId xmlns:p14="http://schemas.microsoft.com/office/powerpoint/2010/main" val="26515784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Pattern Breaking Tools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graphicFrame>
        <p:nvGraphicFramePr>
          <p:cNvPr id="13" name="Table 12">
            <a:extLst>
              <a:ext uri="{FF2B5EF4-FFF2-40B4-BE49-F238E27FC236}">
                <a16:creationId xmlns:a16="http://schemas.microsoft.com/office/drawing/2014/main" id="{AA5FAC23-4173-6037-1C84-20A366700C04}"/>
              </a:ext>
            </a:extLst>
          </p:cNvPr>
          <p:cNvGraphicFramePr>
            <a:graphicFrameLocks noGrp="1"/>
          </p:cNvGraphicFramePr>
          <p:nvPr>
            <p:extLst>
              <p:ext uri="{D42A27DB-BD31-4B8C-83A1-F6EECF244321}">
                <p14:modId xmlns:p14="http://schemas.microsoft.com/office/powerpoint/2010/main" val="3272763999"/>
              </p:ext>
            </p:extLst>
          </p:nvPr>
        </p:nvGraphicFramePr>
        <p:xfrm>
          <a:off x="1898367" y="1749707"/>
          <a:ext cx="7977188" cy="4571999"/>
        </p:xfrm>
        <a:graphic>
          <a:graphicData uri="http://schemas.openxmlformats.org/drawingml/2006/table">
            <a:tbl>
              <a:tblPr firstRow="1" bandRow="1">
                <a:tableStyleId>{5940675A-B579-460E-94D1-54222C63F5DA}</a:tableStyleId>
              </a:tblPr>
              <a:tblGrid>
                <a:gridCol w="2126616">
                  <a:extLst>
                    <a:ext uri="{9D8B030D-6E8A-4147-A177-3AD203B41FA5}">
                      <a16:colId xmlns:a16="http://schemas.microsoft.com/office/drawing/2014/main" val="20000"/>
                    </a:ext>
                  </a:extLst>
                </a:gridCol>
                <a:gridCol w="1721491">
                  <a:extLst>
                    <a:ext uri="{9D8B030D-6E8A-4147-A177-3AD203B41FA5}">
                      <a16:colId xmlns:a16="http://schemas.microsoft.com/office/drawing/2014/main" val="20001"/>
                    </a:ext>
                  </a:extLst>
                </a:gridCol>
                <a:gridCol w="4129081">
                  <a:extLst>
                    <a:ext uri="{9D8B030D-6E8A-4147-A177-3AD203B41FA5}">
                      <a16:colId xmlns:a16="http://schemas.microsoft.com/office/drawing/2014/main" val="20002"/>
                    </a:ext>
                  </a:extLst>
                </a:gridCol>
              </a:tblGrid>
              <a:tr h="975361">
                <a:tc>
                  <a:txBody>
                    <a:bodyPr/>
                    <a:lstStyle/>
                    <a:p>
                      <a:pPr algn="l"/>
                      <a:r>
                        <a:rPr lang="en-GB" sz="1800" b="1" dirty="0">
                          <a:solidFill>
                            <a:schemeClr val="tx1"/>
                          </a:solidFill>
                        </a:rPr>
                        <a:t>REVERSING</a:t>
                      </a:r>
                      <a:endParaRPr lang="en-GB" sz="1800" b="1" baseline="0" dirty="0">
                        <a:solidFill>
                          <a:schemeClr val="tx1"/>
                        </a:solidFill>
                      </a:endParaRPr>
                    </a:p>
                    <a:p>
                      <a:pPr algn="l"/>
                      <a:r>
                        <a:rPr lang="en-GB" sz="1800" b="1" baseline="0" dirty="0">
                          <a:solidFill>
                            <a:schemeClr val="tx1"/>
                          </a:solidFill>
                        </a:rPr>
                        <a:t>ASSUMPTIONS</a:t>
                      </a:r>
                      <a:endParaRPr lang="en-GB" sz="1800" b="1" dirty="0">
                        <a:solidFill>
                          <a:schemeClr val="tx1"/>
                        </a:solidFill>
                      </a:endParaRPr>
                    </a:p>
                  </a:txBody>
                  <a:tcPr marL="91444" marR="91444" marT="45708" marB="45708"/>
                </a:tc>
                <a:tc>
                  <a:txBody>
                    <a:bodyPr/>
                    <a:lstStyle/>
                    <a:p>
                      <a:endParaRPr lang="en-GB" sz="1800" b="1" dirty="0"/>
                    </a:p>
                  </a:txBody>
                  <a:tcPr marL="91444" marR="91444" marT="45708" marB="45708"/>
                </a:tc>
                <a:tc>
                  <a:txBody>
                    <a:bodyPr/>
                    <a:lstStyle/>
                    <a:p>
                      <a:r>
                        <a:rPr lang="en-GB" sz="1500" b="1" dirty="0"/>
                        <a:t>List provocative assumptions and reverse e.g. Working faster leads to more mistakes. This is a fallacy.</a:t>
                      </a:r>
                    </a:p>
                  </a:txBody>
                  <a:tcPr marL="71704" marR="35852" marT="45708" marB="45708"/>
                </a:tc>
                <a:extLst>
                  <a:ext uri="{0D108BD9-81ED-4DB2-BD59-A6C34878D82A}">
                    <a16:rowId xmlns:a16="http://schemas.microsoft.com/office/drawing/2014/main" val="10000"/>
                  </a:ext>
                </a:extLst>
              </a:tr>
              <a:tr h="822958">
                <a:tc>
                  <a:txBody>
                    <a:bodyPr/>
                    <a:lstStyle/>
                    <a:p>
                      <a:pPr algn="l"/>
                      <a:r>
                        <a:rPr lang="en-GB" sz="1800" b="1" dirty="0">
                          <a:solidFill>
                            <a:schemeClr val="tx1"/>
                          </a:solidFill>
                        </a:rPr>
                        <a:t>FORCING</a:t>
                      </a:r>
                    </a:p>
                    <a:p>
                      <a:pPr algn="l"/>
                      <a:r>
                        <a:rPr lang="en-GB" sz="1800" b="1" dirty="0">
                          <a:solidFill>
                            <a:schemeClr val="tx1"/>
                          </a:solidFill>
                        </a:rPr>
                        <a:t>ASSOCIATIONS</a:t>
                      </a:r>
                    </a:p>
                  </a:txBody>
                  <a:tcPr marL="91444" marR="91444" marT="45708" marB="45708"/>
                </a:tc>
                <a:tc>
                  <a:txBody>
                    <a:bodyPr/>
                    <a:lstStyle/>
                    <a:p>
                      <a:endParaRPr lang="en-GB" sz="1800" b="1" dirty="0"/>
                    </a:p>
                  </a:txBody>
                  <a:tcPr marL="91444" marR="91444" marT="45708" marB="45708"/>
                </a:tc>
                <a:tc>
                  <a:txBody>
                    <a:bodyPr/>
                    <a:lstStyle/>
                    <a:p>
                      <a:r>
                        <a:rPr lang="en-GB" sz="1500" b="1" dirty="0"/>
                        <a:t>Look at how another technology or service has solved this problem</a:t>
                      </a:r>
                      <a:r>
                        <a:rPr lang="en-GB" sz="1500" b="1" baseline="0" dirty="0"/>
                        <a:t> e.g. engineering look at service and vice-versa.</a:t>
                      </a:r>
                      <a:endParaRPr lang="en-GB" sz="1500" b="1" dirty="0"/>
                    </a:p>
                  </a:txBody>
                  <a:tcPr marL="71704" marR="35852" marT="45708" marB="45708"/>
                </a:tc>
                <a:extLst>
                  <a:ext uri="{0D108BD9-81ED-4DB2-BD59-A6C34878D82A}">
                    <a16:rowId xmlns:a16="http://schemas.microsoft.com/office/drawing/2014/main" val="10001"/>
                  </a:ext>
                </a:extLst>
              </a:tr>
              <a:tr h="822958">
                <a:tc>
                  <a:txBody>
                    <a:bodyPr/>
                    <a:lstStyle/>
                    <a:p>
                      <a:pPr algn="l"/>
                      <a:r>
                        <a:rPr lang="en-GB" sz="1800" b="1" dirty="0">
                          <a:solidFill>
                            <a:schemeClr val="tx1"/>
                          </a:solidFill>
                        </a:rPr>
                        <a:t>MAKING</a:t>
                      </a:r>
                    </a:p>
                    <a:p>
                      <a:pPr algn="l"/>
                      <a:r>
                        <a:rPr lang="en-GB" sz="1800" b="1" dirty="0">
                          <a:solidFill>
                            <a:schemeClr val="tx1"/>
                          </a:solidFill>
                        </a:rPr>
                        <a:t>COMPARISONS</a:t>
                      </a:r>
                    </a:p>
                  </a:txBody>
                  <a:tcPr marL="91444" marR="91444" marT="45708" marB="45708"/>
                </a:tc>
                <a:tc>
                  <a:txBody>
                    <a:bodyPr/>
                    <a:lstStyle/>
                    <a:p>
                      <a:endParaRPr lang="en-GB" sz="1800" b="1" dirty="0"/>
                    </a:p>
                  </a:txBody>
                  <a:tcPr marL="91444" marR="91444" marT="45708" marB="45708"/>
                </a:tc>
                <a:tc>
                  <a:txBody>
                    <a:bodyPr/>
                    <a:lstStyle/>
                    <a:p>
                      <a:r>
                        <a:rPr lang="en-GB" sz="1500" b="1" dirty="0"/>
                        <a:t>Ask how unrelated systems have dealt with the same basic problems e.g. Nature or another industry.</a:t>
                      </a:r>
                    </a:p>
                  </a:txBody>
                  <a:tcPr marL="71704" marR="35852" marT="45708" marB="45708"/>
                </a:tc>
                <a:extLst>
                  <a:ext uri="{0D108BD9-81ED-4DB2-BD59-A6C34878D82A}">
                    <a16:rowId xmlns:a16="http://schemas.microsoft.com/office/drawing/2014/main" val="10002"/>
                  </a:ext>
                </a:extLst>
              </a:tr>
              <a:tr h="975361">
                <a:tc>
                  <a:txBody>
                    <a:bodyPr/>
                    <a:lstStyle/>
                    <a:p>
                      <a:pPr algn="l"/>
                      <a:r>
                        <a:rPr lang="en-GB" sz="1800" b="1" dirty="0">
                          <a:solidFill>
                            <a:schemeClr val="tx1"/>
                          </a:solidFill>
                        </a:rPr>
                        <a:t>OTHER</a:t>
                      </a:r>
                      <a:r>
                        <a:rPr lang="en-GB" sz="1800" b="1" baseline="0" dirty="0">
                          <a:solidFill>
                            <a:schemeClr val="tx1"/>
                          </a:solidFill>
                        </a:rPr>
                        <a:t> POINTS</a:t>
                      </a:r>
                    </a:p>
                    <a:p>
                      <a:pPr algn="l"/>
                      <a:r>
                        <a:rPr lang="en-GB" sz="1800" b="1" baseline="0" dirty="0">
                          <a:solidFill>
                            <a:schemeClr val="tx1"/>
                          </a:solidFill>
                        </a:rPr>
                        <a:t>OF VIEW</a:t>
                      </a:r>
                      <a:endParaRPr lang="en-GB" sz="1800" b="1" dirty="0">
                        <a:solidFill>
                          <a:schemeClr val="tx1"/>
                        </a:solidFill>
                      </a:endParaRPr>
                    </a:p>
                  </a:txBody>
                  <a:tcPr marL="91444" marR="91444" marT="45708" marB="45708"/>
                </a:tc>
                <a:tc>
                  <a:txBody>
                    <a:bodyPr/>
                    <a:lstStyle/>
                    <a:p>
                      <a:endParaRPr lang="en-GB" sz="1800" b="1" dirty="0"/>
                    </a:p>
                  </a:txBody>
                  <a:tcPr marL="91444" marR="91444" marT="45708" marB="45708"/>
                </a:tc>
                <a:tc>
                  <a:txBody>
                    <a:bodyPr/>
                    <a:lstStyle/>
                    <a:p>
                      <a:r>
                        <a:rPr lang="en-GB" sz="1500" b="1" dirty="0"/>
                        <a:t>Look at situation from another stakeholder’s perspective</a:t>
                      </a:r>
                      <a:r>
                        <a:rPr lang="en-GB" sz="1500" b="1" baseline="0" dirty="0"/>
                        <a:t> – useful for areas of conflict e.g. Customer or bosses perspective</a:t>
                      </a:r>
                      <a:endParaRPr lang="en-GB" sz="1500" b="1" dirty="0"/>
                    </a:p>
                  </a:txBody>
                  <a:tcPr marL="71704" marR="35852" marT="45708" marB="45708"/>
                </a:tc>
                <a:extLst>
                  <a:ext uri="{0D108BD9-81ED-4DB2-BD59-A6C34878D82A}">
                    <a16:rowId xmlns:a16="http://schemas.microsoft.com/office/drawing/2014/main" val="10003"/>
                  </a:ext>
                </a:extLst>
              </a:tr>
              <a:tr h="975361">
                <a:tc>
                  <a:txBody>
                    <a:bodyPr/>
                    <a:lstStyle/>
                    <a:p>
                      <a:pPr algn="l"/>
                      <a:r>
                        <a:rPr lang="en-GB" sz="1800" b="1" dirty="0">
                          <a:solidFill>
                            <a:schemeClr val="tx1"/>
                          </a:solidFill>
                        </a:rPr>
                        <a:t>OUTRAGEOUS</a:t>
                      </a:r>
                    </a:p>
                    <a:p>
                      <a:pPr algn="l"/>
                      <a:r>
                        <a:rPr lang="en-GB" sz="1800" b="1" dirty="0">
                          <a:solidFill>
                            <a:schemeClr val="tx1"/>
                          </a:solidFill>
                        </a:rPr>
                        <a:t>IDEA</a:t>
                      </a:r>
                    </a:p>
                  </a:txBody>
                  <a:tcPr marL="91444" marR="91444" marT="45708" marB="45708"/>
                </a:tc>
                <a:tc>
                  <a:txBody>
                    <a:bodyPr/>
                    <a:lstStyle/>
                    <a:p>
                      <a:endParaRPr lang="en-GB" sz="1800" b="1" dirty="0"/>
                    </a:p>
                  </a:txBody>
                  <a:tcPr marL="91444" marR="91444" marT="45708" marB="45708"/>
                </a:tc>
                <a:tc>
                  <a:txBody>
                    <a:bodyPr/>
                    <a:lstStyle/>
                    <a:p>
                      <a:r>
                        <a:rPr lang="en-GB" sz="1500" b="1" dirty="0"/>
                        <a:t>List things that are absurd and would never do. Look for concepts behind these ideas e.g. ‘sailing’ in space =</a:t>
                      </a:r>
                      <a:r>
                        <a:rPr lang="en-GB" sz="1500" b="1" baseline="0" dirty="0"/>
                        <a:t> world-side web</a:t>
                      </a:r>
                      <a:endParaRPr lang="en-GB" sz="1500" b="1" dirty="0"/>
                    </a:p>
                  </a:txBody>
                  <a:tcPr marL="71704" marR="35852" marT="45708" marB="45708"/>
                </a:tc>
                <a:extLst>
                  <a:ext uri="{0D108BD9-81ED-4DB2-BD59-A6C34878D82A}">
                    <a16:rowId xmlns:a16="http://schemas.microsoft.com/office/drawing/2014/main" val="10004"/>
                  </a:ext>
                </a:extLst>
              </a:tr>
            </a:tbl>
          </a:graphicData>
        </a:graphic>
      </p:graphicFrame>
      <p:sp>
        <p:nvSpPr>
          <p:cNvPr id="14" name="Oval 13">
            <a:extLst>
              <a:ext uri="{FF2B5EF4-FFF2-40B4-BE49-F238E27FC236}">
                <a16:creationId xmlns:a16="http://schemas.microsoft.com/office/drawing/2014/main" id="{E78977A1-DB49-167E-C505-E8008A271D92}"/>
              </a:ext>
            </a:extLst>
          </p:cNvPr>
          <p:cNvSpPr/>
          <p:nvPr/>
        </p:nvSpPr>
        <p:spPr bwMode="auto">
          <a:xfrm>
            <a:off x="1552291" y="1981482"/>
            <a:ext cx="336551" cy="336550"/>
          </a:xfrm>
          <a:prstGeom prst="ellipse">
            <a:avLst/>
          </a:prstGeom>
          <a:solidFill>
            <a:schemeClr val="accent4"/>
          </a:solidFill>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lgn="ctr">
              <a:defRPr/>
            </a:pPr>
            <a:r>
              <a:rPr lang="en-GB" sz="1600" dirty="0">
                <a:solidFill>
                  <a:schemeClr val="bg1"/>
                </a:solidFill>
              </a:rPr>
              <a:t>1</a:t>
            </a:r>
          </a:p>
        </p:txBody>
      </p:sp>
      <p:sp>
        <p:nvSpPr>
          <p:cNvPr id="15" name="Oval 14">
            <a:extLst>
              <a:ext uri="{FF2B5EF4-FFF2-40B4-BE49-F238E27FC236}">
                <a16:creationId xmlns:a16="http://schemas.microsoft.com/office/drawing/2014/main" id="{38A059A5-623F-CF69-795F-D8F593C7E442}"/>
              </a:ext>
            </a:extLst>
          </p:cNvPr>
          <p:cNvSpPr/>
          <p:nvPr/>
        </p:nvSpPr>
        <p:spPr bwMode="auto">
          <a:xfrm>
            <a:off x="1552291" y="2806981"/>
            <a:ext cx="336551" cy="336550"/>
          </a:xfrm>
          <a:prstGeom prst="ellipse">
            <a:avLst/>
          </a:prstGeom>
          <a:solidFill>
            <a:schemeClr val="accent4"/>
          </a:solidFill>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lgn="ctr">
              <a:defRPr/>
            </a:pPr>
            <a:r>
              <a:rPr lang="en-GB" sz="1600" dirty="0">
                <a:solidFill>
                  <a:schemeClr val="bg1"/>
                </a:solidFill>
              </a:rPr>
              <a:t>2</a:t>
            </a:r>
          </a:p>
        </p:txBody>
      </p:sp>
      <p:sp>
        <p:nvSpPr>
          <p:cNvPr id="16" name="Oval 15">
            <a:extLst>
              <a:ext uri="{FF2B5EF4-FFF2-40B4-BE49-F238E27FC236}">
                <a16:creationId xmlns:a16="http://schemas.microsoft.com/office/drawing/2014/main" id="{14ECEEA6-B03E-3EBE-63DD-FF4D27F3E823}"/>
              </a:ext>
            </a:extLst>
          </p:cNvPr>
          <p:cNvSpPr/>
          <p:nvPr/>
        </p:nvSpPr>
        <p:spPr bwMode="auto">
          <a:xfrm>
            <a:off x="1552291" y="3632482"/>
            <a:ext cx="336551" cy="336550"/>
          </a:xfrm>
          <a:prstGeom prst="ellipse">
            <a:avLst/>
          </a:prstGeom>
          <a:solidFill>
            <a:schemeClr val="accent4"/>
          </a:solidFill>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lgn="ctr">
              <a:defRPr/>
            </a:pPr>
            <a:r>
              <a:rPr lang="en-GB" sz="1600" dirty="0">
                <a:solidFill>
                  <a:schemeClr val="bg1"/>
                </a:solidFill>
              </a:rPr>
              <a:t>3</a:t>
            </a:r>
          </a:p>
        </p:txBody>
      </p:sp>
      <p:sp>
        <p:nvSpPr>
          <p:cNvPr id="17" name="Oval 16">
            <a:extLst>
              <a:ext uri="{FF2B5EF4-FFF2-40B4-BE49-F238E27FC236}">
                <a16:creationId xmlns:a16="http://schemas.microsoft.com/office/drawing/2014/main" id="{C5BFDF7C-EE12-953D-D3FB-E3124E21A72C}"/>
              </a:ext>
            </a:extLst>
          </p:cNvPr>
          <p:cNvSpPr/>
          <p:nvPr/>
        </p:nvSpPr>
        <p:spPr bwMode="auto">
          <a:xfrm>
            <a:off x="1552291" y="4457981"/>
            <a:ext cx="336551" cy="334962"/>
          </a:xfrm>
          <a:prstGeom prst="ellipse">
            <a:avLst/>
          </a:prstGeom>
          <a:solidFill>
            <a:schemeClr val="accent4"/>
          </a:solidFill>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lgn="ctr">
              <a:defRPr/>
            </a:pPr>
            <a:r>
              <a:rPr lang="en-GB" sz="1600" dirty="0">
                <a:solidFill>
                  <a:schemeClr val="bg1"/>
                </a:solidFill>
              </a:rPr>
              <a:t>4</a:t>
            </a:r>
          </a:p>
        </p:txBody>
      </p:sp>
      <p:sp>
        <p:nvSpPr>
          <p:cNvPr id="18" name="Oval 17">
            <a:extLst>
              <a:ext uri="{FF2B5EF4-FFF2-40B4-BE49-F238E27FC236}">
                <a16:creationId xmlns:a16="http://schemas.microsoft.com/office/drawing/2014/main" id="{B866ABC8-B947-01DD-73F6-EACDCA94B9BE}"/>
              </a:ext>
            </a:extLst>
          </p:cNvPr>
          <p:cNvSpPr/>
          <p:nvPr/>
        </p:nvSpPr>
        <p:spPr bwMode="auto">
          <a:xfrm>
            <a:off x="1552291" y="5281894"/>
            <a:ext cx="336551" cy="336550"/>
          </a:xfrm>
          <a:prstGeom prst="ellipse">
            <a:avLst/>
          </a:prstGeom>
          <a:solidFill>
            <a:schemeClr val="accent4"/>
          </a:solidFill>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lgn="ctr">
              <a:defRPr/>
            </a:pPr>
            <a:r>
              <a:rPr lang="en-GB" sz="1600" dirty="0">
                <a:solidFill>
                  <a:schemeClr val="bg1"/>
                </a:solidFill>
              </a:rPr>
              <a:t>5</a:t>
            </a:r>
          </a:p>
        </p:txBody>
      </p:sp>
      <p:grpSp>
        <p:nvGrpSpPr>
          <p:cNvPr id="19" name="Group 29">
            <a:extLst>
              <a:ext uri="{FF2B5EF4-FFF2-40B4-BE49-F238E27FC236}">
                <a16:creationId xmlns:a16="http://schemas.microsoft.com/office/drawing/2014/main" id="{EEE4793A-2FCB-CE65-6293-0EE3D54EBFA9}"/>
              </a:ext>
            </a:extLst>
          </p:cNvPr>
          <p:cNvGrpSpPr>
            <a:grpSpLocks/>
          </p:cNvGrpSpPr>
          <p:nvPr/>
        </p:nvGrpSpPr>
        <p:grpSpPr bwMode="auto">
          <a:xfrm>
            <a:off x="4163728" y="1933856"/>
            <a:ext cx="1487488" cy="577850"/>
            <a:chOff x="5625631" y="1914367"/>
            <a:chExt cx="1493685" cy="597112"/>
          </a:xfrm>
          <a:solidFill>
            <a:schemeClr val="accent4"/>
          </a:solidFill>
        </p:grpSpPr>
        <p:sp>
          <p:nvSpPr>
            <p:cNvPr id="20" name="Curved Right Arrow 13">
              <a:extLst>
                <a:ext uri="{FF2B5EF4-FFF2-40B4-BE49-F238E27FC236}">
                  <a16:creationId xmlns:a16="http://schemas.microsoft.com/office/drawing/2014/main" id="{76CF43C0-5FB2-E080-9E4A-DC58B6FBA33F}"/>
                </a:ext>
              </a:extLst>
            </p:cNvPr>
            <p:cNvSpPr/>
            <p:nvPr/>
          </p:nvSpPr>
          <p:spPr bwMode="auto">
            <a:xfrm>
              <a:off x="5625631" y="1957018"/>
              <a:ext cx="644022" cy="554461"/>
            </a:xfrm>
            <a:prstGeom prst="curvedRightArrow">
              <a:avLst/>
            </a:prstGeom>
            <a:grp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21" name="Curved Right Arrow 14">
              <a:extLst>
                <a:ext uri="{FF2B5EF4-FFF2-40B4-BE49-F238E27FC236}">
                  <a16:creationId xmlns:a16="http://schemas.microsoft.com/office/drawing/2014/main" id="{DBD4F14B-CE80-FB39-53B1-3E6751CCA8ED}"/>
                </a:ext>
              </a:extLst>
            </p:cNvPr>
            <p:cNvSpPr/>
            <p:nvPr/>
          </p:nvSpPr>
          <p:spPr bwMode="auto">
            <a:xfrm flipH="1" flipV="1">
              <a:off x="6475294" y="1914367"/>
              <a:ext cx="644022" cy="554461"/>
            </a:xfrm>
            <a:prstGeom prst="curvedRightArrow">
              <a:avLst/>
            </a:prstGeom>
            <a:grp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grpSp>
      <p:grpSp>
        <p:nvGrpSpPr>
          <p:cNvPr id="22" name="Group 32">
            <a:extLst>
              <a:ext uri="{FF2B5EF4-FFF2-40B4-BE49-F238E27FC236}">
                <a16:creationId xmlns:a16="http://schemas.microsoft.com/office/drawing/2014/main" id="{657FE7A3-58B6-75C0-F7AD-739F22E8A330}"/>
              </a:ext>
            </a:extLst>
          </p:cNvPr>
          <p:cNvGrpSpPr>
            <a:grpSpLocks/>
          </p:cNvGrpSpPr>
          <p:nvPr/>
        </p:nvGrpSpPr>
        <p:grpSpPr bwMode="auto">
          <a:xfrm>
            <a:off x="4227229" y="2940331"/>
            <a:ext cx="1358900" cy="409575"/>
            <a:chOff x="5424772" y="2896976"/>
            <a:chExt cx="1893808" cy="423228"/>
          </a:xfrm>
        </p:grpSpPr>
        <p:sp>
          <p:nvSpPr>
            <p:cNvPr id="23" name="Right Arrow 15">
              <a:extLst>
                <a:ext uri="{FF2B5EF4-FFF2-40B4-BE49-F238E27FC236}">
                  <a16:creationId xmlns:a16="http://schemas.microsoft.com/office/drawing/2014/main" id="{33E8621C-80AB-7E93-B96D-3B19BA5938DB}"/>
                </a:ext>
              </a:extLst>
            </p:cNvPr>
            <p:cNvSpPr/>
            <p:nvPr/>
          </p:nvSpPr>
          <p:spPr bwMode="auto">
            <a:xfrm>
              <a:off x="5424772" y="2896976"/>
              <a:ext cx="1013276" cy="423228"/>
            </a:xfrm>
            <a:prstGeom prst="rightArrow">
              <a:avLst/>
            </a:prstGeom>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24" name="Right Arrow 16">
              <a:extLst>
                <a:ext uri="{FF2B5EF4-FFF2-40B4-BE49-F238E27FC236}">
                  <a16:creationId xmlns:a16="http://schemas.microsoft.com/office/drawing/2014/main" id="{E0B6EC0D-E9E6-DA0F-EB2D-845DF7B10593}"/>
                </a:ext>
              </a:extLst>
            </p:cNvPr>
            <p:cNvSpPr/>
            <p:nvPr/>
          </p:nvSpPr>
          <p:spPr bwMode="auto">
            <a:xfrm flipH="1">
              <a:off x="6305304" y="2896976"/>
              <a:ext cx="1013276" cy="423228"/>
            </a:xfrm>
            <a:prstGeom prst="rightArrow">
              <a:avLst/>
            </a:prstGeom>
            <a:solidFill>
              <a:schemeClr val="accent4"/>
            </a:solid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grpSp>
      <p:grpSp>
        <p:nvGrpSpPr>
          <p:cNvPr id="25" name="Group 35">
            <a:extLst>
              <a:ext uri="{FF2B5EF4-FFF2-40B4-BE49-F238E27FC236}">
                <a16:creationId xmlns:a16="http://schemas.microsoft.com/office/drawing/2014/main" id="{E0EAB1EB-34F8-C040-C6FF-4B48A2A6AF82}"/>
              </a:ext>
            </a:extLst>
          </p:cNvPr>
          <p:cNvGrpSpPr>
            <a:grpSpLocks/>
          </p:cNvGrpSpPr>
          <p:nvPr/>
        </p:nvGrpSpPr>
        <p:grpSpPr bwMode="auto">
          <a:xfrm>
            <a:off x="4214529" y="3605493"/>
            <a:ext cx="1384300" cy="658813"/>
            <a:chOff x="5676642" y="3569547"/>
            <a:chExt cx="1390068" cy="680773"/>
          </a:xfrm>
        </p:grpSpPr>
        <p:sp>
          <p:nvSpPr>
            <p:cNvPr id="26" name="Isosceles Triangle 25">
              <a:extLst>
                <a:ext uri="{FF2B5EF4-FFF2-40B4-BE49-F238E27FC236}">
                  <a16:creationId xmlns:a16="http://schemas.microsoft.com/office/drawing/2014/main" id="{D3D09457-F077-ACEF-3A5D-E41515C97CDA}"/>
                </a:ext>
              </a:extLst>
            </p:cNvPr>
            <p:cNvSpPr/>
            <p:nvPr/>
          </p:nvSpPr>
          <p:spPr bwMode="auto">
            <a:xfrm>
              <a:off x="5711713" y="3771319"/>
              <a:ext cx="433599" cy="337926"/>
            </a:xfrm>
            <a:prstGeom prst="triangle">
              <a:avLst/>
            </a:prstGeom>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27" name="Chord 26">
              <a:extLst>
                <a:ext uri="{FF2B5EF4-FFF2-40B4-BE49-F238E27FC236}">
                  <a16:creationId xmlns:a16="http://schemas.microsoft.com/office/drawing/2014/main" id="{23CE72BC-B2A9-63E5-67D6-60B746100C7E}"/>
                </a:ext>
              </a:extLst>
            </p:cNvPr>
            <p:cNvSpPr/>
            <p:nvPr/>
          </p:nvSpPr>
          <p:spPr bwMode="auto">
            <a:xfrm rot="20913237">
              <a:off x="5676642" y="3705702"/>
              <a:ext cx="514900" cy="544618"/>
            </a:xfrm>
            <a:prstGeom prst="chord">
              <a:avLst>
                <a:gd name="adj1" fmla="val 2700000"/>
                <a:gd name="adj2" fmla="val 9491910"/>
              </a:avLst>
            </a:prstGeom>
            <a:solidFill>
              <a:schemeClr val="accent4"/>
            </a:solid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28" name="Isosceles Triangle 27">
              <a:extLst>
                <a:ext uri="{FF2B5EF4-FFF2-40B4-BE49-F238E27FC236}">
                  <a16:creationId xmlns:a16="http://schemas.microsoft.com/office/drawing/2014/main" id="{C2D1E6A0-D565-4D6B-B90E-C32812651577}"/>
                </a:ext>
              </a:extLst>
            </p:cNvPr>
            <p:cNvSpPr/>
            <p:nvPr/>
          </p:nvSpPr>
          <p:spPr bwMode="auto">
            <a:xfrm>
              <a:off x="6586882" y="3771319"/>
              <a:ext cx="433599" cy="337926"/>
            </a:xfrm>
            <a:prstGeom prst="triangle">
              <a:avLst/>
            </a:prstGeom>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29" name="Chord 28">
              <a:extLst>
                <a:ext uri="{FF2B5EF4-FFF2-40B4-BE49-F238E27FC236}">
                  <a16:creationId xmlns:a16="http://schemas.microsoft.com/office/drawing/2014/main" id="{FE0984E4-07AC-73F7-6532-7651410EBAB2}"/>
                </a:ext>
              </a:extLst>
            </p:cNvPr>
            <p:cNvSpPr/>
            <p:nvPr/>
          </p:nvSpPr>
          <p:spPr bwMode="auto">
            <a:xfrm rot="20913237">
              <a:off x="6551811" y="3705702"/>
              <a:ext cx="514899" cy="544618"/>
            </a:xfrm>
            <a:prstGeom prst="chord">
              <a:avLst>
                <a:gd name="adj1" fmla="val 2700000"/>
                <a:gd name="adj2" fmla="val 9491910"/>
              </a:avLst>
            </a:prstGeom>
            <a:solidFill>
              <a:schemeClr val="accent4"/>
            </a:solid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cxnSp>
          <p:nvCxnSpPr>
            <p:cNvPr id="30" name="Straight Connector 27">
              <a:extLst>
                <a:ext uri="{FF2B5EF4-FFF2-40B4-BE49-F238E27FC236}">
                  <a16:creationId xmlns:a16="http://schemas.microsoft.com/office/drawing/2014/main" id="{9890C0B5-513A-E338-0D1B-D94D11A22E75}"/>
                </a:ext>
              </a:extLst>
            </p:cNvPr>
            <p:cNvCxnSpPr>
              <a:cxnSpLocks noChangeShapeType="1"/>
            </p:cNvCxnSpPr>
            <p:nvPr/>
          </p:nvCxnSpPr>
          <p:spPr bwMode="auto">
            <a:xfrm rot="5400000" flipH="1" flipV="1">
              <a:off x="6365953" y="3334408"/>
              <a:ext cx="0" cy="875080"/>
            </a:xfrm>
            <a:prstGeom prst="line">
              <a:avLst/>
            </a:prstGeom>
            <a:noFill/>
            <a:ln w="28575" cap="sq" algn="ctr">
              <a:solidFill>
                <a:schemeClr val="tx1"/>
              </a:solidFill>
              <a:round/>
              <a:headEnd/>
              <a:tailEnd/>
            </a:ln>
            <a:extLst>
              <a:ext uri="{909E8E84-426E-40DD-AFC4-6F175D3DCCD1}">
                <a14:hiddenFill xmlns:a14="http://schemas.microsoft.com/office/drawing/2010/main">
                  <a:noFill/>
                </a14:hiddenFill>
              </a:ext>
            </a:extLst>
          </p:spPr>
        </p:cxnSp>
        <p:cxnSp>
          <p:nvCxnSpPr>
            <p:cNvPr id="31" name="Straight Connector 29">
              <a:extLst>
                <a:ext uri="{FF2B5EF4-FFF2-40B4-BE49-F238E27FC236}">
                  <a16:creationId xmlns:a16="http://schemas.microsoft.com/office/drawing/2014/main" id="{378291FF-A4C6-BAB3-5161-18BA974E7B87}"/>
                </a:ext>
              </a:extLst>
            </p:cNvPr>
            <p:cNvCxnSpPr>
              <a:cxnSpLocks noChangeShapeType="1"/>
            </p:cNvCxnSpPr>
            <p:nvPr/>
          </p:nvCxnSpPr>
          <p:spPr bwMode="auto">
            <a:xfrm rot="5400000" flipH="1" flipV="1">
              <a:off x="6245775" y="3665293"/>
              <a:ext cx="191491" cy="0"/>
            </a:xfrm>
            <a:prstGeom prst="line">
              <a:avLst/>
            </a:prstGeom>
            <a:noFill/>
            <a:ln w="28575" cap="sq" algn="ctr">
              <a:solidFill>
                <a:schemeClr val="tx1"/>
              </a:solidFill>
              <a:round/>
              <a:headEnd/>
              <a:tailEnd/>
            </a:ln>
            <a:extLst>
              <a:ext uri="{909E8E84-426E-40DD-AFC4-6F175D3DCCD1}">
                <a14:hiddenFill xmlns:a14="http://schemas.microsoft.com/office/drawing/2010/main">
                  <a:noFill/>
                </a14:hiddenFill>
              </a:ext>
            </a:extLst>
          </p:spPr>
        </p:cxnSp>
      </p:grpSp>
      <p:grpSp>
        <p:nvGrpSpPr>
          <p:cNvPr id="32" name="Group 36">
            <a:extLst>
              <a:ext uri="{FF2B5EF4-FFF2-40B4-BE49-F238E27FC236}">
                <a16:creationId xmlns:a16="http://schemas.microsoft.com/office/drawing/2014/main" id="{8A2B84AA-5DF0-136A-FEF0-FBF00A8AC9FB}"/>
              </a:ext>
            </a:extLst>
          </p:cNvPr>
          <p:cNvGrpSpPr>
            <a:grpSpLocks/>
          </p:cNvGrpSpPr>
          <p:nvPr/>
        </p:nvGrpSpPr>
        <p:grpSpPr bwMode="auto">
          <a:xfrm>
            <a:off x="4222467" y="4492906"/>
            <a:ext cx="1370012" cy="790575"/>
            <a:chOff x="5684613" y="4366791"/>
            <a:chExt cx="1375721" cy="816928"/>
          </a:xfrm>
          <a:solidFill>
            <a:schemeClr val="accent4"/>
          </a:solidFill>
        </p:grpSpPr>
        <p:sp>
          <p:nvSpPr>
            <p:cNvPr id="33" name="Right Arrow 30">
              <a:extLst>
                <a:ext uri="{FF2B5EF4-FFF2-40B4-BE49-F238E27FC236}">
                  <a16:creationId xmlns:a16="http://schemas.microsoft.com/office/drawing/2014/main" id="{4091AEC1-B604-5693-20BA-B7BCCD2558B3}"/>
                </a:ext>
              </a:extLst>
            </p:cNvPr>
            <p:cNvSpPr/>
            <p:nvPr/>
          </p:nvSpPr>
          <p:spPr bwMode="auto">
            <a:xfrm flipH="1">
              <a:off x="6443412" y="4650584"/>
              <a:ext cx="616922" cy="257545"/>
            </a:xfrm>
            <a:prstGeom prst="rightArrow">
              <a:avLst/>
            </a:prstGeom>
            <a:grp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34" name="Right Arrow 31">
              <a:extLst>
                <a:ext uri="{FF2B5EF4-FFF2-40B4-BE49-F238E27FC236}">
                  <a16:creationId xmlns:a16="http://schemas.microsoft.com/office/drawing/2014/main" id="{150F39CF-419F-78D5-515F-DF50755422C5}"/>
                </a:ext>
              </a:extLst>
            </p:cNvPr>
            <p:cNvSpPr/>
            <p:nvPr/>
          </p:nvSpPr>
          <p:spPr bwMode="auto">
            <a:xfrm>
              <a:off x="5684613" y="4650584"/>
              <a:ext cx="616922" cy="257545"/>
            </a:xfrm>
            <a:prstGeom prst="rightArrow">
              <a:avLst/>
            </a:prstGeom>
            <a:grp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35" name="Right Arrow 33">
              <a:extLst>
                <a:ext uri="{FF2B5EF4-FFF2-40B4-BE49-F238E27FC236}">
                  <a16:creationId xmlns:a16="http://schemas.microsoft.com/office/drawing/2014/main" id="{4A1D7C34-383D-BE06-640B-CBD9BE382E48}"/>
                </a:ext>
              </a:extLst>
            </p:cNvPr>
            <p:cNvSpPr/>
            <p:nvPr/>
          </p:nvSpPr>
          <p:spPr bwMode="auto">
            <a:xfrm rot="16200000" flipH="1">
              <a:off x="6183028" y="4427910"/>
              <a:ext cx="377296" cy="255058"/>
            </a:xfrm>
            <a:prstGeom prst="rightArrow">
              <a:avLst/>
            </a:prstGeom>
            <a:grp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
          <p:nvSpPr>
            <p:cNvPr id="36" name="Right Arrow 34">
              <a:extLst>
                <a:ext uri="{FF2B5EF4-FFF2-40B4-BE49-F238E27FC236}">
                  <a16:creationId xmlns:a16="http://schemas.microsoft.com/office/drawing/2014/main" id="{1EC2A568-CA0E-7A31-78AD-6A6C38EA4122}"/>
                </a:ext>
              </a:extLst>
            </p:cNvPr>
            <p:cNvSpPr/>
            <p:nvPr/>
          </p:nvSpPr>
          <p:spPr bwMode="auto">
            <a:xfrm rot="5400000" flipH="1" flipV="1">
              <a:off x="6183028" y="4867542"/>
              <a:ext cx="377296" cy="255058"/>
            </a:xfrm>
            <a:prstGeom prst="rightArrow">
              <a:avLst/>
            </a:prstGeom>
            <a:grpFill/>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grpSp>
      <p:sp>
        <p:nvSpPr>
          <p:cNvPr id="37" name="Lightning Bolt 36">
            <a:extLst>
              <a:ext uri="{FF2B5EF4-FFF2-40B4-BE49-F238E27FC236}">
                <a16:creationId xmlns:a16="http://schemas.microsoft.com/office/drawing/2014/main" id="{C91CA43F-895B-A358-949B-FF3CB8603861}"/>
              </a:ext>
            </a:extLst>
          </p:cNvPr>
          <p:cNvSpPr/>
          <p:nvPr/>
        </p:nvSpPr>
        <p:spPr bwMode="auto">
          <a:xfrm>
            <a:off x="4228816" y="5489652"/>
            <a:ext cx="1355725" cy="568325"/>
          </a:xfrm>
          <a:prstGeom prst="lightningBolt">
            <a:avLst/>
          </a:prstGeom>
          <a:ln>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0" bIns="0" anchor="ctr"/>
          <a:lstStyle/>
          <a:p>
            <a:pPr>
              <a:defRPr/>
            </a:pPr>
            <a:endParaRPr lang="en-GB" sz="700" dirty="0">
              <a:solidFill>
                <a:schemeClr val="tx1"/>
              </a:solidFill>
            </a:endParaRPr>
          </a:p>
        </p:txBody>
      </p:sp>
    </p:spTree>
    <p:extLst>
      <p:ext uri="{BB962C8B-B14F-4D97-AF65-F5344CB8AC3E}">
        <p14:creationId xmlns:p14="http://schemas.microsoft.com/office/powerpoint/2010/main" val="41053578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Ideas Generator</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69</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graphicFrame>
        <p:nvGraphicFramePr>
          <p:cNvPr id="38" name="Table 37">
            <a:extLst>
              <a:ext uri="{FF2B5EF4-FFF2-40B4-BE49-F238E27FC236}">
                <a16:creationId xmlns:a16="http://schemas.microsoft.com/office/drawing/2014/main" id="{4A24E3FE-636C-9CD2-212A-0B19CBFFE33D}"/>
              </a:ext>
            </a:extLst>
          </p:cNvPr>
          <p:cNvGraphicFramePr>
            <a:graphicFrameLocks noGrp="1"/>
          </p:cNvGraphicFramePr>
          <p:nvPr>
            <p:extLst>
              <p:ext uri="{D42A27DB-BD31-4B8C-83A1-F6EECF244321}">
                <p14:modId xmlns:p14="http://schemas.microsoft.com/office/powerpoint/2010/main" val="2605041049"/>
              </p:ext>
            </p:extLst>
          </p:nvPr>
        </p:nvGraphicFramePr>
        <p:xfrm>
          <a:off x="838200" y="1834081"/>
          <a:ext cx="10337800" cy="4355674"/>
        </p:xfrm>
        <a:graphic>
          <a:graphicData uri="http://schemas.openxmlformats.org/drawingml/2006/table">
            <a:tbl>
              <a:tblPr/>
              <a:tblGrid>
                <a:gridCol w="2692136">
                  <a:extLst>
                    <a:ext uri="{9D8B030D-6E8A-4147-A177-3AD203B41FA5}">
                      <a16:colId xmlns:a16="http://schemas.microsoft.com/office/drawing/2014/main" val="3424167760"/>
                    </a:ext>
                  </a:extLst>
                </a:gridCol>
                <a:gridCol w="7645664">
                  <a:extLst>
                    <a:ext uri="{9D8B030D-6E8A-4147-A177-3AD203B41FA5}">
                      <a16:colId xmlns:a16="http://schemas.microsoft.com/office/drawing/2014/main" val="3992549519"/>
                    </a:ext>
                  </a:extLst>
                </a:gridCol>
              </a:tblGrid>
              <a:tr h="274232">
                <a:tc gridSpan="2">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Checklist for New Ideas</a:t>
                      </a: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en-GB"/>
                    </a:p>
                  </a:txBody>
                  <a:tcPr/>
                </a:tc>
                <a:extLst>
                  <a:ext uri="{0D108BD9-81ED-4DB2-BD59-A6C34878D82A}">
                    <a16:rowId xmlns:a16="http://schemas.microsoft.com/office/drawing/2014/main" val="2389841918"/>
                  </a:ext>
                </a:extLst>
              </a:tr>
              <a:tr h="377632">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Think of other uses</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New use? Amend it?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2105658"/>
                  </a:ext>
                </a:extLst>
              </a:tr>
              <a:tr h="25754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Apply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What does it look like? Copy it?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0963667"/>
                  </a:ext>
                </a:extLst>
              </a:tr>
              <a:tr h="377632">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Revise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Can you change it? Think of its shape, form, movement.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97995602"/>
                  </a:ext>
                </a:extLst>
              </a:tr>
              <a:tr h="377632">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Expand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Add something. Add time, length, constituent element.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3067683"/>
                  </a:ext>
                </a:extLst>
              </a:tr>
              <a:tr h="25754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Reduce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Curtail something. Compress it. Eliminate it?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01777659"/>
                  </a:ext>
                </a:extLst>
              </a:tr>
              <a:tr h="44216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Substitute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Any other man, material, and/or machine? What happens if you change the constituent elements of process?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4297812"/>
                  </a:ext>
                </a:extLst>
              </a:tr>
              <a:tr h="377632">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Sort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Review layout and configuration. What about procedure and sequence?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08176319"/>
                  </a:ext>
                </a:extLst>
              </a:tr>
              <a:tr h="377632">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Reverse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Reverse “plus” and “minus” (advantage and disadvantage). Go in reverse.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51125662"/>
                  </a:ext>
                </a:extLst>
              </a:tr>
              <a:tr h="377632">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Combine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Combine mixture, assortment, combination and ideas.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064734"/>
                  </a:ext>
                </a:extLst>
              </a:tr>
              <a:tr h="222531">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mn-lt"/>
                        </a:rPr>
                        <a:t>Steal it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r>
                        <a:rPr lang="en-US" dirty="0">
                          <a:solidFill>
                            <a:schemeClr val="tx1"/>
                          </a:solidFill>
                          <a:latin typeface="+mn-lt"/>
                        </a:rPr>
                        <a:t>Steal technology, steal method.</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05425395"/>
                  </a:ext>
                </a:extLst>
              </a:tr>
            </a:tbl>
          </a:graphicData>
        </a:graphic>
      </p:graphicFrame>
    </p:spTree>
    <p:extLst>
      <p:ext uri="{BB962C8B-B14F-4D97-AF65-F5344CB8AC3E}">
        <p14:creationId xmlns:p14="http://schemas.microsoft.com/office/powerpoint/2010/main" val="6877895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Back to Nature Examples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grpSp>
        <p:nvGrpSpPr>
          <p:cNvPr id="75" name="Group 74">
            <a:extLst>
              <a:ext uri="{FF2B5EF4-FFF2-40B4-BE49-F238E27FC236}">
                <a16:creationId xmlns:a16="http://schemas.microsoft.com/office/drawing/2014/main" id="{993BA0D9-0E63-03A2-E40E-D464BD856D43}"/>
              </a:ext>
            </a:extLst>
          </p:cNvPr>
          <p:cNvGrpSpPr/>
          <p:nvPr/>
        </p:nvGrpSpPr>
        <p:grpSpPr>
          <a:xfrm>
            <a:off x="909797" y="1766948"/>
            <a:ext cx="10372407" cy="4405252"/>
            <a:chOff x="360363" y="1328738"/>
            <a:chExt cx="8555038" cy="4843462"/>
          </a:xfrm>
        </p:grpSpPr>
        <p:pic>
          <p:nvPicPr>
            <p:cNvPr id="44" name="Picture 43">
              <a:extLst>
                <a:ext uri="{FF2B5EF4-FFF2-40B4-BE49-F238E27FC236}">
                  <a16:creationId xmlns:a16="http://schemas.microsoft.com/office/drawing/2014/main" id="{DFA85FA0-3AB1-EE0D-BDA7-AA2639F0E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8385" y="1468021"/>
              <a:ext cx="1460317" cy="1104762"/>
            </a:xfrm>
            <a:prstGeom prst="rect">
              <a:avLst/>
            </a:prstGeom>
          </p:spPr>
        </p:pic>
        <p:pic>
          <p:nvPicPr>
            <p:cNvPr id="45" name="Picture 44">
              <a:extLst>
                <a:ext uri="{FF2B5EF4-FFF2-40B4-BE49-F238E27FC236}">
                  <a16:creationId xmlns:a16="http://schemas.microsoft.com/office/drawing/2014/main" id="{39A1E2D0-0BF1-4B4C-5C01-6632A0F494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325" y="1547145"/>
              <a:ext cx="1333333" cy="1003174"/>
            </a:xfrm>
            <a:prstGeom prst="rect">
              <a:avLst/>
            </a:prstGeom>
          </p:spPr>
        </p:pic>
        <p:sp>
          <p:nvSpPr>
            <p:cNvPr id="46" name="Text Box 37">
              <a:extLst>
                <a:ext uri="{FF2B5EF4-FFF2-40B4-BE49-F238E27FC236}">
                  <a16:creationId xmlns:a16="http://schemas.microsoft.com/office/drawing/2014/main" id="{997D122E-3EC1-0085-7053-A813CA83F83C}"/>
                </a:ext>
              </a:extLst>
            </p:cNvPr>
            <p:cNvSpPr txBox="1">
              <a:spLocks noChangeArrowheads="1"/>
            </p:cNvSpPr>
            <p:nvPr/>
          </p:nvSpPr>
          <p:spPr bwMode="auto">
            <a:xfrm>
              <a:off x="4049714" y="4216371"/>
              <a:ext cx="1406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Separate</a:t>
              </a:r>
              <a:endParaRPr lang="en-US" altLang="ja-JP" dirty="0">
                <a:solidFill>
                  <a:srgbClr val="000000"/>
                </a:solidFill>
                <a:latin typeface="+mn-lt"/>
                <a:ea typeface="MS PGothic" pitchFamily="34" charset="-128"/>
              </a:endParaRPr>
            </a:p>
          </p:txBody>
        </p:sp>
        <p:sp>
          <p:nvSpPr>
            <p:cNvPr id="47" name="Text Box 43">
              <a:extLst>
                <a:ext uri="{FF2B5EF4-FFF2-40B4-BE49-F238E27FC236}">
                  <a16:creationId xmlns:a16="http://schemas.microsoft.com/office/drawing/2014/main" id="{E12F7C8D-1267-2045-52CC-4908C78F8B68}"/>
                </a:ext>
              </a:extLst>
            </p:cNvPr>
            <p:cNvSpPr txBox="1">
              <a:spLocks noChangeArrowheads="1"/>
            </p:cNvSpPr>
            <p:nvPr/>
          </p:nvSpPr>
          <p:spPr bwMode="auto">
            <a:xfrm>
              <a:off x="7795759" y="5038696"/>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Crawl</a:t>
              </a:r>
              <a:endParaRPr lang="en-US" altLang="ja-JP" dirty="0">
                <a:solidFill>
                  <a:srgbClr val="000000"/>
                </a:solidFill>
                <a:latin typeface="+mn-lt"/>
                <a:ea typeface="MS PGothic" pitchFamily="34" charset="-128"/>
              </a:endParaRPr>
            </a:p>
          </p:txBody>
        </p:sp>
        <p:pic>
          <p:nvPicPr>
            <p:cNvPr id="48" name="Picture 14">
              <a:extLst>
                <a:ext uri="{FF2B5EF4-FFF2-40B4-BE49-F238E27FC236}">
                  <a16:creationId xmlns:a16="http://schemas.microsoft.com/office/drawing/2014/main" id="{51E26AA0-50AB-FEC4-E527-A2352A10AE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1076" y="4291014"/>
              <a:ext cx="158432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pic>
          <p:nvPicPr>
            <p:cNvPr id="49" name="Picture 15">
              <a:extLst>
                <a:ext uri="{FF2B5EF4-FFF2-40B4-BE49-F238E27FC236}">
                  <a16:creationId xmlns:a16="http://schemas.microsoft.com/office/drawing/2014/main" id="{015960F2-88A9-29CD-CC40-02D89B42D1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9639" y="2982913"/>
              <a:ext cx="1074737"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pic>
          <p:nvPicPr>
            <p:cNvPr id="50" name="Picture 16">
              <a:extLst>
                <a:ext uri="{FF2B5EF4-FFF2-40B4-BE49-F238E27FC236}">
                  <a16:creationId xmlns:a16="http://schemas.microsoft.com/office/drawing/2014/main" id="{382C99A4-00C2-B52D-B01F-4306342FB092}"/>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7178270" y="1362076"/>
              <a:ext cx="1661337"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
          <p:nvSpPr>
            <p:cNvPr id="51" name="Text Box 42">
              <a:extLst>
                <a:ext uri="{FF2B5EF4-FFF2-40B4-BE49-F238E27FC236}">
                  <a16:creationId xmlns:a16="http://schemas.microsoft.com/office/drawing/2014/main" id="{53B91438-5BB6-4CA1-93A2-8B436A7ECF93}"/>
                </a:ext>
              </a:extLst>
            </p:cNvPr>
            <p:cNvSpPr txBox="1">
              <a:spLocks noChangeArrowheads="1"/>
            </p:cNvSpPr>
            <p:nvPr/>
          </p:nvSpPr>
          <p:spPr bwMode="auto">
            <a:xfrm>
              <a:off x="7677412" y="2405033"/>
              <a:ext cx="8547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Shear</a:t>
              </a:r>
              <a:endParaRPr lang="en-US" altLang="ja-JP" dirty="0">
                <a:solidFill>
                  <a:srgbClr val="000000"/>
                </a:solidFill>
                <a:latin typeface="+mn-lt"/>
                <a:ea typeface="MS PGothic" pitchFamily="34" charset="-128"/>
              </a:endParaRPr>
            </a:p>
          </p:txBody>
        </p:sp>
        <p:sp>
          <p:nvSpPr>
            <p:cNvPr id="52" name="Text Box 41">
              <a:extLst>
                <a:ext uri="{FF2B5EF4-FFF2-40B4-BE49-F238E27FC236}">
                  <a16:creationId xmlns:a16="http://schemas.microsoft.com/office/drawing/2014/main" id="{A3E01EBD-8ACD-1C9C-8124-2535CF9AD50A}"/>
                </a:ext>
              </a:extLst>
            </p:cNvPr>
            <p:cNvSpPr txBox="1">
              <a:spLocks noChangeArrowheads="1"/>
            </p:cNvSpPr>
            <p:nvPr/>
          </p:nvSpPr>
          <p:spPr bwMode="auto">
            <a:xfrm>
              <a:off x="5230245" y="3005108"/>
              <a:ext cx="10150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Adhere</a:t>
              </a:r>
              <a:endParaRPr lang="en-US" altLang="ja-JP" dirty="0">
                <a:solidFill>
                  <a:srgbClr val="000000"/>
                </a:solidFill>
                <a:latin typeface="+mn-lt"/>
                <a:ea typeface="MS PGothic" pitchFamily="34" charset="-128"/>
              </a:endParaRPr>
            </a:p>
          </p:txBody>
        </p:sp>
        <p:pic>
          <p:nvPicPr>
            <p:cNvPr id="53" name="Picture 18">
              <a:extLst>
                <a:ext uri="{FF2B5EF4-FFF2-40B4-BE49-F238E27FC236}">
                  <a16:creationId xmlns:a16="http://schemas.microsoft.com/office/drawing/2014/main" id="{948FA9BE-DEF5-382C-E5D6-2BD462D723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2963"/>
            <a:stretch>
              <a:fillRect/>
            </a:stretch>
          </p:blipFill>
          <p:spPr bwMode="auto">
            <a:xfrm>
              <a:off x="1965326" y="4127501"/>
              <a:ext cx="152717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
          <p:nvSpPr>
            <p:cNvPr id="54" name="Text Box 36">
              <a:extLst>
                <a:ext uri="{FF2B5EF4-FFF2-40B4-BE49-F238E27FC236}">
                  <a16:creationId xmlns:a16="http://schemas.microsoft.com/office/drawing/2014/main" id="{3D0B11B7-119B-ABA9-3F4F-3ED9930D3C2C}"/>
                </a:ext>
              </a:extLst>
            </p:cNvPr>
            <p:cNvSpPr txBox="1">
              <a:spLocks noChangeArrowheads="1"/>
            </p:cNvSpPr>
            <p:nvPr/>
          </p:nvSpPr>
          <p:spPr bwMode="auto">
            <a:xfrm>
              <a:off x="1878385" y="5084733"/>
              <a:ext cx="15937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Encapsulate</a:t>
              </a:r>
              <a:endParaRPr lang="en-US" altLang="ja-JP" dirty="0">
                <a:solidFill>
                  <a:srgbClr val="000000"/>
                </a:solidFill>
                <a:latin typeface="+mn-lt"/>
                <a:ea typeface="MS PGothic" pitchFamily="34" charset="-128"/>
              </a:endParaRPr>
            </a:p>
          </p:txBody>
        </p:sp>
        <p:pic>
          <p:nvPicPr>
            <p:cNvPr id="55" name="Picture 20">
              <a:extLst>
                <a:ext uri="{FF2B5EF4-FFF2-40B4-BE49-F238E27FC236}">
                  <a16:creationId xmlns:a16="http://schemas.microsoft.com/office/drawing/2014/main" id="{8B5E4EE5-666C-0936-D739-593E5C22A1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6675" y="1328738"/>
              <a:ext cx="1595439"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
          <p:nvSpPr>
            <p:cNvPr id="56" name="Text Box 40">
              <a:extLst>
                <a:ext uri="{FF2B5EF4-FFF2-40B4-BE49-F238E27FC236}">
                  <a16:creationId xmlns:a16="http://schemas.microsoft.com/office/drawing/2014/main" id="{35139D12-ABB3-7F5B-502C-2B79D52C3BC9}"/>
                </a:ext>
              </a:extLst>
            </p:cNvPr>
            <p:cNvSpPr txBox="1">
              <a:spLocks noChangeArrowheads="1"/>
            </p:cNvSpPr>
            <p:nvPr/>
          </p:nvSpPr>
          <p:spPr bwMode="auto">
            <a:xfrm>
              <a:off x="5526699" y="2024033"/>
              <a:ext cx="7777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Cling</a:t>
              </a:r>
              <a:endParaRPr lang="en-US" altLang="ja-JP" dirty="0">
                <a:solidFill>
                  <a:srgbClr val="000000"/>
                </a:solidFill>
                <a:latin typeface="+mn-lt"/>
                <a:ea typeface="MS PGothic" pitchFamily="34" charset="-128"/>
              </a:endParaRPr>
            </a:p>
          </p:txBody>
        </p:sp>
        <p:pic>
          <p:nvPicPr>
            <p:cNvPr id="57" name="Picture 21">
              <a:extLst>
                <a:ext uri="{FF2B5EF4-FFF2-40B4-BE49-F238E27FC236}">
                  <a16:creationId xmlns:a16="http://schemas.microsoft.com/office/drawing/2014/main" id="{D3CE1397-F990-DFD5-12A4-301D9C3121B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363" y="4198939"/>
              <a:ext cx="1365251"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pic>
          <p:nvPicPr>
            <p:cNvPr id="58" name="Picture 22">
              <a:extLst>
                <a:ext uri="{FF2B5EF4-FFF2-40B4-BE49-F238E27FC236}">
                  <a16:creationId xmlns:a16="http://schemas.microsoft.com/office/drawing/2014/main" id="{04C0448D-4D03-1727-5022-272D0E1E39B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41951" y="4149726"/>
              <a:ext cx="1741488"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
          <p:nvSpPr>
            <p:cNvPr id="59" name="Text Box 45">
              <a:extLst>
                <a:ext uri="{FF2B5EF4-FFF2-40B4-BE49-F238E27FC236}">
                  <a16:creationId xmlns:a16="http://schemas.microsoft.com/office/drawing/2014/main" id="{93DB37FB-5053-FFC8-BAEB-BA098468484C}"/>
                </a:ext>
              </a:extLst>
            </p:cNvPr>
            <p:cNvSpPr txBox="1">
              <a:spLocks noChangeArrowheads="1"/>
            </p:cNvSpPr>
            <p:nvPr/>
          </p:nvSpPr>
          <p:spPr bwMode="auto">
            <a:xfrm>
              <a:off x="6434742" y="4766439"/>
              <a:ext cx="764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latin typeface="+mn-lt"/>
                  <a:ea typeface="MS PGothic" pitchFamily="34" charset="-128"/>
                </a:rPr>
                <a:t>Buoy</a:t>
              </a:r>
              <a:endParaRPr lang="en-US" altLang="ja-JP" dirty="0">
                <a:latin typeface="+mn-lt"/>
                <a:ea typeface="MS PGothic" pitchFamily="34" charset="-128"/>
              </a:endParaRPr>
            </a:p>
          </p:txBody>
        </p:sp>
        <p:sp>
          <p:nvSpPr>
            <p:cNvPr id="60" name="Text Box 47">
              <a:extLst>
                <a:ext uri="{FF2B5EF4-FFF2-40B4-BE49-F238E27FC236}">
                  <a16:creationId xmlns:a16="http://schemas.microsoft.com/office/drawing/2014/main" id="{492FCF3A-C16D-E378-BF9D-C8E1337C1189}"/>
                </a:ext>
              </a:extLst>
            </p:cNvPr>
            <p:cNvSpPr txBox="1">
              <a:spLocks noChangeArrowheads="1"/>
            </p:cNvSpPr>
            <p:nvPr/>
          </p:nvSpPr>
          <p:spPr bwMode="auto">
            <a:xfrm>
              <a:off x="373063" y="4194939"/>
              <a:ext cx="9128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latin typeface="+mn-lt"/>
                  <a:ea typeface="MS PGothic" pitchFamily="34" charset="-128"/>
                </a:rPr>
                <a:t>Hinge</a:t>
              </a:r>
              <a:endParaRPr lang="en-US" altLang="ja-JP" dirty="0">
                <a:latin typeface="+mn-lt"/>
                <a:ea typeface="MS PGothic" pitchFamily="34" charset="-128"/>
              </a:endParaRPr>
            </a:p>
          </p:txBody>
        </p:sp>
        <p:sp>
          <p:nvSpPr>
            <p:cNvPr id="61" name="Text Box 35">
              <a:extLst>
                <a:ext uri="{FF2B5EF4-FFF2-40B4-BE49-F238E27FC236}">
                  <a16:creationId xmlns:a16="http://schemas.microsoft.com/office/drawing/2014/main" id="{83D7F801-361A-6F08-72A2-6D56A09BDEAD}"/>
                </a:ext>
              </a:extLst>
            </p:cNvPr>
            <p:cNvSpPr txBox="1">
              <a:spLocks noChangeArrowheads="1"/>
            </p:cNvSpPr>
            <p:nvPr/>
          </p:nvSpPr>
          <p:spPr bwMode="auto">
            <a:xfrm>
              <a:off x="1919289" y="1411258"/>
              <a:ext cx="8350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Move</a:t>
              </a:r>
              <a:endParaRPr lang="en-US" altLang="ja-JP" dirty="0">
                <a:solidFill>
                  <a:srgbClr val="000000"/>
                </a:solidFill>
                <a:latin typeface="+mn-lt"/>
                <a:ea typeface="MS PGothic" pitchFamily="34" charset="-128"/>
              </a:endParaRPr>
            </a:p>
          </p:txBody>
        </p:sp>
        <p:pic>
          <p:nvPicPr>
            <p:cNvPr id="62" name="Picture 23">
              <a:extLst>
                <a:ext uri="{FF2B5EF4-FFF2-40B4-BE49-F238E27FC236}">
                  <a16:creationId xmlns:a16="http://schemas.microsoft.com/office/drawing/2014/main" id="{8CA02A97-FBF7-9CE7-219B-3113F6D806A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14775" y="1370014"/>
              <a:ext cx="1042988"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
          <p:nvSpPr>
            <p:cNvPr id="63" name="Text Box 38">
              <a:extLst>
                <a:ext uri="{FF2B5EF4-FFF2-40B4-BE49-F238E27FC236}">
                  <a16:creationId xmlns:a16="http://schemas.microsoft.com/office/drawing/2014/main" id="{EC9BA3A9-1458-6106-61B2-0239ACD9B244}"/>
                </a:ext>
              </a:extLst>
            </p:cNvPr>
            <p:cNvSpPr txBox="1">
              <a:spLocks noChangeArrowheads="1"/>
            </p:cNvSpPr>
            <p:nvPr/>
          </p:nvSpPr>
          <p:spPr bwMode="auto">
            <a:xfrm>
              <a:off x="3586809" y="2084358"/>
              <a:ext cx="9460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Attach</a:t>
              </a:r>
              <a:endParaRPr lang="en-US" altLang="ja-JP" dirty="0">
                <a:solidFill>
                  <a:srgbClr val="000000"/>
                </a:solidFill>
                <a:latin typeface="+mn-lt"/>
                <a:ea typeface="MS PGothic" pitchFamily="34" charset="-128"/>
              </a:endParaRPr>
            </a:p>
          </p:txBody>
        </p:sp>
        <p:pic>
          <p:nvPicPr>
            <p:cNvPr id="64" name="Picture 24">
              <a:extLst>
                <a:ext uri="{FF2B5EF4-FFF2-40B4-BE49-F238E27FC236}">
                  <a16:creationId xmlns:a16="http://schemas.microsoft.com/office/drawing/2014/main" id="{0D4731EE-792F-FB85-AC1E-F285371359B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b="-192"/>
            <a:stretch>
              <a:fillRect/>
            </a:stretch>
          </p:blipFill>
          <p:spPr bwMode="auto">
            <a:xfrm>
              <a:off x="3683000" y="2779714"/>
              <a:ext cx="1506539"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
          <p:nvSpPr>
            <p:cNvPr id="65" name="Text Box 39">
              <a:extLst>
                <a:ext uri="{FF2B5EF4-FFF2-40B4-BE49-F238E27FC236}">
                  <a16:creationId xmlns:a16="http://schemas.microsoft.com/office/drawing/2014/main" id="{4161B19A-B0A4-E9C5-8CC7-3C8746010D39}"/>
                </a:ext>
              </a:extLst>
            </p:cNvPr>
            <p:cNvSpPr txBox="1">
              <a:spLocks noChangeArrowheads="1"/>
            </p:cNvSpPr>
            <p:nvPr/>
          </p:nvSpPr>
          <p:spPr bwMode="auto">
            <a:xfrm>
              <a:off x="4531100" y="3538507"/>
              <a:ext cx="6639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Grip</a:t>
              </a:r>
              <a:endParaRPr lang="en-US" altLang="ja-JP" dirty="0">
                <a:solidFill>
                  <a:srgbClr val="000000"/>
                </a:solidFill>
                <a:latin typeface="+mn-lt"/>
                <a:ea typeface="MS PGothic" pitchFamily="34" charset="-128"/>
              </a:endParaRPr>
            </a:p>
          </p:txBody>
        </p:sp>
        <p:pic>
          <p:nvPicPr>
            <p:cNvPr id="66" name="Picture 38" descr="C:\Users\Administrator\Documents\berries.gif">
              <a:extLst>
                <a:ext uri="{FF2B5EF4-FFF2-40B4-BE49-F238E27FC236}">
                  <a16:creationId xmlns:a16="http://schemas.microsoft.com/office/drawing/2014/main" id="{D9FD985B-863D-075D-809E-F5543A7F356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89349" y="4183063"/>
              <a:ext cx="1150939"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2" descr="http://fohn.net/camel-pictures-facts/the-pictures/Arabian-Camel-800x600.jpg">
              <a:extLst>
                <a:ext uri="{FF2B5EF4-FFF2-40B4-BE49-F238E27FC236}">
                  <a16:creationId xmlns:a16="http://schemas.microsoft.com/office/drawing/2014/main" id="{467E7C04-2AFF-CDCF-794F-ED58752003B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56488" y="2990851"/>
              <a:ext cx="1290637"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41">
              <a:extLst>
                <a:ext uri="{FF2B5EF4-FFF2-40B4-BE49-F238E27FC236}">
                  <a16:creationId xmlns:a16="http://schemas.microsoft.com/office/drawing/2014/main" id="{B0E90CF8-C27F-6A67-7590-01906FAA5203}"/>
                </a:ext>
              </a:extLst>
            </p:cNvPr>
            <p:cNvSpPr txBox="1">
              <a:spLocks noChangeArrowheads="1"/>
            </p:cNvSpPr>
            <p:nvPr/>
          </p:nvSpPr>
          <p:spPr bwMode="auto">
            <a:xfrm>
              <a:off x="8035290" y="3630583"/>
              <a:ext cx="7088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Cool</a:t>
              </a:r>
              <a:endParaRPr lang="en-US" altLang="ja-JP" dirty="0">
                <a:solidFill>
                  <a:srgbClr val="000000"/>
                </a:solidFill>
                <a:latin typeface="+mn-lt"/>
                <a:ea typeface="MS PGothic" pitchFamily="34" charset="-128"/>
              </a:endParaRPr>
            </a:p>
          </p:txBody>
        </p:sp>
        <p:sp>
          <p:nvSpPr>
            <p:cNvPr id="69" name="Text Box 34">
              <a:extLst>
                <a:ext uri="{FF2B5EF4-FFF2-40B4-BE49-F238E27FC236}">
                  <a16:creationId xmlns:a16="http://schemas.microsoft.com/office/drawing/2014/main" id="{FC4EA436-D8D5-3F26-46E1-49FF86F70262}"/>
                </a:ext>
              </a:extLst>
            </p:cNvPr>
            <p:cNvSpPr txBox="1">
              <a:spLocks noChangeArrowheads="1"/>
            </p:cNvSpPr>
            <p:nvPr/>
          </p:nvSpPr>
          <p:spPr bwMode="auto">
            <a:xfrm>
              <a:off x="592366" y="2205008"/>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Spin</a:t>
              </a:r>
              <a:endParaRPr lang="en-US" altLang="ja-JP" dirty="0">
                <a:solidFill>
                  <a:srgbClr val="000000"/>
                </a:solidFill>
                <a:latin typeface="+mn-lt"/>
                <a:ea typeface="MS PGothic" pitchFamily="34" charset="-128"/>
              </a:endParaRPr>
            </a:p>
          </p:txBody>
        </p:sp>
        <p:pic>
          <p:nvPicPr>
            <p:cNvPr id="70" name="Picture 4" descr="http://www.wildliferanger.co.uk/users/www.wildliferanger.co.uk/upload/For%20the%20Wind%20008%20RPC1.JPG">
              <a:extLst>
                <a:ext uri="{FF2B5EF4-FFF2-40B4-BE49-F238E27FC236}">
                  <a16:creationId xmlns:a16="http://schemas.microsoft.com/office/drawing/2014/main" id="{509BF4C5-907F-CD22-C695-CFBE45A1486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79626" y="2628901"/>
              <a:ext cx="1255713"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Text Box 38">
              <a:extLst>
                <a:ext uri="{FF2B5EF4-FFF2-40B4-BE49-F238E27FC236}">
                  <a16:creationId xmlns:a16="http://schemas.microsoft.com/office/drawing/2014/main" id="{870BD13F-424A-036C-7816-543C15F8BF03}"/>
                </a:ext>
              </a:extLst>
            </p:cNvPr>
            <p:cNvSpPr txBox="1">
              <a:spLocks noChangeArrowheads="1"/>
            </p:cNvSpPr>
            <p:nvPr/>
          </p:nvSpPr>
          <p:spPr bwMode="auto">
            <a:xfrm>
              <a:off x="1982745" y="3645664"/>
              <a:ext cx="761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Float</a:t>
              </a:r>
              <a:endParaRPr lang="en-US" altLang="ja-JP" dirty="0">
                <a:solidFill>
                  <a:srgbClr val="000000"/>
                </a:solidFill>
                <a:latin typeface="+mn-lt"/>
                <a:ea typeface="MS PGothic" pitchFamily="34" charset="-128"/>
              </a:endParaRPr>
            </a:p>
          </p:txBody>
        </p:sp>
        <p:pic>
          <p:nvPicPr>
            <p:cNvPr id="72" name="Picture 6" descr="http://farm1.static.flickr.com/34/65695163_cdfe24b14b_s.jpg">
              <a:extLst>
                <a:ext uri="{FF2B5EF4-FFF2-40B4-BE49-F238E27FC236}">
                  <a16:creationId xmlns:a16="http://schemas.microsoft.com/office/drawing/2014/main" id="{0AA2E6E7-F60F-B311-E246-14093D2AB0F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1476" y="2698751"/>
              <a:ext cx="1279525"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Text Box 38">
              <a:extLst>
                <a:ext uri="{FF2B5EF4-FFF2-40B4-BE49-F238E27FC236}">
                  <a16:creationId xmlns:a16="http://schemas.microsoft.com/office/drawing/2014/main" id="{EEC41CED-8DDA-3B37-A68E-94E4A1DA02E5}"/>
                </a:ext>
              </a:extLst>
            </p:cNvPr>
            <p:cNvSpPr txBox="1">
              <a:spLocks noChangeArrowheads="1"/>
            </p:cNvSpPr>
            <p:nvPr/>
          </p:nvSpPr>
          <p:spPr bwMode="auto">
            <a:xfrm>
              <a:off x="377635" y="2793177"/>
              <a:ext cx="7745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defRPr sz="900" b="1">
                  <a:solidFill>
                    <a:schemeClr val="bg1"/>
                  </a:solidFill>
                  <a:latin typeface="Arial" charset="0"/>
                </a:defRPr>
              </a:lvl1pPr>
              <a:lvl2pPr marL="742950" indent="-285750">
                <a:defRPr sz="900" b="1">
                  <a:solidFill>
                    <a:schemeClr val="bg1"/>
                  </a:solidFill>
                  <a:latin typeface="Arial" charset="0"/>
                </a:defRPr>
              </a:lvl2pPr>
              <a:lvl3pPr marL="1143000" indent="-228600">
                <a:defRPr sz="900" b="1">
                  <a:solidFill>
                    <a:schemeClr val="bg1"/>
                  </a:solidFill>
                  <a:latin typeface="Arial" charset="0"/>
                </a:defRPr>
              </a:lvl3pPr>
              <a:lvl4pPr marL="1600200" indent="-228600">
                <a:defRPr sz="900" b="1">
                  <a:solidFill>
                    <a:schemeClr val="bg1"/>
                  </a:solidFill>
                  <a:latin typeface="Arial" charset="0"/>
                </a:defRPr>
              </a:lvl4pPr>
              <a:lvl5pPr marL="2057400" indent="-228600">
                <a:defRPr sz="900" b="1">
                  <a:solidFill>
                    <a:schemeClr val="bg1"/>
                  </a:solidFill>
                  <a:latin typeface="Arial" charset="0"/>
                </a:defRPr>
              </a:lvl5pPr>
              <a:lvl6pPr marL="2514600" indent="-228600" algn="ctr" eaLnBrk="0" fontAlgn="base" hangingPunct="0">
                <a:lnSpc>
                  <a:spcPct val="80000"/>
                </a:lnSpc>
                <a:spcBef>
                  <a:spcPct val="20000"/>
                </a:spcBef>
                <a:spcAft>
                  <a:spcPct val="0"/>
                </a:spcAft>
                <a:defRPr sz="900" b="1">
                  <a:solidFill>
                    <a:schemeClr val="bg1"/>
                  </a:solidFill>
                  <a:latin typeface="Arial" charset="0"/>
                </a:defRPr>
              </a:lvl6pPr>
              <a:lvl7pPr marL="2971800" indent="-228600" algn="ctr" eaLnBrk="0" fontAlgn="base" hangingPunct="0">
                <a:lnSpc>
                  <a:spcPct val="80000"/>
                </a:lnSpc>
                <a:spcBef>
                  <a:spcPct val="20000"/>
                </a:spcBef>
                <a:spcAft>
                  <a:spcPct val="0"/>
                </a:spcAft>
                <a:defRPr sz="900" b="1">
                  <a:solidFill>
                    <a:schemeClr val="bg1"/>
                  </a:solidFill>
                  <a:latin typeface="Arial" charset="0"/>
                </a:defRPr>
              </a:lvl7pPr>
              <a:lvl8pPr marL="3429000" indent="-228600" algn="ctr" eaLnBrk="0" fontAlgn="base" hangingPunct="0">
                <a:lnSpc>
                  <a:spcPct val="80000"/>
                </a:lnSpc>
                <a:spcBef>
                  <a:spcPct val="20000"/>
                </a:spcBef>
                <a:spcAft>
                  <a:spcPct val="0"/>
                </a:spcAft>
                <a:defRPr sz="900" b="1">
                  <a:solidFill>
                    <a:schemeClr val="bg1"/>
                  </a:solidFill>
                  <a:latin typeface="Arial" charset="0"/>
                </a:defRPr>
              </a:lvl8pPr>
              <a:lvl9pPr marL="3886200" indent="-228600" algn="ctr" eaLnBrk="0" fontAlgn="base" hangingPunct="0">
                <a:lnSpc>
                  <a:spcPct val="80000"/>
                </a:lnSpc>
                <a:spcBef>
                  <a:spcPct val="20000"/>
                </a:spcBef>
                <a:spcAft>
                  <a:spcPct val="0"/>
                </a:spcAft>
                <a:defRPr sz="900" b="1">
                  <a:solidFill>
                    <a:schemeClr val="bg1"/>
                  </a:solidFill>
                  <a:latin typeface="Arial" charset="0"/>
                </a:defRPr>
              </a:lvl9pPr>
            </a:lstStyle>
            <a:p>
              <a:r>
                <a:rPr lang="en-US" altLang="ja-JP" sz="2000" dirty="0">
                  <a:solidFill>
                    <a:srgbClr val="000000"/>
                  </a:solidFill>
                  <a:latin typeface="+mn-lt"/>
                  <a:ea typeface="MS PGothic" pitchFamily="34" charset="-128"/>
                </a:rPr>
                <a:t>Bend</a:t>
              </a:r>
              <a:endParaRPr lang="en-US" altLang="ja-JP" dirty="0">
                <a:solidFill>
                  <a:srgbClr val="000000"/>
                </a:solidFill>
                <a:latin typeface="+mn-lt"/>
                <a:ea typeface="MS PGothic" pitchFamily="34" charset="-128"/>
              </a:endParaRPr>
            </a:p>
          </p:txBody>
        </p:sp>
        <p:sp>
          <p:nvSpPr>
            <p:cNvPr id="74" name="Rectangle 3">
              <a:extLst>
                <a:ext uri="{FF2B5EF4-FFF2-40B4-BE49-F238E27FC236}">
                  <a16:creationId xmlns:a16="http://schemas.microsoft.com/office/drawing/2014/main" id="{8B9FF5DB-1592-1C18-B724-EDFBEF68C8BF}"/>
                </a:ext>
              </a:extLst>
            </p:cNvPr>
            <p:cNvSpPr>
              <a:spLocks noChangeArrowheads="1"/>
            </p:cNvSpPr>
            <p:nvPr/>
          </p:nvSpPr>
          <p:spPr bwMode="auto">
            <a:xfrm>
              <a:off x="457203" y="5766153"/>
              <a:ext cx="8153400" cy="406047"/>
            </a:xfrm>
            <a:prstGeom prst="rect">
              <a:avLst/>
            </a:prstGeom>
            <a:solidFill>
              <a:schemeClr val="tx2"/>
            </a:solidFill>
            <a:ln w="9525">
              <a:noFill/>
              <a:miter lim="800000"/>
              <a:headEnd/>
              <a:tailEnd/>
            </a:ln>
            <a:effectLst>
              <a:outerShdw blurRad="50800" dist="38100" dir="2700000" algn="tl" rotWithShape="0">
                <a:prstClr val="black">
                  <a:alpha val="40000"/>
                </a:prstClr>
              </a:outerShdw>
            </a:effectLst>
          </p:spPr>
          <p:txBody>
            <a:bodyPr lIns="91417" tIns="45709" rIns="91417" bIns="45709" anchor="b" anchorCtr="1">
              <a:spAutoFit/>
            </a:bodyPr>
            <a:lstStyle/>
            <a:p>
              <a:pPr defTabSz="914856">
                <a:defRPr/>
              </a:pPr>
              <a:r>
                <a:rPr lang="en-GB" sz="1800" dirty="0">
                  <a:solidFill>
                    <a:schemeClr val="bg1"/>
                  </a:solidFill>
                </a:rPr>
                <a:t>Nature has spent millions of years refining these phenomena</a:t>
              </a:r>
            </a:p>
          </p:txBody>
        </p:sp>
      </p:grpSp>
    </p:spTree>
    <p:extLst>
      <p:ext uri="{BB962C8B-B14F-4D97-AF65-F5344CB8AC3E}">
        <p14:creationId xmlns:p14="http://schemas.microsoft.com/office/powerpoint/2010/main" val="28049742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Affinity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grpSp>
        <p:nvGrpSpPr>
          <p:cNvPr id="332" name="Group 331">
            <a:extLst>
              <a:ext uri="{FF2B5EF4-FFF2-40B4-BE49-F238E27FC236}">
                <a16:creationId xmlns:a16="http://schemas.microsoft.com/office/drawing/2014/main" id="{ABF2A70A-F462-737D-3BFC-46445D6E3993}"/>
              </a:ext>
            </a:extLst>
          </p:cNvPr>
          <p:cNvGrpSpPr/>
          <p:nvPr/>
        </p:nvGrpSpPr>
        <p:grpSpPr>
          <a:xfrm>
            <a:off x="1866900" y="1885950"/>
            <a:ext cx="8458200" cy="4590242"/>
            <a:chOff x="352425" y="1436688"/>
            <a:chExt cx="8458200" cy="5058026"/>
          </a:xfrm>
        </p:grpSpPr>
        <p:sp>
          <p:nvSpPr>
            <p:cNvPr id="188" name="Rectangle 45">
              <a:extLst>
                <a:ext uri="{FF2B5EF4-FFF2-40B4-BE49-F238E27FC236}">
                  <a16:creationId xmlns:a16="http://schemas.microsoft.com/office/drawing/2014/main" id="{D6BB854F-2F2B-6763-801C-4CC6E506A6BD}"/>
                </a:ext>
              </a:extLst>
            </p:cNvPr>
            <p:cNvSpPr>
              <a:spLocks noChangeArrowheads="1"/>
            </p:cNvSpPr>
            <p:nvPr/>
          </p:nvSpPr>
          <p:spPr bwMode="auto">
            <a:xfrm>
              <a:off x="457200" y="1436688"/>
              <a:ext cx="2206625" cy="1077912"/>
            </a:xfrm>
            <a:prstGeom prst="rect">
              <a:avLst/>
            </a:prstGeom>
            <a:solidFill>
              <a:schemeClr val="bg2"/>
            </a:solidFill>
            <a:ln w="12700" cap="sq" algn="ctr">
              <a:solidFill>
                <a:schemeClr val="tx1"/>
              </a:solidFill>
              <a:miter lim="800000"/>
              <a:headEnd/>
              <a:tailEnd/>
            </a:ln>
          </p:spPr>
          <p:txBody>
            <a:bodyPr wrap="none" anchor="ctr"/>
            <a:lstStyle/>
            <a:p>
              <a:endParaRPr lang="en-US" dirty="0"/>
            </a:p>
          </p:txBody>
        </p:sp>
        <p:sp>
          <p:nvSpPr>
            <p:cNvPr id="189" name="Rectangle 45">
              <a:extLst>
                <a:ext uri="{FF2B5EF4-FFF2-40B4-BE49-F238E27FC236}">
                  <a16:creationId xmlns:a16="http://schemas.microsoft.com/office/drawing/2014/main" id="{215AE1BD-5282-4EBA-744F-33215FF1098A}"/>
                </a:ext>
              </a:extLst>
            </p:cNvPr>
            <p:cNvSpPr>
              <a:spLocks noChangeArrowheads="1"/>
            </p:cNvSpPr>
            <p:nvPr/>
          </p:nvSpPr>
          <p:spPr bwMode="auto">
            <a:xfrm>
              <a:off x="3467100" y="1436688"/>
              <a:ext cx="2206625" cy="1077912"/>
            </a:xfrm>
            <a:prstGeom prst="rect">
              <a:avLst/>
            </a:prstGeom>
            <a:solidFill>
              <a:schemeClr val="bg2"/>
            </a:solidFill>
            <a:ln w="12700" cap="sq" algn="ctr">
              <a:solidFill>
                <a:schemeClr val="tx1"/>
              </a:solidFill>
              <a:miter lim="800000"/>
              <a:headEnd/>
              <a:tailEnd/>
            </a:ln>
          </p:spPr>
          <p:txBody>
            <a:bodyPr wrap="none" anchor="ctr"/>
            <a:lstStyle/>
            <a:p>
              <a:endParaRPr lang="en-US" dirty="0"/>
            </a:p>
          </p:txBody>
        </p:sp>
        <p:sp>
          <p:nvSpPr>
            <p:cNvPr id="190" name="Rectangle 45">
              <a:extLst>
                <a:ext uri="{FF2B5EF4-FFF2-40B4-BE49-F238E27FC236}">
                  <a16:creationId xmlns:a16="http://schemas.microsoft.com/office/drawing/2014/main" id="{F240F5F4-9D03-EE47-812F-F0E2D4713EB5}"/>
                </a:ext>
              </a:extLst>
            </p:cNvPr>
            <p:cNvSpPr>
              <a:spLocks noChangeArrowheads="1"/>
            </p:cNvSpPr>
            <p:nvPr/>
          </p:nvSpPr>
          <p:spPr bwMode="auto">
            <a:xfrm>
              <a:off x="6477000" y="1436688"/>
              <a:ext cx="2206625" cy="1077912"/>
            </a:xfrm>
            <a:prstGeom prst="rect">
              <a:avLst/>
            </a:prstGeom>
            <a:solidFill>
              <a:schemeClr val="bg2"/>
            </a:solidFill>
            <a:ln w="12700" cap="sq" algn="ctr">
              <a:solidFill>
                <a:schemeClr val="tx1"/>
              </a:solidFill>
              <a:miter lim="800000"/>
              <a:headEnd/>
              <a:tailEnd/>
            </a:ln>
          </p:spPr>
          <p:txBody>
            <a:bodyPr wrap="none" anchor="ctr"/>
            <a:lstStyle/>
            <a:p>
              <a:endParaRPr lang="en-US" dirty="0"/>
            </a:p>
          </p:txBody>
        </p:sp>
        <p:grpSp>
          <p:nvGrpSpPr>
            <p:cNvPr id="191" name="Group 2">
              <a:extLst>
                <a:ext uri="{FF2B5EF4-FFF2-40B4-BE49-F238E27FC236}">
                  <a16:creationId xmlns:a16="http://schemas.microsoft.com/office/drawing/2014/main" id="{1C8CD6B4-2423-5303-A2A3-8E9832317B15}"/>
                </a:ext>
              </a:extLst>
            </p:cNvPr>
            <p:cNvGrpSpPr>
              <a:grpSpLocks/>
            </p:cNvGrpSpPr>
            <p:nvPr/>
          </p:nvGrpSpPr>
          <p:grpSpPr bwMode="auto">
            <a:xfrm flipH="1">
              <a:off x="2170113" y="2657475"/>
              <a:ext cx="201612" cy="695325"/>
              <a:chOff x="2450" y="2240"/>
              <a:chExt cx="220" cy="667"/>
            </a:xfrm>
          </p:grpSpPr>
          <p:sp>
            <p:nvSpPr>
              <p:cNvPr id="192" name="Oval 3">
                <a:extLst>
                  <a:ext uri="{FF2B5EF4-FFF2-40B4-BE49-F238E27FC236}">
                    <a16:creationId xmlns:a16="http://schemas.microsoft.com/office/drawing/2014/main" id="{85757048-49E6-53C9-83DD-841846B444FA}"/>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193" name="Line 4">
                <a:extLst>
                  <a:ext uri="{FF2B5EF4-FFF2-40B4-BE49-F238E27FC236}">
                    <a16:creationId xmlns:a16="http://schemas.microsoft.com/office/drawing/2014/main" id="{7C24D88E-3139-4A00-A6D0-A831E15853F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94" name="Line 5">
                <a:extLst>
                  <a:ext uri="{FF2B5EF4-FFF2-40B4-BE49-F238E27FC236}">
                    <a16:creationId xmlns:a16="http://schemas.microsoft.com/office/drawing/2014/main" id="{53899E04-A62E-79BB-B70F-4A9B2B5ECCC2}"/>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95" name="Line 6">
                <a:extLst>
                  <a:ext uri="{FF2B5EF4-FFF2-40B4-BE49-F238E27FC236}">
                    <a16:creationId xmlns:a16="http://schemas.microsoft.com/office/drawing/2014/main" id="{E348F0CD-2F19-5AF2-620B-A31F2F082FBC}"/>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196" name="Line 7">
                <a:extLst>
                  <a:ext uri="{FF2B5EF4-FFF2-40B4-BE49-F238E27FC236}">
                    <a16:creationId xmlns:a16="http://schemas.microsoft.com/office/drawing/2014/main" id="{D5208B2B-EDC5-0098-9093-D3C65AA7F7B2}"/>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grpSp>
          <p:nvGrpSpPr>
            <p:cNvPr id="197" name="Group 8">
              <a:extLst>
                <a:ext uri="{FF2B5EF4-FFF2-40B4-BE49-F238E27FC236}">
                  <a16:creationId xmlns:a16="http://schemas.microsoft.com/office/drawing/2014/main" id="{0F092BE3-9239-5E7C-BBEC-3083C253AF8E}"/>
                </a:ext>
              </a:extLst>
            </p:cNvPr>
            <p:cNvGrpSpPr>
              <a:grpSpLocks/>
            </p:cNvGrpSpPr>
            <p:nvPr/>
          </p:nvGrpSpPr>
          <p:grpSpPr bwMode="auto">
            <a:xfrm flipH="1">
              <a:off x="828675" y="2286000"/>
              <a:ext cx="201613" cy="695325"/>
              <a:chOff x="2450" y="2240"/>
              <a:chExt cx="220" cy="667"/>
            </a:xfrm>
          </p:grpSpPr>
          <p:sp>
            <p:nvSpPr>
              <p:cNvPr id="198" name="Oval 9">
                <a:extLst>
                  <a:ext uri="{FF2B5EF4-FFF2-40B4-BE49-F238E27FC236}">
                    <a16:creationId xmlns:a16="http://schemas.microsoft.com/office/drawing/2014/main" id="{1A6C3102-ED64-19C3-CC72-217988767020}"/>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199" name="Line 10">
                <a:extLst>
                  <a:ext uri="{FF2B5EF4-FFF2-40B4-BE49-F238E27FC236}">
                    <a16:creationId xmlns:a16="http://schemas.microsoft.com/office/drawing/2014/main" id="{E47BA058-9328-3862-0D99-14B0684CAF58}"/>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00" name="Line 11">
                <a:extLst>
                  <a:ext uri="{FF2B5EF4-FFF2-40B4-BE49-F238E27FC236}">
                    <a16:creationId xmlns:a16="http://schemas.microsoft.com/office/drawing/2014/main" id="{3EC63CE4-E95A-CC71-9B42-176A8F65C2FC}"/>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01" name="Line 12">
                <a:extLst>
                  <a:ext uri="{FF2B5EF4-FFF2-40B4-BE49-F238E27FC236}">
                    <a16:creationId xmlns:a16="http://schemas.microsoft.com/office/drawing/2014/main" id="{FA6B4919-F6BB-10CE-B13B-D2D62C230B83}"/>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02" name="Line 13">
                <a:extLst>
                  <a:ext uri="{FF2B5EF4-FFF2-40B4-BE49-F238E27FC236}">
                    <a16:creationId xmlns:a16="http://schemas.microsoft.com/office/drawing/2014/main" id="{CA0701E8-055E-E98F-64F7-855568CCA83C}"/>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03" name="Rectangle 16">
              <a:extLst>
                <a:ext uri="{FF2B5EF4-FFF2-40B4-BE49-F238E27FC236}">
                  <a16:creationId xmlns:a16="http://schemas.microsoft.com/office/drawing/2014/main" id="{2096E706-F5B7-1211-626C-3865C9DB5EB3}"/>
                </a:ext>
              </a:extLst>
            </p:cNvPr>
            <p:cNvSpPr>
              <a:spLocks noChangeArrowheads="1"/>
            </p:cNvSpPr>
            <p:nvPr/>
          </p:nvSpPr>
          <p:spPr bwMode="auto">
            <a:xfrm>
              <a:off x="1981200" y="2819400"/>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grpSp>
          <p:nvGrpSpPr>
            <p:cNvPr id="204" name="Group 17">
              <a:extLst>
                <a:ext uri="{FF2B5EF4-FFF2-40B4-BE49-F238E27FC236}">
                  <a16:creationId xmlns:a16="http://schemas.microsoft.com/office/drawing/2014/main" id="{C739E1F0-835D-B055-F6FA-0ED8F7F8CC1B}"/>
                </a:ext>
              </a:extLst>
            </p:cNvPr>
            <p:cNvGrpSpPr>
              <a:grpSpLocks/>
            </p:cNvGrpSpPr>
            <p:nvPr/>
          </p:nvGrpSpPr>
          <p:grpSpPr bwMode="auto">
            <a:xfrm flipH="1">
              <a:off x="1939925" y="3276600"/>
              <a:ext cx="201613" cy="695325"/>
              <a:chOff x="2450" y="2240"/>
              <a:chExt cx="220" cy="667"/>
            </a:xfrm>
          </p:grpSpPr>
          <p:sp>
            <p:nvSpPr>
              <p:cNvPr id="205" name="Oval 18">
                <a:extLst>
                  <a:ext uri="{FF2B5EF4-FFF2-40B4-BE49-F238E27FC236}">
                    <a16:creationId xmlns:a16="http://schemas.microsoft.com/office/drawing/2014/main" id="{900AE077-C675-25E1-4EE1-CB9203346C23}"/>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06" name="Line 19">
                <a:extLst>
                  <a:ext uri="{FF2B5EF4-FFF2-40B4-BE49-F238E27FC236}">
                    <a16:creationId xmlns:a16="http://schemas.microsoft.com/office/drawing/2014/main" id="{8ED706BD-8CF2-DA02-7874-63CE58C9B59F}"/>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07" name="Line 20">
                <a:extLst>
                  <a:ext uri="{FF2B5EF4-FFF2-40B4-BE49-F238E27FC236}">
                    <a16:creationId xmlns:a16="http://schemas.microsoft.com/office/drawing/2014/main" id="{35AA1F97-2CFD-CBE1-9A1B-389D40D79EBF}"/>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08" name="Line 21">
                <a:extLst>
                  <a:ext uri="{FF2B5EF4-FFF2-40B4-BE49-F238E27FC236}">
                    <a16:creationId xmlns:a16="http://schemas.microsoft.com/office/drawing/2014/main" id="{9F93EC41-FBB5-51CC-E5EF-19567BA1B9C2}"/>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09" name="Line 22">
                <a:extLst>
                  <a:ext uri="{FF2B5EF4-FFF2-40B4-BE49-F238E27FC236}">
                    <a16:creationId xmlns:a16="http://schemas.microsoft.com/office/drawing/2014/main" id="{72BFD08E-41F2-C1A7-0E97-0BCC87293F65}"/>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10" name="Rectangle 27">
              <a:extLst>
                <a:ext uri="{FF2B5EF4-FFF2-40B4-BE49-F238E27FC236}">
                  <a16:creationId xmlns:a16="http://schemas.microsoft.com/office/drawing/2014/main" id="{2510822A-B2B9-3BD0-5EA9-1275A9CBD262}"/>
                </a:ext>
              </a:extLst>
            </p:cNvPr>
            <p:cNvSpPr>
              <a:spLocks noChangeArrowheads="1"/>
            </p:cNvSpPr>
            <p:nvPr/>
          </p:nvSpPr>
          <p:spPr bwMode="auto">
            <a:xfrm>
              <a:off x="1828800" y="34115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11" name="Rectangle 29">
              <a:extLst>
                <a:ext uri="{FF2B5EF4-FFF2-40B4-BE49-F238E27FC236}">
                  <a16:creationId xmlns:a16="http://schemas.microsoft.com/office/drawing/2014/main" id="{4F141B36-C6F3-EC9F-56F7-55F3A2BEABF1}"/>
                </a:ext>
              </a:extLst>
            </p:cNvPr>
            <p:cNvSpPr>
              <a:spLocks noChangeArrowheads="1"/>
            </p:cNvSpPr>
            <p:nvPr/>
          </p:nvSpPr>
          <p:spPr bwMode="auto">
            <a:xfrm>
              <a:off x="1371600" y="3048000"/>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grpSp>
          <p:nvGrpSpPr>
            <p:cNvPr id="212" name="Group 30">
              <a:extLst>
                <a:ext uri="{FF2B5EF4-FFF2-40B4-BE49-F238E27FC236}">
                  <a16:creationId xmlns:a16="http://schemas.microsoft.com/office/drawing/2014/main" id="{61C9F16D-ABA4-05E9-BE96-4413522854C6}"/>
                </a:ext>
              </a:extLst>
            </p:cNvPr>
            <p:cNvGrpSpPr>
              <a:grpSpLocks/>
            </p:cNvGrpSpPr>
            <p:nvPr/>
          </p:nvGrpSpPr>
          <p:grpSpPr bwMode="auto">
            <a:xfrm flipH="1">
              <a:off x="1524000" y="2819400"/>
              <a:ext cx="201613" cy="695325"/>
              <a:chOff x="2450" y="2240"/>
              <a:chExt cx="220" cy="667"/>
            </a:xfrm>
          </p:grpSpPr>
          <p:sp>
            <p:nvSpPr>
              <p:cNvPr id="213" name="Oval 31">
                <a:extLst>
                  <a:ext uri="{FF2B5EF4-FFF2-40B4-BE49-F238E27FC236}">
                    <a16:creationId xmlns:a16="http://schemas.microsoft.com/office/drawing/2014/main" id="{F417B5EE-6106-8F40-EBB8-192FACCA5DFC}"/>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14" name="Line 32">
                <a:extLst>
                  <a:ext uri="{FF2B5EF4-FFF2-40B4-BE49-F238E27FC236}">
                    <a16:creationId xmlns:a16="http://schemas.microsoft.com/office/drawing/2014/main" id="{4EA43B56-DEBF-5694-A7AC-8A0BD879EE59}"/>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15" name="Line 33">
                <a:extLst>
                  <a:ext uri="{FF2B5EF4-FFF2-40B4-BE49-F238E27FC236}">
                    <a16:creationId xmlns:a16="http://schemas.microsoft.com/office/drawing/2014/main" id="{DA0AD960-32C2-430A-8F42-96A9689CAEF2}"/>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16" name="Line 34">
                <a:extLst>
                  <a:ext uri="{FF2B5EF4-FFF2-40B4-BE49-F238E27FC236}">
                    <a16:creationId xmlns:a16="http://schemas.microsoft.com/office/drawing/2014/main" id="{C19B0EFD-BBAB-0FA1-307B-E31AC74D6C0A}"/>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17" name="Line 35">
                <a:extLst>
                  <a:ext uri="{FF2B5EF4-FFF2-40B4-BE49-F238E27FC236}">
                    <a16:creationId xmlns:a16="http://schemas.microsoft.com/office/drawing/2014/main" id="{B5D8495B-D195-7FA1-8998-84673F24AF74}"/>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grpSp>
          <p:nvGrpSpPr>
            <p:cNvPr id="218" name="Group 36">
              <a:extLst>
                <a:ext uri="{FF2B5EF4-FFF2-40B4-BE49-F238E27FC236}">
                  <a16:creationId xmlns:a16="http://schemas.microsoft.com/office/drawing/2014/main" id="{00E32056-7295-5974-CEF0-D27ED5A6416B}"/>
                </a:ext>
              </a:extLst>
            </p:cNvPr>
            <p:cNvGrpSpPr>
              <a:grpSpLocks/>
            </p:cNvGrpSpPr>
            <p:nvPr/>
          </p:nvGrpSpPr>
          <p:grpSpPr bwMode="auto">
            <a:xfrm flipH="1">
              <a:off x="719138" y="3200400"/>
              <a:ext cx="201612" cy="695325"/>
              <a:chOff x="2450" y="2240"/>
              <a:chExt cx="220" cy="667"/>
            </a:xfrm>
          </p:grpSpPr>
          <p:sp>
            <p:nvSpPr>
              <p:cNvPr id="219" name="Oval 37">
                <a:extLst>
                  <a:ext uri="{FF2B5EF4-FFF2-40B4-BE49-F238E27FC236}">
                    <a16:creationId xmlns:a16="http://schemas.microsoft.com/office/drawing/2014/main" id="{4C548802-CE5C-87A5-9E7C-1044B08CEED2}"/>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20" name="Line 38">
                <a:extLst>
                  <a:ext uri="{FF2B5EF4-FFF2-40B4-BE49-F238E27FC236}">
                    <a16:creationId xmlns:a16="http://schemas.microsoft.com/office/drawing/2014/main" id="{599A83DC-AE4A-81DA-0701-3213AA44E640}"/>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21" name="Line 39">
                <a:extLst>
                  <a:ext uri="{FF2B5EF4-FFF2-40B4-BE49-F238E27FC236}">
                    <a16:creationId xmlns:a16="http://schemas.microsoft.com/office/drawing/2014/main" id="{4D2366C9-07D4-5954-B6C6-F52B70650F39}"/>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22" name="Line 40">
                <a:extLst>
                  <a:ext uri="{FF2B5EF4-FFF2-40B4-BE49-F238E27FC236}">
                    <a16:creationId xmlns:a16="http://schemas.microsoft.com/office/drawing/2014/main" id="{6582E708-82AC-BFCD-4F33-1F9451778F65}"/>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23" name="Line 41">
                <a:extLst>
                  <a:ext uri="{FF2B5EF4-FFF2-40B4-BE49-F238E27FC236}">
                    <a16:creationId xmlns:a16="http://schemas.microsoft.com/office/drawing/2014/main" id="{9150822A-A6CF-9A22-7F3B-A8E2336127FC}"/>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24" name="Rectangle 42">
              <a:extLst>
                <a:ext uri="{FF2B5EF4-FFF2-40B4-BE49-F238E27FC236}">
                  <a16:creationId xmlns:a16="http://schemas.microsoft.com/office/drawing/2014/main" id="{A29D64E6-E189-33AA-0DA3-DBAD72C4684D}"/>
                </a:ext>
              </a:extLst>
            </p:cNvPr>
            <p:cNvSpPr>
              <a:spLocks noChangeArrowheads="1"/>
            </p:cNvSpPr>
            <p:nvPr/>
          </p:nvSpPr>
          <p:spPr bwMode="auto">
            <a:xfrm flipH="1" flipV="1">
              <a:off x="936625" y="3429000"/>
              <a:ext cx="160338" cy="130175"/>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25" name="Rectangle 43">
              <a:extLst>
                <a:ext uri="{FF2B5EF4-FFF2-40B4-BE49-F238E27FC236}">
                  <a16:creationId xmlns:a16="http://schemas.microsoft.com/office/drawing/2014/main" id="{17DEFFFC-72DD-3B17-B67F-BDC26B43B67C}"/>
                </a:ext>
              </a:extLst>
            </p:cNvPr>
            <p:cNvSpPr>
              <a:spLocks noChangeArrowheads="1"/>
            </p:cNvSpPr>
            <p:nvPr/>
          </p:nvSpPr>
          <p:spPr bwMode="auto">
            <a:xfrm>
              <a:off x="1068388" y="26114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26" name="Rectangle 46">
              <a:extLst>
                <a:ext uri="{FF2B5EF4-FFF2-40B4-BE49-F238E27FC236}">
                  <a16:creationId xmlns:a16="http://schemas.microsoft.com/office/drawing/2014/main" id="{6BB54809-B546-484D-EE6C-EFB388E0EB05}"/>
                </a:ext>
              </a:extLst>
            </p:cNvPr>
            <p:cNvSpPr>
              <a:spLocks noChangeArrowheads="1"/>
            </p:cNvSpPr>
            <p:nvPr/>
          </p:nvSpPr>
          <p:spPr bwMode="auto">
            <a:xfrm>
              <a:off x="352425" y="4324350"/>
              <a:ext cx="2643188" cy="217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Step 1: As a group brainstorm the problem</a:t>
              </a:r>
            </a:p>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Each individual write their ideas on Post-it notes</a:t>
              </a:r>
            </a:p>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Then read each one out and stick the Post-it notes on a wall in no particular order</a:t>
              </a:r>
            </a:p>
          </p:txBody>
        </p:sp>
        <p:grpSp>
          <p:nvGrpSpPr>
            <p:cNvPr id="227" name="Group 60">
              <a:extLst>
                <a:ext uri="{FF2B5EF4-FFF2-40B4-BE49-F238E27FC236}">
                  <a16:creationId xmlns:a16="http://schemas.microsoft.com/office/drawing/2014/main" id="{C943DACE-ED51-86A9-3413-E925EA875762}"/>
                </a:ext>
              </a:extLst>
            </p:cNvPr>
            <p:cNvGrpSpPr>
              <a:grpSpLocks/>
            </p:cNvGrpSpPr>
            <p:nvPr/>
          </p:nvGrpSpPr>
          <p:grpSpPr bwMode="auto">
            <a:xfrm flipH="1">
              <a:off x="5183188" y="2116138"/>
              <a:ext cx="201612" cy="695325"/>
              <a:chOff x="2450" y="2240"/>
              <a:chExt cx="220" cy="667"/>
            </a:xfrm>
          </p:grpSpPr>
          <p:sp>
            <p:nvSpPr>
              <p:cNvPr id="228" name="Oval 61">
                <a:extLst>
                  <a:ext uri="{FF2B5EF4-FFF2-40B4-BE49-F238E27FC236}">
                    <a16:creationId xmlns:a16="http://schemas.microsoft.com/office/drawing/2014/main" id="{D6CB4EFC-996B-5BC4-5E8C-6E0C0D24598B}"/>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29" name="Line 62">
                <a:extLst>
                  <a:ext uri="{FF2B5EF4-FFF2-40B4-BE49-F238E27FC236}">
                    <a16:creationId xmlns:a16="http://schemas.microsoft.com/office/drawing/2014/main" id="{2F5111FF-4073-161B-5C4F-F3785BA5E461}"/>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0" name="Line 63">
                <a:extLst>
                  <a:ext uri="{FF2B5EF4-FFF2-40B4-BE49-F238E27FC236}">
                    <a16:creationId xmlns:a16="http://schemas.microsoft.com/office/drawing/2014/main" id="{418BBFFB-67AA-8349-6FB8-E1029FCBF772}"/>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1" name="Line 64">
                <a:extLst>
                  <a:ext uri="{FF2B5EF4-FFF2-40B4-BE49-F238E27FC236}">
                    <a16:creationId xmlns:a16="http://schemas.microsoft.com/office/drawing/2014/main" id="{6EFF4457-6674-8531-22FD-72BA04ABB3C8}"/>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2" name="Line 65">
                <a:extLst>
                  <a:ext uri="{FF2B5EF4-FFF2-40B4-BE49-F238E27FC236}">
                    <a16:creationId xmlns:a16="http://schemas.microsoft.com/office/drawing/2014/main" id="{98726BCF-7BE8-8018-2CCB-1867CDB3A1AB}"/>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33" name="Rectangle 67">
              <a:extLst>
                <a:ext uri="{FF2B5EF4-FFF2-40B4-BE49-F238E27FC236}">
                  <a16:creationId xmlns:a16="http://schemas.microsoft.com/office/drawing/2014/main" id="{CFFB7D61-396C-C50F-632F-35D5B05E80C7}"/>
                </a:ext>
              </a:extLst>
            </p:cNvPr>
            <p:cNvSpPr>
              <a:spLocks noChangeArrowheads="1"/>
            </p:cNvSpPr>
            <p:nvPr/>
          </p:nvSpPr>
          <p:spPr bwMode="auto">
            <a:xfrm>
              <a:off x="4213225" y="20796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grpSp>
          <p:nvGrpSpPr>
            <p:cNvPr id="234" name="Group 68">
              <a:extLst>
                <a:ext uri="{FF2B5EF4-FFF2-40B4-BE49-F238E27FC236}">
                  <a16:creationId xmlns:a16="http://schemas.microsoft.com/office/drawing/2014/main" id="{C9B92665-E9C2-C6F3-6E47-8DCF5DB96049}"/>
                </a:ext>
              </a:extLst>
            </p:cNvPr>
            <p:cNvGrpSpPr>
              <a:grpSpLocks/>
            </p:cNvGrpSpPr>
            <p:nvPr/>
          </p:nvGrpSpPr>
          <p:grpSpPr bwMode="auto">
            <a:xfrm flipH="1">
              <a:off x="5486400" y="2743200"/>
              <a:ext cx="201613" cy="695325"/>
              <a:chOff x="2450" y="2240"/>
              <a:chExt cx="220" cy="667"/>
            </a:xfrm>
          </p:grpSpPr>
          <p:sp>
            <p:nvSpPr>
              <p:cNvPr id="235" name="Oval 69">
                <a:extLst>
                  <a:ext uri="{FF2B5EF4-FFF2-40B4-BE49-F238E27FC236}">
                    <a16:creationId xmlns:a16="http://schemas.microsoft.com/office/drawing/2014/main" id="{03C1E0FD-3084-9CF9-8A5B-93F697FF62F5}"/>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36" name="Line 70">
                <a:extLst>
                  <a:ext uri="{FF2B5EF4-FFF2-40B4-BE49-F238E27FC236}">
                    <a16:creationId xmlns:a16="http://schemas.microsoft.com/office/drawing/2014/main" id="{16DAED42-EE67-4946-E343-8793BF8F3427}"/>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7" name="Line 71">
                <a:extLst>
                  <a:ext uri="{FF2B5EF4-FFF2-40B4-BE49-F238E27FC236}">
                    <a16:creationId xmlns:a16="http://schemas.microsoft.com/office/drawing/2014/main" id="{2A344148-A14E-401F-B0C6-05F7521BBF61}"/>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8" name="Line 72">
                <a:extLst>
                  <a:ext uri="{FF2B5EF4-FFF2-40B4-BE49-F238E27FC236}">
                    <a16:creationId xmlns:a16="http://schemas.microsoft.com/office/drawing/2014/main" id="{00743E19-714D-C578-345D-E4EC330F653B}"/>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39" name="Line 73">
                <a:extLst>
                  <a:ext uri="{FF2B5EF4-FFF2-40B4-BE49-F238E27FC236}">
                    <a16:creationId xmlns:a16="http://schemas.microsoft.com/office/drawing/2014/main" id="{7BB58AB3-3880-4DB5-BDF1-CE04F4EF82B8}"/>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40" name="Rectangle 74">
              <a:extLst>
                <a:ext uri="{FF2B5EF4-FFF2-40B4-BE49-F238E27FC236}">
                  <a16:creationId xmlns:a16="http://schemas.microsoft.com/office/drawing/2014/main" id="{40275D11-F01F-0CF5-DB3A-EB3C6CF8DDDF}"/>
                </a:ext>
              </a:extLst>
            </p:cNvPr>
            <p:cNvSpPr>
              <a:spLocks noChangeArrowheads="1"/>
            </p:cNvSpPr>
            <p:nvPr/>
          </p:nvSpPr>
          <p:spPr bwMode="auto">
            <a:xfrm>
              <a:off x="3657600" y="16478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41" name="Rectangle 76">
              <a:extLst>
                <a:ext uri="{FF2B5EF4-FFF2-40B4-BE49-F238E27FC236}">
                  <a16:creationId xmlns:a16="http://schemas.microsoft.com/office/drawing/2014/main" id="{5EAFECB9-E0AC-F7D7-06CE-9C080F7219B4}"/>
                </a:ext>
              </a:extLst>
            </p:cNvPr>
            <p:cNvSpPr>
              <a:spLocks noChangeArrowheads="1"/>
            </p:cNvSpPr>
            <p:nvPr/>
          </p:nvSpPr>
          <p:spPr bwMode="auto">
            <a:xfrm>
              <a:off x="4078288" y="228441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grpSp>
          <p:nvGrpSpPr>
            <p:cNvPr id="242" name="Group 81">
              <a:extLst>
                <a:ext uri="{FF2B5EF4-FFF2-40B4-BE49-F238E27FC236}">
                  <a16:creationId xmlns:a16="http://schemas.microsoft.com/office/drawing/2014/main" id="{EDB6162E-DAB0-8295-38A0-26430077F806}"/>
                </a:ext>
              </a:extLst>
            </p:cNvPr>
            <p:cNvGrpSpPr>
              <a:grpSpLocks/>
            </p:cNvGrpSpPr>
            <p:nvPr/>
          </p:nvGrpSpPr>
          <p:grpSpPr bwMode="auto">
            <a:xfrm flipH="1">
              <a:off x="4648200" y="2819400"/>
              <a:ext cx="201613" cy="695325"/>
              <a:chOff x="2450" y="2240"/>
              <a:chExt cx="220" cy="667"/>
            </a:xfrm>
          </p:grpSpPr>
          <p:sp>
            <p:nvSpPr>
              <p:cNvPr id="243" name="Oval 82">
                <a:extLst>
                  <a:ext uri="{FF2B5EF4-FFF2-40B4-BE49-F238E27FC236}">
                    <a16:creationId xmlns:a16="http://schemas.microsoft.com/office/drawing/2014/main" id="{D4AF5EF0-707D-ADA4-31B7-2C477FA472B9}"/>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44" name="Line 83">
                <a:extLst>
                  <a:ext uri="{FF2B5EF4-FFF2-40B4-BE49-F238E27FC236}">
                    <a16:creationId xmlns:a16="http://schemas.microsoft.com/office/drawing/2014/main" id="{BF42613E-03C7-9C6B-0049-3442DC7B8BA9}"/>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45" name="Line 84">
                <a:extLst>
                  <a:ext uri="{FF2B5EF4-FFF2-40B4-BE49-F238E27FC236}">
                    <a16:creationId xmlns:a16="http://schemas.microsoft.com/office/drawing/2014/main" id="{6252426C-5003-E8CA-2BF3-8BE2A98C3EF1}"/>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46" name="Line 85">
                <a:extLst>
                  <a:ext uri="{FF2B5EF4-FFF2-40B4-BE49-F238E27FC236}">
                    <a16:creationId xmlns:a16="http://schemas.microsoft.com/office/drawing/2014/main" id="{1AC8B70D-8672-1706-6D65-C6F000BE1A11}"/>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47" name="Line 86">
                <a:extLst>
                  <a:ext uri="{FF2B5EF4-FFF2-40B4-BE49-F238E27FC236}">
                    <a16:creationId xmlns:a16="http://schemas.microsoft.com/office/drawing/2014/main" id="{9819C42B-7A0A-FCFB-E992-5F46021AA6C7}"/>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grpSp>
          <p:nvGrpSpPr>
            <p:cNvPr id="248" name="Group 87">
              <a:extLst>
                <a:ext uri="{FF2B5EF4-FFF2-40B4-BE49-F238E27FC236}">
                  <a16:creationId xmlns:a16="http://schemas.microsoft.com/office/drawing/2014/main" id="{1830D607-A449-72F0-8AF6-A3809B61E2C8}"/>
                </a:ext>
              </a:extLst>
            </p:cNvPr>
            <p:cNvGrpSpPr>
              <a:grpSpLocks/>
            </p:cNvGrpSpPr>
            <p:nvPr/>
          </p:nvGrpSpPr>
          <p:grpSpPr bwMode="auto">
            <a:xfrm flipH="1">
              <a:off x="3657600" y="2286000"/>
              <a:ext cx="201613" cy="695325"/>
              <a:chOff x="2450" y="2240"/>
              <a:chExt cx="220" cy="667"/>
            </a:xfrm>
          </p:grpSpPr>
          <p:sp>
            <p:nvSpPr>
              <p:cNvPr id="249" name="Oval 88">
                <a:extLst>
                  <a:ext uri="{FF2B5EF4-FFF2-40B4-BE49-F238E27FC236}">
                    <a16:creationId xmlns:a16="http://schemas.microsoft.com/office/drawing/2014/main" id="{E0C496F4-EE5E-6A5C-A6B5-B9564FB35AD3}"/>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50" name="Line 89">
                <a:extLst>
                  <a:ext uri="{FF2B5EF4-FFF2-40B4-BE49-F238E27FC236}">
                    <a16:creationId xmlns:a16="http://schemas.microsoft.com/office/drawing/2014/main" id="{DAB418DC-DDB3-57BE-BA12-242104A9B469}"/>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51" name="Line 90">
                <a:extLst>
                  <a:ext uri="{FF2B5EF4-FFF2-40B4-BE49-F238E27FC236}">
                    <a16:creationId xmlns:a16="http://schemas.microsoft.com/office/drawing/2014/main" id="{BC301E2C-983E-05F4-3F11-3FB363FCC7B6}"/>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52" name="Line 91">
                <a:extLst>
                  <a:ext uri="{FF2B5EF4-FFF2-40B4-BE49-F238E27FC236}">
                    <a16:creationId xmlns:a16="http://schemas.microsoft.com/office/drawing/2014/main" id="{A5274D06-3538-FBCF-8420-E93EC998BB4B}"/>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53" name="Line 92">
                <a:extLst>
                  <a:ext uri="{FF2B5EF4-FFF2-40B4-BE49-F238E27FC236}">
                    <a16:creationId xmlns:a16="http://schemas.microsoft.com/office/drawing/2014/main" id="{1AD24942-5663-F8E7-2642-3A1F0AE45115}"/>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54" name="Rectangle 94">
              <a:extLst>
                <a:ext uri="{FF2B5EF4-FFF2-40B4-BE49-F238E27FC236}">
                  <a16:creationId xmlns:a16="http://schemas.microsoft.com/office/drawing/2014/main" id="{CC629FE2-9FBC-C20F-8CD4-F7F6F83FD760}"/>
                </a:ext>
              </a:extLst>
            </p:cNvPr>
            <p:cNvSpPr>
              <a:spLocks noChangeArrowheads="1"/>
            </p:cNvSpPr>
            <p:nvPr/>
          </p:nvSpPr>
          <p:spPr bwMode="auto">
            <a:xfrm>
              <a:off x="5029200" y="2362200"/>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55" name="Rectangle 95">
              <a:extLst>
                <a:ext uri="{FF2B5EF4-FFF2-40B4-BE49-F238E27FC236}">
                  <a16:creationId xmlns:a16="http://schemas.microsoft.com/office/drawing/2014/main" id="{AE6F184C-E8B9-7B62-DAB3-B669EEC599E5}"/>
                </a:ext>
              </a:extLst>
            </p:cNvPr>
            <p:cNvSpPr>
              <a:spLocks noChangeArrowheads="1"/>
            </p:cNvSpPr>
            <p:nvPr/>
          </p:nvSpPr>
          <p:spPr bwMode="auto">
            <a:xfrm>
              <a:off x="3968750" y="280987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grpSp>
          <p:nvGrpSpPr>
            <p:cNvPr id="256" name="Group 96">
              <a:extLst>
                <a:ext uri="{FF2B5EF4-FFF2-40B4-BE49-F238E27FC236}">
                  <a16:creationId xmlns:a16="http://schemas.microsoft.com/office/drawing/2014/main" id="{1101E32D-9B48-1CBF-0AA6-BDECD86FD6D8}"/>
                </a:ext>
              </a:extLst>
            </p:cNvPr>
            <p:cNvGrpSpPr>
              <a:grpSpLocks/>
            </p:cNvGrpSpPr>
            <p:nvPr/>
          </p:nvGrpSpPr>
          <p:grpSpPr bwMode="auto">
            <a:xfrm flipH="1">
              <a:off x="4114800" y="2514600"/>
              <a:ext cx="201613" cy="695325"/>
              <a:chOff x="2450" y="2240"/>
              <a:chExt cx="220" cy="667"/>
            </a:xfrm>
          </p:grpSpPr>
          <p:sp>
            <p:nvSpPr>
              <p:cNvPr id="257" name="Oval 97">
                <a:extLst>
                  <a:ext uri="{FF2B5EF4-FFF2-40B4-BE49-F238E27FC236}">
                    <a16:creationId xmlns:a16="http://schemas.microsoft.com/office/drawing/2014/main" id="{5EE1CF9A-9E4D-15D0-1E19-8AE62394988D}"/>
                  </a:ext>
                </a:extLst>
              </p:cNvPr>
              <p:cNvSpPr>
                <a:spLocks noChangeArrowheads="1"/>
              </p:cNvSpPr>
              <p:nvPr/>
            </p:nvSpPr>
            <p:spPr bwMode="auto">
              <a:xfrm>
                <a:off x="2469" y="2240"/>
                <a:ext cx="182" cy="192"/>
              </a:xfrm>
              <a:prstGeom prst="ellipse">
                <a:avLst/>
              </a:prstGeom>
              <a:solidFill>
                <a:schemeClr val="bg1"/>
              </a:solidFill>
              <a:ln w="12700" cap="sq" algn="ctr">
                <a:solidFill>
                  <a:schemeClr val="tx1"/>
                </a:solidFill>
                <a:round/>
                <a:headEnd/>
                <a:tailEnd/>
              </a:ln>
            </p:spPr>
            <p:txBody>
              <a:bodyPr wrap="none" anchor="ctr"/>
              <a:lstStyle/>
              <a:p>
                <a:endParaRPr lang="en-US" dirty="0"/>
              </a:p>
            </p:txBody>
          </p:sp>
          <p:sp>
            <p:nvSpPr>
              <p:cNvPr id="258" name="Line 98">
                <a:extLst>
                  <a:ext uri="{FF2B5EF4-FFF2-40B4-BE49-F238E27FC236}">
                    <a16:creationId xmlns:a16="http://schemas.microsoft.com/office/drawing/2014/main" id="{388AEDFF-44C1-AB18-F20A-0E56DE87EB8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59" name="Line 99">
                <a:extLst>
                  <a:ext uri="{FF2B5EF4-FFF2-40B4-BE49-F238E27FC236}">
                    <a16:creationId xmlns:a16="http://schemas.microsoft.com/office/drawing/2014/main" id="{4F6EDBE1-EF0E-5C0F-682A-ED8B1B55446E}"/>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60" name="Line 100">
                <a:extLst>
                  <a:ext uri="{FF2B5EF4-FFF2-40B4-BE49-F238E27FC236}">
                    <a16:creationId xmlns:a16="http://schemas.microsoft.com/office/drawing/2014/main" id="{38DA7922-9471-A22E-C58D-9D37BB38E39E}"/>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61" name="Line 101">
                <a:extLst>
                  <a:ext uri="{FF2B5EF4-FFF2-40B4-BE49-F238E27FC236}">
                    <a16:creationId xmlns:a16="http://schemas.microsoft.com/office/drawing/2014/main" id="{BC2EEC21-117E-C5FD-321A-F90689EDD6F6}"/>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62" name="Rectangle 102">
              <a:extLst>
                <a:ext uri="{FF2B5EF4-FFF2-40B4-BE49-F238E27FC236}">
                  <a16:creationId xmlns:a16="http://schemas.microsoft.com/office/drawing/2014/main" id="{3DD3C0CB-0236-F30B-16F8-790878B0B36C}"/>
                </a:ext>
              </a:extLst>
            </p:cNvPr>
            <p:cNvSpPr>
              <a:spLocks noChangeArrowheads="1"/>
            </p:cNvSpPr>
            <p:nvPr/>
          </p:nvSpPr>
          <p:spPr bwMode="auto">
            <a:xfrm>
              <a:off x="3359150" y="4319588"/>
              <a:ext cx="2774950" cy="18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Step 2: In silence each participant groups the ideas into categories /‘affinities’ aligned vertically</a:t>
              </a:r>
            </a:p>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No discussion or judgments are cast yet about what is posted</a:t>
              </a:r>
            </a:p>
          </p:txBody>
        </p:sp>
        <p:grpSp>
          <p:nvGrpSpPr>
            <p:cNvPr id="263" name="Group 116">
              <a:extLst>
                <a:ext uri="{FF2B5EF4-FFF2-40B4-BE49-F238E27FC236}">
                  <a16:creationId xmlns:a16="http://schemas.microsoft.com/office/drawing/2014/main" id="{743C6837-029D-7DFF-53BA-E0C777CB4F63}"/>
                </a:ext>
              </a:extLst>
            </p:cNvPr>
            <p:cNvGrpSpPr>
              <a:grpSpLocks/>
            </p:cNvGrpSpPr>
            <p:nvPr/>
          </p:nvGrpSpPr>
          <p:grpSpPr bwMode="auto">
            <a:xfrm flipH="1">
              <a:off x="8221663" y="2111375"/>
              <a:ext cx="201612" cy="695325"/>
              <a:chOff x="2450" y="2240"/>
              <a:chExt cx="220" cy="667"/>
            </a:xfrm>
          </p:grpSpPr>
          <p:sp>
            <p:nvSpPr>
              <p:cNvPr id="264" name="Oval 117">
                <a:extLst>
                  <a:ext uri="{FF2B5EF4-FFF2-40B4-BE49-F238E27FC236}">
                    <a16:creationId xmlns:a16="http://schemas.microsoft.com/office/drawing/2014/main" id="{DFD71599-6E3A-ED7E-64BD-1BF7EC58310B}"/>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65" name="Line 118">
                <a:extLst>
                  <a:ext uri="{FF2B5EF4-FFF2-40B4-BE49-F238E27FC236}">
                    <a16:creationId xmlns:a16="http://schemas.microsoft.com/office/drawing/2014/main" id="{41B74400-8A8F-9C84-9548-3F5FC7791519}"/>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66" name="Line 119">
                <a:extLst>
                  <a:ext uri="{FF2B5EF4-FFF2-40B4-BE49-F238E27FC236}">
                    <a16:creationId xmlns:a16="http://schemas.microsoft.com/office/drawing/2014/main" id="{CA919E0D-55D6-61A7-4686-C0D8D3B4A853}"/>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67" name="Line 120">
                <a:extLst>
                  <a:ext uri="{FF2B5EF4-FFF2-40B4-BE49-F238E27FC236}">
                    <a16:creationId xmlns:a16="http://schemas.microsoft.com/office/drawing/2014/main" id="{86D9BCFA-66C0-F85C-BC98-F631239A2ABD}"/>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68" name="Line 121">
                <a:extLst>
                  <a:ext uri="{FF2B5EF4-FFF2-40B4-BE49-F238E27FC236}">
                    <a16:creationId xmlns:a16="http://schemas.microsoft.com/office/drawing/2014/main" id="{7D573A47-60A0-78E6-83E3-323FCC61AA2C}"/>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grpSp>
          <p:nvGrpSpPr>
            <p:cNvPr id="269" name="Group 124">
              <a:extLst>
                <a:ext uri="{FF2B5EF4-FFF2-40B4-BE49-F238E27FC236}">
                  <a16:creationId xmlns:a16="http://schemas.microsoft.com/office/drawing/2014/main" id="{5579370D-F6B6-8F08-1FCB-86229FD7493C}"/>
                </a:ext>
              </a:extLst>
            </p:cNvPr>
            <p:cNvGrpSpPr>
              <a:grpSpLocks/>
            </p:cNvGrpSpPr>
            <p:nvPr/>
          </p:nvGrpSpPr>
          <p:grpSpPr bwMode="auto">
            <a:xfrm flipH="1">
              <a:off x="8170863" y="3076575"/>
              <a:ext cx="201612" cy="695325"/>
              <a:chOff x="2450" y="2240"/>
              <a:chExt cx="220" cy="667"/>
            </a:xfrm>
          </p:grpSpPr>
          <p:sp>
            <p:nvSpPr>
              <p:cNvPr id="270" name="Oval 125">
                <a:extLst>
                  <a:ext uri="{FF2B5EF4-FFF2-40B4-BE49-F238E27FC236}">
                    <a16:creationId xmlns:a16="http://schemas.microsoft.com/office/drawing/2014/main" id="{EC51424B-5826-DF11-AFEB-518D6362944A}"/>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71" name="Line 126">
                <a:extLst>
                  <a:ext uri="{FF2B5EF4-FFF2-40B4-BE49-F238E27FC236}">
                    <a16:creationId xmlns:a16="http://schemas.microsoft.com/office/drawing/2014/main" id="{0D523842-98FB-06FB-AA28-04CDE1D3D490}"/>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72" name="Line 127">
                <a:extLst>
                  <a:ext uri="{FF2B5EF4-FFF2-40B4-BE49-F238E27FC236}">
                    <a16:creationId xmlns:a16="http://schemas.microsoft.com/office/drawing/2014/main" id="{C6F8E2D6-8C79-FA61-BAD4-1AD3DC88F392}"/>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73" name="Line 128">
                <a:extLst>
                  <a:ext uri="{FF2B5EF4-FFF2-40B4-BE49-F238E27FC236}">
                    <a16:creationId xmlns:a16="http://schemas.microsoft.com/office/drawing/2014/main" id="{F6ADEE8F-2121-EB1D-2E91-34DE3EEDD5F8}"/>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74" name="Line 129">
                <a:extLst>
                  <a:ext uri="{FF2B5EF4-FFF2-40B4-BE49-F238E27FC236}">
                    <a16:creationId xmlns:a16="http://schemas.microsoft.com/office/drawing/2014/main" id="{9AFBAF37-2A21-B9AA-70F4-318470F63DC6}"/>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grpSp>
          <p:nvGrpSpPr>
            <p:cNvPr id="275" name="Group 137">
              <a:extLst>
                <a:ext uri="{FF2B5EF4-FFF2-40B4-BE49-F238E27FC236}">
                  <a16:creationId xmlns:a16="http://schemas.microsoft.com/office/drawing/2014/main" id="{337C0E12-C0F3-9FCF-24CE-31FBDAF1DD70}"/>
                </a:ext>
              </a:extLst>
            </p:cNvPr>
            <p:cNvGrpSpPr>
              <a:grpSpLocks/>
            </p:cNvGrpSpPr>
            <p:nvPr/>
          </p:nvGrpSpPr>
          <p:grpSpPr bwMode="auto">
            <a:xfrm flipH="1">
              <a:off x="7685088" y="3330575"/>
              <a:ext cx="201612" cy="695325"/>
              <a:chOff x="2450" y="2240"/>
              <a:chExt cx="220" cy="667"/>
            </a:xfrm>
          </p:grpSpPr>
          <p:sp>
            <p:nvSpPr>
              <p:cNvPr id="276" name="Oval 138">
                <a:extLst>
                  <a:ext uri="{FF2B5EF4-FFF2-40B4-BE49-F238E27FC236}">
                    <a16:creationId xmlns:a16="http://schemas.microsoft.com/office/drawing/2014/main" id="{8F27A19A-79AB-A041-E16E-5727D666D6BE}"/>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77" name="Line 139">
                <a:extLst>
                  <a:ext uri="{FF2B5EF4-FFF2-40B4-BE49-F238E27FC236}">
                    <a16:creationId xmlns:a16="http://schemas.microsoft.com/office/drawing/2014/main" id="{BB53C960-7821-BDB8-CDA2-FC5C2FA1B77F}"/>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78" name="Line 140">
                <a:extLst>
                  <a:ext uri="{FF2B5EF4-FFF2-40B4-BE49-F238E27FC236}">
                    <a16:creationId xmlns:a16="http://schemas.microsoft.com/office/drawing/2014/main" id="{D6DB4392-F5EB-8CF3-D87D-B1E6269FA197}"/>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79" name="Line 141">
                <a:extLst>
                  <a:ext uri="{FF2B5EF4-FFF2-40B4-BE49-F238E27FC236}">
                    <a16:creationId xmlns:a16="http://schemas.microsoft.com/office/drawing/2014/main" id="{F3E62C47-DA1C-EBEF-3EB7-547B139C5889}"/>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80" name="Line 142">
                <a:extLst>
                  <a:ext uri="{FF2B5EF4-FFF2-40B4-BE49-F238E27FC236}">
                    <a16:creationId xmlns:a16="http://schemas.microsoft.com/office/drawing/2014/main" id="{E896E994-053D-C391-3956-99AB8A349E8F}"/>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grpSp>
          <p:nvGrpSpPr>
            <p:cNvPr id="281" name="Group 143">
              <a:extLst>
                <a:ext uri="{FF2B5EF4-FFF2-40B4-BE49-F238E27FC236}">
                  <a16:creationId xmlns:a16="http://schemas.microsoft.com/office/drawing/2014/main" id="{B7BD29B7-9028-4D18-9B74-2459B66A406A}"/>
                </a:ext>
              </a:extLst>
            </p:cNvPr>
            <p:cNvGrpSpPr>
              <a:grpSpLocks/>
            </p:cNvGrpSpPr>
            <p:nvPr/>
          </p:nvGrpSpPr>
          <p:grpSpPr bwMode="auto">
            <a:xfrm flipH="1">
              <a:off x="6770688" y="2895600"/>
              <a:ext cx="201612" cy="695325"/>
              <a:chOff x="2450" y="2240"/>
              <a:chExt cx="220" cy="667"/>
            </a:xfrm>
          </p:grpSpPr>
          <p:sp>
            <p:nvSpPr>
              <p:cNvPr id="282" name="Oval 144">
                <a:extLst>
                  <a:ext uri="{FF2B5EF4-FFF2-40B4-BE49-F238E27FC236}">
                    <a16:creationId xmlns:a16="http://schemas.microsoft.com/office/drawing/2014/main" id="{092C2155-1F55-98CF-69F3-0285F29F0F20}"/>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83" name="Line 145">
                <a:extLst>
                  <a:ext uri="{FF2B5EF4-FFF2-40B4-BE49-F238E27FC236}">
                    <a16:creationId xmlns:a16="http://schemas.microsoft.com/office/drawing/2014/main" id="{6FCDF2EB-1EC8-BA05-1C8D-472C59BA8BE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84" name="Line 146">
                <a:extLst>
                  <a:ext uri="{FF2B5EF4-FFF2-40B4-BE49-F238E27FC236}">
                    <a16:creationId xmlns:a16="http://schemas.microsoft.com/office/drawing/2014/main" id="{060782CD-4BF8-5F8A-C3A6-51B66EAF3481}"/>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85" name="Line 147">
                <a:extLst>
                  <a:ext uri="{FF2B5EF4-FFF2-40B4-BE49-F238E27FC236}">
                    <a16:creationId xmlns:a16="http://schemas.microsoft.com/office/drawing/2014/main" id="{4CA0C01C-99CA-CA5E-25A9-46E74CB5AB31}"/>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86" name="Line 148">
                <a:extLst>
                  <a:ext uri="{FF2B5EF4-FFF2-40B4-BE49-F238E27FC236}">
                    <a16:creationId xmlns:a16="http://schemas.microsoft.com/office/drawing/2014/main" id="{7A691B61-27C1-7087-5180-3847928E7727}"/>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87" name="Rectangle 158">
              <a:extLst>
                <a:ext uri="{FF2B5EF4-FFF2-40B4-BE49-F238E27FC236}">
                  <a16:creationId xmlns:a16="http://schemas.microsoft.com/office/drawing/2014/main" id="{92EDB243-290D-8BA5-09E0-C7DBC9B20C95}"/>
                </a:ext>
              </a:extLst>
            </p:cNvPr>
            <p:cNvSpPr>
              <a:spLocks noChangeArrowheads="1"/>
            </p:cNvSpPr>
            <p:nvPr/>
          </p:nvSpPr>
          <p:spPr bwMode="auto">
            <a:xfrm>
              <a:off x="6673850" y="1474788"/>
              <a:ext cx="219075" cy="115887"/>
            </a:xfrm>
            <a:prstGeom prst="rect">
              <a:avLst/>
            </a:prstGeom>
            <a:solidFill>
              <a:schemeClr val="accent4"/>
            </a:solidFill>
            <a:ln w="12700" cap="sq" algn="ctr">
              <a:solidFill>
                <a:schemeClr val="tx1"/>
              </a:solidFill>
              <a:miter lim="800000"/>
              <a:headEnd/>
              <a:tailEnd/>
            </a:ln>
          </p:spPr>
          <p:txBody>
            <a:bodyPr wrap="none" anchor="ctr"/>
            <a:lstStyle/>
            <a:p>
              <a:endParaRPr lang="en-US" dirty="0"/>
            </a:p>
          </p:txBody>
        </p:sp>
        <p:sp>
          <p:nvSpPr>
            <p:cNvPr id="288" name="Rectangle 160">
              <a:extLst>
                <a:ext uri="{FF2B5EF4-FFF2-40B4-BE49-F238E27FC236}">
                  <a16:creationId xmlns:a16="http://schemas.microsoft.com/office/drawing/2014/main" id="{5F09A990-C8B8-8C06-A7E4-CAFF138D596C}"/>
                </a:ext>
              </a:extLst>
            </p:cNvPr>
            <p:cNvSpPr>
              <a:spLocks noChangeArrowheads="1"/>
            </p:cNvSpPr>
            <p:nvPr/>
          </p:nvSpPr>
          <p:spPr bwMode="auto">
            <a:xfrm>
              <a:off x="7419975" y="1479550"/>
              <a:ext cx="219075" cy="115888"/>
            </a:xfrm>
            <a:prstGeom prst="rect">
              <a:avLst/>
            </a:prstGeom>
            <a:solidFill>
              <a:schemeClr val="accent4"/>
            </a:solidFill>
            <a:ln w="12700" cap="sq" algn="ctr">
              <a:solidFill>
                <a:schemeClr val="tx1"/>
              </a:solidFill>
              <a:miter lim="800000"/>
              <a:headEnd/>
              <a:tailEnd/>
            </a:ln>
          </p:spPr>
          <p:txBody>
            <a:bodyPr wrap="none" anchor="ctr"/>
            <a:lstStyle/>
            <a:p>
              <a:endParaRPr lang="en-US" dirty="0"/>
            </a:p>
          </p:txBody>
        </p:sp>
        <p:sp>
          <p:nvSpPr>
            <p:cNvPr id="289" name="Rectangle 174">
              <a:extLst>
                <a:ext uri="{FF2B5EF4-FFF2-40B4-BE49-F238E27FC236}">
                  <a16:creationId xmlns:a16="http://schemas.microsoft.com/office/drawing/2014/main" id="{2CA3EC8E-4325-CBE1-7FB1-A431C969E187}"/>
                </a:ext>
              </a:extLst>
            </p:cNvPr>
            <p:cNvSpPr>
              <a:spLocks noChangeArrowheads="1"/>
            </p:cNvSpPr>
            <p:nvPr/>
          </p:nvSpPr>
          <p:spPr bwMode="auto">
            <a:xfrm>
              <a:off x="6164263" y="4305300"/>
              <a:ext cx="2646362" cy="2075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Step 3: Discuss the categories chosen and make any amendments, additions or subtractions</a:t>
              </a:r>
            </a:p>
            <a:p>
              <a:pPr marL="285750" indent="-285750" algn="l" defTabSz="708025">
                <a:lnSpc>
                  <a:spcPct val="100000"/>
                </a:lnSpc>
                <a:spcBef>
                  <a:spcPct val="40000"/>
                </a:spcBef>
                <a:buSzPct val="90000"/>
                <a:buFont typeface="Arial" panose="020B0604020202020204" pitchFamily="34" charset="0"/>
                <a:buChar char="•"/>
              </a:pPr>
              <a:r>
                <a:rPr lang="en-US" sz="1400" b="1" dirty="0">
                  <a:solidFill>
                    <a:schemeClr val="tx1"/>
                  </a:solidFill>
                </a:rPr>
                <a:t>Give each grouping a title or category name and write it on a different color Post-it as a heading</a:t>
              </a:r>
            </a:p>
          </p:txBody>
        </p:sp>
        <p:grpSp>
          <p:nvGrpSpPr>
            <p:cNvPr id="290" name="Group 175">
              <a:extLst>
                <a:ext uri="{FF2B5EF4-FFF2-40B4-BE49-F238E27FC236}">
                  <a16:creationId xmlns:a16="http://schemas.microsoft.com/office/drawing/2014/main" id="{D5C9ECDC-1726-0292-F9DF-17EED14505E2}"/>
                </a:ext>
              </a:extLst>
            </p:cNvPr>
            <p:cNvGrpSpPr>
              <a:grpSpLocks/>
            </p:cNvGrpSpPr>
            <p:nvPr/>
          </p:nvGrpSpPr>
          <p:grpSpPr bwMode="auto">
            <a:xfrm flipH="1">
              <a:off x="7177088" y="3214688"/>
              <a:ext cx="201612" cy="695325"/>
              <a:chOff x="2450" y="2240"/>
              <a:chExt cx="220" cy="667"/>
            </a:xfrm>
          </p:grpSpPr>
          <p:sp>
            <p:nvSpPr>
              <p:cNvPr id="291" name="Oval 176">
                <a:extLst>
                  <a:ext uri="{FF2B5EF4-FFF2-40B4-BE49-F238E27FC236}">
                    <a16:creationId xmlns:a16="http://schemas.microsoft.com/office/drawing/2014/main" id="{59C22005-18C1-99BE-5DA8-BDC78253FC30}"/>
                  </a:ext>
                </a:extLst>
              </p:cNvPr>
              <p:cNvSpPr>
                <a:spLocks noChangeArrowheads="1"/>
              </p:cNvSpPr>
              <p:nvPr/>
            </p:nvSpPr>
            <p:spPr bwMode="auto">
              <a:xfrm>
                <a:off x="2469" y="2240"/>
                <a:ext cx="182" cy="192"/>
              </a:xfrm>
              <a:prstGeom prst="ellipse">
                <a:avLst/>
              </a:prstGeom>
              <a:noFill/>
              <a:ln w="127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92" name="Line 177">
                <a:extLst>
                  <a:ext uri="{FF2B5EF4-FFF2-40B4-BE49-F238E27FC236}">
                    <a16:creationId xmlns:a16="http://schemas.microsoft.com/office/drawing/2014/main" id="{1EFFF395-329E-D544-690B-3087FF72145B}"/>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93" name="Line 178">
                <a:extLst>
                  <a:ext uri="{FF2B5EF4-FFF2-40B4-BE49-F238E27FC236}">
                    <a16:creationId xmlns:a16="http://schemas.microsoft.com/office/drawing/2014/main" id="{6F5B2516-6F54-C420-F629-E6EC31B4869F}"/>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94" name="Line 179">
                <a:extLst>
                  <a:ext uri="{FF2B5EF4-FFF2-40B4-BE49-F238E27FC236}">
                    <a16:creationId xmlns:a16="http://schemas.microsoft.com/office/drawing/2014/main" id="{84262621-A68B-258B-3A19-D43DC2DC6BB4}"/>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295" name="Line 180">
                <a:extLst>
                  <a:ext uri="{FF2B5EF4-FFF2-40B4-BE49-F238E27FC236}">
                    <a16:creationId xmlns:a16="http://schemas.microsoft.com/office/drawing/2014/main" id="{3F0D13A6-E86D-84DD-2694-2AD6392394CD}"/>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grpSp>
        <p:sp>
          <p:nvSpPr>
            <p:cNvPr id="296" name="Rectangle 67">
              <a:extLst>
                <a:ext uri="{FF2B5EF4-FFF2-40B4-BE49-F238E27FC236}">
                  <a16:creationId xmlns:a16="http://schemas.microsoft.com/office/drawing/2014/main" id="{BE116B29-F48D-643E-987C-A05182A809E7}"/>
                </a:ext>
              </a:extLst>
            </p:cNvPr>
            <p:cNvSpPr>
              <a:spLocks noChangeArrowheads="1"/>
            </p:cNvSpPr>
            <p:nvPr/>
          </p:nvSpPr>
          <p:spPr bwMode="auto">
            <a:xfrm>
              <a:off x="1219200" y="16176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97" name="Rectangle 74">
              <a:extLst>
                <a:ext uri="{FF2B5EF4-FFF2-40B4-BE49-F238E27FC236}">
                  <a16:creationId xmlns:a16="http://schemas.microsoft.com/office/drawing/2014/main" id="{833936D4-960B-DB9D-D29A-64DE10E3A02D}"/>
                </a:ext>
              </a:extLst>
            </p:cNvPr>
            <p:cNvSpPr>
              <a:spLocks noChangeArrowheads="1"/>
            </p:cNvSpPr>
            <p:nvPr/>
          </p:nvSpPr>
          <p:spPr bwMode="auto">
            <a:xfrm>
              <a:off x="1444625" y="1524000"/>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98" name="Rectangle 76">
              <a:extLst>
                <a:ext uri="{FF2B5EF4-FFF2-40B4-BE49-F238E27FC236}">
                  <a16:creationId xmlns:a16="http://schemas.microsoft.com/office/drawing/2014/main" id="{82F2C40F-ABEB-0A4C-46E0-67B889027548}"/>
                </a:ext>
              </a:extLst>
            </p:cNvPr>
            <p:cNvSpPr>
              <a:spLocks noChangeArrowheads="1"/>
            </p:cNvSpPr>
            <p:nvPr/>
          </p:nvSpPr>
          <p:spPr bwMode="auto">
            <a:xfrm>
              <a:off x="1676400" y="16970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299" name="Rectangle 76">
              <a:extLst>
                <a:ext uri="{FF2B5EF4-FFF2-40B4-BE49-F238E27FC236}">
                  <a16:creationId xmlns:a16="http://schemas.microsoft.com/office/drawing/2014/main" id="{605B1757-837B-7B5E-0ECA-DC1DD1B62804}"/>
                </a:ext>
              </a:extLst>
            </p:cNvPr>
            <p:cNvSpPr>
              <a:spLocks noChangeArrowheads="1"/>
            </p:cNvSpPr>
            <p:nvPr/>
          </p:nvSpPr>
          <p:spPr bwMode="auto">
            <a:xfrm>
              <a:off x="609600" y="1524000"/>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0" name="Rectangle 76">
              <a:extLst>
                <a:ext uri="{FF2B5EF4-FFF2-40B4-BE49-F238E27FC236}">
                  <a16:creationId xmlns:a16="http://schemas.microsoft.com/office/drawing/2014/main" id="{1A454955-03B5-341E-43AD-8CAC3C62619F}"/>
                </a:ext>
              </a:extLst>
            </p:cNvPr>
            <p:cNvSpPr>
              <a:spLocks noChangeArrowheads="1"/>
            </p:cNvSpPr>
            <p:nvPr/>
          </p:nvSpPr>
          <p:spPr bwMode="auto">
            <a:xfrm>
              <a:off x="2051050" y="15319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1" name="Rectangle 67">
              <a:extLst>
                <a:ext uri="{FF2B5EF4-FFF2-40B4-BE49-F238E27FC236}">
                  <a16:creationId xmlns:a16="http://schemas.microsoft.com/office/drawing/2014/main" id="{F3420F78-DFED-520F-C24B-698448A4B883}"/>
                </a:ext>
              </a:extLst>
            </p:cNvPr>
            <p:cNvSpPr>
              <a:spLocks noChangeArrowheads="1"/>
            </p:cNvSpPr>
            <p:nvPr/>
          </p:nvSpPr>
          <p:spPr bwMode="auto">
            <a:xfrm>
              <a:off x="1517650" y="19859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2" name="Rectangle 76">
              <a:extLst>
                <a:ext uri="{FF2B5EF4-FFF2-40B4-BE49-F238E27FC236}">
                  <a16:creationId xmlns:a16="http://schemas.microsoft.com/office/drawing/2014/main" id="{4D733FF0-E933-5E05-3417-E57F8901999C}"/>
                </a:ext>
              </a:extLst>
            </p:cNvPr>
            <p:cNvSpPr>
              <a:spLocks noChangeArrowheads="1"/>
            </p:cNvSpPr>
            <p:nvPr/>
          </p:nvSpPr>
          <p:spPr bwMode="auto">
            <a:xfrm>
              <a:off x="1974850" y="20653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3" name="Rectangle 74">
              <a:extLst>
                <a:ext uri="{FF2B5EF4-FFF2-40B4-BE49-F238E27FC236}">
                  <a16:creationId xmlns:a16="http://schemas.microsoft.com/office/drawing/2014/main" id="{A3A78C02-D745-F059-F523-FE6213D9303D}"/>
                </a:ext>
              </a:extLst>
            </p:cNvPr>
            <p:cNvSpPr>
              <a:spLocks noChangeArrowheads="1"/>
            </p:cNvSpPr>
            <p:nvPr/>
          </p:nvSpPr>
          <p:spPr bwMode="auto">
            <a:xfrm>
              <a:off x="3694113" y="18764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4" name="Rectangle 74">
              <a:extLst>
                <a:ext uri="{FF2B5EF4-FFF2-40B4-BE49-F238E27FC236}">
                  <a16:creationId xmlns:a16="http://schemas.microsoft.com/office/drawing/2014/main" id="{DFB95119-5DF9-9565-2F9A-78522C9B8FC5}"/>
                </a:ext>
              </a:extLst>
            </p:cNvPr>
            <p:cNvSpPr>
              <a:spLocks noChangeArrowheads="1"/>
            </p:cNvSpPr>
            <p:nvPr/>
          </p:nvSpPr>
          <p:spPr bwMode="auto">
            <a:xfrm>
              <a:off x="3657600" y="21050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5" name="Rectangle 74">
              <a:extLst>
                <a:ext uri="{FF2B5EF4-FFF2-40B4-BE49-F238E27FC236}">
                  <a16:creationId xmlns:a16="http://schemas.microsoft.com/office/drawing/2014/main" id="{B957E1E1-AF81-AC35-5D38-535AF52BAA81}"/>
                </a:ext>
              </a:extLst>
            </p:cNvPr>
            <p:cNvSpPr>
              <a:spLocks noChangeArrowheads="1"/>
            </p:cNvSpPr>
            <p:nvPr/>
          </p:nvSpPr>
          <p:spPr bwMode="auto">
            <a:xfrm>
              <a:off x="4043363" y="163988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6" name="Rectangle 74">
              <a:extLst>
                <a:ext uri="{FF2B5EF4-FFF2-40B4-BE49-F238E27FC236}">
                  <a16:creationId xmlns:a16="http://schemas.microsoft.com/office/drawing/2014/main" id="{B2041DE3-DEC3-56F3-DFFE-EEB303F791BF}"/>
                </a:ext>
              </a:extLst>
            </p:cNvPr>
            <p:cNvSpPr>
              <a:spLocks noChangeArrowheads="1"/>
            </p:cNvSpPr>
            <p:nvPr/>
          </p:nvSpPr>
          <p:spPr bwMode="auto">
            <a:xfrm>
              <a:off x="4078288" y="186848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7" name="Rectangle 74">
              <a:extLst>
                <a:ext uri="{FF2B5EF4-FFF2-40B4-BE49-F238E27FC236}">
                  <a16:creationId xmlns:a16="http://schemas.microsoft.com/office/drawing/2014/main" id="{296364C3-F093-4401-9791-B7C5B840501E}"/>
                </a:ext>
              </a:extLst>
            </p:cNvPr>
            <p:cNvSpPr>
              <a:spLocks noChangeArrowheads="1"/>
            </p:cNvSpPr>
            <p:nvPr/>
          </p:nvSpPr>
          <p:spPr bwMode="auto">
            <a:xfrm>
              <a:off x="4043363" y="209708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8" name="Rectangle 67">
              <a:extLst>
                <a:ext uri="{FF2B5EF4-FFF2-40B4-BE49-F238E27FC236}">
                  <a16:creationId xmlns:a16="http://schemas.microsoft.com/office/drawing/2014/main" id="{15190CA0-8827-3853-8BE4-D0D6928DB48F}"/>
                </a:ext>
              </a:extLst>
            </p:cNvPr>
            <p:cNvSpPr>
              <a:spLocks noChangeArrowheads="1"/>
            </p:cNvSpPr>
            <p:nvPr/>
          </p:nvSpPr>
          <p:spPr bwMode="auto">
            <a:xfrm>
              <a:off x="4813300" y="19097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09" name="Rectangle 74">
              <a:extLst>
                <a:ext uri="{FF2B5EF4-FFF2-40B4-BE49-F238E27FC236}">
                  <a16:creationId xmlns:a16="http://schemas.microsoft.com/office/drawing/2014/main" id="{76B00AF0-E72F-DC88-CD2C-0CD7D91D4DFE}"/>
                </a:ext>
              </a:extLst>
            </p:cNvPr>
            <p:cNvSpPr>
              <a:spLocks noChangeArrowheads="1"/>
            </p:cNvSpPr>
            <p:nvPr/>
          </p:nvSpPr>
          <p:spPr bwMode="auto">
            <a:xfrm>
              <a:off x="4787900" y="16478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0" name="Rectangle 74">
              <a:extLst>
                <a:ext uri="{FF2B5EF4-FFF2-40B4-BE49-F238E27FC236}">
                  <a16:creationId xmlns:a16="http://schemas.microsoft.com/office/drawing/2014/main" id="{64846FBC-3131-2310-1FED-797AEE7C703F}"/>
                </a:ext>
              </a:extLst>
            </p:cNvPr>
            <p:cNvSpPr>
              <a:spLocks noChangeArrowheads="1"/>
            </p:cNvSpPr>
            <p:nvPr/>
          </p:nvSpPr>
          <p:spPr bwMode="auto">
            <a:xfrm>
              <a:off x="4733925" y="18764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1" name="Rectangle 74">
              <a:extLst>
                <a:ext uri="{FF2B5EF4-FFF2-40B4-BE49-F238E27FC236}">
                  <a16:creationId xmlns:a16="http://schemas.microsoft.com/office/drawing/2014/main" id="{DA2BE6C2-7B1B-10DD-7F65-B2DE763749D1}"/>
                </a:ext>
              </a:extLst>
            </p:cNvPr>
            <p:cNvSpPr>
              <a:spLocks noChangeArrowheads="1"/>
            </p:cNvSpPr>
            <p:nvPr/>
          </p:nvSpPr>
          <p:spPr bwMode="auto">
            <a:xfrm>
              <a:off x="4787900" y="21050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2" name="Rectangle 74">
              <a:extLst>
                <a:ext uri="{FF2B5EF4-FFF2-40B4-BE49-F238E27FC236}">
                  <a16:creationId xmlns:a16="http://schemas.microsoft.com/office/drawing/2014/main" id="{90CEB859-A2E1-E496-5FD3-2656024D6BC9}"/>
                </a:ext>
              </a:extLst>
            </p:cNvPr>
            <p:cNvSpPr>
              <a:spLocks noChangeArrowheads="1"/>
            </p:cNvSpPr>
            <p:nvPr/>
          </p:nvSpPr>
          <p:spPr bwMode="auto">
            <a:xfrm>
              <a:off x="5245100" y="163988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3" name="Rectangle 160">
              <a:extLst>
                <a:ext uri="{FF2B5EF4-FFF2-40B4-BE49-F238E27FC236}">
                  <a16:creationId xmlns:a16="http://schemas.microsoft.com/office/drawing/2014/main" id="{049D35BA-16F1-28C7-1496-4DC1CC0CD3DB}"/>
                </a:ext>
              </a:extLst>
            </p:cNvPr>
            <p:cNvSpPr>
              <a:spLocks noChangeArrowheads="1"/>
            </p:cNvSpPr>
            <p:nvPr/>
          </p:nvSpPr>
          <p:spPr bwMode="auto">
            <a:xfrm>
              <a:off x="8235950" y="1470025"/>
              <a:ext cx="219075" cy="115888"/>
            </a:xfrm>
            <a:prstGeom prst="rect">
              <a:avLst/>
            </a:prstGeom>
            <a:solidFill>
              <a:schemeClr val="accent4"/>
            </a:solidFill>
            <a:ln w="12700" cap="sq" algn="ctr">
              <a:solidFill>
                <a:schemeClr val="tx1"/>
              </a:solidFill>
              <a:miter lim="800000"/>
              <a:headEnd/>
              <a:tailEnd/>
            </a:ln>
          </p:spPr>
          <p:txBody>
            <a:bodyPr wrap="none" anchor="ctr"/>
            <a:lstStyle/>
            <a:p>
              <a:endParaRPr lang="en-US" dirty="0"/>
            </a:p>
          </p:txBody>
        </p:sp>
        <p:sp>
          <p:nvSpPr>
            <p:cNvPr id="314" name="Rectangle 160">
              <a:extLst>
                <a:ext uri="{FF2B5EF4-FFF2-40B4-BE49-F238E27FC236}">
                  <a16:creationId xmlns:a16="http://schemas.microsoft.com/office/drawing/2014/main" id="{E3E5769D-9A3F-81C7-163B-7231C56411B0}"/>
                </a:ext>
              </a:extLst>
            </p:cNvPr>
            <p:cNvSpPr>
              <a:spLocks noChangeArrowheads="1"/>
            </p:cNvSpPr>
            <p:nvPr/>
          </p:nvSpPr>
          <p:spPr bwMode="auto">
            <a:xfrm>
              <a:off x="7008813" y="1479550"/>
              <a:ext cx="219075" cy="115888"/>
            </a:xfrm>
            <a:prstGeom prst="rect">
              <a:avLst/>
            </a:prstGeom>
            <a:solidFill>
              <a:schemeClr val="accent4"/>
            </a:solidFill>
            <a:ln w="12700" cap="sq" algn="ctr">
              <a:solidFill>
                <a:schemeClr val="tx1"/>
              </a:solidFill>
              <a:miter lim="800000"/>
              <a:headEnd/>
              <a:tailEnd/>
            </a:ln>
          </p:spPr>
          <p:txBody>
            <a:bodyPr wrap="none" anchor="ctr"/>
            <a:lstStyle/>
            <a:p>
              <a:endParaRPr lang="en-US" dirty="0"/>
            </a:p>
          </p:txBody>
        </p:sp>
        <p:sp>
          <p:nvSpPr>
            <p:cNvPr id="315" name="Rectangle 160">
              <a:extLst>
                <a:ext uri="{FF2B5EF4-FFF2-40B4-BE49-F238E27FC236}">
                  <a16:creationId xmlns:a16="http://schemas.microsoft.com/office/drawing/2014/main" id="{BCAD7B0E-9BAA-8ECB-E846-9F46751477ED}"/>
                </a:ext>
              </a:extLst>
            </p:cNvPr>
            <p:cNvSpPr>
              <a:spLocks noChangeArrowheads="1"/>
            </p:cNvSpPr>
            <p:nvPr/>
          </p:nvSpPr>
          <p:spPr bwMode="auto">
            <a:xfrm>
              <a:off x="7805738" y="1470025"/>
              <a:ext cx="219075" cy="115888"/>
            </a:xfrm>
            <a:prstGeom prst="rect">
              <a:avLst/>
            </a:prstGeom>
            <a:solidFill>
              <a:schemeClr val="accent4"/>
            </a:solidFill>
            <a:ln w="12700" cap="sq" algn="ctr">
              <a:solidFill>
                <a:schemeClr val="tx1"/>
              </a:solidFill>
              <a:miter lim="800000"/>
              <a:headEnd/>
              <a:tailEnd/>
            </a:ln>
          </p:spPr>
          <p:txBody>
            <a:bodyPr wrap="none" anchor="ctr"/>
            <a:lstStyle/>
            <a:p>
              <a:endParaRPr lang="en-US" dirty="0"/>
            </a:p>
          </p:txBody>
        </p:sp>
        <p:sp>
          <p:nvSpPr>
            <p:cNvPr id="316" name="Rectangle 67">
              <a:extLst>
                <a:ext uri="{FF2B5EF4-FFF2-40B4-BE49-F238E27FC236}">
                  <a16:creationId xmlns:a16="http://schemas.microsoft.com/office/drawing/2014/main" id="{2C7EAF72-DEEE-F350-580E-A2935976D4E4}"/>
                </a:ext>
              </a:extLst>
            </p:cNvPr>
            <p:cNvSpPr>
              <a:spLocks noChangeArrowheads="1"/>
            </p:cNvSpPr>
            <p:nvPr/>
          </p:nvSpPr>
          <p:spPr bwMode="auto">
            <a:xfrm>
              <a:off x="7251700" y="212407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7" name="Rectangle 74">
              <a:extLst>
                <a:ext uri="{FF2B5EF4-FFF2-40B4-BE49-F238E27FC236}">
                  <a16:creationId xmlns:a16="http://schemas.microsoft.com/office/drawing/2014/main" id="{D1EF1FBF-2CCB-693C-FF80-673F94A4E73E}"/>
                </a:ext>
              </a:extLst>
            </p:cNvPr>
            <p:cNvSpPr>
              <a:spLocks noChangeArrowheads="1"/>
            </p:cNvSpPr>
            <p:nvPr/>
          </p:nvSpPr>
          <p:spPr bwMode="auto">
            <a:xfrm>
              <a:off x="6696075" y="16938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8" name="Rectangle 76">
              <a:extLst>
                <a:ext uri="{FF2B5EF4-FFF2-40B4-BE49-F238E27FC236}">
                  <a16:creationId xmlns:a16="http://schemas.microsoft.com/office/drawing/2014/main" id="{156B7CD1-31AE-8850-6CA5-0D1742129842}"/>
                </a:ext>
              </a:extLst>
            </p:cNvPr>
            <p:cNvSpPr>
              <a:spLocks noChangeArrowheads="1"/>
            </p:cNvSpPr>
            <p:nvPr/>
          </p:nvSpPr>
          <p:spPr bwMode="auto">
            <a:xfrm>
              <a:off x="7116763" y="23288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19" name="Rectangle 74">
              <a:extLst>
                <a:ext uri="{FF2B5EF4-FFF2-40B4-BE49-F238E27FC236}">
                  <a16:creationId xmlns:a16="http://schemas.microsoft.com/office/drawing/2014/main" id="{7D010220-84E9-1718-0140-7973D647EB2E}"/>
                </a:ext>
              </a:extLst>
            </p:cNvPr>
            <p:cNvSpPr>
              <a:spLocks noChangeArrowheads="1"/>
            </p:cNvSpPr>
            <p:nvPr/>
          </p:nvSpPr>
          <p:spPr bwMode="auto">
            <a:xfrm>
              <a:off x="6732588" y="19224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0" name="Rectangle 74">
              <a:extLst>
                <a:ext uri="{FF2B5EF4-FFF2-40B4-BE49-F238E27FC236}">
                  <a16:creationId xmlns:a16="http://schemas.microsoft.com/office/drawing/2014/main" id="{07420EDB-C82E-F86E-1B48-705EF7E3CBA0}"/>
                </a:ext>
              </a:extLst>
            </p:cNvPr>
            <p:cNvSpPr>
              <a:spLocks noChangeArrowheads="1"/>
            </p:cNvSpPr>
            <p:nvPr/>
          </p:nvSpPr>
          <p:spPr bwMode="auto">
            <a:xfrm>
              <a:off x="6696075" y="21510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1" name="Rectangle 74">
              <a:extLst>
                <a:ext uri="{FF2B5EF4-FFF2-40B4-BE49-F238E27FC236}">
                  <a16:creationId xmlns:a16="http://schemas.microsoft.com/office/drawing/2014/main" id="{2CFE7C1C-13BF-45B1-1DE5-81D33EB6177E}"/>
                </a:ext>
              </a:extLst>
            </p:cNvPr>
            <p:cNvSpPr>
              <a:spLocks noChangeArrowheads="1"/>
            </p:cNvSpPr>
            <p:nvPr/>
          </p:nvSpPr>
          <p:spPr bwMode="auto">
            <a:xfrm>
              <a:off x="7081838" y="16843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2" name="Rectangle 74">
              <a:extLst>
                <a:ext uri="{FF2B5EF4-FFF2-40B4-BE49-F238E27FC236}">
                  <a16:creationId xmlns:a16="http://schemas.microsoft.com/office/drawing/2014/main" id="{4C79AC3D-0DDA-03F3-BA33-879CF639CF42}"/>
                </a:ext>
              </a:extLst>
            </p:cNvPr>
            <p:cNvSpPr>
              <a:spLocks noChangeArrowheads="1"/>
            </p:cNvSpPr>
            <p:nvPr/>
          </p:nvSpPr>
          <p:spPr bwMode="auto">
            <a:xfrm>
              <a:off x="7118350" y="19129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3" name="Rectangle 74">
              <a:extLst>
                <a:ext uri="{FF2B5EF4-FFF2-40B4-BE49-F238E27FC236}">
                  <a16:creationId xmlns:a16="http://schemas.microsoft.com/office/drawing/2014/main" id="{2F000489-975A-7C21-DEC7-D09EECF461C4}"/>
                </a:ext>
              </a:extLst>
            </p:cNvPr>
            <p:cNvSpPr>
              <a:spLocks noChangeArrowheads="1"/>
            </p:cNvSpPr>
            <p:nvPr/>
          </p:nvSpPr>
          <p:spPr bwMode="auto">
            <a:xfrm>
              <a:off x="7081838" y="21415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4" name="Rectangle 67">
              <a:extLst>
                <a:ext uri="{FF2B5EF4-FFF2-40B4-BE49-F238E27FC236}">
                  <a16:creationId xmlns:a16="http://schemas.microsoft.com/office/drawing/2014/main" id="{EC46CF1F-9FD4-61A0-58BE-F3CB80824F27}"/>
                </a:ext>
              </a:extLst>
            </p:cNvPr>
            <p:cNvSpPr>
              <a:spLocks noChangeArrowheads="1"/>
            </p:cNvSpPr>
            <p:nvPr/>
          </p:nvSpPr>
          <p:spPr bwMode="auto">
            <a:xfrm>
              <a:off x="7853363" y="195421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5" name="Rectangle 74">
              <a:extLst>
                <a:ext uri="{FF2B5EF4-FFF2-40B4-BE49-F238E27FC236}">
                  <a16:creationId xmlns:a16="http://schemas.microsoft.com/office/drawing/2014/main" id="{8D15061B-748B-B4FD-8FDE-3CB5B968EE80}"/>
                </a:ext>
              </a:extLst>
            </p:cNvPr>
            <p:cNvSpPr>
              <a:spLocks noChangeArrowheads="1"/>
            </p:cNvSpPr>
            <p:nvPr/>
          </p:nvSpPr>
          <p:spPr bwMode="auto">
            <a:xfrm>
              <a:off x="7826375" y="16938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6" name="Rectangle 74">
              <a:extLst>
                <a:ext uri="{FF2B5EF4-FFF2-40B4-BE49-F238E27FC236}">
                  <a16:creationId xmlns:a16="http://schemas.microsoft.com/office/drawing/2014/main" id="{623FE951-C1AA-5CB3-1789-C83BF51C903B}"/>
                </a:ext>
              </a:extLst>
            </p:cNvPr>
            <p:cNvSpPr>
              <a:spLocks noChangeArrowheads="1"/>
            </p:cNvSpPr>
            <p:nvPr/>
          </p:nvSpPr>
          <p:spPr bwMode="auto">
            <a:xfrm>
              <a:off x="7772400" y="19224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7" name="Rectangle 74">
              <a:extLst>
                <a:ext uri="{FF2B5EF4-FFF2-40B4-BE49-F238E27FC236}">
                  <a16:creationId xmlns:a16="http://schemas.microsoft.com/office/drawing/2014/main" id="{5335FCDA-C118-28B1-8DA6-940C1C341123}"/>
                </a:ext>
              </a:extLst>
            </p:cNvPr>
            <p:cNvSpPr>
              <a:spLocks noChangeArrowheads="1"/>
            </p:cNvSpPr>
            <p:nvPr/>
          </p:nvSpPr>
          <p:spPr bwMode="auto">
            <a:xfrm>
              <a:off x="7826375" y="21510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8" name="Rectangle 74">
              <a:extLst>
                <a:ext uri="{FF2B5EF4-FFF2-40B4-BE49-F238E27FC236}">
                  <a16:creationId xmlns:a16="http://schemas.microsoft.com/office/drawing/2014/main" id="{00FA039D-4D46-9305-EA02-F25040682149}"/>
                </a:ext>
              </a:extLst>
            </p:cNvPr>
            <p:cNvSpPr>
              <a:spLocks noChangeArrowheads="1"/>
            </p:cNvSpPr>
            <p:nvPr/>
          </p:nvSpPr>
          <p:spPr bwMode="auto">
            <a:xfrm>
              <a:off x="8283575" y="1684338"/>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29" name="Rectangle 74">
              <a:extLst>
                <a:ext uri="{FF2B5EF4-FFF2-40B4-BE49-F238E27FC236}">
                  <a16:creationId xmlns:a16="http://schemas.microsoft.com/office/drawing/2014/main" id="{7EF0B8EC-109B-1A03-3087-CB6AA687C016}"/>
                </a:ext>
              </a:extLst>
            </p:cNvPr>
            <p:cNvSpPr>
              <a:spLocks noChangeArrowheads="1"/>
            </p:cNvSpPr>
            <p:nvPr/>
          </p:nvSpPr>
          <p:spPr bwMode="auto">
            <a:xfrm>
              <a:off x="7485063" y="17113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30" name="Rectangle 74">
              <a:extLst>
                <a:ext uri="{FF2B5EF4-FFF2-40B4-BE49-F238E27FC236}">
                  <a16:creationId xmlns:a16="http://schemas.microsoft.com/office/drawing/2014/main" id="{68D0487B-F4A2-ED6E-566A-40A8A899E84D}"/>
                </a:ext>
              </a:extLst>
            </p:cNvPr>
            <p:cNvSpPr>
              <a:spLocks noChangeArrowheads="1"/>
            </p:cNvSpPr>
            <p:nvPr/>
          </p:nvSpPr>
          <p:spPr bwMode="auto">
            <a:xfrm>
              <a:off x="7450138" y="1939925"/>
              <a:ext cx="158750" cy="144463"/>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sp>
          <p:nvSpPr>
            <p:cNvPr id="331" name="Rectangle 74">
              <a:extLst>
                <a:ext uri="{FF2B5EF4-FFF2-40B4-BE49-F238E27FC236}">
                  <a16:creationId xmlns:a16="http://schemas.microsoft.com/office/drawing/2014/main" id="{A9CD5DF7-5E97-AF0D-D79B-2E336549E498}"/>
                </a:ext>
              </a:extLst>
            </p:cNvPr>
            <p:cNvSpPr>
              <a:spLocks noChangeArrowheads="1"/>
            </p:cNvSpPr>
            <p:nvPr/>
          </p:nvSpPr>
          <p:spPr bwMode="auto">
            <a:xfrm>
              <a:off x="7978775" y="1846263"/>
              <a:ext cx="158750" cy="144462"/>
            </a:xfrm>
            <a:prstGeom prst="rect">
              <a:avLst/>
            </a:prstGeom>
            <a:solidFill>
              <a:schemeClr val="accent2"/>
            </a:solidFill>
            <a:ln w="12700" cap="sq" algn="ctr">
              <a:solidFill>
                <a:schemeClr val="tx1"/>
              </a:solidFill>
              <a:miter lim="800000"/>
              <a:headEnd/>
              <a:tailEnd/>
            </a:ln>
          </p:spPr>
          <p:txBody>
            <a:bodyPr wrap="none" anchor="ctr"/>
            <a:lstStyle/>
            <a:p>
              <a:endParaRPr lang="en-US" dirty="0"/>
            </a:p>
          </p:txBody>
        </p:sp>
      </p:grpSp>
    </p:spTree>
    <p:extLst>
      <p:ext uri="{BB962C8B-B14F-4D97-AF65-F5344CB8AC3E}">
        <p14:creationId xmlns:p14="http://schemas.microsoft.com/office/powerpoint/2010/main" val="12519412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The Interrelationship Diagram</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grpSp>
        <p:nvGrpSpPr>
          <p:cNvPr id="129" name="Group 128">
            <a:extLst>
              <a:ext uri="{FF2B5EF4-FFF2-40B4-BE49-F238E27FC236}">
                <a16:creationId xmlns:a16="http://schemas.microsoft.com/office/drawing/2014/main" id="{1F21D57F-E17C-4FD7-12B3-9E81D0ED8995}"/>
              </a:ext>
            </a:extLst>
          </p:cNvPr>
          <p:cNvGrpSpPr/>
          <p:nvPr/>
        </p:nvGrpSpPr>
        <p:grpSpPr>
          <a:xfrm>
            <a:off x="2092900" y="1859629"/>
            <a:ext cx="7605699" cy="4317334"/>
            <a:chOff x="431814" y="1295400"/>
            <a:chExt cx="7605699" cy="4953000"/>
          </a:xfrm>
        </p:grpSpPr>
        <p:sp>
          <p:nvSpPr>
            <p:cNvPr id="13" name="Down Arrow 49">
              <a:extLst>
                <a:ext uri="{FF2B5EF4-FFF2-40B4-BE49-F238E27FC236}">
                  <a16:creationId xmlns:a16="http://schemas.microsoft.com/office/drawing/2014/main" id="{0622BA1C-CD6D-C453-4172-1C7633BBC98D}"/>
                </a:ext>
              </a:extLst>
            </p:cNvPr>
            <p:cNvSpPr>
              <a:spLocks noChangeArrowheads="1"/>
            </p:cNvSpPr>
            <p:nvPr/>
          </p:nvSpPr>
          <p:spPr bwMode="auto">
            <a:xfrm>
              <a:off x="6873876" y="1295400"/>
              <a:ext cx="396875" cy="4602163"/>
            </a:xfrm>
            <a:prstGeom prst="downArrow">
              <a:avLst>
                <a:gd name="adj1" fmla="val 50000"/>
                <a:gd name="adj2" fmla="val 49981"/>
              </a:avLst>
            </a:prstGeom>
            <a:solidFill>
              <a:schemeClr val="accent2"/>
            </a:solidFill>
            <a:ln w="12700" cap="sq" algn="ctr">
              <a:solidFill>
                <a:schemeClr val="tx1"/>
              </a:solidFill>
              <a:round/>
              <a:headEnd/>
              <a:tailEnd/>
            </a:ln>
          </p:spPr>
          <p:txBody>
            <a:bodyPr wrap="none" anchor="ctr"/>
            <a:lstStyle/>
            <a:p>
              <a:endParaRPr lang="en-GB" dirty="0"/>
            </a:p>
          </p:txBody>
        </p:sp>
        <p:sp>
          <p:nvSpPr>
            <p:cNvPr id="14" name="Line 9">
              <a:extLst>
                <a:ext uri="{FF2B5EF4-FFF2-40B4-BE49-F238E27FC236}">
                  <a16:creationId xmlns:a16="http://schemas.microsoft.com/office/drawing/2014/main" id="{AF7094C8-37B9-A50E-34C9-EDB389E9C0CA}"/>
                </a:ext>
              </a:extLst>
            </p:cNvPr>
            <p:cNvSpPr>
              <a:spLocks noChangeShapeType="1"/>
            </p:cNvSpPr>
            <p:nvPr/>
          </p:nvSpPr>
          <p:spPr bwMode="auto">
            <a:xfrm>
              <a:off x="2227263" y="2098175"/>
              <a:ext cx="727075" cy="15875"/>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15" name="Line 10">
              <a:extLst>
                <a:ext uri="{FF2B5EF4-FFF2-40B4-BE49-F238E27FC236}">
                  <a16:creationId xmlns:a16="http://schemas.microsoft.com/office/drawing/2014/main" id="{81D6CFE4-7BCE-9CA9-E97E-C62A7A857E57}"/>
                </a:ext>
              </a:extLst>
            </p:cNvPr>
            <p:cNvSpPr>
              <a:spLocks noChangeShapeType="1"/>
            </p:cNvSpPr>
            <p:nvPr/>
          </p:nvSpPr>
          <p:spPr bwMode="auto">
            <a:xfrm>
              <a:off x="2227263" y="2555375"/>
              <a:ext cx="1682750" cy="17526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16" name="Line 11">
              <a:extLst>
                <a:ext uri="{FF2B5EF4-FFF2-40B4-BE49-F238E27FC236}">
                  <a16:creationId xmlns:a16="http://schemas.microsoft.com/office/drawing/2014/main" id="{1DA40061-776E-1791-72C8-6CDAFD4B1345}"/>
                </a:ext>
              </a:extLst>
            </p:cNvPr>
            <p:cNvSpPr>
              <a:spLocks noChangeShapeType="1"/>
            </p:cNvSpPr>
            <p:nvPr/>
          </p:nvSpPr>
          <p:spPr bwMode="auto">
            <a:xfrm>
              <a:off x="2008188" y="2555375"/>
              <a:ext cx="0" cy="17526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17" name="Line 12">
              <a:extLst>
                <a:ext uri="{FF2B5EF4-FFF2-40B4-BE49-F238E27FC236}">
                  <a16:creationId xmlns:a16="http://schemas.microsoft.com/office/drawing/2014/main" id="{10B7866C-835C-FA60-6FDC-109EB61DEEB2}"/>
                </a:ext>
              </a:extLst>
            </p:cNvPr>
            <p:cNvSpPr>
              <a:spLocks noChangeShapeType="1"/>
            </p:cNvSpPr>
            <p:nvPr/>
          </p:nvSpPr>
          <p:spPr bwMode="auto">
            <a:xfrm flipH="1">
              <a:off x="1274763" y="2479175"/>
              <a:ext cx="295275" cy="5334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18" name="Line 13">
              <a:extLst>
                <a:ext uri="{FF2B5EF4-FFF2-40B4-BE49-F238E27FC236}">
                  <a16:creationId xmlns:a16="http://schemas.microsoft.com/office/drawing/2014/main" id="{E231377B-A984-F186-3E9F-E0FD787BAE39}"/>
                </a:ext>
              </a:extLst>
            </p:cNvPr>
            <p:cNvSpPr>
              <a:spLocks noChangeShapeType="1"/>
            </p:cNvSpPr>
            <p:nvPr/>
          </p:nvSpPr>
          <p:spPr bwMode="auto">
            <a:xfrm>
              <a:off x="4059238" y="2479175"/>
              <a:ext cx="141287" cy="5334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19" name="Line 14">
              <a:extLst>
                <a:ext uri="{FF2B5EF4-FFF2-40B4-BE49-F238E27FC236}">
                  <a16:creationId xmlns:a16="http://schemas.microsoft.com/office/drawing/2014/main" id="{B56A6B3C-A1B2-9A02-188A-CFCE293C6DA3}"/>
                </a:ext>
              </a:extLst>
            </p:cNvPr>
            <p:cNvSpPr>
              <a:spLocks noChangeShapeType="1"/>
            </p:cNvSpPr>
            <p:nvPr/>
          </p:nvSpPr>
          <p:spPr bwMode="auto">
            <a:xfrm flipH="1">
              <a:off x="2519363" y="2555375"/>
              <a:ext cx="1096962" cy="19812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0" name="Line 15">
              <a:extLst>
                <a:ext uri="{FF2B5EF4-FFF2-40B4-BE49-F238E27FC236}">
                  <a16:creationId xmlns:a16="http://schemas.microsoft.com/office/drawing/2014/main" id="{55A6DF76-1993-0492-11D7-93C89BB21B3D}"/>
                </a:ext>
              </a:extLst>
            </p:cNvPr>
            <p:cNvSpPr>
              <a:spLocks noChangeShapeType="1"/>
            </p:cNvSpPr>
            <p:nvPr/>
          </p:nvSpPr>
          <p:spPr bwMode="auto">
            <a:xfrm flipV="1">
              <a:off x="1570038" y="2555375"/>
              <a:ext cx="1900237" cy="9144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1" name="Line 16">
              <a:extLst>
                <a:ext uri="{FF2B5EF4-FFF2-40B4-BE49-F238E27FC236}">
                  <a16:creationId xmlns:a16="http://schemas.microsoft.com/office/drawing/2014/main" id="{41EAF50B-A6CA-194B-E6B3-0E5E58FC0A35}"/>
                </a:ext>
              </a:extLst>
            </p:cNvPr>
            <p:cNvSpPr>
              <a:spLocks noChangeShapeType="1"/>
            </p:cNvSpPr>
            <p:nvPr/>
          </p:nvSpPr>
          <p:spPr bwMode="auto">
            <a:xfrm flipH="1">
              <a:off x="2520950" y="3942850"/>
              <a:ext cx="1271588" cy="974725"/>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2" name="Line 17">
              <a:extLst>
                <a:ext uri="{FF2B5EF4-FFF2-40B4-BE49-F238E27FC236}">
                  <a16:creationId xmlns:a16="http://schemas.microsoft.com/office/drawing/2014/main" id="{1D2F6DBC-537A-CC73-89A7-0D94AC478424}"/>
                </a:ext>
              </a:extLst>
            </p:cNvPr>
            <p:cNvSpPr>
              <a:spLocks noChangeShapeType="1"/>
            </p:cNvSpPr>
            <p:nvPr/>
          </p:nvSpPr>
          <p:spPr bwMode="auto">
            <a:xfrm>
              <a:off x="4095750" y="3866650"/>
              <a:ext cx="76200" cy="457200"/>
            </a:xfrm>
            <a:prstGeom prst="line">
              <a:avLst/>
            </a:prstGeom>
            <a:noFill/>
            <a:ln w="28575">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a:lstStyle/>
            <a:p>
              <a:endParaRPr lang="en-GB" dirty="0"/>
            </a:p>
          </p:txBody>
        </p:sp>
        <p:sp>
          <p:nvSpPr>
            <p:cNvPr id="23" name="Line 18">
              <a:extLst>
                <a:ext uri="{FF2B5EF4-FFF2-40B4-BE49-F238E27FC236}">
                  <a16:creationId xmlns:a16="http://schemas.microsoft.com/office/drawing/2014/main" id="{E2F595B6-E130-76E6-D9DF-E6BF67EB3404}"/>
                </a:ext>
              </a:extLst>
            </p:cNvPr>
            <p:cNvSpPr>
              <a:spLocks noChangeShapeType="1"/>
            </p:cNvSpPr>
            <p:nvPr/>
          </p:nvSpPr>
          <p:spPr bwMode="auto">
            <a:xfrm>
              <a:off x="1644650" y="3545976"/>
              <a:ext cx="1825625"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4" name="Line 19">
              <a:extLst>
                <a:ext uri="{FF2B5EF4-FFF2-40B4-BE49-F238E27FC236}">
                  <a16:creationId xmlns:a16="http://schemas.microsoft.com/office/drawing/2014/main" id="{2C350107-6505-D7F2-59D0-E24DEC054DDC}"/>
                </a:ext>
              </a:extLst>
            </p:cNvPr>
            <p:cNvSpPr>
              <a:spLocks noChangeShapeType="1"/>
            </p:cNvSpPr>
            <p:nvPr/>
          </p:nvSpPr>
          <p:spPr bwMode="auto">
            <a:xfrm flipH="1" flipV="1">
              <a:off x="2497138" y="5009650"/>
              <a:ext cx="609600"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5" name="Line 20">
              <a:extLst>
                <a:ext uri="{FF2B5EF4-FFF2-40B4-BE49-F238E27FC236}">
                  <a16:creationId xmlns:a16="http://schemas.microsoft.com/office/drawing/2014/main" id="{08C4AC6D-8880-8351-CB0B-A1B4E4743648}"/>
                </a:ext>
              </a:extLst>
            </p:cNvPr>
            <p:cNvSpPr>
              <a:spLocks noChangeShapeType="1"/>
            </p:cNvSpPr>
            <p:nvPr/>
          </p:nvSpPr>
          <p:spPr bwMode="auto">
            <a:xfrm flipH="1" flipV="1">
              <a:off x="1206500" y="3917450"/>
              <a:ext cx="1824038" cy="4826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6" name="Line 21">
              <a:extLst>
                <a:ext uri="{FF2B5EF4-FFF2-40B4-BE49-F238E27FC236}">
                  <a16:creationId xmlns:a16="http://schemas.microsoft.com/office/drawing/2014/main" id="{9D961875-5DBE-31DB-19A6-4BDA68CF6B2A}"/>
                </a:ext>
              </a:extLst>
            </p:cNvPr>
            <p:cNvSpPr>
              <a:spLocks noChangeShapeType="1"/>
            </p:cNvSpPr>
            <p:nvPr/>
          </p:nvSpPr>
          <p:spPr bwMode="auto">
            <a:xfrm>
              <a:off x="1057275" y="3926975"/>
              <a:ext cx="0" cy="45720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GB" dirty="0"/>
            </a:p>
          </p:txBody>
        </p:sp>
        <p:sp>
          <p:nvSpPr>
            <p:cNvPr id="27" name="TextBox 50">
              <a:extLst>
                <a:ext uri="{FF2B5EF4-FFF2-40B4-BE49-F238E27FC236}">
                  <a16:creationId xmlns:a16="http://schemas.microsoft.com/office/drawing/2014/main" id="{404FE096-CC7C-89A3-E58E-9A70FC518502}"/>
                </a:ext>
              </a:extLst>
            </p:cNvPr>
            <p:cNvSpPr txBox="1">
              <a:spLocks noChangeArrowheads="1"/>
            </p:cNvSpPr>
            <p:nvPr/>
          </p:nvSpPr>
          <p:spPr bwMode="auto">
            <a:xfrm>
              <a:off x="609600" y="5934075"/>
              <a:ext cx="8778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solidFill>
                    <a:schemeClr val="tx1"/>
                  </a:solidFill>
                </a:rPr>
                <a:t>Step 1</a:t>
              </a:r>
            </a:p>
          </p:txBody>
        </p:sp>
        <p:sp>
          <p:nvSpPr>
            <p:cNvPr id="28" name="TextBox 51">
              <a:extLst>
                <a:ext uri="{FF2B5EF4-FFF2-40B4-BE49-F238E27FC236}">
                  <a16:creationId xmlns:a16="http://schemas.microsoft.com/office/drawing/2014/main" id="{3C4E41FB-5281-D6E7-DDD5-1C2910E684FF}"/>
                </a:ext>
              </a:extLst>
            </p:cNvPr>
            <p:cNvSpPr txBox="1">
              <a:spLocks noChangeArrowheads="1"/>
            </p:cNvSpPr>
            <p:nvPr/>
          </p:nvSpPr>
          <p:spPr bwMode="auto">
            <a:xfrm>
              <a:off x="5486400" y="5934075"/>
              <a:ext cx="8778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solidFill>
                    <a:schemeClr val="tx1"/>
                  </a:solidFill>
                </a:rPr>
                <a:t>Step 2</a:t>
              </a:r>
            </a:p>
          </p:txBody>
        </p:sp>
        <p:grpSp>
          <p:nvGrpSpPr>
            <p:cNvPr id="29" name="Group 65">
              <a:extLst>
                <a:ext uri="{FF2B5EF4-FFF2-40B4-BE49-F238E27FC236}">
                  <a16:creationId xmlns:a16="http://schemas.microsoft.com/office/drawing/2014/main" id="{2785AC16-9524-CF2C-3312-2610D2F089A9}"/>
                </a:ext>
              </a:extLst>
            </p:cNvPr>
            <p:cNvGrpSpPr>
              <a:grpSpLocks/>
            </p:cNvGrpSpPr>
            <p:nvPr/>
          </p:nvGrpSpPr>
          <p:grpSpPr bwMode="auto">
            <a:xfrm>
              <a:off x="752475" y="1717177"/>
              <a:ext cx="1123950" cy="614801"/>
              <a:chOff x="923290" y="1736726"/>
              <a:chExt cx="1125003" cy="614606"/>
            </a:xfrm>
          </p:grpSpPr>
          <p:sp>
            <p:nvSpPr>
              <p:cNvPr id="30" name="Rectangle 3">
                <a:extLst>
                  <a:ext uri="{FF2B5EF4-FFF2-40B4-BE49-F238E27FC236}">
                    <a16:creationId xmlns:a16="http://schemas.microsoft.com/office/drawing/2014/main" id="{B1F91427-13D9-923B-6FD0-B11A17A5BCC9}"/>
                  </a:ext>
                </a:extLst>
              </p:cNvPr>
              <p:cNvSpPr>
                <a:spLocks noChangeArrowheads="1"/>
              </p:cNvSpPr>
              <p:nvPr/>
            </p:nvSpPr>
            <p:spPr bwMode="auto">
              <a:xfrm>
                <a:off x="923290" y="1736726"/>
                <a:ext cx="1065688"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A</a:t>
                </a:r>
              </a:p>
            </p:txBody>
          </p:sp>
          <p:sp>
            <p:nvSpPr>
              <p:cNvPr id="31" name="TextBox 58">
                <a:extLst>
                  <a:ext uri="{FF2B5EF4-FFF2-40B4-BE49-F238E27FC236}">
                    <a16:creationId xmlns:a16="http://schemas.microsoft.com/office/drawing/2014/main" id="{A787963B-FEEF-CE49-8F7B-3B139B2D7924}"/>
                  </a:ext>
                </a:extLst>
              </p:cNvPr>
              <p:cNvSpPr txBox="1">
                <a:spLocks noChangeArrowheads="1"/>
              </p:cNvSpPr>
              <p:nvPr/>
            </p:nvSpPr>
            <p:spPr bwMode="auto">
              <a:xfrm>
                <a:off x="1543025" y="2013436"/>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4/0</a:t>
                </a:r>
              </a:p>
            </p:txBody>
          </p:sp>
        </p:grpSp>
        <p:grpSp>
          <p:nvGrpSpPr>
            <p:cNvPr id="32" name="Group 66">
              <a:extLst>
                <a:ext uri="{FF2B5EF4-FFF2-40B4-BE49-F238E27FC236}">
                  <a16:creationId xmlns:a16="http://schemas.microsoft.com/office/drawing/2014/main" id="{A7E1B924-1FDC-809D-D111-D880EA40C08F}"/>
                </a:ext>
              </a:extLst>
            </p:cNvPr>
            <p:cNvGrpSpPr>
              <a:grpSpLocks/>
            </p:cNvGrpSpPr>
            <p:nvPr/>
          </p:nvGrpSpPr>
          <p:grpSpPr bwMode="auto">
            <a:xfrm>
              <a:off x="3182938" y="1717179"/>
              <a:ext cx="1123950" cy="615318"/>
              <a:chOff x="3354388" y="1736726"/>
              <a:chExt cx="1123332" cy="614606"/>
            </a:xfrm>
          </p:grpSpPr>
          <p:sp>
            <p:nvSpPr>
              <p:cNvPr id="33" name="Rectangle 8">
                <a:extLst>
                  <a:ext uri="{FF2B5EF4-FFF2-40B4-BE49-F238E27FC236}">
                    <a16:creationId xmlns:a16="http://schemas.microsoft.com/office/drawing/2014/main" id="{1E4237FA-670B-AF0F-3257-25F5ADB83FDF}"/>
                  </a:ext>
                </a:extLst>
              </p:cNvPr>
              <p:cNvSpPr>
                <a:spLocks noChangeArrowheads="1"/>
              </p:cNvSpPr>
              <p:nvPr/>
            </p:nvSpPr>
            <p:spPr bwMode="auto">
              <a:xfrm>
                <a:off x="3354388" y="1736726"/>
                <a:ext cx="1067912"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B</a:t>
                </a:r>
              </a:p>
            </p:txBody>
          </p:sp>
          <p:sp>
            <p:nvSpPr>
              <p:cNvPr id="34" name="TextBox 60">
                <a:extLst>
                  <a:ext uri="{FF2B5EF4-FFF2-40B4-BE49-F238E27FC236}">
                    <a16:creationId xmlns:a16="http://schemas.microsoft.com/office/drawing/2014/main" id="{59E99652-6B04-BEC6-1A0B-4767B15C0671}"/>
                  </a:ext>
                </a:extLst>
              </p:cNvPr>
              <p:cNvSpPr txBox="1">
                <a:spLocks noChangeArrowheads="1"/>
              </p:cNvSpPr>
              <p:nvPr/>
            </p:nvSpPr>
            <p:spPr bwMode="auto">
              <a:xfrm>
                <a:off x="3972453" y="2022454"/>
                <a:ext cx="505267"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2/2</a:t>
                </a:r>
              </a:p>
            </p:txBody>
          </p:sp>
        </p:grpSp>
        <p:grpSp>
          <p:nvGrpSpPr>
            <p:cNvPr id="35" name="Group 68">
              <a:extLst>
                <a:ext uri="{FF2B5EF4-FFF2-40B4-BE49-F238E27FC236}">
                  <a16:creationId xmlns:a16="http://schemas.microsoft.com/office/drawing/2014/main" id="{3D2854C8-8ED3-C1CF-41CC-7196335A6D55}"/>
                </a:ext>
              </a:extLst>
            </p:cNvPr>
            <p:cNvGrpSpPr>
              <a:grpSpLocks/>
            </p:cNvGrpSpPr>
            <p:nvPr/>
          </p:nvGrpSpPr>
          <p:grpSpPr bwMode="auto">
            <a:xfrm>
              <a:off x="3454309" y="3069515"/>
              <a:ext cx="1149350" cy="617817"/>
              <a:chOff x="3892550" y="3108326"/>
              <a:chExt cx="1149942" cy="617546"/>
            </a:xfrm>
          </p:grpSpPr>
          <p:sp>
            <p:nvSpPr>
              <p:cNvPr id="36" name="Rectangle 6">
                <a:extLst>
                  <a:ext uri="{FF2B5EF4-FFF2-40B4-BE49-F238E27FC236}">
                    <a16:creationId xmlns:a16="http://schemas.microsoft.com/office/drawing/2014/main" id="{F4ACFDD9-673D-4672-AEE7-B4D1BC0A6A37}"/>
                  </a:ext>
                </a:extLst>
              </p:cNvPr>
              <p:cNvSpPr>
                <a:spLocks noChangeArrowheads="1"/>
              </p:cNvSpPr>
              <p:nvPr/>
            </p:nvSpPr>
            <p:spPr bwMode="auto">
              <a:xfrm>
                <a:off x="3892550" y="3108326"/>
                <a:ext cx="1067912"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C</a:t>
                </a:r>
              </a:p>
            </p:txBody>
          </p:sp>
          <p:sp>
            <p:nvSpPr>
              <p:cNvPr id="37" name="TextBox 61">
                <a:extLst>
                  <a:ext uri="{FF2B5EF4-FFF2-40B4-BE49-F238E27FC236}">
                    <a16:creationId xmlns:a16="http://schemas.microsoft.com/office/drawing/2014/main" id="{EC4E4FAB-8813-D673-A0BF-3BD0A8C532ED}"/>
                  </a:ext>
                </a:extLst>
              </p:cNvPr>
              <p:cNvSpPr txBox="1">
                <a:spLocks noChangeArrowheads="1"/>
              </p:cNvSpPr>
              <p:nvPr/>
            </p:nvSpPr>
            <p:spPr bwMode="auto">
              <a:xfrm>
                <a:off x="4537224" y="3411940"/>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1/3</a:t>
                </a:r>
              </a:p>
            </p:txBody>
          </p:sp>
        </p:grpSp>
        <p:grpSp>
          <p:nvGrpSpPr>
            <p:cNvPr id="38" name="Group 69">
              <a:extLst>
                <a:ext uri="{FF2B5EF4-FFF2-40B4-BE49-F238E27FC236}">
                  <a16:creationId xmlns:a16="http://schemas.microsoft.com/office/drawing/2014/main" id="{D9E7D04E-98CE-88B5-FDC5-7B9BB44C4B46}"/>
                </a:ext>
              </a:extLst>
            </p:cNvPr>
            <p:cNvGrpSpPr>
              <a:grpSpLocks/>
            </p:cNvGrpSpPr>
            <p:nvPr/>
          </p:nvGrpSpPr>
          <p:grpSpPr bwMode="auto">
            <a:xfrm>
              <a:off x="3182938" y="4460370"/>
              <a:ext cx="1176337" cy="617817"/>
              <a:chOff x="3354388" y="4479926"/>
              <a:chExt cx="1177109" cy="617544"/>
            </a:xfrm>
          </p:grpSpPr>
          <p:sp>
            <p:nvSpPr>
              <p:cNvPr id="39" name="Rectangle 7">
                <a:extLst>
                  <a:ext uri="{FF2B5EF4-FFF2-40B4-BE49-F238E27FC236}">
                    <a16:creationId xmlns:a16="http://schemas.microsoft.com/office/drawing/2014/main" id="{12B8D6DD-84C4-FEFE-CC55-D1CA466FC66E}"/>
                  </a:ext>
                </a:extLst>
              </p:cNvPr>
              <p:cNvSpPr>
                <a:spLocks noChangeArrowheads="1"/>
              </p:cNvSpPr>
              <p:nvPr/>
            </p:nvSpPr>
            <p:spPr bwMode="auto">
              <a:xfrm>
                <a:off x="3354388" y="4479926"/>
                <a:ext cx="1067912"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D</a:t>
                </a:r>
              </a:p>
            </p:txBody>
          </p:sp>
          <p:sp>
            <p:nvSpPr>
              <p:cNvPr id="40" name="TextBox 62">
                <a:extLst>
                  <a:ext uri="{FF2B5EF4-FFF2-40B4-BE49-F238E27FC236}">
                    <a16:creationId xmlns:a16="http://schemas.microsoft.com/office/drawing/2014/main" id="{3343D6A5-B282-112F-CB6F-5DDE0EF69677}"/>
                  </a:ext>
                </a:extLst>
              </p:cNvPr>
              <p:cNvSpPr txBox="1">
                <a:spLocks noChangeArrowheads="1"/>
              </p:cNvSpPr>
              <p:nvPr/>
            </p:nvSpPr>
            <p:spPr bwMode="auto">
              <a:xfrm>
                <a:off x="4026229" y="4783539"/>
                <a:ext cx="505268" cy="313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3/1</a:t>
                </a:r>
              </a:p>
            </p:txBody>
          </p:sp>
        </p:grpSp>
        <p:grpSp>
          <p:nvGrpSpPr>
            <p:cNvPr id="41" name="Group 70">
              <a:extLst>
                <a:ext uri="{FF2B5EF4-FFF2-40B4-BE49-F238E27FC236}">
                  <a16:creationId xmlns:a16="http://schemas.microsoft.com/office/drawing/2014/main" id="{619405A8-A2A1-87C4-6750-6E96DAA5F043}"/>
                </a:ext>
              </a:extLst>
            </p:cNvPr>
            <p:cNvGrpSpPr>
              <a:grpSpLocks/>
            </p:cNvGrpSpPr>
            <p:nvPr/>
          </p:nvGrpSpPr>
          <p:grpSpPr bwMode="auto">
            <a:xfrm>
              <a:off x="911225" y="4384160"/>
              <a:ext cx="1144588" cy="630515"/>
              <a:chOff x="1082676" y="4403726"/>
              <a:chExt cx="1144886" cy="630919"/>
            </a:xfrm>
          </p:grpSpPr>
          <p:sp>
            <p:nvSpPr>
              <p:cNvPr id="42" name="Rectangle 5">
                <a:extLst>
                  <a:ext uri="{FF2B5EF4-FFF2-40B4-BE49-F238E27FC236}">
                    <a16:creationId xmlns:a16="http://schemas.microsoft.com/office/drawing/2014/main" id="{37BC83BF-284B-6AA9-62CE-12894E005233}"/>
                  </a:ext>
                </a:extLst>
              </p:cNvPr>
              <p:cNvSpPr>
                <a:spLocks noChangeArrowheads="1"/>
              </p:cNvSpPr>
              <p:nvPr/>
            </p:nvSpPr>
            <p:spPr bwMode="auto">
              <a:xfrm>
                <a:off x="1082676" y="4403726"/>
                <a:ext cx="1066800"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E</a:t>
                </a:r>
              </a:p>
            </p:txBody>
          </p:sp>
          <p:sp>
            <p:nvSpPr>
              <p:cNvPr id="43" name="TextBox 63">
                <a:extLst>
                  <a:ext uri="{FF2B5EF4-FFF2-40B4-BE49-F238E27FC236}">
                    <a16:creationId xmlns:a16="http://schemas.microsoft.com/office/drawing/2014/main" id="{98D0D7C7-02DB-9C41-AAE5-FA60815B3F26}"/>
                  </a:ext>
                </a:extLst>
              </p:cNvPr>
              <p:cNvSpPr txBox="1">
                <a:spLocks noChangeArrowheads="1"/>
              </p:cNvSpPr>
              <p:nvPr/>
            </p:nvSpPr>
            <p:spPr bwMode="auto">
              <a:xfrm>
                <a:off x="1722294" y="4720713"/>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0/5</a:t>
                </a:r>
              </a:p>
            </p:txBody>
          </p:sp>
        </p:grpSp>
        <p:grpSp>
          <p:nvGrpSpPr>
            <p:cNvPr id="44" name="Group 67">
              <a:extLst>
                <a:ext uri="{FF2B5EF4-FFF2-40B4-BE49-F238E27FC236}">
                  <a16:creationId xmlns:a16="http://schemas.microsoft.com/office/drawing/2014/main" id="{6CEF37FA-0C0C-CE2F-8FA7-73F8033C831E}"/>
                </a:ext>
              </a:extLst>
            </p:cNvPr>
            <p:cNvGrpSpPr>
              <a:grpSpLocks/>
            </p:cNvGrpSpPr>
            <p:nvPr/>
          </p:nvGrpSpPr>
          <p:grpSpPr bwMode="auto">
            <a:xfrm>
              <a:off x="431814" y="3104646"/>
              <a:ext cx="1150938" cy="625753"/>
              <a:chOff x="313690" y="3108326"/>
              <a:chExt cx="1151863" cy="626420"/>
            </a:xfrm>
          </p:grpSpPr>
          <p:sp>
            <p:nvSpPr>
              <p:cNvPr id="45" name="Rectangle 4">
                <a:extLst>
                  <a:ext uri="{FF2B5EF4-FFF2-40B4-BE49-F238E27FC236}">
                    <a16:creationId xmlns:a16="http://schemas.microsoft.com/office/drawing/2014/main" id="{424F0AF0-6A07-D3AE-CF76-007012A907F6}"/>
                  </a:ext>
                </a:extLst>
              </p:cNvPr>
              <p:cNvSpPr>
                <a:spLocks noChangeArrowheads="1"/>
              </p:cNvSpPr>
              <p:nvPr/>
            </p:nvSpPr>
            <p:spPr bwMode="auto">
              <a:xfrm>
                <a:off x="313690" y="3108326"/>
                <a:ext cx="1065688"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F</a:t>
                </a:r>
              </a:p>
            </p:txBody>
          </p:sp>
          <p:sp>
            <p:nvSpPr>
              <p:cNvPr id="46" name="TextBox 64">
                <a:extLst>
                  <a:ext uri="{FF2B5EF4-FFF2-40B4-BE49-F238E27FC236}">
                    <a16:creationId xmlns:a16="http://schemas.microsoft.com/office/drawing/2014/main" id="{EBE162AA-5BA6-9FDE-4734-CF374CE57CB3}"/>
                  </a:ext>
                </a:extLst>
              </p:cNvPr>
              <p:cNvSpPr txBox="1">
                <a:spLocks noChangeArrowheads="1"/>
              </p:cNvSpPr>
              <p:nvPr/>
            </p:nvSpPr>
            <p:spPr bwMode="auto">
              <a:xfrm>
                <a:off x="960285" y="3420814"/>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3/2</a:t>
                </a:r>
              </a:p>
            </p:txBody>
          </p:sp>
        </p:grpSp>
        <p:grpSp>
          <p:nvGrpSpPr>
            <p:cNvPr id="47" name="Group 71">
              <a:extLst>
                <a:ext uri="{FF2B5EF4-FFF2-40B4-BE49-F238E27FC236}">
                  <a16:creationId xmlns:a16="http://schemas.microsoft.com/office/drawing/2014/main" id="{2ECA9FF4-DB34-377D-A465-BD95B4AC8208}"/>
                </a:ext>
              </a:extLst>
            </p:cNvPr>
            <p:cNvGrpSpPr>
              <a:grpSpLocks/>
            </p:cNvGrpSpPr>
            <p:nvPr/>
          </p:nvGrpSpPr>
          <p:grpSpPr bwMode="auto">
            <a:xfrm>
              <a:off x="6465888" y="1377952"/>
              <a:ext cx="1125537" cy="614801"/>
              <a:chOff x="923290" y="1736726"/>
              <a:chExt cx="1125003" cy="614606"/>
            </a:xfrm>
          </p:grpSpPr>
          <p:sp>
            <p:nvSpPr>
              <p:cNvPr id="48" name="Rectangle 3">
                <a:extLst>
                  <a:ext uri="{FF2B5EF4-FFF2-40B4-BE49-F238E27FC236}">
                    <a16:creationId xmlns:a16="http://schemas.microsoft.com/office/drawing/2014/main" id="{37EF6700-F374-189C-72B5-2F9E3A15F693}"/>
                  </a:ext>
                </a:extLst>
              </p:cNvPr>
              <p:cNvSpPr>
                <a:spLocks noChangeArrowheads="1"/>
              </p:cNvSpPr>
              <p:nvPr/>
            </p:nvSpPr>
            <p:spPr bwMode="auto">
              <a:xfrm>
                <a:off x="923290" y="1736726"/>
                <a:ext cx="1065688"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A</a:t>
                </a:r>
              </a:p>
            </p:txBody>
          </p:sp>
          <p:sp>
            <p:nvSpPr>
              <p:cNvPr id="49" name="TextBox 73">
                <a:extLst>
                  <a:ext uri="{FF2B5EF4-FFF2-40B4-BE49-F238E27FC236}">
                    <a16:creationId xmlns:a16="http://schemas.microsoft.com/office/drawing/2014/main" id="{2CC039F8-67CB-93C9-DC23-14673FB40307}"/>
                  </a:ext>
                </a:extLst>
              </p:cNvPr>
              <p:cNvSpPr txBox="1">
                <a:spLocks noChangeArrowheads="1"/>
              </p:cNvSpPr>
              <p:nvPr/>
            </p:nvSpPr>
            <p:spPr bwMode="auto">
              <a:xfrm>
                <a:off x="1543025" y="2013436"/>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4/0</a:t>
                </a:r>
              </a:p>
            </p:txBody>
          </p:sp>
        </p:grpSp>
        <p:grpSp>
          <p:nvGrpSpPr>
            <p:cNvPr id="50" name="Group 74">
              <a:extLst>
                <a:ext uri="{FF2B5EF4-FFF2-40B4-BE49-F238E27FC236}">
                  <a16:creationId xmlns:a16="http://schemas.microsoft.com/office/drawing/2014/main" id="{0BC433B8-1E69-3A7A-09F5-C0B9C0B29671}"/>
                </a:ext>
              </a:extLst>
            </p:cNvPr>
            <p:cNvGrpSpPr>
              <a:grpSpLocks/>
            </p:cNvGrpSpPr>
            <p:nvPr/>
          </p:nvGrpSpPr>
          <p:grpSpPr bwMode="auto">
            <a:xfrm>
              <a:off x="6465888" y="3340104"/>
              <a:ext cx="1123950" cy="615318"/>
              <a:chOff x="3354388" y="1736726"/>
              <a:chExt cx="1123332" cy="614606"/>
            </a:xfrm>
          </p:grpSpPr>
          <p:sp>
            <p:nvSpPr>
              <p:cNvPr id="51" name="Rectangle 8">
                <a:extLst>
                  <a:ext uri="{FF2B5EF4-FFF2-40B4-BE49-F238E27FC236}">
                    <a16:creationId xmlns:a16="http://schemas.microsoft.com/office/drawing/2014/main" id="{8A968FF5-69E7-0ABF-69D8-E278EBA72F02}"/>
                  </a:ext>
                </a:extLst>
              </p:cNvPr>
              <p:cNvSpPr>
                <a:spLocks noChangeArrowheads="1"/>
              </p:cNvSpPr>
              <p:nvPr/>
            </p:nvSpPr>
            <p:spPr bwMode="auto">
              <a:xfrm>
                <a:off x="3354388" y="1736726"/>
                <a:ext cx="1067912"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B</a:t>
                </a:r>
              </a:p>
            </p:txBody>
          </p:sp>
          <p:sp>
            <p:nvSpPr>
              <p:cNvPr id="52" name="TextBox 76">
                <a:extLst>
                  <a:ext uri="{FF2B5EF4-FFF2-40B4-BE49-F238E27FC236}">
                    <a16:creationId xmlns:a16="http://schemas.microsoft.com/office/drawing/2014/main" id="{CA91FEC3-9F50-3496-4C5D-26D5BFAAA9C0}"/>
                  </a:ext>
                </a:extLst>
              </p:cNvPr>
              <p:cNvSpPr txBox="1">
                <a:spLocks noChangeArrowheads="1"/>
              </p:cNvSpPr>
              <p:nvPr/>
            </p:nvSpPr>
            <p:spPr bwMode="auto">
              <a:xfrm>
                <a:off x="3972453" y="2022454"/>
                <a:ext cx="505267"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2/2</a:t>
                </a:r>
              </a:p>
            </p:txBody>
          </p:sp>
        </p:grpSp>
        <p:grpSp>
          <p:nvGrpSpPr>
            <p:cNvPr id="53" name="Group 77">
              <a:extLst>
                <a:ext uri="{FF2B5EF4-FFF2-40B4-BE49-F238E27FC236}">
                  <a16:creationId xmlns:a16="http://schemas.microsoft.com/office/drawing/2014/main" id="{3917E50F-D12E-9338-026B-DB757A7A8959}"/>
                </a:ext>
              </a:extLst>
            </p:cNvPr>
            <p:cNvGrpSpPr>
              <a:grpSpLocks/>
            </p:cNvGrpSpPr>
            <p:nvPr/>
          </p:nvGrpSpPr>
          <p:grpSpPr bwMode="auto">
            <a:xfrm>
              <a:off x="6453188" y="4151313"/>
              <a:ext cx="1149350" cy="616230"/>
              <a:chOff x="3892550" y="3108326"/>
              <a:chExt cx="1149942" cy="617392"/>
            </a:xfrm>
          </p:grpSpPr>
          <p:sp>
            <p:nvSpPr>
              <p:cNvPr id="54" name="Rectangle 6">
                <a:extLst>
                  <a:ext uri="{FF2B5EF4-FFF2-40B4-BE49-F238E27FC236}">
                    <a16:creationId xmlns:a16="http://schemas.microsoft.com/office/drawing/2014/main" id="{7109EABA-6D07-DB29-6546-E0BCDB49C978}"/>
                  </a:ext>
                </a:extLst>
              </p:cNvPr>
              <p:cNvSpPr>
                <a:spLocks noChangeArrowheads="1"/>
              </p:cNvSpPr>
              <p:nvPr/>
            </p:nvSpPr>
            <p:spPr bwMode="auto">
              <a:xfrm>
                <a:off x="3892550" y="3108326"/>
                <a:ext cx="1067912"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C</a:t>
                </a:r>
              </a:p>
            </p:txBody>
          </p:sp>
          <p:sp>
            <p:nvSpPr>
              <p:cNvPr id="55" name="TextBox 79">
                <a:extLst>
                  <a:ext uri="{FF2B5EF4-FFF2-40B4-BE49-F238E27FC236}">
                    <a16:creationId xmlns:a16="http://schemas.microsoft.com/office/drawing/2014/main" id="{1ECEC3E6-AE27-B757-7D9A-1F3D144A7FC9}"/>
                  </a:ext>
                </a:extLst>
              </p:cNvPr>
              <p:cNvSpPr txBox="1">
                <a:spLocks noChangeArrowheads="1"/>
              </p:cNvSpPr>
              <p:nvPr/>
            </p:nvSpPr>
            <p:spPr bwMode="auto">
              <a:xfrm>
                <a:off x="4537224" y="3411786"/>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1/3</a:t>
                </a:r>
              </a:p>
            </p:txBody>
          </p:sp>
        </p:grpSp>
        <p:grpSp>
          <p:nvGrpSpPr>
            <p:cNvPr id="56" name="Group 80">
              <a:extLst>
                <a:ext uri="{FF2B5EF4-FFF2-40B4-BE49-F238E27FC236}">
                  <a16:creationId xmlns:a16="http://schemas.microsoft.com/office/drawing/2014/main" id="{12CD5228-0672-8275-9BE8-3BECAFAB41FA}"/>
                </a:ext>
              </a:extLst>
            </p:cNvPr>
            <p:cNvGrpSpPr>
              <a:grpSpLocks/>
            </p:cNvGrpSpPr>
            <p:nvPr/>
          </p:nvGrpSpPr>
          <p:grpSpPr bwMode="auto">
            <a:xfrm>
              <a:off x="6859588" y="2179633"/>
              <a:ext cx="1177925" cy="617814"/>
              <a:chOff x="3354388" y="4479926"/>
              <a:chExt cx="1177109" cy="617542"/>
            </a:xfrm>
          </p:grpSpPr>
          <p:sp>
            <p:nvSpPr>
              <p:cNvPr id="57" name="Rectangle 7">
                <a:extLst>
                  <a:ext uri="{FF2B5EF4-FFF2-40B4-BE49-F238E27FC236}">
                    <a16:creationId xmlns:a16="http://schemas.microsoft.com/office/drawing/2014/main" id="{A5F4069D-48BE-25C2-C08C-0D94FEC7348D}"/>
                  </a:ext>
                </a:extLst>
              </p:cNvPr>
              <p:cNvSpPr>
                <a:spLocks noChangeArrowheads="1"/>
              </p:cNvSpPr>
              <p:nvPr/>
            </p:nvSpPr>
            <p:spPr bwMode="auto">
              <a:xfrm>
                <a:off x="3354388" y="4479926"/>
                <a:ext cx="1067912"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D</a:t>
                </a:r>
              </a:p>
            </p:txBody>
          </p:sp>
          <p:sp>
            <p:nvSpPr>
              <p:cNvPr id="58" name="TextBox 82">
                <a:extLst>
                  <a:ext uri="{FF2B5EF4-FFF2-40B4-BE49-F238E27FC236}">
                    <a16:creationId xmlns:a16="http://schemas.microsoft.com/office/drawing/2014/main" id="{4C71B206-55CE-40C1-1B1A-0C2F1C445799}"/>
                  </a:ext>
                </a:extLst>
              </p:cNvPr>
              <p:cNvSpPr txBox="1">
                <a:spLocks noChangeArrowheads="1"/>
              </p:cNvSpPr>
              <p:nvPr/>
            </p:nvSpPr>
            <p:spPr bwMode="auto">
              <a:xfrm>
                <a:off x="4026229" y="4783536"/>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3/1</a:t>
                </a:r>
              </a:p>
            </p:txBody>
          </p:sp>
        </p:grpSp>
        <p:grpSp>
          <p:nvGrpSpPr>
            <p:cNvPr id="59" name="Group 83">
              <a:extLst>
                <a:ext uri="{FF2B5EF4-FFF2-40B4-BE49-F238E27FC236}">
                  <a16:creationId xmlns:a16="http://schemas.microsoft.com/office/drawing/2014/main" id="{C89CF65E-80B8-3D54-2739-1504886EE5D2}"/>
                </a:ext>
              </a:extLst>
            </p:cNvPr>
            <p:cNvGrpSpPr>
              <a:grpSpLocks/>
            </p:cNvGrpSpPr>
            <p:nvPr/>
          </p:nvGrpSpPr>
          <p:grpSpPr bwMode="auto">
            <a:xfrm>
              <a:off x="6456363" y="4959340"/>
              <a:ext cx="1144587" cy="632103"/>
              <a:chOff x="1082676" y="4403726"/>
              <a:chExt cx="1144886" cy="631070"/>
            </a:xfrm>
          </p:grpSpPr>
          <p:sp>
            <p:nvSpPr>
              <p:cNvPr id="60" name="Rectangle 5">
                <a:extLst>
                  <a:ext uri="{FF2B5EF4-FFF2-40B4-BE49-F238E27FC236}">
                    <a16:creationId xmlns:a16="http://schemas.microsoft.com/office/drawing/2014/main" id="{BB2B44F7-90DE-AA82-BE4D-91097FFE06FA}"/>
                  </a:ext>
                </a:extLst>
              </p:cNvPr>
              <p:cNvSpPr>
                <a:spLocks noChangeArrowheads="1"/>
              </p:cNvSpPr>
              <p:nvPr/>
            </p:nvSpPr>
            <p:spPr bwMode="auto">
              <a:xfrm>
                <a:off x="1082676" y="4403726"/>
                <a:ext cx="1066800"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E</a:t>
                </a:r>
              </a:p>
            </p:txBody>
          </p:sp>
          <p:sp>
            <p:nvSpPr>
              <p:cNvPr id="61" name="TextBox 85">
                <a:extLst>
                  <a:ext uri="{FF2B5EF4-FFF2-40B4-BE49-F238E27FC236}">
                    <a16:creationId xmlns:a16="http://schemas.microsoft.com/office/drawing/2014/main" id="{1D8FFEEA-C567-9E85-BDC0-F01CB93511DF}"/>
                  </a:ext>
                </a:extLst>
              </p:cNvPr>
              <p:cNvSpPr txBox="1">
                <a:spLocks noChangeArrowheads="1"/>
              </p:cNvSpPr>
              <p:nvPr/>
            </p:nvSpPr>
            <p:spPr bwMode="auto">
              <a:xfrm>
                <a:off x="1722294" y="4720865"/>
                <a:ext cx="505268" cy="313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0/5</a:t>
                </a:r>
              </a:p>
            </p:txBody>
          </p:sp>
        </p:grpSp>
        <p:grpSp>
          <p:nvGrpSpPr>
            <p:cNvPr id="62" name="Group 86">
              <a:extLst>
                <a:ext uri="{FF2B5EF4-FFF2-40B4-BE49-F238E27FC236}">
                  <a16:creationId xmlns:a16="http://schemas.microsoft.com/office/drawing/2014/main" id="{000FB7D8-1D62-A1F2-FE46-E4C0A77F8F27}"/>
                </a:ext>
              </a:extLst>
            </p:cNvPr>
            <p:cNvGrpSpPr>
              <a:grpSpLocks/>
            </p:cNvGrpSpPr>
            <p:nvPr/>
          </p:nvGrpSpPr>
          <p:grpSpPr bwMode="auto">
            <a:xfrm>
              <a:off x="6134100" y="2522533"/>
              <a:ext cx="1150938" cy="625753"/>
              <a:chOff x="313690" y="3108326"/>
              <a:chExt cx="1151863" cy="626420"/>
            </a:xfrm>
          </p:grpSpPr>
          <p:sp>
            <p:nvSpPr>
              <p:cNvPr id="63" name="Rectangle 4">
                <a:extLst>
                  <a:ext uri="{FF2B5EF4-FFF2-40B4-BE49-F238E27FC236}">
                    <a16:creationId xmlns:a16="http://schemas.microsoft.com/office/drawing/2014/main" id="{BD2594B6-D3BD-E321-6FCD-388C2CDA20A1}"/>
                  </a:ext>
                </a:extLst>
              </p:cNvPr>
              <p:cNvSpPr>
                <a:spLocks noChangeArrowheads="1"/>
              </p:cNvSpPr>
              <p:nvPr/>
            </p:nvSpPr>
            <p:spPr bwMode="auto">
              <a:xfrm>
                <a:off x="313690" y="3108326"/>
                <a:ext cx="1065688" cy="614606"/>
              </a:xfrm>
              <a:prstGeom prst="rect">
                <a:avLst/>
              </a:prstGeom>
              <a:solidFill>
                <a:schemeClr val="accent4"/>
              </a:solidFill>
              <a:ln w="12700">
                <a:solidFill>
                  <a:schemeClr val="tx1"/>
                </a:solidFill>
                <a:miter lim="800000"/>
                <a:headEnd/>
                <a:tailEnd/>
              </a:ln>
            </p:spPr>
            <p:txBody>
              <a:bodyPr wrap="none" anchor="ctr"/>
              <a:lstStyle/>
              <a:p>
                <a:pPr algn="ctr"/>
                <a:r>
                  <a:rPr lang="en-US" sz="1800" b="1" dirty="0">
                    <a:solidFill>
                      <a:schemeClr val="bg1"/>
                    </a:solidFill>
                  </a:rPr>
                  <a:t>F</a:t>
                </a:r>
              </a:p>
            </p:txBody>
          </p:sp>
          <p:sp>
            <p:nvSpPr>
              <p:cNvPr id="128" name="TextBox 88">
                <a:extLst>
                  <a:ext uri="{FF2B5EF4-FFF2-40B4-BE49-F238E27FC236}">
                    <a16:creationId xmlns:a16="http://schemas.microsoft.com/office/drawing/2014/main" id="{F7CB4194-DB53-B69C-C57C-DFB968A91C55}"/>
                  </a:ext>
                </a:extLst>
              </p:cNvPr>
              <p:cNvSpPr txBox="1">
                <a:spLocks noChangeArrowheads="1"/>
              </p:cNvSpPr>
              <p:nvPr/>
            </p:nvSpPr>
            <p:spPr bwMode="auto">
              <a:xfrm>
                <a:off x="960285" y="3420814"/>
                <a:ext cx="505268"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b="1" dirty="0"/>
                  <a:t>3/2</a:t>
                </a:r>
              </a:p>
            </p:txBody>
          </p:sp>
        </p:grpSp>
      </p:grpSp>
    </p:spTree>
    <p:extLst>
      <p:ext uri="{BB962C8B-B14F-4D97-AF65-F5344CB8AC3E}">
        <p14:creationId xmlns:p14="http://schemas.microsoft.com/office/powerpoint/2010/main" val="16146138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7 Alternatives for Each Function</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9" name="Content Placeholder 8">
            <a:extLst>
              <a:ext uri="{FF2B5EF4-FFF2-40B4-BE49-F238E27FC236}">
                <a16:creationId xmlns:a16="http://schemas.microsoft.com/office/drawing/2014/main" id="{52175B85-A261-3DBB-D0FA-6C9B954BFDEC}"/>
              </a:ext>
            </a:extLst>
          </p:cNvPr>
          <p:cNvSpPr>
            <a:spLocks noGrp="1"/>
          </p:cNvSpPr>
          <p:nvPr>
            <p:ph sz="half" idx="2"/>
          </p:nvPr>
        </p:nvSpPr>
        <p:spPr/>
        <p:txBody>
          <a:bodyPr anchor="ctr">
            <a:normAutofit/>
          </a:bodyPr>
          <a:lstStyle/>
          <a:p>
            <a:r>
              <a:rPr lang="en-US" dirty="0"/>
              <a:t>Use the brainstorming results from the nature etc. exercise as a source of inspiration to create the 7 Alternatives for each function</a:t>
            </a:r>
          </a:p>
          <a:p>
            <a:r>
              <a:rPr lang="en-US" dirty="0"/>
              <a:t>Each team member initially draws 7 Alternatives for each function</a:t>
            </a:r>
          </a:p>
        </p:txBody>
      </p:sp>
      <p:pic>
        <p:nvPicPr>
          <p:cNvPr id="8" name="Content Placeholder 7">
            <a:extLst>
              <a:ext uri="{FF2B5EF4-FFF2-40B4-BE49-F238E27FC236}">
                <a16:creationId xmlns:a16="http://schemas.microsoft.com/office/drawing/2014/main" id="{29B8843C-9EE4-40F8-CE3D-8533D0B0A4A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29205" y="2165763"/>
            <a:ext cx="4782595" cy="3251581"/>
          </a:xfrm>
          <a:prstGeom prst="rect">
            <a:avLst/>
          </a:prstGeom>
        </p:spPr>
      </p:pic>
      <p:sp>
        <p:nvSpPr>
          <p:cNvPr id="11" name="Rectangle 10">
            <a:extLst>
              <a:ext uri="{FF2B5EF4-FFF2-40B4-BE49-F238E27FC236}">
                <a16:creationId xmlns:a16="http://schemas.microsoft.com/office/drawing/2014/main" id="{BD13A32D-F1BE-C588-7ECB-31A22E85D5A8}"/>
              </a:ext>
            </a:extLst>
          </p:cNvPr>
          <p:cNvSpPr>
            <a:spLocks noChangeArrowheads="1"/>
          </p:cNvSpPr>
          <p:nvPr/>
        </p:nvSpPr>
        <p:spPr bwMode="auto">
          <a:xfrm>
            <a:off x="2023750" y="5735816"/>
            <a:ext cx="8144501" cy="369310"/>
          </a:xfrm>
          <a:prstGeom prst="rect">
            <a:avLst/>
          </a:prstGeom>
          <a:solidFill>
            <a:schemeClr val="accent4"/>
          </a:solidFill>
          <a:ln w="9525">
            <a:noFill/>
            <a:miter lim="800000"/>
            <a:headEnd/>
            <a:tailEnd/>
          </a:ln>
          <a:effectLst>
            <a:outerShdw blurRad="50800" dist="38100" dir="2700000" algn="tl" rotWithShape="0">
              <a:prstClr val="black">
                <a:alpha val="40000"/>
              </a:prstClr>
            </a:outerShdw>
          </a:effectLst>
        </p:spPr>
        <p:txBody>
          <a:bodyPr lIns="91417" tIns="45709" rIns="91417" bIns="45709" anchor="b" anchorCtr="1">
            <a:spAutoFit/>
          </a:bodyPr>
          <a:lstStyle/>
          <a:p>
            <a:pPr defTabSz="914856"/>
            <a:r>
              <a:rPr lang="en-GB" sz="1800" b="1" dirty="0">
                <a:solidFill>
                  <a:schemeClr val="bg1"/>
                </a:solidFill>
                <a:latin typeface="+mn-lt"/>
              </a:rPr>
              <a:t>Why 7? – because 8 is too many and 6 is too few!!!!</a:t>
            </a:r>
          </a:p>
        </p:txBody>
      </p:sp>
    </p:spTree>
    <p:extLst>
      <p:ext uri="{BB962C8B-B14F-4D97-AF65-F5344CB8AC3E}">
        <p14:creationId xmlns:p14="http://schemas.microsoft.com/office/powerpoint/2010/main" val="6338696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Example of Process Alternatives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pic>
        <p:nvPicPr>
          <p:cNvPr id="13" name="Picture 5">
            <a:extLst>
              <a:ext uri="{FF2B5EF4-FFF2-40B4-BE49-F238E27FC236}">
                <a16:creationId xmlns:a16="http://schemas.microsoft.com/office/drawing/2014/main" id="{AC461ED7-7756-E838-7A97-0F14E602D2EF}"/>
              </a:ext>
            </a:extLst>
          </p:cNvPr>
          <p:cNvPicPr>
            <a:picLocks noChangeAspect="1" noChangeArrowheads="1"/>
          </p:cNvPicPr>
          <p:nvPr/>
        </p:nvPicPr>
        <p:blipFill>
          <a:blip r:embed="rId3" cstate="email"/>
          <a:srcRect/>
          <a:stretch>
            <a:fillRect/>
          </a:stretch>
        </p:blipFill>
        <p:spPr bwMode="auto">
          <a:xfrm>
            <a:off x="2084388" y="2148986"/>
            <a:ext cx="8023225" cy="3725863"/>
          </a:xfrm>
          <a:prstGeom prst="rect">
            <a:avLst/>
          </a:prstGeom>
          <a:noFill/>
          <a:ln w="12700" cap="sq" algn="ctr">
            <a:noFill/>
            <a:miter lim="800000"/>
            <a:headEnd/>
            <a:tailEnd/>
          </a:ln>
        </p:spPr>
      </p:pic>
    </p:spTree>
    <p:extLst>
      <p:ext uri="{BB962C8B-B14F-4D97-AF65-F5344CB8AC3E}">
        <p14:creationId xmlns:p14="http://schemas.microsoft.com/office/powerpoint/2010/main" val="12448515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Complete ‘Process At A Glance’ for 7 Alternatives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75</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7" name="Content Placeholder 6">
            <a:extLst>
              <a:ext uri="{FF2B5EF4-FFF2-40B4-BE49-F238E27FC236}">
                <a16:creationId xmlns:a16="http://schemas.microsoft.com/office/drawing/2014/main" id="{CA952882-9F08-36D1-D758-00D8C5E8C481}"/>
              </a:ext>
            </a:extLst>
          </p:cNvPr>
          <p:cNvSpPr>
            <a:spLocks noGrp="1"/>
          </p:cNvSpPr>
          <p:nvPr>
            <p:ph sz="half" idx="1"/>
          </p:nvPr>
        </p:nvSpPr>
        <p:spPr/>
        <p:txBody>
          <a:bodyPr anchor="ctr">
            <a:normAutofit fontScale="85000" lnSpcReduction="10000"/>
          </a:bodyPr>
          <a:lstStyle/>
          <a:p>
            <a:r>
              <a:rPr lang="en-US" dirty="0"/>
              <a:t>Material – value-added step or transformation, “what changes?”</a:t>
            </a:r>
          </a:p>
          <a:p>
            <a:r>
              <a:rPr lang="en-US" dirty="0"/>
              <a:t>Method – function of the person’s hands, “what do they do?”</a:t>
            </a:r>
          </a:p>
          <a:p>
            <a:r>
              <a:rPr lang="en-US" dirty="0"/>
              <a:t>Gauge – the device used to ensure 100% quality, “how do we measure”</a:t>
            </a:r>
          </a:p>
          <a:p>
            <a:r>
              <a:rPr lang="en-US" dirty="0"/>
              <a:t>Tool – actual tool that does the processing, “what makes the product feature?”</a:t>
            </a:r>
          </a:p>
          <a:p>
            <a:r>
              <a:rPr lang="en-US" dirty="0"/>
              <a:t>Fixture – how the work piece is held, “what holds the part?”</a:t>
            </a:r>
          </a:p>
        </p:txBody>
      </p:sp>
      <p:pic>
        <p:nvPicPr>
          <p:cNvPr id="10" name="Picture 14" descr="C:\Users\Administrator\Documents\3P-7alt.gif">
            <a:extLst>
              <a:ext uri="{FF2B5EF4-FFF2-40B4-BE49-F238E27FC236}">
                <a16:creationId xmlns:a16="http://schemas.microsoft.com/office/drawing/2014/main" id="{8F8CF28C-9423-76A3-F91D-0503636B0B86}"/>
              </a:ext>
            </a:extLst>
          </p:cNvPr>
          <p:cNvPicPr>
            <a:picLocks noGrp="1" noChangeAspect="1" noChangeArrowheads="1"/>
          </p:cNvPicPr>
          <p:nvPr>
            <p:ph sz="half" idx="2"/>
          </p:nvPr>
        </p:nvPicPr>
        <p:blipFill>
          <a:blip r:embed="rId3" cstate="email"/>
          <a:stretch>
            <a:fillRect/>
          </a:stretch>
        </p:blipFill>
        <p:spPr bwMode="auto">
          <a:xfrm>
            <a:off x="6341343" y="2314936"/>
            <a:ext cx="5257554" cy="3183037"/>
          </a:xfrm>
          <a:prstGeom prst="rect">
            <a:avLst/>
          </a:prstGeom>
          <a:noFill/>
          <a:ln w="9525">
            <a:noFill/>
            <a:miter lim="800000"/>
            <a:headEnd/>
            <a:tailEnd/>
          </a:ln>
        </p:spPr>
      </p:pic>
    </p:spTree>
    <p:extLst>
      <p:ext uri="{BB962C8B-B14F-4D97-AF65-F5344CB8AC3E}">
        <p14:creationId xmlns:p14="http://schemas.microsoft.com/office/powerpoint/2010/main" val="2057082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Example of Process Alternatives </a:t>
            </a:r>
            <a:br>
              <a:rPr lang="en-US" sz="3600" dirty="0"/>
            </a:br>
            <a:r>
              <a:rPr lang="en-US" sz="3600" dirty="0"/>
              <a:t>(Means of Coating Carpets)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pic>
        <p:nvPicPr>
          <p:cNvPr id="14" name="Picture 13">
            <a:extLst>
              <a:ext uri="{FF2B5EF4-FFF2-40B4-BE49-F238E27FC236}">
                <a16:creationId xmlns:a16="http://schemas.microsoft.com/office/drawing/2014/main" id="{4F429D05-CD5A-A825-7748-5EBF53D9A9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347" y="1783428"/>
            <a:ext cx="8703307" cy="4549719"/>
          </a:xfrm>
          <a:prstGeom prst="rect">
            <a:avLst/>
          </a:prstGeom>
        </p:spPr>
      </p:pic>
    </p:spTree>
    <p:extLst>
      <p:ext uri="{BB962C8B-B14F-4D97-AF65-F5344CB8AC3E}">
        <p14:creationId xmlns:p14="http://schemas.microsoft.com/office/powerpoint/2010/main" val="14087891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4000" dirty="0"/>
              <a:t>7 Alternatives Form: Process Design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77</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pic>
        <p:nvPicPr>
          <p:cNvPr id="13" name="Picture 14">
            <a:extLst>
              <a:ext uri="{FF2B5EF4-FFF2-40B4-BE49-F238E27FC236}">
                <a16:creationId xmlns:a16="http://schemas.microsoft.com/office/drawing/2014/main" id="{AFC0A428-CA3B-50AB-ED01-B1B475ABEB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2231" y="1752111"/>
            <a:ext cx="6967539"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Tree>
    <p:extLst>
      <p:ext uri="{BB962C8B-B14F-4D97-AF65-F5344CB8AC3E}">
        <p14:creationId xmlns:p14="http://schemas.microsoft.com/office/powerpoint/2010/main" val="8433647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Paper Airplane Alternatives </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design a paper airplane to meet a specification.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945251" cy="2690936"/>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Form teams of 3-7 participants.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member of the team is to draw at least three alternative designs of a paper airplane that will fly for at least 2 seconds from a height of 5’ (1.5m), uses 1 piece of paper or less, looks aesthetically pleasing and could be manufactured quickly and consistently.  </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is to select the best three designs using a recognized selection method and construct a prototype of each, test the prototypes against the above criteria and then agree on the final model.</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Consensus final design paper airplane </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Tree>
    <p:extLst>
      <p:ext uri="{BB962C8B-B14F-4D97-AF65-F5344CB8AC3E}">
        <p14:creationId xmlns:p14="http://schemas.microsoft.com/office/powerpoint/2010/main" val="23461822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7 Alternatives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Generate alternative designs.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945251" cy="2690936"/>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sub-teams, complete the following activities: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Functions and Key Words or principle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member draws 7 alternatives of achieving each key word or principle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top 2-3 ideas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best method to present to Group</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results from creative thinking exercise.</a:t>
            </a:r>
          </a:p>
        </p:txBody>
      </p:sp>
      <p:grpSp>
        <p:nvGrpSpPr>
          <p:cNvPr id="3" name="Group 2">
            <a:extLst>
              <a:ext uri="{FF2B5EF4-FFF2-40B4-BE49-F238E27FC236}">
                <a16:creationId xmlns:a16="http://schemas.microsoft.com/office/drawing/2014/main" id="{733C818E-C3BC-5450-BF5B-8C3F762B94E4}"/>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150B95FA-FE57-AA57-C8A2-2F34183385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375438D-81B9-8694-E6F8-A998429957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9F22D3F-C252-5A87-6B41-BAA884238B4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ABF6B6D-5F07-B679-BFF2-44D26D1883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DE97D4-9BBE-C758-ACD7-BF8E3F24DEE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027708FA-D468-24F9-B4AB-58E639A01D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586218D-A2D4-7009-4593-65659FAB3D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1C8793D-BCCF-8893-9F4C-5C1A81FF1C68}"/>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Tree>
    <p:extLst>
      <p:ext uri="{BB962C8B-B14F-4D97-AF65-F5344CB8AC3E}">
        <p14:creationId xmlns:p14="http://schemas.microsoft.com/office/powerpoint/2010/main" val="30756216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VA/VE Kaizen Event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Cost alternatives</a:t>
            </a:r>
          </a:p>
          <a:p>
            <a:r>
              <a:rPr lang="en-US" dirty="0"/>
              <a:t>Ease / impact matrix</a:t>
            </a:r>
          </a:p>
          <a:p>
            <a:r>
              <a:rPr lang="en-US" dirty="0"/>
              <a:t>Technical process selection matrix</a:t>
            </a:r>
          </a:p>
          <a:p>
            <a:r>
              <a:rPr lang="en-US" dirty="0"/>
              <a:t>Pugh selection matrix</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Evaluation of Alternatives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Generation of Alternatives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Analysis of Current State</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Charter &amp; Information</a:t>
                </a:r>
              </a:p>
            </p:txBody>
          </p:sp>
        </p:grpSp>
      </p:grpSp>
    </p:spTree>
    <p:extLst>
      <p:ext uri="{BB962C8B-B14F-4D97-AF65-F5344CB8AC3E}">
        <p14:creationId xmlns:p14="http://schemas.microsoft.com/office/powerpoint/2010/main" val="18843046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Group 38">
            <a:extLst>
              <a:ext uri="{FF2B5EF4-FFF2-40B4-BE49-F238E27FC236}">
                <a16:creationId xmlns:a16="http://schemas.microsoft.com/office/drawing/2014/main" id="{B83F4ED8-069D-56F0-3324-54D0D299F67F}"/>
              </a:ext>
            </a:extLst>
          </p:cNvPr>
          <p:cNvGraphicFramePr>
            <a:graphicFrameLocks/>
          </p:cNvGraphicFramePr>
          <p:nvPr>
            <p:extLst>
              <p:ext uri="{D42A27DB-BD31-4B8C-83A1-F6EECF244321}">
                <p14:modId xmlns:p14="http://schemas.microsoft.com/office/powerpoint/2010/main" val="2046848906"/>
              </p:ext>
            </p:extLst>
          </p:nvPr>
        </p:nvGraphicFramePr>
        <p:xfrm>
          <a:off x="6143625" y="1898248"/>
          <a:ext cx="4100512" cy="3089276"/>
        </p:xfrm>
        <a:graphic>
          <a:graphicData uri="http://schemas.openxmlformats.org/drawingml/2006/table">
            <a:tbl>
              <a:tblPr/>
              <a:tblGrid>
                <a:gridCol w="2051029">
                  <a:extLst>
                    <a:ext uri="{9D8B030D-6E8A-4147-A177-3AD203B41FA5}">
                      <a16:colId xmlns:a16="http://schemas.microsoft.com/office/drawing/2014/main" val="20000"/>
                    </a:ext>
                  </a:extLst>
                </a:gridCol>
                <a:gridCol w="2049483">
                  <a:extLst>
                    <a:ext uri="{9D8B030D-6E8A-4147-A177-3AD203B41FA5}">
                      <a16:colId xmlns:a16="http://schemas.microsoft.com/office/drawing/2014/main" val="20001"/>
                    </a:ext>
                  </a:extLst>
                </a:gridCol>
              </a:tblGrid>
              <a:tr h="801379">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r>
                        <a:rPr kumimoji="0" lang="en-GB" sz="2300" b="0" i="0" u="none" strike="noStrike" cap="none" normalizeH="0" baseline="0" dirty="0">
                          <a:ln>
                            <a:noFill/>
                          </a:ln>
                          <a:solidFill>
                            <a:schemeClr val="tx1"/>
                          </a:solidFill>
                          <a:effectLst/>
                          <a:latin typeface="Arial" charset="0"/>
                        </a:rPr>
                        <a:t>Ideas /       Rank Actions</a:t>
                      </a:r>
                      <a:endParaRPr kumimoji="0" lang="en-US" sz="2300" b="0" i="0" u="none" strike="noStrike" cap="none" normalizeH="0" baseline="0" dirty="0">
                        <a:ln>
                          <a:noFill/>
                        </a:ln>
                        <a:solidFill>
                          <a:schemeClr val="tx1"/>
                        </a:solidFill>
                        <a:effectLst/>
                        <a:latin typeface="Arial" charset="0"/>
                      </a:endParaRPr>
                    </a:p>
                  </a:txBody>
                  <a:tcPr marL="96027" marR="96027" marT="46672" marB="46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r>
                        <a:rPr kumimoji="0" lang="en-GB" sz="2300" b="0" i="0" u="none" strike="noStrike" cap="none" normalizeH="0" baseline="0" dirty="0">
                          <a:ln>
                            <a:noFill/>
                          </a:ln>
                          <a:solidFill>
                            <a:schemeClr val="tx1"/>
                          </a:solidFill>
                          <a:effectLst/>
                          <a:latin typeface="Arial" charset="0"/>
                        </a:rPr>
                        <a:t>Votes</a:t>
                      </a:r>
                      <a:endParaRPr kumimoji="0" lang="en-US" sz="2300" b="0" i="0" u="none" strike="noStrike" cap="none" normalizeH="0" baseline="0" dirty="0">
                        <a:ln>
                          <a:noFill/>
                        </a:ln>
                        <a:solidFill>
                          <a:schemeClr val="tx1"/>
                        </a:solidFill>
                        <a:effectLst/>
                        <a:latin typeface="Arial" charset="0"/>
                      </a:endParaRPr>
                    </a:p>
                  </a:txBody>
                  <a:tcPr marL="96027" marR="96027" marT="46672" marB="466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1590">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r>
                        <a:rPr kumimoji="0" lang="en-GB" sz="1900" b="0" i="0" u="none" strike="noStrike" cap="none" normalizeH="0" baseline="0" dirty="0">
                          <a:ln>
                            <a:noFill/>
                          </a:ln>
                          <a:solidFill>
                            <a:schemeClr val="tx1"/>
                          </a:solidFill>
                          <a:effectLst/>
                          <a:latin typeface="Arial" charset="0"/>
                        </a:rPr>
                        <a:t>Idea 1</a:t>
                      </a:r>
                      <a:endParaRPr kumimoji="0" lang="en-US" sz="1900" b="0" i="0" u="none" strike="noStrike" cap="none" normalizeH="0" baseline="0" dirty="0">
                        <a:ln>
                          <a:noFill/>
                        </a:ln>
                        <a:solidFill>
                          <a:schemeClr val="tx1"/>
                        </a:solidFill>
                        <a:effectLst/>
                        <a:latin typeface="Arial" charset="0"/>
                      </a:endParaRPr>
                    </a:p>
                  </a:txBody>
                  <a:tcPr marL="96027" marR="96027" marT="46672" marB="46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endParaRPr kumimoji="0" lang="en-US" sz="2300" b="0" i="0" u="none" strike="noStrike" cap="none" normalizeH="0" baseline="0" dirty="0">
                        <a:ln>
                          <a:noFill/>
                        </a:ln>
                        <a:solidFill>
                          <a:schemeClr val="tx1"/>
                        </a:solidFill>
                        <a:effectLst/>
                        <a:latin typeface="Arial" charset="0"/>
                      </a:endParaRPr>
                    </a:p>
                  </a:txBody>
                  <a:tcPr marL="96027" marR="96027" marT="46672" marB="466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3127">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r>
                        <a:rPr kumimoji="0" lang="en-GB" sz="1900" b="0" i="0" u="none" strike="noStrike" cap="none" normalizeH="0" baseline="0" dirty="0">
                          <a:ln>
                            <a:noFill/>
                          </a:ln>
                          <a:solidFill>
                            <a:schemeClr val="tx1"/>
                          </a:solidFill>
                          <a:effectLst/>
                          <a:latin typeface="Arial" charset="0"/>
                        </a:rPr>
                        <a:t>Idea 2</a:t>
                      </a:r>
                      <a:endParaRPr kumimoji="0" lang="en-US" sz="1900" b="0" i="0" u="none" strike="noStrike" cap="none" normalizeH="0" baseline="0" dirty="0">
                        <a:ln>
                          <a:noFill/>
                        </a:ln>
                        <a:solidFill>
                          <a:schemeClr val="tx1"/>
                        </a:solidFill>
                        <a:effectLst/>
                        <a:latin typeface="Arial" charset="0"/>
                      </a:endParaRPr>
                    </a:p>
                  </a:txBody>
                  <a:tcPr marL="96027" marR="96027" marT="46672" marB="46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endParaRPr kumimoji="0" lang="en-US" sz="2300" b="0" i="0" u="none" strike="noStrike" cap="none" normalizeH="0" baseline="0" dirty="0">
                        <a:ln>
                          <a:noFill/>
                        </a:ln>
                        <a:solidFill>
                          <a:schemeClr val="tx1"/>
                        </a:solidFill>
                        <a:effectLst/>
                        <a:latin typeface="Arial" charset="0"/>
                      </a:endParaRPr>
                    </a:p>
                  </a:txBody>
                  <a:tcPr marL="96027" marR="96027" marT="46672" marB="466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1590">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r>
                        <a:rPr kumimoji="0" lang="en-GB" sz="1900" b="0" i="0" u="none" strike="noStrike" cap="none" normalizeH="0" baseline="0" dirty="0">
                          <a:ln>
                            <a:noFill/>
                          </a:ln>
                          <a:solidFill>
                            <a:schemeClr val="tx1"/>
                          </a:solidFill>
                          <a:effectLst/>
                          <a:latin typeface="Arial" charset="0"/>
                        </a:rPr>
                        <a:t>Idea 3</a:t>
                      </a:r>
                      <a:endParaRPr kumimoji="0" lang="en-US" sz="1900" b="0" i="0" u="none" strike="noStrike" cap="none" normalizeH="0" baseline="0" dirty="0">
                        <a:ln>
                          <a:noFill/>
                        </a:ln>
                        <a:solidFill>
                          <a:schemeClr val="tx1"/>
                        </a:solidFill>
                        <a:effectLst/>
                        <a:latin typeface="Arial" charset="0"/>
                      </a:endParaRPr>
                    </a:p>
                  </a:txBody>
                  <a:tcPr marL="96027" marR="96027" marT="46672" marB="46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endParaRPr kumimoji="0" lang="en-US" sz="2300" b="0" i="0" u="none" strike="noStrike" cap="none" normalizeH="0" baseline="0" dirty="0">
                        <a:ln>
                          <a:noFill/>
                        </a:ln>
                        <a:solidFill>
                          <a:schemeClr val="tx1"/>
                        </a:solidFill>
                        <a:effectLst/>
                        <a:latin typeface="Arial" charset="0"/>
                      </a:endParaRPr>
                    </a:p>
                  </a:txBody>
                  <a:tcPr marL="96027" marR="96027" marT="46672" marB="466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1590">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r>
                        <a:rPr kumimoji="0" lang="en-GB" sz="1900" b="0" i="0" u="none" strike="noStrike" cap="none" normalizeH="0" baseline="0" dirty="0">
                          <a:ln>
                            <a:noFill/>
                          </a:ln>
                          <a:solidFill>
                            <a:schemeClr val="tx1"/>
                          </a:solidFill>
                          <a:effectLst/>
                          <a:latin typeface="Arial" charset="0"/>
                        </a:rPr>
                        <a:t>Idea 4</a:t>
                      </a:r>
                      <a:endParaRPr kumimoji="0" lang="en-US" sz="1900" b="0" i="0" u="none" strike="noStrike" cap="none" normalizeH="0" baseline="0" dirty="0">
                        <a:ln>
                          <a:noFill/>
                        </a:ln>
                        <a:solidFill>
                          <a:schemeClr val="tx1"/>
                        </a:solidFill>
                        <a:effectLst/>
                        <a:latin typeface="Arial" charset="0"/>
                      </a:endParaRPr>
                    </a:p>
                  </a:txBody>
                  <a:tcPr marL="96027" marR="96027" marT="46672" marB="46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9163" rtl="0" eaLnBrk="1" fontAlgn="base" latinLnBrk="0" hangingPunct="1">
                        <a:lnSpc>
                          <a:spcPct val="100000"/>
                        </a:lnSpc>
                        <a:spcBef>
                          <a:spcPct val="20000"/>
                        </a:spcBef>
                        <a:spcAft>
                          <a:spcPct val="0"/>
                        </a:spcAft>
                        <a:buClr>
                          <a:schemeClr val="accent2"/>
                        </a:buClr>
                        <a:buSzTx/>
                        <a:buFont typeface="Arial" charset="0"/>
                        <a:buNone/>
                        <a:tabLst/>
                      </a:pPr>
                      <a:endParaRPr kumimoji="0" lang="en-US" sz="2300" b="0" i="0" u="none" strike="noStrike" cap="none" normalizeH="0" baseline="0" dirty="0">
                        <a:ln>
                          <a:noFill/>
                        </a:ln>
                        <a:solidFill>
                          <a:schemeClr val="tx1"/>
                        </a:solidFill>
                        <a:effectLst/>
                        <a:latin typeface="Arial" charset="0"/>
                      </a:endParaRPr>
                    </a:p>
                  </a:txBody>
                  <a:tcPr marL="96027" marR="96027" marT="46672" marB="466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4000" dirty="0"/>
              <a:t>Pen Dot Voting</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81</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Evaluation of Alternatives</a:t>
              </a:r>
            </a:p>
          </p:txBody>
        </p:sp>
      </p:grpSp>
      <p:sp>
        <p:nvSpPr>
          <p:cNvPr id="14" name="Text Box 13">
            <a:extLst>
              <a:ext uri="{FF2B5EF4-FFF2-40B4-BE49-F238E27FC236}">
                <a16:creationId xmlns:a16="http://schemas.microsoft.com/office/drawing/2014/main" id="{B1B2BF1B-B2DC-D7F3-C404-1175DC41D8E7}"/>
              </a:ext>
            </a:extLst>
          </p:cNvPr>
          <p:cNvSpPr txBox="1">
            <a:spLocks noChangeArrowheads="1"/>
          </p:cNvSpPr>
          <p:nvPr/>
        </p:nvSpPr>
        <p:spPr>
          <a:xfrm>
            <a:off x="1947863" y="1966748"/>
            <a:ext cx="4005263" cy="39843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1095375"/>
            <a:r>
              <a:rPr lang="en-GB"/>
              <a:t>Marker pen</a:t>
            </a:r>
          </a:p>
          <a:p>
            <a:pPr marL="171450" indent="-171450" defTabSz="1095375"/>
            <a:r>
              <a:rPr lang="en-GB"/>
              <a:t>10 votes each (max 3 votes on any one item)</a:t>
            </a:r>
          </a:p>
          <a:p>
            <a:pPr marL="171450" indent="-171450" defTabSz="1095375"/>
            <a:r>
              <a:rPr lang="en-GB"/>
              <a:t>Tally the votes for a quick, simple way of prioritising the ideas or actions </a:t>
            </a:r>
            <a:endParaRPr lang="en-US" dirty="0"/>
          </a:p>
        </p:txBody>
      </p:sp>
      <p:pic>
        <p:nvPicPr>
          <p:cNvPr id="15" name="Picture 4">
            <a:extLst>
              <a:ext uri="{FF2B5EF4-FFF2-40B4-BE49-F238E27FC236}">
                <a16:creationId xmlns:a16="http://schemas.microsoft.com/office/drawing/2014/main" id="{092CAB18-36AE-86F4-925C-5BEABB2E09FA}"/>
              </a:ext>
            </a:extLst>
          </p:cNvPr>
          <p:cNvPicPr>
            <a:picLocks noChangeAspect="1" noChangeArrowheads="1"/>
          </p:cNvPicPr>
          <p:nvPr/>
        </p:nvPicPr>
        <p:blipFill>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609012" y="4969975"/>
            <a:ext cx="1581150" cy="124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val 6">
            <a:extLst>
              <a:ext uri="{FF2B5EF4-FFF2-40B4-BE49-F238E27FC236}">
                <a16:creationId xmlns:a16="http://schemas.microsoft.com/office/drawing/2014/main" id="{8405AF3B-2603-C693-7F15-082CC305B303}"/>
              </a:ext>
            </a:extLst>
          </p:cNvPr>
          <p:cNvSpPr>
            <a:spLocks noChangeArrowheads="1"/>
          </p:cNvSpPr>
          <p:nvPr/>
        </p:nvSpPr>
        <p:spPr bwMode="auto">
          <a:xfrm>
            <a:off x="8815387" y="6135896"/>
            <a:ext cx="265113" cy="176957"/>
          </a:xfrm>
          <a:prstGeom prst="ellipse">
            <a:avLst/>
          </a:prstGeom>
          <a:solidFill>
            <a:schemeClr val="accent2"/>
          </a:solidFill>
          <a:ln w="9525">
            <a:solidFill>
              <a:schemeClr val="tx1"/>
            </a:solidFill>
            <a:round/>
            <a:headEnd/>
            <a:tailEnd/>
          </a:ln>
        </p:spPr>
        <p:txBody>
          <a:bodyPr wrap="none" lIns="94862" tIns="47429" rIns="94862" bIns="47429" anchor="ctr"/>
          <a:lstStyle/>
          <a:p>
            <a:endParaRPr lang="en-GB" dirty="0"/>
          </a:p>
        </p:txBody>
      </p:sp>
      <p:grpSp>
        <p:nvGrpSpPr>
          <p:cNvPr id="17" name="Group 1">
            <a:extLst>
              <a:ext uri="{FF2B5EF4-FFF2-40B4-BE49-F238E27FC236}">
                <a16:creationId xmlns:a16="http://schemas.microsoft.com/office/drawing/2014/main" id="{57D08577-0E0B-783D-BD94-7A9A7305E96E}"/>
              </a:ext>
            </a:extLst>
          </p:cNvPr>
          <p:cNvGrpSpPr>
            <a:grpSpLocks/>
          </p:cNvGrpSpPr>
          <p:nvPr/>
        </p:nvGrpSpPr>
        <p:grpSpPr bwMode="auto">
          <a:xfrm>
            <a:off x="7808912" y="5846199"/>
            <a:ext cx="469900" cy="466654"/>
            <a:chOff x="4718050" y="5407025"/>
            <a:chExt cx="469900" cy="519113"/>
          </a:xfrm>
        </p:grpSpPr>
        <p:sp>
          <p:nvSpPr>
            <p:cNvPr id="18" name="Line 8">
              <a:extLst>
                <a:ext uri="{FF2B5EF4-FFF2-40B4-BE49-F238E27FC236}">
                  <a16:creationId xmlns:a16="http://schemas.microsoft.com/office/drawing/2014/main" id="{22E89E89-0756-7764-C7D3-6B4002286F3D}"/>
                </a:ext>
              </a:extLst>
            </p:cNvPr>
            <p:cNvSpPr>
              <a:spLocks noChangeShapeType="1"/>
            </p:cNvSpPr>
            <p:nvPr/>
          </p:nvSpPr>
          <p:spPr bwMode="auto">
            <a:xfrm flipH="1">
              <a:off x="4799013" y="5407025"/>
              <a:ext cx="60325" cy="506413"/>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4862" tIns="47429" rIns="94862" bIns="47429"/>
            <a:lstStyle/>
            <a:p>
              <a:endParaRPr lang="en-GB" dirty="0"/>
            </a:p>
          </p:txBody>
        </p:sp>
        <p:sp>
          <p:nvSpPr>
            <p:cNvPr id="19" name="Line 9">
              <a:extLst>
                <a:ext uri="{FF2B5EF4-FFF2-40B4-BE49-F238E27FC236}">
                  <a16:creationId xmlns:a16="http://schemas.microsoft.com/office/drawing/2014/main" id="{58E68E95-64BB-A87F-F3E6-98CEF466876F}"/>
                </a:ext>
              </a:extLst>
            </p:cNvPr>
            <p:cNvSpPr>
              <a:spLocks noChangeShapeType="1"/>
            </p:cNvSpPr>
            <p:nvPr/>
          </p:nvSpPr>
          <p:spPr bwMode="auto">
            <a:xfrm flipH="1">
              <a:off x="4867275" y="5408613"/>
              <a:ext cx="60325" cy="50641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4862" tIns="47429" rIns="94862" bIns="47429"/>
            <a:lstStyle/>
            <a:p>
              <a:endParaRPr lang="en-GB" dirty="0"/>
            </a:p>
          </p:txBody>
        </p:sp>
        <p:sp>
          <p:nvSpPr>
            <p:cNvPr id="20" name="Line 10">
              <a:extLst>
                <a:ext uri="{FF2B5EF4-FFF2-40B4-BE49-F238E27FC236}">
                  <a16:creationId xmlns:a16="http://schemas.microsoft.com/office/drawing/2014/main" id="{103DE6F8-EE7F-A4DB-710C-07908B09C733}"/>
                </a:ext>
              </a:extLst>
            </p:cNvPr>
            <p:cNvSpPr>
              <a:spLocks noChangeShapeType="1"/>
            </p:cNvSpPr>
            <p:nvPr/>
          </p:nvSpPr>
          <p:spPr bwMode="auto">
            <a:xfrm flipH="1">
              <a:off x="4941888" y="5419725"/>
              <a:ext cx="58737" cy="506413"/>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4862" tIns="47429" rIns="94862" bIns="47429"/>
            <a:lstStyle/>
            <a:p>
              <a:endParaRPr lang="en-GB" dirty="0"/>
            </a:p>
          </p:txBody>
        </p:sp>
        <p:sp>
          <p:nvSpPr>
            <p:cNvPr id="21" name="Line 11">
              <a:extLst>
                <a:ext uri="{FF2B5EF4-FFF2-40B4-BE49-F238E27FC236}">
                  <a16:creationId xmlns:a16="http://schemas.microsoft.com/office/drawing/2014/main" id="{4F851FA1-2A41-D999-8065-63BE45258A7C}"/>
                </a:ext>
              </a:extLst>
            </p:cNvPr>
            <p:cNvSpPr>
              <a:spLocks noChangeShapeType="1"/>
            </p:cNvSpPr>
            <p:nvPr/>
          </p:nvSpPr>
          <p:spPr bwMode="auto">
            <a:xfrm flipH="1">
              <a:off x="5008563" y="5419725"/>
              <a:ext cx="60325" cy="506413"/>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4862" tIns="47429" rIns="94862" bIns="47429"/>
            <a:lstStyle/>
            <a:p>
              <a:endParaRPr lang="en-GB" dirty="0"/>
            </a:p>
          </p:txBody>
        </p:sp>
        <p:sp>
          <p:nvSpPr>
            <p:cNvPr id="22" name="Line 12">
              <a:extLst>
                <a:ext uri="{FF2B5EF4-FFF2-40B4-BE49-F238E27FC236}">
                  <a16:creationId xmlns:a16="http://schemas.microsoft.com/office/drawing/2014/main" id="{5C0D6255-4367-D15F-A0FB-A27264F3B3EA}"/>
                </a:ext>
              </a:extLst>
            </p:cNvPr>
            <p:cNvSpPr>
              <a:spLocks noChangeShapeType="1"/>
            </p:cNvSpPr>
            <p:nvPr/>
          </p:nvSpPr>
          <p:spPr bwMode="auto">
            <a:xfrm rot="5400000" flipH="1" flipV="1">
              <a:off x="4935537" y="5432426"/>
              <a:ext cx="34925" cy="4699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4862" tIns="47429" rIns="94862" bIns="47429"/>
            <a:lstStyle/>
            <a:p>
              <a:endParaRPr lang="en-GB" dirty="0"/>
            </a:p>
          </p:txBody>
        </p:sp>
      </p:grpSp>
      <p:grpSp>
        <p:nvGrpSpPr>
          <p:cNvPr id="23" name="Group 51">
            <a:extLst>
              <a:ext uri="{FF2B5EF4-FFF2-40B4-BE49-F238E27FC236}">
                <a16:creationId xmlns:a16="http://schemas.microsoft.com/office/drawing/2014/main" id="{B370D679-4D52-0BC1-FB36-20832CFDE1B2}"/>
              </a:ext>
            </a:extLst>
          </p:cNvPr>
          <p:cNvGrpSpPr>
            <a:grpSpLocks/>
          </p:cNvGrpSpPr>
          <p:nvPr/>
        </p:nvGrpSpPr>
        <p:grpSpPr bwMode="auto">
          <a:xfrm>
            <a:off x="7327900" y="2833026"/>
            <a:ext cx="2825750" cy="1823801"/>
            <a:chOff x="5893319" y="2358919"/>
            <a:chExt cx="2837034" cy="2096453"/>
          </a:xfrm>
        </p:grpSpPr>
        <p:sp>
          <p:nvSpPr>
            <p:cNvPr id="24" name="Oval 39">
              <a:extLst>
                <a:ext uri="{FF2B5EF4-FFF2-40B4-BE49-F238E27FC236}">
                  <a16:creationId xmlns:a16="http://schemas.microsoft.com/office/drawing/2014/main" id="{1257E49D-32DC-542E-4D4D-22D5E27FC729}"/>
                </a:ext>
              </a:extLst>
            </p:cNvPr>
            <p:cNvSpPr>
              <a:spLocks noChangeArrowheads="1"/>
            </p:cNvSpPr>
            <p:nvPr/>
          </p:nvSpPr>
          <p:spPr bwMode="auto">
            <a:xfrm>
              <a:off x="6835073" y="2414693"/>
              <a:ext cx="163335" cy="152559"/>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25" name="Oval 40">
              <a:extLst>
                <a:ext uri="{FF2B5EF4-FFF2-40B4-BE49-F238E27FC236}">
                  <a16:creationId xmlns:a16="http://schemas.microsoft.com/office/drawing/2014/main" id="{DA05D853-B078-8FE9-D77D-8349E5C3AA5B}"/>
                </a:ext>
              </a:extLst>
            </p:cNvPr>
            <p:cNvSpPr>
              <a:spLocks noChangeArrowheads="1"/>
            </p:cNvSpPr>
            <p:nvPr/>
          </p:nvSpPr>
          <p:spPr bwMode="auto">
            <a:xfrm>
              <a:off x="7039610" y="2416335"/>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26" name="Oval 41">
              <a:extLst>
                <a:ext uri="{FF2B5EF4-FFF2-40B4-BE49-F238E27FC236}">
                  <a16:creationId xmlns:a16="http://schemas.microsoft.com/office/drawing/2014/main" id="{5DA470E7-9EE7-B7FA-9071-9099D94367F3}"/>
                </a:ext>
              </a:extLst>
            </p:cNvPr>
            <p:cNvSpPr>
              <a:spLocks noChangeArrowheads="1"/>
            </p:cNvSpPr>
            <p:nvPr/>
          </p:nvSpPr>
          <p:spPr bwMode="auto">
            <a:xfrm>
              <a:off x="7255920" y="2416335"/>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27" name="Oval 42">
              <a:extLst>
                <a:ext uri="{FF2B5EF4-FFF2-40B4-BE49-F238E27FC236}">
                  <a16:creationId xmlns:a16="http://schemas.microsoft.com/office/drawing/2014/main" id="{4ED35160-F797-F5D4-309C-4B5AC26B6C33}"/>
                </a:ext>
              </a:extLst>
            </p:cNvPr>
            <p:cNvSpPr>
              <a:spLocks noChangeArrowheads="1"/>
            </p:cNvSpPr>
            <p:nvPr/>
          </p:nvSpPr>
          <p:spPr bwMode="auto">
            <a:xfrm>
              <a:off x="6848317" y="2606623"/>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28" name="Oval 43">
              <a:extLst>
                <a:ext uri="{FF2B5EF4-FFF2-40B4-BE49-F238E27FC236}">
                  <a16:creationId xmlns:a16="http://schemas.microsoft.com/office/drawing/2014/main" id="{C694A886-D154-89E1-734B-82DC58D3F7CC}"/>
                </a:ext>
              </a:extLst>
            </p:cNvPr>
            <p:cNvSpPr>
              <a:spLocks noChangeArrowheads="1"/>
            </p:cNvSpPr>
            <p:nvPr/>
          </p:nvSpPr>
          <p:spPr bwMode="auto">
            <a:xfrm>
              <a:off x="7051382" y="2606623"/>
              <a:ext cx="164807"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29" name="Oval 44">
              <a:extLst>
                <a:ext uri="{FF2B5EF4-FFF2-40B4-BE49-F238E27FC236}">
                  <a16:creationId xmlns:a16="http://schemas.microsoft.com/office/drawing/2014/main" id="{044818E0-3E27-2BF5-41A2-B4F5F4CD76F7}"/>
                </a:ext>
              </a:extLst>
            </p:cNvPr>
            <p:cNvSpPr>
              <a:spLocks noChangeArrowheads="1"/>
            </p:cNvSpPr>
            <p:nvPr/>
          </p:nvSpPr>
          <p:spPr bwMode="auto">
            <a:xfrm>
              <a:off x="7267691" y="2606623"/>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0" name="Oval 45">
              <a:extLst>
                <a:ext uri="{FF2B5EF4-FFF2-40B4-BE49-F238E27FC236}">
                  <a16:creationId xmlns:a16="http://schemas.microsoft.com/office/drawing/2014/main" id="{703F118D-511F-7B1E-DAAA-BAB7C0BA427D}"/>
                </a:ext>
              </a:extLst>
            </p:cNvPr>
            <p:cNvSpPr>
              <a:spLocks noChangeArrowheads="1"/>
            </p:cNvSpPr>
            <p:nvPr/>
          </p:nvSpPr>
          <p:spPr bwMode="auto">
            <a:xfrm>
              <a:off x="7484001" y="2416335"/>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1" name="Oval 46">
              <a:extLst>
                <a:ext uri="{FF2B5EF4-FFF2-40B4-BE49-F238E27FC236}">
                  <a16:creationId xmlns:a16="http://schemas.microsoft.com/office/drawing/2014/main" id="{2C37CBD1-FB25-D49A-950D-9CE0F86AE03D}"/>
                </a:ext>
              </a:extLst>
            </p:cNvPr>
            <p:cNvSpPr>
              <a:spLocks noChangeArrowheads="1"/>
            </p:cNvSpPr>
            <p:nvPr/>
          </p:nvSpPr>
          <p:spPr bwMode="auto">
            <a:xfrm>
              <a:off x="7470757" y="2593500"/>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2" name="Oval 47">
              <a:extLst>
                <a:ext uri="{FF2B5EF4-FFF2-40B4-BE49-F238E27FC236}">
                  <a16:creationId xmlns:a16="http://schemas.microsoft.com/office/drawing/2014/main" id="{D478DB8B-5307-AB44-7298-BF658BFC96B7}"/>
                </a:ext>
              </a:extLst>
            </p:cNvPr>
            <p:cNvSpPr>
              <a:spLocks noChangeArrowheads="1"/>
            </p:cNvSpPr>
            <p:nvPr/>
          </p:nvSpPr>
          <p:spPr bwMode="auto">
            <a:xfrm>
              <a:off x="7687066" y="2593500"/>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3" name="Oval 48">
              <a:extLst>
                <a:ext uri="{FF2B5EF4-FFF2-40B4-BE49-F238E27FC236}">
                  <a16:creationId xmlns:a16="http://schemas.microsoft.com/office/drawing/2014/main" id="{BC6C8B6C-7B5F-9884-9BE6-7823CD342954}"/>
                </a:ext>
              </a:extLst>
            </p:cNvPr>
            <p:cNvSpPr>
              <a:spLocks noChangeArrowheads="1"/>
            </p:cNvSpPr>
            <p:nvPr/>
          </p:nvSpPr>
          <p:spPr bwMode="auto">
            <a:xfrm>
              <a:off x="6823301" y="3051175"/>
              <a:ext cx="163335" cy="152559"/>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4" name="Oval 49">
              <a:extLst>
                <a:ext uri="{FF2B5EF4-FFF2-40B4-BE49-F238E27FC236}">
                  <a16:creationId xmlns:a16="http://schemas.microsoft.com/office/drawing/2014/main" id="{EF441047-379F-AE35-6EB2-23164E7A56EB}"/>
                </a:ext>
              </a:extLst>
            </p:cNvPr>
            <p:cNvSpPr>
              <a:spLocks noChangeArrowheads="1"/>
            </p:cNvSpPr>
            <p:nvPr/>
          </p:nvSpPr>
          <p:spPr bwMode="auto">
            <a:xfrm>
              <a:off x="7027838" y="3052817"/>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5" name="Oval 50">
              <a:extLst>
                <a:ext uri="{FF2B5EF4-FFF2-40B4-BE49-F238E27FC236}">
                  <a16:creationId xmlns:a16="http://schemas.microsoft.com/office/drawing/2014/main" id="{6CA3FF5A-C28F-63E7-D1C4-19FF563BD8C9}"/>
                </a:ext>
              </a:extLst>
            </p:cNvPr>
            <p:cNvSpPr>
              <a:spLocks noChangeArrowheads="1"/>
            </p:cNvSpPr>
            <p:nvPr/>
          </p:nvSpPr>
          <p:spPr bwMode="auto">
            <a:xfrm>
              <a:off x="7244148" y="3052817"/>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6" name="Oval 51">
              <a:extLst>
                <a:ext uri="{FF2B5EF4-FFF2-40B4-BE49-F238E27FC236}">
                  <a16:creationId xmlns:a16="http://schemas.microsoft.com/office/drawing/2014/main" id="{0C5B225C-69EF-A9D9-317C-B8AB538BE011}"/>
                </a:ext>
              </a:extLst>
            </p:cNvPr>
            <p:cNvSpPr>
              <a:spLocks noChangeArrowheads="1"/>
            </p:cNvSpPr>
            <p:nvPr/>
          </p:nvSpPr>
          <p:spPr bwMode="auto">
            <a:xfrm>
              <a:off x="7472229" y="3052817"/>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7" name="Oval 53">
              <a:extLst>
                <a:ext uri="{FF2B5EF4-FFF2-40B4-BE49-F238E27FC236}">
                  <a16:creationId xmlns:a16="http://schemas.microsoft.com/office/drawing/2014/main" id="{FF47A73D-F826-36E1-C523-A250C32DDF02}"/>
                </a:ext>
              </a:extLst>
            </p:cNvPr>
            <p:cNvSpPr>
              <a:spLocks noChangeArrowheads="1"/>
            </p:cNvSpPr>
            <p:nvPr/>
          </p:nvSpPr>
          <p:spPr bwMode="auto">
            <a:xfrm>
              <a:off x="6838016" y="3623682"/>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8" name="Oval 54">
              <a:extLst>
                <a:ext uri="{FF2B5EF4-FFF2-40B4-BE49-F238E27FC236}">
                  <a16:creationId xmlns:a16="http://schemas.microsoft.com/office/drawing/2014/main" id="{A57C0F91-B01F-C6AA-F8D3-D7067175B77A}"/>
                </a:ext>
              </a:extLst>
            </p:cNvPr>
            <p:cNvSpPr>
              <a:spLocks noChangeArrowheads="1"/>
            </p:cNvSpPr>
            <p:nvPr/>
          </p:nvSpPr>
          <p:spPr bwMode="auto">
            <a:xfrm>
              <a:off x="7042553" y="3625321"/>
              <a:ext cx="163336" cy="152559"/>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39" name="Oval 55">
              <a:extLst>
                <a:ext uri="{FF2B5EF4-FFF2-40B4-BE49-F238E27FC236}">
                  <a16:creationId xmlns:a16="http://schemas.microsoft.com/office/drawing/2014/main" id="{A59E4465-EB57-8B33-A2D6-32A770B4F3D1}"/>
                </a:ext>
              </a:extLst>
            </p:cNvPr>
            <p:cNvSpPr>
              <a:spLocks noChangeArrowheads="1"/>
            </p:cNvSpPr>
            <p:nvPr/>
          </p:nvSpPr>
          <p:spPr bwMode="auto">
            <a:xfrm>
              <a:off x="6849788" y="4247040"/>
              <a:ext cx="164807"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0" name="Oval 56">
              <a:extLst>
                <a:ext uri="{FF2B5EF4-FFF2-40B4-BE49-F238E27FC236}">
                  <a16:creationId xmlns:a16="http://schemas.microsoft.com/office/drawing/2014/main" id="{B349B16F-1AD8-98FC-98AF-339889836628}"/>
                </a:ext>
              </a:extLst>
            </p:cNvPr>
            <p:cNvSpPr>
              <a:spLocks noChangeArrowheads="1"/>
            </p:cNvSpPr>
            <p:nvPr/>
          </p:nvSpPr>
          <p:spPr bwMode="auto">
            <a:xfrm>
              <a:off x="7055797" y="4248679"/>
              <a:ext cx="163335" cy="152559"/>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1" name="Oval 57">
              <a:extLst>
                <a:ext uri="{FF2B5EF4-FFF2-40B4-BE49-F238E27FC236}">
                  <a16:creationId xmlns:a16="http://schemas.microsoft.com/office/drawing/2014/main" id="{824B398C-6076-4D9F-D77B-1A0B032E9CA6}"/>
                </a:ext>
              </a:extLst>
            </p:cNvPr>
            <p:cNvSpPr>
              <a:spLocks noChangeArrowheads="1"/>
            </p:cNvSpPr>
            <p:nvPr/>
          </p:nvSpPr>
          <p:spPr bwMode="auto">
            <a:xfrm>
              <a:off x="6824773" y="3269351"/>
              <a:ext cx="163336" cy="15091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2" name="Oval 58">
              <a:extLst>
                <a:ext uri="{FF2B5EF4-FFF2-40B4-BE49-F238E27FC236}">
                  <a16:creationId xmlns:a16="http://schemas.microsoft.com/office/drawing/2014/main" id="{72C69D3A-D084-1711-C171-B99C37BA78E3}"/>
                </a:ext>
              </a:extLst>
            </p:cNvPr>
            <p:cNvSpPr>
              <a:spLocks noChangeArrowheads="1"/>
            </p:cNvSpPr>
            <p:nvPr/>
          </p:nvSpPr>
          <p:spPr bwMode="auto">
            <a:xfrm>
              <a:off x="7027838" y="3269351"/>
              <a:ext cx="163336" cy="15091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3" name="Oval 59">
              <a:extLst>
                <a:ext uri="{FF2B5EF4-FFF2-40B4-BE49-F238E27FC236}">
                  <a16:creationId xmlns:a16="http://schemas.microsoft.com/office/drawing/2014/main" id="{6A5F0719-5E70-52F0-80BA-67D220642522}"/>
                </a:ext>
              </a:extLst>
            </p:cNvPr>
            <p:cNvSpPr>
              <a:spLocks noChangeArrowheads="1"/>
            </p:cNvSpPr>
            <p:nvPr/>
          </p:nvSpPr>
          <p:spPr bwMode="auto">
            <a:xfrm>
              <a:off x="7244148" y="3269351"/>
              <a:ext cx="163335" cy="15091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4" name="Oval 60">
              <a:extLst>
                <a:ext uri="{FF2B5EF4-FFF2-40B4-BE49-F238E27FC236}">
                  <a16:creationId xmlns:a16="http://schemas.microsoft.com/office/drawing/2014/main" id="{2B938E19-1329-2019-E475-D78FC5F80078}"/>
                </a:ext>
              </a:extLst>
            </p:cNvPr>
            <p:cNvSpPr>
              <a:spLocks noChangeArrowheads="1"/>
            </p:cNvSpPr>
            <p:nvPr/>
          </p:nvSpPr>
          <p:spPr bwMode="auto">
            <a:xfrm>
              <a:off x="7447213" y="3256228"/>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5" name="Oval 61">
              <a:extLst>
                <a:ext uri="{FF2B5EF4-FFF2-40B4-BE49-F238E27FC236}">
                  <a16:creationId xmlns:a16="http://schemas.microsoft.com/office/drawing/2014/main" id="{0CE42689-5590-6D04-6C39-2804F12B6DF2}"/>
                </a:ext>
              </a:extLst>
            </p:cNvPr>
            <p:cNvSpPr>
              <a:spLocks noChangeArrowheads="1"/>
            </p:cNvSpPr>
            <p:nvPr/>
          </p:nvSpPr>
          <p:spPr bwMode="auto">
            <a:xfrm>
              <a:off x="7688538" y="3052817"/>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6" name="Oval 62">
              <a:extLst>
                <a:ext uri="{FF2B5EF4-FFF2-40B4-BE49-F238E27FC236}">
                  <a16:creationId xmlns:a16="http://schemas.microsoft.com/office/drawing/2014/main" id="{8F1E5484-EB72-5E0A-F760-9644603EA965}"/>
                </a:ext>
              </a:extLst>
            </p:cNvPr>
            <p:cNvSpPr>
              <a:spLocks noChangeArrowheads="1"/>
            </p:cNvSpPr>
            <p:nvPr/>
          </p:nvSpPr>
          <p:spPr bwMode="auto">
            <a:xfrm>
              <a:off x="7701781" y="3243105"/>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7" name="Oval 63">
              <a:extLst>
                <a:ext uri="{FF2B5EF4-FFF2-40B4-BE49-F238E27FC236}">
                  <a16:creationId xmlns:a16="http://schemas.microsoft.com/office/drawing/2014/main" id="{26C5E31D-D9D9-32A9-68A9-2EAF10F0511F}"/>
                </a:ext>
              </a:extLst>
            </p:cNvPr>
            <p:cNvSpPr>
              <a:spLocks noChangeArrowheads="1"/>
            </p:cNvSpPr>
            <p:nvPr/>
          </p:nvSpPr>
          <p:spPr bwMode="auto">
            <a:xfrm>
              <a:off x="7916618" y="3052817"/>
              <a:ext cx="164807"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8" name="Oval 64">
              <a:extLst>
                <a:ext uri="{FF2B5EF4-FFF2-40B4-BE49-F238E27FC236}">
                  <a16:creationId xmlns:a16="http://schemas.microsoft.com/office/drawing/2014/main" id="{A8DE9B25-E26F-A0B0-251A-A1E5B7695887}"/>
                </a:ext>
              </a:extLst>
            </p:cNvPr>
            <p:cNvSpPr>
              <a:spLocks noChangeArrowheads="1"/>
            </p:cNvSpPr>
            <p:nvPr/>
          </p:nvSpPr>
          <p:spPr bwMode="auto">
            <a:xfrm>
              <a:off x="7904847" y="3229982"/>
              <a:ext cx="163336"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sp>
          <p:nvSpPr>
            <p:cNvPr id="49" name="Oval 65">
              <a:extLst>
                <a:ext uri="{FF2B5EF4-FFF2-40B4-BE49-F238E27FC236}">
                  <a16:creationId xmlns:a16="http://schemas.microsoft.com/office/drawing/2014/main" id="{D3883894-512D-E27E-5B90-FF70297B1711}"/>
                </a:ext>
              </a:extLst>
            </p:cNvPr>
            <p:cNvSpPr>
              <a:spLocks noChangeArrowheads="1"/>
            </p:cNvSpPr>
            <p:nvPr/>
          </p:nvSpPr>
          <p:spPr bwMode="auto">
            <a:xfrm>
              <a:off x="8121156" y="3229982"/>
              <a:ext cx="163335" cy="152558"/>
            </a:xfrm>
            <a:prstGeom prst="ellipse">
              <a:avLst/>
            </a:prstGeom>
            <a:solidFill>
              <a:schemeClr val="accent2"/>
            </a:solidFill>
            <a:ln w="9525">
              <a:solidFill>
                <a:schemeClr val="tx1"/>
              </a:solidFill>
              <a:round/>
              <a:headEnd/>
              <a:tailEnd/>
            </a:ln>
          </p:spPr>
          <p:txBody>
            <a:bodyPr wrap="none" lIns="96444" tIns="48220" rIns="96444" bIns="48220" anchor="ctr"/>
            <a:lstStyle/>
            <a:p>
              <a:endParaRPr lang="en-GB" dirty="0"/>
            </a:p>
          </p:txBody>
        </p:sp>
        <p:pic>
          <p:nvPicPr>
            <p:cNvPr id="50" name="Picture 72">
              <a:extLst>
                <a:ext uri="{FF2B5EF4-FFF2-40B4-BE49-F238E27FC236}">
                  <a16:creationId xmlns:a16="http://schemas.microsoft.com/office/drawing/2014/main" id="{C3652F19-E5CB-3382-84EF-E2D02F0CF44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4307" y="2372043"/>
              <a:ext cx="260454" cy="29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74">
              <a:extLst>
                <a:ext uri="{FF2B5EF4-FFF2-40B4-BE49-F238E27FC236}">
                  <a16:creationId xmlns:a16="http://schemas.microsoft.com/office/drawing/2014/main" id="{D6EB1E35-957C-F6F8-B257-FE5C7D8B68E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13859" y="2944548"/>
              <a:ext cx="260454" cy="293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75">
              <a:extLst>
                <a:ext uri="{FF2B5EF4-FFF2-40B4-BE49-F238E27FC236}">
                  <a16:creationId xmlns:a16="http://schemas.microsoft.com/office/drawing/2014/main" id="{2B77F22D-9C57-4F25-B423-5F4A0DDC67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69899" y="2933066"/>
              <a:ext cx="260454" cy="29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85">
              <a:extLst>
                <a:ext uri="{FF2B5EF4-FFF2-40B4-BE49-F238E27FC236}">
                  <a16:creationId xmlns:a16="http://schemas.microsoft.com/office/drawing/2014/main" id="{5B6F69B0-8534-1CA1-D675-574736A73E7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56534" y="2358919"/>
              <a:ext cx="144206" cy="31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86">
              <a:extLst>
                <a:ext uri="{FF2B5EF4-FFF2-40B4-BE49-F238E27FC236}">
                  <a16:creationId xmlns:a16="http://schemas.microsoft.com/office/drawing/2014/main" id="{5E44388D-9F86-B995-094E-DD585790A1E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75784" y="3210296"/>
              <a:ext cx="64746" cy="31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87">
              <a:extLst>
                <a:ext uri="{FF2B5EF4-FFF2-40B4-BE49-F238E27FC236}">
                  <a16:creationId xmlns:a16="http://schemas.microsoft.com/office/drawing/2014/main" id="{9ABA2F88-3839-5B9F-9B31-5495E918D4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59537" y="2360560"/>
              <a:ext cx="145677" cy="31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88">
              <a:extLst>
                <a:ext uri="{FF2B5EF4-FFF2-40B4-BE49-F238E27FC236}">
                  <a16:creationId xmlns:a16="http://schemas.microsoft.com/office/drawing/2014/main" id="{33FE2AEC-BDC7-3B50-AFAD-DB701BF0EFA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74253" y="3200453"/>
              <a:ext cx="144206" cy="31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89">
              <a:extLst>
                <a:ext uri="{FF2B5EF4-FFF2-40B4-BE49-F238E27FC236}">
                  <a16:creationId xmlns:a16="http://schemas.microsoft.com/office/drawing/2014/main" id="{F74C5345-5320-CE98-FF5F-F748DD08E45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98654" y="3595793"/>
              <a:ext cx="144206" cy="31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90">
              <a:extLst>
                <a:ext uri="{FF2B5EF4-FFF2-40B4-BE49-F238E27FC236}">
                  <a16:creationId xmlns:a16="http://schemas.microsoft.com/office/drawing/2014/main" id="{7DC2E100-5E92-44BC-BA21-1169F3B53B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60395" y="4142053"/>
              <a:ext cx="144206" cy="31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 Box 91">
              <a:extLst>
                <a:ext uri="{FF2B5EF4-FFF2-40B4-BE49-F238E27FC236}">
                  <a16:creationId xmlns:a16="http://schemas.microsoft.com/office/drawing/2014/main" id="{840D5C69-8916-7393-E985-451D980DA4F4}"/>
                </a:ext>
              </a:extLst>
            </p:cNvPr>
            <p:cNvSpPr txBox="1">
              <a:spLocks noChangeArrowheads="1"/>
            </p:cNvSpPr>
            <p:nvPr/>
          </p:nvSpPr>
          <p:spPr bwMode="auto">
            <a:xfrm>
              <a:off x="5900677" y="2962593"/>
              <a:ext cx="721030" cy="25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44" tIns="48220" rIns="96444" bIns="4822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pPr>
                <a:spcBef>
                  <a:spcPct val="50000"/>
                </a:spcBef>
              </a:pPr>
              <a:r>
                <a:rPr lang="en-GB" i="1" dirty="0"/>
                <a:t>1st</a:t>
              </a:r>
              <a:endParaRPr lang="en-US" i="1" dirty="0"/>
            </a:p>
          </p:txBody>
        </p:sp>
        <p:sp>
          <p:nvSpPr>
            <p:cNvPr id="60" name="Text Box 92">
              <a:extLst>
                <a:ext uri="{FF2B5EF4-FFF2-40B4-BE49-F238E27FC236}">
                  <a16:creationId xmlns:a16="http://schemas.microsoft.com/office/drawing/2014/main" id="{E94D5E0A-4AE5-A5D8-5819-1648D0443A6A}"/>
                </a:ext>
              </a:extLst>
            </p:cNvPr>
            <p:cNvSpPr txBox="1">
              <a:spLocks noChangeArrowheads="1"/>
            </p:cNvSpPr>
            <p:nvPr/>
          </p:nvSpPr>
          <p:spPr bwMode="auto">
            <a:xfrm>
              <a:off x="5928635" y="2367122"/>
              <a:ext cx="810791" cy="25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44" tIns="48220" rIns="96444" bIns="4822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pPr>
                <a:spcBef>
                  <a:spcPct val="50000"/>
                </a:spcBef>
              </a:pPr>
              <a:r>
                <a:rPr lang="en-GB" i="1" dirty="0"/>
                <a:t>2nd</a:t>
              </a:r>
              <a:endParaRPr lang="en-US" i="1" dirty="0"/>
            </a:p>
          </p:txBody>
        </p:sp>
        <p:sp>
          <p:nvSpPr>
            <p:cNvPr id="61" name="Text Box 93">
              <a:extLst>
                <a:ext uri="{FF2B5EF4-FFF2-40B4-BE49-F238E27FC236}">
                  <a16:creationId xmlns:a16="http://schemas.microsoft.com/office/drawing/2014/main" id="{8C7CE9F1-CC24-F18C-BB04-08144E1DCD2B}"/>
                </a:ext>
              </a:extLst>
            </p:cNvPr>
            <p:cNvSpPr txBox="1">
              <a:spLocks noChangeArrowheads="1"/>
            </p:cNvSpPr>
            <p:nvPr/>
          </p:nvSpPr>
          <p:spPr bwMode="auto">
            <a:xfrm>
              <a:off x="5916863" y="3536739"/>
              <a:ext cx="810791" cy="25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44" tIns="48220" rIns="96444" bIns="4822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pPr>
                <a:spcBef>
                  <a:spcPct val="50000"/>
                </a:spcBef>
              </a:pPr>
              <a:r>
                <a:rPr lang="en-GB" i="1" dirty="0"/>
                <a:t>3rd</a:t>
              </a:r>
              <a:endParaRPr lang="en-US" i="1" dirty="0"/>
            </a:p>
          </p:txBody>
        </p:sp>
        <p:sp>
          <p:nvSpPr>
            <p:cNvPr id="62" name="Text Box 94">
              <a:extLst>
                <a:ext uri="{FF2B5EF4-FFF2-40B4-BE49-F238E27FC236}">
                  <a16:creationId xmlns:a16="http://schemas.microsoft.com/office/drawing/2014/main" id="{C040DB28-F998-6BA4-968E-C66B2205F86C}"/>
                </a:ext>
              </a:extLst>
            </p:cNvPr>
            <p:cNvSpPr txBox="1">
              <a:spLocks noChangeArrowheads="1"/>
            </p:cNvSpPr>
            <p:nvPr/>
          </p:nvSpPr>
          <p:spPr bwMode="auto">
            <a:xfrm>
              <a:off x="5893319" y="4084638"/>
              <a:ext cx="810791" cy="25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44" tIns="48220" rIns="96444" bIns="48220">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pPr>
                <a:spcBef>
                  <a:spcPct val="50000"/>
                </a:spcBef>
              </a:pPr>
              <a:r>
                <a:rPr lang="en-GB" i="1" dirty="0"/>
                <a:t>4th</a:t>
              </a:r>
              <a:endParaRPr lang="en-US" i="1" dirty="0"/>
            </a:p>
          </p:txBody>
        </p:sp>
      </p:grpSp>
    </p:spTree>
    <p:extLst>
      <p:ext uri="{BB962C8B-B14F-4D97-AF65-F5344CB8AC3E}">
        <p14:creationId xmlns:p14="http://schemas.microsoft.com/office/powerpoint/2010/main" val="15324932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Ease/Impact Matrix</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82</a:t>
            </a:fld>
            <a:endParaRPr lang="en-US"/>
          </a:p>
        </p:txBody>
      </p:sp>
      <p:grpSp>
        <p:nvGrpSpPr>
          <p:cNvPr id="3" name="Group 2">
            <a:extLst>
              <a:ext uri="{FF2B5EF4-FFF2-40B4-BE49-F238E27FC236}">
                <a16:creationId xmlns:a16="http://schemas.microsoft.com/office/drawing/2014/main" id="{1A4BA11F-C7FB-77BA-4502-4E2D6DEA8D77}"/>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35B32675-00AA-7D52-36AE-720655380FD7}"/>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57626213-5B5C-0A3E-235B-7EC2CFC5FBB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A68EE83-9058-5CB7-21DC-8174B2E622E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A2BEF6C-ABFD-02B2-E783-4212275960C2}"/>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0AB1730-1620-8225-D538-94E1B164C16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121C3AC-47F7-6AED-31A9-F97404CA967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BF0021C-89BA-B656-0CA8-B5A36F17222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1F1736C-102F-0936-B363-32975407B91C}"/>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Generation of Alternatives</a:t>
              </a:r>
            </a:p>
          </p:txBody>
        </p:sp>
      </p:grpSp>
      <p:sp>
        <p:nvSpPr>
          <p:cNvPr id="7" name="Content Placeholder 6">
            <a:extLst>
              <a:ext uri="{FF2B5EF4-FFF2-40B4-BE49-F238E27FC236}">
                <a16:creationId xmlns:a16="http://schemas.microsoft.com/office/drawing/2014/main" id="{CA952882-9F08-36D1-D758-00D8C5E8C481}"/>
              </a:ext>
            </a:extLst>
          </p:cNvPr>
          <p:cNvSpPr>
            <a:spLocks noGrp="1"/>
          </p:cNvSpPr>
          <p:nvPr>
            <p:ph sz="half" idx="1"/>
          </p:nvPr>
        </p:nvSpPr>
        <p:spPr/>
        <p:txBody>
          <a:bodyPr anchor="ctr">
            <a:normAutofit lnSpcReduction="10000"/>
          </a:bodyPr>
          <a:lstStyle/>
          <a:p>
            <a:r>
              <a:rPr lang="en-US" dirty="0"/>
              <a:t>Assess each idea on a scale of low to high based on:</a:t>
            </a:r>
          </a:p>
          <a:p>
            <a:pPr lvl="1"/>
            <a:r>
              <a:rPr lang="en-US" dirty="0"/>
              <a:t>the potential impact/benefit gained</a:t>
            </a:r>
          </a:p>
          <a:p>
            <a:pPr lvl="1"/>
            <a:r>
              <a:rPr lang="en-US" dirty="0"/>
              <a:t>the ease/effort required to implement the idea</a:t>
            </a:r>
          </a:p>
          <a:p>
            <a:pPr lvl="1"/>
            <a:r>
              <a:rPr lang="en-US" dirty="0"/>
              <a:t>other criteria of your choice</a:t>
            </a:r>
          </a:p>
          <a:p>
            <a:r>
              <a:rPr lang="en-US" dirty="0"/>
              <a:t>Mark your assessment of each idea on the matrix</a:t>
            </a:r>
          </a:p>
          <a:p>
            <a:r>
              <a:rPr lang="en-US" dirty="0"/>
              <a:t>The better ideas are in the top right of the matrix</a:t>
            </a:r>
          </a:p>
          <a:p>
            <a:endParaRPr lang="en-US" dirty="0"/>
          </a:p>
        </p:txBody>
      </p:sp>
      <p:grpSp>
        <p:nvGrpSpPr>
          <p:cNvPr id="47" name="Group 1">
            <a:extLst>
              <a:ext uri="{FF2B5EF4-FFF2-40B4-BE49-F238E27FC236}">
                <a16:creationId xmlns:a16="http://schemas.microsoft.com/office/drawing/2014/main" id="{CFFEAC65-CFC5-5AE9-1EC0-BFC037D2C641}"/>
              </a:ext>
            </a:extLst>
          </p:cNvPr>
          <p:cNvGrpSpPr>
            <a:grpSpLocks/>
          </p:cNvGrpSpPr>
          <p:nvPr/>
        </p:nvGrpSpPr>
        <p:grpSpPr bwMode="auto">
          <a:xfrm>
            <a:off x="6465225" y="2194243"/>
            <a:ext cx="3758275" cy="3452582"/>
            <a:chOff x="4807875" y="1954844"/>
            <a:chExt cx="3758275" cy="3451941"/>
          </a:xfrm>
        </p:grpSpPr>
        <p:sp>
          <p:nvSpPr>
            <p:cNvPr id="48" name="Right Triangle 6">
              <a:extLst>
                <a:ext uri="{FF2B5EF4-FFF2-40B4-BE49-F238E27FC236}">
                  <a16:creationId xmlns:a16="http://schemas.microsoft.com/office/drawing/2014/main" id="{E7D9FCC5-6A50-BB5B-6E43-29F45437E7E4}"/>
                </a:ext>
              </a:extLst>
            </p:cNvPr>
            <p:cNvSpPr>
              <a:spLocks noChangeArrowheads="1"/>
            </p:cNvSpPr>
            <p:nvPr/>
          </p:nvSpPr>
          <p:spPr bwMode="auto">
            <a:xfrm>
              <a:off x="5781675" y="1954844"/>
              <a:ext cx="2784475" cy="2782370"/>
            </a:xfrm>
            <a:prstGeom prst="rtTriangle">
              <a:avLst/>
            </a:prstGeom>
            <a:solidFill>
              <a:schemeClr val="accent3">
                <a:alpha val="30196"/>
              </a:schemeClr>
            </a:solidFill>
            <a:ln w="9525" algn="ctr">
              <a:solidFill>
                <a:schemeClr val="tx1"/>
              </a:solidFill>
              <a:round/>
              <a:headEnd/>
              <a:tailEnd/>
            </a:ln>
          </p:spPr>
          <p:txBody>
            <a:bodyPr lIns="96444" tIns="48220" rIns="96444" bIns="48220"/>
            <a:lstStyle/>
            <a:p>
              <a:pPr algn="l" defTabSz="898525" eaLnBrk="1" hangingPunct="1">
                <a:lnSpc>
                  <a:spcPct val="100000"/>
                </a:lnSpc>
                <a:spcBef>
                  <a:spcPct val="0"/>
                </a:spcBef>
                <a:defRPr/>
              </a:pPr>
              <a:endParaRPr lang="en-GB" sz="2400" b="1" dirty="0">
                <a:solidFill>
                  <a:schemeClr val="tx1"/>
                </a:solidFill>
              </a:endParaRPr>
            </a:p>
          </p:txBody>
        </p:sp>
        <p:cxnSp>
          <p:nvCxnSpPr>
            <p:cNvPr id="49" name="Straight Arrow Connector 8">
              <a:extLst>
                <a:ext uri="{FF2B5EF4-FFF2-40B4-BE49-F238E27FC236}">
                  <a16:creationId xmlns:a16="http://schemas.microsoft.com/office/drawing/2014/main" id="{AA22057F-6023-0019-B95E-AA97776DCE69}"/>
                </a:ext>
              </a:extLst>
            </p:cNvPr>
            <p:cNvCxnSpPr>
              <a:cxnSpLocks noChangeShapeType="1"/>
              <a:stCxn id="48" idx="2"/>
            </p:cNvCxnSpPr>
            <p:nvPr/>
          </p:nvCxnSpPr>
          <p:spPr bwMode="auto">
            <a:xfrm rot="5400000" flipH="1" flipV="1">
              <a:off x="5782182" y="1993657"/>
              <a:ext cx="2743843" cy="2744014"/>
            </a:xfrm>
            <a:prstGeom prst="straightConnector1">
              <a:avLst/>
            </a:prstGeom>
            <a:noFill/>
            <a:ln w="38100" algn="ctr">
              <a:solidFill>
                <a:schemeClr val="accent4"/>
              </a:solidFill>
              <a:round/>
              <a:headEnd/>
              <a:tailEnd type="arrow" w="med" len="med"/>
            </a:ln>
            <a:extLst>
              <a:ext uri="{909E8E84-426E-40DD-AFC4-6F175D3DCCD1}">
                <a14:hiddenFill xmlns:a14="http://schemas.microsoft.com/office/drawing/2010/main">
                  <a:noFill/>
                </a14:hiddenFill>
              </a:ext>
            </a:extLst>
          </p:spPr>
        </p:cxnSp>
        <p:sp>
          <p:nvSpPr>
            <p:cNvPr id="50" name="TextBox 9">
              <a:extLst>
                <a:ext uri="{FF2B5EF4-FFF2-40B4-BE49-F238E27FC236}">
                  <a16:creationId xmlns:a16="http://schemas.microsoft.com/office/drawing/2014/main" id="{D3843B9A-C593-8DB7-1313-8D037CBD1824}"/>
                </a:ext>
              </a:extLst>
            </p:cNvPr>
            <p:cNvSpPr txBox="1">
              <a:spLocks noChangeArrowheads="1"/>
            </p:cNvSpPr>
            <p:nvPr/>
          </p:nvSpPr>
          <p:spPr bwMode="auto">
            <a:xfrm>
              <a:off x="6822958" y="5037522"/>
              <a:ext cx="681597"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dirty="0">
                  <a:solidFill>
                    <a:schemeClr val="tx1"/>
                  </a:solidFill>
                  <a:latin typeface="+mn-lt"/>
                </a:rPr>
                <a:t>Ease</a:t>
              </a:r>
            </a:p>
          </p:txBody>
        </p:sp>
        <p:sp>
          <p:nvSpPr>
            <p:cNvPr id="51" name="TextBox 10">
              <a:extLst>
                <a:ext uri="{FF2B5EF4-FFF2-40B4-BE49-F238E27FC236}">
                  <a16:creationId xmlns:a16="http://schemas.microsoft.com/office/drawing/2014/main" id="{861940D8-D950-3DD5-951D-92FAD58D7D94}"/>
                </a:ext>
              </a:extLst>
            </p:cNvPr>
            <p:cNvSpPr txBox="1">
              <a:spLocks noChangeArrowheads="1"/>
            </p:cNvSpPr>
            <p:nvPr/>
          </p:nvSpPr>
          <p:spPr bwMode="auto">
            <a:xfrm>
              <a:off x="5809439" y="4757123"/>
              <a:ext cx="2640466"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dirty="0">
                  <a:solidFill>
                    <a:schemeClr val="tx1"/>
                  </a:solidFill>
                  <a:latin typeface="+mn-lt"/>
                </a:rPr>
                <a:t>High          Med         Low</a:t>
              </a:r>
            </a:p>
          </p:txBody>
        </p:sp>
        <p:sp>
          <p:nvSpPr>
            <p:cNvPr id="52" name="TextBox 11">
              <a:extLst>
                <a:ext uri="{FF2B5EF4-FFF2-40B4-BE49-F238E27FC236}">
                  <a16:creationId xmlns:a16="http://schemas.microsoft.com/office/drawing/2014/main" id="{A247A98C-4D05-A2C4-7D44-025B6F6C855D}"/>
                </a:ext>
              </a:extLst>
            </p:cNvPr>
            <p:cNvSpPr txBox="1">
              <a:spLocks noChangeArrowheads="1"/>
            </p:cNvSpPr>
            <p:nvPr/>
          </p:nvSpPr>
          <p:spPr bwMode="auto">
            <a:xfrm rot="16200000">
              <a:off x="4542822" y="3209186"/>
              <a:ext cx="8994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dirty="0">
                  <a:solidFill>
                    <a:schemeClr val="tx1"/>
                  </a:solidFill>
                  <a:latin typeface="+mn-lt"/>
                </a:rPr>
                <a:t>Impact</a:t>
              </a:r>
            </a:p>
          </p:txBody>
        </p:sp>
        <p:sp>
          <p:nvSpPr>
            <p:cNvPr id="53" name="TextBox 12">
              <a:extLst>
                <a:ext uri="{FF2B5EF4-FFF2-40B4-BE49-F238E27FC236}">
                  <a16:creationId xmlns:a16="http://schemas.microsoft.com/office/drawing/2014/main" id="{002E9187-EABB-CA28-7170-BC7C7A43762D}"/>
                </a:ext>
              </a:extLst>
            </p:cNvPr>
            <p:cNvSpPr txBox="1">
              <a:spLocks noChangeArrowheads="1"/>
            </p:cNvSpPr>
            <p:nvPr/>
          </p:nvSpPr>
          <p:spPr bwMode="auto">
            <a:xfrm>
              <a:off x="5104769" y="2142854"/>
              <a:ext cx="662361" cy="2584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bg1"/>
                  </a:solidFill>
                  <a:latin typeface="Arial" pitchFamily="34" charset="0"/>
                </a:defRPr>
              </a:lvl1pPr>
              <a:lvl2pPr marL="742950" indent="-285750">
                <a:defRPr sz="1200">
                  <a:solidFill>
                    <a:schemeClr val="bg1"/>
                  </a:solidFill>
                  <a:latin typeface="Arial" pitchFamily="34" charset="0"/>
                </a:defRPr>
              </a:lvl2pPr>
              <a:lvl3pPr marL="1143000" indent="-228600">
                <a:defRPr sz="1200">
                  <a:solidFill>
                    <a:schemeClr val="bg1"/>
                  </a:solidFill>
                  <a:latin typeface="Arial" pitchFamily="34" charset="0"/>
                </a:defRPr>
              </a:lvl3pPr>
              <a:lvl4pPr marL="1600200" indent="-228600">
                <a:defRPr sz="1200">
                  <a:solidFill>
                    <a:schemeClr val="bg1"/>
                  </a:solidFill>
                  <a:latin typeface="Arial" pitchFamily="34" charset="0"/>
                </a:defRPr>
              </a:lvl4pPr>
              <a:lvl5pPr marL="2057400" indent="-228600">
                <a:defRPr sz="1200">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1200">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1200">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1200">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1200">
                  <a:solidFill>
                    <a:schemeClr val="bg1"/>
                  </a:solidFill>
                  <a:latin typeface="Arial" pitchFamily="34" charset="0"/>
                </a:defRPr>
              </a:lvl9pPr>
            </a:lstStyle>
            <a:p>
              <a:r>
                <a:rPr lang="en-GB" sz="1800" dirty="0">
                  <a:solidFill>
                    <a:schemeClr val="tx1"/>
                  </a:solidFill>
                  <a:latin typeface="+mn-lt"/>
                </a:rPr>
                <a:t>High</a:t>
              </a:r>
            </a:p>
            <a:p>
              <a:endParaRPr lang="en-GB" sz="1800" dirty="0">
                <a:solidFill>
                  <a:schemeClr val="tx1"/>
                </a:solidFill>
                <a:latin typeface="+mn-lt"/>
              </a:endParaRPr>
            </a:p>
            <a:p>
              <a:endParaRPr lang="en-GB" sz="1800" dirty="0">
                <a:solidFill>
                  <a:schemeClr val="tx1"/>
                </a:solidFill>
                <a:latin typeface="+mn-lt"/>
              </a:endParaRPr>
            </a:p>
            <a:p>
              <a:endParaRPr lang="en-GB" sz="1800" dirty="0">
                <a:solidFill>
                  <a:schemeClr val="tx1"/>
                </a:solidFill>
                <a:latin typeface="+mn-lt"/>
              </a:endParaRPr>
            </a:p>
            <a:p>
              <a:r>
                <a:rPr lang="en-GB" sz="1800" dirty="0">
                  <a:solidFill>
                    <a:schemeClr val="tx1"/>
                  </a:solidFill>
                  <a:latin typeface="+mn-lt"/>
                </a:rPr>
                <a:t>Med</a:t>
              </a:r>
            </a:p>
            <a:p>
              <a:endParaRPr lang="en-GB" sz="1800" dirty="0">
                <a:solidFill>
                  <a:schemeClr val="tx1"/>
                </a:solidFill>
                <a:latin typeface="+mn-lt"/>
              </a:endParaRPr>
            </a:p>
            <a:p>
              <a:endParaRPr lang="en-GB" sz="1800" dirty="0">
                <a:solidFill>
                  <a:schemeClr val="tx1"/>
                </a:solidFill>
                <a:latin typeface="+mn-lt"/>
              </a:endParaRPr>
            </a:p>
            <a:p>
              <a:endParaRPr lang="en-GB" sz="1800" dirty="0">
                <a:solidFill>
                  <a:schemeClr val="tx1"/>
                </a:solidFill>
                <a:latin typeface="+mn-lt"/>
              </a:endParaRPr>
            </a:p>
            <a:p>
              <a:r>
                <a:rPr lang="en-GB" sz="1800" dirty="0">
                  <a:solidFill>
                    <a:schemeClr val="tx1"/>
                  </a:solidFill>
                  <a:latin typeface="+mn-lt"/>
                </a:rPr>
                <a:t>Low</a:t>
              </a:r>
            </a:p>
          </p:txBody>
        </p:sp>
        <p:sp>
          <p:nvSpPr>
            <p:cNvPr id="54" name="Rectangle 76">
              <a:extLst>
                <a:ext uri="{FF2B5EF4-FFF2-40B4-BE49-F238E27FC236}">
                  <a16:creationId xmlns:a16="http://schemas.microsoft.com/office/drawing/2014/main" id="{2C31A1ED-1B34-28C6-859D-E851994E4EC2}"/>
                </a:ext>
              </a:extLst>
            </p:cNvPr>
            <p:cNvSpPr>
              <a:spLocks noChangeArrowheads="1"/>
            </p:cNvSpPr>
            <p:nvPr/>
          </p:nvSpPr>
          <p:spPr bwMode="auto">
            <a:xfrm>
              <a:off x="7809545" y="3960650"/>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5</a:t>
              </a:r>
            </a:p>
          </p:txBody>
        </p:sp>
        <p:sp>
          <p:nvSpPr>
            <p:cNvPr id="55" name="Rectangle 76">
              <a:extLst>
                <a:ext uri="{FF2B5EF4-FFF2-40B4-BE49-F238E27FC236}">
                  <a16:creationId xmlns:a16="http://schemas.microsoft.com/office/drawing/2014/main" id="{94606833-D71F-874B-86AE-F2A43C8D8049}"/>
                </a:ext>
              </a:extLst>
            </p:cNvPr>
            <p:cNvSpPr>
              <a:spLocks noChangeArrowheads="1"/>
            </p:cNvSpPr>
            <p:nvPr/>
          </p:nvSpPr>
          <p:spPr bwMode="auto">
            <a:xfrm>
              <a:off x="5809439" y="3845269"/>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4</a:t>
              </a:r>
            </a:p>
          </p:txBody>
        </p:sp>
        <p:sp>
          <p:nvSpPr>
            <p:cNvPr id="56" name="Rectangle 76">
              <a:extLst>
                <a:ext uri="{FF2B5EF4-FFF2-40B4-BE49-F238E27FC236}">
                  <a16:creationId xmlns:a16="http://schemas.microsoft.com/office/drawing/2014/main" id="{91E81AF4-91AA-6158-CE26-F3574626F0E8}"/>
                </a:ext>
              </a:extLst>
            </p:cNvPr>
            <p:cNvSpPr>
              <a:spLocks noChangeArrowheads="1"/>
            </p:cNvSpPr>
            <p:nvPr/>
          </p:nvSpPr>
          <p:spPr bwMode="auto">
            <a:xfrm>
              <a:off x="7971870" y="2389410"/>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6</a:t>
              </a:r>
            </a:p>
          </p:txBody>
        </p:sp>
        <p:sp>
          <p:nvSpPr>
            <p:cNvPr id="57" name="Rectangle 76">
              <a:extLst>
                <a:ext uri="{FF2B5EF4-FFF2-40B4-BE49-F238E27FC236}">
                  <a16:creationId xmlns:a16="http://schemas.microsoft.com/office/drawing/2014/main" id="{1EF0C905-FCE5-1033-84FD-78F9E759BFE7}"/>
                </a:ext>
              </a:extLst>
            </p:cNvPr>
            <p:cNvSpPr>
              <a:spLocks noChangeArrowheads="1"/>
            </p:cNvSpPr>
            <p:nvPr/>
          </p:nvSpPr>
          <p:spPr bwMode="auto">
            <a:xfrm>
              <a:off x="7187350" y="3729889"/>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1</a:t>
              </a:r>
            </a:p>
          </p:txBody>
        </p:sp>
        <p:sp>
          <p:nvSpPr>
            <p:cNvPr id="58" name="Rectangle 76">
              <a:extLst>
                <a:ext uri="{FF2B5EF4-FFF2-40B4-BE49-F238E27FC236}">
                  <a16:creationId xmlns:a16="http://schemas.microsoft.com/office/drawing/2014/main" id="{0A02B01E-849D-0840-40A9-882EB4B2DB04}"/>
                </a:ext>
              </a:extLst>
            </p:cNvPr>
            <p:cNvSpPr>
              <a:spLocks noChangeArrowheads="1"/>
            </p:cNvSpPr>
            <p:nvPr/>
          </p:nvSpPr>
          <p:spPr bwMode="auto">
            <a:xfrm>
              <a:off x="6418283" y="2968137"/>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7</a:t>
              </a:r>
            </a:p>
          </p:txBody>
        </p:sp>
        <p:sp>
          <p:nvSpPr>
            <p:cNvPr id="59" name="Rectangle 76">
              <a:extLst>
                <a:ext uri="{FF2B5EF4-FFF2-40B4-BE49-F238E27FC236}">
                  <a16:creationId xmlns:a16="http://schemas.microsoft.com/office/drawing/2014/main" id="{E550830F-E8AF-0C51-474D-0E2CA6CFA572}"/>
                </a:ext>
              </a:extLst>
            </p:cNvPr>
            <p:cNvSpPr>
              <a:spLocks noChangeArrowheads="1"/>
            </p:cNvSpPr>
            <p:nvPr/>
          </p:nvSpPr>
          <p:spPr bwMode="auto">
            <a:xfrm>
              <a:off x="6380441" y="2244654"/>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3</a:t>
              </a:r>
            </a:p>
          </p:txBody>
        </p:sp>
        <p:sp>
          <p:nvSpPr>
            <p:cNvPr id="60" name="Rectangle 76">
              <a:extLst>
                <a:ext uri="{FF2B5EF4-FFF2-40B4-BE49-F238E27FC236}">
                  <a16:creationId xmlns:a16="http://schemas.microsoft.com/office/drawing/2014/main" id="{D9B09C30-1E5C-4FF0-4C2C-C538EA54C7F2}"/>
                </a:ext>
              </a:extLst>
            </p:cNvPr>
            <p:cNvSpPr>
              <a:spLocks noChangeArrowheads="1"/>
            </p:cNvSpPr>
            <p:nvPr/>
          </p:nvSpPr>
          <p:spPr bwMode="auto">
            <a:xfrm>
              <a:off x="7934325" y="2964465"/>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8</a:t>
              </a:r>
            </a:p>
          </p:txBody>
        </p:sp>
        <p:sp>
          <p:nvSpPr>
            <p:cNvPr id="61" name="Rectangle 76">
              <a:extLst>
                <a:ext uri="{FF2B5EF4-FFF2-40B4-BE49-F238E27FC236}">
                  <a16:creationId xmlns:a16="http://schemas.microsoft.com/office/drawing/2014/main" id="{341B60A5-F4D8-4966-7293-90EE04848932}"/>
                </a:ext>
              </a:extLst>
            </p:cNvPr>
            <p:cNvSpPr>
              <a:spLocks noChangeArrowheads="1"/>
            </p:cNvSpPr>
            <p:nvPr/>
          </p:nvSpPr>
          <p:spPr bwMode="auto">
            <a:xfrm>
              <a:off x="7790895" y="2244655"/>
              <a:ext cx="262492" cy="230761"/>
            </a:xfrm>
            <a:prstGeom prst="rect">
              <a:avLst/>
            </a:prstGeom>
            <a:solidFill>
              <a:schemeClr val="accent2"/>
            </a:solidFill>
            <a:ln w="12700" cap="sq" algn="ctr">
              <a:solidFill>
                <a:schemeClr val="tx1"/>
              </a:solidFill>
              <a:miter lim="800000"/>
              <a:headEnd/>
              <a:tailEnd/>
            </a:ln>
          </p:spPr>
          <p:txBody>
            <a:bodyPr wrap="none" lIns="0" tIns="0" rIns="0" bIns="0" anchor="ctr"/>
            <a:lstStyle/>
            <a:p>
              <a:pPr algn="ctr"/>
              <a:r>
                <a:rPr lang="en-US" dirty="0">
                  <a:solidFill>
                    <a:schemeClr val="tx1"/>
                  </a:solidFill>
                </a:rPr>
                <a:t>2</a:t>
              </a:r>
            </a:p>
          </p:txBody>
        </p:sp>
      </p:grpSp>
    </p:spTree>
    <p:extLst>
      <p:ext uri="{BB962C8B-B14F-4D97-AF65-F5344CB8AC3E}">
        <p14:creationId xmlns:p14="http://schemas.microsoft.com/office/powerpoint/2010/main" val="37426454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4000" dirty="0"/>
              <a:t>Technical vs Economic Evaluation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83</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Evaluation of Alternatives</a:t>
              </a:r>
            </a:p>
          </p:txBody>
        </p:sp>
      </p:grpSp>
      <p:graphicFrame>
        <p:nvGraphicFramePr>
          <p:cNvPr id="13" name="Table 12">
            <a:extLst>
              <a:ext uri="{FF2B5EF4-FFF2-40B4-BE49-F238E27FC236}">
                <a16:creationId xmlns:a16="http://schemas.microsoft.com/office/drawing/2014/main" id="{32C1CD56-87A9-40A0-B00F-0D5E44271C2E}"/>
              </a:ext>
            </a:extLst>
          </p:cNvPr>
          <p:cNvGraphicFramePr>
            <a:graphicFrameLocks noGrp="1"/>
          </p:cNvGraphicFramePr>
          <p:nvPr>
            <p:extLst>
              <p:ext uri="{D42A27DB-BD31-4B8C-83A1-F6EECF244321}">
                <p14:modId xmlns:p14="http://schemas.microsoft.com/office/powerpoint/2010/main" val="593809549"/>
              </p:ext>
            </p:extLst>
          </p:nvPr>
        </p:nvGraphicFramePr>
        <p:xfrm>
          <a:off x="2092901" y="2077117"/>
          <a:ext cx="3071814" cy="1916107"/>
        </p:xfrm>
        <a:graphic>
          <a:graphicData uri="http://schemas.openxmlformats.org/drawingml/2006/table">
            <a:tbl>
              <a:tblPr firstRow="1" bandRow="1">
                <a:tableStyleId>{5C22544A-7EE6-4342-B048-85BDC9FD1C3A}</a:tableStyleId>
              </a:tblPr>
              <a:tblGrid>
                <a:gridCol w="1023939">
                  <a:extLst>
                    <a:ext uri="{9D8B030D-6E8A-4147-A177-3AD203B41FA5}">
                      <a16:colId xmlns:a16="http://schemas.microsoft.com/office/drawing/2014/main" val="20000"/>
                    </a:ext>
                  </a:extLst>
                </a:gridCol>
                <a:gridCol w="409575">
                  <a:extLst>
                    <a:ext uri="{9D8B030D-6E8A-4147-A177-3AD203B41FA5}">
                      <a16:colId xmlns:a16="http://schemas.microsoft.com/office/drawing/2014/main" val="20001"/>
                    </a:ext>
                  </a:extLst>
                </a:gridCol>
                <a:gridCol w="409575">
                  <a:extLst>
                    <a:ext uri="{9D8B030D-6E8A-4147-A177-3AD203B41FA5}">
                      <a16:colId xmlns:a16="http://schemas.microsoft.com/office/drawing/2014/main" val="20002"/>
                    </a:ext>
                  </a:extLst>
                </a:gridCol>
                <a:gridCol w="409575">
                  <a:extLst>
                    <a:ext uri="{9D8B030D-6E8A-4147-A177-3AD203B41FA5}">
                      <a16:colId xmlns:a16="http://schemas.microsoft.com/office/drawing/2014/main" val="20003"/>
                    </a:ext>
                  </a:extLst>
                </a:gridCol>
                <a:gridCol w="409575">
                  <a:extLst>
                    <a:ext uri="{9D8B030D-6E8A-4147-A177-3AD203B41FA5}">
                      <a16:colId xmlns:a16="http://schemas.microsoft.com/office/drawing/2014/main" val="20004"/>
                    </a:ext>
                  </a:extLst>
                </a:gridCol>
                <a:gridCol w="409575">
                  <a:extLst>
                    <a:ext uri="{9D8B030D-6E8A-4147-A177-3AD203B41FA5}">
                      <a16:colId xmlns:a16="http://schemas.microsoft.com/office/drawing/2014/main" val="20005"/>
                    </a:ext>
                  </a:extLst>
                </a:gridCol>
              </a:tblGrid>
              <a:tr h="320274">
                <a:tc>
                  <a:txBody>
                    <a:bodyPr/>
                    <a:lstStyle/>
                    <a:p>
                      <a:r>
                        <a:rPr lang="en-GB" sz="1100" dirty="0"/>
                        <a:t>Tech Criteria</a:t>
                      </a:r>
                    </a:p>
                  </a:txBody>
                  <a:tcPr marL="33799" marR="33799" marT="42913" marB="42913"/>
                </a:tc>
                <a:tc>
                  <a:txBody>
                    <a:bodyPr/>
                    <a:lstStyle/>
                    <a:p>
                      <a:pPr algn="ctr"/>
                      <a:r>
                        <a:rPr lang="en-GB" sz="1100" dirty="0"/>
                        <a:t>1</a:t>
                      </a:r>
                    </a:p>
                  </a:txBody>
                  <a:tcPr marL="33799" marR="33799" marT="42913" marB="42913" anchor="ctr"/>
                </a:tc>
                <a:tc>
                  <a:txBody>
                    <a:bodyPr/>
                    <a:lstStyle/>
                    <a:p>
                      <a:pPr algn="ctr"/>
                      <a:r>
                        <a:rPr lang="en-GB" sz="1100" dirty="0"/>
                        <a:t>2</a:t>
                      </a:r>
                    </a:p>
                  </a:txBody>
                  <a:tcPr marL="33799" marR="33799" marT="42913" marB="42913" anchor="ctr"/>
                </a:tc>
                <a:tc>
                  <a:txBody>
                    <a:bodyPr/>
                    <a:lstStyle/>
                    <a:p>
                      <a:pPr algn="ctr"/>
                      <a:r>
                        <a:rPr lang="en-GB" sz="1100" dirty="0"/>
                        <a:t>3</a:t>
                      </a:r>
                    </a:p>
                  </a:txBody>
                  <a:tcPr marL="33799" marR="33799" marT="42913" marB="42913" anchor="ctr"/>
                </a:tc>
                <a:tc>
                  <a:txBody>
                    <a:bodyPr/>
                    <a:lstStyle/>
                    <a:p>
                      <a:pPr algn="ctr"/>
                      <a:r>
                        <a:rPr lang="en-GB" sz="1100" dirty="0"/>
                        <a:t>4</a:t>
                      </a:r>
                    </a:p>
                  </a:txBody>
                  <a:tcPr marL="33799" marR="33799" marT="42913" marB="42913" anchor="ctr"/>
                </a:tc>
                <a:tc>
                  <a:txBody>
                    <a:bodyPr/>
                    <a:lstStyle/>
                    <a:p>
                      <a:pPr algn="ctr"/>
                      <a:r>
                        <a:rPr lang="en-GB" sz="1100" dirty="0"/>
                        <a:t>5</a:t>
                      </a:r>
                    </a:p>
                  </a:txBody>
                  <a:tcPr marL="33799" marR="33799" marT="42913" marB="42913" anchor="ctr"/>
                </a:tc>
                <a:extLst>
                  <a:ext uri="{0D108BD9-81ED-4DB2-BD59-A6C34878D82A}">
                    <a16:rowId xmlns:a16="http://schemas.microsoft.com/office/drawing/2014/main" val="10000"/>
                  </a:ext>
                </a:extLst>
              </a:tr>
              <a:tr h="320274">
                <a:tc>
                  <a:txBody>
                    <a:bodyPr/>
                    <a:lstStyle/>
                    <a:p>
                      <a:r>
                        <a:rPr lang="en-GB" sz="1100" dirty="0"/>
                        <a:t>Performance</a:t>
                      </a:r>
                    </a:p>
                  </a:txBody>
                  <a:tcPr marL="33799" marR="33799" marT="42913" marB="42913" anchor="ctr">
                    <a:solidFill>
                      <a:schemeClr val="bg2"/>
                    </a:solidFill>
                  </a:tcPr>
                </a:tc>
                <a:tc>
                  <a:txBody>
                    <a:bodyPr/>
                    <a:lstStyle/>
                    <a:p>
                      <a:pPr algn="ctr"/>
                      <a:r>
                        <a:rPr lang="en-GB" sz="1100" dirty="0"/>
                        <a:t>9</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tc>
                  <a:txBody>
                    <a:bodyPr/>
                    <a:lstStyle/>
                    <a:p>
                      <a:pPr algn="ctr"/>
                      <a:r>
                        <a:rPr lang="en-GB" sz="1100" dirty="0"/>
                        <a:t>9</a:t>
                      </a:r>
                    </a:p>
                  </a:txBody>
                  <a:tcPr marL="33799" marR="33799" marT="42913" marB="42913" anchor="ctr">
                    <a:solidFill>
                      <a:schemeClr val="bg2"/>
                    </a:solidFill>
                  </a:tcPr>
                </a:tc>
                <a:tc>
                  <a:txBody>
                    <a:bodyPr/>
                    <a:lstStyle/>
                    <a:p>
                      <a:pPr algn="ctr"/>
                      <a:r>
                        <a:rPr lang="en-GB" sz="1100" dirty="0"/>
                        <a:t>1</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extLst>
                  <a:ext uri="{0D108BD9-81ED-4DB2-BD59-A6C34878D82A}">
                    <a16:rowId xmlns:a16="http://schemas.microsoft.com/office/drawing/2014/main" val="10001"/>
                  </a:ext>
                </a:extLst>
              </a:tr>
              <a:tr h="217635">
                <a:tc>
                  <a:txBody>
                    <a:bodyPr/>
                    <a:lstStyle/>
                    <a:p>
                      <a:r>
                        <a:rPr lang="en-GB" sz="1100" dirty="0"/>
                        <a:t>Quality</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tc>
                  <a:txBody>
                    <a:bodyPr/>
                    <a:lstStyle/>
                    <a:p>
                      <a:pPr algn="ctr"/>
                      <a:r>
                        <a:rPr lang="en-GB" sz="1100" dirty="0"/>
                        <a:t>9</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tc>
                  <a:txBody>
                    <a:bodyPr/>
                    <a:lstStyle/>
                    <a:p>
                      <a:pPr algn="ctr"/>
                      <a:r>
                        <a:rPr lang="en-GB" sz="1100" dirty="0"/>
                        <a:t>9</a:t>
                      </a:r>
                    </a:p>
                  </a:txBody>
                  <a:tcPr marL="33799" marR="33799" marT="42913" marB="42913" anchor="ctr">
                    <a:solidFill>
                      <a:schemeClr val="bg2"/>
                    </a:solidFill>
                  </a:tcPr>
                </a:tc>
                <a:extLst>
                  <a:ext uri="{0D108BD9-81ED-4DB2-BD59-A6C34878D82A}">
                    <a16:rowId xmlns:a16="http://schemas.microsoft.com/office/drawing/2014/main" val="10002"/>
                  </a:ext>
                </a:extLst>
              </a:tr>
              <a:tr h="217635">
                <a:tc>
                  <a:txBody>
                    <a:bodyPr/>
                    <a:lstStyle/>
                    <a:p>
                      <a:r>
                        <a:rPr lang="en-GB" sz="1100" dirty="0"/>
                        <a:t>Safety</a:t>
                      </a:r>
                    </a:p>
                  </a:txBody>
                  <a:tcPr marL="33799" marR="33799" marT="42913" marB="42913" anchor="ctr">
                    <a:solidFill>
                      <a:schemeClr val="bg2"/>
                    </a:solidFill>
                  </a:tcPr>
                </a:tc>
                <a:tc>
                  <a:txBody>
                    <a:bodyPr/>
                    <a:lstStyle/>
                    <a:p>
                      <a:pPr algn="ctr"/>
                      <a:r>
                        <a:rPr lang="en-GB" sz="1100" dirty="0"/>
                        <a:t>9</a:t>
                      </a:r>
                    </a:p>
                  </a:txBody>
                  <a:tcPr marL="33799" marR="33799" marT="42913" marB="42913" anchor="ctr">
                    <a:solidFill>
                      <a:schemeClr val="bg2"/>
                    </a:solidFill>
                  </a:tcPr>
                </a:tc>
                <a:tc>
                  <a:txBody>
                    <a:bodyPr/>
                    <a:lstStyle/>
                    <a:p>
                      <a:pPr algn="ctr"/>
                      <a:r>
                        <a:rPr lang="en-GB" sz="1100" dirty="0"/>
                        <a:t>1</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tc>
                  <a:txBody>
                    <a:bodyPr/>
                    <a:lstStyle/>
                    <a:p>
                      <a:pPr algn="ctr"/>
                      <a:r>
                        <a:rPr lang="en-GB" sz="1100" dirty="0"/>
                        <a:t>1</a:t>
                      </a:r>
                    </a:p>
                  </a:txBody>
                  <a:tcPr marL="33799" marR="33799" marT="42913" marB="42913" anchor="ctr">
                    <a:solidFill>
                      <a:schemeClr val="bg2"/>
                    </a:solidFill>
                  </a:tcPr>
                </a:tc>
                <a:tc>
                  <a:txBody>
                    <a:bodyPr/>
                    <a:lstStyle/>
                    <a:p>
                      <a:pPr algn="ctr"/>
                      <a:r>
                        <a:rPr lang="en-GB" sz="1100" dirty="0"/>
                        <a:t>3</a:t>
                      </a:r>
                    </a:p>
                  </a:txBody>
                  <a:tcPr marL="33799" marR="33799" marT="42913" marB="42913" anchor="ctr">
                    <a:solidFill>
                      <a:schemeClr val="bg2"/>
                    </a:solidFill>
                  </a:tcPr>
                </a:tc>
                <a:extLst>
                  <a:ext uri="{0D108BD9-81ED-4DB2-BD59-A6C34878D82A}">
                    <a16:rowId xmlns:a16="http://schemas.microsoft.com/office/drawing/2014/main" val="10003"/>
                  </a:ext>
                </a:extLst>
              </a:tr>
              <a:tr h="448353">
                <a:tc>
                  <a:txBody>
                    <a:bodyPr/>
                    <a:lstStyle/>
                    <a:p>
                      <a:r>
                        <a:rPr lang="en-GB" sz="1100" b="1" dirty="0"/>
                        <a:t>Total (27 max)</a:t>
                      </a:r>
                    </a:p>
                  </a:txBody>
                  <a:tcPr marL="33799" marR="33799" marT="42913" marB="42913" anchor="ctr">
                    <a:solidFill>
                      <a:schemeClr val="bg2"/>
                    </a:solidFill>
                  </a:tcPr>
                </a:tc>
                <a:tc>
                  <a:txBody>
                    <a:bodyPr/>
                    <a:lstStyle/>
                    <a:p>
                      <a:pPr algn="ctr"/>
                      <a:r>
                        <a:rPr lang="en-GB" sz="1100" b="1" dirty="0"/>
                        <a:t>21</a:t>
                      </a:r>
                    </a:p>
                  </a:txBody>
                  <a:tcPr marL="33799" marR="33799" marT="42913" marB="42913" anchor="ctr">
                    <a:solidFill>
                      <a:schemeClr val="bg2"/>
                    </a:solidFill>
                  </a:tcPr>
                </a:tc>
                <a:tc>
                  <a:txBody>
                    <a:bodyPr/>
                    <a:lstStyle/>
                    <a:p>
                      <a:pPr algn="ctr"/>
                      <a:r>
                        <a:rPr lang="en-GB" sz="1100" b="1" dirty="0"/>
                        <a:t>13</a:t>
                      </a:r>
                    </a:p>
                  </a:txBody>
                  <a:tcPr marL="33799" marR="33799" marT="42913" marB="42913" anchor="ctr">
                    <a:solidFill>
                      <a:schemeClr val="bg2"/>
                    </a:solidFill>
                  </a:tcPr>
                </a:tc>
                <a:tc>
                  <a:txBody>
                    <a:bodyPr/>
                    <a:lstStyle/>
                    <a:p>
                      <a:pPr algn="ctr"/>
                      <a:r>
                        <a:rPr lang="en-GB" sz="1100" b="1" dirty="0"/>
                        <a:t>15</a:t>
                      </a:r>
                    </a:p>
                  </a:txBody>
                  <a:tcPr marL="33799" marR="33799" marT="42913" marB="42913" anchor="ctr">
                    <a:solidFill>
                      <a:schemeClr val="bg2"/>
                    </a:solidFill>
                  </a:tcPr>
                </a:tc>
                <a:tc>
                  <a:txBody>
                    <a:bodyPr/>
                    <a:lstStyle/>
                    <a:p>
                      <a:pPr algn="ctr"/>
                      <a:r>
                        <a:rPr lang="en-GB" sz="1100" b="1" dirty="0"/>
                        <a:t>5</a:t>
                      </a:r>
                    </a:p>
                  </a:txBody>
                  <a:tcPr marL="33799" marR="33799" marT="42913" marB="42913" anchor="ctr">
                    <a:solidFill>
                      <a:schemeClr val="bg2"/>
                    </a:solidFill>
                  </a:tcPr>
                </a:tc>
                <a:tc>
                  <a:txBody>
                    <a:bodyPr/>
                    <a:lstStyle/>
                    <a:p>
                      <a:pPr algn="ctr"/>
                      <a:r>
                        <a:rPr lang="en-GB" sz="1100" b="1" dirty="0"/>
                        <a:t>15</a:t>
                      </a:r>
                    </a:p>
                  </a:txBody>
                  <a:tcPr marL="33799" marR="33799" marT="42913" marB="42913" anchor="ctr">
                    <a:solidFill>
                      <a:schemeClr val="bg2"/>
                    </a:solidFill>
                  </a:tcPr>
                </a:tc>
                <a:extLst>
                  <a:ext uri="{0D108BD9-81ED-4DB2-BD59-A6C34878D82A}">
                    <a16:rowId xmlns:a16="http://schemas.microsoft.com/office/drawing/2014/main" val="10004"/>
                  </a:ext>
                </a:extLst>
              </a:tr>
              <a:tr h="320274">
                <a:tc>
                  <a:txBody>
                    <a:bodyPr/>
                    <a:lstStyle/>
                    <a:p>
                      <a:r>
                        <a:rPr lang="en-GB" sz="1100" b="1" dirty="0"/>
                        <a:t>Rt</a:t>
                      </a:r>
                      <a:r>
                        <a:rPr lang="en-GB" sz="1100" b="1" baseline="0" dirty="0"/>
                        <a:t> = Total/27</a:t>
                      </a:r>
                      <a:endParaRPr lang="en-GB" sz="1100" b="1" dirty="0"/>
                    </a:p>
                  </a:txBody>
                  <a:tcPr marL="33799" marR="33799" marT="42913" marB="42913" anchor="ctr">
                    <a:solidFill>
                      <a:schemeClr val="bg2"/>
                    </a:solidFill>
                  </a:tcPr>
                </a:tc>
                <a:tc>
                  <a:txBody>
                    <a:bodyPr/>
                    <a:lstStyle/>
                    <a:p>
                      <a:pPr algn="ctr"/>
                      <a:r>
                        <a:rPr lang="en-GB" sz="1100" b="1" dirty="0"/>
                        <a:t>0.77</a:t>
                      </a:r>
                    </a:p>
                  </a:txBody>
                  <a:tcPr marL="33799" marR="33799" marT="42913" marB="42913" anchor="ctr">
                    <a:solidFill>
                      <a:schemeClr val="bg2"/>
                    </a:solidFill>
                  </a:tcPr>
                </a:tc>
                <a:tc>
                  <a:txBody>
                    <a:bodyPr/>
                    <a:lstStyle/>
                    <a:p>
                      <a:pPr algn="ctr"/>
                      <a:r>
                        <a:rPr lang="en-GB" sz="1100" b="1" dirty="0"/>
                        <a:t>0.48</a:t>
                      </a:r>
                    </a:p>
                  </a:txBody>
                  <a:tcPr marL="33799" marR="33799" marT="42913" marB="42913" anchor="ctr">
                    <a:solidFill>
                      <a:schemeClr val="bg2"/>
                    </a:solidFill>
                  </a:tcPr>
                </a:tc>
                <a:tc>
                  <a:txBody>
                    <a:bodyPr/>
                    <a:lstStyle/>
                    <a:p>
                      <a:pPr algn="ctr"/>
                      <a:r>
                        <a:rPr lang="en-GB" sz="1100" b="1" dirty="0"/>
                        <a:t>0.56</a:t>
                      </a:r>
                    </a:p>
                  </a:txBody>
                  <a:tcPr marL="33799" marR="33799" marT="42913" marB="42913" anchor="ctr">
                    <a:solidFill>
                      <a:schemeClr val="bg2"/>
                    </a:solidFill>
                  </a:tcPr>
                </a:tc>
                <a:tc>
                  <a:txBody>
                    <a:bodyPr/>
                    <a:lstStyle/>
                    <a:p>
                      <a:pPr algn="ctr"/>
                      <a:r>
                        <a:rPr lang="en-GB" sz="1100" b="1" dirty="0"/>
                        <a:t>0.19</a:t>
                      </a:r>
                    </a:p>
                  </a:txBody>
                  <a:tcPr marL="33799" marR="33799" marT="42913" marB="42913" anchor="ctr">
                    <a:solidFill>
                      <a:schemeClr val="bg2"/>
                    </a:solidFill>
                  </a:tcPr>
                </a:tc>
                <a:tc>
                  <a:txBody>
                    <a:bodyPr/>
                    <a:lstStyle/>
                    <a:p>
                      <a:pPr algn="ctr"/>
                      <a:r>
                        <a:rPr lang="en-GB" sz="1100" b="1" dirty="0"/>
                        <a:t>0.56</a:t>
                      </a:r>
                    </a:p>
                  </a:txBody>
                  <a:tcPr marL="33799" marR="33799" marT="42913" marB="42913" anchor="ctr">
                    <a:solidFill>
                      <a:schemeClr val="bg2"/>
                    </a:solidFill>
                  </a:tcPr>
                </a:tc>
                <a:extLst>
                  <a:ext uri="{0D108BD9-81ED-4DB2-BD59-A6C34878D82A}">
                    <a16:rowId xmlns:a16="http://schemas.microsoft.com/office/drawing/2014/main" val="10005"/>
                  </a:ext>
                </a:extLst>
              </a:tr>
            </a:tbl>
          </a:graphicData>
        </a:graphic>
      </p:graphicFrame>
      <p:graphicFrame>
        <p:nvGraphicFramePr>
          <p:cNvPr id="64" name="Table 63">
            <a:extLst>
              <a:ext uri="{FF2B5EF4-FFF2-40B4-BE49-F238E27FC236}">
                <a16:creationId xmlns:a16="http://schemas.microsoft.com/office/drawing/2014/main" id="{EB7079A9-F3D8-C5BB-38C7-84E7C09B55EB}"/>
              </a:ext>
            </a:extLst>
          </p:cNvPr>
          <p:cNvGraphicFramePr>
            <a:graphicFrameLocks noGrp="1"/>
          </p:cNvGraphicFramePr>
          <p:nvPr>
            <p:extLst>
              <p:ext uri="{D42A27DB-BD31-4B8C-83A1-F6EECF244321}">
                <p14:modId xmlns:p14="http://schemas.microsoft.com/office/powerpoint/2010/main" val="2588211611"/>
              </p:ext>
            </p:extLst>
          </p:nvPr>
        </p:nvGraphicFramePr>
        <p:xfrm>
          <a:off x="2092900" y="4157445"/>
          <a:ext cx="3082924" cy="2061459"/>
        </p:xfrm>
        <a:graphic>
          <a:graphicData uri="http://schemas.openxmlformats.org/drawingml/2006/table">
            <a:tbl>
              <a:tblPr firstRow="1" bandRow="1">
                <a:tableStyleId>{5C22544A-7EE6-4342-B048-85BDC9FD1C3A}</a:tableStyleId>
              </a:tblPr>
              <a:tblGrid>
                <a:gridCol w="1027644">
                  <a:extLst>
                    <a:ext uri="{9D8B030D-6E8A-4147-A177-3AD203B41FA5}">
                      <a16:colId xmlns:a16="http://schemas.microsoft.com/office/drawing/2014/main" val="20000"/>
                    </a:ext>
                  </a:extLst>
                </a:gridCol>
                <a:gridCol w="411056">
                  <a:extLst>
                    <a:ext uri="{9D8B030D-6E8A-4147-A177-3AD203B41FA5}">
                      <a16:colId xmlns:a16="http://schemas.microsoft.com/office/drawing/2014/main" val="20001"/>
                    </a:ext>
                  </a:extLst>
                </a:gridCol>
                <a:gridCol w="411056">
                  <a:extLst>
                    <a:ext uri="{9D8B030D-6E8A-4147-A177-3AD203B41FA5}">
                      <a16:colId xmlns:a16="http://schemas.microsoft.com/office/drawing/2014/main" val="20002"/>
                    </a:ext>
                  </a:extLst>
                </a:gridCol>
                <a:gridCol w="411056">
                  <a:extLst>
                    <a:ext uri="{9D8B030D-6E8A-4147-A177-3AD203B41FA5}">
                      <a16:colId xmlns:a16="http://schemas.microsoft.com/office/drawing/2014/main" val="20003"/>
                    </a:ext>
                  </a:extLst>
                </a:gridCol>
                <a:gridCol w="411056">
                  <a:extLst>
                    <a:ext uri="{9D8B030D-6E8A-4147-A177-3AD203B41FA5}">
                      <a16:colId xmlns:a16="http://schemas.microsoft.com/office/drawing/2014/main" val="20004"/>
                    </a:ext>
                  </a:extLst>
                </a:gridCol>
                <a:gridCol w="411056">
                  <a:extLst>
                    <a:ext uri="{9D8B030D-6E8A-4147-A177-3AD203B41FA5}">
                      <a16:colId xmlns:a16="http://schemas.microsoft.com/office/drawing/2014/main" val="20005"/>
                    </a:ext>
                  </a:extLst>
                </a:gridCol>
              </a:tblGrid>
              <a:tr h="209435">
                <a:tc>
                  <a:txBody>
                    <a:bodyPr/>
                    <a:lstStyle/>
                    <a:p>
                      <a:r>
                        <a:rPr lang="en-GB" sz="1100" dirty="0"/>
                        <a:t>Econ Criteria</a:t>
                      </a:r>
                    </a:p>
                  </a:txBody>
                  <a:tcPr marL="33621" marR="33621" marT="42707" marB="42707"/>
                </a:tc>
                <a:tc>
                  <a:txBody>
                    <a:bodyPr/>
                    <a:lstStyle/>
                    <a:p>
                      <a:pPr algn="ctr"/>
                      <a:r>
                        <a:rPr lang="en-GB" sz="1100" dirty="0"/>
                        <a:t>1</a:t>
                      </a:r>
                    </a:p>
                  </a:txBody>
                  <a:tcPr marL="33621" marR="33621" marT="42707" marB="42707" anchor="ctr"/>
                </a:tc>
                <a:tc>
                  <a:txBody>
                    <a:bodyPr/>
                    <a:lstStyle/>
                    <a:p>
                      <a:pPr algn="ctr"/>
                      <a:r>
                        <a:rPr lang="en-GB" sz="1100" dirty="0"/>
                        <a:t>2</a:t>
                      </a:r>
                    </a:p>
                  </a:txBody>
                  <a:tcPr marL="33621" marR="33621" marT="42707" marB="42707" anchor="ctr"/>
                </a:tc>
                <a:tc>
                  <a:txBody>
                    <a:bodyPr/>
                    <a:lstStyle/>
                    <a:p>
                      <a:pPr algn="ctr"/>
                      <a:r>
                        <a:rPr lang="en-GB" sz="1100" dirty="0"/>
                        <a:t>3</a:t>
                      </a:r>
                    </a:p>
                  </a:txBody>
                  <a:tcPr marL="33621" marR="33621" marT="42707" marB="42707" anchor="ctr"/>
                </a:tc>
                <a:tc>
                  <a:txBody>
                    <a:bodyPr/>
                    <a:lstStyle/>
                    <a:p>
                      <a:pPr algn="ctr"/>
                      <a:r>
                        <a:rPr lang="en-GB" sz="1100" dirty="0"/>
                        <a:t>4</a:t>
                      </a:r>
                    </a:p>
                  </a:txBody>
                  <a:tcPr marL="33621" marR="33621" marT="42707" marB="42707" anchor="ctr"/>
                </a:tc>
                <a:tc>
                  <a:txBody>
                    <a:bodyPr/>
                    <a:lstStyle/>
                    <a:p>
                      <a:pPr algn="ctr"/>
                      <a:r>
                        <a:rPr lang="en-GB" sz="1100" dirty="0"/>
                        <a:t>5</a:t>
                      </a:r>
                    </a:p>
                  </a:txBody>
                  <a:tcPr marL="33621" marR="33621" marT="42707" marB="42707" anchor="ctr"/>
                </a:tc>
                <a:extLst>
                  <a:ext uri="{0D108BD9-81ED-4DB2-BD59-A6C34878D82A}">
                    <a16:rowId xmlns:a16="http://schemas.microsoft.com/office/drawing/2014/main" val="10000"/>
                  </a:ext>
                </a:extLst>
              </a:tr>
              <a:tr h="322520">
                <a:tc>
                  <a:txBody>
                    <a:bodyPr/>
                    <a:lstStyle/>
                    <a:p>
                      <a:r>
                        <a:rPr lang="en-GB" sz="1100" dirty="0"/>
                        <a:t>Low cost material</a:t>
                      </a:r>
                    </a:p>
                  </a:txBody>
                  <a:tcPr marL="33621" marR="33621" marT="42707" marB="42707" anchor="ctr">
                    <a:solidFill>
                      <a:schemeClr val="bg2"/>
                    </a:solidFill>
                  </a:tcPr>
                </a:tc>
                <a:tc>
                  <a:txBody>
                    <a:bodyPr/>
                    <a:lstStyle/>
                    <a:p>
                      <a:pPr algn="ctr"/>
                      <a:r>
                        <a:rPr lang="en-GB" sz="1100" dirty="0"/>
                        <a:t>9</a:t>
                      </a:r>
                    </a:p>
                  </a:txBody>
                  <a:tcPr marL="33621" marR="33621" marT="42707" marB="42707" anchor="ctr">
                    <a:solidFill>
                      <a:schemeClr val="bg2"/>
                    </a:solidFill>
                  </a:tcPr>
                </a:tc>
                <a:tc>
                  <a:txBody>
                    <a:bodyPr/>
                    <a:lstStyle/>
                    <a:p>
                      <a:pPr algn="ctr"/>
                      <a:r>
                        <a:rPr lang="en-GB" sz="1100" dirty="0"/>
                        <a:t>3</a:t>
                      </a:r>
                    </a:p>
                  </a:txBody>
                  <a:tcPr marL="33621" marR="33621" marT="42707" marB="42707" anchor="ctr">
                    <a:solidFill>
                      <a:schemeClr val="bg2"/>
                    </a:solidFill>
                  </a:tcPr>
                </a:tc>
                <a:tc>
                  <a:txBody>
                    <a:bodyPr/>
                    <a:lstStyle/>
                    <a:p>
                      <a:pPr algn="ctr"/>
                      <a:r>
                        <a:rPr lang="en-GB" sz="1100" dirty="0"/>
                        <a:t>9</a:t>
                      </a:r>
                    </a:p>
                  </a:txBody>
                  <a:tcPr marL="33621" marR="33621" marT="42707" marB="42707" anchor="ctr">
                    <a:solidFill>
                      <a:schemeClr val="bg2"/>
                    </a:solidFill>
                  </a:tcPr>
                </a:tc>
                <a:tc>
                  <a:txBody>
                    <a:bodyPr/>
                    <a:lstStyle/>
                    <a:p>
                      <a:pPr algn="ctr"/>
                      <a:r>
                        <a:rPr lang="en-GB" sz="1100" dirty="0"/>
                        <a:t>9</a:t>
                      </a:r>
                    </a:p>
                  </a:txBody>
                  <a:tcPr marL="33621" marR="33621" marT="42707" marB="42707" anchor="ctr">
                    <a:solidFill>
                      <a:schemeClr val="bg2"/>
                    </a:solidFill>
                  </a:tcPr>
                </a:tc>
                <a:tc>
                  <a:txBody>
                    <a:bodyPr/>
                    <a:lstStyle/>
                    <a:p>
                      <a:pPr algn="ctr"/>
                      <a:r>
                        <a:rPr lang="en-GB" sz="1100" dirty="0"/>
                        <a:t>9</a:t>
                      </a:r>
                    </a:p>
                  </a:txBody>
                  <a:tcPr marL="33621" marR="33621" marT="42707" marB="42707" anchor="ctr">
                    <a:solidFill>
                      <a:schemeClr val="bg2"/>
                    </a:solidFill>
                  </a:tcPr>
                </a:tc>
                <a:extLst>
                  <a:ext uri="{0D108BD9-81ED-4DB2-BD59-A6C34878D82A}">
                    <a16:rowId xmlns:a16="http://schemas.microsoft.com/office/drawing/2014/main" val="10001"/>
                  </a:ext>
                </a:extLst>
              </a:tr>
              <a:tr h="322520">
                <a:tc>
                  <a:txBody>
                    <a:bodyPr/>
                    <a:lstStyle/>
                    <a:p>
                      <a:r>
                        <a:rPr lang="en-GB" sz="1100" dirty="0"/>
                        <a:t>Low assembly cost</a:t>
                      </a:r>
                    </a:p>
                  </a:txBody>
                  <a:tcPr marL="33621" marR="33621" marT="42707" marB="42707" anchor="ctr">
                    <a:solidFill>
                      <a:schemeClr val="bg2"/>
                    </a:solidFill>
                  </a:tcPr>
                </a:tc>
                <a:tc>
                  <a:txBody>
                    <a:bodyPr/>
                    <a:lstStyle/>
                    <a:p>
                      <a:pPr algn="ctr"/>
                      <a:r>
                        <a:rPr lang="en-GB" sz="1100" dirty="0"/>
                        <a:t>9</a:t>
                      </a:r>
                    </a:p>
                  </a:txBody>
                  <a:tcPr marL="33621" marR="33621" marT="42707" marB="42707" anchor="ctr">
                    <a:solidFill>
                      <a:schemeClr val="bg2"/>
                    </a:solidFill>
                  </a:tcPr>
                </a:tc>
                <a:tc>
                  <a:txBody>
                    <a:bodyPr/>
                    <a:lstStyle/>
                    <a:p>
                      <a:pPr algn="ctr"/>
                      <a:r>
                        <a:rPr lang="en-GB" sz="1100" dirty="0"/>
                        <a:t>1</a:t>
                      </a:r>
                    </a:p>
                  </a:txBody>
                  <a:tcPr marL="33621" marR="33621" marT="42707" marB="42707" anchor="ctr">
                    <a:solidFill>
                      <a:schemeClr val="bg2"/>
                    </a:solidFill>
                  </a:tcPr>
                </a:tc>
                <a:tc>
                  <a:txBody>
                    <a:bodyPr/>
                    <a:lstStyle/>
                    <a:p>
                      <a:pPr algn="ctr"/>
                      <a:r>
                        <a:rPr lang="en-GB" sz="1100" dirty="0"/>
                        <a:t>3</a:t>
                      </a:r>
                    </a:p>
                  </a:txBody>
                  <a:tcPr marL="33621" marR="33621" marT="42707" marB="42707" anchor="ctr">
                    <a:solidFill>
                      <a:schemeClr val="bg2"/>
                    </a:solidFill>
                  </a:tcPr>
                </a:tc>
                <a:tc>
                  <a:txBody>
                    <a:bodyPr/>
                    <a:lstStyle/>
                    <a:p>
                      <a:pPr algn="ctr"/>
                      <a:r>
                        <a:rPr lang="en-GB" sz="1100" dirty="0"/>
                        <a:t>3</a:t>
                      </a:r>
                    </a:p>
                  </a:txBody>
                  <a:tcPr marL="33621" marR="33621" marT="42707" marB="42707" anchor="ctr">
                    <a:solidFill>
                      <a:schemeClr val="bg2"/>
                    </a:solidFill>
                  </a:tcPr>
                </a:tc>
                <a:tc>
                  <a:txBody>
                    <a:bodyPr/>
                    <a:lstStyle/>
                    <a:p>
                      <a:pPr algn="ctr"/>
                      <a:r>
                        <a:rPr lang="en-GB" sz="1100" dirty="0"/>
                        <a:t>3</a:t>
                      </a:r>
                    </a:p>
                  </a:txBody>
                  <a:tcPr marL="33621" marR="33621" marT="42707" marB="42707" anchor="ctr">
                    <a:solidFill>
                      <a:schemeClr val="bg2"/>
                    </a:solidFill>
                  </a:tcPr>
                </a:tc>
                <a:extLst>
                  <a:ext uri="{0D108BD9-81ED-4DB2-BD59-A6C34878D82A}">
                    <a16:rowId xmlns:a16="http://schemas.microsoft.com/office/drawing/2014/main" val="10002"/>
                  </a:ext>
                </a:extLst>
              </a:tr>
              <a:tr h="322520">
                <a:tc>
                  <a:txBody>
                    <a:bodyPr/>
                    <a:lstStyle/>
                    <a:p>
                      <a:r>
                        <a:rPr lang="en-GB" sz="1100" dirty="0"/>
                        <a:t>Low maintenance</a:t>
                      </a:r>
                    </a:p>
                  </a:txBody>
                  <a:tcPr marL="33621" marR="33621" marT="42707" marB="42707" anchor="ctr">
                    <a:solidFill>
                      <a:schemeClr val="bg2"/>
                    </a:solidFill>
                  </a:tcPr>
                </a:tc>
                <a:tc>
                  <a:txBody>
                    <a:bodyPr/>
                    <a:lstStyle/>
                    <a:p>
                      <a:pPr algn="ctr"/>
                      <a:r>
                        <a:rPr lang="en-GB" sz="1100" dirty="0"/>
                        <a:t>3</a:t>
                      </a:r>
                    </a:p>
                  </a:txBody>
                  <a:tcPr marL="33621" marR="33621" marT="42707" marB="42707" anchor="ctr">
                    <a:solidFill>
                      <a:schemeClr val="bg2"/>
                    </a:solidFill>
                  </a:tcPr>
                </a:tc>
                <a:tc>
                  <a:txBody>
                    <a:bodyPr/>
                    <a:lstStyle/>
                    <a:p>
                      <a:pPr algn="ctr"/>
                      <a:r>
                        <a:rPr lang="en-GB" sz="1100" dirty="0"/>
                        <a:t>1</a:t>
                      </a:r>
                    </a:p>
                  </a:txBody>
                  <a:tcPr marL="33621" marR="33621" marT="42707" marB="42707" anchor="ctr">
                    <a:solidFill>
                      <a:schemeClr val="bg2"/>
                    </a:solidFill>
                  </a:tcPr>
                </a:tc>
                <a:tc>
                  <a:txBody>
                    <a:bodyPr/>
                    <a:lstStyle/>
                    <a:p>
                      <a:pPr algn="ctr"/>
                      <a:r>
                        <a:rPr lang="en-GB" sz="1100" dirty="0"/>
                        <a:t>1</a:t>
                      </a:r>
                    </a:p>
                  </a:txBody>
                  <a:tcPr marL="33621" marR="33621" marT="42707" marB="42707" anchor="ctr">
                    <a:solidFill>
                      <a:schemeClr val="bg2"/>
                    </a:solidFill>
                  </a:tcPr>
                </a:tc>
                <a:tc>
                  <a:txBody>
                    <a:bodyPr/>
                    <a:lstStyle/>
                    <a:p>
                      <a:pPr algn="ctr"/>
                      <a:r>
                        <a:rPr lang="en-GB" sz="1100" dirty="0"/>
                        <a:t>3</a:t>
                      </a:r>
                    </a:p>
                  </a:txBody>
                  <a:tcPr marL="33621" marR="33621" marT="42707" marB="42707" anchor="ctr">
                    <a:solidFill>
                      <a:schemeClr val="bg2"/>
                    </a:solidFill>
                  </a:tcPr>
                </a:tc>
                <a:tc>
                  <a:txBody>
                    <a:bodyPr/>
                    <a:lstStyle/>
                    <a:p>
                      <a:pPr algn="ctr"/>
                      <a:r>
                        <a:rPr lang="en-GB" sz="1100" dirty="0"/>
                        <a:t>9</a:t>
                      </a:r>
                    </a:p>
                  </a:txBody>
                  <a:tcPr marL="33621" marR="33621" marT="42707" marB="42707" anchor="ctr">
                    <a:solidFill>
                      <a:schemeClr val="bg2"/>
                    </a:solidFill>
                  </a:tcPr>
                </a:tc>
                <a:extLst>
                  <a:ext uri="{0D108BD9-81ED-4DB2-BD59-A6C34878D82A}">
                    <a16:rowId xmlns:a16="http://schemas.microsoft.com/office/drawing/2014/main" val="10003"/>
                  </a:ext>
                </a:extLst>
              </a:tr>
              <a:tr h="293269">
                <a:tc>
                  <a:txBody>
                    <a:bodyPr/>
                    <a:lstStyle/>
                    <a:p>
                      <a:r>
                        <a:rPr lang="en-GB" sz="1100" b="1" dirty="0"/>
                        <a:t>Total (27 max)</a:t>
                      </a:r>
                    </a:p>
                  </a:txBody>
                  <a:tcPr marL="33621" marR="33621" marT="42707" marB="42707" anchor="ctr">
                    <a:solidFill>
                      <a:schemeClr val="bg2"/>
                    </a:solidFill>
                  </a:tcPr>
                </a:tc>
                <a:tc>
                  <a:txBody>
                    <a:bodyPr/>
                    <a:lstStyle/>
                    <a:p>
                      <a:pPr algn="ctr"/>
                      <a:r>
                        <a:rPr lang="en-GB" sz="1100" b="1" dirty="0"/>
                        <a:t>21</a:t>
                      </a:r>
                    </a:p>
                  </a:txBody>
                  <a:tcPr marL="33621" marR="33621" marT="42707" marB="42707" anchor="ctr">
                    <a:solidFill>
                      <a:schemeClr val="bg2"/>
                    </a:solidFill>
                  </a:tcPr>
                </a:tc>
                <a:tc>
                  <a:txBody>
                    <a:bodyPr/>
                    <a:lstStyle/>
                    <a:p>
                      <a:pPr algn="ctr"/>
                      <a:r>
                        <a:rPr lang="en-GB" sz="1100" b="1" dirty="0"/>
                        <a:t>5</a:t>
                      </a:r>
                    </a:p>
                  </a:txBody>
                  <a:tcPr marL="33621" marR="33621" marT="42707" marB="42707" anchor="ctr">
                    <a:solidFill>
                      <a:schemeClr val="bg2"/>
                    </a:solidFill>
                  </a:tcPr>
                </a:tc>
                <a:tc>
                  <a:txBody>
                    <a:bodyPr/>
                    <a:lstStyle/>
                    <a:p>
                      <a:pPr algn="ctr"/>
                      <a:r>
                        <a:rPr lang="en-GB" sz="1100" b="1" dirty="0"/>
                        <a:t>13</a:t>
                      </a:r>
                    </a:p>
                  </a:txBody>
                  <a:tcPr marL="33621" marR="33621" marT="42707" marB="42707" anchor="ctr">
                    <a:solidFill>
                      <a:schemeClr val="bg2"/>
                    </a:solidFill>
                  </a:tcPr>
                </a:tc>
                <a:tc>
                  <a:txBody>
                    <a:bodyPr/>
                    <a:lstStyle/>
                    <a:p>
                      <a:pPr algn="ctr"/>
                      <a:r>
                        <a:rPr lang="en-GB" sz="1100" b="1" dirty="0"/>
                        <a:t>15</a:t>
                      </a:r>
                    </a:p>
                  </a:txBody>
                  <a:tcPr marL="33621" marR="33621" marT="42707" marB="42707" anchor="ctr">
                    <a:solidFill>
                      <a:schemeClr val="bg2"/>
                    </a:solidFill>
                  </a:tcPr>
                </a:tc>
                <a:tc>
                  <a:txBody>
                    <a:bodyPr/>
                    <a:lstStyle/>
                    <a:p>
                      <a:pPr algn="ctr"/>
                      <a:r>
                        <a:rPr lang="en-GB" sz="1100" b="1" dirty="0"/>
                        <a:t>21</a:t>
                      </a:r>
                    </a:p>
                  </a:txBody>
                  <a:tcPr marL="33621" marR="33621" marT="42707" marB="42707" anchor="ctr">
                    <a:solidFill>
                      <a:schemeClr val="bg2"/>
                    </a:solidFill>
                  </a:tcPr>
                </a:tc>
                <a:extLst>
                  <a:ext uri="{0D108BD9-81ED-4DB2-BD59-A6C34878D82A}">
                    <a16:rowId xmlns:a16="http://schemas.microsoft.com/office/drawing/2014/main" val="10004"/>
                  </a:ext>
                </a:extLst>
              </a:tr>
              <a:tr h="209435">
                <a:tc>
                  <a:txBody>
                    <a:bodyPr/>
                    <a:lstStyle/>
                    <a:p>
                      <a:r>
                        <a:rPr lang="en-GB" sz="1100" b="1" dirty="0"/>
                        <a:t>Re</a:t>
                      </a:r>
                      <a:r>
                        <a:rPr lang="en-GB" sz="1100" b="1" baseline="0" dirty="0"/>
                        <a:t> = Total/27</a:t>
                      </a:r>
                      <a:endParaRPr lang="en-GB" sz="1100" b="1" dirty="0"/>
                    </a:p>
                  </a:txBody>
                  <a:tcPr marL="33621" marR="33621" marT="42707" marB="42707" anchor="ctr">
                    <a:solidFill>
                      <a:schemeClr val="bg2"/>
                    </a:solidFill>
                  </a:tcPr>
                </a:tc>
                <a:tc>
                  <a:txBody>
                    <a:bodyPr/>
                    <a:lstStyle/>
                    <a:p>
                      <a:pPr algn="ctr"/>
                      <a:r>
                        <a:rPr lang="en-GB" sz="1100" b="1" dirty="0"/>
                        <a:t>0.77</a:t>
                      </a:r>
                    </a:p>
                  </a:txBody>
                  <a:tcPr marL="33621" marR="33621" marT="42707" marB="42707" anchor="ctr">
                    <a:solidFill>
                      <a:schemeClr val="bg2"/>
                    </a:solidFill>
                  </a:tcPr>
                </a:tc>
                <a:tc>
                  <a:txBody>
                    <a:bodyPr/>
                    <a:lstStyle/>
                    <a:p>
                      <a:pPr algn="ctr"/>
                      <a:r>
                        <a:rPr lang="en-GB" sz="1100" b="1" dirty="0"/>
                        <a:t>0.19</a:t>
                      </a:r>
                    </a:p>
                  </a:txBody>
                  <a:tcPr marL="33621" marR="33621" marT="42707" marB="42707" anchor="ctr">
                    <a:solidFill>
                      <a:schemeClr val="bg2"/>
                    </a:solidFill>
                  </a:tcPr>
                </a:tc>
                <a:tc>
                  <a:txBody>
                    <a:bodyPr/>
                    <a:lstStyle/>
                    <a:p>
                      <a:pPr algn="ctr"/>
                      <a:r>
                        <a:rPr lang="en-GB" sz="1100" b="1" dirty="0"/>
                        <a:t>0.48</a:t>
                      </a:r>
                    </a:p>
                  </a:txBody>
                  <a:tcPr marL="33621" marR="33621" marT="42707" marB="42707" anchor="ctr">
                    <a:solidFill>
                      <a:schemeClr val="bg2"/>
                    </a:solidFill>
                  </a:tcPr>
                </a:tc>
                <a:tc>
                  <a:txBody>
                    <a:bodyPr/>
                    <a:lstStyle/>
                    <a:p>
                      <a:pPr algn="ctr"/>
                      <a:r>
                        <a:rPr lang="en-GB" sz="1100" b="1" dirty="0"/>
                        <a:t>0.56</a:t>
                      </a:r>
                    </a:p>
                  </a:txBody>
                  <a:tcPr marL="33621" marR="33621" marT="42707" marB="42707" anchor="ctr">
                    <a:solidFill>
                      <a:schemeClr val="bg2"/>
                    </a:solidFill>
                  </a:tcPr>
                </a:tc>
                <a:tc>
                  <a:txBody>
                    <a:bodyPr/>
                    <a:lstStyle/>
                    <a:p>
                      <a:pPr algn="ctr"/>
                      <a:r>
                        <a:rPr lang="en-GB" sz="1100" b="1" dirty="0"/>
                        <a:t>0.77</a:t>
                      </a:r>
                    </a:p>
                  </a:txBody>
                  <a:tcPr marL="33621" marR="33621" marT="42707" marB="42707" anchor="ctr">
                    <a:solidFill>
                      <a:schemeClr val="bg2"/>
                    </a:solidFill>
                  </a:tcPr>
                </a:tc>
                <a:extLst>
                  <a:ext uri="{0D108BD9-81ED-4DB2-BD59-A6C34878D82A}">
                    <a16:rowId xmlns:a16="http://schemas.microsoft.com/office/drawing/2014/main" val="10005"/>
                  </a:ext>
                </a:extLst>
              </a:tr>
            </a:tbl>
          </a:graphicData>
        </a:graphic>
      </p:graphicFrame>
      <p:sp>
        <p:nvSpPr>
          <p:cNvPr id="65" name="TextBox 11">
            <a:extLst>
              <a:ext uri="{FF2B5EF4-FFF2-40B4-BE49-F238E27FC236}">
                <a16:creationId xmlns:a16="http://schemas.microsoft.com/office/drawing/2014/main" id="{BC34518C-3FCD-239B-0805-BC80DB695918}"/>
              </a:ext>
            </a:extLst>
          </p:cNvPr>
          <p:cNvSpPr txBox="1">
            <a:spLocks noChangeArrowheads="1"/>
          </p:cNvSpPr>
          <p:nvPr/>
        </p:nvSpPr>
        <p:spPr bwMode="auto">
          <a:xfrm>
            <a:off x="3301621" y="1783429"/>
            <a:ext cx="10198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Alternatives</a:t>
            </a:r>
          </a:p>
        </p:txBody>
      </p:sp>
      <p:grpSp>
        <p:nvGrpSpPr>
          <p:cNvPr id="66" name="Group 63">
            <a:extLst>
              <a:ext uri="{FF2B5EF4-FFF2-40B4-BE49-F238E27FC236}">
                <a16:creationId xmlns:a16="http://schemas.microsoft.com/office/drawing/2014/main" id="{D99CDCC2-33DA-DAFB-D256-6230B5C6AFC6}"/>
              </a:ext>
            </a:extLst>
          </p:cNvPr>
          <p:cNvGrpSpPr>
            <a:grpSpLocks/>
          </p:cNvGrpSpPr>
          <p:nvPr/>
        </p:nvGrpSpPr>
        <p:grpSpPr bwMode="auto">
          <a:xfrm>
            <a:off x="5968739" y="2173955"/>
            <a:ext cx="4077612" cy="3902185"/>
            <a:chOff x="4322160" y="1898073"/>
            <a:chExt cx="4077807" cy="3903221"/>
          </a:xfrm>
        </p:grpSpPr>
        <p:sp>
          <p:nvSpPr>
            <p:cNvPr id="67" name="Rectangle 46">
              <a:extLst>
                <a:ext uri="{FF2B5EF4-FFF2-40B4-BE49-F238E27FC236}">
                  <a16:creationId xmlns:a16="http://schemas.microsoft.com/office/drawing/2014/main" id="{095E9BBA-F0F3-64A5-1438-17DFA68BADBB}"/>
                </a:ext>
              </a:extLst>
            </p:cNvPr>
            <p:cNvSpPr>
              <a:spLocks noChangeArrowheads="1"/>
            </p:cNvSpPr>
            <p:nvPr/>
          </p:nvSpPr>
          <p:spPr bwMode="auto">
            <a:xfrm>
              <a:off x="5043371" y="3606139"/>
              <a:ext cx="1579418" cy="1579418"/>
            </a:xfrm>
            <a:prstGeom prst="rect">
              <a:avLst/>
            </a:prstGeom>
            <a:solidFill>
              <a:schemeClr val="accent4">
                <a:alpha val="69803"/>
              </a:schemeClr>
            </a:solidFill>
            <a:ln w="28575" cap="sq" algn="ctr">
              <a:solidFill>
                <a:schemeClr val="tx1"/>
              </a:solidFill>
              <a:round/>
              <a:headEnd/>
              <a:tailEnd/>
            </a:ln>
          </p:spPr>
          <p:txBody>
            <a:bodyPr wrap="none" anchor="ctr"/>
            <a:lstStyle/>
            <a:p>
              <a:endParaRPr lang="en-GB" sz="1000" dirty="0">
                <a:solidFill>
                  <a:schemeClr val="tx1"/>
                </a:solidFill>
              </a:endParaRPr>
            </a:p>
          </p:txBody>
        </p:sp>
        <p:sp>
          <p:nvSpPr>
            <p:cNvPr id="68" name="Rectangle 45">
              <a:extLst>
                <a:ext uri="{FF2B5EF4-FFF2-40B4-BE49-F238E27FC236}">
                  <a16:creationId xmlns:a16="http://schemas.microsoft.com/office/drawing/2014/main" id="{26A2C497-CD5E-4F49-7FD5-675BC382A6DE}"/>
                </a:ext>
              </a:extLst>
            </p:cNvPr>
            <p:cNvSpPr>
              <a:spLocks noChangeArrowheads="1"/>
            </p:cNvSpPr>
            <p:nvPr/>
          </p:nvSpPr>
          <p:spPr bwMode="auto">
            <a:xfrm>
              <a:off x="6612577" y="3608119"/>
              <a:ext cx="1579418" cy="1579418"/>
            </a:xfrm>
            <a:prstGeom prst="rect">
              <a:avLst/>
            </a:prstGeom>
            <a:solidFill>
              <a:schemeClr val="accent5">
                <a:alpha val="25098"/>
              </a:schemeClr>
            </a:solidFill>
            <a:ln w="28575" cap="sq" algn="ctr">
              <a:solidFill>
                <a:schemeClr val="tx1"/>
              </a:solidFill>
              <a:round/>
              <a:headEnd/>
              <a:tailEnd/>
            </a:ln>
          </p:spPr>
          <p:txBody>
            <a:bodyPr wrap="none" anchor="ctr"/>
            <a:lstStyle/>
            <a:p>
              <a:endParaRPr lang="en-GB" sz="1000" dirty="0">
                <a:solidFill>
                  <a:schemeClr val="tx1"/>
                </a:solidFill>
              </a:endParaRPr>
            </a:p>
          </p:txBody>
        </p:sp>
        <p:sp>
          <p:nvSpPr>
            <p:cNvPr id="69" name="Rectangle 44">
              <a:extLst>
                <a:ext uri="{FF2B5EF4-FFF2-40B4-BE49-F238E27FC236}">
                  <a16:creationId xmlns:a16="http://schemas.microsoft.com/office/drawing/2014/main" id="{71F638CF-51BF-2E25-4BFC-07C1D7F76698}"/>
                </a:ext>
              </a:extLst>
            </p:cNvPr>
            <p:cNvSpPr>
              <a:spLocks noChangeArrowheads="1"/>
            </p:cNvSpPr>
            <p:nvPr/>
          </p:nvSpPr>
          <p:spPr bwMode="auto">
            <a:xfrm>
              <a:off x="5033158" y="2028700"/>
              <a:ext cx="1579418" cy="1579418"/>
            </a:xfrm>
            <a:prstGeom prst="rect">
              <a:avLst/>
            </a:prstGeom>
            <a:solidFill>
              <a:schemeClr val="accent5">
                <a:alpha val="25098"/>
              </a:schemeClr>
            </a:solidFill>
            <a:ln w="28575" cap="sq" algn="ctr">
              <a:solidFill>
                <a:schemeClr val="tx1"/>
              </a:solidFill>
              <a:round/>
              <a:headEnd/>
              <a:tailEnd/>
            </a:ln>
          </p:spPr>
          <p:txBody>
            <a:bodyPr wrap="none" anchor="ctr"/>
            <a:lstStyle/>
            <a:p>
              <a:endParaRPr lang="en-GB" sz="1000" dirty="0">
                <a:solidFill>
                  <a:schemeClr val="tx1"/>
                </a:solidFill>
              </a:endParaRPr>
            </a:p>
          </p:txBody>
        </p:sp>
        <p:cxnSp>
          <p:nvCxnSpPr>
            <p:cNvPr id="70" name="Straight Connector 5">
              <a:extLst>
                <a:ext uri="{FF2B5EF4-FFF2-40B4-BE49-F238E27FC236}">
                  <a16:creationId xmlns:a16="http://schemas.microsoft.com/office/drawing/2014/main" id="{74726459-BB52-AC23-365D-A5A5BD2C9EBB}"/>
                </a:ext>
              </a:extLst>
            </p:cNvPr>
            <p:cNvCxnSpPr>
              <a:cxnSpLocks noChangeShapeType="1"/>
            </p:cNvCxnSpPr>
            <p:nvPr/>
          </p:nvCxnSpPr>
          <p:spPr bwMode="auto">
            <a:xfrm rot="5400000">
              <a:off x="4230089" y="3574475"/>
              <a:ext cx="3158837" cy="1588"/>
            </a:xfrm>
            <a:prstGeom prst="line">
              <a:avLst/>
            </a:prstGeom>
            <a:noFill/>
            <a:ln w="3175" cap="sq" algn="ctr">
              <a:solidFill>
                <a:schemeClr val="tx1"/>
              </a:solidFill>
              <a:round/>
              <a:headEnd/>
              <a:tailEnd/>
            </a:ln>
            <a:extLst>
              <a:ext uri="{909E8E84-426E-40DD-AFC4-6F175D3DCCD1}">
                <a14:hiddenFill xmlns:a14="http://schemas.microsoft.com/office/drawing/2010/main">
                  <a:noFill/>
                </a14:hiddenFill>
              </a:ext>
            </a:extLst>
          </p:spPr>
        </p:cxnSp>
        <p:sp>
          <p:nvSpPr>
            <p:cNvPr id="71" name="Rectangle 10">
              <a:extLst>
                <a:ext uri="{FF2B5EF4-FFF2-40B4-BE49-F238E27FC236}">
                  <a16:creationId xmlns:a16="http://schemas.microsoft.com/office/drawing/2014/main" id="{4D3471DE-1BDF-1987-C0D4-C6138423EC94}"/>
                </a:ext>
              </a:extLst>
            </p:cNvPr>
            <p:cNvSpPr>
              <a:spLocks noChangeArrowheads="1"/>
            </p:cNvSpPr>
            <p:nvPr/>
          </p:nvSpPr>
          <p:spPr bwMode="auto">
            <a:xfrm>
              <a:off x="5035136" y="2018806"/>
              <a:ext cx="3158837" cy="3158837"/>
            </a:xfrm>
            <a:prstGeom prst="rect">
              <a:avLst/>
            </a:prstGeom>
            <a:noFill/>
            <a:ln w="38100"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sz="1000" dirty="0">
                <a:solidFill>
                  <a:schemeClr val="tx1"/>
                </a:solidFill>
              </a:endParaRPr>
            </a:p>
          </p:txBody>
        </p:sp>
        <p:cxnSp>
          <p:nvCxnSpPr>
            <p:cNvPr id="72" name="Straight Connector 14">
              <a:extLst>
                <a:ext uri="{FF2B5EF4-FFF2-40B4-BE49-F238E27FC236}">
                  <a16:creationId xmlns:a16="http://schemas.microsoft.com/office/drawing/2014/main" id="{3D692106-521B-4377-0F81-86DC3E8A562D}"/>
                </a:ext>
              </a:extLst>
            </p:cNvPr>
            <p:cNvCxnSpPr>
              <a:cxnSpLocks noChangeShapeType="1"/>
            </p:cNvCxnSpPr>
            <p:nvPr/>
          </p:nvCxnSpPr>
          <p:spPr bwMode="auto">
            <a:xfrm rot="5400000">
              <a:off x="5810497" y="3568539"/>
              <a:ext cx="3158837" cy="1588"/>
            </a:xfrm>
            <a:prstGeom prst="line">
              <a:avLst/>
            </a:prstGeom>
            <a:noFill/>
            <a:ln w="3175" cap="sq" algn="ctr">
              <a:solidFill>
                <a:schemeClr val="tx1"/>
              </a:solidFill>
              <a:round/>
              <a:headEnd/>
              <a:tailEnd/>
            </a:ln>
            <a:extLst>
              <a:ext uri="{909E8E84-426E-40DD-AFC4-6F175D3DCCD1}">
                <a14:hiddenFill xmlns:a14="http://schemas.microsoft.com/office/drawing/2010/main">
                  <a:noFill/>
                </a14:hiddenFill>
              </a:ext>
            </a:extLst>
          </p:spPr>
        </p:cxnSp>
        <p:cxnSp>
          <p:nvCxnSpPr>
            <p:cNvPr id="73" name="Straight Connector 17">
              <a:extLst>
                <a:ext uri="{FF2B5EF4-FFF2-40B4-BE49-F238E27FC236}">
                  <a16:creationId xmlns:a16="http://schemas.microsoft.com/office/drawing/2014/main" id="{1C8E3085-6925-7329-3D87-E87B3DB6A7B0}"/>
                </a:ext>
              </a:extLst>
            </p:cNvPr>
            <p:cNvCxnSpPr>
              <a:cxnSpLocks noChangeShapeType="1"/>
            </p:cNvCxnSpPr>
            <p:nvPr/>
          </p:nvCxnSpPr>
          <p:spPr bwMode="auto">
            <a:xfrm rot="10800000">
              <a:off x="5031178" y="2795165"/>
              <a:ext cx="3158837" cy="1588"/>
            </a:xfrm>
            <a:prstGeom prst="line">
              <a:avLst/>
            </a:prstGeom>
            <a:noFill/>
            <a:ln w="3175" cap="sq" algn="ctr">
              <a:solidFill>
                <a:schemeClr val="tx1"/>
              </a:solidFill>
              <a:round/>
              <a:headEnd/>
              <a:tailEnd/>
            </a:ln>
            <a:extLst>
              <a:ext uri="{909E8E84-426E-40DD-AFC4-6F175D3DCCD1}">
                <a14:hiddenFill xmlns:a14="http://schemas.microsoft.com/office/drawing/2010/main">
                  <a:noFill/>
                </a14:hiddenFill>
              </a:ext>
            </a:extLst>
          </p:spPr>
        </p:cxnSp>
        <p:cxnSp>
          <p:nvCxnSpPr>
            <p:cNvPr id="74" name="Straight Connector 20">
              <a:extLst>
                <a:ext uri="{FF2B5EF4-FFF2-40B4-BE49-F238E27FC236}">
                  <a16:creationId xmlns:a16="http://schemas.microsoft.com/office/drawing/2014/main" id="{DADEF2F1-424D-C47E-6CEB-9F641FDC1FEC}"/>
                </a:ext>
              </a:extLst>
            </p:cNvPr>
            <p:cNvCxnSpPr>
              <a:cxnSpLocks noChangeShapeType="1"/>
            </p:cNvCxnSpPr>
            <p:nvPr/>
          </p:nvCxnSpPr>
          <p:spPr bwMode="auto">
            <a:xfrm rot="10800000">
              <a:off x="5037116" y="4375573"/>
              <a:ext cx="3158837" cy="1588"/>
            </a:xfrm>
            <a:prstGeom prst="line">
              <a:avLst/>
            </a:prstGeom>
            <a:noFill/>
            <a:ln w="3175" cap="sq" algn="ctr">
              <a:solidFill>
                <a:schemeClr val="tx1"/>
              </a:solidFill>
              <a:round/>
              <a:headEnd/>
              <a:tailEnd/>
            </a:ln>
            <a:extLst>
              <a:ext uri="{909E8E84-426E-40DD-AFC4-6F175D3DCCD1}">
                <a14:hiddenFill xmlns:a14="http://schemas.microsoft.com/office/drawing/2010/main">
                  <a:noFill/>
                </a14:hiddenFill>
              </a:ext>
            </a:extLst>
          </p:spPr>
        </p:cxnSp>
        <p:sp>
          <p:nvSpPr>
            <p:cNvPr id="75" name="TextBox 22">
              <a:extLst>
                <a:ext uri="{FF2B5EF4-FFF2-40B4-BE49-F238E27FC236}">
                  <a16:creationId xmlns:a16="http://schemas.microsoft.com/office/drawing/2014/main" id="{19FDCFC7-5C20-E652-EB83-FC3C37748ABE}"/>
                </a:ext>
              </a:extLst>
            </p:cNvPr>
            <p:cNvSpPr txBox="1">
              <a:spLocks noChangeArrowheads="1"/>
            </p:cNvSpPr>
            <p:nvPr/>
          </p:nvSpPr>
          <p:spPr bwMode="auto">
            <a:xfrm>
              <a:off x="4880758" y="5235039"/>
              <a:ext cx="405899"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0.0</a:t>
              </a:r>
            </a:p>
          </p:txBody>
        </p:sp>
        <p:sp>
          <p:nvSpPr>
            <p:cNvPr id="76" name="TextBox 23">
              <a:extLst>
                <a:ext uri="{FF2B5EF4-FFF2-40B4-BE49-F238E27FC236}">
                  <a16:creationId xmlns:a16="http://schemas.microsoft.com/office/drawing/2014/main" id="{C0226412-BE7D-7A4C-EBD3-B395B71BD49D}"/>
                </a:ext>
              </a:extLst>
            </p:cNvPr>
            <p:cNvSpPr txBox="1">
              <a:spLocks noChangeArrowheads="1"/>
            </p:cNvSpPr>
            <p:nvPr/>
          </p:nvSpPr>
          <p:spPr bwMode="auto">
            <a:xfrm>
              <a:off x="5616607" y="5235039"/>
              <a:ext cx="494070"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0.25</a:t>
              </a:r>
            </a:p>
          </p:txBody>
        </p:sp>
        <p:sp>
          <p:nvSpPr>
            <p:cNvPr id="77" name="TextBox 25">
              <a:extLst>
                <a:ext uri="{FF2B5EF4-FFF2-40B4-BE49-F238E27FC236}">
                  <a16:creationId xmlns:a16="http://schemas.microsoft.com/office/drawing/2014/main" id="{04FF81D8-3514-2526-52EB-AA74A7178D20}"/>
                </a:ext>
              </a:extLst>
            </p:cNvPr>
            <p:cNvSpPr txBox="1">
              <a:spLocks noChangeArrowheads="1"/>
            </p:cNvSpPr>
            <p:nvPr/>
          </p:nvSpPr>
          <p:spPr bwMode="auto">
            <a:xfrm>
              <a:off x="6437413" y="5235039"/>
              <a:ext cx="405899"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0.5</a:t>
              </a:r>
            </a:p>
          </p:txBody>
        </p:sp>
        <p:sp>
          <p:nvSpPr>
            <p:cNvPr id="78" name="TextBox 27">
              <a:extLst>
                <a:ext uri="{FF2B5EF4-FFF2-40B4-BE49-F238E27FC236}">
                  <a16:creationId xmlns:a16="http://schemas.microsoft.com/office/drawing/2014/main" id="{8336AF1A-76DF-277B-A6B6-4B9B8BCF96FD}"/>
                </a:ext>
              </a:extLst>
            </p:cNvPr>
            <p:cNvSpPr txBox="1">
              <a:spLocks noChangeArrowheads="1"/>
            </p:cNvSpPr>
            <p:nvPr/>
          </p:nvSpPr>
          <p:spPr bwMode="auto">
            <a:xfrm>
              <a:off x="7994068" y="5235039"/>
              <a:ext cx="405899"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1.0</a:t>
              </a:r>
            </a:p>
          </p:txBody>
        </p:sp>
        <p:sp>
          <p:nvSpPr>
            <p:cNvPr id="79" name="TextBox 28">
              <a:extLst>
                <a:ext uri="{FF2B5EF4-FFF2-40B4-BE49-F238E27FC236}">
                  <a16:creationId xmlns:a16="http://schemas.microsoft.com/office/drawing/2014/main" id="{7D952BF0-159B-DD60-6BD3-E5713E770B2C}"/>
                </a:ext>
              </a:extLst>
            </p:cNvPr>
            <p:cNvSpPr txBox="1">
              <a:spLocks noChangeArrowheads="1"/>
            </p:cNvSpPr>
            <p:nvPr/>
          </p:nvSpPr>
          <p:spPr bwMode="auto">
            <a:xfrm>
              <a:off x="4593771" y="5056909"/>
              <a:ext cx="405899"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0.0</a:t>
              </a:r>
            </a:p>
          </p:txBody>
        </p:sp>
        <p:sp>
          <p:nvSpPr>
            <p:cNvPr id="80" name="TextBox 30">
              <a:extLst>
                <a:ext uri="{FF2B5EF4-FFF2-40B4-BE49-F238E27FC236}">
                  <a16:creationId xmlns:a16="http://schemas.microsoft.com/office/drawing/2014/main" id="{B32EB06D-1EB6-CE9E-6E5F-52ECCA3D0022}"/>
                </a:ext>
              </a:extLst>
            </p:cNvPr>
            <p:cNvSpPr txBox="1">
              <a:spLocks noChangeArrowheads="1"/>
            </p:cNvSpPr>
            <p:nvPr/>
          </p:nvSpPr>
          <p:spPr bwMode="auto">
            <a:xfrm>
              <a:off x="4593771" y="4267200"/>
              <a:ext cx="494070"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0.25</a:t>
              </a:r>
            </a:p>
          </p:txBody>
        </p:sp>
        <p:sp>
          <p:nvSpPr>
            <p:cNvPr id="81" name="TextBox 32">
              <a:extLst>
                <a:ext uri="{FF2B5EF4-FFF2-40B4-BE49-F238E27FC236}">
                  <a16:creationId xmlns:a16="http://schemas.microsoft.com/office/drawing/2014/main" id="{37B1B35E-CCFD-1A23-EA5F-F635977AB79B}"/>
                </a:ext>
              </a:extLst>
            </p:cNvPr>
            <p:cNvSpPr txBox="1">
              <a:spLocks noChangeArrowheads="1"/>
            </p:cNvSpPr>
            <p:nvPr/>
          </p:nvSpPr>
          <p:spPr bwMode="auto">
            <a:xfrm>
              <a:off x="4593771" y="2687782"/>
              <a:ext cx="494070"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0.75</a:t>
              </a:r>
            </a:p>
          </p:txBody>
        </p:sp>
        <p:sp>
          <p:nvSpPr>
            <p:cNvPr id="82" name="TextBox 33">
              <a:extLst>
                <a:ext uri="{FF2B5EF4-FFF2-40B4-BE49-F238E27FC236}">
                  <a16:creationId xmlns:a16="http://schemas.microsoft.com/office/drawing/2014/main" id="{661CEE84-A459-BF7E-2786-7D9F088E8B02}"/>
                </a:ext>
              </a:extLst>
            </p:cNvPr>
            <p:cNvSpPr txBox="1">
              <a:spLocks noChangeArrowheads="1"/>
            </p:cNvSpPr>
            <p:nvPr/>
          </p:nvSpPr>
          <p:spPr bwMode="auto">
            <a:xfrm>
              <a:off x="4593771" y="1898073"/>
              <a:ext cx="405899"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1.0</a:t>
              </a:r>
            </a:p>
          </p:txBody>
        </p:sp>
        <p:sp>
          <p:nvSpPr>
            <p:cNvPr id="83" name="TextBox 34">
              <a:extLst>
                <a:ext uri="{FF2B5EF4-FFF2-40B4-BE49-F238E27FC236}">
                  <a16:creationId xmlns:a16="http://schemas.microsoft.com/office/drawing/2014/main" id="{5BB2F9F3-2E85-E6CC-063E-E4AF61D918CC}"/>
                </a:ext>
              </a:extLst>
            </p:cNvPr>
            <p:cNvSpPr txBox="1">
              <a:spLocks noChangeArrowheads="1"/>
            </p:cNvSpPr>
            <p:nvPr/>
          </p:nvSpPr>
          <p:spPr bwMode="auto">
            <a:xfrm rot="16200000">
              <a:off x="3472306" y="3395463"/>
              <a:ext cx="2038278" cy="33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Technical Rating, Rt</a:t>
              </a:r>
            </a:p>
          </p:txBody>
        </p:sp>
        <p:sp>
          <p:nvSpPr>
            <p:cNvPr id="84" name="TextBox 35">
              <a:extLst>
                <a:ext uri="{FF2B5EF4-FFF2-40B4-BE49-F238E27FC236}">
                  <a16:creationId xmlns:a16="http://schemas.microsoft.com/office/drawing/2014/main" id="{EACEF7FB-D2BA-7C5D-D1ED-3337FC7DF06A}"/>
                </a:ext>
              </a:extLst>
            </p:cNvPr>
            <p:cNvSpPr txBox="1">
              <a:spLocks noChangeArrowheads="1"/>
            </p:cNvSpPr>
            <p:nvPr/>
          </p:nvSpPr>
          <p:spPr bwMode="auto">
            <a:xfrm>
              <a:off x="5961413" y="5462650"/>
              <a:ext cx="2085927" cy="33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Economic Rating, Re</a:t>
              </a:r>
            </a:p>
          </p:txBody>
        </p:sp>
        <p:sp>
          <p:nvSpPr>
            <p:cNvPr id="85" name="Oval 38">
              <a:extLst>
                <a:ext uri="{FF2B5EF4-FFF2-40B4-BE49-F238E27FC236}">
                  <a16:creationId xmlns:a16="http://schemas.microsoft.com/office/drawing/2014/main" id="{501B3F92-58CA-56B3-AF40-BF8C0E194625}"/>
                </a:ext>
              </a:extLst>
            </p:cNvPr>
            <p:cNvSpPr>
              <a:spLocks noChangeArrowheads="1"/>
            </p:cNvSpPr>
            <p:nvPr/>
          </p:nvSpPr>
          <p:spPr bwMode="auto">
            <a:xfrm>
              <a:off x="7505206" y="3325093"/>
              <a:ext cx="142504" cy="142504"/>
            </a:xfrm>
            <a:prstGeom prst="ellipse">
              <a:avLst/>
            </a:prstGeom>
            <a:solidFill>
              <a:srgbClr val="006699"/>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wrap="none" anchor="ctr"/>
            <a:lstStyle/>
            <a:p>
              <a:endParaRPr lang="en-GB" sz="1000" dirty="0">
                <a:solidFill>
                  <a:schemeClr val="tx1"/>
                </a:solidFill>
              </a:endParaRPr>
            </a:p>
          </p:txBody>
        </p:sp>
        <p:sp>
          <p:nvSpPr>
            <p:cNvPr id="86" name="Oval 39">
              <a:extLst>
                <a:ext uri="{FF2B5EF4-FFF2-40B4-BE49-F238E27FC236}">
                  <a16:creationId xmlns:a16="http://schemas.microsoft.com/office/drawing/2014/main" id="{55576E79-5222-0A67-FC14-1A1B51C86EDA}"/>
                </a:ext>
              </a:extLst>
            </p:cNvPr>
            <p:cNvSpPr>
              <a:spLocks noChangeArrowheads="1"/>
            </p:cNvSpPr>
            <p:nvPr/>
          </p:nvSpPr>
          <p:spPr bwMode="auto">
            <a:xfrm>
              <a:off x="6398820" y="3311237"/>
              <a:ext cx="142504" cy="142504"/>
            </a:xfrm>
            <a:prstGeom prst="ellipse">
              <a:avLst/>
            </a:prstGeom>
            <a:solidFill>
              <a:srgbClr val="006699"/>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wrap="none" anchor="ctr"/>
            <a:lstStyle/>
            <a:p>
              <a:endParaRPr lang="en-GB" sz="1000" dirty="0">
                <a:solidFill>
                  <a:schemeClr val="tx1"/>
                </a:solidFill>
              </a:endParaRPr>
            </a:p>
          </p:txBody>
        </p:sp>
        <p:sp>
          <p:nvSpPr>
            <p:cNvPr id="87" name="Oval 40">
              <a:extLst>
                <a:ext uri="{FF2B5EF4-FFF2-40B4-BE49-F238E27FC236}">
                  <a16:creationId xmlns:a16="http://schemas.microsoft.com/office/drawing/2014/main" id="{EEF32A86-28B2-B1E0-A553-E6F8F134285D}"/>
                </a:ext>
              </a:extLst>
            </p:cNvPr>
            <p:cNvSpPr>
              <a:spLocks noChangeArrowheads="1"/>
            </p:cNvSpPr>
            <p:nvPr/>
          </p:nvSpPr>
          <p:spPr bwMode="auto">
            <a:xfrm>
              <a:off x="6741227" y="4484914"/>
              <a:ext cx="142504" cy="142504"/>
            </a:xfrm>
            <a:prstGeom prst="ellipse">
              <a:avLst/>
            </a:prstGeom>
            <a:solidFill>
              <a:schemeClr val="accent5"/>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wrap="none" anchor="ctr"/>
            <a:lstStyle/>
            <a:p>
              <a:endParaRPr lang="en-GB" sz="1000" dirty="0">
                <a:solidFill>
                  <a:schemeClr val="tx1"/>
                </a:solidFill>
              </a:endParaRPr>
            </a:p>
          </p:txBody>
        </p:sp>
        <p:sp>
          <p:nvSpPr>
            <p:cNvPr id="88" name="Rectangle 41">
              <a:extLst>
                <a:ext uri="{FF2B5EF4-FFF2-40B4-BE49-F238E27FC236}">
                  <a16:creationId xmlns:a16="http://schemas.microsoft.com/office/drawing/2014/main" id="{57419A37-0D0A-F6CA-6332-B535C8B095F3}"/>
                </a:ext>
              </a:extLst>
            </p:cNvPr>
            <p:cNvSpPr>
              <a:spLocks noChangeArrowheads="1"/>
            </p:cNvSpPr>
            <p:nvPr/>
          </p:nvSpPr>
          <p:spPr bwMode="auto">
            <a:xfrm>
              <a:off x="6614556" y="2030680"/>
              <a:ext cx="1579418" cy="1579418"/>
            </a:xfrm>
            <a:prstGeom prst="rect">
              <a:avLst/>
            </a:prstGeom>
            <a:noFill/>
            <a:ln w="28575" cap="sq"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sz="1000" dirty="0">
                <a:solidFill>
                  <a:schemeClr val="tx1"/>
                </a:solidFill>
              </a:endParaRPr>
            </a:p>
          </p:txBody>
        </p:sp>
        <p:sp>
          <p:nvSpPr>
            <p:cNvPr id="89" name="TextBox 51">
              <a:extLst>
                <a:ext uri="{FF2B5EF4-FFF2-40B4-BE49-F238E27FC236}">
                  <a16:creationId xmlns:a16="http://schemas.microsoft.com/office/drawing/2014/main" id="{8E3AF074-09C6-E5F8-1C36-4F3C5458563E}"/>
                </a:ext>
              </a:extLst>
            </p:cNvPr>
            <p:cNvSpPr txBox="1">
              <a:spLocks noChangeArrowheads="1"/>
            </p:cNvSpPr>
            <p:nvPr/>
          </p:nvSpPr>
          <p:spPr bwMode="auto">
            <a:xfrm>
              <a:off x="7173261" y="5235039"/>
              <a:ext cx="494070"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0.75</a:t>
              </a:r>
            </a:p>
          </p:txBody>
        </p:sp>
        <p:sp>
          <p:nvSpPr>
            <p:cNvPr id="90" name="TextBox 52">
              <a:extLst>
                <a:ext uri="{FF2B5EF4-FFF2-40B4-BE49-F238E27FC236}">
                  <a16:creationId xmlns:a16="http://schemas.microsoft.com/office/drawing/2014/main" id="{226DC30C-626B-8E73-2C13-50DD25E22DB5}"/>
                </a:ext>
              </a:extLst>
            </p:cNvPr>
            <p:cNvSpPr txBox="1">
              <a:spLocks noChangeArrowheads="1"/>
            </p:cNvSpPr>
            <p:nvPr/>
          </p:nvSpPr>
          <p:spPr bwMode="auto">
            <a:xfrm>
              <a:off x="4593771" y="3477491"/>
              <a:ext cx="405899" cy="27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200" dirty="0">
                  <a:solidFill>
                    <a:schemeClr val="tx1"/>
                  </a:solidFill>
                  <a:latin typeface="+mn-lt"/>
                </a:rPr>
                <a:t>0.5</a:t>
              </a:r>
            </a:p>
          </p:txBody>
        </p:sp>
        <p:cxnSp>
          <p:nvCxnSpPr>
            <p:cNvPr id="91" name="Straight Connector 37">
              <a:extLst>
                <a:ext uri="{FF2B5EF4-FFF2-40B4-BE49-F238E27FC236}">
                  <a16:creationId xmlns:a16="http://schemas.microsoft.com/office/drawing/2014/main" id="{CAB4FBD5-DABD-29C1-4BD2-9503BC59E9BC}"/>
                </a:ext>
              </a:extLst>
            </p:cNvPr>
            <p:cNvCxnSpPr>
              <a:cxnSpLocks noChangeShapeType="1"/>
            </p:cNvCxnSpPr>
            <p:nvPr/>
          </p:nvCxnSpPr>
          <p:spPr bwMode="auto">
            <a:xfrm flipV="1">
              <a:off x="5023262" y="2018805"/>
              <a:ext cx="3170712" cy="3158837"/>
            </a:xfrm>
            <a:prstGeom prst="line">
              <a:avLst/>
            </a:prstGeom>
            <a:noFill/>
            <a:ln w="19050" cap="sq" algn="ctr">
              <a:solidFill>
                <a:schemeClr val="tx1"/>
              </a:solidFill>
              <a:round/>
              <a:headEnd/>
              <a:tailEnd/>
            </a:ln>
            <a:extLst>
              <a:ext uri="{909E8E84-426E-40DD-AFC4-6F175D3DCCD1}">
                <a14:hiddenFill xmlns:a14="http://schemas.microsoft.com/office/drawing/2010/main">
                  <a:noFill/>
                </a14:hiddenFill>
              </a:ext>
            </a:extLst>
          </p:spPr>
        </p:cxnSp>
        <p:sp>
          <p:nvSpPr>
            <p:cNvPr id="92" name="Oval 53">
              <a:extLst>
                <a:ext uri="{FF2B5EF4-FFF2-40B4-BE49-F238E27FC236}">
                  <a16:creationId xmlns:a16="http://schemas.microsoft.com/office/drawing/2014/main" id="{7F810442-D939-F8E2-4736-5A015988C356}"/>
                </a:ext>
              </a:extLst>
            </p:cNvPr>
            <p:cNvSpPr>
              <a:spLocks noChangeArrowheads="1"/>
            </p:cNvSpPr>
            <p:nvPr/>
          </p:nvSpPr>
          <p:spPr bwMode="auto">
            <a:xfrm>
              <a:off x="5484421" y="3619995"/>
              <a:ext cx="142504" cy="142504"/>
            </a:xfrm>
            <a:prstGeom prst="ellipse">
              <a:avLst/>
            </a:prstGeom>
            <a:solidFill>
              <a:srgbClr val="006699"/>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wrap="none" anchor="ctr"/>
            <a:lstStyle/>
            <a:p>
              <a:endParaRPr lang="en-GB" sz="1000" dirty="0">
                <a:solidFill>
                  <a:schemeClr val="tx1"/>
                </a:solidFill>
              </a:endParaRPr>
            </a:p>
          </p:txBody>
        </p:sp>
        <p:sp>
          <p:nvSpPr>
            <p:cNvPr id="93" name="Oval 54">
              <a:extLst>
                <a:ext uri="{FF2B5EF4-FFF2-40B4-BE49-F238E27FC236}">
                  <a16:creationId xmlns:a16="http://schemas.microsoft.com/office/drawing/2014/main" id="{779D25F8-B17D-7205-1B4D-16550B3BD76E}"/>
                </a:ext>
              </a:extLst>
            </p:cNvPr>
            <p:cNvSpPr>
              <a:spLocks noChangeArrowheads="1"/>
            </p:cNvSpPr>
            <p:nvPr/>
          </p:nvSpPr>
          <p:spPr bwMode="auto">
            <a:xfrm>
              <a:off x="7489372" y="2572986"/>
              <a:ext cx="142504" cy="142504"/>
            </a:xfrm>
            <a:prstGeom prst="ellipse">
              <a:avLst/>
            </a:prstGeom>
            <a:solidFill>
              <a:srgbClr val="006699"/>
            </a:solidFill>
            <a:ln>
              <a:noFill/>
            </a:ln>
            <a:extLst>
              <a:ext uri="{91240B29-F687-4F45-9708-019B960494DF}">
                <a14:hiddenLine xmlns:a14="http://schemas.microsoft.com/office/drawing/2010/main" w="12700" cap="sq" algn="ctr">
                  <a:solidFill>
                    <a:srgbClr val="000000"/>
                  </a:solidFill>
                  <a:round/>
                  <a:headEnd/>
                  <a:tailEnd/>
                </a14:hiddenLine>
              </a:ext>
            </a:extLst>
          </p:spPr>
          <p:txBody>
            <a:bodyPr wrap="none" anchor="ctr"/>
            <a:lstStyle/>
            <a:p>
              <a:endParaRPr lang="en-GB" sz="1000" dirty="0">
                <a:solidFill>
                  <a:schemeClr val="tx1"/>
                </a:solidFill>
              </a:endParaRPr>
            </a:p>
          </p:txBody>
        </p:sp>
        <p:sp>
          <p:nvSpPr>
            <p:cNvPr id="94" name="TextBox 56">
              <a:extLst>
                <a:ext uri="{FF2B5EF4-FFF2-40B4-BE49-F238E27FC236}">
                  <a16:creationId xmlns:a16="http://schemas.microsoft.com/office/drawing/2014/main" id="{9BD7668C-4AD4-18C6-84DF-EE9CAFB28AE0}"/>
                </a:ext>
              </a:extLst>
            </p:cNvPr>
            <p:cNvSpPr txBox="1">
              <a:spLocks noChangeArrowheads="1"/>
            </p:cNvSpPr>
            <p:nvPr/>
          </p:nvSpPr>
          <p:spPr bwMode="auto">
            <a:xfrm>
              <a:off x="7552705" y="2553194"/>
              <a:ext cx="301700" cy="33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1</a:t>
              </a:r>
            </a:p>
          </p:txBody>
        </p:sp>
        <p:sp>
          <p:nvSpPr>
            <p:cNvPr id="95" name="TextBox 57">
              <a:extLst>
                <a:ext uri="{FF2B5EF4-FFF2-40B4-BE49-F238E27FC236}">
                  <a16:creationId xmlns:a16="http://schemas.microsoft.com/office/drawing/2014/main" id="{30CFE9D0-995D-5090-1F83-893A1F0E2054}"/>
                </a:ext>
              </a:extLst>
            </p:cNvPr>
            <p:cNvSpPr txBox="1">
              <a:spLocks noChangeArrowheads="1"/>
            </p:cNvSpPr>
            <p:nvPr/>
          </p:nvSpPr>
          <p:spPr bwMode="auto">
            <a:xfrm>
              <a:off x="5545775" y="3645724"/>
              <a:ext cx="301700" cy="33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2</a:t>
              </a:r>
            </a:p>
          </p:txBody>
        </p:sp>
        <p:sp>
          <p:nvSpPr>
            <p:cNvPr id="96" name="TextBox 58">
              <a:extLst>
                <a:ext uri="{FF2B5EF4-FFF2-40B4-BE49-F238E27FC236}">
                  <a16:creationId xmlns:a16="http://schemas.microsoft.com/office/drawing/2014/main" id="{D837FFE7-6BB6-B9CE-60C1-93A6937FAD3F}"/>
                </a:ext>
              </a:extLst>
            </p:cNvPr>
            <p:cNvSpPr txBox="1">
              <a:spLocks noChangeArrowheads="1"/>
            </p:cNvSpPr>
            <p:nvPr/>
          </p:nvSpPr>
          <p:spPr bwMode="auto">
            <a:xfrm>
              <a:off x="6766955" y="4498768"/>
              <a:ext cx="301700" cy="33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4</a:t>
              </a:r>
            </a:p>
          </p:txBody>
        </p:sp>
        <p:sp>
          <p:nvSpPr>
            <p:cNvPr id="97" name="TextBox 59">
              <a:extLst>
                <a:ext uri="{FF2B5EF4-FFF2-40B4-BE49-F238E27FC236}">
                  <a16:creationId xmlns:a16="http://schemas.microsoft.com/office/drawing/2014/main" id="{53B59D4B-39C1-C0A8-C14F-67EC72677B5F}"/>
                </a:ext>
              </a:extLst>
            </p:cNvPr>
            <p:cNvSpPr txBox="1">
              <a:spLocks noChangeArrowheads="1"/>
            </p:cNvSpPr>
            <p:nvPr/>
          </p:nvSpPr>
          <p:spPr bwMode="auto">
            <a:xfrm>
              <a:off x="6408716" y="3356758"/>
              <a:ext cx="301700" cy="33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3</a:t>
              </a:r>
            </a:p>
          </p:txBody>
        </p:sp>
        <p:sp>
          <p:nvSpPr>
            <p:cNvPr id="98" name="TextBox 60">
              <a:extLst>
                <a:ext uri="{FF2B5EF4-FFF2-40B4-BE49-F238E27FC236}">
                  <a16:creationId xmlns:a16="http://schemas.microsoft.com/office/drawing/2014/main" id="{AF734420-C5D7-CF2B-7B17-099958F846E8}"/>
                </a:ext>
              </a:extLst>
            </p:cNvPr>
            <p:cNvSpPr txBox="1">
              <a:spLocks noChangeArrowheads="1"/>
            </p:cNvSpPr>
            <p:nvPr/>
          </p:nvSpPr>
          <p:spPr bwMode="auto">
            <a:xfrm>
              <a:off x="7582394" y="3342904"/>
              <a:ext cx="301700" cy="33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b="1">
                  <a:solidFill>
                    <a:schemeClr val="bg1"/>
                  </a:solidFill>
                  <a:latin typeface="Arial" pitchFamily="34" charset="0"/>
                </a:defRPr>
              </a:lvl1pPr>
              <a:lvl2pPr marL="742950" indent="-285750">
                <a:defRPr sz="900" b="1">
                  <a:solidFill>
                    <a:schemeClr val="bg1"/>
                  </a:solidFill>
                  <a:latin typeface="Arial" pitchFamily="34" charset="0"/>
                </a:defRPr>
              </a:lvl2pPr>
              <a:lvl3pPr marL="1143000" indent="-228600">
                <a:defRPr sz="900" b="1">
                  <a:solidFill>
                    <a:schemeClr val="bg1"/>
                  </a:solidFill>
                  <a:latin typeface="Arial" pitchFamily="34" charset="0"/>
                </a:defRPr>
              </a:lvl3pPr>
              <a:lvl4pPr marL="1600200" indent="-228600">
                <a:defRPr sz="900" b="1">
                  <a:solidFill>
                    <a:schemeClr val="bg1"/>
                  </a:solidFill>
                  <a:latin typeface="Arial" pitchFamily="34" charset="0"/>
                </a:defRPr>
              </a:lvl4pPr>
              <a:lvl5pPr marL="2057400" indent="-228600">
                <a:defRPr sz="900" b="1">
                  <a:solidFill>
                    <a:schemeClr val="bg1"/>
                  </a:solidFill>
                  <a:latin typeface="Arial" pitchFamily="34" charset="0"/>
                </a:defRPr>
              </a:lvl5pPr>
              <a:lvl6pPr marL="2514600" indent="-228600" algn="ctr" eaLnBrk="0" fontAlgn="base" hangingPunct="0">
                <a:lnSpc>
                  <a:spcPct val="80000"/>
                </a:lnSpc>
                <a:spcBef>
                  <a:spcPct val="20000"/>
                </a:spcBef>
                <a:spcAft>
                  <a:spcPct val="0"/>
                </a:spcAft>
                <a:defRPr sz="900" b="1">
                  <a:solidFill>
                    <a:schemeClr val="bg1"/>
                  </a:solidFill>
                  <a:latin typeface="Arial" pitchFamily="34" charset="0"/>
                </a:defRPr>
              </a:lvl6pPr>
              <a:lvl7pPr marL="2971800" indent="-228600" algn="ctr" eaLnBrk="0" fontAlgn="base" hangingPunct="0">
                <a:lnSpc>
                  <a:spcPct val="80000"/>
                </a:lnSpc>
                <a:spcBef>
                  <a:spcPct val="20000"/>
                </a:spcBef>
                <a:spcAft>
                  <a:spcPct val="0"/>
                </a:spcAft>
                <a:defRPr sz="900" b="1">
                  <a:solidFill>
                    <a:schemeClr val="bg1"/>
                  </a:solidFill>
                  <a:latin typeface="Arial" pitchFamily="34" charset="0"/>
                </a:defRPr>
              </a:lvl7pPr>
              <a:lvl8pPr marL="3429000" indent="-228600" algn="ctr" eaLnBrk="0" fontAlgn="base" hangingPunct="0">
                <a:lnSpc>
                  <a:spcPct val="80000"/>
                </a:lnSpc>
                <a:spcBef>
                  <a:spcPct val="20000"/>
                </a:spcBef>
                <a:spcAft>
                  <a:spcPct val="0"/>
                </a:spcAft>
                <a:defRPr sz="900" b="1">
                  <a:solidFill>
                    <a:schemeClr val="bg1"/>
                  </a:solidFill>
                  <a:latin typeface="Arial" pitchFamily="34" charset="0"/>
                </a:defRPr>
              </a:lvl8pPr>
              <a:lvl9pPr marL="3886200" indent="-228600" algn="ctr" eaLnBrk="0" fontAlgn="base" hangingPunct="0">
                <a:lnSpc>
                  <a:spcPct val="80000"/>
                </a:lnSpc>
                <a:spcBef>
                  <a:spcPct val="20000"/>
                </a:spcBef>
                <a:spcAft>
                  <a:spcPct val="0"/>
                </a:spcAft>
                <a:defRPr sz="900" b="1">
                  <a:solidFill>
                    <a:schemeClr val="bg1"/>
                  </a:solidFill>
                  <a:latin typeface="Arial" pitchFamily="34" charset="0"/>
                </a:defRPr>
              </a:lvl9pPr>
            </a:lstStyle>
            <a:p>
              <a:pPr algn="l"/>
              <a:r>
                <a:rPr lang="en-GB" sz="1600" dirty="0">
                  <a:solidFill>
                    <a:schemeClr val="tx1"/>
                  </a:solidFill>
                  <a:latin typeface="+mn-lt"/>
                </a:rPr>
                <a:t>5</a:t>
              </a:r>
            </a:p>
          </p:txBody>
        </p:sp>
      </p:grpSp>
    </p:spTree>
    <p:extLst>
      <p:ext uri="{BB962C8B-B14F-4D97-AF65-F5344CB8AC3E}">
        <p14:creationId xmlns:p14="http://schemas.microsoft.com/office/powerpoint/2010/main" val="38693989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4000" dirty="0"/>
              <a:t>Pugh Matrix</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84</a:t>
            </a:fld>
            <a:endParaRPr lang="en-US"/>
          </a:p>
        </p:txBody>
      </p:sp>
      <p:grpSp>
        <p:nvGrpSpPr>
          <p:cNvPr id="3" name="Group 2">
            <a:extLst>
              <a:ext uri="{FF2B5EF4-FFF2-40B4-BE49-F238E27FC236}">
                <a16:creationId xmlns:a16="http://schemas.microsoft.com/office/drawing/2014/main" id="{CADFAC20-403E-B965-0081-154A70727606}"/>
              </a:ext>
            </a:extLst>
          </p:cNvPr>
          <p:cNvGrpSpPr/>
          <p:nvPr/>
        </p:nvGrpSpPr>
        <p:grpSpPr>
          <a:xfrm>
            <a:off x="838200" y="297639"/>
            <a:ext cx="4451430" cy="307138"/>
            <a:chOff x="838200" y="297639"/>
            <a:chExt cx="4451430" cy="307138"/>
          </a:xfrm>
        </p:grpSpPr>
        <p:grpSp>
          <p:nvGrpSpPr>
            <p:cNvPr id="5" name="Group 4">
              <a:extLst>
                <a:ext uri="{FF2B5EF4-FFF2-40B4-BE49-F238E27FC236}">
                  <a16:creationId xmlns:a16="http://schemas.microsoft.com/office/drawing/2014/main" id="{E78AF8AD-AB13-1F56-9780-FB092F387E8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889BBF32-2E66-D03A-E883-3C6704E0749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9DCD50A-5623-905C-EACC-D0837FB6A9F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720EA762-7BC3-1C6C-6406-A5F1FA20457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7294778-1990-6977-85A2-FB43C4C1715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0D0BD149-3518-BAED-9488-D56A6757CAA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52A32AC-E20E-F913-39E6-7211460D77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5438FAE-BF6E-20CB-7E33-BD5FCFEF42A7}"/>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Evaluation of Alternatives</a:t>
              </a:r>
            </a:p>
          </p:txBody>
        </p:sp>
      </p:grpSp>
      <p:grpSp>
        <p:nvGrpSpPr>
          <p:cNvPr id="16" name="Group 15">
            <a:extLst>
              <a:ext uri="{FF2B5EF4-FFF2-40B4-BE49-F238E27FC236}">
                <a16:creationId xmlns:a16="http://schemas.microsoft.com/office/drawing/2014/main" id="{44877B28-3DE2-D8AE-5836-FB02009C1AA0}"/>
              </a:ext>
            </a:extLst>
          </p:cNvPr>
          <p:cNvGrpSpPr/>
          <p:nvPr/>
        </p:nvGrpSpPr>
        <p:grpSpPr>
          <a:xfrm>
            <a:off x="1795462" y="1744663"/>
            <a:ext cx="8601076" cy="4651365"/>
            <a:chOff x="1465550" y="1744663"/>
            <a:chExt cx="8601076" cy="4651365"/>
          </a:xfrm>
        </p:grpSpPr>
        <p:sp>
          <p:nvSpPr>
            <p:cNvPr id="14" name="Content Placeholder 6">
              <a:extLst>
                <a:ext uri="{FF2B5EF4-FFF2-40B4-BE49-F238E27FC236}">
                  <a16:creationId xmlns:a16="http://schemas.microsoft.com/office/drawing/2014/main" id="{7B66E64E-881A-65BA-2C1D-21883C7067FF}"/>
                </a:ext>
              </a:extLst>
            </p:cNvPr>
            <p:cNvSpPr txBox="1">
              <a:spLocks/>
            </p:cNvSpPr>
            <p:nvPr/>
          </p:nvSpPr>
          <p:spPr>
            <a:xfrm>
              <a:off x="1649702" y="1744663"/>
              <a:ext cx="8164513"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Compare other concepts/ideas and rank others Better, Worse or Same as datum </a:t>
              </a:r>
              <a:endParaRPr lang="en-GB" dirty="0"/>
            </a:p>
          </p:txBody>
        </p:sp>
        <p:pic>
          <p:nvPicPr>
            <p:cNvPr id="15" name="Picture 2">
              <a:extLst>
                <a:ext uri="{FF2B5EF4-FFF2-40B4-BE49-F238E27FC236}">
                  <a16:creationId xmlns:a16="http://schemas.microsoft.com/office/drawing/2014/main" id="{AB9D5F98-B075-0C14-4EAD-F1C19BDF7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550" y="2519362"/>
              <a:ext cx="8601076" cy="3876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815238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85</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VA/VE Kaizen Event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Alternative refinement</a:t>
            </a:r>
          </a:p>
          <a:p>
            <a:r>
              <a:rPr lang="en-US" dirty="0"/>
              <a:t>Decision action planning</a:t>
            </a:r>
          </a:p>
          <a:p>
            <a:r>
              <a:rPr lang="en-US" dirty="0"/>
              <a:t>Timing plan for Design, Qualification and Ramp-up phases</a:t>
            </a:r>
          </a:p>
          <a:p>
            <a:r>
              <a:rPr lang="en-US" dirty="0"/>
              <a:t>Resource plan for next phases</a:t>
            </a:r>
          </a:p>
          <a:p>
            <a:r>
              <a:rPr lang="en-US" dirty="0"/>
              <a:t>Prepare report-out</a:t>
            </a:r>
          </a:p>
          <a:p>
            <a:r>
              <a:rPr lang="en-US" dirty="0"/>
              <a:t>Deliver report-out</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Activity Action Plan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Evaluation of Alternatives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Generation of Alternatives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Analysis of Current State</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Charter &amp; Information</a:t>
                </a:r>
              </a:p>
            </p:txBody>
          </p:sp>
        </p:grpSp>
      </p:grpSp>
    </p:spTree>
    <p:extLst>
      <p:ext uri="{BB962C8B-B14F-4D97-AF65-F5344CB8AC3E}">
        <p14:creationId xmlns:p14="http://schemas.microsoft.com/office/powerpoint/2010/main" val="18836080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Prepare Key Elements for Next Phases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Design Phase</a:t>
            </a:r>
          </a:p>
          <a:p>
            <a:pPr lvl="1"/>
            <a:r>
              <a:rPr lang="en-US" dirty="0"/>
              <a:t>Design</a:t>
            </a:r>
          </a:p>
          <a:p>
            <a:pPr lvl="1"/>
            <a:r>
              <a:rPr lang="en-US" dirty="0"/>
              <a:t>Test samples</a:t>
            </a:r>
          </a:p>
          <a:p>
            <a:r>
              <a:rPr lang="en-US" dirty="0"/>
              <a:t>Qualification</a:t>
            </a:r>
          </a:p>
          <a:p>
            <a:pPr lvl="1"/>
            <a:r>
              <a:rPr lang="en-US" dirty="0"/>
              <a:t>Internal verification</a:t>
            </a:r>
          </a:p>
          <a:p>
            <a:pPr lvl="1"/>
            <a:r>
              <a:rPr lang="en-US" dirty="0"/>
              <a:t>Customer verification</a:t>
            </a:r>
          </a:p>
          <a:p>
            <a:r>
              <a:rPr lang="en-US" dirty="0"/>
              <a:t>Implementation</a:t>
            </a:r>
          </a:p>
          <a:p>
            <a:pPr lvl="1"/>
            <a:r>
              <a:rPr lang="en-US" dirty="0"/>
              <a:t>Ramp-up plans</a:t>
            </a:r>
          </a:p>
          <a:p>
            <a:pPr lvl="1"/>
            <a:r>
              <a:rPr lang="en-US" dirty="0"/>
              <a:t>Documentation</a:t>
            </a:r>
          </a:p>
          <a:p>
            <a:pPr lvl="1"/>
            <a:r>
              <a:rPr lang="en-US" dirty="0"/>
              <a:t>Phase out of old inventory</a:t>
            </a:r>
          </a:p>
          <a:p>
            <a:pPr lvl="1"/>
            <a:r>
              <a:rPr lang="en-US" dirty="0"/>
              <a:t>Monitor savings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86</a:t>
            </a:fld>
            <a:endParaRPr lang="en-US"/>
          </a:p>
        </p:txBody>
      </p:sp>
      <p:grpSp>
        <p:nvGrpSpPr>
          <p:cNvPr id="4" name="Group 3">
            <a:extLst>
              <a:ext uri="{FF2B5EF4-FFF2-40B4-BE49-F238E27FC236}">
                <a16:creationId xmlns:a16="http://schemas.microsoft.com/office/drawing/2014/main" id="{B7035853-254C-CDCB-B755-94354D6E7C39}"/>
              </a:ext>
            </a:extLst>
          </p:cNvPr>
          <p:cNvGrpSpPr/>
          <p:nvPr/>
        </p:nvGrpSpPr>
        <p:grpSpPr>
          <a:xfrm>
            <a:off x="838200" y="297639"/>
            <a:ext cx="4451430" cy="307138"/>
            <a:chOff x="838200" y="297639"/>
            <a:chExt cx="4451430" cy="307138"/>
          </a:xfrm>
        </p:grpSpPr>
        <p:grpSp>
          <p:nvGrpSpPr>
            <p:cNvPr id="6" name="Group 5">
              <a:extLst>
                <a:ext uri="{FF2B5EF4-FFF2-40B4-BE49-F238E27FC236}">
                  <a16:creationId xmlns:a16="http://schemas.microsoft.com/office/drawing/2014/main" id="{7E0350AA-1F4D-29A6-F13D-A3D2A1CD6FF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D5A589E5-295E-AEE4-93FB-C9F2311C9144}"/>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99ED5383-E5C1-A6FD-40DB-3E5D2A3AEBB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3FAD147C-846C-2D94-D5E3-0202D941D58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EFEC181-0F2A-2419-BB72-365979AD905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D3620A43-B2F7-A98A-CCC2-86F498012E7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D426A2C-C350-041E-A991-5B60CBC546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E34F1A8C-EB8E-589D-A7EA-91F1CA186E70}"/>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grpSp>
    </p:spTree>
    <p:extLst>
      <p:ext uri="{BB962C8B-B14F-4D97-AF65-F5344CB8AC3E}">
        <p14:creationId xmlns:p14="http://schemas.microsoft.com/office/powerpoint/2010/main" val="26163640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Create Project Plan for the Next Phases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87</a:t>
            </a:fld>
            <a:endParaRPr lang="en-US"/>
          </a:p>
        </p:txBody>
      </p:sp>
      <p:sp>
        <p:nvSpPr>
          <p:cNvPr id="7" name="Content Placeholder 6">
            <a:extLst>
              <a:ext uri="{FF2B5EF4-FFF2-40B4-BE49-F238E27FC236}">
                <a16:creationId xmlns:a16="http://schemas.microsoft.com/office/drawing/2014/main" id="{CA952882-9F08-36D1-D758-00D8C5E8C481}"/>
              </a:ext>
            </a:extLst>
          </p:cNvPr>
          <p:cNvSpPr>
            <a:spLocks noGrp="1"/>
          </p:cNvSpPr>
          <p:nvPr>
            <p:ph sz="half" idx="1"/>
          </p:nvPr>
        </p:nvSpPr>
        <p:spPr/>
        <p:txBody>
          <a:bodyPr anchor="ctr">
            <a:normAutofit/>
          </a:bodyPr>
          <a:lstStyle/>
          <a:p>
            <a:r>
              <a:rPr lang="en-US" dirty="0"/>
              <a:t>Develop Work Breakdown Structure</a:t>
            </a:r>
          </a:p>
          <a:p>
            <a:r>
              <a:rPr lang="en-US" dirty="0"/>
              <a:t>Estimate effort (direct work), duration (lapse time)</a:t>
            </a:r>
          </a:p>
          <a:p>
            <a:r>
              <a:rPr lang="en-US" dirty="0"/>
              <a:t>Resource list and availability</a:t>
            </a:r>
          </a:p>
          <a:p>
            <a:r>
              <a:rPr lang="en-US" dirty="0"/>
              <a:t>Sequence</a:t>
            </a:r>
          </a:p>
          <a:p>
            <a:r>
              <a:rPr lang="en-US" dirty="0"/>
              <a:t>Dependencies</a:t>
            </a:r>
          </a:p>
          <a:p>
            <a:r>
              <a:rPr lang="en-US" dirty="0"/>
              <a:t>Track deliverables &amp; costs</a:t>
            </a:r>
          </a:p>
        </p:txBody>
      </p:sp>
      <p:grpSp>
        <p:nvGrpSpPr>
          <p:cNvPr id="5" name="Group 4">
            <a:extLst>
              <a:ext uri="{FF2B5EF4-FFF2-40B4-BE49-F238E27FC236}">
                <a16:creationId xmlns:a16="http://schemas.microsoft.com/office/drawing/2014/main" id="{C29B43EA-9190-A74B-B931-2088B148D1E0}"/>
              </a:ext>
            </a:extLst>
          </p:cNvPr>
          <p:cNvGrpSpPr/>
          <p:nvPr/>
        </p:nvGrpSpPr>
        <p:grpSpPr>
          <a:xfrm>
            <a:off x="838200" y="297639"/>
            <a:ext cx="4451430" cy="307138"/>
            <a:chOff x="838200" y="297639"/>
            <a:chExt cx="4451430" cy="307138"/>
          </a:xfrm>
        </p:grpSpPr>
        <p:grpSp>
          <p:nvGrpSpPr>
            <p:cNvPr id="8" name="Group 7">
              <a:extLst>
                <a:ext uri="{FF2B5EF4-FFF2-40B4-BE49-F238E27FC236}">
                  <a16:creationId xmlns:a16="http://schemas.microsoft.com/office/drawing/2014/main" id="{95B94F8D-6953-22C8-5A2F-15039E05F054}"/>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9EF13316-BB4F-58F2-4126-17BDB36FF6EE}"/>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9">
                <a:extLst>
                  <a:ext uri="{FF2B5EF4-FFF2-40B4-BE49-F238E27FC236}">
                    <a16:creationId xmlns:a16="http://schemas.microsoft.com/office/drawing/2014/main" id="{FB0C1ABE-90A7-5756-1F22-839D6642078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3" name="Group 12">
                <a:extLst>
                  <a:ext uri="{FF2B5EF4-FFF2-40B4-BE49-F238E27FC236}">
                    <a16:creationId xmlns:a16="http://schemas.microsoft.com/office/drawing/2014/main" id="{71059744-B10B-4C5A-CCB7-CEFC96820865}"/>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8A1CA725-C8C3-806F-4186-E1F681C9F4B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1">
                  <a:extLst>
                    <a:ext uri="{FF2B5EF4-FFF2-40B4-BE49-F238E27FC236}">
                      <a16:creationId xmlns:a16="http://schemas.microsoft.com/office/drawing/2014/main" id="{37FE241C-455A-4A68-F2BF-C74E967866E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7" name="AutoShape 10">
                  <a:extLst>
                    <a:ext uri="{FF2B5EF4-FFF2-40B4-BE49-F238E27FC236}">
                      <a16:creationId xmlns:a16="http://schemas.microsoft.com/office/drawing/2014/main" id="{E95086D1-039A-EA5E-FA73-0AFC05CF909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9" name="TextBox 8">
              <a:extLst>
                <a:ext uri="{FF2B5EF4-FFF2-40B4-BE49-F238E27FC236}">
                  <a16:creationId xmlns:a16="http://schemas.microsoft.com/office/drawing/2014/main" id="{11B410A2-F18F-4BD9-9BE2-40FEE83932CE}"/>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grpSp>
      <p:pic>
        <p:nvPicPr>
          <p:cNvPr id="26" name="Content Placeholder 25">
            <a:extLst>
              <a:ext uri="{FF2B5EF4-FFF2-40B4-BE49-F238E27FC236}">
                <a16:creationId xmlns:a16="http://schemas.microsoft.com/office/drawing/2014/main" id="{06B328F6-D86D-0063-B9F7-25969C4F275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91300" y="2369344"/>
            <a:ext cx="4343400" cy="3263900"/>
          </a:xfrm>
          <a:prstGeom prst="rect">
            <a:avLst/>
          </a:prstGeom>
        </p:spPr>
      </p:pic>
    </p:spTree>
    <p:extLst>
      <p:ext uri="{BB962C8B-B14F-4D97-AF65-F5344CB8AC3E}">
        <p14:creationId xmlns:p14="http://schemas.microsoft.com/office/powerpoint/2010/main" val="33767625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Prepare Final Report Out and Budget </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prepare the management report-out presentation.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a project report-out presentation to include: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Charter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Objectives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Proposals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Implementation Plan</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Benefits Summary</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02991"/>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presentation</a:t>
            </a:r>
          </a:p>
        </p:txBody>
      </p:sp>
      <p:grpSp>
        <p:nvGrpSpPr>
          <p:cNvPr id="3" name="Group 2">
            <a:extLst>
              <a:ext uri="{FF2B5EF4-FFF2-40B4-BE49-F238E27FC236}">
                <a16:creationId xmlns:a16="http://schemas.microsoft.com/office/drawing/2014/main" id="{C64EA973-D92A-B8DB-9B45-B1D6D7132F39}"/>
              </a:ext>
            </a:extLst>
          </p:cNvPr>
          <p:cNvGrpSpPr/>
          <p:nvPr/>
        </p:nvGrpSpPr>
        <p:grpSpPr>
          <a:xfrm>
            <a:off x="838200" y="297639"/>
            <a:ext cx="4451430" cy="307138"/>
            <a:chOff x="838200" y="297639"/>
            <a:chExt cx="4451430" cy="307138"/>
          </a:xfrm>
        </p:grpSpPr>
        <p:grpSp>
          <p:nvGrpSpPr>
            <p:cNvPr id="4" name="Group 3">
              <a:extLst>
                <a:ext uri="{FF2B5EF4-FFF2-40B4-BE49-F238E27FC236}">
                  <a16:creationId xmlns:a16="http://schemas.microsoft.com/office/drawing/2014/main" id="{97FDB211-393E-D071-7AA3-7A41FE904344}"/>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D062F352-830C-B300-A2E2-B578C29B6730}"/>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7578CAD0-9D39-78DA-F927-C7114B13BC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C279D0A0-163F-C565-A1D8-011F6898D177}"/>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04F6758-2677-9A44-AB8A-6F8FE06EC30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477443DB-50A7-65B3-BBD4-522ADA25593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97D0350A-8B6B-DF08-1D87-37F10CD2D6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DD9CCB0F-D97D-2970-954F-956EC76158DF}"/>
                </a:ext>
              </a:extLst>
            </p:cNvPr>
            <p:cNvSpPr txBox="1"/>
            <p:nvPr/>
          </p:nvSpPr>
          <p:spPr>
            <a:xfrm>
              <a:off x="2525717" y="313415"/>
              <a:ext cx="2763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Activity Action Plan</a:t>
              </a:r>
            </a:p>
          </p:txBody>
        </p:sp>
      </p:grpSp>
    </p:spTree>
    <p:extLst>
      <p:ext uri="{BB962C8B-B14F-4D97-AF65-F5344CB8AC3E}">
        <p14:creationId xmlns:p14="http://schemas.microsoft.com/office/powerpoint/2010/main" val="28186171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89</a:t>
            </a:fld>
            <a:endParaRPr lang="en-US" dirty="0"/>
          </a:p>
        </p:txBody>
      </p:sp>
    </p:spTree>
    <p:extLst>
      <p:ext uri="{BB962C8B-B14F-4D97-AF65-F5344CB8AC3E}">
        <p14:creationId xmlns:p14="http://schemas.microsoft.com/office/powerpoint/2010/main" val="3151471573"/>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LHC FONT">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14144</TotalTime>
  <Words>7610</Words>
  <Application>Microsoft Office PowerPoint</Application>
  <PresentationFormat>Widescreen</PresentationFormat>
  <Paragraphs>1595</Paragraphs>
  <Slides>89</Slides>
  <Notes>89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89</vt:i4>
      </vt:variant>
    </vt:vector>
  </HeadingPairs>
  <TitlesOfParts>
    <vt:vector size="97" baseType="lpstr">
      <vt:lpstr>Arial</vt:lpstr>
      <vt:lpstr>Calibri</vt:lpstr>
      <vt:lpstr>Comic Sans MS</vt:lpstr>
      <vt:lpstr>Roboto</vt:lpstr>
      <vt:lpstr>Roboto Medium</vt:lpstr>
      <vt:lpstr>Times New Roman</vt:lpstr>
      <vt:lpstr>Wingdings</vt:lpstr>
      <vt:lpstr>Office Theme</vt:lpstr>
      <vt:lpstr>PowerPoint Presentation</vt:lpstr>
      <vt:lpstr>PowerPoint Presentation</vt:lpstr>
      <vt:lpstr>PowerPoint Presentation</vt:lpstr>
      <vt:lpstr>Ground Rules for Event</vt:lpstr>
      <vt:lpstr>VA/VE Roadmap</vt:lpstr>
      <vt:lpstr>VA/VE Methodology</vt:lpstr>
      <vt:lpstr>Value Analysis / Value Engineering</vt:lpstr>
      <vt:lpstr>What is the Difference between VA and VE?</vt:lpstr>
      <vt:lpstr>What is the Difference between VA and VE?</vt:lpstr>
      <vt:lpstr>Cost Analysis</vt:lpstr>
      <vt:lpstr>VA/VE Roadmap</vt:lpstr>
      <vt:lpstr>VA/VE Kaizen Event</vt:lpstr>
      <vt:lpstr>Identify product/component/system or service</vt:lpstr>
      <vt:lpstr>Strategic Value Matrix</vt:lpstr>
      <vt:lpstr>Gather Information – Example Data to Collect</vt:lpstr>
      <vt:lpstr>Diagrams</vt:lpstr>
      <vt:lpstr>Fishbone and Process Map</vt:lpstr>
      <vt:lpstr>Process Layout Example</vt:lpstr>
      <vt:lpstr>Exploded Assemblies</vt:lpstr>
      <vt:lpstr>Design Interrelationship Diagram Example</vt:lpstr>
      <vt:lpstr>System Hierarchy</vt:lpstr>
      <vt:lpstr>Product and Process Information</vt:lpstr>
      <vt:lpstr>Forming the Team - Team Make Up</vt:lpstr>
      <vt:lpstr>Describe &amp; Quantify the Problem - Project Charter</vt:lpstr>
      <vt:lpstr>Stakeholder Management</vt:lpstr>
      <vt:lpstr>VA/VE Kaizen Event</vt:lpstr>
      <vt:lpstr>Understand the Interconnections of your Process - SIPOC</vt:lpstr>
      <vt:lpstr>Value Stream Map and Process Map Distinction</vt:lpstr>
      <vt:lpstr>Value Stream Map</vt:lpstr>
      <vt:lpstr>Mapping the Current Process</vt:lpstr>
      <vt:lpstr>Example Process Mapping Symbols</vt:lpstr>
      <vt:lpstr>Mapping the Process</vt:lpstr>
      <vt:lpstr>Voice Of Customer</vt:lpstr>
      <vt:lpstr>Quality Function Deployment</vt:lpstr>
      <vt:lpstr>Quality Function Deployment</vt:lpstr>
      <vt:lpstr>QFD Architecture Example</vt:lpstr>
      <vt:lpstr>What is Value?</vt:lpstr>
      <vt:lpstr>What is Function?</vt:lpstr>
      <vt:lpstr>Different Functions</vt:lpstr>
      <vt:lpstr>Function Analysis</vt:lpstr>
      <vt:lpstr>Develop a Broad Definition of the Function</vt:lpstr>
      <vt:lpstr>Function Analysis</vt:lpstr>
      <vt:lpstr>Identify key words for each function</vt:lpstr>
      <vt:lpstr>Exercise: Determine Function</vt:lpstr>
      <vt:lpstr>Define Function Exercise</vt:lpstr>
      <vt:lpstr>Determine Product Functions</vt:lpstr>
      <vt:lpstr>Cost Analysis</vt:lpstr>
      <vt:lpstr>Cost Analysis</vt:lpstr>
      <vt:lpstr>Cost Analysis</vt:lpstr>
      <vt:lpstr>Alternative Solutions for each Function</vt:lpstr>
      <vt:lpstr>Cost Cube</vt:lpstr>
      <vt:lpstr>Cost Cube Construction</vt:lpstr>
      <vt:lpstr>Cost Cube Example: New Product Development Project</vt:lpstr>
      <vt:lpstr>Exercise: Cost Cube Exercise</vt:lpstr>
      <vt:lpstr>Exercise: Cost and Alternatives Selection</vt:lpstr>
      <vt:lpstr>Competitive Analysis</vt:lpstr>
      <vt:lpstr>Competitive Analysis</vt:lpstr>
      <vt:lpstr>Competitive Analysis</vt:lpstr>
      <vt:lpstr>Determine Cost &amp; Competitive Analysis</vt:lpstr>
      <vt:lpstr>VA/VE Kaizen Event</vt:lpstr>
      <vt:lpstr>Thinking Outside The Box</vt:lpstr>
      <vt:lpstr>Determine Potential Solutions</vt:lpstr>
      <vt:lpstr>Potential Sources for Solutions</vt:lpstr>
      <vt:lpstr>Designing Out Cost</vt:lpstr>
      <vt:lpstr>Eight Cost Reduction Strategies</vt:lpstr>
      <vt:lpstr>Brainstorming Phases</vt:lpstr>
      <vt:lpstr>Rules for Brainstorming</vt:lpstr>
      <vt:lpstr>Pattern Breaking Tools</vt:lpstr>
      <vt:lpstr>Ideas Generator</vt:lpstr>
      <vt:lpstr>Back to Nature Examples</vt:lpstr>
      <vt:lpstr>Affinity Process</vt:lpstr>
      <vt:lpstr>The Interrelationship Diagram</vt:lpstr>
      <vt:lpstr>7 Alternatives for Each Function</vt:lpstr>
      <vt:lpstr>Example of Process Alternatives</vt:lpstr>
      <vt:lpstr>Complete ‘Process At A Glance’ for 7 Alternatives</vt:lpstr>
      <vt:lpstr>Example of Process Alternatives  (Means of Coating Carpets)</vt:lpstr>
      <vt:lpstr>7 Alternatives Form: Process Design</vt:lpstr>
      <vt:lpstr>Exercise: Paper Airplane Alternatives </vt:lpstr>
      <vt:lpstr>Exercise: 7 Alternatives</vt:lpstr>
      <vt:lpstr>VA/VE Kaizen Event</vt:lpstr>
      <vt:lpstr>Pen Dot Voting</vt:lpstr>
      <vt:lpstr>Ease/Impact Matrix</vt:lpstr>
      <vt:lpstr>Technical vs Economic Evaluation</vt:lpstr>
      <vt:lpstr>Pugh Matrix</vt:lpstr>
      <vt:lpstr>VA/VE Kaizen Event</vt:lpstr>
      <vt:lpstr>Prepare Key Elements for Next Phases</vt:lpstr>
      <vt:lpstr>Create Project Plan for the Next Phases</vt:lpstr>
      <vt:lpstr>Prepare Final Report Out and Budget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451</cp:revision>
  <dcterms:created xsi:type="dcterms:W3CDTF">2023-02-08T22:10:20Z</dcterms:created>
  <dcterms:modified xsi:type="dcterms:W3CDTF">2023-09-29T22:32:43Z</dcterms:modified>
</cp:coreProperties>
</file>