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4"/>
  </p:notesMasterIdLst>
  <p:sldIdLst>
    <p:sldId id="258" r:id="rId2"/>
    <p:sldId id="326" r:id="rId3"/>
    <p:sldId id="327" r:id="rId4"/>
    <p:sldId id="328" r:id="rId5"/>
    <p:sldId id="474" r:id="rId6"/>
    <p:sldId id="346" r:id="rId7"/>
    <p:sldId id="476" r:id="rId8"/>
    <p:sldId id="477" r:id="rId9"/>
    <p:sldId id="478" r:id="rId10"/>
    <p:sldId id="479" r:id="rId11"/>
    <p:sldId id="480" r:id="rId12"/>
    <p:sldId id="481" r:id="rId13"/>
    <p:sldId id="315" r:id="rId14"/>
    <p:sldId id="483" r:id="rId15"/>
    <p:sldId id="484" r:id="rId16"/>
    <p:sldId id="485" r:id="rId17"/>
    <p:sldId id="486" r:id="rId18"/>
    <p:sldId id="487" r:id="rId19"/>
    <p:sldId id="488" r:id="rId20"/>
    <p:sldId id="489" r:id="rId21"/>
    <p:sldId id="490" r:id="rId22"/>
    <p:sldId id="510" r:id="rId23"/>
    <p:sldId id="492" r:id="rId24"/>
    <p:sldId id="493" r:id="rId25"/>
    <p:sldId id="494" r:id="rId26"/>
    <p:sldId id="495" r:id="rId27"/>
    <p:sldId id="496" r:id="rId28"/>
    <p:sldId id="497" r:id="rId29"/>
    <p:sldId id="498" r:id="rId30"/>
    <p:sldId id="475" r:id="rId31"/>
    <p:sldId id="500" r:id="rId32"/>
    <p:sldId id="501" r:id="rId33"/>
    <p:sldId id="502" r:id="rId34"/>
    <p:sldId id="503" r:id="rId35"/>
    <p:sldId id="511" r:id="rId36"/>
    <p:sldId id="505" r:id="rId37"/>
    <p:sldId id="506" r:id="rId38"/>
    <p:sldId id="507" r:id="rId39"/>
    <p:sldId id="508" r:id="rId40"/>
    <p:sldId id="509" r:id="rId41"/>
    <p:sldId id="470" r:id="rId42"/>
    <p:sldId id="4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3228"/>
    <a:srgbClr val="222222"/>
    <a:srgbClr val="FFB627"/>
    <a:srgbClr val="7F7F7F"/>
    <a:srgbClr val="177E89"/>
    <a:srgbClr val="8EDCE6"/>
    <a:srgbClr val="F1BF98"/>
    <a:srgbClr val="2EC4B6"/>
    <a:srgbClr val="BDDBD0"/>
    <a:srgbClr val="2D7D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1940" autoAdjust="0"/>
  </p:normalViewPr>
  <p:slideViewPr>
    <p:cSldViewPr snapToGrid="0">
      <p:cViewPr varScale="1">
        <p:scale>
          <a:sx n="67" d="100"/>
          <a:sy n="67" d="100"/>
        </p:scale>
        <p:origin x="1133" y="67"/>
      </p:cViewPr>
      <p:guideLst/>
    </p:cSldViewPr>
  </p:slideViewPr>
  <p:notesTextViewPr>
    <p:cViewPr>
      <p:scale>
        <a:sx n="3" d="2"/>
        <a:sy n="3" d="2"/>
      </p:scale>
      <p:origin x="0" y="0"/>
    </p:cViewPr>
  </p:notesTextViewPr>
  <p:sorterViewPr>
    <p:cViewPr>
      <p:scale>
        <a:sx n="125" d="100"/>
        <a:sy n="125" d="100"/>
      </p:scale>
      <p:origin x="0" y="-16382"/>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Typical training length: 4 hours including one ten-minute break</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091731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964349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232526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279716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Visual Management and the goal of this event. </a:t>
            </a:r>
          </a:p>
          <a:p>
            <a:endParaRPr lang="en-US" altLang="en-US" dirty="0">
              <a:latin typeface="Arial" panose="020B0604020202020204" pitchFamily="34" charset="0"/>
            </a:endParaRPr>
          </a:p>
          <a:p>
            <a:r>
              <a:rPr lang="en-US" altLang="en-US" dirty="0">
                <a:latin typeface="Arial" panose="020B0604020202020204" pitchFamily="34" charset="0"/>
              </a:rPr>
              <a:t>It is a method to assess the status of any operation or area with little or no knowledge of the process and be able to make a determination on the status in moments.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470497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 </a:t>
            </a:r>
            <a:r>
              <a:rPr lang="en-US" altLang="en-US" dirty="0">
                <a:latin typeface="Arial" panose="020B0604020202020204" pitchFamily="34" charset="0"/>
              </a:rPr>
              <a:t>We want the learners to complete the exercise by simply looking at the two words together: </a:t>
            </a:r>
            <a:r>
              <a:rPr lang="ja-JP" altLang="en-US" dirty="0">
                <a:latin typeface="Arial" panose="020B0604020202020204" pitchFamily="34" charset="0"/>
              </a:rPr>
              <a:t>“</a:t>
            </a:r>
            <a:r>
              <a:rPr lang="en-US" altLang="ja-JP" dirty="0">
                <a:latin typeface="Arial" panose="020B0604020202020204" pitchFamily="34" charset="0"/>
              </a:rPr>
              <a:t>visual</a:t>
            </a:r>
            <a:r>
              <a:rPr lang="ja-JP" altLang="en-US" dirty="0">
                <a:latin typeface="Arial" panose="020B0604020202020204" pitchFamily="34" charset="0"/>
              </a:rPr>
              <a:t>”</a:t>
            </a:r>
            <a:r>
              <a:rPr lang="en-US" altLang="ja-JP" dirty="0">
                <a:latin typeface="Arial" panose="020B0604020202020204" pitchFamily="34" charset="0"/>
              </a:rPr>
              <a:t> and </a:t>
            </a:r>
            <a:r>
              <a:rPr lang="ja-JP" altLang="en-US" dirty="0">
                <a:latin typeface="Arial" panose="020B0604020202020204" pitchFamily="34" charset="0"/>
              </a:rPr>
              <a:t>“</a:t>
            </a:r>
            <a:r>
              <a:rPr lang="en-US" altLang="ja-JP" dirty="0">
                <a:latin typeface="Arial" panose="020B0604020202020204" pitchFamily="34" charset="0"/>
              </a:rPr>
              <a:t>management</a:t>
            </a:r>
            <a:r>
              <a:rPr lang="ja-JP" altLang="en-US" dirty="0">
                <a:latin typeface="Arial" panose="020B0604020202020204" pitchFamily="34" charset="0"/>
              </a:rPr>
              <a:t>”</a:t>
            </a:r>
            <a:r>
              <a:rPr lang="en-US" altLang="ja-JP" dirty="0">
                <a:latin typeface="Arial" panose="020B0604020202020204" pitchFamily="34" charset="0"/>
              </a:rPr>
              <a:t> and write what these mean to them. </a:t>
            </a:r>
          </a:p>
          <a:p>
            <a:r>
              <a:rPr lang="en-US" altLang="en-US" b="1" dirty="0">
                <a:latin typeface="Arial" panose="020B0604020202020204" pitchFamily="34" charset="0"/>
              </a:rPr>
              <a:t>DO:</a:t>
            </a:r>
            <a:r>
              <a:rPr lang="en-US" altLang="en-US" dirty="0">
                <a:latin typeface="Arial" panose="020B0604020202020204" pitchFamily="34" charset="0"/>
              </a:rPr>
              <a:t> Capture answers on a flipchart.</a:t>
            </a:r>
          </a:p>
          <a:p>
            <a:r>
              <a:rPr lang="en-US" altLang="en-US" b="1" dirty="0">
                <a:latin typeface="Arial" panose="020B0604020202020204" pitchFamily="34" charset="0"/>
              </a:rPr>
              <a:t>DO:</a:t>
            </a:r>
            <a:r>
              <a:rPr lang="en-US" altLang="en-US" dirty="0">
                <a:latin typeface="Arial" panose="020B0604020202020204" pitchFamily="34" charset="0"/>
              </a:rPr>
              <a:t>  Refer back to these answers when reviewing the following slides that define visual management.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4252179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do we develop processes so that people understand if </a:t>
            </a:r>
            <a:r>
              <a:rPr lang="ja-JP" altLang="en-US" dirty="0">
                <a:latin typeface="Arial" panose="020B0604020202020204" pitchFamily="34" charset="0"/>
              </a:rPr>
              <a:t>“</a:t>
            </a:r>
            <a:r>
              <a:rPr lang="en-US" altLang="ja-JP" dirty="0">
                <a:latin typeface="Arial" panose="020B0604020202020204" pitchFamily="34" charset="0"/>
              </a:rPr>
              <a:t>their</a:t>
            </a:r>
            <a:r>
              <a:rPr lang="ja-JP" altLang="en-US" dirty="0">
                <a:latin typeface="Arial" panose="020B0604020202020204" pitchFamily="34" charset="0"/>
              </a:rPr>
              <a:t>”</a:t>
            </a:r>
            <a:r>
              <a:rPr lang="en-US" altLang="ja-JP" dirty="0">
                <a:latin typeface="Arial" panose="020B0604020202020204" pitchFamily="34" charset="0"/>
              </a:rPr>
              <a:t> process is getting better or worse? Visual Management drives ownership, awareness and accountability from the lowest possible level in the organization…visible (in real time…at the point of occurrence) to the highest level in the organization.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942317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for examples of how Visual Management impacts each of these.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950510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Cover points on the slide. Speak to how Visual Management is a key fundamental to the success of a lean enterprise.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935607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Cover points on slide defining visual controls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827560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Visual management is common in our everyday world, but not in our manufacturing and office environments. Too often, we must </a:t>
            </a:r>
            <a:r>
              <a:rPr lang="ja-JP" altLang="en-US" dirty="0">
                <a:latin typeface="Arial" panose="020B0604020202020204" pitchFamily="34" charset="0"/>
              </a:rPr>
              <a:t>‘</a:t>
            </a:r>
            <a:r>
              <a:rPr lang="en-US" altLang="ja-JP" dirty="0">
                <a:latin typeface="Arial" panose="020B0604020202020204" pitchFamily="34" charset="0"/>
              </a:rPr>
              <a:t>go talk to somebody</a:t>
            </a:r>
            <a:r>
              <a:rPr lang="ja-JP" altLang="en-US" dirty="0">
                <a:latin typeface="Arial" panose="020B0604020202020204" pitchFamily="34" charset="0"/>
              </a:rPr>
              <a:t>’</a:t>
            </a:r>
            <a:r>
              <a:rPr lang="en-US" altLang="ja-JP" dirty="0">
                <a:latin typeface="Arial" panose="020B0604020202020204" pitchFamily="34" charset="0"/>
              </a:rPr>
              <a:t> to know what is going on: are we ahead, are we behind, are we better than yesterday, are we better than last month?</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goal of visual management is to determine abnormal from normal at a glance (within 5 seconds).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Can you determine:</a:t>
            </a:r>
          </a:p>
          <a:p>
            <a:r>
              <a:rPr lang="en-US" altLang="en-US" dirty="0">
                <a:latin typeface="Arial" panose="020B0604020202020204" pitchFamily="34" charset="0"/>
              </a:rPr>
              <a:t> * Are we ahead of or behind schedule?</a:t>
            </a:r>
          </a:p>
          <a:p>
            <a:r>
              <a:rPr lang="en-US" altLang="en-US" dirty="0">
                <a:latin typeface="Arial" panose="020B0604020202020204" pitchFamily="34" charset="0"/>
              </a:rPr>
              <a:t> * Are we better today than last week? Last month?</a:t>
            </a:r>
          </a:p>
          <a:p>
            <a:r>
              <a:rPr lang="en-US" altLang="en-US" dirty="0">
                <a:latin typeface="Arial" panose="020B0604020202020204" pitchFamily="34" charset="0"/>
              </a:rPr>
              <a:t> * Do we know the top issues affecting our area?</a:t>
            </a:r>
          </a:p>
          <a:p>
            <a:r>
              <a:rPr lang="en-US" altLang="en-US" dirty="0">
                <a:latin typeface="Arial" panose="020B0604020202020204" pitchFamily="34" charset="0"/>
              </a:rPr>
              <a:t> * Are we doing anything to eliminate them from occurring again?</a:t>
            </a:r>
          </a:p>
          <a:p>
            <a:endParaRPr lang="en-US" altLang="en-US" dirty="0">
              <a:latin typeface="Arial" panose="020B0604020202020204" pitchFamily="34" charset="0"/>
            </a:endParaRPr>
          </a:p>
          <a:p>
            <a:r>
              <a:rPr lang="en-US" altLang="en-US" dirty="0">
                <a:latin typeface="Arial" panose="020B0604020202020204" pitchFamily="34" charset="0"/>
              </a:rPr>
              <a:t>And, ultimately, do you (supervisor/manager) need to get involved?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994065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exercise can be replicated with different supplies (</a:t>
            </a:r>
            <a:r>
              <a:rPr lang="en-US" altLang="en-US" dirty="0" err="1">
                <a:latin typeface="Arial" panose="020B0604020202020204" pitchFamily="34" charset="0"/>
              </a:rPr>
              <a:t>ie</a:t>
            </a:r>
            <a:r>
              <a:rPr lang="en-US" altLang="en-US" dirty="0">
                <a:latin typeface="Arial" panose="020B0604020202020204" pitchFamily="34" charset="0"/>
              </a:rPr>
              <a:t>: supplies from an office – paper clips, folding paper, drawing lines, cutting, etc.) – this would need to be prepared in advance of the event. </a:t>
            </a:r>
          </a:p>
          <a:p>
            <a:r>
              <a:rPr lang="en-US" altLang="en-US" b="1" dirty="0">
                <a:latin typeface="Arial" panose="020B0604020202020204" pitchFamily="34" charset="0"/>
              </a:rPr>
              <a:t>DO:</a:t>
            </a:r>
            <a:r>
              <a:rPr lang="en-US" altLang="en-US" dirty="0">
                <a:latin typeface="Arial" panose="020B0604020202020204" pitchFamily="34" charset="0"/>
              </a:rPr>
              <a:t> Break the group into teams of 4 (keep the teams small so that everyone can be involved). </a:t>
            </a:r>
          </a:p>
          <a:p>
            <a:r>
              <a:rPr lang="en-US" altLang="en-US" dirty="0">
                <a:latin typeface="Arial" panose="020B0604020202020204" pitchFamily="34" charset="0"/>
              </a:rPr>
              <a:t>Pass out the contents of the Lego Visual Management exercise. Each group should get one envelope of instruction and one bag of </a:t>
            </a:r>
            <a:r>
              <a:rPr lang="en-US" altLang="en-US" dirty="0" err="1">
                <a:latin typeface="Arial" panose="020B0604020202020204" pitchFamily="34" charset="0"/>
              </a:rPr>
              <a:t>lego</a:t>
            </a:r>
            <a:r>
              <a:rPr lang="en-US" altLang="en-US" dirty="0">
                <a:latin typeface="Arial" panose="020B0604020202020204" pitchFamily="34" charset="0"/>
              </a:rPr>
              <a:t> contents with a stopwatch. </a:t>
            </a:r>
          </a:p>
          <a:p>
            <a:r>
              <a:rPr lang="en-US" altLang="en-US" dirty="0">
                <a:latin typeface="Arial" panose="020B0604020202020204" pitchFamily="34" charset="0"/>
              </a:rPr>
              <a:t>The teams are to assemble the figure according to the instructions. Position the teams in the room so that they are not too close to each other (do not want to reveal during the assembly that one team has visual directions). </a:t>
            </a:r>
          </a:p>
          <a:p>
            <a:r>
              <a:rPr lang="en-US" altLang="en-US" dirty="0">
                <a:latin typeface="Arial" panose="020B0604020202020204" pitchFamily="34" charset="0"/>
              </a:rPr>
              <a:t>Make sure you examine the figures for accuracy and quality when a team says they are </a:t>
            </a:r>
            <a:r>
              <a:rPr lang="ja-JP" altLang="en-US" dirty="0">
                <a:latin typeface="Arial" panose="020B0604020202020204" pitchFamily="34" charset="0"/>
              </a:rPr>
              <a:t>“</a:t>
            </a:r>
            <a:r>
              <a:rPr lang="en-US" altLang="ja-JP" dirty="0">
                <a:latin typeface="Arial" panose="020B0604020202020204" pitchFamily="34" charset="0"/>
              </a:rPr>
              <a:t>finished</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dirty="0">
                <a:latin typeface="Arial" panose="020B0604020202020204" pitchFamily="34" charset="0"/>
              </a:rPr>
              <a:t>At the end of the exercise have each team report their times and their experiences with this exercise. Ask the team who completed fastest to show their instructions to the group. </a:t>
            </a:r>
          </a:p>
          <a:p>
            <a:r>
              <a:rPr lang="en-US" altLang="en-US" dirty="0">
                <a:latin typeface="Arial" panose="020B0604020202020204" pitchFamily="34" charset="0"/>
              </a:rPr>
              <a:t>Ask for key take-aways regarding the use of visual controls.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556459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Ask the group to write these tools in their books. When complete, capture answers on a flipchart.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3165571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need to get away from using computer-generated reports that are discussed in meetings that take place in a conference room. How will we fully understand what the situation is if we don</a:t>
            </a:r>
            <a:r>
              <a:rPr lang="ja-JP" altLang="en-US" dirty="0">
                <a:latin typeface="Arial" panose="020B0604020202020204" pitchFamily="34" charset="0"/>
              </a:rPr>
              <a:t>’</a:t>
            </a:r>
            <a:r>
              <a:rPr lang="en-US" altLang="ja-JP" dirty="0">
                <a:latin typeface="Arial" panose="020B0604020202020204" pitchFamily="34" charset="0"/>
              </a:rPr>
              <a:t>t see it for ourselves? How will we get to root cause?</a:t>
            </a:r>
            <a:r>
              <a:rPr lang="ja-JP" altLang="en-US" dirty="0">
                <a:latin typeface="Arial" panose="020B0604020202020204" pitchFamily="34" charset="0"/>
              </a:rPr>
              <a:t>”</a:t>
            </a:r>
            <a:r>
              <a:rPr lang="en-US" altLang="ja-JP" dirty="0">
                <a:latin typeface="Arial" panose="020B0604020202020204" pitchFamily="34" charset="0"/>
              </a:rPr>
              <a:t>  The idea is that to be customer-driven, one must go to the customer's </a:t>
            </a:r>
            <a:r>
              <a:rPr lang="en-US" altLang="ja-JP" dirty="0" err="1">
                <a:latin typeface="Arial" panose="020B0604020202020204" pitchFamily="34" charset="0"/>
              </a:rPr>
              <a:t>gemba</a:t>
            </a:r>
            <a:r>
              <a:rPr lang="en-US" altLang="ja-JP" dirty="0">
                <a:latin typeface="Arial" panose="020B0604020202020204" pitchFamily="34" charset="0"/>
              </a:rPr>
              <a:t> to understand his problems and opportunities, using all one's senses to gather and process data.</a:t>
            </a:r>
          </a:p>
          <a:p>
            <a:endParaRPr lang="en-US" altLang="en-US" dirty="0">
              <a:latin typeface="Arial" panose="020B0604020202020204" pitchFamily="34" charset="0"/>
            </a:endParaRPr>
          </a:p>
          <a:p>
            <a:r>
              <a:rPr lang="en-US" altLang="en-US" dirty="0">
                <a:latin typeface="Arial" panose="020B0604020202020204" pitchFamily="34" charset="0"/>
              </a:rPr>
              <a:t>Gemba = </a:t>
            </a:r>
            <a:r>
              <a:rPr lang="en-US" altLang="en-US" dirty="0" err="1">
                <a:latin typeface="Arial" panose="020B0604020202020204" pitchFamily="34" charset="0"/>
              </a:rPr>
              <a:t>Genchi</a:t>
            </a:r>
            <a:r>
              <a:rPr lang="en-US" altLang="en-US" dirty="0">
                <a:latin typeface="Arial" panose="020B0604020202020204" pitchFamily="34" charset="0"/>
              </a:rPr>
              <a:t> </a:t>
            </a:r>
            <a:r>
              <a:rPr lang="en-US" altLang="en-US" dirty="0" err="1">
                <a:latin typeface="Arial" panose="020B0604020202020204" pitchFamily="34" charset="0"/>
              </a:rPr>
              <a:t>Gembhutsu</a:t>
            </a:r>
            <a:r>
              <a:rPr lang="en-US" altLang="en-US" dirty="0">
                <a:latin typeface="Arial" panose="020B0604020202020204" pitchFamily="34" charset="0"/>
              </a:rPr>
              <a:t> – a </a:t>
            </a:r>
            <a:r>
              <a:rPr lang="ja-JP" altLang="en-US" dirty="0">
                <a:latin typeface="Arial" panose="020B0604020202020204" pitchFamily="34" charset="0"/>
              </a:rPr>
              <a:t>“</a:t>
            </a:r>
            <a:r>
              <a:rPr lang="en-US" altLang="ja-JP" dirty="0">
                <a:latin typeface="Arial" panose="020B0604020202020204" pitchFamily="34" charset="0"/>
              </a:rPr>
              <a:t>go and see</a:t>
            </a:r>
            <a:r>
              <a:rPr lang="ja-JP" altLang="en-US" dirty="0">
                <a:latin typeface="Arial" panose="020B0604020202020204" pitchFamily="34" charset="0"/>
              </a:rPr>
              <a:t>”</a:t>
            </a:r>
            <a:r>
              <a:rPr lang="en-US" altLang="ja-JP" dirty="0">
                <a:latin typeface="Arial" panose="020B0604020202020204" pitchFamily="34" charset="0"/>
              </a:rPr>
              <a:t> mindset that makes no assumptions on what it going on.  The aim to find out everything that happens by physically viewing what happens at the points of origin.</a:t>
            </a:r>
          </a:p>
          <a:p>
            <a:endParaRPr lang="en-US" altLang="en-US" dirty="0">
              <a:latin typeface="Arial" panose="020B0604020202020204" pitchFamily="34" charset="0"/>
            </a:endParaRPr>
          </a:p>
          <a:p>
            <a:r>
              <a:rPr lang="en-US" altLang="en-US" dirty="0">
                <a:latin typeface="Arial" panose="020B0604020202020204" pitchFamily="34" charset="0"/>
              </a:rPr>
              <a:t>At Toyota they have a very high proportion of their management on the shop floor (the Gemba) so that supervisors can be intimately involved in quality issues as they arise. Their presence in the Gemba informs their decision making and speeds resolution of problems. This Gemba attitude is driven by the belief that all customer value is created in the Gemba and it is therefore the qualities of the Gemba which will determine the success of the company.</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847677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INSTRUCTIONS:</a:t>
            </a:r>
          </a:p>
          <a:p>
            <a:pPr>
              <a:lnSpc>
                <a:spcPct val="90000"/>
              </a:lnSpc>
            </a:pPr>
            <a:r>
              <a:rPr lang="en-US" altLang="en-US" dirty="0">
                <a:latin typeface="Arial" panose="020B0604020202020204" pitchFamily="34" charset="0"/>
              </a:rPr>
              <a:t>Split the class into small teams (keep at around 5). </a:t>
            </a:r>
          </a:p>
          <a:p>
            <a:pPr>
              <a:lnSpc>
                <a:spcPct val="90000"/>
              </a:lnSpc>
            </a:pPr>
            <a:r>
              <a:rPr lang="en-US" altLang="en-US" dirty="0">
                <a:latin typeface="Arial" panose="020B0604020202020204" pitchFamily="34" charset="0"/>
              </a:rPr>
              <a:t>Keep one team in the classroom. Send another team to the lobby of the facility (BUT DO NOT TELL THE OTHER TEAM THAT THIS TEAM IS GOING TO THE LOBBY). If there are more than 2 teams, send the other teams to an office or other conference space – but keep them apart. </a:t>
            </a:r>
          </a:p>
          <a:p>
            <a:pPr>
              <a:lnSpc>
                <a:spcPct val="90000"/>
              </a:lnSpc>
            </a:pPr>
            <a:r>
              <a:rPr lang="en-US" altLang="en-US" dirty="0">
                <a:latin typeface="Arial" panose="020B0604020202020204" pitchFamily="34" charset="0"/>
              </a:rPr>
              <a:t>Once the teams are separated, give individual instructions. They are to draw the lobby of their facility in as much detail as they can. They are not allowed to leave their designated space (</a:t>
            </a:r>
            <a:r>
              <a:rPr lang="en-US" altLang="en-US" dirty="0" err="1">
                <a:latin typeface="Arial" panose="020B0604020202020204" pitchFamily="34" charset="0"/>
              </a:rPr>
              <a:t>ie</a:t>
            </a:r>
            <a:r>
              <a:rPr lang="en-US" altLang="en-US" dirty="0">
                <a:latin typeface="Arial" panose="020B0604020202020204" pitchFamily="34" charset="0"/>
              </a:rPr>
              <a:t>: other teams cannot go down to the lobby during the exercise </a:t>
            </a:r>
            <a:r>
              <a:rPr lang="ja-JP" altLang="en-US" dirty="0">
                <a:latin typeface="Arial" panose="020B0604020202020204" pitchFamily="34" charset="0"/>
              </a:rPr>
              <a:t>“</a:t>
            </a:r>
            <a:r>
              <a:rPr lang="en-US" altLang="ja-JP" dirty="0">
                <a:latin typeface="Arial" panose="020B0604020202020204" pitchFamily="34" charset="0"/>
              </a:rPr>
              <a:t>to refresh their memory</a:t>
            </a:r>
            <a:r>
              <a:rPr lang="ja-JP" altLang="en-US" dirty="0">
                <a:latin typeface="Arial" panose="020B0604020202020204" pitchFamily="34" charset="0"/>
              </a:rPr>
              <a:t>”</a:t>
            </a:r>
            <a:r>
              <a:rPr lang="en-US" altLang="ja-JP" dirty="0">
                <a:latin typeface="Arial" panose="020B0604020202020204" pitchFamily="34" charset="0"/>
              </a:rPr>
              <a:t>. The more detailed the better. They have 15 minutes to complete this and return to share their drawings. </a:t>
            </a:r>
          </a:p>
          <a:p>
            <a:pPr>
              <a:lnSpc>
                <a:spcPct val="90000"/>
              </a:lnSpc>
            </a:pPr>
            <a:r>
              <a:rPr lang="en-US" altLang="en-US" dirty="0">
                <a:latin typeface="Arial" panose="020B0604020202020204" pitchFamily="34" charset="0"/>
              </a:rPr>
              <a:t>When the 15 minutes is complete – they are to return and hang their drawings. </a:t>
            </a:r>
          </a:p>
          <a:p>
            <a:pPr>
              <a:lnSpc>
                <a:spcPct val="90000"/>
              </a:lnSpc>
            </a:pPr>
            <a:r>
              <a:rPr lang="en-US" altLang="en-US" dirty="0">
                <a:latin typeface="Arial" panose="020B0604020202020204" pitchFamily="34" charset="0"/>
              </a:rPr>
              <a:t>The team from the lobby (</a:t>
            </a:r>
            <a:r>
              <a:rPr lang="en-US" altLang="en-US" dirty="0" err="1">
                <a:latin typeface="Arial" panose="020B0604020202020204" pitchFamily="34" charset="0"/>
              </a:rPr>
              <a:t>gemba</a:t>
            </a:r>
            <a:r>
              <a:rPr lang="en-US" altLang="en-US" dirty="0">
                <a:latin typeface="Arial" panose="020B0604020202020204" pitchFamily="34" charset="0"/>
              </a:rPr>
              <a:t>) should have the most detailed drawing. Point out differences in detail. </a:t>
            </a:r>
          </a:p>
          <a:p>
            <a:pPr>
              <a:lnSpc>
                <a:spcPct val="90000"/>
              </a:lnSpc>
            </a:pPr>
            <a:r>
              <a:rPr lang="en-US" altLang="en-US" dirty="0">
                <a:latin typeface="Arial" panose="020B0604020202020204" pitchFamily="34" charset="0"/>
              </a:rPr>
              <a:t>Discuss key takeaways – how does this exercise relate to how you solve problems in your business? </a:t>
            </a:r>
          </a:p>
          <a:p>
            <a:pPr>
              <a:lnSpc>
                <a:spcPct val="90000"/>
              </a:lnSpc>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 we go to </a:t>
            </a:r>
            <a:r>
              <a:rPr lang="en-US" altLang="ja-JP" dirty="0" err="1">
                <a:latin typeface="Arial" panose="020B0604020202020204" pitchFamily="34" charset="0"/>
              </a:rPr>
              <a:t>gemba</a:t>
            </a:r>
            <a:r>
              <a:rPr lang="en-US" altLang="ja-JP" dirty="0">
                <a:latin typeface="Arial" panose="020B0604020202020204" pitchFamily="34" charset="0"/>
              </a:rPr>
              <a:t>, we look to visual management to tell us what is happening.</a:t>
            </a:r>
            <a:r>
              <a:rPr lang="ja-JP" altLang="en-US" dirty="0">
                <a:latin typeface="Arial" panose="020B0604020202020204" pitchFamily="34" charset="0"/>
              </a:rPr>
              <a:t>”</a:t>
            </a:r>
            <a:endParaRPr lang="en-US" altLang="en-US" b="1"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787741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Visual management is a critical component of the improvement cycle–both the beginning and the end.  </a:t>
            </a:r>
          </a:p>
          <a:p>
            <a:r>
              <a:rPr lang="en-US" altLang="en-US" dirty="0">
                <a:latin typeface="Arial" panose="020B0604020202020204" pitchFamily="34" charset="0"/>
              </a:rPr>
              <a:t> - Visual management helps one </a:t>
            </a:r>
            <a:r>
              <a:rPr lang="ja-JP" altLang="en-US" dirty="0">
                <a:latin typeface="Arial" panose="020B0604020202020204" pitchFamily="34" charset="0"/>
              </a:rPr>
              <a:t>‘</a:t>
            </a:r>
            <a:r>
              <a:rPr lang="en-US" altLang="ja-JP" dirty="0">
                <a:latin typeface="Arial" panose="020B0604020202020204" pitchFamily="34" charset="0"/>
              </a:rPr>
              <a:t>see</a:t>
            </a:r>
            <a:r>
              <a:rPr lang="ja-JP" altLang="en-US" dirty="0">
                <a:latin typeface="Arial" panose="020B0604020202020204" pitchFamily="34" charset="0"/>
              </a:rPr>
              <a:t>’</a:t>
            </a:r>
            <a:r>
              <a:rPr lang="en-US" altLang="ja-JP" dirty="0">
                <a:latin typeface="Arial" panose="020B0604020202020204" pitchFamily="34" charset="0"/>
              </a:rPr>
              <a:t> where the problems (opportunities) are. It points us in the direction of the abnormality.</a:t>
            </a:r>
          </a:p>
          <a:p>
            <a:r>
              <a:rPr lang="en-US" altLang="en-US" dirty="0">
                <a:latin typeface="Arial" panose="020B0604020202020204" pitchFamily="34" charset="0"/>
              </a:rPr>
              <a:t> - Once we know where the problem is, we can then use the lean tools to look for the root cause (Pareto, Histogram, 5 why</a:t>
            </a:r>
            <a:r>
              <a:rPr lang="ja-JP" altLang="en-US" dirty="0">
                <a:latin typeface="Arial" panose="020B0604020202020204" pitchFamily="34" charset="0"/>
              </a:rPr>
              <a:t>’</a:t>
            </a:r>
            <a:r>
              <a:rPr lang="en-US" altLang="ja-JP" dirty="0">
                <a:latin typeface="Arial" panose="020B0604020202020204" pitchFamily="34" charset="0"/>
              </a:rPr>
              <a:t>s, TAKT Time, Time Observation, Bar Charts, Standard Work, Spaghetti diagram, etc. are a subset of the possible options)</a:t>
            </a:r>
          </a:p>
          <a:p>
            <a:r>
              <a:rPr lang="en-US" altLang="en-US" dirty="0">
                <a:latin typeface="Arial" panose="020B0604020202020204" pitchFamily="34" charset="0"/>
              </a:rPr>
              <a:t> - Implement solutions: Ultimately this is where the </a:t>
            </a:r>
            <a:r>
              <a:rPr lang="ja-JP" altLang="en-US" dirty="0">
                <a:latin typeface="Arial" panose="020B0604020202020204" pitchFamily="34" charset="0"/>
              </a:rPr>
              <a:t>‘</a:t>
            </a:r>
            <a:r>
              <a:rPr lang="en-US" altLang="ja-JP" dirty="0">
                <a:latin typeface="Arial" panose="020B0604020202020204" pitchFamily="34" charset="0"/>
              </a:rPr>
              <a:t>rubber meets the road.</a:t>
            </a:r>
            <a:r>
              <a:rPr lang="ja-JP" altLang="en-US" dirty="0">
                <a:latin typeface="Arial" panose="020B0604020202020204" pitchFamily="34" charset="0"/>
              </a:rPr>
              <a:t>’</a:t>
            </a:r>
            <a:r>
              <a:rPr lang="en-US" altLang="ja-JP" dirty="0">
                <a:latin typeface="Arial" panose="020B0604020202020204" pitchFamily="34" charset="0"/>
              </a:rPr>
              <a:t> In order to expect a different outcome, </a:t>
            </a:r>
            <a:r>
              <a:rPr lang="ja-JP" altLang="en-US" dirty="0">
                <a:latin typeface="Arial" panose="020B0604020202020204" pitchFamily="34" charset="0"/>
              </a:rPr>
              <a:t>“</a:t>
            </a:r>
            <a:r>
              <a:rPr lang="en-US" altLang="ja-JP" dirty="0">
                <a:latin typeface="Arial" panose="020B0604020202020204" pitchFamily="34" charset="0"/>
              </a:rPr>
              <a:t>what waste have you eliminated?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dirty="0">
                <a:latin typeface="Arial" panose="020B0604020202020204" pitchFamily="34" charset="0"/>
              </a:rPr>
              <a:t> - Standardize improvement: Once a better method has been developed, how will we sustain? How will we proliferate? How will we deploy?</a:t>
            </a:r>
          </a:p>
          <a:p>
            <a:pPr>
              <a:buFontTx/>
              <a:buChar char="-"/>
            </a:pPr>
            <a:r>
              <a:rPr lang="ja-JP" altLang="en-US" dirty="0">
                <a:latin typeface="Arial" panose="020B0604020202020204" pitchFamily="34" charset="0"/>
              </a:rPr>
              <a:t>“</a:t>
            </a:r>
            <a:r>
              <a:rPr lang="en-US" altLang="ja-JP" dirty="0">
                <a:latin typeface="Arial" panose="020B0604020202020204" pitchFamily="34" charset="0"/>
              </a:rPr>
              <a:t>If</a:t>
            </a:r>
            <a:r>
              <a:rPr lang="ja-JP" altLang="en-US" dirty="0">
                <a:latin typeface="Arial" panose="020B0604020202020204" pitchFamily="34" charset="0"/>
              </a:rPr>
              <a:t>”</a:t>
            </a:r>
            <a:r>
              <a:rPr lang="en-US" altLang="ja-JP" dirty="0">
                <a:latin typeface="Arial" panose="020B0604020202020204" pitchFamily="34" charset="0"/>
              </a:rPr>
              <a:t> an abnormality occurs, how will we know? When will we know? Timeliness is key to prevent erosion of the new method.  You MUST be able to determine </a:t>
            </a:r>
            <a:r>
              <a:rPr lang="ja-JP" altLang="en-US" dirty="0">
                <a:latin typeface="Arial" panose="020B0604020202020204" pitchFamily="34" charset="0"/>
              </a:rPr>
              <a:t>‘</a:t>
            </a:r>
            <a:r>
              <a:rPr lang="en-US" altLang="ja-JP" dirty="0">
                <a:latin typeface="Arial" panose="020B0604020202020204" pitchFamily="34" charset="0"/>
              </a:rPr>
              <a:t>abnormal from normal</a:t>
            </a:r>
            <a:r>
              <a:rPr lang="ja-JP" altLang="en-US" dirty="0">
                <a:latin typeface="Arial" panose="020B0604020202020204" pitchFamily="34" charset="0"/>
              </a:rPr>
              <a:t>’</a:t>
            </a:r>
            <a:r>
              <a:rPr lang="en-US" altLang="ja-JP" dirty="0">
                <a:latin typeface="Arial" panose="020B0604020202020204" pitchFamily="34" charset="0"/>
              </a:rPr>
              <a:t> in real time.</a:t>
            </a:r>
          </a:p>
          <a:p>
            <a:pPr>
              <a:buFontTx/>
              <a:buChar char="-"/>
            </a:pPr>
            <a:r>
              <a:rPr lang="en-US" altLang="en-US" dirty="0">
                <a:latin typeface="Arial" panose="020B0604020202020204" pitchFamily="34" charset="0"/>
              </a:rPr>
              <a:t> Good visual management tools will help us do this.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228760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Established visual management can allow us to take immediate action to solve problems.</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An analogy would be when we fall on the pavement and scrape our knee – we want to stop the bleeding – now! We take immediate actions to stop the bleeding.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But more importantly, after we stop the bleeding, what do we want to do?</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search for the root cause and implement actions to ensure that situation is never repeated. So if the root cause was uneven pavement, we may schedule to have the sidewalk re-paved so that it is smooth and even. Or if it was icy conditions, we could institute a shoveling and sand-spreading schedule when snow or ice storms occur as well as place caution signs on the sidewalk, </a:t>
            </a:r>
            <a:r>
              <a:rPr lang="en-US" altLang="ja-JP" dirty="0" err="1">
                <a:latin typeface="Arial" panose="020B0604020202020204" pitchFamily="34" charset="0"/>
              </a:rPr>
              <a:t>etc</a:t>
            </a:r>
            <a:r>
              <a:rPr lang="en-US" altLang="ja-JP" dirty="0">
                <a:latin typeface="Arial" panose="020B0604020202020204" pitchFamily="34" charset="0"/>
              </a:rPr>
              <a: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Ultimately, we want to drive Visual Management to be predictive management tools so that we can identify a potential problem and take action to correct it – BEFORE it ever happens. With good visual management in place – this can happen.</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710948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523835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895161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ALLOW FOR TEN MINUTE BREAK AT THE COMPLETION OF THIS SLIDE/SECTION.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2513574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526413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1496896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Japan, these are the guidelines for </a:t>
            </a:r>
            <a:r>
              <a:rPr lang="ja-JP" altLang="en-US" dirty="0">
                <a:latin typeface="Arial" panose="020B0604020202020204" pitchFamily="34" charset="0"/>
              </a:rPr>
              <a:t>‘</a:t>
            </a:r>
            <a:r>
              <a:rPr lang="en-US" altLang="ja-JP" dirty="0">
                <a:latin typeface="Arial" panose="020B0604020202020204" pitchFamily="34" charset="0"/>
              </a:rPr>
              <a:t>responsiveness.</a:t>
            </a:r>
            <a:r>
              <a:rPr lang="ja-JP" altLang="en-US" dirty="0">
                <a:latin typeface="Arial" panose="020B0604020202020204" pitchFamily="34" charset="0"/>
              </a:rPr>
              <a:t>’</a:t>
            </a:r>
            <a:r>
              <a:rPr lang="en-US" altLang="ja-JP" dirty="0">
                <a:latin typeface="Arial" panose="020B0604020202020204" pitchFamily="34" charset="0"/>
              </a:rPr>
              <a:t> Visual management in the office has the same objective, however the responsiveness levels are much worse.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316644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There are different types of visual management tools:</a:t>
            </a:r>
          </a:p>
          <a:p>
            <a:pPr>
              <a:lnSpc>
                <a:spcPct val="90000"/>
              </a:lnSpc>
            </a:pPr>
            <a:r>
              <a:rPr lang="en-US" altLang="en-US" b="1" dirty="0" err="1">
                <a:latin typeface="Arial" panose="020B0604020202020204" pitchFamily="34" charset="0"/>
              </a:rPr>
              <a:t>Signboarding</a:t>
            </a:r>
            <a:r>
              <a:rPr lang="en-US" altLang="en-US" dirty="0">
                <a:latin typeface="Arial" panose="020B0604020202020204" pitchFamily="34" charset="0"/>
              </a:rPr>
              <a:t>: Clear labeling and signage for everything</a:t>
            </a:r>
          </a:p>
          <a:p>
            <a:pPr>
              <a:lnSpc>
                <a:spcPct val="90000"/>
              </a:lnSpc>
            </a:pPr>
            <a:r>
              <a:rPr lang="en-US" altLang="en-US" b="1" dirty="0">
                <a:latin typeface="Arial" panose="020B0604020202020204" pitchFamily="34" charset="0"/>
              </a:rPr>
              <a:t>Line Demarcations</a:t>
            </a:r>
            <a:r>
              <a:rPr lang="en-US" altLang="en-US" dirty="0">
                <a:latin typeface="Arial" panose="020B0604020202020204" pitchFamily="34" charset="0"/>
              </a:rPr>
              <a:t>: Used to establish the </a:t>
            </a:r>
            <a:r>
              <a:rPr lang="ja-JP" altLang="en-US" dirty="0">
                <a:latin typeface="Arial" panose="020B0604020202020204" pitchFamily="34" charset="0"/>
              </a:rPr>
              <a:t>‘</a:t>
            </a:r>
            <a:r>
              <a:rPr lang="en-US" altLang="ja-JP" dirty="0">
                <a:latin typeface="Arial" panose="020B0604020202020204" pitchFamily="34" charset="0"/>
              </a:rPr>
              <a:t>rules of engagement</a:t>
            </a:r>
            <a:r>
              <a:rPr lang="ja-JP" altLang="en-US" dirty="0">
                <a:latin typeface="Arial" panose="020B0604020202020204" pitchFamily="34" charset="0"/>
              </a:rPr>
              <a:t>’</a:t>
            </a:r>
            <a:r>
              <a:rPr lang="en-US" altLang="ja-JP" dirty="0">
                <a:latin typeface="Arial" panose="020B0604020202020204" pitchFamily="34" charset="0"/>
              </a:rPr>
              <a:t> in a given area. Also tied to safety, productivity and individual performance</a:t>
            </a:r>
          </a:p>
          <a:p>
            <a:pPr>
              <a:lnSpc>
                <a:spcPct val="90000"/>
              </a:lnSpc>
            </a:pPr>
            <a:r>
              <a:rPr lang="en-US" altLang="en-US" b="1" dirty="0">
                <a:latin typeface="Arial" panose="020B0604020202020204" pitchFamily="34" charset="0"/>
              </a:rPr>
              <a:t>Andon Lamps</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signal</a:t>
            </a:r>
            <a:r>
              <a:rPr lang="ja-JP" altLang="en-US" dirty="0">
                <a:latin typeface="Arial" panose="020B0604020202020204" pitchFamily="34" charset="0"/>
              </a:rPr>
              <a:t>”</a:t>
            </a:r>
            <a:r>
              <a:rPr lang="en-US" altLang="ja-JP" dirty="0">
                <a:latin typeface="Arial" panose="020B0604020202020204" pitchFamily="34" charset="0"/>
              </a:rPr>
              <a:t> from the work area to a supervisor (process owner). Typically uses </a:t>
            </a:r>
            <a:r>
              <a:rPr lang="ja-JP" altLang="en-US" dirty="0">
                <a:latin typeface="Arial" panose="020B0604020202020204" pitchFamily="34" charset="0"/>
              </a:rPr>
              <a:t>“</a:t>
            </a:r>
            <a:r>
              <a:rPr lang="en-US" altLang="ja-JP" dirty="0">
                <a:latin typeface="Arial" panose="020B0604020202020204" pitchFamily="34" charset="0"/>
              </a:rPr>
              <a:t>green-yellow-red</a:t>
            </a:r>
            <a:r>
              <a:rPr lang="ja-JP" altLang="en-US" dirty="0">
                <a:latin typeface="Arial" panose="020B0604020202020204" pitchFamily="34" charset="0"/>
              </a:rPr>
              <a:t>”</a:t>
            </a:r>
            <a:r>
              <a:rPr lang="en-US" altLang="ja-JP" dirty="0">
                <a:latin typeface="Arial" panose="020B0604020202020204" pitchFamily="34" charset="0"/>
              </a:rPr>
              <a:t> as the indicators</a:t>
            </a:r>
          </a:p>
          <a:p>
            <a:pPr>
              <a:lnSpc>
                <a:spcPct val="90000"/>
              </a:lnSpc>
            </a:pPr>
            <a:r>
              <a:rPr lang="en-US" altLang="en-US" b="1" dirty="0">
                <a:latin typeface="Arial" panose="020B0604020202020204" pitchFamily="34" charset="0"/>
              </a:rPr>
              <a:t>Kanban:</a:t>
            </a:r>
            <a:r>
              <a:rPr lang="en-US" altLang="en-US" dirty="0">
                <a:latin typeface="Arial" panose="020B0604020202020204" pitchFamily="34" charset="0"/>
              </a:rPr>
              <a:t> Japanese word for signal. Typically used to </a:t>
            </a:r>
            <a:r>
              <a:rPr lang="ja-JP" altLang="en-US" dirty="0">
                <a:latin typeface="Arial" panose="020B0604020202020204" pitchFamily="34" charset="0"/>
              </a:rPr>
              <a:t>“</a:t>
            </a:r>
            <a:r>
              <a:rPr lang="en-US" altLang="ja-JP" dirty="0">
                <a:latin typeface="Arial" panose="020B0604020202020204" pitchFamily="34" charset="0"/>
              </a:rPr>
              <a:t>signal</a:t>
            </a:r>
            <a:r>
              <a:rPr lang="ja-JP" altLang="en-US" dirty="0">
                <a:latin typeface="Arial" panose="020B0604020202020204" pitchFamily="34" charset="0"/>
              </a:rPr>
              <a:t>”</a:t>
            </a:r>
            <a:r>
              <a:rPr lang="en-US" altLang="ja-JP" dirty="0">
                <a:latin typeface="Arial" panose="020B0604020202020204" pitchFamily="34" charset="0"/>
              </a:rPr>
              <a:t> the need for more materials or a certain type of material. There are many types of Kanban: Production Kanban (used to signal the need to produce more goods), Replenishment Kanban (used to signal the need to replenish stock at a location), Reorder Kanban (used to signal the reorder of materials from a supplier), Transport Kanban (used to signal the movement of materials from one location to another)</a:t>
            </a:r>
          </a:p>
          <a:p>
            <a:pPr>
              <a:lnSpc>
                <a:spcPct val="90000"/>
              </a:lnSpc>
            </a:pPr>
            <a:r>
              <a:rPr lang="en-US" altLang="en-US" b="1" dirty="0">
                <a:latin typeface="Arial" panose="020B0604020202020204" pitchFamily="34" charset="0"/>
              </a:rPr>
              <a:t>Production Management Boards</a:t>
            </a:r>
            <a:r>
              <a:rPr lang="en-US" altLang="en-US" dirty="0">
                <a:latin typeface="Arial" panose="020B0604020202020204" pitchFamily="34" charset="0"/>
              </a:rPr>
              <a:t>: used to monitor hour by hour </a:t>
            </a:r>
            <a:r>
              <a:rPr lang="ja-JP" altLang="en-US" dirty="0">
                <a:latin typeface="Arial" panose="020B0604020202020204" pitchFamily="34" charset="0"/>
              </a:rPr>
              <a:t>‘</a:t>
            </a:r>
            <a:r>
              <a:rPr lang="en-US" altLang="ja-JP" dirty="0">
                <a:latin typeface="Arial" panose="020B0604020202020204" pitchFamily="34" charset="0"/>
              </a:rPr>
              <a:t>cell</a:t>
            </a:r>
            <a:r>
              <a:rPr lang="ja-JP" altLang="en-US" dirty="0">
                <a:latin typeface="Arial" panose="020B0604020202020204" pitchFamily="34" charset="0"/>
              </a:rPr>
              <a:t>’</a:t>
            </a:r>
            <a:r>
              <a:rPr lang="en-US" altLang="ja-JP" dirty="0">
                <a:latin typeface="Arial" panose="020B0604020202020204" pitchFamily="34" charset="0"/>
              </a:rPr>
              <a:t> performance (office or shop).  Includes </a:t>
            </a:r>
            <a:r>
              <a:rPr lang="ja-JP" altLang="en-US" dirty="0">
                <a:latin typeface="Arial" panose="020B0604020202020204" pitchFamily="34" charset="0"/>
              </a:rPr>
              <a:t>“</a:t>
            </a:r>
            <a:r>
              <a:rPr lang="en-US" altLang="ja-JP" dirty="0">
                <a:latin typeface="Arial" panose="020B0604020202020204" pitchFamily="34" charset="0"/>
              </a:rPr>
              <a:t>Plan,</a:t>
            </a:r>
            <a:r>
              <a:rPr lang="ja-JP" altLang="en-US" dirty="0">
                <a:latin typeface="Arial" panose="020B0604020202020204" pitchFamily="34" charset="0"/>
              </a:rPr>
              <a:t>”</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Actual,</a:t>
            </a:r>
            <a:r>
              <a:rPr lang="ja-JP" altLang="en-US" dirty="0">
                <a:latin typeface="Arial" panose="020B0604020202020204" pitchFamily="34" charset="0"/>
              </a:rPr>
              <a:t>”</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Difference,</a:t>
            </a:r>
            <a:r>
              <a:rPr lang="ja-JP" altLang="en-US" dirty="0">
                <a:latin typeface="Arial" panose="020B0604020202020204" pitchFamily="34" charset="0"/>
              </a:rPr>
              <a:t>”</a:t>
            </a:r>
            <a:r>
              <a:rPr lang="en-US" altLang="ja-JP" dirty="0">
                <a:latin typeface="Arial" panose="020B0604020202020204" pitchFamily="34" charset="0"/>
              </a:rPr>
              <a:t> and </a:t>
            </a:r>
            <a:r>
              <a:rPr lang="ja-JP" altLang="en-US" dirty="0">
                <a:latin typeface="Arial" panose="020B0604020202020204" pitchFamily="34" charset="0"/>
              </a:rPr>
              <a:t>“</a:t>
            </a:r>
            <a:r>
              <a:rPr lang="en-US" altLang="ja-JP" dirty="0">
                <a:latin typeface="Arial" panose="020B0604020202020204" pitchFamily="34" charset="0"/>
              </a:rPr>
              <a:t>Comments</a:t>
            </a:r>
            <a:r>
              <a:rPr lang="ja-JP" altLang="en-US" dirty="0">
                <a:latin typeface="Arial" panose="020B0604020202020204" pitchFamily="34" charset="0"/>
              </a:rPr>
              <a:t>”</a:t>
            </a:r>
            <a:r>
              <a:rPr lang="en-US" altLang="ja-JP" dirty="0">
                <a:latin typeface="Arial" panose="020B0604020202020204" pitchFamily="34" charset="0"/>
              </a:rPr>
              <a:t> areas (typically filled out hourly)</a:t>
            </a:r>
          </a:p>
          <a:p>
            <a:pPr>
              <a:lnSpc>
                <a:spcPct val="90000"/>
              </a:lnSpc>
            </a:pPr>
            <a:r>
              <a:rPr lang="en-US" altLang="en-US" b="1" dirty="0">
                <a:latin typeface="Arial" panose="020B0604020202020204" pitchFamily="34" charset="0"/>
              </a:rPr>
              <a:t>Standard Work Charts</a:t>
            </a:r>
            <a:r>
              <a:rPr lang="en-US" altLang="en-US" dirty="0">
                <a:latin typeface="Arial" panose="020B0604020202020204" pitchFamily="34" charset="0"/>
              </a:rPr>
              <a:t>: the forms used to document Standard Work in a cell or work area. Typically includes Standard Work Combination Sheets, TAKT Time Calculation, and Standard Work Layout.  (Capacity sheets are also used where appropriate.)</a:t>
            </a:r>
          </a:p>
          <a:p>
            <a:pPr>
              <a:lnSpc>
                <a:spcPct val="90000"/>
              </a:lnSpc>
            </a:pPr>
            <a:r>
              <a:rPr lang="en-US" altLang="en-US" b="1" dirty="0">
                <a:latin typeface="Arial" panose="020B0604020202020204" pitchFamily="34" charset="0"/>
              </a:rPr>
              <a:t>Defective Item Displays</a:t>
            </a:r>
            <a:r>
              <a:rPr lang="en-US" altLang="en-US" dirty="0">
                <a:latin typeface="Arial" panose="020B0604020202020204" pitchFamily="34" charset="0"/>
              </a:rPr>
              <a:t>: just as it sounds, examples of </a:t>
            </a:r>
            <a:r>
              <a:rPr lang="ja-JP" altLang="en-US" dirty="0">
                <a:latin typeface="Arial" panose="020B0604020202020204" pitchFamily="34" charset="0"/>
              </a:rPr>
              <a:t>‘</a:t>
            </a:r>
            <a:r>
              <a:rPr lang="en-US" altLang="ja-JP" dirty="0">
                <a:latin typeface="Arial" panose="020B0604020202020204" pitchFamily="34" charset="0"/>
              </a:rPr>
              <a:t>bad products.</a:t>
            </a:r>
            <a:r>
              <a:rPr lang="ja-JP" altLang="en-US" dirty="0">
                <a:latin typeface="Arial" panose="020B0604020202020204" pitchFamily="34" charset="0"/>
              </a:rPr>
              <a:t>”</a:t>
            </a:r>
            <a:endParaRPr lang="en-US" altLang="ja-JP" dirty="0">
              <a:latin typeface="Arial" panose="020B0604020202020204" pitchFamily="34" charset="0"/>
            </a:endParaRPr>
          </a:p>
          <a:p>
            <a:pPr>
              <a:lnSpc>
                <a:spcPct val="90000"/>
              </a:lnSpc>
            </a:pP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1893999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Stack-lights/</a:t>
            </a:r>
            <a:r>
              <a:rPr lang="en-US" altLang="en-US" dirty="0" err="1">
                <a:latin typeface="Arial" panose="020B0604020202020204" pitchFamily="34" charset="0"/>
              </a:rPr>
              <a:t>Andons</a:t>
            </a:r>
            <a:r>
              <a:rPr lang="en-US" altLang="en-US" dirty="0">
                <a:latin typeface="Arial" panose="020B0604020202020204" pitchFamily="34" charset="0"/>
              </a:rPr>
              <a:t> </a:t>
            </a:r>
            <a:r>
              <a:rPr lang="en-US" altLang="en-US" i="1" dirty="0">
                <a:latin typeface="Arial" panose="020B0604020202020204" pitchFamily="34" charset="0"/>
              </a:rPr>
              <a:t>should</a:t>
            </a:r>
            <a:r>
              <a:rPr lang="en-US" altLang="en-US" dirty="0">
                <a:latin typeface="Arial" panose="020B0604020202020204" pitchFamily="34" charset="0"/>
              </a:rPr>
              <a:t> also be used in the office. Instead of using lights, use </a:t>
            </a:r>
            <a:r>
              <a:rPr lang="ja-JP" altLang="en-US" dirty="0">
                <a:latin typeface="Arial" panose="020B0604020202020204" pitchFamily="34" charset="0"/>
              </a:rPr>
              <a:t>“</a:t>
            </a:r>
            <a:r>
              <a:rPr lang="en-US" altLang="ja-JP" dirty="0">
                <a:latin typeface="Arial" panose="020B0604020202020204" pitchFamily="34" charset="0"/>
              </a:rPr>
              <a:t>bicycle flags</a:t>
            </a:r>
            <a:r>
              <a:rPr lang="ja-JP" altLang="en-US" dirty="0">
                <a:latin typeface="Arial" panose="020B0604020202020204" pitchFamily="34" charset="0"/>
              </a:rPr>
              <a:t>”</a:t>
            </a:r>
            <a:r>
              <a:rPr lang="en-US" altLang="ja-JP" dirty="0">
                <a:latin typeface="Arial" panose="020B0604020202020204" pitchFamily="34" charset="0"/>
              </a:rPr>
              <a:t> (green – yellow – red) or construction paper to </a:t>
            </a:r>
            <a:r>
              <a:rPr lang="ja-JP" altLang="en-US" dirty="0">
                <a:latin typeface="Arial" panose="020B0604020202020204" pitchFamily="34" charset="0"/>
              </a:rPr>
              <a:t>‘</a:t>
            </a:r>
            <a:r>
              <a:rPr lang="en-US" altLang="ja-JP" dirty="0">
                <a:latin typeface="Arial" panose="020B0604020202020204" pitchFamily="34" charset="0"/>
              </a:rPr>
              <a:t>signal</a:t>
            </a:r>
            <a:r>
              <a:rPr lang="ja-JP" altLang="en-US" dirty="0">
                <a:latin typeface="Arial" panose="020B0604020202020204" pitchFamily="34" charset="0"/>
              </a:rPr>
              <a:t>’</a:t>
            </a:r>
            <a:r>
              <a:rPr lang="en-US" altLang="ja-JP" dirty="0">
                <a:latin typeface="Arial" panose="020B0604020202020204" pitchFamily="34" charset="0"/>
              </a:rPr>
              <a:t> operating condition of the cell (e.g. quoting cell, order entry cell, invoicing cell)</a:t>
            </a:r>
          </a:p>
          <a:p>
            <a:endParaRPr lang="en-US" altLang="en-US" dirty="0">
              <a:latin typeface="Arial" panose="020B0604020202020204" pitchFamily="34" charset="0"/>
            </a:endParaRPr>
          </a:p>
          <a:p>
            <a:r>
              <a:rPr lang="en-US" altLang="en-US" dirty="0">
                <a:latin typeface="Arial" panose="020B0604020202020204" pitchFamily="34" charset="0"/>
              </a:rPr>
              <a:t>…remember this is a tool to enable a supervisor to determine abnormal from normal (in 5 seconds or less)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35697716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is a very common technique used in TPM events on critical equipment (heat treat furnaces, paint lines, wash systems, CNC equipment, bathrooms, etc.).</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512695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Example of </a:t>
            </a:r>
            <a:r>
              <a:rPr lang="ja-JP" altLang="en-US" dirty="0">
                <a:latin typeface="Arial" panose="020B0604020202020204" pitchFamily="34" charset="0"/>
              </a:rPr>
              <a:t>“</a:t>
            </a:r>
            <a:r>
              <a:rPr lang="en-US" altLang="ja-JP" dirty="0">
                <a:latin typeface="Arial" panose="020B0604020202020204" pitchFamily="34" charset="0"/>
              </a:rPr>
              <a:t>key metrics</a:t>
            </a:r>
            <a:r>
              <a:rPr lang="ja-JP" altLang="en-US" dirty="0">
                <a:latin typeface="Arial" panose="020B0604020202020204" pitchFamily="34" charset="0"/>
              </a:rPr>
              <a:t>”</a:t>
            </a:r>
            <a:r>
              <a:rPr lang="en-US" altLang="ja-JP" dirty="0">
                <a:latin typeface="Arial" panose="020B0604020202020204" pitchFamily="34" charset="0"/>
              </a:rPr>
              <a:t> board for a cell.</a:t>
            </a:r>
          </a:p>
          <a:p>
            <a:r>
              <a:rPr lang="en-US" altLang="en-US" dirty="0">
                <a:latin typeface="Arial" panose="020B0604020202020204" pitchFamily="34" charset="0"/>
              </a:rPr>
              <a:t> - Production Control board</a:t>
            </a:r>
          </a:p>
          <a:p>
            <a:r>
              <a:rPr lang="en-US" altLang="en-US" dirty="0">
                <a:latin typeface="Arial" panose="020B0604020202020204" pitchFamily="34" charset="0"/>
              </a:rPr>
              <a:t> - Standard Work Sheets (SOPs)</a:t>
            </a:r>
          </a:p>
          <a:p>
            <a:r>
              <a:rPr lang="en-US" altLang="en-US" dirty="0">
                <a:latin typeface="Arial" panose="020B0604020202020204" pitchFamily="34" charset="0"/>
              </a:rPr>
              <a:t> - Quality, Cost and Delivery performance</a:t>
            </a:r>
          </a:p>
          <a:p>
            <a:r>
              <a:rPr lang="en-US" altLang="en-US" dirty="0">
                <a:latin typeface="Arial" panose="020B0604020202020204" pitchFamily="34" charset="0"/>
              </a:rPr>
              <a:t> - Top concerns/issues in the cell and what</a:t>
            </a:r>
            <a:r>
              <a:rPr lang="ja-JP" altLang="en-US" dirty="0">
                <a:latin typeface="Arial" panose="020B0604020202020204" pitchFamily="34" charset="0"/>
              </a:rPr>
              <a:t>’</a:t>
            </a:r>
            <a:r>
              <a:rPr lang="en-US" altLang="ja-JP" dirty="0">
                <a:latin typeface="Arial" panose="020B0604020202020204" pitchFamily="34" charset="0"/>
              </a:rPr>
              <a:t>s being done to fix them</a:t>
            </a:r>
          </a:p>
          <a:p>
            <a:r>
              <a:rPr lang="en-US" altLang="en-US" dirty="0">
                <a:latin typeface="Arial" panose="020B0604020202020204" pitchFamily="34" charset="0"/>
              </a:rPr>
              <a:t> - Pareto of top issues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5074069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8580912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2884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310066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5945784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7422165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 you see?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POSSIBLE ANSWERS:</a:t>
            </a:r>
          </a:p>
          <a:p>
            <a:r>
              <a:rPr lang="en-US" altLang="en-US" dirty="0">
                <a:latin typeface="Arial" panose="020B0604020202020204" pitchFamily="34" charset="0"/>
              </a:rPr>
              <a:t> - Safety: Warning signs: hard hat, hot steel, yellow markings on floor</a:t>
            </a:r>
          </a:p>
          <a:p>
            <a:r>
              <a:rPr lang="en-US" altLang="en-US" dirty="0">
                <a:latin typeface="Arial" panose="020B0604020202020204" pitchFamily="34" charset="0"/>
              </a:rPr>
              <a:t> - Quality: dirty gloves, clean gloves, Standard Work, SOPs</a:t>
            </a:r>
          </a:p>
          <a:p>
            <a:r>
              <a:rPr lang="en-US" altLang="en-US" dirty="0">
                <a:latin typeface="Arial" panose="020B0604020202020204" pitchFamily="34" charset="0"/>
              </a:rPr>
              <a:t> - TPM (quality): </a:t>
            </a:r>
            <a:r>
              <a:rPr lang="ja-JP" altLang="en-US" dirty="0">
                <a:latin typeface="Arial" panose="020B0604020202020204" pitchFamily="34" charset="0"/>
              </a:rPr>
              <a:t>“</a:t>
            </a:r>
            <a:r>
              <a:rPr lang="en-US" altLang="ja-JP" dirty="0">
                <a:latin typeface="Arial" panose="020B0604020202020204" pitchFamily="34" charset="0"/>
              </a:rPr>
              <a:t>low</a:t>
            </a:r>
            <a:r>
              <a:rPr lang="ja-JP" altLang="en-US" dirty="0">
                <a:latin typeface="Arial" panose="020B0604020202020204" pitchFamily="34" charset="0"/>
              </a:rPr>
              <a:t>”</a:t>
            </a:r>
            <a:r>
              <a:rPr lang="en-US" altLang="ja-JP" dirty="0">
                <a:latin typeface="Arial" panose="020B0604020202020204" pitchFamily="34" charset="0"/>
              </a:rPr>
              <a:t> Indicator lights, Green marking on gages, production results</a:t>
            </a:r>
          </a:p>
          <a:p>
            <a:r>
              <a:rPr lang="en-US" altLang="en-US" dirty="0">
                <a:latin typeface="Arial" panose="020B0604020202020204" pitchFamily="34" charset="0"/>
              </a:rPr>
              <a:t> - History: trend charts for quality, production</a:t>
            </a:r>
          </a:p>
          <a:p>
            <a:r>
              <a:rPr lang="en-US" altLang="en-US" dirty="0">
                <a:latin typeface="Arial" panose="020B0604020202020204" pitchFamily="34" charset="0"/>
              </a:rPr>
              <a:t> - </a:t>
            </a:r>
            <a:r>
              <a:rPr lang="ja-JP" altLang="en-US" dirty="0">
                <a:latin typeface="Arial" panose="020B0604020202020204" pitchFamily="34" charset="0"/>
              </a:rPr>
              <a:t>“</a:t>
            </a:r>
            <a:r>
              <a:rPr lang="en-US" altLang="ja-JP" dirty="0">
                <a:latin typeface="Arial" panose="020B0604020202020204" pitchFamily="34" charset="0"/>
              </a:rPr>
              <a:t>Real Time</a:t>
            </a:r>
            <a:r>
              <a:rPr lang="ja-JP" altLang="en-US" dirty="0">
                <a:latin typeface="Arial" panose="020B0604020202020204" pitchFamily="34" charset="0"/>
              </a:rPr>
              <a:t>”</a:t>
            </a:r>
            <a:r>
              <a:rPr lang="en-US" altLang="ja-JP" dirty="0">
                <a:latin typeface="Arial" panose="020B0604020202020204" pitchFamily="34" charset="0"/>
              </a:rPr>
              <a:t> awareness: Stack Lights (Green-Yellow-Red). Is the machine performing to expectation?</a:t>
            </a:r>
          </a:p>
          <a:p>
            <a:r>
              <a:rPr lang="en-US" altLang="en-US" dirty="0">
                <a:latin typeface="Arial" panose="020B0604020202020204" pitchFamily="34" charset="0"/>
              </a:rPr>
              <a:t> - Discipline to standard: SOPs, yellow markings on floor, updated charts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7807185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36351245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these common pitfalls. Ask if they have seen others. Have the group discuss their experiences with any of these pitfalls.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1996796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9118247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034104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5295577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key summary points.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41955905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022856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762135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
        <p:nvSpPr>
          <p:cNvPr id="2" name="Slide Number Placeholder 2">
            <a:extLst>
              <a:ext uri="{FF2B5EF4-FFF2-40B4-BE49-F238E27FC236}">
                <a16:creationId xmlns:a16="http://schemas.microsoft.com/office/drawing/2014/main" id="{68ED424F-63A6-B0EB-9172-EC170ADB2C43}"/>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DECAAD20-D973-BA53-5451-4ADA765CF578}"/>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
        <p:nvSpPr>
          <p:cNvPr id="3" name="Slide Number Placeholder 2">
            <a:extLst>
              <a:ext uri="{FF2B5EF4-FFF2-40B4-BE49-F238E27FC236}">
                <a16:creationId xmlns:a16="http://schemas.microsoft.com/office/drawing/2014/main" id="{140DCE53-036B-BD4C-39F8-A6134679CC57}"/>
              </a:ext>
            </a:extLst>
          </p:cNvPr>
          <p:cNvSpPr>
            <a:spLocks noGrp="1"/>
          </p:cNvSpPr>
          <p:nvPr>
            <p:ph type="sldNum" sz="quarter" idx="4"/>
          </p:nvPr>
        </p:nvSpPr>
        <p:spPr>
          <a:xfrm>
            <a:off x="8585934"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
        <p:nvSpPr>
          <p:cNvPr id="4" name="Slide Number Placeholder 2">
            <a:extLst>
              <a:ext uri="{FF2B5EF4-FFF2-40B4-BE49-F238E27FC236}">
                <a16:creationId xmlns:a16="http://schemas.microsoft.com/office/drawing/2014/main" id="{80D816C9-D211-3389-9A93-CBB79EB80D10}"/>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4" name="Slide Number Placeholder 2">
            <a:extLst>
              <a:ext uri="{FF2B5EF4-FFF2-40B4-BE49-F238E27FC236}">
                <a16:creationId xmlns:a16="http://schemas.microsoft.com/office/drawing/2014/main" id="{AE259B9E-247D-7894-A1BB-7DCA2F0BE403}"/>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2">
            <a:extLst>
              <a:ext uri="{FF2B5EF4-FFF2-40B4-BE49-F238E27FC236}">
                <a16:creationId xmlns:a16="http://schemas.microsoft.com/office/drawing/2014/main" id="{F44EE718-9267-FA26-4919-034EE8FD0383}"/>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5" name="Slide Number Placeholder 2">
            <a:extLst>
              <a:ext uri="{FF2B5EF4-FFF2-40B4-BE49-F238E27FC236}">
                <a16:creationId xmlns:a16="http://schemas.microsoft.com/office/drawing/2014/main" id="{C102F44E-D22E-26CC-24AD-9F87448A1916}"/>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7" name="Slide Number Placeholder 2">
            <a:extLst>
              <a:ext uri="{FF2B5EF4-FFF2-40B4-BE49-F238E27FC236}">
                <a16:creationId xmlns:a16="http://schemas.microsoft.com/office/drawing/2014/main" id="{715BF7E9-55B5-8415-BAA4-A72C07E217E8}"/>
              </a:ext>
            </a:extLst>
          </p:cNvPr>
          <p:cNvSpPr>
            <a:spLocks noGrp="1"/>
          </p:cNvSpPr>
          <p:nvPr>
            <p:ph type="sldNum" sz="quarter" idx="10"/>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56CDE7A3-A7EE-4C43-5A77-882A6A4D7E3E}"/>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2F45EA47-4246-F41D-5958-D5160317BC17}"/>
              </a:ext>
            </a:extLst>
          </p:cNvPr>
          <p:cNvSpPr txBox="1"/>
          <p:nvPr userDrawn="1"/>
        </p:nvSpPr>
        <p:spPr>
          <a:xfrm>
            <a:off x="838200" y="6389310"/>
            <a:ext cx="4171934" cy="400110"/>
          </a:xfrm>
          <a:prstGeom prst="rect">
            <a:avLst/>
          </a:prstGeom>
          <a:noFill/>
        </p:spPr>
        <p:txBody>
          <a:bodyPr wrap="square" rtlCol="0">
            <a:spAutoFit/>
          </a:bodyPr>
          <a:lstStyle/>
          <a:p>
            <a:r>
              <a:rPr lang="en-US" sz="1000" dirty="0"/>
              <a:t>PRESENTATION TITLE GOES HERE</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5" name="Slide Number Placeholder 2">
            <a:extLst>
              <a:ext uri="{FF2B5EF4-FFF2-40B4-BE49-F238E27FC236}">
                <a16:creationId xmlns:a16="http://schemas.microsoft.com/office/drawing/2014/main" id="{1C0CB912-1637-96F4-0E36-B2197AEEC027}"/>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5" name="Slide Number Placeholder 2">
            <a:extLst>
              <a:ext uri="{FF2B5EF4-FFF2-40B4-BE49-F238E27FC236}">
                <a16:creationId xmlns:a16="http://schemas.microsoft.com/office/drawing/2014/main" id="{CF699C67-2C45-1767-11DE-544EAD515FD8}"/>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4" name="Slide Number Placeholder 2">
            <a:extLst>
              <a:ext uri="{FF2B5EF4-FFF2-40B4-BE49-F238E27FC236}">
                <a16:creationId xmlns:a16="http://schemas.microsoft.com/office/drawing/2014/main" id="{0217752B-D08F-DAD5-6073-68F06F083644}"/>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2">
            <a:extLst>
              <a:ext uri="{FF2B5EF4-FFF2-40B4-BE49-F238E27FC236}">
                <a16:creationId xmlns:a16="http://schemas.microsoft.com/office/drawing/2014/main" id="{CDFB064F-73EA-8D56-3B26-42F6E7EFDFDD}"/>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a:t>
            </a:fld>
            <a:endParaRPr lang="en-US"/>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VISMGMT PRESENTATION ENG REV4.0</a:t>
            </a:r>
          </a:p>
          <a:p>
            <a:endParaRPr lang="en-US" sz="1000" dirty="0" err="1"/>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8.jpe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12.jpeg"/><Relationship Id="rId4" Type="http://schemas.openxmlformats.org/officeDocument/2006/relationships/image" Target="../media/image11.jpeg"/></Relationships>
</file>

<file path=ppt/slides/_rels/slide26.xml.rels><?xml version="1.0" encoding="UTF-8" standalone="yes"?>
<Relationships xmlns="http://schemas.openxmlformats.org/package/2006/relationships"><Relationship Id="rId3" Type="http://schemas.openxmlformats.org/officeDocument/2006/relationships/hyperlink" Target="http://www.signaworks.com/tower/main/docs/signaworks_370_Series_Modular_Tower_Light.pdf"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0.xml"/><Relationship Id="rId1" Type="http://schemas.openxmlformats.org/officeDocument/2006/relationships/slideLayout" Target="../slideLayouts/slideLayout9.xml"/><Relationship Id="rId5" Type="http://schemas.openxmlformats.org/officeDocument/2006/relationships/image" Target="../media/image18.jpeg"/><Relationship Id="rId4" Type="http://schemas.openxmlformats.org/officeDocument/2006/relationships/image" Target="../media/image17.jpeg"/></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20.jpeg"/></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gi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Visual Management</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2DCF-BAB1-5F2B-601F-3334D8ECE687}"/>
              </a:ext>
            </a:extLst>
          </p:cNvPr>
          <p:cNvSpPr>
            <a:spLocks noGrp="1"/>
          </p:cNvSpPr>
          <p:nvPr>
            <p:ph type="title"/>
          </p:nvPr>
        </p:nvSpPr>
        <p:spPr/>
        <p:txBody>
          <a:bodyPr/>
          <a:lstStyle/>
          <a:p>
            <a:r>
              <a:rPr lang="en-US" dirty="0"/>
              <a:t>Other Modules In This Series</a:t>
            </a:r>
          </a:p>
        </p:txBody>
      </p:sp>
      <p:sp>
        <p:nvSpPr>
          <p:cNvPr id="3" name="Content Placeholder 3">
            <a:extLst>
              <a:ext uri="{FF2B5EF4-FFF2-40B4-BE49-F238E27FC236}">
                <a16:creationId xmlns:a16="http://schemas.microsoft.com/office/drawing/2014/main" id="{2DE22F5B-0ED7-9B1A-A260-C714A06F6D8D}"/>
              </a:ext>
            </a:extLst>
          </p:cNvPr>
          <p:cNvSpPr txBox="1">
            <a:spLocks/>
          </p:cNvSpPr>
          <p:nvPr/>
        </p:nvSpPr>
        <p:spPr>
          <a:xfrm>
            <a:off x="5964518" y="168420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Intro to Lean</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Mapping</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Standard Work</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/VSMI)</a:t>
            </a:r>
          </a:p>
        </p:txBody>
      </p:sp>
      <p:sp>
        <p:nvSpPr>
          <p:cNvPr id="4" name="Steve Jones">
            <a:extLst>
              <a:ext uri="{FF2B5EF4-FFF2-40B4-BE49-F238E27FC236}">
                <a16:creationId xmlns:a16="http://schemas.microsoft.com/office/drawing/2014/main" id="{B6676899-EC75-8920-F33D-CCD7B872A3C8}"/>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5" name="Head of Management Dept.">
            <a:extLst>
              <a:ext uri="{FF2B5EF4-FFF2-40B4-BE49-F238E27FC236}">
                <a16:creationId xmlns:a16="http://schemas.microsoft.com/office/drawing/2014/main" id="{FED8FB5A-94EA-4A6F-1D86-3986B231E3C4}"/>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27FEA71-DF2A-69B2-6339-1972E08AA96C}"/>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D567D265-DBA4-640B-F70C-E345C9035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9" name="Slide Number Placeholder 2">
            <a:extLst>
              <a:ext uri="{FF2B5EF4-FFF2-40B4-BE49-F238E27FC236}">
                <a16:creationId xmlns:a16="http://schemas.microsoft.com/office/drawing/2014/main" id="{FB743B8F-8573-6203-575B-F671C499E71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a:t>
            </a:fld>
            <a:endParaRPr lang="en-US"/>
          </a:p>
        </p:txBody>
      </p:sp>
    </p:spTree>
    <p:extLst>
      <p:ext uri="{BB962C8B-B14F-4D97-AF65-F5344CB8AC3E}">
        <p14:creationId xmlns:p14="http://schemas.microsoft.com/office/powerpoint/2010/main" val="366177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9536E-A3E9-9AC3-2CF5-E5110EFBF049}"/>
              </a:ext>
            </a:extLst>
          </p:cNvPr>
          <p:cNvSpPr>
            <a:spLocks noGrp="1"/>
          </p:cNvSpPr>
          <p:nvPr>
            <p:ph type="sldNum" sz="quarter" idx="11"/>
          </p:nvPr>
        </p:nvSpPr>
        <p:spPr/>
        <p:txBody>
          <a:bodyPr/>
          <a:lstStyle/>
          <a:p>
            <a:fld id="{CC6D4273-7FC1-0947-B9FE-19CB3C0D1FB6}" type="slidenum">
              <a:rPr lang="en-US" smtClean="0"/>
              <a:pPr/>
              <a:t>3</a:t>
            </a:fld>
            <a:endParaRPr lang="en-US" dirty="0"/>
          </a:p>
        </p:txBody>
      </p:sp>
      <p:sp>
        <p:nvSpPr>
          <p:cNvPr id="4" name="TextBox 3">
            <a:extLst>
              <a:ext uri="{FF2B5EF4-FFF2-40B4-BE49-F238E27FC236}">
                <a16:creationId xmlns:a16="http://schemas.microsoft.com/office/drawing/2014/main" id="{1A4AE373-0611-EB19-BB19-9C1E2B3420FE}"/>
              </a:ext>
            </a:extLst>
          </p:cNvPr>
          <p:cNvSpPr txBox="1"/>
          <p:nvPr/>
        </p:nvSpPr>
        <p:spPr>
          <a:xfrm>
            <a:off x="3046810" y="2413338"/>
            <a:ext cx="5868590" cy="2554545"/>
          </a:xfrm>
          <a:prstGeom prst="rect">
            <a:avLst/>
          </a:prstGeom>
          <a:noFill/>
        </p:spPr>
        <p:txBody>
          <a:bodyPr wrap="square">
            <a:spAutoFit/>
          </a:bodyPr>
          <a:lstStyle/>
          <a:p>
            <a:pPr marL="0" indent="0" algn="ctr">
              <a:buNone/>
            </a:pP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This document contains confidential</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and proprietary information owned</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 by Lean Horizons Consulting, LLC.</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Any disclosure, use, copying or</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distribution of this information without the express written consent of Lean Horizons Consulting is strictly prohibited.</a:t>
            </a:r>
          </a:p>
        </p:txBody>
      </p:sp>
    </p:spTree>
    <p:extLst>
      <p:ext uri="{BB962C8B-B14F-4D97-AF65-F5344CB8AC3E}">
        <p14:creationId xmlns:p14="http://schemas.microsoft.com/office/powerpoint/2010/main" val="2438637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797C3-5998-9BA5-DE9C-B0C2BDAC4386}"/>
              </a:ext>
            </a:extLst>
          </p:cNvPr>
          <p:cNvSpPr>
            <a:spLocks noGrp="1"/>
          </p:cNvSpPr>
          <p:nvPr>
            <p:ph type="title"/>
          </p:nvPr>
        </p:nvSpPr>
        <p:spPr/>
        <p:txBody>
          <a:bodyPr/>
          <a:lstStyle/>
          <a:p>
            <a:r>
              <a:rPr lang="en-US" dirty="0"/>
              <a:t>Ground Rules for Event</a:t>
            </a:r>
          </a:p>
        </p:txBody>
      </p:sp>
      <p:sp>
        <p:nvSpPr>
          <p:cNvPr id="3" name="Content Placeholder 2">
            <a:extLst>
              <a:ext uri="{FF2B5EF4-FFF2-40B4-BE49-F238E27FC236}">
                <a16:creationId xmlns:a16="http://schemas.microsoft.com/office/drawing/2014/main" id="{A51F593B-1086-0371-9F3E-9B8A17BFFF59}"/>
              </a:ext>
            </a:extLst>
          </p:cNvPr>
          <p:cNvSpPr>
            <a:spLocks noGrp="1"/>
          </p:cNvSpPr>
          <p:nvPr>
            <p:ph idx="1"/>
          </p:nvPr>
        </p:nvSpPr>
        <p:spPr/>
        <p:txBody>
          <a:bodyPr>
            <a:normAutofit/>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a:p>
            <a:endParaRPr lang="en-US" dirty="0"/>
          </a:p>
          <a:p>
            <a:endParaRPr lang="en-US" dirty="0"/>
          </a:p>
        </p:txBody>
      </p:sp>
      <p:sp>
        <p:nvSpPr>
          <p:cNvPr id="4" name="Slide Number Placeholder 2">
            <a:extLst>
              <a:ext uri="{FF2B5EF4-FFF2-40B4-BE49-F238E27FC236}">
                <a16:creationId xmlns:a16="http://schemas.microsoft.com/office/drawing/2014/main" id="{EBDBB87B-8CD1-9E38-D851-65361D79CA18}"/>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4</a:t>
            </a:fld>
            <a:endParaRPr lang="en-US"/>
          </a:p>
        </p:txBody>
      </p:sp>
    </p:spTree>
    <p:extLst>
      <p:ext uri="{BB962C8B-B14F-4D97-AF65-F5344CB8AC3E}">
        <p14:creationId xmlns:p14="http://schemas.microsoft.com/office/powerpoint/2010/main" val="2589594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797C3-5998-9BA5-DE9C-B0C2BDAC4386}"/>
              </a:ext>
            </a:extLst>
          </p:cNvPr>
          <p:cNvSpPr>
            <a:spLocks noGrp="1"/>
          </p:cNvSpPr>
          <p:nvPr>
            <p:ph type="title"/>
          </p:nvPr>
        </p:nvSpPr>
        <p:spPr/>
        <p:txBody>
          <a:bodyPr/>
          <a:lstStyle/>
          <a:p>
            <a:r>
              <a:rPr lang="en-US" dirty="0"/>
              <a:t>Visual Management</a:t>
            </a:r>
          </a:p>
        </p:txBody>
      </p:sp>
      <p:sp>
        <p:nvSpPr>
          <p:cNvPr id="4" name="Slide Number Placeholder 2">
            <a:extLst>
              <a:ext uri="{FF2B5EF4-FFF2-40B4-BE49-F238E27FC236}">
                <a16:creationId xmlns:a16="http://schemas.microsoft.com/office/drawing/2014/main" id="{EBDBB87B-8CD1-9E38-D851-65361D79CA18}"/>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a:t>
            </a:fld>
            <a:endParaRPr lang="en-US"/>
          </a:p>
        </p:txBody>
      </p:sp>
      <p:grpSp>
        <p:nvGrpSpPr>
          <p:cNvPr id="3" name="Group 2">
            <a:extLst>
              <a:ext uri="{FF2B5EF4-FFF2-40B4-BE49-F238E27FC236}">
                <a16:creationId xmlns:a16="http://schemas.microsoft.com/office/drawing/2014/main" id="{19C081D1-CD6A-B1CB-191F-FB4FC2D80E80}"/>
              </a:ext>
            </a:extLst>
          </p:cNvPr>
          <p:cNvGrpSpPr/>
          <p:nvPr/>
        </p:nvGrpSpPr>
        <p:grpSpPr>
          <a:xfrm>
            <a:off x="3898106" y="4351397"/>
            <a:ext cx="4395788" cy="1108235"/>
            <a:chOff x="2697162" y="4351397"/>
            <a:chExt cx="4395788" cy="1108235"/>
          </a:xfrm>
        </p:grpSpPr>
        <p:sp>
          <p:nvSpPr>
            <p:cNvPr id="9" name="AutoShape 2">
              <a:extLst>
                <a:ext uri="{FF2B5EF4-FFF2-40B4-BE49-F238E27FC236}">
                  <a16:creationId xmlns:a16="http://schemas.microsoft.com/office/drawing/2014/main" id="{EEC13DC5-D746-4C5D-9FE1-89D62B981C62}"/>
                </a:ext>
              </a:extLst>
            </p:cNvPr>
            <p:cNvSpPr>
              <a:spLocks noChangeArrowheads="1"/>
            </p:cNvSpPr>
            <p:nvPr/>
          </p:nvSpPr>
          <p:spPr bwMode="auto">
            <a:xfrm>
              <a:off x="5492750" y="4351397"/>
              <a:ext cx="1600200" cy="1103472"/>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rPr>
                <a:t> Review and</a:t>
              </a:r>
              <a:br>
                <a:rPr lang="en-US" altLang="en-US" sz="1400">
                  <a:solidFill>
                    <a:schemeClr val="bg1"/>
                  </a:solidFill>
                </a:rPr>
              </a:br>
              <a:r>
                <a:rPr lang="en-US" altLang="en-US" sz="1400">
                  <a:solidFill>
                    <a:schemeClr val="bg1"/>
                  </a:solidFill>
                </a:rPr>
                <a:t>Summary</a:t>
              </a:r>
            </a:p>
          </p:txBody>
        </p:sp>
        <p:sp>
          <p:nvSpPr>
            <p:cNvPr id="10" name="AutoShape 3">
              <a:extLst>
                <a:ext uri="{FF2B5EF4-FFF2-40B4-BE49-F238E27FC236}">
                  <a16:creationId xmlns:a16="http://schemas.microsoft.com/office/drawing/2014/main" id="{7D9789EA-4B05-F469-C116-78DF8A0A9FB1}"/>
                </a:ext>
              </a:extLst>
            </p:cNvPr>
            <p:cNvSpPr>
              <a:spLocks noChangeArrowheads="1"/>
            </p:cNvSpPr>
            <p:nvPr/>
          </p:nvSpPr>
          <p:spPr bwMode="auto">
            <a:xfrm>
              <a:off x="4152900" y="4351397"/>
              <a:ext cx="1600200" cy="1103472"/>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rPr>
                <a:t>Principles</a:t>
              </a:r>
              <a:br>
                <a:rPr lang="en-US" altLang="en-US" sz="1400" dirty="0">
                  <a:solidFill>
                    <a:schemeClr val="bg1"/>
                  </a:solidFill>
                </a:rPr>
              </a:br>
              <a:r>
                <a:rPr lang="en-US" altLang="en-US" sz="1400" dirty="0">
                  <a:solidFill>
                    <a:schemeClr val="bg1"/>
                  </a:solidFill>
                </a:rPr>
                <a:t>of Good</a:t>
              </a:r>
              <a:br>
                <a:rPr lang="en-US" altLang="en-US" sz="1400" dirty="0">
                  <a:solidFill>
                    <a:schemeClr val="bg1"/>
                  </a:solidFill>
                </a:rPr>
              </a:br>
              <a:r>
                <a:rPr lang="en-US" altLang="en-US" sz="1400" dirty="0">
                  <a:solidFill>
                    <a:schemeClr val="bg1"/>
                  </a:solidFill>
                </a:rPr>
                <a:t>Visual </a:t>
              </a:r>
              <a:br>
                <a:rPr lang="en-US" altLang="en-US" sz="1400" dirty="0">
                  <a:solidFill>
                    <a:schemeClr val="bg1"/>
                  </a:solidFill>
                </a:rPr>
              </a:br>
              <a:r>
                <a:rPr lang="en-US" altLang="en-US" sz="1400" dirty="0">
                  <a:solidFill>
                    <a:schemeClr val="bg1"/>
                  </a:solidFill>
                </a:rPr>
                <a:t>Controls</a:t>
              </a:r>
            </a:p>
          </p:txBody>
        </p:sp>
        <p:sp>
          <p:nvSpPr>
            <p:cNvPr id="11" name="AutoShape 5">
              <a:extLst>
                <a:ext uri="{FF2B5EF4-FFF2-40B4-BE49-F238E27FC236}">
                  <a16:creationId xmlns:a16="http://schemas.microsoft.com/office/drawing/2014/main" id="{A17AC7BE-20A8-7A63-A1BD-7914C6065AB1}"/>
                </a:ext>
              </a:extLst>
            </p:cNvPr>
            <p:cNvSpPr>
              <a:spLocks noChangeArrowheads="1"/>
            </p:cNvSpPr>
            <p:nvPr/>
          </p:nvSpPr>
          <p:spPr bwMode="auto">
            <a:xfrm>
              <a:off x="2697162" y="4356160"/>
              <a:ext cx="1600200" cy="1103472"/>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rPr>
                <a:t>Managing</a:t>
              </a:r>
              <a:br>
                <a:rPr lang="en-US" altLang="en-US" sz="1400" dirty="0">
                  <a:solidFill>
                    <a:schemeClr val="bg1"/>
                  </a:solidFill>
                </a:rPr>
              </a:br>
              <a:r>
                <a:rPr lang="en-US" altLang="en-US" sz="1400" dirty="0">
                  <a:solidFill>
                    <a:schemeClr val="bg1"/>
                  </a:solidFill>
                </a:rPr>
                <a:t>with</a:t>
              </a:r>
              <a:br>
                <a:rPr lang="en-US" altLang="en-US" sz="1400" dirty="0">
                  <a:solidFill>
                    <a:schemeClr val="bg1"/>
                  </a:solidFill>
                </a:rPr>
              </a:br>
              <a:r>
                <a:rPr lang="en-US" altLang="en-US" sz="1400" dirty="0">
                  <a:solidFill>
                    <a:schemeClr val="bg1"/>
                  </a:solidFill>
                </a:rPr>
                <a:t>Visual</a:t>
              </a:r>
              <a:br>
                <a:rPr lang="en-US" altLang="en-US" sz="1400" dirty="0">
                  <a:solidFill>
                    <a:schemeClr val="bg1"/>
                  </a:solidFill>
                </a:rPr>
              </a:br>
              <a:r>
                <a:rPr lang="en-US" altLang="en-US" sz="1400" dirty="0">
                  <a:solidFill>
                    <a:schemeClr val="bg1"/>
                  </a:solidFill>
                </a:rPr>
                <a:t>Controls</a:t>
              </a:r>
            </a:p>
          </p:txBody>
        </p:sp>
      </p:grpSp>
      <p:sp>
        <p:nvSpPr>
          <p:cNvPr id="12" name="Rectangle 8">
            <a:extLst>
              <a:ext uri="{FF2B5EF4-FFF2-40B4-BE49-F238E27FC236}">
                <a16:creationId xmlns:a16="http://schemas.microsoft.com/office/drawing/2014/main" id="{A5E87AF3-5539-12CC-BA34-507B221105C8}"/>
              </a:ext>
            </a:extLst>
          </p:cNvPr>
          <p:cNvSpPr>
            <a:spLocks noChangeArrowheads="1"/>
          </p:cNvSpPr>
          <p:nvPr/>
        </p:nvSpPr>
        <p:spPr bwMode="auto">
          <a:xfrm>
            <a:off x="1967707" y="2464654"/>
            <a:ext cx="8256587" cy="1202471"/>
          </a:xfrm>
          <a:prstGeom prst="rect">
            <a:avLst/>
          </a:prstGeom>
          <a:solidFill>
            <a:srgbClr val="FFB627"/>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buClrTx/>
              <a:buSzTx/>
              <a:buFontTx/>
              <a:buNone/>
            </a:pPr>
            <a:r>
              <a:rPr lang="en-US" altLang="en-US" sz="1800" dirty="0"/>
              <a:t>To assess the value and effectiveness of new and existing visual controls</a:t>
            </a:r>
            <a:br>
              <a:rPr lang="en-US" altLang="en-US" sz="1800" dirty="0"/>
            </a:br>
            <a:r>
              <a:rPr lang="en-US" altLang="en-US" sz="1800" dirty="0"/>
              <a:t>and effectively utilize visual controls as management tools. </a:t>
            </a:r>
          </a:p>
        </p:txBody>
      </p:sp>
      <p:sp>
        <p:nvSpPr>
          <p:cNvPr id="13" name="Text Box 9">
            <a:extLst>
              <a:ext uri="{FF2B5EF4-FFF2-40B4-BE49-F238E27FC236}">
                <a16:creationId xmlns:a16="http://schemas.microsoft.com/office/drawing/2014/main" id="{81585212-1C5A-AEFE-15B2-6C8EEB782D6E}"/>
              </a:ext>
            </a:extLst>
          </p:cNvPr>
          <p:cNvSpPr txBox="1">
            <a:spLocks noChangeArrowheads="1"/>
          </p:cNvSpPr>
          <p:nvPr/>
        </p:nvSpPr>
        <p:spPr bwMode="auto">
          <a:xfrm>
            <a:off x="838200" y="2063810"/>
            <a:ext cx="4108450" cy="31115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Goal of Visual Management Module:</a:t>
            </a:r>
          </a:p>
        </p:txBody>
      </p:sp>
    </p:spTree>
    <p:extLst>
      <p:ext uri="{BB962C8B-B14F-4D97-AF65-F5344CB8AC3E}">
        <p14:creationId xmlns:p14="http://schemas.microsoft.com/office/powerpoint/2010/main" val="107766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rmAutofit/>
          </a:bodyPr>
          <a:lstStyle/>
          <a:p>
            <a:r>
              <a:rPr lang="en-US" dirty="0"/>
              <a:t>Exercise: Define Visual Management</a:t>
            </a:r>
          </a:p>
        </p:txBody>
      </p:sp>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Tx/>
              <a:buSzTx/>
              <a:buFontTx/>
              <a:buNone/>
            </a:pPr>
            <a:r>
              <a:rPr lang="en-US" altLang="en-US" sz="1800" dirty="0">
                <a:solidFill>
                  <a:schemeClr val="bg1"/>
                </a:solidFill>
              </a:rPr>
              <a:t>Define visual management in your own words.</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6</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600" dirty="0">
                <a:solidFill>
                  <a:schemeClr val="bg1"/>
                </a:solidFill>
              </a:rPr>
              <a:t>Share answer with class</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5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600" dirty="0">
                <a:solidFill>
                  <a:schemeClr val="bg1"/>
                </a:solidFill>
              </a:rPr>
              <a:t>Individually, write down your own definition</a:t>
            </a:r>
            <a:br>
              <a:rPr lang="en-US" altLang="en-US" sz="1600" dirty="0">
                <a:solidFill>
                  <a:schemeClr val="bg1"/>
                </a:solidFill>
              </a:rPr>
            </a:br>
            <a:r>
              <a:rPr lang="en-US" altLang="en-US" sz="1600" dirty="0">
                <a:solidFill>
                  <a:schemeClr val="bg1"/>
                </a:solidFill>
              </a:rPr>
              <a:t>of the term visual management.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spTree>
    <p:extLst>
      <p:ext uri="{BB962C8B-B14F-4D97-AF65-F5344CB8AC3E}">
        <p14:creationId xmlns:p14="http://schemas.microsoft.com/office/powerpoint/2010/main" val="95743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8963E-BC5C-04CC-6F6B-93630F110741}"/>
              </a:ext>
            </a:extLst>
          </p:cNvPr>
          <p:cNvSpPr>
            <a:spLocks noGrp="1"/>
          </p:cNvSpPr>
          <p:nvPr>
            <p:ph type="title"/>
          </p:nvPr>
        </p:nvSpPr>
        <p:spPr/>
        <p:txBody>
          <a:bodyPr/>
          <a:lstStyle/>
          <a:p>
            <a:r>
              <a:rPr lang="en-US" dirty="0"/>
              <a:t>Visual Management Defined</a:t>
            </a:r>
          </a:p>
        </p:txBody>
      </p:sp>
      <p:sp>
        <p:nvSpPr>
          <p:cNvPr id="3" name="Content Placeholder 2">
            <a:extLst>
              <a:ext uri="{FF2B5EF4-FFF2-40B4-BE49-F238E27FC236}">
                <a16:creationId xmlns:a16="http://schemas.microsoft.com/office/drawing/2014/main" id="{B3DF0AC6-97D3-A2A7-C59A-6B2093B6CD18}"/>
              </a:ext>
            </a:extLst>
          </p:cNvPr>
          <p:cNvSpPr>
            <a:spLocks noGrp="1"/>
          </p:cNvSpPr>
          <p:nvPr>
            <p:ph idx="1"/>
          </p:nvPr>
        </p:nvSpPr>
        <p:spPr/>
        <p:txBody>
          <a:bodyPr>
            <a:normAutofit fontScale="70000" lnSpcReduction="20000"/>
          </a:bodyPr>
          <a:lstStyle/>
          <a:p>
            <a:r>
              <a:rPr lang="en-US" dirty="0"/>
              <a:t>Provides real-time information and feedback regarding the status of the company</a:t>
            </a:r>
          </a:p>
          <a:p>
            <a:endParaRPr lang="en-US" dirty="0"/>
          </a:p>
          <a:p>
            <a:r>
              <a:rPr lang="en-US" dirty="0"/>
              <a:t>Communicates the shared vision of the business and how each individual contributes towards that success</a:t>
            </a:r>
          </a:p>
          <a:p>
            <a:endParaRPr lang="en-US" dirty="0"/>
          </a:p>
          <a:p>
            <a:r>
              <a:rPr lang="en-US" dirty="0"/>
              <a:t>Provides a clear and common understanding of goals and metrics</a:t>
            </a:r>
          </a:p>
          <a:p>
            <a:endParaRPr lang="en-US" dirty="0"/>
          </a:p>
          <a:p>
            <a:r>
              <a:rPr lang="en-US" dirty="0"/>
              <a:t>Presents the same information to everyone</a:t>
            </a:r>
          </a:p>
          <a:p>
            <a:endParaRPr lang="en-US" dirty="0"/>
          </a:p>
          <a:p>
            <a:r>
              <a:rPr lang="en-US" dirty="0"/>
              <a:t>Maintains focus on the critical few metrics</a:t>
            </a:r>
          </a:p>
          <a:p>
            <a:endParaRPr lang="en-US" dirty="0"/>
          </a:p>
          <a:p>
            <a:r>
              <a:rPr lang="en-US" dirty="0"/>
              <a:t>Drives ownership and accountability from the lowest possible level in the organization</a:t>
            </a:r>
          </a:p>
          <a:p>
            <a:endParaRPr lang="en-US" dirty="0"/>
          </a:p>
        </p:txBody>
      </p:sp>
      <p:sp>
        <p:nvSpPr>
          <p:cNvPr id="4" name="Slide Number Placeholder 3">
            <a:extLst>
              <a:ext uri="{FF2B5EF4-FFF2-40B4-BE49-F238E27FC236}">
                <a16:creationId xmlns:a16="http://schemas.microsoft.com/office/drawing/2014/main" id="{535D1EAD-332D-DE8B-3857-379EFAF3F231}"/>
              </a:ext>
            </a:extLst>
          </p:cNvPr>
          <p:cNvSpPr>
            <a:spLocks noGrp="1"/>
          </p:cNvSpPr>
          <p:nvPr>
            <p:ph type="sldNum" sz="quarter" idx="4"/>
          </p:nvPr>
        </p:nvSpPr>
        <p:spPr/>
        <p:txBody>
          <a:bodyPr/>
          <a:lstStyle/>
          <a:p>
            <a:fld id="{CC6D4273-7FC1-0947-B9FE-19CB3C0D1FB6}" type="slidenum">
              <a:rPr lang="en-US" smtClean="0"/>
              <a:pPr/>
              <a:t>7</a:t>
            </a:fld>
            <a:endParaRPr lang="en-US"/>
          </a:p>
        </p:txBody>
      </p:sp>
    </p:spTree>
    <p:extLst>
      <p:ext uri="{BB962C8B-B14F-4D97-AF65-F5344CB8AC3E}">
        <p14:creationId xmlns:p14="http://schemas.microsoft.com/office/powerpoint/2010/main" val="2195276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8963E-BC5C-04CC-6F6B-93630F110741}"/>
              </a:ext>
            </a:extLst>
          </p:cNvPr>
          <p:cNvSpPr>
            <a:spLocks noGrp="1"/>
          </p:cNvSpPr>
          <p:nvPr>
            <p:ph type="title"/>
          </p:nvPr>
        </p:nvSpPr>
        <p:spPr/>
        <p:txBody>
          <a:bodyPr/>
          <a:lstStyle/>
          <a:p>
            <a:r>
              <a:rPr lang="en-US" dirty="0"/>
              <a:t>Benefits of Visual Management</a:t>
            </a:r>
          </a:p>
        </p:txBody>
      </p:sp>
      <p:sp>
        <p:nvSpPr>
          <p:cNvPr id="3" name="Content Placeholder 2">
            <a:extLst>
              <a:ext uri="{FF2B5EF4-FFF2-40B4-BE49-F238E27FC236}">
                <a16:creationId xmlns:a16="http://schemas.microsoft.com/office/drawing/2014/main" id="{B3DF0AC6-97D3-A2A7-C59A-6B2093B6CD18}"/>
              </a:ext>
            </a:extLst>
          </p:cNvPr>
          <p:cNvSpPr>
            <a:spLocks noGrp="1"/>
          </p:cNvSpPr>
          <p:nvPr>
            <p:ph idx="1"/>
          </p:nvPr>
        </p:nvSpPr>
        <p:spPr/>
        <p:txBody>
          <a:bodyPr>
            <a:normAutofit fontScale="62500" lnSpcReduction="20000"/>
          </a:bodyPr>
          <a:lstStyle/>
          <a:p>
            <a:r>
              <a:rPr lang="en-US" dirty="0"/>
              <a:t>Cleaner and safer workplace</a:t>
            </a:r>
          </a:p>
          <a:p>
            <a:pPr marL="0" indent="0">
              <a:buNone/>
            </a:pPr>
            <a:endParaRPr lang="en-US" dirty="0"/>
          </a:p>
          <a:p>
            <a:r>
              <a:rPr lang="en-US" dirty="0"/>
              <a:t>Less wasted time</a:t>
            </a:r>
          </a:p>
          <a:p>
            <a:endParaRPr lang="en-US" dirty="0"/>
          </a:p>
          <a:p>
            <a:r>
              <a:rPr lang="en-US" dirty="0"/>
              <a:t>Improved quality</a:t>
            </a:r>
          </a:p>
          <a:p>
            <a:endParaRPr lang="en-US" dirty="0"/>
          </a:p>
          <a:p>
            <a:r>
              <a:rPr lang="en-US" dirty="0"/>
              <a:t>Improved morale</a:t>
            </a:r>
          </a:p>
          <a:p>
            <a:endParaRPr lang="en-US" dirty="0"/>
          </a:p>
          <a:p>
            <a:r>
              <a:rPr lang="en-US" dirty="0"/>
              <a:t>Ties into the 5S strategy (4th "S" - Standardize)</a:t>
            </a:r>
          </a:p>
          <a:p>
            <a:endParaRPr lang="en-US" dirty="0"/>
          </a:p>
          <a:p>
            <a:r>
              <a:rPr lang="en-US" dirty="0"/>
              <a:t>Makes abnormalities and waste clear to everyone</a:t>
            </a:r>
          </a:p>
          <a:p>
            <a:endParaRPr lang="en-US" dirty="0"/>
          </a:p>
          <a:p>
            <a:r>
              <a:rPr lang="en-US" dirty="0"/>
              <a:t>Moves from having only "specialists" understand to an environment where everyone understands</a:t>
            </a:r>
          </a:p>
          <a:p>
            <a:pPr marL="0" indent="0">
              <a:buNone/>
            </a:pPr>
            <a:endParaRPr lang="en-US" dirty="0"/>
          </a:p>
        </p:txBody>
      </p:sp>
      <p:sp>
        <p:nvSpPr>
          <p:cNvPr id="4" name="Slide Number Placeholder 3">
            <a:extLst>
              <a:ext uri="{FF2B5EF4-FFF2-40B4-BE49-F238E27FC236}">
                <a16:creationId xmlns:a16="http://schemas.microsoft.com/office/drawing/2014/main" id="{535D1EAD-332D-DE8B-3857-379EFAF3F231}"/>
              </a:ext>
            </a:extLst>
          </p:cNvPr>
          <p:cNvSpPr>
            <a:spLocks noGrp="1"/>
          </p:cNvSpPr>
          <p:nvPr>
            <p:ph type="sldNum" sz="quarter" idx="4"/>
          </p:nvPr>
        </p:nvSpPr>
        <p:spPr/>
        <p:txBody>
          <a:bodyPr/>
          <a:lstStyle/>
          <a:p>
            <a:fld id="{CC6D4273-7FC1-0947-B9FE-19CB3C0D1FB6}" type="slidenum">
              <a:rPr lang="en-US" smtClean="0"/>
              <a:pPr/>
              <a:t>8</a:t>
            </a:fld>
            <a:endParaRPr lang="en-US"/>
          </a:p>
        </p:txBody>
      </p:sp>
    </p:spTree>
    <p:extLst>
      <p:ext uri="{BB962C8B-B14F-4D97-AF65-F5344CB8AC3E}">
        <p14:creationId xmlns:p14="http://schemas.microsoft.com/office/powerpoint/2010/main" val="22539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8963E-BC5C-04CC-6F6B-93630F110741}"/>
              </a:ext>
            </a:extLst>
          </p:cNvPr>
          <p:cNvSpPr>
            <a:spLocks noGrp="1"/>
          </p:cNvSpPr>
          <p:nvPr>
            <p:ph type="title"/>
          </p:nvPr>
        </p:nvSpPr>
        <p:spPr/>
        <p:txBody>
          <a:bodyPr>
            <a:noAutofit/>
          </a:bodyPr>
          <a:lstStyle/>
          <a:p>
            <a:r>
              <a:rPr lang="en-US" sz="3600" dirty="0"/>
              <a:t>Importance of Visual Management </a:t>
            </a:r>
            <a:br>
              <a:rPr lang="en-US" sz="3600" dirty="0"/>
            </a:br>
            <a:r>
              <a:rPr lang="en-US" sz="3600" dirty="0"/>
              <a:t>to a Lean Enterprise</a:t>
            </a:r>
          </a:p>
        </p:txBody>
      </p:sp>
      <p:sp>
        <p:nvSpPr>
          <p:cNvPr id="3" name="Content Placeholder 2">
            <a:extLst>
              <a:ext uri="{FF2B5EF4-FFF2-40B4-BE49-F238E27FC236}">
                <a16:creationId xmlns:a16="http://schemas.microsoft.com/office/drawing/2014/main" id="{B3DF0AC6-97D3-A2A7-C59A-6B2093B6CD18}"/>
              </a:ext>
            </a:extLst>
          </p:cNvPr>
          <p:cNvSpPr>
            <a:spLocks noGrp="1"/>
          </p:cNvSpPr>
          <p:nvPr>
            <p:ph idx="1"/>
          </p:nvPr>
        </p:nvSpPr>
        <p:spPr>
          <a:xfrm>
            <a:off x="838200" y="1825625"/>
            <a:ext cx="3471041" cy="4351338"/>
          </a:xfrm>
        </p:spPr>
        <p:txBody>
          <a:bodyPr>
            <a:normAutofit/>
          </a:bodyPr>
          <a:lstStyle/>
          <a:p>
            <a:r>
              <a:rPr lang="en-US" sz="1800" dirty="0"/>
              <a:t>Visual Management is one of the key fundamentals to successfully transforming your company into a Lean Enterprise</a:t>
            </a:r>
          </a:p>
          <a:p>
            <a:r>
              <a:rPr lang="en-US" sz="1800" dirty="0"/>
              <a:t>Visual Management provides both real-time and predictive information on the health of your business</a:t>
            </a:r>
          </a:p>
          <a:p>
            <a:r>
              <a:rPr lang="en-US" sz="1800" dirty="0"/>
              <a:t>Visual Management is a key enabler for Supervisors, Managers and Executives</a:t>
            </a:r>
          </a:p>
          <a:p>
            <a:endParaRPr lang="en-US" sz="1800" dirty="0"/>
          </a:p>
        </p:txBody>
      </p:sp>
      <p:sp>
        <p:nvSpPr>
          <p:cNvPr id="4" name="Slide Number Placeholder 3">
            <a:extLst>
              <a:ext uri="{FF2B5EF4-FFF2-40B4-BE49-F238E27FC236}">
                <a16:creationId xmlns:a16="http://schemas.microsoft.com/office/drawing/2014/main" id="{535D1EAD-332D-DE8B-3857-379EFAF3F231}"/>
              </a:ext>
            </a:extLst>
          </p:cNvPr>
          <p:cNvSpPr>
            <a:spLocks noGrp="1"/>
          </p:cNvSpPr>
          <p:nvPr>
            <p:ph type="sldNum" sz="quarter" idx="4"/>
          </p:nvPr>
        </p:nvSpPr>
        <p:spPr/>
        <p:txBody>
          <a:bodyPr/>
          <a:lstStyle/>
          <a:p>
            <a:fld id="{CC6D4273-7FC1-0947-B9FE-19CB3C0D1FB6}" type="slidenum">
              <a:rPr lang="en-US" smtClean="0"/>
              <a:pPr/>
              <a:t>9</a:t>
            </a:fld>
            <a:endParaRPr lang="en-US"/>
          </a:p>
        </p:txBody>
      </p:sp>
      <p:sp>
        <p:nvSpPr>
          <p:cNvPr id="5" name="Rectangle 5">
            <a:extLst>
              <a:ext uri="{FF2B5EF4-FFF2-40B4-BE49-F238E27FC236}">
                <a16:creationId xmlns:a16="http://schemas.microsoft.com/office/drawing/2014/main" id="{A64DF6B8-0084-E591-413A-44DCA9D1923B}"/>
              </a:ext>
            </a:extLst>
          </p:cNvPr>
          <p:cNvSpPr>
            <a:spLocks noChangeArrowheads="1"/>
          </p:cNvSpPr>
          <p:nvPr/>
        </p:nvSpPr>
        <p:spPr bwMode="auto">
          <a:xfrm>
            <a:off x="5799961" y="4030827"/>
            <a:ext cx="4059237" cy="1584325"/>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6" name="Oval 6">
            <a:extLst>
              <a:ext uri="{FF2B5EF4-FFF2-40B4-BE49-F238E27FC236}">
                <a16:creationId xmlns:a16="http://schemas.microsoft.com/office/drawing/2014/main" id="{A9C25A5C-A855-6D49-E67A-8045B6585EAF}"/>
              </a:ext>
            </a:extLst>
          </p:cNvPr>
          <p:cNvSpPr>
            <a:spLocks noChangeArrowheads="1"/>
          </p:cNvSpPr>
          <p:nvPr/>
        </p:nvSpPr>
        <p:spPr bwMode="auto">
          <a:xfrm>
            <a:off x="6925498" y="3346615"/>
            <a:ext cx="1909763" cy="561975"/>
          </a:xfrm>
          <a:prstGeom prst="ellipse">
            <a:avLst/>
          </a:prstGeom>
          <a:solidFill>
            <a:srgbClr val="7F7F7F"/>
          </a:solidFill>
          <a:ln w="12700" cap="sq">
            <a:no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a:solidFill>
                  <a:schemeClr val="bg1"/>
                </a:solidFill>
              </a:rPr>
              <a:t>Enterprise Optimization</a:t>
            </a:r>
          </a:p>
        </p:txBody>
      </p:sp>
      <p:sp>
        <p:nvSpPr>
          <p:cNvPr id="7" name="Oval 7">
            <a:extLst>
              <a:ext uri="{FF2B5EF4-FFF2-40B4-BE49-F238E27FC236}">
                <a16:creationId xmlns:a16="http://schemas.microsoft.com/office/drawing/2014/main" id="{A4ECBC52-F0EE-91F7-06D6-D46CD046C70D}"/>
              </a:ext>
            </a:extLst>
          </p:cNvPr>
          <p:cNvSpPr>
            <a:spLocks noChangeArrowheads="1"/>
          </p:cNvSpPr>
          <p:nvPr/>
        </p:nvSpPr>
        <p:spPr bwMode="auto">
          <a:xfrm>
            <a:off x="6914386" y="4137190"/>
            <a:ext cx="1909762" cy="561975"/>
          </a:xfrm>
          <a:prstGeom prst="ellipse">
            <a:avLst/>
          </a:prstGeom>
          <a:solidFill>
            <a:srgbClr val="7F7F7F"/>
          </a:solidFill>
          <a:ln w="12700" cap="sq">
            <a:no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a:solidFill>
                  <a:schemeClr val="bg1"/>
                </a:solidFill>
              </a:rPr>
              <a:t>Value Stream Optimization</a:t>
            </a:r>
          </a:p>
        </p:txBody>
      </p:sp>
      <p:sp>
        <p:nvSpPr>
          <p:cNvPr id="8" name="Oval 8">
            <a:extLst>
              <a:ext uri="{FF2B5EF4-FFF2-40B4-BE49-F238E27FC236}">
                <a16:creationId xmlns:a16="http://schemas.microsoft.com/office/drawing/2014/main" id="{972F5EA1-0A30-623C-F8E6-FD07EFE6979D}"/>
              </a:ext>
            </a:extLst>
          </p:cNvPr>
          <p:cNvSpPr>
            <a:spLocks noChangeArrowheads="1"/>
          </p:cNvSpPr>
          <p:nvPr/>
        </p:nvSpPr>
        <p:spPr bwMode="auto">
          <a:xfrm>
            <a:off x="7882761" y="4827752"/>
            <a:ext cx="1909762" cy="561975"/>
          </a:xfrm>
          <a:prstGeom prst="ellipse">
            <a:avLst/>
          </a:prstGeom>
          <a:solidFill>
            <a:srgbClr val="7F7F7F"/>
          </a:solidFill>
          <a:ln w="12700" cap="sq">
            <a:no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a:solidFill>
                  <a:schemeClr val="bg1"/>
                </a:solidFill>
              </a:rPr>
              <a:t>Waste Elimination Tools</a:t>
            </a:r>
          </a:p>
        </p:txBody>
      </p:sp>
      <p:sp>
        <p:nvSpPr>
          <p:cNvPr id="9" name="Oval 9">
            <a:extLst>
              <a:ext uri="{FF2B5EF4-FFF2-40B4-BE49-F238E27FC236}">
                <a16:creationId xmlns:a16="http://schemas.microsoft.com/office/drawing/2014/main" id="{14874E0E-5221-4A19-12A0-60CA6083BC88}"/>
              </a:ext>
            </a:extLst>
          </p:cNvPr>
          <p:cNvSpPr>
            <a:spLocks noChangeArrowheads="1"/>
          </p:cNvSpPr>
          <p:nvPr/>
        </p:nvSpPr>
        <p:spPr bwMode="auto">
          <a:xfrm>
            <a:off x="5909498" y="4824577"/>
            <a:ext cx="1909763" cy="561975"/>
          </a:xfrm>
          <a:prstGeom prst="ellipse">
            <a:avLst/>
          </a:prstGeom>
          <a:solidFill>
            <a:schemeClr val="accent1"/>
          </a:solidFill>
          <a:ln w="381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a:solidFill>
                  <a:schemeClr val="bg1"/>
                </a:solidFill>
              </a:rPr>
              <a:t>Lean Fundamentals</a:t>
            </a:r>
          </a:p>
        </p:txBody>
      </p:sp>
      <p:sp>
        <p:nvSpPr>
          <p:cNvPr id="10" name="Oval 10">
            <a:extLst>
              <a:ext uri="{FF2B5EF4-FFF2-40B4-BE49-F238E27FC236}">
                <a16:creationId xmlns:a16="http://schemas.microsoft.com/office/drawing/2014/main" id="{9049CFFA-BA15-F578-17A3-A38CEE881CCE}"/>
              </a:ext>
            </a:extLst>
          </p:cNvPr>
          <p:cNvSpPr>
            <a:spLocks noChangeArrowheads="1"/>
          </p:cNvSpPr>
          <p:nvPr/>
        </p:nvSpPr>
        <p:spPr bwMode="auto">
          <a:xfrm>
            <a:off x="6927086" y="1992477"/>
            <a:ext cx="1909762" cy="561975"/>
          </a:xfrm>
          <a:prstGeom prst="ellipse">
            <a:avLst/>
          </a:prstGeom>
          <a:solidFill>
            <a:srgbClr val="7F7F7F"/>
          </a:solidFill>
          <a:ln w="12700" cap="sq">
            <a:no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rPr>
              <a:t>Develop Strategic</a:t>
            </a:r>
            <a:br>
              <a:rPr lang="en-US" altLang="en-US" sz="1000" dirty="0">
                <a:solidFill>
                  <a:schemeClr val="bg1"/>
                </a:solidFill>
              </a:rPr>
            </a:br>
            <a:r>
              <a:rPr lang="en-US" altLang="en-US" sz="1000" dirty="0">
                <a:solidFill>
                  <a:schemeClr val="bg1"/>
                </a:solidFill>
              </a:rPr>
              <a:t>Business Imperatives</a:t>
            </a:r>
          </a:p>
        </p:txBody>
      </p:sp>
      <p:sp>
        <p:nvSpPr>
          <p:cNvPr id="11" name="Oval 11">
            <a:extLst>
              <a:ext uri="{FF2B5EF4-FFF2-40B4-BE49-F238E27FC236}">
                <a16:creationId xmlns:a16="http://schemas.microsoft.com/office/drawing/2014/main" id="{72BE1FC8-F276-E107-37C1-7ADE4697414E}"/>
              </a:ext>
            </a:extLst>
          </p:cNvPr>
          <p:cNvSpPr>
            <a:spLocks noChangeArrowheads="1"/>
          </p:cNvSpPr>
          <p:nvPr/>
        </p:nvSpPr>
        <p:spPr bwMode="auto">
          <a:xfrm>
            <a:off x="6919148" y="2665577"/>
            <a:ext cx="1909763" cy="561975"/>
          </a:xfrm>
          <a:prstGeom prst="ellipse">
            <a:avLst/>
          </a:prstGeom>
          <a:solidFill>
            <a:srgbClr val="7F7F7F"/>
          </a:solidFill>
          <a:ln w="12700" cap="sq">
            <a:no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a:solidFill>
                  <a:schemeClr val="bg1"/>
                </a:solidFill>
              </a:rPr>
              <a:t>Profitable Growth</a:t>
            </a:r>
          </a:p>
        </p:txBody>
      </p:sp>
      <p:sp>
        <p:nvSpPr>
          <p:cNvPr id="12" name="Text Box 12">
            <a:extLst>
              <a:ext uri="{FF2B5EF4-FFF2-40B4-BE49-F238E27FC236}">
                <a16:creationId xmlns:a16="http://schemas.microsoft.com/office/drawing/2014/main" id="{F98AD64D-31CE-284C-AD3D-95A1D0100527}"/>
              </a:ext>
            </a:extLst>
          </p:cNvPr>
          <p:cNvSpPr txBox="1">
            <a:spLocks noChangeArrowheads="1"/>
          </p:cNvSpPr>
          <p:nvPr/>
        </p:nvSpPr>
        <p:spPr bwMode="auto">
          <a:xfrm>
            <a:off x="6079361" y="5518315"/>
            <a:ext cx="3779837" cy="215444"/>
          </a:xfrm>
          <a:prstGeom prst="rect">
            <a:avLst/>
          </a:prstGeom>
          <a:solidFill>
            <a:srgbClr val="FFB627"/>
          </a:solidFill>
          <a:ln w="12700" cap="sq">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solidFill>
                  <a:srgbClr val="222222"/>
                </a:solidFill>
              </a:rPr>
              <a:t>Lean Infrastructure</a:t>
            </a:r>
          </a:p>
        </p:txBody>
      </p:sp>
    </p:spTree>
    <p:extLst>
      <p:ext uri="{BB962C8B-B14F-4D97-AF65-F5344CB8AC3E}">
        <p14:creationId xmlns:p14="http://schemas.microsoft.com/office/powerpoint/2010/main" val="265380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Controls Defined</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p:txBody>
          <a:bodyPr>
            <a:normAutofit fontScale="77500" lnSpcReduction="20000"/>
          </a:bodyPr>
          <a:lstStyle/>
          <a:p>
            <a:r>
              <a:rPr lang="en-US" dirty="0"/>
              <a:t>Means, devices, or mechanisms that enable Visual Management</a:t>
            </a:r>
          </a:p>
          <a:p>
            <a:endParaRPr lang="en-US" dirty="0"/>
          </a:p>
          <a:p>
            <a:r>
              <a:rPr lang="en-US" dirty="0"/>
              <a:t>Make problems or abnormal conditions visible to everyone in order for corrective action to be taken</a:t>
            </a:r>
          </a:p>
          <a:p>
            <a:endParaRPr lang="en-US" dirty="0"/>
          </a:p>
          <a:p>
            <a:r>
              <a:rPr lang="en-US" dirty="0"/>
              <a:t>Display the current status in an easy-to-read format</a:t>
            </a:r>
          </a:p>
          <a:p>
            <a:endParaRPr lang="en-US" dirty="0"/>
          </a:p>
          <a:p>
            <a:r>
              <a:rPr lang="en-US" dirty="0"/>
              <a:t>Provide instruction</a:t>
            </a:r>
          </a:p>
          <a:p>
            <a:endParaRPr lang="en-US" dirty="0"/>
          </a:p>
          <a:p>
            <a:r>
              <a:rPr lang="en-US" dirty="0"/>
              <a:t>Communicate information</a:t>
            </a:r>
          </a:p>
          <a:p>
            <a:endParaRPr lang="en-US" dirty="0"/>
          </a:p>
          <a:p>
            <a:r>
              <a:rPr lang="en-US" dirty="0"/>
              <a:t>Provide immediate feedback</a:t>
            </a:r>
          </a:p>
          <a:p>
            <a:endParaRPr lang="en-US" dirty="0"/>
          </a:p>
          <a:p>
            <a:endParaRPr lang="en-US" dirty="0"/>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10</a:t>
            </a:fld>
            <a:endParaRPr lang="en-US"/>
          </a:p>
        </p:txBody>
      </p:sp>
    </p:spTree>
    <p:extLst>
      <p:ext uri="{BB962C8B-B14F-4D97-AF65-F5344CB8AC3E}">
        <p14:creationId xmlns:p14="http://schemas.microsoft.com/office/powerpoint/2010/main" val="752245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in Our World</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838200" y="1825625"/>
            <a:ext cx="10515600" cy="1009651"/>
          </a:xfrm>
        </p:spPr>
        <p:txBody>
          <a:bodyPr>
            <a:normAutofit/>
          </a:bodyPr>
          <a:lstStyle/>
          <a:p>
            <a:r>
              <a:rPr lang="en-US" sz="2400" dirty="0"/>
              <a:t>Visual controls are all around us</a:t>
            </a:r>
          </a:p>
          <a:p>
            <a:r>
              <a:rPr lang="en-US" sz="2400" dirty="0"/>
              <a:t>How many visual controls can you name in use at home and at work?</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11</a:t>
            </a:fld>
            <a:endParaRPr lang="en-US"/>
          </a:p>
        </p:txBody>
      </p:sp>
      <p:grpSp>
        <p:nvGrpSpPr>
          <p:cNvPr id="8" name="Group 7">
            <a:extLst>
              <a:ext uri="{FF2B5EF4-FFF2-40B4-BE49-F238E27FC236}">
                <a16:creationId xmlns:a16="http://schemas.microsoft.com/office/drawing/2014/main" id="{19D550EC-491D-5B2B-03CA-90C7D1979D20}"/>
              </a:ext>
            </a:extLst>
          </p:cNvPr>
          <p:cNvGrpSpPr/>
          <p:nvPr/>
        </p:nvGrpSpPr>
        <p:grpSpPr>
          <a:xfrm>
            <a:off x="2111582" y="3156991"/>
            <a:ext cx="7968836" cy="2525251"/>
            <a:chOff x="838200" y="3156991"/>
            <a:chExt cx="7968836" cy="2525251"/>
          </a:xfrm>
        </p:grpSpPr>
        <p:pic>
          <p:nvPicPr>
            <p:cNvPr id="5" name="Picture 4" descr="j0145606">
              <a:extLst>
                <a:ext uri="{FF2B5EF4-FFF2-40B4-BE49-F238E27FC236}">
                  <a16:creationId xmlns:a16="http://schemas.microsoft.com/office/drawing/2014/main" id="{B3BE9BBD-4643-B0D0-3D5D-1F6B5E55A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38200" y="3166516"/>
              <a:ext cx="2791080" cy="2501511"/>
            </a:xfrm>
            <a:prstGeom prst="rect">
              <a:avLst/>
            </a:prstGeom>
            <a:noFill/>
          </p:spPr>
        </p:pic>
        <p:pic>
          <p:nvPicPr>
            <p:cNvPr id="6" name="Picture 5" descr="j0145613">
              <a:extLst>
                <a:ext uri="{FF2B5EF4-FFF2-40B4-BE49-F238E27FC236}">
                  <a16:creationId xmlns:a16="http://schemas.microsoft.com/office/drawing/2014/main" id="{81EE2242-510B-1491-96C3-DE66FA357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929063" y="3179216"/>
              <a:ext cx="2650085" cy="2503026"/>
            </a:xfrm>
            <a:prstGeom prst="rect">
              <a:avLst/>
            </a:prstGeom>
            <a:noFill/>
          </p:spPr>
        </p:pic>
        <p:pic>
          <p:nvPicPr>
            <p:cNvPr id="7" name="Picture 6" descr="j0145607">
              <a:extLst>
                <a:ext uri="{FF2B5EF4-FFF2-40B4-BE49-F238E27FC236}">
                  <a16:creationId xmlns:a16="http://schemas.microsoft.com/office/drawing/2014/main" id="{2E9127EC-6A94-DC7C-7D6A-FA16EDB53D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0375" y="3156991"/>
              <a:ext cx="1996661" cy="252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4086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rmAutofit/>
          </a:bodyPr>
          <a:lstStyle/>
          <a:p>
            <a:r>
              <a:rPr lang="en-US" dirty="0"/>
              <a:t>Exercise: Visual Controls</a:t>
            </a:r>
          </a:p>
        </p:txBody>
      </p:sp>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800" dirty="0">
                <a:solidFill>
                  <a:schemeClr val="bg1"/>
                </a:solidFill>
              </a:rPr>
              <a:t>Demonstrate effectiveness of visual controls.</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600" dirty="0">
                <a:solidFill>
                  <a:schemeClr val="bg1"/>
                </a:solidFill>
              </a:rPr>
              <a:t>Share results times for</a:t>
            </a:r>
            <a:br>
              <a:rPr lang="en-US" altLang="en-US" sz="1600" dirty="0">
                <a:solidFill>
                  <a:schemeClr val="bg1"/>
                </a:solidFill>
              </a:rPr>
            </a:br>
            <a:r>
              <a:rPr lang="en-US" altLang="en-US" sz="1600" dirty="0">
                <a:solidFill>
                  <a:schemeClr val="bg1"/>
                </a:solidFill>
              </a:rPr>
              <a:t>all teams. </a:t>
            </a:r>
          </a:p>
          <a:p>
            <a:pPr>
              <a:spcBef>
                <a:spcPct val="20000"/>
              </a:spcBef>
              <a:spcAft>
                <a:spcPct val="20000"/>
              </a:spcAft>
              <a:buClrTx/>
              <a:buSzTx/>
              <a:buFontTx/>
              <a:buNone/>
            </a:pPr>
            <a:r>
              <a:rPr lang="en-US" altLang="en-US" sz="1600" dirty="0">
                <a:solidFill>
                  <a:schemeClr val="bg1"/>
                </a:solidFill>
              </a:rPr>
              <a:t>Discuss take-aways. </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20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In small groups you will be handed instructions</a:t>
            </a:r>
            <a:br>
              <a:rPr lang="en-US" altLang="en-US" sz="1600" dirty="0">
                <a:solidFill>
                  <a:schemeClr val="bg1"/>
                </a:solidFill>
              </a:rPr>
            </a:br>
            <a:r>
              <a:rPr lang="en-US" altLang="en-US" sz="1600" dirty="0">
                <a:solidFill>
                  <a:schemeClr val="bg1"/>
                </a:solidFill>
              </a:rPr>
              <a:t>for assembly. </a:t>
            </a:r>
          </a:p>
          <a:p>
            <a:pPr marL="0" indent="0">
              <a:spcBef>
                <a:spcPct val="20000"/>
              </a:spcBef>
              <a:spcAft>
                <a:spcPct val="20000"/>
              </a:spcAft>
              <a:buClrTx/>
              <a:buSzTx/>
              <a:buFontTx/>
              <a:buNone/>
            </a:pPr>
            <a:r>
              <a:rPr lang="en-US" altLang="en-US" sz="1600" dirty="0">
                <a:solidFill>
                  <a:schemeClr val="bg1"/>
                </a:solidFill>
              </a:rPr>
              <a:t>With a stopwatch, time the length of time from</a:t>
            </a:r>
            <a:br>
              <a:rPr lang="en-US" altLang="en-US" sz="1600" dirty="0">
                <a:solidFill>
                  <a:schemeClr val="bg1"/>
                </a:solidFill>
              </a:rPr>
            </a:br>
            <a:r>
              <a:rPr lang="en-US" altLang="en-US" sz="1600" dirty="0">
                <a:solidFill>
                  <a:schemeClr val="bg1"/>
                </a:solidFill>
              </a:rPr>
              <a:t>opening the instructions to the completion and</a:t>
            </a:r>
            <a:br>
              <a:rPr lang="en-US" altLang="en-US" sz="1600" dirty="0">
                <a:solidFill>
                  <a:schemeClr val="bg1"/>
                </a:solidFill>
              </a:rPr>
            </a:br>
            <a:r>
              <a:rPr lang="en-US" altLang="en-US" sz="1600" dirty="0">
                <a:solidFill>
                  <a:schemeClr val="bg1"/>
                </a:solidFill>
              </a:rPr>
              <a:t>quality check of assembly.</a:t>
            </a:r>
          </a:p>
          <a:p>
            <a:pPr marL="0" indent="0">
              <a:spcBef>
                <a:spcPct val="20000"/>
              </a:spcBef>
              <a:spcAft>
                <a:spcPct val="20000"/>
              </a:spcAft>
              <a:buClrTx/>
              <a:buSzTx/>
              <a:buFontTx/>
              <a:buNone/>
            </a:pPr>
            <a:r>
              <a:rPr lang="en-US" altLang="en-US" sz="1600" dirty="0">
                <a:solidFill>
                  <a:schemeClr val="bg1"/>
                </a:solidFill>
              </a:rPr>
              <a:t>Assemble the instructions as a team.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spTree>
    <p:extLst>
      <p:ext uri="{BB962C8B-B14F-4D97-AF65-F5344CB8AC3E}">
        <p14:creationId xmlns:p14="http://schemas.microsoft.com/office/powerpoint/2010/main" val="3039957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Managing with Visual Controls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current management tools</a:t>
            </a:r>
          </a:p>
          <a:p>
            <a:r>
              <a:rPr lang="en-US" dirty="0"/>
              <a:t>Define “</a:t>
            </a:r>
            <a:r>
              <a:rPr lang="en-US" dirty="0" err="1"/>
              <a:t>gemba</a:t>
            </a:r>
            <a:r>
              <a:rPr lang="en-US" dirty="0"/>
              <a:t>” and identify the importance of “</a:t>
            </a:r>
            <a:r>
              <a:rPr lang="en-US" dirty="0" err="1"/>
              <a:t>gemba</a:t>
            </a:r>
            <a:r>
              <a:rPr lang="en-US" dirty="0"/>
              <a:t>”</a:t>
            </a:r>
          </a:p>
          <a:p>
            <a:r>
              <a:rPr lang="en-US" dirty="0"/>
              <a:t>Discuss the steps of the visual management improvement cycle</a:t>
            </a:r>
          </a:p>
          <a:p>
            <a:r>
              <a:rPr lang="en-US" dirty="0"/>
              <a:t>Identify how visual controls drive immediate action</a:t>
            </a:r>
          </a:p>
          <a:p>
            <a:endParaRPr lang="en-US" dirty="0"/>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Review &amp;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Principles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Managing with</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Visual Controls</a:t>
              </a:r>
            </a:p>
          </p:txBody>
        </p:sp>
      </p:grpSp>
    </p:spTree>
    <p:extLst>
      <p:ext uri="{BB962C8B-B14F-4D97-AF65-F5344CB8AC3E}">
        <p14:creationId xmlns:p14="http://schemas.microsoft.com/office/powerpoint/2010/main" val="95830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800" dirty="0">
                <a:solidFill>
                  <a:schemeClr val="bg1"/>
                </a:solidFill>
              </a:rPr>
              <a:t>List and define current management tools you use today.</a:t>
            </a:r>
          </a:p>
        </p:txBody>
      </p:sp>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rmAutofit/>
          </a:bodyPr>
          <a:lstStyle/>
          <a:p>
            <a:r>
              <a:rPr lang="en-US" dirty="0"/>
              <a:t>Exercise: Current Management Tools</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600" dirty="0">
                <a:solidFill>
                  <a:schemeClr val="bg1"/>
                </a:solidFill>
              </a:rPr>
              <a:t>Share list</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5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Identify the top 3 current management tools that</a:t>
            </a:r>
            <a:br>
              <a:rPr lang="en-US" altLang="en-US" sz="1600" dirty="0">
                <a:solidFill>
                  <a:schemeClr val="bg1"/>
                </a:solidFill>
              </a:rPr>
            </a:br>
            <a:r>
              <a:rPr lang="en-US" altLang="en-US" sz="1600" dirty="0">
                <a:solidFill>
                  <a:schemeClr val="bg1"/>
                </a:solidFill>
              </a:rPr>
              <a:t>you use today to manage the business.</a:t>
            </a:r>
          </a:p>
          <a:p>
            <a:pPr marL="0" indent="0">
              <a:spcBef>
                <a:spcPct val="20000"/>
              </a:spcBef>
              <a:spcAft>
                <a:spcPct val="20000"/>
              </a:spcAft>
              <a:buClrTx/>
              <a:buSzTx/>
              <a:buFontTx/>
              <a:buNone/>
            </a:pPr>
            <a:endParaRPr lang="en-US" altLang="en-US" sz="1600" dirty="0">
              <a:solidFill>
                <a:schemeClr val="bg1"/>
              </a:solidFill>
            </a:endParaRPr>
          </a:p>
          <a:p>
            <a:pPr marL="0" indent="0">
              <a:spcBef>
                <a:spcPct val="20000"/>
              </a:spcBef>
              <a:spcAft>
                <a:spcPct val="20000"/>
              </a:spcAft>
              <a:buClrTx/>
              <a:buSzTx/>
              <a:buFontTx/>
              <a:buNone/>
            </a:pPr>
            <a:r>
              <a:rPr lang="en-US" altLang="en-US" sz="1600" dirty="0">
                <a:solidFill>
                  <a:schemeClr val="bg1"/>
                </a:solidFill>
              </a:rPr>
              <a:t>Note – we will refer to this list later in the module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grpSp>
        <p:nvGrpSpPr>
          <p:cNvPr id="24" name="Group 23">
            <a:extLst>
              <a:ext uri="{FF2B5EF4-FFF2-40B4-BE49-F238E27FC236}">
                <a16:creationId xmlns:a16="http://schemas.microsoft.com/office/drawing/2014/main" id="{0F12DE8A-DAD3-A24E-C655-4F080D7009B4}"/>
              </a:ext>
            </a:extLst>
          </p:cNvPr>
          <p:cNvGrpSpPr/>
          <p:nvPr/>
        </p:nvGrpSpPr>
        <p:grpSpPr>
          <a:xfrm>
            <a:off x="940249" y="302538"/>
            <a:ext cx="5600951" cy="311932"/>
            <a:chOff x="940249" y="302538"/>
            <a:chExt cx="5600951" cy="311932"/>
          </a:xfrm>
        </p:grpSpPr>
        <p:sp>
          <p:nvSpPr>
            <p:cNvPr id="25" name="TextBox 24">
              <a:extLst>
                <a:ext uri="{FF2B5EF4-FFF2-40B4-BE49-F238E27FC236}">
                  <a16:creationId xmlns:a16="http://schemas.microsoft.com/office/drawing/2014/main" id="{BA85BF7C-0084-47B0-F68E-F4A3490F6847}"/>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28" name="AutoShape 9">
              <a:extLst>
                <a:ext uri="{FF2B5EF4-FFF2-40B4-BE49-F238E27FC236}">
                  <a16:creationId xmlns:a16="http://schemas.microsoft.com/office/drawing/2014/main" id="{7CC5FE31-C6FB-0A8D-6BD9-C718C42E2DD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9">
              <a:extLst>
                <a:ext uri="{FF2B5EF4-FFF2-40B4-BE49-F238E27FC236}">
                  <a16:creationId xmlns:a16="http://schemas.microsoft.com/office/drawing/2014/main" id="{B0105CBF-D75F-41BF-F0FE-82B255A2383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1">
              <a:extLst>
                <a:ext uri="{FF2B5EF4-FFF2-40B4-BE49-F238E27FC236}">
                  <a16:creationId xmlns:a16="http://schemas.microsoft.com/office/drawing/2014/main" id="{8F43D188-399E-A150-8AEC-C20DB3A5F486}"/>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90959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What is “Gemba”?</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6684578" y="1825625"/>
            <a:ext cx="4007069" cy="4351338"/>
          </a:xfrm>
        </p:spPr>
        <p:txBody>
          <a:bodyPr>
            <a:normAutofit/>
          </a:bodyPr>
          <a:lstStyle/>
          <a:p>
            <a:r>
              <a:rPr lang="en-US" dirty="0"/>
              <a:t>Gemba is a Japanese term meaning, “the place where the truth can be found”</a:t>
            </a:r>
          </a:p>
          <a:p>
            <a:r>
              <a:rPr lang="en-US" dirty="0"/>
              <a:t>Involves going to the actual place, talking with the actual people, and viewing the actual results or situation</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15</a:t>
            </a:fld>
            <a:endParaRPr lang="en-US"/>
          </a:p>
        </p:txBody>
      </p:sp>
      <p:sp>
        <p:nvSpPr>
          <p:cNvPr id="5" name="Arrow">
            <a:extLst>
              <a:ext uri="{FF2B5EF4-FFF2-40B4-BE49-F238E27FC236}">
                <a16:creationId xmlns:a16="http://schemas.microsoft.com/office/drawing/2014/main" id="{5864591B-2DCD-8045-6CE8-564FD9B786CC}"/>
              </a:ext>
            </a:extLst>
          </p:cNvPr>
          <p:cNvSpPr/>
          <p:nvPr/>
        </p:nvSpPr>
        <p:spPr>
          <a:xfrm>
            <a:off x="4845271" y="3342414"/>
            <a:ext cx="1616631" cy="1203836"/>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pic>
        <p:nvPicPr>
          <p:cNvPr id="7" name="Picture 4" descr="bigstockphoto_Palettes_20358">
            <a:extLst>
              <a:ext uri="{FF2B5EF4-FFF2-40B4-BE49-F238E27FC236}">
                <a16:creationId xmlns:a16="http://schemas.microsoft.com/office/drawing/2014/main" id="{F88D9284-D16B-4CD5-ADA4-8636D33D5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662" y="1825624"/>
            <a:ext cx="2606450" cy="424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6">
            <a:extLst>
              <a:ext uri="{FF2B5EF4-FFF2-40B4-BE49-F238E27FC236}">
                <a16:creationId xmlns:a16="http://schemas.microsoft.com/office/drawing/2014/main" id="{E80F401F-0848-5D54-657F-A2FF46E9B59F}"/>
              </a:ext>
            </a:extLst>
          </p:cNvPr>
          <p:cNvSpPr txBox="1">
            <a:spLocks noChangeArrowheads="1"/>
          </p:cNvSpPr>
          <p:nvPr/>
        </p:nvSpPr>
        <p:spPr bwMode="auto">
          <a:xfrm>
            <a:off x="838200" y="6156326"/>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800" b="0" i="1" dirty="0">
                <a:solidFill>
                  <a:srgbClr val="222222"/>
                </a:solidFill>
              </a:rPr>
              <a:t>Reprinted with permission from </a:t>
            </a:r>
            <a:r>
              <a:rPr lang="en-US" altLang="en-US" sz="800" b="0" i="1" dirty="0" err="1">
                <a:solidFill>
                  <a:srgbClr val="222222"/>
                </a:solidFill>
              </a:rPr>
              <a:t>BigPhotoStock.com</a:t>
            </a:r>
            <a:endParaRPr lang="en-US" altLang="en-US" sz="800" b="0" i="1" dirty="0">
              <a:solidFill>
                <a:srgbClr val="222222"/>
              </a:solidFill>
            </a:endParaRPr>
          </a:p>
        </p:txBody>
      </p:sp>
      <p:grpSp>
        <p:nvGrpSpPr>
          <p:cNvPr id="9" name="Group 8">
            <a:extLst>
              <a:ext uri="{FF2B5EF4-FFF2-40B4-BE49-F238E27FC236}">
                <a16:creationId xmlns:a16="http://schemas.microsoft.com/office/drawing/2014/main" id="{022EFFB6-9D67-59F0-E7D7-E53757248AE6}"/>
              </a:ext>
            </a:extLst>
          </p:cNvPr>
          <p:cNvGrpSpPr/>
          <p:nvPr/>
        </p:nvGrpSpPr>
        <p:grpSpPr>
          <a:xfrm>
            <a:off x="940249" y="292028"/>
            <a:ext cx="5600951" cy="311932"/>
            <a:chOff x="940249" y="302538"/>
            <a:chExt cx="5600951" cy="311932"/>
          </a:xfrm>
        </p:grpSpPr>
        <p:sp>
          <p:nvSpPr>
            <p:cNvPr id="10" name="TextBox 9">
              <a:extLst>
                <a:ext uri="{FF2B5EF4-FFF2-40B4-BE49-F238E27FC236}">
                  <a16:creationId xmlns:a16="http://schemas.microsoft.com/office/drawing/2014/main" id="{0AD3EF0D-3219-E47B-36E9-8ECF5920A3BF}"/>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11" name="AutoShape 9">
              <a:extLst>
                <a:ext uri="{FF2B5EF4-FFF2-40B4-BE49-F238E27FC236}">
                  <a16:creationId xmlns:a16="http://schemas.microsoft.com/office/drawing/2014/main" id="{FB06B5E3-4817-3586-8F41-90F710CD747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25D6B0FB-B4EA-EB43-A1A5-CBCD0D9DBB94}"/>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AA3D63F-D0BE-6B99-D36D-A3D804BF3221}"/>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7080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800" dirty="0">
                <a:solidFill>
                  <a:schemeClr val="bg1"/>
                </a:solidFill>
              </a:rPr>
              <a:t>Demonstrate the importance of </a:t>
            </a:r>
            <a:r>
              <a:rPr lang="en-US" altLang="en-US" sz="1800" dirty="0" err="1">
                <a:solidFill>
                  <a:schemeClr val="bg1"/>
                </a:solidFill>
              </a:rPr>
              <a:t>gemba</a:t>
            </a:r>
            <a:r>
              <a:rPr lang="en-US" altLang="en-US" sz="1800" dirty="0">
                <a:solidFill>
                  <a:schemeClr val="bg1"/>
                </a:solidFill>
              </a:rPr>
              <a:t>.</a:t>
            </a:r>
          </a:p>
        </p:txBody>
      </p:sp>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rmAutofit/>
          </a:bodyPr>
          <a:lstStyle/>
          <a:p>
            <a:r>
              <a:rPr lang="en-US" dirty="0"/>
              <a:t>Exercise: Gemba</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16</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600" dirty="0">
                <a:solidFill>
                  <a:schemeClr val="bg1"/>
                </a:solidFill>
              </a:rPr>
              <a:t>Share list</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15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Split the entire class into groups of 5.</a:t>
            </a:r>
          </a:p>
          <a:p>
            <a:pPr marL="0" indent="0">
              <a:spcBef>
                <a:spcPct val="20000"/>
              </a:spcBef>
              <a:spcAft>
                <a:spcPct val="20000"/>
              </a:spcAft>
              <a:buClrTx/>
              <a:buSzTx/>
              <a:buFontTx/>
              <a:buNone/>
            </a:pPr>
            <a:r>
              <a:rPr lang="en-US" altLang="en-US" sz="1600" dirty="0">
                <a:solidFill>
                  <a:schemeClr val="bg1"/>
                </a:solidFill>
              </a:rPr>
              <a:t>Each team will report to a different area and</a:t>
            </a:r>
            <a:br>
              <a:rPr lang="en-US" altLang="en-US" sz="1600" dirty="0">
                <a:solidFill>
                  <a:schemeClr val="bg1"/>
                </a:solidFill>
              </a:rPr>
            </a:br>
            <a:r>
              <a:rPr lang="en-US" altLang="en-US" sz="1600" dirty="0">
                <a:solidFill>
                  <a:schemeClr val="bg1"/>
                </a:solidFill>
              </a:rPr>
              <a:t>will receive further instruction from the</a:t>
            </a:r>
            <a:br>
              <a:rPr lang="en-US" altLang="en-US" sz="1600" dirty="0">
                <a:solidFill>
                  <a:schemeClr val="bg1"/>
                </a:solidFill>
              </a:rPr>
            </a:br>
            <a:r>
              <a:rPr lang="en-US" altLang="en-US" sz="1600" dirty="0">
                <a:solidFill>
                  <a:schemeClr val="bg1"/>
                </a:solidFill>
              </a:rPr>
              <a:t>facilitator. </a:t>
            </a:r>
          </a:p>
          <a:p>
            <a:pPr marL="0" indent="0">
              <a:spcBef>
                <a:spcPct val="20000"/>
              </a:spcBef>
              <a:spcAft>
                <a:spcPct val="20000"/>
              </a:spcAft>
              <a:buClrTx/>
              <a:buSzTx/>
              <a:buFontTx/>
              <a:buNone/>
            </a:pPr>
            <a:r>
              <a:rPr lang="en-US" altLang="en-US" sz="1600" dirty="0">
                <a:solidFill>
                  <a:schemeClr val="bg1"/>
                </a:solidFill>
              </a:rPr>
              <a:t>Report back in 15 minutes with results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grpSp>
        <p:nvGrpSpPr>
          <p:cNvPr id="5" name="Group 4">
            <a:extLst>
              <a:ext uri="{FF2B5EF4-FFF2-40B4-BE49-F238E27FC236}">
                <a16:creationId xmlns:a16="http://schemas.microsoft.com/office/drawing/2014/main" id="{BFA7FDB0-3C29-F8BB-46D5-A6D940F47954}"/>
              </a:ext>
            </a:extLst>
          </p:cNvPr>
          <p:cNvGrpSpPr/>
          <p:nvPr/>
        </p:nvGrpSpPr>
        <p:grpSpPr>
          <a:xfrm>
            <a:off x="940249" y="302538"/>
            <a:ext cx="5600951" cy="311932"/>
            <a:chOff x="940249" y="302538"/>
            <a:chExt cx="5600951" cy="311932"/>
          </a:xfrm>
        </p:grpSpPr>
        <p:sp>
          <p:nvSpPr>
            <p:cNvPr id="6" name="TextBox 5">
              <a:extLst>
                <a:ext uri="{FF2B5EF4-FFF2-40B4-BE49-F238E27FC236}">
                  <a16:creationId xmlns:a16="http://schemas.microsoft.com/office/drawing/2014/main" id="{15A62D3A-FC68-291F-0AB4-2CD88B18B952}"/>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7" name="AutoShape 9">
              <a:extLst>
                <a:ext uri="{FF2B5EF4-FFF2-40B4-BE49-F238E27FC236}">
                  <a16:creationId xmlns:a16="http://schemas.microsoft.com/office/drawing/2014/main" id="{8AFE01C0-3D47-0B4C-1E59-C2F7DB06F96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7A96EB8-B40D-A4B7-38F0-2DAB52091C15}"/>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68B314F6-8AAD-BE10-DA38-6E2B53C6F50B}"/>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5047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C15DB267-D84D-489C-AEEB-7C3E5B3FAA50}"/>
              </a:ext>
            </a:extLst>
          </p:cNvPr>
          <p:cNvGrpSpPr/>
          <p:nvPr/>
        </p:nvGrpSpPr>
        <p:grpSpPr>
          <a:xfrm>
            <a:off x="2202727" y="2024086"/>
            <a:ext cx="7122496" cy="3789856"/>
            <a:chOff x="2316059" y="2043659"/>
            <a:chExt cx="7122496" cy="3789856"/>
          </a:xfrm>
        </p:grpSpPr>
        <p:sp>
          <p:nvSpPr>
            <p:cNvPr id="9" name="Oval 3">
              <a:extLst>
                <a:ext uri="{FF2B5EF4-FFF2-40B4-BE49-F238E27FC236}">
                  <a16:creationId xmlns:a16="http://schemas.microsoft.com/office/drawing/2014/main" id="{785A960C-54FC-C8F8-544A-B0B8B679D3CD}"/>
                </a:ext>
              </a:extLst>
            </p:cNvPr>
            <p:cNvSpPr>
              <a:spLocks noChangeArrowheads="1"/>
            </p:cNvSpPr>
            <p:nvPr/>
          </p:nvSpPr>
          <p:spPr bwMode="auto">
            <a:xfrm>
              <a:off x="2422404" y="2043659"/>
              <a:ext cx="6911394" cy="378985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6" name="Freeform 10">
              <a:extLst>
                <a:ext uri="{FF2B5EF4-FFF2-40B4-BE49-F238E27FC236}">
                  <a16:creationId xmlns:a16="http://schemas.microsoft.com/office/drawing/2014/main" id="{FBF6AD74-B9F4-43D4-87D6-411DB074A109}"/>
                </a:ext>
              </a:extLst>
            </p:cNvPr>
            <p:cNvSpPr>
              <a:spLocks/>
            </p:cNvSpPr>
            <p:nvPr/>
          </p:nvSpPr>
          <p:spPr bwMode="auto">
            <a:xfrm rot="19651401">
              <a:off x="7689007" y="2329037"/>
              <a:ext cx="304049" cy="219016"/>
            </a:xfrm>
            <a:custGeom>
              <a:avLst/>
              <a:gdLst>
                <a:gd name="T0" fmla="*/ 294856707 w 119"/>
                <a:gd name="T1" fmla="*/ 352821875 h 148"/>
                <a:gd name="T2" fmla="*/ 254534314 w 119"/>
                <a:gd name="T3" fmla="*/ 0 h 148"/>
                <a:gd name="T4" fmla="*/ 0 w 119"/>
                <a:gd name="T5" fmla="*/ 98286888 h 148"/>
                <a:gd name="T6" fmla="*/ 297377650 w 119"/>
                <a:gd name="T7" fmla="*/ 370463763 h 148"/>
                <a:gd name="T8" fmla="*/ 294856707 w 119"/>
                <a:gd name="T9" fmla="*/ 352821875 h 148"/>
                <a:gd name="T10" fmla="*/ 0 60000 65536"/>
                <a:gd name="T11" fmla="*/ 0 60000 65536"/>
                <a:gd name="T12" fmla="*/ 0 60000 65536"/>
                <a:gd name="T13" fmla="*/ 0 60000 65536"/>
                <a:gd name="T14" fmla="*/ 0 60000 65536"/>
                <a:gd name="T15" fmla="*/ 0 w 119"/>
                <a:gd name="T16" fmla="*/ 0 h 148"/>
                <a:gd name="T17" fmla="*/ 119 w 119"/>
                <a:gd name="T18" fmla="*/ 148 h 148"/>
              </a:gdLst>
              <a:ahLst/>
              <a:cxnLst>
                <a:cxn ang="T10">
                  <a:pos x="T0" y="T1"/>
                </a:cxn>
                <a:cxn ang="T11">
                  <a:pos x="T2" y="T3"/>
                </a:cxn>
                <a:cxn ang="T12">
                  <a:pos x="T4" y="T5"/>
                </a:cxn>
                <a:cxn ang="T13">
                  <a:pos x="T6" y="T7"/>
                </a:cxn>
                <a:cxn ang="T14">
                  <a:pos x="T8" y="T9"/>
                </a:cxn>
              </a:cxnLst>
              <a:rect l="T15" t="T16" r="T17" b="T18"/>
              <a:pathLst>
                <a:path w="119" h="148">
                  <a:moveTo>
                    <a:pt x="117" y="140"/>
                  </a:moveTo>
                  <a:lnTo>
                    <a:pt x="101" y="0"/>
                  </a:lnTo>
                  <a:lnTo>
                    <a:pt x="0" y="39"/>
                  </a:lnTo>
                  <a:lnTo>
                    <a:pt x="118" y="147"/>
                  </a:lnTo>
                  <a:lnTo>
                    <a:pt x="117" y="140"/>
                  </a:lnTo>
                </a:path>
              </a:pathLst>
            </a:custGeom>
            <a:solidFill>
              <a:srgbClr val="EE3228"/>
            </a:solidFill>
            <a:ln w="12700" cap="rnd">
              <a:solidFill>
                <a:schemeClr val="tx1"/>
              </a:solidFill>
              <a:round/>
              <a:headEnd/>
              <a:tailEnd/>
            </a:ln>
          </p:spPr>
          <p:txBody>
            <a:bodyPr/>
            <a:lstStyle/>
            <a:p>
              <a:endParaRPr lang="en-US"/>
            </a:p>
          </p:txBody>
        </p:sp>
        <p:sp>
          <p:nvSpPr>
            <p:cNvPr id="17" name="Freeform 11">
              <a:extLst>
                <a:ext uri="{FF2B5EF4-FFF2-40B4-BE49-F238E27FC236}">
                  <a16:creationId xmlns:a16="http://schemas.microsoft.com/office/drawing/2014/main" id="{EE8DF798-C52A-63B2-EE4F-4E34201E6DAA}"/>
                </a:ext>
              </a:extLst>
            </p:cNvPr>
            <p:cNvSpPr>
              <a:spLocks/>
            </p:cNvSpPr>
            <p:nvPr/>
          </p:nvSpPr>
          <p:spPr bwMode="auto">
            <a:xfrm>
              <a:off x="7340945" y="5474970"/>
              <a:ext cx="367926" cy="187939"/>
            </a:xfrm>
            <a:custGeom>
              <a:avLst/>
              <a:gdLst>
                <a:gd name="T0" fmla="*/ 17641888 w 144"/>
                <a:gd name="T1" fmla="*/ 315017956 h 127"/>
                <a:gd name="T2" fmla="*/ 360383138 w 144"/>
                <a:gd name="T3" fmla="*/ 239413456 h 127"/>
                <a:gd name="T4" fmla="*/ 239415638 w 144"/>
                <a:gd name="T5" fmla="*/ 0 h 127"/>
                <a:gd name="T6" fmla="*/ 0 w 144"/>
                <a:gd name="T7" fmla="*/ 317538900 h 127"/>
                <a:gd name="T8" fmla="*/ 17641888 w 144"/>
                <a:gd name="T9" fmla="*/ 315017956 h 127"/>
                <a:gd name="T10" fmla="*/ 0 60000 65536"/>
                <a:gd name="T11" fmla="*/ 0 60000 65536"/>
                <a:gd name="T12" fmla="*/ 0 60000 65536"/>
                <a:gd name="T13" fmla="*/ 0 60000 65536"/>
                <a:gd name="T14" fmla="*/ 0 60000 65536"/>
                <a:gd name="T15" fmla="*/ 0 w 144"/>
                <a:gd name="T16" fmla="*/ 0 h 127"/>
                <a:gd name="T17" fmla="*/ 144 w 144"/>
                <a:gd name="T18" fmla="*/ 127 h 127"/>
              </a:gdLst>
              <a:ahLst/>
              <a:cxnLst>
                <a:cxn ang="T10">
                  <a:pos x="T0" y="T1"/>
                </a:cxn>
                <a:cxn ang="T11">
                  <a:pos x="T2" y="T3"/>
                </a:cxn>
                <a:cxn ang="T12">
                  <a:pos x="T4" y="T5"/>
                </a:cxn>
                <a:cxn ang="T13">
                  <a:pos x="T6" y="T7"/>
                </a:cxn>
                <a:cxn ang="T14">
                  <a:pos x="T8" y="T9"/>
                </a:cxn>
              </a:cxnLst>
              <a:rect l="T15" t="T16" r="T17" b="T18"/>
              <a:pathLst>
                <a:path w="144" h="127">
                  <a:moveTo>
                    <a:pt x="7" y="125"/>
                  </a:moveTo>
                  <a:lnTo>
                    <a:pt x="143" y="95"/>
                  </a:lnTo>
                  <a:lnTo>
                    <a:pt x="95" y="0"/>
                  </a:lnTo>
                  <a:lnTo>
                    <a:pt x="0" y="126"/>
                  </a:lnTo>
                  <a:lnTo>
                    <a:pt x="7" y="125"/>
                  </a:lnTo>
                </a:path>
              </a:pathLst>
            </a:custGeom>
            <a:solidFill>
              <a:srgbClr val="EE3228"/>
            </a:solidFill>
            <a:ln w="12700" cap="rnd">
              <a:solidFill>
                <a:schemeClr val="tx1"/>
              </a:solidFill>
              <a:round/>
              <a:headEnd/>
              <a:tailEnd/>
            </a:ln>
          </p:spPr>
          <p:txBody>
            <a:bodyPr/>
            <a:lstStyle/>
            <a:p>
              <a:endParaRPr lang="en-US"/>
            </a:p>
          </p:txBody>
        </p:sp>
        <p:sp>
          <p:nvSpPr>
            <p:cNvPr id="18" name="Freeform 12">
              <a:extLst>
                <a:ext uri="{FF2B5EF4-FFF2-40B4-BE49-F238E27FC236}">
                  <a16:creationId xmlns:a16="http://schemas.microsoft.com/office/drawing/2014/main" id="{EC8171C6-3C6D-26BD-55B4-9A5A0792A5E3}"/>
                </a:ext>
              </a:extLst>
            </p:cNvPr>
            <p:cNvSpPr>
              <a:spLocks/>
            </p:cNvSpPr>
            <p:nvPr/>
          </p:nvSpPr>
          <p:spPr bwMode="auto">
            <a:xfrm>
              <a:off x="3969096" y="5474202"/>
              <a:ext cx="367926" cy="193859"/>
            </a:xfrm>
            <a:custGeom>
              <a:avLst/>
              <a:gdLst>
                <a:gd name="T0" fmla="*/ 7561263 w 144"/>
                <a:gd name="T1" fmla="*/ 17641930 h 131"/>
                <a:gd name="T2" fmla="*/ 161290000 w 144"/>
                <a:gd name="T3" fmla="*/ 327621100 h 131"/>
                <a:gd name="T4" fmla="*/ 360383138 w 144"/>
                <a:gd name="T5" fmla="*/ 156250063 h 131"/>
                <a:gd name="T6" fmla="*/ 0 w 144"/>
                <a:gd name="T7" fmla="*/ 0 h 131"/>
                <a:gd name="T8" fmla="*/ 7561263 w 144"/>
                <a:gd name="T9" fmla="*/ 17641930 h 131"/>
                <a:gd name="T10" fmla="*/ 0 60000 65536"/>
                <a:gd name="T11" fmla="*/ 0 60000 65536"/>
                <a:gd name="T12" fmla="*/ 0 60000 65536"/>
                <a:gd name="T13" fmla="*/ 0 60000 65536"/>
                <a:gd name="T14" fmla="*/ 0 60000 65536"/>
                <a:gd name="T15" fmla="*/ 0 w 144"/>
                <a:gd name="T16" fmla="*/ 0 h 131"/>
                <a:gd name="T17" fmla="*/ 144 w 144"/>
                <a:gd name="T18" fmla="*/ 131 h 131"/>
              </a:gdLst>
              <a:ahLst/>
              <a:cxnLst>
                <a:cxn ang="T10">
                  <a:pos x="T0" y="T1"/>
                </a:cxn>
                <a:cxn ang="T11">
                  <a:pos x="T2" y="T3"/>
                </a:cxn>
                <a:cxn ang="T12">
                  <a:pos x="T4" y="T5"/>
                </a:cxn>
                <a:cxn ang="T13">
                  <a:pos x="T6" y="T7"/>
                </a:cxn>
                <a:cxn ang="T14">
                  <a:pos x="T8" y="T9"/>
                </a:cxn>
              </a:cxnLst>
              <a:rect l="T15" t="T16" r="T17" b="T18"/>
              <a:pathLst>
                <a:path w="144" h="131">
                  <a:moveTo>
                    <a:pt x="3" y="7"/>
                  </a:moveTo>
                  <a:lnTo>
                    <a:pt x="64" y="130"/>
                  </a:lnTo>
                  <a:lnTo>
                    <a:pt x="143" y="62"/>
                  </a:lnTo>
                  <a:lnTo>
                    <a:pt x="0" y="0"/>
                  </a:lnTo>
                  <a:lnTo>
                    <a:pt x="3" y="7"/>
                  </a:lnTo>
                </a:path>
              </a:pathLst>
            </a:custGeom>
            <a:solidFill>
              <a:srgbClr val="EE3228"/>
            </a:solidFill>
            <a:ln w="12700" cap="rnd">
              <a:solidFill>
                <a:schemeClr val="tx1"/>
              </a:solidFill>
              <a:round/>
              <a:headEnd/>
              <a:tailEnd/>
            </a:ln>
          </p:spPr>
          <p:txBody>
            <a:bodyPr/>
            <a:lstStyle/>
            <a:p>
              <a:endParaRPr lang="en-US"/>
            </a:p>
          </p:txBody>
        </p:sp>
        <p:sp>
          <p:nvSpPr>
            <p:cNvPr id="19" name="Freeform 13">
              <a:extLst>
                <a:ext uri="{FF2B5EF4-FFF2-40B4-BE49-F238E27FC236}">
                  <a16:creationId xmlns:a16="http://schemas.microsoft.com/office/drawing/2014/main" id="{EDC17D0C-9339-A6E8-3137-707D1B0FC88F}"/>
                </a:ext>
              </a:extLst>
            </p:cNvPr>
            <p:cNvSpPr>
              <a:spLocks/>
            </p:cNvSpPr>
            <p:nvPr/>
          </p:nvSpPr>
          <p:spPr bwMode="auto">
            <a:xfrm>
              <a:off x="3733569" y="2313457"/>
              <a:ext cx="360262" cy="182019"/>
            </a:xfrm>
            <a:custGeom>
              <a:avLst/>
              <a:gdLst>
                <a:gd name="T0" fmla="*/ 332661368 w 141"/>
                <a:gd name="T1" fmla="*/ 2519356 h 123"/>
                <a:gd name="T2" fmla="*/ 0 w 141"/>
                <a:gd name="T3" fmla="*/ 75604494 h 123"/>
                <a:gd name="T4" fmla="*/ 118448402 w 141"/>
                <a:gd name="T5" fmla="*/ 307458275 h 123"/>
                <a:gd name="T6" fmla="*/ 352822663 w 141"/>
                <a:gd name="T7" fmla="*/ 0 h 123"/>
                <a:gd name="T8" fmla="*/ 332661368 w 141"/>
                <a:gd name="T9" fmla="*/ 2519356 h 123"/>
                <a:gd name="T10" fmla="*/ 0 60000 65536"/>
                <a:gd name="T11" fmla="*/ 0 60000 65536"/>
                <a:gd name="T12" fmla="*/ 0 60000 65536"/>
                <a:gd name="T13" fmla="*/ 0 60000 65536"/>
                <a:gd name="T14" fmla="*/ 0 60000 65536"/>
                <a:gd name="T15" fmla="*/ 0 w 141"/>
                <a:gd name="T16" fmla="*/ 0 h 123"/>
                <a:gd name="T17" fmla="*/ 141 w 141"/>
                <a:gd name="T18" fmla="*/ 123 h 123"/>
              </a:gdLst>
              <a:ahLst/>
              <a:cxnLst>
                <a:cxn ang="T10">
                  <a:pos x="T0" y="T1"/>
                </a:cxn>
                <a:cxn ang="T11">
                  <a:pos x="T2" y="T3"/>
                </a:cxn>
                <a:cxn ang="T12">
                  <a:pos x="T4" y="T5"/>
                </a:cxn>
                <a:cxn ang="T13">
                  <a:pos x="T6" y="T7"/>
                </a:cxn>
                <a:cxn ang="T14">
                  <a:pos x="T8" y="T9"/>
                </a:cxn>
              </a:cxnLst>
              <a:rect l="T15" t="T16" r="T17" b="T18"/>
              <a:pathLst>
                <a:path w="141" h="123">
                  <a:moveTo>
                    <a:pt x="132" y="1"/>
                  </a:moveTo>
                  <a:lnTo>
                    <a:pt x="0" y="30"/>
                  </a:lnTo>
                  <a:lnTo>
                    <a:pt x="47" y="122"/>
                  </a:lnTo>
                  <a:lnTo>
                    <a:pt x="140" y="0"/>
                  </a:lnTo>
                  <a:lnTo>
                    <a:pt x="132" y="1"/>
                  </a:lnTo>
                </a:path>
              </a:pathLst>
            </a:custGeom>
            <a:solidFill>
              <a:srgbClr val="EE3228"/>
            </a:solidFill>
            <a:ln w="12700" cap="rnd">
              <a:solidFill>
                <a:schemeClr val="tx1"/>
              </a:solidFill>
              <a:round/>
              <a:headEnd/>
              <a:tailEnd/>
            </a:ln>
          </p:spPr>
          <p:txBody>
            <a:bodyPr/>
            <a:lstStyle/>
            <a:p>
              <a:endParaRPr lang="en-US"/>
            </a:p>
          </p:txBody>
        </p:sp>
        <p:sp>
          <p:nvSpPr>
            <p:cNvPr id="33" name="Freeform 27">
              <a:extLst>
                <a:ext uri="{FF2B5EF4-FFF2-40B4-BE49-F238E27FC236}">
                  <a16:creationId xmlns:a16="http://schemas.microsoft.com/office/drawing/2014/main" id="{9521CDC6-0541-2B95-E3AD-A88D7BC6D9DB}"/>
                </a:ext>
              </a:extLst>
            </p:cNvPr>
            <p:cNvSpPr>
              <a:spLocks/>
            </p:cNvSpPr>
            <p:nvPr/>
          </p:nvSpPr>
          <p:spPr bwMode="auto">
            <a:xfrm>
              <a:off x="2316059" y="3900028"/>
              <a:ext cx="209514" cy="241213"/>
            </a:xfrm>
            <a:custGeom>
              <a:avLst/>
              <a:gdLst>
                <a:gd name="T0" fmla="*/ 0 w 82"/>
                <a:gd name="T1" fmla="*/ 408264524 h 163"/>
                <a:gd name="T2" fmla="*/ 103327200 w 82"/>
                <a:gd name="T3" fmla="*/ 0 h 163"/>
                <a:gd name="T4" fmla="*/ 204133450 w 82"/>
                <a:gd name="T5" fmla="*/ 408264524 h 163"/>
                <a:gd name="T6" fmla="*/ 0 w 82"/>
                <a:gd name="T7" fmla="*/ 408264524 h 163"/>
                <a:gd name="T8" fmla="*/ 0 60000 65536"/>
                <a:gd name="T9" fmla="*/ 0 60000 65536"/>
                <a:gd name="T10" fmla="*/ 0 60000 65536"/>
                <a:gd name="T11" fmla="*/ 0 60000 65536"/>
                <a:gd name="T12" fmla="*/ 0 w 82"/>
                <a:gd name="T13" fmla="*/ 0 h 163"/>
                <a:gd name="T14" fmla="*/ 82 w 82"/>
                <a:gd name="T15" fmla="*/ 163 h 163"/>
              </a:gdLst>
              <a:ahLst/>
              <a:cxnLst>
                <a:cxn ang="T8">
                  <a:pos x="T0" y="T1"/>
                </a:cxn>
                <a:cxn ang="T9">
                  <a:pos x="T2" y="T3"/>
                </a:cxn>
                <a:cxn ang="T10">
                  <a:pos x="T4" y="T5"/>
                </a:cxn>
                <a:cxn ang="T11">
                  <a:pos x="T6" y="T7"/>
                </a:cxn>
              </a:cxnLst>
              <a:rect l="T12" t="T13" r="T14" b="T15"/>
              <a:pathLst>
                <a:path w="82" h="163">
                  <a:moveTo>
                    <a:pt x="0" y="162"/>
                  </a:moveTo>
                  <a:lnTo>
                    <a:pt x="41" y="0"/>
                  </a:lnTo>
                  <a:lnTo>
                    <a:pt x="81" y="162"/>
                  </a:lnTo>
                  <a:lnTo>
                    <a:pt x="0" y="162"/>
                  </a:lnTo>
                </a:path>
              </a:pathLst>
            </a:custGeom>
            <a:solidFill>
              <a:srgbClr val="EE3228"/>
            </a:solidFill>
            <a:ln w="12700" cap="rnd">
              <a:solidFill>
                <a:schemeClr val="tx1"/>
              </a:solidFill>
              <a:round/>
              <a:headEnd/>
              <a:tailEnd/>
            </a:ln>
          </p:spPr>
          <p:txBody>
            <a:bodyPr/>
            <a:lstStyle/>
            <a:p>
              <a:endParaRPr lang="en-US"/>
            </a:p>
          </p:txBody>
        </p:sp>
        <p:sp>
          <p:nvSpPr>
            <p:cNvPr id="35" name="Freeform 29">
              <a:extLst>
                <a:ext uri="{FF2B5EF4-FFF2-40B4-BE49-F238E27FC236}">
                  <a16:creationId xmlns:a16="http://schemas.microsoft.com/office/drawing/2014/main" id="{C05F7C03-9EF2-2E71-5CD1-EA89D10FC0AB}"/>
                </a:ext>
              </a:extLst>
            </p:cNvPr>
            <p:cNvSpPr>
              <a:spLocks/>
            </p:cNvSpPr>
            <p:nvPr/>
          </p:nvSpPr>
          <p:spPr bwMode="auto">
            <a:xfrm>
              <a:off x="9229041" y="3929611"/>
              <a:ext cx="209514" cy="244172"/>
            </a:xfrm>
            <a:custGeom>
              <a:avLst/>
              <a:gdLst>
                <a:gd name="T0" fmla="*/ 204133450 w 82"/>
                <a:gd name="T1" fmla="*/ 10080606 h 165"/>
                <a:gd name="T2" fmla="*/ 78125638 w 82"/>
                <a:gd name="T3" fmla="*/ 413304836 h 165"/>
                <a:gd name="T4" fmla="*/ 0 w 82"/>
                <a:gd name="T5" fmla="*/ 0 h 165"/>
                <a:gd name="T6" fmla="*/ 204133450 w 82"/>
                <a:gd name="T7" fmla="*/ 10080606 h 165"/>
                <a:gd name="T8" fmla="*/ 0 60000 65536"/>
                <a:gd name="T9" fmla="*/ 0 60000 65536"/>
                <a:gd name="T10" fmla="*/ 0 60000 65536"/>
                <a:gd name="T11" fmla="*/ 0 60000 65536"/>
                <a:gd name="T12" fmla="*/ 0 w 82"/>
                <a:gd name="T13" fmla="*/ 0 h 165"/>
                <a:gd name="T14" fmla="*/ 82 w 82"/>
                <a:gd name="T15" fmla="*/ 165 h 165"/>
              </a:gdLst>
              <a:ahLst/>
              <a:cxnLst>
                <a:cxn ang="T8">
                  <a:pos x="T0" y="T1"/>
                </a:cxn>
                <a:cxn ang="T9">
                  <a:pos x="T2" y="T3"/>
                </a:cxn>
                <a:cxn ang="T10">
                  <a:pos x="T4" y="T5"/>
                </a:cxn>
                <a:cxn ang="T11">
                  <a:pos x="T6" y="T7"/>
                </a:cxn>
              </a:cxnLst>
              <a:rect l="T12" t="T13" r="T14" b="T15"/>
              <a:pathLst>
                <a:path w="82" h="165">
                  <a:moveTo>
                    <a:pt x="81" y="4"/>
                  </a:moveTo>
                  <a:lnTo>
                    <a:pt x="31" y="164"/>
                  </a:lnTo>
                  <a:lnTo>
                    <a:pt x="0" y="0"/>
                  </a:lnTo>
                  <a:lnTo>
                    <a:pt x="81" y="4"/>
                  </a:lnTo>
                </a:path>
              </a:pathLst>
            </a:custGeom>
            <a:solidFill>
              <a:srgbClr val="EE3228"/>
            </a:solidFill>
            <a:ln w="12700" cap="rnd">
              <a:solidFill>
                <a:schemeClr val="tx1"/>
              </a:solidFill>
              <a:round/>
              <a:headEnd/>
              <a:tailEnd/>
            </a:ln>
          </p:spPr>
          <p:txBody>
            <a:bodyPr/>
            <a:lstStyle/>
            <a:p>
              <a:endParaRPr lang="en-US"/>
            </a:p>
          </p:txBody>
        </p:sp>
      </p:grpSp>
      <p:sp>
        <p:nvSpPr>
          <p:cNvPr id="2" name="Title 1">
            <a:extLst>
              <a:ext uri="{FF2B5EF4-FFF2-40B4-BE49-F238E27FC236}">
                <a16:creationId xmlns:a16="http://schemas.microsoft.com/office/drawing/2014/main" id="{CF4FE99C-A1DB-282B-16CD-A303CF148D1B}"/>
              </a:ext>
            </a:extLst>
          </p:cNvPr>
          <p:cNvSpPr>
            <a:spLocks noGrp="1"/>
          </p:cNvSpPr>
          <p:nvPr>
            <p:ph type="title"/>
          </p:nvPr>
        </p:nvSpPr>
        <p:spPr/>
        <p:txBody>
          <a:bodyPr>
            <a:normAutofit fontScale="90000"/>
          </a:bodyPr>
          <a:lstStyle/>
          <a:p>
            <a:r>
              <a:rPr lang="en-US" dirty="0"/>
              <a:t>Visual Management = Improvement Cycle</a:t>
            </a:r>
          </a:p>
        </p:txBody>
      </p:sp>
      <p:sp>
        <p:nvSpPr>
          <p:cNvPr id="3" name="Slide Number Placeholder 2">
            <a:extLst>
              <a:ext uri="{FF2B5EF4-FFF2-40B4-BE49-F238E27FC236}">
                <a16:creationId xmlns:a16="http://schemas.microsoft.com/office/drawing/2014/main" id="{205CDFC5-E059-078E-402C-976E74747B85}"/>
              </a:ext>
            </a:extLst>
          </p:cNvPr>
          <p:cNvSpPr>
            <a:spLocks noGrp="1"/>
          </p:cNvSpPr>
          <p:nvPr>
            <p:ph type="sldNum" sz="quarter" idx="4"/>
          </p:nvPr>
        </p:nvSpPr>
        <p:spPr/>
        <p:txBody>
          <a:bodyPr/>
          <a:lstStyle/>
          <a:p>
            <a:fld id="{CC6D4273-7FC1-0947-B9FE-19CB3C0D1FB6}" type="slidenum">
              <a:rPr lang="en-US" smtClean="0"/>
              <a:pPr/>
              <a:t>17</a:t>
            </a:fld>
            <a:endParaRPr lang="en-US"/>
          </a:p>
        </p:txBody>
      </p:sp>
      <p:grpSp>
        <p:nvGrpSpPr>
          <p:cNvPr id="4" name="Group 3">
            <a:extLst>
              <a:ext uri="{FF2B5EF4-FFF2-40B4-BE49-F238E27FC236}">
                <a16:creationId xmlns:a16="http://schemas.microsoft.com/office/drawing/2014/main" id="{F83A54F7-955A-BF52-BD52-277388A4C512}"/>
              </a:ext>
            </a:extLst>
          </p:cNvPr>
          <p:cNvGrpSpPr/>
          <p:nvPr/>
        </p:nvGrpSpPr>
        <p:grpSpPr>
          <a:xfrm>
            <a:off x="940249" y="302538"/>
            <a:ext cx="5600951" cy="311932"/>
            <a:chOff x="940249" y="302538"/>
            <a:chExt cx="5600951" cy="311932"/>
          </a:xfrm>
        </p:grpSpPr>
        <p:sp>
          <p:nvSpPr>
            <p:cNvPr id="5" name="TextBox 4">
              <a:extLst>
                <a:ext uri="{FF2B5EF4-FFF2-40B4-BE49-F238E27FC236}">
                  <a16:creationId xmlns:a16="http://schemas.microsoft.com/office/drawing/2014/main" id="{76024B8C-79F6-3C9F-9BBA-271F1894C90A}"/>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6" name="AutoShape 9">
              <a:extLst>
                <a:ext uri="{FF2B5EF4-FFF2-40B4-BE49-F238E27FC236}">
                  <a16:creationId xmlns:a16="http://schemas.microsoft.com/office/drawing/2014/main" id="{7EAFF1DF-1B6C-5505-B600-5D0E1B37DA09}"/>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231B9249-BB42-C0B1-0972-BFCE76E22044}"/>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8C75DE7-E0E8-C8C3-E960-E599EEDBB5D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0" name="Oval 4">
            <a:extLst>
              <a:ext uri="{FF2B5EF4-FFF2-40B4-BE49-F238E27FC236}">
                <a16:creationId xmlns:a16="http://schemas.microsoft.com/office/drawing/2014/main" id="{8BE1FFD7-64EC-C500-5939-F6D200420CA9}"/>
              </a:ext>
            </a:extLst>
          </p:cNvPr>
          <p:cNvSpPr>
            <a:spLocks noChangeArrowheads="1"/>
          </p:cNvSpPr>
          <p:nvPr/>
        </p:nvSpPr>
        <p:spPr bwMode="auto">
          <a:xfrm>
            <a:off x="1400755" y="4328070"/>
            <a:ext cx="2526056" cy="1114315"/>
          </a:xfrm>
          <a:prstGeom prst="ellipse">
            <a:avLst/>
          </a:prstGeom>
          <a:solidFill>
            <a:srgbClr val="7F7F7F"/>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1" name="Oval 5">
            <a:extLst>
              <a:ext uri="{FF2B5EF4-FFF2-40B4-BE49-F238E27FC236}">
                <a16:creationId xmlns:a16="http://schemas.microsoft.com/office/drawing/2014/main" id="{C7254804-A8B4-F7DB-A456-9D6ADC80829E}"/>
              </a:ext>
            </a:extLst>
          </p:cNvPr>
          <p:cNvSpPr>
            <a:spLocks noChangeArrowheads="1"/>
          </p:cNvSpPr>
          <p:nvPr/>
        </p:nvSpPr>
        <p:spPr bwMode="auto">
          <a:xfrm>
            <a:off x="1260238" y="2713583"/>
            <a:ext cx="2711855" cy="1114315"/>
          </a:xfrm>
          <a:prstGeom prst="ellipse">
            <a:avLst/>
          </a:prstGeom>
          <a:solidFill>
            <a:srgbClr val="7F7F7F"/>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2" name="Oval 6">
            <a:extLst>
              <a:ext uri="{FF2B5EF4-FFF2-40B4-BE49-F238E27FC236}">
                <a16:creationId xmlns:a16="http://schemas.microsoft.com/office/drawing/2014/main" id="{29CE3D49-1591-8B28-F4E9-AE1A4A2A3BA9}"/>
              </a:ext>
            </a:extLst>
          </p:cNvPr>
          <p:cNvSpPr>
            <a:spLocks noChangeArrowheads="1"/>
          </p:cNvSpPr>
          <p:nvPr/>
        </p:nvSpPr>
        <p:spPr bwMode="auto">
          <a:xfrm>
            <a:off x="4647168" y="5334240"/>
            <a:ext cx="2431809" cy="1058890"/>
          </a:xfrm>
          <a:prstGeom prst="ellipse">
            <a:avLst/>
          </a:prstGeom>
          <a:solidFill>
            <a:srgbClr val="7F7F7F"/>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3" name="Oval 7">
            <a:extLst>
              <a:ext uri="{FF2B5EF4-FFF2-40B4-BE49-F238E27FC236}">
                <a16:creationId xmlns:a16="http://schemas.microsoft.com/office/drawing/2014/main" id="{109D3610-4888-F9A4-CE39-27FD8927B386}"/>
              </a:ext>
            </a:extLst>
          </p:cNvPr>
          <p:cNvSpPr>
            <a:spLocks noChangeArrowheads="1"/>
          </p:cNvSpPr>
          <p:nvPr/>
        </p:nvSpPr>
        <p:spPr bwMode="auto">
          <a:xfrm>
            <a:off x="7718417" y="4297909"/>
            <a:ext cx="2596890" cy="1216424"/>
          </a:xfrm>
          <a:prstGeom prst="ellipse">
            <a:avLst/>
          </a:prstGeom>
          <a:solidFill>
            <a:srgbClr val="7F7F7F"/>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4" name="Rectangle 8">
            <a:extLst>
              <a:ext uri="{FF2B5EF4-FFF2-40B4-BE49-F238E27FC236}">
                <a16:creationId xmlns:a16="http://schemas.microsoft.com/office/drawing/2014/main" id="{0F0B83FE-E47E-A6FD-2B12-803EE249408B}"/>
              </a:ext>
            </a:extLst>
          </p:cNvPr>
          <p:cNvSpPr>
            <a:spLocks noChangeArrowheads="1"/>
          </p:cNvSpPr>
          <p:nvPr/>
        </p:nvSpPr>
        <p:spPr bwMode="auto">
          <a:xfrm>
            <a:off x="7632334" y="3027908"/>
            <a:ext cx="3053277" cy="544579"/>
          </a:xfrm>
          <a:prstGeom prst="rect">
            <a:avLst/>
          </a:prstGeom>
          <a:solidFill>
            <a:srgbClr val="7F7F7F"/>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5" name="Oval 9">
            <a:extLst>
              <a:ext uri="{FF2B5EF4-FFF2-40B4-BE49-F238E27FC236}">
                <a16:creationId xmlns:a16="http://schemas.microsoft.com/office/drawing/2014/main" id="{76DCF6F7-FA97-13D1-490D-EB61562B897A}"/>
              </a:ext>
            </a:extLst>
          </p:cNvPr>
          <p:cNvSpPr>
            <a:spLocks noChangeArrowheads="1"/>
          </p:cNvSpPr>
          <p:nvPr/>
        </p:nvSpPr>
        <p:spPr bwMode="auto">
          <a:xfrm>
            <a:off x="4365293" y="1857669"/>
            <a:ext cx="2711854" cy="1009652"/>
          </a:xfrm>
          <a:prstGeom prst="ellipse">
            <a:avLst/>
          </a:prstGeom>
          <a:solidFill>
            <a:srgbClr val="7F7F7F"/>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20" name="Rectangle 14">
            <a:extLst>
              <a:ext uri="{FF2B5EF4-FFF2-40B4-BE49-F238E27FC236}">
                <a16:creationId xmlns:a16="http://schemas.microsoft.com/office/drawing/2014/main" id="{3454CB2B-18D6-2A6B-0546-24947883EC5B}"/>
              </a:ext>
            </a:extLst>
          </p:cNvPr>
          <p:cNvSpPr>
            <a:spLocks noChangeArrowheads="1"/>
          </p:cNvSpPr>
          <p:nvPr/>
        </p:nvSpPr>
        <p:spPr bwMode="auto">
          <a:xfrm>
            <a:off x="7841031" y="4456413"/>
            <a:ext cx="2478393"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US" altLang="en-US" sz="2400" b="0" dirty="0">
                <a:solidFill>
                  <a:schemeClr val="bg1"/>
                </a:solidFill>
              </a:rPr>
              <a:t>Discover</a:t>
            </a:r>
            <a:br>
              <a:rPr lang="en-US" altLang="en-US" sz="2400" b="0" dirty="0">
                <a:solidFill>
                  <a:schemeClr val="bg1"/>
                </a:solidFill>
              </a:rPr>
            </a:br>
            <a:r>
              <a:rPr lang="en-US" altLang="en-US" sz="2400" b="0" dirty="0">
                <a:solidFill>
                  <a:schemeClr val="bg1"/>
                </a:solidFill>
              </a:rPr>
              <a:t>Abnormality</a:t>
            </a:r>
          </a:p>
        </p:txBody>
      </p:sp>
      <p:sp>
        <p:nvSpPr>
          <p:cNvPr id="22" name="Rectangle 16">
            <a:extLst>
              <a:ext uri="{FF2B5EF4-FFF2-40B4-BE49-F238E27FC236}">
                <a16:creationId xmlns:a16="http://schemas.microsoft.com/office/drawing/2014/main" id="{7EB11FD3-9C61-4895-055B-ABE393C6E147}"/>
              </a:ext>
            </a:extLst>
          </p:cNvPr>
          <p:cNvSpPr>
            <a:spLocks noChangeArrowheads="1"/>
          </p:cNvSpPr>
          <p:nvPr/>
        </p:nvSpPr>
        <p:spPr bwMode="auto">
          <a:xfrm>
            <a:off x="7676785" y="3013620"/>
            <a:ext cx="297151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b="0" dirty="0">
                <a:solidFill>
                  <a:schemeClr val="bg1"/>
                </a:solidFill>
              </a:rPr>
              <a:t>Visual Tools</a:t>
            </a:r>
          </a:p>
        </p:txBody>
      </p:sp>
      <p:sp>
        <p:nvSpPr>
          <p:cNvPr id="23" name="Rectangle 17">
            <a:extLst>
              <a:ext uri="{FF2B5EF4-FFF2-40B4-BE49-F238E27FC236}">
                <a16:creationId xmlns:a16="http://schemas.microsoft.com/office/drawing/2014/main" id="{ABB34E55-6494-0AA5-19C5-15B0B04EB0F9}"/>
              </a:ext>
            </a:extLst>
          </p:cNvPr>
          <p:cNvSpPr>
            <a:spLocks noChangeArrowheads="1"/>
          </p:cNvSpPr>
          <p:nvPr/>
        </p:nvSpPr>
        <p:spPr bwMode="auto">
          <a:xfrm>
            <a:off x="4386805" y="5371208"/>
            <a:ext cx="2611255"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b="0" dirty="0">
                <a:solidFill>
                  <a:schemeClr val="bg1"/>
                </a:solidFill>
              </a:rPr>
              <a:t>   Look for </a:t>
            </a:r>
          </a:p>
        </p:txBody>
      </p:sp>
      <p:sp>
        <p:nvSpPr>
          <p:cNvPr id="24" name="Rectangle 18">
            <a:extLst>
              <a:ext uri="{FF2B5EF4-FFF2-40B4-BE49-F238E27FC236}">
                <a16:creationId xmlns:a16="http://schemas.microsoft.com/office/drawing/2014/main" id="{88008A6B-C12B-B99C-9227-83FE797ABB95}"/>
              </a:ext>
            </a:extLst>
          </p:cNvPr>
          <p:cNvSpPr>
            <a:spLocks noChangeArrowheads="1"/>
          </p:cNvSpPr>
          <p:nvPr/>
        </p:nvSpPr>
        <p:spPr bwMode="auto">
          <a:xfrm>
            <a:off x="4386805" y="5788720"/>
            <a:ext cx="288975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b="0" dirty="0">
                <a:solidFill>
                  <a:schemeClr val="bg1"/>
                </a:solidFill>
              </a:rPr>
              <a:t>Root Cause</a:t>
            </a:r>
          </a:p>
        </p:txBody>
      </p:sp>
      <p:sp>
        <p:nvSpPr>
          <p:cNvPr id="25" name="Rectangle 19">
            <a:extLst>
              <a:ext uri="{FF2B5EF4-FFF2-40B4-BE49-F238E27FC236}">
                <a16:creationId xmlns:a16="http://schemas.microsoft.com/office/drawing/2014/main" id="{13C120C2-6B22-1285-EEE4-0CA67A2C0DB9}"/>
              </a:ext>
            </a:extLst>
          </p:cNvPr>
          <p:cNvSpPr>
            <a:spLocks noChangeArrowheads="1"/>
          </p:cNvSpPr>
          <p:nvPr/>
        </p:nvSpPr>
        <p:spPr bwMode="auto">
          <a:xfrm>
            <a:off x="1048129" y="2863566"/>
            <a:ext cx="3053277"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US" altLang="en-US" sz="2400" b="0" dirty="0">
                <a:solidFill>
                  <a:schemeClr val="bg1"/>
                </a:solidFill>
              </a:rPr>
              <a:t> Standardize</a:t>
            </a:r>
            <a:br>
              <a:rPr lang="en-US" altLang="en-US" sz="2400" b="0" dirty="0">
                <a:solidFill>
                  <a:schemeClr val="bg1"/>
                </a:solidFill>
              </a:rPr>
            </a:br>
            <a:r>
              <a:rPr lang="en-US" altLang="en-US" sz="2400" b="0" dirty="0">
                <a:solidFill>
                  <a:schemeClr val="bg1"/>
                </a:solidFill>
              </a:rPr>
              <a:t>Improvement</a:t>
            </a:r>
          </a:p>
        </p:txBody>
      </p:sp>
      <p:sp>
        <p:nvSpPr>
          <p:cNvPr id="27" name="Rectangle 21">
            <a:extLst>
              <a:ext uri="{FF2B5EF4-FFF2-40B4-BE49-F238E27FC236}">
                <a16:creationId xmlns:a16="http://schemas.microsoft.com/office/drawing/2014/main" id="{593291FE-1235-39AD-56A1-55898A3B0C48}"/>
              </a:ext>
            </a:extLst>
          </p:cNvPr>
          <p:cNvSpPr>
            <a:spLocks noChangeArrowheads="1"/>
          </p:cNvSpPr>
          <p:nvPr/>
        </p:nvSpPr>
        <p:spPr bwMode="auto">
          <a:xfrm>
            <a:off x="4251389" y="1956937"/>
            <a:ext cx="302517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b="0" dirty="0">
                <a:solidFill>
                  <a:schemeClr val="bg1"/>
                </a:solidFill>
              </a:rPr>
              <a:t> Abnormality</a:t>
            </a:r>
          </a:p>
          <a:p>
            <a:pPr algn="ctr">
              <a:lnSpc>
                <a:spcPct val="100000"/>
              </a:lnSpc>
              <a:spcBef>
                <a:spcPct val="0"/>
              </a:spcBef>
              <a:spcAft>
                <a:spcPct val="0"/>
              </a:spcAft>
              <a:buClrTx/>
              <a:buSzTx/>
              <a:buFontTx/>
              <a:buNone/>
            </a:pPr>
            <a:r>
              <a:rPr lang="en-US" altLang="en-US" sz="2400" b="0" dirty="0">
                <a:solidFill>
                  <a:schemeClr val="bg1"/>
                </a:solidFill>
              </a:rPr>
              <a:t> Occurs</a:t>
            </a:r>
          </a:p>
        </p:txBody>
      </p:sp>
      <p:sp>
        <p:nvSpPr>
          <p:cNvPr id="29" name="Rectangle 23">
            <a:extLst>
              <a:ext uri="{FF2B5EF4-FFF2-40B4-BE49-F238E27FC236}">
                <a16:creationId xmlns:a16="http://schemas.microsoft.com/office/drawing/2014/main" id="{342D35F8-81FE-EEE9-BEBC-32651B57A8D5}"/>
              </a:ext>
            </a:extLst>
          </p:cNvPr>
          <p:cNvSpPr>
            <a:spLocks noChangeArrowheads="1"/>
          </p:cNvSpPr>
          <p:nvPr/>
        </p:nvSpPr>
        <p:spPr bwMode="auto">
          <a:xfrm>
            <a:off x="1476193" y="4465432"/>
            <a:ext cx="2309760"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US" altLang="en-US" sz="2400" b="0" dirty="0">
                <a:solidFill>
                  <a:schemeClr val="bg1"/>
                </a:solidFill>
              </a:rPr>
              <a:t>Make</a:t>
            </a:r>
            <a:br>
              <a:rPr lang="en-US" altLang="en-US" sz="2400" b="0" dirty="0">
                <a:solidFill>
                  <a:schemeClr val="bg1"/>
                </a:solidFill>
              </a:rPr>
            </a:br>
            <a:r>
              <a:rPr lang="en-US" altLang="en-US" sz="2400" b="0" dirty="0">
                <a:solidFill>
                  <a:schemeClr val="bg1"/>
                </a:solidFill>
              </a:rPr>
              <a:t>Improvement</a:t>
            </a:r>
          </a:p>
        </p:txBody>
      </p:sp>
      <p:sp>
        <p:nvSpPr>
          <p:cNvPr id="31" name="Oval 25">
            <a:extLst>
              <a:ext uri="{FF2B5EF4-FFF2-40B4-BE49-F238E27FC236}">
                <a16:creationId xmlns:a16="http://schemas.microsoft.com/office/drawing/2014/main" id="{A7CA21CB-EF9A-32F0-6F19-6C94F03DA268}"/>
              </a:ext>
            </a:extLst>
          </p:cNvPr>
          <p:cNvSpPr>
            <a:spLocks noChangeArrowheads="1"/>
          </p:cNvSpPr>
          <p:nvPr/>
        </p:nvSpPr>
        <p:spPr bwMode="auto">
          <a:xfrm>
            <a:off x="4728803" y="3411878"/>
            <a:ext cx="2021039" cy="910098"/>
          </a:xfrm>
          <a:prstGeom prst="ellipse">
            <a:avLst/>
          </a:prstGeom>
          <a:solidFill>
            <a:srgbClr val="EE3228"/>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32" name="Line 26">
            <a:extLst>
              <a:ext uri="{FF2B5EF4-FFF2-40B4-BE49-F238E27FC236}">
                <a16:creationId xmlns:a16="http://schemas.microsoft.com/office/drawing/2014/main" id="{C4124C29-6395-C1D1-DF49-383561AD5B59}"/>
              </a:ext>
            </a:extLst>
          </p:cNvPr>
          <p:cNvSpPr>
            <a:spLocks noChangeShapeType="1"/>
          </p:cNvSpPr>
          <p:nvPr/>
        </p:nvSpPr>
        <p:spPr bwMode="auto">
          <a:xfrm flipV="1">
            <a:off x="2420816" y="3928020"/>
            <a:ext cx="0" cy="5475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6" name="Rectangle 30">
            <a:extLst>
              <a:ext uri="{FF2B5EF4-FFF2-40B4-BE49-F238E27FC236}">
                <a16:creationId xmlns:a16="http://schemas.microsoft.com/office/drawing/2014/main" id="{FBCADCFB-564D-9356-3698-F93E58380328}"/>
              </a:ext>
            </a:extLst>
          </p:cNvPr>
          <p:cNvSpPr>
            <a:spLocks noChangeArrowheads="1"/>
          </p:cNvSpPr>
          <p:nvPr/>
        </p:nvSpPr>
        <p:spPr bwMode="auto">
          <a:xfrm>
            <a:off x="4775199" y="3649798"/>
            <a:ext cx="208491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2400" b="0" dirty="0">
                <a:solidFill>
                  <a:schemeClr val="bg1"/>
                </a:solidFill>
              </a:rPr>
              <a:t>Kaizen</a:t>
            </a:r>
          </a:p>
        </p:txBody>
      </p:sp>
    </p:spTree>
    <p:extLst>
      <p:ext uri="{BB962C8B-B14F-4D97-AF65-F5344CB8AC3E}">
        <p14:creationId xmlns:p14="http://schemas.microsoft.com/office/powerpoint/2010/main" val="162800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FE99C-A1DB-282B-16CD-A303CF148D1B}"/>
              </a:ext>
            </a:extLst>
          </p:cNvPr>
          <p:cNvSpPr>
            <a:spLocks noGrp="1"/>
          </p:cNvSpPr>
          <p:nvPr>
            <p:ph type="title"/>
          </p:nvPr>
        </p:nvSpPr>
        <p:spPr/>
        <p:txBody>
          <a:bodyPr>
            <a:normAutofit/>
          </a:bodyPr>
          <a:lstStyle/>
          <a:p>
            <a:r>
              <a:rPr lang="en-US" dirty="0"/>
              <a:t>Visual Controls drive immediate action</a:t>
            </a:r>
          </a:p>
        </p:txBody>
      </p:sp>
      <p:sp>
        <p:nvSpPr>
          <p:cNvPr id="21" name="Content Placeholder 20">
            <a:extLst>
              <a:ext uri="{FF2B5EF4-FFF2-40B4-BE49-F238E27FC236}">
                <a16:creationId xmlns:a16="http://schemas.microsoft.com/office/drawing/2014/main" id="{308725B3-A7AF-080E-C90F-4C5046D51B42}"/>
              </a:ext>
            </a:extLst>
          </p:cNvPr>
          <p:cNvSpPr>
            <a:spLocks noGrp="1"/>
          </p:cNvSpPr>
          <p:nvPr>
            <p:ph idx="1"/>
          </p:nvPr>
        </p:nvSpPr>
        <p:spPr/>
        <p:txBody>
          <a:bodyPr>
            <a:normAutofit/>
          </a:bodyPr>
          <a:lstStyle/>
          <a:p>
            <a:r>
              <a:rPr lang="en-US" sz="2400" dirty="0"/>
              <a:t>By having an organized system and visual system in place, </a:t>
            </a:r>
            <a:br>
              <a:rPr lang="en-US" sz="2400" dirty="0"/>
            </a:br>
            <a:r>
              <a:rPr lang="en-US" sz="2400" dirty="0"/>
              <a:t>one can quickly take corrective action </a:t>
            </a:r>
          </a:p>
          <a:p>
            <a:r>
              <a:rPr lang="en-US" sz="2400" dirty="0"/>
              <a:t>These actions would be short-term, </a:t>
            </a:r>
            <a:br>
              <a:rPr lang="en-US" sz="2400" dirty="0"/>
            </a:br>
            <a:r>
              <a:rPr lang="en-US" sz="2400" dirty="0"/>
              <a:t>intended to take care of the customer now</a:t>
            </a:r>
          </a:p>
          <a:p>
            <a:r>
              <a:rPr lang="en-US" sz="2400" dirty="0"/>
              <a:t>Longer-term actions need to be taken to ensure the root cause is addressed so the problem can be prevented from re-occurrence</a:t>
            </a:r>
          </a:p>
          <a:p>
            <a:r>
              <a:rPr lang="en-US" sz="2400" dirty="0"/>
              <a:t>Document and standardize the solutions that address root cause</a:t>
            </a:r>
          </a:p>
          <a:p>
            <a:r>
              <a:rPr lang="en-US" sz="2400" dirty="0"/>
              <a:t>Ultimately, Visual Controls should be used as predictive management tools</a:t>
            </a:r>
          </a:p>
          <a:p>
            <a:pPr lvl="1"/>
            <a:r>
              <a:rPr lang="en-US" sz="2000" dirty="0"/>
              <a:t>Can identify or stop a problem before it happens</a:t>
            </a:r>
          </a:p>
          <a:p>
            <a:pPr lvl="1"/>
            <a:r>
              <a:rPr lang="en-US" sz="2000" dirty="0"/>
              <a:t>Can identify when the “bar is set too low” and we need to raise our goals</a:t>
            </a:r>
          </a:p>
        </p:txBody>
      </p:sp>
      <p:sp>
        <p:nvSpPr>
          <p:cNvPr id="3" name="Slide Number Placeholder 2">
            <a:extLst>
              <a:ext uri="{FF2B5EF4-FFF2-40B4-BE49-F238E27FC236}">
                <a16:creationId xmlns:a16="http://schemas.microsoft.com/office/drawing/2014/main" id="{205CDFC5-E059-078E-402C-976E74747B85}"/>
              </a:ext>
            </a:extLst>
          </p:cNvPr>
          <p:cNvSpPr>
            <a:spLocks noGrp="1"/>
          </p:cNvSpPr>
          <p:nvPr>
            <p:ph type="sldNum" sz="quarter" idx="4"/>
          </p:nvPr>
        </p:nvSpPr>
        <p:spPr/>
        <p:txBody>
          <a:bodyPr/>
          <a:lstStyle/>
          <a:p>
            <a:fld id="{CC6D4273-7FC1-0947-B9FE-19CB3C0D1FB6}" type="slidenum">
              <a:rPr lang="en-US" smtClean="0"/>
              <a:pPr/>
              <a:t>18</a:t>
            </a:fld>
            <a:endParaRPr lang="en-US"/>
          </a:p>
        </p:txBody>
      </p:sp>
      <p:grpSp>
        <p:nvGrpSpPr>
          <p:cNvPr id="4" name="Group 3">
            <a:extLst>
              <a:ext uri="{FF2B5EF4-FFF2-40B4-BE49-F238E27FC236}">
                <a16:creationId xmlns:a16="http://schemas.microsoft.com/office/drawing/2014/main" id="{F83A54F7-955A-BF52-BD52-277388A4C512}"/>
              </a:ext>
            </a:extLst>
          </p:cNvPr>
          <p:cNvGrpSpPr/>
          <p:nvPr/>
        </p:nvGrpSpPr>
        <p:grpSpPr>
          <a:xfrm>
            <a:off x="940249" y="302538"/>
            <a:ext cx="5600951" cy="311932"/>
            <a:chOff x="940249" y="302538"/>
            <a:chExt cx="5600951" cy="311932"/>
          </a:xfrm>
        </p:grpSpPr>
        <p:sp>
          <p:nvSpPr>
            <p:cNvPr id="5" name="TextBox 4">
              <a:extLst>
                <a:ext uri="{FF2B5EF4-FFF2-40B4-BE49-F238E27FC236}">
                  <a16:creationId xmlns:a16="http://schemas.microsoft.com/office/drawing/2014/main" id="{76024B8C-79F6-3C9F-9BBA-271F1894C90A}"/>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6" name="AutoShape 9">
              <a:extLst>
                <a:ext uri="{FF2B5EF4-FFF2-40B4-BE49-F238E27FC236}">
                  <a16:creationId xmlns:a16="http://schemas.microsoft.com/office/drawing/2014/main" id="{7EAFF1DF-1B6C-5505-B600-5D0E1B37DA09}"/>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231B9249-BB42-C0B1-0972-BFCE76E22044}"/>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8C75DE7-E0E8-C8C3-E960-E599EEDBB5D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70685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Autofit/>
          </a:bodyPr>
          <a:lstStyle/>
          <a:p>
            <a:r>
              <a:rPr lang="en-US" sz="3600" dirty="0"/>
              <a:t>Exercise: Traditional Management Tools vs. Visual Management</a:t>
            </a:r>
          </a:p>
        </p:txBody>
      </p:sp>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Tx/>
              <a:buSzTx/>
              <a:buFontTx/>
              <a:buNone/>
            </a:pPr>
            <a:r>
              <a:rPr lang="en-US" altLang="en-US" sz="1800" dirty="0">
                <a:solidFill>
                  <a:schemeClr val="bg1"/>
                </a:solidFill>
              </a:rPr>
              <a:t>Define visual management in your own words.</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19</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600" dirty="0">
                <a:solidFill>
                  <a:schemeClr val="bg1"/>
                </a:solidFill>
              </a:rPr>
              <a:t>Discuss with the class</a:t>
            </a:r>
            <a:br>
              <a:rPr lang="en-US" altLang="en-US" sz="1600" dirty="0">
                <a:solidFill>
                  <a:schemeClr val="bg1"/>
                </a:solidFill>
              </a:rPr>
            </a:br>
            <a:r>
              <a:rPr lang="en-US" altLang="en-US" sz="1600" dirty="0">
                <a:solidFill>
                  <a:schemeClr val="bg1"/>
                </a:solidFill>
              </a:rPr>
              <a:t>your findings  </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15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In small groups, review existing list of management </a:t>
            </a:r>
            <a:br>
              <a:rPr lang="en-US" altLang="en-US" sz="1600" dirty="0">
                <a:solidFill>
                  <a:schemeClr val="bg1"/>
                </a:solidFill>
              </a:rPr>
            </a:br>
            <a:r>
              <a:rPr lang="en-US" altLang="en-US" sz="1600" dirty="0">
                <a:solidFill>
                  <a:schemeClr val="bg1"/>
                </a:solidFill>
              </a:rPr>
              <a:t>tools you use today from previous exercise. </a:t>
            </a:r>
          </a:p>
          <a:p>
            <a:pPr marL="0" indent="0">
              <a:spcBef>
                <a:spcPct val="20000"/>
              </a:spcBef>
              <a:spcAft>
                <a:spcPct val="20000"/>
              </a:spcAft>
              <a:buClrTx/>
              <a:buSzTx/>
              <a:buFontTx/>
              <a:buNone/>
            </a:pPr>
            <a:endParaRPr lang="en-US" altLang="en-US" sz="1600" dirty="0">
              <a:solidFill>
                <a:schemeClr val="bg1"/>
              </a:solidFill>
            </a:endParaRPr>
          </a:p>
          <a:p>
            <a:pPr marL="0" indent="0">
              <a:spcBef>
                <a:spcPct val="20000"/>
              </a:spcBef>
              <a:spcAft>
                <a:spcPct val="20000"/>
              </a:spcAft>
              <a:buClrTx/>
              <a:buSzTx/>
              <a:buFontTx/>
              <a:buNone/>
            </a:pPr>
            <a:r>
              <a:rPr lang="en-US" altLang="en-US" sz="1600" dirty="0">
                <a:solidFill>
                  <a:schemeClr val="bg1"/>
                </a:solidFill>
              </a:rPr>
              <a:t>Recreate chart on following slide on chart paper,</a:t>
            </a:r>
            <a:br>
              <a:rPr lang="en-US" altLang="en-US" sz="1600" dirty="0">
                <a:solidFill>
                  <a:schemeClr val="bg1"/>
                </a:solidFill>
              </a:rPr>
            </a:br>
            <a:r>
              <a:rPr lang="en-US" altLang="en-US" sz="1600" dirty="0">
                <a:solidFill>
                  <a:schemeClr val="bg1"/>
                </a:solidFill>
              </a:rPr>
              <a:t>and plot your existing tools today on the chart.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grpSp>
        <p:nvGrpSpPr>
          <p:cNvPr id="5" name="Group 4">
            <a:extLst>
              <a:ext uri="{FF2B5EF4-FFF2-40B4-BE49-F238E27FC236}">
                <a16:creationId xmlns:a16="http://schemas.microsoft.com/office/drawing/2014/main" id="{8BBFF650-8BCE-D604-75A3-6BBA223C85CA}"/>
              </a:ext>
            </a:extLst>
          </p:cNvPr>
          <p:cNvGrpSpPr/>
          <p:nvPr/>
        </p:nvGrpSpPr>
        <p:grpSpPr>
          <a:xfrm>
            <a:off x="940249" y="302538"/>
            <a:ext cx="5600951" cy="311932"/>
            <a:chOff x="940249" y="302538"/>
            <a:chExt cx="5600951" cy="311932"/>
          </a:xfrm>
        </p:grpSpPr>
        <p:sp>
          <p:nvSpPr>
            <p:cNvPr id="6" name="TextBox 5">
              <a:extLst>
                <a:ext uri="{FF2B5EF4-FFF2-40B4-BE49-F238E27FC236}">
                  <a16:creationId xmlns:a16="http://schemas.microsoft.com/office/drawing/2014/main" id="{BDDF2E3E-000E-BC95-61CF-54AC36B54F3F}"/>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7" name="AutoShape 9">
              <a:extLst>
                <a:ext uri="{FF2B5EF4-FFF2-40B4-BE49-F238E27FC236}">
                  <a16:creationId xmlns:a16="http://schemas.microsoft.com/office/drawing/2014/main" id="{CE4CCAFE-35DC-045D-8D7E-F55B89062C3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9D426D9-899C-6715-29CA-B2678A4661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FFF266-4AED-8E28-EC16-206A7966B22A}"/>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35251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7A94-4987-8AA9-D7B0-A93503F21B5A}"/>
              </a:ext>
            </a:extLst>
          </p:cNvPr>
          <p:cNvSpPr>
            <a:spLocks noGrp="1"/>
          </p:cNvSpPr>
          <p:nvPr>
            <p:ph type="title"/>
          </p:nvPr>
        </p:nvSpPr>
        <p:spPr/>
        <p:txBody>
          <a:bodyPr/>
          <a:lstStyle/>
          <a:p>
            <a:r>
              <a:rPr lang="en-US" dirty="0"/>
              <a:t>Chart for Exercise</a:t>
            </a:r>
          </a:p>
        </p:txBody>
      </p:sp>
      <p:sp>
        <p:nvSpPr>
          <p:cNvPr id="3" name="Slide Number Placeholder 2">
            <a:extLst>
              <a:ext uri="{FF2B5EF4-FFF2-40B4-BE49-F238E27FC236}">
                <a16:creationId xmlns:a16="http://schemas.microsoft.com/office/drawing/2014/main" id="{D58E601D-C84F-3010-2935-83F4E4F2058C}"/>
              </a:ext>
            </a:extLst>
          </p:cNvPr>
          <p:cNvSpPr>
            <a:spLocks noGrp="1"/>
          </p:cNvSpPr>
          <p:nvPr>
            <p:ph type="sldNum" sz="quarter" idx="4"/>
          </p:nvPr>
        </p:nvSpPr>
        <p:spPr/>
        <p:txBody>
          <a:bodyPr/>
          <a:lstStyle/>
          <a:p>
            <a:fld id="{CC6D4273-7FC1-0947-B9FE-19CB3C0D1FB6}" type="slidenum">
              <a:rPr lang="en-US" smtClean="0"/>
              <a:pPr/>
              <a:t>20</a:t>
            </a:fld>
            <a:endParaRPr lang="en-US"/>
          </a:p>
        </p:txBody>
      </p:sp>
      <p:grpSp>
        <p:nvGrpSpPr>
          <p:cNvPr id="4" name="Group 3">
            <a:extLst>
              <a:ext uri="{FF2B5EF4-FFF2-40B4-BE49-F238E27FC236}">
                <a16:creationId xmlns:a16="http://schemas.microsoft.com/office/drawing/2014/main" id="{F171254C-0FAB-C7B1-D58A-10DD2EC7AFD1}"/>
              </a:ext>
            </a:extLst>
          </p:cNvPr>
          <p:cNvGrpSpPr/>
          <p:nvPr/>
        </p:nvGrpSpPr>
        <p:grpSpPr>
          <a:xfrm>
            <a:off x="940249" y="302538"/>
            <a:ext cx="5600951" cy="311932"/>
            <a:chOff x="940249" y="302538"/>
            <a:chExt cx="5600951" cy="311932"/>
          </a:xfrm>
        </p:grpSpPr>
        <p:sp>
          <p:nvSpPr>
            <p:cNvPr id="5" name="TextBox 4">
              <a:extLst>
                <a:ext uri="{FF2B5EF4-FFF2-40B4-BE49-F238E27FC236}">
                  <a16:creationId xmlns:a16="http://schemas.microsoft.com/office/drawing/2014/main" id="{5752353A-6346-DB7B-252A-DEE1DCB05AD4}"/>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6" name="AutoShape 9">
              <a:extLst>
                <a:ext uri="{FF2B5EF4-FFF2-40B4-BE49-F238E27FC236}">
                  <a16:creationId xmlns:a16="http://schemas.microsoft.com/office/drawing/2014/main" id="{C20A63BC-B37B-932F-75A9-DE73CBE6EB7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B2D5A78-9873-FD62-C9DB-92D291BC022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F7B15EC6-E5AB-7D67-C2DB-F4AC749269F0}"/>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aphicFrame>
        <p:nvGraphicFramePr>
          <p:cNvPr id="10" name="Group 32">
            <a:extLst>
              <a:ext uri="{FF2B5EF4-FFF2-40B4-BE49-F238E27FC236}">
                <a16:creationId xmlns:a16="http://schemas.microsoft.com/office/drawing/2014/main" id="{BD07FCE4-6049-DD0F-2F05-D275A4FFC204}"/>
              </a:ext>
            </a:extLst>
          </p:cNvPr>
          <p:cNvGraphicFramePr>
            <a:graphicFrameLocks noGrp="1"/>
          </p:cNvGraphicFramePr>
          <p:nvPr>
            <p:extLst>
              <p:ext uri="{D42A27DB-BD31-4B8C-83A1-F6EECF244321}">
                <p14:modId xmlns:p14="http://schemas.microsoft.com/office/powerpoint/2010/main" val="3642295816"/>
              </p:ext>
            </p:extLst>
          </p:nvPr>
        </p:nvGraphicFramePr>
        <p:xfrm>
          <a:off x="838200" y="2160450"/>
          <a:ext cx="10233991" cy="3543300"/>
        </p:xfrm>
        <a:graphic>
          <a:graphicData uri="http://schemas.openxmlformats.org/drawingml/2006/table">
            <a:tbl>
              <a:tblPr/>
              <a:tblGrid>
                <a:gridCol w="1645349">
                  <a:extLst>
                    <a:ext uri="{9D8B030D-6E8A-4147-A177-3AD203B41FA5}">
                      <a16:colId xmlns:a16="http://schemas.microsoft.com/office/drawing/2014/main" val="20000"/>
                    </a:ext>
                  </a:extLst>
                </a:gridCol>
                <a:gridCol w="4158857">
                  <a:extLst>
                    <a:ext uri="{9D8B030D-6E8A-4147-A177-3AD203B41FA5}">
                      <a16:colId xmlns:a16="http://schemas.microsoft.com/office/drawing/2014/main" val="20001"/>
                    </a:ext>
                  </a:extLst>
                </a:gridCol>
                <a:gridCol w="4429785">
                  <a:extLst>
                    <a:ext uri="{9D8B030D-6E8A-4147-A177-3AD203B41FA5}">
                      <a16:colId xmlns:a16="http://schemas.microsoft.com/office/drawing/2014/main" val="20002"/>
                    </a:ext>
                  </a:extLst>
                </a:gridCol>
              </a:tblGrid>
              <a:tr h="4953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F7F7F"/>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Arial" charset="0"/>
                        </a:rPr>
                        <a:t>Non-Visual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3228"/>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Arial" charset="0"/>
                        </a:rPr>
                        <a:t>Visual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3228"/>
                    </a:solidFill>
                  </a:tcPr>
                </a:tc>
                <a:extLst>
                  <a:ext uri="{0D108BD9-81ED-4DB2-BD59-A6C34878D82A}">
                    <a16:rowId xmlns:a16="http://schemas.microsoft.com/office/drawing/2014/main" val="10000"/>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Predictive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Real-time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Historical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39399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7A94-4987-8AA9-D7B0-A93503F21B5A}"/>
              </a:ext>
            </a:extLst>
          </p:cNvPr>
          <p:cNvSpPr>
            <a:spLocks noGrp="1"/>
          </p:cNvSpPr>
          <p:nvPr>
            <p:ph type="title"/>
          </p:nvPr>
        </p:nvSpPr>
        <p:spPr/>
        <p:txBody>
          <a:bodyPr>
            <a:normAutofit/>
          </a:bodyPr>
          <a:lstStyle/>
          <a:p>
            <a:r>
              <a:rPr lang="en-US" sz="4000" dirty="0"/>
              <a:t>Using Visual Controls as Predictive Tools</a:t>
            </a:r>
          </a:p>
        </p:txBody>
      </p:sp>
      <p:sp>
        <p:nvSpPr>
          <p:cNvPr id="3" name="Slide Number Placeholder 2">
            <a:extLst>
              <a:ext uri="{FF2B5EF4-FFF2-40B4-BE49-F238E27FC236}">
                <a16:creationId xmlns:a16="http://schemas.microsoft.com/office/drawing/2014/main" id="{D58E601D-C84F-3010-2935-83F4E4F2058C}"/>
              </a:ext>
            </a:extLst>
          </p:cNvPr>
          <p:cNvSpPr>
            <a:spLocks noGrp="1"/>
          </p:cNvSpPr>
          <p:nvPr>
            <p:ph type="sldNum" sz="quarter" idx="4"/>
          </p:nvPr>
        </p:nvSpPr>
        <p:spPr/>
        <p:txBody>
          <a:bodyPr/>
          <a:lstStyle/>
          <a:p>
            <a:fld id="{CC6D4273-7FC1-0947-B9FE-19CB3C0D1FB6}" type="slidenum">
              <a:rPr lang="en-US" smtClean="0"/>
              <a:pPr/>
              <a:t>21</a:t>
            </a:fld>
            <a:endParaRPr lang="en-US"/>
          </a:p>
        </p:txBody>
      </p:sp>
      <p:grpSp>
        <p:nvGrpSpPr>
          <p:cNvPr id="4" name="Group 3">
            <a:extLst>
              <a:ext uri="{FF2B5EF4-FFF2-40B4-BE49-F238E27FC236}">
                <a16:creationId xmlns:a16="http://schemas.microsoft.com/office/drawing/2014/main" id="{F171254C-0FAB-C7B1-D58A-10DD2EC7AFD1}"/>
              </a:ext>
            </a:extLst>
          </p:cNvPr>
          <p:cNvGrpSpPr/>
          <p:nvPr/>
        </p:nvGrpSpPr>
        <p:grpSpPr>
          <a:xfrm>
            <a:off x="940249" y="302538"/>
            <a:ext cx="5600951" cy="311932"/>
            <a:chOff x="940249" y="302538"/>
            <a:chExt cx="5600951" cy="311932"/>
          </a:xfrm>
        </p:grpSpPr>
        <p:sp>
          <p:nvSpPr>
            <p:cNvPr id="5" name="TextBox 4">
              <a:extLst>
                <a:ext uri="{FF2B5EF4-FFF2-40B4-BE49-F238E27FC236}">
                  <a16:creationId xmlns:a16="http://schemas.microsoft.com/office/drawing/2014/main" id="{5752353A-6346-DB7B-252A-DEE1DCB05AD4}"/>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6" name="AutoShape 9">
              <a:extLst>
                <a:ext uri="{FF2B5EF4-FFF2-40B4-BE49-F238E27FC236}">
                  <a16:creationId xmlns:a16="http://schemas.microsoft.com/office/drawing/2014/main" id="{C20A63BC-B37B-932F-75A9-DE73CBE6EB7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B2D5A78-9873-FD62-C9DB-92D291BC022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F7B15EC6-E5AB-7D67-C2DB-F4AC749269F0}"/>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aphicFrame>
        <p:nvGraphicFramePr>
          <p:cNvPr id="10" name="Group 32">
            <a:extLst>
              <a:ext uri="{FF2B5EF4-FFF2-40B4-BE49-F238E27FC236}">
                <a16:creationId xmlns:a16="http://schemas.microsoft.com/office/drawing/2014/main" id="{BD07FCE4-6049-DD0F-2F05-D275A4FFC204}"/>
              </a:ext>
            </a:extLst>
          </p:cNvPr>
          <p:cNvGraphicFramePr>
            <a:graphicFrameLocks noGrp="1"/>
          </p:cNvGraphicFramePr>
          <p:nvPr>
            <p:extLst>
              <p:ext uri="{D42A27DB-BD31-4B8C-83A1-F6EECF244321}">
                <p14:modId xmlns:p14="http://schemas.microsoft.com/office/powerpoint/2010/main" val="2349784865"/>
              </p:ext>
            </p:extLst>
          </p:nvPr>
        </p:nvGraphicFramePr>
        <p:xfrm>
          <a:off x="838200" y="2160450"/>
          <a:ext cx="10233991" cy="3543300"/>
        </p:xfrm>
        <a:graphic>
          <a:graphicData uri="http://schemas.openxmlformats.org/drawingml/2006/table">
            <a:tbl>
              <a:tblPr/>
              <a:tblGrid>
                <a:gridCol w="1645349">
                  <a:extLst>
                    <a:ext uri="{9D8B030D-6E8A-4147-A177-3AD203B41FA5}">
                      <a16:colId xmlns:a16="http://schemas.microsoft.com/office/drawing/2014/main" val="20000"/>
                    </a:ext>
                  </a:extLst>
                </a:gridCol>
                <a:gridCol w="4158857">
                  <a:extLst>
                    <a:ext uri="{9D8B030D-6E8A-4147-A177-3AD203B41FA5}">
                      <a16:colId xmlns:a16="http://schemas.microsoft.com/office/drawing/2014/main" val="20001"/>
                    </a:ext>
                  </a:extLst>
                </a:gridCol>
                <a:gridCol w="4429785">
                  <a:extLst>
                    <a:ext uri="{9D8B030D-6E8A-4147-A177-3AD203B41FA5}">
                      <a16:colId xmlns:a16="http://schemas.microsoft.com/office/drawing/2014/main" val="20002"/>
                    </a:ext>
                  </a:extLst>
                </a:gridCol>
              </a:tblGrid>
              <a:tr h="4953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F7F7F"/>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Arial" charset="0"/>
                        </a:rPr>
                        <a:t>Non-Visual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3228"/>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Arial" charset="0"/>
                        </a:rPr>
                        <a:t>Visual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3228"/>
                    </a:solidFill>
                  </a:tcPr>
                </a:tc>
                <a:extLst>
                  <a:ext uri="{0D108BD9-81ED-4DB2-BD59-A6C34878D82A}">
                    <a16:rowId xmlns:a16="http://schemas.microsoft.com/office/drawing/2014/main" val="10000"/>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Predictive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defRPr/>
                      </a:pPr>
                      <a:r>
                        <a:rPr kumimoji="0" lang="en-US" sz="1600" b="1" i="0" u="none" strike="noStrike" cap="none" normalizeH="0" baseline="0" dirty="0">
                          <a:ln>
                            <a:noFill/>
                          </a:ln>
                          <a:solidFill>
                            <a:schemeClr val="tx1"/>
                          </a:solidFill>
                          <a:effectLst/>
                          <a:latin typeface="Arial" charset="0"/>
                        </a:rPr>
                        <a:t>We want to move our management tools in this direction!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B627"/>
                    </a:solidFill>
                  </a:tcPr>
                </a:tc>
                <a:extLst>
                  <a:ext uri="{0D108BD9-81ED-4DB2-BD59-A6C34878D82A}">
                    <a16:rowId xmlns:a16="http://schemas.microsoft.com/office/drawing/2014/main" val="10001"/>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Real-time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a:ln>
                            <a:noFill/>
                          </a:ln>
                          <a:solidFill>
                            <a:schemeClr val="bg1"/>
                          </a:solidFill>
                          <a:effectLst/>
                          <a:latin typeface="Arial" charset="0"/>
                        </a:rPr>
                        <a:t>Historical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Line 29">
            <a:extLst>
              <a:ext uri="{FF2B5EF4-FFF2-40B4-BE49-F238E27FC236}">
                <a16:creationId xmlns:a16="http://schemas.microsoft.com/office/drawing/2014/main" id="{95332645-B9AE-399D-DF1F-5FF684FB4525}"/>
              </a:ext>
            </a:extLst>
          </p:cNvPr>
          <p:cNvSpPr>
            <a:spLocks noChangeShapeType="1"/>
          </p:cNvSpPr>
          <p:nvPr/>
        </p:nvSpPr>
        <p:spPr bwMode="auto">
          <a:xfrm flipV="1">
            <a:off x="3319532" y="3854036"/>
            <a:ext cx="3150823" cy="1443521"/>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31">
            <a:extLst>
              <a:ext uri="{FF2B5EF4-FFF2-40B4-BE49-F238E27FC236}">
                <a16:creationId xmlns:a16="http://schemas.microsoft.com/office/drawing/2014/main" id="{B0B3F8DD-B423-BEA2-16BF-360A845D91C5}"/>
              </a:ext>
            </a:extLst>
          </p:cNvPr>
          <p:cNvSpPr>
            <a:spLocks noChangeShapeType="1"/>
          </p:cNvSpPr>
          <p:nvPr/>
        </p:nvSpPr>
        <p:spPr bwMode="auto">
          <a:xfrm flipV="1">
            <a:off x="8880199" y="3854036"/>
            <a:ext cx="0" cy="1725613"/>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2">
            <a:extLst>
              <a:ext uri="{FF2B5EF4-FFF2-40B4-BE49-F238E27FC236}">
                <a16:creationId xmlns:a16="http://schemas.microsoft.com/office/drawing/2014/main" id="{DCA6D521-4411-C79A-8355-D704D347D85D}"/>
              </a:ext>
            </a:extLst>
          </p:cNvPr>
          <p:cNvSpPr>
            <a:spLocks noChangeShapeType="1"/>
          </p:cNvSpPr>
          <p:nvPr/>
        </p:nvSpPr>
        <p:spPr bwMode="auto">
          <a:xfrm>
            <a:off x="3319532" y="3161886"/>
            <a:ext cx="3150823" cy="9268"/>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204186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Principles of Good Visual Controls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principles of good visual controls</a:t>
            </a:r>
          </a:p>
          <a:p>
            <a:r>
              <a:rPr lang="en-US" dirty="0"/>
              <a:t>Identify degrees of visual control response</a:t>
            </a:r>
          </a:p>
          <a:p>
            <a:r>
              <a:rPr lang="en-US" dirty="0"/>
              <a:t>Identify types of visual management tools</a:t>
            </a:r>
          </a:p>
          <a:p>
            <a:r>
              <a:rPr lang="en-US" dirty="0"/>
              <a:t>Discuss value of visual management tools in action</a:t>
            </a:r>
          </a:p>
          <a:p>
            <a:endParaRPr lang="en-US" dirty="0"/>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Review &amp;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Principles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Managing with</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Visual Controls</a:t>
              </a:r>
            </a:p>
          </p:txBody>
        </p:sp>
      </p:grpSp>
    </p:spTree>
    <p:extLst>
      <p:ext uri="{BB962C8B-B14F-4D97-AF65-F5344CB8AC3E}">
        <p14:creationId xmlns:p14="http://schemas.microsoft.com/office/powerpoint/2010/main" val="3296166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0032A-F131-1247-A01A-6E6A03149FD0}"/>
              </a:ext>
            </a:extLst>
          </p:cNvPr>
          <p:cNvSpPr>
            <a:spLocks noGrp="1"/>
          </p:cNvSpPr>
          <p:nvPr>
            <p:ph type="title"/>
          </p:nvPr>
        </p:nvSpPr>
        <p:spPr/>
        <p:txBody>
          <a:bodyPr/>
          <a:lstStyle/>
          <a:p>
            <a:r>
              <a:rPr lang="en-US" dirty="0"/>
              <a:t>Principles of Good Visual Controls</a:t>
            </a:r>
          </a:p>
        </p:txBody>
      </p:sp>
      <p:sp>
        <p:nvSpPr>
          <p:cNvPr id="3" name="Slide Number Placeholder 2">
            <a:extLst>
              <a:ext uri="{FF2B5EF4-FFF2-40B4-BE49-F238E27FC236}">
                <a16:creationId xmlns:a16="http://schemas.microsoft.com/office/drawing/2014/main" id="{B64F2077-AC3D-A447-C16F-ED3C7140AC2E}"/>
              </a:ext>
            </a:extLst>
          </p:cNvPr>
          <p:cNvSpPr>
            <a:spLocks noGrp="1"/>
          </p:cNvSpPr>
          <p:nvPr>
            <p:ph type="sldNum" sz="quarter" idx="4"/>
          </p:nvPr>
        </p:nvSpPr>
        <p:spPr/>
        <p:txBody>
          <a:bodyPr/>
          <a:lstStyle/>
          <a:p>
            <a:fld id="{CC6D4273-7FC1-0947-B9FE-19CB3C0D1FB6}" type="slidenum">
              <a:rPr lang="en-US" smtClean="0"/>
              <a:pPr/>
              <a:t>23</a:t>
            </a:fld>
            <a:endParaRPr lang="en-US"/>
          </a:p>
        </p:txBody>
      </p:sp>
      <p:sp>
        <p:nvSpPr>
          <p:cNvPr id="12" name="Rectangle 4">
            <a:extLst>
              <a:ext uri="{FF2B5EF4-FFF2-40B4-BE49-F238E27FC236}">
                <a16:creationId xmlns:a16="http://schemas.microsoft.com/office/drawing/2014/main" id="{186BFF75-8BB6-6C6C-511B-5348F56D89D8}"/>
              </a:ext>
            </a:extLst>
          </p:cNvPr>
          <p:cNvSpPr>
            <a:spLocks noChangeArrowheads="1"/>
          </p:cNvSpPr>
          <p:nvPr/>
        </p:nvSpPr>
        <p:spPr bwMode="auto">
          <a:xfrm>
            <a:off x="1573212" y="2408997"/>
            <a:ext cx="2119604"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Understandable</a:t>
            </a:r>
          </a:p>
        </p:txBody>
      </p:sp>
      <p:sp>
        <p:nvSpPr>
          <p:cNvPr id="13" name="Rectangle 5">
            <a:extLst>
              <a:ext uri="{FF2B5EF4-FFF2-40B4-BE49-F238E27FC236}">
                <a16:creationId xmlns:a16="http://schemas.microsoft.com/office/drawing/2014/main" id="{D2AFC8F0-6994-67D3-6814-603374A90DE9}"/>
              </a:ext>
            </a:extLst>
          </p:cNvPr>
          <p:cNvSpPr>
            <a:spLocks noChangeArrowheads="1"/>
          </p:cNvSpPr>
          <p:nvPr/>
        </p:nvSpPr>
        <p:spPr bwMode="auto">
          <a:xfrm>
            <a:off x="1573212" y="3331335"/>
            <a:ext cx="2119604" cy="568325"/>
          </a:xfrm>
          <a:prstGeom prst="rect">
            <a:avLst/>
          </a:prstGeom>
          <a:solidFill>
            <a:srgbClr val="DDDDDD"/>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Indicate a Goal</a:t>
            </a:r>
          </a:p>
        </p:txBody>
      </p:sp>
      <p:sp>
        <p:nvSpPr>
          <p:cNvPr id="14" name="Rectangle 6">
            <a:extLst>
              <a:ext uri="{FF2B5EF4-FFF2-40B4-BE49-F238E27FC236}">
                <a16:creationId xmlns:a16="http://schemas.microsoft.com/office/drawing/2014/main" id="{BD343E1A-BAE8-B1A8-40D1-B70852F965B0}"/>
              </a:ext>
            </a:extLst>
          </p:cNvPr>
          <p:cNvSpPr>
            <a:spLocks noChangeArrowheads="1"/>
          </p:cNvSpPr>
          <p:nvPr/>
        </p:nvSpPr>
        <p:spPr bwMode="auto">
          <a:xfrm>
            <a:off x="1573212" y="4223510"/>
            <a:ext cx="2119604" cy="568325"/>
          </a:xfrm>
          <a:prstGeom prst="rect">
            <a:avLst/>
          </a:prstGeom>
          <a:solidFill>
            <a:srgbClr val="808080"/>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ja-JP" altLang="en-US" sz="1400">
                <a:solidFill>
                  <a:schemeClr val="bg1"/>
                </a:solidFill>
                <a:latin typeface="Roboto" panose="02000000000000000000" pitchFamily="2" charset="0"/>
                <a:cs typeface="Roboto" panose="02000000000000000000" pitchFamily="2" charset="0"/>
              </a:rPr>
              <a:t>“</a:t>
            </a:r>
            <a:r>
              <a:rPr lang="en-US" altLang="ja-JP" sz="1400">
                <a:solidFill>
                  <a:schemeClr val="bg1"/>
                </a:solidFill>
                <a:latin typeface="Roboto" panose="02000000000000000000" pitchFamily="2" charset="0"/>
                <a:ea typeface="Roboto" panose="02000000000000000000" pitchFamily="2" charset="0"/>
                <a:cs typeface="Roboto" panose="02000000000000000000" pitchFamily="2" charset="0"/>
              </a:rPr>
              <a:t>At-a-Glance</a:t>
            </a:r>
            <a:r>
              <a:rPr lang="ja-JP" altLang="en-US" sz="1400">
                <a:solidFill>
                  <a:schemeClr val="bg1"/>
                </a:solidFill>
                <a:latin typeface="Roboto" panose="02000000000000000000" pitchFamily="2" charset="0"/>
                <a:cs typeface="Roboto" panose="02000000000000000000" pitchFamily="2" charset="0"/>
              </a:rPr>
              <a:t>”</a:t>
            </a:r>
            <a:endPar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Rectangle 7">
            <a:extLst>
              <a:ext uri="{FF2B5EF4-FFF2-40B4-BE49-F238E27FC236}">
                <a16:creationId xmlns:a16="http://schemas.microsoft.com/office/drawing/2014/main" id="{F3FFF035-CB4F-D928-49C9-500F59A12767}"/>
              </a:ext>
            </a:extLst>
          </p:cNvPr>
          <p:cNvSpPr>
            <a:spLocks noChangeArrowheads="1"/>
          </p:cNvSpPr>
          <p:nvPr/>
        </p:nvSpPr>
        <p:spPr bwMode="auto">
          <a:xfrm>
            <a:off x="1573212" y="5160135"/>
            <a:ext cx="2119604" cy="56832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Standardized</a:t>
            </a:r>
            <a:b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(over time)</a:t>
            </a:r>
          </a:p>
        </p:txBody>
      </p:sp>
      <p:sp>
        <p:nvSpPr>
          <p:cNvPr id="16" name="Line 8">
            <a:extLst>
              <a:ext uri="{FF2B5EF4-FFF2-40B4-BE49-F238E27FC236}">
                <a16:creationId xmlns:a16="http://schemas.microsoft.com/office/drawing/2014/main" id="{F6554649-8427-2E08-6848-9E92390958DF}"/>
              </a:ext>
            </a:extLst>
          </p:cNvPr>
          <p:cNvSpPr>
            <a:spLocks noChangeShapeType="1"/>
          </p:cNvSpPr>
          <p:nvPr/>
        </p:nvSpPr>
        <p:spPr bwMode="auto">
          <a:xfrm>
            <a:off x="847725" y="3229735"/>
            <a:ext cx="9164377" cy="0"/>
          </a:xfrm>
          <a:prstGeom prst="line">
            <a:avLst/>
          </a:prstGeom>
          <a:noFill/>
          <a:ln w="19050">
            <a:solidFill>
              <a:srgbClr val="7F7F7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 name="Line 9">
            <a:extLst>
              <a:ext uri="{FF2B5EF4-FFF2-40B4-BE49-F238E27FC236}">
                <a16:creationId xmlns:a16="http://schemas.microsoft.com/office/drawing/2014/main" id="{55F4073E-4465-A16C-C450-FC97B596F6BA}"/>
              </a:ext>
            </a:extLst>
          </p:cNvPr>
          <p:cNvSpPr>
            <a:spLocks noChangeShapeType="1"/>
          </p:cNvSpPr>
          <p:nvPr/>
        </p:nvSpPr>
        <p:spPr bwMode="auto">
          <a:xfrm>
            <a:off x="863600" y="4134610"/>
            <a:ext cx="9115002" cy="0"/>
          </a:xfrm>
          <a:prstGeom prst="line">
            <a:avLst/>
          </a:prstGeom>
          <a:noFill/>
          <a:ln w="19050">
            <a:solidFill>
              <a:srgbClr val="7F7F7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 name="Line 10">
            <a:extLst>
              <a:ext uri="{FF2B5EF4-FFF2-40B4-BE49-F238E27FC236}">
                <a16:creationId xmlns:a16="http://schemas.microsoft.com/office/drawing/2014/main" id="{EF8FEEDD-64DD-3AC1-67BC-5214F2B92840}"/>
              </a:ext>
            </a:extLst>
          </p:cNvPr>
          <p:cNvSpPr>
            <a:spLocks noChangeShapeType="1"/>
          </p:cNvSpPr>
          <p:nvPr/>
        </p:nvSpPr>
        <p:spPr bwMode="auto">
          <a:xfrm>
            <a:off x="833436" y="5082347"/>
            <a:ext cx="9148507" cy="0"/>
          </a:xfrm>
          <a:prstGeom prst="line">
            <a:avLst/>
          </a:prstGeom>
          <a:noFill/>
          <a:ln w="19050">
            <a:solidFill>
              <a:srgbClr val="7F7F7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9" name="Line 11">
            <a:extLst>
              <a:ext uri="{FF2B5EF4-FFF2-40B4-BE49-F238E27FC236}">
                <a16:creationId xmlns:a16="http://schemas.microsoft.com/office/drawing/2014/main" id="{9792819F-2E7B-F392-F15B-08A70AE45100}"/>
              </a:ext>
            </a:extLst>
          </p:cNvPr>
          <p:cNvSpPr>
            <a:spLocks noChangeShapeType="1"/>
          </p:cNvSpPr>
          <p:nvPr/>
        </p:nvSpPr>
        <p:spPr bwMode="auto">
          <a:xfrm>
            <a:off x="849312" y="5972935"/>
            <a:ext cx="9130873" cy="0"/>
          </a:xfrm>
          <a:prstGeom prst="line">
            <a:avLst/>
          </a:prstGeom>
          <a:noFill/>
          <a:ln w="19050">
            <a:solidFill>
              <a:srgbClr val="7F7F7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0" name="Rectangle 12">
            <a:extLst>
              <a:ext uri="{FF2B5EF4-FFF2-40B4-BE49-F238E27FC236}">
                <a16:creationId xmlns:a16="http://schemas.microsoft.com/office/drawing/2014/main" id="{FB33F6E8-C0AF-200E-A7F2-85D58D5FC3BD}"/>
              </a:ext>
            </a:extLst>
          </p:cNvPr>
          <p:cNvSpPr>
            <a:spLocks noChangeArrowheads="1"/>
          </p:cNvSpPr>
          <p:nvPr/>
        </p:nvSpPr>
        <p:spPr bwMode="auto">
          <a:xfrm>
            <a:off x="4014787" y="2391535"/>
            <a:ext cx="5521199"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cs typeface="Roboto" panose="02000000000000000000" pitchFamily="2" charset="0"/>
              </a:rPr>
              <a:t>Consider the audience</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cs typeface="Roboto" panose="02000000000000000000" pitchFamily="2" charset="0"/>
              </a:rPr>
              <a:t>What action is expected?</a:t>
            </a:r>
          </a:p>
        </p:txBody>
      </p:sp>
      <p:sp>
        <p:nvSpPr>
          <p:cNvPr id="21" name="Rectangle 13">
            <a:extLst>
              <a:ext uri="{FF2B5EF4-FFF2-40B4-BE49-F238E27FC236}">
                <a16:creationId xmlns:a16="http://schemas.microsoft.com/office/drawing/2014/main" id="{D82B5F05-7191-B80A-9740-4FE7A39D1A8C}"/>
              </a:ext>
            </a:extLst>
          </p:cNvPr>
          <p:cNvSpPr>
            <a:spLocks noChangeArrowheads="1"/>
          </p:cNvSpPr>
          <p:nvPr/>
        </p:nvSpPr>
        <p:spPr bwMode="auto">
          <a:xfrm>
            <a:off x="4017962" y="3336097"/>
            <a:ext cx="5533542"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cs typeface="Roboto" panose="02000000000000000000" pitchFamily="2" charset="0"/>
              </a:rPr>
              <a:t>Measure actual to goal</a:t>
            </a:r>
          </a:p>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cs typeface="Roboto" panose="02000000000000000000" pitchFamily="2" charset="0"/>
              </a:rPr>
              <a:t>Separate real-time from historical </a:t>
            </a:r>
            <a:endParaRPr lang="en-US" altLang="en-US" sz="1400" b="0">
              <a:latin typeface="Roboto" panose="02000000000000000000" pitchFamily="2" charset="0"/>
              <a:ea typeface="Roboto" panose="02000000000000000000" pitchFamily="2" charset="0"/>
              <a:cs typeface="Roboto" panose="02000000000000000000" pitchFamily="2" charset="0"/>
            </a:endParaRPr>
          </a:p>
        </p:txBody>
      </p:sp>
      <p:sp>
        <p:nvSpPr>
          <p:cNvPr id="22" name="Rectangle 14">
            <a:extLst>
              <a:ext uri="{FF2B5EF4-FFF2-40B4-BE49-F238E27FC236}">
                <a16:creationId xmlns:a16="http://schemas.microsoft.com/office/drawing/2014/main" id="{EDA24032-DFC6-B9F7-AF17-56B9E7D6DAFB}"/>
              </a:ext>
            </a:extLst>
          </p:cNvPr>
          <p:cNvSpPr>
            <a:spLocks noChangeArrowheads="1"/>
          </p:cNvSpPr>
          <p:nvPr/>
        </p:nvSpPr>
        <p:spPr bwMode="auto">
          <a:xfrm>
            <a:off x="4017962" y="4228272"/>
            <a:ext cx="5521199"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cs typeface="Roboto" panose="02000000000000000000" pitchFamily="2" charset="0"/>
              </a:rPr>
              <a:t>Use pictures, graphs, examples, etc. where possible</a:t>
            </a:r>
            <a:endParaRPr lang="en-US" altLang="en-US" sz="1400" b="0" dirty="0">
              <a:latin typeface="Roboto" panose="02000000000000000000" pitchFamily="2" charset="0"/>
              <a:ea typeface="Roboto" panose="02000000000000000000" pitchFamily="2" charset="0"/>
              <a:cs typeface="Roboto" panose="02000000000000000000" pitchFamily="2" charset="0"/>
            </a:endParaRPr>
          </a:p>
        </p:txBody>
      </p:sp>
      <p:sp>
        <p:nvSpPr>
          <p:cNvPr id="23" name="Rectangle 15">
            <a:extLst>
              <a:ext uri="{FF2B5EF4-FFF2-40B4-BE49-F238E27FC236}">
                <a16:creationId xmlns:a16="http://schemas.microsoft.com/office/drawing/2014/main" id="{4BD485A2-BADA-B587-557F-E5461756E2F7}"/>
              </a:ext>
            </a:extLst>
          </p:cNvPr>
          <p:cNvSpPr>
            <a:spLocks noChangeArrowheads="1"/>
          </p:cNvSpPr>
          <p:nvPr/>
        </p:nvSpPr>
        <p:spPr bwMode="auto">
          <a:xfrm>
            <a:off x="4017962" y="5166485"/>
            <a:ext cx="5521199"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cs typeface="Roboto" panose="02000000000000000000" pitchFamily="2" charset="0"/>
              </a:rPr>
              <a:t>Everyone should know what they are looking at</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cs typeface="Roboto" panose="02000000000000000000" pitchFamily="2" charset="0"/>
              </a:rPr>
              <a:t>Strive for a company-wide approach</a:t>
            </a:r>
            <a:endParaRPr lang="en-US" altLang="en-US" sz="1400" b="0" dirty="0">
              <a:latin typeface="Roboto" panose="02000000000000000000" pitchFamily="2" charset="0"/>
              <a:ea typeface="Roboto" panose="02000000000000000000" pitchFamily="2" charset="0"/>
              <a:cs typeface="Roboto" panose="02000000000000000000" pitchFamily="2" charset="0"/>
            </a:endParaRPr>
          </a:p>
        </p:txBody>
      </p:sp>
      <p:sp>
        <p:nvSpPr>
          <p:cNvPr id="24" name="Line 16">
            <a:extLst>
              <a:ext uri="{FF2B5EF4-FFF2-40B4-BE49-F238E27FC236}">
                <a16:creationId xmlns:a16="http://schemas.microsoft.com/office/drawing/2014/main" id="{B8060DCF-E5AD-2157-5042-AEEEB8957710}"/>
              </a:ext>
            </a:extLst>
          </p:cNvPr>
          <p:cNvSpPr>
            <a:spLocks noChangeShapeType="1"/>
          </p:cNvSpPr>
          <p:nvPr/>
        </p:nvSpPr>
        <p:spPr bwMode="auto">
          <a:xfrm flipV="1">
            <a:off x="838200" y="2261359"/>
            <a:ext cx="9164377" cy="15875"/>
          </a:xfrm>
          <a:prstGeom prst="line">
            <a:avLst/>
          </a:prstGeom>
          <a:noFill/>
          <a:ln w="38100">
            <a:solidFill>
              <a:srgbClr val="7F7F7F"/>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Text Box 17">
            <a:extLst>
              <a:ext uri="{FF2B5EF4-FFF2-40B4-BE49-F238E27FC236}">
                <a16:creationId xmlns:a16="http://schemas.microsoft.com/office/drawing/2014/main" id="{CB6E86EB-3C52-8514-DDF0-58CA5FE0A65B}"/>
              </a:ext>
            </a:extLst>
          </p:cNvPr>
          <p:cNvSpPr txBox="1">
            <a:spLocks noChangeArrowheads="1"/>
          </p:cNvSpPr>
          <p:nvPr/>
        </p:nvSpPr>
        <p:spPr bwMode="auto">
          <a:xfrm>
            <a:off x="847725" y="1974022"/>
            <a:ext cx="5841310"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Points		           	      Descriptions</a:t>
            </a:r>
          </a:p>
        </p:txBody>
      </p:sp>
      <p:sp>
        <p:nvSpPr>
          <p:cNvPr id="26" name="Oval 18">
            <a:extLst>
              <a:ext uri="{FF2B5EF4-FFF2-40B4-BE49-F238E27FC236}">
                <a16:creationId xmlns:a16="http://schemas.microsoft.com/office/drawing/2014/main" id="{901118A6-D371-BB4D-7FA6-63E891316683}"/>
              </a:ext>
            </a:extLst>
          </p:cNvPr>
          <p:cNvSpPr>
            <a:spLocks noChangeArrowheads="1"/>
          </p:cNvSpPr>
          <p:nvPr/>
        </p:nvSpPr>
        <p:spPr bwMode="auto">
          <a:xfrm>
            <a:off x="895350" y="2516947"/>
            <a:ext cx="444376"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1</a:t>
            </a:r>
          </a:p>
        </p:txBody>
      </p:sp>
      <p:sp>
        <p:nvSpPr>
          <p:cNvPr id="27" name="Oval 19">
            <a:extLst>
              <a:ext uri="{FF2B5EF4-FFF2-40B4-BE49-F238E27FC236}">
                <a16:creationId xmlns:a16="http://schemas.microsoft.com/office/drawing/2014/main" id="{2DD2A5C8-D012-4BF1-5A8D-C2694D70557E}"/>
              </a:ext>
            </a:extLst>
          </p:cNvPr>
          <p:cNvSpPr>
            <a:spLocks noChangeArrowheads="1"/>
          </p:cNvSpPr>
          <p:nvPr/>
        </p:nvSpPr>
        <p:spPr bwMode="auto">
          <a:xfrm>
            <a:off x="895350" y="3442460"/>
            <a:ext cx="444376"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2</a:t>
            </a:r>
          </a:p>
        </p:txBody>
      </p:sp>
      <p:sp>
        <p:nvSpPr>
          <p:cNvPr id="28" name="Oval 20">
            <a:extLst>
              <a:ext uri="{FF2B5EF4-FFF2-40B4-BE49-F238E27FC236}">
                <a16:creationId xmlns:a16="http://schemas.microsoft.com/office/drawing/2014/main" id="{40C51FBF-32EB-262E-A36A-F5AB822C08CD}"/>
              </a:ext>
            </a:extLst>
          </p:cNvPr>
          <p:cNvSpPr>
            <a:spLocks noChangeArrowheads="1"/>
          </p:cNvSpPr>
          <p:nvPr/>
        </p:nvSpPr>
        <p:spPr bwMode="auto">
          <a:xfrm>
            <a:off x="895350" y="4331460"/>
            <a:ext cx="444376"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3</a:t>
            </a:r>
          </a:p>
        </p:txBody>
      </p:sp>
      <p:sp>
        <p:nvSpPr>
          <p:cNvPr id="29" name="Oval 21">
            <a:extLst>
              <a:ext uri="{FF2B5EF4-FFF2-40B4-BE49-F238E27FC236}">
                <a16:creationId xmlns:a16="http://schemas.microsoft.com/office/drawing/2014/main" id="{54540D67-36C7-62BE-03E0-E25832E580A1}"/>
              </a:ext>
            </a:extLst>
          </p:cNvPr>
          <p:cNvSpPr>
            <a:spLocks noChangeArrowheads="1"/>
          </p:cNvSpPr>
          <p:nvPr/>
        </p:nvSpPr>
        <p:spPr bwMode="auto">
          <a:xfrm>
            <a:off x="895350" y="5271260"/>
            <a:ext cx="444376"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cs typeface="Roboto" panose="02000000000000000000" pitchFamily="2" charset="0"/>
              </a:rPr>
              <a:t>4</a:t>
            </a:r>
          </a:p>
        </p:txBody>
      </p:sp>
      <p:grpSp>
        <p:nvGrpSpPr>
          <p:cNvPr id="30" name="Group 29">
            <a:extLst>
              <a:ext uri="{FF2B5EF4-FFF2-40B4-BE49-F238E27FC236}">
                <a16:creationId xmlns:a16="http://schemas.microsoft.com/office/drawing/2014/main" id="{2B92B892-780E-CCA6-868F-685A1FCEADDA}"/>
              </a:ext>
            </a:extLst>
          </p:cNvPr>
          <p:cNvGrpSpPr/>
          <p:nvPr/>
        </p:nvGrpSpPr>
        <p:grpSpPr>
          <a:xfrm>
            <a:off x="940249" y="292028"/>
            <a:ext cx="5600951" cy="311932"/>
            <a:chOff x="940249" y="302538"/>
            <a:chExt cx="5600951" cy="311932"/>
          </a:xfrm>
        </p:grpSpPr>
        <p:sp>
          <p:nvSpPr>
            <p:cNvPr id="31" name="TextBox 30">
              <a:extLst>
                <a:ext uri="{FF2B5EF4-FFF2-40B4-BE49-F238E27FC236}">
                  <a16:creationId xmlns:a16="http://schemas.microsoft.com/office/drawing/2014/main" id="{90264556-B56C-5081-BBFE-C16E2F294771}"/>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32" name="AutoShape 9">
              <a:extLst>
                <a:ext uri="{FF2B5EF4-FFF2-40B4-BE49-F238E27FC236}">
                  <a16:creationId xmlns:a16="http://schemas.microsoft.com/office/drawing/2014/main" id="{25C8477D-3D41-6B11-EDB6-9B3EA6F1A59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3" name="AutoShape 9">
              <a:extLst>
                <a:ext uri="{FF2B5EF4-FFF2-40B4-BE49-F238E27FC236}">
                  <a16:creationId xmlns:a16="http://schemas.microsoft.com/office/drawing/2014/main" id="{D2F842F3-0EEC-4B07-BDA5-34E166643EF7}"/>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4" name="AutoShape 11">
              <a:extLst>
                <a:ext uri="{FF2B5EF4-FFF2-40B4-BE49-F238E27FC236}">
                  <a16:creationId xmlns:a16="http://schemas.microsoft.com/office/drawing/2014/main" id="{28805F31-1407-EFDB-FF61-BC8C7A139187}"/>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478051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B617-FF21-411E-8EE7-308823AC0807}"/>
              </a:ext>
            </a:extLst>
          </p:cNvPr>
          <p:cNvSpPr>
            <a:spLocks noGrp="1"/>
          </p:cNvSpPr>
          <p:nvPr>
            <p:ph type="title"/>
          </p:nvPr>
        </p:nvSpPr>
        <p:spPr/>
        <p:txBody>
          <a:bodyPr/>
          <a:lstStyle/>
          <a:p>
            <a:r>
              <a:rPr lang="en-US" dirty="0"/>
              <a:t>Visual Control Response</a:t>
            </a:r>
          </a:p>
        </p:txBody>
      </p:sp>
      <p:sp>
        <p:nvSpPr>
          <p:cNvPr id="3" name="Content Placeholder 2">
            <a:extLst>
              <a:ext uri="{FF2B5EF4-FFF2-40B4-BE49-F238E27FC236}">
                <a16:creationId xmlns:a16="http://schemas.microsoft.com/office/drawing/2014/main" id="{2598ECD4-BBA9-7FF8-35BD-52EF61677BE2}"/>
              </a:ext>
            </a:extLst>
          </p:cNvPr>
          <p:cNvSpPr>
            <a:spLocks noGrp="1"/>
          </p:cNvSpPr>
          <p:nvPr>
            <p:ph idx="1"/>
          </p:nvPr>
        </p:nvSpPr>
        <p:spPr/>
        <p:txBody>
          <a:bodyPr>
            <a:normAutofit/>
          </a:bodyPr>
          <a:lstStyle/>
          <a:p>
            <a:pPr>
              <a:lnSpc>
                <a:spcPct val="150000"/>
              </a:lnSpc>
            </a:pPr>
            <a:r>
              <a:rPr lang="en-US" dirty="0"/>
              <a:t>Escalating Degrees of Response:</a:t>
            </a:r>
          </a:p>
          <a:p>
            <a:pPr lvl="1">
              <a:lnSpc>
                <a:spcPct val="150000"/>
              </a:lnSpc>
            </a:pPr>
            <a:r>
              <a:rPr lang="en-US" dirty="0"/>
              <a:t>Operator – immediately</a:t>
            </a:r>
          </a:p>
          <a:p>
            <a:pPr lvl="1">
              <a:lnSpc>
                <a:spcPct val="150000"/>
              </a:lnSpc>
            </a:pPr>
            <a:r>
              <a:rPr lang="en-US" dirty="0"/>
              <a:t>Supervisor – within minutes</a:t>
            </a:r>
          </a:p>
          <a:p>
            <a:pPr lvl="1">
              <a:lnSpc>
                <a:spcPct val="150000"/>
              </a:lnSpc>
            </a:pPr>
            <a:r>
              <a:rPr lang="en-US" dirty="0"/>
              <a:t>Technical Support – within minutes</a:t>
            </a:r>
          </a:p>
          <a:p>
            <a:pPr lvl="1">
              <a:lnSpc>
                <a:spcPct val="150000"/>
              </a:lnSpc>
            </a:pPr>
            <a:r>
              <a:rPr lang="en-US" dirty="0"/>
              <a:t>Management – within ten minutes</a:t>
            </a:r>
          </a:p>
        </p:txBody>
      </p:sp>
      <p:sp>
        <p:nvSpPr>
          <p:cNvPr id="4" name="Slide Number Placeholder 3">
            <a:extLst>
              <a:ext uri="{FF2B5EF4-FFF2-40B4-BE49-F238E27FC236}">
                <a16:creationId xmlns:a16="http://schemas.microsoft.com/office/drawing/2014/main" id="{9707DABD-DECC-B79E-BBB3-97A4168DF77D}"/>
              </a:ext>
            </a:extLst>
          </p:cNvPr>
          <p:cNvSpPr>
            <a:spLocks noGrp="1"/>
          </p:cNvSpPr>
          <p:nvPr>
            <p:ph type="sldNum" sz="quarter" idx="4"/>
          </p:nvPr>
        </p:nvSpPr>
        <p:spPr/>
        <p:txBody>
          <a:bodyPr/>
          <a:lstStyle/>
          <a:p>
            <a:fld id="{CC6D4273-7FC1-0947-B9FE-19CB3C0D1FB6}" type="slidenum">
              <a:rPr lang="en-US" smtClean="0"/>
              <a:pPr/>
              <a:t>24</a:t>
            </a:fld>
            <a:endParaRPr lang="en-US"/>
          </a:p>
        </p:txBody>
      </p:sp>
      <p:grpSp>
        <p:nvGrpSpPr>
          <p:cNvPr id="5" name="Group 4">
            <a:extLst>
              <a:ext uri="{FF2B5EF4-FFF2-40B4-BE49-F238E27FC236}">
                <a16:creationId xmlns:a16="http://schemas.microsoft.com/office/drawing/2014/main" id="{5297FB95-23E4-B6FD-9542-82FE8666A81D}"/>
              </a:ext>
            </a:extLst>
          </p:cNvPr>
          <p:cNvGrpSpPr/>
          <p:nvPr/>
        </p:nvGrpSpPr>
        <p:grpSpPr>
          <a:xfrm>
            <a:off x="940249" y="292028"/>
            <a:ext cx="5600951" cy="311932"/>
            <a:chOff x="940249" y="302538"/>
            <a:chExt cx="5600951" cy="311932"/>
          </a:xfrm>
        </p:grpSpPr>
        <p:sp>
          <p:nvSpPr>
            <p:cNvPr id="6" name="TextBox 5">
              <a:extLst>
                <a:ext uri="{FF2B5EF4-FFF2-40B4-BE49-F238E27FC236}">
                  <a16:creationId xmlns:a16="http://schemas.microsoft.com/office/drawing/2014/main" id="{06561F05-8989-6B5D-2BE9-3586D3A02AE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7" name="AutoShape 9">
              <a:extLst>
                <a:ext uri="{FF2B5EF4-FFF2-40B4-BE49-F238E27FC236}">
                  <a16:creationId xmlns:a16="http://schemas.microsoft.com/office/drawing/2014/main" id="{81DF39DE-9596-A0CE-C5AA-C7877E694CD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6916885-69F4-CE23-1354-892D180B783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3C3C8E7E-C354-B08A-E1A1-4C4910A4A150}"/>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71013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Tools</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6684578" y="1825625"/>
            <a:ext cx="4007069" cy="4351338"/>
          </a:xfrm>
        </p:spPr>
        <p:txBody>
          <a:bodyPr>
            <a:normAutofit fontScale="92500" lnSpcReduction="10000"/>
          </a:bodyPr>
          <a:lstStyle/>
          <a:p>
            <a:r>
              <a:rPr lang="en-US" dirty="0"/>
              <a:t>Sign boarding</a:t>
            </a:r>
          </a:p>
          <a:p>
            <a:r>
              <a:rPr lang="en-US" dirty="0"/>
              <a:t>Line Demarcations</a:t>
            </a:r>
          </a:p>
          <a:p>
            <a:pPr lvl="1"/>
            <a:r>
              <a:rPr lang="en-US" dirty="0"/>
              <a:t>Floors &amp; Aisles</a:t>
            </a:r>
          </a:p>
          <a:p>
            <a:pPr lvl="1"/>
            <a:r>
              <a:rPr lang="en-US" dirty="0"/>
              <a:t>Stack Height Limits</a:t>
            </a:r>
          </a:p>
          <a:p>
            <a:r>
              <a:rPr lang="en-US" dirty="0"/>
              <a:t>Andon Lamps</a:t>
            </a:r>
          </a:p>
          <a:p>
            <a:r>
              <a:rPr lang="en-US" dirty="0"/>
              <a:t>Kanban</a:t>
            </a:r>
          </a:p>
          <a:p>
            <a:r>
              <a:rPr lang="en-US" dirty="0"/>
              <a:t>Production Management Boards</a:t>
            </a:r>
          </a:p>
          <a:p>
            <a:r>
              <a:rPr lang="en-US" dirty="0"/>
              <a:t>Standard Work Charts</a:t>
            </a:r>
          </a:p>
          <a:p>
            <a:r>
              <a:rPr lang="en-US" dirty="0"/>
              <a:t>Defective Item Displays</a:t>
            </a:r>
          </a:p>
          <a:p>
            <a:endParaRPr lang="en-US" dirty="0"/>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25</a:t>
            </a:fld>
            <a:endParaRPr lang="en-US"/>
          </a:p>
        </p:txBody>
      </p:sp>
      <p:sp>
        <p:nvSpPr>
          <p:cNvPr id="5" name="Arrow">
            <a:extLst>
              <a:ext uri="{FF2B5EF4-FFF2-40B4-BE49-F238E27FC236}">
                <a16:creationId xmlns:a16="http://schemas.microsoft.com/office/drawing/2014/main" id="{5864591B-2DCD-8045-6CE8-564FD9B786CC}"/>
              </a:ext>
            </a:extLst>
          </p:cNvPr>
          <p:cNvSpPr/>
          <p:nvPr/>
        </p:nvSpPr>
        <p:spPr>
          <a:xfrm>
            <a:off x="5424488" y="3342414"/>
            <a:ext cx="1330411" cy="1203836"/>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8" name="Text Box 16">
            <a:extLst>
              <a:ext uri="{FF2B5EF4-FFF2-40B4-BE49-F238E27FC236}">
                <a16:creationId xmlns:a16="http://schemas.microsoft.com/office/drawing/2014/main" id="{E80F401F-0848-5D54-657F-A2FF46E9B59F}"/>
              </a:ext>
            </a:extLst>
          </p:cNvPr>
          <p:cNvSpPr txBox="1">
            <a:spLocks noChangeArrowheads="1"/>
          </p:cNvSpPr>
          <p:nvPr/>
        </p:nvSpPr>
        <p:spPr bwMode="auto">
          <a:xfrm>
            <a:off x="838200" y="6156326"/>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800" b="0" i="1" dirty="0">
                <a:solidFill>
                  <a:srgbClr val="222222"/>
                </a:solidFill>
              </a:rPr>
              <a:t>Reprinted with permission from </a:t>
            </a:r>
            <a:r>
              <a:rPr lang="en-US" altLang="en-US" sz="800" b="0" i="1" dirty="0" err="1">
                <a:solidFill>
                  <a:srgbClr val="222222"/>
                </a:solidFill>
              </a:rPr>
              <a:t>BigPhotoStock.com</a:t>
            </a:r>
            <a:endParaRPr lang="en-US" altLang="en-US" sz="800" b="0" i="1" dirty="0">
              <a:solidFill>
                <a:srgbClr val="222222"/>
              </a:solidFill>
            </a:endParaRPr>
          </a:p>
        </p:txBody>
      </p:sp>
      <p:pic>
        <p:nvPicPr>
          <p:cNvPr id="6" name="Picture 11" descr="bigstockphoto_Stop_1216501">
            <a:extLst>
              <a:ext uri="{FF2B5EF4-FFF2-40B4-BE49-F238E27FC236}">
                <a16:creationId xmlns:a16="http://schemas.microsoft.com/office/drawing/2014/main" id="{76FAB10C-BB78-031E-A974-B02ACB6F1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625" y="2155007"/>
            <a:ext cx="2397125"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descr="bigstockphoto_Swimming_Flag_Code_Sign_1176293">
            <a:extLst>
              <a:ext uri="{FF2B5EF4-FFF2-40B4-BE49-F238E27FC236}">
                <a16:creationId xmlns:a16="http://schemas.microsoft.com/office/drawing/2014/main" id="{986344A5-065B-11DD-5314-FD3C90AC4F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49" y="4127471"/>
            <a:ext cx="2490788"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bigstockphoto_Sign__Tour_Bus_Stop_Sign__1236002">
            <a:extLst>
              <a:ext uri="{FF2B5EF4-FFF2-40B4-BE49-F238E27FC236}">
                <a16:creationId xmlns:a16="http://schemas.microsoft.com/office/drawing/2014/main" id="{FFE4B549-DF4F-91AC-A8B8-48CF644772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433" y="2966190"/>
            <a:ext cx="2387183" cy="177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5">
            <a:extLst>
              <a:ext uri="{FF2B5EF4-FFF2-40B4-BE49-F238E27FC236}">
                <a16:creationId xmlns:a16="http://schemas.microsoft.com/office/drawing/2014/main" id="{9E0D730D-26B6-1C9E-A44E-42C82F97B49B}"/>
              </a:ext>
            </a:extLst>
          </p:cNvPr>
          <p:cNvSpPr txBox="1">
            <a:spLocks noChangeArrowheads="1"/>
          </p:cNvSpPr>
          <p:nvPr/>
        </p:nvSpPr>
        <p:spPr bwMode="auto">
          <a:xfrm>
            <a:off x="874481" y="1825625"/>
            <a:ext cx="1907895" cy="315407"/>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cs typeface="Roboto" panose="02000000000000000000" pitchFamily="2" charset="0"/>
              </a:rPr>
              <a:t>Types of Visuals</a:t>
            </a:r>
          </a:p>
        </p:txBody>
      </p:sp>
      <p:grpSp>
        <p:nvGrpSpPr>
          <p:cNvPr id="17" name="Group 16">
            <a:extLst>
              <a:ext uri="{FF2B5EF4-FFF2-40B4-BE49-F238E27FC236}">
                <a16:creationId xmlns:a16="http://schemas.microsoft.com/office/drawing/2014/main" id="{771AF26E-0C0B-C976-92E2-53144778CCB4}"/>
              </a:ext>
            </a:extLst>
          </p:cNvPr>
          <p:cNvGrpSpPr/>
          <p:nvPr/>
        </p:nvGrpSpPr>
        <p:grpSpPr>
          <a:xfrm>
            <a:off x="940249" y="292028"/>
            <a:ext cx="5600951" cy="311932"/>
            <a:chOff x="940249" y="302538"/>
            <a:chExt cx="5600951" cy="311932"/>
          </a:xfrm>
        </p:grpSpPr>
        <p:sp>
          <p:nvSpPr>
            <p:cNvPr id="18" name="TextBox 17">
              <a:extLst>
                <a:ext uri="{FF2B5EF4-FFF2-40B4-BE49-F238E27FC236}">
                  <a16:creationId xmlns:a16="http://schemas.microsoft.com/office/drawing/2014/main" id="{28737F3D-DDE9-39F1-E55C-55CD2BD6A8B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19" name="AutoShape 9">
              <a:extLst>
                <a:ext uri="{FF2B5EF4-FFF2-40B4-BE49-F238E27FC236}">
                  <a16:creationId xmlns:a16="http://schemas.microsoft.com/office/drawing/2014/main" id="{1F78304E-F559-E37A-E580-E8CB0B2978D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79F97009-F888-8298-F481-B4BA4FF4CF93}"/>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29DA33-CE1E-DB25-1A5A-85563FE5CAE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704791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Tools</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6096000" y="1971675"/>
            <a:ext cx="4737652" cy="4351338"/>
          </a:xfrm>
        </p:spPr>
        <p:txBody>
          <a:bodyPr>
            <a:normAutofit/>
          </a:bodyPr>
          <a:lstStyle/>
          <a:p>
            <a:r>
              <a:rPr lang="en-US" sz="1800" dirty="0"/>
              <a:t>Lights installed on equipment, lines or cells to indicate the status of production</a:t>
            </a:r>
          </a:p>
          <a:p>
            <a:r>
              <a:rPr lang="en-US" sz="1800" dirty="0"/>
              <a:t>Possible uses:</a:t>
            </a:r>
          </a:p>
          <a:p>
            <a:pPr lvl="1"/>
            <a:r>
              <a:rPr lang="en-US" sz="1600" dirty="0"/>
              <a:t>Machine abnormality</a:t>
            </a:r>
          </a:p>
          <a:p>
            <a:pPr lvl="1"/>
            <a:r>
              <a:rPr lang="en-US" sz="1600" dirty="0"/>
              <a:t>Machine re-supply</a:t>
            </a:r>
          </a:p>
          <a:p>
            <a:pPr lvl="1"/>
            <a:r>
              <a:rPr lang="en-US" sz="1600" dirty="0"/>
              <a:t>Operator status to takt time</a:t>
            </a:r>
          </a:p>
          <a:p>
            <a:r>
              <a:rPr lang="en-US" sz="1800" dirty="0"/>
              <a:t>Color Coding – teams will specify the meaning of lights based on an area’s needs:</a:t>
            </a:r>
          </a:p>
          <a:p>
            <a:pPr lvl="1"/>
            <a:r>
              <a:rPr lang="en-US" sz="1600" dirty="0"/>
              <a:t>Red—maintenance is needed immediately</a:t>
            </a:r>
          </a:p>
          <a:p>
            <a:pPr lvl="1"/>
            <a:r>
              <a:rPr lang="en-US" sz="1600" dirty="0"/>
              <a:t>Yellow—the team is running out of parts</a:t>
            </a:r>
          </a:p>
          <a:p>
            <a:pPr lvl="1"/>
            <a:r>
              <a:rPr lang="en-US" sz="1600" dirty="0"/>
              <a:t>Green—the team is running parts</a:t>
            </a:r>
          </a:p>
          <a:p>
            <a:pPr lvl="1"/>
            <a:r>
              <a:rPr lang="en-US" sz="1600" dirty="0"/>
              <a:t>Teams will specify the meaning of the lights based on an area’s needs</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26</a:t>
            </a:fld>
            <a:endParaRPr lang="en-US"/>
          </a:p>
        </p:txBody>
      </p:sp>
      <p:sp>
        <p:nvSpPr>
          <p:cNvPr id="5" name="Arrow">
            <a:extLst>
              <a:ext uri="{FF2B5EF4-FFF2-40B4-BE49-F238E27FC236}">
                <a16:creationId xmlns:a16="http://schemas.microsoft.com/office/drawing/2014/main" id="{5864591B-2DCD-8045-6CE8-564FD9B786CC}"/>
              </a:ext>
            </a:extLst>
          </p:cNvPr>
          <p:cNvSpPr/>
          <p:nvPr/>
        </p:nvSpPr>
        <p:spPr>
          <a:xfrm>
            <a:off x="4500149" y="3342414"/>
            <a:ext cx="1330411" cy="1203836"/>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grpSp>
        <p:nvGrpSpPr>
          <p:cNvPr id="17" name="Group 16">
            <a:extLst>
              <a:ext uri="{FF2B5EF4-FFF2-40B4-BE49-F238E27FC236}">
                <a16:creationId xmlns:a16="http://schemas.microsoft.com/office/drawing/2014/main" id="{771AF26E-0C0B-C976-92E2-53144778CCB4}"/>
              </a:ext>
            </a:extLst>
          </p:cNvPr>
          <p:cNvGrpSpPr/>
          <p:nvPr/>
        </p:nvGrpSpPr>
        <p:grpSpPr>
          <a:xfrm>
            <a:off x="940249" y="292028"/>
            <a:ext cx="5600951" cy="311932"/>
            <a:chOff x="940249" y="302538"/>
            <a:chExt cx="5600951" cy="311932"/>
          </a:xfrm>
        </p:grpSpPr>
        <p:sp>
          <p:nvSpPr>
            <p:cNvPr id="18" name="TextBox 17">
              <a:extLst>
                <a:ext uri="{FF2B5EF4-FFF2-40B4-BE49-F238E27FC236}">
                  <a16:creationId xmlns:a16="http://schemas.microsoft.com/office/drawing/2014/main" id="{28737F3D-DDE9-39F1-E55C-55CD2BD6A8B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19" name="AutoShape 9">
              <a:extLst>
                <a:ext uri="{FF2B5EF4-FFF2-40B4-BE49-F238E27FC236}">
                  <a16:creationId xmlns:a16="http://schemas.microsoft.com/office/drawing/2014/main" id="{1F78304E-F559-E37A-E580-E8CB0B2978D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79F97009-F888-8298-F481-B4BA4FF4CF93}"/>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29DA33-CE1E-DB25-1A5A-85563FE5CAE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 Box 5">
            <a:extLst>
              <a:ext uri="{FF2B5EF4-FFF2-40B4-BE49-F238E27FC236}">
                <a16:creationId xmlns:a16="http://schemas.microsoft.com/office/drawing/2014/main" id="{9779AD3F-C964-082D-C782-5BD7F8FE11F6}"/>
              </a:ext>
            </a:extLst>
          </p:cNvPr>
          <p:cNvSpPr txBox="1">
            <a:spLocks noChangeArrowheads="1"/>
          </p:cNvSpPr>
          <p:nvPr/>
        </p:nvSpPr>
        <p:spPr bwMode="auto">
          <a:xfrm>
            <a:off x="1085035" y="2128044"/>
            <a:ext cx="1657350" cy="31115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t>Andon Lights</a:t>
            </a:r>
          </a:p>
        </p:txBody>
      </p:sp>
      <p:pic>
        <p:nvPicPr>
          <p:cNvPr id="9" name="Picture 110" descr="Signaworks 370 Series Modular Stack Light; LED, Incandescent, Steady/Continuous, Flashing, Rotary, audible alarm, IP54, IP64, IP65, pole, base">
            <a:hlinkClick r:id="rId3"/>
            <a:extLst>
              <a:ext uri="{FF2B5EF4-FFF2-40B4-BE49-F238E27FC236}">
                <a16:creationId xmlns:a16="http://schemas.microsoft.com/office/drawing/2014/main" id="{52355C2B-6265-40B9-37D6-8FE6D1FC50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5859" r="28181"/>
          <a:stretch>
            <a:fillRect/>
          </a:stretch>
        </p:blipFill>
        <p:spPr bwMode="auto">
          <a:xfrm>
            <a:off x="1664473" y="2575719"/>
            <a:ext cx="1444625"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8253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Tools</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6854824" y="2273083"/>
            <a:ext cx="3978828" cy="3533775"/>
          </a:xfrm>
        </p:spPr>
        <p:txBody>
          <a:bodyPr>
            <a:normAutofit/>
          </a:bodyPr>
          <a:lstStyle/>
          <a:p>
            <a:r>
              <a:rPr lang="en-US" sz="1800" dirty="0"/>
              <a:t>Abnormal situation should be understood at a glance</a:t>
            </a:r>
          </a:p>
          <a:p>
            <a:r>
              <a:rPr lang="en-US" sz="1800" dirty="0"/>
              <a:t>No need for interpretation</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27</a:t>
            </a:fld>
            <a:endParaRPr lang="en-US"/>
          </a:p>
        </p:txBody>
      </p:sp>
      <p:grpSp>
        <p:nvGrpSpPr>
          <p:cNvPr id="17" name="Group 16">
            <a:extLst>
              <a:ext uri="{FF2B5EF4-FFF2-40B4-BE49-F238E27FC236}">
                <a16:creationId xmlns:a16="http://schemas.microsoft.com/office/drawing/2014/main" id="{771AF26E-0C0B-C976-92E2-53144778CCB4}"/>
              </a:ext>
            </a:extLst>
          </p:cNvPr>
          <p:cNvGrpSpPr/>
          <p:nvPr/>
        </p:nvGrpSpPr>
        <p:grpSpPr>
          <a:xfrm>
            <a:off x="940249" y="292028"/>
            <a:ext cx="5600951" cy="311932"/>
            <a:chOff x="940249" y="302538"/>
            <a:chExt cx="5600951" cy="311932"/>
          </a:xfrm>
        </p:grpSpPr>
        <p:sp>
          <p:nvSpPr>
            <p:cNvPr id="18" name="TextBox 17">
              <a:extLst>
                <a:ext uri="{FF2B5EF4-FFF2-40B4-BE49-F238E27FC236}">
                  <a16:creationId xmlns:a16="http://schemas.microsoft.com/office/drawing/2014/main" id="{28737F3D-DDE9-39F1-E55C-55CD2BD6A8B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19" name="AutoShape 9">
              <a:extLst>
                <a:ext uri="{FF2B5EF4-FFF2-40B4-BE49-F238E27FC236}">
                  <a16:creationId xmlns:a16="http://schemas.microsoft.com/office/drawing/2014/main" id="{1F78304E-F559-E37A-E580-E8CB0B2978D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79F97009-F888-8298-F481-B4BA4FF4CF93}"/>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29DA33-CE1E-DB25-1A5A-85563FE5CAE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Rectangle 2">
            <a:extLst>
              <a:ext uri="{FF2B5EF4-FFF2-40B4-BE49-F238E27FC236}">
                <a16:creationId xmlns:a16="http://schemas.microsoft.com/office/drawing/2014/main" id="{65B1D7F4-1279-94EC-AA35-E19E92D34AF4}"/>
              </a:ext>
            </a:extLst>
          </p:cNvPr>
          <p:cNvSpPr>
            <a:spLocks noChangeArrowheads="1"/>
          </p:cNvSpPr>
          <p:nvPr/>
        </p:nvSpPr>
        <p:spPr bwMode="auto">
          <a:xfrm>
            <a:off x="838200" y="2273084"/>
            <a:ext cx="5254625"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8" name="Text Box 3">
            <a:extLst>
              <a:ext uri="{FF2B5EF4-FFF2-40B4-BE49-F238E27FC236}">
                <a16:creationId xmlns:a16="http://schemas.microsoft.com/office/drawing/2014/main" id="{88B9C2C7-A6C3-75BA-73C4-173C4B536537}"/>
              </a:ext>
            </a:extLst>
          </p:cNvPr>
          <p:cNvSpPr txBox="1">
            <a:spLocks noChangeArrowheads="1"/>
          </p:cNvSpPr>
          <p:nvPr/>
        </p:nvSpPr>
        <p:spPr bwMode="auto">
          <a:xfrm>
            <a:off x="922337" y="2133384"/>
            <a:ext cx="2647950" cy="31115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Gauges and Indicators</a:t>
            </a:r>
          </a:p>
        </p:txBody>
      </p:sp>
      <p:grpSp>
        <p:nvGrpSpPr>
          <p:cNvPr id="10" name="Group 6">
            <a:extLst>
              <a:ext uri="{FF2B5EF4-FFF2-40B4-BE49-F238E27FC236}">
                <a16:creationId xmlns:a16="http://schemas.microsoft.com/office/drawing/2014/main" id="{7D787682-116F-8BA1-1254-DF0D21BEE2C1}"/>
              </a:ext>
            </a:extLst>
          </p:cNvPr>
          <p:cNvGrpSpPr>
            <a:grpSpLocks/>
          </p:cNvGrpSpPr>
          <p:nvPr/>
        </p:nvGrpSpPr>
        <p:grpSpPr bwMode="auto">
          <a:xfrm>
            <a:off x="1243012" y="3039846"/>
            <a:ext cx="1360488" cy="1785938"/>
            <a:chOff x="326" y="1320"/>
            <a:chExt cx="857" cy="1125"/>
          </a:xfrm>
        </p:grpSpPr>
        <p:sp>
          <p:nvSpPr>
            <p:cNvPr id="11" name="Rectangle 7">
              <a:extLst>
                <a:ext uri="{FF2B5EF4-FFF2-40B4-BE49-F238E27FC236}">
                  <a16:creationId xmlns:a16="http://schemas.microsoft.com/office/drawing/2014/main" id="{B633CB56-78A3-DC41-B365-2775C754A794}"/>
                </a:ext>
              </a:extLst>
            </p:cNvPr>
            <p:cNvSpPr>
              <a:spLocks noChangeArrowheads="1"/>
            </p:cNvSpPr>
            <p:nvPr/>
          </p:nvSpPr>
          <p:spPr bwMode="auto">
            <a:xfrm rot="-1699879">
              <a:off x="921" y="2058"/>
              <a:ext cx="204" cy="387"/>
            </a:xfrm>
            <a:prstGeom prst="rect">
              <a:avLst/>
            </a:prstGeom>
            <a:solidFill>
              <a:srgbClr val="80808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2" name="Rectangle 8">
              <a:extLst>
                <a:ext uri="{FF2B5EF4-FFF2-40B4-BE49-F238E27FC236}">
                  <a16:creationId xmlns:a16="http://schemas.microsoft.com/office/drawing/2014/main" id="{86B7ECC7-9066-B546-37C4-04B98E26C563}"/>
                </a:ext>
              </a:extLst>
            </p:cNvPr>
            <p:cNvSpPr>
              <a:spLocks noChangeArrowheads="1"/>
            </p:cNvSpPr>
            <p:nvPr/>
          </p:nvSpPr>
          <p:spPr bwMode="auto">
            <a:xfrm rot="-1699879">
              <a:off x="809" y="2033"/>
              <a:ext cx="286" cy="171"/>
            </a:xfrm>
            <a:prstGeom prst="rect">
              <a:avLst/>
            </a:prstGeom>
            <a:solidFill>
              <a:srgbClr val="80808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3" name="Oval 9">
              <a:extLst>
                <a:ext uri="{FF2B5EF4-FFF2-40B4-BE49-F238E27FC236}">
                  <a16:creationId xmlns:a16="http://schemas.microsoft.com/office/drawing/2014/main" id="{5EA5BBED-74E3-C4C8-481B-B7932B64DADE}"/>
                </a:ext>
              </a:extLst>
            </p:cNvPr>
            <p:cNvSpPr>
              <a:spLocks noChangeArrowheads="1"/>
            </p:cNvSpPr>
            <p:nvPr/>
          </p:nvSpPr>
          <p:spPr bwMode="auto">
            <a:xfrm rot="-1699879">
              <a:off x="326" y="1350"/>
              <a:ext cx="857" cy="817"/>
            </a:xfrm>
            <a:prstGeom prst="ellipse">
              <a:avLst/>
            </a:prstGeom>
            <a:solidFill>
              <a:srgbClr val="DDDDDD"/>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4" name="Oval 10">
              <a:extLst>
                <a:ext uri="{FF2B5EF4-FFF2-40B4-BE49-F238E27FC236}">
                  <a16:creationId xmlns:a16="http://schemas.microsoft.com/office/drawing/2014/main" id="{5C3CEE06-2E38-84FA-4DAA-D150312172A3}"/>
                </a:ext>
              </a:extLst>
            </p:cNvPr>
            <p:cNvSpPr>
              <a:spLocks noChangeArrowheads="1"/>
            </p:cNvSpPr>
            <p:nvPr/>
          </p:nvSpPr>
          <p:spPr bwMode="auto">
            <a:xfrm rot="-1699879">
              <a:off x="448" y="1480"/>
              <a:ext cx="613" cy="558"/>
            </a:xfrm>
            <a:prstGeom prst="ellipse">
              <a:avLst/>
            </a:prstGeom>
            <a:solidFill>
              <a:schemeClr val="bg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5" name="Oval 11">
              <a:extLst>
                <a:ext uri="{FF2B5EF4-FFF2-40B4-BE49-F238E27FC236}">
                  <a16:creationId xmlns:a16="http://schemas.microsoft.com/office/drawing/2014/main" id="{E4166C1A-7B2D-1EEC-DD7B-3F9F7EC8567D}"/>
                </a:ext>
              </a:extLst>
            </p:cNvPr>
            <p:cNvSpPr>
              <a:spLocks noChangeArrowheads="1"/>
            </p:cNvSpPr>
            <p:nvPr/>
          </p:nvSpPr>
          <p:spPr bwMode="auto">
            <a:xfrm rot="-1699879">
              <a:off x="734" y="1737"/>
              <a:ext cx="41" cy="43"/>
            </a:xfrm>
            <a:prstGeom prst="ellipse">
              <a:avLst/>
            </a:prstGeom>
            <a:solidFill>
              <a:schemeClr val="tx2"/>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16" name="Text Box 12">
              <a:extLst>
                <a:ext uri="{FF2B5EF4-FFF2-40B4-BE49-F238E27FC236}">
                  <a16:creationId xmlns:a16="http://schemas.microsoft.com/office/drawing/2014/main" id="{A0033B94-C168-D286-960A-FD3DAACF4D1D}"/>
                </a:ext>
              </a:extLst>
            </p:cNvPr>
            <p:cNvSpPr txBox="1">
              <a:spLocks noChangeArrowheads="1"/>
            </p:cNvSpPr>
            <p:nvPr/>
          </p:nvSpPr>
          <p:spPr bwMode="auto">
            <a:xfrm rot="-1699879">
              <a:off x="574" y="1892"/>
              <a:ext cx="177"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a:t>0</a:t>
              </a:r>
            </a:p>
          </p:txBody>
        </p:sp>
        <p:sp>
          <p:nvSpPr>
            <p:cNvPr id="22" name="Text Box 13">
              <a:extLst>
                <a:ext uri="{FF2B5EF4-FFF2-40B4-BE49-F238E27FC236}">
                  <a16:creationId xmlns:a16="http://schemas.microsoft.com/office/drawing/2014/main" id="{41532CB6-B7C2-FDC8-5929-E932DF33587A}"/>
                </a:ext>
              </a:extLst>
            </p:cNvPr>
            <p:cNvSpPr txBox="1">
              <a:spLocks noChangeArrowheads="1"/>
            </p:cNvSpPr>
            <p:nvPr/>
          </p:nvSpPr>
          <p:spPr bwMode="auto">
            <a:xfrm rot="-1699879">
              <a:off x="413" y="1669"/>
              <a:ext cx="22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a:t>10</a:t>
              </a:r>
            </a:p>
          </p:txBody>
        </p:sp>
        <p:sp>
          <p:nvSpPr>
            <p:cNvPr id="23" name="Text Box 14">
              <a:extLst>
                <a:ext uri="{FF2B5EF4-FFF2-40B4-BE49-F238E27FC236}">
                  <a16:creationId xmlns:a16="http://schemas.microsoft.com/office/drawing/2014/main" id="{BFB91ABD-9090-2B19-AF51-0A9E993E06D2}"/>
                </a:ext>
              </a:extLst>
            </p:cNvPr>
            <p:cNvSpPr txBox="1">
              <a:spLocks noChangeArrowheads="1"/>
            </p:cNvSpPr>
            <p:nvPr/>
          </p:nvSpPr>
          <p:spPr bwMode="auto">
            <a:xfrm rot="-1699879">
              <a:off x="512" y="1518"/>
              <a:ext cx="22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a:t>20</a:t>
              </a:r>
            </a:p>
          </p:txBody>
        </p:sp>
        <p:sp>
          <p:nvSpPr>
            <p:cNvPr id="24" name="Text Box 15">
              <a:extLst>
                <a:ext uri="{FF2B5EF4-FFF2-40B4-BE49-F238E27FC236}">
                  <a16:creationId xmlns:a16="http://schemas.microsoft.com/office/drawing/2014/main" id="{CE6621E8-40B5-2831-0BB1-96ACA991535B}"/>
                </a:ext>
              </a:extLst>
            </p:cNvPr>
            <p:cNvSpPr txBox="1">
              <a:spLocks noChangeArrowheads="1"/>
            </p:cNvSpPr>
            <p:nvPr/>
          </p:nvSpPr>
          <p:spPr bwMode="auto">
            <a:xfrm rot="-1699879">
              <a:off x="838" y="1518"/>
              <a:ext cx="22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a:t>30</a:t>
              </a:r>
            </a:p>
          </p:txBody>
        </p:sp>
        <p:sp>
          <p:nvSpPr>
            <p:cNvPr id="25" name="Text Box 16">
              <a:extLst>
                <a:ext uri="{FF2B5EF4-FFF2-40B4-BE49-F238E27FC236}">
                  <a16:creationId xmlns:a16="http://schemas.microsoft.com/office/drawing/2014/main" id="{901155F2-0AB4-BCC4-3EF2-03E8B8BB1549}"/>
                </a:ext>
              </a:extLst>
            </p:cNvPr>
            <p:cNvSpPr txBox="1">
              <a:spLocks noChangeArrowheads="1"/>
            </p:cNvSpPr>
            <p:nvPr/>
          </p:nvSpPr>
          <p:spPr bwMode="auto">
            <a:xfrm rot="-1699879">
              <a:off x="868" y="1736"/>
              <a:ext cx="22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100"/>
                <a:t>40</a:t>
              </a:r>
            </a:p>
          </p:txBody>
        </p:sp>
        <p:sp>
          <p:nvSpPr>
            <p:cNvPr id="26" name="Line 17">
              <a:extLst>
                <a:ext uri="{FF2B5EF4-FFF2-40B4-BE49-F238E27FC236}">
                  <a16:creationId xmlns:a16="http://schemas.microsoft.com/office/drawing/2014/main" id="{03F42543-FEBB-4053-8FD4-F59F4856A486}"/>
                </a:ext>
              </a:extLst>
            </p:cNvPr>
            <p:cNvSpPr>
              <a:spLocks noChangeShapeType="1"/>
            </p:cNvSpPr>
            <p:nvPr/>
          </p:nvSpPr>
          <p:spPr bwMode="auto">
            <a:xfrm rot="19900121" flipV="1">
              <a:off x="550" y="1320"/>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8">
              <a:extLst>
                <a:ext uri="{FF2B5EF4-FFF2-40B4-BE49-F238E27FC236}">
                  <a16:creationId xmlns:a16="http://schemas.microsoft.com/office/drawing/2014/main" id="{E78880DC-5900-689C-0302-7CC759CEEB0F}"/>
                </a:ext>
              </a:extLst>
            </p:cNvPr>
            <p:cNvSpPr>
              <a:spLocks noChangeShapeType="1"/>
            </p:cNvSpPr>
            <p:nvPr/>
          </p:nvSpPr>
          <p:spPr bwMode="auto">
            <a:xfrm rot="19900121" flipV="1">
              <a:off x="875" y="1343"/>
              <a:ext cx="163" cy="1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WordArt 19">
              <a:extLst>
                <a:ext uri="{FF2B5EF4-FFF2-40B4-BE49-F238E27FC236}">
                  <a16:creationId xmlns:a16="http://schemas.microsoft.com/office/drawing/2014/main" id="{60E6A9B6-DB93-5279-8324-747AC93E6169}"/>
                </a:ext>
              </a:extLst>
            </p:cNvPr>
            <p:cNvSpPr>
              <a:spLocks noChangeArrowheads="1" noChangeShapeType="1" noTextEdit="1"/>
            </p:cNvSpPr>
            <p:nvPr/>
          </p:nvSpPr>
          <p:spPr bwMode="auto">
            <a:xfrm rot="-176549">
              <a:off x="673" y="1433"/>
              <a:ext cx="204" cy="47"/>
            </a:xfrm>
            <a:prstGeom prst="rect">
              <a:avLst/>
            </a:prstGeom>
          </p:spPr>
          <p:txBody>
            <a:bodyPr spcFirstLastPara="1" wrap="none" fromWordArt="1">
              <a:prstTxWarp prst="textArchUp">
                <a:avLst>
                  <a:gd name="adj" fmla="val 10800004"/>
                </a:avLst>
              </a:prstTxWarp>
            </a:bodyPr>
            <a:lstStyle/>
            <a:p>
              <a:pPr algn="ctr"/>
              <a:r>
                <a:rPr lang="en-US" sz="800" kern="10">
                  <a:ln w="9525">
                    <a:solidFill>
                      <a:srgbClr val="000000"/>
                    </a:solidFill>
                    <a:round/>
                    <a:headEnd/>
                    <a:tailEnd/>
                  </a:ln>
                  <a:solidFill>
                    <a:srgbClr val="000000"/>
                  </a:solidFill>
                  <a:latin typeface="Arial Black" panose="020B0604020202020204" pitchFamily="34" charset="0"/>
                  <a:cs typeface="Arial Black" panose="020B0604020202020204" pitchFamily="34" charset="0"/>
                </a:rPr>
                <a:t>Safe</a:t>
              </a:r>
            </a:p>
          </p:txBody>
        </p:sp>
        <p:sp>
          <p:nvSpPr>
            <p:cNvPr id="29" name="AutoShape 20">
              <a:extLst>
                <a:ext uri="{FF2B5EF4-FFF2-40B4-BE49-F238E27FC236}">
                  <a16:creationId xmlns:a16="http://schemas.microsoft.com/office/drawing/2014/main" id="{610FBBC7-65F4-C388-C5FF-56205B20E37C}"/>
                </a:ext>
              </a:extLst>
            </p:cNvPr>
            <p:cNvSpPr>
              <a:spLocks noChangeArrowheads="1"/>
            </p:cNvSpPr>
            <p:nvPr/>
          </p:nvSpPr>
          <p:spPr bwMode="auto">
            <a:xfrm>
              <a:off x="592" y="1531"/>
              <a:ext cx="327" cy="241"/>
            </a:xfrm>
            <a:prstGeom prst="flowChartMerge">
              <a:avLst/>
            </a:prstGeom>
            <a:solidFill>
              <a:srgbClr val="FFB62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dirty="0">
                <a:solidFill>
                  <a:schemeClr val="bg1"/>
                </a:solidFill>
              </a:endParaRPr>
            </a:p>
          </p:txBody>
        </p:sp>
        <p:sp>
          <p:nvSpPr>
            <p:cNvPr id="30" name="Line 21">
              <a:extLst>
                <a:ext uri="{FF2B5EF4-FFF2-40B4-BE49-F238E27FC236}">
                  <a16:creationId xmlns:a16="http://schemas.microsoft.com/office/drawing/2014/main" id="{30752D31-5721-EEDF-0A12-833466D01C06}"/>
                </a:ext>
              </a:extLst>
            </p:cNvPr>
            <p:cNvSpPr>
              <a:spLocks noChangeShapeType="1"/>
            </p:cNvSpPr>
            <p:nvPr/>
          </p:nvSpPr>
          <p:spPr bwMode="auto">
            <a:xfrm rot="19900121" flipV="1">
              <a:off x="669" y="1561"/>
              <a:ext cx="164" cy="3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1" name="Group 22">
            <a:extLst>
              <a:ext uri="{FF2B5EF4-FFF2-40B4-BE49-F238E27FC236}">
                <a16:creationId xmlns:a16="http://schemas.microsoft.com/office/drawing/2014/main" id="{BE340640-4D4A-12A8-2A76-A00C3D052590}"/>
              </a:ext>
            </a:extLst>
          </p:cNvPr>
          <p:cNvGrpSpPr>
            <a:grpSpLocks/>
          </p:cNvGrpSpPr>
          <p:nvPr/>
        </p:nvGrpSpPr>
        <p:grpSpPr bwMode="auto">
          <a:xfrm>
            <a:off x="3429000" y="2854109"/>
            <a:ext cx="2259012" cy="2459037"/>
            <a:chOff x="3261" y="3856"/>
            <a:chExt cx="1423" cy="1549"/>
          </a:xfrm>
        </p:grpSpPr>
        <p:sp>
          <p:nvSpPr>
            <p:cNvPr id="32" name="AutoShape 23">
              <a:extLst>
                <a:ext uri="{FF2B5EF4-FFF2-40B4-BE49-F238E27FC236}">
                  <a16:creationId xmlns:a16="http://schemas.microsoft.com/office/drawing/2014/main" id="{4EFDB732-ABB1-2097-E809-D13B26650D2E}"/>
                </a:ext>
              </a:extLst>
            </p:cNvPr>
            <p:cNvSpPr>
              <a:spLocks noChangeArrowheads="1"/>
            </p:cNvSpPr>
            <p:nvPr/>
          </p:nvSpPr>
          <p:spPr bwMode="auto">
            <a:xfrm rot="5406549">
              <a:off x="3511" y="4687"/>
              <a:ext cx="986" cy="449"/>
            </a:xfrm>
            <a:prstGeom prst="flowChartDelay">
              <a:avLst/>
            </a:prstGeom>
            <a:solidFill>
              <a:srgbClr val="DDDDDD"/>
            </a:solidFill>
            <a:ln w="28575">
              <a:solidFill>
                <a:schemeClr val="tx2"/>
              </a:solidFill>
              <a:miter lim="800000"/>
              <a:headEnd/>
              <a:tailEnd/>
            </a:ln>
          </p:spPr>
          <p:txBody>
            <a:bodyPr rot="10800000" vert="eaVert" wrap="none" lIns="101882" tIns="50941" rIns="101882" bIns="50941" anchor="ct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endParaRPr lang="en-US" altLang="en-US" sz="1800"/>
            </a:p>
          </p:txBody>
        </p:sp>
        <p:sp>
          <p:nvSpPr>
            <p:cNvPr id="33" name="Freeform 24">
              <a:extLst>
                <a:ext uri="{FF2B5EF4-FFF2-40B4-BE49-F238E27FC236}">
                  <a16:creationId xmlns:a16="http://schemas.microsoft.com/office/drawing/2014/main" id="{26C2F0A6-D41B-D8F7-B391-5AC15B52A760}"/>
                </a:ext>
              </a:extLst>
            </p:cNvPr>
            <p:cNvSpPr>
              <a:spLocks/>
            </p:cNvSpPr>
            <p:nvPr/>
          </p:nvSpPr>
          <p:spPr bwMode="auto">
            <a:xfrm>
              <a:off x="3617" y="3856"/>
              <a:ext cx="735" cy="563"/>
            </a:xfrm>
            <a:custGeom>
              <a:avLst/>
              <a:gdLst>
                <a:gd name="T0" fmla="*/ 0 w 912"/>
                <a:gd name="T1" fmla="*/ 825 h 384"/>
                <a:gd name="T2" fmla="*/ 592 w 912"/>
                <a:gd name="T3" fmla="*/ 825 h 384"/>
                <a:gd name="T4" fmla="*/ 592 w 912"/>
                <a:gd name="T5" fmla="*/ 516 h 384"/>
                <a:gd name="T6" fmla="*/ 499 w 912"/>
                <a:gd name="T7" fmla="*/ 516 h 384"/>
                <a:gd name="T8" fmla="*/ 499 w 912"/>
                <a:gd name="T9" fmla="*/ 103 h 384"/>
                <a:gd name="T10" fmla="*/ 343 w 912"/>
                <a:gd name="T11" fmla="*/ 103 h 384"/>
                <a:gd name="T12" fmla="*/ 343 w 912"/>
                <a:gd name="T13" fmla="*/ 0 h 384"/>
                <a:gd name="T14" fmla="*/ 280 w 912"/>
                <a:gd name="T15" fmla="*/ 0 h 384"/>
                <a:gd name="T16" fmla="*/ 280 w 912"/>
                <a:gd name="T17" fmla="*/ 103 h 384"/>
                <a:gd name="T18" fmla="*/ 125 w 912"/>
                <a:gd name="T19" fmla="*/ 103 h 384"/>
                <a:gd name="T20" fmla="*/ 125 w 912"/>
                <a:gd name="T21" fmla="*/ 516 h 384"/>
                <a:gd name="T22" fmla="*/ 0 w 912"/>
                <a:gd name="T23" fmla="*/ 516 h 384"/>
                <a:gd name="T24" fmla="*/ 0 w 912"/>
                <a:gd name="T25" fmla="*/ 825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2"/>
                <a:gd name="T40" fmla="*/ 0 h 384"/>
                <a:gd name="T41" fmla="*/ 912 w 912"/>
                <a:gd name="T42" fmla="*/ 384 h 38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2" h="384">
                  <a:moveTo>
                    <a:pt x="0" y="384"/>
                  </a:moveTo>
                  <a:lnTo>
                    <a:pt x="912" y="384"/>
                  </a:lnTo>
                  <a:lnTo>
                    <a:pt x="912" y="240"/>
                  </a:lnTo>
                  <a:lnTo>
                    <a:pt x="768" y="240"/>
                  </a:lnTo>
                  <a:lnTo>
                    <a:pt x="768" y="48"/>
                  </a:lnTo>
                  <a:lnTo>
                    <a:pt x="528" y="48"/>
                  </a:lnTo>
                  <a:lnTo>
                    <a:pt x="528" y="0"/>
                  </a:lnTo>
                  <a:lnTo>
                    <a:pt x="432" y="0"/>
                  </a:lnTo>
                  <a:lnTo>
                    <a:pt x="432" y="48"/>
                  </a:lnTo>
                  <a:lnTo>
                    <a:pt x="192" y="48"/>
                  </a:lnTo>
                  <a:lnTo>
                    <a:pt x="192" y="240"/>
                  </a:lnTo>
                  <a:lnTo>
                    <a:pt x="0" y="240"/>
                  </a:lnTo>
                  <a:lnTo>
                    <a:pt x="0" y="384"/>
                  </a:lnTo>
                  <a:close/>
                </a:path>
              </a:pathLst>
            </a:custGeom>
            <a:solidFill>
              <a:srgbClr val="EE3228"/>
            </a:solidFill>
            <a:ln w="9525">
              <a:solidFill>
                <a:schemeClr val="tx1"/>
              </a:solidFill>
              <a:round/>
              <a:headEnd/>
              <a:tailEnd/>
            </a:ln>
          </p:spPr>
          <p:txBody>
            <a:bodyPr wrap="none" anchor="ctr"/>
            <a:lstStyle/>
            <a:p>
              <a:endParaRPr lang="en-US"/>
            </a:p>
          </p:txBody>
        </p:sp>
        <p:sp>
          <p:nvSpPr>
            <p:cNvPr id="34" name="Rectangle 25">
              <a:extLst>
                <a:ext uri="{FF2B5EF4-FFF2-40B4-BE49-F238E27FC236}">
                  <a16:creationId xmlns:a16="http://schemas.microsoft.com/office/drawing/2014/main" id="{44C6FF8B-1FB6-D9BA-6611-5D401A0A16CF}"/>
                </a:ext>
              </a:extLst>
            </p:cNvPr>
            <p:cNvSpPr>
              <a:spLocks noChangeArrowheads="1"/>
            </p:cNvSpPr>
            <p:nvPr/>
          </p:nvSpPr>
          <p:spPr bwMode="auto">
            <a:xfrm>
              <a:off x="4352" y="4278"/>
              <a:ext cx="332" cy="83"/>
            </a:xfrm>
            <a:prstGeom prst="rect">
              <a:avLst/>
            </a:prstGeom>
            <a:solidFill>
              <a:schemeClr val="tx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35" name="Rectangle 26">
              <a:extLst>
                <a:ext uri="{FF2B5EF4-FFF2-40B4-BE49-F238E27FC236}">
                  <a16:creationId xmlns:a16="http://schemas.microsoft.com/office/drawing/2014/main" id="{39F86A4D-9FAE-E004-7368-E5A10C6411D9}"/>
                </a:ext>
              </a:extLst>
            </p:cNvPr>
            <p:cNvSpPr>
              <a:spLocks noChangeArrowheads="1"/>
            </p:cNvSpPr>
            <p:nvPr/>
          </p:nvSpPr>
          <p:spPr bwMode="auto">
            <a:xfrm>
              <a:off x="3261" y="4278"/>
              <a:ext cx="356" cy="77"/>
            </a:xfrm>
            <a:prstGeom prst="rect">
              <a:avLst/>
            </a:prstGeom>
            <a:solidFill>
              <a:schemeClr val="tx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sp>
          <p:nvSpPr>
            <p:cNvPr id="36" name="Line 27">
              <a:extLst>
                <a:ext uri="{FF2B5EF4-FFF2-40B4-BE49-F238E27FC236}">
                  <a16:creationId xmlns:a16="http://schemas.microsoft.com/office/drawing/2014/main" id="{4F33AB18-6A41-956F-EBDA-EC28A29D3D6B}"/>
                </a:ext>
              </a:extLst>
            </p:cNvPr>
            <p:cNvSpPr>
              <a:spLocks noChangeShapeType="1"/>
            </p:cNvSpPr>
            <p:nvPr/>
          </p:nvSpPr>
          <p:spPr bwMode="auto">
            <a:xfrm>
              <a:off x="3780" y="4771"/>
              <a:ext cx="449" cy="0"/>
            </a:xfrm>
            <a:prstGeom prst="line">
              <a:avLst/>
            </a:prstGeom>
            <a:noFill/>
            <a:ln w="76200">
              <a:solidFill>
                <a:srgbClr val="FFB627"/>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7" name="Text Box 28">
              <a:extLst>
                <a:ext uri="{FF2B5EF4-FFF2-40B4-BE49-F238E27FC236}">
                  <a16:creationId xmlns:a16="http://schemas.microsoft.com/office/drawing/2014/main" id="{4F638B2A-8B66-8F6F-C2A4-A6A47BE533C7}"/>
                </a:ext>
              </a:extLst>
            </p:cNvPr>
            <p:cNvSpPr txBox="1">
              <a:spLocks noChangeArrowheads="1"/>
            </p:cNvSpPr>
            <p:nvPr/>
          </p:nvSpPr>
          <p:spPr bwMode="auto">
            <a:xfrm>
              <a:off x="3775" y="4490"/>
              <a:ext cx="424"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882" tIns="50941" rIns="101882" bIns="50941">
              <a:spAutoFit/>
            </a:bodyPr>
            <a:lstStyle>
              <a:lvl1pPr defTabSz="1019175">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101917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01917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0191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0191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FULL</a:t>
              </a:r>
              <a:endParaRPr lang="en-US" altLang="en-US" sz="1800" dirty="0">
                <a:latin typeface="Roboto" panose="02000000000000000000" pitchFamily="2" charset="0"/>
                <a:ea typeface="Roboto" panose="02000000000000000000" pitchFamily="2" charset="0"/>
                <a:cs typeface="Roboto" panose="02000000000000000000" pitchFamily="2" charset="0"/>
              </a:endParaRPr>
            </a:p>
          </p:txBody>
        </p:sp>
        <p:sp>
          <p:nvSpPr>
            <p:cNvPr id="38" name="Freeform 29">
              <a:extLst>
                <a:ext uri="{FF2B5EF4-FFF2-40B4-BE49-F238E27FC236}">
                  <a16:creationId xmlns:a16="http://schemas.microsoft.com/office/drawing/2014/main" id="{2C0604ED-74A7-0F2B-D5A4-CAE62B231FD4}"/>
                </a:ext>
              </a:extLst>
            </p:cNvPr>
            <p:cNvSpPr>
              <a:spLocks/>
            </p:cNvSpPr>
            <p:nvPr/>
          </p:nvSpPr>
          <p:spPr bwMode="auto">
            <a:xfrm>
              <a:off x="3786" y="4921"/>
              <a:ext cx="433" cy="48"/>
            </a:xfrm>
            <a:custGeom>
              <a:avLst/>
              <a:gdLst>
                <a:gd name="T0" fmla="*/ 0 w 510"/>
                <a:gd name="T1" fmla="*/ 51 h 33"/>
                <a:gd name="T2" fmla="*/ 39 w 510"/>
                <a:gd name="T3" fmla="*/ 0 h 33"/>
                <a:gd name="T4" fmla="*/ 82 w 510"/>
                <a:gd name="T5" fmla="*/ 38 h 33"/>
                <a:gd name="T6" fmla="*/ 199 w 510"/>
                <a:gd name="T7" fmla="*/ 25 h 33"/>
                <a:gd name="T8" fmla="*/ 242 w 510"/>
                <a:gd name="T9" fmla="*/ 51 h 33"/>
                <a:gd name="T10" fmla="*/ 268 w 510"/>
                <a:gd name="T11" fmla="*/ 25 h 33"/>
                <a:gd name="T12" fmla="*/ 368 w 510"/>
                <a:gd name="T13" fmla="*/ 38 h 33"/>
                <a:gd name="T14" fmla="*/ 0 60000 65536"/>
                <a:gd name="T15" fmla="*/ 0 60000 65536"/>
                <a:gd name="T16" fmla="*/ 0 60000 65536"/>
                <a:gd name="T17" fmla="*/ 0 60000 65536"/>
                <a:gd name="T18" fmla="*/ 0 60000 65536"/>
                <a:gd name="T19" fmla="*/ 0 60000 65536"/>
                <a:gd name="T20" fmla="*/ 0 60000 65536"/>
                <a:gd name="T21" fmla="*/ 0 w 510"/>
                <a:gd name="T22" fmla="*/ 0 h 33"/>
                <a:gd name="T23" fmla="*/ 510 w 510"/>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0" h="33">
                  <a:moveTo>
                    <a:pt x="0" y="24"/>
                  </a:moveTo>
                  <a:cubicBezTo>
                    <a:pt x="43" y="10"/>
                    <a:pt x="25" y="19"/>
                    <a:pt x="54" y="0"/>
                  </a:cubicBezTo>
                  <a:cubicBezTo>
                    <a:pt x="74" y="7"/>
                    <a:pt x="94" y="11"/>
                    <a:pt x="114" y="18"/>
                  </a:cubicBezTo>
                  <a:cubicBezTo>
                    <a:pt x="168" y="9"/>
                    <a:pt x="221" y="17"/>
                    <a:pt x="276" y="12"/>
                  </a:cubicBezTo>
                  <a:cubicBezTo>
                    <a:pt x="303" y="21"/>
                    <a:pt x="306" y="33"/>
                    <a:pt x="336" y="24"/>
                  </a:cubicBezTo>
                  <a:cubicBezTo>
                    <a:pt x="348" y="20"/>
                    <a:pt x="372" y="12"/>
                    <a:pt x="372" y="12"/>
                  </a:cubicBezTo>
                  <a:cubicBezTo>
                    <a:pt x="437" y="25"/>
                    <a:pt x="392" y="18"/>
                    <a:pt x="510" y="18"/>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3835651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Tools</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7729468" y="2430049"/>
            <a:ext cx="3978828" cy="3533775"/>
          </a:xfrm>
        </p:spPr>
        <p:txBody>
          <a:bodyPr>
            <a:normAutofit/>
          </a:bodyPr>
          <a:lstStyle/>
          <a:p>
            <a:r>
              <a:rPr lang="en-US" sz="1800" dirty="0"/>
              <a:t>Team board that highlights the progress of a team in meeting key goals for Safety, Quality, Delivery and Cost</a:t>
            </a:r>
          </a:p>
          <a:p>
            <a:r>
              <a:rPr lang="en-US" sz="1800" dirty="0"/>
              <a:t>Boards are used to track and highlight countermeasures</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28</a:t>
            </a:fld>
            <a:endParaRPr lang="en-US"/>
          </a:p>
        </p:txBody>
      </p:sp>
      <p:grpSp>
        <p:nvGrpSpPr>
          <p:cNvPr id="17" name="Group 16">
            <a:extLst>
              <a:ext uri="{FF2B5EF4-FFF2-40B4-BE49-F238E27FC236}">
                <a16:creationId xmlns:a16="http://schemas.microsoft.com/office/drawing/2014/main" id="{771AF26E-0C0B-C976-92E2-53144778CCB4}"/>
              </a:ext>
            </a:extLst>
          </p:cNvPr>
          <p:cNvGrpSpPr/>
          <p:nvPr/>
        </p:nvGrpSpPr>
        <p:grpSpPr>
          <a:xfrm>
            <a:off x="940249" y="292028"/>
            <a:ext cx="5600951" cy="311932"/>
            <a:chOff x="940249" y="302538"/>
            <a:chExt cx="5600951" cy="311932"/>
          </a:xfrm>
        </p:grpSpPr>
        <p:sp>
          <p:nvSpPr>
            <p:cNvPr id="18" name="TextBox 17">
              <a:extLst>
                <a:ext uri="{FF2B5EF4-FFF2-40B4-BE49-F238E27FC236}">
                  <a16:creationId xmlns:a16="http://schemas.microsoft.com/office/drawing/2014/main" id="{28737F3D-DDE9-39F1-E55C-55CD2BD6A8B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19" name="AutoShape 9">
              <a:extLst>
                <a:ext uri="{FF2B5EF4-FFF2-40B4-BE49-F238E27FC236}">
                  <a16:creationId xmlns:a16="http://schemas.microsoft.com/office/drawing/2014/main" id="{1F78304E-F559-E37A-E580-E8CB0B2978D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79F97009-F888-8298-F481-B4BA4FF4CF93}"/>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29DA33-CE1E-DB25-1A5A-85563FE5CAE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 Box 3">
            <a:extLst>
              <a:ext uri="{FF2B5EF4-FFF2-40B4-BE49-F238E27FC236}">
                <a16:creationId xmlns:a16="http://schemas.microsoft.com/office/drawing/2014/main" id="{88B9C2C7-A6C3-75BA-73C4-173C4B536537}"/>
              </a:ext>
            </a:extLst>
          </p:cNvPr>
          <p:cNvSpPr txBox="1">
            <a:spLocks noChangeArrowheads="1"/>
          </p:cNvSpPr>
          <p:nvPr/>
        </p:nvSpPr>
        <p:spPr bwMode="auto">
          <a:xfrm>
            <a:off x="838200" y="2116117"/>
            <a:ext cx="3852337"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Key Performance Indicator Board</a:t>
            </a:r>
          </a:p>
        </p:txBody>
      </p:sp>
      <p:sp>
        <p:nvSpPr>
          <p:cNvPr id="5" name="Arrow">
            <a:extLst>
              <a:ext uri="{FF2B5EF4-FFF2-40B4-BE49-F238E27FC236}">
                <a16:creationId xmlns:a16="http://schemas.microsoft.com/office/drawing/2014/main" id="{E79A0F02-316C-E969-9162-9CF832A68A21}"/>
              </a:ext>
            </a:extLst>
          </p:cNvPr>
          <p:cNvSpPr/>
          <p:nvPr/>
        </p:nvSpPr>
        <p:spPr>
          <a:xfrm>
            <a:off x="6077374" y="3322535"/>
            <a:ext cx="1330411" cy="1203836"/>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pic>
        <p:nvPicPr>
          <p:cNvPr id="7" name="Picture 6" descr="mvc-001l">
            <a:extLst>
              <a:ext uri="{FF2B5EF4-FFF2-40B4-BE49-F238E27FC236}">
                <a16:creationId xmlns:a16="http://schemas.microsoft.com/office/drawing/2014/main" id="{7E576F74-AACB-1F6F-2B6C-71D0FF67D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40249" y="2547800"/>
            <a:ext cx="4605337" cy="3452812"/>
          </a:xfrm>
          <a:prstGeom prst="rect">
            <a:avLst/>
          </a:prstGeom>
          <a:noFill/>
        </p:spPr>
      </p:pic>
    </p:spTree>
    <p:extLst>
      <p:ext uri="{BB962C8B-B14F-4D97-AF65-F5344CB8AC3E}">
        <p14:creationId xmlns:p14="http://schemas.microsoft.com/office/powerpoint/2010/main" val="1562634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8D0F4-1D1D-9E92-6DEE-CDA729FF001E}"/>
              </a:ext>
            </a:extLst>
          </p:cNvPr>
          <p:cNvSpPr>
            <a:spLocks noGrp="1"/>
          </p:cNvSpPr>
          <p:nvPr>
            <p:ph type="title"/>
          </p:nvPr>
        </p:nvSpPr>
        <p:spPr/>
        <p:txBody>
          <a:bodyPr/>
          <a:lstStyle/>
          <a:p>
            <a:r>
              <a:rPr lang="en-US" dirty="0"/>
              <a:t>Visual Management Tools</a:t>
            </a:r>
          </a:p>
        </p:txBody>
      </p:sp>
      <p:sp>
        <p:nvSpPr>
          <p:cNvPr id="3" name="Content Placeholder 2">
            <a:extLst>
              <a:ext uri="{FF2B5EF4-FFF2-40B4-BE49-F238E27FC236}">
                <a16:creationId xmlns:a16="http://schemas.microsoft.com/office/drawing/2014/main" id="{4F6BBF87-5AC3-6723-848C-D07B3AA704DB}"/>
              </a:ext>
            </a:extLst>
          </p:cNvPr>
          <p:cNvSpPr>
            <a:spLocks noGrp="1"/>
          </p:cNvSpPr>
          <p:nvPr>
            <p:ph idx="1"/>
          </p:nvPr>
        </p:nvSpPr>
        <p:spPr>
          <a:xfrm>
            <a:off x="7729468" y="2430049"/>
            <a:ext cx="3978828" cy="3533775"/>
          </a:xfrm>
        </p:spPr>
        <p:txBody>
          <a:bodyPr>
            <a:normAutofit/>
          </a:bodyPr>
          <a:lstStyle/>
          <a:p>
            <a:r>
              <a:rPr lang="en-US" sz="1800" dirty="0"/>
              <a:t>A board used to track the production performance on an hourly basis against customer needs</a:t>
            </a:r>
          </a:p>
          <a:p>
            <a:r>
              <a:rPr lang="en-US" sz="1800" dirty="0"/>
              <a:t>Used to identify issues and establish countermeasures in real time</a:t>
            </a:r>
          </a:p>
        </p:txBody>
      </p:sp>
      <p:sp>
        <p:nvSpPr>
          <p:cNvPr id="4" name="Slide Number Placeholder 3">
            <a:extLst>
              <a:ext uri="{FF2B5EF4-FFF2-40B4-BE49-F238E27FC236}">
                <a16:creationId xmlns:a16="http://schemas.microsoft.com/office/drawing/2014/main" id="{021D1316-2BAF-8590-2B22-814692D838A8}"/>
              </a:ext>
            </a:extLst>
          </p:cNvPr>
          <p:cNvSpPr>
            <a:spLocks noGrp="1"/>
          </p:cNvSpPr>
          <p:nvPr>
            <p:ph type="sldNum" sz="quarter" idx="4"/>
          </p:nvPr>
        </p:nvSpPr>
        <p:spPr/>
        <p:txBody>
          <a:bodyPr/>
          <a:lstStyle/>
          <a:p>
            <a:fld id="{CC6D4273-7FC1-0947-B9FE-19CB3C0D1FB6}" type="slidenum">
              <a:rPr lang="en-US" smtClean="0"/>
              <a:pPr/>
              <a:t>29</a:t>
            </a:fld>
            <a:endParaRPr lang="en-US"/>
          </a:p>
        </p:txBody>
      </p:sp>
      <p:grpSp>
        <p:nvGrpSpPr>
          <p:cNvPr id="17" name="Group 16">
            <a:extLst>
              <a:ext uri="{FF2B5EF4-FFF2-40B4-BE49-F238E27FC236}">
                <a16:creationId xmlns:a16="http://schemas.microsoft.com/office/drawing/2014/main" id="{771AF26E-0C0B-C976-92E2-53144778CCB4}"/>
              </a:ext>
            </a:extLst>
          </p:cNvPr>
          <p:cNvGrpSpPr/>
          <p:nvPr/>
        </p:nvGrpSpPr>
        <p:grpSpPr>
          <a:xfrm>
            <a:off x="940249" y="292028"/>
            <a:ext cx="5600951" cy="311932"/>
            <a:chOff x="940249" y="302538"/>
            <a:chExt cx="5600951" cy="311932"/>
          </a:xfrm>
        </p:grpSpPr>
        <p:sp>
          <p:nvSpPr>
            <p:cNvPr id="18" name="TextBox 17">
              <a:extLst>
                <a:ext uri="{FF2B5EF4-FFF2-40B4-BE49-F238E27FC236}">
                  <a16:creationId xmlns:a16="http://schemas.microsoft.com/office/drawing/2014/main" id="{28737F3D-DDE9-39F1-E55C-55CD2BD6A8B0}"/>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19" name="AutoShape 9">
              <a:extLst>
                <a:ext uri="{FF2B5EF4-FFF2-40B4-BE49-F238E27FC236}">
                  <a16:creationId xmlns:a16="http://schemas.microsoft.com/office/drawing/2014/main" id="{1F78304E-F559-E37A-E580-E8CB0B2978D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79F97009-F888-8298-F481-B4BA4FF4CF93}"/>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29DA33-CE1E-DB25-1A5A-85563FE5CAE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 Box 3">
            <a:extLst>
              <a:ext uri="{FF2B5EF4-FFF2-40B4-BE49-F238E27FC236}">
                <a16:creationId xmlns:a16="http://schemas.microsoft.com/office/drawing/2014/main" id="{88B9C2C7-A6C3-75BA-73C4-173C4B536537}"/>
              </a:ext>
            </a:extLst>
          </p:cNvPr>
          <p:cNvSpPr txBox="1">
            <a:spLocks noChangeArrowheads="1"/>
          </p:cNvSpPr>
          <p:nvPr/>
        </p:nvSpPr>
        <p:spPr bwMode="auto">
          <a:xfrm>
            <a:off x="922357" y="2116117"/>
            <a:ext cx="2337499" cy="315407"/>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cs typeface="Roboto" panose="02000000000000000000" pitchFamily="2" charset="0"/>
              </a:rPr>
              <a:t>Hourly Count Boards</a:t>
            </a:r>
          </a:p>
        </p:txBody>
      </p:sp>
      <p:sp>
        <p:nvSpPr>
          <p:cNvPr id="5" name="Arrow">
            <a:extLst>
              <a:ext uri="{FF2B5EF4-FFF2-40B4-BE49-F238E27FC236}">
                <a16:creationId xmlns:a16="http://schemas.microsoft.com/office/drawing/2014/main" id="{E79A0F02-316C-E969-9162-9CF832A68A21}"/>
              </a:ext>
            </a:extLst>
          </p:cNvPr>
          <p:cNvSpPr/>
          <p:nvPr/>
        </p:nvSpPr>
        <p:spPr>
          <a:xfrm>
            <a:off x="6077374" y="3322535"/>
            <a:ext cx="1330411" cy="1203836"/>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pic>
        <p:nvPicPr>
          <p:cNvPr id="6" name="Picture 6" descr="GEMS03">
            <a:extLst>
              <a:ext uri="{FF2B5EF4-FFF2-40B4-BE49-F238E27FC236}">
                <a16:creationId xmlns:a16="http://schemas.microsoft.com/office/drawing/2014/main" id="{05BD2992-AAE7-E3B1-0787-39C6D3DE0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40249" y="2616684"/>
            <a:ext cx="4611687" cy="3460750"/>
          </a:xfrm>
          <a:prstGeom prst="rect">
            <a:avLst/>
          </a:prstGeom>
          <a:noFill/>
        </p:spPr>
      </p:pic>
    </p:spTree>
    <p:extLst>
      <p:ext uri="{BB962C8B-B14F-4D97-AF65-F5344CB8AC3E}">
        <p14:creationId xmlns:p14="http://schemas.microsoft.com/office/powerpoint/2010/main" val="2533848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7027-2275-7E2B-87BA-42D39D292A8F}"/>
              </a:ext>
            </a:extLst>
          </p:cNvPr>
          <p:cNvSpPr>
            <a:spLocks noGrp="1"/>
          </p:cNvSpPr>
          <p:nvPr>
            <p:ph type="title"/>
          </p:nvPr>
        </p:nvSpPr>
        <p:spPr/>
        <p:txBody>
          <a:bodyPr/>
          <a:lstStyle/>
          <a:p>
            <a:r>
              <a:rPr lang="en-US" dirty="0"/>
              <a:t>Visual Management Examples</a:t>
            </a:r>
          </a:p>
        </p:txBody>
      </p:sp>
      <p:sp>
        <p:nvSpPr>
          <p:cNvPr id="3" name="Slide Number Placeholder 2">
            <a:extLst>
              <a:ext uri="{FF2B5EF4-FFF2-40B4-BE49-F238E27FC236}">
                <a16:creationId xmlns:a16="http://schemas.microsoft.com/office/drawing/2014/main" id="{092BEFA1-47AE-02E8-39FE-6615527A38BA}"/>
              </a:ext>
            </a:extLst>
          </p:cNvPr>
          <p:cNvSpPr>
            <a:spLocks noGrp="1"/>
          </p:cNvSpPr>
          <p:nvPr>
            <p:ph type="sldNum" sz="quarter" idx="4"/>
          </p:nvPr>
        </p:nvSpPr>
        <p:spPr/>
        <p:txBody>
          <a:bodyPr/>
          <a:lstStyle/>
          <a:p>
            <a:fld id="{CC6D4273-7FC1-0947-B9FE-19CB3C0D1FB6}" type="slidenum">
              <a:rPr lang="en-US" smtClean="0"/>
              <a:pPr/>
              <a:t>30</a:t>
            </a:fld>
            <a:endParaRPr lang="en-US"/>
          </a:p>
        </p:txBody>
      </p:sp>
      <p:grpSp>
        <p:nvGrpSpPr>
          <p:cNvPr id="4" name="Group 3">
            <a:extLst>
              <a:ext uri="{FF2B5EF4-FFF2-40B4-BE49-F238E27FC236}">
                <a16:creationId xmlns:a16="http://schemas.microsoft.com/office/drawing/2014/main" id="{DE57C809-410A-4283-3FEC-E95DF2658FBF}"/>
              </a:ext>
            </a:extLst>
          </p:cNvPr>
          <p:cNvGrpSpPr/>
          <p:nvPr/>
        </p:nvGrpSpPr>
        <p:grpSpPr>
          <a:xfrm>
            <a:off x="940249" y="292028"/>
            <a:ext cx="5600951" cy="311932"/>
            <a:chOff x="940249" y="302538"/>
            <a:chExt cx="5600951" cy="311932"/>
          </a:xfrm>
        </p:grpSpPr>
        <p:sp>
          <p:nvSpPr>
            <p:cNvPr id="5" name="TextBox 4">
              <a:extLst>
                <a:ext uri="{FF2B5EF4-FFF2-40B4-BE49-F238E27FC236}">
                  <a16:creationId xmlns:a16="http://schemas.microsoft.com/office/drawing/2014/main" id="{311641A7-EF0D-382D-A4CA-2307B10F3692}"/>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6" name="AutoShape 9">
              <a:extLst>
                <a:ext uri="{FF2B5EF4-FFF2-40B4-BE49-F238E27FC236}">
                  <a16:creationId xmlns:a16="http://schemas.microsoft.com/office/drawing/2014/main" id="{B66538F7-4F5F-E006-5C55-96776965A38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22D4423-7479-4624-C30D-841332098882}"/>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018D95C-D46B-FBFF-CA92-67999BAAA09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9" name="Picture 16">
            <a:extLst>
              <a:ext uri="{FF2B5EF4-FFF2-40B4-BE49-F238E27FC236}">
                <a16:creationId xmlns:a16="http://schemas.microsoft.com/office/drawing/2014/main" id="{989CE76A-6D05-6F99-61C0-F7E879E87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9386" y="2955015"/>
            <a:ext cx="3322637"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5">
            <a:extLst>
              <a:ext uri="{FF2B5EF4-FFF2-40B4-BE49-F238E27FC236}">
                <a16:creationId xmlns:a16="http://schemas.microsoft.com/office/drawing/2014/main" id="{56492CA2-F3DD-7582-B19F-A5B9D7747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998098"/>
            <a:ext cx="325913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a:extLst>
              <a:ext uri="{FF2B5EF4-FFF2-40B4-BE49-F238E27FC236}">
                <a16:creationId xmlns:a16="http://schemas.microsoft.com/office/drawing/2014/main" id="{7F9CA61C-BE1F-FB44-9800-189B3038C8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8295" y="3738563"/>
            <a:ext cx="3251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0541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7027-2275-7E2B-87BA-42D39D292A8F}"/>
              </a:ext>
            </a:extLst>
          </p:cNvPr>
          <p:cNvSpPr>
            <a:spLocks noGrp="1"/>
          </p:cNvSpPr>
          <p:nvPr>
            <p:ph type="title"/>
          </p:nvPr>
        </p:nvSpPr>
        <p:spPr/>
        <p:txBody>
          <a:bodyPr/>
          <a:lstStyle/>
          <a:p>
            <a:r>
              <a:rPr lang="en-US" dirty="0"/>
              <a:t>Visual Management Examples</a:t>
            </a:r>
          </a:p>
        </p:txBody>
      </p:sp>
      <p:sp>
        <p:nvSpPr>
          <p:cNvPr id="3" name="Slide Number Placeholder 2">
            <a:extLst>
              <a:ext uri="{FF2B5EF4-FFF2-40B4-BE49-F238E27FC236}">
                <a16:creationId xmlns:a16="http://schemas.microsoft.com/office/drawing/2014/main" id="{092BEFA1-47AE-02E8-39FE-6615527A38BA}"/>
              </a:ext>
            </a:extLst>
          </p:cNvPr>
          <p:cNvSpPr>
            <a:spLocks noGrp="1"/>
          </p:cNvSpPr>
          <p:nvPr>
            <p:ph type="sldNum" sz="quarter" idx="4"/>
          </p:nvPr>
        </p:nvSpPr>
        <p:spPr/>
        <p:txBody>
          <a:bodyPr/>
          <a:lstStyle/>
          <a:p>
            <a:fld id="{CC6D4273-7FC1-0947-B9FE-19CB3C0D1FB6}" type="slidenum">
              <a:rPr lang="en-US" smtClean="0"/>
              <a:pPr/>
              <a:t>31</a:t>
            </a:fld>
            <a:endParaRPr lang="en-US"/>
          </a:p>
        </p:txBody>
      </p:sp>
      <p:grpSp>
        <p:nvGrpSpPr>
          <p:cNvPr id="4" name="Group 3">
            <a:extLst>
              <a:ext uri="{FF2B5EF4-FFF2-40B4-BE49-F238E27FC236}">
                <a16:creationId xmlns:a16="http://schemas.microsoft.com/office/drawing/2014/main" id="{DE57C809-410A-4283-3FEC-E95DF2658FBF}"/>
              </a:ext>
            </a:extLst>
          </p:cNvPr>
          <p:cNvGrpSpPr/>
          <p:nvPr/>
        </p:nvGrpSpPr>
        <p:grpSpPr>
          <a:xfrm>
            <a:off x="940249" y="292028"/>
            <a:ext cx="5600951" cy="311932"/>
            <a:chOff x="940249" y="302538"/>
            <a:chExt cx="5600951" cy="311932"/>
          </a:xfrm>
        </p:grpSpPr>
        <p:sp>
          <p:nvSpPr>
            <p:cNvPr id="5" name="TextBox 4">
              <a:extLst>
                <a:ext uri="{FF2B5EF4-FFF2-40B4-BE49-F238E27FC236}">
                  <a16:creationId xmlns:a16="http://schemas.microsoft.com/office/drawing/2014/main" id="{311641A7-EF0D-382D-A4CA-2307B10F3692}"/>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6" name="AutoShape 9">
              <a:extLst>
                <a:ext uri="{FF2B5EF4-FFF2-40B4-BE49-F238E27FC236}">
                  <a16:creationId xmlns:a16="http://schemas.microsoft.com/office/drawing/2014/main" id="{B66538F7-4F5F-E006-5C55-96776965A38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22D4423-7479-4624-C30D-841332098882}"/>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018D95C-D46B-FBFF-CA92-67999BAAA09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2" name="Picture 15">
            <a:extLst>
              <a:ext uri="{FF2B5EF4-FFF2-40B4-BE49-F238E27FC236}">
                <a16:creationId xmlns:a16="http://schemas.microsoft.com/office/drawing/2014/main" id="{370D88E0-2870-5EA1-6DEB-BEF9D15D8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49" y="2471928"/>
            <a:ext cx="373697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6">
            <a:extLst>
              <a:ext uri="{FF2B5EF4-FFF2-40B4-BE49-F238E27FC236}">
                <a16:creationId xmlns:a16="http://schemas.microsoft.com/office/drawing/2014/main" id="{10B71E29-08E1-EA7B-555D-9B76B2A79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3474" y="2521141"/>
            <a:ext cx="3673475"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20">
            <a:extLst>
              <a:ext uri="{FF2B5EF4-FFF2-40B4-BE49-F238E27FC236}">
                <a16:creationId xmlns:a16="http://schemas.microsoft.com/office/drawing/2014/main" id="{49F469D3-BCE6-BBCD-897A-59E123A48036}"/>
              </a:ext>
            </a:extLst>
          </p:cNvPr>
          <p:cNvSpPr>
            <a:spLocks noChangeArrowheads="1"/>
          </p:cNvSpPr>
          <p:nvPr/>
        </p:nvSpPr>
        <p:spPr bwMode="auto">
          <a:xfrm>
            <a:off x="5142362" y="2549716"/>
            <a:ext cx="3686175" cy="2700337"/>
          </a:xfrm>
          <a:prstGeom prst="wedgeRectCallout">
            <a:avLst>
              <a:gd name="adj1" fmla="val -86282"/>
              <a:gd name="adj2" fmla="val 10532"/>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Tree>
    <p:extLst>
      <p:ext uri="{BB962C8B-B14F-4D97-AF65-F5344CB8AC3E}">
        <p14:creationId xmlns:p14="http://schemas.microsoft.com/office/powerpoint/2010/main" val="1692099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7027-2275-7E2B-87BA-42D39D292A8F}"/>
              </a:ext>
            </a:extLst>
          </p:cNvPr>
          <p:cNvSpPr>
            <a:spLocks noGrp="1"/>
          </p:cNvSpPr>
          <p:nvPr>
            <p:ph type="title"/>
          </p:nvPr>
        </p:nvSpPr>
        <p:spPr/>
        <p:txBody>
          <a:bodyPr/>
          <a:lstStyle/>
          <a:p>
            <a:r>
              <a:rPr lang="en-US" dirty="0"/>
              <a:t>Visual Management Examples</a:t>
            </a:r>
          </a:p>
        </p:txBody>
      </p:sp>
      <p:sp>
        <p:nvSpPr>
          <p:cNvPr id="3" name="Slide Number Placeholder 2">
            <a:extLst>
              <a:ext uri="{FF2B5EF4-FFF2-40B4-BE49-F238E27FC236}">
                <a16:creationId xmlns:a16="http://schemas.microsoft.com/office/drawing/2014/main" id="{092BEFA1-47AE-02E8-39FE-6615527A38BA}"/>
              </a:ext>
            </a:extLst>
          </p:cNvPr>
          <p:cNvSpPr>
            <a:spLocks noGrp="1"/>
          </p:cNvSpPr>
          <p:nvPr>
            <p:ph type="sldNum" sz="quarter" idx="4"/>
          </p:nvPr>
        </p:nvSpPr>
        <p:spPr/>
        <p:txBody>
          <a:bodyPr/>
          <a:lstStyle/>
          <a:p>
            <a:fld id="{CC6D4273-7FC1-0947-B9FE-19CB3C0D1FB6}" type="slidenum">
              <a:rPr lang="en-US" smtClean="0"/>
              <a:pPr/>
              <a:t>32</a:t>
            </a:fld>
            <a:endParaRPr lang="en-US"/>
          </a:p>
        </p:txBody>
      </p:sp>
      <p:grpSp>
        <p:nvGrpSpPr>
          <p:cNvPr id="4" name="Group 3">
            <a:extLst>
              <a:ext uri="{FF2B5EF4-FFF2-40B4-BE49-F238E27FC236}">
                <a16:creationId xmlns:a16="http://schemas.microsoft.com/office/drawing/2014/main" id="{DE57C809-410A-4283-3FEC-E95DF2658FBF}"/>
              </a:ext>
            </a:extLst>
          </p:cNvPr>
          <p:cNvGrpSpPr/>
          <p:nvPr/>
        </p:nvGrpSpPr>
        <p:grpSpPr>
          <a:xfrm>
            <a:off x="940249" y="292028"/>
            <a:ext cx="5600951" cy="311932"/>
            <a:chOff x="940249" y="302538"/>
            <a:chExt cx="5600951" cy="311932"/>
          </a:xfrm>
        </p:grpSpPr>
        <p:sp>
          <p:nvSpPr>
            <p:cNvPr id="5" name="TextBox 4">
              <a:extLst>
                <a:ext uri="{FF2B5EF4-FFF2-40B4-BE49-F238E27FC236}">
                  <a16:creationId xmlns:a16="http://schemas.microsoft.com/office/drawing/2014/main" id="{311641A7-EF0D-382D-A4CA-2307B10F3692}"/>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6" name="AutoShape 9">
              <a:extLst>
                <a:ext uri="{FF2B5EF4-FFF2-40B4-BE49-F238E27FC236}">
                  <a16:creationId xmlns:a16="http://schemas.microsoft.com/office/drawing/2014/main" id="{B66538F7-4F5F-E006-5C55-96776965A38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22D4423-7479-4624-C30D-841332098882}"/>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018D95C-D46B-FBFF-CA92-67999BAAA09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9" name="Picture 19">
            <a:extLst>
              <a:ext uri="{FF2B5EF4-FFF2-40B4-BE49-F238E27FC236}">
                <a16:creationId xmlns:a16="http://schemas.microsoft.com/office/drawing/2014/main" id="{254A307A-A231-BDB6-331E-B7C4AB6C7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49" y="1846322"/>
            <a:ext cx="5849938"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7816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Autofit/>
          </a:bodyPr>
          <a:lstStyle/>
          <a:p>
            <a:r>
              <a:rPr lang="en-US" sz="3600" dirty="0"/>
              <a:t>Exercise: Using Visual Controls </a:t>
            </a:r>
            <a:br>
              <a:rPr lang="en-US" sz="3600" dirty="0"/>
            </a:br>
            <a:r>
              <a:rPr lang="en-US" sz="3600" dirty="0"/>
              <a:t>as Management Tools</a:t>
            </a:r>
          </a:p>
        </p:txBody>
      </p:sp>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Tx/>
              <a:buSzTx/>
              <a:buFontTx/>
              <a:buNone/>
            </a:pPr>
            <a:r>
              <a:rPr lang="en-US" altLang="en-US" sz="1800" dirty="0">
                <a:solidFill>
                  <a:schemeClr val="bg1"/>
                </a:solidFill>
              </a:rPr>
              <a:t>Identify and discuss the value of  visual management tools in action.</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33</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600" dirty="0">
                <a:solidFill>
                  <a:schemeClr val="bg1"/>
                </a:solidFill>
              </a:rPr>
              <a:t>Report answers back to</a:t>
            </a:r>
            <a:br>
              <a:rPr lang="en-US" altLang="en-US" sz="1600" dirty="0">
                <a:solidFill>
                  <a:schemeClr val="bg1"/>
                </a:solidFill>
              </a:rPr>
            </a:br>
            <a:r>
              <a:rPr lang="en-US" altLang="en-US" sz="1600" dirty="0">
                <a:solidFill>
                  <a:schemeClr val="bg1"/>
                </a:solidFill>
              </a:rPr>
              <a:t>class</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10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In pairs, view the picture on the following page and </a:t>
            </a:r>
            <a:br>
              <a:rPr lang="en-US" altLang="en-US" sz="1600" dirty="0">
                <a:solidFill>
                  <a:schemeClr val="bg1"/>
                </a:solidFill>
              </a:rPr>
            </a:br>
            <a:r>
              <a:rPr lang="en-US" altLang="en-US" sz="1600" dirty="0">
                <a:solidFill>
                  <a:schemeClr val="bg1"/>
                </a:solidFill>
              </a:rPr>
              <a:t>discuss the various forms of visual management</a:t>
            </a:r>
            <a:br>
              <a:rPr lang="en-US" altLang="en-US" sz="1600" dirty="0">
                <a:solidFill>
                  <a:schemeClr val="bg1"/>
                </a:solidFill>
              </a:rPr>
            </a:br>
            <a:r>
              <a:rPr lang="en-US" altLang="en-US" sz="1600" dirty="0">
                <a:solidFill>
                  <a:schemeClr val="bg1"/>
                </a:solidFill>
              </a:rPr>
              <a:t>and controls that you see as well as their value.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grpSp>
        <p:nvGrpSpPr>
          <p:cNvPr id="5" name="Group 4">
            <a:extLst>
              <a:ext uri="{FF2B5EF4-FFF2-40B4-BE49-F238E27FC236}">
                <a16:creationId xmlns:a16="http://schemas.microsoft.com/office/drawing/2014/main" id="{8BBFF650-8BCE-D604-75A3-6BBA223C85CA}"/>
              </a:ext>
            </a:extLst>
          </p:cNvPr>
          <p:cNvGrpSpPr/>
          <p:nvPr/>
        </p:nvGrpSpPr>
        <p:grpSpPr>
          <a:xfrm>
            <a:off x="940249" y="302538"/>
            <a:ext cx="5600951" cy="311932"/>
            <a:chOff x="940249" y="302538"/>
            <a:chExt cx="5600951" cy="311932"/>
          </a:xfrm>
        </p:grpSpPr>
        <p:sp>
          <p:nvSpPr>
            <p:cNvPr id="6" name="TextBox 5">
              <a:extLst>
                <a:ext uri="{FF2B5EF4-FFF2-40B4-BE49-F238E27FC236}">
                  <a16:creationId xmlns:a16="http://schemas.microsoft.com/office/drawing/2014/main" id="{BDDF2E3E-000E-BC95-61CF-54AC36B54F3F}"/>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Managing With Visual Controls</a:t>
              </a:r>
            </a:p>
          </p:txBody>
        </p:sp>
        <p:sp>
          <p:nvSpPr>
            <p:cNvPr id="7" name="AutoShape 9">
              <a:extLst>
                <a:ext uri="{FF2B5EF4-FFF2-40B4-BE49-F238E27FC236}">
                  <a16:creationId xmlns:a16="http://schemas.microsoft.com/office/drawing/2014/main" id="{CE4CCAFE-35DC-045D-8D7E-F55B89062C3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9D426D9-899C-6715-29CA-B2678A4661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FFF266-4AED-8E28-EC16-206A7966B22A}"/>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2837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7027-2275-7E2B-87BA-42D39D292A8F}"/>
              </a:ext>
            </a:extLst>
          </p:cNvPr>
          <p:cNvSpPr>
            <a:spLocks noGrp="1"/>
          </p:cNvSpPr>
          <p:nvPr>
            <p:ph type="title"/>
          </p:nvPr>
        </p:nvSpPr>
        <p:spPr/>
        <p:txBody>
          <a:bodyPr>
            <a:normAutofit fontScale="90000"/>
          </a:bodyPr>
          <a:lstStyle/>
          <a:p>
            <a:r>
              <a:rPr lang="en-US"/>
              <a:t>Comment on the value of the Visual Management used below</a:t>
            </a:r>
            <a:endParaRPr lang="en-US" dirty="0"/>
          </a:p>
        </p:txBody>
      </p:sp>
      <p:sp>
        <p:nvSpPr>
          <p:cNvPr id="3" name="Slide Number Placeholder 2">
            <a:extLst>
              <a:ext uri="{FF2B5EF4-FFF2-40B4-BE49-F238E27FC236}">
                <a16:creationId xmlns:a16="http://schemas.microsoft.com/office/drawing/2014/main" id="{092BEFA1-47AE-02E8-39FE-6615527A38BA}"/>
              </a:ext>
            </a:extLst>
          </p:cNvPr>
          <p:cNvSpPr>
            <a:spLocks noGrp="1"/>
          </p:cNvSpPr>
          <p:nvPr>
            <p:ph type="sldNum" sz="quarter" idx="4"/>
          </p:nvPr>
        </p:nvSpPr>
        <p:spPr/>
        <p:txBody>
          <a:bodyPr/>
          <a:lstStyle/>
          <a:p>
            <a:fld id="{CC6D4273-7FC1-0947-B9FE-19CB3C0D1FB6}" type="slidenum">
              <a:rPr lang="en-US" smtClean="0"/>
              <a:pPr/>
              <a:t>34</a:t>
            </a:fld>
            <a:endParaRPr lang="en-US"/>
          </a:p>
        </p:txBody>
      </p:sp>
      <p:grpSp>
        <p:nvGrpSpPr>
          <p:cNvPr id="4" name="Group 3">
            <a:extLst>
              <a:ext uri="{FF2B5EF4-FFF2-40B4-BE49-F238E27FC236}">
                <a16:creationId xmlns:a16="http://schemas.microsoft.com/office/drawing/2014/main" id="{DE57C809-410A-4283-3FEC-E95DF2658FBF}"/>
              </a:ext>
            </a:extLst>
          </p:cNvPr>
          <p:cNvGrpSpPr/>
          <p:nvPr/>
        </p:nvGrpSpPr>
        <p:grpSpPr>
          <a:xfrm>
            <a:off x="940249" y="292028"/>
            <a:ext cx="5600951" cy="311932"/>
            <a:chOff x="940249" y="302538"/>
            <a:chExt cx="5600951" cy="311932"/>
          </a:xfrm>
        </p:grpSpPr>
        <p:sp>
          <p:nvSpPr>
            <p:cNvPr id="5" name="TextBox 4">
              <a:extLst>
                <a:ext uri="{FF2B5EF4-FFF2-40B4-BE49-F238E27FC236}">
                  <a16:creationId xmlns:a16="http://schemas.microsoft.com/office/drawing/2014/main" id="{311641A7-EF0D-382D-A4CA-2307B10F3692}"/>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Principles of Good Visual Control</a:t>
              </a:r>
            </a:p>
          </p:txBody>
        </p:sp>
        <p:sp>
          <p:nvSpPr>
            <p:cNvPr id="6" name="AutoShape 9">
              <a:extLst>
                <a:ext uri="{FF2B5EF4-FFF2-40B4-BE49-F238E27FC236}">
                  <a16:creationId xmlns:a16="http://schemas.microsoft.com/office/drawing/2014/main" id="{B66538F7-4F5F-E006-5C55-96776965A38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22D4423-7479-4624-C30D-841332098882}"/>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3018D95C-D46B-FBFF-CA92-67999BAAA09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0" name="Picture 3" descr="Visual Management example">
            <a:extLst>
              <a:ext uri="{FF2B5EF4-FFF2-40B4-BE49-F238E27FC236}">
                <a16:creationId xmlns:a16="http://schemas.microsoft.com/office/drawing/2014/main" id="{D5F4A464-8165-1922-518C-1F4BBC389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771" b="2930"/>
          <a:stretch>
            <a:fillRect/>
          </a:stretch>
        </p:blipFill>
        <p:spPr>
          <a:xfrm>
            <a:off x="3462061" y="1846228"/>
            <a:ext cx="5267878" cy="4384864"/>
          </a:xfrm>
          <a:prstGeom prst="rect">
            <a:avLst/>
          </a:prstGeom>
          <a:noFill/>
        </p:spPr>
      </p:pic>
    </p:spTree>
    <p:extLst>
      <p:ext uri="{BB962C8B-B14F-4D97-AF65-F5344CB8AC3E}">
        <p14:creationId xmlns:p14="http://schemas.microsoft.com/office/powerpoint/2010/main" val="2804879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fontScale="90000"/>
          </a:bodyPr>
          <a:lstStyle/>
          <a:p>
            <a:r>
              <a:rPr lang="en-US" sz="4000" dirty="0">
                <a:latin typeface="Roboto Medium"/>
                <a:ea typeface="Roboto Medium"/>
                <a:cs typeface="Roboto Medium"/>
              </a:rPr>
              <a:t>Summary and Review of Visual Management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common pitfalls</a:t>
            </a:r>
          </a:p>
          <a:p>
            <a:r>
              <a:rPr lang="en-US" dirty="0"/>
              <a:t>Review key learnings</a:t>
            </a:r>
          </a:p>
          <a:p>
            <a:r>
              <a:rPr lang="en-US" dirty="0"/>
              <a:t>Complete personal action plan</a:t>
            </a:r>
          </a:p>
          <a:p>
            <a:r>
              <a:rPr lang="en-US" dirty="0"/>
              <a:t>Review summary of Visual Management</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Review &amp;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Summary</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Principles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Managing with</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Visual Controls</a:t>
              </a:r>
            </a:p>
          </p:txBody>
        </p:sp>
      </p:grpSp>
    </p:spTree>
    <p:extLst>
      <p:ext uri="{BB962C8B-B14F-4D97-AF65-F5344CB8AC3E}">
        <p14:creationId xmlns:p14="http://schemas.microsoft.com/office/powerpoint/2010/main" val="1619104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B617-FF21-411E-8EE7-308823AC0807}"/>
              </a:ext>
            </a:extLst>
          </p:cNvPr>
          <p:cNvSpPr>
            <a:spLocks noGrp="1"/>
          </p:cNvSpPr>
          <p:nvPr>
            <p:ph type="title"/>
          </p:nvPr>
        </p:nvSpPr>
        <p:spPr/>
        <p:txBody>
          <a:bodyPr/>
          <a:lstStyle/>
          <a:p>
            <a:r>
              <a:rPr lang="en-US" dirty="0"/>
              <a:t>Visual Management Pitfalls</a:t>
            </a:r>
          </a:p>
        </p:txBody>
      </p:sp>
      <p:sp>
        <p:nvSpPr>
          <p:cNvPr id="3" name="Content Placeholder 2">
            <a:extLst>
              <a:ext uri="{FF2B5EF4-FFF2-40B4-BE49-F238E27FC236}">
                <a16:creationId xmlns:a16="http://schemas.microsoft.com/office/drawing/2014/main" id="{2598ECD4-BBA9-7FF8-35BD-52EF61677BE2}"/>
              </a:ext>
            </a:extLst>
          </p:cNvPr>
          <p:cNvSpPr>
            <a:spLocks noGrp="1"/>
          </p:cNvSpPr>
          <p:nvPr>
            <p:ph idx="1"/>
          </p:nvPr>
        </p:nvSpPr>
        <p:spPr/>
        <p:txBody>
          <a:bodyPr>
            <a:normAutofit/>
          </a:bodyPr>
          <a:lstStyle/>
          <a:p>
            <a:pPr>
              <a:lnSpc>
                <a:spcPct val="150000"/>
              </a:lnSpc>
            </a:pPr>
            <a:r>
              <a:rPr lang="en-US" sz="2400" dirty="0"/>
              <a:t>Typical Visual Management pitfalls occur when Visual Management:</a:t>
            </a:r>
          </a:p>
          <a:p>
            <a:pPr lvl="1">
              <a:lnSpc>
                <a:spcPct val="150000"/>
              </a:lnSpc>
            </a:pPr>
            <a:r>
              <a:rPr lang="en-US" dirty="0"/>
              <a:t>Only consists of monthly management charts and graphs</a:t>
            </a:r>
          </a:p>
          <a:p>
            <a:pPr lvl="1">
              <a:lnSpc>
                <a:spcPct val="150000"/>
              </a:lnSpc>
            </a:pPr>
            <a:r>
              <a:rPr lang="en-US" dirty="0"/>
              <a:t>Utilizes computer-generated tools only</a:t>
            </a:r>
          </a:p>
          <a:p>
            <a:pPr lvl="1">
              <a:lnSpc>
                <a:spcPct val="150000"/>
              </a:lnSpc>
            </a:pPr>
            <a:r>
              <a:rPr lang="en-US" dirty="0"/>
              <a:t>Is backward-looking, historical </a:t>
            </a:r>
          </a:p>
          <a:p>
            <a:pPr lvl="1">
              <a:lnSpc>
                <a:spcPct val="150000"/>
              </a:lnSpc>
            </a:pPr>
            <a:r>
              <a:rPr lang="en-US" dirty="0"/>
              <a:t>ONLY consists of production status boards</a:t>
            </a:r>
          </a:p>
          <a:p>
            <a:pPr lvl="1">
              <a:lnSpc>
                <a:spcPct val="150000"/>
              </a:lnSpc>
            </a:pPr>
            <a:r>
              <a:rPr lang="en-US" dirty="0"/>
              <a:t>Is used for reporting and NOT action</a:t>
            </a:r>
          </a:p>
          <a:p>
            <a:pPr>
              <a:lnSpc>
                <a:spcPct val="150000"/>
              </a:lnSpc>
            </a:pPr>
            <a:endParaRPr lang="en-US" dirty="0"/>
          </a:p>
        </p:txBody>
      </p:sp>
      <p:sp>
        <p:nvSpPr>
          <p:cNvPr id="4" name="Slide Number Placeholder 3">
            <a:extLst>
              <a:ext uri="{FF2B5EF4-FFF2-40B4-BE49-F238E27FC236}">
                <a16:creationId xmlns:a16="http://schemas.microsoft.com/office/drawing/2014/main" id="{9707DABD-DECC-B79E-BBB3-97A4168DF77D}"/>
              </a:ext>
            </a:extLst>
          </p:cNvPr>
          <p:cNvSpPr>
            <a:spLocks noGrp="1"/>
          </p:cNvSpPr>
          <p:nvPr>
            <p:ph type="sldNum" sz="quarter" idx="4"/>
          </p:nvPr>
        </p:nvSpPr>
        <p:spPr/>
        <p:txBody>
          <a:bodyPr/>
          <a:lstStyle/>
          <a:p>
            <a:fld id="{CC6D4273-7FC1-0947-B9FE-19CB3C0D1FB6}" type="slidenum">
              <a:rPr lang="en-US" smtClean="0"/>
              <a:pPr/>
              <a:t>36</a:t>
            </a:fld>
            <a:endParaRPr lang="en-US"/>
          </a:p>
        </p:txBody>
      </p:sp>
      <p:grpSp>
        <p:nvGrpSpPr>
          <p:cNvPr id="10" name="Group 9">
            <a:extLst>
              <a:ext uri="{FF2B5EF4-FFF2-40B4-BE49-F238E27FC236}">
                <a16:creationId xmlns:a16="http://schemas.microsoft.com/office/drawing/2014/main" id="{9EDE5D8E-8B23-BBE1-786C-BD79ABC52AFD}"/>
              </a:ext>
            </a:extLst>
          </p:cNvPr>
          <p:cNvGrpSpPr/>
          <p:nvPr/>
        </p:nvGrpSpPr>
        <p:grpSpPr>
          <a:xfrm>
            <a:off x="940249" y="302538"/>
            <a:ext cx="5600951" cy="311932"/>
            <a:chOff x="940249" y="302538"/>
            <a:chExt cx="5600951" cy="311932"/>
          </a:xfrm>
        </p:grpSpPr>
        <p:sp>
          <p:nvSpPr>
            <p:cNvPr id="11" name="TextBox 10">
              <a:extLst>
                <a:ext uri="{FF2B5EF4-FFF2-40B4-BE49-F238E27FC236}">
                  <a16:creationId xmlns:a16="http://schemas.microsoft.com/office/drawing/2014/main" id="{B6B12B6C-6A0F-31F6-9FE8-1D8259DEF2A4}"/>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Review and Summary</a:t>
              </a:r>
            </a:p>
          </p:txBody>
        </p:sp>
        <p:sp>
          <p:nvSpPr>
            <p:cNvPr id="12" name="AutoShape 9">
              <a:extLst>
                <a:ext uri="{FF2B5EF4-FFF2-40B4-BE49-F238E27FC236}">
                  <a16:creationId xmlns:a16="http://schemas.microsoft.com/office/drawing/2014/main" id="{5CC80AC0-25EE-E5CC-41B9-CDAA38D9A105}"/>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0C4F9996-3253-9465-3932-04384CAFA228}"/>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E8DC62AC-3071-49FB-B475-11E3A6739A8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087456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B617-FF21-411E-8EE7-308823AC0807}"/>
              </a:ext>
            </a:extLst>
          </p:cNvPr>
          <p:cNvSpPr>
            <a:spLocks noGrp="1"/>
          </p:cNvSpPr>
          <p:nvPr>
            <p:ph type="title"/>
          </p:nvPr>
        </p:nvSpPr>
        <p:spPr/>
        <p:txBody>
          <a:bodyPr/>
          <a:lstStyle/>
          <a:p>
            <a:r>
              <a:rPr lang="en-US" dirty="0"/>
              <a:t>Review Exercise</a:t>
            </a:r>
          </a:p>
        </p:txBody>
      </p:sp>
      <p:sp>
        <p:nvSpPr>
          <p:cNvPr id="3" name="Content Placeholder 2">
            <a:extLst>
              <a:ext uri="{FF2B5EF4-FFF2-40B4-BE49-F238E27FC236}">
                <a16:creationId xmlns:a16="http://schemas.microsoft.com/office/drawing/2014/main" id="{2598ECD4-BBA9-7FF8-35BD-52EF61677BE2}"/>
              </a:ext>
            </a:extLst>
          </p:cNvPr>
          <p:cNvSpPr>
            <a:spLocks noGrp="1"/>
          </p:cNvSpPr>
          <p:nvPr>
            <p:ph idx="1"/>
          </p:nvPr>
        </p:nvSpPr>
        <p:spPr/>
        <p:txBody>
          <a:bodyPr>
            <a:normAutofit/>
          </a:bodyPr>
          <a:lstStyle/>
          <a:p>
            <a:pPr>
              <a:lnSpc>
                <a:spcPct val="150000"/>
              </a:lnSpc>
            </a:pPr>
            <a:r>
              <a:rPr lang="en-US" sz="2400" dirty="0"/>
              <a:t>2 Minute Review</a:t>
            </a:r>
          </a:p>
          <a:p>
            <a:pPr lvl="1">
              <a:lnSpc>
                <a:spcPct val="150000"/>
              </a:lnSpc>
            </a:pPr>
            <a:r>
              <a:rPr lang="en-US" sz="2000" dirty="0"/>
              <a:t>In pairs, or in small groups, spend 2 minutes discussing key learnings and take-aways from this event thus far</a:t>
            </a:r>
          </a:p>
          <a:p>
            <a:pPr lvl="1">
              <a:lnSpc>
                <a:spcPct val="150000"/>
              </a:lnSpc>
            </a:pPr>
            <a:r>
              <a:rPr lang="en-US" sz="2000" dirty="0"/>
              <a:t>One person from each group will share one learning that was discussed with the rest of the class</a:t>
            </a:r>
          </a:p>
          <a:p>
            <a:pPr>
              <a:lnSpc>
                <a:spcPct val="150000"/>
              </a:lnSpc>
            </a:pPr>
            <a:endParaRPr lang="en-US" sz="2400" dirty="0"/>
          </a:p>
        </p:txBody>
      </p:sp>
      <p:sp>
        <p:nvSpPr>
          <p:cNvPr id="4" name="Slide Number Placeholder 3">
            <a:extLst>
              <a:ext uri="{FF2B5EF4-FFF2-40B4-BE49-F238E27FC236}">
                <a16:creationId xmlns:a16="http://schemas.microsoft.com/office/drawing/2014/main" id="{9707DABD-DECC-B79E-BBB3-97A4168DF77D}"/>
              </a:ext>
            </a:extLst>
          </p:cNvPr>
          <p:cNvSpPr>
            <a:spLocks noGrp="1"/>
          </p:cNvSpPr>
          <p:nvPr>
            <p:ph type="sldNum" sz="quarter" idx="4"/>
          </p:nvPr>
        </p:nvSpPr>
        <p:spPr/>
        <p:txBody>
          <a:bodyPr/>
          <a:lstStyle/>
          <a:p>
            <a:fld id="{CC6D4273-7FC1-0947-B9FE-19CB3C0D1FB6}" type="slidenum">
              <a:rPr lang="en-US" smtClean="0"/>
              <a:pPr/>
              <a:t>37</a:t>
            </a:fld>
            <a:endParaRPr lang="en-US"/>
          </a:p>
        </p:txBody>
      </p:sp>
      <p:grpSp>
        <p:nvGrpSpPr>
          <p:cNvPr id="10" name="Group 9">
            <a:extLst>
              <a:ext uri="{FF2B5EF4-FFF2-40B4-BE49-F238E27FC236}">
                <a16:creationId xmlns:a16="http://schemas.microsoft.com/office/drawing/2014/main" id="{C79F8C55-4979-091A-A0EE-4BC131989463}"/>
              </a:ext>
            </a:extLst>
          </p:cNvPr>
          <p:cNvGrpSpPr/>
          <p:nvPr/>
        </p:nvGrpSpPr>
        <p:grpSpPr>
          <a:xfrm>
            <a:off x="940249" y="302538"/>
            <a:ext cx="5600951" cy="311932"/>
            <a:chOff x="940249" y="302538"/>
            <a:chExt cx="5600951" cy="311932"/>
          </a:xfrm>
        </p:grpSpPr>
        <p:sp>
          <p:nvSpPr>
            <p:cNvPr id="11" name="TextBox 10">
              <a:extLst>
                <a:ext uri="{FF2B5EF4-FFF2-40B4-BE49-F238E27FC236}">
                  <a16:creationId xmlns:a16="http://schemas.microsoft.com/office/drawing/2014/main" id="{C1DBEEA0-0C96-56F3-0E2B-580C5366CC4B}"/>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Review and Summary</a:t>
              </a:r>
            </a:p>
          </p:txBody>
        </p:sp>
        <p:sp>
          <p:nvSpPr>
            <p:cNvPr id="12" name="AutoShape 9">
              <a:extLst>
                <a:ext uri="{FF2B5EF4-FFF2-40B4-BE49-F238E27FC236}">
                  <a16:creationId xmlns:a16="http://schemas.microsoft.com/office/drawing/2014/main" id="{89ACF8D6-A9EE-F5EF-4919-0FDD9C6EC2D7}"/>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0C09D7BB-107D-C184-F3A7-F3A48B57E81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05A29C77-BC4F-7E8A-3868-E99CC1A12F0A}"/>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82772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366-27AB-4D7D-8882-6E133C6D82B2}"/>
              </a:ext>
            </a:extLst>
          </p:cNvPr>
          <p:cNvSpPr>
            <a:spLocks noGrp="1"/>
          </p:cNvSpPr>
          <p:nvPr>
            <p:ph type="title"/>
          </p:nvPr>
        </p:nvSpPr>
        <p:spPr/>
        <p:txBody>
          <a:bodyPr>
            <a:noAutofit/>
          </a:bodyPr>
          <a:lstStyle/>
          <a:p>
            <a:r>
              <a:rPr lang="en-US" sz="3600" dirty="0"/>
              <a:t>Exercise: Personal Action Plan</a:t>
            </a:r>
          </a:p>
        </p:txBody>
      </p:sp>
      <p:sp>
        <p:nvSpPr>
          <p:cNvPr id="3" name="Rectangle 3">
            <a:extLst>
              <a:ext uri="{FF2B5EF4-FFF2-40B4-BE49-F238E27FC236}">
                <a16:creationId xmlns:a16="http://schemas.microsoft.com/office/drawing/2014/main" id="{A976AC67-E0AA-7182-30AC-EFF8B556A197}"/>
              </a:ext>
            </a:extLst>
          </p:cNvPr>
          <p:cNvSpPr>
            <a:spLocks noChangeArrowheads="1"/>
          </p:cNvSpPr>
          <p:nvPr/>
        </p:nvSpPr>
        <p:spPr bwMode="auto">
          <a:xfrm>
            <a:off x="866775" y="2217738"/>
            <a:ext cx="8212138" cy="654049"/>
          </a:xfrm>
          <a:prstGeom prst="rect">
            <a:avLst/>
          </a:prstGeom>
          <a:solidFill>
            <a:srgbClr val="EE3228"/>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0000"/>
              </a:spcBef>
              <a:spcAft>
                <a:spcPct val="20000"/>
              </a:spcAft>
              <a:buClrTx/>
              <a:buSzTx/>
              <a:buFontTx/>
              <a:buNone/>
            </a:pPr>
            <a:r>
              <a:rPr lang="en-US" altLang="en-US" sz="1800" dirty="0">
                <a:solidFill>
                  <a:schemeClr val="bg1"/>
                </a:solidFill>
              </a:rPr>
              <a:t>Complete personal action plan that will apply learnings from this session.</a:t>
            </a:r>
          </a:p>
        </p:txBody>
      </p:sp>
      <p:sp>
        <p:nvSpPr>
          <p:cNvPr id="4" name="Text Box 4">
            <a:extLst>
              <a:ext uri="{FF2B5EF4-FFF2-40B4-BE49-F238E27FC236}">
                <a16:creationId xmlns:a16="http://schemas.microsoft.com/office/drawing/2014/main" id="{FD541A08-AAC9-3B54-FD85-1B96F95B9DFD}"/>
              </a:ext>
            </a:extLst>
          </p:cNvPr>
          <p:cNvSpPr txBox="1">
            <a:spLocks noChangeArrowheads="1"/>
          </p:cNvSpPr>
          <p:nvPr/>
        </p:nvSpPr>
        <p:spPr bwMode="auto">
          <a:xfrm>
            <a:off x="866775" y="1863725"/>
            <a:ext cx="1223413" cy="3139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t>Objective</a:t>
            </a:r>
          </a:p>
        </p:txBody>
      </p:sp>
      <p:sp>
        <p:nvSpPr>
          <p:cNvPr id="9" name="Slide Number Placeholder 2">
            <a:extLst>
              <a:ext uri="{FF2B5EF4-FFF2-40B4-BE49-F238E27FC236}">
                <a16:creationId xmlns:a16="http://schemas.microsoft.com/office/drawing/2014/main" id="{727E1B57-9891-4CFC-01C7-25BA9AFF5845}"/>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38</a:t>
            </a:fld>
            <a:endParaRPr lang="en-US"/>
          </a:p>
        </p:txBody>
      </p:sp>
      <p:sp>
        <p:nvSpPr>
          <p:cNvPr id="12" name="Rectangle 11">
            <a:extLst>
              <a:ext uri="{FF2B5EF4-FFF2-40B4-BE49-F238E27FC236}">
                <a16:creationId xmlns:a16="http://schemas.microsoft.com/office/drawing/2014/main" id="{4D8D0DD3-3989-5BDD-1149-DAE084B7525F}"/>
              </a:ext>
            </a:extLst>
          </p:cNvPr>
          <p:cNvSpPr>
            <a:spLocks noChangeArrowheads="1"/>
          </p:cNvSpPr>
          <p:nvPr/>
        </p:nvSpPr>
        <p:spPr bwMode="auto">
          <a:xfrm>
            <a:off x="6456362" y="4538661"/>
            <a:ext cx="2582863" cy="1638301"/>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600" dirty="0">
                <a:solidFill>
                  <a:schemeClr val="bg1"/>
                </a:solidFill>
              </a:rPr>
              <a:t>Report answers back to</a:t>
            </a:r>
            <a:br>
              <a:rPr lang="en-US" altLang="en-US" sz="1600" dirty="0">
                <a:solidFill>
                  <a:schemeClr val="bg1"/>
                </a:solidFill>
              </a:rPr>
            </a:br>
            <a:r>
              <a:rPr lang="en-US" altLang="en-US" sz="1600" dirty="0">
                <a:solidFill>
                  <a:schemeClr val="bg1"/>
                </a:solidFill>
              </a:rPr>
              <a:t>class</a:t>
            </a:r>
          </a:p>
        </p:txBody>
      </p:sp>
      <p:sp>
        <p:nvSpPr>
          <p:cNvPr id="13" name="Rectangle 12">
            <a:extLst>
              <a:ext uri="{FF2B5EF4-FFF2-40B4-BE49-F238E27FC236}">
                <a16:creationId xmlns:a16="http://schemas.microsoft.com/office/drawing/2014/main" id="{61289F0E-4196-981F-69FF-8984742A5414}"/>
              </a:ext>
            </a:extLst>
          </p:cNvPr>
          <p:cNvSpPr>
            <a:spLocks noChangeArrowheads="1"/>
          </p:cNvSpPr>
          <p:nvPr/>
        </p:nvSpPr>
        <p:spPr bwMode="auto">
          <a:xfrm>
            <a:off x="6456362" y="3386137"/>
            <a:ext cx="2568575" cy="474662"/>
          </a:xfrm>
          <a:prstGeom prst="rect">
            <a:avLst/>
          </a:prstGeom>
          <a:solidFill>
            <a:srgbClr val="EE3228"/>
          </a:solidFill>
          <a:ln w="19050" cap="rnd">
            <a:noFill/>
            <a:prstDash val="sysDot"/>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solidFill>
                  <a:schemeClr val="bg1"/>
                </a:solidFill>
              </a:rPr>
              <a:t>10 Minutes</a:t>
            </a:r>
          </a:p>
        </p:txBody>
      </p:sp>
      <p:sp>
        <p:nvSpPr>
          <p:cNvPr id="14" name="Rectangle 13">
            <a:extLst>
              <a:ext uri="{FF2B5EF4-FFF2-40B4-BE49-F238E27FC236}">
                <a16:creationId xmlns:a16="http://schemas.microsoft.com/office/drawing/2014/main" id="{637EADD9-BE80-C3D0-F8D5-98C2AC2FB451}"/>
              </a:ext>
            </a:extLst>
          </p:cNvPr>
          <p:cNvSpPr>
            <a:spLocks noChangeArrowheads="1"/>
          </p:cNvSpPr>
          <p:nvPr/>
        </p:nvSpPr>
        <p:spPr bwMode="auto">
          <a:xfrm>
            <a:off x="838200" y="3362324"/>
            <a:ext cx="5211762" cy="2863850"/>
          </a:xfrm>
          <a:prstGeom prst="rect">
            <a:avLst/>
          </a:prstGeom>
          <a:solidFill>
            <a:srgbClr val="7F7F7F"/>
          </a:solidFill>
          <a:ln w="19050" cap="rnd">
            <a:solidFill>
              <a:schemeClr val="tx1"/>
            </a:solidFill>
            <a:prstDash val="sysDot"/>
            <a:miter lim="800000"/>
            <a:headEnd/>
            <a:tailEnd/>
          </a:ln>
        </p:spPr>
        <p:txBody>
          <a:bodyPr wrap="none" anchor="ctr"/>
          <a:lstStyle>
            <a:lvl1pPr marL="457200" indent="-4572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a:spcBef>
                <a:spcPct val="20000"/>
              </a:spcBef>
              <a:spcAft>
                <a:spcPct val="20000"/>
              </a:spcAft>
              <a:buClrTx/>
              <a:buSzTx/>
              <a:buFontTx/>
              <a:buNone/>
            </a:pPr>
            <a:r>
              <a:rPr lang="en-US" altLang="en-US" sz="1600" dirty="0">
                <a:solidFill>
                  <a:schemeClr val="bg1"/>
                </a:solidFill>
              </a:rPr>
              <a:t>In pairs, view the picture on the following page and </a:t>
            </a:r>
            <a:br>
              <a:rPr lang="en-US" altLang="en-US" sz="1600" dirty="0">
                <a:solidFill>
                  <a:schemeClr val="bg1"/>
                </a:solidFill>
              </a:rPr>
            </a:br>
            <a:r>
              <a:rPr lang="en-US" altLang="en-US" sz="1600" dirty="0">
                <a:solidFill>
                  <a:schemeClr val="bg1"/>
                </a:solidFill>
              </a:rPr>
              <a:t>discuss the various forms of visual management</a:t>
            </a:r>
            <a:br>
              <a:rPr lang="en-US" altLang="en-US" sz="1600" dirty="0">
                <a:solidFill>
                  <a:schemeClr val="bg1"/>
                </a:solidFill>
              </a:rPr>
            </a:br>
            <a:r>
              <a:rPr lang="en-US" altLang="en-US" sz="1600" dirty="0">
                <a:solidFill>
                  <a:schemeClr val="bg1"/>
                </a:solidFill>
              </a:rPr>
              <a:t>and controls that you see as well as their value.  </a:t>
            </a:r>
          </a:p>
        </p:txBody>
      </p:sp>
      <p:sp>
        <p:nvSpPr>
          <p:cNvPr id="15" name="Text Box 16">
            <a:extLst>
              <a:ext uri="{FF2B5EF4-FFF2-40B4-BE49-F238E27FC236}">
                <a16:creationId xmlns:a16="http://schemas.microsoft.com/office/drawing/2014/main" id="{0F54E7B3-C925-0164-9ED9-2ACF279CBC9A}"/>
              </a:ext>
            </a:extLst>
          </p:cNvPr>
          <p:cNvSpPr txBox="1">
            <a:spLocks noChangeArrowheads="1"/>
          </p:cNvSpPr>
          <p:nvPr/>
        </p:nvSpPr>
        <p:spPr bwMode="auto">
          <a:xfrm>
            <a:off x="838200" y="3067049"/>
            <a:ext cx="1492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t>Instructions</a:t>
            </a:r>
          </a:p>
        </p:txBody>
      </p:sp>
      <p:sp>
        <p:nvSpPr>
          <p:cNvPr id="16" name="Text Box 17">
            <a:extLst>
              <a:ext uri="{FF2B5EF4-FFF2-40B4-BE49-F238E27FC236}">
                <a16:creationId xmlns:a16="http://schemas.microsoft.com/office/drawing/2014/main" id="{C4C5B1AE-B299-68BE-66A5-ABC485EC47BB}"/>
              </a:ext>
            </a:extLst>
          </p:cNvPr>
          <p:cNvSpPr txBox="1">
            <a:spLocks noChangeArrowheads="1"/>
          </p:cNvSpPr>
          <p:nvPr/>
        </p:nvSpPr>
        <p:spPr bwMode="auto">
          <a:xfrm>
            <a:off x="6423025" y="3087687"/>
            <a:ext cx="21018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Time to Complete</a:t>
            </a:r>
          </a:p>
        </p:txBody>
      </p:sp>
      <p:sp>
        <p:nvSpPr>
          <p:cNvPr id="17" name="Text Box 18">
            <a:extLst>
              <a:ext uri="{FF2B5EF4-FFF2-40B4-BE49-F238E27FC236}">
                <a16:creationId xmlns:a16="http://schemas.microsoft.com/office/drawing/2014/main" id="{67454CAA-E712-C4EA-3310-B9594596C48D}"/>
              </a:ext>
            </a:extLst>
          </p:cNvPr>
          <p:cNvSpPr txBox="1">
            <a:spLocks noChangeArrowheads="1"/>
          </p:cNvSpPr>
          <p:nvPr/>
        </p:nvSpPr>
        <p:spPr bwMode="auto">
          <a:xfrm>
            <a:off x="6459537" y="4256087"/>
            <a:ext cx="14033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a:t>Deliverable</a:t>
            </a:r>
          </a:p>
        </p:txBody>
      </p:sp>
      <p:grpSp>
        <p:nvGrpSpPr>
          <p:cNvPr id="5" name="Group 4">
            <a:extLst>
              <a:ext uri="{FF2B5EF4-FFF2-40B4-BE49-F238E27FC236}">
                <a16:creationId xmlns:a16="http://schemas.microsoft.com/office/drawing/2014/main" id="{8BBFF650-8BCE-D604-75A3-6BBA223C85CA}"/>
              </a:ext>
            </a:extLst>
          </p:cNvPr>
          <p:cNvGrpSpPr/>
          <p:nvPr/>
        </p:nvGrpSpPr>
        <p:grpSpPr>
          <a:xfrm>
            <a:off x="940249" y="302538"/>
            <a:ext cx="5600951" cy="311932"/>
            <a:chOff x="940249" y="302538"/>
            <a:chExt cx="5600951" cy="311932"/>
          </a:xfrm>
        </p:grpSpPr>
        <p:sp>
          <p:nvSpPr>
            <p:cNvPr id="6" name="TextBox 5">
              <a:extLst>
                <a:ext uri="{FF2B5EF4-FFF2-40B4-BE49-F238E27FC236}">
                  <a16:creationId xmlns:a16="http://schemas.microsoft.com/office/drawing/2014/main" id="{BDDF2E3E-000E-BC95-61CF-54AC36B54F3F}"/>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Review and Summary</a:t>
              </a:r>
            </a:p>
          </p:txBody>
        </p:sp>
        <p:sp>
          <p:nvSpPr>
            <p:cNvPr id="7" name="AutoShape 9">
              <a:extLst>
                <a:ext uri="{FF2B5EF4-FFF2-40B4-BE49-F238E27FC236}">
                  <a16:creationId xmlns:a16="http://schemas.microsoft.com/office/drawing/2014/main" id="{CE4CCAFE-35DC-045D-8D7E-F55B89062C32}"/>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9D426D9-899C-6715-29CA-B2678A4661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FFF266-4AED-8E28-EC16-206A7966B22A}"/>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724628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89587-042E-96EB-9A29-12AE2C20EB92}"/>
              </a:ext>
            </a:extLst>
          </p:cNvPr>
          <p:cNvSpPr>
            <a:spLocks noGrp="1"/>
          </p:cNvSpPr>
          <p:nvPr>
            <p:ph type="title"/>
          </p:nvPr>
        </p:nvSpPr>
        <p:spPr/>
        <p:txBody>
          <a:bodyPr/>
          <a:lstStyle/>
          <a:p>
            <a:r>
              <a:rPr lang="en-US" dirty="0"/>
              <a:t>Personal Action Plan</a:t>
            </a:r>
          </a:p>
        </p:txBody>
      </p:sp>
      <p:sp>
        <p:nvSpPr>
          <p:cNvPr id="3" name="Slide Number Placeholder 2">
            <a:extLst>
              <a:ext uri="{FF2B5EF4-FFF2-40B4-BE49-F238E27FC236}">
                <a16:creationId xmlns:a16="http://schemas.microsoft.com/office/drawing/2014/main" id="{6B566BF3-95F4-436D-1195-913ED7301FD7}"/>
              </a:ext>
            </a:extLst>
          </p:cNvPr>
          <p:cNvSpPr>
            <a:spLocks noGrp="1"/>
          </p:cNvSpPr>
          <p:nvPr>
            <p:ph type="sldNum" sz="quarter" idx="4"/>
          </p:nvPr>
        </p:nvSpPr>
        <p:spPr/>
        <p:txBody>
          <a:bodyPr/>
          <a:lstStyle/>
          <a:p>
            <a:fld id="{CC6D4273-7FC1-0947-B9FE-19CB3C0D1FB6}" type="slidenum">
              <a:rPr lang="en-US" smtClean="0"/>
              <a:pPr/>
              <a:t>39</a:t>
            </a:fld>
            <a:endParaRPr lang="en-US"/>
          </a:p>
        </p:txBody>
      </p:sp>
      <p:grpSp>
        <p:nvGrpSpPr>
          <p:cNvPr id="4" name="Group 3">
            <a:extLst>
              <a:ext uri="{FF2B5EF4-FFF2-40B4-BE49-F238E27FC236}">
                <a16:creationId xmlns:a16="http://schemas.microsoft.com/office/drawing/2014/main" id="{3CBDA7A4-7726-BB48-9A9A-F7D1E741C7EA}"/>
              </a:ext>
            </a:extLst>
          </p:cNvPr>
          <p:cNvGrpSpPr/>
          <p:nvPr/>
        </p:nvGrpSpPr>
        <p:grpSpPr>
          <a:xfrm>
            <a:off x="940249" y="302538"/>
            <a:ext cx="5600951" cy="311932"/>
            <a:chOff x="940249" y="302538"/>
            <a:chExt cx="5600951" cy="311932"/>
          </a:xfrm>
        </p:grpSpPr>
        <p:sp>
          <p:nvSpPr>
            <p:cNvPr id="5" name="TextBox 4">
              <a:extLst>
                <a:ext uri="{FF2B5EF4-FFF2-40B4-BE49-F238E27FC236}">
                  <a16:creationId xmlns:a16="http://schemas.microsoft.com/office/drawing/2014/main" id="{DE471D47-A692-F066-11E6-0E7F4762B6BC}"/>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Review and Summary</a:t>
              </a:r>
            </a:p>
          </p:txBody>
        </p:sp>
        <p:sp>
          <p:nvSpPr>
            <p:cNvPr id="6" name="AutoShape 9">
              <a:extLst>
                <a:ext uri="{FF2B5EF4-FFF2-40B4-BE49-F238E27FC236}">
                  <a16:creationId xmlns:a16="http://schemas.microsoft.com/office/drawing/2014/main" id="{0461C998-E092-B10D-EA94-E18083BE4253}"/>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1F10FCBA-34DB-BC07-2FA0-876BB4B09DB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083DCCEE-2883-A007-5033-CF76B5B0353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aphicFrame>
        <p:nvGraphicFramePr>
          <p:cNvPr id="24" name="Group 112">
            <a:extLst>
              <a:ext uri="{FF2B5EF4-FFF2-40B4-BE49-F238E27FC236}">
                <a16:creationId xmlns:a16="http://schemas.microsoft.com/office/drawing/2014/main" id="{5D4F814F-9DF5-EDE3-3C2F-C387F4CBBCF8}"/>
              </a:ext>
            </a:extLst>
          </p:cNvPr>
          <p:cNvGraphicFramePr>
            <a:graphicFrameLocks noGrp="1"/>
          </p:cNvGraphicFramePr>
          <p:nvPr>
            <p:extLst>
              <p:ext uri="{D42A27DB-BD31-4B8C-83A1-F6EECF244321}">
                <p14:modId xmlns:p14="http://schemas.microsoft.com/office/powerpoint/2010/main" val="137294003"/>
              </p:ext>
            </p:extLst>
          </p:nvPr>
        </p:nvGraphicFramePr>
        <p:xfrm>
          <a:off x="940249" y="1916232"/>
          <a:ext cx="9088334" cy="4260729"/>
        </p:xfrm>
        <a:graphic>
          <a:graphicData uri="http://schemas.openxmlformats.org/drawingml/2006/table">
            <a:tbl>
              <a:tblPr/>
              <a:tblGrid>
                <a:gridCol w="705702">
                  <a:extLst>
                    <a:ext uri="{9D8B030D-6E8A-4147-A177-3AD203B41FA5}">
                      <a16:colId xmlns:a16="http://schemas.microsoft.com/office/drawing/2014/main" val="20000"/>
                    </a:ext>
                  </a:extLst>
                </a:gridCol>
                <a:gridCol w="3812198">
                  <a:extLst>
                    <a:ext uri="{9D8B030D-6E8A-4147-A177-3AD203B41FA5}">
                      <a16:colId xmlns:a16="http://schemas.microsoft.com/office/drawing/2014/main" val="20001"/>
                    </a:ext>
                  </a:extLst>
                </a:gridCol>
                <a:gridCol w="1583016">
                  <a:extLst>
                    <a:ext uri="{9D8B030D-6E8A-4147-A177-3AD203B41FA5}">
                      <a16:colId xmlns:a16="http://schemas.microsoft.com/office/drawing/2014/main" val="20002"/>
                    </a:ext>
                  </a:extLst>
                </a:gridCol>
                <a:gridCol w="1169751">
                  <a:extLst>
                    <a:ext uri="{9D8B030D-6E8A-4147-A177-3AD203B41FA5}">
                      <a16:colId xmlns:a16="http://schemas.microsoft.com/office/drawing/2014/main" val="20003"/>
                    </a:ext>
                  </a:extLst>
                </a:gridCol>
                <a:gridCol w="1817667">
                  <a:extLst>
                    <a:ext uri="{9D8B030D-6E8A-4147-A177-3AD203B41FA5}">
                      <a16:colId xmlns:a16="http://schemas.microsoft.com/office/drawing/2014/main" val="20004"/>
                    </a:ext>
                  </a:extLst>
                </a:gridCol>
              </a:tblGrid>
              <a:tr h="387339">
                <a:tc gridSpan="5">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6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Roboto" panose="02000000000000000000" pitchFamily="2" charset="0"/>
                        </a:rPr>
                        <a:t>PERSONAL VISUAL MANAGEMENT</a:t>
                      </a: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kumimoji="0" lang="en-US" sz="16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Roboto" panose="02000000000000000000" pitchFamily="2" charset="0"/>
                        </a:rPr>
                        <a:t>ACTION PLAN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322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200" b="1" i="0" u="none" strike="noStrike" cap="none" normalizeH="0" baseline="0">
                          <a:ln>
                            <a:noFill/>
                          </a:ln>
                          <a:solidFill>
                            <a:schemeClr val="tx1"/>
                          </a:solidFill>
                          <a:effectLst/>
                          <a:latin typeface="Arial" charset="0"/>
                        </a:rPr>
                        <a:t>Item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200" b="1" i="0" u="none" strike="noStrike" cap="none" normalizeH="0" baseline="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Action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200" b="1" i="0" u="none" strike="noStrike" cap="none" normalizeH="0" baseline="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Owner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200" b="1" i="0" u="none" strike="noStrike" cap="none" normalizeH="0" baseline="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By When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2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Status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7339">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403546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7B80-7BED-32F4-7BE3-217F0D8211AF}"/>
              </a:ext>
            </a:extLst>
          </p:cNvPr>
          <p:cNvSpPr>
            <a:spLocks noGrp="1"/>
          </p:cNvSpPr>
          <p:nvPr>
            <p:ph type="title"/>
          </p:nvPr>
        </p:nvSpPr>
        <p:spPr/>
        <p:txBody>
          <a:bodyPr/>
          <a:lstStyle/>
          <a:p>
            <a:r>
              <a:rPr lang="en-US" dirty="0"/>
              <a:t>Visual Management Summary</a:t>
            </a:r>
          </a:p>
        </p:txBody>
      </p:sp>
      <p:sp>
        <p:nvSpPr>
          <p:cNvPr id="3" name="Content Placeholder 2">
            <a:extLst>
              <a:ext uri="{FF2B5EF4-FFF2-40B4-BE49-F238E27FC236}">
                <a16:creationId xmlns:a16="http://schemas.microsoft.com/office/drawing/2014/main" id="{8DF92FE9-221B-40A2-B2C9-D943E3028A36}"/>
              </a:ext>
            </a:extLst>
          </p:cNvPr>
          <p:cNvSpPr>
            <a:spLocks noGrp="1"/>
          </p:cNvSpPr>
          <p:nvPr>
            <p:ph idx="1"/>
          </p:nvPr>
        </p:nvSpPr>
        <p:spPr/>
        <p:txBody>
          <a:bodyPr>
            <a:normAutofit/>
          </a:bodyPr>
          <a:lstStyle/>
          <a:p>
            <a:r>
              <a:rPr lang="en-US" sz="2400" dirty="0"/>
              <a:t>Provides real-time information and feedback regarding the status of the company</a:t>
            </a:r>
          </a:p>
          <a:p>
            <a:r>
              <a:rPr lang="en-US" sz="2400" dirty="0"/>
              <a:t>Communicates the shared vision of the business with the understanding of how each individual contributes towards that success</a:t>
            </a:r>
          </a:p>
          <a:p>
            <a:r>
              <a:rPr lang="en-US" sz="2400" dirty="0"/>
              <a:t>Provides a clear and common understanding of goals and metrics</a:t>
            </a:r>
          </a:p>
          <a:p>
            <a:r>
              <a:rPr lang="en-US" sz="2400" dirty="0"/>
              <a:t>Presents the same information to everyone</a:t>
            </a:r>
          </a:p>
          <a:p>
            <a:r>
              <a:rPr lang="en-US" sz="2400" dirty="0"/>
              <a:t>Maintains focus on the critical few metrics and what must be </a:t>
            </a:r>
            <a:br>
              <a:rPr lang="en-US" sz="2400" dirty="0"/>
            </a:br>
            <a:r>
              <a:rPr lang="en-US" sz="2400" dirty="0"/>
              <a:t>done to succeed</a:t>
            </a:r>
          </a:p>
          <a:p>
            <a:r>
              <a:rPr lang="en-US" sz="2400" dirty="0"/>
              <a:t>Is critical to establishing a lean infrastructure in your business</a:t>
            </a:r>
          </a:p>
        </p:txBody>
      </p:sp>
      <p:sp>
        <p:nvSpPr>
          <p:cNvPr id="4" name="Slide Number Placeholder 3">
            <a:extLst>
              <a:ext uri="{FF2B5EF4-FFF2-40B4-BE49-F238E27FC236}">
                <a16:creationId xmlns:a16="http://schemas.microsoft.com/office/drawing/2014/main" id="{E82376B8-9ACF-9201-BE93-E935C3F383B2}"/>
              </a:ext>
            </a:extLst>
          </p:cNvPr>
          <p:cNvSpPr>
            <a:spLocks noGrp="1"/>
          </p:cNvSpPr>
          <p:nvPr>
            <p:ph type="sldNum" sz="quarter" idx="4"/>
          </p:nvPr>
        </p:nvSpPr>
        <p:spPr/>
        <p:txBody>
          <a:bodyPr/>
          <a:lstStyle/>
          <a:p>
            <a:fld id="{CC6D4273-7FC1-0947-B9FE-19CB3C0D1FB6}" type="slidenum">
              <a:rPr lang="en-US" smtClean="0"/>
              <a:pPr/>
              <a:t>40</a:t>
            </a:fld>
            <a:endParaRPr lang="en-US"/>
          </a:p>
        </p:txBody>
      </p:sp>
      <p:grpSp>
        <p:nvGrpSpPr>
          <p:cNvPr id="5" name="Group 4">
            <a:extLst>
              <a:ext uri="{FF2B5EF4-FFF2-40B4-BE49-F238E27FC236}">
                <a16:creationId xmlns:a16="http://schemas.microsoft.com/office/drawing/2014/main" id="{621A3D88-7A8A-436B-5605-319D30E41B1B}"/>
              </a:ext>
            </a:extLst>
          </p:cNvPr>
          <p:cNvGrpSpPr/>
          <p:nvPr/>
        </p:nvGrpSpPr>
        <p:grpSpPr>
          <a:xfrm>
            <a:off x="940249" y="302538"/>
            <a:ext cx="5600951" cy="311932"/>
            <a:chOff x="940249" y="302538"/>
            <a:chExt cx="5600951" cy="311932"/>
          </a:xfrm>
        </p:grpSpPr>
        <p:sp>
          <p:nvSpPr>
            <p:cNvPr id="6" name="TextBox 5">
              <a:extLst>
                <a:ext uri="{FF2B5EF4-FFF2-40B4-BE49-F238E27FC236}">
                  <a16:creationId xmlns:a16="http://schemas.microsoft.com/office/drawing/2014/main" id="{77141321-95D8-D4F6-1AF1-2998D5B920FC}"/>
                </a:ext>
              </a:extLst>
            </p:cNvPr>
            <p:cNvSpPr txBox="1"/>
            <p:nvPr/>
          </p:nvSpPr>
          <p:spPr>
            <a:xfrm>
              <a:off x="2090188"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Review and Summary</a:t>
              </a:r>
            </a:p>
          </p:txBody>
        </p:sp>
        <p:sp>
          <p:nvSpPr>
            <p:cNvPr id="7" name="AutoShape 9">
              <a:extLst>
                <a:ext uri="{FF2B5EF4-FFF2-40B4-BE49-F238E27FC236}">
                  <a16:creationId xmlns:a16="http://schemas.microsoft.com/office/drawing/2014/main" id="{F6A8312E-256D-5AD7-43CD-653D8C6BE681}"/>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0A4995B-15CB-9DC7-6878-973A8CB56995}"/>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6D02547D-C1D8-C44B-01B9-8D76999644F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064597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rgbClr val="222222"/>
                </a:solidFill>
                <a:latin typeface="Roboto Medium" panose="02000000000000000000" pitchFamily="2" charset="0"/>
                <a:ea typeface="Roboto Medium" panose="02000000000000000000" pitchFamily="2" charset="0"/>
                <a:cs typeface="Roboto Medium" panose="02000000000000000000" pitchFamily="2" charset="0"/>
              </a:rPr>
              <a:t>Other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solidFill>
                  <a:srgbClr val="222222"/>
                </a:solidFill>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5" name="Content Placeholder 3">
            <a:extLst>
              <a:ext uri="{FF2B5EF4-FFF2-40B4-BE49-F238E27FC236}">
                <a16:creationId xmlns:a16="http://schemas.microsoft.com/office/drawing/2014/main" id="{6D5862E1-6CCB-F525-B192-15CBF9758DFB}"/>
              </a:ext>
            </a:extLst>
          </p:cNvPr>
          <p:cNvSpPr txBox="1">
            <a:spLocks/>
          </p:cNvSpPr>
          <p:nvPr/>
        </p:nvSpPr>
        <p:spPr>
          <a:xfrm>
            <a:off x="5964518" y="1166647"/>
            <a:ext cx="5157787" cy="5021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rgbClr val="222222"/>
                </a:solidFill>
              </a:rPr>
              <a:t>5S</a:t>
            </a:r>
          </a:p>
          <a:p>
            <a:pPr marL="0" indent="0" algn="r">
              <a:buNone/>
            </a:pPr>
            <a:r>
              <a:rPr lang="en-US" sz="1400" dirty="0">
                <a:solidFill>
                  <a:srgbClr val="222222"/>
                </a:solidFill>
              </a:rPr>
              <a:t>Standard Work</a:t>
            </a:r>
          </a:p>
          <a:p>
            <a:pPr marL="0" indent="0" algn="r">
              <a:buNone/>
            </a:pPr>
            <a:r>
              <a:rPr lang="en-US" sz="1400" dirty="0">
                <a:solidFill>
                  <a:srgbClr val="222222"/>
                </a:solidFill>
              </a:rPr>
              <a:t>Total Productive Maintenance (TPM)</a:t>
            </a:r>
          </a:p>
          <a:p>
            <a:pPr marL="0" indent="0" algn="r">
              <a:buNone/>
            </a:pPr>
            <a:r>
              <a:rPr lang="en-US" sz="1400" dirty="0">
                <a:solidFill>
                  <a:srgbClr val="222222"/>
                </a:solidFill>
              </a:rPr>
              <a:t>Cell Design/ Production Preparation Process (3P)</a:t>
            </a:r>
          </a:p>
          <a:p>
            <a:pPr marL="0" indent="0" algn="r">
              <a:buNone/>
            </a:pPr>
            <a:r>
              <a:rPr lang="en-US" sz="1400" dirty="0">
                <a:solidFill>
                  <a:srgbClr val="222222"/>
                </a:solidFill>
              </a:rPr>
              <a:t>Intro to Lean</a:t>
            </a:r>
          </a:p>
          <a:p>
            <a:pPr marL="0" indent="0" algn="r">
              <a:buNone/>
            </a:pPr>
            <a:r>
              <a:rPr lang="en-US" sz="1400" dirty="0">
                <a:solidFill>
                  <a:srgbClr val="222222"/>
                </a:solidFill>
              </a:rPr>
              <a:t>Kaizen</a:t>
            </a:r>
          </a:p>
          <a:p>
            <a:pPr marL="0" indent="0" algn="r">
              <a:buNone/>
            </a:pPr>
            <a:r>
              <a:rPr lang="en-US" sz="1400" dirty="0">
                <a:solidFill>
                  <a:srgbClr val="222222"/>
                </a:solidFill>
              </a:rPr>
              <a:t>Kanban</a:t>
            </a:r>
          </a:p>
          <a:p>
            <a:pPr marL="0" indent="0" algn="r">
              <a:buNone/>
            </a:pPr>
            <a:r>
              <a:rPr lang="en-US" sz="1400" dirty="0">
                <a:solidFill>
                  <a:srgbClr val="222222"/>
                </a:solidFill>
              </a:rPr>
              <a:t>Problem Solving</a:t>
            </a:r>
          </a:p>
          <a:p>
            <a:pPr marL="0" indent="0" algn="r">
              <a:buNone/>
            </a:pPr>
            <a:r>
              <a:rPr lang="en-US" sz="1400" dirty="0" err="1">
                <a:solidFill>
                  <a:srgbClr val="222222"/>
                </a:solidFill>
              </a:rPr>
              <a:t>Poka</a:t>
            </a:r>
            <a:r>
              <a:rPr lang="en-US" sz="1400" dirty="0">
                <a:solidFill>
                  <a:srgbClr val="222222"/>
                </a:solidFill>
              </a:rPr>
              <a:t> Yoke Quality Systems</a:t>
            </a:r>
          </a:p>
          <a:p>
            <a:pPr marL="0" indent="0" algn="r">
              <a:buNone/>
            </a:pPr>
            <a:r>
              <a:rPr lang="en-US" sz="1400" dirty="0">
                <a:solidFill>
                  <a:srgbClr val="222222"/>
                </a:solidFill>
              </a:rPr>
              <a:t>Process Mapping</a:t>
            </a:r>
          </a:p>
          <a:p>
            <a:pPr marL="0" indent="0" algn="r">
              <a:buNone/>
            </a:pPr>
            <a:r>
              <a:rPr lang="en-US" sz="1400" dirty="0">
                <a:solidFill>
                  <a:srgbClr val="222222"/>
                </a:solidFill>
              </a:rPr>
              <a:t>Single Minute Exchange of Dies (SMED)</a:t>
            </a:r>
          </a:p>
          <a:p>
            <a:pPr marL="0" indent="0" algn="r">
              <a:buNone/>
            </a:pPr>
            <a:r>
              <a:rPr lang="en-US" sz="1400" dirty="0">
                <a:solidFill>
                  <a:srgbClr val="222222"/>
                </a:solidFill>
              </a:rPr>
              <a:t>Transaction Process Improvement (TPI)</a:t>
            </a:r>
          </a:p>
          <a:p>
            <a:pPr marL="0" indent="0" algn="r">
              <a:buNone/>
            </a:pPr>
            <a:r>
              <a:rPr lang="en-US" sz="1400" dirty="0">
                <a:solidFill>
                  <a:srgbClr val="222222"/>
                </a:solidFill>
              </a:rPr>
              <a:t>Value Stream Mapping (VSM/</a:t>
            </a:r>
            <a:r>
              <a:rPr lang="en-US" sz="1400" dirty="0" err="1">
                <a:solidFill>
                  <a:srgbClr val="222222"/>
                </a:solidFill>
              </a:rPr>
              <a:t>VSMi</a:t>
            </a:r>
            <a:r>
              <a:rPr lang="en-US" sz="1400" dirty="0">
                <a:solidFill>
                  <a:srgbClr val="222222"/>
                </a:solidFill>
              </a:rPr>
              <a:t>)</a:t>
            </a:r>
          </a:p>
          <a:p>
            <a:pPr marL="0" indent="0" algn="r">
              <a:buNone/>
            </a:pPr>
            <a:r>
              <a:rPr lang="en-US" sz="1400" dirty="0">
                <a:solidFill>
                  <a:srgbClr val="222222"/>
                </a:solidFill>
              </a:rPr>
              <a:t>Visual Management</a:t>
            </a:r>
          </a:p>
        </p:txBody>
      </p:sp>
      <p:sp>
        <p:nvSpPr>
          <p:cNvPr id="4" name="Slide Number Placeholder 16">
            <a:extLst>
              <a:ext uri="{FF2B5EF4-FFF2-40B4-BE49-F238E27FC236}">
                <a16:creationId xmlns:a16="http://schemas.microsoft.com/office/drawing/2014/main" id="{E00373DC-78CB-3D04-3192-20C355FFEA4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41</a:t>
            </a:fld>
            <a:endParaRPr lang="en-US" sz="1000" dirty="0"/>
          </a:p>
        </p:txBody>
      </p:sp>
      <p:pic>
        <p:nvPicPr>
          <p:cNvPr id="6" name="Picture 5">
            <a:extLst>
              <a:ext uri="{FF2B5EF4-FFF2-40B4-BE49-F238E27FC236}">
                <a16:creationId xmlns:a16="http://schemas.microsoft.com/office/drawing/2014/main" id="{87A04EA8-9038-B4A7-1140-66E5C8E9E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Tree>
    <p:extLst>
      <p:ext uri="{BB962C8B-B14F-4D97-AF65-F5344CB8AC3E}">
        <p14:creationId xmlns:p14="http://schemas.microsoft.com/office/powerpoint/2010/main" val="2450048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312FEF-4D56-6F8B-8F46-7C8F9C05CECD}"/>
              </a:ext>
            </a:extLst>
          </p:cNvPr>
          <p:cNvSpPr>
            <a:spLocks noGrp="1"/>
          </p:cNvSpPr>
          <p:nvPr>
            <p:ph type="title"/>
          </p:nvPr>
        </p:nvSpPr>
        <p:spPr/>
        <p:txBody>
          <a:bodyPr/>
          <a:lstStyle/>
          <a:p>
            <a:r>
              <a:rPr lang="en-US" dirty="0"/>
              <a:t>File Revision Log</a:t>
            </a:r>
          </a:p>
        </p:txBody>
      </p:sp>
      <p:sp>
        <p:nvSpPr>
          <p:cNvPr id="2" name="Slide Number Placeholder 1">
            <a:extLst>
              <a:ext uri="{FF2B5EF4-FFF2-40B4-BE49-F238E27FC236}">
                <a16:creationId xmlns:a16="http://schemas.microsoft.com/office/drawing/2014/main" id="{4990377E-1575-3C72-5DDF-065AB7817047}"/>
              </a:ext>
            </a:extLst>
          </p:cNvPr>
          <p:cNvSpPr>
            <a:spLocks noGrp="1"/>
          </p:cNvSpPr>
          <p:nvPr>
            <p:ph type="sldNum" sz="quarter" idx="4"/>
          </p:nvPr>
        </p:nvSpPr>
        <p:spPr/>
        <p:txBody>
          <a:bodyPr/>
          <a:lstStyle/>
          <a:p>
            <a:fld id="{CC6D4273-7FC1-0947-B9FE-19CB3C0D1FB6}" type="slidenum">
              <a:rPr lang="en-US" smtClean="0"/>
              <a:pPr/>
              <a:t>42</a:t>
            </a:fld>
            <a:endParaRPr lang="en-US" dirty="0"/>
          </a:p>
        </p:txBody>
      </p:sp>
      <p:graphicFrame>
        <p:nvGraphicFramePr>
          <p:cNvPr id="4" name="Group 43">
            <a:extLst>
              <a:ext uri="{FF2B5EF4-FFF2-40B4-BE49-F238E27FC236}">
                <a16:creationId xmlns:a16="http://schemas.microsoft.com/office/drawing/2014/main" id="{A3DFD7EB-2E9D-3A8B-9B93-D513BF1605B2}"/>
              </a:ext>
            </a:extLst>
          </p:cNvPr>
          <p:cNvGraphicFramePr>
            <a:graphicFrameLocks noGrp="1"/>
          </p:cNvGraphicFramePr>
          <p:nvPr>
            <p:extLst>
              <p:ext uri="{D42A27DB-BD31-4B8C-83A1-F6EECF244321}">
                <p14:modId xmlns:p14="http://schemas.microsoft.com/office/powerpoint/2010/main" val="1221885706"/>
              </p:ext>
            </p:extLst>
          </p:nvPr>
        </p:nvGraphicFramePr>
        <p:xfrm>
          <a:off x="853722" y="1877939"/>
          <a:ext cx="9592304" cy="4322251"/>
        </p:xfrm>
        <a:graphic>
          <a:graphicData uri="http://schemas.openxmlformats.org/drawingml/2006/table">
            <a:tbl>
              <a:tblPr/>
              <a:tblGrid>
                <a:gridCol w="1141114">
                  <a:extLst>
                    <a:ext uri="{9D8B030D-6E8A-4147-A177-3AD203B41FA5}">
                      <a16:colId xmlns:a16="http://schemas.microsoft.com/office/drawing/2014/main" val="20000"/>
                    </a:ext>
                  </a:extLst>
                </a:gridCol>
                <a:gridCol w="3837738">
                  <a:extLst>
                    <a:ext uri="{9D8B030D-6E8A-4147-A177-3AD203B41FA5}">
                      <a16:colId xmlns:a16="http://schemas.microsoft.com/office/drawing/2014/main" val="20001"/>
                    </a:ext>
                  </a:extLst>
                </a:gridCol>
                <a:gridCol w="2214866">
                  <a:extLst>
                    <a:ext uri="{9D8B030D-6E8A-4147-A177-3AD203B41FA5}">
                      <a16:colId xmlns:a16="http://schemas.microsoft.com/office/drawing/2014/main" val="20002"/>
                    </a:ext>
                  </a:extLst>
                </a:gridCol>
                <a:gridCol w="2398586">
                  <a:extLst>
                    <a:ext uri="{9D8B030D-6E8A-4147-A177-3AD203B41FA5}">
                      <a16:colId xmlns:a16="http://schemas.microsoft.com/office/drawing/2014/main" val="20003"/>
                    </a:ext>
                  </a:extLst>
                </a:gridCol>
              </a:tblGrid>
              <a:tr h="5855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ea typeface="ＭＳ Ｐゴシック" charset="0"/>
                        </a:rPr>
                        <a:t>Rev.</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ea typeface="ＭＳ Ｐゴシック" charset="0"/>
                        </a:rPr>
                        <a:t>Description of Change</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Arial" charset="0"/>
                          <a:ea typeface="ＭＳ Ｐゴシック" charset="0"/>
                        </a:rPr>
                        <a:t>Date mm/dd/</a:t>
                      </a:r>
                      <a:r>
                        <a:rPr kumimoji="0" lang="en-US" sz="1800" b="1" i="0" u="none" strike="noStrike" cap="none" normalizeH="0" baseline="0" dirty="0" err="1">
                          <a:ln>
                            <a:noFill/>
                          </a:ln>
                          <a:solidFill>
                            <a:srgbClr val="FFFFFF"/>
                          </a:solidFill>
                          <a:effectLst/>
                          <a:latin typeface="Arial" charset="0"/>
                          <a:ea typeface="ＭＳ Ｐゴシック" charset="0"/>
                        </a:rPr>
                        <a:t>yy</a:t>
                      </a:r>
                      <a:endParaRPr kumimoji="0" lang="en-US" sz="1800" b="1" i="0" u="none" strike="noStrike" cap="none" normalizeH="0" baseline="0" dirty="0">
                        <a:ln>
                          <a:noFill/>
                        </a:ln>
                        <a:solidFill>
                          <a:srgbClr val="FFFFFF"/>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Arial" charset="0"/>
                          <a:ea typeface="ＭＳ Ｐゴシック" charset="0"/>
                        </a:rPr>
                        <a:t>Revised by Initials</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42025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2.3</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Sl. 30-32: Added new slides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Sl. 37: Typographical correction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Sl. 42: File Rev Log added</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10/22/08</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ＭＳ Ｐゴシック" charset="0"/>
                        </a:rPr>
                        <a:t>SJD</a:t>
                      </a: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extLst>
                  <a:ext uri="{0D108BD9-81ED-4DB2-BD59-A6C34878D82A}">
                    <a16:rowId xmlns:a16="http://schemas.microsoft.com/office/drawing/2014/main" val="10001"/>
                  </a:ext>
                </a:extLst>
              </a:tr>
              <a:tr h="52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extLst>
                  <a:ext uri="{0D108BD9-81ED-4DB2-BD59-A6C34878D82A}">
                    <a16:rowId xmlns:a16="http://schemas.microsoft.com/office/drawing/2014/main" val="10002"/>
                  </a:ext>
                </a:extLst>
              </a:tr>
              <a:tr h="52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extLst>
                  <a:ext uri="{0D108BD9-81ED-4DB2-BD59-A6C34878D82A}">
                    <a16:rowId xmlns:a16="http://schemas.microsoft.com/office/drawing/2014/main" val="10003"/>
                  </a:ext>
                </a:extLst>
              </a:tr>
              <a:tr h="52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EF"/>
                    </a:solidFill>
                  </a:tcPr>
                </a:tc>
                <a:extLst>
                  <a:ext uri="{0D108BD9-81ED-4DB2-BD59-A6C34878D82A}">
                    <a16:rowId xmlns:a16="http://schemas.microsoft.com/office/drawing/2014/main" val="10004"/>
                  </a:ext>
                </a:extLst>
              </a:tr>
              <a:tr h="52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rgbClr val="000000"/>
                        </a:solidFill>
                        <a:effectLst/>
                        <a:latin typeface="Arial" charset="0"/>
                        <a:ea typeface="ＭＳ Ｐゴシック" charset="0"/>
                      </a:endParaRPr>
                    </a:p>
                  </a:txBody>
                  <a:tcPr marT="45710" marB="4571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3DE"/>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674400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18096</TotalTime>
  <Words>4287</Words>
  <Application>Microsoft Office PowerPoint</Application>
  <PresentationFormat>Widescreen</PresentationFormat>
  <Paragraphs>548</Paragraphs>
  <Slides>42</Slides>
  <Notes>42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 Black</vt:lpstr>
      <vt:lpstr>Calibri</vt:lpstr>
      <vt:lpstr>Roboto</vt:lpstr>
      <vt:lpstr>Roboto Medium</vt:lpstr>
      <vt:lpstr>Wingdings</vt:lpstr>
      <vt:lpstr>Office Theme</vt:lpstr>
      <vt:lpstr>PowerPoint Presentation</vt:lpstr>
      <vt:lpstr>Other Modules In This Series</vt:lpstr>
      <vt:lpstr>PowerPoint Presentation</vt:lpstr>
      <vt:lpstr>Ground Rules for Event</vt:lpstr>
      <vt:lpstr>Visual Management</vt:lpstr>
      <vt:lpstr>Exercise: Define Visual Management</vt:lpstr>
      <vt:lpstr>Visual Management Defined</vt:lpstr>
      <vt:lpstr>Benefits of Visual Management</vt:lpstr>
      <vt:lpstr>Importance of Visual Management  to a Lean Enterprise</vt:lpstr>
      <vt:lpstr>Visual Controls Defined</vt:lpstr>
      <vt:lpstr>Visual Management in Our World</vt:lpstr>
      <vt:lpstr>Exercise: Visual Controls</vt:lpstr>
      <vt:lpstr>Managing with Visual Controls</vt:lpstr>
      <vt:lpstr>Exercise: Current Management Tools</vt:lpstr>
      <vt:lpstr>What is “Gemba”?</vt:lpstr>
      <vt:lpstr>Exercise: Gemba</vt:lpstr>
      <vt:lpstr>Visual Management = Improvement Cycle</vt:lpstr>
      <vt:lpstr>Visual Controls drive immediate action</vt:lpstr>
      <vt:lpstr>Exercise: Traditional Management Tools vs. Visual Management</vt:lpstr>
      <vt:lpstr>Chart for Exercise</vt:lpstr>
      <vt:lpstr>Using Visual Controls as Predictive Tools</vt:lpstr>
      <vt:lpstr>Principles of Good Visual Controls</vt:lpstr>
      <vt:lpstr>Principles of Good Visual Controls</vt:lpstr>
      <vt:lpstr>Visual Control Response</vt:lpstr>
      <vt:lpstr>Visual Management Tools</vt:lpstr>
      <vt:lpstr>Visual Management Tools</vt:lpstr>
      <vt:lpstr>Visual Management Tools</vt:lpstr>
      <vt:lpstr>Visual Management Tools</vt:lpstr>
      <vt:lpstr>Visual Management Tools</vt:lpstr>
      <vt:lpstr>Visual Management Examples</vt:lpstr>
      <vt:lpstr>Visual Management Examples</vt:lpstr>
      <vt:lpstr>Visual Management Examples</vt:lpstr>
      <vt:lpstr>Exercise: Using Visual Controls  as Management Tools</vt:lpstr>
      <vt:lpstr>Comment on the value of the Visual Management used below</vt:lpstr>
      <vt:lpstr>Summary and Review of Visual Management</vt:lpstr>
      <vt:lpstr>Visual Management Pitfalls</vt:lpstr>
      <vt:lpstr>Review Exercise</vt:lpstr>
      <vt:lpstr>Exercise: Personal Action Plan</vt:lpstr>
      <vt:lpstr>Personal Action Plan</vt:lpstr>
      <vt:lpstr>Visual Management Summary</vt:lpstr>
      <vt:lpstr>PowerPoint Presentation</vt:lpstr>
      <vt:lpstr>File Revision Log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396</cp:revision>
  <dcterms:created xsi:type="dcterms:W3CDTF">2023-02-08T22:10:20Z</dcterms:created>
  <dcterms:modified xsi:type="dcterms:W3CDTF">2023-09-29T22:07:15Z</dcterms:modified>
</cp:coreProperties>
</file>