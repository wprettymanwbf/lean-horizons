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6"/>
  </p:notesMasterIdLst>
  <p:sldIdLst>
    <p:sldId id="258" r:id="rId2"/>
    <p:sldId id="283" r:id="rId3"/>
    <p:sldId id="284" r:id="rId4"/>
    <p:sldId id="285" r:id="rId5"/>
    <p:sldId id="313" r:id="rId6"/>
    <p:sldId id="316" r:id="rId7"/>
    <p:sldId id="317" r:id="rId8"/>
    <p:sldId id="318" r:id="rId9"/>
    <p:sldId id="319" r:id="rId10"/>
    <p:sldId id="320" r:id="rId11"/>
    <p:sldId id="350" r:id="rId12"/>
    <p:sldId id="335" r:id="rId13"/>
    <p:sldId id="351" r:id="rId14"/>
    <p:sldId id="352" r:id="rId15"/>
    <p:sldId id="353" r:id="rId16"/>
    <p:sldId id="354" r:id="rId17"/>
    <p:sldId id="355" r:id="rId18"/>
    <p:sldId id="357" r:id="rId19"/>
    <p:sldId id="358" r:id="rId20"/>
    <p:sldId id="359" r:id="rId21"/>
    <p:sldId id="360" r:id="rId22"/>
    <p:sldId id="361" r:id="rId23"/>
    <p:sldId id="362" r:id="rId24"/>
    <p:sldId id="1430" r:id="rId25"/>
    <p:sldId id="1431" r:id="rId26"/>
    <p:sldId id="1432" r:id="rId27"/>
    <p:sldId id="1433" r:id="rId28"/>
    <p:sldId id="1434" r:id="rId29"/>
    <p:sldId id="1435" r:id="rId30"/>
    <p:sldId id="1436" r:id="rId31"/>
    <p:sldId id="1437" r:id="rId32"/>
    <p:sldId id="1438" r:id="rId33"/>
    <p:sldId id="1439" r:id="rId34"/>
    <p:sldId id="1440" r:id="rId35"/>
    <p:sldId id="1441" r:id="rId36"/>
    <p:sldId id="1442" r:id="rId37"/>
    <p:sldId id="1443" r:id="rId38"/>
    <p:sldId id="1444" r:id="rId39"/>
    <p:sldId id="1445" r:id="rId40"/>
    <p:sldId id="1446" r:id="rId41"/>
    <p:sldId id="1447" r:id="rId42"/>
    <p:sldId id="1448" r:id="rId43"/>
    <p:sldId id="1449" r:id="rId44"/>
    <p:sldId id="145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86" autoAdjust="0"/>
    <p:restoredTop sz="81849" autoAdjust="0"/>
  </p:normalViewPr>
  <p:slideViewPr>
    <p:cSldViewPr snapToGrid="0">
      <p:cViewPr varScale="1">
        <p:scale>
          <a:sx n="67" d="100"/>
          <a:sy n="67" d="100"/>
        </p:scale>
        <p:origin x="936" y="62"/>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Fixture Chg</c:v>
                </c:pt>
              </c:strCache>
            </c:strRef>
          </c:tx>
          <c:spPr>
            <a:solidFill>
              <a:schemeClr val="accent1"/>
            </a:solidFill>
            <a:ln>
              <a:noFill/>
            </a:ln>
            <a:effectLst/>
          </c:spPr>
          <c:invertIfNegative val="0"/>
          <c:cat>
            <c:strRef>
              <c:f>Sheet1!$A$2</c:f>
              <c:strCache>
                <c:ptCount val="1"/>
                <c:pt idx="0">
                  <c:v>Steps</c:v>
                </c:pt>
              </c:strCache>
            </c:strRef>
          </c:cat>
          <c:val>
            <c:numRef>
              <c:f>Sheet1!$B$2</c:f>
              <c:numCache>
                <c:formatCode>General</c:formatCode>
                <c:ptCount val="1"/>
                <c:pt idx="0">
                  <c:v>75</c:v>
                </c:pt>
              </c:numCache>
            </c:numRef>
          </c:val>
          <c:extLst>
            <c:ext xmlns:c16="http://schemas.microsoft.com/office/drawing/2014/chart" uri="{C3380CC4-5D6E-409C-BE32-E72D297353CC}">
              <c16:uniqueId val="{00000000-CFF7-4D3F-A832-02DFC26150D3}"/>
            </c:ext>
          </c:extLst>
        </c:ser>
        <c:ser>
          <c:idx val="1"/>
          <c:order val="1"/>
          <c:tx>
            <c:strRef>
              <c:f>Sheet1!$C$1</c:f>
              <c:strCache>
                <c:ptCount val="1"/>
                <c:pt idx="0">
                  <c:v>Search</c:v>
                </c:pt>
              </c:strCache>
            </c:strRef>
          </c:tx>
          <c:spPr>
            <a:solidFill>
              <a:schemeClr val="accent2"/>
            </a:solidFill>
            <a:ln>
              <a:noFill/>
            </a:ln>
            <a:effectLst/>
          </c:spPr>
          <c:invertIfNegative val="0"/>
          <c:cat>
            <c:strRef>
              <c:f>Sheet1!$A$2</c:f>
              <c:strCache>
                <c:ptCount val="1"/>
                <c:pt idx="0">
                  <c:v>Steps</c:v>
                </c:pt>
              </c:strCache>
            </c:strRef>
          </c:cat>
          <c:val>
            <c:numRef>
              <c:f>Sheet1!$C$2</c:f>
              <c:numCache>
                <c:formatCode>General</c:formatCode>
                <c:ptCount val="1"/>
                <c:pt idx="0">
                  <c:v>65</c:v>
                </c:pt>
              </c:numCache>
            </c:numRef>
          </c:val>
          <c:extLst>
            <c:ext xmlns:c16="http://schemas.microsoft.com/office/drawing/2014/chart" uri="{C3380CC4-5D6E-409C-BE32-E72D297353CC}">
              <c16:uniqueId val="{00000003-CFF7-4D3F-A832-02DFC26150D3}"/>
            </c:ext>
          </c:extLst>
        </c:ser>
        <c:ser>
          <c:idx val="2"/>
          <c:order val="2"/>
          <c:tx>
            <c:strRef>
              <c:f>Sheet1!$D$1</c:f>
              <c:strCache>
                <c:ptCount val="1"/>
                <c:pt idx="0">
                  <c:v>Tool Chg</c:v>
                </c:pt>
              </c:strCache>
            </c:strRef>
          </c:tx>
          <c:spPr>
            <a:solidFill>
              <a:schemeClr val="accent3"/>
            </a:solidFill>
            <a:ln>
              <a:noFill/>
            </a:ln>
            <a:effectLst/>
          </c:spPr>
          <c:invertIfNegative val="0"/>
          <c:cat>
            <c:strRef>
              <c:f>Sheet1!$A$2</c:f>
              <c:strCache>
                <c:ptCount val="1"/>
                <c:pt idx="0">
                  <c:v>Steps</c:v>
                </c:pt>
              </c:strCache>
            </c:strRef>
          </c:cat>
          <c:val>
            <c:numRef>
              <c:f>Sheet1!$D$2</c:f>
              <c:numCache>
                <c:formatCode>General</c:formatCode>
                <c:ptCount val="1"/>
                <c:pt idx="0">
                  <c:v>55</c:v>
                </c:pt>
              </c:numCache>
            </c:numRef>
          </c:val>
          <c:extLst>
            <c:ext xmlns:c16="http://schemas.microsoft.com/office/drawing/2014/chart" uri="{C3380CC4-5D6E-409C-BE32-E72D297353CC}">
              <c16:uniqueId val="{00000004-CFF7-4D3F-A832-02DFC26150D3}"/>
            </c:ext>
          </c:extLst>
        </c:ser>
        <c:ser>
          <c:idx val="3"/>
          <c:order val="3"/>
          <c:tx>
            <c:strRef>
              <c:f>Sheet1!$E$1</c:f>
              <c:strCache>
                <c:ptCount val="1"/>
                <c:pt idx="0">
                  <c:v>1st Piece</c:v>
                </c:pt>
              </c:strCache>
            </c:strRef>
          </c:tx>
          <c:spPr>
            <a:solidFill>
              <a:schemeClr val="accent4"/>
            </a:solidFill>
            <a:ln>
              <a:noFill/>
            </a:ln>
            <a:effectLst/>
          </c:spPr>
          <c:invertIfNegative val="0"/>
          <c:cat>
            <c:strRef>
              <c:f>Sheet1!$A$2</c:f>
              <c:strCache>
                <c:ptCount val="1"/>
                <c:pt idx="0">
                  <c:v>Steps</c:v>
                </c:pt>
              </c:strCache>
            </c:strRef>
          </c:cat>
          <c:val>
            <c:numRef>
              <c:f>Sheet1!$E$2</c:f>
              <c:numCache>
                <c:formatCode>General</c:formatCode>
                <c:ptCount val="1"/>
                <c:pt idx="0">
                  <c:v>40</c:v>
                </c:pt>
              </c:numCache>
            </c:numRef>
          </c:val>
          <c:extLst>
            <c:ext xmlns:c16="http://schemas.microsoft.com/office/drawing/2014/chart" uri="{C3380CC4-5D6E-409C-BE32-E72D297353CC}">
              <c16:uniqueId val="{00000005-CFF7-4D3F-A832-02DFC26150D3}"/>
            </c:ext>
          </c:extLst>
        </c:ser>
        <c:ser>
          <c:idx val="4"/>
          <c:order val="4"/>
          <c:tx>
            <c:strRef>
              <c:f>Sheet1!$F$1</c:f>
              <c:strCache>
                <c:ptCount val="1"/>
                <c:pt idx="0">
                  <c:v>Gauge</c:v>
                </c:pt>
              </c:strCache>
            </c:strRef>
          </c:tx>
          <c:spPr>
            <a:solidFill>
              <a:schemeClr val="accent5"/>
            </a:solidFill>
            <a:ln>
              <a:noFill/>
            </a:ln>
            <a:effectLst/>
          </c:spPr>
          <c:invertIfNegative val="0"/>
          <c:cat>
            <c:strRef>
              <c:f>Sheet1!$A$2</c:f>
              <c:strCache>
                <c:ptCount val="1"/>
                <c:pt idx="0">
                  <c:v>Steps</c:v>
                </c:pt>
              </c:strCache>
            </c:strRef>
          </c:cat>
          <c:val>
            <c:numRef>
              <c:f>Sheet1!$F$2</c:f>
              <c:numCache>
                <c:formatCode>General</c:formatCode>
                <c:ptCount val="1"/>
                <c:pt idx="0">
                  <c:v>35</c:v>
                </c:pt>
              </c:numCache>
            </c:numRef>
          </c:val>
          <c:extLst>
            <c:ext xmlns:c16="http://schemas.microsoft.com/office/drawing/2014/chart" uri="{C3380CC4-5D6E-409C-BE32-E72D297353CC}">
              <c16:uniqueId val="{00000006-CFF7-4D3F-A832-02DFC26150D3}"/>
            </c:ext>
          </c:extLst>
        </c:ser>
        <c:dLbls>
          <c:showLegendKey val="0"/>
          <c:showVal val="0"/>
          <c:showCatName val="0"/>
          <c:showSerName val="0"/>
          <c:showPercent val="0"/>
          <c:showBubbleSize val="0"/>
        </c:dLbls>
        <c:gapWidth val="150"/>
        <c:axId val="487733872"/>
        <c:axId val="376186624"/>
      </c:barChart>
      <c:catAx>
        <c:axId val="48773387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mn-cs"/>
              </a:defRPr>
            </a:pPr>
            <a:endParaRPr lang="en-US"/>
          </a:p>
        </c:txPr>
        <c:crossAx val="376186624"/>
        <c:crosses val="autoZero"/>
        <c:auto val="1"/>
        <c:lblAlgn val="ctr"/>
        <c:lblOffset val="100"/>
        <c:noMultiLvlLbl val="0"/>
      </c:catAx>
      <c:valAx>
        <c:axId val="3761866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mn-cs"/>
                  </a:defRPr>
                </a:pPr>
                <a:r>
                  <a:rPr lang="en-US" dirty="0"/>
                  <a:t>Time in Minutes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mn-cs"/>
              </a:defRPr>
            </a:pPr>
            <a:endParaRPr lang="en-US"/>
          </a:p>
        </c:txPr>
        <c:crossAx val="4877338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Roboto" panose="02000000000000000000" pitchFamily="2" charset="0"/>
          <a:ea typeface="Roboto" panose="02000000000000000000"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Welcome everyone to the class. Introduce yourself and the notion of SMED.</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974434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974038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3267009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SMED and the goal of this event. </a:t>
            </a:r>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1907365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class to define TAKT time. (answer: takt is the rate at which the customer demands the product or service).  How is it different from set-up time?</a:t>
            </a:r>
          </a:p>
          <a:p>
            <a:r>
              <a:rPr lang="en-US" altLang="en-US" b="1" dirty="0">
                <a:latin typeface="Arial" panose="020B0604020202020204" pitchFamily="34" charset="0"/>
              </a:rPr>
              <a:t>DO:</a:t>
            </a:r>
            <a:r>
              <a:rPr lang="en-US" altLang="en-US" dirty="0">
                <a:latin typeface="Arial" panose="020B0604020202020204" pitchFamily="34" charset="0"/>
              </a:rPr>
              <a:t> Ask the class if there are other advantages to decreased set-up time? (sample answers include: increased capacity, reduced inventory, reduced lead time, ability to change models more frequently, shorter runs limit quality exposure, improved responsiveness and customer delivery, reduced material waste due to less adjustment at changeover).</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a target set by Shigeo Shingo. What does this mean to you? To achieve this level of performance, multiple reviews and a focus on the elimination of waste associated with the changeover. There also needs to be focus on design for quick changeover (SMED) as well as good standard work.</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136956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benefits of SMED.</a:t>
            </a:r>
          </a:p>
          <a:p>
            <a:r>
              <a:rPr lang="en-US" altLang="en-US" b="1" dirty="0">
                <a:latin typeface="Arial" panose="020B0604020202020204" pitchFamily="34" charset="0"/>
              </a:rPr>
              <a:t>DO:</a:t>
            </a:r>
            <a:r>
              <a:rPr lang="en-US" altLang="en-US" dirty="0">
                <a:latin typeface="Arial" panose="020B0604020202020204" pitchFamily="34" charset="0"/>
              </a:rPr>
              <a:t> Ask the class if they can think of other benefits that should be added to this list (write them down).</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There are many benefits to SMED. SMED is a strong complement to many other lean tools.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2193344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Describe the case studies – how SMED has improved other companies.  </a:t>
            </a:r>
          </a:p>
          <a:p>
            <a:r>
              <a:rPr lang="en-US" altLang="en-US" b="1" dirty="0">
                <a:latin typeface="Arial" panose="020B0604020202020204" pitchFamily="34" charset="0"/>
              </a:rPr>
              <a:t>DO:</a:t>
            </a:r>
            <a:r>
              <a:rPr lang="en-US" altLang="en-US" dirty="0">
                <a:latin typeface="Arial" panose="020B0604020202020204" pitchFamily="34" charset="0"/>
              </a:rPr>
              <a:t> Ask the class if anyone experienced SMED improvements in their current or former roles within their organization.</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SMED improvements are tangible and occur in a variety of industries and with a variety of processes. Expect to see similar results when SMED is properly implemented in your facility.</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4021663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Setup time… how is it measured? It is the time from the last good part run before the changeover to the first good piece of the new setup. This incorporates any time required for process adjustments and scrap pieces associated with the changeover.</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Let</a:t>
            </a:r>
            <a:r>
              <a:rPr lang="ja-JP" altLang="en-US" dirty="0">
                <a:latin typeface="Arial" panose="020B0604020202020204" pitchFamily="34" charset="0"/>
              </a:rPr>
              <a:t>’</a:t>
            </a:r>
            <a:r>
              <a:rPr lang="en-US" altLang="ja-JP" dirty="0">
                <a:latin typeface="Arial" panose="020B0604020202020204" pitchFamily="34" charset="0"/>
              </a:rPr>
              <a:t>s apply this concept to our everyday environment.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would be considered the set-up time for:</a:t>
            </a:r>
          </a:p>
          <a:p>
            <a:pPr>
              <a:buFontTx/>
              <a:buChar char="-"/>
            </a:pPr>
            <a:r>
              <a:rPr lang="en-US" altLang="en-US" dirty="0">
                <a:latin typeface="Arial" panose="020B0604020202020204" pitchFamily="34" charset="0"/>
              </a:rPr>
              <a:t>A restaurant table changeover? (answer: the time it takes from when the last party left to when the next party is sitting down)</a:t>
            </a:r>
          </a:p>
          <a:p>
            <a:pPr>
              <a:buFontTx/>
              <a:buChar char="-"/>
            </a:pPr>
            <a:r>
              <a:rPr lang="en-US" altLang="en-US" dirty="0">
                <a:latin typeface="Arial" panose="020B0604020202020204" pitchFamily="34" charset="0"/>
              </a:rPr>
              <a:t>A doctor</a:t>
            </a:r>
            <a:r>
              <a:rPr lang="ja-JP" altLang="en-US" dirty="0">
                <a:latin typeface="Arial" panose="020B0604020202020204" pitchFamily="34" charset="0"/>
              </a:rPr>
              <a:t>’</a:t>
            </a:r>
            <a:r>
              <a:rPr lang="en-US" altLang="ja-JP" dirty="0">
                <a:latin typeface="Arial" panose="020B0604020202020204" pitchFamily="34" charset="0"/>
              </a:rPr>
              <a:t>s office visit changeover? (answer: the time it takes from when the last patient left the room to when the next patient has entered the room)</a:t>
            </a:r>
          </a:p>
          <a:p>
            <a:pPr>
              <a:buFontTx/>
              <a:buChar char="-"/>
            </a:pPr>
            <a:r>
              <a:rPr lang="en-US" altLang="en-US" dirty="0">
                <a:latin typeface="Arial" panose="020B0604020202020204" pitchFamily="34" charset="0"/>
              </a:rPr>
              <a:t>A dishwasher changeover? (answer: the time it takes from when the dishwashing machine stops to when the dishwasher is loaded and ready to be started)</a:t>
            </a:r>
          </a:p>
          <a:p>
            <a:pPr>
              <a:buFontTx/>
              <a:buChar char="-"/>
            </a:pPr>
            <a:r>
              <a:rPr lang="en-US" altLang="en-US" dirty="0">
                <a:latin typeface="Arial" panose="020B0604020202020204" pitchFamily="34" charset="0"/>
              </a:rPr>
              <a:t>A garbage can changeover? (answer: the time it takes from when the last item of trash is thrown into the bag to when the next empty bag is placed within the can.)</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Ask group if they can think of any other examples.</a:t>
            </a: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756725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the steps of the SMED Methodology. Explain that you will go into much further detail about each of these steps.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040831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ea typeface="ＭＳ Ｐゴシック" charset="0"/>
                <a:cs typeface="+mn-cs"/>
              </a:rPr>
              <a:t>DO:</a:t>
            </a:r>
            <a:r>
              <a:rPr lang="en-US" sz="800" dirty="0">
                <a:ea typeface="ＭＳ Ｐゴシック" charset="0"/>
                <a:cs typeface="+mn-cs"/>
              </a:rPr>
              <a:t> Review the charter for this event.</a:t>
            </a:r>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252606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There is a specific methodology to execute a SMED.</a:t>
            </a:r>
            <a:r>
              <a:rPr lang="ja-JP" altLang="en-US" dirty="0">
                <a:latin typeface="Arial" panose="020B0604020202020204" pitchFamily="34" charset="0"/>
              </a:rPr>
              <a:t>”</a:t>
            </a:r>
            <a:r>
              <a:rPr lang="en-US" altLang="ja-JP" dirty="0">
                <a:latin typeface="Arial" panose="020B0604020202020204" pitchFamily="34" charset="0"/>
              </a:rPr>
              <a:t> (review steps on the slide)</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Now we will review each one of the steps in this process in more detail.</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022733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461896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This list provides you with some things to look for during the </a:t>
            </a:r>
            <a:r>
              <a:rPr lang="ja-JP" altLang="en-US" dirty="0">
                <a:latin typeface="Arial" panose="020B0604020202020204" pitchFamily="34" charset="0"/>
              </a:rPr>
              <a:t>“</a:t>
            </a:r>
            <a:r>
              <a:rPr lang="en-US" altLang="ja-JP" dirty="0">
                <a:latin typeface="Arial" panose="020B0604020202020204" pitchFamily="34" charset="0"/>
              </a:rPr>
              <a:t>Observe and Document</a:t>
            </a:r>
            <a:r>
              <a:rPr lang="ja-JP" altLang="en-US" dirty="0">
                <a:latin typeface="Arial" panose="020B0604020202020204" pitchFamily="34" charset="0"/>
              </a:rPr>
              <a:t>”</a:t>
            </a:r>
            <a:r>
              <a:rPr lang="en-US" altLang="ja-JP" dirty="0">
                <a:latin typeface="Arial" panose="020B0604020202020204" pitchFamily="34" charset="0"/>
              </a:rPr>
              <a:t> step in a SMED event.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Walk through each step for current state observations</a:t>
            </a:r>
          </a:p>
          <a:p>
            <a:r>
              <a:rPr lang="en-US" altLang="en-US" b="1" dirty="0">
                <a:latin typeface="Arial" panose="020B0604020202020204" pitchFamily="34" charset="0"/>
              </a:rPr>
              <a:t>NOTE:</a:t>
            </a:r>
            <a:r>
              <a:rPr lang="en-US" altLang="en-US" dirty="0">
                <a:latin typeface="Arial" panose="020B0604020202020204" pitchFamily="34" charset="0"/>
              </a:rPr>
              <a:t> A video recorder should have been used and the video observed for this event. It is an extremely important tool for the analysis.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3131404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We mentioned to observe and document the current set-up process. This form shows how to complete the set-up analysis chart.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Review the form that is used when observing the current process and how it is used. </a:t>
            </a: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9368376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Compile the various elements of the set-up process in a pareto chart to identify the drivers of the set-up. A common use of the pareto chart is to identify drivers for an activity. The same principle applies and that is to focus on the items that drive the set-up time. In this example, those elements are Fixture Change, Search and Tool Change.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554278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259813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Describe internal vs. external set-up:</a:t>
            </a:r>
          </a:p>
          <a:p>
            <a:r>
              <a:rPr lang="en-US" altLang="en-US" dirty="0">
                <a:latin typeface="Arial" panose="020B0604020202020204" pitchFamily="34" charset="0"/>
              </a:rPr>
              <a:t>Internal – Items that must occur while the tool/mold/process is shut down</a:t>
            </a:r>
          </a:p>
          <a:p>
            <a:r>
              <a:rPr lang="en-US" altLang="en-US" dirty="0">
                <a:latin typeface="Arial" panose="020B0604020202020204" pitchFamily="34" charset="0"/>
              </a:rPr>
              <a:t>External – Changeover related items that can be done while the tool/mold/process is running.</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next step of the process is to separate the internal activities from the external activities. These actions must be separated to achieve the expected results of the SMED. An important note here is to ensure the operator never leaves the machine once the machine is stopped.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Take a common example and ask the group what some internal set-up activities would be versus external.</a:t>
            </a: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624744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mentioned separating the internal from external activities. Properly post the internal and external activities on the Set-up Operations Analysis Chart.</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24785180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259624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Who can define 5S and its purpose.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5S review on next slide.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2024231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Any improvement in set-ups starts with 5S. The 5Ss are Sort, Straighten, Scrub, Standardize, and Sustain. Any time spent looking for tools, gages, and other materials adds directly to set-up time. A strong 5S foundation will have a positive and direct impact on set-up reduction. Another benefit of good 5S is the improved Health and Safety of the set-up area. </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3083337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class how each of the 8 wastes can impact SMED.</a:t>
            </a:r>
          </a:p>
          <a:p>
            <a:r>
              <a:rPr lang="en-US" altLang="en-US" dirty="0">
                <a:latin typeface="Arial" panose="020B0604020202020204" pitchFamily="34" charset="0"/>
              </a:rPr>
              <a:t>Examples of each waste may include:</a:t>
            </a:r>
          </a:p>
          <a:p>
            <a:r>
              <a:rPr lang="en-US" altLang="en-US" b="1" dirty="0">
                <a:latin typeface="Arial" panose="020B0604020202020204" pitchFamily="34" charset="0"/>
              </a:rPr>
              <a:t>Overproduction:</a:t>
            </a:r>
            <a:r>
              <a:rPr lang="en-US" altLang="en-US" dirty="0">
                <a:latin typeface="Arial" panose="020B0604020202020204" pitchFamily="34" charset="0"/>
              </a:rPr>
              <a:t> Extra parts produced to accommodate long changeover time.</a:t>
            </a:r>
          </a:p>
          <a:p>
            <a:r>
              <a:rPr lang="en-US" altLang="en-US" b="1" dirty="0">
                <a:latin typeface="Arial" panose="020B0604020202020204" pitchFamily="34" charset="0"/>
              </a:rPr>
              <a:t>Waiting</a:t>
            </a:r>
            <a:r>
              <a:rPr lang="en-US" altLang="en-US" dirty="0">
                <a:latin typeface="Arial" panose="020B0604020202020204" pitchFamily="34" charset="0"/>
              </a:rPr>
              <a:t>: Die not available, need to wait for parts to pass gage test, a person to assist the operator to complete a task.</a:t>
            </a:r>
          </a:p>
          <a:p>
            <a:r>
              <a:rPr lang="en-US" altLang="en-US" b="1" dirty="0">
                <a:latin typeface="Arial" panose="020B0604020202020204" pitchFamily="34" charset="0"/>
              </a:rPr>
              <a:t>Transportation:</a:t>
            </a:r>
            <a:r>
              <a:rPr lang="en-US" altLang="en-US" dirty="0">
                <a:latin typeface="Arial" panose="020B0604020202020204" pitchFamily="34" charset="0"/>
              </a:rPr>
              <a:t> Moving dies, moving produced parts from the machine, storing dies, walking to retrieve materials. </a:t>
            </a:r>
          </a:p>
          <a:p>
            <a:r>
              <a:rPr lang="en-US" altLang="en-US" b="1" dirty="0">
                <a:latin typeface="Arial" panose="020B0604020202020204" pitchFamily="34" charset="0"/>
              </a:rPr>
              <a:t>Processing</a:t>
            </a:r>
            <a:r>
              <a:rPr lang="en-US" altLang="en-US" dirty="0">
                <a:latin typeface="Arial" panose="020B0604020202020204" pitchFamily="34" charset="0"/>
              </a:rPr>
              <a:t>: Adjusting the machine to produce a good part, adjusting die heights.</a:t>
            </a:r>
          </a:p>
          <a:p>
            <a:r>
              <a:rPr lang="en-US" altLang="en-US" b="1" dirty="0">
                <a:latin typeface="Arial" panose="020B0604020202020204" pitchFamily="34" charset="0"/>
              </a:rPr>
              <a:t>Inventories:</a:t>
            </a:r>
            <a:r>
              <a:rPr lang="en-US" altLang="en-US" dirty="0">
                <a:latin typeface="Arial" panose="020B0604020202020204" pitchFamily="34" charset="0"/>
              </a:rPr>
              <a:t> Extra production to buffer during the changeover</a:t>
            </a:r>
          </a:p>
          <a:p>
            <a:r>
              <a:rPr lang="en-US" altLang="en-US" b="1" dirty="0">
                <a:latin typeface="Arial" panose="020B0604020202020204" pitchFamily="34" charset="0"/>
              </a:rPr>
              <a:t>Motion:</a:t>
            </a:r>
            <a:r>
              <a:rPr lang="en-US" altLang="en-US" dirty="0">
                <a:latin typeface="Arial" panose="020B0604020202020204" pitchFamily="34" charset="0"/>
              </a:rPr>
              <a:t> Tightening bolts, finding gages, finding tools</a:t>
            </a:r>
          </a:p>
          <a:p>
            <a:r>
              <a:rPr lang="en-US" altLang="en-US" b="1" dirty="0">
                <a:latin typeface="Arial" panose="020B0604020202020204" pitchFamily="34" charset="0"/>
              </a:rPr>
              <a:t>Defects</a:t>
            </a:r>
            <a:r>
              <a:rPr lang="en-US" altLang="en-US" dirty="0">
                <a:latin typeface="Arial" panose="020B0604020202020204" pitchFamily="34" charset="0"/>
              </a:rPr>
              <a:t>: Scrapping set-up parts, scrapping </a:t>
            </a:r>
            <a:r>
              <a:rPr lang="ja-JP" altLang="en-US" dirty="0">
                <a:latin typeface="Arial" panose="020B0604020202020204" pitchFamily="34" charset="0"/>
              </a:rPr>
              <a:t>‘</a:t>
            </a:r>
            <a:r>
              <a:rPr lang="en-US" altLang="ja-JP" dirty="0">
                <a:latin typeface="Arial" panose="020B0604020202020204" pitchFamily="34" charset="0"/>
              </a:rPr>
              <a:t>adjustment</a:t>
            </a:r>
            <a:r>
              <a:rPr lang="ja-JP" altLang="en-US" dirty="0">
                <a:latin typeface="Arial" panose="020B0604020202020204" pitchFamily="34" charset="0"/>
              </a:rPr>
              <a:t>’</a:t>
            </a:r>
            <a:r>
              <a:rPr lang="en-US" altLang="ja-JP" dirty="0">
                <a:latin typeface="Arial" panose="020B0604020202020204" pitchFamily="34" charset="0"/>
              </a:rPr>
              <a:t> parts, running the process before parts are cleared by QC (waste if the parts are truly scrapped)</a:t>
            </a:r>
          </a:p>
          <a:p>
            <a:r>
              <a:rPr lang="en-US" altLang="en-US" b="1" dirty="0">
                <a:latin typeface="Arial" panose="020B0604020202020204" pitchFamily="34" charset="0"/>
              </a:rPr>
              <a:t>Unused Creativity</a:t>
            </a:r>
            <a:r>
              <a:rPr lang="en-US" altLang="en-US" dirty="0">
                <a:latin typeface="Arial" panose="020B0604020202020204" pitchFamily="34" charset="0"/>
              </a:rPr>
              <a:t>: Not engaging the operators, not engaging engineering, not including engineers and operators in the SMED event</a:t>
            </a:r>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3772325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There are many ways to achieve and sustain the improvement plan. Some ideas to consider include standardizing the external set-up actions, utilize quick fasteners instead of bolts and use supplemental tools to facilitate the set-up process.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507979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We discussed the eight wastes and mentioned the waste of motion to adjust die heights. Here is an example of standardizing the die height on a press.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420012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 waste associated with tightening bolts can be eliminated by using quick fasteners. Here is an example of their use.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10872753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To facilitate the exchange of dies, think of accessory tools to simplify the exchange. Note the safety precaution by installing a mechanism to ensure the stop does not move during the die exchange.</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1111581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Continue to challenge the traditional thinking as the improvement plan is developed. Among the questions to ask during the event are: (read points on slide)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1581186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In preparation to implement the improvement plan, follow the items on this checklist to build a strong SMED process after the event. This list is not exhaustive, but by addressing these questions, the major areas of improvement can be addressed.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 </a:t>
            </a:r>
            <a:r>
              <a:rPr lang="ja-JP" altLang="en-US" dirty="0">
                <a:latin typeface="Arial" panose="020B0604020202020204" pitchFamily="34" charset="0"/>
              </a:rPr>
              <a:t>“</a:t>
            </a:r>
            <a:r>
              <a:rPr lang="en-US" altLang="ja-JP" dirty="0">
                <a:latin typeface="Arial" panose="020B0604020202020204" pitchFamily="34" charset="0"/>
              </a:rPr>
              <a:t>Are there any others you can think of?</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40768164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18919094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Now, document the new set-up developed from the analysis of the current set-up. There will still be opportunities to improve the set-up after the new set-up becomes the standard. To aid in training, videotape the new set-up procedure. Also, record the set-up time for the new set-up procedure and plan to continue monitoring the set-up time ongoing. The recommendation is to chart the set-up time and frequency and assess the trend. In the mode of continuous improvement, continue to look for future areas of improvement to take the process to the next level.</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30775098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form and its purpose.</a:t>
            </a: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19757314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873758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As with the other lean tools, the new set-up procedure needs to be treated as standard work. Document the new set-up process on the same form used to document the current set-up earlier in the event.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Ask the class why standardization is important?  What could happen?</a:t>
            </a: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8130913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And finally, don</a:t>
            </a:r>
            <a:r>
              <a:rPr lang="ja-JP" altLang="en-US" dirty="0">
                <a:latin typeface="Arial" panose="020B0604020202020204" pitchFamily="34" charset="0"/>
              </a:rPr>
              <a:t>’</a:t>
            </a:r>
            <a:r>
              <a:rPr lang="en-US" altLang="ja-JP" dirty="0">
                <a:latin typeface="Arial" panose="020B0604020202020204" pitchFamily="34" charset="0"/>
              </a:rPr>
              <a:t>t forget to celebrate your success!</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654750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5074741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Here is a list of the SMED guidelines. Follow these with rigor and discipline and the opportunity for a successful SMED event and continued set-up time reduction.</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36689302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Lead the 2 Minute Review Exercise. Look to see that the group has gotten the key take-aways from the training. </a:t>
            </a: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8193244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At this point in the training, it is time to move into kaizen mode. </a:t>
            </a:r>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14718256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steps they will follow for their SMED Event a final time. </a:t>
            </a: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39542856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Cover report-out guidelines.</a:t>
            </a: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20981270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2252429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SMED PRESENTATION ENG REV3.0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Single Minute Exchange of Dies (SMED)</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a:t>
            </a:r>
            <a:r>
              <a:rPr lang="en-US" altLang="en-US" sz="4400" dirty="0"/>
              <a:t>SMED</a:t>
            </a:r>
            <a:r>
              <a:rPr lang="en-US" dirty="0"/>
              <a:t>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define SMED and apply the SMED process to achieve a target goal for your business.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13" name="Group 12">
            <a:extLst>
              <a:ext uri="{FF2B5EF4-FFF2-40B4-BE49-F238E27FC236}">
                <a16:creationId xmlns:a16="http://schemas.microsoft.com/office/drawing/2014/main" id="{B95DB0C0-C493-C49A-0097-56086890831F}"/>
              </a:ext>
            </a:extLst>
          </p:cNvPr>
          <p:cNvGrpSpPr/>
          <p:nvPr/>
        </p:nvGrpSpPr>
        <p:grpSpPr>
          <a:xfrm>
            <a:off x="2852737" y="3840163"/>
            <a:ext cx="6486526" cy="1497648"/>
            <a:chOff x="2428875" y="3840163"/>
            <a:chExt cx="4286250" cy="1346200"/>
          </a:xfrm>
        </p:grpSpPr>
        <p:sp>
          <p:nvSpPr>
            <p:cNvPr id="10" name="AutoShape 3">
              <a:extLst>
                <a:ext uri="{FF2B5EF4-FFF2-40B4-BE49-F238E27FC236}">
                  <a16:creationId xmlns:a16="http://schemas.microsoft.com/office/drawing/2014/main" id="{2D2041C9-49A6-7BD3-7592-8A3C13760255}"/>
                </a:ext>
              </a:extLst>
            </p:cNvPr>
            <p:cNvSpPr>
              <a:spLocks noChangeArrowheads="1"/>
            </p:cNvSpPr>
            <p:nvPr/>
          </p:nvSpPr>
          <p:spPr bwMode="auto">
            <a:xfrm>
              <a:off x="511492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dirty="0">
                  <a:latin typeface="Roboto" panose="02000000000000000000" pitchFamily="2" charset="0"/>
                  <a:ea typeface="Roboto" panose="02000000000000000000" pitchFamily="2" charset="0"/>
                </a:rPr>
                <a:t>SMED</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Review</a:t>
              </a:r>
            </a:p>
          </p:txBody>
        </p:sp>
        <p:sp>
          <p:nvSpPr>
            <p:cNvPr id="11" name="AutoShape 4">
              <a:extLst>
                <a:ext uri="{FF2B5EF4-FFF2-40B4-BE49-F238E27FC236}">
                  <a16:creationId xmlns:a16="http://schemas.microsoft.com/office/drawing/2014/main" id="{BBA8C7ED-3069-20C9-1EDE-726819ED4047}"/>
                </a:ext>
              </a:extLst>
            </p:cNvPr>
            <p:cNvSpPr>
              <a:spLocks noChangeArrowheads="1"/>
            </p:cNvSpPr>
            <p:nvPr/>
          </p:nvSpPr>
          <p:spPr bwMode="auto">
            <a:xfrm>
              <a:off x="37750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dirty="0">
                  <a:latin typeface="Roboto" panose="02000000000000000000" pitchFamily="2" charset="0"/>
                  <a:ea typeface="Roboto" panose="02000000000000000000" pitchFamily="2" charset="0"/>
                </a:rPr>
                <a:t>SMED</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Process</a:t>
              </a:r>
            </a:p>
          </p:txBody>
        </p:sp>
        <p:sp>
          <p:nvSpPr>
            <p:cNvPr id="12" name="AutoShape 5">
              <a:extLst>
                <a:ext uri="{FF2B5EF4-FFF2-40B4-BE49-F238E27FC236}">
                  <a16:creationId xmlns:a16="http://schemas.microsoft.com/office/drawing/2014/main" id="{7E7A2CC8-60F1-27DB-AA6F-C0D1DF554ED6}"/>
                </a:ext>
              </a:extLst>
            </p:cNvPr>
            <p:cNvSpPr>
              <a:spLocks noChangeArrowheads="1"/>
            </p:cNvSpPr>
            <p:nvPr/>
          </p:nvSpPr>
          <p:spPr bwMode="auto">
            <a:xfrm>
              <a:off x="24288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dirty="0">
                  <a:latin typeface="Roboto" panose="02000000000000000000" pitchFamily="2" charset="0"/>
                  <a:ea typeface="Roboto" panose="02000000000000000000" pitchFamily="2" charset="0"/>
                </a:rPr>
                <a:t>SMED</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Definition</a:t>
              </a:r>
            </a:p>
          </p:txBody>
        </p:sp>
      </p:grpSp>
    </p:spTree>
    <p:extLst>
      <p:ext uri="{BB962C8B-B14F-4D97-AF65-F5344CB8AC3E}">
        <p14:creationId xmlns:p14="http://schemas.microsoft.com/office/powerpoint/2010/main" val="1473861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SMED</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SMED</a:t>
            </a:r>
          </a:p>
          <a:p>
            <a:r>
              <a:rPr lang="en-US" sz="2400" dirty="0"/>
              <a:t>Identify purpose and benefits of SMED</a:t>
            </a:r>
          </a:p>
          <a:p>
            <a:r>
              <a:rPr lang="en-US" sz="2400" dirty="0"/>
              <a:t>Review examples of SMED success</a:t>
            </a:r>
          </a:p>
          <a:p>
            <a:r>
              <a:rPr lang="en-US" sz="2400" dirty="0"/>
              <a:t>Define set-up time</a:t>
            </a:r>
          </a:p>
          <a:p>
            <a:r>
              <a:rPr lang="en-US" sz="2400" dirty="0"/>
              <a:t>Identify the steps of the SMED methodology</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837133"/>
            <a:ext cx="4425950" cy="659879"/>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SMED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Review</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SMED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Process </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SMED</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Definition</a:t>
              </a:r>
            </a:p>
          </p:txBody>
        </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SMED Definition</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6154455" y="2059358"/>
            <a:ext cx="5157787" cy="455241"/>
          </a:xfrm>
        </p:spPr>
        <p:txBody>
          <a:bodyPr/>
          <a:lstStyle/>
          <a:p>
            <a:r>
              <a:rPr lang="en-US" dirty="0"/>
              <a:t>Definition</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6154455" y="2514600"/>
            <a:ext cx="5157787" cy="1268730"/>
          </a:xfrm>
        </p:spPr>
        <p:txBody>
          <a:bodyPr>
            <a:normAutofit fontScale="77500" lnSpcReduction="20000"/>
          </a:bodyPr>
          <a:lstStyle/>
          <a:p>
            <a:r>
              <a:rPr lang="en-US" dirty="0"/>
              <a:t>Single Minute Change of Dies or decreased set-up time</a:t>
            </a:r>
          </a:p>
          <a:p>
            <a:r>
              <a:rPr lang="en-US" dirty="0"/>
              <a:t>Set-up time should be less than takt time</a:t>
            </a:r>
          </a:p>
          <a:p>
            <a:endParaRPr lang="en-US" dirty="0"/>
          </a:p>
          <a:p>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194427" y="3755509"/>
            <a:ext cx="5183188" cy="483062"/>
          </a:xfrm>
        </p:spPr>
        <p:txBody>
          <a:bodyPr/>
          <a:lstStyle/>
          <a:p>
            <a:r>
              <a:rPr lang="en-US" dirty="0"/>
              <a:t>Purpose of SMED</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94427" y="4238571"/>
            <a:ext cx="5183188" cy="1438275"/>
          </a:xfrm>
        </p:spPr>
        <p:txBody>
          <a:bodyPr>
            <a:normAutofit fontScale="77500" lnSpcReduction="20000"/>
          </a:bodyPr>
          <a:lstStyle/>
          <a:p>
            <a:r>
              <a:rPr lang="en-US" dirty="0"/>
              <a:t>Reduces the need for inventory</a:t>
            </a:r>
          </a:p>
          <a:p>
            <a:r>
              <a:rPr lang="en-US" dirty="0"/>
              <a:t>Provides more capacity and flexibility </a:t>
            </a:r>
          </a:p>
          <a:p>
            <a:r>
              <a:rPr lang="en-US" dirty="0"/>
              <a:t>Enables serving the customer better!</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7" name="Group 6">
            <a:extLst>
              <a:ext uri="{FF2B5EF4-FFF2-40B4-BE49-F238E27FC236}">
                <a16:creationId xmlns:a16="http://schemas.microsoft.com/office/drawing/2014/main" id="{60085014-18BD-C060-5521-937040C88539}"/>
              </a:ext>
            </a:extLst>
          </p:cNvPr>
          <p:cNvGrpSpPr/>
          <p:nvPr/>
        </p:nvGrpSpPr>
        <p:grpSpPr>
          <a:xfrm>
            <a:off x="838200" y="297639"/>
            <a:ext cx="4024630" cy="301303"/>
            <a:chOff x="838200" y="297639"/>
            <a:chExt cx="4024630" cy="301303"/>
          </a:xfrm>
        </p:grpSpPr>
        <p:grpSp>
          <p:nvGrpSpPr>
            <p:cNvPr id="9" name="Group 8">
              <a:extLst>
                <a:ext uri="{FF2B5EF4-FFF2-40B4-BE49-F238E27FC236}">
                  <a16:creationId xmlns:a16="http://schemas.microsoft.com/office/drawing/2014/main" id="{B7AF1EC6-595B-0A28-1CF9-E6D8C8F5B62A}"/>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1C0824D6-76E4-F0E3-C3D4-24D73702446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76078CD9-44B6-BD7E-2BF7-47208DD6345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06838993-A2CC-5ABD-AAA3-D6BCD19C921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0" name="TextBox 9">
              <a:extLst>
                <a:ext uri="{FF2B5EF4-FFF2-40B4-BE49-F238E27FC236}">
                  <a16:creationId xmlns:a16="http://schemas.microsoft.com/office/drawing/2014/main" id="{9FD69960-ED23-F628-E700-A525EE2953F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Definition</a:t>
              </a:r>
            </a:p>
          </p:txBody>
        </p:sp>
      </p:grpSp>
      <p:sp>
        <p:nvSpPr>
          <p:cNvPr id="15" name="Text Box 17">
            <a:extLst>
              <a:ext uri="{FF2B5EF4-FFF2-40B4-BE49-F238E27FC236}">
                <a16:creationId xmlns:a16="http://schemas.microsoft.com/office/drawing/2014/main" id="{02A5DBCD-97B7-C025-4E37-AE023CE12B46}"/>
              </a:ext>
            </a:extLst>
          </p:cNvPr>
          <p:cNvSpPr txBox="1">
            <a:spLocks noChangeArrowheads="1"/>
          </p:cNvSpPr>
          <p:nvPr/>
        </p:nvSpPr>
        <p:spPr bwMode="auto">
          <a:xfrm>
            <a:off x="1878806" y="5820331"/>
            <a:ext cx="8237537" cy="369332"/>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Shigeo Shingo believed that any set-up time could be reduced by 59/60ths</a:t>
            </a:r>
            <a:endParaRPr lang="en-US" altLang="en-US" sz="1400" b="0" dirty="0">
              <a:latin typeface="Roboto" panose="02000000000000000000" pitchFamily="2" charset="0"/>
              <a:ea typeface="Roboto" panose="02000000000000000000" pitchFamily="2" charset="0"/>
            </a:endParaRPr>
          </a:p>
        </p:txBody>
      </p:sp>
      <p:pic>
        <p:nvPicPr>
          <p:cNvPr id="16" name="Picture 16">
            <a:extLst>
              <a:ext uri="{FF2B5EF4-FFF2-40B4-BE49-F238E27FC236}">
                <a16:creationId xmlns:a16="http://schemas.microsoft.com/office/drawing/2014/main" id="{A3465068-A232-11BE-C97E-4A42D2D7C7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472" y="2356922"/>
            <a:ext cx="4232275"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AutoShape 10">
            <a:extLst>
              <a:ext uri="{FF2B5EF4-FFF2-40B4-BE49-F238E27FC236}">
                <a16:creationId xmlns:a16="http://schemas.microsoft.com/office/drawing/2014/main" id="{0A312066-5B64-6407-C7A7-3F17FBE94E77}"/>
              </a:ext>
            </a:extLst>
          </p:cNvPr>
          <p:cNvCxnSpPr>
            <a:cxnSpLocks noChangeShapeType="1"/>
            <a:stCxn id="16" idx="3"/>
            <a:endCxn id="3" idx="1"/>
          </p:cNvCxnSpPr>
          <p:nvPr/>
        </p:nvCxnSpPr>
        <p:spPr bwMode="auto">
          <a:xfrm flipV="1">
            <a:off x="5434747" y="2286979"/>
            <a:ext cx="719708" cy="1468531"/>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2" name="AutoShape 11">
            <a:extLst>
              <a:ext uri="{FF2B5EF4-FFF2-40B4-BE49-F238E27FC236}">
                <a16:creationId xmlns:a16="http://schemas.microsoft.com/office/drawing/2014/main" id="{F086C6E3-8768-893B-2C67-3F2ECBCF78CA}"/>
              </a:ext>
            </a:extLst>
          </p:cNvPr>
          <p:cNvCxnSpPr>
            <a:cxnSpLocks noChangeShapeType="1"/>
            <a:stCxn id="16" idx="3"/>
            <a:endCxn id="5" idx="1"/>
          </p:cNvCxnSpPr>
          <p:nvPr/>
        </p:nvCxnSpPr>
        <p:spPr bwMode="auto">
          <a:xfrm>
            <a:off x="5434747" y="3755510"/>
            <a:ext cx="759680" cy="241530"/>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6616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ou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Less adjustments means less chance for errors</a:t>
            </a:r>
          </a:p>
          <a:p>
            <a:r>
              <a:rPr lang="en-US" dirty="0"/>
              <a:t>Elimination of trial processing reduces material waste</a:t>
            </a:r>
          </a:p>
          <a:p>
            <a:r>
              <a:rPr lang="en-US" dirty="0"/>
              <a:t>Advanced preparation of operating conditions helps stabilize </a:t>
            </a:r>
            <a:br>
              <a:rPr lang="en-US" dirty="0"/>
            </a:br>
            <a:r>
              <a:rPr lang="en-US" dirty="0"/>
              <a:t>product quality</a:t>
            </a:r>
          </a:p>
          <a:p>
            <a:r>
              <a:rPr lang="en-US" dirty="0"/>
              <a:t>Increases scheduling flexibility/capacity</a:t>
            </a:r>
          </a:p>
          <a:p>
            <a:r>
              <a:rPr lang="en-US" dirty="0"/>
              <a:t>Reduces the need for on-hand inventory</a:t>
            </a:r>
          </a:p>
          <a:p>
            <a:r>
              <a:rPr lang="en-US" dirty="0"/>
              <a:t>Large scale defect problems in inventory are less likely</a:t>
            </a:r>
          </a:p>
          <a:p>
            <a:r>
              <a:rPr lang="en-US" dirty="0"/>
              <a:t>Improved service levels for customers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4" name="Group 3">
            <a:extLst>
              <a:ext uri="{FF2B5EF4-FFF2-40B4-BE49-F238E27FC236}">
                <a16:creationId xmlns:a16="http://schemas.microsoft.com/office/drawing/2014/main" id="{91984C89-3ED9-2775-6493-18E14A09F5FE}"/>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A91863D-5349-D217-98EE-EF85556C282D}"/>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EA9FD869-58C9-9657-420A-3EFB68FA799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63D47F4F-5EA5-BB2A-3247-A11236F6574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DC2BD87E-0D9C-BC64-C882-0B74C3972E6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C34705E1-06EA-E406-40EE-A0AA970B7625}"/>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Definition</a:t>
              </a:r>
            </a:p>
          </p:txBody>
        </p:sp>
      </p:grpSp>
    </p:spTree>
    <p:extLst>
      <p:ext uri="{BB962C8B-B14F-4D97-AF65-F5344CB8AC3E}">
        <p14:creationId xmlns:p14="http://schemas.microsoft.com/office/powerpoint/2010/main" val="758970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SMED Improvements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3" name="Group 2">
            <a:extLst>
              <a:ext uri="{FF2B5EF4-FFF2-40B4-BE49-F238E27FC236}">
                <a16:creationId xmlns:a16="http://schemas.microsoft.com/office/drawing/2014/main" id="{C25326EB-4ED7-D9F5-A47E-5EB1AC2C5EEB}"/>
              </a:ext>
            </a:extLst>
          </p:cNvPr>
          <p:cNvGrpSpPr/>
          <p:nvPr/>
        </p:nvGrpSpPr>
        <p:grpSpPr>
          <a:xfrm>
            <a:off x="838200" y="297639"/>
            <a:ext cx="4024630" cy="301303"/>
            <a:chOff x="838200" y="297639"/>
            <a:chExt cx="4024630" cy="301303"/>
          </a:xfrm>
        </p:grpSpPr>
        <p:grpSp>
          <p:nvGrpSpPr>
            <p:cNvPr id="5" name="Group 4">
              <a:extLst>
                <a:ext uri="{FF2B5EF4-FFF2-40B4-BE49-F238E27FC236}">
                  <a16:creationId xmlns:a16="http://schemas.microsoft.com/office/drawing/2014/main" id="{C1554EF3-0DBA-F70F-65EA-CEABF86B58A5}"/>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B17A3EF4-1111-5FFF-1569-48F59C20B98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88655C91-F2C3-1F39-A864-BE48663C504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F362F07D-FA26-8558-745E-B93883D50DE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DCBB7312-CFEE-B530-14B6-10CBF668E8A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Definition</a:t>
              </a:r>
            </a:p>
          </p:txBody>
        </p:sp>
      </p:grpSp>
      <p:grpSp>
        <p:nvGrpSpPr>
          <p:cNvPr id="52" name="Group 51">
            <a:extLst>
              <a:ext uri="{FF2B5EF4-FFF2-40B4-BE49-F238E27FC236}">
                <a16:creationId xmlns:a16="http://schemas.microsoft.com/office/drawing/2014/main" id="{3C964152-E180-1754-0B64-2BC29BB647EB}"/>
              </a:ext>
            </a:extLst>
          </p:cNvPr>
          <p:cNvGrpSpPr/>
          <p:nvPr/>
        </p:nvGrpSpPr>
        <p:grpSpPr>
          <a:xfrm>
            <a:off x="1151875" y="1946120"/>
            <a:ext cx="9898380" cy="4131596"/>
            <a:chOff x="457200" y="1536700"/>
            <a:chExt cx="8355013" cy="4378325"/>
          </a:xfrm>
        </p:grpSpPr>
        <p:sp>
          <p:nvSpPr>
            <p:cNvPr id="31" name="Rectangle 4">
              <a:extLst>
                <a:ext uri="{FF2B5EF4-FFF2-40B4-BE49-F238E27FC236}">
                  <a16:creationId xmlns:a16="http://schemas.microsoft.com/office/drawing/2014/main" id="{E6FE3F17-0EFE-830B-3A14-02AE5A5CFF1B}"/>
                </a:ext>
              </a:extLst>
            </p:cNvPr>
            <p:cNvSpPr>
              <a:spLocks noChangeArrowheads="1"/>
            </p:cNvSpPr>
            <p:nvPr/>
          </p:nvSpPr>
          <p:spPr bwMode="auto">
            <a:xfrm>
              <a:off x="1196975" y="1971675"/>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Wiremold Company</a:t>
              </a:r>
            </a:p>
          </p:txBody>
        </p:sp>
        <p:sp>
          <p:nvSpPr>
            <p:cNvPr id="32" name="Rectangle 5">
              <a:extLst>
                <a:ext uri="{FF2B5EF4-FFF2-40B4-BE49-F238E27FC236}">
                  <a16:creationId xmlns:a16="http://schemas.microsoft.com/office/drawing/2014/main" id="{05C2B289-2BC7-923A-1A29-ADA6C288A182}"/>
                </a:ext>
              </a:extLst>
            </p:cNvPr>
            <p:cNvSpPr>
              <a:spLocks noChangeArrowheads="1"/>
            </p:cNvSpPr>
            <p:nvPr/>
          </p:nvSpPr>
          <p:spPr bwMode="auto">
            <a:xfrm>
              <a:off x="1196975" y="2808288"/>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Hitachi Automotive</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Products</a:t>
              </a:r>
            </a:p>
          </p:txBody>
        </p:sp>
        <p:sp>
          <p:nvSpPr>
            <p:cNvPr id="33" name="Rectangle 6">
              <a:extLst>
                <a:ext uri="{FF2B5EF4-FFF2-40B4-BE49-F238E27FC236}">
                  <a16:creationId xmlns:a16="http://schemas.microsoft.com/office/drawing/2014/main" id="{E4999CDE-A433-062B-77D8-F007B6C817ED}"/>
                </a:ext>
              </a:extLst>
            </p:cNvPr>
            <p:cNvSpPr>
              <a:spLocks noChangeArrowheads="1"/>
            </p:cNvSpPr>
            <p:nvPr/>
          </p:nvSpPr>
          <p:spPr bwMode="auto">
            <a:xfrm>
              <a:off x="1196975" y="3700463"/>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Steelmill</a:t>
              </a:r>
            </a:p>
          </p:txBody>
        </p:sp>
        <p:sp>
          <p:nvSpPr>
            <p:cNvPr id="34" name="Rectangle 7">
              <a:extLst>
                <a:ext uri="{FF2B5EF4-FFF2-40B4-BE49-F238E27FC236}">
                  <a16:creationId xmlns:a16="http://schemas.microsoft.com/office/drawing/2014/main" id="{8EF79FF5-38AD-5CC6-8E34-3AAB9CB0D0AB}"/>
                </a:ext>
              </a:extLst>
            </p:cNvPr>
            <p:cNvSpPr>
              <a:spLocks noChangeArrowheads="1"/>
            </p:cNvSpPr>
            <p:nvPr/>
          </p:nvSpPr>
          <p:spPr bwMode="auto">
            <a:xfrm>
              <a:off x="1196975" y="4522788"/>
              <a:ext cx="1908175" cy="56832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Automotive OEM</a:t>
              </a:r>
            </a:p>
          </p:txBody>
        </p:sp>
        <p:sp>
          <p:nvSpPr>
            <p:cNvPr id="35" name="Line 8">
              <a:extLst>
                <a:ext uri="{FF2B5EF4-FFF2-40B4-BE49-F238E27FC236}">
                  <a16:creationId xmlns:a16="http://schemas.microsoft.com/office/drawing/2014/main" id="{A84A3ACF-FB56-7037-B25B-7B267BA85E8E}"/>
                </a:ext>
              </a:extLst>
            </p:cNvPr>
            <p:cNvSpPr>
              <a:spLocks noChangeShapeType="1"/>
            </p:cNvSpPr>
            <p:nvPr/>
          </p:nvSpPr>
          <p:spPr bwMode="auto">
            <a:xfrm>
              <a:off x="471488" y="267811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6" name="Line 9">
              <a:extLst>
                <a:ext uri="{FF2B5EF4-FFF2-40B4-BE49-F238E27FC236}">
                  <a16:creationId xmlns:a16="http://schemas.microsoft.com/office/drawing/2014/main" id="{AAE601E9-E172-28B4-2593-865FBDC8BDBF}"/>
                </a:ext>
              </a:extLst>
            </p:cNvPr>
            <p:cNvSpPr>
              <a:spLocks noChangeShapeType="1"/>
            </p:cNvSpPr>
            <p:nvPr/>
          </p:nvSpPr>
          <p:spPr bwMode="auto">
            <a:xfrm>
              <a:off x="487363" y="358298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7" name="Line 10">
              <a:extLst>
                <a:ext uri="{FF2B5EF4-FFF2-40B4-BE49-F238E27FC236}">
                  <a16:creationId xmlns:a16="http://schemas.microsoft.com/office/drawing/2014/main" id="{FF89DE9D-0112-5C08-23B5-BF607D9572D7}"/>
                </a:ext>
              </a:extLst>
            </p:cNvPr>
            <p:cNvSpPr>
              <a:spLocks noChangeShapeType="1"/>
            </p:cNvSpPr>
            <p:nvPr/>
          </p:nvSpPr>
          <p:spPr bwMode="auto">
            <a:xfrm>
              <a:off x="457200" y="4402138"/>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8" name="Line 11">
              <a:extLst>
                <a:ext uri="{FF2B5EF4-FFF2-40B4-BE49-F238E27FC236}">
                  <a16:creationId xmlns:a16="http://schemas.microsoft.com/office/drawing/2014/main" id="{F6F7DE92-18E5-D4D3-4BE5-C475DAAC671D}"/>
                </a:ext>
              </a:extLst>
            </p:cNvPr>
            <p:cNvSpPr>
              <a:spLocks noChangeShapeType="1"/>
            </p:cNvSpPr>
            <p:nvPr/>
          </p:nvSpPr>
          <p:spPr bwMode="auto">
            <a:xfrm>
              <a:off x="473075" y="5264150"/>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 name="Rectangle 12">
              <a:extLst>
                <a:ext uri="{FF2B5EF4-FFF2-40B4-BE49-F238E27FC236}">
                  <a16:creationId xmlns:a16="http://schemas.microsoft.com/office/drawing/2014/main" id="{BA0386A5-8617-005E-8707-7A4F98B9F80C}"/>
                </a:ext>
              </a:extLst>
            </p:cNvPr>
            <p:cNvSpPr>
              <a:spLocks noChangeArrowheads="1"/>
            </p:cNvSpPr>
            <p:nvPr/>
          </p:nvSpPr>
          <p:spPr bwMode="auto">
            <a:xfrm>
              <a:off x="3638550" y="1954213"/>
              <a:ext cx="5159375" cy="30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Reduced changeover time from 2 hours to 10 minutes</a:t>
              </a:r>
              <a:endParaRPr lang="en-US" altLang="en-US" sz="1400" b="0" dirty="0">
                <a:latin typeface="Roboto" panose="02000000000000000000" pitchFamily="2" charset="0"/>
                <a:ea typeface="Roboto" panose="02000000000000000000" pitchFamily="2" charset="0"/>
              </a:endParaRPr>
            </a:p>
          </p:txBody>
        </p:sp>
        <p:sp>
          <p:nvSpPr>
            <p:cNvPr id="40" name="Rectangle 13">
              <a:extLst>
                <a:ext uri="{FF2B5EF4-FFF2-40B4-BE49-F238E27FC236}">
                  <a16:creationId xmlns:a16="http://schemas.microsoft.com/office/drawing/2014/main" id="{6BA279A3-A5A1-57E5-A744-173965E04C15}"/>
                </a:ext>
              </a:extLst>
            </p:cNvPr>
            <p:cNvSpPr>
              <a:spLocks noChangeArrowheads="1"/>
            </p:cNvSpPr>
            <p:nvPr/>
          </p:nvSpPr>
          <p:spPr bwMode="auto">
            <a:xfrm>
              <a:off x="3641725" y="2813050"/>
              <a:ext cx="5170488" cy="30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Reduced changeover from 1.5 hours to 20 minutes</a:t>
              </a:r>
            </a:p>
          </p:txBody>
        </p:sp>
        <p:sp>
          <p:nvSpPr>
            <p:cNvPr id="41" name="Rectangle 14">
              <a:extLst>
                <a:ext uri="{FF2B5EF4-FFF2-40B4-BE49-F238E27FC236}">
                  <a16:creationId xmlns:a16="http://schemas.microsoft.com/office/drawing/2014/main" id="{22806941-43CF-87F7-ACD4-46D7C0543F28}"/>
                </a:ext>
              </a:extLst>
            </p:cNvPr>
            <p:cNvSpPr>
              <a:spLocks noChangeArrowheads="1"/>
            </p:cNvSpPr>
            <p:nvPr/>
          </p:nvSpPr>
          <p:spPr bwMode="auto">
            <a:xfrm>
              <a:off x="3641725" y="3705224"/>
              <a:ext cx="4970463" cy="30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Three 500 ton presses changed over from 3 ½ hours to 30 minutes </a:t>
              </a:r>
            </a:p>
          </p:txBody>
        </p:sp>
        <p:sp>
          <p:nvSpPr>
            <p:cNvPr id="42" name="Rectangle 15">
              <a:extLst>
                <a:ext uri="{FF2B5EF4-FFF2-40B4-BE49-F238E27FC236}">
                  <a16:creationId xmlns:a16="http://schemas.microsoft.com/office/drawing/2014/main" id="{AD8DC521-984B-5ADA-3094-A2F74AD16A52}"/>
                </a:ext>
              </a:extLst>
            </p:cNvPr>
            <p:cNvSpPr>
              <a:spLocks noChangeArrowheads="1"/>
            </p:cNvSpPr>
            <p:nvPr/>
          </p:nvSpPr>
          <p:spPr bwMode="auto">
            <a:xfrm>
              <a:off x="3641725" y="4529138"/>
              <a:ext cx="5130800" cy="534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Injection molders: all molds and inserts changed from </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1 ½ hours to 9 minutes </a:t>
              </a:r>
            </a:p>
          </p:txBody>
        </p:sp>
        <p:sp>
          <p:nvSpPr>
            <p:cNvPr id="43" name="Line 16">
              <a:extLst>
                <a:ext uri="{FF2B5EF4-FFF2-40B4-BE49-F238E27FC236}">
                  <a16:creationId xmlns:a16="http://schemas.microsoft.com/office/drawing/2014/main" id="{A5308DD5-3B09-9C96-EE1E-F07D09E3E23F}"/>
                </a:ext>
              </a:extLst>
            </p:cNvPr>
            <p:cNvSpPr>
              <a:spLocks noChangeShapeType="1"/>
            </p:cNvSpPr>
            <p:nvPr/>
          </p:nvSpPr>
          <p:spPr bwMode="auto">
            <a:xfrm flipV="1">
              <a:off x="461963" y="1824038"/>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4" name="Text Box 17">
              <a:extLst>
                <a:ext uri="{FF2B5EF4-FFF2-40B4-BE49-F238E27FC236}">
                  <a16:creationId xmlns:a16="http://schemas.microsoft.com/office/drawing/2014/main" id="{93856A82-9A51-CB5C-DC80-A26F380B02B2}"/>
                </a:ext>
              </a:extLst>
            </p:cNvPr>
            <p:cNvSpPr txBox="1">
              <a:spLocks noChangeArrowheads="1"/>
            </p:cNvSpPr>
            <p:nvPr/>
          </p:nvSpPr>
          <p:spPr bwMode="auto">
            <a:xfrm>
              <a:off x="471488" y="1536700"/>
              <a:ext cx="3890320" cy="3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Companies	           	      Descriptions</a:t>
              </a:r>
            </a:p>
          </p:txBody>
        </p:sp>
        <p:sp>
          <p:nvSpPr>
            <p:cNvPr id="45" name="Oval 18">
              <a:extLst>
                <a:ext uri="{FF2B5EF4-FFF2-40B4-BE49-F238E27FC236}">
                  <a16:creationId xmlns:a16="http://schemas.microsoft.com/office/drawing/2014/main" id="{E25C241C-EDC3-4364-FD16-02BAB6C14CC8}"/>
                </a:ext>
              </a:extLst>
            </p:cNvPr>
            <p:cNvSpPr>
              <a:spLocks noChangeArrowheads="1"/>
            </p:cNvSpPr>
            <p:nvPr/>
          </p:nvSpPr>
          <p:spPr bwMode="auto">
            <a:xfrm>
              <a:off x="519113" y="20796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sp>
          <p:nvSpPr>
            <p:cNvPr id="46" name="Oval 19">
              <a:extLst>
                <a:ext uri="{FF2B5EF4-FFF2-40B4-BE49-F238E27FC236}">
                  <a16:creationId xmlns:a16="http://schemas.microsoft.com/office/drawing/2014/main" id="{9AB84F9B-9CA5-64B9-5D43-673725677B25}"/>
                </a:ext>
              </a:extLst>
            </p:cNvPr>
            <p:cNvSpPr>
              <a:spLocks noChangeArrowheads="1"/>
            </p:cNvSpPr>
            <p:nvPr/>
          </p:nvSpPr>
          <p:spPr bwMode="auto">
            <a:xfrm>
              <a:off x="519113" y="2919413"/>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47" name="Oval 20">
              <a:extLst>
                <a:ext uri="{FF2B5EF4-FFF2-40B4-BE49-F238E27FC236}">
                  <a16:creationId xmlns:a16="http://schemas.microsoft.com/office/drawing/2014/main" id="{5CAE7305-B5DA-32E9-FECC-993401B568EC}"/>
                </a:ext>
              </a:extLst>
            </p:cNvPr>
            <p:cNvSpPr>
              <a:spLocks noChangeArrowheads="1"/>
            </p:cNvSpPr>
            <p:nvPr/>
          </p:nvSpPr>
          <p:spPr bwMode="auto">
            <a:xfrm>
              <a:off x="519113" y="3808413"/>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a:t>
              </a:r>
            </a:p>
          </p:txBody>
        </p:sp>
        <p:sp>
          <p:nvSpPr>
            <p:cNvPr id="48" name="Oval 21">
              <a:extLst>
                <a:ext uri="{FF2B5EF4-FFF2-40B4-BE49-F238E27FC236}">
                  <a16:creationId xmlns:a16="http://schemas.microsoft.com/office/drawing/2014/main" id="{D779D446-3910-E292-721A-597FB686CE4A}"/>
                </a:ext>
              </a:extLst>
            </p:cNvPr>
            <p:cNvSpPr>
              <a:spLocks noChangeArrowheads="1"/>
            </p:cNvSpPr>
            <p:nvPr/>
          </p:nvSpPr>
          <p:spPr bwMode="auto">
            <a:xfrm>
              <a:off x="519113" y="4633913"/>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4</a:t>
              </a:r>
            </a:p>
          </p:txBody>
        </p:sp>
        <p:sp>
          <p:nvSpPr>
            <p:cNvPr id="49" name="Rectangle 22">
              <a:extLst>
                <a:ext uri="{FF2B5EF4-FFF2-40B4-BE49-F238E27FC236}">
                  <a16:creationId xmlns:a16="http://schemas.microsoft.com/office/drawing/2014/main" id="{1BF7172C-2F38-4C7E-9C11-322271CB5483}"/>
                </a:ext>
              </a:extLst>
            </p:cNvPr>
            <p:cNvSpPr>
              <a:spLocks noChangeArrowheads="1"/>
            </p:cNvSpPr>
            <p:nvPr/>
          </p:nvSpPr>
          <p:spPr bwMode="auto">
            <a:xfrm>
              <a:off x="1192213" y="5346700"/>
              <a:ext cx="1908175" cy="568325"/>
            </a:xfrm>
            <a:prstGeom prst="rect">
              <a:avLst/>
            </a:prstGeom>
            <a:solidFill>
              <a:schemeClr val="accent5"/>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Machine Shop</a:t>
              </a:r>
            </a:p>
          </p:txBody>
        </p:sp>
        <p:sp>
          <p:nvSpPr>
            <p:cNvPr id="50" name="Rectangle 24">
              <a:extLst>
                <a:ext uri="{FF2B5EF4-FFF2-40B4-BE49-F238E27FC236}">
                  <a16:creationId xmlns:a16="http://schemas.microsoft.com/office/drawing/2014/main" id="{04B7E951-F8C9-F096-CD66-78B386E91185}"/>
                </a:ext>
              </a:extLst>
            </p:cNvPr>
            <p:cNvSpPr>
              <a:spLocks noChangeArrowheads="1"/>
            </p:cNvSpPr>
            <p:nvPr/>
          </p:nvSpPr>
          <p:spPr bwMode="auto">
            <a:xfrm>
              <a:off x="3636963" y="5353050"/>
              <a:ext cx="5130800" cy="534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Screw machine tooling changed and new set-up, reduced from 1 hour to 8 minutes</a:t>
              </a:r>
            </a:p>
          </p:txBody>
        </p:sp>
        <p:sp>
          <p:nvSpPr>
            <p:cNvPr id="51" name="Oval 25">
              <a:extLst>
                <a:ext uri="{FF2B5EF4-FFF2-40B4-BE49-F238E27FC236}">
                  <a16:creationId xmlns:a16="http://schemas.microsoft.com/office/drawing/2014/main" id="{55A9AD45-E971-C82E-DFB9-C8C729B4748C}"/>
                </a:ext>
              </a:extLst>
            </p:cNvPr>
            <p:cNvSpPr>
              <a:spLocks noChangeArrowheads="1"/>
            </p:cNvSpPr>
            <p:nvPr/>
          </p:nvSpPr>
          <p:spPr bwMode="auto">
            <a:xfrm>
              <a:off x="514350" y="54578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5</a:t>
              </a:r>
            </a:p>
          </p:txBody>
        </p:sp>
      </p:grpSp>
    </p:spTree>
    <p:extLst>
      <p:ext uri="{BB962C8B-B14F-4D97-AF65-F5344CB8AC3E}">
        <p14:creationId xmlns:p14="http://schemas.microsoft.com/office/powerpoint/2010/main" val="481039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Set-Up Time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3" name="Group 2">
            <a:extLst>
              <a:ext uri="{FF2B5EF4-FFF2-40B4-BE49-F238E27FC236}">
                <a16:creationId xmlns:a16="http://schemas.microsoft.com/office/drawing/2014/main" id="{C25326EB-4ED7-D9F5-A47E-5EB1AC2C5EEB}"/>
              </a:ext>
            </a:extLst>
          </p:cNvPr>
          <p:cNvGrpSpPr/>
          <p:nvPr/>
        </p:nvGrpSpPr>
        <p:grpSpPr>
          <a:xfrm>
            <a:off x="838200" y="297639"/>
            <a:ext cx="4024630" cy="301303"/>
            <a:chOff x="838200" y="297639"/>
            <a:chExt cx="4024630" cy="301303"/>
          </a:xfrm>
        </p:grpSpPr>
        <p:grpSp>
          <p:nvGrpSpPr>
            <p:cNvPr id="5" name="Group 4">
              <a:extLst>
                <a:ext uri="{FF2B5EF4-FFF2-40B4-BE49-F238E27FC236}">
                  <a16:creationId xmlns:a16="http://schemas.microsoft.com/office/drawing/2014/main" id="{C1554EF3-0DBA-F70F-65EA-CEABF86B58A5}"/>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B17A3EF4-1111-5FFF-1569-48F59C20B98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88655C91-F2C3-1F39-A864-BE48663C504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F362F07D-FA26-8558-745E-B93883D50DE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DCBB7312-CFEE-B530-14B6-10CBF668E8A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Definition</a:t>
              </a:r>
            </a:p>
          </p:txBody>
        </p:sp>
      </p:grpSp>
      <p:pic>
        <p:nvPicPr>
          <p:cNvPr id="10" name="Picture 41" descr="smed1">
            <a:extLst>
              <a:ext uri="{FF2B5EF4-FFF2-40B4-BE49-F238E27FC236}">
                <a16:creationId xmlns:a16="http://schemas.microsoft.com/office/drawing/2014/main" id="{E168B487-6DAD-4844-6390-A5480757E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170" y="1706294"/>
            <a:ext cx="7947660" cy="4626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5599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11</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Definition</a:t>
              </a:r>
            </a:p>
          </p:txBody>
        </p:sp>
      </p:grpSp>
    </p:spTree>
    <p:extLst>
      <p:ext uri="{BB962C8B-B14F-4D97-AF65-F5344CB8AC3E}">
        <p14:creationId xmlns:p14="http://schemas.microsoft.com/office/powerpoint/2010/main" val="1711093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SMED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SMED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clear geographic boundaries?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grpSp>
        <p:nvGrpSpPr>
          <p:cNvPr id="10" name="Group 9">
            <a:extLst>
              <a:ext uri="{FF2B5EF4-FFF2-40B4-BE49-F238E27FC236}">
                <a16:creationId xmlns:a16="http://schemas.microsoft.com/office/drawing/2014/main" id="{B08A167F-C833-1950-01C0-9941D9518DED}"/>
              </a:ext>
            </a:extLst>
          </p:cNvPr>
          <p:cNvGrpSpPr/>
          <p:nvPr/>
        </p:nvGrpSpPr>
        <p:grpSpPr>
          <a:xfrm>
            <a:off x="838200" y="297639"/>
            <a:ext cx="4024630" cy="301303"/>
            <a:chOff x="838200" y="297639"/>
            <a:chExt cx="4024630" cy="301303"/>
          </a:xfrm>
        </p:grpSpPr>
        <p:grpSp>
          <p:nvGrpSpPr>
            <p:cNvPr id="19" name="Group 18">
              <a:extLst>
                <a:ext uri="{FF2B5EF4-FFF2-40B4-BE49-F238E27FC236}">
                  <a16:creationId xmlns:a16="http://schemas.microsoft.com/office/drawing/2014/main" id="{D9096CC7-BB2F-514E-CAD9-098B805320BB}"/>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0E2CEDA2-C7F8-4546-6255-618B5088CBA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DCBB92E1-169D-3D0F-EC1D-4BB25A0F332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2F6A2FB1-C0D9-9FBA-EDD3-D4C761D3241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0" name="TextBox 19">
              <a:extLst>
                <a:ext uri="{FF2B5EF4-FFF2-40B4-BE49-F238E27FC236}">
                  <a16:creationId xmlns:a16="http://schemas.microsoft.com/office/drawing/2014/main" id="{E46EFDFE-BF94-D441-6A7A-B1BF8A159BA3}"/>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Definition</a:t>
              </a:r>
            </a:p>
          </p:txBody>
        </p:sp>
      </p:grpSp>
    </p:spTree>
    <p:extLst>
      <p:ext uri="{BB962C8B-B14F-4D97-AF65-F5344CB8AC3E}">
        <p14:creationId xmlns:p14="http://schemas.microsoft.com/office/powerpoint/2010/main" val="1840648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SMED</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Review the SMED Methodology</a:t>
            </a:r>
          </a:p>
          <a:p>
            <a:r>
              <a:rPr lang="en-US" sz="2400" dirty="0"/>
              <a:t>Observe the current set-up process and complete Pareto Analysis</a:t>
            </a:r>
          </a:p>
          <a:p>
            <a:r>
              <a:rPr lang="en-US" sz="2400" dirty="0"/>
              <a:t>Separate internal elements from external elements</a:t>
            </a:r>
          </a:p>
          <a:p>
            <a:r>
              <a:rPr lang="en-US" sz="2400" dirty="0"/>
              <a:t>Develop and implement an improvement plan </a:t>
            </a:r>
          </a:p>
          <a:p>
            <a:r>
              <a:rPr lang="en-US" sz="2400" dirty="0"/>
              <a:t>Document the new set-up</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837133"/>
            <a:ext cx="4425950" cy="659879"/>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SMED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Review</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SMED</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Process </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SMED</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Definition</a:t>
              </a:r>
            </a:p>
          </p:txBody>
        </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185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2018350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1941636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Observe and Document the Current Set-Up</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16</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graphicFrame>
        <p:nvGraphicFramePr>
          <p:cNvPr id="7" name="Group 146">
            <a:extLst>
              <a:ext uri="{FF2B5EF4-FFF2-40B4-BE49-F238E27FC236}">
                <a16:creationId xmlns:a16="http://schemas.microsoft.com/office/drawing/2014/main" id="{B80C1C64-175F-9B66-5381-F40ABF06DB25}"/>
              </a:ext>
            </a:extLst>
          </p:cNvPr>
          <p:cNvGraphicFramePr>
            <a:graphicFrameLocks noGrp="1"/>
          </p:cNvGraphicFramePr>
          <p:nvPr>
            <p:extLst>
              <p:ext uri="{D42A27DB-BD31-4B8C-83A1-F6EECF244321}">
                <p14:modId xmlns:p14="http://schemas.microsoft.com/office/powerpoint/2010/main" val="3857958442"/>
              </p:ext>
            </p:extLst>
          </p:nvPr>
        </p:nvGraphicFramePr>
        <p:xfrm>
          <a:off x="1774666" y="1783431"/>
          <a:ext cx="8172450" cy="3871912"/>
        </p:xfrm>
        <a:graphic>
          <a:graphicData uri="http://schemas.openxmlformats.org/drawingml/2006/table">
            <a:tbl>
              <a:tblPr/>
              <a:tblGrid>
                <a:gridCol w="2587625">
                  <a:extLst>
                    <a:ext uri="{9D8B030D-6E8A-4147-A177-3AD203B41FA5}">
                      <a16:colId xmlns:a16="http://schemas.microsoft.com/office/drawing/2014/main" val="20000"/>
                    </a:ext>
                  </a:extLst>
                </a:gridCol>
                <a:gridCol w="5584825">
                  <a:extLst>
                    <a:ext uri="{9D8B030D-6E8A-4147-A177-3AD203B41FA5}">
                      <a16:colId xmlns:a16="http://schemas.microsoft.com/office/drawing/2014/main" val="20001"/>
                    </a:ext>
                  </a:extLst>
                </a:gridCol>
              </a:tblGrid>
              <a:tr h="48853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Searching</a:t>
                      </a:r>
                    </a:p>
                  </a:txBody>
                  <a:tcPr marT="46589" marB="46589"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Looking for tools, jigs, fixtures, etc.</a:t>
                      </a:r>
                    </a:p>
                  </a:txBody>
                  <a:tcPr marT="46589" marB="46589"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529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Fixture Change</a:t>
                      </a:r>
                    </a:p>
                  </a:txBody>
                  <a:tcPr marT="46589" marB="46589"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Replacing one fixture with another</a:t>
                      </a:r>
                    </a:p>
                  </a:txBody>
                  <a:tcPr marT="46589" marB="46589"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53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Tool Change</a:t>
                      </a:r>
                    </a:p>
                  </a:txBody>
                  <a:tcPr marT="46589" marB="46589"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Replacing existing tooling</a:t>
                      </a:r>
                    </a:p>
                  </a:txBody>
                  <a:tcPr marT="46589" marB="46589"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0336">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Programming</a:t>
                      </a:r>
                    </a:p>
                  </a:txBody>
                  <a:tcPr marT="46589" marB="46589"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Making adjustments or changes to a CNC program in order to accommodate the new set-up</a:t>
                      </a:r>
                    </a:p>
                  </a:txBody>
                  <a:tcPr marT="46589" marB="46589"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0336">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Walk time</a:t>
                      </a:r>
                    </a:p>
                  </a:txBody>
                  <a:tcPr marT="46589" marB="46589"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The time an operator must walk to retrieve a fixture, tools, etc</a:t>
                      </a:r>
                    </a:p>
                  </a:txBody>
                  <a:tcPr marT="46589" marB="46589"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0336">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1</a:t>
                      </a:r>
                      <a:r>
                        <a:rPr kumimoji="0" lang="en-US" sz="1600" b="1" i="0" u="none" strike="noStrike" cap="none" normalizeH="0" baseline="30000">
                          <a:ln>
                            <a:noFill/>
                          </a:ln>
                          <a:solidFill>
                            <a:schemeClr val="tx1"/>
                          </a:solidFill>
                          <a:effectLst/>
                          <a:latin typeface="Arial" charset="0"/>
                          <a:ea typeface="ＭＳ Ｐゴシック" charset="0"/>
                        </a:rPr>
                        <a:t>st</a:t>
                      </a:r>
                      <a:r>
                        <a:rPr kumimoji="0" lang="en-US" sz="1600" b="1" i="0" u="none" strike="noStrike" cap="none" normalizeH="0" baseline="0">
                          <a:ln>
                            <a:noFill/>
                          </a:ln>
                          <a:solidFill>
                            <a:schemeClr val="tx1"/>
                          </a:solidFill>
                          <a:effectLst/>
                          <a:latin typeface="Arial" charset="0"/>
                          <a:ea typeface="ＭＳ Ｐゴシック" charset="0"/>
                        </a:rPr>
                        <a:t> Piece</a:t>
                      </a:r>
                    </a:p>
                  </a:txBody>
                  <a:tcPr marT="46589" marB="46589"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The time required to produce a good unit after the initial set-up</a:t>
                      </a:r>
                    </a:p>
                  </a:txBody>
                  <a:tcPr marT="46589" marB="46589"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53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Gage</a:t>
                      </a:r>
                    </a:p>
                  </a:txBody>
                  <a:tcPr marT="46589" marB="46589"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Arial" charset="0"/>
                          <a:ea typeface="ＭＳ Ｐゴシック" charset="0"/>
                        </a:rPr>
                        <a:t>The time required to qualify the 1</a:t>
                      </a:r>
                      <a:r>
                        <a:rPr kumimoji="0" lang="en-US" sz="1600" b="1" i="0" u="none" strike="noStrike" cap="none" normalizeH="0" baseline="30000">
                          <a:ln>
                            <a:noFill/>
                          </a:ln>
                          <a:solidFill>
                            <a:schemeClr val="tx1"/>
                          </a:solidFill>
                          <a:effectLst/>
                          <a:latin typeface="Arial" charset="0"/>
                          <a:ea typeface="ＭＳ Ｐゴシック" charset="0"/>
                        </a:rPr>
                        <a:t>st</a:t>
                      </a:r>
                      <a:r>
                        <a:rPr kumimoji="0" lang="en-US" sz="1600" b="1" i="0" u="none" strike="noStrike" cap="none" normalizeH="0" baseline="0">
                          <a:ln>
                            <a:noFill/>
                          </a:ln>
                          <a:solidFill>
                            <a:schemeClr val="tx1"/>
                          </a:solidFill>
                          <a:effectLst/>
                          <a:latin typeface="Arial" charset="0"/>
                          <a:ea typeface="ＭＳ Ｐゴシック" charset="0"/>
                        </a:rPr>
                        <a:t> piece</a:t>
                      </a:r>
                    </a:p>
                  </a:txBody>
                  <a:tcPr marT="46589" marB="46589" horzOverflow="overflow">
                    <a:lnL>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 name="Text Box 147">
            <a:extLst>
              <a:ext uri="{FF2B5EF4-FFF2-40B4-BE49-F238E27FC236}">
                <a16:creationId xmlns:a16="http://schemas.microsoft.com/office/drawing/2014/main" id="{C73A6D13-B9B0-6B1A-01B0-BB0EFB40AC70}"/>
              </a:ext>
            </a:extLst>
          </p:cNvPr>
          <p:cNvSpPr txBox="1">
            <a:spLocks noChangeArrowheads="1"/>
          </p:cNvSpPr>
          <p:nvPr/>
        </p:nvSpPr>
        <p:spPr bwMode="auto">
          <a:xfrm>
            <a:off x="1742123" y="5868624"/>
            <a:ext cx="8237537" cy="369332"/>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a:latin typeface="Roboto" panose="02000000000000000000" pitchFamily="2" charset="0"/>
                <a:ea typeface="Roboto" panose="02000000000000000000" pitchFamily="2" charset="0"/>
              </a:rPr>
              <a:t>Videotaping the current set-up process for analysis is a best practice</a:t>
            </a:r>
            <a:endParaRPr lang="en-US" altLang="en-US" sz="1400" b="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9527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Observe and Document the Current Set-Up</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17</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pic>
        <p:nvPicPr>
          <p:cNvPr id="9" name="Picture 15" descr="smed2">
            <a:extLst>
              <a:ext uri="{FF2B5EF4-FFF2-40B4-BE49-F238E27FC236}">
                <a16:creationId xmlns:a16="http://schemas.microsoft.com/office/drawing/2014/main" id="{32BAF105-AE95-BABD-5320-66DE7A2F7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8516" y="1783430"/>
            <a:ext cx="8154968" cy="4549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7790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Set-Up Pareto Analysis</a:t>
            </a:r>
          </a:p>
        </p:txBody>
      </p:sp>
      <p:graphicFrame>
        <p:nvGraphicFramePr>
          <p:cNvPr id="64" name="Content Placeholder 63">
            <a:extLst>
              <a:ext uri="{FF2B5EF4-FFF2-40B4-BE49-F238E27FC236}">
                <a16:creationId xmlns:a16="http://schemas.microsoft.com/office/drawing/2014/main" id="{26D674E8-782C-3679-63A6-4E4586E0F24B}"/>
              </a:ext>
            </a:extLst>
          </p:cNvPr>
          <p:cNvGraphicFramePr>
            <a:graphicFrameLocks noGrp="1"/>
          </p:cNvGraphicFramePr>
          <p:nvPr>
            <p:ph idx="1"/>
            <p:extLst>
              <p:ext uri="{D42A27DB-BD31-4B8C-83A1-F6EECF244321}">
                <p14:modId xmlns:p14="http://schemas.microsoft.com/office/powerpoint/2010/main" val="649007920"/>
              </p:ext>
            </p:extLst>
          </p:nvPr>
        </p:nvGraphicFramePr>
        <p:xfrm>
          <a:off x="2171700" y="1825625"/>
          <a:ext cx="7848600"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4" name="Group 3">
            <a:extLst>
              <a:ext uri="{FF2B5EF4-FFF2-40B4-BE49-F238E27FC236}">
                <a16:creationId xmlns:a16="http://schemas.microsoft.com/office/drawing/2014/main" id="{DDD022D0-6F0C-37E5-43E8-DF4A9F8724F2}"/>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E7BDABB5-C61B-E336-CC99-17FE97AFBF77}"/>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B7C33B91-82F2-2D9D-0F38-9872F2E9134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7C94ACB9-8949-0881-9F23-CE150375612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994D464A-8703-8A0E-417A-D2618A9D88D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924B682F-CB81-ADFA-D850-4575D64B371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247633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19</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35994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Types of Set-Up Time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6154455" y="2059358"/>
            <a:ext cx="5157787" cy="455241"/>
          </a:xfrm>
        </p:spPr>
        <p:txBody>
          <a:bodyPr/>
          <a:lstStyle/>
          <a:p>
            <a:r>
              <a:rPr lang="en-US" dirty="0"/>
              <a:t>Internal</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6154455" y="2514600"/>
            <a:ext cx="5157787" cy="1268730"/>
          </a:xfrm>
        </p:spPr>
        <p:txBody>
          <a:bodyPr>
            <a:normAutofit fontScale="77500" lnSpcReduction="20000"/>
          </a:bodyPr>
          <a:lstStyle/>
          <a:p>
            <a:r>
              <a:rPr lang="en-US" dirty="0"/>
              <a:t>Those activities that must be performed while the machine is shut down</a:t>
            </a:r>
          </a:p>
          <a:p>
            <a:r>
              <a:rPr lang="en-US" dirty="0"/>
              <a:t>Example: Removing dies and tooling</a:t>
            </a:r>
          </a:p>
          <a:p>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194427" y="3755509"/>
            <a:ext cx="5183188" cy="483062"/>
          </a:xfrm>
        </p:spPr>
        <p:txBody>
          <a:bodyPr/>
          <a:lstStyle/>
          <a:p>
            <a:r>
              <a:rPr lang="en-US" dirty="0"/>
              <a:t>External</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94427" y="4238571"/>
            <a:ext cx="5183188" cy="1438275"/>
          </a:xfrm>
        </p:spPr>
        <p:txBody>
          <a:bodyPr>
            <a:normAutofit fontScale="77500" lnSpcReduction="20000"/>
          </a:bodyPr>
          <a:lstStyle/>
          <a:p>
            <a:r>
              <a:rPr lang="en-US" dirty="0"/>
              <a:t>Those activities that are performed while the machine is operating</a:t>
            </a:r>
          </a:p>
          <a:p>
            <a:r>
              <a:rPr lang="en-US" dirty="0"/>
              <a:t>Example: Preparing tooling for next set-up</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sp>
        <p:nvSpPr>
          <p:cNvPr id="15" name="Text Box 17">
            <a:extLst>
              <a:ext uri="{FF2B5EF4-FFF2-40B4-BE49-F238E27FC236}">
                <a16:creationId xmlns:a16="http://schemas.microsoft.com/office/drawing/2014/main" id="{02A5DBCD-97B7-C025-4E37-AE023CE12B46}"/>
              </a:ext>
            </a:extLst>
          </p:cNvPr>
          <p:cNvSpPr txBox="1">
            <a:spLocks noChangeArrowheads="1"/>
          </p:cNvSpPr>
          <p:nvPr/>
        </p:nvSpPr>
        <p:spPr bwMode="auto">
          <a:xfrm>
            <a:off x="1893843" y="5639291"/>
            <a:ext cx="8237537" cy="646331"/>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
                <a:srgbClr val="014B1F"/>
              </a:buClr>
              <a:buSzPct val="75000"/>
              <a:buNone/>
            </a:pPr>
            <a:r>
              <a:rPr lang="en-US" altLang="en-US" b="0" i="1" dirty="0">
                <a:latin typeface="Roboto" panose="02000000000000000000" pitchFamily="2" charset="0"/>
                <a:ea typeface="Roboto" panose="02000000000000000000" pitchFamily="2" charset="0"/>
              </a:rPr>
              <a:t>Both types of actions must be separated. Once the machine is stopped,</a:t>
            </a:r>
            <a:br>
              <a:rPr lang="en-US" altLang="en-US" b="0" i="1" dirty="0">
                <a:latin typeface="Roboto" panose="02000000000000000000" pitchFamily="2" charset="0"/>
                <a:ea typeface="Roboto" panose="02000000000000000000" pitchFamily="2" charset="0"/>
              </a:rPr>
            </a:br>
            <a:r>
              <a:rPr lang="en-US" altLang="en-US" b="0" i="1" dirty="0">
                <a:latin typeface="Roboto" panose="02000000000000000000" pitchFamily="2" charset="0"/>
                <a:ea typeface="Roboto" panose="02000000000000000000" pitchFamily="2" charset="0"/>
              </a:rPr>
              <a:t>the worker should never depart to perform any part of the external set-up.</a:t>
            </a:r>
          </a:p>
        </p:txBody>
      </p:sp>
      <p:cxnSp>
        <p:nvCxnSpPr>
          <p:cNvPr id="21" name="AutoShape 10">
            <a:extLst>
              <a:ext uri="{FF2B5EF4-FFF2-40B4-BE49-F238E27FC236}">
                <a16:creationId xmlns:a16="http://schemas.microsoft.com/office/drawing/2014/main" id="{0A312066-5B64-6407-C7A7-3F17FBE94E77}"/>
              </a:ext>
            </a:extLst>
          </p:cNvPr>
          <p:cNvCxnSpPr>
            <a:cxnSpLocks noChangeShapeType="1"/>
            <a:endCxn id="3" idx="1"/>
          </p:cNvCxnSpPr>
          <p:nvPr/>
        </p:nvCxnSpPr>
        <p:spPr bwMode="auto">
          <a:xfrm rot="5400000" flipH="1" flipV="1">
            <a:off x="5250256" y="2851310"/>
            <a:ext cx="1468530" cy="339868"/>
          </a:xfrm>
          <a:prstGeom prst="bentConnector2">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2" name="AutoShape 11">
            <a:extLst>
              <a:ext uri="{FF2B5EF4-FFF2-40B4-BE49-F238E27FC236}">
                <a16:creationId xmlns:a16="http://schemas.microsoft.com/office/drawing/2014/main" id="{F086C6E3-8768-893B-2C67-3F2ECBCF78CA}"/>
              </a:ext>
            </a:extLst>
          </p:cNvPr>
          <p:cNvCxnSpPr>
            <a:cxnSpLocks noChangeShapeType="1"/>
            <a:stCxn id="24" idx="3"/>
            <a:endCxn id="5" idx="1"/>
          </p:cNvCxnSpPr>
          <p:nvPr/>
        </p:nvCxnSpPr>
        <p:spPr bwMode="auto">
          <a:xfrm>
            <a:off x="4667726" y="3679943"/>
            <a:ext cx="1526701" cy="317097"/>
          </a:xfrm>
          <a:prstGeom prst="bentConnector3">
            <a:avLst>
              <a:gd name="adj1" fmla="val 7508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14" name="Group 13">
            <a:extLst>
              <a:ext uri="{FF2B5EF4-FFF2-40B4-BE49-F238E27FC236}">
                <a16:creationId xmlns:a16="http://schemas.microsoft.com/office/drawing/2014/main" id="{71865136-B2E8-16F9-E10A-AE17AA746280}"/>
              </a:ext>
            </a:extLst>
          </p:cNvPr>
          <p:cNvGrpSpPr/>
          <p:nvPr/>
        </p:nvGrpSpPr>
        <p:grpSpPr>
          <a:xfrm>
            <a:off x="838200" y="297639"/>
            <a:ext cx="4024630" cy="301303"/>
            <a:chOff x="838200" y="297639"/>
            <a:chExt cx="4024630" cy="301303"/>
          </a:xfrm>
        </p:grpSpPr>
        <p:grpSp>
          <p:nvGrpSpPr>
            <p:cNvPr id="17" name="Group 16">
              <a:extLst>
                <a:ext uri="{FF2B5EF4-FFF2-40B4-BE49-F238E27FC236}">
                  <a16:creationId xmlns:a16="http://schemas.microsoft.com/office/drawing/2014/main" id="{3695FFCC-8B9C-74B2-C623-56E83A2D21FB}"/>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05BAA6A9-5058-C239-E927-0C3EAEAE243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27B2F644-39E5-2135-8249-5AAF39BBB85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CC43C8DD-52E0-FF8B-5911-8A81E09326B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8" name="TextBox 17">
              <a:extLst>
                <a:ext uri="{FF2B5EF4-FFF2-40B4-BE49-F238E27FC236}">
                  <a16:creationId xmlns:a16="http://schemas.microsoft.com/office/drawing/2014/main" id="{D3047F6B-50B2-67F2-7F17-1210DAF8283B}"/>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pic>
        <p:nvPicPr>
          <p:cNvPr id="24" name="Picture 16">
            <a:extLst>
              <a:ext uri="{FF2B5EF4-FFF2-40B4-BE49-F238E27FC236}">
                <a16:creationId xmlns:a16="http://schemas.microsoft.com/office/drawing/2014/main" id="{19B77B5F-444E-00E3-EB8D-8FD526FC5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8806" y="1843005"/>
            <a:ext cx="2788920" cy="36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065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ou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Internal or External?</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21</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grpSp>
        <p:nvGrpSpPr>
          <p:cNvPr id="269" name="Group 268">
            <a:extLst>
              <a:ext uri="{FF2B5EF4-FFF2-40B4-BE49-F238E27FC236}">
                <a16:creationId xmlns:a16="http://schemas.microsoft.com/office/drawing/2014/main" id="{1555D1BE-468D-F696-9106-E289327DBDEE}"/>
              </a:ext>
            </a:extLst>
          </p:cNvPr>
          <p:cNvGrpSpPr/>
          <p:nvPr/>
        </p:nvGrpSpPr>
        <p:grpSpPr>
          <a:xfrm>
            <a:off x="1271017" y="1814001"/>
            <a:ext cx="10171112" cy="4517455"/>
            <a:chOff x="1462088" y="1295400"/>
            <a:chExt cx="6234112" cy="4886325"/>
          </a:xfrm>
        </p:grpSpPr>
        <p:sp>
          <p:nvSpPr>
            <p:cNvPr id="7" name="AutoShape 2">
              <a:extLst>
                <a:ext uri="{FF2B5EF4-FFF2-40B4-BE49-F238E27FC236}">
                  <a16:creationId xmlns:a16="http://schemas.microsoft.com/office/drawing/2014/main" id="{4FC08F34-3382-C163-95BB-433AAEEB0096}"/>
                </a:ext>
              </a:extLst>
            </p:cNvPr>
            <p:cNvSpPr>
              <a:spLocks noChangeAspect="1" noChangeArrowheads="1" noTextEdit="1"/>
            </p:cNvSpPr>
            <p:nvPr/>
          </p:nvSpPr>
          <p:spPr bwMode="auto">
            <a:xfrm>
              <a:off x="1524000" y="1600200"/>
              <a:ext cx="6172200" cy="4510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nvGrpSpPr>
            <p:cNvPr id="8" name="Group 3">
              <a:extLst>
                <a:ext uri="{FF2B5EF4-FFF2-40B4-BE49-F238E27FC236}">
                  <a16:creationId xmlns:a16="http://schemas.microsoft.com/office/drawing/2014/main" id="{41E64FA5-6E89-6990-B333-BAF2030A6F97}"/>
                </a:ext>
              </a:extLst>
            </p:cNvPr>
            <p:cNvGrpSpPr>
              <a:grpSpLocks/>
            </p:cNvGrpSpPr>
            <p:nvPr/>
          </p:nvGrpSpPr>
          <p:grpSpPr bwMode="auto">
            <a:xfrm>
              <a:off x="1462088" y="1295400"/>
              <a:ext cx="6221412" cy="4756150"/>
              <a:chOff x="957" y="987"/>
              <a:chExt cx="3919" cy="2996"/>
            </a:xfrm>
          </p:grpSpPr>
          <p:grpSp>
            <p:nvGrpSpPr>
              <p:cNvPr id="10" name="Group 4">
                <a:extLst>
                  <a:ext uri="{FF2B5EF4-FFF2-40B4-BE49-F238E27FC236}">
                    <a16:creationId xmlns:a16="http://schemas.microsoft.com/office/drawing/2014/main" id="{529C8AAB-3989-AF95-29EC-98B340E061F0}"/>
                  </a:ext>
                </a:extLst>
              </p:cNvPr>
              <p:cNvGrpSpPr>
                <a:grpSpLocks/>
              </p:cNvGrpSpPr>
              <p:nvPr/>
            </p:nvGrpSpPr>
            <p:grpSpPr bwMode="auto">
              <a:xfrm>
                <a:off x="957" y="987"/>
                <a:ext cx="3919" cy="2996"/>
                <a:chOff x="957" y="987"/>
                <a:chExt cx="3919" cy="2996"/>
              </a:xfrm>
            </p:grpSpPr>
            <p:sp>
              <p:nvSpPr>
                <p:cNvPr id="68" name="Rectangle 5">
                  <a:extLst>
                    <a:ext uri="{FF2B5EF4-FFF2-40B4-BE49-F238E27FC236}">
                      <a16:creationId xmlns:a16="http://schemas.microsoft.com/office/drawing/2014/main" id="{8333D36F-ED9D-A56B-4443-2F525F3CBEDF}"/>
                    </a:ext>
                  </a:extLst>
                </p:cNvPr>
                <p:cNvSpPr>
                  <a:spLocks noChangeArrowheads="1"/>
                </p:cNvSpPr>
                <p:nvPr/>
              </p:nvSpPr>
              <p:spPr bwMode="auto">
                <a:xfrm>
                  <a:off x="3052" y="3812"/>
                  <a:ext cx="259" cy="16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9" name="Rectangle 6">
                  <a:extLst>
                    <a:ext uri="{FF2B5EF4-FFF2-40B4-BE49-F238E27FC236}">
                      <a16:creationId xmlns:a16="http://schemas.microsoft.com/office/drawing/2014/main" id="{71049151-8036-A6C3-DD6E-BE2727A319C8}"/>
                    </a:ext>
                  </a:extLst>
                </p:cNvPr>
                <p:cNvSpPr>
                  <a:spLocks noChangeArrowheads="1"/>
                </p:cNvSpPr>
                <p:nvPr/>
              </p:nvSpPr>
              <p:spPr bwMode="auto">
                <a:xfrm>
                  <a:off x="4096" y="3812"/>
                  <a:ext cx="773" cy="16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0" name="Rectangle 7">
                  <a:extLst>
                    <a:ext uri="{FF2B5EF4-FFF2-40B4-BE49-F238E27FC236}">
                      <a16:creationId xmlns:a16="http://schemas.microsoft.com/office/drawing/2014/main" id="{D2C93FED-5A77-7528-AAE8-4738F9946DA0}"/>
                    </a:ext>
                  </a:extLst>
                </p:cNvPr>
                <p:cNvSpPr>
                  <a:spLocks noChangeArrowheads="1"/>
                </p:cNvSpPr>
                <p:nvPr/>
              </p:nvSpPr>
              <p:spPr bwMode="auto">
                <a:xfrm>
                  <a:off x="2629" y="1084"/>
                  <a:ext cx="116"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Mach #</a:t>
                  </a:r>
                  <a:endParaRPr lang="en-US" altLang="en-US" sz="2400" b="0" i="1">
                    <a:latin typeface="Roboto" panose="02000000000000000000" pitchFamily="2" charset="0"/>
                    <a:ea typeface="Roboto" panose="02000000000000000000" pitchFamily="2" charset="0"/>
                  </a:endParaRPr>
                </a:p>
              </p:txBody>
            </p:sp>
            <p:sp>
              <p:nvSpPr>
                <p:cNvPr id="71" name="Rectangle 8">
                  <a:extLst>
                    <a:ext uri="{FF2B5EF4-FFF2-40B4-BE49-F238E27FC236}">
                      <a16:creationId xmlns:a16="http://schemas.microsoft.com/office/drawing/2014/main" id="{D8B29C7E-D826-346B-E5E5-D165C8D6AE78}"/>
                    </a:ext>
                  </a:extLst>
                </p:cNvPr>
                <p:cNvSpPr>
                  <a:spLocks noChangeArrowheads="1"/>
                </p:cNvSpPr>
                <p:nvPr/>
              </p:nvSpPr>
              <p:spPr bwMode="auto">
                <a:xfrm>
                  <a:off x="2857" y="1091"/>
                  <a:ext cx="77"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3456</a:t>
                  </a:r>
                  <a:endParaRPr lang="en-US" altLang="en-US" sz="2400" b="0" i="1">
                    <a:latin typeface="Roboto" panose="02000000000000000000" pitchFamily="2" charset="0"/>
                    <a:ea typeface="Roboto" panose="02000000000000000000" pitchFamily="2" charset="0"/>
                  </a:endParaRPr>
                </a:p>
              </p:txBody>
            </p:sp>
            <p:sp>
              <p:nvSpPr>
                <p:cNvPr id="72" name="Rectangle 9">
                  <a:extLst>
                    <a:ext uri="{FF2B5EF4-FFF2-40B4-BE49-F238E27FC236}">
                      <a16:creationId xmlns:a16="http://schemas.microsoft.com/office/drawing/2014/main" id="{9AD7B441-248F-1197-84A3-44C6DDBB00DF}"/>
                    </a:ext>
                  </a:extLst>
                </p:cNvPr>
                <p:cNvSpPr>
                  <a:spLocks noChangeArrowheads="1"/>
                </p:cNvSpPr>
                <p:nvPr/>
              </p:nvSpPr>
              <p:spPr bwMode="auto">
                <a:xfrm>
                  <a:off x="3337" y="987"/>
                  <a:ext cx="89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b="0" i="1" dirty="0">
                      <a:solidFill>
                        <a:srgbClr val="000000"/>
                      </a:solidFill>
                      <a:latin typeface="Roboto" panose="02000000000000000000" pitchFamily="2" charset="0"/>
                      <a:ea typeface="Roboto" panose="02000000000000000000" pitchFamily="2" charset="0"/>
                    </a:rPr>
                    <a:t>Before Kaizen Analysis</a:t>
                  </a:r>
                  <a:endParaRPr lang="en-US" altLang="en-US" sz="2400" b="0" i="1" dirty="0">
                    <a:latin typeface="Roboto" panose="02000000000000000000" pitchFamily="2" charset="0"/>
                    <a:ea typeface="Roboto" panose="02000000000000000000" pitchFamily="2" charset="0"/>
                  </a:endParaRPr>
                </a:p>
              </p:txBody>
            </p:sp>
            <p:sp>
              <p:nvSpPr>
                <p:cNvPr id="73" name="Rectangle 10">
                  <a:extLst>
                    <a:ext uri="{FF2B5EF4-FFF2-40B4-BE49-F238E27FC236}">
                      <a16:creationId xmlns:a16="http://schemas.microsoft.com/office/drawing/2014/main" id="{4246A1E0-CC7D-5E4B-F1F8-19ADB5E6C9A1}"/>
                    </a:ext>
                  </a:extLst>
                </p:cNvPr>
                <p:cNvSpPr>
                  <a:spLocks noChangeArrowheads="1"/>
                </p:cNvSpPr>
                <p:nvPr/>
              </p:nvSpPr>
              <p:spPr bwMode="auto">
                <a:xfrm>
                  <a:off x="2071" y="1178"/>
                  <a:ext cx="12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Minutes</a:t>
                  </a:r>
                  <a:endParaRPr lang="en-US" altLang="en-US" sz="2400" b="0" i="1">
                    <a:latin typeface="Roboto" panose="02000000000000000000" pitchFamily="2" charset="0"/>
                    <a:ea typeface="Roboto" panose="02000000000000000000" pitchFamily="2" charset="0"/>
                  </a:endParaRPr>
                </a:p>
              </p:txBody>
            </p:sp>
            <p:sp>
              <p:nvSpPr>
                <p:cNvPr id="74" name="Rectangle 11">
                  <a:extLst>
                    <a:ext uri="{FF2B5EF4-FFF2-40B4-BE49-F238E27FC236}">
                      <a16:creationId xmlns:a16="http://schemas.microsoft.com/office/drawing/2014/main" id="{B1C61A06-B347-E536-1627-02540BC6DC4E}"/>
                    </a:ext>
                  </a:extLst>
                </p:cNvPr>
                <p:cNvSpPr>
                  <a:spLocks noChangeArrowheads="1"/>
                </p:cNvSpPr>
                <p:nvPr/>
              </p:nvSpPr>
              <p:spPr bwMode="auto">
                <a:xfrm>
                  <a:off x="2871" y="1178"/>
                  <a:ext cx="81"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From</a:t>
                  </a:r>
                  <a:endParaRPr lang="en-US" altLang="en-US" sz="2400" b="0" i="1">
                    <a:latin typeface="Roboto" panose="02000000000000000000" pitchFamily="2" charset="0"/>
                    <a:ea typeface="Roboto" panose="02000000000000000000" pitchFamily="2" charset="0"/>
                  </a:endParaRPr>
                </a:p>
              </p:txBody>
            </p:sp>
            <p:sp>
              <p:nvSpPr>
                <p:cNvPr id="75" name="Rectangle 12">
                  <a:extLst>
                    <a:ext uri="{FF2B5EF4-FFF2-40B4-BE49-F238E27FC236}">
                      <a16:creationId xmlns:a16="http://schemas.microsoft.com/office/drawing/2014/main" id="{E9A1D782-00BB-A4AB-2798-CD6109153A78}"/>
                    </a:ext>
                  </a:extLst>
                </p:cNvPr>
                <p:cNvSpPr>
                  <a:spLocks noChangeArrowheads="1"/>
                </p:cNvSpPr>
                <p:nvPr/>
              </p:nvSpPr>
              <p:spPr bwMode="auto">
                <a:xfrm>
                  <a:off x="3156" y="1178"/>
                  <a:ext cx="4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To</a:t>
                  </a:r>
                  <a:endParaRPr lang="en-US" altLang="en-US" sz="2400" b="0" i="1">
                    <a:latin typeface="Roboto" panose="02000000000000000000" pitchFamily="2" charset="0"/>
                    <a:ea typeface="Roboto" panose="02000000000000000000" pitchFamily="2" charset="0"/>
                  </a:endParaRPr>
                </a:p>
              </p:txBody>
            </p:sp>
            <p:sp>
              <p:nvSpPr>
                <p:cNvPr id="76" name="Rectangle 13">
                  <a:extLst>
                    <a:ext uri="{FF2B5EF4-FFF2-40B4-BE49-F238E27FC236}">
                      <a16:creationId xmlns:a16="http://schemas.microsoft.com/office/drawing/2014/main" id="{2C6519A0-18DA-A924-354D-00A25EBD0FFF}"/>
                    </a:ext>
                  </a:extLst>
                </p:cNvPr>
                <p:cNvSpPr>
                  <a:spLocks noChangeArrowheads="1"/>
                </p:cNvSpPr>
                <p:nvPr/>
              </p:nvSpPr>
              <p:spPr bwMode="auto">
                <a:xfrm>
                  <a:off x="3511" y="1178"/>
                  <a:ext cx="28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Area / Department</a:t>
                  </a:r>
                  <a:endParaRPr lang="en-US" altLang="en-US" sz="2400" b="0" i="1">
                    <a:latin typeface="Roboto" panose="02000000000000000000" pitchFamily="2" charset="0"/>
                    <a:ea typeface="Roboto" panose="02000000000000000000" pitchFamily="2" charset="0"/>
                  </a:endParaRPr>
                </a:p>
              </p:txBody>
            </p:sp>
            <p:sp>
              <p:nvSpPr>
                <p:cNvPr id="77" name="Rectangle 14">
                  <a:extLst>
                    <a:ext uri="{FF2B5EF4-FFF2-40B4-BE49-F238E27FC236}">
                      <a16:creationId xmlns:a16="http://schemas.microsoft.com/office/drawing/2014/main" id="{749D444C-D358-6A49-D931-3FF16E146023}"/>
                    </a:ext>
                  </a:extLst>
                </p:cNvPr>
                <p:cNvSpPr>
                  <a:spLocks noChangeArrowheads="1"/>
                </p:cNvSpPr>
                <p:nvPr/>
              </p:nvSpPr>
              <p:spPr bwMode="auto">
                <a:xfrm>
                  <a:off x="4243" y="1178"/>
                  <a:ext cx="71"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Date</a:t>
                  </a:r>
                  <a:endParaRPr lang="en-US" altLang="en-US" sz="2400" b="0" i="1">
                    <a:latin typeface="Roboto" panose="02000000000000000000" pitchFamily="2" charset="0"/>
                    <a:ea typeface="Roboto" panose="02000000000000000000" pitchFamily="2" charset="0"/>
                  </a:endParaRPr>
                </a:p>
              </p:txBody>
            </p:sp>
            <p:sp>
              <p:nvSpPr>
                <p:cNvPr id="78" name="Rectangle 15">
                  <a:extLst>
                    <a:ext uri="{FF2B5EF4-FFF2-40B4-BE49-F238E27FC236}">
                      <a16:creationId xmlns:a16="http://schemas.microsoft.com/office/drawing/2014/main" id="{81EE0316-229E-76B7-0783-058C921AD5F1}"/>
                    </a:ext>
                  </a:extLst>
                </p:cNvPr>
                <p:cNvSpPr>
                  <a:spLocks noChangeArrowheads="1"/>
                </p:cNvSpPr>
                <p:nvPr/>
              </p:nvSpPr>
              <p:spPr bwMode="auto">
                <a:xfrm>
                  <a:off x="4399" y="1197"/>
                  <a:ext cx="10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dirty="0">
                      <a:solidFill>
                        <a:srgbClr val="000000"/>
                      </a:solidFill>
                      <a:latin typeface="Roboto" panose="02000000000000000000" pitchFamily="2" charset="0"/>
                      <a:ea typeface="Roboto" panose="02000000000000000000" pitchFamily="2" charset="0"/>
                    </a:rPr>
                    <a:t>3/7/23</a:t>
                  </a:r>
                  <a:endParaRPr lang="en-US" altLang="en-US" sz="2400" b="0" i="1" dirty="0">
                    <a:latin typeface="Roboto" panose="02000000000000000000" pitchFamily="2" charset="0"/>
                    <a:ea typeface="Roboto" panose="02000000000000000000" pitchFamily="2" charset="0"/>
                  </a:endParaRPr>
                </a:p>
              </p:txBody>
            </p:sp>
            <p:sp>
              <p:nvSpPr>
                <p:cNvPr id="79" name="Rectangle 16">
                  <a:extLst>
                    <a:ext uri="{FF2B5EF4-FFF2-40B4-BE49-F238E27FC236}">
                      <a16:creationId xmlns:a16="http://schemas.microsoft.com/office/drawing/2014/main" id="{0988EDF9-D9B4-7A0F-4683-1EC211865382}"/>
                    </a:ext>
                  </a:extLst>
                </p:cNvPr>
                <p:cNvSpPr>
                  <a:spLocks noChangeArrowheads="1"/>
                </p:cNvSpPr>
                <p:nvPr/>
              </p:nvSpPr>
              <p:spPr bwMode="auto">
                <a:xfrm>
                  <a:off x="2110" y="1302"/>
                  <a:ext cx="5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146</a:t>
                  </a:r>
                  <a:endParaRPr lang="en-US" altLang="en-US" sz="2400" b="0" i="1">
                    <a:latin typeface="Roboto" panose="02000000000000000000" pitchFamily="2" charset="0"/>
                    <a:ea typeface="Roboto" panose="02000000000000000000" pitchFamily="2" charset="0"/>
                  </a:endParaRPr>
                </a:p>
              </p:txBody>
            </p:sp>
            <p:sp>
              <p:nvSpPr>
                <p:cNvPr id="80" name="Rectangle 17">
                  <a:extLst>
                    <a:ext uri="{FF2B5EF4-FFF2-40B4-BE49-F238E27FC236}">
                      <a16:creationId xmlns:a16="http://schemas.microsoft.com/office/drawing/2014/main" id="{F03C1C98-C99A-A571-8FCC-462E4C7A3766}"/>
                    </a:ext>
                  </a:extLst>
                </p:cNvPr>
                <p:cNvSpPr>
                  <a:spLocks noChangeArrowheads="1"/>
                </p:cNvSpPr>
                <p:nvPr/>
              </p:nvSpPr>
              <p:spPr bwMode="auto">
                <a:xfrm>
                  <a:off x="2659" y="1317"/>
                  <a:ext cx="93"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Part #</a:t>
                  </a:r>
                  <a:endParaRPr lang="en-US" altLang="en-US" sz="2400" b="0" i="1">
                    <a:latin typeface="Roboto" panose="02000000000000000000" pitchFamily="2" charset="0"/>
                    <a:ea typeface="Roboto" panose="02000000000000000000" pitchFamily="2" charset="0"/>
                  </a:endParaRPr>
                </a:p>
              </p:txBody>
            </p:sp>
            <p:sp>
              <p:nvSpPr>
                <p:cNvPr id="81" name="Rectangle 18">
                  <a:extLst>
                    <a:ext uri="{FF2B5EF4-FFF2-40B4-BE49-F238E27FC236}">
                      <a16:creationId xmlns:a16="http://schemas.microsoft.com/office/drawing/2014/main" id="{C173BC81-BBA8-DDD9-6E16-4E69CA984967}"/>
                    </a:ext>
                  </a:extLst>
                </p:cNvPr>
                <p:cNvSpPr>
                  <a:spLocks noChangeArrowheads="1"/>
                </p:cNvSpPr>
                <p:nvPr/>
              </p:nvSpPr>
              <p:spPr bwMode="auto">
                <a:xfrm>
                  <a:off x="2831" y="1302"/>
                  <a:ext cx="12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Model A</a:t>
                  </a:r>
                  <a:endParaRPr lang="en-US" altLang="en-US" sz="2400" b="0" i="1">
                    <a:latin typeface="Roboto" panose="02000000000000000000" pitchFamily="2" charset="0"/>
                    <a:ea typeface="Roboto" panose="02000000000000000000" pitchFamily="2" charset="0"/>
                  </a:endParaRPr>
                </a:p>
              </p:txBody>
            </p:sp>
            <p:sp>
              <p:nvSpPr>
                <p:cNvPr id="82" name="Rectangle 19">
                  <a:extLst>
                    <a:ext uri="{FF2B5EF4-FFF2-40B4-BE49-F238E27FC236}">
                      <a16:creationId xmlns:a16="http://schemas.microsoft.com/office/drawing/2014/main" id="{316FA25C-B103-8785-CD32-ACDF65FE63AE}"/>
                    </a:ext>
                  </a:extLst>
                </p:cNvPr>
                <p:cNvSpPr>
                  <a:spLocks noChangeArrowheads="1"/>
                </p:cNvSpPr>
                <p:nvPr/>
              </p:nvSpPr>
              <p:spPr bwMode="auto">
                <a:xfrm>
                  <a:off x="3088" y="1302"/>
                  <a:ext cx="127"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Model B</a:t>
                  </a:r>
                  <a:endParaRPr lang="en-US" altLang="en-US" sz="2400" b="0" i="1">
                    <a:latin typeface="Roboto" panose="02000000000000000000" pitchFamily="2" charset="0"/>
                    <a:ea typeface="Roboto" panose="02000000000000000000" pitchFamily="2" charset="0"/>
                  </a:endParaRPr>
                </a:p>
              </p:txBody>
            </p:sp>
            <p:sp>
              <p:nvSpPr>
                <p:cNvPr id="83" name="Rectangle 20">
                  <a:extLst>
                    <a:ext uri="{FF2B5EF4-FFF2-40B4-BE49-F238E27FC236}">
                      <a16:creationId xmlns:a16="http://schemas.microsoft.com/office/drawing/2014/main" id="{F69BD152-643F-0462-082E-A2216BA9FFA4}"/>
                    </a:ext>
                  </a:extLst>
                </p:cNvPr>
                <p:cNvSpPr>
                  <a:spLocks noChangeArrowheads="1"/>
                </p:cNvSpPr>
                <p:nvPr/>
              </p:nvSpPr>
              <p:spPr bwMode="auto">
                <a:xfrm>
                  <a:off x="3539" y="1302"/>
                  <a:ext cx="22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Machining Cell</a:t>
                  </a:r>
                  <a:endParaRPr lang="en-US" altLang="en-US" sz="2400" b="0" i="1">
                    <a:latin typeface="Roboto" panose="02000000000000000000" pitchFamily="2" charset="0"/>
                    <a:ea typeface="Roboto" panose="02000000000000000000" pitchFamily="2" charset="0"/>
                  </a:endParaRPr>
                </a:p>
              </p:txBody>
            </p:sp>
            <p:sp>
              <p:nvSpPr>
                <p:cNvPr id="84" name="Rectangle 21">
                  <a:extLst>
                    <a:ext uri="{FF2B5EF4-FFF2-40B4-BE49-F238E27FC236}">
                      <a16:creationId xmlns:a16="http://schemas.microsoft.com/office/drawing/2014/main" id="{131ABA60-2363-503C-FA85-D21105D49024}"/>
                    </a:ext>
                  </a:extLst>
                </p:cNvPr>
                <p:cNvSpPr>
                  <a:spLocks noChangeArrowheads="1"/>
                </p:cNvSpPr>
                <p:nvPr/>
              </p:nvSpPr>
              <p:spPr bwMode="auto">
                <a:xfrm>
                  <a:off x="1040" y="1619"/>
                  <a:ext cx="113"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Step No.</a:t>
                  </a:r>
                  <a:endParaRPr lang="en-US" altLang="en-US" sz="2400" b="0" i="1">
                    <a:latin typeface="Roboto" panose="02000000000000000000" pitchFamily="2" charset="0"/>
                    <a:ea typeface="Roboto" panose="02000000000000000000" pitchFamily="2" charset="0"/>
                  </a:endParaRPr>
                </a:p>
              </p:txBody>
            </p:sp>
            <p:sp>
              <p:nvSpPr>
                <p:cNvPr id="85" name="Rectangle 22">
                  <a:extLst>
                    <a:ext uri="{FF2B5EF4-FFF2-40B4-BE49-F238E27FC236}">
                      <a16:creationId xmlns:a16="http://schemas.microsoft.com/office/drawing/2014/main" id="{E790F169-DED4-050F-2827-0EF77BA62CA6}"/>
                    </a:ext>
                  </a:extLst>
                </p:cNvPr>
                <p:cNvSpPr>
                  <a:spLocks noChangeArrowheads="1"/>
                </p:cNvSpPr>
                <p:nvPr/>
              </p:nvSpPr>
              <p:spPr bwMode="auto">
                <a:xfrm>
                  <a:off x="1462" y="1619"/>
                  <a:ext cx="27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Changeover Element</a:t>
                  </a:r>
                  <a:endParaRPr lang="en-US" altLang="en-US" sz="2400" b="0" i="1">
                    <a:latin typeface="Roboto" panose="02000000000000000000" pitchFamily="2" charset="0"/>
                    <a:ea typeface="Roboto" panose="02000000000000000000" pitchFamily="2" charset="0"/>
                  </a:endParaRPr>
                </a:p>
              </p:txBody>
            </p:sp>
            <p:sp>
              <p:nvSpPr>
                <p:cNvPr id="86" name="Rectangle 23">
                  <a:extLst>
                    <a:ext uri="{FF2B5EF4-FFF2-40B4-BE49-F238E27FC236}">
                      <a16:creationId xmlns:a16="http://schemas.microsoft.com/office/drawing/2014/main" id="{7996EDFA-D189-9C0F-D6CB-C113ACE20616}"/>
                    </a:ext>
                  </a:extLst>
                </p:cNvPr>
                <p:cNvSpPr>
                  <a:spLocks noChangeArrowheads="1"/>
                </p:cNvSpPr>
                <p:nvPr/>
              </p:nvSpPr>
              <p:spPr bwMode="auto">
                <a:xfrm>
                  <a:off x="2083" y="1619"/>
                  <a:ext cx="114"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Element </a:t>
                  </a:r>
                  <a:endParaRPr lang="en-US" altLang="en-US" sz="2400" b="0" i="1">
                    <a:latin typeface="Roboto" panose="02000000000000000000" pitchFamily="2" charset="0"/>
                    <a:ea typeface="Roboto" panose="02000000000000000000" pitchFamily="2" charset="0"/>
                  </a:endParaRPr>
                </a:p>
              </p:txBody>
            </p:sp>
            <p:sp>
              <p:nvSpPr>
                <p:cNvPr id="87" name="Rectangle 24">
                  <a:extLst>
                    <a:ext uri="{FF2B5EF4-FFF2-40B4-BE49-F238E27FC236}">
                      <a16:creationId xmlns:a16="http://schemas.microsoft.com/office/drawing/2014/main" id="{06241F20-7CFE-F04E-E9B0-811199129F5A}"/>
                    </a:ext>
                  </a:extLst>
                </p:cNvPr>
                <p:cNvSpPr>
                  <a:spLocks noChangeArrowheads="1"/>
                </p:cNvSpPr>
                <p:nvPr/>
              </p:nvSpPr>
              <p:spPr bwMode="auto">
                <a:xfrm>
                  <a:off x="2341" y="1619"/>
                  <a:ext cx="105"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Elapsed</a:t>
                  </a:r>
                  <a:endParaRPr lang="en-US" altLang="en-US" sz="2400" b="0" i="1">
                    <a:latin typeface="Roboto" panose="02000000000000000000" pitchFamily="2" charset="0"/>
                    <a:ea typeface="Roboto" panose="02000000000000000000" pitchFamily="2" charset="0"/>
                  </a:endParaRPr>
                </a:p>
              </p:txBody>
            </p:sp>
            <p:sp>
              <p:nvSpPr>
                <p:cNvPr id="88" name="Rectangle 25">
                  <a:extLst>
                    <a:ext uri="{FF2B5EF4-FFF2-40B4-BE49-F238E27FC236}">
                      <a16:creationId xmlns:a16="http://schemas.microsoft.com/office/drawing/2014/main" id="{4140B0B3-DB97-E813-0712-D5FB4D83C49C}"/>
                    </a:ext>
                  </a:extLst>
                </p:cNvPr>
                <p:cNvSpPr>
                  <a:spLocks noChangeArrowheads="1"/>
                </p:cNvSpPr>
                <p:nvPr/>
              </p:nvSpPr>
              <p:spPr bwMode="auto">
                <a:xfrm>
                  <a:off x="2604" y="1619"/>
                  <a:ext cx="99"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Internal</a:t>
                  </a:r>
                  <a:endParaRPr lang="en-US" altLang="en-US" sz="2400" b="0" i="1">
                    <a:latin typeface="Roboto" panose="02000000000000000000" pitchFamily="2" charset="0"/>
                    <a:ea typeface="Roboto" panose="02000000000000000000" pitchFamily="2" charset="0"/>
                  </a:endParaRPr>
                </a:p>
              </p:txBody>
            </p:sp>
            <p:sp>
              <p:nvSpPr>
                <p:cNvPr id="89" name="Rectangle 26">
                  <a:extLst>
                    <a:ext uri="{FF2B5EF4-FFF2-40B4-BE49-F238E27FC236}">
                      <a16:creationId xmlns:a16="http://schemas.microsoft.com/office/drawing/2014/main" id="{5DFCA2D7-61E5-F29A-7228-1E64AF63669C}"/>
                    </a:ext>
                  </a:extLst>
                </p:cNvPr>
                <p:cNvSpPr>
                  <a:spLocks noChangeArrowheads="1"/>
                </p:cNvSpPr>
                <p:nvPr/>
              </p:nvSpPr>
              <p:spPr bwMode="auto">
                <a:xfrm>
                  <a:off x="2855" y="1619"/>
                  <a:ext cx="106"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External</a:t>
                  </a:r>
                  <a:endParaRPr lang="en-US" altLang="en-US" sz="2400" b="0" i="1">
                    <a:latin typeface="Roboto" panose="02000000000000000000" pitchFamily="2" charset="0"/>
                    <a:ea typeface="Roboto" panose="02000000000000000000" pitchFamily="2" charset="0"/>
                  </a:endParaRPr>
                </a:p>
              </p:txBody>
            </p:sp>
            <p:sp>
              <p:nvSpPr>
                <p:cNvPr id="90" name="Rectangle 27">
                  <a:extLst>
                    <a:ext uri="{FF2B5EF4-FFF2-40B4-BE49-F238E27FC236}">
                      <a16:creationId xmlns:a16="http://schemas.microsoft.com/office/drawing/2014/main" id="{B691CE36-5875-2B29-BEFA-41535BD8411F}"/>
                    </a:ext>
                  </a:extLst>
                </p:cNvPr>
                <p:cNvSpPr>
                  <a:spLocks noChangeArrowheads="1"/>
                </p:cNvSpPr>
                <p:nvPr/>
              </p:nvSpPr>
              <p:spPr bwMode="auto">
                <a:xfrm>
                  <a:off x="3129" y="1619"/>
                  <a:ext cx="84"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Waste</a:t>
                  </a:r>
                  <a:endParaRPr lang="en-US" altLang="en-US" sz="2400" b="0" i="1">
                    <a:latin typeface="Roboto" panose="02000000000000000000" pitchFamily="2" charset="0"/>
                    <a:ea typeface="Roboto" panose="02000000000000000000" pitchFamily="2" charset="0"/>
                  </a:endParaRPr>
                </a:p>
              </p:txBody>
            </p:sp>
            <p:sp>
              <p:nvSpPr>
                <p:cNvPr id="91" name="Rectangle 28">
                  <a:extLst>
                    <a:ext uri="{FF2B5EF4-FFF2-40B4-BE49-F238E27FC236}">
                      <a16:creationId xmlns:a16="http://schemas.microsoft.com/office/drawing/2014/main" id="{62DDBAD3-F3FF-20C9-4BCE-9545CFA01CD4}"/>
                    </a:ext>
                  </a:extLst>
                </p:cNvPr>
                <p:cNvSpPr>
                  <a:spLocks noChangeArrowheads="1"/>
                </p:cNvSpPr>
                <p:nvPr/>
              </p:nvSpPr>
              <p:spPr bwMode="auto">
                <a:xfrm>
                  <a:off x="3548" y="1619"/>
                  <a:ext cx="24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Improvement Plan</a:t>
                  </a:r>
                  <a:endParaRPr lang="en-US" altLang="en-US" sz="2400" b="0" i="1">
                    <a:latin typeface="Roboto" panose="02000000000000000000" pitchFamily="2" charset="0"/>
                    <a:ea typeface="Roboto" panose="02000000000000000000" pitchFamily="2" charset="0"/>
                  </a:endParaRPr>
                </a:p>
              </p:txBody>
            </p:sp>
            <p:sp>
              <p:nvSpPr>
                <p:cNvPr id="92" name="Rectangle 29">
                  <a:extLst>
                    <a:ext uri="{FF2B5EF4-FFF2-40B4-BE49-F238E27FC236}">
                      <a16:creationId xmlns:a16="http://schemas.microsoft.com/office/drawing/2014/main" id="{DAF93866-8CBC-A6B7-6DDE-D8D4506140A0}"/>
                    </a:ext>
                  </a:extLst>
                </p:cNvPr>
                <p:cNvSpPr>
                  <a:spLocks noChangeArrowheads="1"/>
                </p:cNvSpPr>
                <p:nvPr/>
              </p:nvSpPr>
              <p:spPr bwMode="auto">
                <a:xfrm>
                  <a:off x="4148" y="1619"/>
                  <a:ext cx="123"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Eliminate</a:t>
                  </a:r>
                  <a:endParaRPr lang="en-US" altLang="en-US" sz="2400" b="0" i="1">
                    <a:latin typeface="Roboto" panose="02000000000000000000" pitchFamily="2" charset="0"/>
                    <a:ea typeface="Roboto" panose="02000000000000000000" pitchFamily="2" charset="0"/>
                  </a:endParaRPr>
                </a:p>
              </p:txBody>
            </p:sp>
            <p:sp>
              <p:nvSpPr>
                <p:cNvPr id="93" name="Rectangle 30">
                  <a:extLst>
                    <a:ext uri="{FF2B5EF4-FFF2-40B4-BE49-F238E27FC236}">
                      <a16:creationId xmlns:a16="http://schemas.microsoft.com/office/drawing/2014/main" id="{FE9BDC80-79A0-000D-1DF1-FD54DCCEAF20}"/>
                    </a:ext>
                  </a:extLst>
                </p:cNvPr>
                <p:cNvSpPr>
                  <a:spLocks noChangeArrowheads="1"/>
                </p:cNvSpPr>
                <p:nvPr/>
              </p:nvSpPr>
              <p:spPr bwMode="auto">
                <a:xfrm>
                  <a:off x="4399" y="1561"/>
                  <a:ext cx="14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Internal to </a:t>
                  </a:r>
                  <a:endParaRPr lang="en-US" altLang="en-US" sz="2400" b="0" i="1">
                    <a:latin typeface="Roboto" panose="02000000000000000000" pitchFamily="2" charset="0"/>
                    <a:ea typeface="Roboto" panose="02000000000000000000" pitchFamily="2" charset="0"/>
                  </a:endParaRPr>
                </a:p>
              </p:txBody>
            </p:sp>
            <p:sp>
              <p:nvSpPr>
                <p:cNvPr id="94" name="Rectangle 31">
                  <a:extLst>
                    <a:ext uri="{FF2B5EF4-FFF2-40B4-BE49-F238E27FC236}">
                      <a16:creationId xmlns:a16="http://schemas.microsoft.com/office/drawing/2014/main" id="{BD5AC1F6-6F4E-BD90-5AE0-8E2136F52377}"/>
                    </a:ext>
                  </a:extLst>
                </p:cNvPr>
                <p:cNvSpPr>
                  <a:spLocks noChangeArrowheads="1"/>
                </p:cNvSpPr>
                <p:nvPr/>
              </p:nvSpPr>
              <p:spPr bwMode="auto">
                <a:xfrm>
                  <a:off x="4414" y="1619"/>
                  <a:ext cx="106"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External</a:t>
                  </a:r>
                  <a:endParaRPr lang="en-US" altLang="en-US" sz="2400" b="0" i="1">
                    <a:latin typeface="Roboto" panose="02000000000000000000" pitchFamily="2" charset="0"/>
                    <a:ea typeface="Roboto" panose="02000000000000000000" pitchFamily="2" charset="0"/>
                  </a:endParaRPr>
                </a:p>
              </p:txBody>
            </p:sp>
            <p:sp>
              <p:nvSpPr>
                <p:cNvPr id="95" name="Rectangle 32">
                  <a:extLst>
                    <a:ext uri="{FF2B5EF4-FFF2-40B4-BE49-F238E27FC236}">
                      <a16:creationId xmlns:a16="http://schemas.microsoft.com/office/drawing/2014/main" id="{3556D955-BBA3-42C1-573F-D0B9272372D0}"/>
                    </a:ext>
                  </a:extLst>
                </p:cNvPr>
                <p:cNvSpPr>
                  <a:spLocks noChangeArrowheads="1"/>
                </p:cNvSpPr>
                <p:nvPr/>
              </p:nvSpPr>
              <p:spPr bwMode="auto">
                <a:xfrm>
                  <a:off x="4675" y="1619"/>
                  <a:ext cx="98"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Reduce</a:t>
                  </a:r>
                  <a:endParaRPr lang="en-US" altLang="en-US" sz="2400" b="0" i="1">
                    <a:latin typeface="Roboto" panose="02000000000000000000" pitchFamily="2" charset="0"/>
                    <a:ea typeface="Roboto" panose="02000000000000000000" pitchFamily="2" charset="0"/>
                  </a:endParaRPr>
                </a:p>
              </p:txBody>
            </p:sp>
            <p:sp>
              <p:nvSpPr>
                <p:cNvPr id="96" name="Rectangle 33">
                  <a:extLst>
                    <a:ext uri="{FF2B5EF4-FFF2-40B4-BE49-F238E27FC236}">
                      <a16:creationId xmlns:a16="http://schemas.microsoft.com/office/drawing/2014/main" id="{F38A2627-1F46-78B0-8811-4D47B135F176}"/>
                    </a:ext>
                  </a:extLst>
                </p:cNvPr>
                <p:cNvSpPr>
                  <a:spLocks noChangeArrowheads="1"/>
                </p:cNvSpPr>
                <p:nvPr/>
              </p:nvSpPr>
              <p:spPr bwMode="auto">
                <a:xfrm>
                  <a:off x="1106" y="1745"/>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a:t>
                  </a:r>
                  <a:endParaRPr lang="en-US" altLang="en-US" sz="2400" b="0" i="1">
                    <a:latin typeface="Roboto" panose="02000000000000000000" pitchFamily="2" charset="0"/>
                    <a:ea typeface="Roboto" panose="02000000000000000000" pitchFamily="2" charset="0"/>
                  </a:endParaRPr>
                </a:p>
              </p:txBody>
            </p:sp>
            <p:sp>
              <p:nvSpPr>
                <p:cNvPr id="97" name="Rectangle 34">
                  <a:extLst>
                    <a:ext uri="{FF2B5EF4-FFF2-40B4-BE49-F238E27FC236}">
                      <a16:creationId xmlns:a16="http://schemas.microsoft.com/office/drawing/2014/main" id="{32EBB1F8-321C-4FDF-CC95-58B59C85DB07}"/>
                    </a:ext>
                  </a:extLst>
                </p:cNvPr>
                <p:cNvSpPr>
                  <a:spLocks noChangeArrowheads="1"/>
                </p:cNvSpPr>
                <p:nvPr/>
              </p:nvSpPr>
              <p:spPr bwMode="auto">
                <a:xfrm>
                  <a:off x="1273" y="1707"/>
                  <a:ext cx="42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Pick-up tools from tool crib </a:t>
                  </a:r>
                  <a:endParaRPr lang="en-US" altLang="en-US" sz="2400" b="0" i="1">
                    <a:latin typeface="Roboto" panose="02000000000000000000" pitchFamily="2" charset="0"/>
                    <a:ea typeface="Roboto" panose="02000000000000000000" pitchFamily="2" charset="0"/>
                  </a:endParaRPr>
                </a:p>
              </p:txBody>
            </p:sp>
            <p:sp>
              <p:nvSpPr>
                <p:cNvPr id="98" name="Rectangle 35">
                  <a:extLst>
                    <a:ext uri="{FF2B5EF4-FFF2-40B4-BE49-F238E27FC236}">
                      <a16:creationId xmlns:a16="http://schemas.microsoft.com/office/drawing/2014/main" id="{1BB6F7E9-62F7-EC5E-896C-4CF58C0E2EB0}"/>
                    </a:ext>
                  </a:extLst>
                </p:cNvPr>
                <p:cNvSpPr>
                  <a:spLocks noChangeArrowheads="1"/>
                </p:cNvSpPr>
                <p:nvPr/>
              </p:nvSpPr>
              <p:spPr bwMode="auto">
                <a:xfrm>
                  <a:off x="1273" y="1783"/>
                  <a:ext cx="127"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(search)</a:t>
                  </a:r>
                  <a:endParaRPr lang="en-US" altLang="en-US" sz="2400" b="0" i="1">
                    <a:latin typeface="Roboto" panose="02000000000000000000" pitchFamily="2" charset="0"/>
                    <a:ea typeface="Roboto" panose="02000000000000000000" pitchFamily="2" charset="0"/>
                  </a:endParaRPr>
                </a:p>
              </p:txBody>
            </p:sp>
            <p:sp>
              <p:nvSpPr>
                <p:cNvPr id="99" name="Rectangle 36">
                  <a:extLst>
                    <a:ext uri="{FF2B5EF4-FFF2-40B4-BE49-F238E27FC236}">
                      <a16:creationId xmlns:a16="http://schemas.microsoft.com/office/drawing/2014/main" id="{D1C38CCB-0C15-6053-18D3-2898E760AEFC}"/>
                    </a:ext>
                  </a:extLst>
                </p:cNvPr>
                <p:cNvSpPr>
                  <a:spLocks noChangeArrowheads="1"/>
                </p:cNvSpPr>
                <p:nvPr/>
              </p:nvSpPr>
              <p:spPr bwMode="auto">
                <a:xfrm>
                  <a:off x="2128" y="1745"/>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19</a:t>
                  </a:r>
                  <a:endParaRPr lang="en-US" altLang="en-US" sz="2400" b="0" i="1">
                    <a:latin typeface="Roboto" panose="02000000000000000000" pitchFamily="2" charset="0"/>
                    <a:ea typeface="Roboto" panose="02000000000000000000" pitchFamily="2" charset="0"/>
                  </a:endParaRPr>
                </a:p>
              </p:txBody>
            </p:sp>
            <p:sp>
              <p:nvSpPr>
                <p:cNvPr id="100" name="Rectangle 37">
                  <a:extLst>
                    <a:ext uri="{FF2B5EF4-FFF2-40B4-BE49-F238E27FC236}">
                      <a16:creationId xmlns:a16="http://schemas.microsoft.com/office/drawing/2014/main" id="{D049AE3B-AD6E-8F63-4548-932183EB3874}"/>
                    </a:ext>
                  </a:extLst>
                </p:cNvPr>
                <p:cNvSpPr>
                  <a:spLocks noChangeArrowheads="1"/>
                </p:cNvSpPr>
                <p:nvPr/>
              </p:nvSpPr>
              <p:spPr bwMode="auto">
                <a:xfrm>
                  <a:off x="2385" y="1745"/>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19</a:t>
                  </a:r>
                  <a:endParaRPr lang="en-US" altLang="en-US" sz="2400" b="0" i="1">
                    <a:latin typeface="Roboto" panose="02000000000000000000" pitchFamily="2" charset="0"/>
                    <a:ea typeface="Roboto" panose="02000000000000000000" pitchFamily="2" charset="0"/>
                  </a:endParaRPr>
                </a:p>
              </p:txBody>
            </p:sp>
            <p:sp>
              <p:nvSpPr>
                <p:cNvPr id="101" name="Rectangle 38">
                  <a:extLst>
                    <a:ext uri="{FF2B5EF4-FFF2-40B4-BE49-F238E27FC236}">
                      <a16:creationId xmlns:a16="http://schemas.microsoft.com/office/drawing/2014/main" id="{8FBCEAF6-8AE6-3696-A871-93A70CBDB3DC}"/>
                    </a:ext>
                  </a:extLst>
                </p:cNvPr>
                <p:cNvSpPr>
                  <a:spLocks noChangeArrowheads="1"/>
                </p:cNvSpPr>
                <p:nvPr/>
              </p:nvSpPr>
              <p:spPr bwMode="auto">
                <a:xfrm>
                  <a:off x="2643" y="1745"/>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19</a:t>
                  </a:r>
                  <a:endParaRPr lang="en-US" altLang="en-US" sz="2400" b="0" i="1">
                    <a:latin typeface="Roboto" panose="02000000000000000000" pitchFamily="2" charset="0"/>
                    <a:ea typeface="Roboto" panose="02000000000000000000" pitchFamily="2" charset="0"/>
                  </a:endParaRPr>
                </a:p>
              </p:txBody>
            </p:sp>
            <p:sp>
              <p:nvSpPr>
                <p:cNvPr id="102" name="Rectangle 39">
                  <a:extLst>
                    <a:ext uri="{FF2B5EF4-FFF2-40B4-BE49-F238E27FC236}">
                      <a16:creationId xmlns:a16="http://schemas.microsoft.com/office/drawing/2014/main" id="{9DFCD1B9-5C17-B8C3-FD02-0ED967B9A533}"/>
                    </a:ext>
                  </a:extLst>
                </p:cNvPr>
                <p:cNvSpPr>
                  <a:spLocks noChangeArrowheads="1"/>
                </p:cNvSpPr>
                <p:nvPr/>
              </p:nvSpPr>
              <p:spPr bwMode="auto">
                <a:xfrm>
                  <a:off x="3153" y="1688"/>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03" name="Rectangle 40">
                  <a:extLst>
                    <a:ext uri="{FF2B5EF4-FFF2-40B4-BE49-F238E27FC236}">
                      <a16:creationId xmlns:a16="http://schemas.microsoft.com/office/drawing/2014/main" id="{BA295916-3543-39CF-6037-45E12C39B698}"/>
                    </a:ext>
                  </a:extLst>
                </p:cNvPr>
                <p:cNvSpPr>
                  <a:spLocks noChangeArrowheads="1"/>
                </p:cNvSpPr>
                <p:nvPr/>
              </p:nvSpPr>
              <p:spPr bwMode="auto">
                <a:xfrm>
                  <a:off x="3320" y="1752"/>
                  <a:ext cx="391"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Mount hand tools on machine</a:t>
                  </a:r>
                  <a:endParaRPr lang="en-US" altLang="en-US" sz="2400" b="0" i="1">
                    <a:latin typeface="Roboto" panose="02000000000000000000" pitchFamily="2" charset="0"/>
                    <a:ea typeface="Roboto" panose="02000000000000000000" pitchFamily="2" charset="0"/>
                  </a:endParaRPr>
                </a:p>
              </p:txBody>
            </p:sp>
            <p:sp>
              <p:nvSpPr>
                <p:cNvPr id="104" name="Rectangle 41">
                  <a:extLst>
                    <a:ext uri="{FF2B5EF4-FFF2-40B4-BE49-F238E27FC236}">
                      <a16:creationId xmlns:a16="http://schemas.microsoft.com/office/drawing/2014/main" id="{1A41345A-82C3-71AB-5773-8F870349ECA7}"/>
                    </a:ext>
                  </a:extLst>
                </p:cNvPr>
                <p:cNvSpPr>
                  <a:spLocks noChangeArrowheads="1"/>
                </p:cNvSpPr>
                <p:nvPr/>
              </p:nvSpPr>
              <p:spPr bwMode="auto">
                <a:xfrm>
                  <a:off x="4197" y="1688"/>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05" name="Rectangle 42">
                  <a:extLst>
                    <a:ext uri="{FF2B5EF4-FFF2-40B4-BE49-F238E27FC236}">
                      <a16:creationId xmlns:a16="http://schemas.microsoft.com/office/drawing/2014/main" id="{8368B162-7E41-2C2F-A539-2080BC4BAAFD}"/>
                    </a:ext>
                  </a:extLst>
                </p:cNvPr>
                <p:cNvSpPr>
                  <a:spLocks noChangeArrowheads="1"/>
                </p:cNvSpPr>
                <p:nvPr/>
              </p:nvSpPr>
              <p:spPr bwMode="auto">
                <a:xfrm>
                  <a:off x="1099" y="1908"/>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a:t>
                  </a:r>
                  <a:endParaRPr lang="en-US" altLang="en-US" sz="2400" b="0" i="1">
                    <a:latin typeface="Roboto" panose="02000000000000000000" pitchFamily="2" charset="0"/>
                    <a:ea typeface="Roboto" panose="02000000000000000000" pitchFamily="2" charset="0"/>
                  </a:endParaRPr>
                </a:p>
              </p:txBody>
            </p:sp>
            <p:sp>
              <p:nvSpPr>
                <p:cNvPr id="106" name="Rectangle 43">
                  <a:extLst>
                    <a:ext uri="{FF2B5EF4-FFF2-40B4-BE49-F238E27FC236}">
                      <a16:creationId xmlns:a16="http://schemas.microsoft.com/office/drawing/2014/main" id="{AA4AFF00-0222-33F4-3CAD-056C7E5D2092}"/>
                    </a:ext>
                  </a:extLst>
                </p:cNvPr>
                <p:cNvSpPr>
                  <a:spLocks noChangeArrowheads="1"/>
                </p:cNvSpPr>
                <p:nvPr/>
              </p:nvSpPr>
              <p:spPr bwMode="auto">
                <a:xfrm>
                  <a:off x="1273" y="1869"/>
                  <a:ext cx="37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Remove Fixture (Fixture </a:t>
                  </a:r>
                  <a:endParaRPr lang="en-US" altLang="en-US" sz="2400" b="0" i="1">
                    <a:latin typeface="Roboto" panose="02000000000000000000" pitchFamily="2" charset="0"/>
                    <a:ea typeface="Roboto" panose="02000000000000000000" pitchFamily="2" charset="0"/>
                  </a:endParaRPr>
                </a:p>
              </p:txBody>
            </p:sp>
            <p:sp>
              <p:nvSpPr>
                <p:cNvPr id="107" name="Rectangle 44">
                  <a:extLst>
                    <a:ext uri="{FF2B5EF4-FFF2-40B4-BE49-F238E27FC236}">
                      <a16:creationId xmlns:a16="http://schemas.microsoft.com/office/drawing/2014/main" id="{1391BBEB-2AD0-1C11-5CF8-70529EBA86E9}"/>
                    </a:ext>
                  </a:extLst>
                </p:cNvPr>
                <p:cNvSpPr>
                  <a:spLocks noChangeArrowheads="1"/>
                </p:cNvSpPr>
                <p:nvPr/>
              </p:nvSpPr>
              <p:spPr bwMode="auto">
                <a:xfrm>
                  <a:off x="1273" y="1946"/>
                  <a:ext cx="12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Change)</a:t>
                  </a:r>
                  <a:endParaRPr lang="en-US" altLang="en-US" sz="2400" b="0" i="1">
                    <a:latin typeface="Roboto" panose="02000000000000000000" pitchFamily="2" charset="0"/>
                    <a:ea typeface="Roboto" panose="02000000000000000000" pitchFamily="2" charset="0"/>
                  </a:endParaRPr>
                </a:p>
              </p:txBody>
            </p:sp>
            <p:sp>
              <p:nvSpPr>
                <p:cNvPr id="108" name="Rectangle 45">
                  <a:extLst>
                    <a:ext uri="{FF2B5EF4-FFF2-40B4-BE49-F238E27FC236}">
                      <a16:creationId xmlns:a16="http://schemas.microsoft.com/office/drawing/2014/main" id="{7290A7D8-7EBC-E442-77DD-8D1712592F00}"/>
                    </a:ext>
                  </a:extLst>
                </p:cNvPr>
                <p:cNvSpPr>
                  <a:spLocks noChangeArrowheads="1"/>
                </p:cNvSpPr>
                <p:nvPr/>
              </p:nvSpPr>
              <p:spPr bwMode="auto">
                <a:xfrm>
                  <a:off x="2129" y="190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15</a:t>
                  </a:r>
                  <a:endParaRPr lang="en-US" altLang="en-US" sz="2400" b="0" i="1">
                    <a:latin typeface="Roboto" panose="02000000000000000000" pitchFamily="2" charset="0"/>
                    <a:ea typeface="Roboto" panose="02000000000000000000" pitchFamily="2" charset="0"/>
                  </a:endParaRPr>
                </a:p>
              </p:txBody>
            </p:sp>
            <p:sp>
              <p:nvSpPr>
                <p:cNvPr id="109" name="Rectangle 46">
                  <a:extLst>
                    <a:ext uri="{FF2B5EF4-FFF2-40B4-BE49-F238E27FC236}">
                      <a16:creationId xmlns:a16="http://schemas.microsoft.com/office/drawing/2014/main" id="{B9BDFA48-723D-9B14-5B3D-3573C6F8AF03}"/>
                    </a:ext>
                  </a:extLst>
                </p:cNvPr>
                <p:cNvSpPr>
                  <a:spLocks noChangeArrowheads="1"/>
                </p:cNvSpPr>
                <p:nvPr/>
              </p:nvSpPr>
              <p:spPr bwMode="auto">
                <a:xfrm>
                  <a:off x="2378" y="190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34</a:t>
                  </a:r>
                  <a:endParaRPr lang="en-US" altLang="en-US" sz="2400" b="0" i="1">
                    <a:latin typeface="Roboto" panose="02000000000000000000" pitchFamily="2" charset="0"/>
                    <a:ea typeface="Roboto" panose="02000000000000000000" pitchFamily="2" charset="0"/>
                  </a:endParaRPr>
                </a:p>
              </p:txBody>
            </p:sp>
            <p:sp>
              <p:nvSpPr>
                <p:cNvPr id="110" name="Rectangle 47">
                  <a:extLst>
                    <a:ext uri="{FF2B5EF4-FFF2-40B4-BE49-F238E27FC236}">
                      <a16:creationId xmlns:a16="http://schemas.microsoft.com/office/drawing/2014/main" id="{D7C20CD5-4330-DFF9-B927-E0933B46D8CF}"/>
                    </a:ext>
                  </a:extLst>
                </p:cNvPr>
                <p:cNvSpPr>
                  <a:spLocks noChangeArrowheads="1"/>
                </p:cNvSpPr>
                <p:nvPr/>
              </p:nvSpPr>
              <p:spPr bwMode="auto">
                <a:xfrm>
                  <a:off x="2643" y="190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15</a:t>
                  </a:r>
                  <a:endParaRPr lang="en-US" altLang="en-US" sz="2400" b="0" i="1">
                    <a:latin typeface="Roboto" panose="02000000000000000000" pitchFamily="2" charset="0"/>
                    <a:ea typeface="Roboto" panose="02000000000000000000" pitchFamily="2" charset="0"/>
                  </a:endParaRPr>
                </a:p>
              </p:txBody>
            </p:sp>
            <p:sp>
              <p:nvSpPr>
                <p:cNvPr id="111" name="Rectangle 48">
                  <a:extLst>
                    <a:ext uri="{FF2B5EF4-FFF2-40B4-BE49-F238E27FC236}">
                      <a16:creationId xmlns:a16="http://schemas.microsoft.com/office/drawing/2014/main" id="{793EE147-7488-7551-FB70-89501AD4CC9D}"/>
                    </a:ext>
                  </a:extLst>
                </p:cNvPr>
                <p:cNvSpPr>
                  <a:spLocks noChangeArrowheads="1"/>
                </p:cNvSpPr>
                <p:nvPr/>
              </p:nvSpPr>
              <p:spPr bwMode="auto">
                <a:xfrm>
                  <a:off x="3320" y="1852"/>
                  <a:ext cx="535"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Air wrench at machine . Eliminate bolts - </a:t>
                  </a:r>
                  <a:endParaRPr lang="en-US" altLang="en-US" sz="2400" b="0" i="1">
                    <a:latin typeface="Roboto" panose="02000000000000000000" pitchFamily="2" charset="0"/>
                    <a:ea typeface="Roboto" panose="02000000000000000000" pitchFamily="2" charset="0"/>
                  </a:endParaRPr>
                </a:p>
              </p:txBody>
            </p:sp>
            <p:sp>
              <p:nvSpPr>
                <p:cNvPr id="112" name="Rectangle 49">
                  <a:extLst>
                    <a:ext uri="{FF2B5EF4-FFF2-40B4-BE49-F238E27FC236}">
                      <a16:creationId xmlns:a16="http://schemas.microsoft.com/office/drawing/2014/main" id="{7EA4063B-786B-0B85-F1D3-71375F0238CB}"/>
                    </a:ext>
                  </a:extLst>
                </p:cNvPr>
                <p:cNvSpPr>
                  <a:spLocks noChangeArrowheads="1"/>
                </p:cNvSpPr>
                <p:nvPr/>
              </p:nvSpPr>
              <p:spPr bwMode="auto">
                <a:xfrm>
                  <a:off x="3320" y="1914"/>
                  <a:ext cx="527"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install quick release.  Design SMED cart </a:t>
                  </a:r>
                  <a:endParaRPr lang="en-US" altLang="en-US" sz="2400" b="0" i="1">
                    <a:latin typeface="Roboto" panose="02000000000000000000" pitchFamily="2" charset="0"/>
                    <a:ea typeface="Roboto" panose="02000000000000000000" pitchFamily="2" charset="0"/>
                  </a:endParaRPr>
                </a:p>
              </p:txBody>
            </p:sp>
            <p:sp>
              <p:nvSpPr>
                <p:cNvPr id="113" name="Rectangle 50">
                  <a:extLst>
                    <a:ext uri="{FF2B5EF4-FFF2-40B4-BE49-F238E27FC236}">
                      <a16:creationId xmlns:a16="http://schemas.microsoft.com/office/drawing/2014/main" id="{DFDF83E8-1CDB-115B-B04D-42CAD835D0DC}"/>
                    </a:ext>
                  </a:extLst>
                </p:cNvPr>
                <p:cNvSpPr>
                  <a:spLocks noChangeArrowheads="1"/>
                </p:cNvSpPr>
                <p:nvPr/>
              </p:nvSpPr>
              <p:spPr bwMode="auto">
                <a:xfrm>
                  <a:off x="3320" y="1977"/>
                  <a:ext cx="191"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to load fixture.</a:t>
                  </a:r>
                  <a:endParaRPr lang="en-US" altLang="en-US" sz="2400" b="0" i="1">
                    <a:latin typeface="Roboto" panose="02000000000000000000" pitchFamily="2" charset="0"/>
                    <a:ea typeface="Roboto" panose="02000000000000000000" pitchFamily="2" charset="0"/>
                  </a:endParaRPr>
                </a:p>
              </p:txBody>
            </p:sp>
            <p:sp>
              <p:nvSpPr>
                <p:cNvPr id="114" name="Rectangle 51">
                  <a:extLst>
                    <a:ext uri="{FF2B5EF4-FFF2-40B4-BE49-F238E27FC236}">
                      <a16:creationId xmlns:a16="http://schemas.microsoft.com/office/drawing/2014/main" id="{F21F5F9B-C64E-E6C3-66DA-8FFA1A549780}"/>
                    </a:ext>
                  </a:extLst>
                </p:cNvPr>
                <p:cNvSpPr>
                  <a:spLocks noChangeArrowheads="1"/>
                </p:cNvSpPr>
                <p:nvPr/>
              </p:nvSpPr>
              <p:spPr bwMode="auto">
                <a:xfrm>
                  <a:off x="4711" y="1851"/>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15" name="Rectangle 52">
                  <a:extLst>
                    <a:ext uri="{FF2B5EF4-FFF2-40B4-BE49-F238E27FC236}">
                      <a16:creationId xmlns:a16="http://schemas.microsoft.com/office/drawing/2014/main" id="{1265AEF2-0D33-05F6-2835-79E0FE08EEA6}"/>
                    </a:ext>
                  </a:extLst>
                </p:cNvPr>
                <p:cNvSpPr>
                  <a:spLocks noChangeArrowheads="1"/>
                </p:cNvSpPr>
                <p:nvPr/>
              </p:nvSpPr>
              <p:spPr bwMode="auto">
                <a:xfrm>
                  <a:off x="1098" y="2070"/>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3</a:t>
                  </a:r>
                  <a:endParaRPr lang="en-US" altLang="en-US" sz="2400" b="0" i="1">
                    <a:latin typeface="Roboto" panose="02000000000000000000" pitchFamily="2" charset="0"/>
                    <a:ea typeface="Roboto" panose="02000000000000000000" pitchFamily="2" charset="0"/>
                  </a:endParaRPr>
                </a:p>
              </p:txBody>
            </p:sp>
            <p:sp>
              <p:nvSpPr>
                <p:cNvPr id="116" name="Rectangle 53">
                  <a:extLst>
                    <a:ext uri="{FF2B5EF4-FFF2-40B4-BE49-F238E27FC236}">
                      <a16:creationId xmlns:a16="http://schemas.microsoft.com/office/drawing/2014/main" id="{2E8D9BF4-C768-C759-10A2-2493D23955FA}"/>
                    </a:ext>
                  </a:extLst>
                </p:cNvPr>
                <p:cNvSpPr>
                  <a:spLocks noChangeArrowheads="1"/>
                </p:cNvSpPr>
                <p:nvPr/>
              </p:nvSpPr>
              <p:spPr bwMode="auto">
                <a:xfrm>
                  <a:off x="1273" y="2070"/>
                  <a:ext cx="361"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Look for Tools (Search)</a:t>
                  </a:r>
                  <a:endParaRPr lang="en-US" altLang="en-US" sz="2400" b="0" i="1">
                    <a:latin typeface="Roboto" panose="02000000000000000000" pitchFamily="2" charset="0"/>
                    <a:ea typeface="Roboto" panose="02000000000000000000" pitchFamily="2" charset="0"/>
                  </a:endParaRPr>
                </a:p>
              </p:txBody>
            </p:sp>
            <p:sp>
              <p:nvSpPr>
                <p:cNvPr id="117" name="Rectangle 54">
                  <a:extLst>
                    <a:ext uri="{FF2B5EF4-FFF2-40B4-BE49-F238E27FC236}">
                      <a16:creationId xmlns:a16="http://schemas.microsoft.com/office/drawing/2014/main" id="{63093948-60C4-45E7-C537-0E1AB10CC9B0}"/>
                    </a:ext>
                  </a:extLst>
                </p:cNvPr>
                <p:cNvSpPr>
                  <a:spLocks noChangeArrowheads="1"/>
                </p:cNvSpPr>
                <p:nvPr/>
              </p:nvSpPr>
              <p:spPr bwMode="auto">
                <a:xfrm>
                  <a:off x="2138" y="2070"/>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5</a:t>
                  </a:r>
                  <a:endParaRPr lang="en-US" altLang="en-US" sz="2400" b="0" i="1">
                    <a:latin typeface="Roboto" panose="02000000000000000000" pitchFamily="2" charset="0"/>
                    <a:ea typeface="Roboto" panose="02000000000000000000" pitchFamily="2" charset="0"/>
                  </a:endParaRPr>
                </a:p>
              </p:txBody>
            </p:sp>
            <p:sp>
              <p:nvSpPr>
                <p:cNvPr id="118" name="Rectangle 55">
                  <a:extLst>
                    <a:ext uri="{FF2B5EF4-FFF2-40B4-BE49-F238E27FC236}">
                      <a16:creationId xmlns:a16="http://schemas.microsoft.com/office/drawing/2014/main" id="{E3B595C1-2EDA-5D48-3264-3E65259F8EB2}"/>
                    </a:ext>
                  </a:extLst>
                </p:cNvPr>
                <p:cNvSpPr>
                  <a:spLocks noChangeArrowheads="1"/>
                </p:cNvSpPr>
                <p:nvPr/>
              </p:nvSpPr>
              <p:spPr bwMode="auto">
                <a:xfrm>
                  <a:off x="2377" y="2070"/>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39</a:t>
                  </a:r>
                  <a:endParaRPr lang="en-US" altLang="en-US" sz="2400" b="0" i="1">
                    <a:latin typeface="Roboto" panose="02000000000000000000" pitchFamily="2" charset="0"/>
                    <a:ea typeface="Roboto" panose="02000000000000000000" pitchFamily="2" charset="0"/>
                  </a:endParaRPr>
                </a:p>
              </p:txBody>
            </p:sp>
            <p:sp>
              <p:nvSpPr>
                <p:cNvPr id="119" name="Rectangle 56">
                  <a:extLst>
                    <a:ext uri="{FF2B5EF4-FFF2-40B4-BE49-F238E27FC236}">
                      <a16:creationId xmlns:a16="http://schemas.microsoft.com/office/drawing/2014/main" id="{461405A7-D7CF-16AB-169C-8A050A633EE3}"/>
                    </a:ext>
                  </a:extLst>
                </p:cNvPr>
                <p:cNvSpPr>
                  <a:spLocks noChangeArrowheads="1"/>
                </p:cNvSpPr>
                <p:nvPr/>
              </p:nvSpPr>
              <p:spPr bwMode="auto">
                <a:xfrm>
                  <a:off x="2652" y="2070"/>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5</a:t>
                  </a:r>
                  <a:endParaRPr lang="en-US" altLang="en-US" sz="2400" b="0" i="1">
                    <a:latin typeface="Roboto" panose="02000000000000000000" pitchFamily="2" charset="0"/>
                    <a:ea typeface="Roboto" panose="02000000000000000000" pitchFamily="2" charset="0"/>
                  </a:endParaRPr>
                </a:p>
              </p:txBody>
            </p:sp>
            <p:sp>
              <p:nvSpPr>
                <p:cNvPr id="120" name="Rectangle 57">
                  <a:extLst>
                    <a:ext uri="{FF2B5EF4-FFF2-40B4-BE49-F238E27FC236}">
                      <a16:creationId xmlns:a16="http://schemas.microsoft.com/office/drawing/2014/main" id="{3DB543FD-1CC9-0D60-FDE2-101EAD380EC6}"/>
                    </a:ext>
                  </a:extLst>
                </p:cNvPr>
                <p:cNvSpPr>
                  <a:spLocks noChangeArrowheads="1"/>
                </p:cNvSpPr>
                <p:nvPr/>
              </p:nvSpPr>
              <p:spPr bwMode="auto">
                <a:xfrm>
                  <a:off x="3153" y="2013"/>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21" name="Rectangle 58">
                  <a:extLst>
                    <a:ext uri="{FF2B5EF4-FFF2-40B4-BE49-F238E27FC236}">
                      <a16:creationId xmlns:a16="http://schemas.microsoft.com/office/drawing/2014/main" id="{3BBA6F52-8CE8-029B-BAAD-897F74E8D32A}"/>
                    </a:ext>
                  </a:extLst>
                </p:cNvPr>
                <p:cNvSpPr>
                  <a:spLocks noChangeArrowheads="1"/>
                </p:cNvSpPr>
                <p:nvPr/>
              </p:nvSpPr>
              <p:spPr bwMode="auto">
                <a:xfrm>
                  <a:off x="3320" y="2077"/>
                  <a:ext cx="391"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Mount hand tools on machine</a:t>
                  </a:r>
                  <a:endParaRPr lang="en-US" altLang="en-US" sz="2400" b="0" i="1">
                    <a:latin typeface="Roboto" panose="02000000000000000000" pitchFamily="2" charset="0"/>
                    <a:ea typeface="Roboto" panose="02000000000000000000" pitchFamily="2" charset="0"/>
                  </a:endParaRPr>
                </a:p>
              </p:txBody>
            </p:sp>
            <p:sp>
              <p:nvSpPr>
                <p:cNvPr id="122" name="Rectangle 59">
                  <a:extLst>
                    <a:ext uri="{FF2B5EF4-FFF2-40B4-BE49-F238E27FC236}">
                      <a16:creationId xmlns:a16="http://schemas.microsoft.com/office/drawing/2014/main" id="{9F95F64C-294C-C005-48F0-CAAAC5FAE863}"/>
                    </a:ext>
                  </a:extLst>
                </p:cNvPr>
                <p:cNvSpPr>
                  <a:spLocks noChangeArrowheads="1"/>
                </p:cNvSpPr>
                <p:nvPr/>
              </p:nvSpPr>
              <p:spPr bwMode="auto">
                <a:xfrm>
                  <a:off x="4197" y="2013"/>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23" name="Rectangle 60">
                  <a:extLst>
                    <a:ext uri="{FF2B5EF4-FFF2-40B4-BE49-F238E27FC236}">
                      <a16:creationId xmlns:a16="http://schemas.microsoft.com/office/drawing/2014/main" id="{31090E95-80C6-8EB7-E8E9-6DEFF9D2EF4C}"/>
                    </a:ext>
                  </a:extLst>
                </p:cNvPr>
                <p:cNvSpPr>
                  <a:spLocks noChangeArrowheads="1"/>
                </p:cNvSpPr>
                <p:nvPr/>
              </p:nvSpPr>
              <p:spPr bwMode="auto">
                <a:xfrm>
                  <a:off x="1098" y="2233"/>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4</a:t>
                  </a:r>
                  <a:endParaRPr lang="en-US" altLang="en-US" sz="2400" b="0" i="1">
                    <a:latin typeface="Roboto" panose="02000000000000000000" pitchFamily="2" charset="0"/>
                    <a:ea typeface="Roboto" panose="02000000000000000000" pitchFamily="2" charset="0"/>
                  </a:endParaRPr>
                </a:p>
              </p:txBody>
            </p:sp>
            <p:sp>
              <p:nvSpPr>
                <p:cNvPr id="124" name="Rectangle 61">
                  <a:extLst>
                    <a:ext uri="{FF2B5EF4-FFF2-40B4-BE49-F238E27FC236}">
                      <a16:creationId xmlns:a16="http://schemas.microsoft.com/office/drawing/2014/main" id="{56F4A346-5514-2F0B-E99E-CF356A5DF54C}"/>
                    </a:ext>
                  </a:extLst>
                </p:cNvPr>
                <p:cNvSpPr>
                  <a:spLocks noChangeArrowheads="1"/>
                </p:cNvSpPr>
                <p:nvPr/>
              </p:nvSpPr>
              <p:spPr bwMode="auto">
                <a:xfrm>
                  <a:off x="1273" y="2194"/>
                  <a:ext cx="37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Remove Fixture (Fixture </a:t>
                  </a:r>
                  <a:endParaRPr lang="en-US" altLang="en-US" sz="2400" b="0" i="1">
                    <a:latin typeface="Roboto" panose="02000000000000000000" pitchFamily="2" charset="0"/>
                    <a:ea typeface="Roboto" panose="02000000000000000000" pitchFamily="2" charset="0"/>
                  </a:endParaRPr>
                </a:p>
              </p:txBody>
            </p:sp>
            <p:sp>
              <p:nvSpPr>
                <p:cNvPr id="125" name="Rectangle 62">
                  <a:extLst>
                    <a:ext uri="{FF2B5EF4-FFF2-40B4-BE49-F238E27FC236}">
                      <a16:creationId xmlns:a16="http://schemas.microsoft.com/office/drawing/2014/main" id="{BE63AF36-6D3D-B7F5-9B4E-BB8E6EE5F44D}"/>
                    </a:ext>
                  </a:extLst>
                </p:cNvPr>
                <p:cNvSpPr>
                  <a:spLocks noChangeArrowheads="1"/>
                </p:cNvSpPr>
                <p:nvPr/>
              </p:nvSpPr>
              <p:spPr bwMode="auto">
                <a:xfrm>
                  <a:off x="1273" y="2271"/>
                  <a:ext cx="12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Change)</a:t>
                  </a:r>
                  <a:endParaRPr lang="en-US" altLang="en-US" sz="2400" b="0" i="1">
                    <a:latin typeface="Roboto" panose="02000000000000000000" pitchFamily="2" charset="0"/>
                    <a:ea typeface="Roboto" panose="02000000000000000000" pitchFamily="2" charset="0"/>
                  </a:endParaRPr>
                </a:p>
              </p:txBody>
            </p:sp>
            <p:sp>
              <p:nvSpPr>
                <p:cNvPr id="126" name="Rectangle 63">
                  <a:extLst>
                    <a:ext uri="{FF2B5EF4-FFF2-40B4-BE49-F238E27FC236}">
                      <a16:creationId xmlns:a16="http://schemas.microsoft.com/office/drawing/2014/main" id="{6D266062-0087-E637-BD06-0E2F72480C13}"/>
                    </a:ext>
                  </a:extLst>
                </p:cNvPr>
                <p:cNvSpPr>
                  <a:spLocks noChangeArrowheads="1"/>
                </p:cNvSpPr>
                <p:nvPr/>
              </p:nvSpPr>
              <p:spPr bwMode="auto">
                <a:xfrm>
                  <a:off x="2140" y="2233"/>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7</a:t>
                  </a:r>
                  <a:endParaRPr lang="en-US" altLang="en-US" sz="2400" b="0" i="1">
                    <a:latin typeface="Roboto" panose="02000000000000000000" pitchFamily="2" charset="0"/>
                    <a:ea typeface="Roboto" panose="02000000000000000000" pitchFamily="2" charset="0"/>
                  </a:endParaRPr>
                </a:p>
              </p:txBody>
            </p:sp>
            <p:sp>
              <p:nvSpPr>
                <p:cNvPr id="127" name="Rectangle 64">
                  <a:extLst>
                    <a:ext uri="{FF2B5EF4-FFF2-40B4-BE49-F238E27FC236}">
                      <a16:creationId xmlns:a16="http://schemas.microsoft.com/office/drawing/2014/main" id="{E9CDC083-AABB-A767-20AB-D3BE6DCE6F47}"/>
                    </a:ext>
                  </a:extLst>
                </p:cNvPr>
                <p:cNvSpPr>
                  <a:spLocks noChangeArrowheads="1"/>
                </p:cNvSpPr>
                <p:nvPr/>
              </p:nvSpPr>
              <p:spPr bwMode="auto">
                <a:xfrm>
                  <a:off x="2376" y="2233"/>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46</a:t>
                  </a:r>
                  <a:endParaRPr lang="en-US" altLang="en-US" sz="2400" b="0" i="1">
                    <a:latin typeface="Roboto" panose="02000000000000000000" pitchFamily="2" charset="0"/>
                    <a:ea typeface="Roboto" panose="02000000000000000000" pitchFamily="2" charset="0"/>
                  </a:endParaRPr>
                </a:p>
              </p:txBody>
            </p:sp>
            <p:sp>
              <p:nvSpPr>
                <p:cNvPr id="128" name="Rectangle 65">
                  <a:extLst>
                    <a:ext uri="{FF2B5EF4-FFF2-40B4-BE49-F238E27FC236}">
                      <a16:creationId xmlns:a16="http://schemas.microsoft.com/office/drawing/2014/main" id="{73637E62-B5DD-4E41-722B-50630158D0D7}"/>
                    </a:ext>
                  </a:extLst>
                </p:cNvPr>
                <p:cNvSpPr>
                  <a:spLocks noChangeArrowheads="1"/>
                </p:cNvSpPr>
                <p:nvPr/>
              </p:nvSpPr>
              <p:spPr bwMode="auto">
                <a:xfrm>
                  <a:off x="2655" y="2233"/>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7</a:t>
                  </a:r>
                  <a:endParaRPr lang="en-US" altLang="en-US" sz="2400" b="0" i="1">
                    <a:latin typeface="Roboto" panose="02000000000000000000" pitchFamily="2" charset="0"/>
                    <a:ea typeface="Roboto" panose="02000000000000000000" pitchFamily="2" charset="0"/>
                  </a:endParaRPr>
                </a:p>
              </p:txBody>
            </p:sp>
            <p:sp>
              <p:nvSpPr>
                <p:cNvPr id="129" name="Rectangle 66">
                  <a:extLst>
                    <a:ext uri="{FF2B5EF4-FFF2-40B4-BE49-F238E27FC236}">
                      <a16:creationId xmlns:a16="http://schemas.microsoft.com/office/drawing/2014/main" id="{6685ACE3-DA22-211E-66CD-80252E9F381C}"/>
                    </a:ext>
                  </a:extLst>
                </p:cNvPr>
                <p:cNvSpPr>
                  <a:spLocks noChangeArrowheads="1"/>
                </p:cNvSpPr>
                <p:nvPr/>
              </p:nvSpPr>
              <p:spPr bwMode="auto">
                <a:xfrm>
                  <a:off x="3320" y="2239"/>
                  <a:ext cx="145"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See step 2.</a:t>
                  </a:r>
                  <a:endParaRPr lang="en-US" altLang="en-US" sz="2400" b="0" i="1">
                    <a:latin typeface="Roboto" panose="02000000000000000000" pitchFamily="2" charset="0"/>
                    <a:ea typeface="Roboto" panose="02000000000000000000" pitchFamily="2" charset="0"/>
                  </a:endParaRPr>
                </a:p>
              </p:txBody>
            </p:sp>
            <p:sp>
              <p:nvSpPr>
                <p:cNvPr id="130" name="Rectangle 67">
                  <a:extLst>
                    <a:ext uri="{FF2B5EF4-FFF2-40B4-BE49-F238E27FC236}">
                      <a16:creationId xmlns:a16="http://schemas.microsoft.com/office/drawing/2014/main" id="{7B0D58E9-8C10-9351-0D5D-52BFAC4AAC2A}"/>
                    </a:ext>
                  </a:extLst>
                </p:cNvPr>
                <p:cNvSpPr>
                  <a:spLocks noChangeArrowheads="1"/>
                </p:cNvSpPr>
                <p:nvPr/>
              </p:nvSpPr>
              <p:spPr bwMode="auto">
                <a:xfrm>
                  <a:off x="4711" y="2176"/>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31" name="Rectangle 68">
                  <a:extLst>
                    <a:ext uri="{FF2B5EF4-FFF2-40B4-BE49-F238E27FC236}">
                      <a16:creationId xmlns:a16="http://schemas.microsoft.com/office/drawing/2014/main" id="{4525FD7E-A126-E6FB-481D-51232F173506}"/>
                    </a:ext>
                  </a:extLst>
                </p:cNvPr>
                <p:cNvSpPr>
                  <a:spLocks noChangeArrowheads="1"/>
                </p:cNvSpPr>
                <p:nvPr/>
              </p:nvSpPr>
              <p:spPr bwMode="auto">
                <a:xfrm>
                  <a:off x="1098" y="2395"/>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5</a:t>
                  </a:r>
                  <a:endParaRPr lang="en-US" altLang="en-US" sz="2400" b="0" i="1">
                    <a:latin typeface="Roboto" panose="02000000000000000000" pitchFamily="2" charset="0"/>
                    <a:ea typeface="Roboto" panose="02000000000000000000" pitchFamily="2" charset="0"/>
                  </a:endParaRPr>
                </a:p>
              </p:txBody>
            </p:sp>
            <p:sp>
              <p:nvSpPr>
                <p:cNvPr id="132" name="Rectangle 69">
                  <a:extLst>
                    <a:ext uri="{FF2B5EF4-FFF2-40B4-BE49-F238E27FC236}">
                      <a16:creationId xmlns:a16="http://schemas.microsoft.com/office/drawing/2014/main" id="{D4A10921-B5C6-6F7A-89AD-2F184787F289}"/>
                    </a:ext>
                  </a:extLst>
                </p:cNvPr>
                <p:cNvSpPr>
                  <a:spLocks noChangeArrowheads="1"/>
                </p:cNvSpPr>
                <p:nvPr/>
              </p:nvSpPr>
              <p:spPr bwMode="auto">
                <a:xfrm>
                  <a:off x="1273" y="2357"/>
                  <a:ext cx="39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Clean &amp; prepare subplate </a:t>
                  </a:r>
                  <a:endParaRPr lang="en-US" altLang="en-US" sz="2400" b="0" i="1">
                    <a:latin typeface="Roboto" panose="02000000000000000000" pitchFamily="2" charset="0"/>
                    <a:ea typeface="Roboto" panose="02000000000000000000" pitchFamily="2" charset="0"/>
                  </a:endParaRPr>
                </a:p>
              </p:txBody>
            </p:sp>
            <p:sp>
              <p:nvSpPr>
                <p:cNvPr id="133" name="Rectangle 70">
                  <a:extLst>
                    <a:ext uri="{FF2B5EF4-FFF2-40B4-BE49-F238E27FC236}">
                      <a16:creationId xmlns:a16="http://schemas.microsoft.com/office/drawing/2014/main" id="{3DD536E7-A974-D921-7537-7D37F112F61D}"/>
                    </a:ext>
                  </a:extLst>
                </p:cNvPr>
                <p:cNvSpPr>
                  <a:spLocks noChangeArrowheads="1"/>
                </p:cNvSpPr>
                <p:nvPr/>
              </p:nvSpPr>
              <p:spPr bwMode="auto">
                <a:xfrm>
                  <a:off x="1273" y="2433"/>
                  <a:ext cx="25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(Fixture Change)</a:t>
                  </a:r>
                  <a:endParaRPr lang="en-US" altLang="en-US" sz="2400" b="0" i="1">
                    <a:latin typeface="Roboto" panose="02000000000000000000" pitchFamily="2" charset="0"/>
                    <a:ea typeface="Roboto" panose="02000000000000000000" pitchFamily="2" charset="0"/>
                  </a:endParaRPr>
                </a:p>
              </p:txBody>
            </p:sp>
            <p:sp>
              <p:nvSpPr>
                <p:cNvPr id="134" name="Rectangle 71">
                  <a:extLst>
                    <a:ext uri="{FF2B5EF4-FFF2-40B4-BE49-F238E27FC236}">
                      <a16:creationId xmlns:a16="http://schemas.microsoft.com/office/drawing/2014/main" id="{1C8F07D0-F3AD-81C1-EC4E-AE11EF8DEEBF}"/>
                    </a:ext>
                  </a:extLst>
                </p:cNvPr>
                <p:cNvSpPr>
                  <a:spLocks noChangeArrowheads="1"/>
                </p:cNvSpPr>
                <p:nvPr/>
              </p:nvSpPr>
              <p:spPr bwMode="auto">
                <a:xfrm>
                  <a:off x="2127" y="2395"/>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10</a:t>
                  </a:r>
                  <a:endParaRPr lang="en-US" altLang="en-US" sz="2400" b="0" i="1">
                    <a:latin typeface="Roboto" panose="02000000000000000000" pitchFamily="2" charset="0"/>
                    <a:ea typeface="Roboto" panose="02000000000000000000" pitchFamily="2" charset="0"/>
                  </a:endParaRPr>
                </a:p>
              </p:txBody>
            </p:sp>
            <p:sp>
              <p:nvSpPr>
                <p:cNvPr id="135" name="Rectangle 72">
                  <a:extLst>
                    <a:ext uri="{FF2B5EF4-FFF2-40B4-BE49-F238E27FC236}">
                      <a16:creationId xmlns:a16="http://schemas.microsoft.com/office/drawing/2014/main" id="{89DC8F36-EBA5-016C-20A6-E51E1DB75E34}"/>
                    </a:ext>
                  </a:extLst>
                </p:cNvPr>
                <p:cNvSpPr>
                  <a:spLocks noChangeArrowheads="1"/>
                </p:cNvSpPr>
                <p:nvPr/>
              </p:nvSpPr>
              <p:spPr bwMode="auto">
                <a:xfrm>
                  <a:off x="2376" y="2395"/>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56</a:t>
                  </a:r>
                  <a:endParaRPr lang="en-US" altLang="en-US" sz="2400" b="0" i="1">
                    <a:latin typeface="Roboto" panose="02000000000000000000" pitchFamily="2" charset="0"/>
                    <a:ea typeface="Roboto" panose="02000000000000000000" pitchFamily="2" charset="0"/>
                  </a:endParaRPr>
                </a:p>
              </p:txBody>
            </p:sp>
            <p:sp>
              <p:nvSpPr>
                <p:cNvPr id="136" name="Rectangle 73">
                  <a:extLst>
                    <a:ext uri="{FF2B5EF4-FFF2-40B4-BE49-F238E27FC236}">
                      <a16:creationId xmlns:a16="http://schemas.microsoft.com/office/drawing/2014/main" id="{7B1D98DA-14B0-6376-1EAB-413866BCD4D8}"/>
                    </a:ext>
                  </a:extLst>
                </p:cNvPr>
                <p:cNvSpPr>
                  <a:spLocks noChangeArrowheads="1"/>
                </p:cNvSpPr>
                <p:nvPr/>
              </p:nvSpPr>
              <p:spPr bwMode="auto">
                <a:xfrm>
                  <a:off x="2642" y="2395"/>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10</a:t>
                  </a:r>
                  <a:endParaRPr lang="en-US" altLang="en-US" sz="2400" b="0" i="1">
                    <a:latin typeface="Roboto" panose="02000000000000000000" pitchFamily="2" charset="0"/>
                    <a:ea typeface="Roboto" panose="02000000000000000000" pitchFamily="2" charset="0"/>
                  </a:endParaRPr>
                </a:p>
              </p:txBody>
            </p:sp>
            <p:sp>
              <p:nvSpPr>
                <p:cNvPr id="137" name="Rectangle 74">
                  <a:extLst>
                    <a:ext uri="{FF2B5EF4-FFF2-40B4-BE49-F238E27FC236}">
                      <a16:creationId xmlns:a16="http://schemas.microsoft.com/office/drawing/2014/main" id="{BB88B4BD-8537-507F-5981-4479A12B0DCA}"/>
                    </a:ext>
                  </a:extLst>
                </p:cNvPr>
                <p:cNvSpPr>
                  <a:spLocks noChangeArrowheads="1"/>
                </p:cNvSpPr>
                <p:nvPr/>
              </p:nvSpPr>
              <p:spPr bwMode="auto">
                <a:xfrm>
                  <a:off x="3320" y="2402"/>
                  <a:ext cx="319"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Steel plugs for subplate.</a:t>
                  </a:r>
                  <a:endParaRPr lang="en-US" altLang="en-US" sz="2400" b="0" i="1">
                    <a:latin typeface="Roboto" panose="02000000000000000000" pitchFamily="2" charset="0"/>
                    <a:ea typeface="Roboto" panose="02000000000000000000" pitchFamily="2" charset="0"/>
                  </a:endParaRPr>
                </a:p>
              </p:txBody>
            </p:sp>
            <p:sp>
              <p:nvSpPr>
                <p:cNvPr id="138" name="Rectangle 75">
                  <a:extLst>
                    <a:ext uri="{FF2B5EF4-FFF2-40B4-BE49-F238E27FC236}">
                      <a16:creationId xmlns:a16="http://schemas.microsoft.com/office/drawing/2014/main" id="{D46F4DB1-2F22-6A10-1A10-7E1079DBDA3C}"/>
                    </a:ext>
                  </a:extLst>
                </p:cNvPr>
                <p:cNvSpPr>
                  <a:spLocks noChangeArrowheads="1"/>
                </p:cNvSpPr>
                <p:nvPr/>
              </p:nvSpPr>
              <p:spPr bwMode="auto">
                <a:xfrm>
                  <a:off x="4711" y="2339"/>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39" name="Rectangle 76">
                  <a:extLst>
                    <a:ext uri="{FF2B5EF4-FFF2-40B4-BE49-F238E27FC236}">
                      <a16:creationId xmlns:a16="http://schemas.microsoft.com/office/drawing/2014/main" id="{983BB466-66C4-F106-5227-7AC69EA3B751}"/>
                    </a:ext>
                  </a:extLst>
                </p:cNvPr>
                <p:cNvSpPr>
                  <a:spLocks noChangeArrowheads="1"/>
                </p:cNvSpPr>
                <p:nvPr/>
              </p:nvSpPr>
              <p:spPr bwMode="auto">
                <a:xfrm>
                  <a:off x="1096" y="2558"/>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6</a:t>
                  </a:r>
                  <a:endParaRPr lang="en-US" altLang="en-US" sz="2400" b="0" i="1">
                    <a:latin typeface="Roboto" panose="02000000000000000000" pitchFamily="2" charset="0"/>
                    <a:ea typeface="Roboto" panose="02000000000000000000" pitchFamily="2" charset="0"/>
                  </a:endParaRPr>
                </a:p>
              </p:txBody>
            </p:sp>
            <p:sp>
              <p:nvSpPr>
                <p:cNvPr id="140" name="Rectangle 77">
                  <a:extLst>
                    <a:ext uri="{FF2B5EF4-FFF2-40B4-BE49-F238E27FC236}">
                      <a16:creationId xmlns:a16="http://schemas.microsoft.com/office/drawing/2014/main" id="{D0207A36-6EC0-40BC-AAF4-ACEED15E496E}"/>
                    </a:ext>
                  </a:extLst>
                </p:cNvPr>
                <p:cNvSpPr>
                  <a:spLocks noChangeArrowheads="1"/>
                </p:cNvSpPr>
                <p:nvPr/>
              </p:nvSpPr>
              <p:spPr bwMode="auto">
                <a:xfrm>
                  <a:off x="1273" y="2520"/>
                  <a:ext cx="426"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Prepare nex fixture (Fixture </a:t>
                  </a:r>
                  <a:endParaRPr lang="en-US" altLang="en-US" sz="2400" b="0" i="1">
                    <a:latin typeface="Roboto" panose="02000000000000000000" pitchFamily="2" charset="0"/>
                    <a:ea typeface="Roboto" panose="02000000000000000000" pitchFamily="2" charset="0"/>
                  </a:endParaRPr>
                </a:p>
              </p:txBody>
            </p:sp>
            <p:sp>
              <p:nvSpPr>
                <p:cNvPr id="141" name="Rectangle 78">
                  <a:extLst>
                    <a:ext uri="{FF2B5EF4-FFF2-40B4-BE49-F238E27FC236}">
                      <a16:creationId xmlns:a16="http://schemas.microsoft.com/office/drawing/2014/main" id="{8208C1FC-A769-8087-BA57-65091D9B8F3F}"/>
                    </a:ext>
                  </a:extLst>
                </p:cNvPr>
                <p:cNvSpPr>
                  <a:spLocks noChangeArrowheads="1"/>
                </p:cNvSpPr>
                <p:nvPr/>
              </p:nvSpPr>
              <p:spPr bwMode="auto">
                <a:xfrm>
                  <a:off x="1273" y="2596"/>
                  <a:ext cx="12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Change)</a:t>
                  </a:r>
                  <a:endParaRPr lang="en-US" altLang="en-US" sz="2400" b="0" i="1">
                    <a:latin typeface="Roboto" panose="02000000000000000000" pitchFamily="2" charset="0"/>
                    <a:ea typeface="Roboto" panose="02000000000000000000" pitchFamily="2" charset="0"/>
                  </a:endParaRPr>
                </a:p>
              </p:txBody>
            </p:sp>
            <p:sp>
              <p:nvSpPr>
                <p:cNvPr id="142" name="Rectangle 79">
                  <a:extLst>
                    <a:ext uri="{FF2B5EF4-FFF2-40B4-BE49-F238E27FC236}">
                      <a16:creationId xmlns:a16="http://schemas.microsoft.com/office/drawing/2014/main" id="{9E1DED40-4B1E-4706-18E8-50F19270B372}"/>
                    </a:ext>
                  </a:extLst>
                </p:cNvPr>
                <p:cNvSpPr>
                  <a:spLocks noChangeArrowheads="1"/>
                </p:cNvSpPr>
                <p:nvPr/>
              </p:nvSpPr>
              <p:spPr bwMode="auto">
                <a:xfrm>
                  <a:off x="2120" y="255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20</a:t>
                  </a:r>
                  <a:endParaRPr lang="en-US" altLang="en-US" sz="2400" b="0" i="1">
                    <a:latin typeface="Roboto" panose="02000000000000000000" pitchFamily="2" charset="0"/>
                    <a:ea typeface="Roboto" panose="02000000000000000000" pitchFamily="2" charset="0"/>
                  </a:endParaRPr>
                </a:p>
              </p:txBody>
            </p:sp>
            <p:sp>
              <p:nvSpPr>
                <p:cNvPr id="143" name="Rectangle 80">
                  <a:extLst>
                    <a:ext uri="{FF2B5EF4-FFF2-40B4-BE49-F238E27FC236}">
                      <a16:creationId xmlns:a16="http://schemas.microsoft.com/office/drawing/2014/main" id="{B96A0EE8-AA5C-D92B-446B-21D359FE8496}"/>
                    </a:ext>
                  </a:extLst>
                </p:cNvPr>
                <p:cNvSpPr>
                  <a:spLocks noChangeArrowheads="1"/>
                </p:cNvSpPr>
                <p:nvPr/>
              </p:nvSpPr>
              <p:spPr bwMode="auto">
                <a:xfrm>
                  <a:off x="2371" y="2558"/>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1'16</a:t>
                  </a:r>
                  <a:endParaRPr lang="en-US" altLang="en-US" sz="2400" b="0" i="1">
                    <a:latin typeface="Roboto" panose="02000000000000000000" pitchFamily="2" charset="0"/>
                    <a:ea typeface="Roboto" panose="02000000000000000000" pitchFamily="2" charset="0"/>
                  </a:endParaRPr>
                </a:p>
              </p:txBody>
            </p:sp>
            <p:sp>
              <p:nvSpPr>
                <p:cNvPr id="144" name="Rectangle 81">
                  <a:extLst>
                    <a:ext uri="{FF2B5EF4-FFF2-40B4-BE49-F238E27FC236}">
                      <a16:creationId xmlns:a16="http://schemas.microsoft.com/office/drawing/2014/main" id="{B9C20D1F-5C68-C25B-8850-6DBEB2F99ADB}"/>
                    </a:ext>
                  </a:extLst>
                </p:cNvPr>
                <p:cNvSpPr>
                  <a:spLocks noChangeArrowheads="1"/>
                </p:cNvSpPr>
                <p:nvPr/>
              </p:nvSpPr>
              <p:spPr bwMode="auto">
                <a:xfrm>
                  <a:off x="2635" y="255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20</a:t>
                  </a:r>
                  <a:endParaRPr lang="en-US" altLang="en-US" sz="2400" b="0" i="1">
                    <a:latin typeface="Roboto" panose="02000000000000000000" pitchFamily="2" charset="0"/>
                    <a:ea typeface="Roboto" panose="02000000000000000000" pitchFamily="2" charset="0"/>
                  </a:endParaRPr>
                </a:p>
              </p:txBody>
            </p:sp>
            <p:sp>
              <p:nvSpPr>
                <p:cNvPr id="145" name="Rectangle 82">
                  <a:extLst>
                    <a:ext uri="{FF2B5EF4-FFF2-40B4-BE49-F238E27FC236}">
                      <a16:creationId xmlns:a16="http://schemas.microsoft.com/office/drawing/2014/main" id="{924377AE-B505-1BCC-B896-A5C8822EBD4E}"/>
                    </a:ext>
                  </a:extLst>
                </p:cNvPr>
                <p:cNvSpPr>
                  <a:spLocks noChangeArrowheads="1"/>
                </p:cNvSpPr>
                <p:nvPr/>
              </p:nvSpPr>
              <p:spPr bwMode="auto">
                <a:xfrm>
                  <a:off x="3153" y="2501"/>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46" name="Rectangle 83">
                  <a:extLst>
                    <a:ext uri="{FF2B5EF4-FFF2-40B4-BE49-F238E27FC236}">
                      <a16:creationId xmlns:a16="http://schemas.microsoft.com/office/drawing/2014/main" id="{364004FE-29C3-AA7F-FFB9-3A97AB817886}"/>
                    </a:ext>
                  </a:extLst>
                </p:cNvPr>
                <p:cNvSpPr>
                  <a:spLocks noChangeArrowheads="1"/>
                </p:cNvSpPr>
                <p:nvPr/>
              </p:nvSpPr>
              <p:spPr bwMode="auto">
                <a:xfrm>
                  <a:off x="3320" y="2533"/>
                  <a:ext cx="504"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Standardize procedures to externalize </a:t>
                  </a:r>
                  <a:endParaRPr lang="en-US" altLang="en-US" sz="2400" b="0" i="1">
                    <a:latin typeface="Roboto" panose="02000000000000000000" pitchFamily="2" charset="0"/>
                    <a:ea typeface="Roboto" panose="02000000000000000000" pitchFamily="2" charset="0"/>
                  </a:endParaRPr>
                </a:p>
              </p:txBody>
            </p:sp>
            <p:sp>
              <p:nvSpPr>
                <p:cNvPr id="147" name="Rectangle 84">
                  <a:extLst>
                    <a:ext uri="{FF2B5EF4-FFF2-40B4-BE49-F238E27FC236}">
                      <a16:creationId xmlns:a16="http://schemas.microsoft.com/office/drawing/2014/main" id="{5E5FB29A-4973-2D71-FFA7-34527E143733}"/>
                    </a:ext>
                  </a:extLst>
                </p:cNvPr>
                <p:cNvSpPr>
                  <a:spLocks noChangeArrowheads="1"/>
                </p:cNvSpPr>
                <p:nvPr/>
              </p:nvSpPr>
              <p:spPr bwMode="auto">
                <a:xfrm>
                  <a:off x="3320" y="2596"/>
                  <a:ext cx="122"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this step.</a:t>
                  </a:r>
                  <a:endParaRPr lang="en-US" altLang="en-US" sz="2400" b="0" i="1">
                    <a:latin typeface="Roboto" panose="02000000000000000000" pitchFamily="2" charset="0"/>
                    <a:ea typeface="Roboto" panose="02000000000000000000" pitchFamily="2" charset="0"/>
                  </a:endParaRPr>
                </a:p>
              </p:txBody>
            </p:sp>
            <p:sp>
              <p:nvSpPr>
                <p:cNvPr id="148" name="Rectangle 85">
                  <a:extLst>
                    <a:ext uri="{FF2B5EF4-FFF2-40B4-BE49-F238E27FC236}">
                      <a16:creationId xmlns:a16="http://schemas.microsoft.com/office/drawing/2014/main" id="{820AF772-C1EF-06D2-CA46-556131A02A19}"/>
                    </a:ext>
                  </a:extLst>
                </p:cNvPr>
                <p:cNvSpPr>
                  <a:spLocks noChangeArrowheads="1"/>
                </p:cNvSpPr>
                <p:nvPr/>
              </p:nvSpPr>
              <p:spPr bwMode="auto">
                <a:xfrm>
                  <a:off x="4454" y="2501"/>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49" name="Rectangle 86">
                  <a:extLst>
                    <a:ext uri="{FF2B5EF4-FFF2-40B4-BE49-F238E27FC236}">
                      <a16:creationId xmlns:a16="http://schemas.microsoft.com/office/drawing/2014/main" id="{CFD2B10A-143D-B192-3ECC-C27B407643FC}"/>
                    </a:ext>
                  </a:extLst>
                </p:cNvPr>
                <p:cNvSpPr>
                  <a:spLocks noChangeArrowheads="1"/>
                </p:cNvSpPr>
                <p:nvPr/>
              </p:nvSpPr>
              <p:spPr bwMode="auto">
                <a:xfrm>
                  <a:off x="4711" y="2501"/>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50" name="Rectangle 87">
                  <a:extLst>
                    <a:ext uri="{FF2B5EF4-FFF2-40B4-BE49-F238E27FC236}">
                      <a16:creationId xmlns:a16="http://schemas.microsoft.com/office/drawing/2014/main" id="{1921785F-E564-D669-8010-1DB7EE47661A}"/>
                    </a:ext>
                  </a:extLst>
                </p:cNvPr>
                <p:cNvSpPr>
                  <a:spLocks noChangeArrowheads="1"/>
                </p:cNvSpPr>
                <p:nvPr/>
              </p:nvSpPr>
              <p:spPr bwMode="auto">
                <a:xfrm>
                  <a:off x="1101" y="2720"/>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7</a:t>
                  </a:r>
                  <a:endParaRPr lang="en-US" altLang="en-US" sz="2400" b="0" i="1">
                    <a:latin typeface="Roboto" panose="02000000000000000000" pitchFamily="2" charset="0"/>
                    <a:ea typeface="Roboto" panose="02000000000000000000" pitchFamily="2" charset="0"/>
                  </a:endParaRPr>
                </a:p>
              </p:txBody>
            </p:sp>
            <p:sp>
              <p:nvSpPr>
                <p:cNvPr id="151" name="Rectangle 88">
                  <a:extLst>
                    <a:ext uri="{FF2B5EF4-FFF2-40B4-BE49-F238E27FC236}">
                      <a16:creationId xmlns:a16="http://schemas.microsoft.com/office/drawing/2014/main" id="{592C37C9-8733-34A1-E97F-0C2B500C36E9}"/>
                    </a:ext>
                  </a:extLst>
                </p:cNvPr>
                <p:cNvSpPr>
                  <a:spLocks noChangeArrowheads="1"/>
                </p:cNvSpPr>
                <p:nvPr/>
              </p:nvSpPr>
              <p:spPr bwMode="auto">
                <a:xfrm>
                  <a:off x="1273" y="2682"/>
                  <a:ext cx="41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Put on new fixture (Fixture </a:t>
                  </a:r>
                  <a:endParaRPr lang="en-US" altLang="en-US" sz="2400" b="0" i="1">
                    <a:latin typeface="Roboto" panose="02000000000000000000" pitchFamily="2" charset="0"/>
                    <a:ea typeface="Roboto" panose="02000000000000000000" pitchFamily="2" charset="0"/>
                  </a:endParaRPr>
                </a:p>
              </p:txBody>
            </p:sp>
            <p:sp>
              <p:nvSpPr>
                <p:cNvPr id="152" name="Rectangle 89">
                  <a:extLst>
                    <a:ext uri="{FF2B5EF4-FFF2-40B4-BE49-F238E27FC236}">
                      <a16:creationId xmlns:a16="http://schemas.microsoft.com/office/drawing/2014/main" id="{C60FF8AD-5676-A2BE-A9BF-A12C53B828E0}"/>
                    </a:ext>
                  </a:extLst>
                </p:cNvPr>
                <p:cNvSpPr>
                  <a:spLocks noChangeArrowheads="1"/>
                </p:cNvSpPr>
                <p:nvPr/>
              </p:nvSpPr>
              <p:spPr bwMode="auto">
                <a:xfrm>
                  <a:off x="1273" y="2759"/>
                  <a:ext cx="12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Change)</a:t>
                  </a:r>
                  <a:endParaRPr lang="en-US" altLang="en-US" sz="2400" b="0" i="1">
                    <a:latin typeface="Roboto" panose="02000000000000000000" pitchFamily="2" charset="0"/>
                    <a:ea typeface="Roboto" panose="02000000000000000000" pitchFamily="2" charset="0"/>
                  </a:endParaRPr>
                </a:p>
              </p:txBody>
            </p:sp>
            <p:sp>
              <p:nvSpPr>
                <p:cNvPr id="153" name="Rectangle 90">
                  <a:extLst>
                    <a:ext uri="{FF2B5EF4-FFF2-40B4-BE49-F238E27FC236}">
                      <a16:creationId xmlns:a16="http://schemas.microsoft.com/office/drawing/2014/main" id="{7008EA86-8CA4-860C-4723-A8F7E553BE0E}"/>
                    </a:ext>
                  </a:extLst>
                </p:cNvPr>
                <p:cNvSpPr>
                  <a:spLocks noChangeArrowheads="1"/>
                </p:cNvSpPr>
                <p:nvPr/>
              </p:nvSpPr>
              <p:spPr bwMode="auto">
                <a:xfrm>
                  <a:off x="2122" y="2720"/>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22</a:t>
                  </a:r>
                  <a:endParaRPr lang="en-US" altLang="en-US" sz="2400" b="0" i="1">
                    <a:latin typeface="Roboto" panose="02000000000000000000" pitchFamily="2" charset="0"/>
                    <a:ea typeface="Roboto" panose="02000000000000000000" pitchFamily="2" charset="0"/>
                  </a:endParaRPr>
                </a:p>
              </p:txBody>
            </p:sp>
            <p:sp>
              <p:nvSpPr>
                <p:cNvPr id="154" name="Rectangle 91">
                  <a:extLst>
                    <a:ext uri="{FF2B5EF4-FFF2-40B4-BE49-F238E27FC236}">
                      <a16:creationId xmlns:a16="http://schemas.microsoft.com/office/drawing/2014/main" id="{C0D9F3FC-C60D-C87E-4AD6-47066DACC9BA}"/>
                    </a:ext>
                  </a:extLst>
                </p:cNvPr>
                <p:cNvSpPr>
                  <a:spLocks noChangeArrowheads="1"/>
                </p:cNvSpPr>
                <p:nvPr/>
              </p:nvSpPr>
              <p:spPr bwMode="auto">
                <a:xfrm>
                  <a:off x="2362" y="2720"/>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1'38</a:t>
                  </a:r>
                  <a:endParaRPr lang="en-US" altLang="en-US" sz="2400" b="0" i="1">
                    <a:latin typeface="Roboto" panose="02000000000000000000" pitchFamily="2" charset="0"/>
                    <a:ea typeface="Roboto" panose="02000000000000000000" pitchFamily="2" charset="0"/>
                  </a:endParaRPr>
                </a:p>
              </p:txBody>
            </p:sp>
            <p:sp>
              <p:nvSpPr>
                <p:cNvPr id="155" name="Rectangle 92">
                  <a:extLst>
                    <a:ext uri="{FF2B5EF4-FFF2-40B4-BE49-F238E27FC236}">
                      <a16:creationId xmlns:a16="http://schemas.microsoft.com/office/drawing/2014/main" id="{8CC5F159-E285-30D0-744A-7BB438176902}"/>
                    </a:ext>
                  </a:extLst>
                </p:cNvPr>
                <p:cNvSpPr>
                  <a:spLocks noChangeArrowheads="1"/>
                </p:cNvSpPr>
                <p:nvPr/>
              </p:nvSpPr>
              <p:spPr bwMode="auto">
                <a:xfrm>
                  <a:off x="2637" y="2720"/>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22</a:t>
                  </a:r>
                  <a:endParaRPr lang="en-US" altLang="en-US" sz="2400" b="0" i="1">
                    <a:latin typeface="Roboto" panose="02000000000000000000" pitchFamily="2" charset="0"/>
                    <a:ea typeface="Roboto" panose="02000000000000000000" pitchFamily="2" charset="0"/>
                  </a:endParaRPr>
                </a:p>
              </p:txBody>
            </p:sp>
            <p:sp>
              <p:nvSpPr>
                <p:cNvPr id="156" name="Rectangle 93">
                  <a:extLst>
                    <a:ext uri="{FF2B5EF4-FFF2-40B4-BE49-F238E27FC236}">
                      <a16:creationId xmlns:a16="http://schemas.microsoft.com/office/drawing/2014/main" id="{F643CDBC-0BE0-810C-75B7-EF1D808C5EB9}"/>
                    </a:ext>
                  </a:extLst>
                </p:cNvPr>
                <p:cNvSpPr>
                  <a:spLocks noChangeArrowheads="1"/>
                </p:cNvSpPr>
                <p:nvPr/>
              </p:nvSpPr>
              <p:spPr bwMode="auto">
                <a:xfrm>
                  <a:off x="3320" y="2664"/>
                  <a:ext cx="535"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Air wrench at machine . Eliminate bolts - </a:t>
                  </a:r>
                  <a:endParaRPr lang="en-US" altLang="en-US" sz="2400" b="0" i="1">
                    <a:latin typeface="Roboto" panose="02000000000000000000" pitchFamily="2" charset="0"/>
                    <a:ea typeface="Roboto" panose="02000000000000000000" pitchFamily="2" charset="0"/>
                  </a:endParaRPr>
                </a:p>
              </p:txBody>
            </p:sp>
            <p:sp>
              <p:nvSpPr>
                <p:cNvPr id="157" name="Rectangle 94">
                  <a:extLst>
                    <a:ext uri="{FF2B5EF4-FFF2-40B4-BE49-F238E27FC236}">
                      <a16:creationId xmlns:a16="http://schemas.microsoft.com/office/drawing/2014/main" id="{35EDD278-D0DD-512F-348F-311AB8F1EF13}"/>
                    </a:ext>
                  </a:extLst>
                </p:cNvPr>
                <p:cNvSpPr>
                  <a:spLocks noChangeArrowheads="1"/>
                </p:cNvSpPr>
                <p:nvPr/>
              </p:nvSpPr>
              <p:spPr bwMode="auto">
                <a:xfrm>
                  <a:off x="3320" y="2727"/>
                  <a:ext cx="527"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install quick release.  Design SMED cart </a:t>
                  </a:r>
                  <a:endParaRPr lang="en-US" altLang="en-US" sz="2400" b="0" i="1">
                    <a:latin typeface="Roboto" panose="02000000000000000000" pitchFamily="2" charset="0"/>
                    <a:ea typeface="Roboto" panose="02000000000000000000" pitchFamily="2" charset="0"/>
                  </a:endParaRPr>
                </a:p>
              </p:txBody>
            </p:sp>
            <p:sp>
              <p:nvSpPr>
                <p:cNvPr id="158" name="Rectangle 95">
                  <a:extLst>
                    <a:ext uri="{FF2B5EF4-FFF2-40B4-BE49-F238E27FC236}">
                      <a16:creationId xmlns:a16="http://schemas.microsoft.com/office/drawing/2014/main" id="{41602D8C-A228-DB64-7725-AE39A0E9EEF8}"/>
                    </a:ext>
                  </a:extLst>
                </p:cNvPr>
                <p:cNvSpPr>
                  <a:spLocks noChangeArrowheads="1"/>
                </p:cNvSpPr>
                <p:nvPr/>
              </p:nvSpPr>
              <p:spPr bwMode="auto">
                <a:xfrm>
                  <a:off x="3320" y="2790"/>
                  <a:ext cx="191"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to load fixture.</a:t>
                  </a:r>
                  <a:endParaRPr lang="en-US" altLang="en-US" sz="2400" b="0" i="1">
                    <a:latin typeface="Roboto" panose="02000000000000000000" pitchFamily="2" charset="0"/>
                    <a:ea typeface="Roboto" panose="02000000000000000000" pitchFamily="2" charset="0"/>
                  </a:endParaRPr>
                </a:p>
              </p:txBody>
            </p:sp>
            <p:sp>
              <p:nvSpPr>
                <p:cNvPr id="159" name="Rectangle 96">
                  <a:extLst>
                    <a:ext uri="{FF2B5EF4-FFF2-40B4-BE49-F238E27FC236}">
                      <a16:creationId xmlns:a16="http://schemas.microsoft.com/office/drawing/2014/main" id="{A982CCF9-7D2B-E85E-BD5B-0DE49C47E957}"/>
                    </a:ext>
                  </a:extLst>
                </p:cNvPr>
                <p:cNvSpPr>
                  <a:spLocks noChangeArrowheads="1"/>
                </p:cNvSpPr>
                <p:nvPr/>
              </p:nvSpPr>
              <p:spPr bwMode="auto">
                <a:xfrm>
                  <a:off x="4711" y="2664"/>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60" name="Rectangle 97">
                  <a:extLst>
                    <a:ext uri="{FF2B5EF4-FFF2-40B4-BE49-F238E27FC236}">
                      <a16:creationId xmlns:a16="http://schemas.microsoft.com/office/drawing/2014/main" id="{032BF2D1-C5A9-C0BD-BDC1-93AA9D510DAE}"/>
                    </a:ext>
                  </a:extLst>
                </p:cNvPr>
                <p:cNvSpPr>
                  <a:spLocks noChangeArrowheads="1"/>
                </p:cNvSpPr>
                <p:nvPr/>
              </p:nvSpPr>
              <p:spPr bwMode="auto">
                <a:xfrm>
                  <a:off x="1097" y="2883"/>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8</a:t>
                  </a:r>
                  <a:endParaRPr lang="en-US" altLang="en-US" sz="2400" b="0" i="1">
                    <a:latin typeface="Roboto" panose="02000000000000000000" pitchFamily="2" charset="0"/>
                    <a:ea typeface="Roboto" panose="02000000000000000000" pitchFamily="2" charset="0"/>
                  </a:endParaRPr>
                </a:p>
              </p:txBody>
            </p:sp>
            <p:sp>
              <p:nvSpPr>
                <p:cNvPr id="161" name="Rectangle 98">
                  <a:extLst>
                    <a:ext uri="{FF2B5EF4-FFF2-40B4-BE49-F238E27FC236}">
                      <a16:creationId xmlns:a16="http://schemas.microsoft.com/office/drawing/2014/main" id="{B4FD1434-597D-29EB-F51B-9A8465918695}"/>
                    </a:ext>
                  </a:extLst>
                </p:cNvPr>
                <p:cNvSpPr>
                  <a:spLocks noChangeArrowheads="1"/>
                </p:cNvSpPr>
                <p:nvPr/>
              </p:nvSpPr>
              <p:spPr bwMode="auto">
                <a:xfrm>
                  <a:off x="1273" y="2845"/>
                  <a:ext cx="433"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Remove preset tools (Tools </a:t>
                  </a:r>
                  <a:endParaRPr lang="en-US" altLang="en-US" sz="2400" b="0" i="1">
                    <a:latin typeface="Roboto" panose="02000000000000000000" pitchFamily="2" charset="0"/>
                    <a:ea typeface="Roboto" panose="02000000000000000000" pitchFamily="2" charset="0"/>
                  </a:endParaRPr>
                </a:p>
              </p:txBody>
            </p:sp>
            <p:sp>
              <p:nvSpPr>
                <p:cNvPr id="162" name="Rectangle 99">
                  <a:extLst>
                    <a:ext uri="{FF2B5EF4-FFF2-40B4-BE49-F238E27FC236}">
                      <a16:creationId xmlns:a16="http://schemas.microsoft.com/office/drawing/2014/main" id="{1CFD615F-4870-B611-2168-3B4E2B5217F7}"/>
                    </a:ext>
                  </a:extLst>
                </p:cNvPr>
                <p:cNvSpPr>
                  <a:spLocks noChangeArrowheads="1"/>
                </p:cNvSpPr>
                <p:nvPr/>
              </p:nvSpPr>
              <p:spPr bwMode="auto">
                <a:xfrm>
                  <a:off x="1273" y="2921"/>
                  <a:ext cx="12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Change)</a:t>
                  </a:r>
                  <a:endParaRPr lang="en-US" altLang="en-US" sz="2400" b="0" i="1">
                    <a:latin typeface="Roboto" panose="02000000000000000000" pitchFamily="2" charset="0"/>
                    <a:ea typeface="Roboto" panose="02000000000000000000" pitchFamily="2" charset="0"/>
                  </a:endParaRPr>
                </a:p>
              </p:txBody>
            </p:sp>
            <p:sp>
              <p:nvSpPr>
                <p:cNvPr id="163" name="Rectangle 100">
                  <a:extLst>
                    <a:ext uri="{FF2B5EF4-FFF2-40B4-BE49-F238E27FC236}">
                      <a16:creationId xmlns:a16="http://schemas.microsoft.com/office/drawing/2014/main" id="{A1895DBF-585C-01F9-8D13-20409917F0F5}"/>
                    </a:ext>
                  </a:extLst>
                </p:cNvPr>
                <p:cNvSpPr>
                  <a:spLocks noChangeArrowheads="1"/>
                </p:cNvSpPr>
                <p:nvPr/>
              </p:nvSpPr>
              <p:spPr bwMode="auto">
                <a:xfrm>
                  <a:off x="2138" y="2883"/>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4</a:t>
                  </a:r>
                  <a:endParaRPr lang="en-US" altLang="en-US" sz="2400" b="0" i="1">
                    <a:latin typeface="Roboto" panose="02000000000000000000" pitchFamily="2" charset="0"/>
                    <a:ea typeface="Roboto" panose="02000000000000000000" pitchFamily="2" charset="0"/>
                  </a:endParaRPr>
                </a:p>
              </p:txBody>
            </p:sp>
            <p:sp>
              <p:nvSpPr>
                <p:cNvPr id="164" name="Rectangle 101">
                  <a:extLst>
                    <a:ext uri="{FF2B5EF4-FFF2-40B4-BE49-F238E27FC236}">
                      <a16:creationId xmlns:a16="http://schemas.microsoft.com/office/drawing/2014/main" id="{6F0C18EC-E346-8797-55A7-BBA26B0A1C70}"/>
                    </a:ext>
                  </a:extLst>
                </p:cNvPr>
                <p:cNvSpPr>
                  <a:spLocks noChangeArrowheads="1"/>
                </p:cNvSpPr>
                <p:nvPr/>
              </p:nvSpPr>
              <p:spPr bwMode="auto">
                <a:xfrm>
                  <a:off x="2366" y="2883"/>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1'42</a:t>
                  </a:r>
                  <a:endParaRPr lang="en-US" altLang="en-US" sz="2400" b="0" i="1">
                    <a:latin typeface="Roboto" panose="02000000000000000000" pitchFamily="2" charset="0"/>
                    <a:ea typeface="Roboto" panose="02000000000000000000" pitchFamily="2" charset="0"/>
                  </a:endParaRPr>
                </a:p>
              </p:txBody>
            </p:sp>
            <p:sp>
              <p:nvSpPr>
                <p:cNvPr id="165" name="Rectangle 102">
                  <a:extLst>
                    <a:ext uri="{FF2B5EF4-FFF2-40B4-BE49-F238E27FC236}">
                      <a16:creationId xmlns:a16="http://schemas.microsoft.com/office/drawing/2014/main" id="{8744E738-09B9-65B2-0BB7-787414672798}"/>
                    </a:ext>
                  </a:extLst>
                </p:cNvPr>
                <p:cNvSpPr>
                  <a:spLocks noChangeArrowheads="1"/>
                </p:cNvSpPr>
                <p:nvPr/>
              </p:nvSpPr>
              <p:spPr bwMode="auto">
                <a:xfrm>
                  <a:off x="2652" y="2883"/>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4</a:t>
                  </a:r>
                  <a:endParaRPr lang="en-US" altLang="en-US" sz="2400" b="0" i="1">
                    <a:latin typeface="Roboto" panose="02000000000000000000" pitchFamily="2" charset="0"/>
                    <a:ea typeface="Roboto" panose="02000000000000000000" pitchFamily="2" charset="0"/>
                  </a:endParaRPr>
                </a:p>
              </p:txBody>
            </p:sp>
            <p:sp>
              <p:nvSpPr>
                <p:cNvPr id="166" name="Rectangle 103">
                  <a:extLst>
                    <a:ext uri="{FF2B5EF4-FFF2-40B4-BE49-F238E27FC236}">
                      <a16:creationId xmlns:a16="http://schemas.microsoft.com/office/drawing/2014/main" id="{A6EDEA7A-F993-5A29-64BC-0A1AE1970B05}"/>
                    </a:ext>
                  </a:extLst>
                </p:cNvPr>
                <p:cNvSpPr>
                  <a:spLocks noChangeArrowheads="1"/>
                </p:cNvSpPr>
                <p:nvPr/>
              </p:nvSpPr>
              <p:spPr bwMode="auto">
                <a:xfrm>
                  <a:off x="3320" y="2890"/>
                  <a:ext cx="54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Establish common tooling for all models.</a:t>
                  </a:r>
                  <a:endParaRPr lang="en-US" altLang="en-US" sz="2400" b="0" i="1">
                    <a:latin typeface="Roboto" panose="02000000000000000000" pitchFamily="2" charset="0"/>
                    <a:ea typeface="Roboto" panose="02000000000000000000" pitchFamily="2" charset="0"/>
                  </a:endParaRPr>
                </a:p>
              </p:txBody>
            </p:sp>
            <p:sp>
              <p:nvSpPr>
                <p:cNvPr id="167" name="Rectangle 104">
                  <a:extLst>
                    <a:ext uri="{FF2B5EF4-FFF2-40B4-BE49-F238E27FC236}">
                      <a16:creationId xmlns:a16="http://schemas.microsoft.com/office/drawing/2014/main" id="{37C56D05-9327-2D16-0A42-A108F4C9961E}"/>
                    </a:ext>
                  </a:extLst>
                </p:cNvPr>
                <p:cNvSpPr>
                  <a:spLocks noChangeArrowheads="1"/>
                </p:cNvSpPr>
                <p:nvPr/>
              </p:nvSpPr>
              <p:spPr bwMode="auto">
                <a:xfrm>
                  <a:off x="4197" y="2826"/>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68" name="Rectangle 105">
                  <a:extLst>
                    <a:ext uri="{FF2B5EF4-FFF2-40B4-BE49-F238E27FC236}">
                      <a16:creationId xmlns:a16="http://schemas.microsoft.com/office/drawing/2014/main" id="{CFDF9700-881D-24CE-D797-E555164E6CC6}"/>
                    </a:ext>
                  </a:extLst>
                </p:cNvPr>
                <p:cNvSpPr>
                  <a:spLocks noChangeArrowheads="1"/>
                </p:cNvSpPr>
                <p:nvPr/>
              </p:nvSpPr>
              <p:spPr bwMode="auto">
                <a:xfrm>
                  <a:off x="4711" y="2826"/>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69" name="Rectangle 106">
                  <a:extLst>
                    <a:ext uri="{FF2B5EF4-FFF2-40B4-BE49-F238E27FC236}">
                      <a16:creationId xmlns:a16="http://schemas.microsoft.com/office/drawing/2014/main" id="{F11A83F5-763F-5881-9E92-6D14DDACC682}"/>
                    </a:ext>
                  </a:extLst>
                </p:cNvPr>
                <p:cNvSpPr>
                  <a:spLocks noChangeArrowheads="1"/>
                </p:cNvSpPr>
                <p:nvPr/>
              </p:nvSpPr>
              <p:spPr bwMode="auto">
                <a:xfrm>
                  <a:off x="1098" y="3045"/>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9</a:t>
                  </a:r>
                  <a:endParaRPr lang="en-US" altLang="en-US" sz="2400" b="0" i="1">
                    <a:latin typeface="Roboto" panose="02000000000000000000" pitchFamily="2" charset="0"/>
                    <a:ea typeface="Roboto" panose="02000000000000000000" pitchFamily="2" charset="0"/>
                  </a:endParaRPr>
                </a:p>
              </p:txBody>
            </p:sp>
            <p:sp>
              <p:nvSpPr>
                <p:cNvPr id="170" name="Rectangle 107">
                  <a:extLst>
                    <a:ext uri="{FF2B5EF4-FFF2-40B4-BE49-F238E27FC236}">
                      <a16:creationId xmlns:a16="http://schemas.microsoft.com/office/drawing/2014/main" id="{AE982B00-E73B-B3A8-62CB-21ED2317BB63}"/>
                    </a:ext>
                  </a:extLst>
                </p:cNvPr>
                <p:cNvSpPr>
                  <a:spLocks noChangeArrowheads="1"/>
                </p:cNvSpPr>
                <p:nvPr/>
              </p:nvSpPr>
              <p:spPr bwMode="auto">
                <a:xfrm>
                  <a:off x="1273" y="3045"/>
                  <a:ext cx="441"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Preset tooling (Tool Change)</a:t>
                  </a:r>
                  <a:endParaRPr lang="en-US" altLang="en-US" sz="2400" b="0" i="1">
                    <a:latin typeface="Roboto" panose="02000000000000000000" pitchFamily="2" charset="0"/>
                    <a:ea typeface="Roboto" panose="02000000000000000000" pitchFamily="2" charset="0"/>
                  </a:endParaRPr>
                </a:p>
              </p:txBody>
            </p:sp>
            <p:sp>
              <p:nvSpPr>
                <p:cNvPr id="171" name="Rectangle 108">
                  <a:extLst>
                    <a:ext uri="{FF2B5EF4-FFF2-40B4-BE49-F238E27FC236}">
                      <a16:creationId xmlns:a16="http://schemas.microsoft.com/office/drawing/2014/main" id="{060262F6-C583-1734-7F5B-BCD5E3A749F0}"/>
                    </a:ext>
                  </a:extLst>
                </p:cNvPr>
                <p:cNvSpPr>
                  <a:spLocks noChangeArrowheads="1"/>
                </p:cNvSpPr>
                <p:nvPr/>
              </p:nvSpPr>
              <p:spPr bwMode="auto">
                <a:xfrm>
                  <a:off x="2136" y="3045"/>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6</a:t>
                  </a:r>
                  <a:endParaRPr lang="en-US" altLang="en-US" sz="2400" b="0" i="1">
                    <a:latin typeface="Roboto" panose="02000000000000000000" pitchFamily="2" charset="0"/>
                    <a:ea typeface="Roboto" panose="02000000000000000000" pitchFamily="2" charset="0"/>
                  </a:endParaRPr>
                </a:p>
              </p:txBody>
            </p:sp>
            <p:sp>
              <p:nvSpPr>
                <p:cNvPr id="172" name="Rectangle 109">
                  <a:extLst>
                    <a:ext uri="{FF2B5EF4-FFF2-40B4-BE49-F238E27FC236}">
                      <a16:creationId xmlns:a16="http://schemas.microsoft.com/office/drawing/2014/main" id="{C1AA3937-412C-B1FA-97D5-021AD0443332}"/>
                    </a:ext>
                  </a:extLst>
                </p:cNvPr>
                <p:cNvSpPr>
                  <a:spLocks noChangeArrowheads="1"/>
                </p:cNvSpPr>
                <p:nvPr/>
              </p:nvSpPr>
              <p:spPr bwMode="auto">
                <a:xfrm>
                  <a:off x="2363" y="3045"/>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1'48</a:t>
                  </a:r>
                  <a:endParaRPr lang="en-US" altLang="en-US" sz="2400" b="0" i="1">
                    <a:latin typeface="Roboto" panose="02000000000000000000" pitchFamily="2" charset="0"/>
                    <a:ea typeface="Roboto" panose="02000000000000000000" pitchFamily="2" charset="0"/>
                  </a:endParaRPr>
                </a:p>
              </p:txBody>
            </p:sp>
            <p:sp>
              <p:nvSpPr>
                <p:cNvPr id="173" name="Rectangle 110">
                  <a:extLst>
                    <a:ext uri="{FF2B5EF4-FFF2-40B4-BE49-F238E27FC236}">
                      <a16:creationId xmlns:a16="http://schemas.microsoft.com/office/drawing/2014/main" id="{A21F4217-4DD0-F63F-D9CD-060154048A92}"/>
                    </a:ext>
                  </a:extLst>
                </p:cNvPr>
                <p:cNvSpPr>
                  <a:spLocks noChangeArrowheads="1"/>
                </p:cNvSpPr>
                <p:nvPr/>
              </p:nvSpPr>
              <p:spPr bwMode="auto">
                <a:xfrm>
                  <a:off x="2650" y="3045"/>
                  <a:ext cx="1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6</a:t>
                  </a:r>
                  <a:endParaRPr lang="en-US" altLang="en-US" sz="2400" b="0" i="1">
                    <a:latin typeface="Roboto" panose="02000000000000000000" pitchFamily="2" charset="0"/>
                    <a:ea typeface="Roboto" panose="02000000000000000000" pitchFamily="2" charset="0"/>
                  </a:endParaRPr>
                </a:p>
              </p:txBody>
            </p:sp>
            <p:sp>
              <p:nvSpPr>
                <p:cNvPr id="174" name="Rectangle 111">
                  <a:extLst>
                    <a:ext uri="{FF2B5EF4-FFF2-40B4-BE49-F238E27FC236}">
                      <a16:creationId xmlns:a16="http://schemas.microsoft.com/office/drawing/2014/main" id="{8F67052C-C354-2B09-C4DC-EDC031617E8E}"/>
                    </a:ext>
                  </a:extLst>
                </p:cNvPr>
                <p:cNvSpPr>
                  <a:spLocks noChangeArrowheads="1"/>
                </p:cNvSpPr>
                <p:nvPr/>
              </p:nvSpPr>
              <p:spPr bwMode="auto">
                <a:xfrm>
                  <a:off x="3320" y="3021"/>
                  <a:ext cx="504"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Standardize procedures to externalize </a:t>
                  </a:r>
                  <a:endParaRPr lang="en-US" altLang="en-US" sz="2400" b="0" i="1">
                    <a:latin typeface="Roboto" panose="02000000000000000000" pitchFamily="2" charset="0"/>
                    <a:ea typeface="Roboto" panose="02000000000000000000" pitchFamily="2" charset="0"/>
                  </a:endParaRPr>
                </a:p>
              </p:txBody>
            </p:sp>
            <p:sp>
              <p:nvSpPr>
                <p:cNvPr id="175" name="Rectangle 112">
                  <a:extLst>
                    <a:ext uri="{FF2B5EF4-FFF2-40B4-BE49-F238E27FC236}">
                      <a16:creationId xmlns:a16="http://schemas.microsoft.com/office/drawing/2014/main" id="{023E4069-AEEB-880E-30EF-5D733C41574A}"/>
                    </a:ext>
                  </a:extLst>
                </p:cNvPr>
                <p:cNvSpPr>
                  <a:spLocks noChangeArrowheads="1"/>
                </p:cNvSpPr>
                <p:nvPr/>
              </p:nvSpPr>
              <p:spPr bwMode="auto">
                <a:xfrm>
                  <a:off x="3320" y="3084"/>
                  <a:ext cx="122"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this step.</a:t>
                  </a:r>
                  <a:endParaRPr lang="en-US" altLang="en-US" sz="2400" b="0" i="1">
                    <a:latin typeface="Roboto" panose="02000000000000000000" pitchFamily="2" charset="0"/>
                    <a:ea typeface="Roboto" panose="02000000000000000000" pitchFamily="2" charset="0"/>
                  </a:endParaRPr>
                </a:p>
              </p:txBody>
            </p:sp>
            <p:sp>
              <p:nvSpPr>
                <p:cNvPr id="176" name="Rectangle 113">
                  <a:extLst>
                    <a:ext uri="{FF2B5EF4-FFF2-40B4-BE49-F238E27FC236}">
                      <a16:creationId xmlns:a16="http://schemas.microsoft.com/office/drawing/2014/main" id="{DEA056E2-8E4E-8EA1-5E27-663107B27376}"/>
                    </a:ext>
                  </a:extLst>
                </p:cNvPr>
                <p:cNvSpPr>
                  <a:spLocks noChangeArrowheads="1"/>
                </p:cNvSpPr>
                <p:nvPr/>
              </p:nvSpPr>
              <p:spPr bwMode="auto">
                <a:xfrm>
                  <a:off x="4454" y="2989"/>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77" name="Rectangle 114">
                  <a:extLst>
                    <a:ext uri="{FF2B5EF4-FFF2-40B4-BE49-F238E27FC236}">
                      <a16:creationId xmlns:a16="http://schemas.microsoft.com/office/drawing/2014/main" id="{7D13FED1-3746-87F9-9397-7CDCFE9DCD66}"/>
                    </a:ext>
                  </a:extLst>
                </p:cNvPr>
                <p:cNvSpPr>
                  <a:spLocks noChangeArrowheads="1"/>
                </p:cNvSpPr>
                <p:nvPr/>
              </p:nvSpPr>
              <p:spPr bwMode="auto">
                <a:xfrm>
                  <a:off x="1088" y="320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10</a:t>
                  </a:r>
                  <a:endParaRPr lang="en-US" altLang="en-US" sz="2400" b="0" i="1">
                    <a:latin typeface="Roboto" panose="02000000000000000000" pitchFamily="2" charset="0"/>
                    <a:ea typeface="Roboto" panose="02000000000000000000" pitchFamily="2" charset="0"/>
                  </a:endParaRPr>
                </a:p>
              </p:txBody>
            </p:sp>
            <p:sp>
              <p:nvSpPr>
                <p:cNvPr id="178" name="Rectangle 115">
                  <a:extLst>
                    <a:ext uri="{FF2B5EF4-FFF2-40B4-BE49-F238E27FC236}">
                      <a16:creationId xmlns:a16="http://schemas.microsoft.com/office/drawing/2014/main" id="{223B333C-6B1C-5BEB-B020-033CC82D1F8E}"/>
                    </a:ext>
                  </a:extLst>
                </p:cNvPr>
                <p:cNvSpPr>
                  <a:spLocks noChangeArrowheads="1"/>
                </p:cNvSpPr>
                <p:nvPr/>
              </p:nvSpPr>
              <p:spPr bwMode="auto">
                <a:xfrm>
                  <a:off x="1273" y="3208"/>
                  <a:ext cx="491"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Load new tooling (Tool Change)</a:t>
                  </a:r>
                  <a:endParaRPr lang="en-US" altLang="en-US" sz="2400" b="0" i="1">
                    <a:latin typeface="Roboto" panose="02000000000000000000" pitchFamily="2" charset="0"/>
                    <a:ea typeface="Roboto" panose="02000000000000000000" pitchFamily="2" charset="0"/>
                  </a:endParaRPr>
                </a:p>
              </p:txBody>
            </p:sp>
            <p:sp>
              <p:nvSpPr>
                <p:cNvPr id="179" name="Rectangle 116">
                  <a:extLst>
                    <a:ext uri="{FF2B5EF4-FFF2-40B4-BE49-F238E27FC236}">
                      <a16:creationId xmlns:a16="http://schemas.microsoft.com/office/drawing/2014/main" id="{BB9849C4-43DB-D25B-E7D6-B545024ED705}"/>
                    </a:ext>
                  </a:extLst>
                </p:cNvPr>
                <p:cNvSpPr>
                  <a:spLocks noChangeArrowheads="1"/>
                </p:cNvSpPr>
                <p:nvPr/>
              </p:nvSpPr>
              <p:spPr bwMode="auto">
                <a:xfrm>
                  <a:off x="2136" y="320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11</a:t>
                  </a:r>
                  <a:endParaRPr lang="en-US" altLang="en-US" sz="2400" b="0" i="1">
                    <a:latin typeface="Roboto" panose="02000000000000000000" pitchFamily="2" charset="0"/>
                    <a:ea typeface="Roboto" panose="02000000000000000000" pitchFamily="2" charset="0"/>
                  </a:endParaRPr>
                </a:p>
              </p:txBody>
            </p:sp>
            <p:sp>
              <p:nvSpPr>
                <p:cNvPr id="180" name="Rectangle 117">
                  <a:extLst>
                    <a:ext uri="{FF2B5EF4-FFF2-40B4-BE49-F238E27FC236}">
                      <a16:creationId xmlns:a16="http://schemas.microsoft.com/office/drawing/2014/main" id="{1174C5EA-260B-872F-C6AF-A502F1BEF0BC}"/>
                    </a:ext>
                  </a:extLst>
                </p:cNvPr>
                <p:cNvSpPr>
                  <a:spLocks noChangeArrowheads="1"/>
                </p:cNvSpPr>
                <p:nvPr/>
              </p:nvSpPr>
              <p:spPr bwMode="auto">
                <a:xfrm>
                  <a:off x="2364" y="3208"/>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1'59</a:t>
                  </a:r>
                  <a:endParaRPr lang="en-US" altLang="en-US" sz="2400" b="0" i="1">
                    <a:latin typeface="Roboto" panose="02000000000000000000" pitchFamily="2" charset="0"/>
                    <a:ea typeface="Roboto" panose="02000000000000000000" pitchFamily="2" charset="0"/>
                  </a:endParaRPr>
                </a:p>
              </p:txBody>
            </p:sp>
            <p:sp>
              <p:nvSpPr>
                <p:cNvPr id="181" name="Rectangle 118">
                  <a:extLst>
                    <a:ext uri="{FF2B5EF4-FFF2-40B4-BE49-F238E27FC236}">
                      <a16:creationId xmlns:a16="http://schemas.microsoft.com/office/drawing/2014/main" id="{1A821A39-1351-48DF-FC0D-97D26B904DDB}"/>
                    </a:ext>
                  </a:extLst>
                </p:cNvPr>
                <p:cNvSpPr>
                  <a:spLocks noChangeArrowheads="1"/>
                </p:cNvSpPr>
                <p:nvPr/>
              </p:nvSpPr>
              <p:spPr bwMode="auto">
                <a:xfrm>
                  <a:off x="2651" y="320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11</a:t>
                  </a:r>
                  <a:endParaRPr lang="en-US" altLang="en-US" sz="2400" b="0" i="1">
                    <a:latin typeface="Roboto" panose="02000000000000000000" pitchFamily="2" charset="0"/>
                    <a:ea typeface="Roboto" panose="02000000000000000000" pitchFamily="2" charset="0"/>
                  </a:endParaRPr>
                </a:p>
              </p:txBody>
            </p:sp>
            <p:sp>
              <p:nvSpPr>
                <p:cNvPr id="182" name="Rectangle 119">
                  <a:extLst>
                    <a:ext uri="{FF2B5EF4-FFF2-40B4-BE49-F238E27FC236}">
                      <a16:creationId xmlns:a16="http://schemas.microsoft.com/office/drawing/2014/main" id="{4C1216A9-7994-3FB7-1097-10FB6AF5D5CA}"/>
                    </a:ext>
                  </a:extLst>
                </p:cNvPr>
                <p:cNvSpPr>
                  <a:spLocks noChangeArrowheads="1"/>
                </p:cNvSpPr>
                <p:nvPr/>
              </p:nvSpPr>
              <p:spPr bwMode="auto">
                <a:xfrm>
                  <a:off x="3320" y="3215"/>
                  <a:ext cx="54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Establish common tooling for all models.</a:t>
                  </a:r>
                  <a:endParaRPr lang="en-US" altLang="en-US" sz="2400" b="0" i="1">
                    <a:latin typeface="Roboto" panose="02000000000000000000" pitchFamily="2" charset="0"/>
                    <a:ea typeface="Roboto" panose="02000000000000000000" pitchFamily="2" charset="0"/>
                  </a:endParaRPr>
                </a:p>
              </p:txBody>
            </p:sp>
            <p:sp>
              <p:nvSpPr>
                <p:cNvPr id="183" name="Rectangle 120">
                  <a:extLst>
                    <a:ext uri="{FF2B5EF4-FFF2-40B4-BE49-F238E27FC236}">
                      <a16:creationId xmlns:a16="http://schemas.microsoft.com/office/drawing/2014/main" id="{868CF323-6FAF-DEB0-754A-CC2D1B68A8D4}"/>
                    </a:ext>
                  </a:extLst>
                </p:cNvPr>
                <p:cNvSpPr>
                  <a:spLocks noChangeArrowheads="1"/>
                </p:cNvSpPr>
                <p:nvPr/>
              </p:nvSpPr>
              <p:spPr bwMode="auto">
                <a:xfrm>
                  <a:off x="4197" y="3151"/>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84" name="Rectangle 121">
                  <a:extLst>
                    <a:ext uri="{FF2B5EF4-FFF2-40B4-BE49-F238E27FC236}">
                      <a16:creationId xmlns:a16="http://schemas.microsoft.com/office/drawing/2014/main" id="{A4AB7BF3-5F1D-397D-3AFC-66A0593959AA}"/>
                    </a:ext>
                  </a:extLst>
                </p:cNvPr>
                <p:cNvSpPr>
                  <a:spLocks noChangeArrowheads="1"/>
                </p:cNvSpPr>
                <p:nvPr/>
              </p:nvSpPr>
              <p:spPr bwMode="auto">
                <a:xfrm>
                  <a:off x="4711" y="3151"/>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85" name="Rectangle 122">
                  <a:extLst>
                    <a:ext uri="{FF2B5EF4-FFF2-40B4-BE49-F238E27FC236}">
                      <a16:creationId xmlns:a16="http://schemas.microsoft.com/office/drawing/2014/main" id="{25CFAE2C-0EF8-36BB-D977-C73901899DEE}"/>
                    </a:ext>
                  </a:extLst>
                </p:cNvPr>
                <p:cNvSpPr>
                  <a:spLocks noChangeArrowheads="1"/>
                </p:cNvSpPr>
                <p:nvPr/>
              </p:nvSpPr>
              <p:spPr bwMode="auto">
                <a:xfrm>
                  <a:off x="1098" y="3371"/>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11</a:t>
                  </a:r>
                  <a:endParaRPr lang="en-US" altLang="en-US" sz="2400" b="0" i="1">
                    <a:latin typeface="Roboto" panose="02000000000000000000" pitchFamily="2" charset="0"/>
                    <a:ea typeface="Roboto" panose="02000000000000000000" pitchFamily="2" charset="0"/>
                  </a:endParaRPr>
                </a:p>
              </p:txBody>
            </p:sp>
            <p:sp>
              <p:nvSpPr>
                <p:cNvPr id="186" name="Rectangle 123">
                  <a:extLst>
                    <a:ext uri="{FF2B5EF4-FFF2-40B4-BE49-F238E27FC236}">
                      <a16:creationId xmlns:a16="http://schemas.microsoft.com/office/drawing/2014/main" id="{1714E2E6-138B-1340-B3BA-5B6E339D957A}"/>
                    </a:ext>
                  </a:extLst>
                </p:cNvPr>
                <p:cNvSpPr>
                  <a:spLocks noChangeArrowheads="1"/>
                </p:cNvSpPr>
                <p:nvPr/>
              </p:nvSpPr>
              <p:spPr bwMode="auto">
                <a:xfrm>
                  <a:off x="1273" y="3371"/>
                  <a:ext cx="38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Run 1st Piece (1st Piece)</a:t>
                  </a:r>
                  <a:endParaRPr lang="en-US" altLang="en-US" sz="2400" b="0" i="1">
                    <a:latin typeface="Roboto" panose="02000000000000000000" pitchFamily="2" charset="0"/>
                    <a:ea typeface="Roboto" panose="02000000000000000000" pitchFamily="2" charset="0"/>
                  </a:endParaRPr>
                </a:p>
              </p:txBody>
            </p:sp>
            <p:sp>
              <p:nvSpPr>
                <p:cNvPr id="187" name="Rectangle 124">
                  <a:extLst>
                    <a:ext uri="{FF2B5EF4-FFF2-40B4-BE49-F238E27FC236}">
                      <a16:creationId xmlns:a16="http://schemas.microsoft.com/office/drawing/2014/main" id="{5D6FB559-2769-9A08-BE07-91F4D2174DCF}"/>
                    </a:ext>
                  </a:extLst>
                </p:cNvPr>
                <p:cNvSpPr>
                  <a:spLocks noChangeArrowheads="1"/>
                </p:cNvSpPr>
                <p:nvPr/>
              </p:nvSpPr>
              <p:spPr bwMode="auto">
                <a:xfrm>
                  <a:off x="2129" y="3371"/>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15</a:t>
                  </a:r>
                  <a:endParaRPr lang="en-US" altLang="en-US" sz="2400" b="0" i="1">
                    <a:latin typeface="Roboto" panose="02000000000000000000" pitchFamily="2" charset="0"/>
                    <a:ea typeface="Roboto" panose="02000000000000000000" pitchFamily="2" charset="0"/>
                  </a:endParaRPr>
                </a:p>
              </p:txBody>
            </p:sp>
            <p:sp>
              <p:nvSpPr>
                <p:cNvPr id="188" name="Rectangle 125">
                  <a:extLst>
                    <a:ext uri="{FF2B5EF4-FFF2-40B4-BE49-F238E27FC236}">
                      <a16:creationId xmlns:a16="http://schemas.microsoft.com/office/drawing/2014/main" id="{3BEBBE0F-6AA7-F473-68B5-A275B457E462}"/>
                    </a:ext>
                  </a:extLst>
                </p:cNvPr>
                <p:cNvSpPr>
                  <a:spLocks noChangeArrowheads="1"/>
                </p:cNvSpPr>
                <p:nvPr/>
              </p:nvSpPr>
              <p:spPr bwMode="auto">
                <a:xfrm>
                  <a:off x="2366" y="3371"/>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2'14</a:t>
                  </a:r>
                  <a:endParaRPr lang="en-US" altLang="en-US" sz="2400" b="0" i="1">
                    <a:latin typeface="Roboto" panose="02000000000000000000" pitchFamily="2" charset="0"/>
                    <a:ea typeface="Roboto" panose="02000000000000000000" pitchFamily="2" charset="0"/>
                  </a:endParaRPr>
                </a:p>
              </p:txBody>
            </p:sp>
            <p:sp>
              <p:nvSpPr>
                <p:cNvPr id="189" name="Rectangle 126">
                  <a:extLst>
                    <a:ext uri="{FF2B5EF4-FFF2-40B4-BE49-F238E27FC236}">
                      <a16:creationId xmlns:a16="http://schemas.microsoft.com/office/drawing/2014/main" id="{00C3DB5C-8003-3123-9CD6-A461ABBCC0E5}"/>
                    </a:ext>
                  </a:extLst>
                </p:cNvPr>
                <p:cNvSpPr>
                  <a:spLocks noChangeArrowheads="1"/>
                </p:cNvSpPr>
                <p:nvPr/>
              </p:nvSpPr>
              <p:spPr bwMode="auto">
                <a:xfrm>
                  <a:off x="2901" y="3371"/>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15</a:t>
                  </a:r>
                  <a:endParaRPr lang="en-US" altLang="en-US" sz="2400" b="0" i="1">
                    <a:latin typeface="Roboto" panose="02000000000000000000" pitchFamily="2" charset="0"/>
                    <a:ea typeface="Roboto" panose="02000000000000000000" pitchFamily="2" charset="0"/>
                  </a:endParaRPr>
                </a:p>
              </p:txBody>
            </p:sp>
            <p:sp>
              <p:nvSpPr>
                <p:cNvPr id="190" name="Rectangle 127">
                  <a:extLst>
                    <a:ext uri="{FF2B5EF4-FFF2-40B4-BE49-F238E27FC236}">
                      <a16:creationId xmlns:a16="http://schemas.microsoft.com/office/drawing/2014/main" id="{933BEDD6-B51D-D9EC-5E7D-BF81B0F36A57}"/>
                    </a:ext>
                  </a:extLst>
                </p:cNvPr>
                <p:cNvSpPr>
                  <a:spLocks noChangeArrowheads="1"/>
                </p:cNvSpPr>
                <p:nvPr/>
              </p:nvSpPr>
              <p:spPr bwMode="auto">
                <a:xfrm>
                  <a:off x="1091" y="3533"/>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12</a:t>
                  </a:r>
                  <a:endParaRPr lang="en-US" altLang="en-US" sz="2400" b="0" i="1">
                    <a:latin typeface="Roboto" panose="02000000000000000000" pitchFamily="2" charset="0"/>
                    <a:ea typeface="Roboto" panose="02000000000000000000" pitchFamily="2" charset="0"/>
                  </a:endParaRPr>
                </a:p>
              </p:txBody>
            </p:sp>
            <p:sp>
              <p:nvSpPr>
                <p:cNvPr id="191" name="Rectangle 128">
                  <a:extLst>
                    <a:ext uri="{FF2B5EF4-FFF2-40B4-BE49-F238E27FC236}">
                      <a16:creationId xmlns:a16="http://schemas.microsoft.com/office/drawing/2014/main" id="{21751B68-CEC9-911E-09E3-4988F26D08E8}"/>
                    </a:ext>
                  </a:extLst>
                </p:cNvPr>
                <p:cNvSpPr>
                  <a:spLocks noChangeArrowheads="1"/>
                </p:cNvSpPr>
                <p:nvPr/>
              </p:nvSpPr>
              <p:spPr bwMode="auto">
                <a:xfrm>
                  <a:off x="1273" y="3533"/>
                  <a:ext cx="37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Qualify 1st Piece (Gage)</a:t>
                  </a:r>
                  <a:endParaRPr lang="en-US" altLang="en-US" sz="2400" b="0" i="1">
                    <a:latin typeface="Roboto" panose="02000000000000000000" pitchFamily="2" charset="0"/>
                    <a:ea typeface="Roboto" panose="02000000000000000000" pitchFamily="2" charset="0"/>
                  </a:endParaRPr>
                </a:p>
              </p:txBody>
            </p:sp>
            <p:sp>
              <p:nvSpPr>
                <p:cNvPr id="192" name="Rectangle 129">
                  <a:extLst>
                    <a:ext uri="{FF2B5EF4-FFF2-40B4-BE49-F238E27FC236}">
                      <a16:creationId xmlns:a16="http://schemas.microsoft.com/office/drawing/2014/main" id="{F2D7A39C-4A3F-3597-FDBB-3B26667B653D}"/>
                    </a:ext>
                  </a:extLst>
                </p:cNvPr>
                <p:cNvSpPr>
                  <a:spLocks noChangeArrowheads="1"/>
                </p:cNvSpPr>
                <p:nvPr/>
              </p:nvSpPr>
              <p:spPr bwMode="auto">
                <a:xfrm>
                  <a:off x="2129" y="3533"/>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12</a:t>
                  </a:r>
                  <a:endParaRPr lang="en-US" altLang="en-US" sz="2400" b="0" i="1">
                    <a:latin typeface="Roboto" panose="02000000000000000000" pitchFamily="2" charset="0"/>
                    <a:ea typeface="Roboto" panose="02000000000000000000" pitchFamily="2" charset="0"/>
                  </a:endParaRPr>
                </a:p>
              </p:txBody>
            </p:sp>
            <p:sp>
              <p:nvSpPr>
                <p:cNvPr id="193" name="Rectangle 130">
                  <a:extLst>
                    <a:ext uri="{FF2B5EF4-FFF2-40B4-BE49-F238E27FC236}">
                      <a16:creationId xmlns:a16="http://schemas.microsoft.com/office/drawing/2014/main" id="{45ECA777-0AE9-001E-5514-A7DA92136018}"/>
                    </a:ext>
                  </a:extLst>
                </p:cNvPr>
                <p:cNvSpPr>
                  <a:spLocks noChangeArrowheads="1"/>
                </p:cNvSpPr>
                <p:nvPr/>
              </p:nvSpPr>
              <p:spPr bwMode="auto">
                <a:xfrm>
                  <a:off x="2357" y="3533"/>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2'26</a:t>
                  </a:r>
                  <a:endParaRPr lang="en-US" altLang="en-US" sz="2400" b="0" i="1">
                    <a:latin typeface="Roboto" panose="02000000000000000000" pitchFamily="2" charset="0"/>
                    <a:ea typeface="Roboto" panose="02000000000000000000" pitchFamily="2" charset="0"/>
                  </a:endParaRPr>
                </a:p>
              </p:txBody>
            </p:sp>
            <p:sp>
              <p:nvSpPr>
                <p:cNvPr id="194" name="Rectangle 131">
                  <a:extLst>
                    <a:ext uri="{FF2B5EF4-FFF2-40B4-BE49-F238E27FC236}">
                      <a16:creationId xmlns:a16="http://schemas.microsoft.com/office/drawing/2014/main" id="{165FCA37-A3D5-EC00-7FF1-6955C5F80672}"/>
                    </a:ext>
                  </a:extLst>
                </p:cNvPr>
                <p:cNvSpPr>
                  <a:spLocks noChangeArrowheads="1"/>
                </p:cNvSpPr>
                <p:nvPr/>
              </p:nvSpPr>
              <p:spPr bwMode="auto">
                <a:xfrm>
                  <a:off x="2644" y="3533"/>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12</a:t>
                  </a:r>
                  <a:endParaRPr lang="en-US" altLang="en-US" sz="2400" b="0" i="1">
                    <a:latin typeface="Roboto" panose="02000000000000000000" pitchFamily="2" charset="0"/>
                    <a:ea typeface="Roboto" panose="02000000000000000000" pitchFamily="2" charset="0"/>
                  </a:endParaRPr>
                </a:p>
              </p:txBody>
            </p:sp>
            <p:sp>
              <p:nvSpPr>
                <p:cNvPr id="195" name="Rectangle 132">
                  <a:extLst>
                    <a:ext uri="{FF2B5EF4-FFF2-40B4-BE49-F238E27FC236}">
                      <a16:creationId xmlns:a16="http://schemas.microsoft.com/office/drawing/2014/main" id="{B3E20C75-9496-456B-83AE-5A725D78416E}"/>
                    </a:ext>
                  </a:extLst>
                </p:cNvPr>
                <p:cNvSpPr>
                  <a:spLocks noChangeArrowheads="1"/>
                </p:cNvSpPr>
                <p:nvPr/>
              </p:nvSpPr>
              <p:spPr bwMode="auto">
                <a:xfrm>
                  <a:off x="3320" y="3509"/>
                  <a:ext cx="504"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Standardize procedures to externalize </a:t>
                  </a:r>
                  <a:endParaRPr lang="en-US" altLang="en-US" sz="2400" b="0" i="1">
                    <a:latin typeface="Roboto" panose="02000000000000000000" pitchFamily="2" charset="0"/>
                    <a:ea typeface="Roboto" panose="02000000000000000000" pitchFamily="2" charset="0"/>
                  </a:endParaRPr>
                </a:p>
              </p:txBody>
            </p:sp>
            <p:sp>
              <p:nvSpPr>
                <p:cNvPr id="196" name="Rectangle 133">
                  <a:extLst>
                    <a:ext uri="{FF2B5EF4-FFF2-40B4-BE49-F238E27FC236}">
                      <a16:creationId xmlns:a16="http://schemas.microsoft.com/office/drawing/2014/main" id="{CFD249B9-EB58-FAEF-1974-FC706C397AD9}"/>
                    </a:ext>
                  </a:extLst>
                </p:cNvPr>
                <p:cNvSpPr>
                  <a:spLocks noChangeArrowheads="1"/>
                </p:cNvSpPr>
                <p:nvPr/>
              </p:nvSpPr>
              <p:spPr bwMode="auto">
                <a:xfrm>
                  <a:off x="3320" y="3571"/>
                  <a:ext cx="122"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600" b="0">
                      <a:solidFill>
                        <a:srgbClr val="000000"/>
                      </a:solidFill>
                      <a:latin typeface="Roboto" panose="02000000000000000000" pitchFamily="2" charset="0"/>
                      <a:ea typeface="Roboto" panose="02000000000000000000" pitchFamily="2" charset="0"/>
                    </a:rPr>
                    <a:t>this step.</a:t>
                  </a:r>
                  <a:endParaRPr lang="en-US" altLang="en-US" sz="2400" b="0" i="1">
                    <a:latin typeface="Roboto" panose="02000000000000000000" pitchFamily="2" charset="0"/>
                    <a:ea typeface="Roboto" panose="02000000000000000000" pitchFamily="2" charset="0"/>
                  </a:endParaRPr>
                </a:p>
              </p:txBody>
            </p:sp>
            <p:sp>
              <p:nvSpPr>
                <p:cNvPr id="197" name="Rectangle 134">
                  <a:extLst>
                    <a:ext uri="{FF2B5EF4-FFF2-40B4-BE49-F238E27FC236}">
                      <a16:creationId xmlns:a16="http://schemas.microsoft.com/office/drawing/2014/main" id="{65E49D03-D97A-7041-EE01-5474AAA5AFD5}"/>
                    </a:ext>
                  </a:extLst>
                </p:cNvPr>
                <p:cNvSpPr>
                  <a:spLocks noChangeArrowheads="1"/>
                </p:cNvSpPr>
                <p:nvPr/>
              </p:nvSpPr>
              <p:spPr bwMode="auto">
                <a:xfrm>
                  <a:off x="4454" y="3476"/>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900" b="0">
                      <a:solidFill>
                        <a:srgbClr val="000000"/>
                      </a:solidFill>
                      <a:latin typeface="Roboto" panose="02000000000000000000" pitchFamily="2" charset="0"/>
                      <a:ea typeface="Roboto" panose="02000000000000000000" pitchFamily="2" charset="0"/>
                    </a:rPr>
                    <a:t>x</a:t>
                  </a:r>
                  <a:endParaRPr lang="en-US" altLang="en-US" sz="2400" b="0" i="1">
                    <a:latin typeface="Roboto" panose="02000000000000000000" pitchFamily="2" charset="0"/>
                    <a:ea typeface="Roboto" panose="02000000000000000000" pitchFamily="2" charset="0"/>
                  </a:endParaRPr>
                </a:p>
              </p:txBody>
            </p:sp>
            <p:sp>
              <p:nvSpPr>
                <p:cNvPr id="198" name="Rectangle 135">
                  <a:extLst>
                    <a:ext uri="{FF2B5EF4-FFF2-40B4-BE49-F238E27FC236}">
                      <a16:creationId xmlns:a16="http://schemas.microsoft.com/office/drawing/2014/main" id="{62195DF8-E6E7-299B-DD48-95E345C08E5A}"/>
                    </a:ext>
                  </a:extLst>
                </p:cNvPr>
                <p:cNvSpPr>
                  <a:spLocks noChangeArrowheads="1"/>
                </p:cNvSpPr>
                <p:nvPr/>
              </p:nvSpPr>
              <p:spPr bwMode="auto">
                <a:xfrm>
                  <a:off x="1883" y="3896"/>
                  <a:ext cx="97"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Totals</a:t>
                  </a:r>
                  <a:endParaRPr lang="en-US" altLang="en-US" sz="2400" b="0" i="1">
                    <a:latin typeface="Roboto" panose="02000000000000000000" pitchFamily="2" charset="0"/>
                    <a:ea typeface="Roboto" panose="02000000000000000000" pitchFamily="2" charset="0"/>
                  </a:endParaRPr>
                </a:p>
              </p:txBody>
            </p:sp>
            <p:sp>
              <p:nvSpPr>
                <p:cNvPr id="199" name="Rectangle 136">
                  <a:extLst>
                    <a:ext uri="{FF2B5EF4-FFF2-40B4-BE49-F238E27FC236}">
                      <a16:creationId xmlns:a16="http://schemas.microsoft.com/office/drawing/2014/main" id="{E10586FD-DCAF-BADA-5024-380A7676BD1B}"/>
                    </a:ext>
                  </a:extLst>
                </p:cNvPr>
                <p:cNvSpPr>
                  <a:spLocks noChangeArrowheads="1"/>
                </p:cNvSpPr>
                <p:nvPr/>
              </p:nvSpPr>
              <p:spPr bwMode="auto">
                <a:xfrm>
                  <a:off x="2099" y="3858"/>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2'26</a:t>
                  </a:r>
                  <a:endParaRPr lang="en-US" altLang="en-US" sz="2400" b="0" i="1">
                    <a:latin typeface="Roboto" panose="02000000000000000000" pitchFamily="2" charset="0"/>
                    <a:ea typeface="Roboto" panose="02000000000000000000" pitchFamily="2" charset="0"/>
                  </a:endParaRPr>
                </a:p>
              </p:txBody>
            </p:sp>
            <p:sp>
              <p:nvSpPr>
                <p:cNvPr id="200" name="Rectangle 137">
                  <a:extLst>
                    <a:ext uri="{FF2B5EF4-FFF2-40B4-BE49-F238E27FC236}">
                      <a16:creationId xmlns:a16="http://schemas.microsoft.com/office/drawing/2014/main" id="{FEEB9A19-AEAB-E673-D94B-D58FDEF1BDDC}"/>
                    </a:ext>
                  </a:extLst>
                </p:cNvPr>
                <p:cNvSpPr>
                  <a:spLocks noChangeArrowheads="1"/>
                </p:cNvSpPr>
                <p:nvPr/>
              </p:nvSpPr>
              <p:spPr bwMode="auto">
                <a:xfrm>
                  <a:off x="2357" y="3858"/>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2'26</a:t>
                  </a:r>
                  <a:endParaRPr lang="en-US" altLang="en-US" sz="2400" b="0" i="1">
                    <a:latin typeface="Roboto" panose="02000000000000000000" pitchFamily="2" charset="0"/>
                    <a:ea typeface="Roboto" panose="02000000000000000000" pitchFamily="2" charset="0"/>
                  </a:endParaRPr>
                </a:p>
              </p:txBody>
            </p:sp>
            <p:sp>
              <p:nvSpPr>
                <p:cNvPr id="201" name="Rectangle 138">
                  <a:extLst>
                    <a:ext uri="{FF2B5EF4-FFF2-40B4-BE49-F238E27FC236}">
                      <a16:creationId xmlns:a16="http://schemas.microsoft.com/office/drawing/2014/main" id="{A630B03C-5191-4995-2D4B-5B2E9A70C5DA}"/>
                    </a:ext>
                  </a:extLst>
                </p:cNvPr>
                <p:cNvSpPr>
                  <a:spLocks noChangeArrowheads="1"/>
                </p:cNvSpPr>
                <p:nvPr/>
              </p:nvSpPr>
              <p:spPr bwMode="auto">
                <a:xfrm>
                  <a:off x="2631" y="3858"/>
                  <a:ext cx="6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2'11</a:t>
                  </a:r>
                  <a:endParaRPr lang="en-US" altLang="en-US" sz="2400" b="0" i="1">
                    <a:latin typeface="Roboto" panose="02000000000000000000" pitchFamily="2" charset="0"/>
                    <a:ea typeface="Roboto" panose="02000000000000000000" pitchFamily="2" charset="0"/>
                  </a:endParaRPr>
                </a:p>
              </p:txBody>
            </p:sp>
            <p:sp>
              <p:nvSpPr>
                <p:cNvPr id="202" name="Rectangle 139">
                  <a:extLst>
                    <a:ext uri="{FF2B5EF4-FFF2-40B4-BE49-F238E27FC236}">
                      <a16:creationId xmlns:a16="http://schemas.microsoft.com/office/drawing/2014/main" id="{8F3E4FA1-80AC-0E7D-FF2A-E0905B44A00D}"/>
                    </a:ext>
                  </a:extLst>
                </p:cNvPr>
                <p:cNvSpPr>
                  <a:spLocks noChangeArrowheads="1"/>
                </p:cNvSpPr>
                <p:nvPr/>
              </p:nvSpPr>
              <p:spPr bwMode="auto">
                <a:xfrm>
                  <a:off x="2901" y="3858"/>
                  <a:ext cx="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15</a:t>
                  </a:r>
                  <a:endParaRPr lang="en-US" altLang="en-US" sz="2400" b="0" i="1">
                    <a:latin typeface="Roboto" panose="02000000000000000000" pitchFamily="2" charset="0"/>
                    <a:ea typeface="Roboto" panose="02000000000000000000" pitchFamily="2" charset="0"/>
                  </a:endParaRPr>
                </a:p>
              </p:txBody>
            </p:sp>
            <p:sp>
              <p:nvSpPr>
                <p:cNvPr id="203" name="Rectangle 140">
                  <a:extLst>
                    <a:ext uri="{FF2B5EF4-FFF2-40B4-BE49-F238E27FC236}">
                      <a16:creationId xmlns:a16="http://schemas.microsoft.com/office/drawing/2014/main" id="{B2D5B247-825C-95FE-4F84-551E3FC8CEC7}"/>
                    </a:ext>
                  </a:extLst>
                </p:cNvPr>
                <p:cNvSpPr>
                  <a:spLocks noChangeArrowheads="1"/>
                </p:cNvSpPr>
                <p:nvPr/>
              </p:nvSpPr>
              <p:spPr bwMode="auto">
                <a:xfrm>
                  <a:off x="2118" y="1456"/>
                  <a:ext cx="238"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Operation Time</a:t>
                  </a:r>
                  <a:endParaRPr lang="en-US" altLang="en-US" sz="2400" b="0" i="1">
                    <a:latin typeface="Roboto" panose="02000000000000000000" pitchFamily="2" charset="0"/>
                    <a:ea typeface="Roboto" panose="02000000000000000000" pitchFamily="2" charset="0"/>
                  </a:endParaRPr>
                </a:p>
              </p:txBody>
            </p:sp>
            <p:sp>
              <p:nvSpPr>
                <p:cNvPr id="204" name="Rectangle 141">
                  <a:extLst>
                    <a:ext uri="{FF2B5EF4-FFF2-40B4-BE49-F238E27FC236}">
                      <a16:creationId xmlns:a16="http://schemas.microsoft.com/office/drawing/2014/main" id="{EA93C19F-8772-BD62-C6F0-AB907DA12E34}"/>
                    </a:ext>
                  </a:extLst>
                </p:cNvPr>
                <p:cNvSpPr>
                  <a:spLocks noChangeArrowheads="1"/>
                </p:cNvSpPr>
                <p:nvPr/>
              </p:nvSpPr>
              <p:spPr bwMode="auto">
                <a:xfrm>
                  <a:off x="2674" y="1456"/>
                  <a:ext cx="359"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Changeover Categories</a:t>
                  </a:r>
                  <a:endParaRPr lang="en-US" altLang="en-US" sz="2400" b="0" i="1">
                    <a:latin typeface="Roboto" panose="02000000000000000000" pitchFamily="2" charset="0"/>
                    <a:ea typeface="Roboto" panose="02000000000000000000" pitchFamily="2" charset="0"/>
                  </a:endParaRPr>
                </a:p>
              </p:txBody>
            </p:sp>
            <p:sp>
              <p:nvSpPr>
                <p:cNvPr id="205" name="Rectangle 142">
                  <a:extLst>
                    <a:ext uri="{FF2B5EF4-FFF2-40B4-BE49-F238E27FC236}">
                      <a16:creationId xmlns:a16="http://schemas.microsoft.com/office/drawing/2014/main" id="{15AD4DB0-D088-4C8B-DA61-A7DAD2E026CC}"/>
                    </a:ext>
                  </a:extLst>
                </p:cNvPr>
                <p:cNvSpPr>
                  <a:spLocks noChangeArrowheads="1"/>
                </p:cNvSpPr>
                <p:nvPr/>
              </p:nvSpPr>
              <p:spPr bwMode="auto">
                <a:xfrm>
                  <a:off x="4207" y="1456"/>
                  <a:ext cx="401"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700" b="0">
                      <a:solidFill>
                        <a:srgbClr val="000000"/>
                      </a:solidFill>
                      <a:latin typeface="Roboto" panose="02000000000000000000" pitchFamily="2" charset="0"/>
                      <a:ea typeface="Roboto" panose="02000000000000000000" pitchFamily="2" charset="0"/>
                    </a:rPr>
                    <a:t>Goal of Improvement Plan</a:t>
                  </a:r>
                  <a:endParaRPr lang="en-US" altLang="en-US" sz="2400" b="0" i="1">
                    <a:latin typeface="Roboto" panose="02000000000000000000" pitchFamily="2" charset="0"/>
                    <a:ea typeface="Roboto" panose="02000000000000000000" pitchFamily="2" charset="0"/>
                  </a:endParaRPr>
                </a:p>
              </p:txBody>
            </p:sp>
            <p:sp>
              <p:nvSpPr>
                <p:cNvPr id="206" name="Rectangle 143">
                  <a:extLst>
                    <a:ext uri="{FF2B5EF4-FFF2-40B4-BE49-F238E27FC236}">
                      <a16:creationId xmlns:a16="http://schemas.microsoft.com/office/drawing/2014/main" id="{13390C59-579C-774A-584A-47F21D7FD30B}"/>
                    </a:ext>
                  </a:extLst>
                </p:cNvPr>
                <p:cNvSpPr>
                  <a:spLocks noChangeArrowheads="1"/>
                </p:cNvSpPr>
                <p:nvPr/>
              </p:nvSpPr>
              <p:spPr bwMode="auto">
                <a:xfrm>
                  <a:off x="1039" y="1026"/>
                  <a:ext cx="131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b="0" i="1" dirty="0">
                      <a:solidFill>
                        <a:srgbClr val="000000"/>
                      </a:solidFill>
                      <a:latin typeface="Roboto" panose="02000000000000000000" pitchFamily="2" charset="0"/>
                      <a:ea typeface="Roboto" panose="02000000000000000000" pitchFamily="2" charset="0"/>
                    </a:rPr>
                    <a:t>Set-up Operations Analysis Chart</a:t>
                  </a:r>
                  <a:endParaRPr lang="en-US" altLang="en-US" sz="2400" b="0" i="1" dirty="0">
                    <a:latin typeface="Roboto" panose="02000000000000000000" pitchFamily="2" charset="0"/>
                    <a:ea typeface="Roboto" panose="02000000000000000000" pitchFamily="2" charset="0"/>
                  </a:endParaRPr>
                </a:p>
              </p:txBody>
            </p:sp>
            <p:sp>
              <p:nvSpPr>
                <p:cNvPr id="207" name="Rectangle 144">
                  <a:extLst>
                    <a:ext uri="{FF2B5EF4-FFF2-40B4-BE49-F238E27FC236}">
                      <a16:creationId xmlns:a16="http://schemas.microsoft.com/office/drawing/2014/main" id="{ACB15B96-8C84-FBAD-1DC3-46FD485EAFC0}"/>
                    </a:ext>
                  </a:extLst>
                </p:cNvPr>
                <p:cNvSpPr>
                  <a:spLocks noChangeArrowheads="1"/>
                </p:cNvSpPr>
                <p:nvPr/>
              </p:nvSpPr>
              <p:spPr bwMode="auto">
                <a:xfrm>
                  <a:off x="957" y="1005"/>
                  <a:ext cx="1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8" name="Rectangle 145">
                  <a:extLst>
                    <a:ext uri="{FF2B5EF4-FFF2-40B4-BE49-F238E27FC236}">
                      <a16:creationId xmlns:a16="http://schemas.microsoft.com/office/drawing/2014/main" id="{C45C0237-BB67-E7F1-EC31-E4CECC5C31C8}"/>
                    </a:ext>
                  </a:extLst>
                </p:cNvPr>
                <p:cNvSpPr>
                  <a:spLocks noChangeArrowheads="1"/>
                </p:cNvSpPr>
                <p:nvPr/>
              </p:nvSpPr>
              <p:spPr bwMode="auto">
                <a:xfrm>
                  <a:off x="968" y="1016"/>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9" name="Line 146">
                  <a:extLst>
                    <a:ext uri="{FF2B5EF4-FFF2-40B4-BE49-F238E27FC236}">
                      <a16:creationId xmlns:a16="http://schemas.microsoft.com/office/drawing/2014/main" id="{A7EADEF1-F3E2-9F07-376D-2C5E90245990}"/>
                    </a:ext>
                  </a:extLst>
                </p:cNvPr>
                <p:cNvSpPr>
                  <a:spLocks noChangeShapeType="1"/>
                </p:cNvSpPr>
                <p:nvPr/>
              </p:nvSpPr>
              <p:spPr bwMode="auto">
                <a:xfrm>
                  <a:off x="2798" y="1177"/>
                  <a:ext cx="25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0" name="Rectangle 147">
                  <a:extLst>
                    <a:ext uri="{FF2B5EF4-FFF2-40B4-BE49-F238E27FC236}">
                      <a16:creationId xmlns:a16="http://schemas.microsoft.com/office/drawing/2014/main" id="{02E80D29-11B6-D66E-7E3B-5684A0F5DFC7}"/>
                    </a:ext>
                  </a:extLst>
                </p:cNvPr>
                <p:cNvSpPr>
                  <a:spLocks noChangeArrowheads="1"/>
                </p:cNvSpPr>
                <p:nvPr/>
              </p:nvSpPr>
              <p:spPr bwMode="auto">
                <a:xfrm>
                  <a:off x="2798" y="1177"/>
                  <a:ext cx="25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1" name="Line 148">
                  <a:extLst>
                    <a:ext uri="{FF2B5EF4-FFF2-40B4-BE49-F238E27FC236}">
                      <a16:creationId xmlns:a16="http://schemas.microsoft.com/office/drawing/2014/main" id="{5E7A66BA-151F-DA45-0957-28644B140F01}"/>
                    </a:ext>
                  </a:extLst>
                </p:cNvPr>
                <p:cNvSpPr>
                  <a:spLocks noChangeShapeType="1"/>
                </p:cNvSpPr>
                <p:nvPr/>
              </p:nvSpPr>
              <p:spPr bwMode="auto">
                <a:xfrm>
                  <a:off x="2026" y="1282"/>
                  <a:ext cx="25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2" name="Rectangle 149">
                  <a:extLst>
                    <a:ext uri="{FF2B5EF4-FFF2-40B4-BE49-F238E27FC236}">
                      <a16:creationId xmlns:a16="http://schemas.microsoft.com/office/drawing/2014/main" id="{CE790521-2339-3135-EB22-3F6506691492}"/>
                    </a:ext>
                  </a:extLst>
                </p:cNvPr>
                <p:cNvSpPr>
                  <a:spLocks noChangeArrowheads="1"/>
                </p:cNvSpPr>
                <p:nvPr/>
              </p:nvSpPr>
              <p:spPr bwMode="auto">
                <a:xfrm>
                  <a:off x="2026" y="1282"/>
                  <a:ext cx="25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3" name="Line 150">
                  <a:extLst>
                    <a:ext uri="{FF2B5EF4-FFF2-40B4-BE49-F238E27FC236}">
                      <a16:creationId xmlns:a16="http://schemas.microsoft.com/office/drawing/2014/main" id="{3C50E38C-397F-E013-30BF-CF1B237B8D50}"/>
                    </a:ext>
                  </a:extLst>
                </p:cNvPr>
                <p:cNvSpPr>
                  <a:spLocks noChangeShapeType="1"/>
                </p:cNvSpPr>
                <p:nvPr/>
              </p:nvSpPr>
              <p:spPr bwMode="auto">
                <a:xfrm>
                  <a:off x="2792" y="1072"/>
                  <a:ext cx="1" cy="1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4" name="Rectangle 151">
                  <a:extLst>
                    <a:ext uri="{FF2B5EF4-FFF2-40B4-BE49-F238E27FC236}">
                      <a16:creationId xmlns:a16="http://schemas.microsoft.com/office/drawing/2014/main" id="{5CE97756-AA8F-30C1-82E9-61CB34E4F57F}"/>
                    </a:ext>
                  </a:extLst>
                </p:cNvPr>
                <p:cNvSpPr>
                  <a:spLocks noChangeArrowheads="1"/>
                </p:cNvSpPr>
                <p:nvPr/>
              </p:nvSpPr>
              <p:spPr bwMode="auto">
                <a:xfrm>
                  <a:off x="2792" y="1072"/>
                  <a:ext cx="6" cy="1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5" name="Line 152">
                  <a:extLst>
                    <a:ext uri="{FF2B5EF4-FFF2-40B4-BE49-F238E27FC236}">
                      <a16:creationId xmlns:a16="http://schemas.microsoft.com/office/drawing/2014/main" id="{F6EEFC38-A007-9E3B-79BE-A0DCDD3DB5AC}"/>
                    </a:ext>
                  </a:extLst>
                </p:cNvPr>
                <p:cNvSpPr>
                  <a:spLocks noChangeShapeType="1"/>
                </p:cNvSpPr>
                <p:nvPr/>
              </p:nvSpPr>
              <p:spPr bwMode="auto">
                <a:xfrm>
                  <a:off x="3050" y="1077"/>
                  <a:ext cx="1" cy="10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6" name="Rectangle 153">
                  <a:extLst>
                    <a:ext uri="{FF2B5EF4-FFF2-40B4-BE49-F238E27FC236}">
                      <a16:creationId xmlns:a16="http://schemas.microsoft.com/office/drawing/2014/main" id="{61FD7F4E-348C-10E3-03E1-0F34E1C58C5F}"/>
                    </a:ext>
                  </a:extLst>
                </p:cNvPr>
                <p:cNvSpPr>
                  <a:spLocks noChangeArrowheads="1"/>
                </p:cNvSpPr>
                <p:nvPr/>
              </p:nvSpPr>
              <p:spPr bwMode="auto">
                <a:xfrm>
                  <a:off x="3050" y="1077"/>
                  <a:ext cx="5" cy="1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7" name="Line 154">
                  <a:extLst>
                    <a:ext uri="{FF2B5EF4-FFF2-40B4-BE49-F238E27FC236}">
                      <a16:creationId xmlns:a16="http://schemas.microsoft.com/office/drawing/2014/main" id="{0279BF67-FED2-2376-2414-D15A8E05F786}"/>
                    </a:ext>
                  </a:extLst>
                </p:cNvPr>
                <p:cNvSpPr>
                  <a:spLocks noChangeShapeType="1"/>
                </p:cNvSpPr>
                <p:nvPr/>
              </p:nvSpPr>
              <p:spPr bwMode="auto">
                <a:xfrm>
                  <a:off x="2798" y="1282"/>
                  <a:ext cx="13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8" name="Rectangle 155">
                  <a:extLst>
                    <a:ext uri="{FF2B5EF4-FFF2-40B4-BE49-F238E27FC236}">
                      <a16:creationId xmlns:a16="http://schemas.microsoft.com/office/drawing/2014/main" id="{47693D34-2BF5-C490-08D3-18CE8A2A41B9}"/>
                    </a:ext>
                  </a:extLst>
                </p:cNvPr>
                <p:cNvSpPr>
                  <a:spLocks noChangeArrowheads="1"/>
                </p:cNvSpPr>
                <p:nvPr/>
              </p:nvSpPr>
              <p:spPr bwMode="auto">
                <a:xfrm>
                  <a:off x="2798" y="1282"/>
                  <a:ext cx="130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9" name="Line 156">
                  <a:extLst>
                    <a:ext uri="{FF2B5EF4-FFF2-40B4-BE49-F238E27FC236}">
                      <a16:creationId xmlns:a16="http://schemas.microsoft.com/office/drawing/2014/main" id="{13053C3D-EDBE-C71E-7896-EA5323CF26A7}"/>
                    </a:ext>
                  </a:extLst>
                </p:cNvPr>
                <p:cNvSpPr>
                  <a:spLocks noChangeShapeType="1"/>
                </p:cNvSpPr>
                <p:nvPr/>
              </p:nvSpPr>
              <p:spPr bwMode="auto">
                <a:xfrm>
                  <a:off x="2026" y="1387"/>
                  <a:ext cx="25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0" name="Rectangle 157">
                  <a:extLst>
                    <a:ext uri="{FF2B5EF4-FFF2-40B4-BE49-F238E27FC236}">
                      <a16:creationId xmlns:a16="http://schemas.microsoft.com/office/drawing/2014/main" id="{CA4E2D57-62E7-E7AC-6711-7C5C033D6175}"/>
                    </a:ext>
                  </a:extLst>
                </p:cNvPr>
                <p:cNvSpPr>
                  <a:spLocks noChangeArrowheads="1"/>
                </p:cNvSpPr>
                <p:nvPr/>
              </p:nvSpPr>
              <p:spPr bwMode="auto">
                <a:xfrm>
                  <a:off x="2026" y="1387"/>
                  <a:ext cx="25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1" name="Line 158">
                  <a:extLst>
                    <a:ext uri="{FF2B5EF4-FFF2-40B4-BE49-F238E27FC236}">
                      <a16:creationId xmlns:a16="http://schemas.microsoft.com/office/drawing/2014/main" id="{0C66A140-DDC0-D636-8355-196F1224A0E8}"/>
                    </a:ext>
                  </a:extLst>
                </p:cNvPr>
                <p:cNvSpPr>
                  <a:spLocks noChangeShapeType="1"/>
                </p:cNvSpPr>
                <p:nvPr/>
              </p:nvSpPr>
              <p:spPr bwMode="auto">
                <a:xfrm>
                  <a:off x="2020" y="1282"/>
                  <a:ext cx="1" cy="1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2" name="Rectangle 159">
                  <a:extLst>
                    <a:ext uri="{FF2B5EF4-FFF2-40B4-BE49-F238E27FC236}">
                      <a16:creationId xmlns:a16="http://schemas.microsoft.com/office/drawing/2014/main" id="{0F02A767-69AD-4FD2-D710-63B2C9D18B66}"/>
                    </a:ext>
                  </a:extLst>
                </p:cNvPr>
                <p:cNvSpPr>
                  <a:spLocks noChangeArrowheads="1"/>
                </p:cNvSpPr>
                <p:nvPr/>
              </p:nvSpPr>
              <p:spPr bwMode="auto">
                <a:xfrm>
                  <a:off x="2020" y="1282"/>
                  <a:ext cx="6" cy="1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3" name="Line 160">
                  <a:extLst>
                    <a:ext uri="{FF2B5EF4-FFF2-40B4-BE49-F238E27FC236}">
                      <a16:creationId xmlns:a16="http://schemas.microsoft.com/office/drawing/2014/main" id="{F16E1829-5DFA-3EDB-615D-D450056935EB}"/>
                    </a:ext>
                  </a:extLst>
                </p:cNvPr>
                <p:cNvSpPr>
                  <a:spLocks noChangeShapeType="1"/>
                </p:cNvSpPr>
                <p:nvPr/>
              </p:nvSpPr>
              <p:spPr bwMode="auto">
                <a:xfrm>
                  <a:off x="3307" y="1287"/>
                  <a:ext cx="1" cy="10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4" name="Rectangle 161">
                  <a:extLst>
                    <a:ext uri="{FF2B5EF4-FFF2-40B4-BE49-F238E27FC236}">
                      <a16:creationId xmlns:a16="http://schemas.microsoft.com/office/drawing/2014/main" id="{738191C8-FA51-36E9-AED1-3D0E838A4837}"/>
                    </a:ext>
                  </a:extLst>
                </p:cNvPr>
                <p:cNvSpPr>
                  <a:spLocks noChangeArrowheads="1"/>
                </p:cNvSpPr>
                <p:nvPr/>
              </p:nvSpPr>
              <p:spPr bwMode="auto">
                <a:xfrm>
                  <a:off x="3307" y="1287"/>
                  <a:ext cx="6" cy="10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5" name="Line 162">
                  <a:extLst>
                    <a:ext uri="{FF2B5EF4-FFF2-40B4-BE49-F238E27FC236}">
                      <a16:creationId xmlns:a16="http://schemas.microsoft.com/office/drawing/2014/main" id="{A235D872-39A5-BA33-F58A-1BDDC8E20641}"/>
                    </a:ext>
                  </a:extLst>
                </p:cNvPr>
                <p:cNvSpPr>
                  <a:spLocks noChangeShapeType="1"/>
                </p:cNvSpPr>
                <p:nvPr/>
              </p:nvSpPr>
              <p:spPr bwMode="auto">
                <a:xfrm>
                  <a:off x="2026" y="1431"/>
                  <a:ext cx="128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6" name="Rectangle 163">
                  <a:extLst>
                    <a:ext uri="{FF2B5EF4-FFF2-40B4-BE49-F238E27FC236}">
                      <a16:creationId xmlns:a16="http://schemas.microsoft.com/office/drawing/2014/main" id="{637ABAC4-607B-5F6F-89B3-2B2071920C28}"/>
                    </a:ext>
                  </a:extLst>
                </p:cNvPr>
                <p:cNvSpPr>
                  <a:spLocks noChangeArrowheads="1"/>
                </p:cNvSpPr>
                <p:nvPr/>
              </p:nvSpPr>
              <p:spPr bwMode="auto">
                <a:xfrm>
                  <a:off x="2026" y="1431"/>
                  <a:ext cx="128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7" name="Line 164">
                  <a:extLst>
                    <a:ext uri="{FF2B5EF4-FFF2-40B4-BE49-F238E27FC236}">
                      <a16:creationId xmlns:a16="http://schemas.microsoft.com/office/drawing/2014/main" id="{C674C29A-80C6-C448-2A36-B3582AC11734}"/>
                    </a:ext>
                  </a:extLst>
                </p:cNvPr>
                <p:cNvSpPr>
                  <a:spLocks noChangeShapeType="1"/>
                </p:cNvSpPr>
                <p:nvPr/>
              </p:nvSpPr>
              <p:spPr bwMode="auto">
                <a:xfrm>
                  <a:off x="4093" y="1287"/>
                  <a:ext cx="1" cy="10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8" name="Rectangle 165">
                  <a:extLst>
                    <a:ext uri="{FF2B5EF4-FFF2-40B4-BE49-F238E27FC236}">
                      <a16:creationId xmlns:a16="http://schemas.microsoft.com/office/drawing/2014/main" id="{1A06FEBE-029F-DCC1-0AEE-098FB568D584}"/>
                    </a:ext>
                  </a:extLst>
                </p:cNvPr>
                <p:cNvSpPr>
                  <a:spLocks noChangeArrowheads="1"/>
                </p:cNvSpPr>
                <p:nvPr/>
              </p:nvSpPr>
              <p:spPr bwMode="auto">
                <a:xfrm>
                  <a:off x="4093" y="1287"/>
                  <a:ext cx="6" cy="10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9" name="Line 166">
                  <a:extLst>
                    <a:ext uri="{FF2B5EF4-FFF2-40B4-BE49-F238E27FC236}">
                      <a16:creationId xmlns:a16="http://schemas.microsoft.com/office/drawing/2014/main" id="{F01BDC54-DAF0-7285-7223-88009BB7120F}"/>
                    </a:ext>
                  </a:extLst>
                </p:cNvPr>
                <p:cNvSpPr>
                  <a:spLocks noChangeShapeType="1"/>
                </p:cNvSpPr>
                <p:nvPr/>
              </p:nvSpPr>
              <p:spPr bwMode="auto">
                <a:xfrm>
                  <a:off x="2278" y="1287"/>
                  <a:ext cx="1" cy="10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0" name="Rectangle 167">
                  <a:extLst>
                    <a:ext uri="{FF2B5EF4-FFF2-40B4-BE49-F238E27FC236}">
                      <a16:creationId xmlns:a16="http://schemas.microsoft.com/office/drawing/2014/main" id="{DCB77494-6AA6-D798-105A-97508A75D4C2}"/>
                    </a:ext>
                  </a:extLst>
                </p:cNvPr>
                <p:cNvSpPr>
                  <a:spLocks noChangeArrowheads="1"/>
                </p:cNvSpPr>
                <p:nvPr/>
              </p:nvSpPr>
              <p:spPr bwMode="auto">
                <a:xfrm>
                  <a:off x="2278" y="1287"/>
                  <a:ext cx="5" cy="10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1" name="Line 168">
                  <a:extLst>
                    <a:ext uri="{FF2B5EF4-FFF2-40B4-BE49-F238E27FC236}">
                      <a16:creationId xmlns:a16="http://schemas.microsoft.com/office/drawing/2014/main" id="{C71E594A-87B7-E29E-6B8E-CDF70DBB3E82}"/>
                    </a:ext>
                  </a:extLst>
                </p:cNvPr>
                <p:cNvSpPr>
                  <a:spLocks noChangeShapeType="1"/>
                </p:cNvSpPr>
                <p:nvPr/>
              </p:nvSpPr>
              <p:spPr bwMode="auto">
                <a:xfrm>
                  <a:off x="2792" y="1282"/>
                  <a:ext cx="1" cy="1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2" name="Rectangle 169">
                  <a:extLst>
                    <a:ext uri="{FF2B5EF4-FFF2-40B4-BE49-F238E27FC236}">
                      <a16:creationId xmlns:a16="http://schemas.microsoft.com/office/drawing/2014/main" id="{600CD8EC-F822-0E45-93F5-D92626951A0C}"/>
                    </a:ext>
                  </a:extLst>
                </p:cNvPr>
                <p:cNvSpPr>
                  <a:spLocks noChangeArrowheads="1"/>
                </p:cNvSpPr>
                <p:nvPr/>
              </p:nvSpPr>
              <p:spPr bwMode="auto">
                <a:xfrm>
                  <a:off x="2792" y="1282"/>
                  <a:ext cx="6" cy="1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3" name="Line 170">
                  <a:extLst>
                    <a:ext uri="{FF2B5EF4-FFF2-40B4-BE49-F238E27FC236}">
                      <a16:creationId xmlns:a16="http://schemas.microsoft.com/office/drawing/2014/main" id="{EB05A5C1-0168-A264-6EF5-8B14CC0E4EE7}"/>
                    </a:ext>
                  </a:extLst>
                </p:cNvPr>
                <p:cNvSpPr>
                  <a:spLocks noChangeShapeType="1"/>
                </p:cNvSpPr>
                <p:nvPr/>
              </p:nvSpPr>
              <p:spPr bwMode="auto">
                <a:xfrm>
                  <a:off x="3050" y="1287"/>
                  <a:ext cx="1" cy="10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4" name="Rectangle 171">
                  <a:extLst>
                    <a:ext uri="{FF2B5EF4-FFF2-40B4-BE49-F238E27FC236}">
                      <a16:creationId xmlns:a16="http://schemas.microsoft.com/office/drawing/2014/main" id="{D0FD299A-D37F-AFE8-ACA1-02AB3F736320}"/>
                    </a:ext>
                  </a:extLst>
                </p:cNvPr>
                <p:cNvSpPr>
                  <a:spLocks noChangeArrowheads="1"/>
                </p:cNvSpPr>
                <p:nvPr/>
              </p:nvSpPr>
              <p:spPr bwMode="auto">
                <a:xfrm>
                  <a:off x="3050" y="1287"/>
                  <a:ext cx="5" cy="10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5" name="Line 172">
                  <a:extLst>
                    <a:ext uri="{FF2B5EF4-FFF2-40B4-BE49-F238E27FC236}">
                      <a16:creationId xmlns:a16="http://schemas.microsoft.com/office/drawing/2014/main" id="{0B67F717-BF7D-9133-B990-61E3B57FDADE}"/>
                    </a:ext>
                  </a:extLst>
                </p:cNvPr>
                <p:cNvSpPr>
                  <a:spLocks noChangeShapeType="1"/>
                </p:cNvSpPr>
                <p:nvPr/>
              </p:nvSpPr>
              <p:spPr bwMode="auto">
                <a:xfrm>
                  <a:off x="4350" y="1177"/>
                  <a:ext cx="1" cy="1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6" name="Rectangle 173">
                  <a:extLst>
                    <a:ext uri="{FF2B5EF4-FFF2-40B4-BE49-F238E27FC236}">
                      <a16:creationId xmlns:a16="http://schemas.microsoft.com/office/drawing/2014/main" id="{5E6199A1-2120-E2BD-5835-87D0C1D40DDE}"/>
                    </a:ext>
                  </a:extLst>
                </p:cNvPr>
                <p:cNvSpPr>
                  <a:spLocks noChangeArrowheads="1"/>
                </p:cNvSpPr>
                <p:nvPr/>
              </p:nvSpPr>
              <p:spPr bwMode="auto">
                <a:xfrm>
                  <a:off x="4350" y="1177"/>
                  <a:ext cx="6" cy="1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7" name="Line 174">
                  <a:extLst>
                    <a:ext uri="{FF2B5EF4-FFF2-40B4-BE49-F238E27FC236}">
                      <a16:creationId xmlns:a16="http://schemas.microsoft.com/office/drawing/2014/main" id="{DBA13C4D-200E-88E8-8C77-46BFA14A3009}"/>
                    </a:ext>
                  </a:extLst>
                </p:cNvPr>
                <p:cNvSpPr>
                  <a:spLocks noChangeShapeType="1"/>
                </p:cNvSpPr>
                <p:nvPr/>
              </p:nvSpPr>
              <p:spPr bwMode="auto">
                <a:xfrm>
                  <a:off x="4608" y="1182"/>
                  <a:ext cx="1" cy="10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8" name="Rectangle 175">
                  <a:extLst>
                    <a:ext uri="{FF2B5EF4-FFF2-40B4-BE49-F238E27FC236}">
                      <a16:creationId xmlns:a16="http://schemas.microsoft.com/office/drawing/2014/main" id="{D5CF6BA5-EA0A-2DAC-0A85-E11E1179DA52}"/>
                    </a:ext>
                  </a:extLst>
                </p:cNvPr>
                <p:cNvSpPr>
                  <a:spLocks noChangeArrowheads="1"/>
                </p:cNvSpPr>
                <p:nvPr/>
              </p:nvSpPr>
              <p:spPr bwMode="auto">
                <a:xfrm>
                  <a:off x="4608" y="1182"/>
                  <a:ext cx="5" cy="1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9" name="Rectangle 176">
                  <a:extLst>
                    <a:ext uri="{FF2B5EF4-FFF2-40B4-BE49-F238E27FC236}">
                      <a16:creationId xmlns:a16="http://schemas.microsoft.com/office/drawing/2014/main" id="{D219DE97-390C-91FB-B47E-ADEDC0BB7480}"/>
                    </a:ext>
                  </a:extLst>
                </p:cNvPr>
                <p:cNvSpPr>
                  <a:spLocks noChangeArrowheads="1"/>
                </p:cNvSpPr>
                <p:nvPr/>
              </p:nvSpPr>
              <p:spPr bwMode="auto">
                <a:xfrm>
                  <a:off x="957" y="1005"/>
                  <a:ext cx="6" cy="1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0" name="Rectangle 177">
                  <a:extLst>
                    <a:ext uri="{FF2B5EF4-FFF2-40B4-BE49-F238E27FC236}">
                      <a16:creationId xmlns:a16="http://schemas.microsoft.com/office/drawing/2014/main" id="{C339C092-C6D0-9EFA-4F2F-5BE489B32DC2}"/>
                    </a:ext>
                  </a:extLst>
                </p:cNvPr>
                <p:cNvSpPr>
                  <a:spLocks noChangeArrowheads="1"/>
                </p:cNvSpPr>
                <p:nvPr/>
              </p:nvSpPr>
              <p:spPr bwMode="auto">
                <a:xfrm>
                  <a:off x="968" y="1016"/>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1" name="Rectangle 178">
                  <a:extLst>
                    <a:ext uri="{FF2B5EF4-FFF2-40B4-BE49-F238E27FC236}">
                      <a16:creationId xmlns:a16="http://schemas.microsoft.com/office/drawing/2014/main" id="{3B63084C-2DA1-11EF-9C81-22301EB72CD4}"/>
                    </a:ext>
                  </a:extLst>
                </p:cNvPr>
                <p:cNvSpPr>
                  <a:spLocks noChangeArrowheads="1"/>
                </p:cNvSpPr>
                <p:nvPr/>
              </p:nvSpPr>
              <p:spPr bwMode="auto">
                <a:xfrm>
                  <a:off x="968" y="3967"/>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2" name="Rectangle 179">
                  <a:extLst>
                    <a:ext uri="{FF2B5EF4-FFF2-40B4-BE49-F238E27FC236}">
                      <a16:creationId xmlns:a16="http://schemas.microsoft.com/office/drawing/2014/main" id="{D186C47C-9C38-AFDD-A5C6-A0E1B055AD87}"/>
                    </a:ext>
                  </a:extLst>
                </p:cNvPr>
                <p:cNvSpPr>
                  <a:spLocks noChangeArrowheads="1"/>
                </p:cNvSpPr>
                <p:nvPr/>
              </p:nvSpPr>
              <p:spPr bwMode="auto">
                <a:xfrm>
                  <a:off x="957" y="3978"/>
                  <a:ext cx="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3" name="Rectangle 180">
                  <a:extLst>
                    <a:ext uri="{FF2B5EF4-FFF2-40B4-BE49-F238E27FC236}">
                      <a16:creationId xmlns:a16="http://schemas.microsoft.com/office/drawing/2014/main" id="{44C9224F-3AC6-AA9A-63B3-BBB5568B3C22}"/>
                    </a:ext>
                  </a:extLst>
                </p:cNvPr>
                <p:cNvSpPr>
                  <a:spLocks noChangeArrowheads="1"/>
                </p:cNvSpPr>
                <p:nvPr/>
              </p:nvSpPr>
              <p:spPr bwMode="auto">
                <a:xfrm>
                  <a:off x="4860" y="1016"/>
                  <a:ext cx="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4" name="Rectangle 181">
                  <a:extLst>
                    <a:ext uri="{FF2B5EF4-FFF2-40B4-BE49-F238E27FC236}">
                      <a16:creationId xmlns:a16="http://schemas.microsoft.com/office/drawing/2014/main" id="{5B143B3D-F7D8-C17A-5E71-4921C2A7127F}"/>
                    </a:ext>
                  </a:extLst>
                </p:cNvPr>
                <p:cNvSpPr>
                  <a:spLocks noChangeArrowheads="1"/>
                </p:cNvSpPr>
                <p:nvPr/>
              </p:nvSpPr>
              <p:spPr bwMode="auto">
                <a:xfrm>
                  <a:off x="4871" y="1005"/>
                  <a:ext cx="5" cy="1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5" name="Rectangle 182">
                  <a:extLst>
                    <a:ext uri="{FF2B5EF4-FFF2-40B4-BE49-F238E27FC236}">
                      <a16:creationId xmlns:a16="http://schemas.microsoft.com/office/drawing/2014/main" id="{7AEFC231-FC39-93D2-F7E4-E1AA6ED80B67}"/>
                    </a:ext>
                  </a:extLst>
                </p:cNvPr>
                <p:cNvSpPr>
                  <a:spLocks noChangeArrowheads="1"/>
                </p:cNvSpPr>
                <p:nvPr/>
              </p:nvSpPr>
              <p:spPr bwMode="auto">
                <a:xfrm>
                  <a:off x="968" y="3967"/>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6" name="Rectangle 183">
                  <a:extLst>
                    <a:ext uri="{FF2B5EF4-FFF2-40B4-BE49-F238E27FC236}">
                      <a16:creationId xmlns:a16="http://schemas.microsoft.com/office/drawing/2014/main" id="{F031AC5E-0D1C-7884-B02D-AF1119EC2855}"/>
                    </a:ext>
                  </a:extLst>
                </p:cNvPr>
                <p:cNvSpPr>
                  <a:spLocks noChangeArrowheads="1"/>
                </p:cNvSpPr>
                <p:nvPr/>
              </p:nvSpPr>
              <p:spPr bwMode="auto">
                <a:xfrm>
                  <a:off x="957" y="3967"/>
                  <a:ext cx="6" cy="1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7" name="Rectangle 184">
                  <a:extLst>
                    <a:ext uri="{FF2B5EF4-FFF2-40B4-BE49-F238E27FC236}">
                      <a16:creationId xmlns:a16="http://schemas.microsoft.com/office/drawing/2014/main" id="{56C9E23E-E607-28C4-2087-665DEEE2493A}"/>
                    </a:ext>
                  </a:extLst>
                </p:cNvPr>
                <p:cNvSpPr>
                  <a:spLocks noChangeArrowheads="1"/>
                </p:cNvSpPr>
                <p:nvPr/>
              </p:nvSpPr>
              <p:spPr bwMode="auto">
                <a:xfrm>
                  <a:off x="4871" y="3967"/>
                  <a:ext cx="5" cy="1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8" name="Rectangle 185">
                  <a:extLst>
                    <a:ext uri="{FF2B5EF4-FFF2-40B4-BE49-F238E27FC236}">
                      <a16:creationId xmlns:a16="http://schemas.microsoft.com/office/drawing/2014/main" id="{9755D1D7-517B-3B7E-F907-DCBD660ED5FE}"/>
                    </a:ext>
                  </a:extLst>
                </p:cNvPr>
                <p:cNvSpPr>
                  <a:spLocks noChangeArrowheads="1"/>
                </p:cNvSpPr>
                <p:nvPr/>
              </p:nvSpPr>
              <p:spPr bwMode="auto">
                <a:xfrm>
                  <a:off x="4860" y="396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9" name="Rectangle 186">
                  <a:extLst>
                    <a:ext uri="{FF2B5EF4-FFF2-40B4-BE49-F238E27FC236}">
                      <a16:creationId xmlns:a16="http://schemas.microsoft.com/office/drawing/2014/main" id="{0BF04FAF-76BD-438B-E344-F44092707B38}"/>
                    </a:ext>
                  </a:extLst>
                </p:cNvPr>
                <p:cNvSpPr>
                  <a:spLocks noChangeArrowheads="1"/>
                </p:cNvSpPr>
                <p:nvPr/>
              </p:nvSpPr>
              <p:spPr bwMode="auto">
                <a:xfrm>
                  <a:off x="957" y="1022"/>
                  <a:ext cx="6" cy="29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0" name="Rectangle 187">
                  <a:extLst>
                    <a:ext uri="{FF2B5EF4-FFF2-40B4-BE49-F238E27FC236}">
                      <a16:creationId xmlns:a16="http://schemas.microsoft.com/office/drawing/2014/main" id="{A7AE5B99-19EF-6952-76BC-94FFE9432EBE}"/>
                    </a:ext>
                  </a:extLst>
                </p:cNvPr>
                <p:cNvSpPr>
                  <a:spLocks noChangeArrowheads="1"/>
                </p:cNvSpPr>
                <p:nvPr/>
              </p:nvSpPr>
              <p:spPr bwMode="auto">
                <a:xfrm>
                  <a:off x="968" y="1022"/>
                  <a:ext cx="6" cy="29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1" name="Line 188">
                  <a:extLst>
                    <a:ext uri="{FF2B5EF4-FFF2-40B4-BE49-F238E27FC236}">
                      <a16:creationId xmlns:a16="http://schemas.microsoft.com/office/drawing/2014/main" id="{FCE1E7AE-C031-A18D-DB71-F83F19A8F51B}"/>
                    </a:ext>
                  </a:extLst>
                </p:cNvPr>
                <p:cNvSpPr>
                  <a:spLocks noChangeShapeType="1"/>
                </p:cNvSpPr>
                <p:nvPr/>
              </p:nvSpPr>
              <p:spPr bwMode="auto">
                <a:xfrm>
                  <a:off x="2535" y="1022"/>
                  <a:ext cx="1" cy="29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2" name="Rectangle 189">
                  <a:extLst>
                    <a:ext uri="{FF2B5EF4-FFF2-40B4-BE49-F238E27FC236}">
                      <a16:creationId xmlns:a16="http://schemas.microsoft.com/office/drawing/2014/main" id="{F25E86AD-347E-55F0-D2FC-FABD9301BB3F}"/>
                    </a:ext>
                  </a:extLst>
                </p:cNvPr>
                <p:cNvSpPr>
                  <a:spLocks noChangeArrowheads="1"/>
                </p:cNvSpPr>
                <p:nvPr/>
              </p:nvSpPr>
              <p:spPr bwMode="auto">
                <a:xfrm>
                  <a:off x="2535" y="1022"/>
                  <a:ext cx="6" cy="29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3" name="Line 190">
                  <a:extLst>
                    <a:ext uri="{FF2B5EF4-FFF2-40B4-BE49-F238E27FC236}">
                      <a16:creationId xmlns:a16="http://schemas.microsoft.com/office/drawing/2014/main" id="{2BB38B24-D368-5D44-C3DB-EF11B3913A5D}"/>
                    </a:ext>
                  </a:extLst>
                </p:cNvPr>
                <p:cNvSpPr>
                  <a:spLocks noChangeShapeType="1"/>
                </p:cNvSpPr>
                <p:nvPr/>
              </p:nvSpPr>
              <p:spPr bwMode="auto">
                <a:xfrm>
                  <a:off x="2792" y="1553"/>
                  <a:ext cx="1" cy="24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4" name="Rectangle 191">
                  <a:extLst>
                    <a:ext uri="{FF2B5EF4-FFF2-40B4-BE49-F238E27FC236}">
                      <a16:creationId xmlns:a16="http://schemas.microsoft.com/office/drawing/2014/main" id="{E8B9AAAD-B735-D12B-9696-CF3A8C2F349A}"/>
                    </a:ext>
                  </a:extLst>
                </p:cNvPr>
                <p:cNvSpPr>
                  <a:spLocks noChangeArrowheads="1"/>
                </p:cNvSpPr>
                <p:nvPr/>
              </p:nvSpPr>
              <p:spPr bwMode="auto">
                <a:xfrm>
                  <a:off x="2792" y="1553"/>
                  <a:ext cx="6" cy="24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5" name="Line 192">
                  <a:extLst>
                    <a:ext uri="{FF2B5EF4-FFF2-40B4-BE49-F238E27FC236}">
                      <a16:creationId xmlns:a16="http://schemas.microsoft.com/office/drawing/2014/main" id="{C5423FB4-99BA-E3BC-28E0-42142BB1F4D8}"/>
                    </a:ext>
                  </a:extLst>
                </p:cNvPr>
                <p:cNvSpPr>
                  <a:spLocks noChangeShapeType="1"/>
                </p:cNvSpPr>
                <p:nvPr/>
              </p:nvSpPr>
              <p:spPr bwMode="auto">
                <a:xfrm>
                  <a:off x="3050" y="1553"/>
                  <a:ext cx="1" cy="24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6" name="Rectangle 193">
                  <a:extLst>
                    <a:ext uri="{FF2B5EF4-FFF2-40B4-BE49-F238E27FC236}">
                      <a16:creationId xmlns:a16="http://schemas.microsoft.com/office/drawing/2014/main" id="{3ED27E80-66A8-9A74-A05C-8613001F11FF}"/>
                    </a:ext>
                  </a:extLst>
                </p:cNvPr>
                <p:cNvSpPr>
                  <a:spLocks noChangeArrowheads="1"/>
                </p:cNvSpPr>
                <p:nvPr/>
              </p:nvSpPr>
              <p:spPr bwMode="auto">
                <a:xfrm>
                  <a:off x="3050" y="1553"/>
                  <a:ext cx="5" cy="24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7" name="Rectangle 194">
                  <a:extLst>
                    <a:ext uri="{FF2B5EF4-FFF2-40B4-BE49-F238E27FC236}">
                      <a16:creationId xmlns:a16="http://schemas.microsoft.com/office/drawing/2014/main" id="{1E614E4A-F8E3-0260-B587-3F667B38D466}"/>
                    </a:ext>
                  </a:extLst>
                </p:cNvPr>
                <p:cNvSpPr>
                  <a:spLocks noChangeArrowheads="1"/>
                </p:cNvSpPr>
                <p:nvPr/>
              </p:nvSpPr>
              <p:spPr bwMode="auto">
                <a:xfrm>
                  <a:off x="4860" y="1022"/>
                  <a:ext cx="5" cy="29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8" name="Rectangle 195">
                  <a:extLst>
                    <a:ext uri="{FF2B5EF4-FFF2-40B4-BE49-F238E27FC236}">
                      <a16:creationId xmlns:a16="http://schemas.microsoft.com/office/drawing/2014/main" id="{76B7F78A-E317-B6F4-E460-2F69FFE06305}"/>
                    </a:ext>
                  </a:extLst>
                </p:cNvPr>
                <p:cNvSpPr>
                  <a:spLocks noChangeArrowheads="1"/>
                </p:cNvSpPr>
                <p:nvPr/>
              </p:nvSpPr>
              <p:spPr bwMode="auto">
                <a:xfrm>
                  <a:off x="4871" y="1022"/>
                  <a:ext cx="5" cy="29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9" name="Line 196">
                  <a:extLst>
                    <a:ext uri="{FF2B5EF4-FFF2-40B4-BE49-F238E27FC236}">
                      <a16:creationId xmlns:a16="http://schemas.microsoft.com/office/drawing/2014/main" id="{2AA3D8D9-F58E-0BE0-309D-4912727A7C33}"/>
                    </a:ext>
                  </a:extLst>
                </p:cNvPr>
                <p:cNvSpPr>
                  <a:spLocks noChangeShapeType="1"/>
                </p:cNvSpPr>
                <p:nvPr/>
              </p:nvSpPr>
              <p:spPr bwMode="auto">
                <a:xfrm>
                  <a:off x="4350" y="1553"/>
                  <a:ext cx="1" cy="24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0" name="Rectangle 197">
                  <a:extLst>
                    <a:ext uri="{FF2B5EF4-FFF2-40B4-BE49-F238E27FC236}">
                      <a16:creationId xmlns:a16="http://schemas.microsoft.com/office/drawing/2014/main" id="{2D70B66B-A9F2-AB88-3CA6-78782BF20106}"/>
                    </a:ext>
                  </a:extLst>
                </p:cNvPr>
                <p:cNvSpPr>
                  <a:spLocks noChangeArrowheads="1"/>
                </p:cNvSpPr>
                <p:nvPr/>
              </p:nvSpPr>
              <p:spPr bwMode="auto">
                <a:xfrm>
                  <a:off x="4350" y="1553"/>
                  <a:ext cx="6" cy="24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1" name="Line 198">
                  <a:extLst>
                    <a:ext uri="{FF2B5EF4-FFF2-40B4-BE49-F238E27FC236}">
                      <a16:creationId xmlns:a16="http://schemas.microsoft.com/office/drawing/2014/main" id="{1647543F-3380-2252-9FC0-EA780464E1C7}"/>
                    </a:ext>
                  </a:extLst>
                </p:cNvPr>
                <p:cNvSpPr>
                  <a:spLocks noChangeShapeType="1"/>
                </p:cNvSpPr>
                <p:nvPr/>
              </p:nvSpPr>
              <p:spPr bwMode="auto">
                <a:xfrm>
                  <a:off x="4608" y="1553"/>
                  <a:ext cx="1" cy="24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2" name="Rectangle 199">
                  <a:extLst>
                    <a:ext uri="{FF2B5EF4-FFF2-40B4-BE49-F238E27FC236}">
                      <a16:creationId xmlns:a16="http://schemas.microsoft.com/office/drawing/2014/main" id="{9E235618-5CE4-4189-C597-94B28AD3BFCC}"/>
                    </a:ext>
                  </a:extLst>
                </p:cNvPr>
                <p:cNvSpPr>
                  <a:spLocks noChangeArrowheads="1"/>
                </p:cNvSpPr>
                <p:nvPr/>
              </p:nvSpPr>
              <p:spPr bwMode="auto">
                <a:xfrm>
                  <a:off x="4608" y="1553"/>
                  <a:ext cx="5" cy="24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3" name="Line 200">
                  <a:extLst>
                    <a:ext uri="{FF2B5EF4-FFF2-40B4-BE49-F238E27FC236}">
                      <a16:creationId xmlns:a16="http://schemas.microsoft.com/office/drawing/2014/main" id="{793BF316-D36C-2A71-DFF4-73D6773EEAA6}"/>
                    </a:ext>
                  </a:extLst>
                </p:cNvPr>
                <p:cNvSpPr>
                  <a:spLocks noChangeShapeType="1"/>
                </p:cNvSpPr>
                <p:nvPr/>
              </p:nvSpPr>
              <p:spPr bwMode="auto">
                <a:xfrm>
                  <a:off x="2020" y="1431"/>
                  <a:ext cx="1" cy="25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4" name="Rectangle 201">
                  <a:extLst>
                    <a:ext uri="{FF2B5EF4-FFF2-40B4-BE49-F238E27FC236}">
                      <a16:creationId xmlns:a16="http://schemas.microsoft.com/office/drawing/2014/main" id="{682A29D0-8B7B-4374-33F9-EDCF9CE8B389}"/>
                    </a:ext>
                  </a:extLst>
                </p:cNvPr>
                <p:cNvSpPr>
                  <a:spLocks noChangeArrowheads="1"/>
                </p:cNvSpPr>
                <p:nvPr/>
              </p:nvSpPr>
              <p:spPr bwMode="auto">
                <a:xfrm>
                  <a:off x="2020" y="1431"/>
                  <a:ext cx="6" cy="25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5" name="Line 202">
                  <a:extLst>
                    <a:ext uri="{FF2B5EF4-FFF2-40B4-BE49-F238E27FC236}">
                      <a16:creationId xmlns:a16="http://schemas.microsoft.com/office/drawing/2014/main" id="{7872B8FC-6149-3A3B-5CE0-CABB70EFF109}"/>
                    </a:ext>
                  </a:extLst>
                </p:cNvPr>
                <p:cNvSpPr>
                  <a:spLocks noChangeShapeType="1"/>
                </p:cNvSpPr>
                <p:nvPr/>
              </p:nvSpPr>
              <p:spPr bwMode="auto">
                <a:xfrm>
                  <a:off x="2278" y="1553"/>
                  <a:ext cx="1" cy="24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6" name="Rectangle 203">
                  <a:extLst>
                    <a:ext uri="{FF2B5EF4-FFF2-40B4-BE49-F238E27FC236}">
                      <a16:creationId xmlns:a16="http://schemas.microsoft.com/office/drawing/2014/main" id="{D73D1923-964D-4394-AAE5-612F0188CB96}"/>
                    </a:ext>
                  </a:extLst>
                </p:cNvPr>
                <p:cNvSpPr>
                  <a:spLocks noChangeArrowheads="1"/>
                </p:cNvSpPr>
                <p:nvPr/>
              </p:nvSpPr>
              <p:spPr bwMode="auto">
                <a:xfrm>
                  <a:off x="2278" y="1553"/>
                  <a:ext cx="5" cy="24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7" name="Line 204">
                  <a:extLst>
                    <a:ext uri="{FF2B5EF4-FFF2-40B4-BE49-F238E27FC236}">
                      <a16:creationId xmlns:a16="http://schemas.microsoft.com/office/drawing/2014/main" id="{31D42DBB-D9AF-33BC-1586-DEB29DF03BF0}"/>
                    </a:ext>
                  </a:extLst>
                </p:cNvPr>
                <p:cNvSpPr>
                  <a:spLocks noChangeShapeType="1"/>
                </p:cNvSpPr>
                <p:nvPr/>
              </p:nvSpPr>
              <p:spPr bwMode="auto">
                <a:xfrm>
                  <a:off x="3307" y="1436"/>
                  <a:ext cx="1" cy="25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2" name="Rectangle 205">
                <a:extLst>
                  <a:ext uri="{FF2B5EF4-FFF2-40B4-BE49-F238E27FC236}">
                    <a16:creationId xmlns:a16="http://schemas.microsoft.com/office/drawing/2014/main" id="{4C025FE1-658F-2961-AC8F-8EED6238532B}"/>
                  </a:ext>
                </a:extLst>
              </p:cNvPr>
              <p:cNvSpPr>
                <a:spLocks noChangeArrowheads="1"/>
              </p:cNvSpPr>
              <p:nvPr/>
            </p:nvSpPr>
            <p:spPr bwMode="auto">
              <a:xfrm>
                <a:off x="3307" y="1436"/>
                <a:ext cx="6" cy="253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 name="Line 206">
                <a:extLst>
                  <a:ext uri="{FF2B5EF4-FFF2-40B4-BE49-F238E27FC236}">
                    <a16:creationId xmlns:a16="http://schemas.microsoft.com/office/drawing/2014/main" id="{37DFD27B-8E43-D6C5-DA14-6058D5C21E2C}"/>
                  </a:ext>
                </a:extLst>
              </p:cNvPr>
              <p:cNvSpPr>
                <a:spLocks noChangeShapeType="1"/>
              </p:cNvSpPr>
              <p:nvPr/>
            </p:nvSpPr>
            <p:spPr bwMode="auto">
              <a:xfrm>
                <a:off x="4093" y="1431"/>
                <a:ext cx="1" cy="25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 name="Rectangle 207">
                <a:extLst>
                  <a:ext uri="{FF2B5EF4-FFF2-40B4-BE49-F238E27FC236}">
                    <a16:creationId xmlns:a16="http://schemas.microsoft.com/office/drawing/2014/main" id="{DE851067-4B6A-22B9-AA76-F6E0A778C6C0}"/>
                  </a:ext>
                </a:extLst>
              </p:cNvPr>
              <p:cNvSpPr>
                <a:spLocks noChangeArrowheads="1"/>
              </p:cNvSpPr>
              <p:nvPr/>
            </p:nvSpPr>
            <p:spPr bwMode="auto">
              <a:xfrm>
                <a:off x="4093" y="1431"/>
                <a:ext cx="6" cy="25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Line 208">
                <a:extLst>
                  <a:ext uri="{FF2B5EF4-FFF2-40B4-BE49-F238E27FC236}">
                    <a16:creationId xmlns:a16="http://schemas.microsoft.com/office/drawing/2014/main" id="{D099B73D-9E1F-962D-788B-A851CD1CF318}"/>
                  </a:ext>
                </a:extLst>
              </p:cNvPr>
              <p:cNvSpPr>
                <a:spLocks noChangeShapeType="1"/>
              </p:cNvSpPr>
              <p:nvPr/>
            </p:nvSpPr>
            <p:spPr bwMode="auto">
              <a:xfrm>
                <a:off x="1257" y="1553"/>
                <a:ext cx="1" cy="24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 name="Rectangle 209">
                <a:extLst>
                  <a:ext uri="{FF2B5EF4-FFF2-40B4-BE49-F238E27FC236}">
                    <a16:creationId xmlns:a16="http://schemas.microsoft.com/office/drawing/2014/main" id="{5827EBCF-82F7-CE9E-B5D8-93D06DCDACF5}"/>
                  </a:ext>
                </a:extLst>
              </p:cNvPr>
              <p:cNvSpPr>
                <a:spLocks noChangeArrowheads="1"/>
              </p:cNvSpPr>
              <p:nvPr/>
            </p:nvSpPr>
            <p:spPr bwMode="auto">
              <a:xfrm>
                <a:off x="1257" y="1553"/>
                <a:ext cx="6" cy="24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 name="Rectangle 210">
                <a:extLst>
                  <a:ext uri="{FF2B5EF4-FFF2-40B4-BE49-F238E27FC236}">
                    <a16:creationId xmlns:a16="http://schemas.microsoft.com/office/drawing/2014/main" id="{8C4B71EE-C579-14CB-38BF-5994D556BBFD}"/>
                  </a:ext>
                </a:extLst>
              </p:cNvPr>
              <p:cNvSpPr>
                <a:spLocks noChangeArrowheads="1"/>
              </p:cNvSpPr>
              <p:nvPr/>
            </p:nvSpPr>
            <p:spPr bwMode="auto">
              <a:xfrm>
                <a:off x="4860" y="1016"/>
                <a:ext cx="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 name="Rectangle 211">
                <a:extLst>
                  <a:ext uri="{FF2B5EF4-FFF2-40B4-BE49-F238E27FC236}">
                    <a16:creationId xmlns:a16="http://schemas.microsoft.com/office/drawing/2014/main" id="{B949787A-CB63-0723-5598-AB46B37436EE}"/>
                  </a:ext>
                </a:extLst>
              </p:cNvPr>
              <p:cNvSpPr>
                <a:spLocks noChangeArrowheads="1"/>
              </p:cNvSpPr>
              <p:nvPr/>
            </p:nvSpPr>
            <p:spPr bwMode="auto">
              <a:xfrm>
                <a:off x="4860" y="1005"/>
                <a:ext cx="1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 name="Rectangle 212">
                <a:extLst>
                  <a:ext uri="{FF2B5EF4-FFF2-40B4-BE49-F238E27FC236}">
                    <a16:creationId xmlns:a16="http://schemas.microsoft.com/office/drawing/2014/main" id="{CABC305C-BD1A-601B-359C-DF1FFE770040}"/>
                  </a:ext>
                </a:extLst>
              </p:cNvPr>
              <p:cNvSpPr>
                <a:spLocks noChangeArrowheads="1"/>
              </p:cNvSpPr>
              <p:nvPr/>
            </p:nvSpPr>
            <p:spPr bwMode="auto">
              <a:xfrm>
                <a:off x="974" y="1005"/>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 name="Rectangle 213">
                <a:extLst>
                  <a:ext uri="{FF2B5EF4-FFF2-40B4-BE49-F238E27FC236}">
                    <a16:creationId xmlns:a16="http://schemas.microsoft.com/office/drawing/2014/main" id="{110B9436-9518-47D8-6529-70E255DC1F79}"/>
                  </a:ext>
                </a:extLst>
              </p:cNvPr>
              <p:cNvSpPr>
                <a:spLocks noChangeArrowheads="1"/>
              </p:cNvSpPr>
              <p:nvPr/>
            </p:nvSpPr>
            <p:spPr bwMode="auto">
              <a:xfrm>
                <a:off x="974" y="1016"/>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 name="Line 214">
                <a:extLst>
                  <a:ext uri="{FF2B5EF4-FFF2-40B4-BE49-F238E27FC236}">
                    <a16:creationId xmlns:a16="http://schemas.microsoft.com/office/drawing/2014/main" id="{A406C540-30BC-2E0F-EDB3-58147EC4B874}"/>
                  </a:ext>
                </a:extLst>
              </p:cNvPr>
              <p:cNvSpPr>
                <a:spLocks noChangeShapeType="1"/>
              </p:cNvSpPr>
              <p:nvPr/>
            </p:nvSpPr>
            <p:spPr bwMode="auto">
              <a:xfrm>
                <a:off x="2798" y="1072"/>
                <a:ext cx="25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 name="Rectangle 215">
                <a:extLst>
                  <a:ext uri="{FF2B5EF4-FFF2-40B4-BE49-F238E27FC236}">
                    <a16:creationId xmlns:a16="http://schemas.microsoft.com/office/drawing/2014/main" id="{1E938D42-904D-B23A-CE83-8686B5CCAC3B}"/>
                  </a:ext>
                </a:extLst>
              </p:cNvPr>
              <p:cNvSpPr>
                <a:spLocks noChangeArrowheads="1"/>
              </p:cNvSpPr>
              <p:nvPr/>
            </p:nvSpPr>
            <p:spPr bwMode="auto">
              <a:xfrm>
                <a:off x="2798" y="1072"/>
                <a:ext cx="25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Line 216">
                <a:extLst>
                  <a:ext uri="{FF2B5EF4-FFF2-40B4-BE49-F238E27FC236}">
                    <a16:creationId xmlns:a16="http://schemas.microsoft.com/office/drawing/2014/main" id="{1ADB4B14-9163-AA2C-FBE3-5808BCF22F12}"/>
                  </a:ext>
                </a:extLst>
              </p:cNvPr>
              <p:cNvSpPr>
                <a:spLocks noChangeShapeType="1"/>
              </p:cNvSpPr>
              <p:nvPr/>
            </p:nvSpPr>
            <p:spPr bwMode="auto">
              <a:xfrm>
                <a:off x="4356" y="1177"/>
                <a:ext cx="25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 name="Rectangle 217">
                <a:extLst>
                  <a:ext uri="{FF2B5EF4-FFF2-40B4-BE49-F238E27FC236}">
                    <a16:creationId xmlns:a16="http://schemas.microsoft.com/office/drawing/2014/main" id="{33890660-859F-1C48-8C0A-9FE5BE93FBD1}"/>
                  </a:ext>
                </a:extLst>
              </p:cNvPr>
              <p:cNvSpPr>
                <a:spLocks noChangeArrowheads="1"/>
              </p:cNvSpPr>
              <p:nvPr/>
            </p:nvSpPr>
            <p:spPr bwMode="auto">
              <a:xfrm>
                <a:off x="4356" y="1177"/>
                <a:ext cx="25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 name="Line 218">
                <a:extLst>
                  <a:ext uri="{FF2B5EF4-FFF2-40B4-BE49-F238E27FC236}">
                    <a16:creationId xmlns:a16="http://schemas.microsoft.com/office/drawing/2014/main" id="{5DF5C00C-7487-28AA-6833-9A91F757F5B0}"/>
                  </a:ext>
                </a:extLst>
              </p:cNvPr>
              <p:cNvSpPr>
                <a:spLocks noChangeShapeType="1"/>
              </p:cNvSpPr>
              <p:nvPr/>
            </p:nvSpPr>
            <p:spPr bwMode="auto">
              <a:xfrm>
                <a:off x="4356" y="1282"/>
                <a:ext cx="25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 name="Rectangle 219">
                <a:extLst>
                  <a:ext uri="{FF2B5EF4-FFF2-40B4-BE49-F238E27FC236}">
                    <a16:creationId xmlns:a16="http://schemas.microsoft.com/office/drawing/2014/main" id="{BF2BA06E-E4E9-D1C1-ACEB-0FE314FC373D}"/>
                  </a:ext>
                </a:extLst>
              </p:cNvPr>
              <p:cNvSpPr>
                <a:spLocks noChangeArrowheads="1"/>
              </p:cNvSpPr>
              <p:nvPr/>
            </p:nvSpPr>
            <p:spPr bwMode="auto">
              <a:xfrm>
                <a:off x="4356" y="1282"/>
                <a:ext cx="25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 name="Line 220">
                <a:extLst>
                  <a:ext uri="{FF2B5EF4-FFF2-40B4-BE49-F238E27FC236}">
                    <a16:creationId xmlns:a16="http://schemas.microsoft.com/office/drawing/2014/main" id="{423BE9A9-AF78-4672-DA85-FC5F85D4A309}"/>
                  </a:ext>
                </a:extLst>
              </p:cNvPr>
              <p:cNvSpPr>
                <a:spLocks noChangeShapeType="1"/>
              </p:cNvSpPr>
              <p:nvPr/>
            </p:nvSpPr>
            <p:spPr bwMode="auto">
              <a:xfrm>
                <a:off x="2798" y="1387"/>
                <a:ext cx="13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 name="Rectangle 221">
                <a:extLst>
                  <a:ext uri="{FF2B5EF4-FFF2-40B4-BE49-F238E27FC236}">
                    <a16:creationId xmlns:a16="http://schemas.microsoft.com/office/drawing/2014/main" id="{7FB9EF6D-ABCE-64AD-43AE-A508DF1E981D}"/>
                  </a:ext>
                </a:extLst>
              </p:cNvPr>
              <p:cNvSpPr>
                <a:spLocks noChangeArrowheads="1"/>
              </p:cNvSpPr>
              <p:nvPr/>
            </p:nvSpPr>
            <p:spPr bwMode="auto">
              <a:xfrm>
                <a:off x="2798" y="1387"/>
                <a:ext cx="130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Line 222">
                <a:extLst>
                  <a:ext uri="{FF2B5EF4-FFF2-40B4-BE49-F238E27FC236}">
                    <a16:creationId xmlns:a16="http://schemas.microsoft.com/office/drawing/2014/main" id="{84D84A14-1E62-5067-9429-65FA86C38B7B}"/>
                  </a:ext>
                </a:extLst>
              </p:cNvPr>
              <p:cNvSpPr>
                <a:spLocks noChangeShapeType="1"/>
              </p:cNvSpPr>
              <p:nvPr/>
            </p:nvSpPr>
            <p:spPr bwMode="auto">
              <a:xfrm>
                <a:off x="4099" y="1431"/>
                <a:ext cx="76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 name="Rectangle 223">
                <a:extLst>
                  <a:ext uri="{FF2B5EF4-FFF2-40B4-BE49-F238E27FC236}">
                    <a16:creationId xmlns:a16="http://schemas.microsoft.com/office/drawing/2014/main" id="{44FDEE3E-EDE8-10EB-C77A-EA9D753D9C9B}"/>
                  </a:ext>
                </a:extLst>
              </p:cNvPr>
              <p:cNvSpPr>
                <a:spLocks noChangeArrowheads="1"/>
              </p:cNvSpPr>
              <p:nvPr/>
            </p:nvSpPr>
            <p:spPr bwMode="auto">
              <a:xfrm>
                <a:off x="4099" y="1431"/>
                <a:ext cx="76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Line 224">
                <a:extLst>
                  <a:ext uri="{FF2B5EF4-FFF2-40B4-BE49-F238E27FC236}">
                    <a16:creationId xmlns:a16="http://schemas.microsoft.com/office/drawing/2014/main" id="{761E9341-0984-EB39-708C-A621B9B75E52}"/>
                  </a:ext>
                </a:extLst>
              </p:cNvPr>
              <p:cNvSpPr>
                <a:spLocks noChangeShapeType="1"/>
              </p:cNvSpPr>
              <p:nvPr/>
            </p:nvSpPr>
            <p:spPr bwMode="auto">
              <a:xfrm>
                <a:off x="974" y="1548"/>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 name="Rectangle 225">
                <a:extLst>
                  <a:ext uri="{FF2B5EF4-FFF2-40B4-BE49-F238E27FC236}">
                    <a16:creationId xmlns:a16="http://schemas.microsoft.com/office/drawing/2014/main" id="{33F75DBA-DE2E-03AC-18BD-DC24D7755069}"/>
                  </a:ext>
                </a:extLst>
              </p:cNvPr>
              <p:cNvSpPr>
                <a:spLocks noChangeArrowheads="1"/>
              </p:cNvSpPr>
              <p:nvPr/>
            </p:nvSpPr>
            <p:spPr bwMode="auto">
              <a:xfrm>
                <a:off x="974" y="1548"/>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 name="Line 226">
                <a:extLst>
                  <a:ext uri="{FF2B5EF4-FFF2-40B4-BE49-F238E27FC236}">
                    <a16:creationId xmlns:a16="http://schemas.microsoft.com/office/drawing/2014/main" id="{4257B86C-82A2-F43A-EB08-6545E19E1BF7}"/>
                  </a:ext>
                </a:extLst>
              </p:cNvPr>
              <p:cNvSpPr>
                <a:spLocks noChangeShapeType="1"/>
              </p:cNvSpPr>
              <p:nvPr/>
            </p:nvSpPr>
            <p:spPr bwMode="auto">
              <a:xfrm>
                <a:off x="974" y="1696"/>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Rectangle 227">
                <a:extLst>
                  <a:ext uri="{FF2B5EF4-FFF2-40B4-BE49-F238E27FC236}">
                    <a16:creationId xmlns:a16="http://schemas.microsoft.com/office/drawing/2014/main" id="{21758FF7-C22D-2E92-67F7-BFCC26F6CD6F}"/>
                  </a:ext>
                </a:extLst>
              </p:cNvPr>
              <p:cNvSpPr>
                <a:spLocks noChangeArrowheads="1"/>
              </p:cNvSpPr>
              <p:nvPr/>
            </p:nvSpPr>
            <p:spPr bwMode="auto">
              <a:xfrm>
                <a:off x="974" y="1696"/>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 name="Line 228">
                <a:extLst>
                  <a:ext uri="{FF2B5EF4-FFF2-40B4-BE49-F238E27FC236}">
                    <a16:creationId xmlns:a16="http://schemas.microsoft.com/office/drawing/2014/main" id="{B0CA3E9C-1407-F072-B3BE-31AFD89E214E}"/>
                  </a:ext>
                </a:extLst>
              </p:cNvPr>
              <p:cNvSpPr>
                <a:spLocks noChangeShapeType="1"/>
              </p:cNvSpPr>
              <p:nvPr/>
            </p:nvSpPr>
            <p:spPr bwMode="auto">
              <a:xfrm>
                <a:off x="974" y="1859"/>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 name="Rectangle 229">
                <a:extLst>
                  <a:ext uri="{FF2B5EF4-FFF2-40B4-BE49-F238E27FC236}">
                    <a16:creationId xmlns:a16="http://schemas.microsoft.com/office/drawing/2014/main" id="{AEA07156-7C70-16B2-8FB2-A66CD31193C2}"/>
                  </a:ext>
                </a:extLst>
              </p:cNvPr>
              <p:cNvSpPr>
                <a:spLocks noChangeArrowheads="1"/>
              </p:cNvSpPr>
              <p:nvPr/>
            </p:nvSpPr>
            <p:spPr bwMode="auto">
              <a:xfrm>
                <a:off x="974" y="1859"/>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0" name="Line 230">
                <a:extLst>
                  <a:ext uri="{FF2B5EF4-FFF2-40B4-BE49-F238E27FC236}">
                    <a16:creationId xmlns:a16="http://schemas.microsoft.com/office/drawing/2014/main" id="{5370F0C4-526F-2549-03DE-C3D052270102}"/>
                  </a:ext>
                </a:extLst>
              </p:cNvPr>
              <p:cNvSpPr>
                <a:spLocks noChangeShapeType="1"/>
              </p:cNvSpPr>
              <p:nvPr/>
            </p:nvSpPr>
            <p:spPr bwMode="auto">
              <a:xfrm>
                <a:off x="974" y="2022"/>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 name="Rectangle 231">
                <a:extLst>
                  <a:ext uri="{FF2B5EF4-FFF2-40B4-BE49-F238E27FC236}">
                    <a16:creationId xmlns:a16="http://schemas.microsoft.com/office/drawing/2014/main" id="{0642626D-C326-882D-6C5F-0B4BB4E196AE}"/>
                  </a:ext>
                </a:extLst>
              </p:cNvPr>
              <p:cNvSpPr>
                <a:spLocks noChangeArrowheads="1"/>
              </p:cNvSpPr>
              <p:nvPr/>
            </p:nvSpPr>
            <p:spPr bwMode="auto">
              <a:xfrm>
                <a:off x="974" y="2022"/>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2" name="Line 232">
                <a:extLst>
                  <a:ext uri="{FF2B5EF4-FFF2-40B4-BE49-F238E27FC236}">
                    <a16:creationId xmlns:a16="http://schemas.microsoft.com/office/drawing/2014/main" id="{588C05A6-4D23-4336-5B47-6DBAFE01135F}"/>
                  </a:ext>
                </a:extLst>
              </p:cNvPr>
              <p:cNvSpPr>
                <a:spLocks noChangeShapeType="1"/>
              </p:cNvSpPr>
              <p:nvPr/>
            </p:nvSpPr>
            <p:spPr bwMode="auto">
              <a:xfrm>
                <a:off x="974" y="2184"/>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 name="Rectangle 233">
                <a:extLst>
                  <a:ext uri="{FF2B5EF4-FFF2-40B4-BE49-F238E27FC236}">
                    <a16:creationId xmlns:a16="http://schemas.microsoft.com/office/drawing/2014/main" id="{6E07C185-5CB0-A296-6F71-23B25DE58CD7}"/>
                  </a:ext>
                </a:extLst>
              </p:cNvPr>
              <p:cNvSpPr>
                <a:spLocks noChangeArrowheads="1"/>
              </p:cNvSpPr>
              <p:nvPr/>
            </p:nvSpPr>
            <p:spPr bwMode="auto">
              <a:xfrm>
                <a:off x="974" y="2184"/>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4" name="Line 234">
                <a:extLst>
                  <a:ext uri="{FF2B5EF4-FFF2-40B4-BE49-F238E27FC236}">
                    <a16:creationId xmlns:a16="http://schemas.microsoft.com/office/drawing/2014/main" id="{3ED4E28D-0977-FA66-3B12-DDCD9B718336}"/>
                  </a:ext>
                </a:extLst>
              </p:cNvPr>
              <p:cNvSpPr>
                <a:spLocks noChangeShapeType="1"/>
              </p:cNvSpPr>
              <p:nvPr/>
            </p:nvSpPr>
            <p:spPr bwMode="auto">
              <a:xfrm>
                <a:off x="974" y="2347"/>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 name="Rectangle 235">
                <a:extLst>
                  <a:ext uri="{FF2B5EF4-FFF2-40B4-BE49-F238E27FC236}">
                    <a16:creationId xmlns:a16="http://schemas.microsoft.com/office/drawing/2014/main" id="{5B3CFE76-7162-1E48-2146-A368C8C506FC}"/>
                  </a:ext>
                </a:extLst>
              </p:cNvPr>
              <p:cNvSpPr>
                <a:spLocks noChangeArrowheads="1"/>
              </p:cNvSpPr>
              <p:nvPr/>
            </p:nvSpPr>
            <p:spPr bwMode="auto">
              <a:xfrm>
                <a:off x="974" y="2347"/>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6" name="Line 236">
                <a:extLst>
                  <a:ext uri="{FF2B5EF4-FFF2-40B4-BE49-F238E27FC236}">
                    <a16:creationId xmlns:a16="http://schemas.microsoft.com/office/drawing/2014/main" id="{E391FCF9-533E-5782-FF82-37D01DCFFFA5}"/>
                  </a:ext>
                </a:extLst>
              </p:cNvPr>
              <p:cNvSpPr>
                <a:spLocks noChangeShapeType="1"/>
              </p:cNvSpPr>
              <p:nvPr/>
            </p:nvSpPr>
            <p:spPr bwMode="auto">
              <a:xfrm>
                <a:off x="974" y="2509"/>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7" name="Rectangle 237">
                <a:extLst>
                  <a:ext uri="{FF2B5EF4-FFF2-40B4-BE49-F238E27FC236}">
                    <a16:creationId xmlns:a16="http://schemas.microsoft.com/office/drawing/2014/main" id="{5B828F7A-C910-21B3-E3F8-E0DAE1923AC9}"/>
                  </a:ext>
                </a:extLst>
              </p:cNvPr>
              <p:cNvSpPr>
                <a:spLocks noChangeArrowheads="1"/>
              </p:cNvSpPr>
              <p:nvPr/>
            </p:nvSpPr>
            <p:spPr bwMode="auto">
              <a:xfrm>
                <a:off x="974" y="2509"/>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8" name="Line 238">
                <a:extLst>
                  <a:ext uri="{FF2B5EF4-FFF2-40B4-BE49-F238E27FC236}">
                    <a16:creationId xmlns:a16="http://schemas.microsoft.com/office/drawing/2014/main" id="{6042D944-527E-BF89-A741-AFA86BC38AE7}"/>
                  </a:ext>
                </a:extLst>
              </p:cNvPr>
              <p:cNvSpPr>
                <a:spLocks noChangeShapeType="1"/>
              </p:cNvSpPr>
              <p:nvPr/>
            </p:nvSpPr>
            <p:spPr bwMode="auto">
              <a:xfrm>
                <a:off x="974" y="2672"/>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9" name="Rectangle 239">
                <a:extLst>
                  <a:ext uri="{FF2B5EF4-FFF2-40B4-BE49-F238E27FC236}">
                    <a16:creationId xmlns:a16="http://schemas.microsoft.com/office/drawing/2014/main" id="{4C302236-ED77-B34E-CF59-A1CC5DD5E11D}"/>
                  </a:ext>
                </a:extLst>
              </p:cNvPr>
              <p:cNvSpPr>
                <a:spLocks noChangeArrowheads="1"/>
              </p:cNvSpPr>
              <p:nvPr/>
            </p:nvSpPr>
            <p:spPr bwMode="auto">
              <a:xfrm>
                <a:off x="974" y="2672"/>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0" name="Line 240">
                <a:extLst>
                  <a:ext uri="{FF2B5EF4-FFF2-40B4-BE49-F238E27FC236}">
                    <a16:creationId xmlns:a16="http://schemas.microsoft.com/office/drawing/2014/main" id="{754B3EF3-FE25-C5BB-53AF-70FA0AD3FDC5}"/>
                  </a:ext>
                </a:extLst>
              </p:cNvPr>
              <p:cNvSpPr>
                <a:spLocks noChangeShapeType="1"/>
              </p:cNvSpPr>
              <p:nvPr/>
            </p:nvSpPr>
            <p:spPr bwMode="auto">
              <a:xfrm>
                <a:off x="974" y="2834"/>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1" name="Rectangle 241">
                <a:extLst>
                  <a:ext uri="{FF2B5EF4-FFF2-40B4-BE49-F238E27FC236}">
                    <a16:creationId xmlns:a16="http://schemas.microsoft.com/office/drawing/2014/main" id="{A57F9FA7-EB01-E08A-18EB-BF547059329D}"/>
                  </a:ext>
                </a:extLst>
              </p:cNvPr>
              <p:cNvSpPr>
                <a:spLocks noChangeArrowheads="1"/>
              </p:cNvSpPr>
              <p:nvPr/>
            </p:nvSpPr>
            <p:spPr bwMode="auto">
              <a:xfrm>
                <a:off x="974" y="2834"/>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2" name="Line 242">
                <a:extLst>
                  <a:ext uri="{FF2B5EF4-FFF2-40B4-BE49-F238E27FC236}">
                    <a16:creationId xmlns:a16="http://schemas.microsoft.com/office/drawing/2014/main" id="{9256ABF9-FCA5-B80D-1B1A-BC4C020A76B1}"/>
                  </a:ext>
                </a:extLst>
              </p:cNvPr>
              <p:cNvSpPr>
                <a:spLocks noChangeShapeType="1"/>
              </p:cNvSpPr>
              <p:nvPr/>
            </p:nvSpPr>
            <p:spPr bwMode="auto">
              <a:xfrm>
                <a:off x="974" y="2997"/>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3" name="Rectangle 243">
                <a:extLst>
                  <a:ext uri="{FF2B5EF4-FFF2-40B4-BE49-F238E27FC236}">
                    <a16:creationId xmlns:a16="http://schemas.microsoft.com/office/drawing/2014/main" id="{6C32D64F-6D1F-ABA4-9357-BCFDC3636A30}"/>
                  </a:ext>
                </a:extLst>
              </p:cNvPr>
              <p:cNvSpPr>
                <a:spLocks noChangeArrowheads="1"/>
              </p:cNvSpPr>
              <p:nvPr/>
            </p:nvSpPr>
            <p:spPr bwMode="auto">
              <a:xfrm>
                <a:off x="974" y="2997"/>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4" name="Line 244">
                <a:extLst>
                  <a:ext uri="{FF2B5EF4-FFF2-40B4-BE49-F238E27FC236}">
                    <a16:creationId xmlns:a16="http://schemas.microsoft.com/office/drawing/2014/main" id="{9367C832-41CC-6678-C241-F46BB5BCB647}"/>
                  </a:ext>
                </a:extLst>
              </p:cNvPr>
              <p:cNvSpPr>
                <a:spLocks noChangeShapeType="1"/>
              </p:cNvSpPr>
              <p:nvPr/>
            </p:nvSpPr>
            <p:spPr bwMode="auto">
              <a:xfrm>
                <a:off x="974" y="3159"/>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5" name="Rectangle 245">
                <a:extLst>
                  <a:ext uri="{FF2B5EF4-FFF2-40B4-BE49-F238E27FC236}">
                    <a16:creationId xmlns:a16="http://schemas.microsoft.com/office/drawing/2014/main" id="{A6CEB40C-8352-848F-1F44-823FF4EBECCC}"/>
                  </a:ext>
                </a:extLst>
              </p:cNvPr>
              <p:cNvSpPr>
                <a:spLocks noChangeArrowheads="1"/>
              </p:cNvSpPr>
              <p:nvPr/>
            </p:nvSpPr>
            <p:spPr bwMode="auto">
              <a:xfrm>
                <a:off x="974" y="3159"/>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6" name="Line 246">
                <a:extLst>
                  <a:ext uri="{FF2B5EF4-FFF2-40B4-BE49-F238E27FC236}">
                    <a16:creationId xmlns:a16="http://schemas.microsoft.com/office/drawing/2014/main" id="{7D6412AC-C1F3-2739-3E9A-61339A7AA53F}"/>
                  </a:ext>
                </a:extLst>
              </p:cNvPr>
              <p:cNvSpPr>
                <a:spLocks noChangeShapeType="1"/>
              </p:cNvSpPr>
              <p:nvPr/>
            </p:nvSpPr>
            <p:spPr bwMode="auto">
              <a:xfrm>
                <a:off x="974" y="3322"/>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7" name="Rectangle 247">
                <a:extLst>
                  <a:ext uri="{FF2B5EF4-FFF2-40B4-BE49-F238E27FC236}">
                    <a16:creationId xmlns:a16="http://schemas.microsoft.com/office/drawing/2014/main" id="{4B7EF3EB-F9BA-1E9E-3E51-9220ACE1D9BC}"/>
                  </a:ext>
                </a:extLst>
              </p:cNvPr>
              <p:cNvSpPr>
                <a:spLocks noChangeArrowheads="1"/>
              </p:cNvSpPr>
              <p:nvPr/>
            </p:nvSpPr>
            <p:spPr bwMode="auto">
              <a:xfrm>
                <a:off x="974" y="3322"/>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8" name="Line 248">
                <a:extLst>
                  <a:ext uri="{FF2B5EF4-FFF2-40B4-BE49-F238E27FC236}">
                    <a16:creationId xmlns:a16="http://schemas.microsoft.com/office/drawing/2014/main" id="{C348D392-8693-A718-7DD1-E93307670A7B}"/>
                  </a:ext>
                </a:extLst>
              </p:cNvPr>
              <p:cNvSpPr>
                <a:spLocks noChangeShapeType="1"/>
              </p:cNvSpPr>
              <p:nvPr/>
            </p:nvSpPr>
            <p:spPr bwMode="auto">
              <a:xfrm>
                <a:off x="974" y="3485"/>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9" name="Rectangle 249">
                <a:extLst>
                  <a:ext uri="{FF2B5EF4-FFF2-40B4-BE49-F238E27FC236}">
                    <a16:creationId xmlns:a16="http://schemas.microsoft.com/office/drawing/2014/main" id="{F1941E8B-086D-87AC-A126-D792AA0EE6DB}"/>
                  </a:ext>
                </a:extLst>
              </p:cNvPr>
              <p:cNvSpPr>
                <a:spLocks noChangeArrowheads="1"/>
              </p:cNvSpPr>
              <p:nvPr/>
            </p:nvSpPr>
            <p:spPr bwMode="auto">
              <a:xfrm>
                <a:off x="974" y="3485"/>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0" name="Line 250">
                <a:extLst>
                  <a:ext uri="{FF2B5EF4-FFF2-40B4-BE49-F238E27FC236}">
                    <a16:creationId xmlns:a16="http://schemas.microsoft.com/office/drawing/2014/main" id="{D02A0311-83DF-9F6A-64CA-FC1A565CC076}"/>
                  </a:ext>
                </a:extLst>
              </p:cNvPr>
              <p:cNvSpPr>
                <a:spLocks noChangeShapeType="1"/>
              </p:cNvSpPr>
              <p:nvPr/>
            </p:nvSpPr>
            <p:spPr bwMode="auto">
              <a:xfrm>
                <a:off x="974" y="3647"/>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Rectangle 251">
                <a:extLst>
                  <a:ext uri="{FF2B5EF4-FFF2-40B4-BE49-F238E27FC236}">
                    <a16:creationId xmlns:a16="http://schemas.microsoft.com/office/drawing/2014/main" id="{D2B80D41-AD18-20DD-5AF6-19F2A0DFEDEE}"/>
                  </a:ext>
                </a:extLst>
              </p:cNvPr>
              <p:cNvSpPr>
                <a:spLocks noChangeArrowheads="1"/>
              </p:cNvSpPr>
              <p:nvPr/>
            </p:nvSpPr>
            <p:spPr bwMode="auto">
              <a:xfrm>
                <a:off x="974" y="3647"/>
                <a:ext cx="388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Line 252">
                <a:extLst>
                  <a:ext uri="{FF2B5EF4-FFF2-40B4-BE49-F238E27FC236}">
                    <a16:creationId xmlns:a16="http://schemas.microsoft.com/office/drawing/2014/main" id="{14CF2793-DF2B-62C1-F12C-0E7CF82AF9D1}"/>
                  </a:ext>
                </a:extLst>
              </p:cNvPr>
              <p:cNvSpPr>
                <a:spLocks noChangeShapeType="1"/>
              </p:cNvSpPr>
              <p:nvPr/>
            </p:nvSpPr>
            <p:spPr bwMode="auto">
              <a:xfrm>
                <a:off x="974" y="3810"/>
                <a:ext cx="388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3" name="Rectangle 253">
                <a:extLst>
                  <a:ext uri="{FF2B5EF4-FFF2-40B4-BE49-F238E27FC236}">
                    <a16:creationId xmlns:a16="http://schemas.microsoft.com/office/drawing/2014/main" id="{B35D979A-F275-32C6-3ACD-454D83A38DD8}"/>
                  </a:ext>
                </a:extLst>
              </p:cNvPr>
              <p:cNvSpPr>
                <a:spLocks noChangeArrowheads="1"/>
              </p:cNvSpPr>
              <p:nvPr/>
            </p:nvSpPr>
            <p:spPr bwMode="auto">
              <a:xfrm>
                <a:off x="974" y="3810"/>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4" name="Rectangle 254">
                <a:extLst>
                  <a:ext uri="{FF2B5EF4-FFF2-40B4-BE49-F238E27FC236}">
                    <a16:creationId xmlns:a16="http://schemas.microsoft.com/office/drawing/2014/main" id="{BB5B1F07-503E-D63C-3AC4-20B9E7A3ABF0}"/>
                  </a:ext>
                </a:extLst>
              </p:cNvPr>
              <p:cNvSpPr>
                <a:spLocks noChangeArrowheads="1"/>
              </p:cNvSpPr>
              <p:nvPr/>
            </p:nvSpPr>
            <p:spPr bwMode="auto">
              <a:xfrm>
                <a:off x="4860" y="3978"/>
                <a:ext cx="1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5" name="Rectangle 255">
                <a:extLst>
                  <a:ext uri="{FF2B5EF4-FFF2-40B4-BE49-F238E27FC236}">
                    <a16:creationId xmlns:a16="http://schemas.microsoft.com/office/drawing/2014/main" id="{67FD373D-D8FC-5661-D7FC-F4121630072A}"/>
                  </a:ext>
                </a:extLst>
              </p:cNvPr>
              <p:cNvSpPr>
                <a:spLocks noChangeArrowheads="1"/>
              </p:cNvSpPr>
              <p:nvPr/>
            </p:nvSpPr>
            <p:spPr bwMode="auto">
              <a:xfrm>
                <a:off x="4860" y="396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6" name="Rectangle 256">
                <a:extLst>
                  <a:ext uri="{FF2B5EF4-FFF2-40B4-BE49-F238E27FC236}">
                    <a16:creationId xmlns:a16="http://schemas.microsoft.com/office/drawing/2014/main" id="{7D5771F8-8AB4-D7C0-665E-F524ECAE4470}"/>
                  </a:ext>
                </a:extLst>
              </p:cNvPr>
              <p:cNvSpPr>
                <a:spLocks noChangeArrowheads="1"/>
              </p:cNvSpPr>
              <p:nvPr/>
            </p:nvSpPr>
            <p:spPr bwMode="auto">
              <a:xfrm>
                <a:off x="974" y="3967"/>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7" name="Rectangle 257">
                <a:extLst>
                  <a:ext uri="{FF2B5EF4-FFF2-40B4-BE49-F238E27FC236}">
                    <a16:creationId xmlns:a16="http://schemas.microsoft.com/office/drawing/2014/main" id="{34E4A252-C5C5-C96E-3E0E-C18A254B65B3}"/>
                  </a:ext>
                </a:extLst>
              </p:cNvPr>
              <p:cNvSpPr>
                <a:spLocks noChangeArrowheads="1"/>
              </p:cNvSpPr>
              <p:nvPr/>
            </p:nvSpPr>
            <p:spPr bwMode="auto">
              <a:xfrm>
                <a:off x="974" y="3978"/>
                <a:ext cx="388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68" name="Oval 259">
              <a:extLst>
                <a:ext uri="{FF2B5EF4-FFF2-40B4-BE49-F238E27FC236}">
                  <a16:creationId xmlns:a16="http://schemas.microsoft.com/office/drawing/2014/main" id="{387B61DB-46D5-E3CD-5EB2-47800845F9C7}"/>
                </a:ext>
              </a:extLst>
            </p:cNvPr>
            <p:cNvSpPr>
              <a:spLocks noChangeArrowheads="1"/>
            </p:cNvSpPr>
            <p:nvPr/>
          </p:nvSpPr>
          <p:spPr bwMode="auto">
            <a:xfrm>
              <a:off x="3665538" y="1714500"/>
              <a:ext cx="1433512" cy="4467225"/>
            </a:xfrm>
            <a:prstGeom prst="ellipse">
              <a:avLst/>
            </a:prstGeom>
            <a:noFill/>
            <a:ln w="714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592873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480848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Develop Improvement Plan</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5S is the key to a quick changeover</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Every minute spent looking for tools, dies, jigs, or other materials adds to the set-up time</a:t>
            </a:r>
          </a:p>
          <a:p>
            <a:r>
              <a:rPr lang="en-US" dirty="0"/>
              <a:t>A strong 5S foundation will ensure that all required materials are in place when needed, clean, and in working condition</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7" name="Group 6">
            <a:extLst>
              <a:ext uri="{FF2B5EF4-FFF2-40B4-BE49-F238E27FC236}">
                <a16:creationId xmlns:a16="http://schemas.microsoft.com/office/drawing/2014/main" id="{F7C78C11-056F-9F7A-CC9C-3F5AEF634BAF}"/>
              </a:ext>
            </a:extLst>
          </p:cNvPr>
          <p:cNvGrpSpPr/>
          <p:nvPr/>
        </p:nvGrpSpPr>
        <p:grpSpPr>
          <a:xfrm>
            <a:off x="838200" y="297639"/>
            <a:ext cx="4024630" cy="301303"/>
            <a:chOff x="838200" y="297639"/>
            <a:chExt cx="4024630" cy="301303"/>
          </a:xfrm>
        </p:grpSpPr>
        <p:grpSp>
          <p:nvGrpSpPr>
            <p:cNvPr id="9" name="Group 8">
              <a:extLst>
                <a:ext uri="{FF2B5EF4-FFF2-40B4-BE49-F238E27FC236}">
                  <a16:creationId xmlns:a16="http://schemas.microsoft.com/office/drawing/2014/main" id="{95D3FD18-1684-CC42-3AF8-51D2F9704FE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76B4FBA0-A2F3-3613-8205-7EA72FA4852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667C917-1E86-0742-1297-C5FD7BCE8082}"/>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5FA4758-4C69-46C5-E327-F9A328816E7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CA84E06-F672-F530-A053-8AA8F04C2D2A}"/>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pic>
        <p:nvPicPr>
          <p:cNvPr id="14" name="Picture 12" descr="toolpresentation2">
            <a:extLst>
              <a:ext uri="{FF2B5EF4-FFF2-40B4-BE49-F238E27FC236}">
                <a16:creationId xmlns:a16="http://schemas.microsoft.com/office/drawing/2014/main" id="{5BD72E85-CE37-2147-71F6-DF26346E6891}"/>
              </a:ext>
            </a:extLst>
          </p:cNvPr>
          <p:cNvPicPr>
            <a:picLocks noGrp="1" noChangeAspect="1" noChangeArrowheads="1"/>
          </p:cNvPicPr>
          <p:nvPr>
            <p:ph sz="half" idx="2"/>
          </p:nvPr>
        </p:nvPicPr>
        <p:blipFill>
          <a:blip r:embed="rId3"/>
          <a:srcRect/>
          <a:stretch>
            <a:fillRect/>
          </a:stretch>
        </p:blipFill>
        <p:spPr bwMode="auto">
          <a:xfrm>
            <a:off x="1031464" y="3100387"/>
            <a:ext cx="4226495" cy="2493963"/>
          </a:xfrm>
          <a:prstGeom prst="rect">
            <a:avLst/>
          </a:prstGeom>
          <a:noFill/>
          <a:effectLst>
            <a:outerShdw blurRad="63500" dist="107763" dir="2700000" algn="ctr" rotWithShape="0">
              <a:srgbClr val="000000">
                <a:alpha val="74998"/>
              </a:srgbClr>
            </a:outerShdw>
          </a:effectLst>
        </p:spPr>
      </p:pic>
      <p:sp>
        <p:nvSpPr>
          <p:cNvPr id="17" name="AutoShape 8">
            <a:extLst>
              <a:ext uri="{FF2B5EF4-FFF2-40B4-BE49-F238E27FC236}">
                <a16:creationId xmlns:a16="http://schemas.microsoft.com/office/drawing/2014/main" id="{87A11CE7-00D2-AE47-9BB2-CC43C7285C89}"/>
              </a:ext>
            </a:extLst>
          </p:cNvPr>
          <p:cNvSpPr>
            <a:spLocks noChangeArrowheads="1"/>
          </p:cNvSpPr>
          <p:nvPr/>
        </p:nvSpPr>
        <p:spPr bwMode="auto">
          <a:xfrm>
            <a:off x="5734051" y="3100387"/>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837482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Review</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sp>
        <p:nvSpPr>
          <p:cNvPr id="15" name="Rectangle 3">
            <a:extLst>
              <a:ext uri="{FF2B5EF4-FFF2-40B4-BE49-F238E27FC236}">
                <a16:creationId xmlns:a16="http://schemas.microsoft.com/office/drawing/2014/main" id="{216337D0-643E-8329-F9D0-02C43C720B9A}"/>
              </a:ext>
            </a:extLst>
          </p:cNvPr>
          <p:cNvSpPr>
            <a:spLocks noChangeArrowheads="1"/>
          </p:cNvSpPr>
          <p:nvPr/>
        </p:nvSpPr>
        <p:spPr bwMode="auto">
          <a:xfrm>
            <a:off x="1675261" y="2398224"/>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Sort</a:t>
            </a:r>
          </a:p>
        </p:txBody>
      </p:sp>
      <p:sp>
        <p:nvSpPr>
          <p:cNvPr id="16" name="Rectangle 4">
            <a:extLst>
              <a:ext uri="{FF2B5EF4-FFF2-40B4-BE49-F238E27FC236}">
                <a16:creationId xmlns:a16="http://schemas.microsoft.com/office/drawing/2014/main" id="{0F171AA8-61CC-E1F6-2A18-0DE00C82690C}"/>
              </a:ext>
            </a:extLst>
          </p:cNvPr>
          <p:cNvSpPr>
            <a:spLocks noChangeArrowheads="1"/>
          </p:cNvSpPr>
          <p:nvPr/>
        </p:nvSpPr>
        <p:spPr bwMode="auto">
          <a:xfrm>
            <a:off x="1675261" y="3206262"/>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Straighten</a:t>
            </a:r>
          </a:p>
        </p:txBody>
      </p:sp>
      <p:sp>
        <p:nvSpPr>
          <p:cNvPr id="17" name="Rectangle 5">
            <a:extLst>
              <a:ext uri="{FF2B5EF4-FFF2-40B4-BE49-F238E27FC236}">
                <a16:creationId xmlns:a16="http://schemas.microsoft.com/office/drawing/2014/main" id="{9EF3043B-210F-BC90-D94F-91FC2B0301DE}"/>
              </a:ext>
            </a:extLst>
          </p:cNvPr>
          <p:cNvSpPr>
            <a:spLocks noChangeArrowheads="1"/>
          </p:cNvSpPr>
          <p:nvPr/>
        </p:nvSpPr>
        <p:spPr bwMode="auto">
          <a:xfrm>
            <a:off x="1675261" y="3971437"/>
            <a:ext cx="1908175" cy="568325"/>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Scrub</a:t>
            </a:r>
          </a:p>
        </p:txBody>
      </p:sp>
      <p:sp>
        <p:nvSpPr>
          <p:cNvPr id="18" name="Rectangle 6">
            <a:extLst>
              <a:ext uri="{FF2B5EF4-FFF2-40B4-BE49-F238E27FC236}">
                <a16:creationId xmlns:a16="http://schemas.microsoft.com/office/drawing/2014/main" id="{FAA22436-1D3E-76CA-9574-F8D5423A2542}"/>
              </a:ext>
            </a:extLst>
          </p:cNvPr>
          <p:cNvSpPr>
            <a:spLocks noChangeArrowheads="1"/>
          </p:cNvSpPr>
          <p:nvPr/>
        </p:nvSpPr>
        <p:spPr bwMode="auto">
          <a:xfrm>
            <a:off x="1675261" y="4704862"/>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Stabilize</a:t>
            </a:r>
          </a:p>
        </p:txBody>
      </p:sp>
      <p:sp>
        <p:nvSpPr>
          <p:cNvPr id="19" name="Line 7">
            <a:extLst>
              <a:ext uri="{FF2B5EF4-FFF2-40B4-BE49-F238E27FC236}">
                <a16:creationId xmlns:a16="http://schemas.microsoft.com/office/drawing/2014/main" id="{81D702B1-138F-17AC-90DA-1A9F184C0B9E}"/>
              </a:ext>
            </a:extLst>
          </p:cNvPr>
          <p:cNvSpPr>
            <a:spLocks noChangeShapeType="1"/>
          </p:cNvSpPr>
          <p:nvPr/>
        </p:nvSpPr>
        <p:spPr bwMode="auto">
          <a:xfrm>
            <a:off x="949774" y="3104662"/>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0" name="Line 8">
            <a:extLst>
              <a:ext uri="{FF2B5EF4-FFF2-40B4-BE49-F238E27FC236}">
                <a16:creationId xmlns:a16="http://schemas.microsoft.com/office/drawing/2014/main" id="{2F228833-447C-7375-6AAB-4D97D1203243}"/>
              </a:ext>
            </a:extLst>
          </p:cNvPr>
          <p:cNvSpPr>
            <a:spLocks noChangeShapeType="1"/>
          </p:cNvSpPr>
          <p:nvPr/>
        </p:nvSpPr>
        <p:spPr bwMode="auto">
          <a:xfrm>
            <a:off x="965649" y="3882537"/>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 name="Line 9">
            <a:extLst>
              <a:ext uri="{FF2B5EF4-FFF2-40B4-BE49-F238E27FC236}">
                <a16:creationId xmlns:a16="http://schemas.microsoft.com/office/drawing/2014/main" id="{E00BC734-FF28-F831-1B2D-D3AC8F0F5E36}"/>
              </a:ext>
            </a:extLst>
          </p:cNvPr>
          <p:cNvSpPr>
            <a:spLocks noChangeShapeType="1"/>
          </p:cNvSpPr>
          <p:nvPr/>
        </p:nvSpPr>
        <p:spPr bwMode="auto">
          <a:xfrm>
            <a:off x="935486" y="4627074"/>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2" name="Line 10">
            <a:extLst>
              <a:ext uri="{FF2B5EF4-FFF2-40B4-BE49-F238E27FC236}">
                <a16:creationId xmlns:a16="http://schemas.microsoft.com/office/drawing/2014/main" id="{61CB5A9E-55B8-941C-0F1E-D473650DB7A8}"/>
              </a:ext>
            </a:extLst>
          </p:cNvPr>
          <p:cNvSpPr>
            <a:spLocks noChangeShapeType="1"/>
          </p:cNvSpPr>
          <p:nvPr/>
        </p:nvSpPr>
        <p:spPr bwMode="auto">
          <a:xfrm>
            <a:off x="951361" y="5416062"/>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Rectangle 11">
            <a:extLst>
              <a:ext uri="{FF2B5EF4-FFF2-40B4-BE49-F238E27FC236}">
                <a16:creationId xmlns:a16="http://schemas.microsoft.com/office/drawing/2014/main" id="{636B8CA2-B38B-A811-4561-CF3D47A0B9E9}"/>
              </a:ext>
            </a:extLst>
          </p:cNvPr>
          <p:cNvSpPr>
            <a:spLocks noChangeArrowheads="1"/>
          </p:cNvSpPr>
          <p:nvPr/>
        </p:nvSpPr>
        <p:spPr bwMode="auto">
          <a:xfrm>
            <a:off x="4116836" y="2380762"/>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Define what is necessary and unnecessary </a:t>
            </a:r>
            <a:endParaRPr lang="en-US" altLang="en-US" sz="1400" b="0">
              <a:latin typeface="Roboto" panose="02000000000000000000" pitchFamily="2" charset="0"/>
              <a:ea typeface="Roboto" panose="02000000000000000000" pitchFamily="2" charset="0"/>
            </a:endParaRPr>
          </a:p>
        </p:txBody>
      </p:sp>
      <p:sp>
        <p:nvSpPr>
          <p:cNvPr id="24" name="Rectangle 12">
            <a:extLst>
              <a:ext uri="{FF2B5EF4-FFF2-40B4-BE49-F238E27FC236}">
                <a16:creationId xmlns:a16="http://schemas.microsoft.com/office/drawing/2014/main" id="{224A2E66-84DC-468F-C5FF-4F0225F7A789}"/>
              </a:ext>
            </a:extLst>
          </p:cNvPr>
          <p:cNvSpPr>
            <a:spLocks noChangeArrowheads="1"/>
          </p:cNvSpPr>
          <p:nvPr/>
        </p:nvSpPr>
        <p:spPr bwMode="auto">
          <a:xfrm>
            <a:off x="4120011" y="3211024"/>
            <a:ext cx="4981575"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A place for everything and everything in its place </a:t>
            </a:r>
            <a:endParaRPr lang="en-US" altLang="en-US" sz="1400" b="0">
              <a:latin typeface="Roboto" panose="02000000000000000000" pitchFamily="2" charset="0"/>
              <a:ea typeface="Roboto" panose="02000000000000000000" pitchFamily="2" charset="0"/>
            </a:endParaRPr>
          </a:p>
        </p:txBody>
      </p:sp>
      <p:sp>
        <p:nvSpPr>
          <p:cNvPr id="25" name="Rectangle 13">
            <a:extLst>
              <a:ext uri="{FF2B5EF4-FFF2-40B4-BE49-F238E27FC236}">
                <a16:creationId xmlns:a16="http://schemas.microsoft.com/office/drawing/2014/main" id="{40343E21-6F0C-0B3C-0BFF-FBD76847D4AE}"/>
              </a:ext>
            </a:extLst>
          </p:cNvPr>
          <p:cNvSpPr>
            <a:spLocks noChangeArrowheads="1"/>
          </p:cNvSpPr>
          <p:nvPr/>
        </p:nvSpPr>
        <p:spPr bwMode="auto">
          <a:xfrm>
            <a:off x="4120011" y="3976199"/>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Identify the sources of uncleanliness </a:t>
            </a:r>
            <a:endParaRPr lang="en-US" altLang="en-US" sz="1400" b="0">
              <a:latin typeface="Roboto" panose="02000000000000000000" pitchFamily="2" charset="0"/>
              <a:ea typeface="Roboto" panose="02000000000000000000" pitchFamily="2" charset="0"/>
            </a:endParaRPr>
          </a:p>
        </p:txBody>
      </p:sp>
      <p:sp>
        <p:nvSpPr>
          <p:cNvPr id="26" name="Rectangle 14">
            <a:extLst>
              <a:ext uri="{FF2B5EF4-FFF2-40B4-BE49-F238E27FC236}">
                <a16:creationId xmlns:a16="http://schemas.microsoft.com/office/drawing/2014/main" id="{043BA5CD-661F-D3ED-3533-3CC942F79F6A}"/>
              </a:ext>
            </a:extLst>
          </p:cNvPr>
          <p:cNvSpPr>
            <a:spLocks noChangeArrowheads="1"/>
          </p:cNvSpPr>
          <p:nvPr/>
        </p:nvSpPr>
        <p:spPr bwMode="auto">
          <a:xfrm>
            <a:off x="4120011" y="4711212"/>
            <a:ext cx="4970463" cy="50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Execute process to maintain/improve the standards of the first 3 S</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a:t>
            </a:r>
            <a:endParaRPr lang="en-US" altLang="en-US" sz="1400" b="0">
              <a:latin typeface="Roboto" panose="02000000000000000000" pitchFamily="2" charset="0"/>
              <a:ea typeface="Roboto" panose="02000000000000000000" pitchFamily="2" charset="0"/>
            </a:endParaRPr>
          </a:p>
        </p:txBody>
      </p:sp>
      <p:sp>
        <p:nvSpPr>
          <p:cNvPr id="27" name="Line 15">
            <a:extLst>
              <a:ext uri="{FF2B5EF4-FFF2-40B4-BE49-F238E27FC236}">
                <a16:creationId xmlns:a16="http://schemas.microsoft.com/office/drawing/2014/main" id="{F1110686-F9F8-FFD2-F8E0-B80D9FF0CF40}"/>
              </a:ext>
            </a:extLst>
          </p:cNvPr>
          <p:cNvSpPr>
            <a:spLocks noChangeShapeType="1"/>
          </p:cNvSpPr>
          <p:nvPr/>
        </p:nvSpPr>
        <p:spPr bwMode="auto">
          <a:xfrm flipV="1">
            <a:off x="940249" y="2250587"/>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8" name="Text Box 16">
            <a:extLst>
              <a:ext uri="{FF2B5EF4-FFF2-40B4-BE49-F238E27FC236}">
                <a16:creationId xmlns:a16="http://schemas.microsoft.com/office/drawing/2014/main" id="{DF636EB9-529F-1E51-2F5A-5BFDA17B9FAA}"/>
              </a:ext>
            </a:extLst>
          </p:cNvPr>
          <p:cNvSpPr txBox="1">
            <a:spLocks noChangeArrowheads="1"/>
          </p:cNvSpPr>
          <p:nvPr/>
        </p:nvSpPr>
        <p:spPr bwMode="auto">
          <a:xfrm>
            <a:off x="949774" y="1963249"/>
            <a:ext cx="4608954"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5S		           	      Descriptions</a:t>
            </a:r>
          </a:p>
        </p:txBody>
      </p:sp>
      <p:sp>
        <p:nvSpPr>
          <p:cNvPr id="29" name="Oval 17">
            <a:extLst>
              <a:ext uri="{FF2B5EF4-FFF2-40B4-BE49-F238E27FC236}">
                <a16:creationId xmlns:a16="http://schemas.microsoft.com/office/drawing/2014/main" id="{B8F5A98F-4CC5-C36D-DE16-BCF4A048C463}"/>
              </a:ext>
            </a:extLst>
          </p:cNvPr>
          <p:cNvSpPr>
            <a:spLocks noChangeArrowheads="1"/>
          </p:cNvSpPr>
          <p:nvPr/>
        </p:nvSpPr>
        <p:spPr bwMode="auto">
          <a:xfrm>
            <a:off x="997399" y="2506174"/>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1S</a:t>
            </a:r>
          </a:p>
        </p:txBody>
      </p:sp>
      <p:sp>
        <p:nvSpPr>
          <p:cNvPr id="30" name="Oval 18">
            <a:extLst>
              <a:ext uri="{FF2B5EF4-FFF2-40B4-BE49-F238E27FC236}">
                <a16:creationId xmlns:a16="http://schemas.microsoft.com/office/drawing/2014/main" id="{D100D597-9187-B179-6D83-4D676941A0EA}"/>
              </a:ext>
            </a:extLst>
          </p:cNvPr>
          <p:cNvSpPr>
            <a:spLocks noChangeArrowheads="1"/>
          </p:cNvSpPr>
          <p:nvPr/>
        </p:nvSpPr>
        <p:spPr bwMode="auto">
          <a:xfrm>
            <a:off x="997399" y="3317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2S</a:t>
            </a:r>
          </a:p>
        </p:txBody>
      </p:sp>
      <p:sp>
        <p:nvSpPr>
          <p:cNvPr id="31" name="Oval 19">
            <a:extLst>
              <a:ext uri="{FF2B5EF4-FFF2-40B4-BE49-F238E27FC236}">
                <a16:creationId xmlns:a16="http://schemas.microsoft.com/office/drawing/2014/main" id="{0C7E242A-175B-E74A-4374-9C43D640598E}"/>
              </a:ext>
            </a:extLst>
          </p:cNvPr>
          <p:cNvSpPr>
            <a:spLocks noChangeArrowheads="1"/>
          </p:cNvSpPr>
          <p:nvPr/>
        </p:nvSpPr>
        <p:spPr bwMode="auto">
          <a:xfrm>
            <a:off x="997399" y="4079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3S</a:t>
            </a:r>
          </a:p>
        </p:txBody>
      </p:sp>
      <p:sp>
        <p:nvSpPr>
          <p:cNvPr id="32" name="Oval 20">
            <a:extLst>
              <a:ext uri="{FF2B5EF4-FFF2-40B4-BE49-F238E27FC236}">
                <a16:creationId xmlns:a16="http://schemas.microsoft.com/office/drawing/2014/main" id="{9B77D4D5-67A7-4A2D-08D5-E2BC155D4AB3}"/>
              </a:ext>
            </a:extLst>
          </p:cNvPr>
          <p:cNvSpPr>
            <a:spLocks noChangeArrowheads="1"/>
          </p:cNvSpPr>
          <p:nvPr/>
        </p:nvSpPr>
        <p:spPr bwMode="auto">
          <a:xfrm>
            <a:off x="997399" y="48159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4S</a:t>
            </a:r>
          </a:p>
        </p:txBody>
      </p:sp>
      <p:sp>
        <p:nvSpPr>
          <p:cNvPr id="33" name="Rectangle 21">
            <a:extLst>
              <a:ext uri="{FF2B5EF4-FFF2-40B4-BE49-F238E27FC236}">
                <a16:creationId xmlns:a16="http://schemas.microsoft.com/office/drawing/2014/main" id="{50DB16D9-E58E-C853-1F2C-8BB8A47641F1}"/>
              </a:ext>
            </a:extLst>
          </p:cNvPr>
          <p:cNvSpPr>
            <a:spLocks noChangeArrowheads="1"/>
          </p:cNvSpPr>
          <p:nvPr/>
        </p:nvSpPr>
        <p:spPr bwMode="auto">
          <a:xfrm>
            <a:off x="1675261" y="5492262"/>
            <a:ext cx="1908175" cy="568325"/>
          </a:xfrm>
          <a:prstGeom prst="rect">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Sustain</a:t>
            </a:r>
          </a:p>
        </p:txBody>
      </p:sp>
      <p:sp>
        <p:nvSpPr>
          <p:cNvPr id="34" name="Line 22">
            <a:extLst>
              <a:ext uri="{FF2B5EF4-FFF2-40B4-BE49-F238E27FC236}">
                <a16:creationId xmlns:a16="http://schemas.microsoft.com/office/drawing/2014/main" id="{9276DC1E-2D5A-390C-8A4A-9840D18F3053}"/>
              </a:ext>
            </a:extLst>
          </p:cNvPr>
          <p:cNvSpPr>
            <a:spLocks noChangeShapeType="1"/>
          </p:cNvSpPr>
          <p:nvPr/>
        </p:nvSpPr>
        <p:spPr bwMode="auto">
          <a:xfrm>
            <a:off x="951361" y="6203462"/>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5" name="Rectangle 23">
            <a:extLst>
              <a:ext uri="{FF2B5EF4-FFF2-40B4-BE49-F238E27FC236}">
                <a16:creationId xmlns:a16="http://schemas.microsoft.com/office/drawing/2014/main" id="{6477CC5F-F0CA-63B6-BF2A-CF0071D22732}"/>
              </a:ext>
            </a:extLst>
          </p:cNvPr>
          <p:cNvSpPr>
            <a:spLocks noChangeArrowheads="1"/>
          </p:cNvSpPr>
          <p:nvPr/>
        </p:nvSpPr>
        <p:spPr bwMode="auto">
          <a:xfrm>
            <a:off x="4120011" y="5498612"/>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A sustained, disciplined 5S culture in the workplace </a:t>
            </a:r>
            <a:endParaRPr lang="en-US" altLang="en-US" sz="1400" b="0">
              <a:latin typeface="Roboto" panose="02000000000000000000" pitchFamily="2" charset="0"/>
              <a:ea typeface="Roboto" panose="02000000000000000000" pitchFamily="2" charset="0"/>
            </a:endParaRPr>
          </a:p>
        </p:txBody>
      </p:sp>
      <p:sp>
        <p:nvSpPr>
          <p:cNvPr id="36" name="Oval 24">
            <a:extLst>
              <a:ext uri="{FF2B5EF4-FFF2-40B4-BE49-F238E27FC236}">
                <a16:creationId xmlns:a16="http://schemas.microsoft.com/office/drawing/2014/main" id="{792034B8-5DA4-9F53-E36B-4DEAB2A7D8B0}"/>
              </a:ext>
            </a:extLst>
          </p:cNvPr>
          <p:cNvSpPr>
            <a:spLocks noChangeArrowheads="1"/>
          </p:cNvSpPr>
          <p:nvPr/>
        </p:nvSpPr>
        <p:spPr bwMode="auto">
          <a:xfrm>
            <a:off x="997399" y="5603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5S</a:t>
            </a:r>
          </a:p>
        </p:txBody>
      </p:sp>
      <p:grpSp>
        <p:nvGrpSpPr>
          <p:cNvPr id="10" name="Group 9">
            <a:extLst>
              <a:ext uri="{FF2B5EF4-FFF2-40B4-BE49-F238E27FC236}">
                <a16:creationId xmlns:a16="http://schemas.microsoft.com/office/drawing/2014/main" id="{40B652CB-4A7D-36BC-DFF8-EBE0C7F3AF86}"/>
              </a:ext>
            </a:extLst>
          </p:cNvPr>
          <p:cNvGrpSpPr/>
          <p:nvPr/>
        </p:nvGrpSpPr>
        <p:grpSpPr>
          <a:xfrm>
            <a:off x="838200" y="297639"/>
            <a:ext cx="4024630" cy="301303"/>
            <a:chOff x="838200" y="297639"/>
            <a:chExt cx="4024630" cy="301303"/>
          </a:xfrm>
        </p:grpSpPr>
        <p:grpSp>
          <p:nvGrpSpPr>
            <p:cNvPr id="11" name="Group 10">
              <a:extLst>
                <a:ext uri="{FF2B5EF4-FFF2-40B4-BE49-F238E27FC236}">
                  <a16:creationId xmlns:a16="http://schemas.microsoft.com/office/drawing/2014/main" id="{978A605F-9645-CE50-3E02-63F708E7A4E6}"/>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96D52C3F-6A49-F954-7614-8F0CCBBFC25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8627021B-8EAE-C186-3722-DBB09342B21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7" name="AutoShape 10">
                <a:extLst>
                  <a:ext uri="{FF2B5EF4-FFF2-40B4-BE49-F238E27FC236}">
                    <a16:creationId xmlns:a16="http://schemas.microsoft.com/office/drawing/2014/main" id="{9D2FC75A-7C93-8950-27F5-2BC17E6F473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2" name="TextBox 11">
              <a:extLst>
                <a:ext uri="{FF2B5EF4-FFF2-40B4-BE49-F238E27FC236}">
                  <a16:creationId xmlns:a16="http://schemas.microsoft.com/office/drawing/2014/main" id="{12CFC63A-DE2A-CB2F-708E-69F662C1B2DE}"/>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579383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Develop Improvement Plan</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Remember the 8 Wastes: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grpSp>
        <p:nvGrpSpPr>
          <p:cNvPr id="7" name="Group 6">
            <a:extLst>
              <a:ext uri="{FF2B5EF4-FFF2-40B4-BE49-F238E27FC236}">
                <a16:creationId xmlns:a16="http://schemas.microsoft.com/office/drawing/2014/main" id="{F7C78C11-056F-9F7A-CC9C-3F5AEF634BAF}"/>
              </a:ext>
            </a:extLst>
          </p:cNvPr>
          <p:cNvGrpSpPr/>
          <p:nvPr/>
        </p:nvGrpSpPr>
        <p:grpSpPr>
          <a:xfrm>
            <a:off x="838200" y="297639"/>
            <a:ext cx="4024630" cy="301303"/>
            <a:chOff x="838200" y="297639"/>
            <a:chExt cx="4024630" cy="301303"/>
          </a:xfrm>
        </p:grpSpPr>
        <p:grpSp>
          <p:nvGrpSpPr>
            <p:cNvPr id="9" name="Group 8">
              <a:extLst>
                <a:ext uri="{FF2B5EF4-FFF2-40B4-BE49-F238E27FC236}">
                  <a16:creationId xmlns:a16="http://schemas.microsoft.com/office/drawing/2014/main" id="{95D3FD18-1684-CC42-3AF8-51D2F9704FE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76B4FBA0-A2F3-3613-8205-7EA72FA4852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667C917-1E86-0742-1297-C5FD7BCE8082}"/>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5FA4758-4C69-46C5-E327-F9A328816E7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CA84E06-F672-F530-A053-8AA8F04C2D2A}"/>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
        <p:nvSpPr>
          <p:cNvPr id="5" name="Content Placeholder 4">
            <a:extLst>
              <a:ext uri="{FF2B5EF4-FFF2-40B4-BE49-F238E27FC236}">
                <a16:creationId xmlns:a16="http://schemas.microsoft.com/office/drawing/2014/main" id="{A481E6C1-8116-3967-AFA2-659B1630C5E7}"/>
              </a:ext>
            </a:extLst>
          </p:cNvPr>
          <p:cNvSpPr>
            <a:spLocks noGrp="1"/>
          </p:cNvSpPr>
          <p:nvPr>
            <p:ph sz="half" idx="2"/>
          </p:nvPr>
        </p:nvSpPr>
        <p:spPr>
          <a:xfrm>
            <a:off x="839789" y="2505075"/>
            <a:ext cx="4600892" cy="3684588"/>
          </a:xfrm>
        </p:spPr>
        <p:txBody>
          <a:bodyPr>
            <a:normAutofit fontScale="92500" lnSpcReduction="10000"/>
          </a:bodyPr>
          <a:lstStyle/>
          <a:p>
            <a:r>
              <a:rPr lang="en-US" b="1" u="sng" dirty="0"/>
              <a:t>D</a:t>
            </a:r>
            <a:r>
              <a:rPr lang="en-US" dirty="0"/>
              <a:t>efects</a:t>
            </a:r>
          </a:p>
          <a:p>
            <a:r>
              <a:rPr lang="en-US" b="1" u="sng" dirty="0"/>
              <a:t>O</a:t>
            </a:r>
            <a:r>
              <a:rPr lang="en-US" dirty="0"/>
              <a:t>ver Production</a:t>
            </a:r>
          </a:p>
          <a:p>
            <a:r>
              <a:rPr lang="en-US" b="1" u="sng" dirty="0"/>
              <a:t>W</a:t>
            </a:r>
            <a:r>
              <a:rPr lang="en-US" dirty="0"/>
              <a:t>aiting</a:t>
            </a:r>
          </a:p>
          <a:p>
            <a:r>
              <a:rPr lang="en-US" b="1" u="sng" dirty="0"/>
              <a:t>N</a:t>
            </a:r>
            <a:r>
              <a:rPr lang="en-US" dirty="0"/>
              <a:t>on-Utilized Talent</a:t>
            </a:r>
          </a:p>
          <a:p>
            <a:r>
              <a:rPr lang="en-US" b="1" u="sng" dirty="0"/>
              <a:t>T</a:t>
            </a:r>
            <a:r>
              <a:rPr lang="en-US" dirty="0"/>
              <a:t>ransportation</a:t>
            </a:r>
          </a:p>
          <a:p>
            <a:r>
              <a:rPr lang="en-US" b="1" u="sng" dirty="0"/>
              <a:t>I</a:t>
            </a:r>
            <a:r>
              <a:rPr lang="en-US" dirty="0"/>
              <a:t>nventory</a:t>
            </a:r>
          </a:p>
          <a:p>
            <a:r>
              <a:rPr lang="en-US" b="1" u="sng" dirty="0"/>
              <a:t>M</a:t>
            </a:r>
            <a:r>
              <a:rPr lang="en-US" dirty="0"/>
              <a:t>otion</a:t>
            </a:r>
          </a:p>
          <a:p>
            <a:r>
              <a:rPr lang="en-US" b="1" u="sng" dirty="0"/>
              <a:t>E</a:t>
            </a:r>
            <a:r>
              <a:rPr lang="en-US" dirty="0"/>
              <a:t>xtra Processing</a:t>
            </a:r>
          </a:p>
        </p:txBody>
      </p:sp>
      <p:pic>
        <p:nvPicPr>
          <p:cNvPr id="15" name="Picture 18" descr="smed3">
            <a:extLst>
              <a:ext uri="{FF2B5EF4-FFF2-40B4-BE49-F238E27FC236}">
                <a16:creationId xmlns:a16="http://schemas.microsoft.com/office/drawing/2014/main" id="{39083252-9276-5D14-D40F-411B73993378}"/>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751321" y="1959597"/>
            <a:ext cx="3565203" cy="423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7943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Develop Improvement Plan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Convert as much of the internal set-up to the external set-up </a:t>
            </a:r>
          </a:p>
          <a:p>
            <a:r>
              <a:rPr lang="en-US" dirty="0"/>
              <a:t>Eliminate or reduce the internal and external set-up</a:t>
            </a:r>
          </a:p>
          <a:p>
            <a:r>
              <a:rPr lang="en-US" dirty="0"/>
              <a:t>Eliminate the adjustment process</a:t>
            </a:r>
          </a:p>
          <a:p>
            <a:r>
              <a:rPr lang="en-US" dirty="0"/>
              <a:t>Goal is to eliminate set-up altogether!</a:t>
            </a:r>
          </a:p>
          <a:p>
            <a:r>
              <a:rPr lang="en-US" dirty="0"/>
              <a:t>Once as much of the internal set-up has been converted to external set-up and waste has been eliminated:</a:t>
            </a:r>
          </a:p>
          <a:p>
            <a:pPr lvl="1"/>
            <a:r>
              <a:rPr lang="en-US" dirty="0"/>
              <a:t>standardize the external set-up actions</a:t>
            </a:r>
          </a:p>
          <a:p>
            <a:pPr lvl="1"/>
            <a:r>
              <a:rPr lang="en-US" dirty="0"/>
              <a:t>utilize quick fasteners</a:t>
            </a:r>
          </a:p>
          <a:p>
            <a:pPr lvl="1"/>
            <a:r>
              <a:rPr lang="en-US" dirty="0"/>
              <a:t>use supplementary tools  </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2664828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External Set-Up Actions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External Set-Up Actions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376988" y="3259455"/>
            <a:ext cx="5183188" cy="2493963"/>
          </a:xfrm>
        </p:spPr>
        <p:txBody>
          <a:bodyPr/>
          <a:lstStyle/>
          <a:p>
            <a:r>
              <a:rPr lang="en-US" dirty="0"/>
              <a:t>The die heights of a punch press or molding machine can be standardized by using the liner (spacer) so that stroke adjustment will be unnecessary</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7" name="Group 6">
            <a:extLst>
              <a:ext uri="{FF2B5EF4-FFF2-40B4-BE49-F238E27FC236}">
                <a16:creationId xmlns:a16="http://schemas.microsoft.com/office/drawing/2014/main" id="{F7C78C11-056F-9F7A-CC9C-3F5AEF634BAF}"/>
              </a:ext>
            </a:extLst>
          </p:cNvPr>
          <p:cNvGrpSpPr/>
          <p:nvPr/>
        </p:nvGrpSpPr>
        <p:grpSpPr>
          <a:xfrm>
            <a:off x="838200" y="297639"/>
            <a:ext cx="4024630" cy="301303"/>
            <a:chOff x="838200" y="297639"/>
            <a:chExt cx="4024630" cy="301303"/>
          </a:xfrm>
        </p:grpSpPr>
        <p:grpSp>
          <p:nvGrpSpPr>
            <p:cNvPr id="9" name="Group 8">
              <a:extLst>
                <a:ext uri="{FF2B5EF4-FFF2-40B4-BE49-F238E27FC236}">
                  <a16:creationId xmlns:a16="http://schemas.microsoft.com/office/drawing/2014/main" id="{95D3FD18-1684-CC42-3AF8-51D2F9704FE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76B4FBA0-A2F3-3613-8205-7EA72FA4852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667C917-1E86-0742-1297-C5FD7BCE8082}"/>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5FA4758-4C69-46C5-E327-F9A328816E7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CA84E06-F672-F530-A053-8AA8F04C2D2A}"/>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
        <p:nvSpPr>
          <p:cNvPr id="17" name="AutoShape 8">
            <a:extLst>
              <a:ext uri="{FF2B5EF4-FFF2-40B4-BE49-F238E27FC236}">
                <a16:creationId xmlns:a16="http://schemas.microsoft.com/office/drawing/2014/main" id="{87A11CE7-00D2-AE47-9BB2-CC43C7285C89}"/>
              </a:ext>
            </a:extLst>
          </p:cNvPr>
          <p:cNvSpPr>
            <a:spLocks noChangeArrowheads="1"/>
          </p:cNvSpPr>
          <p:nvPr/>
        </p:nvSpPr>
        <p:spPr bwMode="auto">
          <a:xfrm>
            <a:off x="5997575" y="3100386"/>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pic>
        <p:nvPicPr>
          <p:cNvPr id="16" name="Picture 9">
            <a:extLst>
              <a:ext uri="{FF2B5EF4-FFF2-40B4-BE49-F238E27FC236}">
                <a16:creationId xmlns:a16="http://schemas.microsoft.com/office/drawing/2014/main" id="{A616DDD7-DCAA-40E7-51BC-C1A9F72B2DB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46125" y="2528051"/>
            <a:ext cx="5157787" cy="363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8">
            <a:extLst>
              <a:ext uri="{FF2B5EF4-FFF2-40B4-BE49-F238E27FC236}">
                <a16:creationId xmlns:a16="http://schemas.microsoft.com/office/drawing/2014/main" id="{80D2E3C7-A1D7-ABEE-4EA2-96DAB09F5967}"/>
              </a:ext>
            </a:extLst>
          </p:cNvPr>
          <p:cNvSpPr>
            <a:spLocks noChangeArrowheads="1"/>
          </p:cNvSpPr>
          <p:nvPr/>
        </p:nvSpPr>
        <p:spPr bwMode="auto">
          <a:xfrm>
            <a:off x="853722" y="6166683"/>
            <a:ext cx="3667671" cy="262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dirty="0">
                <a:latin typeface="Roboto" panose="02000000000000000000" pitchFamily="2" charset="0"/>
                <a:ea typeface="Roboto" panose="02000000000000000000" pitchFamily="2" charset="0"/>
              </a:rPr>
              <a:t>Source: Toyota Production System – </a:t>
            </a:r>
            <a:r>
              <a:rPr lang="en-US" altLang="en-US" sz="1100" dirty="0" err="1">
                <a:latin typeface="Roboto" panose="02000000000000000000" pitchFamily="2" charset="0"/>
                <a:ea typeface="Roboto" panose="02000000000000000000" pitchFamily="2" charset="0"/>
              </a:rPr>
              <a:t>Yasuniro</a:t>
            </a:r>
            <a:r>
              <a:rPr lang="en-US" altLang="en-US" sz="1100" dirty="0">
                <a:latin typeface="Roboto" panose="02000000000000000000" pitchFamily="2" charset="0"/>
                <a:ea typeface="Roboto" panose="02000000000000000000" pitchFamily="2" charset="0"/>
              </a:rPr>
              <a:t> </a:t>
            </a:r>
            <a:r>
              <a:rPr lang="en-US" altLang="en-US" sz="1100" dirty="0" err="1">
                <a:latin typeface="Roboto" panose="02000000000000000000" pitchFamily="2" charset="0"/>
                <a:ea typeface="Roboto" panose="02000000000000000000" pitchFamily="2" charset="0"/>
              </a:rPr>
              <a:t>Monden</a:t>
            </a:r>
            <a:endParaRPr lang="en-US" altLang="en-US" sz="11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58580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Using Quick Fasteners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39788" y="1681163"/>
            <a:ext cx="5157787" cy="584640"/>
          </a:xfrm>
        </p:spPr>
        <p:txBody>
          <a:bodyPr/>
          <a:lstStyle/>
          <a:p>
            <a:r>
              <a:rPr lang="en-US" dirty="0"/>
              <a:t>Using Quick Fasteners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399848" y="3100385"/>
            <a:ext cx="5183188" cy="2493963"/>
          </a:xfrm>
        </p:spPr>
        <p:txBody>
          <a:bodyPr>
            <a:normAutofit fontScale="92500" lnSpcReduction="20000"/>
          </a:bodyPr>
          <a:lstStyle/>
          <a:p>
            <a:r>
              <a:rPr lang="en-US" dirty="0"/>
              <a:t>Usually a bolt is the most popular fastening tool</a:t>
            </a:r>
          </a:p>
          <a:p>
            <a:r>
              <a:rPr lang="en-US" dirty="0"/>
              <a:t>Because a bolt fastens at the final turning of the nut can loosen at the first turn, a convenient fastening tool that would allow only a single turning of the nut should be devised</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7" name="Group 6">
            <a:extLst>
              <a:ext uri="{FF2B5EF4-FFF2-40B4-BE49-F238E27FC236}">
                <a16:creationId xmlns:a16="http://schemas.microsoft.com/office/drawing/2014/main" id="{F7C78C11-056F-9F7A-CC9C-3F5AEF634BAF}"/>
              </a:ext>
            </a:extLst>
          </p:cNvPr>
          <p:cNvGrpSpPr/>
          <p:nvPr/>
        </p:nvGrpSpPr>
        <p:grpSpPr>
          <a:xfrm>
            <a:off x="838200" y="297639"/>
            <a:ext cx="4024630" cy="301303"/>
            <a:chOff x="838200" y="297639"/>
            <a:chExt cx="4024630" cy="301303"/>
          </a:xfrm>
        </p:grpSpPr>
        <p:grpSp>
          <p:nvGrpSpPr>
            <p:cNvPr id="9" name="Group 8">
              <a:extLst>
                <a:ext uri="{FF2B5EF4-FFF2-40B4-BE49-F238E27FC236}">
                  <a16:creationId xmlns:a16="http://schemas.microsoft.com/office/drawing/2014/main" id="{95D3FD18-1684-CC42-3AF8-51D2F9704FE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76B4FBA0-A2F3-3613-8205-7EA72FA4852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667C917-1E86-0742-1297-C5FD7BCE8082}"/>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5FA4758-4C69-46C5-E327-F9A328816E7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CA84E06-F672-F530-A053-8AA8F04C2D2A}"/>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
        <p:nvSpPr>
          <p:cNvPr id="17" name="AutoShape 8">
            <a:extLst>
              <a:ext uri="{FF2B5EF4-FFF2-40B4-BE49-F238E27FC236}">
                <a16:creationId xmlns:a16="http://schemas.microsoft.com/office/drawing/2014/main" id="{87A11CE7-00D2-AE47-9BB2-CC43C7285C89}"/>
              </a:ext>
            </a:extLst>
          </p:cNvPr>
          <p:cNvSpPr>
            <a:spLocks noChangeArrowheads="1"/>
          </p:cNvSpPr>
          <p:nvPr/>
        </p:nvSpPr>
        <p:spPr bwMode="auto">
          <a:xfrm>
            <a:off x="5997575" y="3100386"/>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 name="Rectangle 8">
            <a:extLst>
              <a:ext uri="{FF2B5EF4-FFF2-40B4-BE49-F238E27FC236}">
                <a16:creationId xmlns:a16="http://schemas.microsoft.com/office/drawing/2014/main" id="{80D2E3C7-A1D7-ABEE-4EA2-96DAB09F5967}"/>
              </a:ext>
            </a:extLst>
          </p:cNvPr>
          <p:cNvSpPr>
            <a:spLocks noChangeArrowheads="1"/>
          </p:cNvSpPr>
          <p:nvPr/>
        </p:nvSpPr>
        <p:spPr bwMode="auto">
          <a:xfrm>
            <a:off x="853722" y="6166683"/>
            <a:ext cx="3667671" cy="262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dirty="0">
                <a:latin typeface="Roboto" panose="02000000000000000000" pitchFamily="2" charset="0"/>
                <a:ea typeface="Roboto" panose="02000000000000000000" pitchFamily="2" charset="0"/>
              </a:rPr>
              <a:t>Source: Toyota Production System – </a:t>
            </a:r>
            <a:r>
              <a:rPr lang="en-US" altLang="en-US" sz="1100" dirty="0" err="1">
                <a:latin typeface="Roboto" panose="02000000000000000000" pitchFamily="2" charset="0"/>
                <a:ea typeface="Roboto" panose="02000000000000000000" pitchFamily="2" charset="0"/>
              </a:rPr>
              <a:t>Yasuniro</a:t>
            </a:r>
            <a:r>
              <a:rPr lang="en-US" altLang="en-US" sz="1100" dirty="0">
                <a:latin typeface="Roboto" panose="02000000000000000000" pitchFamily="2" charset="0"/>
                <a:ea typeface="Roboto" panose="02000000000000000000" pitchFamily="2" charset="0"/>
              </a:rPr>
              <a:t> </a:t>
            </a:r>
            <a:r>
              <a:rPr lang="en-US" altLang="en-US" sz="1100" dirty="0" err="1">
                <a:latin typeface="Roboto" panose="02000000000000000000" pitchFamily="2" charset="0"/>
                <a:ea typeface="Roboto" panose="02000000000000000000" pitchFamily="2" charset="0"/>
              </a:rPr>
              <a:t>Monden</a:t>
            </a:r>
            <a:endParaRPr lang="en-US" altLang="en-US" sz="1100" dirty="0">
              <a:latin typeface="Roboto" panose="02000000000000000000" pitchFamily="2" charset="0"/>
              <a:ea typeface="Roboto" panose="02000000000000000000" pitchFamily="2" charset="0"/>
            </a:endParaRPr>
          </a:p>
        </p:txBody>
      </p:sp>
      <p:pic>
        <p:nvPicPr>
          <p:cNvPr id="5" name="Picture 9">
            <a:extLst>
              <a:ext uri="{FF2B5EF4-FFF2-40B4-BE49-F238E27FC236}">
                <a16:creationId xmlns:a16="http://schemas.microsoft.com/office/drawing/2014/main" id="{4CF4D22B-EA42-78E8-1A71-C54229C83B6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792976" y="2268658"/>
            <a:ext cx="3251409" cy="392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2247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Using Supplementary Tools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39788" y="1681163"/>
            <a:ext cx="5157787" cy="584640"/>
          </a:xfrm>
        </p:spPr>
        <p:txBody>
          <a:bodyPr/>
          <a:lstStyle/>
          <a:p>
            <a:r>
              <a:rPr lang="en-US" dirty="0"/>
              <a:t>Using Supplementary Tools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399848" y="2505075"/>
            <a:ext cx="5183188" cy="3661608"/>
          </a:xfrm>
        </p:spPr>
        <p:txBody>
          <a:bodyPr>
            <a:normAutofit fontScale="85000" lnSpcReduction="20000"/>
          </a:bodyPr>
          <a:lstStyle/>
          <a:p>
            <a:r>
              <a:rPr lang="en-US" dirty="0"/>
              <a:t>It takes a lot of time to attach a die or a bite directly to the punch press or the chuck of a lathe</a:t>
            </a:r>
          </a:p>
          <a:p>
            <a:r>
              <a:rPr lang="en-US" dirty="0"/>
              <a:t>Attach the die or bites to the supplementary tool in the external set-up phase, and then in the internal setup phase this tool can be set in the machine at one touch.  </a:t>
            </a:r>
          </a:p>
          <a:p>
            <a:r>
              <a:rPr lang="en-US" dirty="0"/>
              <a:t>For this method, the supplementary tools must be standardized.  </a:t>
            </a:r>
          </a:p>
          <a:p>
            <a:r>
              <a:rPr lang="en-US" dirty="0"/>
              <a:t>Example: The revolving table car</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7" name="Group 6">
            <a:extLst>
              <a:ext uri="{FF2B5EF4-FFF2-40B4-BE49-F238E27FC236}">
                <a16:creationId xmlns:a16="http://schemas.microsoft.com/office/drawing/2014/main" id="{F7C78C11-056F-9F7A-CC9C-3F5AEF634BAF}"/>
              </a:ext>
            </a:extLst>
          </p:cNvPr>
          <p:cNvGrpSpPr/>
          <p:nvPr/>
        </p:nvGrpSpPr>
        <p:grpSpPr>
          <a:xfrm>
            <a:off x="838200" y="297639"/>
            <a:ext cx="4024630" cy="301303"/>
            <a:chOff x="838200" y="297639"/>
            <a:chExt cx="4024630" cy="301303"/>
          </a:xfrm>
        </p:grpSpPr>
        <p:grpSp>
          <p:nvGrpSpPr>
            <p:cNvPr id="9" name="Group 8">
              <a:extLst>
                <a:ext uri="{FF2B5EF4-FFF2-40B4-BE49-F238E27FC236}">
                  <a16:creationId xmlns:a16="http://schemas.microsoft.com/office/drawing/2014/main" id="{95D3FD18-1684-CC42-3AF8-51D2F9704FE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76B4FBA0-A2F3-3613-8205-7EA72FA4852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667C917-1E86-0742-1297-C5FD7BCE8082}"/>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5FA4758-4C69-46C5-E327-F9A328816E7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CA84E06-F672-F530-A053-8AA8F04C2D2A}"/>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
        <p:nvSpPr>
          <p:cNvPr id="17" name="AutoShape 8">
            <a:extLst>
              <a:ext uri="{FF2B5EF4-FFF2-40B4-BE49-F238E27FC236}">
                <a16:creationId xmlns:a16="http://schemas.microsoft.com/office/drawing/2014/main" id="{87A11CE7-00D2-AE47-9BB2-CC43C7285C89}"/>
              </a:ext>
            </a:extLst>
          </p:cNvPr>
          <p:cNvSpPr>
            <a:spLocks noChangeArrowheads="1"/>
          </p:cNvSpPr>
          <p:nvPr/>
        </p:nvSpPr>
        <p:spPr bwMode="auto">
          <a:xfrm>
            <a:off x="5997575" y="3100386"/>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8" name="Rectangle 8">
            <a:extLst>
              <a:ext uri="{FF2B5EF4-FFF2-40B4-BE49-F238E27FC236}">
                <a16:creationId xmlns:a16="http://schemas.microsoft.com/office/drawing/2014/main" id="{80D2E3C7-A1D7-ABEE-4EA2-96DAB09F5967}"/>
              </a:ext>
            </a:extLst>
          </p:cNvPr>
          <p:cNvSpPr>
            <a:spLocks noChangeArrowheads="1"/>
          </p:cNvSpPr>
          <p:nvPr/>
        </p:nvSpPr>
        <p:spPr bwMode="auto">
          <a:xfrm>
            <a:off x="853722" y="6166683"/>
            <a:ext cx="3667671" cy="262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dirty="0">
                <a:latin typeface="Roboto" panose="02000000000000000000" pitchFamily="2" charset="0"/>
                <a:ea typeface="Roboto" panose="02000000000000000000" pitchFamily="2" charset="0"/>
              </a:rPr>
              <a:t>Source: Toyota Production System – </a:t>
            </a:r>
            <a:r>
              <a:rPr lang="en-US" altLang="en-US" sz="1100" dirty="0" err="1">
                <a:latin typeface="Roboto" panose="02000000000000000000" pitchFamily="2" charset="0"/>
                <a:ea typeface="Roboto" panose="02000000000000000000" pitchFamily="2" charset="0"/>
              </a:rPr>
              <a:t>Yasuniro</a:t>
            </a:r>
            <a:r>
              <a:rPr lang="en-US" altLang="en-US" sz="1100" dirty="0">
                <a:latin typeface="Roboto" panose="02000000000000000000" pitchFamily="2" charset="0"/>
                <a:ea typeface="Roboto" panose="02000000000000000000" pitchFamily="2" charset="0"/>
              </a:rPr>
              <a:t> </a:t>
            </a:r>
            <a:r>
              <a:rPr lang="en-US" altLang="en-US" sz="1100" dirty="0" err="1">
                <a:latin typeface="Roboto" panose="02000000000000000000" pitchFamily="2" charset="0"/>
                <a:ea typeface="Roboto" panose="02000000000000000000" pitchFamily="2" charset="0"/>
              </a:rPr>
              <a:t>Monden</a:t>
            </a:r>
            <a:endParaRPr lang="en-US" altLang="en-US" sz="1100" dirty="0">
              <a:latin typeface="Roboto" panose="02000000000000000000" pitchFamily="2" charset="0"/>
              <a:ea typeface="Roboto" panose="02000000000000000000" pitchFamily="2" charset="0"/>
            </a:endParaRPr>
          </a:p>
        </p:txBody>
      </p:sp>
      <p:pic>
        <p:nvPicPr>
          <p:cNvPr id="14" name="Picture 6">
            <a:extLst>
              <a:ext uri="{FF2B5EF4-FFF2-40B4-BE49-F238E27FC236}">
                <a16:creationId xmlns:a16="http://schemas.microsoft.com/office/drawing/2014/main" id="{6627559A-1ADD-3D9E-7F08-6ADD64A4B0A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281907" y="2505075"/>
            <a:ext cx="4273548"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2141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Develop Improvement Plan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What must be done while the machine is shut down?</a:t>
            </a:r>
          </a:p>
          <a:p>
            <a:r>
              <a:rPr lang="en-US" dirty="0"/>
              <a:t>What can be done while the machine is running?</a:t>
            </a:r>
          </a:p>
          <a:p>
            <a:r>
              <a:rPr lang="en-US" dirty="0"/>
              <a:t>Challenge every element in the set-up!!</a:t>
            </a:r>
          </a:p>
          <a:p>
            <a:r>
              <a:rPr lang="en-US" dirty="0"/>
              <a:t>Establish a sound 5S foundation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925296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Improvement Checklist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a:buSzPct val="90000"/>
              <a:buFont typeface="Wingdings" panose="05000000000000000000" pitchFamily="2" charset="2"/>
              <a:buChar char=""/>
            </a:pPr>
            <a:r>
              <a:rPr lang="en-US" dirty="0"/>
              <a:t>Station tools, jigs, dies, etc. near the machine</a:t>
            </a:r>
          </a:p>
          <a:p>
            <a:pPr>
              <a:buSzPct val="90000"/>
              <a:buFont typeface="Wingdings" panose="05000000000000000000" pitchFamily="2" charset="2"/>
              <a:buChar char=""/>
            </a:pPr>
            <a:r>
              <a:rPr lang="en-US" dirty="0"/>
              <a:t>Assure that all jigs, gauges, dies, tools, etc. function before the </a:t>
            </a:r>
            <a:br>
              <a:rPr lang="en-US" dirty="0"/>
            </a:br>
            <a:r>
              <a:rPr lang="en-US" dirty="0"/>
              <a:t>set-up begins</a:t>
            </a:r>
          </a:p>
          <a:p>
            <a:pPr>
              <a:buSzPct val="90000"/>
              <a:buFont typeface="Wingdings" panose="05000000000000000000" pitchFamily="2" charset="2"/>
              <a:buChar char=""/>
            </a:pPr>
            <a:r>
              <a:rPr lang="en-US" dirty="0"/>
              <a:t>Perform as many External elements as possible prior to the set-up</a:t>
            </a:r>
          </a:p>
          <a:p>
            <a:pPr>
              <a:buSzPct val="90000"/>
              <a:buFont typeface="Wingdings" panose="05000000000000000000" pitchFamily="2" charset="2"/>
              <a:buChar char=""/>
            </a:pPr>
            <a:r>
              <a:rPr lang="en-US" dirty="0"/>
              <a:t>Two people working together may reduce net set-up time</a:t>
            </a:r>
          </a:p>
          <a:p>
            <a:pPr>
              <a:buSzPct val="90000"/>
              <a:buFont typeface="Wingdings" panose="05000000000000000000" pitchFamily="2" charset="2"/>
              <a:buChar char=""/>
            </a:pPr>
            <a:r>
              <a:rPr lang="en-US" dirty="0"/>
              <a:t>Use functional clamps: One turn/One motion</a:t>
            </a:r>
          </a:p>
          <a:p>
            <a:pPr>
              <a:buSzPct val="90000"/>
              <a:buFont typeface="Wingdings" panose="05000000000000000000" pitchFamily="2" charset="2"/>
              <a:buChar char=""/>
            </a:pPr>
            <a:r>
              <a:rPr lang="en-US" dirty="0"/>
              <a:t>Use visual control to eliminate adjustments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1951199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32</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3278216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Document the New set-up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List each element on the Set-up Operations Standard Chart </a:t>
            </a:r>
            <a:br>
              <a:rPr lang="en-US" dirty="0"/>
            </a:br>
            <a:r>
              <a:rPr lang="en-US" dirty="0"/>
              <a:t>(after Kaizen)</a:t>
            </a:r>
          </a:p>
          <a:p>
            <a:r>
              <a:rPr lang="en-US" dirty="0"/>
              <a:t>Video tape the new set-up procedure.</a:t>
            </a:r>
          </a:p>
          <a:p>
            <a:r>
              <a:rPr lang="en-US" dirty="0"/>
              <a:t>Record the set-up time for each element</a:t>
            </a:r>
          </a:p>
          <a:p>
            <a:r>
              <a:rPr lang="en-US" dirty="0"/>
              <a:t>Note areas for future improvement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846741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Document the New set-up</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34</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pic>
        <p:nvPicPr>
          <p:cNvPr id="9" name="Picture 1414" descr="smed">
            <a:extLst>
              <a:ext uri="{FF2B5EF4-FFF2-40B4-BE49-F238E27FC236}">
                <a16:creationId xmlns:a16="http://schemas.microsoft.com/office/drawing/2014/main" id="{039504CE-30EC-32E7-BD1E-4086E921A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8367" y="1783431"/>
            <a:ext cx="8878823" cy="448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2928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35</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298732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Standardize the New Procedure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The Set-Up Operations Standard chart will become the basis for the new set-up procedure</a:t>
            </a:r>
          </a:p>
          <a:p>
            <a:r>
              <a:rPr lang="en-US" dirty="0"/>
              <a:t>Prepare the appropriate detail and work instructions that will not be included on the Set-Up Operations Standard chart</a:t>
            </a:r>
          </a:p>
          <a:p>
            <a:r>
              <a:rPr lang="en-US" dirty="0"/>
              <a:t>Assure that all appropriate personnel are  trained in the new procedure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2899989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Process</a:t>
              </a:r>
            </a:p>
          </p:txBody>
        </p:sp>
      </p:grpSp>
    </p:spTree>
    <p:extLst>
      <p:ext uri="{BB962C8B-B14F-4D97-AF65-F5344CB8AC3E}">
        <p14:creationId xmlns:p14="http://schemas.microsoft.com/office/powerpoint/2010/main" val="1430728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SMED</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Review the SMED Rules</a:t>
            </a:r>
          </a:p>
          <a:p>
            <a:r>
              <a:rPr lang="en-US" sz="2400" dirty="0"/>
              <a:t>Conduct review of key learnings</a:t>
            </a:r>
          </a:p>
          <a:p>
            <a:r>
              <a:rPr lang="en-US" sz="2400" dirty="0"/>
              <a:t>Organize team to begin SMED kaizen</a:t>
            </a:r>
          </a:p>
          <a:p>
            <a:r>
              <a:rPr lang="en-US" sz="2400" dirty="0"/>
              <a:t>Review necessary information for event report-out</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837133"/>
            <a:ext cx="4425950" cy="659879"/>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SMED</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Review</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SMED</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Process </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SMED</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Definition</a:t>
              </a:r>
            </a:p>
          </p:txBody>
        </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075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SMED Guidelines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514350" indent="-514350">
              <a:buFont typeface="+mj-lt"/>
              <a:buAutoNum type="arabicPeriod"/>
            </a:pPr>
            <a:r>
              <a:rPr lang="en-US" dirty="0"/>
              <a:t>SMED begins and ends with the 5S’s</a:t>
            </a:r>
          </a:p>
          <a:p>
            <a:pPr marL="514350" indent="-514350">
              <a:buFont typeface="+mj-lt"/>
              <a:buAutoNum type="arabicPeriod"/>
            </a:pPr>
            <a:r>
              <a:rPr lang="en-US" dirty="0"/>
              <a:t>Change the Internal set-up into External, then improve the remaining Internal set-up time</a:t>
            </a:r>
          </a:p>
          <a:p>
            <a:pPr marL="514350" indent="-514350">
              <a:buFont typeface="+mj-lt"/>
              <a:buAutoNum type="arabicPeriod"/>
            </a:pPr>
            <a:r>
              <a:rPr lang="en-US" dirty="0"/>
              <a:t>Bolts are our enemies</a:t>
            </a:r>
          </a:p>
          <a:p>
            <a:pPr marL="514350" indent="-514350">
              <a:buFont typeface="+mj-lt"/>
              <a:buAutoNum type="arabicPeriod"/>
            </a:pPr>
            <a:r>
              <a:rPr lang="en-US" dirty="0"/>
              <a:t>If you have to use your hands make sure your feet stay put </a:t>
            </a:r>
          </a:p>
          <a:p>
            <a:pPr marL="514350" indent="-514350">
              <a:buFont typeface="+mj-lt"/>
              <a:buAutoNum type="arabicPeriod"/>
            </a:pPr>
            <a:r>
              <a:rPr lang="en-US" dirty="0"/>
              <a:t>Don’t rely on special fine-tuning skills</a:t>
            </a:r>
          </a:p>
          <a:p>
            <a:pPr marL="514350" indent="-514350">
              <a:buFont typeface="+mj-lt"/>
              <a:buAutoNum type="arabicPeriod"/>
            </a:pPr>
            <a:r>
              <a:rPr lang="en-US" dirty="0"/>
              <a:t>Standards are standard: they are NOT flexible</a:t>
            </a:r>
          </a:p>
          <a:p>
            <a:pPr marL="514350" indent="-514350">
              <a:buFont typeface="+mj-lt"/>
              <a:buAutoNum type="arabicPeriod"/>
            </a:pPr>
            <a:r>
              <a:rPr lang="en-US" dirty="0"/>
              <a:t>Standardize all SMED Operations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Review</a:t>
              </a:r>
            </a:p>
          </p:txBody>
        </p:sp>
      </p:grpSp>
    </p:spTree>
    <p:extLst>
      <p:ext uri="{BB962C8B-B14F-4D97-AF65-F5344CB8AC3E}">
        <p14:creationId xmlns:p14="http://schemas.microsoft.com/office/powerpoint/2010/main" val="15734904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Review Exercise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dirty="0"/>
              <a:t>2 Minute Review</a:t>
            </a:r>
          </a:p>
          <a:p>
            <a:r>
              <a:rPr lang="en-US" dirty="0"/>
              <a:t>In pairs, or in small groups, spend 5 minutes discussing key learnings and take-aways from this SMED Event thus far</a:t>
            </a:r>
          </a:p>
          <a:p>
            <a:r>
              <a:rPr lang="en-US" dirty="0"/>
              <a:t>One person from each group will share one learning that was discussed with the rest of the class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Review</a:t>
              </a:r>
            </a:p>
          </p:txBody>
        </p:sp>
      </p:grpSp>
    </p:spTree>
    <p:extLst>
      <p:ext uri="{BB962C8B-B14F-4D97-AF65-F5344CB8AC3E}">
        <p14:creationId xmlns:p14="http://schemas.microsoft.com/office/powerpoint/2010/main" val="3835930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Your Turn….Kaizen!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dirty="0"/>
              <a:t>The following pages review the process for your team to apply SMED in order to kaizen the process.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Review</a:t>
              </a:r>
            </a:p>
          </p:txBody>
        </p:sp>
      </p:grpSp>
    </p:spTree>
    <p:extLst>
      <p:ext uri="{BB962C8B-B14F-4D97-AF65-F5344CB8AC3E}">
        <p14:creationId xmlns:p14="http://schemas.microsoft.com/office/powerpoint/2010/main" val="2602312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SMED Methodology</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42</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838200" y="1995602"/>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Observe and document the current set-up</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838202" y="2711549"/>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Separate internal and external elements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838200" y="3427496"/>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Improve each element</a:t>
            </a:r>
          </a:p>
        </p:txBody>
      </p:sp>
      <p:sp>
        <p:nvSpPr>
          <p:cNvPr id="15" name="Rectangle 14">
            <a:extLst>
              <a:ext uri="{FF2B5EF4-FFF2-40B4-BE49-F238E27FC236}">
                <a16:creationId xmlns:a16="http://schemas.microsoft.com/office/drawing/2014/main" id="{D87C53B4-48B2-AD29-AFD8-1C5B6871B984}"/>
              </a:ext>
            </a:extLst>
          </p:cNvPr>
          <p:cNvSpPr/>
          <p:nvPr/>
        </p:nvSpPr>
        <p:spPr>
          <a:xfrm>
            <a:off x="838201" y="4143443"/>
            <a:ext cx="882097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 Observe and document the new set-up process </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838200" y="4859390"/>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 Standardize the new set-up process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24" name="Rectangle 23">
            <a:extLst>
              <a:ext uri="{FF2B5EF4-FFF2-40B4-BE49-F238E27FC236}">
                <a16:creationId xmlns:a16="http://schemas.microsoft.com/office/drawing/2014/main" id="{DA0FF73F-8719-E6E1-03DD-7F9B3522873B}"/>
              </a:ext>
            </a:extLst>
          </p:cNvPr>
          <p:cNvSpPr>
            <a:spLocks/>
          </p:cNvSpPr>
          <p:nvPr/>
        </p:nvSpPr>
        <p:spPr>
          <a:xfrm>
            <a:off x="838200" y="5575335"/>
            <a:ext cx="882396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6. Celebrate your success</a:t>
            </a:r>
          </a:p>
        </p:txBody>
      </p:sp>
      <p:grpSp>
        <p:nvGrpSpPr>
          <p:cNvPr id="2" name="Group 1">
            <a:extLst>
              <a:ext uri="{FF2B5EF4-FFF2-40B4-BE49-F238E27FC236}">
                <a16:creationId xmlns:a16="http://schemas.microsoft.com/office/drawing/2014/main" id="{E4599CCB-9CBE-F07D-C0E7-3AB39B67359E}"/>
              </a:ext>
            </a:extLst>
          </p:cNvPr>
          <p:cNvGrpSpPr/>
          <p:nvPr/>
        </p:nvGrpSpPr>
        <p:grpSpPr>
          <a:xfrm>
            <a:off x="838200" y="297639"/>
            <a:ext cx="4024630" cy="301303"/>
            <a:chOff x="838200" y="297639"/>
            <a:chExt cx="4024630" cy="301303"/>
          </a:xfrm>
        </p:grpSpPr>
        <p:grpSp>
          <p:nvGrpSpPr>
            <p:cNvPr id="3" name="Group 2">
              <a:extLst>
                <a:ext uri="{FF2B5EF4-FFF2-40B4-BE49-F238E27FC236}">
                  <a16:creationId xmlns:a16="http://schemas.microsoft.com/office/drawing/2014/main" id="{CD0E137A-9734-3373-B549-F57251EF9EFF}"/>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E567A08B-E33A-ED3F-D50A-C2C908CAAC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618066-BD1D-A5B5-DF15-292FA96E4A7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7DB18E12-DE3B-4570-B4CB-9B42A80780B3}"/>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4" name="TextBox 3">
              <a:extLst>
                <a:ext uri="{FF2B5EF4-FFF2-40B4-BE49-F238E27FC236}">
                  <a16:creationId xmlns:a16="http://schemas.microsoft.com/office/drawing/2014/main" id="{1657AAF0-18DC-E4A2-6811-60B67A390317}"/>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Definition</a:t>
              </a:r>
            </a:p>
          </p:txBody>
        </p:sp>
      </p:grpSp>
    </p:spTree>
    <p:extLst>
      <p:ext uri="{BB962C8B-B14F-4D97-AF65-F5344CB8AC3E}">
        <p14:creationId xmlns:p14="http://schemas.microsoft.com/office/powerpoint/2010/main" val="3050613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Prepare for Final Report-Out to Management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All team members should contribute to the final report-out presentation to management</a:t>
            </a:r>
          </a:p>
          <a:p>
            <a:r>
              <a:rPr lang="en-US" dirty="0"/>
              <a:t>Report-out should include</a:t>
            </a:r>
          </a:p>
          <a:p>
            <a:pPr lvl="1"/>
            <a:r>
              <a:rPr lang="en-US" dirty="0"/>
              <a:t>Introduction of Team</a:t>
            </a:r>
          </a:p>
          <a:p>
            <a:pPr lvl="1"/>
            <a:r>
              <a:rPr lang="en-US" dirty="0"/>
              <a:t>Review of Event Charter</a:t>
            </a:r>
          </a:p>
          <a:p>
            <a:pPr lvl="1"/>
            <a:r>
              <a:rPr lang="en-US" dirty="0"/>
              <a:t>Review of Current Set-Up</a:t>
            </a:r>
          </a:p>
          <a:p>
            <a:pPr lvl="1"/>
            <a:r>
              <a:rPr lang="en-US" dirty="0"/>
              <a:t>Review of Internal and External Elements</a:t>
            </a:r>
          </a:p>
          <a:p>
            <a:pPr lvl="1"/>
            <a:r>
              <a:rPr lang="en-US" dirty="0"/>
              <a:t>Review of Improved Process</a:t>
            </a:r>
          </a:p>
          <a:p>
            <a:pPr lvl="1"/>
            <a:r>
              <a:rPr lang="en-US" dirty="0"/>
              <a:t>Review of new standardized procedures</a:t>
            </a:r>
          </a:p>
          <a:p>
            <a:r>
              <a:rPr 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4" name="Group 3">
            <a:extLst>
              <a:ext uri="{FF2B5EF4-FFF2-40B4-BE49-F238E27FC236}">
                <a16:creationId xmlns:a16="http://schemas.microsoft.com/office/drawing/2014/main" id="{1702E217-D3E9-4289-B553-8CDB2874AE3D}"/>
              </a:ext>
            </a:extLst>
          </p:cNvPr>
          <p:cNvGrpSpPr/>
          <p:nvPr/>
        </p:nvGrpSpPr>
        <p:grpSpPr>
          <a:xfrm>
            <a:off x="838200" y="297639"/>
            <a:ext cx="4024630" cy="301303"/>
            <a:chOff x="838200" y="297639"/>
            <a:chExt cx="4024630" cy="301303"/>
          </a:xfrm>
        </p:grpSpPr>
        <p:grpSp>
          <p:nvGrpSpPr>
            <p:cNvPr id="6" name="Group 5">
              <a:extLst>
                <a:ext uri="{FF2B5EF4-FFF2-40B4-BE49-F238E27FC236}">
                  <a16:creationId xmlns:a16="http://schemas.microsoft.com/office/drawing/2014/main" id="{B70826AA-B085-1FF9-AF9F-541338D0EC6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D4C9D9B-B237-742C-735A-B42B551D8D4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F5115D2B-67E9-E492-F133-EB555DFD1CD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95918C4-0721-4892-D851-B5C5BE438E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A6FBA0F-C5C7-979B-4D47-9FAD21350DF4}"/>
                </a:ext>
              </a:extLst>
            </p:cNvPr>
            <p:cNvSpPr txBox="1"/>
            <p:nvPr/>
          </p:nvSpPr>
          <p:spPr>
            <a:xfrm>
              <a:off x="199487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SMED Review</a:t>
              </a:r>
            </a:p>
          </p:txBody>
        </p:sp>
      </p:grpSp>
    </p:spTree>
    <p:extLst>
      <p:ext uri="{BB962C8B-B14F-4D97-AF65-F5344CB8AC3E}">
        <p14:creationId xmlns:p14="http://schemas.microsoft.com/office/powerpoint/2010/main" val="39610621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dirty="0"/>
          </a:p>
        </p:txBody>
      </p:sp>
    </p:spTree>
    <p:extLst>
      <p:ext uri="{BB962C8B-B14F-4D97-AF65-F5344CB8AC3E}">
        <p14:creationId xmlns:p14="http://schemas.microsoft.com/office/powerpoint/2010/main" val="857076054"/>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14067</TotalTime>
  <Words>4336</Words>
  <Application>Microsoft Office PowerPoint</Application>
  <PresentationFormat>Widescreen</PresentationFormat>
  <Paragraphs>661</Paragraphs>
  <Slides>44</Slides>
  <Notes>44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Baskerville</vt:lpstr>
      <vt:lpstr>Calibri</vt:lpstr>
      <vt:lpstr>Roboto</vt:lpstr>
      <vt:lpstr>Roboto Medium</vt:lpstr>
      <vt:lpstr>Wingdings</vt:lpstr>
      <vt:lpstr>Office Theme</vt:lpstr>
      <vt:lpstr>PowerPoint Presentation</vt:lpstr>
      <vt:lpstr>PowerPoint Presentation</vt:lpstr>
      <vt:lpstr>PowerPoint Presentation</vt:lpstr>
      <vt:lpstr>Ground Rules for Event</vt:lpstr>
      <vt:lpstr>Goal of SMED Module</vt:lpstr>
      <vt:lpstr>SMED</vt:lpstr>
      <vt:lpstr>SMED Definition</vt:lpstr>
      <vt:lpstr>Benefits</vt:lpstr>
      <vt:lpstr>SMED Improvements</vt:lpstr>
      <vt:lpstr>Set-Up Time</vt:lpstr>
      <vt:lpstr>SMED Methodology</vt:lpstr>
      <vt:lpstr>Exercise: SMED Charter Review</vt:lpstr>
      <vt:lpstr>SMED</vt:lpstr>
      <vt:lpstr>SMED Methodology</vt:lpstr>
      <vt:lpstr>SMED Methodology</vt:lpstr>
      <vt:lpstr>Observe and Document the Current Set-Up</vt:lpstr>
      <vt:lpstr>Observe and Document the Current Set-Up</vt:lpstr>
      <vt:lpstr>Set-Up Pareto Analysis</vt:lpstr>
      <vt:lpstr>SMED Methodology</vt:lpstr>
      <vt:lpstr>Types of Set-Up Time</vt:lpstr>
      <vt:lpstr>Internal or External?</vt:lpstr>
      <vt:lpstr>SMED Methodology</vt:lpstr>
      <vt:lpstr>Develop Improvement Plan</vt:lpstr>
      <vt:lpstr>5S Review</vt:lpstr>
      <vt:lpstr>Develop Improvement Plan</vt:lpstr>
      <vt:lpstr>Develop Improvement Plan</vt:lpstr>
      <vt:lpstr>External Set-Up Actions</vt:lpstr>
      <vt:lpstr>Using Quick Fasteners</vt:lpstr>
      <vt:lpstr>Using Supplementary Tools</vt:lpstr>
      <vt:lpstr>Develop Improvement Plan</vt:lpstr>
      <vt:lpstr>Improvement Checklist</vt:lpstr>
      <vt:lpstr>SMED Methodology</vt:lpstr>
      <vt:lpstr>Document the New set-up</vt:lpstr>
      <vt:lpstr>Document the New set-up</vt:lpstr>
      <vt:lpstr>SMED Methodology</vt:lpstr>
      <vt:lpstr>Standardize the New Procedure</vt:lpstr>
      <vt:lpstr>SMED Methodology</vt:lpstr>
      <vt:lpstr>SMED</vt:lpstr>
      <vt:lpstr>SMED Guidelines</vt:lpstr>
      <vt:lpstr>Review Exercise</vt:lpstr>
      <vt:lpstr>Your Turn….Kaizen!</vt:lpstr>
      <vt:lpstr>SMED Methodology</vt:lpstr>
      <vt:lpstr>Prepare for Final Report-Out to Management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402</cp:revision>
  <dcterms:created xsi:type="dcterms:W3CDTF">2023-02-08T22:10:20Z</dcterms:created>
  <dcterms:modified xsi:type="dcterms:W3CDTF">2023-09-29T21:00:47Z</dcterms:modified>
</cp:coreProperties>
</file>