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2"/>
  </p:notesMasterIdLst>
  <p:sldIdLst>
    <p:sldId id="258" r:id="rId2"/>
    <p:sldId id="283" r:id="rId3"/>
    <p:sldId id="284" r:id="rId4"/>
    <p:sldId id="285" r:id="rId5"/>
    <p:sldId id="313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35" r:id="rId16"/>
    <p:sldId id="336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1849" autoAdjust="0"/>
  </p:normalViewPr>
  <p:slideViewPr>
    <p:cSldViewPr snapToGrid="0">
      <p:cViewPr varScale="1">
        <p:scale>
          <a:sx n="67" d="100"/>
          <a:sy n="67" d="100"/>
        </p:scale>
        <p:origin x="1286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22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50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10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0" dirty="0">
                <a:latin typeface="Times New Roman" panose="02020603050405020304" pitchFamily="18" charset="0"/>
              </a:rPr>
              <a:t>DO: </a:t>
            </a:r>
            <a:r>
              <a:rPr lang="en-US" altLang="en-US" dirty="0">
                <a:latin typeface="Times New Roman" panose="02020603050405020304" pitchFamily="18" charset="0"/>
              </a:rPr>
              <a:t>Perform Group Introductions. Pick an ice-breaker or exercise to warm the team up to the event. (Icebreaker Example: Everyone uses their name tent and writes a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Personal License Plate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r>
              <a:rPr lang="en-US" altLang="ja-JP" dirty="0">
                <a:latin typeface="Times New Roman" panose="02020603050405020304" pitchFamily="18" charset="0"/>
              </a:rPr>
              <a:t> in which they have 2 minutes to creatively use a total of 7 letters or numbers to tell us something about themselves. Examples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LV2SAIL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r>
              <a:rPr lang="en-US" altLang="ja-JP" dirty="0">
                <a:latin typeface="Times New Roman" panose="02020603050405020304" pitchFamily="18" charset="0"/>
              </a:rPr>
              <a:t> OR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DADOV5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r>
              <a:rPr lang="en-US" altLang="ja-JP" dirty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DO</a:t>
            </a:r>
            <a:r>
              <a:rPr lang="en-US" altLang="en-US" dirty="0">
                <a:latin typeface="Times New Roman" panose="02020603050405020304" pitchFamily="18" charset="0"/>
              </a:rPr>
              <a:t>: Review Event Ground Rules. </a:t>
            </a:r>
          </a:p>
          <a:p>
            <a:r>
              <a:rPr lang="en-US" altLang="en-US" b="0" dirty="0">
                <a:latin typeface="Times New Roman" panose="02020603050405020304" pitchFamily="18" charset="0"/>
              </a:rPr>
              <a:t>ASK: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Does anyone have any rules they would like to see added?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endParaRPr lang="en-US" altLang="ja-JP" dirty="0">
              <a:latin typeface="Times New Roman" panose="02020603050405020304" pitchFamily="18" charset="0"/>
            </a:endParaRPr>
          </a:p>
          <a:p>
            <a:r>
              <a:rPr lang="en-US" altLang="en-US" b="0" dirty="0">
                <a:latin typeface="Times New Roman" panose="02020603050405020304" pitchFamily="18" charset="0"/>
              </a:rPr>
              <a:t>ASK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ja-JP" altLang="en-US" dirty="0">
                <a:latin typeface="Arial" panose="020B0604020202020204" pitchFamily="34" charset="0"/>
              </a:rPr>
              <a:t>“</a:t>
            </a:r>
            <a:r>
              <a:rPr lang="en-US" altLang="ja-JP" dirty="0">
                <a:latin typeface="Times New Roman" panose="02020603050405020304" pitchFamily="18" charset="0"/>
              </a:rPr>
              <a:t>Does everyone agree to these?</a:t>
            </a:r>
            <a:r>
              <a:rPr lang="ja-JP" altLang="en-US" dirty="0">
                <a:latin typeface="Arial" panose="020B0604020202020204" pitchFamily="34" charset="0"/>
              </a:rPr>
              <a:t>”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1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0" dirty="0">
                <a:latin typeface="Times New Roman" panose="02020603050405020304" pitchFamily="18" charset="0"/>
              </a:rPr>
              <a:t>DO:</a:t>
            </a:r>
            <a:r>
              <a:rPr lang="en-US" altLang="en-US" dirty="0">
                <a:latin typeface="Times New Roman" panose="02020603050405020304" pitchFamily="18" charset="0"/>
              </a:rPr>
              <a:t> Introduce the notion of Process Mapping and the goal of this event. </a:t>
            </a:r>
          </a:p>
          <a:p>
            <a:r>
              <a:rPr lang="en-US" altLang="en-US" dirty="0">
                <a:latin typeface="Times New Roman" panose="02020603050405020304" pitchFamily="18" charset="0"/>
              </a:rPr>
              <a:t>At this time it is appropriate for the Process Owner or the Kaizen Team Leader to review the kaizen charter and objectives of the event.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65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Review chapter objectives.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11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60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3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SAY: 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It is important to understand that mapping is only a tool. It is one element in successful process improvement.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endParaRPr lang="en-US" altLang="en-US" b="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01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SAY: </a:t>
            </a:r>
            <a:r>
              <a:rPr lang="ja-JP" altLang="en-US" b="0" dirty="0">
                <a:latin typeface="Arial" panose="020B0604020202020204" pitchFamily="34" charset="0"/>
              </a:rPr>
              <a:t>“</a:t>
            </a:r>
            <a:r>
              <a:rPr lang="en-US" altLang="ja-JP" b="0" dirty="0">
                <a:latin typeface="Times New Roman" panose="02020603050405020304" pitchFamily="18" charset="0"/>
              </a:rPr>
              <a:t>In representing accurately what a process is, the process map uncovers opportunities for improvement, and this is how it fits into the concept of continuous process improvement.  Your team should understand what a process map is by considering the metaphor of the road map.</a:t>
            </a:r>
            <a:r>
              <a:rPr lang="ja-JP" altLang="en-US" b="0" dirty="0">
                <a:latin typeface="Arial" panose="020B0604020202020204" pitchFamily="34" charset="0"/>
              </a:rPr>
              <a:t>”</a:t>
            </a:r>
            <a:endParaRPr lang="en-US" altLang="ja-JP" b="0" dirty="0">
              <a:latin typeface="Times New Roman" panose="02020603050405020304" pitchFamily="18" charset="0"/>
            </a:endParaRPr>
          </a:p>
          <a:p>
            <a:endParaRPr lang="en-US" altLang="en-US" b="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02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97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6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913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69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ea typeface="ＭＳ Ｐゴシック" charset="0"/>
                <a:cs typeface="+mn-cs"/>
              </a:rPr>
              <a:t>DO:</a:t>
            </a:r>
            <a:r>
              <a:rPr lang="en-US" sz="800" dirty="0">
                <a:ea typeface="ＭＳ Ｐゴシック" charset="0"/>
                <a:cs typeface="+mn-cs"/>
              </a:rPr>
              <a:t> Review the charter for this event.</a:t>
            </a:r>
          </a:p>
          <a:p>
            <a:endParaRPr lang="en-US" alt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06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Review chapter objectives.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74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31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49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4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1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61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632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32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351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38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337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12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38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077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822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153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399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303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799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645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42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048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685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450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074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135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296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366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977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Review chapter objectives.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688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734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710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519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ea typeface="ＭＳ Ｐゴシック" charset="0"/>
                <a:cs typeface="+mn-cs"/>
              </a:rPr>
              <a:t>DO:</a:t>
            </a:r>
            <a:r>
              <a:rPr lang="en-US" sz="800" dirty="0">
                <a:ea typeface="ＭＳ Ｐゴシック" charset="0"/>
                <a:cs typeface="+mn-cs"/>
              </a:rPr>
              <a:t> Review the charter for this event.</a:t>
            </a:r>
          </a:p>
          <a:p>
            <a:endParaRPr lang="en-US" altLang="en-US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482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PROCESS MAPPING PRESENTATION ENG REV3.0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Process Mapping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3517106" y="2278809"/>
            <a:ext cx="5157787" cy="23003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This document contains confidential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and proprietary information owned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by Lean Horizons Consulting, LLC.</a:t>
            </a:r>
            <a:br>
              <a:rPr lang="en-US" sz="2000" dirty="0">
                <a:solidFill>
                  <a:schemeClr val="tx1"/>
                </a:solidFill>
              </a:rPr>
            </a:b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Any disclosure, use, copying or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distribution of this information without the express written consent of Lean Horizons Consulting is strictly prohibited.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A6FCFA-DB7B-71C3-70EC-F677EBA239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96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1B1F-82BB-20AA-556E-27FE22CC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Ground Rules for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AA202-895A-70BD-7319-C214C2BD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Safety first (use personal protective equipment)</a:t>
            </a:r>
          </a:p>
          <a:p>
            <a:r>
              <a:rPr lang="en-US" dirty="0"/>
              <a:t>Active participation by all</a:t>
            </a:r>
          </a:p>
          <a:p>
            <a:r>
              <a:rPr lang="en-US" dirty="0"/>
              <a:t>Start and end on time</a:t>
            </a:r>
          </a:p>
          <a:p>
            <a:r>
              <a:rPr lang="en-US" dirty="0"/>
              <a:t>All electronic gadgets (phones, pagers, </a:t>
            </a:r>
            <a:r>
              <a:rPr lang="en-US" dirty="0" err="1"/>
              <a:t>etc</a:t>
            </a:r>
            <a:r>
              <a:rPr lang="en-US" dirty="0"/>
              <a:t>) turned to “off” or “silent”</a:t>
            </a:r>
          </a:p>
          <a:p>
            <a:r>
              <a:rPr lang="en-US" dirty="0"/>
              <a:t>Computers to be used only when instructed</a:t>
            </a:r>
          </a:p>
          <a:p>
            <a:r>
              <a:rPr lang="en-US" dirty="0"/>
              <a:t>Keep an open mind to change</a:t>
            </a:r>
          </a:p>
          <a:p>
            <a:r>
              <a:rPr lang="en-US" dirty="0"/>
              <a:t>Don’t let “perfect” get in the way of “better”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705716-A551-625A-37E2-96047D07B4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8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Process Mapping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apply Process Mapping to achieve a target goal for your business.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5DB0C0-C493-C49A-0097-56086890831F}"/>
              </a:ext>
            </a:extLst>
          </p:cNvPr>
          <p:cNvGrpSpPr/>
          <p:nvPr/>
        </p:nvGrpSpPr>
        <p:grpSpPr>
          <a:xfrm>
            <a:off x="2852737" y="3840163"/>
            <a:ext cx="6486526" cy="1497648"/>
            <a:chOff x="2428875" y="3840163"/>
            <a:chExt cx="4286250" cy="1346200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2D2041C9-49A6-7BD3-7592-8A3C13760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925" y="3840163"/>
              <a:ext cx="1600200" cy="1346200"/>
            </a:xfrm>
            <a:prstGeom prst="homePlate">
              <a:avLst>
                <a:gd name="adj" fmla="val 111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Process</a:t>
              </a:r>
              <a:b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Mapping</a:t>
              </a:r>
              <a:b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Review</a:t>
              </a:r>
            </a:p>
          </p:txBody>
        </p:sp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BBA8C7ED-3069-20C9-1EDE-726819ED4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075" y="3840163"/>
              <a:ext cx="1600200" cy="1346200"/>
            </a:xfrm>
            <a:prstGeom prst="homePlate">
              <a:avLst>
                <a:gd name="adj" fmla="val 111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Steps to</a:t>
              </a:r>
              <a:b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Process</a:t>
              </a:r>
              <a:b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Mapping</a:t>
              </a:r>
            </a:p>
          </p:txBody>
        </p:sp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7E7A2CC8-60F1-27DB-AA6F-C0D1DF55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875" y="3840163"/>
              <a:ext cx="1600200" cy="1346200"/>
            </a:xfrm>
            <a:prstGeom prst="homePlate">
              <a:avLst>
                <a:gd name="adj" fmla="val 11155"/>
              </a:avLst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Process </a:t>
              </a:r>
              <a:b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Mapping</a:t>
              </a:r>
              <a:b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2000"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386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Process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sz="2400" dirty="0"/>
              <a:t>Define Process Mapping</a:t>
            </a:r>
          </a:p>
          <a:p>
            <a:r>
              <a:rPr lang="en-US" sz="2400" dirty="0"/>
              <a:t>Identify purpose and benefits of Process Mapping</a:t>
            </a:r>
          </a:p>
          <a:p>
            <a:r>
              <a:rPr lang="en-US" sz="2400" dirty="0"/>
              <a:t>Identify components of a process</a:t>
            </a:r>
          </a:p>
          <a:p>
            <a:r>
              <a:rPr lang="en-US" sz="2400" dirty="0"/>
              <a:t>Define levels of process mapping</a:t>
            </a:r>
          </a:p>
          <a:p>
            <a:r>
              <a:rPr lang="en-US" sz="2400" dirty="0"/>
              <a:t>Discuss team requirements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07BA82-F1D2-01EE-36D7-0CE1E1021337}"/>
              </a:ext>
            </a:extLst>
          </p:cNvPr>
          <p:cNvGrpSpPr/>
          <p:nvPr/>
        </p:nvGrpSpPr>
        <p:grpSpPr>
          <a:xfrm>
            <a:off x="699911" y="837133"/>
            <a:ext cx="4425950" cy="659879"/>
            <a:chOff x="5627530" y="641179"/>
            <a:chExt cx="6564470" cy="804977"/>
          </a:xfrm>
        </p:grpSpPr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658DE7F-EAE7-7BD9-8492-805CBFCF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1136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Mapping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Review</a:t>
              </a:r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3B341166-AC1F-8D30-9314-0FB3D948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856" y="641180"/>
              <a:ext cx="2342768" cy="804976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Mapping </a:t>
              </a:r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2AB16F46-B5FA-96F3-91C2-07B2F2F1C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530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FFB627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</a:t>
              </a:r>
              <a:b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Definition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0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F1BE-FC74-D20F-6189-931578F7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Process 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D1452-04BC-1846-9D2B-D064B736E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wrong with this picture?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C3043-C5C3-113A-8520-6B843B812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 picture is worth a thousand words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8954DA-A1B0-C7B8-680E-6D1AB2D2B6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31" descr="words">
            <a:extLst>
              <a:ext uri="{FF2B5EF4-FFF2-40B4-BE49-F238E27FC236}">
                <a16:creationId xmlns:a16="http://schemas.microsoft.com/office/drawing/2014/main" id="{BD9FE432-272F-6E9F-7BE1-E0877583AF6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783228"/>
            <a:ext cx="5157787" cy="3128281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2" descr="house">
            <a:extLst>
              <a:ext uri="{FF2B5EF4-FFF2-40B4-BE49-F238E27FC236}">
                <a16:creationId xmlns:a16="http://schemas.microsoft.com/office/drawing/2014/main" id="{F3B8F364-B9B6-B69C-352D-2030A956E85F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783228"/>
            <a:ext cx="5569867" cy="3127248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F716CE9-6056-6D31-5452-38CF33ECF20F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0643BA9-45EC-4751-F3F5-FE4840F94F06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5" name="AutoShape 9">
                <a:extLst>
                  <a:ext uri="{FF2B5EF4-FFF2-40B4-BE49-F238E27FC236}">
                    <a16:creationId xmlns:a16="http://schemas.microsoft.com/office/drawing/2014/main" id="{635870B7-7505-35E4-70D2-152671F05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EF7EEB26-320E-575D-25A1-3AAC107C5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0">
                <a:extLst>
                  <a:ext uri="{FF2B5EF4-FFF2-40B4-BE49-F238E27FC236}">
                    <a16:creationId xmlns:a16="http://schemas.microsoft.com/office/drawing/2014/main" id="{A3F799CB-9491-6AD5-F245-8B3BFE908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AABF7B9-2ED2-5F81-0E72-5B08C51416AC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7294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Mapping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Graphic display of steps, events and operations that constitute a process</a:t>
            </a:r>
          </a:p>
          <a:p>
            <a:r>
              <a:rPr lang="en-US" dirty="0"/>
              <a:t>A picture or diagram of what is actually happening</a:t>
            </a:r>
          </a:p>
          <a:p>
            <a:r>
              <a:rPr lang="en-US" dirty="0"/>
              <a:t>A foundation for continuous improvement</a:t>
            </a:r>
          </a:p>
          <a:p>
            <a:r>
              <a:rPr lang="en-US" dirty="0"/>
              <a:t>A real-time planning and implementation tool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1C5CC1-11FE-9B54-5B8B-F7BD0BD7EA62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2CCA27-3679-13F7-F19C-9597CBC7883F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00DDC390-34CA-F291-2585-1C581B7AF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11">
                <a:extLst>
                  <a:ext uri="{FF2B5EF4-FFF2-40B4-BE49-F238E27FC236}">
                    <a16:creationId xmlns:a16="http://schemas.microsoft.com/office/drawing/2014/main" id="{5B358793-FE8F-76AD-1E0D-CA2C2383A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1" name="AutoShape 10">
                <a:extLst>
                  <a:ext uri="{FF2B5EF4-FFF2-40B4-BE49-F238E27FC236}">
                    <a16:creationId xmlns:a16="http://schemas.microsoft.com/office/drawing/2014/main" id="{DE9CB193-21C4-7D33-56D8-64E9DB3CB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F8E88B-8DAD-1391-E939-8192EA08BACB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  <p:pic>
        <p:nvPicPr>
          <p:cNvPr id="12" name="Picture 16" descr="image001">
            <a:extLst>
              <a:ext uri="{FF2B5EF4-FFF2-40B4-BE49-F238E27FC236}">
                <a16:creationId xmlns:a16="http://schemas.microsoft.com/office/drawing/2014/main" id="{D51FF410-DD83-49E1-D9A0-B687C3AD68D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04" y="2325449"/>
            <a:ext cx="4930226" cy="3351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5">
            <a:extLst>
              <a:ext uri="{FF2B5EF4-FFF2-40B4-BE49-F238E27FC236}">
                <a16:creationId xmlns:a16="http://schemas.microsoft.com/office/drawing/2014/main" id="{0D0BE246-4BF4-49FD-CCF6-0FF3CC1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290" y="2754311"/>
            <a:ext cx="285750" cy="2493963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070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Process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excellent reference point for continuous improvement</a:t>
            </a:r>
          </a:p>
          <a:p>
            <a:pPr lvl="1"/>
            <a:r>
              <a:rPr lang="en-US" dirty="0"/>
              <a:t>Facilitates reduced cycle time and improved output</a:t>
            </a:r>
          </a:p>
          <a:p>
            <a:r>
              <a:rPr lang="en-US" dirty="0"/>
              <a:t>Reduces ambiguous, complex processes to finite tasks</a:t>
            </a:r>
          </a:p>
          <a:p>
            <a:pPr lvl="1"/>
            <a:r>
              <a:rPr lang="en-US" dirty="0"/>
              <a:t>Helps learn focus on facts not opinions</a:t>
            </a:r>
          </a:p>
          <a:p>
            <a:r>
              <a:rPr lang="en-US" dirty="0"/>
              <a:t>Highlights functional interdependencies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9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FDBE6E-4D81-955A-6AAB-7ED199B1B487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E9C2B57-542E-F559-A8AA-7926CCE6012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231839E3-223B-00CA-E80F-218257123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1">
                <a:extLst>
                  <a:ext uri="{FF2B5EF4-FFF2-40B4-BE49-F238E27FC236}">
                    <a16:creationId xmlns:a16="http://schemas.microsoft.com/office/drawing/2014/main" id="{887199C3-3B04-6BC0-442C-E5EA7E0EF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8A784906-2CE2-1341-D8AE-6E248423B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E9C3E9-CE5F-DFDC-54EC-FA1C3869D2EF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2971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Mapping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Process Mapping is a tool used for continuous improvement</a:t>
            </a:r>
          </a:p>
          <a:p>
            <a:r>
              <a:rPr lang="en-US" dirty="0"/>
              <a:t>Similar in concept to a roadmap:</a:t>
            </a:r>
          </a:p>
          <a:p>
            <a:pPr lvl="1"/>
            <a:r>
              <a:rPr lang="en-US" dirty="0"/>
              <a:t>Here is where we agree we are now (present situation)</a:t>
            </a:r>
          </a:p>
          <a:p>
            <a:pPr lvl="1"/>
            <a:r>
              <a:rPr lang="en-US" dirty="0"/>
              <a:t>Here is where we want to be (goal destination or ideal situation)</a:t>
            </a:r>
          </a:p>
          <a:p>
            <a:pPr lvl="1"/>
            <a:r>
              <a:rPr lang="en-US" dirty="0"/>
              <a:t>Here are our options to get there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1C5CC1-11FE-9B54-5B8B-F7BD0BD7EA62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2CCA27-3679-13F7-F19C-9597CBC7883F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9" name="AutoShape 9">
                <a:extLst>
                  <a:ext uri="{FF2B5EF4-FFF2-40B4-BE49-F238E27FC236}">
                    <a16:creationId xmlns:a16="http://schemas.microsoft.com/office/drawing/2014/main" id="{00DDC390-34CA-F291-2585-1C581B7AF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11">
                <a:extLst>
                  <a:ext uri="{FF2B5EF4-FFF2-40B4-BE49-F238E27FC236}">
                    <a16:creationId xmlns:a16="http://schemas.microsoft.com/office/drawing/2014/main" id="{5B358793-FE8F-76AD-1E0D-CA2C2383A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1" name="AutoShape 10">
                <a:extLst>
                  <a:ext uri="{FF2B5EF4-FFF2-40B4-BE49-F238E27FC236}">
                    <a16:creationId xmlns:a16="http://schemas.microsoft.com/office/drawing/2014/main" id="{DE9CB193-21C4-7D33-56D8-64E9DB3CB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F8E88B-8DAD-1391-E939-8192EA08BACB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  <p:sp>
        <p:nvSpPr>
          <p:cNvPr id="13" name="AutoShape 5">
            <a:extLst>
              <a:ext uri="{FF2B5EF4-FFF2-40B4-BE49-F238E27FC236}">
                <a16:creationId xmlns:a16="http://schemas.microsoft.com/office/drawing/2014/main" id="{0D0BE246-4BF4-49FD-CCF6-0FF3CC1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290" y="2754311"/>
            <a:ext cx="285750" cy="2493963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302B7B9F-A276-5690-841F-4973E67CD7D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24" y="2353675"/>
            <a:ext cx="4780952" cy="329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9">
            <a:extLst>
              <a:ext uri="{FF2B5EF4-FFF2-40B4-BE49-F238E27FC236}">
                <a16:creationId xmlns:a16="http://schemas.microsoft.com/office/drawing/2014/main" id="{C288210D-AF4C-C758-5850-479C244A1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524" y="1906259"/>
            <a:ext cx="2643672" cy="31624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Using the Process Map </a:t>
            </a:r>
          </a:p>
        </p:txBody>
      </p:sp>
    </p:spTree>
    <p:extLst>
      <p:ext uri="{BB962C8B-B14F-4D97-AF65-F5344CB8AC3E}">
        <p14:creationId xmlns:p14="http://schemas.microsoft.com/office/powerpoint/2010/main" val="1771942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Process has at least three versions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11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E06A17-4519-A599-156F-FB1D4FF93541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4CE306-9547-F378-4CBE-C4C8ED6B4BD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A926FE12-2AAB-9F54-4A7F-A719BAB71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11">
                <a:extLst>
                  <a:ext uri="{FF2B5EF4-FFF2-40B4-BE49-F238E27FC236}">
                    <a16:creationId xmlns:a16="http://schemas.microsoft.com/office/drawing/2014/main" id="{A545B069-2268-8DE4-B09C-8579E09B3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0">
                <a:extLst>
                  <a:ext uri="{FF2B5EF4-FFF2-40B4-BE49-F238E27FC236}">
                    <a16:creationId xmlns:a16="http://schemas.microsoft.com/office/drawing/2014/main" id="{134CF43B-A92B-E043-3FCE-F9C0960F8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16C9E9-8000-55E7-1DC8-E32F44EDFC8E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A754A40-F3E8-367B-81C4-A638AB6205F2}"/>
              </a:ext>
            </a:extLst>
          </p:cNvPr>
          <p:cNvGrpSpPr/>
          <p:nvPr/>
        </p:nvGrpSpPr>
        <p:grpSpPr>
          <a:xfrm>
            <a:off x="1271017" y="2022416"/>
            <a:ext cx="9347453" cy="3784023"/>
            <a:chOff x="1271017" y="2022417"/>
            <a:chExt cx="8023225" cy="3208338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48663C34-D97B-C18E-B335-A541068DCF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1017" y="2022417"/>
              <a:ext cx="2960687" cy="1250950"/>
              <a:chOff x="96" y="1008"/>
              <a:chExt cx="2306" cy="750"/>
            </a:xfrm>
          </p:grpSpPr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035FF31D-3345-FFC1-B0F3-44F039E00E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1008"/>
                <a:ext cx="230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en-US" sz="16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What you THINK it is:</a:t>
                </a:r>
                <a:endParaRPr lang="en-US" altLang="en-US" sz="2000">
                  <a:solidFill>
                    <a:srgbClr val="FFFF66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2" name="Line 7">
                <a:extLst>
                  <a:ext uri="{FF2B5EF4-FFF2-40B4-BE49-F238E27FC236}">
                    <a16:creationId xmlns:a16="http://schemas.microsoft.com/office/drawing/2014/main" id="{310D558A-7279-8559-0112-28A43D75B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" y="1670"/>
                <a:ext cx="79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3" name="Line 8">
                <a:extLst>
                  <a:ext uri="{FF2B5EF4-FFF2-40B4-BE49-F238E27FC236}">
                    <a16:creationId xmlns:a16="http://schemas.microsoft.com/office/drawing/2014/main" id="{F0F7A013-BF22-D254-CC91-095A86A14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" y="1401"/>
                <a:ext cx="226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4" name="Oval 9">
                <a:extLst>
                  <a:ext uri="{FF2B5EF4-FFF2-40B4-BE49-F238E27FC236}">
                    <a16:creationId xmlns:a16="http://schemas.microsoft.com/office/drawing/2014/main" id="{DE82C12E-1799-B47C-F956-EEDA348ADF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" y="1328"/>
                <a:ext cx="146" cy="147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5" name="Rectangle 10">
                <a:extLst>
                  <a:ext uri="{FF2B5EF4-FFF2-40B4-BE49-F238E27FC236}">
                    <a16:creationId xmlns:a16="http://schemas.microsoft.com/office/drawing/2014/main" id="{1846A640-4E4E-587A-2631-442EEAAF8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" y="1328"/>
                <a:ext cx="145" cy="147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6" name="AutoShape 11">
                <a:extLst>
                  <a:ext uri="{FF2B5EF4-FFF2-40B4-BE49-F238E27FC236}">
                    <a16:creationId xmlns:a16="http://schemas.microsoft.com/office/drawing/2014/main" id="{F17BC918-4BAD-795B-DD17-9E9ABD7346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" y="1313"/>
                <a:ext cx="208" cy="176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7" name="AutoShape 12">
                <a:extLst>
                  <a:ext uri="{FF2B5EF4-FFF2-40B4-BE49-F238E27FC236}">
                    <a16:creationId xmlns:a16="http://schemas.microsoft.com/office/drawing/2014/main" id="{DAC16724-228F-FFE6-EC38-0212671E1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1815" y="1328"/>
                <a:ext cx="177" cy="147"/>
              </a:xfrm>
              <a:prstGeom prst="triangle">
                <a:avLst>
                  <a:gd name="adj" fmla="val 49995"/>
                </a:avLst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8" name="Oval 13">
                <a:extLst>
                  <a:ext uri="{FF2B5EF4-FFF2-40B4-BE49-F238E27FC236}">
                    <a16:creationId xmlns:a16="http://schemas.microsoft.com/office/drawing/2014/main" id="{04760FC0-1B7B-D295-4049-D428966ED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0" y="1328"/>
                <a:ext cx="146" cy="147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9" name="Oval 14">
                <a:extLst>
                  <a:ext uri="{FF2B5EF4-FFF2-40B4-BE49-F238E27FC236}">
                    <a16:creationId xmlns:a16="http://schemas.microsoft.com/office/drawing/2014/main" id="{103E6726-797F-130B-CD36-018AC348E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" y="1328"/>
                <a:ext cx="146" cy="147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0" name="Oval 15">
                <a:extLst>
                  <a:ext uri="{FF2B5EF4-FFF2-40B4-BE49-F238E27FC236}">
                    <a16:creationId xmlns:a16="http://schemas.microsoft.com/office/drawing/2014/main" id="{3AD8E634-E0D3-FF91-051C-C9B6CD46C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1" y="1328"/>
                <a:ext cx="145" cy="147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1" name="AutoShape 16">
                <a:extLst>
                  <a:ext uri="{FF2B5EF4-FFF2-40B4-BE49-F238E27FC236}">
                    <a16:creationId xmlns:a16="http://schemas.microsoft.com/office/drawing/2014/main" id="{7BE8E294-4B1B-2E01-560A-12060CF18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" y="1581"/>
                <a:ext cx="206" cy="177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2" name="Oval 17">
                <a:extLst>
                  <a:ext uri="{FF2B5EF4-FFF2-40B4-BE49-F238E27FC236}">
                    <a16:creationId xmlns:a16="http://schemas.microsoft.com/office/drawing/2014/main" id="{7BEA6AB9-CF88-4646-DB74-873620991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" y="1597"/>
                <a:ext cx="145" cy="146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A1A3EF7D-4B8B-1BC1-67D3-5B70F3598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1597"/>
                <a:ext cx="146" cy="146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4" name="AutoShape 19">
                <a:extLst>
                  <a:ext uri="{FF2B5EF4-FFF2-40B4-BE49-F238E27FC236}">
                    <a16:creationId xmlns:a16="http://schemas.microsoft.com/office/drawing/2014/main" id="{FF5400C1-9349-6109-AC1D-E0EA92076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" y="1581"/>
                <a:ext cx="208" cy="177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5" name="Line 20">
                <a:extLst>
                  <a:ext uri="{FF2B5EF4-FFF2-40B4-BE49-F238E27FC236}">
                    <a16:creationId xmlns:a16="http://schemas.microsoft.com/office/drawing/2014/main" id="{128501EF-6DE5-9A8B-781F-B897852BB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" y="1411"/>
                <a:ext cx="0" cy="2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6" name="Line 21">
                <a:extLst>
                  <a:ext uri="{FF2B5EF4-FFF2-40B4-BE49-F238E27FC236}">
                    <a16:creationId xmlns:a16="http://schemas.microsoft.com/office/drawing/2014/main" id="{DAEE25B8-091D-DDDD-E257-D6A61D0CD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5" y="1442"/>
                <a:ext cx="0" cy="18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7" name="Rectangle 22">
                <a:extLst>
                  <a:ext uri="{FF2B5EF4-FFF2-40B4-BE49-F238E27FC236}">
                    <a16:creationId xmlns:a16="http://schemas.microsoft.com/office/drawing/2014/main" id="{C7593403-BD7D-A096-F0C8-9245C995D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" y="1328"/>
                <a:ext cx="237" cy="147"/>
              </a:xfrm>
              <a:prstGeom prst="rect">
                <a:avLst/>
              </a:prstGeom>
              <a:solidFill>
                <a:schemeClr val="accent5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8" name="Group 23">
              <a:extLst>
                <a:ext uri="{FF2B5EF4-FFF2-40B4-BE49-F238E27FC236}">
                  <a16:creationId xmlns:a16="http://schemas.microsoft.com/office/drawing/2014/main" id="{D56D6B2F-499A-7EDA-DAAF-1DD005B0F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5629" y="2922530"/>
              <a:ext cx="3022600" cy="2308225"/>
              <a:chOff x="2208" y="864"/>
              <a:chExt cx="1904" cy="1454"/>
            </a:xfrm>
          </p:grpSpPr>
          <p:sp>
            <p:nvSpPr>
              <p:cNvPr id="29" name="Rectangle 24">
                <a:extLst>
                  <a:ext uri="{FF2B5EF4-FFF2-40B4-BE49-F238E27FC236}">
                    <a16:creationId xmlns:a16="http://schemas.microsoft.com/office/drawing/2014/main" id="{F189BD9E-2AE2-5696-4728-C87D66801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864"/>
                <a:ext cx="163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en-US" sz="16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What it ACTUALLY is:</a:t>
                </a:r>
                <a:endParaRPr lang="en-US" altLang="en-US" sz="2000">
                  <a:solidFill>
                    <a:srgbClr val="FFFF66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0" name="Line 25">
                <a:extLst>
                  <a:ext uri="{FF2B5EF4-FFF2-40B4-BE49-F238E27FC236}">
                    <a16:creationId xmlns:a16="http://schemas.microsoft.com/office/drawing/2014/main" id="{B365C6E1-D5D2-DBED-65A3-A51F69560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3" y="2226"/>
                <a:ext cx="404" cy="0"/>
              </a:xfrm>
              <a:prstGeom prst="line">
                <a:avLst/>
              </a:prstGeom>
              <a:noFill/>
              <a:ln w="12700">
                <a:solidFill>
                  <a:srgbClr val="FFFF66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1" name="Line 26">
                <a:extLst>
                  <a:ext uri="{FF2B5EF4-FFF2-40B4-BE49-F238E27FC236}">
                    <a16:creationId xmlns:a16="http://schemas.microsoft.com/office/drawing/2014/main" id="{8A9717BF-D579-8A5E-58A8-8723876B1F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5" y="1954"/>
                <a:ext cx="716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" name="Line 27">
                <a:extLst>
                  <a:ext uri="{FF2B5EF4-FFF2-40B4-BE49-F238E27FC236}">
                    <a16:creationId xmlns:a16="http://schemas.microsoft.com/office/drawing/2014/main" id="{9A760F94-7853-DC47-1DF2-757DC0835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1500"/>
                <a:ext cx="6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" name="Line 28">
                <a:extLst>
                  <a:ext uri="{FF2B5EF4-FFF2-40B4-BE49-F238E27FC236}">
                    <a16:creationId xmlns:a16="http://schemas.microsoft.com/office/drawing/2014/main" id="{708CFA78-4F75-B5E1-3BE5-922BAAB0F0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78" y="1218"/>
                <a:ext cx="183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4" name="Oval 29">
                <a:extLst>
                  <a:ext uri="{FF2B5EF4-FFF2-40B4-BE49-F238E27FC236}">
                    <a16:creationId xmlns:a16="http://schemas.microsoft.com/office/drawing/2014/main" id="{EAD54DB1-90B9-2F16-D634-EA918F2E4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6" y="1141"/>
                <a:ext cx="118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5" name="Rectangle 30">
                <a:extLst>
                  <a:ext uri="{FF2B5EF4-FFF2-40B4-BE49-F238E27FC236}">
                    <a16:creationId xmlns:a16="http://schemas.microsoft.com/office/drawing/2014/main" id="{47A42F17-2692-4625-EF2F-FDC4EABB6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4" y="1141"/>
                <a:ext cx="117" cy="153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6" name="AutoShape 31">
                <a:extLst>
                  <a:ext uri="{FF2B5EF4-FFF2-40B4-BE49-F238E27FC236}">
                    <a16:creationId xmlns:a16="http://schemas.microsoft.com/office/drawing/2014/main" id="{C0202CB0-BCBA-A059-98F8-8A85BB56E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3" y="1125"/>
                <a:ext cx="167" cy="185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" name="AutoShape 32">
                <a:extLst>
                  <a:ext uri="{FF2B5EF4-FFF2-40B4-BE49-F238E27FC236}">
                    <a16:creationId xmlns:a16="http://schemas.microsoft.com/office/drawing/2014/main" id="{77177EE0-E859-87B4-EEFE-AC25403FA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 flipH="1">
                <a:off x="3637" y="1141"/>
                <a:ext cx="142" cy="153"/>
              </a:xfrm>
              <a:prstGeom prst="triangle">
                <a:avLst>
                  <a:gd name="adj" fmla="val 49995"/>
                </a:avLst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" name="Oval 33">
                <a:extLst>
                  <a:ext uri="{FF2B5EF4-FFF2-40B4-BE49-F238E27FC236}">
                    <a16:creationId xmlns:a16="http://schemas.microsoft.com/office/drawing/2014/main" id="{95883135-5DF1-BC0A-7705-A1BACB771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1141"/>
                <a:ext cx="118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9" name="Oval 34">
                <a:extLst>
                  <a:ext uri="{FF2B5EF4-FFF2-40B4-BE49-F238E27FC236}">
                    <a16:creationId xmlns:a16="http://schemas.microsoft.com/office/drawing/2014/main" id="{C7C88568-07A2-880D-3BA7-ECC890659C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1" y="1141"/>
                <a:ext cx="118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0" name="Oval 35">
                <a:extLst>
                  <a:ext uri="{FF2B5EF4-FFF2-40B4-BE49-F238E27FC236}">
                    <a16:creationId xmlns:a16="http://schemas.microsoft.com/office/drawing/2014/main" id="{0522DFA3-6F2A-858F-1382-F00DA0D6E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" y="1141"/>
                <a:ext cx="118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1" name="AutoShape 36">
                <a:extLst>
                  <a:ext uri="{FF2B5EF4-FFF2-40B4-BE49-F238E27FC236}">
                    <a16:creationId xmlns:a16="http://schemas.microsoft.com/office/drawing/2014/main" id="{B0286045-8838-4A3A-79E5-C8B4E0947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407"/>
                <a:ext cx="167" cy="186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2" name="Oval 37">
                <a:extLst>
                  <a:ext uri="{FF2B5EF4-FFF2-40B4-BE49-F238E27FC236}">
                    <a16:creationId xmlns:a16="http://schemas.microsoft.com/office/drawing/2014/main" id="{6D110819-1629-330A-C8AD-7353FE142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6" y="1424"/>
                <a:ext cx="118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3" name="Rectangle 38">
                <a:extLst>
                  <a:ext uri="{FF2B5EF4-FFF2-40B4-BE49-F238E27FC236}">
                    <a16:creationId xmlns:a16="http://schemas.microsoft.com/office/drawing/2014/main" id="{074B81EA-ABC7-71AE-92AF-A0BF4C488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5" y="1424"/>
                <a:ext cx="117" cy="153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4" name="AutoShape 39">
                <a:extLst>
                  <a:ext uri="{FF2B5EF4-FFF2-40B4-BE49-F238E27FC236}">
                    <a16:creationId xmlns:a16="http://schemas.microsoft.com/office/drawing/2014/main" id="{0A1D1D77-821B-91CD-02C2-2A91297EF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3" y="1407"/>
                <a:ext cx="167" cy="186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5" name="Line 40">
                <a:extLst>
                  <a:ext uri="{FF2B5EF4-FFF2-40B4-BE49-F238E27FC236}">
                    <a16:creationId xmlns:a16="http://schemas.microsoft.com/office/drawing/2014/main" id="{B500C719-1BE6-B723-BABE-BADBE6EA1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0" y="1228"/>
                <a:ext cx="0" cy="25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6" name="Line 41">
                <a:extLst>
                  <a:ext uri="{FF2B5EF4-FFF2-40B4-BE49-F238E27FC236}">
                    <a16:creationId xmlns:a16="http://schemas.microsoft.com/office/drawing/2014/main" id="{74502F26-DB4A-7946-679D-E25596AEA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7" y="1262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7" name="Rectangle 42">
                <a:extLst>
                  <a:ext uri="{FF2B5EF4-FFF2-40B4-BE49-F238E27FC236}">
                    <a16:creationId xmlns:a16="http://schemas.microsoft.com/office/drawing/2014/main" id="{53BCB90E-B790-A973-102F-112EF8F9C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1141"/>
                <a:ext cx="191" cy="153"/>
              </a:xfrm>
              <a:prstGeom prst="rect">
                <a:avLst/>
              </a:prstGeom>
              <a:solidFill>
                <a:schemeClr val="accent5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8" name="AutoShape 43">
                <a:extLst>
                  <a:ext uri="{FF2B5EF4-FFF2-40B4-BE49-F238E27FC236}">
                    <a16:creationId xmlns:a16="http://schemas.microsoft.com/office/drawing/2014/main" id="{461A2CC1-279B-93F9-7C18-00994C287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7" y="1648"/>
                <a:ext cx="167" cy="186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49" name="Oval 44">
                <a:extLst>
                  <a:ext uri="{FF2B5EF4-FFF2-40B4-BE49-F238E27FC236}">
                    <a16:creationId xmlns:a16="http://schemas.microsoft.com/office/drawing/2014/main" id="{8EBE55F1-537F-E575-C1F0-ED5A79DFA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" y="1867"/>
                <a:ext cx="118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0" name="Rectangle 45">
                <a:extLst>
                  <a:ext uri="{FF2B5EF4-FFF2-40B4-BE49-F238E27FC236}">
                    <a16:creationId xmlns:a16="http://schemas.microsoft.com/office/drawing/2014/main" id="{3D1E54EA-C977-46C4-4880-651740404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1" y="1867"/>
                <a:ext cx="119" cy="153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1" name="Rectangle 46">
                <a:extLst>
                  <a:ext uri="{FF2B5EF4-FFF2-40B4-BE49-F238E27FC236}">
                    <a16:creationId xmlns:a16="http://schemas.microsoft.com/office/drawing/2014/main" id="{0C611097-5638-B195-BD59-FD3271364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" y="1867"/>
                <a:ext cx="118" cy="153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2" name="Rectangle 47">
                <a:extLst>
                  <a:ext uri="{FF2B5EF4-FFF2-40B4-BE49-F238E27FC236}">
                    <a16:creationId xmlns:a16="http://schemas.microsoft.com/office/drawing/2014/main" id="{4BDC9BA1-AEC4-CBE4-63DE-E164E0D05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7" y="1625"/>
                <a:ext cx="118" cy="153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3" name="Oval 48">
                <a:extLst>
                  <a:ext uri="{FF2B5EF4-FFF2-40B4-BE49-F238E27FC236}">
                    <a16:creationId xmlns:a16="http://schemas.microsoft.com/office/drawing/2014/main" id="{915F920C-23D9-D7C6-AE18-0D8A063F3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1625"/>
                <a:ext cx="118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4" name="AutoShape 49">
                <a:extLst>
                  <a:ext uri="{FF2B5EF4-FFF2-40B4-BE49-F238E27FC236}">
                    <a16:creationId xmlns:a16="http://schemas.microsoft.com/office/drawing/2014/main" id="{B0AEFD27-EE0D-0D82-8814-51C629971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2132"/>
                <a:ext cx="168" cy="186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5" name="Rectangle 50">
                <a:extLst>
                  <a:ext uri="{FF2B5EF4-FFF2-40B4-BE49-F238E27FC236}">
                    <a16:creationId xmlns:a16="http://schemas.microsoft.com/office/drawing/2014/main" id="{B21CFBF8-7B20-17E0-A442-D4033AD31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149"/>
                <a:ext cx="117" cy="153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6" name="Oval 51">
                <a:extLst>
                  <a:ext uri="{FF2B5EF4-FFF2-40B4-BE49-F238E27FC236}">
                    <a16:creationId xmlns:a16="http://schemas.microsoft.com/office/drawing/2014/main" id="{BAB4CCE9-3A33-5B82-B7F0-6A0B69786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23" y="2149"/>
                <a:ext cx="117" cy="153"/>
              </a:xfrm>
              <a:prstGeom prst="ellipse">
                <a:avLst/>
              </a:prstGeom>
              <a:solidFill>
                <a:schemeClr val="accent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7" name="Line 52">
                <a:extLst>
                  <a:ext uri="{FF2B5EF4-FFF2-40B4-BE49-F238E27FC236}">
                    <a16:creationId xmlns:a16="http://schemas.microsoft.com/office/drawing/2014/main" id="{0CDEE427-0B38-3065-DD5F-39DF65245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1" y="1585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8" name="Arc 53">
                <a:extLst>
                  <a:ext uri="{FF2B5EF4-FFF2-40B4-BE49-F238E27FC236}">
                    <a16:creationId xmlns:a16="http://schemas.microsoft.com/office/drawing/2014/main" id="{CF930883-1E56-421B-9FF7-94F17983B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1" y="1842"/>
                <a:ext cx="373" cy="121"/>
              </a:xfrm>
              <a:custGeom>
                <a:avLst/>
                <a:gdLst>
                  <a:gd name="T0" fmla="*/ 373 w 21600"/>
                  <a:gd name="T1" fmla="*/ 121 h 21600"/>
                  <a:gd name="T2" fmla="*/ 0 w 21600"/>
                  <a:gd name="T3" fmla="*/ 0 h 21600"/>
                  <a:gd name="T4" fmla="*/ 373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599"/>
                    </a:moveTo>
                    <a:cubicBezTo>
                      <a:pt x="9670" y="21599"/>
                      <a:pt x="-1" y="11929"/>
                      <a:pt x="-1" y="-1"/>
                    </a:cubicBezTo>
                  </a:path>
                  <a:path w="21600" h="21600" stroke="0" extrusionOk="0">
                    <a:moveTo>
                      <a:pt x="21600" y="21599"/>
                    </a:moveTo>
                    <a:cubicBezTo>
                      <a:pt x="9670" y="21599"/>
                      <a:pt x="-1" y="11929"/>
                      <a:pt x="-1" y="-1"/>
                    </a:cubicBezTo>
                    <a:lnTo>
                      <a:pt x="21600" y="0"/>
                    </a:lnTo>
                    <a:lnTo>
                      <a:pt x="21600" y="21599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59" name="Line 54">
                <a:extLst>
                  <a:ext uri="{FF2B5EF4-FFF2-40B4-BE49-F238E27FC236}">
                    <a16:creationId xmlns:a16="http://schemas.microsoft.com/office/drawing/2014/main" id="{3509F300-31C7-FCA6-1AA6-CF003677BE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1" y="1712"/>
                <a:ext cx="0" cy="25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0" name="Line 55">
                <a:extLst>
                  <a:ext uri="{FF2B5EF4-FFF2-40B4-BE49-F238E27FC236}">
                    <a16:creationId xmlns:a16="http://schemas.microsoft.com/office/drawing/2014/main" id="{2EAAED0C-E4FB-CF11-A034-F653125A9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32" y="1712"/>
                <a:ext cx="0" cy="25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1" name="Line 56">
                <a:extLst>
                  <a:ext uri="{FF2B5EF4-FFF2-40B4-BE49-F238E27FC236}">
                    <a16:creationId xmlns:a16="http://schemas.microsoft.com/office/drawing/2014/main" id="{BC437E9B-B8B0-F9E7-8930-28C7E4A25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5" y="2028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2" name="Arc 57">
                <a:extLst>
                  <a:ext uri="{FF2B5EF4-FFF2-40B4-BE49-F238E27FC236}">
                    <a16:creationId xmlns:a16="http://schemas.microsoft.com/office/drawing/2014/main" id="{A624BB54-3438-B22F-2DF3-0ED43E7E8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2044"/>
                <a:ext cx="93" cy="202"/>
              </a:xfrm>
              <a:custGeom>
                <a:avLst/>
                <a:gdLst>
                  <a:gd name="T0" fmla="*/ 93 w 21600"/>
                  <a:gd name="T1" fmla="*/ 0 h 21600"/>
                  <a:gd name="T2" fmla="*/ 0 w 21600"/>
                  <a:gd name="T3" fmla="*/ 202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599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3" name="AutoShape 58">
                <a:extLst>
                  <a:ext uri="{FF2B5EF4-FFF2-40B4-BE49-F238E27FC236}">
                    <a16:creationId xmlns:a16="http://schemas.microsoft.com/office/drawing/2014/main" id="{ADF8D4AC-ABBD-D5F0-8663-D510E13D85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220000">
                <a:off x="2922" y="1933"/>
                <a:ext cx="80" cy="62"/>
              </a:xfrm>
              <a:prstGeom prst="triangle">
                <a:avLst>
                  <a:gd name="adj" fmla="val 49995"/>
                </a:avLst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4" name="AutoShape 59">
                <a:extLst>
                  <a:ext uri="{FF2B5EF4-FFF2-40B4-BE49-F238E27FC236}">
                    <a16:creationId xmlns:a16="http://schemas.microsoft.com/office/drawing/2014/main" id="{DA5F4C22-47FB-9B8D-DAB6-8CD2F9987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960000">
                <a:off x="3491" y="2044"/>
                <a:ext cx="62" cy="81"/>
              </a:xfrm>
              <a:prstGeom prst="triangle">
                <a:avLst>
                  <a:gd name="adj" fmla="val 49995"/>
                </a:avLst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5" name="AutoShape 60">
                <a:extLst>
                  <a:ext uri="{FF2B5EF4-FFF2-40B4-BE49-F238E27FC236}">
                    <a16:creationId xmlns:a16="http://schemas.microsoft.com/office/drawing/2014/main" id="{B40D02F7-AF81-30B0-5BEE-4B7ED3A47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7" y="1850"/>
                <a:ext cx="168" cy="186"/>
              </a:xfrm>
              <a:prstGeom prst="diamond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6" name="Rectangle 61">
                <a:extLst>
                  <a:ext uri="{FF2B5EF4-FFF2-40B4-BE49-F238E27FC236}">
                    <a16:creationId xmlns:a16="http://schemas.microsoft.com/office/drawing/2014/main" id="{CA0011B8-5D0A-7B7A-C896-0A153EABF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3" y="1867"/>
                <a:ext cx="192" cy="153"/>
              </a:xfrm>
              <a:prstGeom prst="rect">
                <a:avLst/>
              </a:prstGeom>
              <a:solidFill>
                <a:schemeClr val="accent5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67" name="Group 62">
              <a:extLst>
                <a:ext uri="{FF2B5EF4-FFF2-40B4-BE49-F238E27FC236}">
                  <a16:creationId xmlns:a16="http://schemas.microsoft.com/office/drawing/2014/main" id="{845BB1FF-E3E3-AEC4-00BA-659EF51F0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4467" y="4336992"/>
              <a:ext cx="2009775" cy="698500"/>
              <a:chOff x="4223" y="1632"/>
              <a:chExt cx="1266" cy="440"/>
            </a:xfrm>
          </p:grpSpPr>
          <p:grpSp>
            <p:nvGrpSpPr>
              <p:cNvPr id="68" name="Group 63">
                <a:extLst>
                  <a:ext uri="{FF2B5EF4-FFF2-40B4-BE49-F238E27FC236}">
                    <a16:creationId xmlns:a16="http://schemas.microsoft.com/office/drawing/2014/main" id="{A7D3E0DB-F7E6-F6DB-0BCA-5801B52DB9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6" y="1920"/>
                <a:ext cx="953" cy="152"/>
                <a:chOff x="4807" y="1164"/>
                <a:chExt cx="953" cy="152"/>
              </a:xfrm>
            </p:grpSpPr>
            <p:sp>
              <p:nvSpPr>
                <p:cNvPr id="70" name="Line 64">
                  <a:extLst>
                    <a:ext uri="{FF2B5EF4-FFF2-40B4-BE49-F238E27FC236}">
                      <a16:creationId xmlns:a16="http://schemas.microsoft.com/office/drawing/2014/main" id="{150AD557-721D-468E-A983-D2F2A72931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0" y="1248"/>
                  <a:ext cx="9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71" name="Oval 65">
                  <a:extLst>
                    <a:ext uri="{FF2B5EF4-FFF2-40B4-BE49-F238E27FC236}">
                      <a16:creationId xmlns:a16="http://schemas.microsoft.com/office/drawing/2014/main" id="{A21C701C-CB74-AB72-AF8B-3F87C0146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7" y="1164"/>
                  <a:ext cx="118" cy="152"/>
                </a:xfrm>
                <a:prstGeom prst="ellipse">
                  <a:avLst/>
                </a:prstGeom>
                <a:solidFill>
                  <a:schemeClr val="accent3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72" name="Rectangle 66">
                  <a:extLst>
                    <a:ext uri="{FF2B5EF4-FFF2-40B4-BE49-F238E27FC236}">
                      <a16:creationId xmlns:a16="http://schemas.microsoft.com/office/drawing/2014/main" id="{EDDD6F32-BBD4-A0AB-8C0D-6FE7236D6C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24" y="1164"/>
                  <a:ext cx="118" cy="152"/>
                </a:xfrm>
                <a:prstGeom prst="rect">
                  <a:avLst/>
                </a:prstGeom>
                <a:solidFill>
                  <a:schemeClr val="accent6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73" name="AutoShape 67">
                  <a:extLst>
                    <a:ext uri="{FF2B5EF4-FFF2-40B4-BE49-F238E27FC236}">
                      <a16:creationId xmlns:a16="http://schemas.microsoft.com/office/drawing/2014/main" id="{FE7293B4-6303-867A-B70C-9BA9B2F65E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5618" y="1164"/>
                  <a:ext cx="142" cy="152"/>
                </a:xfrm>
                <a:prstGeom prst="triangle">
                  <a:avLst>
                    <a:gd name="adj" fmla="val 49995"/>
                  </a:avLst>
                </a:prstGeom>
                <a:solidFill>
                  <a:schemeClr val="accent2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74" name="Oval 68">
                  <a:extLst>
                    <a:ext uri="{FF2B5EF4-FFF2-40B4-BE49-F238E27FC236}">
                      <a16:creationId xmlns:a16="http://schemas.microsoft.com/office/drawing/2014/main" id="{B4346C0B-ED66-1A73-C1BB-D7905D2C45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28" y="1164"/>
                  <a:ext cx="118" cy="152"/>
                </a:xfrm>
                <a:prstGeom prst="ellipse">
                  <a:avLst/>
                </a:prstGeom>
                <a:solidFill>
                  <a:schemeClr val="accent3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75" name="Oval 69">
                  <a:extLst>
                    <a:ext uri="{FF2B5EF4-FFF2-40B4-BE49-F238E27FC236}">
                      <a16:creationId xmlns:a16="http://schemas.microsoft.com/office/drawing/2014/main" id="{EA354391-6AF6-D612-7266-9DF140A8A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2" y="1164"/>
                  <a:ext cx="118" cy="152"/>
                </a:xfrm>
                <a:prstGeom prst="ellipse">
                  <a:avLst/>
                </a:prstGeom>
                <a:solidFill>
                  <a:schemeClr val="accent3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  <p:sp>
            <p:nvSpPr>
              <p:cNvPr id="69" name="Rectangle 70">
                <a:extLst>
                  <a:ext uri="{FF2B5EF4-FFF2-40B4-BE49-F238E27FC236}">
                    <a16:creationId xmlns:a16="http://schemas.microsoft.com/office/drawing/2014/main" id="{BDFE04C3-1268-595A-5FD8-CF0BC3F72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632"/>
                <a:ext cx="126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en-US" sz="16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What it SHOULD be: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015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up a process?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12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E06A17-4519-A599-156F-FB1D4FF93541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4CE306-9547-F378-4CBE-C4C8ED6B4BD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A926FE12-2AAB-9F54-4A7F-A719BAB71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11">
                <a:extLst>
                  <a:ext uri="{FF2B5EF4-FFF2-40B4-BE49-F238E27FC236}">
                    <a16:creationId xmlns:a16="http://schemas.microsoft.com/office/drawing/2014/main" id="{A545B069-2268-8DE4-B09C-8579E09B3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0">
                <a:extLst>
                  <a:ext uri="{FF2B5EF4-FFF2-40B4-BE49-F238E27FC236}">
                    <a16:creationId xmlns:a16="http://schemas.microsoft.com/office/drawing/2014/main" id="{134CF43B-A92B-E043-3FCE-F9C0960F8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16C9E9-8000-55E7-1DC8-E32F44EDFC8E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F3F30B1-2447-733F-2B24-808705CDD588}"/>
              </a:ext>
            </a:extLst>
          </p:cNvPr>
          <p:cNvGrpSpPr/>
          <p:nvPr/>
        </p:nvGrpSpPr>
        <p:grpSpPr>
          <a:xfrm>
            <a:off x="1880941" y="2013903"/>
            <a:ext cx="8430118" cy="3803650"/>
            <a:chOff x="1584692" y="2013903"/>
            <a:chExt cx="8430118" cy="3803650"/>
          </a:xfrm>
        </p:grpSpPr>
        <p:sp>
          <p:nvSpPr>
            <p:cNvPr id="77" name="Rectangle 3">
              <a:extLst>
                <a:ext uri="{FF2B5EF4-FFF2-40B4-BE49-F238E27FC236}">
                  <a16:creationId xmlns:a16="http://schemas.microsoft.com/office/drawing/2014/main" id="{5E4A2310-935B-A313-02CE-A94B8A3A8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992" y="3196590"/>
              <a:ext cx="3048000" cy="121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800">
                  <a:latin typeface="Roboto" panose="02000000000000000000" pitchFamily="2" charset="0"/>
                  <a:ea typeface="Roboto" panose="02000000000000000000" pitchFamily="2" charset="0"/>
                </a:rPr>
                <a:t>Process</a:t>
              </a:r>
              <a:endParaRPr lang="en-US" altLang="en-US" sz="2800" b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8" name="Text Box 4">
              <a:extLst>
                <a:ext uri="{FF2B5EF4-FFF2-40B4-BE49-F238E27FC236}">
                  <a16:creationId xmlns:a16="http://schemas.microsoft.com/office/drawing/2014/main" id="{9C62E567-1411-14FF-F8C3-EA949D012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0380" y="2013903"/>
              <a:ext cx="1168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Control</a:t>
              </a:r>
            </a:p>
          </p:txBody>
        </p:sp>
        <p:sp>
          <p:nvSpPr>
            <p:cNvPr id="79" name="Text Box 5">
              <a:extLst>
                <a:ext uri="{FF2B5EF4-FFF2-40B4-BE49-F238E27FC236}">
                  <a16:creationId xmlns:a16="http://schemas.microsoft.com/office/drawing/2014/main" id="{8C7A0FC3-70B8-D9B5-5359-F5EF530C9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4823" y="3615968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</a:t>
              </a:r>
            </a:p>
          </p:txBody>
        </p:sp>
        <p:sp>
          <p:nvSpPr>
            <p:cNvPr id="80" name="Text Box 6">
              <a:extLst>
                <a:ext uri="{FF2B5EF4-FFF2-40B4-BE49-F238E27FC236}">
                  <a16:creationId xmlns:a16="http://schemas.microsoft.com/office/drawing/2014/main" id="{97293659-20D9-867C-1397-EB4100532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3380" y="5450840"/>
              <a:ext cx="1428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Mechanism</a:t>
              </a:r>
            </a:p>
          </p:txBody>
        </p:sp>
        <p:sp>
          <p:nvSpPr>
            <p:cNvPr id="81" name="Text Box 7">
              <a:extLst>
                <a:ext uri="{FF2B5EF4-FFF2-40B4-BE49-F238E27FC236}">
                  <a16:creationId xmlns:a16="http://schemas.microsoft.com/office/drawing/2014/main" id="{C337D0F5-C356-A429-A02E-92BC0DFF3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692" y="3637915"/>
              <a:ext cx="7429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</a:t>
              </a:r>
            </a:p>
          </p:txBody>
        </p:sp>
        <p:sp>
          <p:nvSpPr>
            <p:cNvPr id="82" name="Line 8">
              <a:extLst>
                <a:ext uri="{FF2B5EF4-FFF2-40B4-BE49-F238E27FC236}">
                  <a16:creationId xmlns:a16="http://schemas.microsoft.com/office/drawing/2014/main" id="{31AE21AF-9704-33CF-4FDA-1B2D93E86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3942" y="4644390"/>
              <a:ext cx="0" cy="64293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3" name="Line 9">
              <a:extLst>
                <a:ext uri="{FF2B5EF4-FFF2-40B4-BE49-F238E27FC236}">
                  <a16:creationId xmlns:a16="http://schemas.microsoft.com/office/drawing/2014/main" id="{CCB54DDD-8A3A-9438-4DA5-90992C513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5255" y="3825240"/>
              <a:ext cx="173513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4" name="Line 10">
              <a:extLst>
                <a:ext uri="{FF2B5EF4-FFF2-40B4-BE49-F238E27FC236}">
                  <a16:creationId xmlns:a16="http://schemas.microsoft.com/office/drawing/2014/main" id="{4EE0C1E8-A9D4-A549-EAE9-11FA3957A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9655" y="2493328"/>
              <a:ext cx="0" cy="62706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5" name="Line 11">
              <a:extLst>
                <a:ext uri="{FF2B5EF4-FFF2-40B4-BE49-F238E27FC236}">
                  <a16:creationId xmlns:a16="http://schemas.microsoft.com/office/drawing/2014/main" id="{6CEF463C-84D4-1A49-A93C-4176D296A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3192" y="3825240"/>
              <a:ext cx="168751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37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Process Mapping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13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E06A17-4519-A599-156F-FB1D4FF93541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74CE306-9547-F378-4CBE-C4C8ED6B4BD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A926FE12-2AAB-9F54-4A7F-A719BAB71F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11">
                <a:extLst>
                  <a:ext uri="{FF2B5EF4-FFF2-40B4-BE49-F238E27FC236}">
                    <a16:creationId xmlns:a16="http://schemas.microsoft.com/office/drawing/2014/main" id="{A545B069-2268-8DE4-B09C-8579E09B3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0">
                <a:extLst>
                  <a:ext uri="{FF2B5EF4-FFF2-40B4-BE49-F238E27FC236}">
                    <a16:creationId xmlns:a16="http://schemas.microsoft.com/office/drawing/2014/main" id="{134CF43B-A92B-E043-3FCE-F9C0960F8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16C9E9-8000-55E7-1DC8-E32F44EDFC8E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6CB43C-206B-0E93-5FA8-07A2F87C9955}"/>
              </a:ext>
            </a:extLst>
          </p:cNvPr>
          <p:cNvGrpSpPr/>
          <p:nvPr/>
        </p:nvGrpSpPr>
        <p:grpSpPr>
          <a:xfrm>
            <a:off x="1293480" y="1783429"/>
            <a:ext cx="9605040" cy="4393534"/>
            <a:chOff x="357188" y="1494116"/>
            <a:chExt cx="8296354" cy="4635222"/>
          </a:xfrm>
        </p:grpSpPr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B33C842E-AE3A-0628-16FC-C867BEFB00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1013" y="1862138"/>
              <a:ext cx="5091112" cy="757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Oval 4">
              <a:extLst>
                <a:ext uri="{FF2B5EF4-FFF2-40B4-BE49-F238E27FC236}">
                  <a16:creationId xmlns:a16="http://schemas.microsoft.com/office/drawing/2014/main" id="{A312F2E4-1531-1361-580C-91FF523CBA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33413" y="2052638"/>
              <a:ext cx="457200" cy="381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20BA9A7F-B9D7-D412-6112-9B6B682D7A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44613" y="2052638"/>
              <a:ext cx="458787" cy="381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" name="AutoShape 6">
              <a:extLst>
                <a:ext uri="{FF2B5EF4-FFF2-40B4-BE49-F238E27FC236}">
                  <a16:creationId xmlns:a16="http://schemas.microsoft.com/office/drawing/2014/main" id="{778DFB74-0DFA-9373-E70D-B950A8202B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06600" y="2081213"/>
              <a:ext cx="549275" cy="323850"/>
            </a:xfrm>
            <a:prstGeom prst="rightArrow">
              <a:avLst>
                <a:gd name="adj1" fmla="val 50000"/>
                <a:gd name="adj2" fmla="val 42402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AFAFE963-D879-BE64-5B27-11DE507373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8200" y="2035175"/>
              <a:ext cx="506413" cy="4143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AutoShape 8">
              <a:extLst>
                <a:ext uri="{FF2B5EF4-FFF2-40B4-BE49-F238E27FC236}">
                  <a16:creationId xmlns:a16="http://schemas.microsoft.com/office/drawing/2014/main" id="{B33D1819-3ECF-13E7-63B1-055C2EAB16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52988" y="2035175"/>
              <a:ext cx="506412" cy="414338"/>
            </a:xfrm>
            <a:prstGeom prst="flowChartMerg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30261571-5B6D-AC60-2EF4-9A77D8A3D0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2590232">
              <a:off x="4192588" y="2014538"/>
              <a:ext cx="45720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Oval 10">
              <a:extLst>
                <a:ext uri="{FF2B5EF4-FFF2-40B4-BE49-F238E27FC236}">
                  <a16:creationId xmlns:a16="http://schemas.microsoft.com/office/drawing/2014/main" id="{C8130051-0971-10B6-6048-C9A2B1274F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17800" y="2052638"/>
              <a:ext cx="457200" cy="381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8" name="Group 96">
              <a:extLst>
                <a:ext uri="{FF2B5EF4-FFF2-40B4-BE49-F238E27FC236}">
                  <a16:creationId xmlns:a16="http://schemas.microsoft.com/office/drawing/2014/main" id="{5D53CCE6-7083-D986-67D7-547016AEED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2613" y="3462338"/>
              <a:ext cx="3733800" cy="685800"/>
              <a:chOff x="192" y="2064"/>
              <a:chExt cx="2352" cy="432"/>
            </a:xfrm>
          </p:grpSpPr>
          <p:sp>
            <p:nvSpPr>
              <p:cNvPr id="19" name="Rectangle 97">
                <a:extLst>
                  <a:ext uri="{FF2B5EF4-FFF2-40B4-BE49-F238E27FC236}">
                    <a16:creationId xmlns:a16="http://schemas.microsoft.com/office/drawing/2014/main" id="{BD3F9EA1-59BA-705D-1113-9BC6A1C41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064"/>
                <a:ext cx="2352" cy="4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20" name="Group 98">
                <a:extLst>
                  <a:ext uri="{FF2B5EF4-FFF2-40B4-BE49-F238E27FC236}">
                    <a16:creationId xmlns:a16="http://schemas.microsoft.com/office/drawing/2014/main" id="{1B7806B2-C78E-6E38-2782-C8F1E07C5A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112"/>
                <a:ext cx="2170" cy="351"/>
                <a:chOff x="288" y="2112"/>
                <a:chExt cx="2170" cy="351"/>
              </a:xfrm>
            </p:grpSpPr>
            <p:sp>
              <p:nvSpPr>
                <p:cNvPr id="21" name="Oval 99">
                  <a:extLst>
                    <a:ext uri="{FF2B5EF4-FFF2-40B4-BE49-F238E27FC236}">
                      <a16:creationId xmlns:a16="http://schemas.microsoft.com/office/drawing/2014/main" id="{C4EDD40B-052C-6A91-DDB0-E252E321075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88" y="2167"/>
                  <a:ext cx="288" cy="24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22" name="AutoShape 100">
                  <a:extLst>
                    <a:ext uri="{FF2B5EF4-FFF2-40B4-BE49-F238E27FC236}">
                      <a16:creationId xmlns:a16="http://schemas.microsoft.com/office/drawing/2014/main" id="{B009794D-9041-E839-32EE-BA140A4E1EC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728" y="2144"/>
                  <a:ext cx="288" cy="288"/>
                </a:xfrm>
                <a:prstGeom prst="flowChartDelay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23" name="Oval 101">
                  <a:extLst>
                    <a:ext uri="{FF2B5EF4-FFF2-40B4-BE49-F238E27FC236}">
                      <a16:creationId xmlns:a16="http://schemas.microsoft.com/office/drawing/2014/main" id="{D9A4ECF6-89E5-4CD4-6641-80AF53C94F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68" y="2167"/>
                  <a:ext cx="288" cy="24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24" name="Group 102">
                  <a:extLst>
                    <a:ext uri="{FF2B5EF4-FFF2-40B4-BE49-F238E27FC236}">
                      <a16:creationId xmlns:a16="http://schemas.microsoft.com/office/drawing/2014/main" id="{436165EC-0A1F-AE3D-505A-6F34602B9F4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608" y="2112"/>
                  <a:ext cx="351" cy="351"/>
                  <a:chOff x="1872" y="2208"/>
                  <a:chExt cx="576" cy="576"/>
                </a:xfrm>
              </p:grpSpPr>
              <p:sp>
                <p:nvSpPr>
                  <p:cNvPr id="26" name="Rectangle 103">
                    <a:extLst>
                      <a:ext uri="{FF2B5EF4-FFF2-40B4-BE49-F238E27FC236}">
                        <a16:creationId xmlns:a16="http://schemas.microsoft.com/office/drawing/2014/main" id="{5B470DD0-649B-8A3A-65D5-023A35EAE26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872" y="2208"/>
                    <a:ext cx="576" cy="576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27" name="Rectangle 104">
                    <a:extLst>
                      <a:ext uri="{FF2B5EF4-FFF2-40B4-BE49-F238E27FC236}">
                        <a16:creationId xmlns:a16="http://schemas.microsoft.com/office/drawing/2014/main" id="{27390B3A-4AC3-EB6D-CA2A-7303A3F078E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2742231">
                    <a:off x="1969" y="2305"/>
                    <a:ext cx="373" cy="373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 algn="ctr">
                      <a:lnSpc>
                        <a:spcPct val="80000"/>
                      </a:lnSpc>
                      <a:spcBef>
                        <a:spcPct val="20000"/>
                      </a:spcBef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  <p:sp>
              <p:nvSpPr>
                <p:cNvPr id="25" name="AutoShape 105">
                  <a:extLst>
                    <a:ext uri="{FF2B5EF4-FFF2-40B4-BE49-F238E27FC236}">
                      <a16:creationId xmlns:a16="http://schemas.microsoft.com/office/drawing/2014/main" id="{CD2AA5FB-DFAA-A1E6-AEE7-3E347EBC901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112" y="2185"/>
                  <a:ext cx="346" cy="204"/>
                </a:xfrm>
                <a:prstGeom prst="rightArrow">
                  <a:avLst>
                    <a:gd name="adj1" fmla="val 50000"/>
                    <a:gd name="adj2" fmla="val 42402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sp>
          <p:nvSpPr>
            <p:cNvPr id="28" name="Line 106">
              <a:extLst>
                <a:ext uri="{FF2B5EF4-FFF2-40B4-BE49-F238E27FC236}">
                  <a16:creationId xmlns:a16="http://schemas.microsoft.com/office/drawing/2014/main" id="{E2A05216-988D-339A-4266-BCAB780112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6413" y="2471738"/>
              <a:ext cx="3048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Line 107">
              <a:extLst>
                <a:ext uri="{FF2B5EF4-FFF2-40B4-BE49-F238E27FC236}">
                  <a16:creationId xmlns:a16="http://schemas.microsoft.com/office/drawing/2014/main" id="{C6E62AAC-6C9D-51A7-3B54-3A50B41E0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213" y="2471738"/>
              <a:ext cx="3200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0" name="Text Box 108">
              <a:extLst>
                <a:ext uri="{FF2B5EF4-FFF2-40B4-BE49-F238E27FC236}">
                  <a16:creationId xmlns:a16="http://schemas.microsoft.com/office/drawing/2014/main" id="{20B391DF-35CF-E3A9-CB54-0069E810F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8" y="1494116"/>
              <a:ext cx="426110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Macro or Organizational Level Process </a:t>
              </a:r>
            </a:p>
          </p:txBody>
        </p:sp>
        <p:sp>
          <p:nvSpPr>
            <p:cNvPr id="31" name="Text Box 109">
              <a:extLst>
                <a:ext uri="{FF2B5EF4-FFF2-40B4-BE49-F238E27FC236}">
                  <a16:creationId xmlns:a16="http://schemas.microsoft.com/office/drawing/2014/main" id="{3497312C-B2AB-5820-3E18-68321081C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7688" y="3149878"/>
              <a:ext cx="24400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Nested Process Level</a:t>
              </a:r>
            </a:p>
          </p:txBody>
        </p:sp>
        <p:grpSp>
          <p:nvGrpSpPr>
            <p:cNvPr id="32" name="Group 110">
              <a:extLst>
                <a:ext uri="{FF2B5EF4-FFF2-40B4-BE49-F238E27FC236}">
                  <a16:creationId xmlns:a16="http://schemas.microsoft.com/office/drawing/2014/main" id="{5C739D47-70E8-6028-E33E-6AC60AE23E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2413" y="5367338"/>
              <a:ext cx="2971800" cy="762000"/>
              <a:chOff x="1200" y="3312"/>
              <a:chExt cx="1872" cy="480"/>
            </a:xfrm>
          </p:grpSpPr>
          <p:sp>
            <p:nvSpPr>
              <p:cNvPr id="33" name="Rectangle 111">
                <a:extLst>
                  <a:ext uri="{FF2B5EF4-FFF2-40B4-BE49-F238E27FC236}">
                    <a16:creationId xmlns:a16="http://schemas.microsoft.com/office/drawing/2014/main" id="{569F77DE-478F-2957-56BB-EF018B55C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1872" cy="4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4" name="Group 112">
                <a:extLst>
                  <a:ext uri="{FF2B5EF4-FFF2-40B4-BE49-F238E27FC236}">
                    <a16:creationId xmlns:a16="http://schemas.microsoft.com/office/drawing/2014/main" id="{FC8FBC7E-DA71-9BE5-C5E4-040BF250E0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3408"/>
                <a:ext cx="1583" cy="288"/>
                <a:chOff x="1296" y="3408"/>
                <a:chExt cx="1583" cy="288"/>
              </a:xfrm>
            </p:grpSpPr>
            <p:sp>
              <p:nvSpPr>
                <p:cNvPr id="35" name="Rectangle 113">
                  <a:extLst>
                    <a:ext uri="{FF2B5EF4-FFF2-40B4-BE49-F238E27FC236}">
                      <a16:creationId xmlns:a16="http://schemas.microsoft.com/office/drawing/2014/main" id="{95F6F19F-021B-3C65-4847-D7BA54978CF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296" y="3408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6" name="Rectangle 114">
                  <a:extLst>
                    <a:ext uri="{FF2B5EF4-FFF2-40B4-BE49-F238E27FC236}">
                      <a16:creationId xmlns:a16="http://schemas.microsoft.com/office/drawing/2014/main" id="{1409D194-A6CC-6B57-9ACE-FF94D59694B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88" y="3408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" name="AutoShape 115">
                  <a:extLst>
                    <a:ext uri="{FF2B5EF4-FFF2-40B4-BE49-F238E27FC236}">
                      <a16:creationId xmlns:a16="http://schemas.microsoft.com/office/drawing/2014/main" id="{D5FE67BA-CB65-9643-65AE-A7A818E9E9C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081" y="3449"/>
                  <a:ext cx="346" cy="204"/>
                </a:xfrm>
                <a:prstGeom prst="rightArrow">
                  <a:avLst>
                    <a:gd name="adj1" fmla="val 50000"/>
                    <a:gd name="adj2" fmla="val 42402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" name="Rectangle 116">
                  <a:extLst>
                    <a:ext uri="{FF2B5EF4-FFF2-40B4-BE49-F238E27FC236}">
                      <a16:creationId xmlns:a16="http://schemas.microsoft.com/office/drawing/2014/main" id="{0C0B92D1-05B6-3955-54C0-BD4660B4129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2632270">
                  <a:off x="2591" y="3408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 algn="ctr">
                    <a:lnSpc>
                      <a:spcPct val="80000"/>
                    </a:lnSpc>
                    <a:spcBef>
                      <a:spcPct val="20000"/>
                    </a:spcBef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sp>
          <p:nvSpPr>
            <p:cNvPr id="39" name="Line 117">
              <a:extLst>
                <a:ext uri="{FF2B5EF4-FFF2-40B4-BE49-F238E27FC236}">
                  <a16:creationId xmlns:a16="http://schemas.microsoft.com/office/drawing/2014/main" id="{CBD32E24-4BBB-6EB6-468A-E317314BA0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6213" y="4224338"/>
              <a:ext cx="762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0" name="Line 118">
              <a:extLst>
                <a:ext uri="{FF2B5EF4-FFF2-40B4-BE49-F238E27FC236}">
                  <a16:creationId xmlns:a16="http://schemas.microsoft.com/office/drawing/2014/main" id="{D0F04F82-17CE-012F-0919-38CE4C089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8213" y="4148138"/>
              <a:ext cx="236220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1" name="Rectangle 120">
              <a:extLst>
                <a:ext uri="{FF2B5EF4-FFF2-40B4-BE49-F238E27FC236}">
                  <a16:creationId xmlns:a16="http://schemas.microsoft.com/office/drawing/2014/main" id="{3769DE0F-491E-54A4-D0F7-FF2753BBE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50" y="4670980"/>
              <a:ext cx="3505200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latin typeface="Roboto" panose="02000000000000000000" pitchFamily="2" charset="0"/>
                  <a:ea typeface="Roboto" panose="02000000000000000000" pitchFamily="2" charset="0"/>
                </a:rPr>
                <a:t>To effectively break processes down to components, drawing on the knowledge of process experts is the </a:t>
              </a:r>
              <a:r>
                <a:rPr lang="ja-JP" altLang="en-US" sz="1400">
                  <a:latin typeface="Roboto" panose="02000000000000000000" pitchFamily="2" charset="0"/>
                </a:rPr>
                <a:t>“</a:t>
              </a:r>
              <a:r>
                <a:rPr lang="en-US" altLang="ja-JP" sz="1400">
                  <a:latin typeface="Roboto" panose="02000000000000000000" pitchFamily="2" charset="0"/>
                  <a:ea typeface="Roboto" panose="02000000000000000000" pitchFamily="2" charset="0"/>
                </a:rPr>
                <a:t>best practice</a:t>
              </a:r>
              <a:r>
                <a:rPr lang="ja-JP" altLang="en-US" sz="1400">
                  <a:latin typeface="Roboto" panose="02000000000000000000" pitchFamily="2" charset="0"/>
                </a:rPr>
                <a:t>”</a:t>
              </a:r>
              <a:endParaRPr lang="en-US" altLang="en-US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2" name="Text Box 121">
              <a:extLst>
                <a:ext uri="{FF2B5EF4-FFF2-40B4-BE49-F238E27FC236}">
                  <a16:creationId xmlns:a16="http://schemas.microsoft.com/office/drawing/2014/main" id="{FDBCD9F7-D42C-6E65-BABA-3EE552767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750" y="4775200"/>
              <a:ext cx="2503488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Sub Process or </a:t>
              </a:r>
              <a:b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Job Level</a:t>
              </a:r>
            </a:p>
          </p:txBody>
        </p:sp>
        <p:sp>
          <p:nvSpPr>
            <p:cNvPr id="43" name="Line 122">
              <a:extLst>
                <a:ext uri="{FF2B5EF4-FFF2-40B4-BE49-F238E27FC236}">
                  <a16:creationId xmlns:a16="http://schemas.microsoft.com/office/drawing/2014/main" id="{03D11A0E-D6E7-AFB7-1219-52D3D9ACD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2388" y="1976438"/>
              <a:ext cx="0" cy="396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4" name="Text Box 123">
              <a:extLst>
                <a:ext uri="{FF2B5EF4-FFF2-40B4-BE49-F238E27FC236}">
                  <a16:creationId xmlns:a16="http://schemas.microsoft.com/office/drawing/2014/main" id="{24F61B90-2689-31A5-A873-546981AC0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0163" y="1525866"/>
              <a:ext cx="227337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Unbundling Process</a:t>
              </a:r>
            </a:p>
          </p:txBody>
        </p:sp>
        <p:sp>
          <p:nvSpPr>
            <p:cNvPr id="45" name="Oval 124">
              <a:extLst>
                <a:ext uri="{FF2B5EF4-FFF2-40B4-BE49-F238E27FC236}">
                  <a16:creationId xmlns:a16="http://schemas.microsoft.com/office/drawing/2014/main" id="{0E3F0CF3-B3D8-56A0-DE18-5A3E3E68A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713" y="1836738"/>
              <a:ext cx="762000" cy="8382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6" name="Oval 125">
              <a:extLst>
                <a:ext uri="{FF2B5EF4-FFF2-40B4-BE49-F238E27FC236}">
                  <a16:creationId xmlns:a16="http://schemas.microsoft.com/office/drawing/2014/main" id="{29BC26AB-08E8-452F-4243-67B3DC627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913" y="3386138"/>
              <a:ext cx="762000" cy="8382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121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Establish teams to address key business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the right mix of players</a:t>
            </a:r>
          </a:p>
          <a:p>
            <a:pPr lvl="1"/>
            <a:r>
              <a:rPr lang="en-US" dirty="0"/>
              <a:t>Natural interest and focus</a:t>
            </a:r>
          </a:p>
          <a:p>
            <a:pPr lvl="1"/>
            <a:r>
              <a:rPr lang="en-US" dirty="0"/>
              <a:t>Understand the process</a:t>
            </a:r>
          </a:p>
          <a:p>
            <a:pPr lvl="1"/>
            <a:r>
              <a:rPr lang="en-US" dirty="0"/>
              <a:t>Closest to the process</a:t>
            </a:r>
          </a:p>
          <a:p>
            <a:r>
              <a:rPr lang="en-US" dirty="0"/>
              <a:t>Understand needs and expectations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14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44BD94-62E4-861E-743A-3980FBC85913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A7CA8C-8D3D-9F6D-3C3A-1D2726169236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E04C6C80-5B21-3FCD-342B-114BDB541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1">
                <a:extLst>
                  <a:ext uri="{FF2B5EF4-FFF2-40B4-BE49-F238E27FC236}">
                    <a16:creationId xmlns:a16="http://schemas.microsoft.com/office/drawing/2014/main" id="{D07C0DFB-CC68-0906-8590-11E914440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046273FF-EAF5-4A51-26D8-83F2283AB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43E689-BE4E-4826-1B85-6E17E73DBE1F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7370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ED7-5CF9-6F4B-B4A8-2DBF8D85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Exercise: Process Mapping Charter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3C390-D307-7FFC-DADE-918C5180FE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15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506B7-1A57-1322-5AB5-DA8522EE7602}"/>
              </a:ext>
            </a:extLst>
          </p:cNvPr>
          <p:cNvSpPr/>
          <p:nvPr/>
        </p:nvSpPr>
        <p:spPr>
          <a:xfrm>
            <a:off x="838200" y="2359210"/>
            <a:ext cx="9722342" cy="410369"/>
          </a:xfrm>
          <a:prstGeom prst="rect">
            <a:avLst/>
          </a:prstGeom>
          <a:solidFill>
            <a:srgbClr val="EE32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Review the Process Mapping Charter for the event against charter criteria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B5F6-F271-06CD-2A6A-E79F5245CD15}"/>
              </a:ext>
            </a:extLst>
          </p:cNvPr>
          <p:cNvSpPr txBox="1"/>
          <p:nvPr/>
        </p:nvSpPr>
        <p:spPr>
          <a:xfrm>
            <a:off x="838200" y="1767653"/>
            <a:ext cx="160300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Objective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4F381-2B48-C111-2724-726B0390290F}"/>
              </a:ext>
            </a:extLst>
          </p:cNvPr>
          <p:cNvSpPr txBox="1"/>
          <p:nvPr/>
        </p:nvSpPr>
        <p:spPr>
          <a:xfrm>
            <a:off x="838200" y="2952549"/>
            <a:ext cx="202299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Instructions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7B47-98C9-F770-8D4E-7D91CF39F5A7}"/>
              </a:ext>
            </a:extLst>
          </p:cNvPr>
          <p:cNvSpPr/>
          <p:nvPr/>
        </p:nvSpPr>
        <p:spPr>
          <a:xfrm>
            <a:off x="818941" y="3486027"/>
            <a:ext cx="4419809" cy="231858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As a team review the event charter and answer the following questions:</a:t>
            </a:r>
          </a:p>
          <a:p>
            <a:pPr marL="285750" marR="0" indent="-2857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What is the business need for this event?</a:t>
            </a:r>
          </a:p>
          <a:p>
            <a:pPr marL="285750" marR="0" indent="-2857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What are the clear geographic boundaries?</a:t>
            </a:r>
          </a:p>
          <a:p>
            <a:pPr marL="285750" marR="0" indent="-2857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Who is the owner?</a:t>
            </a:r>
          </a:p>
          <a:p>
            <a:pPr marL="285750" marR="0" indent="-28575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What are the goals for this event?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14B3B-0CE2-FDFF-2FB9-215236316256}"/>
              </a:ext>
            </a:extLst>
          </p:cNvPr>
          <p:cNvSpPr txBox="1"/>
          <p:nvPr/>
        </p:nvSpPr>
        <p:spPr>
          <a:xfrm>
            <a:off x="5879250" y="2952548"/>
            <a:ext cx="296876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Time to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5230A-07BD-F376-25CA-177CC1D4233F}"/>
              </a:ext>
            </a:extLst>
          </p:cNvPr>
          <p:cNvSpPr txBox="1"/>
          <p:nvPr/>
        </p:nvSpPr>
        <p:spPr>
          <a:xfrm>
            <a:off x="5879250" y="4136472"/>
            <a:ext cx="188833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Deliverable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30399-8FDB-50CD-E8FD-8E286DE1A2EA}"/>
              </a:ext>
            </a:extLst>
          </p:cNvPr>
          <p:cNvSpPr/>
          <p:nvPr/>
        </p:nvSpPr>
        <p:spPr>
          <a:xfrm>
            <a:off x="5879250" y="3496996"/>
            <a:ext cx="4681292" cy="471924"/>
          </a:xfrm>
          <a:prstGeom prst="rect">
            <a:avLst/>
          </a:prstGeom>
          <a:solidFill>
            <a:srgbClr val="EE32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30 minutes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F6BD6-975A-3700-5E69-322EFF4F722E}"/>
              </a:ext>
            </a:extLst>
          </p:cNvPr>
          <p:cNvSpPr/>
          <p:nvPr/>
        </p:nvSpPr>
        <p:spPr>
          <a:xfrm>
            <a:off x="5879250" y="4665559"/>
            <a:ext cx="4681292" cy="841256"/>
          </a:xfrm>
          <a:prstGeom prst="rect">
            <a:avLst/>
          </a:prstGeom>
          <a:solidFill>
            <a:srgbClr val="EE32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Make any modifications</a:t>
            </a:r>
            <a:b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to charter as necessary.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33222B-5354-ADFC-1D25-CA324E841341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189E8F-94AE-4A14-006F-22087A53A1FA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7" name="AutoShape 9">
                <a:extLst>
                  <a:ext uri="{FF2B5EF4-FFF2-40B4-BE49-F238E27FC236}">
                    <a16:creationId xmlns:a16="http://schemas.microsoft.com/office/drawing/2014/main" id="{807F0C69-4B86-A2D5-656C-6F704B500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AutoShape 11">
                <a:extLst>
                  <a:ext uri="{FF2B5EF4-FFF2-40B4-BE49-F238E27FC236}">
                    <a16:creationId xmlns:a16="http://schemas.microsoft.com/office/drawing/2014/main" id="{70A61DF5-D8EF-FA8D-8842-A69B9A5C0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0">
                <a:extLst>
                  <a:ext uri="{FF2B5EF4-FFF2-40B4-BE49-F238E27FC236}">
                    <a16:creationId xmlns:a16="http://schemas.microsoft.com/office/drawing/2014/main" id="{F11B5397-D5AB-BBF6-394D-C58837E51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23F37A-3B71-3AD5-C2E3-CD42CF38D660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0648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Steps to Process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sz="2400" dirty="0"/>
              <a:t>Identify each of the basic steps to Process Mapping</a:t>
            </a:r>
          </a:p>
          <a:p>
            <a:r>
              <a:rPr lang="en-US" sz="2400" dirty="0"/>
              <a:t>Define each step in detail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07BA82-F1D2-01EE-36D7-0CE1E1021337}"/>
              </a:ext>
            </a:extLst>
          </p:cNvPr>
          <p:cNvGrpSpPr/>
          <p:nvPr/>
        </p:nvGrpSpPr>
        <p:grpSpPr>
          <a:xfrm>
            <a:off x="699911" y="837133"/>
            <a:ext cx="4425950" cy="659879"/>
            <a:chOff x="5627530" y="641179"/>
            <a:chExt cx="6564470" cy="804977"/>
          </a:xfrm>
        </p:grpSpPr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658DE7F-EAE7-7BD9-8492-805CBFCF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1136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Mapping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Review</a:t>
              </a:r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3B341166-AC1F-8D30-9314-0FB3D948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856" y="641180"/>
              <a:ext cx="2342768" cy="804976"/>
            </a:xfrm>
            <a:prstGeom prst="homePlate">
              <a:avLst>
                <a:gd name="adj" fmla="val 29912"/>
              </a:avLst>
            </a:prstGeom>
            <a:solidFill>
              <a:srgbClr val="FFB627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Steps to</a:t>
              </a:r>
              <a:b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Process </a:t>
              </a:r>
              <a:b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Mapping </a:t>
              </a:r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2AB16F46-B5FA-96F3-91C2-07B2F2F1C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530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 Mapping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937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17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1711093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18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4220246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the boundaries of the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19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40BB46-15D3-6B4F-D566-9CD6D1B80AA9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48EB95-A79B-414F-4F2F-0BB553AC8633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3" name="AutoShape 9">
                <a:extLst>
                  <a:ext uri="{FF2B5EF4-FFF2-40B4-BE49-F238E27FC236}">
                    <a16:creationId xmlns:a16="http://schemas.microsoft.com/office/drawing/2014/main" id="{7F3E04EE-9B5E-E50A-AEEF-F1C0A0EC99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4" name="AutoShape 11">
                <a:extLst>
                  <a:ext uri="{FF2B5EF4-FFF2-40B4-BE49-F238E27FC236}">
                    <a16:creationId xmlns:a16="http://schemas.microsoft.com/office/drawing/2014/main" id="{DC858A34-1CAC-FC6E-D8AF-42099BC4D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AutoShape 10">
                <a:extLst>
                  <a:ext uri="{FF2B5EF4-FFF2-40B4-BE49-F238E27FC236}">
                    <a16:creationId xmlns:a16="http://schemas.microsoft.com/office/drawing/2014/main" id="{0F27A3DD-83D9-0EA6-21D2-EE1D66924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1509E3-24BE-687A-FFC1-925B3B8342CE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011BA2-2760-D4F6-8CDC-9F45FC412CFF}"/>
              </a:ext>
            </a:extLst>
          </p:cNvPr>
          <p:cNvGrpSpPr/>
          <p:nvPr/>
        </p:nvGrpSpPr>
        <p:grpSpPr>
          <a:xfrm>
            <a:off x="838200" y="1781175"/>
            <a:ext cx="10515600" cy="4214511"/>
            <a:chOff x="550863" y="1781175"/>
            <a:chExt cx="8143875" cy="3908425"/>
          </a:xfrm>
        </p:grpSpPr>
        <p:sp>
          <p:nvSpPr>
            <p:cNvPr id="16" name="AutoShape 4">
              <a:extLst>
                <a:ext uri="{FF2B5EF4-FFF2-40B4-BE49-F238E27FC236}">
                  <a16:creationId xmlns:a16="http://schemas.microsoft.com/office/drawing/2014/main" id="{1765E136-7EA4-DFC5-FF3D-9F84AD4FCE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0863" y="2781300"/>
              <a:ext cx="3048000" cy="2000250"/>
            </a:xfrm>
            <a:prstGeom prst="homePlate">
              <a:avLst>
                <a:gd name="adj" fmla="val 26561"/>
              </a:avLst>
            </a:prstGeom>
            <a:solidFill>
              <a:schemeClr val="accent1"/>
            </a:solidFill>
            <a:ln w="635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lIns="274320" rIns="45720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START BOUNDARY</a:t>
              </a:r>
            </a:p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endParaRPr lang="en-US" altLang="en-US" sz="160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What must my suppliers provide my process to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meet my needs?</a:t>
              </a:r>
              <a:endParaRPr lang="en-US" altLang="en-US" sz="1600" b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660B38C8-478B-6E6E-7C3E-4C64CFB3E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598" y="2401888"/>
              <a:ext cx="859530" cy="316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</a:t>
              </a:r>
            </a:p>
          </p:txBody>
        </p:sp>
        <p:sp>
          <p:nvSpPr>
            <p:cNvPr id="18" name="AutoShape 9">
              <a:extLst>
                <a:ext uri="{FF2B5EF4-FFF2-40B4-BE49-F238E27FC236}">
                  <a16:creationId xmlns:a16="http://schemas.microsoft.com/office/drawing/2014/main" id="{F0073286-5AF6-8D39-DBED-A27254FC04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646738" y="2776538"/>
              <a:ext cx="3048000" cy="2000250"/>
            </a:xfrm>
            <a:prstGeom prst="homePlate">
              <a:avLst>
                <a:gd name="adj" fmla="val 26561"/>
              </a:avLst>
            </a:prstGeom>
            <a:solidFill>
              <a:schemeClr val="accent1"/>
            </a:solidFill>
            <a:ln w="635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lIns="274320" rIns="45720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STOP BOUNDARY</a:t>
              </a:r>
            </a:p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endParaRPr lang="en-US" altLang="en-US" sz="160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l">
                <a:lnSpc>
                  <a:spcPct val="100000"/>
                </a:lnSpc>
                <a:spcBef>
                  <a:spcPct val="30000"/>
                </a:spcBef>
              </a:pP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How can I assure that 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my process output meets</a:t>
              </a:r>
              <a:b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the needs of my customer?</a:t>
              </a:r>
              <a:endParaRPr lang="en-US" altLang="en-US" sz="1600" b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CBC09A4B-FDE2-252B-1BA4-390EFA4B3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226" y="2397125"/>
              <a:ext cx="1082348" cy="316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</a:t>
              </a:r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9B691215-7814-FC67-07BD-E16126DDB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050" y="2787650"/>
              <a:ext cx="1741488" cy="1973263"/>
            </a:xfrm>
            <a:prstGeom prst="rect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</a:t>
              </a:r>
            </a:p>
            <a:p>
              <a:b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Agree on the</a:t>
              </a:r>
              <a:b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beginning</a:t>
              </a:r>
              <a:b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and end of</a:t>
              </a:r>
              <a:b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 process</a:t>
              </a:r>
              <a:b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be</a:t>
              </a:r>
              <a:b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analyzed</a:t>
              </a:r>
              <a:endParaRPr lang="en-US" altLang="en-U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A0B8E006-EFD4-7902-294C-9A16B1B71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850" y="1800225"/>
              <a:ext cx="0" cy="38893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" name="Line 13">
              <a:extLst>
                <a:ext uri="{FF2B5EF4-FFF2-40B4-BE49-F238E27FC236}">
                  <a16:creationId xmlns:a16="http://schemas.microsoft.com/office/drawing/2014/main" id="{F2A37B56-2A7C-E575-6E19-9717AE617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5613" y="1781175"/>
              <a:ext cx="0" cy="38893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0845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20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201997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Brainstorming and Storyboarding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Identify the process using brainstorming and storyboarding techniques</a:t>
            </a:r>
          </a:p>
          <a:p>
            <a:r>
              <a:rPr lang="en-US" dirty="0"/>
              <a:t>Start rapidly writing process steps on cards and placing them on the wall</a:t>
            </a:r>
          </a:p>
          <a:p>
            <a:pPr lvl="1"/>
            <a:r>
              <a:rPr lang="en-US" dirty="0"/>
              <a:t>Don’t try to establish order</a:t>
            </a:r>
          </a:p>
          <a:p>
            <a:pPr lvl="1"/>
            <a:r>
              <a:rPr lang="en-US" dirty="0"/>
              <a:t>Don’t use different colored cards or symbols</a:t>
            </a:r>
          </a:p>
          <a:p>
            <a:pPr lvl="1"/>
            <a:r>
              <a:rPr lang="en-US" dirty="0"/>
              <a:t>Don’t discuss process steps in detail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21</a:t>
            </a:fld>
            <a:endParaRPr lang="en-US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0D0BE246-4BF4-49FD-CCF6-0FF3CC1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796" y="2754312"/>
            <a:ext cx="285750" cy="2493963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12" name="Picture 65" descr="bigstockphoto_Hand_Holding_Yellow_Post-it_253587">
            <a:extLst>
              <a:ext uri="{FF2B5EF4-FFF2-40B4-BE49-F238E27FC236}">
                <a16:creationId xmlns:a16="http://schemas.microsoft.com/office/drawing/2014/main" id="{84FB67EC-E9EE-764A-2BDF-75A25611BD8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958" y="1715593"/>
            <a:ext cx="2980394" cy="3979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A766C45-3A68-186C-55A1-15C46D220A47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BBF98CE-E9B8-0877-B5FD-35C7124F58C7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9" name="AutoShape 9">
                <a:extLst>
                  <a:ext uri="{FF2B5EF4-FFF2-40B4-BE49-F238E27FC236}">
                    <a16:creationId xmlns:a16="http://schemas.microsoft.com/office/drawing/2014/main" id="{9AC820F5-6636-2EEC-B9DA-638DF9340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20" name="AutoShape 11">
                <a:extLst>
                  <a:ext uri="{FF2B5EF4-FFF2-40B4-BE49-F238E27FC236}">
                    <a16:creationId xmlns:a16="http://schemas.microsoft.com/office/drawing/2014/main" id="{39CECBAE-38A5-2201-9C8B-85259730A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AutoShape 10">
                <a:extLst>
                  <a:ext uri="{FF2B5EF4-FFF2-40B4-BE49-F238E27FC236}">
                    <a16:creationId xmlns:a16="http://schemas.microsoft.com/office/drawing/2014/main" id="{40C30433-939A-3D97-00EE-93410A7FE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292B5B-69D0-F7E0-A472-B475C1E27F81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2323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Rules and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Be open ….. generate ideas freely and rapidly</a:t>
            </a:r>
          </a:p>
          <a:p>
            <a:r>
              <a:rPr lang="en-US" dirty="0"/>
              <a:t> Be positive, supportive, non-critical…..do not ‘criticize’ </a:t>
            </a:r>
          </a:p>
          <a:p>
            <a:r>
              <a:rPr lang="en-US" dirty="0"/>
              <a:t> Be willing to share your thoughts and feelings</a:t>
            </a:r>
          </a:p>
          <a:p>
            <a:r>
              <a:rPr lang="en-US" dirty="0"/>
              <a:t> Keep it simple</a:t>
            </a:r>
          </a:p>
          <a:p>
            <a:r>
              <a:rPr lang="en-US" dirty="0"/>
              <a:t> Team-play only</a:t>
            </a:r>
          </a:p>
          <a:p>
            <a:r>
              <a:rPr lang="en-US" dirty="0"/>
              <a:t> Build on the ideas of others</a:t>
            </a:r>
          </a:p>
          <a:p>
            <a:r>
              <a:rPr lang="en-US" dirty="0"/>
              <a:t> Try different and ‘wild’ directions</a:t>
            </a:r>
          </a:p>
          <a:p>
            <a:r>
              <a:rPr lang="en-US" dirty="0"/>
              <a:t> Avoid long discussions on any one idea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FF17C4-8872-C9BF-9ED1-4B2068DD802A}"/>
              </a:ext>
            </a:extLst>
          </p:cNvPr>
          <p:cNvGrpSpPr/>
          <p:nvPr/>
        </p:nvGrpSpPr>
        <p:grpSpPr>
          <a:xfrm>
            <a:off x="838200" y="297639"/>
            <a:ext cx="4024630" cy="301303"/>
            <a:chOff x="838200" y="297639"/>
            <a:chExt cx="4024630" cy="3013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4431419-AFA4-8063-3371-07298DAD2BD3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314E7EA5-9FC4-C1B9-B27D-C7604A92E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9" name="AutoShape 11">
                <a:extLst>
                  <a:ext uri="{FF2B5EF4-FFF2-40B4-BE49-F238E27FC236}">
                    <a16:creationId xmlns:a16="http://schemas.microsoft.com/office/drawing/2014/main" id="{B65D9851-206F-5D04-B7D7-8426605AA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809BCF7A-B51A-70BC-3A37-B8B4C1C98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80A58D-FFAC-392C-033D-AE23E516CBF4}"/>
                </a:ext>
              </a:extLst>
            </p:cNvPr>
            <p:cNvSpPr txBox="1"/>
            <p:nvPr/>
          </p:nvSpPr>
          <p:spPr>
            <a:xfrm>
              <a:off x="1994872" y="307580"/>
              <a:ext cx="286795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Definition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190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23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763065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Current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a flowchart to arrange the process steps in time sequence</a:t>
            </a:r>
          </a:p>
          <a:p>
            <a:r>
              <a:rPr lang="en-US" dirty="0"/>
              <a:t>Document current process and identify customer/supplier relationships</a:t>
            </a:r>
          </a:p>
          <a:p>
            <a:r>
              <a:rPr lang="en-US" dirty="0"/>
              <a:t>Document the current way things are actually done, not the ideal, in order to identify opportunities</a:t>
            </a:r>
          </a:p>
          <a:p>
            <a:r>
              <a:rPr lang="en-US" dirty="0"/>
              <a:t>Keep a record of problems, ideas or suggestions for change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24</a:t>
            </a:fld>
            <a:endParaRPr lang="en-US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0D0BE246-4BF4-49FD-CCF6-0FF3CC1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796" y="2754312"/>
            <a:ext cx="285750" cy="2493963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C0E39A-47BC-C8E9-CD97-F7B648E71110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67CA3D-181D-A86A-9345-07A4F4307712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6" name="AutoShape 9">
                <a:extLst>
                  <a:ext uri="{FF2B5EF4-FFF2-40B4-BE49-F238E27FC236}">
                    <a16:creationId xmlns:a16="http://schemas.microsoft.com/office/drawing/2014/main" id="{42C9192B-D338-45C4-0BD7-9310E4910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1">
                <a:extLst>
                  <a:ext uri="{FF2B5EF4-FFF2-40B4-BE49-F238E27FC236}">
                    <a16:creationId xmlns:a16="http://schemas.microsoft.com/office/drawing/2014/main" id="{A07A9EE5-CBB7-246B-D41B-EF65F337B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AutoShape 10">
                <a:extLst>
                  <a:ext uri="{FF2B5EF4-FFF2-40B4-BE49-F238E27FC236}">
                    <a16:creationId xmlns:a16="http://schemas.microsoft.com/office/drawing/2014/main" id="{FB5968D7-AFD0-101A-C39A-0B7F0F0D3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1FF60A-56BC-7833-15D8-D9482481D897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pic>
        <p:nvPicPr>
          <p:cNvPr id="20" name="Picture 6" descr="bigstockphoto_Process_Management_539400">
            <a:extLst>
              <a:ext uri="{FF2B5EF4-FFF2-40B4-BE49-F238E27FC236}">
                <a16:creationId xmlns:a16="http://schemas.microsoft.com/office/drawing/2014/main" id="{D6496084-E2AF-F3C0-7D2B-D002E9B6397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112" y="1905032"/>
            <a:ext cx="2779776" cy="4192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4221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the input that initiates the process</a:t>
            </a:r>
          </a:p>
          <a:p>
            <a:r>
              <a:rPr lang="en-US" dirty="0"/>
              <a:t>Ask, “What happens next?”</a:t>
            </a:r>
          </a:p>
          <a:p>
            <a:r>
              <a:rPr lang="en-US" dirty="0"/>
              <a:t>Record each step in boxes flowing from left to right or top to bottom. Put in arrows to show the flow of the process</a:t>
            </a:r>
          </a:p>
          <a:p>
            <a:r>
              <a:rPr lang="en-US" dirty="0"/>
              <a:t>When the flow can go in two directions, draw a diamond around a yes/no question and put in two arrows to show the two directions</a:t>
            </a:r>
          </a:p>
          <a:p>
            <a:r>
              <a:rPr lang="en-US" dirty="0"/>
              <a:t>Make sure each branch of the flow chart is complete</a:t>
            </a:r>
          </a:p>
          <a:p>
            <a:r>
              <a:rPr lang="en-US" dirty="0"/>
              <a:t>Always sign and date the flow chart for future reference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14B7AA-81BC-A5C0-FF39-0E3F92C0C831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9E5B26-1E17-9766-6183-83DC320724E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4" name="AutoShape 9">
                <a:extLst>
                  <a:ext uri="{FF2B5EF4-FFF2-40B4-BE49-F238E27FC236}">
                    <a16:creationId xmlns:a16="http://schemas.microsoft.com/office/drawing/2014/main" id="{C7C22B3A-6E79-1166-B2A3-9BABA3986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5" name="AutoShape 11">
                <a:extLst>
                  <a:ext uri="{FF2B5EF4-FFF2-40B4-BE49-F238E27FC236}">
                    <a16:creationId xmlns:a16="http://schemas.microsoft.com/office/drawing/2014/main" id="{7363FECE-B577-D973-258F-4E31329C4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0">
                <a:extLst>
                  <a:ext uri="{FF2B5EF4-FFF2-40B4-BE49-F238E27FC236}">
                    <a16:creationId xmlns:a16="http://schemas.microsoft.com/office/drawing/2014/main" id="{8456DDCF-A3E3-0E53-147C-66F5A7C17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5B047E-60D7-14AB-A754-2DA780BD7B69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4884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 Diagramming Symbols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26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D3EDC9-6649-AE08-358B-499EAC734274}"/>
              </a:ext>
            </a:extLst>
          </p:cNvPr>
          <p:cNvGrpSpPr/>
          <p:nvPr/>
        </p:nvGrpSpPr>
        <p:grpSpPr>
          <a:xfrm>
            <a:off x="890286" y="1847704"/>
            <a:ext cx="10411428" cy="4328427"/>
            <a:chOff x="457200" y="1542604"/>
            <a:chExt cx="8199972" cy="4558606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EE6ED29B-C1B4-6791-76CB-B189AAC5D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338" y="1762125"/>
              <a:ext cx="976312" cy="485775"/>
            </a:xfrm>
            <a:prstGeom prst="rightArrow">
              <a:avLst>
                <a:gd name="adj1" fmla="val 50000"/>
                <a:gd name="adj2" fmla="val 50245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1" name="Group 4">
              <a:extLst>
                <a:ext uri="{FF2B5EF4-FFF2-40B4-BE49-F238E27FC236}">
                  <a16:creationId xmlns:a16="http://schemas.microsoft.com/office/drawing/2014/main" id="{0AE02C5F-88AE-30A1-F6A1-21D576460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8013" y="1604963"/>
              <a:ext cx="3336925" cy="914400"/>
              <a:chOff x="383" y="1056"/>
              <a:chExt cx="2102" cy="576"/>
            </a:xfrm>
          </p:grpSpPr>
          <p:sp>
            <p:nvSpPr>
              <p:cNvPr id="12" name="Oval 5">
                <a:extLst>
                  <a:ext uri="{FF2B5EF4-FFF2-40B4-BE49-F238E27FC236}">
                    <a16:creationId xmlns:a16="http://schemas.microsoft.com/office/drawing/2014/main" id="{3A4F0ACE-CA07-1D00-70B2-523BCEF416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" y="1056"/>
                <a:ext cx="576" cy="57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3" name="Text Box 6">
                <a:extLst>
                  <a:ext uri="{FF2B5EF4-FFF2-40B4-BE49-F238E27FC236}">
                    <a16:creationId xmlns:a16="http://schemas.microsoft.com/office/drawing/2014/main" id="{D407FB7B-C809-A395-BFB3-1E6F62FF33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074"/>
                <a:ext cx="1333" cy="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Operation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A Step in the process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that adds value.</a:t>
                </a:r>
              </a:p>
            </p:txBody>
          </p:sp>
        </p:grpSp>
        <p:grpSp>
          <p:nvGrpSpPr>
            <p:cNvPr id="14" name="Group 7">
              <a:extLst>
                <a:ext uri="{FF2B5EF4-FFF2-40B4-BE49-F238E27FC236}">
                  <a16:creationId xmlns:a16="http://schemas.microsoft.com/office/drawing/2014/main" id="{B275BA4E-16D2-24A2-F0C5-F54F4A967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8013" y="2884488"/>
              <a:ext cx="3675062" cy="1069975"/>
              <a:chOff x="383" y="2120"/>
              <a:chExt cx="2315" cy="674"/>
            </a:xfrm>
          </p:grpSpPr>
          <p:sp>
            <p:nvSpPr>
              <p:cNvPr id="15" name="Rectangle 8">
                <a:extLst>
                  <a:ext uri="{FF2B5EF4-FFF2-40B4-BE49-F238E27FC236}">
                    <a16:creationId xmlns:a16="http://schemas.microsoft.com/office/drawing/2014/main" id="{0774CA36-B269-99C6-DFB8-FE31559F2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" y="2160"/>
                <a:ext cx="576" cy="5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6" name="Text Box 9">
                <a:extLst>
                  <a:ext uri="{FF2B5EF4-FFF2-40B4-BE49-F238E27FC236}">
                    <a16:creationId xmlns:a16="http://schemas.microsoft.com/office/drawing/2014/main" id="{38CBBED5-756E-0132-ADD1-0B40417096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2120"/>
                <a:ext cx="1546" cy="6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Measurement</a:t>
                </a:r>
                <a:endPara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To inspect, verify, count,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examine, gage for quality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or quantity.</a:t>
                </a:r>
              </a:p>
            </p:txBody>
          </p:sp>
        </p:grp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D31879AF-AA83-6257-E940-FC8C247C1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075" y="1542604"/>
              <a:ext cx="2638864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Transportation</a:t>
              </a:r>
              <a:endParaRPr lang="en-US" altLang="en-US" sz="16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move from one place to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another. (Not part of an 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operation or inspection.</a:t>
              </a:r>
            </a:p>
          </p:txBody>
        </p:sp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A1396173-2FF8-30DD-02A5-DF54DFE26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5338" y="2895600"/>
              <a:ext cx="976312" cy="485775"/>
              <a:chOff x="4416" y="1488"/>
              <a:chExt cx="615" cy="306"/>
            </a:xfrm>
          </p:grpSpPr>
          <p:sp>
            <p:nvSpPr>
              <p:cNvPr id="19" name="AutoShape 12">
                <a:extLst>
                  <a:ext uri="{FF2B5EF4-FFF2-40B4-BE49-F238E27FC236}">
                    <a16:creationId xmlns:a16="http://schemas.microsoft.com/office/drawing/2014/main" id="{5370EA41-3851-FA51-F848-BABE2BBA7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488"/>
                <a:ext cx="615" cy="306"/>
              </a:xfrm>
              <a:prstGeom prst="rightArrow">
                <a:avLst>
                  <a:gd name="adj1" fmla="val 50000"/>
                  <a:gd name="adj2" fmla="val 50245"/>
                </a:avLst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0" name="Freeform 13">
                <a:extLst>
                  <a:ext uri="{FF2B5EF4-FFF2-40B4-BE49-F238E27FC236}">
                    <a16:creationId xmlns:a16="http://schemas.microsoft.com/office/drawing/2014/main" id="{6E3B1AA6-F8E0-13A0-C3F6-FE5DBC02D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2" y="1566"/>
                <a:ext cx="70" cy="155"/>
              </a:xfrm>
              <a:custGeom>
                <a:avLst/>
                <a:gdLst>
                  <a:gd name="T0" fmla="*/ 48 w 70"/>
                  <a:gd name="T1" fmla="*/ 0 h 155"/>
                  <a:gd name="T2" fmla="*/ 42 w 70"/>
                  <a:gd name="T3" fmla="*/ 42 h 155"/>
                  <a:gd name="T4" fmla="*/ 0 w 70"/>
                  <a:gd name="T5" fmla="*/ 78 h 155"/>
                  <a:gd name="T6" fmla="*/ 48 w 70"/>
                  <a:gd name="T7" fmla="*/ 84 h 155"/>
                  <a:gd name="T8" fmla="*/ 24 w 70"/>
                  <a:gd name="T9" fmla="*/ 108 h 155"/>
                  <a:gd name="T10" fmla="*/ 48 w 70"/>
                  <a:gd name="T11" fmla="*/ 132 h 155"/>
                  <a:gd name="T12" fmla="*/ 30 w 70"/>
                  <a:gd name="T13" fmla="*/ 144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0" h="155">
                    <a:moveTo>
                      <a:pt x="48" y="0"/>
                    </a:moveTo>
                    <a:cubicBezTo>
                      <a:pt x="36" y="35"/>
                      <a:pt x="7" y="19"/>
                      <a:pt x="42" y="42"/>
                    </a:cubicBezTo>
                    <a:cubicBezTo>
                      <a:pt x="20" y="57"/>
                      <a:pt x="25" y="70"/>
                      <a:pt x="0" y="78"/>
                    </a:cubicBezTo>
                    <a:cubicBezTo>
                      <a:pt x="16" y="80"/>
                      <a:pt x="34" y="76"/>
                      <a:pt x="48" y="84"/>
                    </a:cubicBezTo>
                    <a:cubicBezTo>
                      <a:pt x="70" y="96"/>
                      <a:pt x="32" y="105"/>
                      <a:pt x="24" y="108"/>
                    </a:cubicBezTo>
                    <a:cubicBezTo>
                      <a:pt x="8" y="155"/>
                      <a:pt x="22" y="93"/>
                      <a:pt x="48" y="132"/>
                    </a:cubicBezTo>
                    <a:cubicBezTo>
                      <a:pt x="52" y="138"/>
                      <a:pt x="30" y="144"/>
                      <a:pt x="30" y="144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defRPr/>
                </a:pPr>
                <a:endParaRPr 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21" name="Text Box 14">
              <a:extLst>
                <a:ext uri="{FF2B5EF4-FFF2-40B4-BE49-F238E27FC236}">
                  <a16:creationId xmlns:a16="http://schemas.microsoft.com/office/drawing/2014/main" id="{2B8958B2-227C-17E4-63CC-802F37E31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075" y="2770615"/>
              <a:ext cx="229421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Transmission</a:t>
              </a:r>
              <a:endParaRPr lang="en-US" altLang="en-US" sz="16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send information by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electronic means.</a:t>
              </a:r>
            </a:p>
          </p:txBody>
        </p:sp>
        <p:sp>
          <p:nvSpPr>
            <p:cNvPr id="22" name="AutoShape 15">
              <a:extLst>
                <a:ext uri="{FF2B5EF4-FFF2-40B4-BE49-F238E27FC236}">
                  <a16:creationId xmlns:a16="http://schemas.microsoft.com/office/drawing/2014/main" id="{4FB3FE8F-C4A5-0778-AF9F-F3027F847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1388" y="4130675"/>
              <a:ext cx="685800" cy="685800"/>
            </a:xfrm>
            <a:prstGeom prst="flowChartMerg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CCBD4FCC-92DD-5C11-E2A7-EF6528960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075" y="3946525"/>
              <a:ext cx="2106613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Storage</a:t>
              </a:r>
              <a:endParaRPr lang="en-US" altLang="en-US" sz="16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hold for later use. </a:t>
              </a:r>
              <a:b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(I.e., in a queue).</a:t>
              </a:r>
            </a:p>
          </p:txBody>
        </p:sp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E7C50CFC-7064-95CE-4C12-1D1D3368E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488" y="5273675"/>
              <a:ext cx="609600" cy="609600"/>
            </a:xfrm>
            <a:prstGeom prst="flowChartDelay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25" name="Group 18">
              <a:extLst>
                <a:ext uri="{FF2B5EF4-FFF2-40B4-BE49-F238E27FC236}">
                  <a16:creationId xmlns:a16="http://schemas.microsoft.com/office/drawing/2014/main" id="{99BB3104-7A64-C58E-9A19-B824A84C0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4098925"/>
              <a:ext cx="4114800" cy="1308100"/>
              <a:chOff x="288" y="3176"/>
              <a:chExt cx="2592" cy="824"/>
            </a:xfrm>
          </p:grpSpPr>
          <p:sp>
            <p:nvSpPr>
              <p:cNvPr id="26" name="AutoShape 19">
                <a:extLst>
                  <a:ext uri="{FF2B5EF4-FFF2-40B4-BE49-F238E27FC236}">
                    <a16:creationId xmlns:a16="http://schemas.microsoft.com/office/drawing/2014/main" id="{FF003736-0DC8-E344-5372-A01B2030E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235"/>
                <a:ext cx="765" cy="765"/>
              </a:xfrm>
              <a:prstGeom prst="diamond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7" name="Text Box 20">
                <a:extLst>
                  <a:ext uri="{FF2B5EF4-FFF2-40B4-BE49-F238E27FC236}">
                    <a16:creationId xmlns:a16="http://schemas.microsoft.com/office/drawing/2014/main" id="{55C4F8E8-BD4C-0B4D-430C-EDF3EC5FFA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176"/>
                <a:ext cx="1728" cy="6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Decision</a:t>
                </a:r>
                <a:endPara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A step in the process where 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a change in the flow may </a:t>
                </a:r>
              </a:p>
              <a:p>
                <a:pPr algn="l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occur. </a:t>
                </a:r>
              </a:p>
            </p:txBody>
          </p:sp>
        </p:grpSp>
        <p:sp>
          <p:nvSpPr>
            <p:cNvPr id="28" name="Text Box 21">
              <a:extLst>
                <a:ext uri="{FF2B5EF4-FFF2-40B4-BE49-F238E27FC236}">
                  <a16:creationId xmlns:a16="http://schemas.microsoft.com/office/drawing/2014/main" id="{48E45B97-DC86-ABBA-85BA-09863F986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075" y="5023992"/>
              <a:ext cx="2977097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Delay</a:t>
              </a:r>
              <a:endParaRPr lang="en-US" altLang="en-US" sz="16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wait for the next operation. 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(I.e., in a queue).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No value added.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5D45630-B4AB-B37B-2BA4-CDD89B6A3527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E1D6F2B-53DA-6347-DDEC-34CFB2777384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33" name="AutoShape 9">
                <a:extLst>
                  <a:ext uri="{FF2B5EF4-FFF2-40B4-BE49-F238E27FC236}">
                    <a16:creationId xmlns:a16="http://schemas.microsoft.com/office/drawing/2014/main" id="{E3542C9C-A7E1-1CC5-46F4-51BBB4B90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4" name="AutoShape 11">
                <a:extLst>
                  <a:ext uri="{FF2B5EF4-FFF2-40B4-BE49-F238E27FC236}">
                    <a16:creationId xmlns:a16="http://schemas.microsoft.com/office/drawing/2014/main" id="{2949C7FB-DCFF-7611-6295-8C10D156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AutoShape 10">
                <a:extLst>
                  <a:ext uri="{FF2B5EF4-FFF2-40B4-BE49-F238E27FC236}">
                    <a16:creationId xmlns:a16="http://schemas.microsoft.com/office/drawing/2014/main" id="{2B035279-E45B-A91D-F35E-FEF327FA5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6B0910-8F72-EBF9-D203-01438EDD20A3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3499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Performed in Series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27</a:t>
            </a:fld>
            <a:endParaRPr lang="en-US"/>
          </a:p>
        </p:txBody>
      </p:sp>
      <p:pic>
        <p:nvPicPr>
          <p:cNvPr id="30" name="Picture 59" descr="flow">
            <a:extLst>
              <a:ext uri="{FF2B5EF4-FFF2-40B4-BE49-F238E27FC236}">
                <a16:creationId xmlns:a16="http://schemas.microsoft.com/office/drawing/2014/main" id="{20B6B27A-28D3-586C-97B0-E63F33B81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42" y="2085432"/>
            <a:ext cx="10272916" cy="382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7D81856-0127-883D-3A63-93A777955869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38B2871-BD91-6C5B-DF2C-01194E3B76C9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34" name="AutoShape 9">
                <a:extLst>
                  <a:ext uri="{FF2B5EF4-FFF2-40B4-BE49-F238E27FC236}">
                    <a16:creationId xmlns:a16="http://schemas.microsoft.com/office/drawing/2014/main" id="{FC97E219-39F4-E8A8-8336-4247BD596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5" name="AutoShape 11">
                <a:extLst>
                  <a:ext uri="{FF2B5EF4-FFF2-40B4-BE49-F238E27FC236}">
                    <a16:creationId xmlns:a16="http://schemas.microsoft.com/office/drawing/2014/main" id="{273E60B1-3F21-64D6-0BEA-8920A1728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AutoShape 10">
                <a:extLst>
                  <a:ext uri="{FF2B5EF4-FFF2-40B4-BE49-F238E27FC236}">
                    <a16:creationId xmlns:a16="http://schemas.microsoft.com/office/drawing/2014/main" id="{7F4D2FFA-D468-17C3-4777-8713FD67E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502F5D-E796-7D10-98BF-CCA08B96F2E9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739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Performed in Parallel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28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8E19E4-B1C3-932B-BB0C-29ABB0B98AC9}"/>
              </a:ext>
            </a:extLst>
          </p:cNvPr>
          <p:cNvGrpSpPr/>
          <p:nvPr/>
        </p:nvGrpSpPr>
        <p:grpSpPr>
          <a:xfrm>
            <a:off x="997063" y="2020747"/>
            <a:ext cx="10197874" cy="3986514"/>
            <a:chOff x="486527" y="1905000"/>
            <a:chExt cx="8149473" cy="3581400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B0D248F6-145B-60A8-D93A-6E6B04AD05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>
              <a:off x="4568826" y="2925762"/>
              <a:ext cx="1219200" cy="1082675"/>
            </a:xfrm>
            <a:prstGeom prst="rightArrow">
              <a:avLst>
                <a:gd name="adj1" fmla="val 50000"/>
                <a:gd name="adj2" fmla="val 28152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Oval 4">
              <a:extLst>
                <a:ext uri="{FF2B5EF4-FFF2-40B4-BE49-F238E27FC236}">
                  <a16:creationId xmlns:a16="http://schemas.microsoft.com/office/drawing/2014/main" id="{7E4195A8-2CB2-F874-EA31-A813FC38D2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43100" y="4487863"/>
              <a:ext cx="998538" cy="998537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4AFEA184-1BB8-76DB-E34D-844300901D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088" y="4475163"/>
              <a:ext cx="1073150" cy="914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" name="AutoShape 6">
              <a:extLst>
                <a:ext uri="{FF2B5EF4-FFF2-40B4-BE49-F238E27FC236}">
                  <a16:creationId xmlns:a16="http://schemas.microsoft.com/office/drawing/2014/main" id="{D74716A8-AA93-E47C-090D-BA9EA3DC79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302500" y="1905000"/>
              <a:ext cx="1333500" cy="1082675"/>
            </a:xfrm>
            <a:prstGeom prst="rightArrow">
              <a:avLst>
                <a:gd name="adj1" fmla="val 50000"/>
                <a:gd name="adj2" fmla="val 30792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E8D2B89A-C6F9-BEAF-C82A-2376A68EB8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17838" y="2476500"/>
              <a:ext cx="476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Oval 8">
              <a:extLst>
                <a:ext uri="{FF2B5EF4-FFF2-40B4-BE49-F238E27FC236}">
                  <a16:creationId xmlns:a16="http://schemas.microsoft.com/office/drawing/2014/main" id="{E949659A-C60F-C714-B43F-49EA1DD62E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22838" y="2190750"/>
              <a:ext cx="476250" cy="4556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3C2F8244-2BA6-509C-A177-D92171B9D7F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039932" y="2280308"/>
              <a:ext cx="243650" cy="2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EFAAE9F7-0288-1B7A-9241-C6E6499A59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9963" y="2000250"/>
              <a:ext cx="946150" cy="827088"/>
            </a:xfrm>
            <a:prstGeom prst="flowChartDelay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38F55EA8-2BFD-BA5C-4763-C840491CCD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71675" y="2000250"/>
              <a:ext cx="1073150" cy="914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E61769FF-C04A-54E3-F15B-D8EA2EC2FA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5300" y="200025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2D60CEF3-3EC1-699E-4896-0CE63D849D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00750" y="2017713"/>
              <a:ext cx="914400" cy="914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Text Box 14">
              <a:extLst>
                <a:ext uri="{FF2B5EF4-FFF2-40B4-BE49-F238E27FC236}">
                  <a16:creationId xmlns:a16="http://schemas.microsoft.com/office/drawing/2014/main" id="{1BB4ADDB-1C91-7A17-DB64-B7DF2CF9CC5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059678" y="2145495"/>
              <a:ext cx="812419" cy="66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Insert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report In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Envelopes</a:t>
              </a:r>
            </a:p>
          </p:txBody>
        </p:sp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9306C2E9-85F9-5F5E-8013-A1FAFA0599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5300" y="4475163"/>
              <a:ext cx="914400" cy="914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336C985B-A7B5-02CE-A98E-46AC7A57453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00175" y="4951413"/>
              <a:ext cx="6667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555E9D8C-344A-F50C-C970-D3FD34A7844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99088" y="2476500"/>
              <a:ext cx="588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DA53E00E-12EA-4317-30E5-F6B0F5097A2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46588" y="2476500"/>
              <a:ext cx="476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8A25BAF7-5FEF-DA99-BE14-A2FB7D46EAB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940550" y="2476500"/>
              <a:ext cx="3889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94AE7C5F-C70E-CA81-1B74-B83510F579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541838" y="4951413"/>
              <a:ext cx="6667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C62718DB-789E-2C5E-5F6F-CBD5D536B1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08588" y="4094163"/>
              <a:ext cx="0" cy="857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3147ACD0-2082-DF17-4166-BE6EB48BDB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00175" y="2476500"/>
              <a:ext cx="571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912F9592-1BF7-668A-6934-0316FD4AFF8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52544" y="2241477"/>
              <a:ext cx="579275" cy="47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Type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Report</a:t>
              </a:r>
            </a:p>
          </p:txBody>
        </p:sp>
        <p:sp>
          <p:nvSpPr>
            <p:cNvPr id="32" name="Text Box 24">
              <a:extLst>
                <a:ext uri="{FF2B5EF4-FFF2-40B4-BE49-F238E27FC236}">
                  <a16:creationId xmlns:a16="http://schemas.microsoft.com/office/drawing/2014/main" id="{53801AFA-F536-E57A-C89F-555F9A393E2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261578" y="2308086"/>
              <a:ext cx="1333500" cy="2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Mail Reports</a:t>
              </a:r>
            </a:p>
          </p:txBody>
        </p:sp>
        <p:sp>
          <p:nvSpPr>
            <p:cNvPr id="33" name="Text Box 25">
              <a:extLst>
                <a:ext uri="{FF2B5EF4-FFF2-40B4-BE49-F238E27FC236}">
                  <a16:creationId xmlns:a16="http://schemas.microsoft.com/office/drawing/2014/main" id="{53D871A5-FC9C-1A05-4D07-1F700D326BE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60051" y="2241477"/>
              <a:ext cx="540845" cy="47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Proof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Read</a:t>
              </a:r>
            </a:p>
          </p:txBody>
        </p:sp>
        <p:sp>
          <p:nvSpPr>
            <p:cNvPr id="34" name="Text Box 26">
              <a:extLst>
                <a:ext uri="{FF2B5EF4-FFF2-40B4-BE49-F238E27FC236}">
                  <a16:creationId xmlns:a16="http://schemas.microsoft.com/office/drawing/2014/main" id="{0246A1F3-B21F-E19D-D1C8-F1EECB1880E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21328" y="2081994"/>
              <a:ext cx="726591" cy="66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Submit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Approval</a:t>
              </a:r>
            </a:p>
          </p:txBody>
        </p:sp>
        <p:sp>
          <p:nvSpPr>
            <p:cNvPr id="35" name="Text Box 27">
              <a:extLst>
                <a:ext uri="{FF2B5EF4-FFF2-40B4-BE49-F238E27FC236}">
                  <a16:creationId xmlns:a16="http://schemas.microsoft.com/office/drawing/2014/main" id="{B114AECE-661D-2312-7F58-542A3FF2A8B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6527" y="4636281"/>
              <a:ext cx="903372" cy="66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Obtain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Distribution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list</a:t>
              </a:r>
            </a:p>
          </p:txBody>
        </p:sp>
        <p:sp>
          <p:nvSpPr>
            <p:cNvPr id="36" name="Text Box 28">
              <a:extLst>
                <a:ext uri="{FF2B5EF4-FFF2-40B4-BE49-F238E27FC236}">
                  <a16:creationId xmlns:a16="http://schemas.microsoft.com/office/drawing/2014/main" id="{27E8A9C3-6786-B72D-FA1C-8FC5ABCCF9F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49388" y="4506963"/>
              <a:ext cx="836759" cy="85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Type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Addresses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on </a:t>
              </a:r>
              <a:b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Envelopes</a:t>
              </a:r>
            </a:p>
          </p:txBody>
        </p:sp>
        <p:sp>
          <p:nvSpPr>
            <p:cNvPr id="37" name="Line 29">
              <a:extLst>
                <a:ext uri="{FF2B5EF4-FFF2-40B4-BE49-F238E27FC236}">
                  <a16:creationId xmlns:a16="http://schemas.microsoft.com/office/drawing/2014/main" id="{842BEC52-3CAA-0FDF-097D-D51B5D3BDF2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22588" y="4951413"/>
              <a:ext cx="571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" name="Text Box 30">
              <a:extLst>
                <a:ext uri="{FF2B5EF4-FFF2-40B4-BE49-F238E27FC236}">
                  <a16:creationId xmlns:a16="http://schemas.microsoft.com/office/drawing/2014/main" id="{79ADFA9C-8A16-E486-C8B5-4B580C69753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29073" y="4716390"/>
              <a:ext cx="771428" cy="47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Check for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Errors</a:t>
              </a:r>
            </a:p>
          </p:txBody>
        </p:sp>
        <p:sp>
          <p:nvSpPr>
            <p:cNvPr id="39" name="Line 31">
              <a:extLst>
                <a:ext uri="{FF2B5EF4-FFF2-40B4-BE49-F238E27FC236}">
                  <a16:creationId xmlns:a16="http://schemas.microsoft.com/office/drawing/2014/main" id="{E78C73C5-A128-6BAB-92F6-0081D8ABE1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43500" y="2667000"/>
              <a:ext cx="0" cy="190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0" name="Text Box 32">
              <a:extLst>
                <a:ext uri="{FF2B5EF4-FFF2-40B4-BE49-F238E27FC236}">
                  <a16:creationId xmlns:a16="http://schemas.microsoft.com/office/drawing/2014/main" id="{CC86DDF6-F4C6-28A5-DDC6-2AA169DB40A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827317" y="3476552"/>
              <a:ext cx="800890" cy="47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Deliver to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Clerk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23C53E-9A1C-79A5-CA5D-04E5EB20044E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D68B4FD-7370-B150-43B1-2BB47AACA02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76ECD901-327B-BA55-284F-382E5EC6D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46" name="AutoShape 11">
                <a:extLst>
                  <a:ext uri="{FF2B5EF4-FFF2-40B4-BE49-F238E27FC236}">
                    <a16:creationId xmlns:a16="http://schemas.microsoft.com/office/drawing/2014/main" id="{83E5F158-2418-17E5-5E2F-3F8173462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AutoShape 10">
                <a:extLst>
                  <a:ext uri="{FF2B5EF4-FFF2-40B4-BE49-F238E27FC236}">
                    <a16:creationId xmlns:a16="http://schemas.microsoft.com/office/drawing/2014/main" id="{5B3BD4EB-D1A9-6571-1926-F6F8DE39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EAD1F0-0DBF-7A50-E79C-7F85DE2EDE26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2863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Performed Simultaneously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29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23C53E-9A1C-79A5-CA5D-04E5EB20044E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D68B4FD-7370-B150-43B1-2BB47AACA02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76ECD901-327B-BA55-284F-382E5EC6D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46" name="AutoShape 11">
                <a:extLst>
                  <a:ext uri="{FF2B5EF4-FFF2-40B4-BE49-F238E27FC236}">
                    <a16:creationId xmlns:a16="http://schemas.microsoft.com/office/drawing/2014/main" id="{83E5F158-2418-17E5-5E2F-3F8173462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AutoShape 10">
                <a:extLst>
                  <a:ext uri="{FF2B5EF4-FFF2-40B4-BE49-F238E27FC236}">
                    <a16:creationId xmlns:a16="http://schemas.microsoft.com/office/drawing/2014/main" id="{5B3BD4EB-D1A9-6571-1926-F6F8DE39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EAD1F0-0DBF-7A50-E79C-7F85DE2EDE26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64F4B7A-E5CF-383C-C057-06AF3DC0C538}"/>
              </a:ext>
            </a:extLst>
          </p:cNvPr>
          <p:cNvGrpSpPr/>
          <p:nvPr/>
        </p:nvGrpSpPr>
        <p:grpSpPr>
          <a:xfrm>
            <a:off x="1451276" y="2580611"/>
            <a:ext cx="9289447" cy="2859489"/>
            <a:chOff x="990600" y="2557463"/>
            <a:chExt cx="7053263" cy="217114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BD9F55D6-CF69-AC76-A9C2-38B73190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6688" y="2557463"/>
              <a:ext cx="1527175" cy="1357312"/>
            </a:xfrm>
            <a:prstGeom prst="rightArrow">
              <a:avLst>
                <a:gd name="adj1" fmla="val 50000"/>
                <a:gd name="adj2" fmla="val 28129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F5737C-0980-DD12-56C0-49D2A39CA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0100" y="2590800"/>
              <a:ext cx="1344613" cy="12795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EC7140B8-6C47-EA45-3721-D5E3D53CF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3200" y="3154363"/>
              <a:ext cx="5969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BCF11B-A72B-F7F8-4124-7CE6C0669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2590800"/>
              <a:ext cx="1344613" cy="12795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7E2B7D7-E132-A8AA-8534-4F0B6DDE0B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14413" y="2581275"/>
              <a:ext cx="1271587" cy="126523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20B3134-E261-1F1B-8CBF-0A0FA224AF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48200" y="2590800"/>
              <a:ext cx="1262063" cy="12636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0" name="Oval 9">
              <a:extLst>
                <a:ext uri="{FF2B5EF4-FFF2-40B4-BE49-F238E27FC236}">
                  <a16:creationId xmlns:a16="http://schemas.microsoft.com/office/drawing/2014/main" id="{9E1267B4-F0D0-F679-AFB1-CB03EB6E1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988" y="2557463"/>
              <a:ext cx="1146175" cy="114617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C66CEF8A-252D-135A-02B9-74D5AE1A3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600" y="3154363"/>
              <a:ext cx="5953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9" name="Text Box 11">
              <a:extLst>
                <a:ext uri="{FF2B5EF4-FFF2-40B4-BE49-F238E27FC236}">
                  <a16:creationId xmlns:a16="http://schemas.microsoft.com/office/drawing/2014/main" id="{B38EBCD8-7E35-D922-8674-A7D1336E3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4254" y="2831068"/>
              <a:ext cx="78418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Grind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and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Inspect</a:t>
              </a:r>
            </a:p>
          </p:txBody>
        </p:sp>
        <p:sp>
          <p:nvSpPr>
            <p:cNvPr id="50" name="Text Box 12">
              <a:extLst>
                <a:ext uri="{FF2B5EF4-FFF2-40B4-BE49-F238E27FC236}">
                  <a16:creationId xmlns:a16="http://schemas.microsoft.com/office/drawing/2014/main" id="{1FA7FA2B-08E5-3C02-7B51-A4A871790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1636" y="2761218"/>
              <a:ext cx="724878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Drill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Center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Hole</a:t>
              </a:r>
            </a:p>
          </p:txBody>
        </p:sp>
        <p:sp>
          <p:nvSpPr>
            <p:cNvPr id="51" name="Text Box 13">
              <a:extLst>
                <a:ext uri="{FF2B5EF4-FFF2-40B4-BE49-F238E27FC236}">
                  <a16:creationId xmlns:a16="http://schemas.microsoft.com/office/drawing/2014/main" id="{079CB002-883A-4965-062D-D55460294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821" y="2785031"/>
              <a:ext cx="1120820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Check for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Burrs While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Packaging</a:t>
              </a:r>
            </a:p>
          </p:txBody>
        </p:sp>
        <p:sp>
          <p:nvSpPr>
            <p:cNvPr id="52" name="Text Box 14">
              <a:extLst>
                <a:ext uri="{FF2B5EF4-FFF2-40B4-BE49-F238E27FC236}">
                  <a16:creationId xmlns:a16="http://schemas.microsoft.com/office/drawing/2014/main" id="{55BE52C5-4DDE-F3A4-4295-152D39D17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3018" y="3989943"/>
              <a:ext cx="102463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Transport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 next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Operation</a:t>
              </a:r>
            </a:p>
          </p:txBody>
        </p:sp>
        <p:sp>
          <p:nvSpPr>
            <p:cNvPr id="53" name="Line 15">
              <a:extLst>
                <a:ext uri="{FF2B5EF4-FFF2-40B4-BE49-F238E27FC236}">
                  <a16:creationId xmlns:a16="http://schemas.microsoft.com/office/drawing/2014/main" id="{7CA075AB-5388-A514-5CD1-61DC43BEB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3200400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3308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Hint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30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23C53E-9A1C-79A5-CA5D-04E5EB20044E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D68B4FD-7370-B150-43B1-2BB47AACA02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76ECD901-327B-BA55-284F-382E5EC6D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46" name="AutoShape 11">
                <a:extLst>
                  <a:ext uri="{FF2B5EF4-FFF2-40B4-BE49-F238E27FC236}">
                    <a16:creationId xmlns:a16="http://schemas.microsoft.com/office/drawing/2014/main" id="{83E5F158-2418-17E5-5E2F-3F8173462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AutoShape 10">
                <a:extLst>
                  <a:ext uri="{FF2B5EF4-FFF2-40B4-BE49-F238E27FC236}">
                    <a16:creationId xmlns:a16="http://schemas.microsoft.com/office/drawing/2014/main" id="{5B3BD4EB-D1A9-6571-1926-F6F8DE39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EAD1F0-0DBF-7A50-E79C-7F85DE2EDE26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EF819C-CBCA-6CFF-98BA-A36374AAFD4B}"/>
              </a:ext>
            </a:extLst>
          </p:cNvPr>
          <p:cNvGrpSpPr/>
          <p:nvPr/>
        </p:nvGrpSpPr>
        <p:grpSpPr>
          <a:xfrm>
            <a:off x="1266547" y="1997782"/>
            <a:ext cx="9658907" cy="4028271"/>
            <a:chOff x="479425" y="1597025"/>
            <a:chExt cx="8229600" cy="3432175"/>
          </a:xfrm>
        </p:grpSpPr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E19427C5-7E10-44B1-E761-D663D2D24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25" y="1597025"/>
              <a:ext cx="822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Segregate process steps by department or function</a:t>
              </a:r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0A32DD58-0166-2871-6ED4-5932E8B7D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363" y="3382963"/>
              <a:ext cx="965200" cy="882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A2BFD99A-DF85-BD32-F7E3-1A4374C78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032" y="3540453"/>
              <a:ext cx="82907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Inspect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Invoice</a:t>
              </a:r>
            </a:p>
          </p:txBody>
        </p:sp>
        <p:sp>
          <p:nvSpPr>
            <p:cNvPr id="13" name="Oval 6">
              <a:extLst>
                <a:ext uri="{FF2B5EF4-FFF2-40B4-BE49-F238E27FC236}">
                  <a16:creationId xmlns:a16="http://schemas.microsoft.com/office/drawing/2014/main" id="{1D94D7D5-1DE1-4A76-1CB1-1A4EFC8E9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3276600"/>
              <a:ext cx="990600" cy="9890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E0CACE26-4330-AF86-C17E-DCBC65FD8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1850" y="3382963"/>
              <a:ext cx="966788" cy="882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Oval 8">
              <a:extLst>
                <a:ext uri="{FF2B5EF4-FFF2-40B4-BE49-F238E27FC236}">
                  <a16:creationId xmlns:a16="http://schemas.microsoft.com/office/drawing/2014/main" id="{BC7A928B-3CA1-B7EF-F7E3-7F0E97A49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200400"/>
              <a:ext cx="990600" cy="10652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DEFADEA4-23F2-199A-04A9-CF7C3C397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6925" y="3382963"/>
              <a:ext cx="965200" cy="882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Oval 10">
              <a:extLst>
                <a:ext uri="{FF2B5EF4-FFF2-40B4-BE49-F238E27FC236}">
                  <a16:creationId xmlns:a16="http://schemas.microsoft.com/office/drawing/2014/main" id="{F4D42E83-186A-F009-2F60-D2D3849F5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2963" y="3200400"/>
              <a:ext cx="1036637" cy="10652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8A5B6646-C0A8-EC25-9160-83B9EFD22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3733800"/>
              <a:ext cx="22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A1944FBF-F053-9FE3-8EA5-ACA0F718A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3733800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D83E7CBA-35FE-9E50-2DC5-DD6A916EC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3733800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FE825BBE-88D5-8018-E537-EEAA413B8E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3733800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F3BDAA10-0FAF-69AF-ED6C-757A578AE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3810000"/>
              <a:ext cx="304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33EFF9D8-EDC4-B743-3F59-21DCC5821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560" y="3471395"/>
              <a:ext cx="10810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Enter into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System</a:t>
              </a:r>
            </a:p>
          </p:txBody>
        </p:sp>
        <p:sp>
          <p:nvSpPr>
            <p:cNvPr id="24" name="Text Box 17">
              <a:extLst>
                <a:ext uri="{FF2B5EF4-FFF2-40B4-BE49-F238E27FC236}">
                  <a16:creationId xmlns:a16="http://schemas.microsoft.com/office/drawing/2014/main" id="{7A3F7679-1E7D-4591-D1BF-A63D7F08D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163" y="3456543"/>
              <a:ext cx="784189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Inspect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Input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Report</a:t>
              </a:r>
            </a:p>
          </p:txBody>
        </p:sp>
        <p:sp>
          <p:nvSpPr>
            <p:cNvPr id="25" name="Text Box 18">
              <a:extLst>
                <a:ext uri="{FF2B5EF4-FFF2-40B4-BE49-F238E27FC236}">
                  <a16:creationId xmlns:a16="http://schemas.microsoft.com/office/drawing/2014/main" id="{ACA23113-2E1B-7C51-CCBF-A60BDC4A8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558" y="3509496"/>
              <a:ext cx="92365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Generate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Checks</a:t>
              </a:r>
            </a:p>
          </p:txBody>
        </p:sp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B64CE69C-E669-37A3-1A33-E4D6C03C5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7048" y="3548390"/>
              <a:ext cx="76495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Review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Budget</a:t>
              </a:r>
            </a:p>
          </p:txBody>
        </p:sp>
        <p:sp>
          <p:nvSpPr>
            <p:cNvPr id="27" name="Text Box 20">
              <a:extLst>
                <a:ext uri="{FF2B5EF4-FFF2-40B4-BE49-F238E27FC236}">
                  <a16:creationId xmlns:a16="http://schemas.microsoft.com/office/drawing/2014/main" id="{0EF1BF16-76B2-4C41-D846-ED5457A73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7470" y="3579117"/>
              <a:ext cx="90762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Approve</a:t>
              </a:r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E56F97AA-9C1F-ACB0-CBBC-14C9368B8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2514600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777AE1C5-DE3C-BB51-61CF-B0199F9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2514600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B176E24A-3ECD-71D4-C79E-6EE5E1177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218" y="2517775"/>
              <a:ext cx="20521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Accounts Payable</a:t>
              </a:r>
            </a:p>
          </p:txBody>
        </p:sp>
        <p:sp>
          <p:nvSpPr>
            <p:cNvPr id="32" name="Text Box 24">
              <a:extLst>
                <a:ext uri="{FF2B5EF4-FFF2-40B4-BE49-F238E27FC236}">
                  <a16:creationId xmlns:a16="http://schemas.microsoft.com/office/drawing/2014/main" id="{1FBB1CAE-694E-E48D-C3D4-80455CCE7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2869" y="2517775"/>
              <a:ext cx="5966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MIS</a:t>
              </a:r>
            </a:p>
          </p:txBody>
        </p:sp>
        <p:sp>
          <p:nvSpPr>
            <p:cNvPr id="33" name="Text Box 25">
              <a:extLst>
                <a:ext uri="{FF2B5EF4-FFF2-40B4-BE49-F238E27FC236}">
                  <a16:creationId xmlns:a16="http://schemas.microsoft.com/office/drawing/2014/main" id="{B302CC16-E233-D835-C053-ED61C9488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097" y="2517775"/>
              <a:ext cx="12202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Controller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8269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31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1331158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 the Process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Use this step to validate your flowchart</a:t>
            </a:r>
          </a:p>
          <a:p>
            <a:r>
              <a:rPr lang="en-US" dirty="0"/>
              <a:t>Note changes to your documented flow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32</a:t>
            </a:fld>
            <a:endParaRPr lang="en-US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0D0BE246-4BF4-49FD-CCF6-0FF3CC1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796" y="2754312"/>
            <a:ext cx="285750" cy="2493963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C0E39A-47BC-C8E9-CD97-F7B648E71110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67CA3D-181D-A86A-9345-07A4F4307712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6" name="AutoShape 9">
                <a:extLst>
                  <a:ext uri="{FF2B5EF4-FFF2-40B4-BE49-F238E27FC236}">
                    <a16:creationId xmlns:a16="http://schemas.microsoft.com/office/drawing/2014/main" id="{42C9192B-D338-45C4-0BD7-9310E4910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1">
                <a:extLst>
                  <a:ext uri="{FF2B5EF4-FFF2-40B4-BE49-F238E27FC236}">
                    <a16:creationId xmlns:a16="http://schemas.microsoft.com/office/drawing/2014/main" id="{A07A9EE5-CBB7-246B-D41B-EF65F337B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AutoShape 10">
                <a:extLst>
                  <a:ext uri="{FF2B5EF4-FFF2-40B4-BE49-F238E27FC236}">
                    <a16:creationId xmlns:a16="http://schemas.microsoft.com/office/drawing/2014/main" id="{FB5968D7-AFD0-101A-C39A-0B7F0F0D3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1FF60A-56BC-7833-15D8-D9482481D897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pic>
        <p:nvPicPr>
          <p:cNvPr id="7" name="Picture 10" descr="bigstockphoto_Walking_To_Work_1074964">
            <a:extLst>
              <a:ext uri="{FF2B5EF4-FFF2-40B4-BE49-F238E27FC236}">
                <a16:creationId xmlns:a16="http://schemas.microsoft.com/office/drawing/2014/main" id="{CBA9697E-F3F5-49F3-A3E2-C60801CC27B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46" y="2439948"/>
            <a:ext cx="4686623" cy="3122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6">
            <a:extLst>
              <a:ext uri="{FF2B5EF4-FFF2-40B4-BE49-F238E27FC236}">
                <a16:creationId xmlns:a16="http://schemas.microsoft.com/office/drawing/2014/main" id="{ED6D3973-B48E-7746-180B-5B4813F3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6119813"/>
            <a:ext cx="2073003" cy="166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" dirty="0">
                <a:latin typeface="Roboto" panose="02000000000000000000" pitchFamily="2" charset="0"/>
                <a:ea typeface="Roboto" panose="02000000000000000000" pitchFamily="2" charset="0"/>
              </a:rPr>
              <a:t>© Reprinted with permission from BigStockPhoto.com</a:t>
            </a:r>
          </a:p>
        </p:txBody>
      </p:sp>
    </p:spTree>
    <p:extLst>
      <p:ext uri="{BB962C8B-B14F-4D97-AF65-F5344CB8AC3E}">
        <p14:creationId xmlns:p14="http://schemas.microsoft.com/office/powerpoint/2010/main" val="2709966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33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3381256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the Map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Change the map to match the physical flow</a:t>
            </a:r>
          </a:p>
          <a:p>
            <a:r>
              <a:rPr lang="en-US" dirty="0"/>
              <a:t>Concentrate on how the process exists at this point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34</a:t>
            </a:fld>
            <a:endParaRPr lang="en-US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0D0BE246-4BF4-49FD-CCF6-0FF3CC1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796" y="2754312"/>
            <a:ext cx="285750" cy="2493963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C0E39A-47BC-C8E9-CD97-F7B648E71110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67CA3D-181D-A86A-9345-07A4F4307712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6" name="AutoShape 9">
                <a:extLst>
                  <a:ext uri="{FF2B5EF4-FFF2-40B4-BE49-F238E27FC236}">
                    <a16:creationId xmlns:a16="http://schemas.microsoft.com/office/drawing/2014/main" id="{42C9192B-D338-45C4-0BD7-9310E4910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1">
                <a:extLst>
                  <a:ext uri="{FF2B5EF4-FFF2-40B4-BE49-F238E27FC236}">
                    <a16:creationId xmlns:a16="http://schemas.microsoft.com/office/drawing/2014/main" id="{A07A9EE5-CBB7-246B-D41B-EF65F337B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AutoShape 10">
                <a:extLst>
                  <a:ext uri="{FF2B5EF4-FFF2-40B4-BE49-F238E27FC236}">
                    <a16:creationId xmlns:a16="http://schemas.microsoft.com/office/drawing/2014/main" id="{FB5968D7-AFD0-101A-C39A-0B7F0F0D3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1FF60A-56BC-7833-15D8-D9482481D897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8" name="Text Box 16">
            <a:extLst>
              <a:ext uri="{FF2B5EF4-FFF2-40B4-BE49-F238E27FC236}">
                <a16:creationId xmlns:a16="http://schemas.microsoft.com/office/drawing/2014/main" id="{ED6D3973-B48E-7746-180B-5B4813F3D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6119813"/>
            <a:ext cx="2073003" cy="166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600" dirty="0">
                <a:latin typeface="Roboto" panose="02000000000000000000" pitchFamily="2" charset="0"/>
                <a:ea typeface="Roboto" panose="02000000000000000000" pitchFamily="2" charset="0"/>
              </a:rPr>
              <a:t>© Reprinted with permission from BigStockPhoto.com</a:t>
            </a:r>
          </a:p>
        </p:txBody>
      </p:sp>
      <p:pic>
        <p:nvPicPr>
          <p:cNvPr id="9" name="Picture 10" descr="bigstockphoto_Business_Process_d_On_Blue_Ba_177693">
            <a:extLst>
              <a:ext uri="{FF2B5EF4-FFF2-40B4-BE49-F238E27FC236}">
                <a16:creationId xmlns:a16="http://schemas.microsoft.com/office/drawing/2014/main" id="{3F651049-5C69-54CA-23BE-9B3FF42F030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72" y="2309951"/>
            <a:ext cx="4416670" cy="3317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4330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35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27202174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that the maps are developed, ask the following questions</a:t>
            </a:r>
          </a:p>
          <a:p>
            <a:r>
              <a:rPr lang="en-US" dirty="0"/>
              <a:t>Based on your problem/opportunity statement:</a:t>
            </a:r>
          </a:p>
          <a:p>
            <a:pPr lvl="1"/>
            <a:r>
              <a:rPr lang="en-US" dirty="0"/>
              <a:t>Waste?</a:t>
            </a:r>
          </a:p>
          <a:p>
            <a:pPr lvl="1"/>
            <a:r>
              <a:rPr lang="en-US" dirty="0"/>
              <a:t>Delays?</a:t>
            </a:r>
          </a:p>
          <a:p>
            <a:pPr lvl="1"/>
            <a:r>
              <a:rPr lang="en-US" dirty="0"/>
              <a:t>Bad product?</a:t>
            </a:r>
          </a:p>
          <a:p>
            <a:pPr lvl="1"/>
            <a:r>
              <a:rPr lang="en-US" dirty="0"/>
              <a:t>Bad service?</a:t>
            </a:r>
          </a:p>
          <a:p>
            <a:pPr lvl="1"/>
            <a:r>
              <a:rPr lang="en-US" dirty="0"/>
              <a:t>Inventory queues?</a:t>
            </a:r>
          </a:p>
          <a:p>
            <a:pPr lvl="1"/>
            <a:r>
              <a:rPr lang="en-US" dirty="0"/>
              <a:t>Is it critical?</a:t>
            </a:r>
          </a:p>
          <a:p>
            <a:pPr lvl="1"/>
            <a:r>
              <a:rPr lang="en-US" dirty="0"/>
              <a:t>Is it controlled? How?</a:t>
            </a:r>
          </a:p>
          <a:p>
            <a:pPr lvl="1"/>
            <a:r>
              <a:rPr lang="en-US" dirty="0"/>
              <a:t>Does it add value? To which customer is it related?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36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14B7AA-81BC-A5C0-FF39-0E3F92C0C831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9E5B26-1E17-9766-6183-83DC320724E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4" name="AutoShape 9">
                <a:extLst>
                  <a:ext uri="{FF2B5EF4-FFF2-40B4-BE49-F238E27FC236}">
                    <a16:creationId xmlns:a16="http://schemas.microsoft.com/office/drawing/2014/main" id="{C7C22B3A-6E79-1166-B2A3-9BABA3986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5" name="AutoShape 11">
                <a:extLst>
                  <a:ext uri="{FF2B5EF4-FFF2-40B4-BE49-F238E27FC236}">
                    <a16:creationId xmlns:a16="http://schemas.microsoft.com/office/drawing/2014/main" id="{7363FECE-B577-D973-258F-4E31329C4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0">
                <a:extLst>
                  <a:ext uri="{FF2B5EF4-FFF2-40B4-BE49-F238E27FC236}">
                    <a16:creationId xmlns:a16="http://schemas.microsoft.com/office/drawing/2014/main" id="{8456DDCF-A3E3-0E53-147C-66F5A7C17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5B047E-60D7-14AB-A754-2DA780BD7B69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191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Re’s: Anything in your process done again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37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23C53E-9A1C-79A5-CA5D-04E5EB20044E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D68B4FD-7370-B150-43B1-2BB47AACA02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76ECD901-327B-BA55-284F-382E5EC6D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46" name="AutoShape 11">
                <a:extLst>
                  <a:ext uri="{FF2B5EF4-FFF2-40B4-BE49-F238E27FC236}">
                    <a16:creationId xmlns:a16="http://schemas.microsoft.com/office/drawing/2014/main" id="{83E5F158-2418-17E5-5E2F-3F8173462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AutoShape 10">
                <a:extLst>
                  <a:ext uri="{FF2B5EF4-FFF2-40B4-BE49-F238E27FC236}">
                    <a16:creationId xmlns:a16="http://schemas.microsoft.com/office/drawing/2014/main" id="{5B3BD4EB-D1A9-6571-1926-F6F8DE39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EAD1F0-0DBF-7A50-E79C-7F85DE2EDE26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3E80826-4821-3131-C2E7-55BE1F283BE9}"/>
              </a:ext>
            </a:extLst>
          </p:cNvPr>
          <p:cNvGrpSpPr/>
          <p:nvPr/>
        </p:nvGrpSpPr>
        <p:grpSpPr>
          <a:xfrm>
            <a:off x="1866900" y="1862776"/>
            <a:ext cx="8458200" cy="4298284"/>
            <a:chOff x="381000" y="1447800"/>
            <a:chExt cx="8458200" cy="463391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5004A7-3C70-7B6B-C629-0CE5C308E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1447800"/>
              <a:ext cx="8077200" cy="37338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0FF881A-E6B9-D157-BF16-B999607BC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4267200"/>
              <a:ext cx="12954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77E16472-BF71-55A9-854E-D79279A64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581400"/>
              <a:ext cx="11430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72E74F0F-1A2F-5296-D20B-6E288CFD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3810000"/>
              <a:ext cx="10668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5A2AC1F-1A9C-F87F-A6BF-D603C6A09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505200"/>
              <a:ext cx="10668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DFC5157C-1128-4919-58CD-CEE307796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4579938"/>
              <a:ext cx="9144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0705D555-D152-E619-95D6-73ECC69BC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3513" y="4419600"/>
              <a:ext cx="9144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59055009-9273-3A55-01EC-D37218B73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3810000"/>
              <a:ext cx="9144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0E7E9CBA-71C8-57AA-6449-99003C1BA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4495800"/>
              <a:ext cx="9144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9CCB6727-97EA-9332-D0CB-BFECC955F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2895600"/>
              <a:ext cx="9906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" name="Rectangle 12">
              <a:extLst>
                <a:ext uri="{FF2B5EF4-FFF2-40B4-BE49-F238E27FC236}">
                  <a16:creationId xmlns:a16="http://schemas.microsoft.com/office/drawing/2014/main" id="{B5CF2853-73BE-F970-B9C5-AB3FC1456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144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DC45CD74-83EE-B544-3BB4-F7CC23637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3505200"/>
              <a:ext cx="9144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0" name="Rectangle 14">
              <a:extLst>
                <a:ext uri="{FF2B5EF4-FFF2-40B4-BE49-F238E27FC236}">
                  <a16:creationId xmlns:a16="http://schemas.microsoft.com/office/drawing/2014/main" id="{5811908F-CC4E-2837-E2DE-BDD130A2F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895600"/>
              <a:ext cx="11430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1" name="Rectangle 15">
              <a:extLst>
                <a:ext uri="{FF2B5EF4-FFF2-40B4-BE49-F238E27FC236}">
                  <a16:creationId xmlns:a16="http://schemas.microsoft.com/office/drawing/2014/main" id="{D8C9F308-81CB-BE86-EB25-4E18D29AB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2286000"/>
              <a:ext cx="15240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8" name="Rectangle 16">
              <a:extLst>
                <a:ext uri="{FF2B5EF4-FFF2-40B4-BE49-F238E27FC236}">
                  <a16:creationId xmlns:a16="http://schemas.microsoft.com/office/drawing/2014/main" id="{E0CB00F7-D887-82A9-D4DD-5BC8E9D29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3950" y="2286000"/>
              <a:ext cx="9906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9" name="Rectangle 17">
              <a:extLst>
                <a:ext uri="{FF2B5EF4-FFF2-40B4-BE49-F238E27FC236}">
                  <a16:creationId xmlns:a16="http://schemas.microsoft.com/office/drawing/2014/main" id="{D8B89949-C9B5-4379-F7DB-AE8CEF253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370138"/>
              <a:ext cx="9906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0" name="Text Box 19">
              <a:extLst>
                <a:ext uri="{FF2B5EF4-FFF2-40B4-BE49-F238E27FC236}">
                  <a16:creationId xmlns:a16="http://schemas.microsoft.com/office/drawing/2014/main" id="{3D61245E-79DC-199E-A336-77B3F090A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1649413"/>
              <a:ext cx="78486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 Action Verbs beginning with the Prefix Re</a:t>
              </a:r>
            </a:p>
          </p:txBody>
        </p:sp>
        <p:sp>
          <p:nvSpPr>
            <p:cNvPr id="51" name="Text Box 20">
              <a:extLst>
                <a:ext uri="{FF2B5EF4-FFF2-40B4-BE49-F238E27FC236}">
                  <a16:creationId xmlns:a16="http://schemas.microsoft.com/office/drawing/2014/main" id="{4548FE1B-5312-14DF-459D-9AC84A966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2414588"/>
              <a:ext cx="11430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Rework</a:t>
              </a:r>
            </a:p>
          </p:txBody>
        </p:sp>
        <p:sp>
          <p:nvSpPr>
            <p:cNvPr id="52" name="Text Box 21">
              <a:extLst>
                <a:ext uri="{FF2B5EF4-FFF2-40B4-BE49-F238E27FC236}">
                  <a16:creationId xmlns:a16="http://schemas.microsoft.com/office/drawing/2014/main" id="{324877BD-0297-DD56-34C2-DF76FB9AF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5063" y="2370138"/>
              <a:ext cx="9715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Retrain</a:t>
              </a:r>
            </a:p>
          </p:txBody>
        </p:sp>
        <p:sp>
          <p:nvSpPr>
            <p:cNvPr id="53" name="Text Box 22">
              <a:extLst>
                <a:ext uri="{FF2B5EF4-FFF2-40B4-BE49-F238E27FC236}">
                  <a16:creationId xmlns:a16="http://schemas.microsoft.com/office/drawing/2014/main" id="{6226FAA5-906C-056F-F8E7-B9202F2D1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3288" y="2376488"/>
              <a:ext cx="14160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Remeasure</a:t>
              </a:r>
            </a:p>
          </p:txBody>
        </p:sp>
        <p:sp>
          <p:nvSpPr>
            <p:cNvPr id="54" name="Text Box 23">
              <a:extLst>
                <a:ext uri="{FF2B5EF4-FFF2-40B4-BE49-F238E27FC236}">
                  <a16:creationId xmlns:a16="http://schemas.microsoft.com/office/drawing/2014/main" id="{3F0DF1D5-7D48-386F-02D5-0BB3C7379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925" y="2986088"/>
              <a:ext cx="1060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Remake</a:t>
              </a:r>
            </a:p>
          </p:txBody>
        </p:sp>
        <p:sp>
          <p:nvSpPr>
            <p:cNvPr id="55" name="Text Box 24">
              <a:extLst>
                <a:ext uri="{FF2B5EF4-FFF2-40B4-BE49-F238E27FC236}">
                  <a16:creationId xmlns:a16="http://schemas.microsoft.com/office/drawing/2014/main" id="{CB991B02-93B9-1479-1A11-F2FFF869A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975" y="2986088"/>
              <a:ext cx="9461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Repeat</a:t>
              </a:r>
            </a:p>
          </p:txBody>
        </p:sp>
        <p:sp>
          <p:nvSpPr>
            <p:cNvPr id="56" name="Text Box 25">
              <a:extLst>
                <a:ext uri="{FF2B5EF4-FFF2-40B4-BE49-F238E27FC236}">
                  <a16:creationId xmlns:a16="http://schemas.microsoft.com/office/drawing/2014/main" id="{622BD675-432E-5E47-47A3-8ABA52499B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863" y="2986088"/>
              <a:ext cx="882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Retest</a:t>
              </a:r>
            </a:p>
          </p:txBody>
        </p:sp>
        <p:sp>
          <p:nvSpPr>
            <p:cNvPr id="57" name="Text Box 26">
              <a:extLst>
                <a:ext uri="{FF2B5EF4-FFF2-40B4-BE49-F238E27FC236}">
                  <a16:creationId xmlns:a16="http://schemas.microsoft.com/office/drawing/2014/main" id="{047DC3BB-FCFC-8CFC-FBB3-7501F24CC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463" y="3595688"/>
              <a:ext cx="869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Reject</a:t>
              </a:r>
            </a:p>
          </p:txBody>
        </p:sp>
        <p:sp>
          <p:nvSpPr>
            <p:cNvPr id="58" name="Text Box 27">
              <a:extLst>
                <a:ext uri="{FF2B5EF4-FFF2-40B4-BE49-F238E27FC236}">
                  <a16:creationId xmlns:a16="http://schemas.microsoft.com/office/drawing/2014/main" id="{5CAC536E-B923-4E96-B574-A1AE011DD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4943" y="3518178"/>
              <a:ext cx="10102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Reissue</a:t>
              </a:r>
            </a:p>
          </p:txBody>
        </p:sp>
        <p:sp>
          <p:nvSpPr>
            <p:cNvPr id="59" name="Text Box 28">
              <a:extLst>
                <a:ext uri="{FF2B5EF4-FFF2-40B4-BE49-F238E27FC236}">
                  <a16:creationId xmlns:a16="http://schemas.microsoft.com/office/drawing/2014/main" id="{D4DCCD5A-C42A-1FC1-DAF1-7E7A1CCC0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3690" y="3824566"/>
              <a:ext cx="8803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Return</a:t>
              </a:r>
            </a:p>
          </p:txBody>
        </p:sp>
        <p:sp>
          <p:nvSpPr>
            <p:cNvPr id="60" name="Text Box 29">
              <a:extLst>
                <a:ext uri="{FF2B5EF4-FFF2-40B4-BE49-F238E27FC236}">
                  <a16:creationId xmlns:a16="http://schemas.microsoft.com/office/drawing/2014/main" id="{F0D9274F-F40E-90CD-C35F-C7C4BDC25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0463" y="3900488"/>
              <a:ext cx="1009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Rewrite</a:t>
              </a:r>
            </a:p>
          </p:txBody>
        </p:sp>
        <p:sp>
          <p:nvSpPr>
            <p:cNvPr id="61" name="Text Box 30">
              <a:extLst>
                <a:ext uri="{FF2B5EF4-FFF2-40B4-BE49-F238E27FC236}">
                  <a16:creationId xmlns:a16="http://schemas.microsoft.com/office/drawing/2014/main" id="{4BBD9241-9362-D60E-F3BE-86CBDD91F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6407" y="3595966"/>
              <a:ext cx="107593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Recheck</a:t>
              </a:r>
            </a:p>
          </p:txBody>
        </p:sp>
        <p:sp>
          <p:nvSpPr>
            <p:cNvPr id="62" name="Text Box 31">
              <a:extLst>
                <a:ext uri="{FF2B5EF4-FFF2-40B4-BE49-F238E27FC236}">
                  <a16:creationId xmlns:a16="http://schemas.microsoft.com/office/drawing/2014/main" id="{4F72EC22-9D9C-3E01-5CF8-00CFB268F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2163" y="4584978"/>
              <a:ext cx="89639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Reship</a:t>
              </a:r>
            </a:p>
          </p:txBody>
        </p:sp>
        <p:sp>
          <p:nvSpPr>
            <p:cNvPr id="63" name="Text Box 32">
              <a:extLst>
                <a:ext uri="{FF2B5EF4-FFF2-40B4-BE49-F238E27FC236}">
                  <a16:creationId xmlns:a16="http://schemas.microsoft.com/office/drawing/2014/main" id="{0F5FD271-4476-98D4-DB31-062723B72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4464050"/>
              <a:ext cx="9890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Retype</a:t>
              </a:r>
            </a:p>
          </p:txBody>
        </p:sp>
        <p:sp>
          <p:nvSpPr>
            <p:cNvPr id="64" name="Text Box 33">
              <a:extLst>
                <a:ext uri="{FF2B5EF4-FFF2-40B4-BE49-F238E27FC236}">
                  <a16:creationId xmlns:a16="http://schemas.microsoft.com/office/drawing/2014/main" id="{9D8A6DED-19D5-6C5F-9B2D-1CD504D63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3657" y="4624666"/>
              <a:ext cx="8226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Recall</a:t>
              </a:r>
            </a:p>
          </p:txBody>
        </p:sp>
        <p:sp>
          <p:nvSpPr>
            <p:cNvPr id="65" name="Text Box 34">
              <a:extLst>
                <a:ext uri="{FF2B5EF4-FFF2-40B4-BE49-F238E27FC236}">
                  <a16:creationId xmlns:a16="http://schemas.microsoft.com/office/drawing/2014/main" id="{33AC9BEA-3D8D-43BB-6832-0A039D659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5500688"/>
              <a:ext cx="8458200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Each </a:t>
              </a:r>
              <a:r>
                <a:rPr lang="ja-JP" altLang="en-US" sz="1600">
                  <a:latin typeface="Roboto" panose="02000000000000000000" pitchFamily="2" charset="0"/>
                </a:rPr>
                <a:t>“</a:t>
              </a:r>
              <a:r>
                <a:rPr lang="en-US" altLang="ja-JP" sz="1600">
                  <a:latin typeface="Roboto" panose="02000000000000000000" pitchFamily="2" charset="0"/>
                  <a:ea typeface="Roboto" panose="02000000000000000000" pitchFamily="2" charset="0"/>
                </a:rPr>
                <a:t>Re</a:t>
              </a:r>
              <a:r>
                <a:rPr lang="ja-JP" altLang="en-US" sz="1600">
                  <a:latin typeface="Roboto" panose="02000000000000000000" pitchFamily="2" charset="0"/>
                </a:rPr>
                <a:t>”</a:t>
              </a:r>
              <a:r>
                <a:rPr lang="en-US" altLang="ja-JP" sz="1600">
                  <a:latin typeface="Roboto" panose="02000000000000000000" pitchFamily="2" charset="0"/>
                  <a:ea typeface="Roboto" panose="02000000000000000000" pitchFamily="2" charset="0"/>
                </a:rPr>
                <a:t> typically causes a backwards loop in the process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>
                  <a:latin typeface="Roboto" panose="02000000000000000000" pitchFamily="2" charset="0"/>
                  <a:ea typeface="Roboto" panose="02000000000000000000" pitchFamily="2" charset="0"/>
                </a:rPr>
                <a:t>Identify from your Process Map where the Re</a:t>
              </a:r>
              <a:r>
                <a:rPr lang="ja-JP" altLang="en-US" sz="1600">
                  <a:latin typeface="Roboto" panose="02000000000000000000" pitchFamily="2" charset="0"/>
                </a:rPr>
                <a:t>’</a:t>
              </a:r>
              <a:r>
                <a:rPr lang="en-US" altLang="ja-JP" sz="1600">
                  <a:latin typeface="Roboto" panose="02000000000000000000" pitchFamily="2" charset="0"/>
                  <a:ea typeface="Roboto" panose="02000000000000000000" pitchFamily="2" charset="0"/>
                </a:rPr>
                <a:t>s are Occurring</a:t>
              </a:r>
              <a:endParaRPr lang="en-US" altLang="en-US" sz="16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6" name="Text Box 35">
              <a:extLst>
                <a:ext uri="{FF2B5EF4-FFF2-40B4-BE49-F238E27FC236}">
                  <a16:creationId xmlns:a16="http://schemas.microsoft.com/office/drawing/2014/main" id="{0EFB6DCA-FC5B-2F57-9D3A-ECBAB83F0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9210" y="4356378"/>
              <a:ext cx="11528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Redesign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6813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68A9-873A-57D2-016B-C3B5AEEC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Re’s: Anything in your process done again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F15FE-DFC4-36AD-A503-63A8D0B5FE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Identify your team’s top Re’s:</a:t>
            </a:r>
          </a:p>
          <a:p>
            <a:r>
              <a:rPr lang="en-US" dirty="0"/>
              <a:t>__________________________</a:t>
            </a:r>
          </a:p>
          <a:p>
            <a:r>
              <a:rPr lang="en-US" dirty="0"/>
              <a:t>__________________________</a:t>
            </a:r>
          </a:p>
          <a:p>
            <a:r>
              <a:rPr lang="en-US" dirty="0"/>
              <a:t>__________________________</a:t>
            </a:r>
          </a:p>
          <a:p>
            <a:r>
              <a:rPr lang="en-US" dirty="0"/>
              <a:t>__________________________</a:t>
            </a:r>
          </a:p>
          <a:p>
            <a:r>
              <a:rPr lang="en-US" dirty="0"/>
              <a:t>__________________________</a:t>
            </a:r>
          </a:p>
          <a:p>
            <a:r>
              <a:rPr lang="en-US" dirty="0"/>
              <a:t>__________________________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32D1-AE2A-ADCD-94E6-52E4102212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38</a:t>
            </a:fld>
            <a:endParaRPr lang="en-US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0D0BE246-4BF4-49FD-CCF6-0FF3CC1D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796" y="2754312"/>
            <a:ext cx="285750" cy="2493963"/>
          </a:xfrm>
          <a:prstGeom prst="rightArrow">
            <a:avLst>
              <a:gd name="adj1" fmla="val 67278"/>
              <a:gd name="adj2" fmla="val 72222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EC0E39A-47BC-C8E9-CD97-F7B648E71110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67CA3D-181D-A86A-9345-07A4F4307712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6" name="AutoShape 9">
                <a:extLst>
                  <a:ext uri="{FF2B5EF4-FFF2-40B4-BE49-F238E27FC236}">
                    <a16:creationId xmlns:a16="http://schemas.microsoft.com/office/drawing/2014/main" id="{42C9192B-D338-45C4-0BD7-9310E4910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7" name="AutoShape 11">
                <a:extLst>
                  <a:ext uri="{FF2B5EF4-FFF2-40B4-BE49-F238E27FC236}">
                    <a16:creationId xmlns:a16="http://schemas.microsoft.com/office/drawing/2014/main" id="{A07A9EE5-CBB7-246B-D41B-EF65F337B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AutoShape 10">
                <a:extLst>
                  <a:ext uri="{FF2B5EF4-FFF2-40B4-BE49-F238E27FC236}">
                    <a16:creationId xmlns:a16="http://schemas.microsoft.com/office/drawing/2014/main" id="{FB5968D7-AFD0-101A-C39A-0B7F0F0D3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1FF60A-56BC-7833-15D8-D9482481D897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7" name="Rectangle 11">
            <a:extLst>
              <a:ext uri="{FF2B5EF4-FFF2-40B4-BE49-F238E27FC236}">
                <a16:creationId xmlns:a16="http://schemas.microsoft.com/office/drawing/2014/main" id="{E0DC00CC-D1A6-C8CD-F316-E4DE7E594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692" y="1825625"/>
            <a:ext cx="2620962" cy="635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</a:rPr>
              <a:t>Is there specific places</a:t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dirty="0">
                <a:solidFill>
                  <a:schemeClr val="tx1"/>
                </a:solidFill>
              </a:rPr>
              <a:t>set aside for these</a:t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dirty="0">
                <a:solidFill>
                  <a:schemeClr val="tx1"/>
                </a:solidFill>
              </a:rPr>
              <a:t>activities?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AD15B432-7160-64D8-90C4-8BCAAC4BE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692" y="2755900"/>
            <a:ext cx="2620962" cy="635000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</a:rPr>
              <a:t>Is there a budget for any</a:t>
            </a:r>
            <a:br>
              <a:rPr lang="en-US" altLang="en-US" sz="1400" dirty="0">
                <a:solidFill>
                  <a:schemeClr val="tx1"/>
                </a:solidFill>
              </a:rPr>
            </a:br>
            <a:r>
              <a:rPr lang="en-US" altLang="en-US" sz="1400" dirty="0">
                <a:solidFill>
                  <a:schemeClr val="tx1"/>
                </a:solidFill>
              </a:rPr>
              <a:t>of these activities?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A301DDD-10C9-006C-4E63-6EC41B129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692" y="3689350"/>
            <a:ext cx="2620962" cy="635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/>
              <a:t>Is schedule slack allowed</a:t>
            </a:r>
            <a:br>
              <a:rPr lang="en-US" altLang="en-US" sz="1400"/>
            </a:br>
            <a:r>
              <a:rPr lang="en-US" altLang="en-US" sz="1400"/>
              <a:t>for these activities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D05A40F-5E49-2255-0CF3-B6128C6E8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692" y="4662487"/>
            <a:ext cx="2620962" cy="635000"/>
          </a:xfrm>
          <a:prstGeom prst="rect">
            <a:avLst/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lnSpc>
                <a:spcPct val="80000"/>
              </a:lnSpc>
              <a:spcBef>
                <a:spcPct val="20000"/>
              </a:spcBef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 dirty="0"/>
              <a:t>Is there buffer stock inventory</a:t>
            </a:r>
            <a:br>
              <a:rPr lang="en-US" altLang="en-US" sz="1400" dirty="0"/>
            </a:br>
            <a:r>
              <a:rPr lang="en-US" altLang="en-US" sz="1400" dirty="0"/>
              <a:t>set aside to accommodate</a:t>
            </a:r>
            <a:br>
              <a:rPr lang="en-US" altLang="en-US" sz="1400" dirty="0"/>
            </a:br>
            <a:r>
              <a:rPr lang="en-US" altLang="en-US" sz="1400" dirty="0"/>
              <a:t>these activities</a:t>
            </a:r>
          </a:p>
        </p:txBody>
      </p:sp>
      <p:cxnSp>
        <p:nvCxnSpPr>
          <p:cNvPr id="19" name="AutoShape 15">
            <a:extLst>
              <a:ext uri="{FF2B5EF4-FFF2-40B4-BE49-F238E27FC236}">
                <a16:creationId xmlns:a16="http://schemas.microsoft.com/office/drawing/2014/main" id="{E1A16796-CAC3-5E0B-DB80-AE2D2430B41E}"/>
              </a:ext>
            </a:extLst>
          </p:cNvPr>
          <p:cNvCxnSpPr>
            <a:cxnSpLocks noChangeShapeType="1"/>
            <a:stCxn id="7" idx="2"/>
            <a:endCxn id="10" idx="0"/>
          </p:cNvCxnSpPr>
          <p:nvPr/>
        </p:nvCxnSpPr>
        <p:spPr bwMode="auto">
          <a:xfrm>
            <a:off x="2895967" y="2460625"/>
            <a:ext cx="0" cy="2952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16">
            <a:extLst>
              <a:ext uri="{FF2B5EF4-FFF2-40B4-BE49-F238E27FC236}">
                <a16:creationId xmlns:a16="http://schemas.microsoft.com/office/drawing/2014/main" id="{7D39D301-BD29-3260-DE25-0AF7FD1D4FA8}"/>
              </a:ext>
            </a:extLst>
          </p:cNvPr>
          <p:cNvCxnSpPr>
            <a:cxnSpLocks noChangeShapeType="1"/>
            <a:stCxn id="10" idx="2"/>
            <a:endCxn id="11" idx="0"/>
          </p:cNvCxnSpPr>
          <p:nvPr/>
        </p:nvCxnSpPr>
        <p:spPr bwMode="auto">
          <a:xfrm>
            <a:off x="2895967" y="3390900"/>
            <a:ext cx="0" cy="2984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7">
            <a:extLst>
              <a:ext uri="{FF2B5EF4-FFF2-40B4-BE49-F238E27FC236}">
                <a16:creationId xmlns:a16="http://schemas.microsoft.com/office/drawing/2014/main" id="{6B2359E5-2947-388E-474D-AF789A46A131}"/>
              </a:ext>
            </a:extLst>
          </p:cNvPr>
          <p:cNvCxnSpPr>
            <a:cxnSpLocks noChangeShapeType="1"/>
            <a:stCxn id="11" idx="2"/>
            <a:endCxn id="12" idx="0"/>
          </p:cNvCxnSpPr>
          <p:nvPr/>
        </p:nvCxnSpPr>
        <p:spPr bwMode="auto">
          <a:xfrm>
            <a:off x="2895967" y="4324350"/>
            <a:ext cx="0" cy="33813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Oval 18">
            <a:extLst>
              <a:ext uri="{FF2B5EF4-FFF2-40B4-BE49-F238E27FC236}">
                <a16:creationId xmlns:a16="http://schemas.microsoft.com/office/drawing/2014/main" id="{D363B4B8-9A05-8975-E99A-6D6CFF696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692" y="5621337"/>
            <a:ext cx="2620962" cy="601663"/>
          </a:xfrm>
          <a:prstGeom prst="ellipse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anose="05000000000000000000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RE</a:t>
            </a:r>
            <a:r>
              <a:rPr lang="ja-JP" altLang="en-US" sz="1400"/>
              <a:t>’</a:t>
            </a:r>
            <a:r>
              <a:rPr lang="en-US" altLang="ja-JP" sz="1400"/>
              <a:t>s!</a:t>
            </a:r>
            <a:endParaRPr lang="en-US" altLang="en-US" sz="1400"/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EAD54F9C-C70C-F3B8-123F-5D663B147334}"/>
              </a:ext>
            </a:extLst>
          </p:cNvPr>
          <p:cNvCxnSpPr>
            <a:cxnSpLocks noChangeShapeType="1"/>
            <a:stCxn id="12" idx="2"/>
            <a:endCxn id="22" idx="0"/>
          </p:cNvCxnSpPr>
          <p:nvPr/>
        </p:nvCxnSpPr>
        <p:spPr bwMode="auto">
          <a:xfrm>
            <a:off x="2895967" y="5297487"/>
            <a:ext cx="0" cy="3238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039657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39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825449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process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team input to develop a new process</a:t>
            </a:r>
          </a:p>
          <a:p>
            <a:r>
              <a:rPr lang="en-US" dirty="0"/>
              <a:t>Focus on time-consuming and non-value added steps</a:t>
            </a:r>
          </a:p>
          <a:p>
            <a:r>
              <a:rPr lang="en-US" dirty="0"/>
              <a:t>Don’t be afraid to dream at this point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40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14B7AA-81BC-A5C0-FF39-0E3F92C0C831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9E5B26-1E17-9766-6183-83DC320724E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4" name="AutoShape 9">
                <a:extLst>
                  <a:ext uri="{FF2B5EF4-FFF2-40B4-BE49-F238E27FC236}">
                    <a16:creationId xmlns:a16="http://schemas.microsoft.com/office/drawing/2014/main" id="{C7C22B3A-6E79-1166-B2A3-9BABA3986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5" name="AutoShape 11">
                <a:extLst>
                  <a:ext uri="{FF2B5EF4-FFF2-40B4-BE49-F238E27FC236}">
                    <a16:creationId xmlns:a16="http://schemas.microsoft.com/office/drawing/2014/main" id="{7363FECE-B577-D973-258F-4E31329C4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0">
                <a:extLst>
                  <a:ext uri="{FF2B5EF4-FFF2-40B4-BE49-F238E27FC236}">
                    <a16:creationId xmlns:a16="http://schemas.microsoft.com/office/drawing/2014/main" id="{8456DDCF-A3E3-0E53-147C-66F5A7C17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5B047E-60D7-14AB-A754-2DA780BD7B69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547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41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1030730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the New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again, walk the process to validate the steps</a:t>
            </a:r>
          </a:p>
          <a:p>
            <a:r>
              <a:rPr lang="en-US" dirty="0"/>
              <a:t>Look for bottlenecks</a:t>
            </a:r>
          </a:p>
          <a:p>
            <a:r>
              <a:rPr lang="en-US" dirty="0"/>
              <a:t>Keep the customer in mind!</a:t>
            </a:r>
          </a:p>
          <a:p>
            <a:r>
              <a:rPr lang="en-US" dirty="0"/>
              <a:t>Is the process delivering it’s product or service with minimal waste?</a:t>
            </a:r>
          </a:p>
          <a:p>
            <a:r>
              <a:rPr lang="en-US" dirty="0"/>
              <a:t>Listen to the process owners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42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14B7AA-81BC-A5C0-FF39-0E3F92C0C831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9E5B26-1E17-9766-6183-83DC320724E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4" name="AutoShape 9">
                <a:extLst>
                  <a:ext uri="{FF2B5EF4-FFF2-40B4-BE49-F238E27FC236}">
                    <a16:creationId xmlns:a16="http://schemas.microsoft.com/office/drawing/2014/main" id="{C7C22B3A-6E79-1166-B2A3-9BABA3986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5" name="AutoShape 11">
                <a:extLst>
                  <a:ext uri="{FF2B5EF4-FFF2-40B4-BE49-F238E27FC236}">
                    <a16:creationId xmlns:a16="http://schemas.microsoft.com/office/drawing/2014/main" id="{7363FECE-B577-D973-258F-4E31329C4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0">
                <a:extLst>
                  <a:ext uri="{FF2B5EF4-FFF2-40B4-BE49-F238E27FC236}">
                    <a16:creationId xmlns:a16="http://schemas.microsoft.com/office/drawing/2014/main" id="{8456DDCF-A3E3-0E53-147C-66F5A7C17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5B047E-60D7-14AB-A754-2DA780BD7B69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7349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7838C41-1EE5-BD1F-22B5-E1F30F03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Roboto Medium"/>
                <a:ea typeface="Roboto Medium"/>
                <a:cs typeface="Roboto Medium"/>
              </a:rPr>
              <a:t>Basic steps to Process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34B74-93DA-5F21-CF4A-77FE692D02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43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54629-2D9F-D857-EE31-4C21CDD2E4A2}"/>
              </a:ext>
            </a:extLst>
          </p:cNvPr>
          <p:cNvSpPr>
            <a:spLocks/>
          </p:cNvSpPr>
          <p:nvPr/>
        </p:nvSpPr>
        <p:spPr>
          <a:xfrm>
            <a:off x="940248" y="1795237"/>
            <a:ext cx="7654829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lvl="2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1. Define the boundaries of the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AF32-E1A1-D4A2-9FCD-515A5F96DE04}"/>
              </a:ext>
            </a:extLst>
          </p:cNvPr>
          <p:cNvSpPr>
            <a:spLocks/>
          </p:cNvSpPr>
          <p:nvPr/>
        </p:nvSpPr>
        <p:spPr>
          <a:xfrm>
            <a:off x="940249" y="230051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2. Brainstorm and storyboard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3767D-7BA2-9FC1-934C-8354A66E63AC}"/>
              </a:ext>
            </a:extLst>
          </p:cNvPr>
          <p:cNvSpPr>
            <a:spLocks/>
          </p:cNvSpPr>
          <p:nvPr/>
        </p:nvSpPr>
        <p:spPr>
          <a:xfrm>
            <a:off x="940248" y="280579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3. Document the current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C53B4-48B2-AD29-AFD8-1C5B6871B984}"/>
              </a:ext>
            </a:extLst>
          </p:cNvPr>
          <p:cNvSpPr/>
          <p:nvPr/>
        </p:nvSpPr>
        <p:spPr>
          <a:xfrm>
            <a:off x="940249" y="3311077"/>
            <a:ext cx="7654826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4. Walk the process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EA7D-9312-9D7A-0D93-C8AE0124D074}"/>
              </a:ext>
            </a:extLst>
          </p:cNvPr>
          <p:cNvSpPr>
            <a:spLocks/>
          </p:cNvSpPr>
          <p:nvPr/>
        </p:nvSpPr>
        <p:spPr>
          <a:xfrm>
            <a:off x="940248" y="3816357"/>
            <a:ext cx="7654825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5. Change the map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B1715EE-FB55-A550-4CE5-A4D05A73859A}"/>
              </a:ext>
            </a:extLst>
          </p:cNvPr>
          <p:cNvSpPr txBox="1">
            <a:spLocks/>
          </p:cNvSpPr>
          <p:nvPr/>
        </p:nvSpPr>
        <p:spPr>
          <a:xfrm>
            <a:off x="699910" y="681038"/>
            <a:ext cx="9815689" cy="1009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053BA5-7F6D-183D-AE21-E722CC6D738B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6BFD5C8-2F39-B2AB-D2FC-4DDC1A1CC0A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0" name="AutoShape 9">
                <a:extLst>
                  <a:ext uri="{FF2B5EF4-FFF2-40B4-BE49-F238E27FC236}">
                    <a16:creationId xmlns:a16="http://schemas.microsoft.com/office/drawing/2014/main" id="{8ECAACA1-F0CE-AB18-A94E-E1277707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8" name="AutoShape 11">
                <a:extLst>
                  <a:ext uri="{FF2B5EF4-FFF2-40B4-BE49-F238E27FC236}">
                    <a16:creationId xmlns:a16="http://schemas.microsoft.com/office/drawing/2014/main" id="{6CFBA13E-B148-3F4B-D058-387F8DB1E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AutoShape 10">
                <a:extLst>
                  <a:ext uri="{FF2B5EF4-FFF2-40B4-BE49-F238E27FC236}">
                    <a16:creationId xmlns:a16="http://schemas.microsoft.com/office/drawing/2014/main" id="{3AFAF6F0-A4A2-ED0D-663A-A355A9BFF6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6D01D6-B713-D959-B492-311A3071BBA8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A0FF73F-8719-E6E1-03DD-7F9B3522873B}"/>
              </a:ext>
            </a:extLst>
          </p:cNvPr>
          <p:cNvSpPr>
            <a:spLocks/>
          </p:cNvSpPr>
          <p:nvPr/>
        </p:nvSpPr>
        <p:spPr>
          <a:xfrm>
            <a:off x="940245" y="4321637"/>
            <a:ext cx="7654828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6. Identify improvements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D03C55-A73A-3930-31C8-21861EC123B1}"/>
              </a:ext>
            </a:extLst>
          </p:cNvPr>
          <p:cNvSpPr>
            <a:spLocks/>
          </p:cNvSpPr>
          <p:nvPr/>
        </p:nvSpPr>
        <p:spPr>
          <a:xfrm>
            <a:off x="940244" y="4826917"/>
            <a:ext cx="7654827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l" defTabSz="584200"/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7. Create new process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EDFE87-6E30-694E-58C4-DEE24D3DC6BA}"/>
              </a:ext>
            </a:extLst>
          </p:cNvPr>
          <p:cNvSpPr/>
          <p:nvPr/>
        </p:nvSpPr>
        <p:spPr>
          <a:xfrm>
            <a:off x="940245" y="5332197"/>
            <a:ext cx="7654826" cy="45289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8. Validate the new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B57880-EF11-962E-25A7-DC93F9CDD118}"/>
              </a:ext>
            </a:extLst>
          </p:cNvPr>
          <p:cNvSpPr>
            <a:spLocks/>
          </p:cNvSpPr>
          <p:nvPr/>
        </p:nvSpPr>
        <p:spPr>
          <a:xfrm>
            <a:off x="940244" y="5837478"/>
            <a:ext cx="7654825" cy="452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9. Standardize the new process</a:t>
            </a:r>
          </a:p>
        </p:txBody>
      </p:sp>
    </p:spTree>
    <p:extLst>
      <p:ext uri="{BB962C8B-B14F-4D97-AF65-F5344CB8AC3E}">
        <p14:creationId xmlns:p14="http://schemas.microsoft.com/office/powerpoint/2010/main" val="2167461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Standardize the New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the new process Standard Operating Procedure</a:t>
            </a:r>
          </a:p>
          <a:p>
            <a:r>
              <a:rPr lang="en-US" dirty="0"/>
              <a:t>Train the appropriate associates in the new process flow</a:t>
            </a:r>
          </a:p>
          <a:p>
            <a:r>
              <a:rPr lang="en-US" dirty="0"/>
              <a:t>Monitor the process for problems</a:t>
            </a:r>
          </a:p>
          <a:p>
            <a:r>
              <a:rPr lang="en-US" dirty="0"/>
              <a:t>Watch out for those who slip back to the old way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14B7AA-81BC-A5C0-FF39-0E3F92C0C831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9E5B26-1E17-9766-6183-83DC320724ED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14" name="AutoShape 9">
                <a:extLst>
                  <a:ext uri="{FF2B5EF4-FFF2-40B4-BE49-F238E27FC236}">
                    <a16:creationId xmlns:a16="http://schemas.microsoft.com/office/drawing/2014/main" id="{C7C22B3A-6E79-1166-B2A3-9BABA3986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2000" dirty="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5" name="AutoShape 11">
                <a:extLst>
                  <a:ext uri="{FF2B5EF4-FFF2-40B4-BE49-F238E27FC236}">
                    <a16:creationId xmlns:a16="http://schemas.microsoft.com/office/drawing/2014/main" id="{7363FECE-B577-D973-258F-4E31329C4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AutoShape 10">
                <a:extLst>
                  <a:ext uri="{FF2B5EF4-FFF2-40B4-BE49-F238E27FC236}">
                    <a16:creationId xmlns:a16="http://schemas.microsoft.com/office/drawing/2014/main" id="{8456DDCF-A3E3-0E53-147C-66F5A7C17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5B047E-60D7-14AB-A754-2DA780BD7B69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Steps to Process Mapping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809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1FF7-095F-D1A9-6784-C53D538A36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BA17-B180-9889-85DC-DBE8C080CF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9911" y="1497012"/>
            <a:ext cx="9815689" cy="10096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Steps to Process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34846-F3D4-20E7-25C0-91FCF7736C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2489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Objectives:</a:t>
            </a:r>
          </a:p>
          <a:p>
            <a:r>
              <a:rPr lang="en-US" sz="2400" dirty="0"/>
              <a:t>Review types of Process Maps</a:t>
            </a:r>
          </a:p>
          <a:p>
            <a:r>
              <a:rPr lang="en-US" sz="2400" dirty="0"/>
              <a:t>Review Process Map Example</a:t>
            </a:r>
          </a:p>
          <a:p>
            <a:r>
              <a:rPr lang="en-US" sz="2400" dirty="0"/>
              <a:t>Review Process Mapping Hints</a:t>
            </a:r>
          </a:p>
          <a:p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07BA82-F1D2-01EE-36D7-0CE1E1021337}"/>
              </a:ext>
            </a:extLst>
          </p:cNvPr>
          <p:cNvGrpSpPr/>
          <p:nvPr/>
        </p:nvGrpSpPr>
        <p:grpSpPr>
          <a:xfrm>
            <a:off x="699911" y="837133"/>
            <a:ext cx="4425950" cy="659879"/>
            <a:chOff x="5627530" y="641179"/>
            <a:chExt cx="6564470" cy="804977"/>
          </a:xfrm>
        </p:grpSpPr>
        <p:sp>
          <p:nvSpPr>
            <p:cNvPr id="7" name="AutoShape 9">
              <a:extLst>
                <a:ext uri="{FF2B5EF4-FFF2-40B4-BE49-F238E27FC236}">
                  <a16:creationId xmlns:a16="http://schemas.microsoft.com/office/drawing/2014/main" id="{E658DE7F-EAE7-7BD9-8492-805CBFCFF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1136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FFB627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Process </a:t>
              </a:r>
              <a:b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Mapping</a:t>
              </a:r>
              <a:b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Review</a:t>
              </a:r>
            </a:p>
          </p:txBody>
        </p:sp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3B341166-AC1F-8D30-9314-0FB3D9483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7856" y="641180"/>
              <a:ext cx="2342768" cy="804976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Steps to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 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Mapping </a:t>
              </a:r>
            </a:p>
          </p:txBody>
        </p:sp>
        <p:sp>
          <p:nvSpPr>
            <p:cNvPr id="9" name="AutoShape 11">
              <a:extLst>
                <a:ext uri="{FF2B5EF4-FFF2-40B4-BE49-F238E27FC236}">
                  <a16:creationId xmlns:a16="http://schemas.microsoft.com/office/drawing/2014/main" id="{2AB16F46-B5FA-96F3-91C2-07B2F2F1C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7530" y="641179"/>
              <a:ext cx="2340864" cy="804977"/>
            </a:xfrm>
            <a:prstGeom prst="homePlate">
              <a:avLst>
                <a:gd name="adj" fmla="val 29912"/>
              </a:avLst>
            </a:prstGeom>
            <a:solidFill>
              <a:srgbClr val="222222"/>
            </a:solidFill>
            <a:ln w="12700" cap="sq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squar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None/>
              </a:pP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Process Mapping</a:t>
              </a:r>
              <a:b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altLang="en-U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FB0DFD-2D15-952D-9825-996B08251FD4}"/>
              </a:ext>
            </a:extLst>
          </p:cNvPr>
          <p:cNvCxnSpPr/>
          <p:nvPr/>
        </p:nvCxnSpPr>
        <p:spPr>
          <a:xfrm>
            <a:off x="699911" y="2386919"/>
            <a:ext cx="3882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6574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Process Maps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46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23C53E-9A1C-79A5-CA5D-04E5EB20044E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D68B4FD-7370-B150-43B1-2BB47AACA02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76ECD901-327B-BA55-284F-382E5EC6D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AutoShape 11">
                <a:extLst>
                  <a:ext uri="{FF2B5EF4-FFF2-40B4-BE49-F238E27FC236}">
                    <a16:creationId xmlns:a16="http://schemas.microsoft.com/office/drawing/2014/main" id="{83E5F158-2418-17E5-5E2F-3F8173462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AutoShape 10">
                <a:extLst>
                  <a:ext uri="{FF2B5EF4-FFF2-40B4-BE49-F238E27FC236}">
                    <a16:creationId xmlns:a16="http://schemas.microsoft.com/office/drawing/2014/main" id="{5B3BD4EB-D1A9-6571-1926-F6F8DE39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EAD1F0-0DBF-7A50-E79C-7F85DE2EDE26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Review</a:t>
              </a:r>
            </a:p>
          </p:txBody>
        </p:sp>
      </p:grpSp>
      <p:pic>
        <p:nvPicPr>
          <p:cNvPr id="10" name="Picture 92" descr="types of process maps">
            <a:extLst>
              <a:ext uri="{FF2B5EF4-FFF2-40B4-BE49-F238E27FC236}">
                <a16:creationId xmlns:a16="http://schemas.microsoft.com/office/drawing/2014/main" id="{E0CE1A46-9244-166C-BE8C-B4E855FAA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57" y="1783429"/>
            <a:ext cx="8218487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38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Process 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47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23C53E-9A1C-79A5-CA5D-04E5EB20044E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D68B4FD-7370-B150-43B1-2BB47AACA028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76ECD901-327B-BA55-284F-382E5EC6D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AutoShape 11">
                <a:extLst>
                  <a:ext uri="{FF2B5EF4-FFF2-40B4-BE49-F238E27FC236}">
                    <a16:creationId xmlns:a16="http://schemas.microsoft.com/office/drawing/2014/main" id="{83E5F158-2418-17E5-5E2F-3F8173462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AutoShape 10">
                <a:extLst>
                  <a:ext uri="{FF2B5EF4-FFF2-40B4-BE49-F238E27FC236}">
                    <a16:creationId xmlns:a16="http://schemas.microsoft.com/office/drawing/2014/main" id="{5B3BD4EB-D1A9-6571-1926-F6F8DE39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EAD1F0-0DBF-7A50-E79C-7F85DE2EDE26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Review</a:t>
              </a:r>
            </a:p>
          </p:txBody>
        </p:sp>
      </p:grpSp>
      <p:grpSp>
        <p:nvGrpSpPr>
          <p:cNvPr id="3" name="Group 4">
            <a:extLst>
              <a:ext uri="{FF2B5EF4-FFF2-40B4-BE49-F238E27FC236}">
                <a16:creationId xmlns:a16="http://schemas.microsoft.com/office/drawing/2014/main" id="{166273EF-A547-A001-5E76-983C1BB2033F}"/>
              </a:ext>
            </a:extLst>
          </p:cNvPr>
          <p:cNvGrpSpPr>
            <a:grpSpLocks/>
          </p:cNvGrpSpPr>
          <p:nvPr/>
        </p:nvGrpSpPr>
        <p:grpSpPr bwMode="auto">
          <a:xfrm>
            <a:off x="965159" y="1806042"/>
            <a:ext cx="10261681" cy="4431323"/>
            <a:chOff x="96" y="960"/>
            <a:chExt cx="5271" cy="3170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B7E19AE5-827E-72D1-0139-36DB8F93BEF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960"/>
              <a:ext cx="567" cy="461"/>
            </a:xfrm>
            <a:prstGeom prst="rightArrow">
              <a:avLst>
                <a:gd name="adj1" fmla="val 50000"/>
                <a:gd name="adj2" fmla="val 30748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1DE2DDD9-85D8-62DA-BAB8-8C801EA1DC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8" y="1008"/>
              <a:ext cx="403" cy="352"/>
            </a:xfrm>
            <a:prstGeom prst="flowChartDelay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0C84F3B7-09B9-BFC9-D57A-04DC866F27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0" y="1008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1ECDF945-497E-0D7F-0A52-8A1366C756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36" y="1008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E92E51D0-8D11-44EA-5B95-43DEE62A37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6" y="1008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E7804FE-0D00-0214-8FB3-C8A8EE3E83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" y="1008"/>
              <a:ext cx="388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A6947D-AB07-CBE9-5C99-5F0B240EC9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2565255">
              <a:off x="4065" y="998"/>
              <a:ext cx="388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BF8A04DA-B60A-12D3-4685-9A4E2A1546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2" y="960"/>
              <a:ext cx="567" cy="461"/>
            </a:xfrm>
            <a:prstGeom prst="rightArrow">
              <a:avLst>
                <a:gd name="adj1" fmla="val 50000"/>
                <a:gd name="adj2" fmla="val 30748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48C406-4459-ADA7-6DC6-D1E7520F38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6" y="1699"/>
              <a:ext cx="507" cy="43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5" name="AutoShape 14">
              <a:extLst>
                <a:ext uri="{FF2B5EF4-FFF2-40B4-BE49-F238E27FC236}">
                  <a16:creationId xmlns:a16="http://schemas.microsoft.com/office/drawing/2014/main" id="{21D5728C-36C9-FCCD-455E-F93777158B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" y="1739"/>
              <a:ext cx="403" cy="351"/>
            </a:xfrm>
            <a:prstGeom prst="flowChartDelay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C0FEDA-4FEC-3BE7-01A1-9051F733D11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2565255">
              <a:off x="1584" y="1699"/>
              <a:ext cx="389" cy="3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3E70F52-C010-1E71-C085-3D66296949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8" y="1747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AutoShape 17">
              <a:extLst>
                <a:ext uri="{FF2B5EF4-FFF2-40B4-BE49-F238E27FC236}">
                  <a16:creationId xmlns:a16="http://schemas.microsoft.com/office/drawing/2014/main" id="{6777EC2E-27DC-63EF-FEA2-D39E7503EE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84" y="1747"/>
              <a:ext cx="402" cy="352"/>
            </a:xfrm>
            <a:prstGeom prst="flowChartDelay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DB9DA3-1C9F-6FD3-47DF-9237AEE777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2565255">
              <a:off x="4080" y="1747"/>
              <a:ext cx="389" cy="38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AutoShape 19">
              <a:extLst>
                <a:ext uri="{FF2B5EF4-FFF2-40B4-BE49-F238E27FC236}">
                  <a16:creationId xmlns:a16="http://schemas.microsoft.com/office/drawing/2014/main" id="{AF37EC12-C436-F049-1C50-CA9A9B5CA4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00" y="1747"/>
              <a:ext cx="567" cy="461"/>
            </a:xfrm>
            <a:prstGeom prst="rightArrow">
              <a:avLst>
                <a:gd name="adj1" fmla="val 50000"/>
                <a:gd name="adj2" fmla="val 30748"/>
              </a:avLst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39D458C-A045-061C-2139-BD80B74E17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36" y="2351"/>
              <a:ext cx="507" cy="43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59D0D1-30F8-271D-40E4-D45C90F87B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3024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3" name="AutoShape 22">
              <a:extLst>
                <a:ext uri="{FF2B5EF4-FFF2-40B4-BE49-F238E27FC236}">
                  <a16:creationId xmlns:a16="http://schemas.microsoft.com/office/drawing/2014/main" id="{EF5070F1-3B02-F5AE-5BB1-41AB0EA47B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64" y="3024"/>
              <a:ext cx="403" cy="352"/>
            </a:xfrm>
            <a:prstGeom prst="flowChartDelay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BE2B0D4-3930-648A-1223-F5DA16AA5C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88" y="3024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02ED3A-E732-EAA0-E3C7-B6A4799C66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2565255">
              <a:off x="2160" y="3024"/>
              <a:ext cx="389" cy="38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93A115C-719E-5381-55D3-CBA5515287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36" y="3024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AB4172-8608-1A6A-926D-31CFE931C75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1" y="3024"/>
              <a:ext cx="389" cy="3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4F6607-F840-D79A-A591-48F8337232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0" y="3024"/>
              <a:ext cx="507" cy="43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AutoShape 28">
              <a:extLst>
                <a:ext uri="{FF2B5EF4-FFF2-40B4-BE49-F238E27FC236}">
                  <a16:creationId xmlns:a16="http://schemas.microsoft.com/office/drawing/2014/main" id="{F50F20CE-B3F8-8900-934F-7E326A38B6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" y="3763"/>
              <a:ext cx="402" cy="352"/>
            </a:xfrm>
            <a:prstGeom prst="flowChartDelay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4C90DC79-94D1-BD91-D271-A4F1799C3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035"/>
              <a:ext cx="4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Arrive at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dealer</a:t>
              </a:r>
            </a:p>
          </p:txBody>
        </p:sp>
        <p:sp>
          <p:nvSpPr>
            <p:cNvPr id="31" name="Text Box 30">
              <a:extLst>
                <a:ext uri="{FF2B5EF4-FFF2-40B4-BE49-F238E27FC236}">
                  <a16:creationId xmlns:a16="http://schemas.microsoft.com/office/drawing/2014/main" id="{70382CC8-B199-9B1B-5A7D-4C9CC833A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049"/>
              <a:ext cx="35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Meet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Salesman</a:t>
              </a:r>
            </a:p>
          </p:txBody>
        </p: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DA87A128-9B8B-964B-AF81-3A0661635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38"/>
              <a:ext cx="34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Listen to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Jokes</a:t>
              </a:r>
            </a:p>
          </p:txBody>
        </p:sp>
        <p:sp>
          <p:nvSpPr>
            <p:cNvPr id="33" name="Text Box 32">
              <a:extLst>
                <a:ext uri="{FF2B5EF4-FFF2-40B4-BE49-F238E27FC236}">
                  <a16:creationId xmlns:a16="http://schemas.microsoft.com/office/drawing/2014/main" id="{F42CA6A5-92A0-147B-568F-A7230A5D3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8" y="1060"/>
              <a:ext cx="34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Examine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1st Car</a:t>
              </a: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CAC42526-85A8-490E-7ADD-7A94A6A38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1060"/>
              <a:ext cx="36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Examine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2nd car</a:t>
              </a:r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9C6C99C6-4FDF-11E5-DBCF-75DBE79D1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060"/>
              <a:ext cx="36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Examine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3rd car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CB3195B8-5CAE-7AC8-5D47-DC5FD3EDC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975"/>
              <a:ext cx="384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Test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drive a car?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AB2BA596-7A6E-8897-7606-976675AF8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038"/>
              <a:ext cx="39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Go to next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dealer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C764E147-F3CD-6299-6CFE-2D5781BDF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715"/>
              <a:ext cx="34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Obtain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Car keys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&amp; tag</a:t>
              </a:r>
            </a:p>
          </p:txBody>
        </p: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D5059A8A-0EA3-7BDA-AECA-F4F3C880F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" y="1758"/>
              <a:ext cx="38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Test drive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car</a:t>
              </a:r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5DC04497-0998-9199-1107-8FF57B5C5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0" y="1758"/>
              <a:ext cx="24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Want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car?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9894E8B1-9FE4-5502-7126-2C95405CE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806"/>
              <a:ext cx="33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Make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Offer</a:t>
              </a:r>
            </a:p>
          </p:txBody>
        </p:sp>
        <p:sp>
          <p:nvSpPr>
            <p:cNvPr id="48" name="Text Box 41">
              <a:extLst>
                <a:ext uri="{FF2B5EF4-FFF2-40B4-BE49-F238E27FC236}">
                  <a16:creationId xmlns:a16="http://schemas.microsoft.com/office/drawing/2014/main" id="{2CEEC19A-3AE8-952E-12BC-84BA44E63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719"/>
              <a:ext cx="488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Offer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Previewed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by sales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manager</a:t>
              </a:r>
            </a:p>
          </p:txBody>
        </p:sp>
        <p:grpSp>
          <p:nvGrpSpPr>
            <p:cNvPr id="49" name="Group 42">
              <a:extLst>
                <a:ext uri="{FF2B5EF4-FFF2-40B4-BE49-F238E27FC236}">
                  <a16:creationId xmlns:a16="http://schemas.microsoft.com/office/drawing/2014/main" id="{A5F7C879-0FF2-3493-1EC2-30B4F38410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728"/>
              <a:ext cx="389" cy="400"/>
              <a:chOff x="3312" y="1699"/>
              <a:chExt cx="389" cy="400"/>
            </a:xfrm>
          </p:grpSpPr>
          <p:sp>
            <p:nvSpPr>
              <p:cNvPr id="112" name="Oval 43">
                <a:extLst>
                  <a:ext uri="{FF2B5EF4-FFF2-40B4-BE49-F238E27FC236}">
                    <a16:creationId xmlns:a16="http://schemas.microsoft.com/office/drawing/2014/main" id="{908A92B1-EC76-DCF6-90A6-7759CD3EE0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699"/>
                <a:ext cx="389" cy="38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13" name="Text Box 44">
                <a:extLst>
                  <a:ext uri="{FF2B5EF4-FFF2-40B4-BE49-F238E27FC236}">
                    <a16:creationId xmlns:a16="http://schemas.microsoft.com/office/drawing/2014/main" id="{316CF700-66B7-28EA-B1AA-60357627EA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49" y="1703"/>
                <a:ext cx="326" cy="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algn="ctr">
                  <a:lnSpc>
                    <a:spcPct val="80000"/>
                  </a:lnSpc>
                  <a:spcBef>
                    <a:spcPct val="20000"/>
                  </a:spcBef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0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Make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0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Counter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000" b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offer</a:t>
                </a:r>
              </a:p>
            </p:txBody>
          </p:sp>
        </p:grpSp>
        <p:sp>
          <p:nvSpPr>
            <p:cNvPr id="50" name="Text Box 45">
              <a:extLst>
                <a:ext uri="{FF2B5EF4-FFF2-40B4-BE49-F238E27FC236}">
                  <a16:creationId xmlns:a16="http://schemas.microsoft.com/office/drawing/2014/main" id="{DF764262-4B25-5A01-3582-C95081015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" y="1751"/>
              <a:ext cx="326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Make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Another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Offer</a:t>
              </a:r>
            </a:p>
          </p:txBody>
        </p:sp>
        <p:sp>
          <p:nvSpPr>
            <p:cNvPr id="51" name="Text Box 46">
              <a:extLst>
                <a:ext uri="{FF2B5EF4-FFF2-40B4-BE49-F238E27FC236}">
                  <a16:creationId xmlns:a16="http://schemas.microsoft.com/office/drawing/2014/main" id="{E4F811C5-5083-2E3F-6BEB-0ED6362B4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7" y="1835"/>
              <a:ext cx="39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Go to next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dealer</a:t>
              </a:r>
            </a:p>
          </p:txBody>
        </p:sp>
        <p:sp>
          <p:nvSpPr>
            <p:cNvPr id="52" name="Text Box 47">
              <a:extLst>
                <a:ext uri="{FF2B5EF4-FFF2-40B4-BE49-F238E27FC236}">
                  <a16:creationId xmlns:a16="http://schemas.microsoft.com/office/drawing/2014/main" id="{BB445EB2-82BA-A48F-F3E2-2CFD54ED2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0" y="2375"/>
              <a:ext cx="395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Determine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Trade-in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Value</a:t>
              </a:r>
            </a:p>
          </p:txBody>
        </p:sp>
        <p:sp>
          <p:nvSpPr>
            <p:cNvPr id="53" name="Text Box 48">
              <a:extLst>
                <a:ext uri="{FF2B5EF4-FFF2-40B4-BE49-F238E27FC236}">
                  <a16:creationId xmlns:a16="http://schemas.microsoft.com/office/drawing/2014/main" id="{2795ACCF-6811-463E-1E37-B233596348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" y="3102"/>
              <a:ext cx="25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Make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Offer</a:t>
              </a:r>
            </a:p>
          </p:txBody>
        </p:sp>
        <p:sp>
          <p:nvSpPr>
            <p:cNvPr id="54" name="Text Box 49">
              <a:extLst>
                <a:ext uri="{FF2B5EF4-FFF2-40B4-BE49-F238E27FC236}">
                  <a16:creationId xmlns:a16="http://schemas.microsoft.com/office/drawing/2014/main" id="{C17574FB-6DC5-BDBB-4489-D50D5B759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" y="2987"/>
              <a:ext cx="327" cy="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Salesman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confers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with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manager</a:t>
              </a:r>
            </a:p>
          </p:txBody>
        </p:sp>
        <p:sp>
          <p:nvSpPr>
            <p:cNvPr id="55" name="Text Box 50">
              <a:extLst>
                <a:ext uri="{FF2B5EF4-FFF2-40B4-BE49-F238E27FC236}">
                  <a16:creationId xmlns:a16="http://schemas.microsoft.com/office/drawing/2014/main" id="{F7F98970-3439-95EB-21AA-C1B026482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0" y="3047"/>
              <a:ext cx="31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Make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counter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0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offer</a:t>
              </a:r>
            </a:p>
          </p:txBody>
        </p:sp>
        <p:sp>
          <p:nvSpPr>
            <p:cNvPr id="56" name="Text Box 51">
              <a:extLst>
                <a:ext uri="{FF2B5EF4-FFF2-40B4-BE49-F238E27FC236}">
                  <a16:creationId xmlns:a16="http://schemas.microsoft.com/office/drawing/2014/main" id="{8C576B39-7D2D-E578-B6D0-E845EFDF8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4" y="3053"/>
              <a:ext cx="34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Accept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offer?</a:t>
              </a:r>
            </a:p>
          </p:txBody>
        </p:sp>
        <p:sp>
          <p:nvSpPr>
            <p:cNvPr id="57" name="Text Box 52">
              <a:extLst>
                <a:ext uri="{FF2B5EF4-FFF2-40B4-BE49-F238E27FC236}">
                  <a16:creationId xmlns:a16="http://schemas.microsoft.com/office/drawing/2014/main" id="{A5B2C411-3300-687C-9213-30198485F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" y="3053"/>
              <a:ext cx="4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Complete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paperwork</a:t>
              </a:r>
            </a:p>
          </p:txBody>
        </p:sp>
        <p:sp>
          <p:nvSpPr>
            <p:cNvPr id="58" name="Text Box 53">
              <a:extLst>
                <a:ext uri="{FF2B5EF4-FFF2-40B4-BE49-F238E27FC236}">
                  <a16:creationId xmlns:a16="http://schemas.microsoft.com/office/drawing/2014/main" id="{AAC0A7CD-042D-0E7F-A0EE-DE44ABD7B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5" y="3053"/>
              <a:ext cx="34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Complete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Loan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paperwork</a:t>
              </a:r>
            </a:p>
          </p:txBody>
        </p:sp>
        <p:sp>
          <p:nvSpPr>
            <p:cNvPr id="59" name="Text Box 54">
              <a:extLst>
                <a:ext uri="{FF2B5EF4-FFF2-40B4-BE49-F238E27FC236}">
                  <a16:creationId xmlns:a16="http://schemas.microsoft.com/office/drawing/2014/main" id="{EDCF28FD-CCD6-0AA5-CF17-65EF133E3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015"/>
              <a:ext cx="390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Conduct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Credit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check</a:t>
              </a:r>
            </a:p>
          </p:txBody>
        </p:sp>
        <p:sp>
          <p:nvSpPr>
            <p:cNvPr id="60" name="Text Box 55">
              <a:extLst>
                <a:ext uri="{FF2B5EF4-FFF2-40B4-BE49-F238E27FC236}">
                  <a16:creationId xmlns:a16="http://schemas.microsoft.com/office/drawing/2014/main" id="{62F1603D-A0D7-5F7D-E58F-A9A71855BF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" y="3818"/>
              <a:ext cx="34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Wait for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8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Paperwork</a:t>
              </a:r>
            </a:p>
          </p:txBody>
        </p:sp>
        <p:sp>
          <p:nvSpPr>
            <p:cNvPr id="61" name="Text Box 56">
              <a:extLst>
                <a:ext uri="{FF2B5EF4-FFF2-40B4-BE49-F238E27FC236}">
                  <a16:creationId xmlns:a16="http://schemas.microsoft.com/office/drawing/2014/main" id="{F7DEFB0C-0E1F-110B-C12F-82FA7C4C8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" y="3800"/>
              <a:ext cx="43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Drive new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car home</a:t>
              </a:r>
            </a:p>
          </p:txBody>
        </p:sp>
        <p:sp>
          <p:nvSpPr>
            <p:cNvPr id="62" name="Line 57">
              <a:extLst>
                <a:ext uri="{FF2B5EF4-FFF2-40B4-BE49-F238E27FC236}">
                  <a16:creationId xmlns:a16="http://schemas.microsoft.com/office/drawing/2014/main" id="{C661E572-59A0-0A9C-636A-BC3AA1F40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584"/>
              <a:ext cx="4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3" name="Line 58">
              <a:extLst>
                <a:ext uri="{FF2B5EF4-FFF2-40B4-BE49-F238E27FC236}">
                  <a16:creationId xmlns:a16="http://schemas.microsoft.com/office/drawing/2014/main" id="{2704826F-2056-5237-B16E-2EBEE2ABE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440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4" name="Line 59">
              <a:extLst>
                <a:ext uri="{FF2B5EF4-FFF2-40B4-BE49-F238E27FC236}">
                  <a16:creationId xmlns:a16="http://schemas.microsoft.com/office/drawing/2014/main" id="{692AA9B6-4A31-679A-C8BC-F48913B9B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584"/>
              <a:ext cx="0" cy="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5" name="Line 60">
              <a:extLst>
                <a:ext uri="{FF2B5EF4-FFF2-40B4-BE49-F238E27FC236}">
                  <a16:creationId xmlns:a16="http://schemas.microsoft.com/office/drawing/2014/main" id="{F27C6317-D361-B6F8-4D7B-B92E9671F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87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6" name="Line 61">
              <a:extLst>
                <a:ext uri="{FF2B5EF4-FFF2-40B4-BE49-F238E27FC236}">
                  <a16:creationId xmlns:a16="http://schemas.microsoft.com/office/drawing/2014/main" id="{96E7731F-6E7F-5F14-361C-87D9D5537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7" name="Line 62">
              <a:extLst>
                <a:ext uri="{FF2B5EF4-FFF2-40B4-BE49-F238E27FC236}">
                  <a16:creationId xmlns:a16="http://schemas.microsoft.com/office/drawing/2014/main" id="{4CC61F20-1275-B882-D7A3-33E5273FB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8" name="Line 63">
              <a:extLst>
                <a:ext uri="{FF2B5EF4-FFF2-40B4-BE49-F238E27FC236}">
                  <a16:creationId xmlns:a16="http://schemas.microsoft.com/office/drawing/2014/main" id="{98AE2D84-1ACE-B3FC-B54A-AE254B10C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9" name="Line 64">
              <a:extLst>
                <a:ext uri="{FF2B5EF4-FFF2-40B4-BE49-F238E27FC236}">
                  <a16:creationId xmlns:a16="http://schemas.microsoft.com/office/drawing/2014/main" id="{C7A32065-A4C4-9277-37AC-BF638238E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0" name="Line 65">
              <a:extLst>
                <a:ext uri="{FF2B5EF4-FFF2-40B4-BE49-F238E27FC236}">
                  <a16:creationId xmlns:a16="http://schemas.microsoft.com/office/drawing/2014/main" id="{DACE21B9-C23B-5458-6AAC-153C05EF3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1" name="Line 66">
              <a:extLst>
                <a:ext uri="{FF2B5EF4-FFF2-40B4-BE49-F238E27FC236}">
                  <a16:creationId xmlns:a16="http://schemas.microsoft.com/office/drawing/2014/main" id="{2825BAE6-7B87-6A5D-50F1-EBCFB5853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2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2" name="Line 67">
              <a:extLst>
                <a:ext uri="{FF2B5EF4-FFF2-40B4-BE49-F238E27FC236}">
                  <a16:creationId xmlns:a16="http://schemas.microsoft.com/office/drawing/2014/main" id="{AD128DFF-9CA9-26EE-5E61-23C07736F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20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3" name="Text Box 68">
              <a:extLst>
                <a:ext uri="{FF2B5EF4-FFF2-40B4-BE49-F238E27FC236}">
                  <a16:creationId xmlns:a16="http://schemas.microsoft.com/office/drawing/2014/main" id="{FCA5477F-F6CD-5E2E-E62D-54DE94D62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0" y="1043"/>
              <a:ext cx="15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</a:t>
              </a:r>
            </a:p>
          </p:txBody>
        </p:sp>
        <p:sp>
          <p:nvSpPr>
            <p:cNvPr id="74" name="Text Box 69">
              <a:extLst>
                <a:ext uri="{FF2B5EF4-FFF2-40B4-BE49-F238E27FC236}">
                  <a16:creationId xmlns:a16="http://schemas.microsoft.com/office/drawing/2014/main" id="{02B90374-9B0A-E3AD-DCCB-4C37F701B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9" y="1427"/>
              <a:ext cx="14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</a:t>
              </a:r>
            </a:p>
          </p:txBody>
        </p:sp>
        <p:sp>
          <p:nvSpPr>
            <p:cNvPr id="75" name="Line 70">
              <a:extLst>
                <a:ext uri="{FF2B5EF4-FFF2-40B4-BE49-F238E27FC236}">
                  <a16:creationId xmlns:a16="http://schemas.microsoft.com/office/drawing/2014/main" id="{810CD212-C57F-732E-8B19-A852C6DD0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92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6" name="Line 71">
              <a:extLst>
                <a:ext uri="{FF2B5EF4-FFF2-40B4-BE49-F238E27FC236}">
                  <a16:creationId xmlns:a16="http://schemas.microsoft.com/office/drawing/2014/main" id="{212C490D-5116-EE31-D13A-3537C73D4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92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7" name="Line 72">
              <a:extLst>
                <a:ext uri="{FF2B5EF4-FFF2-40B4-BE49-F238E27FC236}">
                  <a16:creationId xmlns:a16="http://schemas.microsoft.com/office/drawing/2014/main" id="{0617E683-A275-C838-887E-789E6E5E9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1920"/>
              <a:ext cx="1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8" name="Line 73">
              <a:extLst>
                <a:ext uri="{FF2B5EF4-FFF2-40B4-BE49-F238E27FC236}">
                  <a16:creationId xmlns:a16="http://schemas.microsoft.com/office/drawing/2014/main" id="{3DDD1F3C-F26D-108C-DBA0-848FFDABC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92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9" name="Line 74">
              <a:extLst>
                <a:ext uri="{FF2B5EF4-FFF2-40B4-BE49-F238E27FC236}">
                  <a16:creationId xmlns:a16="http://schemas.microsoft.com/office/drawing/2014/main" id="{58B51187-500D-ADA1-FF94-2694D3DFF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92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0" name="Line 75">
              <a:extLst>
                <a:ext uri="{FF2B5EF4-FFF2-40B4-BE49-F238E27FC236}">
                  <a16:creationId xmlns:a16="http://schemas.microsoft.com/office/drawing/2014/main" id="{08D4BAFD-114A-75B3-CBD4-8D783A7B6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92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1" name="Line 76">
              <a:extLst>
                <a:ext uri="{FF2B5EF4-FFF2-40B4-BE49-F238E27FC236}">
                  <a16:creationId xmlns:a16="http://schemas.microsoft.com/office/drawing/2014/main" id="{C7445BD4-2E3F-ADCA-4E51-ECC39D1CB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92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2" name="Text Box 77">
              <a:extLst>
                <a:ext uri="{FF2B5EF4-FFF2-40B4-BE49-F238E27FC236}">
                  <a16:creationId xmlns:a16="http://schemas.microsoft.com/office/drawing/2014/main" id="{91B39D58-6238-AFF9-5043-2ABCDFB3F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0" y="1763"/>
              <a:ext cx="15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</a:t>
              </a:r>
            </a:p>
          </p:txBody>
        </p:sp>
        <p:sp>
          <p:nvSpPr>
            <p:cNvPr id="83" name="Line 78">
              <a:extLst>
                <a:ext uri="{FF2B5EF4-FFF2-40B4-BE49-F238E27FC236}">
                  <a16:creationId xmlns:a16="http://schemas.microsoft.com/office/drawing/2014/main" id="{DACAE370-4A2B-520A-8872-EFA34DF21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160"/>
              <a:ext cx="0" cy="3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4" name="Line 79">
              <a:extLst>
                <a:ext uri="{FF2B5EF4-FFF2-40B4-BE49-F238E27FC236}">
                  <a16:creationId xmlns:a16="http://schemas.microsoft.com/office/drawing/2014/main" id="{BF3E099F-D042-030A-C667-CF050493F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5" name="Line 80">
              <a:extLst>
                <a:ext uri="{FF2B5EF4-FFF2-40B4-BE49-F238E27FC236}">
                  <a16:creationId xmlns:a16="http://schemas.microsoft.com/office/drawing/2014/main" id="{8EF36D84-34A3-A0F6-4DBC-ABDC33529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6" name="Line 81">
              <a:extLst>
                <a:ext uri="{FF2B5EF4-FFF2-40B4-BE49-F238E27FC236}">
                  <a16:creationId xmlns:a16="http://schemas.microsoft.com/office/drawing/2014/main" id="{B7315FF6-8292-1B06-559A-F684239B5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112"/>
              <a:ext cx="0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7" name="Line 82">
              <a:extLst>
                <a:ext uri="{FF2B5EF4-FFF2-40B4-BE49-F238E27FC236}">
                  <a16:creationId xmlns:a16="http://schemas.microsoft.com/office/drawing/2014/main" id="{FB09B8E4-61C6-FC4D-6115-E5B1CD371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20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8" name="Line 83">
              <a:extLst>
                <a:ext uri="{FF2B5EF4-FFF2-40B4-BE49-F238E27FC236}">
                  <a16:creationId xmlns:a16="http://schemas.microsoft.com/office/drawing/2014/main" id="{D218DA7D-8C51-ABFD-C44B-702F7639D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2880"/>
              <a:ext cx="4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9" name="Line 84">
              <a:extLst>
                <a:ext uri="{FF2B5EF4-FFF2-40B4-BE49-F238E27FC236}">
                  <a16:creationId xmlns:a16="http://schemas.microsoft.com/office/drawing/2014/main" id="{AA5D6DA7-5CE9-C3C7-DB7B-B1B7F546A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832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0" name="Line 85">
              <a:extLst>
                <a:ext uri="{FF2B5EF4-FFF2-40B4-BE49-F238E27FC236}">
                  <a16:creationId xmlns:a16="http://schemas.microsoft.com/office/drawing/2014/main" id="{FC0C08D7-3F26-9B7C-EC8B-8B53FA149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1" name="Line 86">
              <a:extLst>
                <a:ext uri="{FF2B5EF4-FFF2-40B4-BE49-F238E27FC236}">
                  <a16:creationId xmlns:a16="http://schemas.microsoft.com/office/drawing/2014/main" id="{9CD71E48-DB27-E07A-1E39-38565A3C1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2" name="Line 87">
              <a:extLst>
                <a:ext uri="{FF2B5EF4-FFF2-40B4-BE49-F238E27FC236}">
                  <a16:creationId xmlns:a16="http://schemas.microsoft.com/office/drawing/2014/main" id="{7DAEA0E6-C504-583D-2F50-F4983C156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880"/>
              <a:ext cx="0" cy="3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3" name="Line 88">
              <a:extLst>
                <a:ext uri="{FF2B5EF4-FFF2-40B4-BE49-F238E27FC236}">
                  <a16:creationId xmlns:a16="http://schemas.microsoft.com/office/drawing/2014/main" id="{DBE632B1-AD94-EB4E-D452-5A66B84BE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26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4" name="Line 89">
              <a:extLst>
                <a:ext uri="{FF2B5EF4-FFF2-40B4-BE49-F238E27FC236}">
                  <a16:creationId xmlns:a16="http://schemas.microsoft.com/office/drawing/2014/main" id="{183BC9C4-633A-0D3B-72F6-ED83A490A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21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5" name="Line 90">
              <a:extLst>
                <a:ext uri="{FF2B5EF4-FFF2-40B4-BE49-F238E27FC236}">
                  <a16:creationId xmlns:a16="http://schemas.microsoft.com/office/drawing/2014/main" id="{38D1A2B5-E8CC-0B7E-B676-DBD076914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2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6" name="Line 91">
              <a:extLst>
                <a:ext uri="{FF2B5EF4-FFF2-40B4-BE49-F238E27FC236}">
                  <a16:creationId xmlns:a16="http://schemas.microsoft.com/office/drawing/2014/main" id="{6F4A9B6F-D073-60DB-F61A-5FBC0684F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21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7" name="Line 92">
              <a:extLst>
                <a:ext uri="{FF2B5EF4-FFF2-40B4-BE49-F238E27FC236}">
                  <a16:creationId xmlns:a16="http://schemas.microsoft.com/office/drawing/2014/main" id="{964278FC-1701-7065-729E-D741E0FFA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21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8" name="Line 93">
              <a:extLst>
                <a:ext uri="{FF2B5EF4-FFF2-40B4-BE49-F238E27FC236}">
                  <a16:creationId xmlns:a16="http://schemas.microsoft.com/office/drawing/2014/main" id="{F32802F7-109F-A757-CD30-40616B5E8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21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9" name="Line 94">
              <a:extLst>
                <a:ext uri="{FF2B5EF4-FFF2-40B4-BE49-F238E27FC236}">
                  <a16:creationId xmlns:a16="http://schemas.microsoft.com/office/drawing/2014/main" id="{A9BD7840-5694-3984-9197-A9B936940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21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0" name="Line 95">
              <a:extLst>
                <a:ext uri="{FF2B5EF4-FFF2-40B4-BE49-F238E27FC236}">
                  <a16:creationId xmlns:a16="http://schemas.microsoft.com/office/drawing/2014/main" id="{0574869D-BE7F-4361-8DB5-B7986A526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600"/>
              <a:ext cx="47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1" name="Line 96">
              <a:extLst>
                <a:ext uri="{FF2B5EF4-FFF2-40B4-BE49-F238E27FC236}">
                  <a16:creationId xmlns:a16="http://schemas.microsoft.com/office/drawing/2014/main" id="{586EFDAF-C330-516B-6B2B-1415B9221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600"/>
              <a:ext cx="0" cy="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2" name="Line 97">
              <a:extLst>
                <a:ext uri="{FF2B5EF4-FFF2-40B4-BE49-F238E27FC236}">
                  <a16:creationId xmlns:a16="http://schemas.microsoft.com/office/drawing/2014/main" id="{738D32D4-CAB7-EC9A-02CD-A1CDC30BF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9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3" name="Line 98">
              <a:extLst>
                <a:ext uri="{FF2B5EF4-FFF2-40B4-BE49-F238E27FC236}">
                  <a16:creationId xmlns:a16="http://schemas.microsoft.com/office/drawing/2014/main" id="{833B94AC-4570-A499-8119-5BCAD2912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9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4" name="Line 99">
              <a:extLst>
                <a:ext uri="{FF2B5EF4-FFF2-40B4-BE49-F238E27FC236}">
                  <a16:creationId xmlns:a16="http://schemas.microsoft.com/office/drawing/2014/main" id="{F7D93E06-239A-7EC0-2E0D-BC957B126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3216"/>
              <a:ext cx="0" cy="3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5" name="Line 100">
              <a:extLst>
                <a:ext uri="{FF2B5EF4-FFF2-40B4-BE49-F238E27FC236}">
                  <a16:creationId xmlns:a16="http://schemas.microsoft.com/office/drawing/2014/main" id="{A19372CE-0748-4A42-288D-8311942FF4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32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6" name="Text Box 101">
              <a:extLst>
                <a:ext uri="{FF2B5EF4-FFF2-40B4-BE49-F238E27FC236}">
                  <a16:creationId xmlns:a16="http://schemas.microsoft.com/office/drawing/2014/main" id="{3CD23636-5CC9-6670-4D68-A99336801A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819"/>
              <a:ext cx="151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</a:t>
              </a:r>
            </a:p>
          </p:txBody>
        </p:sp>
        <p:sp>
          <p:nvSpPr>
            <p:cNvPr id="107" name="Line 102">
              <a:extLst>
                <a:ext uri="{FF2B5EF4-FFF2-40B4-BE49-F238E27FC236}">
                  <a16:creationId xmlns:a16="http://schemas.microsoft.com/office/drawing/2014/main" id="{DA051A4D-5D5F-F6CB-3F18-92837E6E3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832"/>
              <a:ext cx="0" cy="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8" name="Text Box 103">
              <a:extLst>
                <a:ext uri="{FF2B5EF4-FFF2-40B4-BE49-F238E27FC236}">
                  <a16:creationId xmlns:a16="http://schemas.microsoft.com/office/drawing/2014/main" id="{A5B8A396-CAAB-0EDE-51D5-48353992C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" y="3203"/>
              <a:ext cx="14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</a:t>
              </a:r>
            </a:p>
          </p:txBody>
        </p:sp>
        <p:sp>
          <p:nvSpPr>
            <p:cNvPr id="109" name="Line 104">
              <a:extLst>
                <a:ext uri="{FF2B5EF4-FFF2-40B4-BE49-F238E27FC236}">
                  <a16:creationId xmlns:a16="http://schemas.microsoft.com/office/drawing/2014/main" id="{874F953A-FE7B-2A6E-9171-60C2F47BF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4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0" name="Line 105">
              <a:extLst>
                <a:ext uri="{FF2B5EF4-FFF2-40B4-BE49-F238E27FC236}">
                  <a16:creationId xmlns:a16="http://schemas.microsoft.com/office/drawing/2014/main" id="{BCFE2BB9-DE1F-A095-040B-9AC357E5B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48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11" name="Text Box 106">
              <a:extLst>
                <a:ext uri="{FF2B5EF4-FFF2-40B4-BE49-F238E27FC236}">
                  <a16:creationId xmlns:a16="http://schemas.microsoft.com/office/drawing/2014/main" id="{64973B50-A021-227C-9719-9B371CEDD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1" y="2195"/>
              <a:ext cx="14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algn="ctr">
                <a:lnSpc>
                  <a:spcPct val="80000"/>
                </a:lnSpc>
                <a:spcBef>
                  <a:spcPct val="20000"/>
                </a:spcBef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605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Mapping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May need to start with a macro level map</a:t>
            </a:r>
          </a:p>
          <a:p>
            <a:r>
              <a:rPr lang="en-US" dirty="0"/>
              <a:t>Storyboard technique useful for mapping a process that is </a:t>
            </a:r>
            <a:br>
              <a:rPr lang="en-US" dirty="0"/>
            </a:br>
            <a:r>
              <a:rPr lang="en-US" dirty="0"/>
              <a:t>well-defined</a:t>
            </a:r>
          </a:p>
          <a:p>
            <a:r>
              <a:rPr lang="en-US" dirty="0"/>
              <a:t>Doing the map in sequential order may help when mapping </a:t>
            </a:r>
            <a:br>
              <a:rPr lang="en-US" dirty="0"/>
            </a:br>
            <a:r>
              <a:rPr lang="en-US" dirty="0"/>
              <a:t>difficult processes</a:t>
            </a:r>
          </a:p>
          <a:p>
            <a:r>
              <a:rPr lang="en-US" dirty="0"/>
              <a:t>Allow at least 2 – 4 hours to map a process (may be much longer for more difficult or complex maps)</a:t>
            </a:r>
          </a:p>
          <a:p>
            <a:r>
              <a:rPr lang="en-US" dirty="0"/>
              <a:t>Make sure that all segments of the process are represented by someone on the team</a:t>
            </a:r>
          </a:p>
          <a:p>
            <a:r>
              <a:rPr lang="en-US" dirty="0"/>
              <a:t>Always try to look at the worst case scenario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48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8AED9DC-CE8D-578A-F231-ABF37EC6F93E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95FAC4-599F-6E57-C9B8-9F04D889FB57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8" name="AutoShape 9">
                <a:extLst>
                  <a:ext uri="{FF2B5EF4-FFF2-40B4-BE49-F238E27FC236}">
                    <a16:creationId xmlns:a16="http://schemas.microsoft.com/office/drawing/2014/main" id="{4B8F4DDF-71CB-6F64-00C8-8CBF752D8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AutoShape 11">
                <a:extLst>
                  <a:ext uri="{FF2B5EF4-FFF2-40B4-BE49-F238E27FC236}">
                    <a16:creationId xmlns:a16="http://schemas.microsoft.com/office/drawing/2014/main" id="{EC21A66A-9313-957D-D871-FE590CE2B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AutoShape 10">
                <a:extLst>
                  <a:ext uri="{FF2B5EF4-FFF2-40B4-BE49-F238E27FC236}">
                    <a16:creationId xmlns:a16="http://schemas.microsoft.com/office/drawing/2014/main" id="{951460B6-AF69-2CA2-E379-09B242B4C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23BCF4-683F-7950-AF35-0BD4CEAFC4B4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Review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2833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ED7-5CF9-6F4B-B4A8-2DBF8D85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Roboto Medium"/>
                <a:ea typeface="Roboto Medium"/>
                <a:cs typeface="Roboto Medium"/>
              </a:rPr>
              <a:t>Exercise: Complete Process 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3C390-D307-7FFC-DADE-918C5180FE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49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506B7-1A57-1322-5AB5-DA8522EE7602}"/>
              </a:ext>
            </a:extLst>
          </p:cNvPr>
          <p:cNvSpPr/>
          <p:nvPr/>
        </p:nvSpPr>
        <p:spPr>
          <a:xfrm>
            <a:off x="838200" y="2328433"/>
            <a:ext cx="9722342" cy="471924"/>
          </a:xfrm>
          <a:prstGeom prst="rect">
            <a:avLst/>
          </a:prstGeom>
          <a:solidFill>
            <a:srgbClr val="EE32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Complete Process Mapping exercise for your business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B5F6-F271-06CD-2A6A-E79F5245CD15}"/>
              </a:ext>
            </a:extLst>
          </p:cNvPr>
          <p:cNvSpPr txBox="1"/>
          <p:nvPr/>
        </p:nvSpPr>
        <p:spPr>
          <a:xfrm>
            <a:off x="838200" y="1767653"/>
            <a:ext cx="160300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Objective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4F381-2B48-C111-2724-726B0390290F}"/>
              </a:ext>
            </a:extLst>
          </p:cNvPr>
          <p:cNvSpPr txBox="1"/>
          <p:nvPr/>
        </p:nvSpPr>
        <p:spPr>
          <a:xfrm>
            <a:off x="838200" y="2952549"/>
            <a:ext cx="202299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Instructions</a:t>
            </a:r>
            <a:endParaRPr kumimoji="0" lang="en-US" sz="5600" u="none" strike="noStrike" cap="none" spc="0" normalizeH="0" baseline="0" dirty="0">
              <a:ln>
                <a:noFill/>
              </a:ln>
              <a:effectLst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  <a:sym typeface="Roboto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7B47-98C9-F770-8D4E-7D91CF39F5A7}"/>
              </a:ext>
            </a:extLst>
          </p:cNvPr>
          <p:cNvSpPr/>
          <p:nvPr/>
        </p:nvSpPr>
        <p:spPr>
          <a:xfrm>
            <a:off x="818941" y="3486027"/>
            <a:ext cx="4419809" cy="231858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As a team, complete the steps to process mapping for your business.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Use the remainder of the time for this event to complete these steps and prepare for the report-out to management.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14B3B-0CE2-FDFF-2FB9-215236316256}"/>
              </a:ext>
            </a:extLst>
          </p:cNvPr>
          <p:cNvSpPr txBox="1"/>
          <p:nvPr/>
        </p:nvSpPr>
        <p:spPr>
          <a:xfrm>
            <a:off x="5879250" y="2952548"/>
            <a:ext cx="296876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Time to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5230A-07BD-F376-25CA-177CC1D4233F}"/>
              </a:ext>
            </a:extLst>
          </p:cNvPr>
          <p:cNvSpPr txBox="1"/>
          <p:nvPr/>
        </p:nvSpPr>
        <p:spPr>
          <a:xfrm>
            <a:off x="5879250" y="4136472"/>
            <a:ext cx="188833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u="none" strike="noStrike" cap="none" spc="0" normalizeH="0" baseline="0" dirty="0">
                <a:ln>
                  <a:noFill/>
                </a:ln>
                <a:effectLst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  <a:sym typeface="Roboto"/>
              </a:rPr>
              <a:t>Deliverable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30399-8FDB-50CD-E8FD-8E286DE1A2EA}"/>
              </a:ext>
            </a:extLst>
          </p:cNvPr>
          <p:cNvSpPr/>
          <p:nvPr/>
        </p:nvSpPr>
        <p:spPr>
          <a:xfrm>
            <a:off x="5879250" y="3496996"/>
            <a:ext cx="4681292" cy="471924"/>
          </a:xfrm>
          <a:prstGeom prst="rect">
            <a:avLst/>
          </a:prstGeom>
          <a:solidFill>
            <a:srgbClr val="EE32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Remainder of event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DF6BD6-975A-3700-5E69-322EFF4F722E}"/>
              </a:ext>
            </a:extLst>
          </p:cNvPr>
          <p:cNvSpPr/>
          <p:nvPr/>
        </p:nvSpPr>
        <p:spPr>
          <a:xfrm>
            <a:off x="5879250" y="4665559"/>
            <a:ext cx="4681292" cy="1210588"/>
          </a:xfrm>
          <a:prstGeom prst="rect">
            <a:avLst/>
          </a:prstGeom>
          <a:solidFill>
            <a:srgbClr val="EE32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584200" hangingPunct="0"/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Completed current and new process maps with improvement</a:t>
            </a:r>
            <a:b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</a:br>
            <a:r>
              <a:rPr lang="en-US" sz="24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actions identified.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CEB2CB-9914-D51F-8D12-914596C39220}"/>
              </a:ext>
            </a:extLst>
          </p:cNvPr>
          <p:cNvGrpSpPr/>
          <p:nvPr/>
        </p:nvGrpSpPr>
        <p:grpSpPr>
          <a:xfrm>
            <a:off x="838200" y="297639"/>
            <a:ext cx="4179570" cy="301303"/>
            <a:chOff x="838200" y="297639"/>
            <a:chExt cx="4179570" cy="30130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7BD0226-7395-2521-CC90-260086EF5DAF}"/>
                </a:ext>
              </a:extLst>
            </p:cNvPr>
            <p:cNvGrpSpPr/>
            <p:nvPr/>
          </p:nvGrpSpPr>
          <p:grpSpPr>
            <a:xfrm>
              <a:off x="838200" y="297639"/>
              <a:ext cx="1060167" cy="290657"/>
              <a:chOff x="826426" y="4041857"/>
              <a:chExt cx="1060167" cy="290657"/>
            </a:xfrm>
          </p:grpSpPr>
          <p:sp>
            <p:nvSpPr>
              <p:cNvPr id="21" name="AutoShape 9">
                <a:extLst>
                  <a:ext uri="{FF2B5EF4-FFF2-40B4-BE49-F238E27FC236}">
                    <a16:creationId xmlns:a16="http://schemas.microsoft.com/office/drawing/2014/main" id="{C22E15D5-2650-8FBD-F166-7EC6EB6E3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77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FFB627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AutoShape 11">
                <a:extLst>
                  <a:ext uri="{FF2B5EF4-FFF2-40B4-BE49-F238E27FC236}">
                    <a16:creationId xmlns:a16="http://schemas.microsoft.com/office/drawing/2014/main" id="{55C7B05F-B1B9-015D-8B69-DB1F5A31E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0101" y="4041858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AutoShape 10">
                <a:extLst>
                  <a:ext uri="{FF2B5EF4-FFF2-40B4-BE49-F238E27FC236}">
                    <a16:creationId xmlns:a16="http://schemas.microsoft.com/office/drawing/2014/main" id="{F91892C6-159E-FA73-DD65-1279A63F5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426" y="4041857"/>
                <a:ext cx="432817" cy="290656"/>
              </a:xfrm>
              <a:prstGeom prst="homePlate">
                <a:avLst>
                  <a:gd name="adj" fmla="val 29912"/>
                </a:avLst>
              </a:prstGeom>
              <a:solidFill>
                <a:srgbClr val="222222"/>
              </a:solidFill>
              <a:ln w="12700" cap="sq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lnSpc>
                    <a:spcPct val="115000"/>
                  </a:lnSpc>
                  <a:spcBef>
                    <a:spcPct val="50000"/>
                  </a:spcBef>
                  <a:spcAft>
                    <a:spcPct val="50000"/>
                  </a:spcAft>
                  <a:buClr>
                    <a:srgbClr val="006699"/>
                  </a:buClr>
                  <a:buSzPct val="90000"/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</a:pPr>
                <a:endParaRPr lang="en-US" altLang="en-US" sz="2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7CD390-9C01-E341-B6FA-94D7276A4759}"/>
                </a:ext>
              </a:extLst>
            </p:cNvPr>
            <p:cNvSpPr txBox="1"/>
            <p:nvPr/>
          </p:nvSpPr>
          <p:spPr>
            <a:xfrm>
              <a:off x="1994872" y="307580"/>
              <a:ext cx="3022898" cy="291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Process Mapping Review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24629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1234-A0AA-5598-26B5-033CE6FE23E5}"/>
              </a:ext>
            </a:extLst>
          </p:cNvPr>
          <p:cNvSpPr txBox="1">
            <a:spLocks/>
          </p:cNvSpPr>
          <p:nvPr/>
        </p:nvSpPr>
        <p:spPr>
          <a:xfrm>
            <a:off x="606705" y="793843"/>
            <a:ext cx="10515600" cy="102235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Roboto Medium"/>
                <a:cs typeface="Roboto"/>
              </a:rPr>
              <a:t>Other</a:t>
            </a:r>
            <a:r>
              <a:rPr lang="en-US" dirty="0">
                <a:solidFill>
                  <a:schemeClr val="tx1"/>
                </a:solidFill>
                <a:latin typeface="Roboto Medium"/>
                <a:cs typeface="Roboto Medium"/>
              </a:rPr>
              <a:t> Modules In This Series: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F3825E-B951-729D-1675-8A890DAA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7" y="1638489"/>
            <a:ext cx="3939240" cy="457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14E55-E875-9B78-1E43-35D121FD9751}"/>
              </a:ext>
            </a:extLst>
          </p:cNvPr>
          <p:cNvSpPr txBox="1">
            <a:spLocks/>
          </p:cNvSpPr>
          <p:nvPr/>
        </p:nvSpPr>
        <p:spPr>
          <a:xfrm>
            <a:off x="5839258" y="1166648"/>
            <a:ext cx="5157787" cy="3684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5S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Standard Work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Total Productive Maintenance (TPM)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Administrative Lean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Cell Design/ Production Preparation Process (3P)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Kaizen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Kanban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Problem Solving</a:t>
            </a:r>
          </a:p>
          <a:p>
            <a:pPr marL="0" indent="0" algn="r">
              <a:buNone/>
            </a:pPr>
            <a:r>
              <a:rPr lang="en-US" sz="1400" dirty="0" err="1">
                <a:solidFill>
                  <a:schemeClr val="tx1"/>
                </a:solidFill>
              </a:rPr>
              <a:t>Poka</a:t>
            </a:r>
            <a:r>
              <a:rPr lang="en-US" sz="1400" dirty="0">
                <a:solidFill>
                  <a:schemeClr val="tx1"/>
                </a:solidFill>
              </a:rPr>
              <a:t> Yoke Quality Systems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Process Improvement (TPI)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Cause &amp; Effect Diagram with the Additions of Cards (CEDAC)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Single Minute Exchange of Dies (SMED)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Value Stream Mapping (</a:t>
            </a:r>
            <a:r>
              <a:rPr lang="en-US" sz="1400" dirty="0" err="1">
                <a:solidFill>
                  <a:schemeClr val="tx1"/>
                </a:solidFill>
              </a:rPr>
              <a:t>VSMi</a:t>
            </a:r>
            <a:r>
              <a:rPr lang="en-US" sz="1400" dirty="0">
                <a:solidFill>
                  <a:schemeClr val="tx1"/>
                </a:solidFill>
              </a:rPr>
              <a:t>®)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Visual Management</a:t>
            </a:r>
          </a:p>
          <a:p>
            <a:pPr marL="0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Managing Daily Process Excellence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73560-3A07-DDBC-A93D-9C2969C3C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42" y="2039270"/>
            <a:ext cx="2945426" cy="1754165"/>
          </a:xfrm>
          <a:prstGeom prst="rect">
            <a:avLst/>
          </a:prstGeom>
        </p:spPr>
      </p:pic>
      <p:sp>
        <p:nvSpPr>
          <p:cNvPr id="13" name="Steve Jones">
            <a:extLst>
              <a:ext uri="{FF2B5EF4-FFF2-40B4-BE49-F238E27FC236}">
                <a16:creationId xmlns:a16="http://schemas.microsoft.com/office/drawing/2014/main" id="{32D7D26D-2286-A78A-74DF-8555FD64C346}"/>
              </a:ext>
            </a:extLst>
          </p:cNvPr>
          <p:cNvSpPr/>
          <p:nvPr/>
        </p:nvSpPr>
        <p:spPr>
          <a:xfrm>
            <a:off x="1069695" y="4201690"/>
            <a:ext cx="3475310" cy="1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rgbClr val="EE322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More Information Please Contact:</a:t>
            </a:r>
          </a:p>
        </p:txBody>
      </p:sp>
      <p:sp>
        <p:nvSpPr>
          <p:cNvPr id="14" name="Head of Management Dept.">
            <a:extLst>
              <a:ext uri="{FF2B5EF4-FFF2-40B4-BE49-F238E27FC236}">
                <a16:creationId xmlns:a16="http://schemas.microsoft.com/office/drawing/2014/main" id="{13AAF857-F867-C38A-47E8-4FCE37EF32C8}"/>
              </a:ext>
            </a:extLst>
          </p:cNvPr>
          <p:cNvSpPr/>
          <p:nvPr/>
        </p:nvSpPr>
        <p:spPr>
          <a:xfrm>
            <a:off x="1367375" y="4590893"/>
            <a:ext cx="2879948" cy="83817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1155700">
              <a:defRPr sz="3000">
                <a:solidFill>
                  <a:srgbClr val="5D616E"/>
                </a:solidFill>
              </a:defRPr>
            </a:lvl1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DeLuzio, President and CEO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+1.860.234.0915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mark.deluzio@leanhorizons.com</a:t>
            </a:r>
            <a:endParaRPr sz="14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9F7AC-495A-4FB8-042F-1DBECD3DB7C9}"/>
              </a:ext>
            </a:extLst>
          </p:cNvPr>
          <p:cNvSpPr txBox="1"/>
          <p:nvPr/>
        </p:nvSpPr>
        <p:spPr>
          <a:xfrm>
            <a:off x="6291" y="5619244"/>
            <a:ext cx="5602115" cy="2664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Strategically Creating Value Through the Elimination of Waste</a:t>
            </a:r>
            <a:endParaRPr lang="en-US" alt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71C8E8F-D781-AA13-E1D1-E5284A2427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/>
          <a:lstStyle/>
          <a:p>
            <a:fld id="{CC6D4273-7FC1-0947-B9FE-19CB3C0D1FB6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08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14068</TotalTime>
  <Words>2932</Words>
  <Application>Microsoft Office PowerPoint</Application>
  <PresentationFormat>Widescreen</PresentationFormat>
  <Paragraphs>665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Baskerville</vt:lpstr>
      <vt:lpstr>Calibri</vt:lpstr>
      <vt:lpstr>Roboto</vt:lpstr>
      <vt:lpstr>Roboto Medium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Ground Rules for Event</vt:lpstr>
      <vt:lpstr>Goal of Process Mapping Module</vt:lpstr>
      <vt:lpstr>Process Mapping</vt:lpstr>
      <vt:lpstr>Introduction to Process Mapping</vt:lpstr>
      <vt:lpstr>Process Mapping</vt:lpstr>
      <vt:lpstr>Benefits of Process Mapping</vt:lpstr>
      <vt:lpstr>Process Mapping</vt:lpstr>
      <vt:lpstr>Any Process has at least three versions</vt:lpstr>
      <vt:lpstr>What makes up a process?</vt:lpstr>
      <vt:lpstr>Levels of Process Mapping</vt:lpstr>
      <vt:lpstr>Establish teams to address key business issues</vt:lpstr>
      <vt:lpstr>Exercise: Process Mapping Charter Review</vt:lpstr>
      <vt:lpstr>Steps to Process Mapping</vt:lpstr>
      <vt:lpstr>Basic steps to Process Mapping</vt:lpstr>
      <vt:lpstr>Basic steps to Process Mapping</vt:lpstr>
      <vt:lpstr>Define the boundaries of the process</vt:lpstr>
      <vt:lpstr>Basic steps to Process Mapping</vt:lpstr>
      <vt:lpstr>Brainstorming and Storyboarding</vt:lpstr>
      <vt:lpstr>Ground Rules and Guidelines</vt:lpstr>
      <vt:lpstr>Basic steps to Process Mapping</vt:lpstr>
      <vt:lpstr>Document Current Process</vt:lpstr>
      <vt:lpstr>Flow Charting</vt:lpstr>
      <vt:lpstr>Process Flow Diagramming Symbols</vt:lpstr>
      <vt:lpstr>Tasks Performed in Series</vt:lpstr>
      <vt:lpstr>Tasks Performed in Parallel</vt:lpstr>
      <vt:lpstr>Tasks Performed Simultaneously</vt:lpstr>
      <vt:lpstr>Helpful Hint</vt:lpstr>
      <vt:lpstr>Basic steps to Process Mapping</vt:lpstr>
      <vt:lpstr>Walk the Process</vt:lpstr>
      <vt:lpstr>Basic steps to Process Mapping</vt:lpstr>
      <vt:lpstr>Change the Map</vt:lpstr>
      <vt:lpstr>Basic steps to Process Mapping</vt:lpstr>
      <vt:lpstr>Identify Improvements</vt:lpstr>
      <vt:lpstr>Re’s: Anything in your process done again</vt:lpstr>
      <vt:lpstr>Re’s: Anything in your process done again</vt:lpstr>
      <vt:lpstr>Basic steps to Process Mapping</vt:lpstr>
      <vt:lpstr>Create new process map</vt:lpstr>
      <vt:lpstr>Basic steps to Process Mapping</vt:lpstr>
      <vt:lpstr>Validate the New Process</vt:lpstr>
      <vt:lpstr>Basic steps to Process Mapping</vt:lpstr>
      <vt:lpstr>Standardize the New Process</vt:lpstr>
      <vt:lpstr>Steps to Process Mapping</vt:lpstr>
      <vt:lpstr>Types of Process Maps</vt:lpstr>
      <vt:lpstr>Example Process Map</vt:lpstr>
      <vt:lpstr>Process Mapping Hints</vt:lpstr>
      <vt:lpstr>Exercise: Complete Process 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376</cp:revision>
  <dcterms:created xsi:type="dcterms:W3CDTF">2023-02-08T22:10:20Z</dcterms:created>
  <dcterms:modified xsi:type="dcterms:W3CDTF">2023-09-29T20:56:32Z</dcterms:modified>
</cp:coreProperties>
</file>